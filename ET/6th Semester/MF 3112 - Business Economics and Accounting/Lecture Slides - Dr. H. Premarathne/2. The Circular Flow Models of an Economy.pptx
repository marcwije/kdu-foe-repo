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13"/>
  </p:notesMasterIdLst>
  <p:handoutMasterIdLst>
    <p:handoutMasterId r:id="rId14"/>
  </p:handoutMasterIdLst>
  <p:sldIdLst>
    <p:sldId id="358" r:id="rId2"/>
    <p:sldId id="359" r:id="rId3"/>
    <p:sldId id="360" r:id="rId4"/>
    <p:sldId id="361" r:id="rId5"/>
    <p:sldId id="362" r:id="rId6"/>
    <p:sldId id="363" r:id="rId7"/>
    <p:sldId id="364" r:id="rId8"/>
    <p:sldId id="367" r:id="rId9"/>
    <p:sldId id="369" r:id="rId10"/>
    <p:sldId id="366" r:id="rId11"/>
    <p:sldId id="368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2978B9-BDE7-4D1A-A42B-06CB6DFEA3AE}">
          <p14:sldIdLst/>
        </p14:section>
        <p14:section name="Untitled Section" id="{9109D29C-8193-43EE-8E3A-FBF85489AF09}">
          <p14:sldIdLst>
            <p14:sldId id="358"/>
            <p14:sldId id="359"/>
            <p14:sldId id="360"/>
            <p14:sldId id="361"/>
            <p14:sldId id="362"/>
            <p14:sldId id="363"/>
            <p14:sldId id="364"/>
            <p14:sldId id="367"/>
            <p14:sldId id="369"/>
            <p14:sldId id="366"/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FF3300"/>
    <a:srgbClr val="CC3300"/>
    <a:srgbClr val="3333FF"/>
    <a:srgbClr val="800000"/>
    <a:srgbClr val="969696"/>
    <a:srgbClr val="80808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60"/>
  </p:normalViewPr>
  <p:slideViewPr>
    <p:cSldViewPr snapToGrid="0">
      <p:cViewPr varScale="1">
        <p:scale>
          <a:sx n="88" d="100"/>
          <a:sy n="88" d="100"/>
        </p:scale>
        <p:origin x="130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549BC83-DFAA-4117-9662-9C444BE305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4312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23B2F2F1-FFDC-48F8-AF9A-168A24E19F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65244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D1BF70-A126-41D1-9382-39F98F7D7CB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7895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B2F2F1-FFDC-48F8-AF9A-168A24E19F3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263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630A-85CB-4D70-87C6-A7E921F4D12B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59861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8E5DF-5BC9-4D41-8D98-07E2BC342C48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96570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CB1D-1476-46F2-BD92-DB66B2119647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68392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51349-4C6A-47C2-A77E-893E57976D6A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132600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31485-8E39-4AC3-A1E7-DB2C9F8A4EAA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315120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2A864-E4B7-4C27-B303-D84AF915F55D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754350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B1AB2-5D0D-40F9-8F09-1D18E6E3C633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800103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01A34-A202-4235-B401-B3FF7212357E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635570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4EF69-6314-4880-B844-ABB39EDB41BF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808662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E79F-6301-4DBE-AB14-B3E63B59D5E9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78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208AD-9C90-498E-9D55-1CA6B85C464C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8598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F2A56-BDF8-4164-8208-091C1B072261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902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64718-4D31-4DA1-BC09-C49F111D0348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720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8788-25FD-439E-A485-A105E1A1B95F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429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9BC8B-F09B-49D8-8AB2-56CD35DA7DCD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172269"/>
      </p:ext>
    </p:extLst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FED1-D1D1-486C-B524-53D53F5200A8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164832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74E23-779D-4617-BC87-909E8E0CDF14}" type="datetime1">
              <a:rPr lang="en-US" smtClean="0"/>
              <a:t>9/2/2023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EE/SS/Int 38/2021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831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ransition spd="med">
    <p:wipe dir="r"/>
  </p:transition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190500"/>
            <a:ext cx="8553450" cy="12573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0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MACROECONOMICS</a:t>
            </a:r>
            <a:br>
              <a:rPr lang="en-US" altLang="en-US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Lecture 02: The Circular Flow Models of an Economy</a:t>
            </a:r>
            <a:endParaRPr lang="en-US" altLang="en-US" sz="3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4757" name="AutoShape 5" descr="https://encrypted-tbn0.gstatic.com/images?q=tbn:ANd9GcSymetzoGaFM_-qMFcLmgpZ_j-rMV-R2MmCBVdp8YTsPzvJ-VGJ"/>
          <p:cNvSpPr>
            <a:spLocks noChangeAspect="1" noChangeArrowheads="1"/>
          </p:cNvSpPr>
          <p:nvPr/>
        </p:nvSpPr>
        <p:spPr bwMode="auto">
          <a:xfrm>
            <a:off x="168275" y="-1790700"/>
            <a:ext cx="4981575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0595" y="5011673"/>
            <a:ext cx="432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Dr.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Hemantha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Premarathne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</a:srgb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235522" name="Picture 2" descr="https://ibecon3.wikispaces.com/file/view/Circlular_flow.JPG/61031684/Circlular_fl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031" y="1881421"/>
            <a:ext cx="3345494" cy="313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99450" y="5495034"/>
            <a:ext cx="4206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Senior Lecturer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Department of Social Sciences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KDU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9114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388" y="449580"/>
            <a:ext cx="831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CIRCULAR FLOWS IN A TWO-SECTOR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389" y="1502228"/>
            <a:ext cx="8151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  two-sector model consists of only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households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and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firm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sectors.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89" y="2378528"/>
            <a:ext cx="81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Households: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389" y="28438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Households are the owners of all factors of production (Land, Labor, Capital &amp; Entrepreneurship).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789" y="36058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Their total income consists of returns on their factors of production </a:t>
            </a:r>
            <a:r>
              <a:rPr lang="en-US" sz="2200" dirty="0">
                <a:solidFill>
                  <a:srgbClr val="000000"/>
                </a:solidFill>
              </a:rPr>
              <a:t>(rent, wages,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interest and profit).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189" y="44440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They are the consumer of all the consumer goods and services.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89" y="52441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They spend their total income on goods and services produced by the firms.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47683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388" y="449580"/>
            <a:ext cx="831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Cont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…..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789" y="1413328"/>
            <a:ext cx="81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Business Firms: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389" y="1904021"/>
            <a:ext cx="81512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Firms own no resources of their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789" y="2373921"/>
            <a:ext cx="81512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They hire the factors of production from the household.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489" y="2767621"/>
            <a:ext cx="81512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They use factors to produce and sell goods to the HHs.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189" y="3224821"/>
            <a:ext cx="81512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They don’t save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73634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388" y="449580"/>
            <a:ext cx="831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Cont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…..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789" y="1413328"/>
            <a:ext cx="81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Assumption of the Model: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389" y="1904021"/>
            <a:ext cx="81512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There are two sectors, HH &amp; Firms.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789" y="23739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HHs spend their total income on consumer and capital goods produced by the firms.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489" y="31994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Firms produce goods and services only as much as  demanded by the HHs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889" y="40249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Firms make factor payments to the HHs as rent, wages, interest and profits.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89" y="49012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-  There are no inflow or outflow of income or of goods and services from any outside source.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490252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388" y="449580"/>
            <a:ext cx="8317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 Circular Flows in a Two-Sector Economy: A Graphic Presentation</a:t>
            </a:r>
          </a:p>
        </p:txBody>
      </p:sp>
      <p:sp>
        <p:nvSpPr>
          <p:cNvPr id="6" name="Rounded Rectangle 5"/>
          <p:cNvSpPr/>
          <p:nvPr/>
        </p:nvSpPr>
        <p:spPr bwMode="auto">
          <a:xfrm>
            <a:off x="406400" y="2603500"/>
            <a:ext cx="3098800" cy="1257300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Flowchart: Alternate Process 6"/>
          <p:cNvSpPr/>
          <p:nvPr/>
        </p:nvSpPr>
        <p:spPr bwMode="auto">
          <a:xfrm>
            <a:off x="673100" y="3111500"/>
            <a:ext cx="1765300" cy="783193"/>
          </a:xfrm>
          <a:prstGeom prst="flowChartAlternateProcess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Household Sector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Flowchart: Alternate Process 7"/>
          <p:cNvSpPr/>
          <p:nvPr/>
        </p:nvSpPr>
        <p:spPr bwMode="auto">
          <a:xfrm>
            <a:off x="6273800" y="3155950"/>
            <a:ext cx="1765300" cy="783193"/>
          </a:xfrm>
          <a:prstGeom prst="flowChartAlternateProcess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Firm Sector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86377" y="1586605"/>
            <a:ext cx="41874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Land, Labor, Capital &amp; Entrepreneurship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3" name="Curved Down Arrow 32"/>
          <p:cNvSpPr/>
          <p:nvPr/>
        </p:nvSpPr>
        <p:spPr bwMode="auto">
          <a:xfrm>
            <a:off x="2438400" y="2369713"/>
            <a:ext cx="3382851" cy="665588"/>
          </a:xfrm>
          <a:prstGeom prst="curvedDown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4" name="Curved Down Arrow 33"/>
          <p:cNvSpPr/>
          <p:nvPr/>
        </p:nvSpPr>
        <p:spPr bwMode="auto">
          <a:xfrm>
            <a:off x="673100" y="1356775"/>
            <a:ext cx="7170133" cy="1475323"/>
          </a:xfrm>
          <a:prstGeom prst="curvedDownArrow">
            <a:avLst/>
          </a:prstGeom>
          <a:solidFill>
            <a:srgbClr val="FFFF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5" name="Curved Down Arrow 34"/>
          <p:cNvSpPr/>
          <p:nvPr/>
        </p:nvSpPr>
        <p:spPr bwMode="auto">
          <a:xfrm rot="10800000">
            <a:off x="673098" y="4340932"/>
            <a:ext cx="7015588" cy="1534230"/>
          </a:xfrm>
          <a:prstGeom prst="curvedDownArrow">
            <a:avLst/>
          </a:prstGeom>
          <a:solidFill>
            <a:srgbClr val="FFFF0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7" name="Curved Right Arrow 36"/>
          <p:cNvSpPr/>
          <p:nvPr/>
        </p:nvSpPr>
        <p:spPr bwMode="auto">
          <a:xfrm rot="5400000">
            <a:off x="3611366" y="-163092"/>
            <a:ext cx="1227951" cy="5410137"/>
          </a:xfrm>
          <a:prstGeom prst="curvedRightArrow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8" name="Curved Right Arrow 37"/>
          <p:cNvSpPr/>
          <p:nvPr/>
        </p:nvSpPr>
        <p:spPr bwMode="auto">
          <a:xfrm rot="16200000">
            <a:off x="3784281" y="1864679"/>
            <a:ext cx="1227951" cy="5410137"/>
          </a:xfrm>
          <a:prstGeom prst="curvedRightArrow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07396" y="2149685"/>
            <a:ext cx="32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Rent, Wage, Interest, Profit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576034" y="4794405"/>
            <a:ext cx="1534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Expenditure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05200" y="5525355"/>
            <a:ext cx="21615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Goods &amp; Services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6549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 animBg="1"/>
      <p:bldP spid="17" grpId="0"/>
      <p:bldP spid="34" grpId="0" animBg="1"/>
      <p:bldP spid="35" grpId="0" animBg="1"/>
      <p:bldP spid="37" grpId="0" animBg="1"/>
      <p:bldP spid="38" grpId="0" animBg="1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388" y="449580"/>
            <a:ext cx="8317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Cont</a:t>
            </a: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…..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389" y="13325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 upper half represents the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factor market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and the lower half represents the </a:t>
            </a:r>
            <a:r>
              <a:rPr kumimoji="0" 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commodity market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789" y="21199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the factor market, the arrow shows the flow of factors of production from the HHs to firms.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389" y="2894621"/>
            <a:ext cx="81512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 factor flow causes another flow, that is, the flow of factor income ( wages, interest, rent and profit) from the firms to the HHs.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689" y="39233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 the commodity market, the goods and services produced by the firms flow from the firms to the HHs.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389" y="47742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Payments for the goods &amp; services are made by the households.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589" y="5574321"/>
            <a:ext cx="8151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By combining the continuous arrows in the factor and commodity markets, we get the circular flow model.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276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2" grpId="0"/>
      <p:bldP spid="13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EE/SS/Int 38/2021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 descr="Circular Flow of Income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91" y="1485582"/>
            <a:ext cx="7717302" cy="5098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9136" y="477393"/>
            <a:ext cx="831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 Circular Flows </a:t>
            </a: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with the Government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56753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EE/SS/Int 38/2021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9081" y="329348"/>
            <a:ext cx="831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 Circular Flows </a:t>
            </a: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with the International</a:t>
            </a:r>
            <a:r>
              <a:rPr kumimoji="0" lang="en-US" sz="2400" b="1" i="1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Sector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02" y="1060923"/>
            <a:ext cx="7456169" cy="534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92051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EE/SS/Int 38/2021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669"/>
            <a:ext cx="9144000" cy="692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71067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EE/SS/Int 38/2021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AutoShape 2" descr="International trad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International trad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nternational trad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International trad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0" descr="International trade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054481"/>
            <a:ext cx="9317128" cy="48344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9081" y="329348"/>
            <a:ext cx="831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The Circular Flows </a:t>
            </a:r>
            <a:r>
              <a:rPr kumimoji="0" 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–</a:t>
            </a:r>
            <a:r>
              <a:rPr lang="en-US" b="1" i="1" dirty="0" smtClean="0">
                <a:solidFill>
                  <a:srgbClr val="000000"/>
                </a:solidFill>
              </a:rPr>
              <a:t> Withdrawals and Injections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7267174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EE/SS/Int 38/2021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96937" y="3309258"/>
            <a:ext cx="4772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714076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3839</TotalTime>
  <Words>425</Words>
  <Application>Microsoft Office PowerPoint</Application>
  <PresentationFormat>On-screen Show (4:3)</PresentationFormat>
  <Paragraphs>61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Times New Roman</vt:lpstr>
      <vt:lpstr>Trebuchet MS</vt:lpstr>
      <vt:lpstr>Wingdings</vt:lpstr>
      <vt:lpstr>Wingdings 3</vt:lpstr>
      <vt:lpstr>Facet</vt:lpstr>
      <vt:lpstr> MACROECONOMICS  Lecture 02: The Circular Flow Models of an Economy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Rose State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Faculty/Staff</dc:creator>
  <cp:lastModifiedBy>Lahiru pera</cp:lastModifiedBy>
  <cp:revision>185</cp:revision>
  <dcterms:created xsi:type="dcterms:W3CDTF">1999-11-02T21:02:05Z</dcterms:created>
  <dcterms:modified xsi:type="dcterms:W3CDTF">2023-09-02T05:38:41Z</dcterms:modified>
</cp:coreProperties>
</file>