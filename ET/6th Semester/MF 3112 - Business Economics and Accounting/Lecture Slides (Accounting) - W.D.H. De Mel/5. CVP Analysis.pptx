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sldIdLst>
    <p:sldId id="278" r:id="rId3"/>
    <p:sldId id="257" r:id="rId4"/>
    <p:sldId id="258" r:id="rId5"/>
    <p:sldId id="259" r:id="rId6"/>
    <p:sldId id="316" r:id="rId7"/>
    <p:sldId id="317" r:id="rId8"/>
    <p:sldId id="318" r:id="rId9"/>
    <p:sldId id="320" r:id="rId10"/>
    <p:sldId id="319" r:id="rId11"/>
    <p:sldId id="260" r:id="rId12"/>
    <p:sldId id="261" r:id="rId13"/>
    <p:sldId id="262" r:id="rId14"/>
    <p:sldId id="263" r:id="rId15"/>
    <p:sldId id="265" r:id="rId16"/>
    <p:sldId id="264" r:id="rId17"/>
    <p:sldId id="266" r:id="rId18"/>
    <p:sldId id="267" r:id="rId19"/>
    <p:sldId id="268" r:id="rId20"/>
    <p:sldId id="269" r:id="rId21"/>
    <p:sldId id="270" r:id="rId22"/>
    <p:sldId id="356" r:id="rId23"/>
    <p:sldId id="365" r:id="rId24"/>
    <p:sldId id="369" r:id="rId25"/>
    <p:sldId id="3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94A2-1CB8-4540-A64D-34D8A6B74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8A9CD-1845-4DFB-AB9B-ED2A715C9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F4D8A-AE63-4D70-8ECB-8E1780E2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74C86-070C-4B7E-995E-52820AAE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DA7E5-6DCF-49E5-8AF1-B4969345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8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E1E6-F645-472F-B78E-9EAC3BC6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1BBC7-52F3-4795-A152-0AD28D3E8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7392F-B108-420C-A8FB-296184EC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2045-9356-42B3-9435-DD3114B7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ED2C-F44D-4ED1-9B96-EAEBCF1E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5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A54E-F546-4069-A0DE-73D11915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0EF0D-D696-459F-97D9-99719C82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8440F-0AB1-4ADC-A4C9-49433AF8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1C430-9571-46F8-93DA-7865B7EC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4DB4-BC04-4A79-9571-F0C2EA89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8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E061-F5AF-4F0C-B990-CC905D23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7E2BF-8014-4C42-88A0-AABF32FD2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DD41E-522C-42A4-B177-882B8F11F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6EB7F-46B5-469D-80F1-ED215288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50F75-AF19-4FA4-81F3-10256356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4AC78-2AF2-452C-A225-0E479638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7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9C49-8CEE-407E-B314-AF0F80A3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22B24-080B-4D7C-8A57-DFD68785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3C66C-F02F-432A-9A4E-9CABC06F8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F289B-BC5E-4847-A4D4-E8F648C92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5DC4F-E39E-496B-AF6A-D635362F9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54C47-2B11-4CF4-94A8-A0385394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D7D27-A442-4660-A6BB-3A9F59CC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FE5BE-F286-4DCA-9003-7E6579E1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5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2C92-41F8-498E-A2B7-EB4FE94C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14112-017C-40BD-B561-CF7EC137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E5E0D-C741-47F9-8C3E-7E0D9821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DF349-9810-49D3-95A7-C0E4553C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1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BBF27-D20C-4825-B61A-2F17D026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8FA81-E896-4A1E-AF63-B68DA460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9AA5A-1156-4683-95E9-B4F449BA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1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8C65-3B07-42AC-9352-DD947CD6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051B-7A76-4187-8BDB-2919BA8E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434D7-FE87-4AE6-9082-E6F959B1B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CA7E6-ED02-4A00-A01F-9939FC74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507C3-F1C2-4708-AF33-5F00BF14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1C947-DC83-4F26-A272-C7713008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2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20D4-4B05-4185-9331-C4742FD3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97186-C2F4-455F-82E1-05B42ED8A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030AF-4E06-42F9-BE7A-1BD8CE3FB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07EDC-5DA7-4337-A91E-A8484315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10A6B-D1BA-4FF1-A131-FC05DBAA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ACAA8-D514-49C3-A689-23116F01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07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EB1D-D2C8-4F52-A7D8-DCD8E348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D6A36-D068-4B53-98C8-CC56B4E94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EB0CD-16EA-46B2-AF2E-6EDA4391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8A2CF-50CD-4866-9071-526BE8F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84F5E-7007-481E-AE58-AE19BEA8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8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A4977-5B3D-41D5-9027-93A285884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CF314-3440-4FD7-9FAE-1414AED4A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38D14-619D-4718-8997-295BEF30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BC44B-BBD1-43FA-8956-B28EA149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9069-449A-4956-A8D4-49B6C81C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25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4309-6D89-41AB-8A91-D1363B7A8B79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2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9402-4A5B-4D47-A1D0-91761C170E02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0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35D4-24E3-49DB-ADC2-C3D45CFDC558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9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02643-910D-4EB4-9824-A908DB63CAB8}" type="datetime1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14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E23C-D376-47FA-84FA-B46CEE9D6C24}" type="datetime1">
              <a:rPr lang="en-US" smtClean="0"/>
              <a:t>7/27/2022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1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119C3-7898-4488-B8B1-5415DBCCED81}" type="datetime1">
              <a:rPr lang="en-US" smtClean="0"/>
              <a:t>7/27/2022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98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DAEA-AF61-4E59-89DB-F0B7A66636A2}" type="datetime1">
              <a:rPr lang="en-US" smtClean="0"/>
              <a:t>7/27/2022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29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F62E-1B3C-4055-B547-8D6A3DB03FC5}" type="datetime1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1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BC95C-4626-4632-92B6-8B0AC72FFF81}" type="datetime1">
              <a:rPr lang="en-US" smtClean="0"/>
              <a:t>7/27/2022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99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3EAC-0C22-486E-9B41-EBD36D16E6F9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B5B4-E19B-48B5-9BD1-4AE39AF10A48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9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4680F-CE8C-4573-8E4F-A5FF4CC8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CE55-7F44-4FCD-A945-7CA8D271E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8DB79-2DBB-4BE0-A618-ADFC7AD0B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42C47-B2CD-4FF4-BDE3-354A658D6D90}" type="datetimeFigureOut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B4B74-6630-4B4E-BD7C-E816A347F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7008-1436-4CD6-92F0-0FF3A0242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EAAD1-EC49-464D-A8C3-9B3865CF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4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B8E2E-552B-4349-93EC-B243C2FAA68F}" type="datetime1">
              <a:rPr lang="en-US" smtClean="0"/>
              <a:t>7/27/2022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201" y="414599"/>
            <a:ext cx="7967419" cy="80791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dist="38100" dir="2700000" algn="bl" rotWithShape="0">
                    <a:srgbClr val="5B9BD5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Accounting and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6246" y="2853180"/>
            <a:ext cx="7505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Faculty of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Semester VI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C573E5-23A8-48FB-BA36-BDEB8C222F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1BD6D-D74D-44C7-A5DE-F10F2D8F542F}"/>
              </a:ext>
            </a:extLst>
          </p:cNvPr>
          <p:cNvSpPr txBox="1"/>
          <p:nvPr/>
        </p:nvSpPr>
        <p:spPr>
          <a:xfrm>
            <a:off x="7136296" y="4956142"/>
            <a:ext cx="4687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Danisha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Mel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MBA (USJP), BBA (Finance) sp., CIMA passed finalist, MILT, MCPM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Department of Management and Finance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Faculty of Management, Social Sciences and Humanities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General Sir John Kotelawala Defence University </a:t>
            </a:r>
          </a:p>
        </p:txBody>
      </p:sp>
    </p:spTree>
    <p:extLst>
      <p:ext uri="{BB962C8B-B14F-4D97-AF65-F5344CB8AC3E}">
        <p14:creationId xmlns:p14="http://schemas.microsoft.com/office/powerpoint/2010/main" val="115041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D2BED4-1CD5-4E3F-A87C-B3CE0465BF24}"/>
              </a:ext>
            </a:extLst>
          </p:cNvPr>
          <p:cNvSpPr/>
          <p:nvPr/>
        </p:nvSpPr>
        <p:spPr>
          <a:xfrm>
            <a:off x="2524299" y="2193611"/>
            <a:ext cx="8184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CVP </a:t>
            </a:r>
            <a:r>
              <a:rPr lang="en-US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8F5B6-99A7-4A84-A65D-6BB394E4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EDAEA-ED5B-4162-9A45-A342A3AB3F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6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68CF0-F0E4-4E99-898A-D508D02FF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session learners should be able to;</a:t>
            </a:r>
          </a:p>
          <a:p>
            <a:r>
              <a:rPr lang="en-US" dirty="0"/>
              <a:t>Understand the cost behaviours</a:t>
            </a:r>
          </a:p>
          <a:p>
            <a:r>
              <a:rPr lang="en-US" dirty="0"/>
              <a:t>Explain profit equation</a:t>
            </a:r>
          </a:p>
          <a:p>
            <a:r>
              <a:rPr lang="en-US" dirty="0"/>
              <a:t>Explain contribution</a:t>
            </a:r>
          </a:p>
          <a:p>
            <a:r>
              <a:rPr lang="en-US" dirty="0"/>
              <a:t>Calculate BEP</a:t>
            </a:r>
          </a:p>
          <a:p>
            <a:r>
              <a:rPr lang="en-US" dirty="0"/>
              <a:t>Calculate Margin of Safety</a:t>
            </a:r>
          </a:p>
          <a:p>
            <a:r>
              <a:rPr lang="en-US" dirty="0"/>
              <a:t>Decision making based on BEP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4ECFA9-24FA-48CF-BFB9-CD78EF8C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Intended Learning Outcomes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8515BB-5E99-47D9-BB8B-4DCBA20FDD50}"/>
              </a:ext>
            </a:extLst>
          </p:cNvPr>
          <p:cNvCxnSpPr>
            <a:cxnSpLocks/>
          </p:cNvCxnSpPr>
          <p:nvPr/>
        </p:nvCxnSpPr>
        <p:spPr>
          <a:xfrm>
            <a:off x="978877" y="1431753"/>
            <a:ext cx="107021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95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331E1D-8212-4562-9700-0D7DA8F9A348}"/>
              </a:ext>
            </a:extLst>
          </p:cNvPr>
          <p:cNvSpPr/>
          <p:nvPr/>
        </p:nvSpPr>
        <p:spPr>
          <a:xfrm>
            <a:off x="3460652" y="2391508"/>
            <a:ext cx="5190979" cy="13255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C7DCC-610C-49AF-A01D-4F66FCEC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9441"/>
          </a:xfrm>
        </p:spPr>
        <p:txBody>
          <a:bodyPr/>
          <a:lstStyle/>
          <a:p>
            <a:r>
              <a:rPr lang="en-US" dirty="0"/>
              <a:t>The Profit Equation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B92C77-B4DA-4FDD-98E8-5FDDB84499A3}"/>
              </a:ext>
            </a:extLst>
          </p:cNvPr>
          <p:cNvGrpSpPr/>
          <p:nvPr/>
        </p:nvGrpSpPr>
        <p:grpSpPr>
          <a:xfrm>
            <a:off x="3690938" y="2597150"/>
            <a:ext cx="4622800" cy="831850"/>
            <a:chOff x="2282825" y="2417763"/>
            <a:chExt cx="4622800" cy="83185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72F44BB-0659-4172-82F0-10EF2CE5E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25" y="2417763"/>
              <a:ext cx="1530350" cy="83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Operating</a:t>
              </a:r>
            </a:p>
            <a:p>
              <a:pPr algn="ctr"/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Profit</a:t>
              </a: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3A5504A7-EF86-41FA-B944-7F6A3257C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163" y="2417763"/>
              <a:ext cx="1311275" cy="83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Total</a:t>
              </a:r>
            </a:p>
            <a:p>
              <a:pPr algn="ctr"/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Revenue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5A45E137-139C-44FD-A0F1-96E0E3FFB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163" y="2417763"/>
              <a:ext cx="906462" cy="83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Total</a:t>
              </a:r>
            </a:p>
            <a:p>
              <a:r>
                <a:rPr lang="en-US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Costs</a:t>
              </a: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C8ABBA9F-B5D6-428A-8431-11555E951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163" y="2555875"/>
              <a:ext cx="527050" cy="588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=</a:t>
              </a: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C4CB06B2-A324-4FA8-A4F1-A47C3B593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763" y="2555875"/>
              <a:ext cx="387928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r>
                <a:rPr lang="en-US" altLang="en-US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</p:grpSp>
      <p:sp>
        <p:nvSpPr>
          <p:cNvPr id="15" name="Rectangle 8">
            <a:extLst>
              <a:ext uri="{FF2B5EF4-FFF2-40B4-BE49-F238E27FC236}">
                <a16:creationId xmlns:a16="http://schemas.microsoft.com/office/drawing/2014/main" id="{8775E382-FB48-4C82-ADC4-81D6809B9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73" y="4636722"/>
            <a:ext cx="7965323" cy="107465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altLang="en-US" sz="3200" b="1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Operating profit equals to total revenue </a:t>
            </a:r>
          </a:p>
          <a:p>
            <a:pPr algn="ctr">
              <a:defRPr/>
            </a:pPr>
            <a:r>
              <a:rPr lang="en-US" altLang="en-US" sz="3200" b="1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less total costs.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ABFD64-80E1-4843-8A16-1A9884BE31DD}"/>
              </a:ext>
            </a:extLst>
          </p:cNvPr>
          <p:cNvCxnSpPr/>
          <p:nvPr/>
        </p:nvCxnSpPr>
        <p:spPr>
          <a:xfrm>
            <a:off x="838200" y="1364566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3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1570-103D-458D-AC28-0931E208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14"/>
            <a:ext cx="10515600" cy="1011239"/>
          </a:xfrm>
        </p:spPr>
        <p:txBody>
          <a:bodyPr/>
          <a:lstStyle/>
          <a:p>
            <a:r>
              <a:rPr lang="en-US" b="1" dirty="0"/>
              <a:t>Cost Behavior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A129-B956-4C9A-8E3C-C69225A72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280"/>
            <a:ext cx="10515600" cy="48530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Fixed Cost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Cost which tends to be unaffected by the level of activity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436FC-C988-4F9B-8709-5A81120D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FEA98-07C1-450B-B64E-D339A1BD688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B68E6-AC29-4E85-BFC0-BBA2C452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1750"/>
            <a:ext cx="4845948" cy="3011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66369-DB48-43C3-822A-F37CC46F9399}"/>
              </a:ext>
            </a:extLst>
          </p:cNvPr>
          <p:cNvSpPr txBox="1"/>
          <p:nvPr/>
        </p:nvSpPr>
        <p:spPr>
          <a:xfrm flipH="1">
            <a:off x="6626085" y="3078786"/>
            <a:ext cx="5168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Ex:-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The salary of the Managing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The rent of single factory building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EAFEF5-5F05-4A19-BB45-7756E89E62EE}"/>
              </a:ext>
            </a:extLst>
          </p:cNvPr>
          <p:cNvCxnSpPr>
            <a:cxnSpLocks/>
          </p:cNvCxnSpPr>
          <p:nvPr/>
        </p:nvCxnSpPr>
        <p:spPr>
          <a:xfrm>
            <a:off x="891973" y="1225853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66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A687C-A172-4A5A-BEC4-AE5F382C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Step Cost</a:t>
            </a:r>
          </a:p>
          <a:p>
            <a:r>
              <a:rPr lang="en-US" sz="2400" dirty="0"/>
              <a:t>Cost which is fixed in nature but only within certain level of activity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D4BCA-2782-4251-8B50-82F007EF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FEA98-07C1-450B-B64E-D339A1BD688C}" type="slidenum">
              <a:rPr lang="en-US" smtClean="0"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F4DCFA-095D-4468-B5B4-9402655B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r>
              <a:rPr lang="en-US" b="1" dirty="0"/>
              <a:t>Cost Behavior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7E7BA-89D1-41B3-9D05-F768940F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54" y="2628486"/>
            <a:ext cx="4945546" cy="3386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5FE428-A500-491C-8BE3-8D8DE7BAC5E5}"/>
              </a:ext>
            </a:extLst>
          </p:cNvPr>
          <p:cNvSpPr txBox="1"/>
          <p:nvPr/>
        </p:nvSpPr>
        <p:spPr>
          <a:xfrm flipH="1">
            <a:off x="6497704" y="2628486"/>
            <a:ext cx="5168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Ex:-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Rent paid to warehouse could be a fixed only up to a particular level of activity. After a certain activity level, more space would be needed for which rent cost will increase.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E6D49B-46D2-4C3F-8E49-68B6C7CF5C0C}"/>
              </a:ext>
            </a:extLst>
          </p:cNvPr>
          <p:cNvCxnSpPr>
            <a:cxnSpLocks/>
          </p:cNvCxnSpPr>
          <p:nvPr/>
        </p:nvCxnSpPr>
        <p:spPr>
          <a:xfrm>
            <a:off x="838200" y="115735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17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1DC99-509A-490A-8D5B-8C495E50A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10515600" cy="5260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Variable Cost</a:t>
            </a:r>
          </a:p>
          <a:p>
            <a:pPr marL="0" indent="0">
              <a:buNone/>
            </a:pPr>
            <a:r>
              <a:rPr lang="en-US" sz="2400" dirty="0"/>
              <a:t>Cost which tend to vary with the volume of output.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68312-0BBF-4749-AF01-AB686521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FEA98-07C1-450B-B64E-D339A1BD688C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1C0161-CE54-4A23-9B35-8F826D0D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en-US" b="1" dirty="0"/>
              <a:t>Cost Behavior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DC88F-EF31-436E-92D8-67A0E4330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62" y="2777400"/>
            <a:ext cx="4666835" cy="3672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97C9F-ED11-4D3D-B42A-5FC779E78464}"/>
              </a:ext>
            </a:extLst>
          </p:cNvPr>
          <p:cNvSpPr txBox="1"/>
          <p:nvPr/>
        </p:nvSpPr>
        <p:spPr>
          <a:xfrm flipH="1">
            <a:off x="6497705" y="2777400"/>
            <a:ext cx="5168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Ex:-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Direct Material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Direct Labour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Other Direct expenses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3E1499-9354-4E50-ABCE-F71268948272}"/>
              </a:ext>
            </a:extLst>
          </p:cNvPr>
          <p:cNvCxnSpPr>
            <a:cxnSpLocks/>
          </p:cNvCxnSpPr>
          <p:nvPr/>
        </p:nvCxnSpPr>
        <p:spPr>
          <a:xfrm>
            <a:off x="838200" y="115735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2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1DC99-509A-490A-8D5B-8C495E50A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Semi Variable Cost (Semi-Fixed Cost)</a:t>
            </a:r>
          </a:p>
          <a:p>
            <a:pPr marL="0" indent="0">
              <a:buNone/>
            </a:pPr>
            <a:r>
              <a:rPr lang="en-US" dirty="0"/>
              <a:t>Cost which contains both fixed and variable components and so is partly affected by changes in the level of activity.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68312-0BBF-4749-AF01-AB686521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FEA98-07C1-450B-B64E-D339A1BD688C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1C0161-CE54-4A23-9B35-8F826D0D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en-US" b="1" dirty="0"/>
              <a:t>Cost Behavior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97C9F-ED11-4D3D-B42A-5FC779E78464}"/>
              </a:ext>
            </a:extLst>
          </p:cNvPr>
          <p:cNvSpPr txBox="1"/>
          <p:nvPr/>
        </p:nvSpPr>
        <p:spPr>
          <a:xfrm flipH="1">
            <a:off x="5724939" y="3077077"/>
            <a:ext cx="62285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Ex:-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Factory Electricity Bill;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Fixed cost – Monthly Charge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Variable cost – Charge per unit consumed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DAE852-87E0-4931-908C-592062E80C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7"/>
          <a:stretch/>
        </p:blipFill>
        <p:spPr>
          <a:xfrm>
            <a:off x="1075923" y="3002306"/>
            <a:ext cx="4529748" cy="315698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8F676F-77D2-41D5-9CF4-89B5CB68A109}"/>
              </a:ext>
            </a:extLst>
          </p:cNvPr>
          <p:cNvCxnSpPr>
            <a:cxnSpLocks/>
          </p:cNvCxnSpPr>
          <p:nvPr/>
        </p:nvCxnSpPr>
        <p:spPr>
          <a:xfrm>
            <a:off x="838200" y="115735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96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659D-B194-428E-919B-4871E847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93830"/>
          </a:xfrm>
        </p:spPr>
        <p:txBody>
          <a:bodyPr/>
          <a:lstStyle/>
          <a:p>
            <a:r>
              <a:rPr lang="en-US" b="1" dirty="0"/>
              <a:t>Cost behavior and per unit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0D5B-1F5A-4D80-B6C0-D9D80712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What happens to the </a:t>
            </a:r>
            <a:r>
              <a:rPr lang="en-US" sz="2400" b="1" dirty="0">
                <a:solidFill>
                  <a:srgbClr val="FF0000"/>
                </a:solidFill>
              </a:rPr>
              <a:t>COST PER UNIT</a:t>
            </a:r>
            <a:r>
              <a:rPr lang="en-US" sz="2400" dirty="0"/>
              <a:t> when activity level rises?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variable cost per unit remains constant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fixed cost per unit falls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total cost per unit falls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472B2-EEE1-4B41-91FF-9AA6A696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FEA98-07C1-450B-B64E-D339A1BD688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0D25D-8B0F-4597-92A3-5626566CD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70" y="3592307"/>
            <a:ext cx="8256104" cy="312917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DD92E-10C4-45BC-9432-5744888EA86D}"/>
              </a:ext>
            </a:extLst>
          </p:cNvPr>
          <p:cNvCxnSpPr>
            <a:cxnSpLocks/>
          </p:cNvCxnSpPr>
          <p:nvPr/>
        </p:nvCxnSpPr>
        <p:spPr>
          <a:xfrm>
            <a:off x="838200" y="115735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89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88FE9B2-F629-47EF-8532-A793BA233BF1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81612"/>
            <a:ext cx="81534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The Profit Equation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12FDE6-10DC-4C3D-A5A2-F11476CD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798" y="2409409"/>
            <a:ext cx="153035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Operating</a:t>
            </a:r>
          </a:p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Profit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5CF256-4A8F-4A94-B978-AE806A00A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136" y="2409409"/>
            <a:ext cx="131127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Total</a:t>
            </a:r>
          </a:p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Revenue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0CA1EA6-4FAD-4786-A7B5-4CCEADE7D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136" y="2409409"/>
            <a:ext cx="906462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b="1">
                <a:latin typeface="Times New Roman" panose="02020603050405020304" pitchFamily="18" charset="0"/>
              </a:rPr>
              <a:t>Total</a:t>
            </a:r>
          </a:p>
          <a:p>
            <a:r>
              <a:rPr lang="en-US" altLang="en-US" b="1">
                <a:latin typeface="Times New Roman" panose="02020603050405020304" pitchFamily="18" charset="0"/>
              </a:rPr>
              <a:t>Costs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1CC418B-177B-41D3-A7D1-E2DF2DD8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4861" y="4022687"/>
            <a:ext cx="307975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</a:rPr>
              <a:t>=     TR   –    TC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E45D1C5-DDD6-47CE-AF95-87A2C61B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36" y="2547521"/>
            <a:ext cx="527050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200" b="1" dirty="0">
                <a:latin typeface="Times New Roman" panose="02020603050405020304" pitchFamily="18" charset="0"/>
              </a:rPr>
              <a:t> =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229C22A-53F0-4EEE-A7FA-5BEFF69E1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4736" y="2547521"/>
            <a:ext cx="509587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–</a:t>
            </a:r>
          </a:p>
        </p:txBody>
      </p:sp>
      <p:graphicFrame>
        <p:nvGraphicFramePr>
          <p:cNvPr id="11" name="Object 9">
            <a:hlinkClick r:id="" action="ppaction://ole?verb=0"/>
            <a:extLst>
              <a:ext uri="{FF2B5EF4-FFF2-40B4-BE49-F238E27FC236}">
                <a16:creationId xmlns:a16="http://schemas.microsoft.com/office/drawing/2014/main" id="{91E73C4A-A51A-4583-BE91-EBA40B002C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6900022"/>
              </p:ext>
            </p:extLst>
          </p:nvPr>
        </p:nvGraphicFramePr>
        <p:xfrm>
          <a:off x="3957637" y="3936168"/>
          <a:ext cx="8810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305" imgH="825305" progId="Equation.2">
                  <p:embed/>
                </p:oleObj>
              </mc:Choice>
              <mc:Fallback>
                <p:oleObj name="Equation" r:id="rId2" imgW="825305" imgH="825305" progId="Equation.2">
                  <p:embed/>
                  <p:pic>
                    <p:nvPicPr>
                      <p:cNvPr id="9225" name="Object 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954A842-0092-4C13-A377-1028875E1E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7" y="3936168"/>
                        <a:ext cx="8810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2D90FE-FCA9-4BE2-B58E-72593158247D}"/>
              </a:ext>
            </a:extLst>
          </p:cNvPr>
          <p:cNvCxnSpPr>
            <a:cxnSpLocks/>
          </p:cNvCxnSpPr>
          <p:nvPr/>
        </p:nvCxnSpPr>
        <p:spPr>
          <a:xfrm>
            <a:off x="762000" y="120982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70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E59F2A-B5A2-4617-A1BD-86FDF5534B08}"/>
              </a:ext>
            </a:extLst>
          </p:cNvPr>
          <p:cNvSpPr txBox="1">
            <a:spLocks noChangeArrowheads="1"/>
          </p:cNvSpPr>
          <p:nvPr/>
        </p:nvSpPr>
        <p:spPr>
          <a:xfrm>
            <a:off x="860475" y="412385"/>
            <a:ext cx="81534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The Profit Equation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513F3C3-9411-4E09-90B9-BFE51CC0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891" y="2341563"/>
            <a:ext cx="1497012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Total</a:t>
            </a:r>
          </a:p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Revenue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762198-0E8B-44B3-84AA-4E65A8F2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166" y="2341563"/>
            <a:ext cx="2571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Average Selling</a:t>
            </a:r>
          </a:p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Price Per Unit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58C3AC8-6685-4303-BE57-748AAD4E3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978" y="2341563"/>
            <a:ext cx="13906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Units of</a:t>
            </a:r>
          </a:p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7B61AC0-3F7C-40FC-98A7-7785FD0F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366" y="2524126"/>
            <a:ext cx="39687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28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AA03B5-A1E6-4D9F-90A8-EF14FE9BB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566" y="2524126"/>
            <a:ext cx="39687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2800" b="1" dirty="0"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4517A6A-ACEB-403D-A8F6-1754416FE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495" y="3868348"/>
            <a:ext cx="6059487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4400" b="1" dirty="0">
                <a:solidFill>
                  <a:schemeClr val="tx2"/>
                </a:solidFill>
                <a:latin typeface="Arial" panose="020B0604020202020204" pitchFamily="34" charset="0"/>
              </a:rPr>
              <a:t>TR    =          P      ×    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E7A63-1D17-4740-A7CF-416E953D053E}"/>
              </a:ext>
            </a:extLst>
          </p:cNvPr>
          <p:cNvCxnSpPr>
            <a:cxnSpLocks/>
          </p:cNvCxnSpPr>
          <p:nvPr/>
        </p:nvCxnSpPr>
        <p:spPr>
          <a:xfrm>
            <a:off x="991065" y="1395534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23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63D2AEE-0A5A-4A9E-8F5B-0BF498B48A6A}"/>
              </a:ext>
            </a:extLst>
          </p:cNvPr>
          <p:cNvSpPr txBox="1">
            <a:spLocks noChangeArrowheads="1"/>
          </p:cNvSpPr>
          <p:nvPr/>
        </p:nvSpPr>
        <p:spPr>
          <a:xfrm>
            <a:off x="749830" y="285750"/>
            <a:ext cx="81534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The Profit Equation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5A6727-F328-41EB-9C8F-42B976B3A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311" y="2341563"/>
            <a:ext cx="102393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Total</a:t>
            </a:r>
          </a:p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Costs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23B00C1-3800-4D65-9343-FD837ADD4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311" y="2341563"/>
            <a:ext cx="2435225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Variable Costs</a:t>
            </a:r>
          </a:p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Per Unit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253FDEE-7B54-4358-8A06-1560E6447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4861" y="2341563"/>
            <a:ext cx="13906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Units of</a:t>
            </a:r>
          </a:p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E6D7068-5544-440C-BA08-944CF66F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249" y="2555876"/>
            <a:ext cx="39687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28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7E151317-2EB4-49C9-B08B-7C26E887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449" y="2555876"/>
            <a:ext cx="39687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2800" b="1"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3401DD9-A736-4017-824F-A72DF116F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311" y="3979864"/>
            <a:ext cx="7721600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4400" b="1">
                <a:solidFill>
                  <a:schemeClr val="tx2"/>
                </a:solidFill>
                <a:latin typeface="Arial" panose="020B0604020202020204" pitchFamily="34" charset="0"/>
              </a:rPr>
              <a:t>TC    =        (V       ×    X)  +   F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079841A4-8B0D-442E-9E45-BF3169D43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886" y="2341563"/>
            <a:ext cx="104298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Fixed</a:t>
            </a:r>
          </a:p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Costs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8E5459F6-0088-4BBF-BC2B-7FF59F9B8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449" y="2525713"/>
            <a:ext cx="425450" cy="58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200" b="1">
                <a:latin typeface="Times New Roman" panose="02020603050405020304" pitchFamily="18" charset="0"/>
              </a:rPr>
              <a:t>+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340BE7-5FF2-4A70-BE35-E15DE7176ECC}"/>
              </a:ext>
            </a:extLst>
          </p:cNvPr>
          <p:cNvCxnSpPr>
            <a:cxnSpLocks/>
          </p:cNvCxnSpPr>
          <p:nvPr/>
        </p:nvCxnSpPr>
        <p:spPr>
          <a:xfrm>
            <a:off x="854093" y="1428750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1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2DC3F20-113B-4DF4-AC4A-D5E336ED3F3C}"/>
              </a:ext>
            </a:extLst>
          </p:cNvPr>
          <p:cNvSpPr/>
          <p:nvPr/>
        </p:nvSpPr>
        <p:spPr>
          <a:xfrm>
            <a:off x="1716258" y="3429000"/>
            <a:ext cx="8523498" cy="13118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D4A08-1105-4BD4-B7E5-591F6659B763}"/>
              </a:ext>
            </a:extLst>
          </p:cNvPr>
          <p:cNvSpPr/>
          <p:nvPr/>
        </p:nvSpPr>
        <p:spPr>
          <a:xfrm>
            <a:off x="1716258" y="5133931"/>
            <a:ext cx="8523498" cy="13118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ABA8A6A-6D40-4825-8FE1-784A3AF17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" y="2060575"/>
            <a:ext cx="9144000" cy="107465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>
              <a:defRPr/>
            </a:pP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Now, we’ll expand our </a:t>
            </a:r>
          </a:p>
          <a:p>
            <a:pPr algn="ctr">
              <a:defRPr/>
            </a:pP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original equation for profits!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CAA71A-4F94-4088-962D-79EE95E42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799" y="3763463"/>
            <a:ext cx="6194425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4800" dirty="0">
                <a:solidFill>
                  <a:srgbClr val="FF0000"/>
                </a:solidFill>
              </a:rPr>
              <a:t>(P × X) - [(V × X) + F]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42510F9-5E80-4A40-A214-A72EDB706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466" y="3899537"/>
            <a:ext cx="409820" cy="64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600" b="1" dirty="0">
                <a:solidFill>
                  <a:srgbClr val="FF0000"/>
                </a:solidFill>
              </a:rPr>
              <a:t>=</a:t>
            </a:r>
          </a:p>
        </p:txBody>
      </p:sp>
      <p:graphicFrame>
        <p:nvGraphicFramePr>
          <p:cNvPr id="11" name="Object 6">
            <a:hlinkClick r:id="" action="ppaction://ole?verb=0"/>
            <a:extLst>
              <a:ext uri="{FF2B5EF4-FFF2-40B4-BE49-F238E27FC236}">
                <a16:creationId xmlns:a16="http://schemas.microsoft.com/office/drawing/2014/main" id="{C4BD3675-105F-4D4D-B5D4-03B52570F2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4710"/>
              </p:ext>
            </p:extLst>
          </p:nvPr>
        </p:nvGraphicFramePr>
        <p:xfrm>
          <a:off x="1952244" y="3794274"/>
          <a:ext cx="8810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305" imgH="825305" progId="Equation.2">
                  <p:embed/>
                </p:oleObj>
              </mc:Choice>
              <mc:Fallback>
                <p:oleObj name="Equation" r:id="rId2" imgW="825305" imgH="825305" progId="Equation.2">
                  <p:embed/>
                  <p:pic>
                    <p:nvPicPr>
                      <p:cNvPr id="15366" name="Object 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8531152-F0E3-4CB2-B78A-CD0DFCA44A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244" y="3794274"/>
                        <a:ext cx="8810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2821AE45-150D-4C2F-9259-9B0AD056BE59}"/>
              </a:ext>
            </a:extLst>
          </p:cNvPr>
          <p:cNvSpPr txBox="1">
            <a:spLocks noChangeArrowheads="1"/>
          </p:cNvSpPr>
          <p:nvPr/>
        </p:nvSpPr>
        <p:spPr>
          <a:xfrm>
            <a:off x="749830" y="285750"/>
            <a:ext cx="81534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The Profit Equation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38B3BD-FB66-4CA9-A34E-1C1A619E5CC9}"/>
              </a:ext>
            </a:extLst>
          </p:cNvPr>
          <p:cNvCxnSpPr>
            <a:cxnSpLocks/>
          </p:cNvCxnSpPr>
          <p:nvPr/>
        </p:nvCxnSpPr>
        <p:spPr>
          <a:xfrm>
            <a:off x="854093" y="1330276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6">
            <a:extLst>
              <a:ext uri="{FF2B5EF4-FFF2-40B4-BE49-F238E27FC236}">
                <a16:creationId xmlns:a16="http://schemas.microsoft.com/office/drawing/2014/main" id="{4108F85D-08A9-4C6C-B3DF-AC99D3EBD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799" y="5263356"/>
            <a:ext cx="3662863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4800" dirty="0">
                <a:solidFill>
                  <a:srgbClr val="FF0000"/>
                </a:solidFill>
              </a:rPr>
              <a:t>(P – V)X – F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80ADEA55-CC74-4711-BD59-4C5585D9D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05" y="5386418"/>
            <a:ext cx="400699" cy="66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=</a:t>
            </a:r>
          </a:p>
        </p:txBody>
      </p:sp>
      <p:graphicFrame>
        <p:nvGraphicFramePr>
          <p:cNvPr id="21" name="Object 9">
            <a:hlinkClick r:id="" action="ppaction://ole?verb=0"/>
            <a:extLst>
              <a:ext uri="{FF2B5EF4-FFF2-40B4-BE49-F238E27FC236}">
                <a16:creationId xmlns:a16="http://schemas.microsoft.com/office/drawing/2014/main" id="{5AE25874-44E7-4353-919C-09871A8729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489049"/>
              </p:ext>
            </p:extLst>
          </p:nvPr>
        </p:nvGraphicFramePr>
        <p:xfrm>
          <a:off x="1889823" y="5342488"/>
          <a:ext cx="8810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305" imgH="825305" progId="Equation.2">
                  <p:embed/>
                </p:oleObj>
              </mc:Choice>
              <mc:Fallback>
                <p:oleObj name="Equation" r:id="rId4" imgW="825305" imgH="825305" progId="Equation.2">
                  <p:embed/>
                  <p:pic>
                    <p:nvPicPr>
                      <p:cNvPr id="16393" name="Object 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9E1B2B8-F90D-433B-88F6-E6C4FB6CD1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823" y="5342488"/>
                        <a:ext cx="8810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264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2415-C903-4183-A235-21F59DD4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2321"/>
          </a:xfrm>
        </p:spPr>
        <p:txBody>
          <a:bodyPr/>
          <a:lstStyle/>
          <a:p>
            <a:r>
              <a:rPr lang="en-US" dirty="0"/>
              <a:t>Contribution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958BB-589A-4AA4-9D69-28E35A62F5A0}"/>
              </a:ext>
            </a:extLst>
          </p:cNvPr>
          <p:cNvCxnSpPr>
            <a:cxnSpLocks/>
          </p:cNvCxnSpPr>
          <p:nvPr/>
        </p:nvCxnSpPr>
        <p:spPr>
          <a:xfrm>
            <a:off x="854093" y="1330276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B2A5C3-AAD2-4DAE-9445-91D1CB0A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093" y="1881896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Sales = Variable Cost + Fixed Cost </a:t>
            </a:r>
            <a:r>
              <a:rPr lang="en-US" altLang="en-US" u="sng" dirty="0"/>
              <a:t>+</a:t>
            </a:r>
            <a:r>
              <a:rPr lang="en-US" altLang="en-US" dirty="0"/>
              <a:t> Profit or Loss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Sales – Variable Cost = Fixed Cost </a:t>
            </a:r>
            <a:r>
              <a:rPr lang="en-US" altLang="en-US" u="sng" dirty="0"/>
              <a:t>+</a:t>
            </a:r>
            <a:r>
              <a:rPr lang="en-US" altLang="en-US" dirty="0"/>
              <a:t> Profit or Loss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Sales – Variable Cost = Contribution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Contribution = Fixed Cost </a:t>
            </a:r>
            <a:r>
              <a:rPr lang="en-US" altLang="en-US" u="sng" dirty="0"/>
              <a:t>+</a:t>
            </a:r>
            <a:r>
              <a:rPr lang="en-US" altLang="en-US" dirty="0"/>
              <a:t> Profit or Loss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BB823-CAA8-4609-B57C-3905DD5E36D4}"/>
              </a:ext>
            </a:extLst>
          </p:cNvPr>
          <p:cNvSpPr txBox="1"/>
          <p:nvPr/>
        </p:nvSpPr>
        <p:spPr>
          <a:xfrm>
            <a:off x="675249" y="3790632"/>
            <a:ext cx="6414868" cy="730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05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711D-46B3-4AFC-85FE-8380D189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6050"/>
          </a:xfrm>
        </p:spPr>
        <p:txBody>
          <a:bodyPr/>
          <a:lstStyle/>
          <a:p>
            <a:r>
              <a:rPr lang="en-US" dirty="0"/>
              <a:t>Break-even Point (BEP)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39E3CB-D15C-4A9C-AE95-5F2A66420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 b="1" i="1" dirty="0"/>
              <a:t>Break even point</a:t>
            </a:r>
            <a:r>
              <a:rPr lang="en-US" altLang="en-US" dirty="0"/>
              <a:t> is the level of sales at which profit is zero. According to this definition, at </a:t>
            </a:r>
            <a:r>
              <a:rPr lang="en-US" altLang="en-US" i="1" dirty="0"/>
              <a:t>break even point</a:t>
            </a:r>
            <a:r>
              <a:rPr lang="en-US" altLang="en-US" dirty="0"/>
              <a:t> sales are equal to </a:t>
            </a:r>
            <a:r>
              <a:rPr lang="en-US" altLang="en-US" b="1" i="1" dirty="0"/>
              <a:t>fixed cost </a:t>
            </a:r>
            <a:r>
              <a:rPr lang="en-US" altLang="en-US" dirty="0"/>
              <a:t>plus </a:t>
            </a:r>
            <a:r>
              <a:rPr lang="en-US" altLang="en-US" b="1" i="1" dirty="0"/>
              <a:t>variable cost </a:t>
            </a:r>
            <a:r>
              <a:rPr lang="en-US" altLang="en-US" dirty="0"/>
              <a:t>. This concept is further explained by the following equation: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      At the BEP:- Total Revenue = Total Cost </a:t>
            </a:r>
            <a:endParaRPr lang="en-US" altLang="en-US" sz="1800" b="1" dirty="0">
              <a:solidFill>
                <a:srgbClr val="FF0000"/>
              </a:solidFill>
            </a:endParaRPr>
          </a:p>
          <a:p>
            <a:pPr eaLnBrk="1" hangingPunct="1"/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       Break even sales = fixed cost + variable cost </a:t>
            </a:r>
            <a:endParaRPr lang="en-US" altLang="en-US" sz="1800" b="1" dirty="0">
              <a:solidFill>
                <a:srgbClr val="FF0000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B71EA9-F165-40E3-A13E-F8066EC4D190}"/>
              </a:ext>
            </a:extLst>
          </p:cNvPr>
          <p:cNvCxnSpPr>
            <a:cxnSpLocks/>
          </p:cNvCxnSpPr>
          <p:nvPr/>
        </p:nvCxnSpPr>
        <p:spPr>
          <a:xfrm>
            <a:off x="854093" y="1330276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88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D78C-6268-42B4-A8AD-211C7DC1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7" y="379194"/>
            <a:ext cx="10515600" cy="886900"/>
          </a:xfrm>
        </p:spPr>
        <p:txBody>
          <a:bodyPr/>
          <a:lstStyle/>
          <a:p>
            <a:r>
              <a:rPr lang="en-US" dirty="0"/>
              <a:t>Break-even Point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EE2456-B9E4-44EE-B073-946FC9836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540" y="1447295"/>
            <a:ext cx="8032652" cy="5298164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9E3E8F-E7F5-445F-8106-6F8B4B598A16}"/>
              </a:ext>
            </a:extLst>
          </p:cNvPr>
          <p:cNvCxnSpPr>
            <a:cxnSpLocks/>
          </p:cNvCxnSpPr>
          <p:nvPr/>
        </p:nvCxnSpPr>
        <p:spPr>
          <a:xfrm>
            <a:off x="769687" y="1266094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67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B47F2B-F9BA-44AB-ACA2-78D604D7622E}"/>
              </a:ext>
            </a:extLst>
          </p:cNvPr>
          <p:cNvSpPr/>
          <p:nvPr/>
        </p:nvSpPr>
        <p:spPr>
          <a:xfrm>
            <a:off x="1561514" y="3305908"/>
            <a:ext cx="8961120" cy="22086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F5170-1F78-4148-8C3F-D28D72DF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8592"/>
          </a:xfrm>
        </p:spPr>
        <p:txBody>
          <a:bodyPr/>
          <a:lstStyle/>
          <a:p>
            <a:r>
              <a:rPr lang="en-US" dirty="0"/>
              <a:t>Target Volume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45A84-9F00-413D-9025-21AD81D852F1}"/>
              </a:ext>
            </a:extLst>
          </p:cNvPr>
          <p:cNvSpPr txBox="1">
            <a:spLocks noChangeArrowheads="1"/>
          </p:cNvSpPr>
          <p:nvPr/>
        </p:nvSpPr>
        <p:spPr>
          <a:xfrm>
            <a:off x="1046163" y="2028826"/>
            <a:ext cx="8534400" cy="1066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en-US" dirty="0"/>
              <a:t>The formula to find a volume expressed in units for a target profit is . . 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9A68E-FA17-4D6D-81C2-7FE2500EC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3630612"/>
            <a:ext cx="1397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b="1" dirty="0">
                <a:solidFill>
                  <a:srgbClr val="FF0000"/>
                </a:solidFill>
              </a:rPr>
              <a:t>Target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Volume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(units)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0B63C9-DF8B-4B7E-B83B-A27CAD3DF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92" y="3995736"/>
            <a:ext cx="3778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0D689-B1DC-492F-9130-C73112BCD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943" y="3630613"/>
            <a:ext cx="4878387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Fixed costs + Target profit</a:t>
            </a:r>
          </a:p>
          <a:p>
            <a:pPr algn="ctr"/>
            <a:endParaRPr lang="en-US" altLang="en-US" b="1" dirty="0">
              <a:solidFill>
                <a:srgbClr val="FF0000"/>
              </a:solidFill>
            </a:endParaRPr>
          </a:p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Contribution margin per unit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2CC794-BE3B-4BC9-BEEE-BE431F2E3A67}"/>
              </a:ext>
            </a:extLst>
          </p:cNvPr>
          <p:cNvCxnSpPr/>
          <p:nvPr/>
        </p:nvCxnSpPr>
        <p:spPr>
          <a:xfrm>
            <a:off x="5064369" y="4248443"/>
            <a:ext cx="477896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36039E-C28B-40F1-BB08-0939E8D7E28A}"/>
              </a:ext>
            </a:extLst>
          </p:cNvPr>
          <p:cNvCxnSpPr>
            <a:cxnSpLocks/>
          </p:cNvCxnSpPr>
          <p:nvPr/>
        </p:nvCxnSpPr>
        <p:spPr>
          <a:xfrm>
            <a:off x="1046163" y="1463041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2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909A-F9A1-4C00-BD50-A134F457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697"/>
          </a:xfrm>
        </p:spPr>
        <p:txBody>
          <a:bodyPr/>
          <a:lstStyle/>
          <a:p>
            <a:r>
              <a:rPr lang="en-US" dirty="0"/>
              <a:t>Example 1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D26728-139E-4994-A649-E83A8D4A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649"/>
            <a:ext cx="10894255" cy="4903226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A company makes a single product with a sales price of </a:t>
            </a:r>
            <a:r>
              <a:rPr lang="en-US" sz="2400" dirty="0" err="1"/>
              <a:t>Rs</a:t>
            </a:r>
            <a:r>
              <a:rPr lang="en-US" sz="2400" dirty="0"/>
              <a:t>. 100 and a marginal cost of </a:t>
            </a:r>
            <a:r>
              <a:rPr lang="en-US" sz="2400" dirty="0" err="1"/>
              <a:t>Rs</a:t>
            </a:r>
            <a:r>
              <a:rPr lang="en-US" sz="2400" dirty="0"/>
              <a:t> 60. Fixed costs are </a:t>
            </a:r>
            <a:r>
              <a:rPr lang="en-US" sz="2400" dirty="0" err="1"/>
              <a:t>Rs</a:t>
            </a:r>
            <a:r>
              <a:rPr lang="en-US" sz="2400" dirty="0"/>
              <a:t>. 600000.</a:t>
            </a:r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Required;</a:t>
            </a:r>
          </a:p>
          <a:p>
            <a:pPr marL="514350" indent="-514350" eaLnBrk="1" fontAlgn="auto" hangingPunct="1">
              <a:spcAft>
                <a:spcPts val="0"/>
              </a:spcAft>
              <a:buFont typeface="Monotype Sorts" pitchFamily="2" charset="2"/>
              <a:buAutoNum type="alphaLcPeriod"/>
              <a:defRPr/>
            </a:pPr>
            <a:r>
              <a:rPr lang="en-US" sz="2400" dirty="0"/>
              <a:t>Number of units to break even</a:t>
            </a:r>
          </a:p>
          <a:p>
            <a:pPr marL="514350" indent="-514350" eaLnBrk="1" fontAlgn="auto" hangingPunct="1">
              <a:spcAft>
                <a:spcPts val="0"/>
              </a:spcAft>
              <a:buFont typeface="Monotype Sorts" pitchFamily="2" charset="2"/>
              <a:buAutoNum type="alphaLcPeriod"/>
              <a:defRPr/>
            </a:pPr>
            <a:r>
              <a:rPr lang="en-US" sz="2400" dirty="0"/>
              <a:t>Sales at break-even unit</a:t>
            </a:r>
          </a:p>
          <a:p>
            <a:pPr marL="514350" indent="-514350" eaLnBrk="1" fontAlgn="auto" hangingPunct="1">
              <a:spcAft>
                <a:spcPts val="0"/>
              </a:spcAft>
              <a:buFont typeface="Monotype Sorts" pitchFamily="2" charset="2"/>
              <a:buAutoNum type="alphaLcPeriod"/>
              <a:defRPr/>
            </a:pPr>
            <a:r>
              <a:rPr lang="en-US" sz="2400" dirty="0"/>
              <a:t>What number of units will need to be sold to achieve a profit of </a:t>
            </a:r>
            <a:r>
              <a:rPr lang="en-US" sz="2400" dirty="0" err="1"/>
              <a:t>Rs</a:t>
            </a:r>
            <a:r>
              <a:rPr lang="en-US" sz="2400" dirty="0"/>
              <a:t>. 200000 per annum ?</a:t>
            </a:r>
          </a:p>
          <a:p>
            <a:pPr marL="514350" indent="-514350" eaLnBrk="1" fontAlgn="auto" hangingPunct="1">
              <a:spcAft>
                <a:spcPts val="0"/>
              </a:spcAft>
              <a:buFont typeface="Monotype Sorts" pitchFamily="2" charset="2"/>
              <a:buAutoNum type="alphaLcPeriod"/>
              <a:defRPr/>
            </a:pPr>
            <a:r>
              <a:rPr lang="en-US" sz="2400" dirty="0"/>
              <a:t>What level of sales will achieve a profit of </a:t>
            </a:r>
            <a:r>
              <a:rPr lang="en-US" sz="2400" dirty="0" err="1"/>
              <a:t>Rs</a:t>
            </a:r>
            <a:r>
              <a:rPr lang="en-US" sz="2400" dirty="0"/>
              <a:t>. 200000 per annum?</a:t>
            </a:r>
          </a:p>
          <a:p>
            <a:pPr marL="514350" indent="-514350" eaLnBrk="1" fontAlgn="auto" hangingPunct="1">
              <a:spcAft>
                <a:spcPts val="0"/>
              </a:spcAft>
              <a:buFont typeface="Monotype Sorts" pitchFamily="2" charset="2"/>
              <a:buAutoNum type="alphaLcPeriod"/>
              <a:defRPr/>
            </a:pPr>
            <a:r>
              <a:rPr lang="en-US" sz="2400" dirty="0"/>
              <a:t>Because of increasing costs the marginal cost is expected to rise to </a:t>
            </a:r>
            <a:r>
              <a:rPr lang="en-US" sz="2400" dirty="0" err="1"/>
              <a:t>Rs</a:t>
            </a:r>
            <a:r>
              <a:rPr lang="en-US" sz="2400" dirty="0"/>
              <a:t>. 65 per unit and fixed costs to </a:t>
            </a:r>
            <a:r>
              <a:rPr lang="en-US" sz="2400" dirty="0" err="1"/>
              <a:t>Rs</a:t>
            </a:r>
            <a:r>
              <a:rPr lang="en-US" sz="2400" dirty="0"/>
              <a:t>. 700000 p.a. If the selling price can not be increased what will be the number of units required to maintain a profit of </a:t>
            </a:r>
            <a:r>
              <a:rPr lang="en-US" sz="2400" dirty="0" err="1"/>
              <a:t>Rs</a:t>
            </a:r>
            <a:r>
              <a:rPr lang="en-US" sz="2400" dirty="0"/>
              <a:t>. 200000 </a:t>
            </a:r>
            <a:r>
              <a:rPr lang="en-US" sz="2400" dirty="0" err="1"/>
              <a:t>p.a</a:t>
            </a:r>
            <a:r>
              <a:rPr lang="en-US" sz="2400" dirty="0"/>
              <a:t> 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9559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A7D944-F34F-428F-9391-0DA192BE5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258" y="664697"/>
            <a:ext cx="9594166" cy="552860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3D69E4-EFE9-FFC2-2516-C2498626190D}"/>
              </a:ext>
            </a:extLst>
          </p:cNvPr>
          <p:cNvSpPr txBox="1"/>
          <p:nvPr/>
        </p:nvSpPr>
        <p:spPr>
          <a:xfrm>
            <a:off x="7040880" y="1725930"/>
            <a:ext cx="7200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116807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793826-5587-476C-BB61-5555EA11B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82" y="844207"/>
            <a:ext cx="7926926" cy="423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47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1326-A639-414F-9C51-34CFB671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69" y="303129"/>
            <a:ext cx="10515600" cy="935038"/>
          </a:xfrm>
        </p:spPr>
        <p:txBody>
          <a:bodyPr/>
          <a:lstStyle/>
          <a:p>
            <a:r>
              <a:rPr lang="en-US" dirty="0"/>
              <a:t>Margin of Safety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DFDBE5-9835-4DCE-B83F-88BDC77C12B2}"/>
              </a:ext>
            </a:extLst>
          </p:cNvPr>
          <p:cNvSpPr txBox="1">
            <a:spLocks/>
          </p:cNvSpPr>
          <p:nvPr/>
        </p:nvSpPr>
        <p:spPr>
          <a:xfrm>
            <a:off x="644769" y="1851699"/>
            <a:ext cx="10665656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Excess of projected (or actual) sales over the break-even volume.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0A3F6-D534-4D2A-9F4E-E6E31BFF8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077" y="4442499"/>
            <a:ext cx="3957816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BC37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 Sales     -      Break-even </a:t>
            </a:r>
          </a:p>
          <a:p>
            <a:pPr>
              <a:defRPr/>
            </a:pPr>
            <a:r>
              <a:rPr lang="en-US" sz="2400" b="1" dirty="0">
                <a:solidFill>
                  <a:srgbClr val="BC37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volume         sales volume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F5570-9838-4363-B6C6-300E5678F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444" y="4442499"/>
            <a:ext cx="3217228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BC37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400" dirty="0"/>
              <a:t>  </a:t>
            </a:r>
            <a:r>
              <a:rPr lang="en-US" sz="2400" b="1" dirty="0">
                <a:solidFill>
                  <a:srgbClr val="BC37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Margin of Safety   =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F57AD9-2490-4018-906C-A8CE5A56D1DD}"/>
              </a:ext>
            </a:extLst>
          </p:cNvPr>
          <p:cNvCxnSpPr>
            <a:cxnSpLocks/>
          </p:cNvCxnSpPr>
          <p:nvPr/>
        </p:nvCxnSpPr>
        <p:spPr>
          <a:xfrm>
            <a:off x="644769" y="1342148"/>
            <a:ext cx="109024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133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D2E4-7A97-4954-B13B-860A2F43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336989"/>
            <a:ext cx="10515600" cy="56334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A133-B835-4C4B-A53A-09AFB5F3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173"/>
            <a:ext cx="10515600" cy="560211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200" dirty="0"/>
              <a:t>A manufacturer incurred the following costs in a period for his sole product:</a:t>
            </a:r>
          </a:p>
          <a:p>
            <a:pPr>
              <a:defRPr/>
            </a:pPr>
            <a:r>
              <a:rPr lang="en-US" sz="2200" dirty="0" err="1"/>
              <a:t>Labour</a:t>
            </a:r>
            <a:r>
              <a:rPr lang="en-US" sz="2200" dirty="0"/>
              <a:t> (25% Variable) 		$   8000</a:t>
            </a:r>
          </a:p>
          <a:p>
            <a:pPr>
              <a:defRPr/>
            </a:pPr>
            <a:r>
              <a:rPr lang="en-US" sz="2200" dirty="0"/>
              <a:t>Material (100% variable)		$ 12000</a:t>
            </a:r>
          </a:p>
          <a:p>
            <a:pPr>
              <a:defRPr/>
            </a:pPr>
            <a:r>
              <a:rPr lang="en-US" sz="2200" dirty="0"/>
              <a:t>Selling costs (10% variable) 		$   2000</a:t>
            </a:r>
          </a:p>
          <a:p>
            <a:pPr>
              <a:defRPr/>
            </a:pPr>
            <a:r>
              <a:rPr lang="en-US" sz="2200" dirty="0"/>
              <a:t>Other costs (fixed)			</a:t>
            </a:r>
            <a:r>
              <a:rPr lang="en-US" sz="2200" u="sng" dirty="0"/>
              <a:t>$   7000</a:t>
            </a:r>
          </a:p>
          <a:p>
            <a:pPr>
              <a:defRPr/>
            </a:pPr>
            <a:r>
              <a:rPr lang="en-US" sz="2200" dirty="0"/>
              <a:t>Total Costs				</a:t>
            </a:r>
            <a:r>
              <a:rPr lang="en-US" sz="2200" u="sng" dirty="0"/>
              <a:t>$  29000</a:t>
            </a:r>
          </a:p>
          <a:p>
            <a:pPr>
              <a:defRPr/>
            </a:pPr>
            <a:r>
              <a:rPr lang="en-US" sz="2200" dirty="0"/>
              <a:t>A normal period’s sales are 500 units at $ 70 each, but up to 650 units could be made in a period. Various alternatives are being considered:</a:t>
            </a:r>
          </a:p>
          <a:p>
            <a:pPr marL="617537" lvl="1" indent="-342900">
              <a:buFont typeface="+mj-lt"/>
              <a:buAutoNum type="arabicPeriod"/>
              <a:defRPr/>
            </a:pPr>
            <a:r>
              <a:rPr lang="en-US" sz="2200" dirty="0"/>
              <a:t>Reduce the price to $ 63 each and sell all that could be made</a:t>
            </a:r>
          </a:p>
          <a:p>
            <a:pPr marL="617537" lvl="1" indent="-342900">
              <a:buFont typeface="+mj-lt"/>
              <a:buAutoNum type="arabicPeriod"/>
              <a:defRPr/>
            </a:pPr>
            <a:r>
              <a:rPr lang="en-US" sz="2200" dirty="0"/>
              <a:t>Increase the price to $ 80 each at which price sales would be 400 units</a:t>
            </a:r>
          </a:p>
          <a:p>
            <a:pPr marL="617537" lvl="1" indent="-342900">
              <a:buFont typeface="+mj-lt"/>
              <a:buAutoNum type="arabicPeriod"/>
              <a:defRPr/>
            </a:pPr>
            <a:r>
              <a:rPr lang="en-US" sz="2200" dirty="0"/>
              <a:t>Keep the present plan </a:t>
            </a:r>
          </a:p>
          <a:p>
            <a:pPr marL="274637" lvl="1" indent="0">
              <a:buNone/>
              <a:defRPr/>
            </a:pPr>
            <a:r>
              <a:rPr lang="en-US" sz="2200" dirty="0"/>
              <a:t>What is the most profitable plan ?</a:t>
            </a:r>
          </a:p>
          <a:p>
            <a:pPr marL="274637" lvl="1" indent="0">
              <a:buNone/>
              <a:defRPr/>
            </a:pPr>
            <a:r>
              <a:rPr lang="en-US" sz="2200" dirty="0"/>
              <a:t>What are the C/s ratios ?</a:t>
            </a:r>
          </a:p>
          <a:p>
            <a:pPr marL="274637" lvl="1" indent="0">
              <a:buNone/>
              <a:defRPr/>
            </a:pPr>
            <a:r>
              <a:rPr lang="en-US" sz="2200" dirty="0"/>
              <a:t>What is the break-even-point for each alternative ?</a:t>
            </a:r>
          </a:p>
          <a:p>
            <a:pPr marL="617537" lvl="1" indent="-342900">
              <a:buFont typeface="+mj-lt"/>
              <a:buAutoNum type="arabicPeriod"/>
              <a:defRPr/>
            </a:pPr>
            <a:endParaRPr lang="en-US" sz="2200" dirty="0"/>
          </a:p>
          <a:p>
            <a:pPr marL="342900" indent="-342900">
              <a:buFont typeface="+mj-lt"/>
              <a:buAutoNum type="arabicPeriod"/>
              <a:defRPr/>
            </a:pPr>
            <a:endParaRPr lang="en-US" sz="2200" dirty="0"/>
          </a:p>
          <a:p>
            <a:pPr marL="0" indent="0">
              <a:buNone/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4B60-10EE-4972-B45F-242BF3E6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Answer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DE1346-7713-4781-9852-1184026D3C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19400" y="1965325"/>
          <a:ext cx="6629400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r>
                        <a:rPr lang="en-US" sz="2000" dirty="0"/>
                        <a:t>Item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VC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FC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2000" dirty="0" err="1"/>
                        <a:t>Labour</a:t>
                      </a:r>
                      <a:r>
                        <a:rPr lang="en-US" sz="2000" dirty="0"/>
                        <a:t> (25%)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2000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6000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2000" dirty="0"/>
                        <a:t>Material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12000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2000" dirty="0"/>
                        <a:t>Selling Cost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1800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7000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2000" dirty="0"/>
                        <a:t>Total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14200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14800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801" name="TextBox 4">
            <a:extLst>
              <a:ext uri="{FF2B5EF4-FFF2-40B4-BE49-F238E27FC236}">
                <a16:creationId xmlns:a16="http://schemas.microsoft.com/office/drawing/2014/main" id="{F5F82082-1783-431B-BC2D-03BB19BA0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800600"/>
            <a:ext cx="358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r>
              <a:rPr lang="en-US" altLang="en-US" sz="1800"/>
              <a:t>VC per unit = 14200/500 =28.4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024231-C4B5-46F6-B432-43E1C32FD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580156"/>
              </p:ext>
            </p:extLst>
          </p:nvPr>
        </p:nvGraphicFramePr>
        <p:xfrm>
          <a:off x="1688123" y="1336431"/>
          <a:ext cx="8522676" cy="415634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Sales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Sales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Sales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VC(28.4x 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C/S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0.5942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r>
                        <a:rPr lang="en-US" sz="1800" dirty="0"/>
                        <a:t>BEP (FC/c/s)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24907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1442">
                <a:tc>
                  <a:txBody>
                    <a:bodyPr/>
                    <a:lstStyle/>
                    <a:p>
                      <a:r>
                        <a:rPr lang="en-US" sz="1800" dirty="0"/>
                        <a:t>BEP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427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287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356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962</Words>
  <Application>Microsoft Office PowerPoint</Application>
  <PresentationFormat>Widescreen</PresentationFormat>
  <Paragraphs>220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Calibri Light</vt:lpstr>
      <vt:lpstr>Century Schoolbook</vt:lpstr>
      <vt:lpstr>Monotype Sorts</vt:lpstr>
      <vt:lpstr>Times New Roman</vt:lpstr>
      <vt:lpstr>Wingdings</vt:lpstr>
      <vt:lpstr>Wingdings 2</vt:lpstr>
      <vt:lpstr>Office Theme</vt:lpstr>
      <vt:lpstr>2_Office Theme</vt:lpstr>
      <vt:lpstr>Equation</vt:lpstr>
      <vt:lpstr>PowerPoint Presentation</vt:lpstr>
      <vt:lpstr>PowerPoint Presentation</vt:lpstr>
      <vt:lpstr>Intended Learning Outcomes</vt:lpstr>
      <vt:lpstr>The Profit Equation </vt:lpstr>
      <vt:lpstr>Cost Behavior Patterns</vt:lpstr>
      <vt:lpstr>Cost Behavior Patterns</vt:lpstr>
      <vt:lpstr>Cost Behavior Patterns</vt:lpstr>
      <vt:lpstr>Cost Behavior Patterns</vt:lpstr>
      <vt:lpstr>Cost behavior and per unit cost</vt:lpstr>
      <vt:lpstr>PowerPoint Presentation</vt:lpstr>
      <vt:lpstr>PowerPoint Presentation</vt:lpstr>
      <vt:lpstr>PowerPoint Presentation</vt:lpstr>
      <vt:lpstr>PowerPoint Presentation</vt:lpstr>
      <vt:lpstr>Contribution</vt:lpstr>
      <vt:lpstr>Break-even Point (BEP)</vt:lpstr>
      <vt:lpstr>Break-even Point</vt:lpstr>
      <vt:lpstr>Target Volume</vt:lpstr>
      <vt:lpstr>Example 1 </vt:lpstr>
      <vt:lpstr>PowerPoint Presentation</vt:lpstr>
      <vt:lpstr>PowerPoint Presentation</vt:lpstr>
      <vt:lpstr>Margin of Safety</vt:lpstr>
      <vt:lpstr>Practice Question</vt:lpstr>
      <vt:lpstr>Answer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NOTEBOOK</dc:creator>
  <cp:lastModifiedBy>Danisha De Mel</cp:lastModifiedBy>
  <cp:revision>44</cp:revision>
  <dcterms:created xsi:type="dcterms:W3CDTF">2020-07-09T08:57:11Z</dcterms:created>
  <dcterms:modified xsi:type="dcterms:W3CDTF">2022-07-27T07:03:24Z</dcterms:modified>
</cp:coreProperties>
</file>