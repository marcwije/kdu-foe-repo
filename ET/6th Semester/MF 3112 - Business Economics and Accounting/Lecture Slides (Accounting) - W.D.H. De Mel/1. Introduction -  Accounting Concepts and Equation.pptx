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8" r:id="rId1"/>
  </p:sldMasterIdLst>
  <p:notesMasterIdLst>
    <p:notesMasterId r:id="rId32"/>
  </p:notesMasterIdLst>
  <p:sldIdLst>
    <p:sldId id="304" r:id="rId2"/>
    <p:sldId id="297" r:id="rId3"/>
    <p:sldId id="261" r:id="rId4"/>
    <p:sldId id="256" r:id="rId5"/>
    <p:sldId id="257" r:id="rId6"/>
    <p:sldId id="259" r:id="rId7"/>
    <p:sldId id="260" r:id="rId8"/>
    <p:sldId id="264" r:id="rId9"/>
    <p:sldId id="262" r:id="rId10"/>
    <p:sldId id="263" r:id="rId11"/>
    <p:sldId id="265" r:id="rId12"/>
    <p:sldId id="266" r:id="rId13"/>
    <p:sldId id="258"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98" r:id="rId27"/>
    <p:sldId id="299" r:id="rId28"/>
    <p:sldId id="300" r:id="rId29"/>
    <p:sldId id="301" r:id="rId30"/>
    <p:sldId id="302"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A793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25" autoAdjust="0"/>
    <p:restoredTop sz="94660"/>
  </p:normalViewPr>
  <p:slideViewPr>
    <p:cSldViewPr>
      <p:cViewPr varScale="1">
        <p:scale>
          <a:sx n="60" d="100"/>
          <a:sy n="60" d="100"/>
        </p:scale>
        <p:origin x="1468"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512D7A-4F10-4E9A-884E-AE0A04C0032A}" type="datetimeFigureOut">
              <a:rPr lang="en-US" smtClean="0"/>
              <a:t>6/13/2022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32A808-2BFC-457A-A8F1-575D1E654739}" type="slidenum">
              <a:rPr lang="en-US" smtClean="0"/>
              <a:t>‹#›</a:t>
            </a:fld>
            <a:endParaRPr lang="en-US"/>
          </a:p>
        </p:txBody>
      </p:sp>
    </p:spTree>
    <p:extLst>
      <p:ext uri="{BB962C8B-B14F-4D97-AF65-F5344CB8AC3E}">
        <p14:creationId xmlns:p14="http://schemas.microsoft.com/office/powerpoint/2010/main" val="1753711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0BA67CFA-C24A-4BD9-9B55-060EA7DC021D}" type="datetime1">
              <a:rPr lang="en-US" smtClean="0"/>
              <a:t>6/13/2022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FEA98-07C1-450B-B64E-D339A1BD688C}" type="slidenum">
              <a:rPr lang="en-US" smtClean="0"/>
              <a:t>‹#›</a:t>
            </a:fld>
            <a:endParaRPr lang="en-US"/>
          </a:p>
        </p:txBody>
      </p:sp>
    </p:spTree>
    <p:extLst>
      <p:ext uri="{BB962C8B-B14F-4D97-AF65-F5344CB8AC3E}">
        <p14:creationId xmlns:p14="http://schemas.microsoft.com/office/powerpoint/2010/main" val="3078571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91432B-B8EC-4D3E-9C6C-0F9DF873D947}" type="datetime1">
              <a:rPr lang="en-US" smtClean="0"/>
              <a:t>6/13/2022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FEA98-07C1-450B-B64E-D339A1BD688C}" type="slidenum">
              <a:rPr lang="en-US" smtClean="0"/>
              <a:t>‹#›</a:t>
            </a:fld>
            <a:endParaRPr lang="en-US"/>
          </a:p>
        </p:txBody>
      </p:sp>
    </p:spTree>
    <p:extLst>
      <p:ext uri="{BB962C8B-B14F-4D97-AF65-F5344CB8AC3E}">
        <p14:creationId xmlns:p14="http://schemas.microsoft.com/office/powerpoint/2010/main" val="3092843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38F96B6-A8DA-4938-A82F-88F62172B24E}" type="datetime1">
              <a:rPr lang="en-US" smtClean="0"/>
              <a:t>6/13/2022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FEA98-07C1-450B-B64E-D339A1BD688C}" type="slidenum">
              <a:rPr lang="en-US" smtClean="0"/>
              <a:t>‹#›</a:t>
            </a:fld>
            <a:endParaRPr lang="en-US"/>
          </a:p>
        </p:txBody>
      </p:sp>
    </p:spTree>
    <p:extLst>
      <p:ext uri="{BB962C8B-B14F-4D97-AF65-F5344CB8AC3E}">
        <p14:creationId xmlns:p14="http://schemas.microsoft.com/office/powerpoint/2010/main" val="1791073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C1AEF8C-A91F-42D8-B865-A803E6C017BC}" type="datetime1">
              <a:rPr lang="en-US" smtClean="0"/>
              <a:t>6/13/2022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FEA98-07C1-450B-B64E-D339A1BD688C}" type="slidenum">
              <a:rPr lang="en-US" smtClean="0"/>
              <a:t>‹#›</a:t>
            </a:fld>
            <a:endParaRPr lang="en-US"/>
          </a:p>
        </p:txBody>
      </p:sp>
    </p:spTree>
    <p:extLst>
      <p:ext uri="{BB962C8B-B14F-4D97-AF65-F5344CB8AC3E}">
        <p14:creationId xmlns:p14="http://schemas.microsoft.com/office/powerpoint/2010/main" val="1713120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5ED8C8-C299-49C4-91B6-DC0EA8132C55}" type="datetime1">
              <a:rPr lang="en-US" smtClean="0"/>
              <a:t>6/13/2022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3FEA98-07C1-450B-B64E-D339A1BD688C}" type="slidenum">
              <a:rPr lang="en-US" smtClean="0"/>
              <a:t>‹#›</a:t>
            </a:fld>
            <a:endParaRPr lang="en-US"/>
          </a:p>
        </p:txBody>
      </p:sp>
    </p:spTree>
    <p:extLst>
      <p:ext uri="{BB962C8B-B14F-4D97-AF65-F5344CB8AC3E}">
        <p14:creationId xmlns:p14="http://schemas.microsoft.com/office/powerpoint/2010/main" val="1770582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6315020-5A64-4716-8A89-5FA69F758656}" type="datetime1">
              <a:rPr lang="en-US" smtClean="0"/>
              <a:t>6/13/2022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3FEA98-07C1-450B-B64E-D339A1BD688C}" type="slidenum">
              <a:rPr lang="en-US" smtClean="0"/>
              <a:t>‹#›</a:t>
            </a:fld>
            <a:endParaRPr lang="en-US"/>
          </a:p>
        </p:txBody>
      </p:sp>
    </p:spTree>
    <p:extLst>
      <p:ext uri="{BB962C8B-B14F-4D97-AF65-F5344CB8AC3E}">
        <p14:creationId xmlns:p14="http://schemas.microsoft.com/office/powerpoint/2010/main" val="2381795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A5DDE1-58A8-4213-8683-45F241307E21}" type="datetime1">
              <a:rPr lang="en-US" smtClean="0"/>
              <a:t>6/13/2022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3FEA98-07C1-450B-B64E-D339A1BD688C}" type="slidenum">
              <a:rPr lang="en-US" smtClean="0"/>
              <a:t>‹#›</a:t>
            </a:fld>
            <a:endParaRPr lang="en-US"/>
          </a:p>
        </p:txBody>
      </p:sp>
    </p:spTree>
    <p:extLst>
      <p:ext uri="{BB962C8B-B14F-4D97-AF65-F5344CB8AC3E}">
        <p14:creationId xmlns:p14="http://schemas.microsoft.com/office/powerpoint/2010/main" val="2768380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A57E71D5-9FBB-4DAF-8076-53851EBA1275}" type="datetime1">
              <a:rPr lang="en-US" smtClean="0"/>
              <a:t>6/13/2022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FEA98-07C1-450B-B64E-D339A1BD688C}" type="slidenum">
              <a:rPr lang="en-US" smtClean="0"/>
              <a:t>‹#›</a:t>
            </a:fld>
            <a:endParaRPr lang="en-US"/>
          </a:p>
        </p:txBody>
      </p:sp>
    </p:spTree>
    <p:extLst>
      <p:ext uri="{BB962C8B-B14F-4D97-AF65-F5344CB8AC3E}">
        <p14:creationId xmlns:p14="http://schemas.microsoft.com/office/powerpoint/2010/main" val="1395052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D05392E5-F17B-4151-BAA2-457878A9976D}" type="datetime1">
              <a:rPr lang="en-US" smtClean="0"/>
              <a:t>6/13/2022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FEA98-07C1-450B-B64E-D339A1BD688C}" type="slidenum">
              <a:rPr lang="en-US" smtClean="0"/>
              <a:t>‹#›</a:t>
            </a:fld>
            <a:endParaRPr lang="en-US"/>
          </a:p>
        </p:txBody>
      </p:sp>
    </p:spTree>
    <p:extLst>
      <p:ext uri="{BB962C8B-B14F-4D97-AF65-F5344CB8AC3E}">
        <p14:creationId xmlns:p14="http://schemas.microsoft.com/office/powerpoint/2010/main" val="3651520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3B0B3-F50D-453B-B773-9C1046995D15}" type="datetime1">
              <a:rPr lang="en-US" smtClean="0"/>
              <a:t>6/13/2022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FEA98-07C1-450B-B64E-D339A1BD688C}" type="slidenum">
              <a:rPr lang="en-US" smtClean="0"/>
              <a:t>‹#›</a:t>
            </a:fld>
            <a:endParaRPr lang="en-US"/>
          </a:p>
        </p:txBody>
      </p:sp>
    </p:spTree>
    <p:extLst>
      <p:ext uri="{BB962C8B-B14F-4D97-AF65-F5344CB8AC3E}">
        <p14:creationId xmlns:p14="http://schemas.microsoft.com/office/powerpoint/2010/main" val="2447451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27C7C6-8350-4CA5-9EBA-8D8A78C02CA9}" type="datetime1">
              <a:rPr lang="en-US" smtClean="0"/>
              <a:t>6/13/2022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FEA98-07C1-450B-B64E-D339A1BD688C}" type="slidenum">
              <a:rPr lang="en-US" smtClean="0"/>
              <a:t>‹#›</a:t>
            </a:fld>
            <a:endParaRPr lang="en-US"/>
          </a:p>
        </p:txBody>
      </p:sp>
    </p:spTree>
    <p:extLst>
      <p:ext uri="{BB962C8B-B14F-4D97-AF65-F5344CB8AC3E}">
        <p14:creationId xmlns:p14="http://schemas.microsoft.com/office/powerpoint/2010/main" val="828687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3FA5433-60BB-4160-9CE4-9BFB0AC800FF}" type="datetime1">
              <a:rPr lang="en-US" smtClean="0"/>
              <a:t>6/13/2022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E3FEA98-07C1-450B-B64E-D339A1BD688C}" type="slidenum">
              <a:rPr lang="en-US" smtClean="0"/>
              <a:t>‹#›</a:t>
            </a:fld>
            <a:endParaRPr lang="en-US"/>
          </a:p>
        </p:txBody>
      </p:sp>
    </p:spTree>
    <p:extLst>
      <p:ext uri="{BB962C8B-B14F-4D97-AF65-F5344CB8AC3E}">
        <p14:creationId xmlns:p14="http://schemas.microsoft.com/office/powerpoint/2010/main" val="1183055317"/>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7000"/>
            <a:lum/>
          </a:blip>
          <a:srcRect/>
          <a:stretch>
            <a:fillRect l="-6000" r="-6000"/>
          </a:stretch>
        </a:blipFill>
        <a:effectLst/>
      </p:bgPr>
    </p:bg>
    <p:spTree>
      <p:nvGrpSpPr>
        <p:cNvPr id="1" name=""/>
        <p:cNvGrpSpPr/>
        <p:nvPr/>
      </p:nvGrpSpPr>
      <p:grpSpPr>
        <a:xfrm>
          <a:off x="0" y="0"/>
          <a:ext cx="0" cy="0"/>
          <a:chOff x="0" y="0"/>
          <a:chExt cx="0" cy="0"/>
        </a:xfrm>
      </p:grpSpPr>
      <p:sp>
        <p:nvSpPr>
          <p:cNvPr id="4" name="Rectangle 3"/>
          <p:cNvSpPr/>
          <p:nvPr/>
        </p:nvSpPr>
        <p:spPr>
          <a:xfrm>
            <a:off x="927295" y="1153034"/>
            <a:ext cx="7967419" cy="1546577"/>
          </a:xfrm>
          <a:prstGeom prst="rect">
            <a:avLst/>
          </a:prstGeom>
          <a:noFill/>
        </p:spPr>
        <p:txBody>
          <a:bodyPr wrap="square" lIns="68580" tIns="34290" rIns="68580" bIns="3429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w="13462">
                  <a:solidFill>
                    <a:prstClr val="white"/>
                  </a:solidFill>
                  <a:prstDash val="solid"/>
                </a:ln>
                <a:solidFill>
                  <a:prstClr val="black">
                    <a:lumMod val="95000"/>
                    <a:lumOff val="5000"/>
                  </a:prstClr>
                </a:solidFill>
                <a:effectLst>
                  <a:outerShdw dist="38100" dir="2700000" algn="bl" rotWithShape="0">
                    <a:srgbClr val="5B9BD5"/>
                  </a:outerShdw>
                </a:effectLst>
                <a:uLnTx/>
                <a:uFillTx/>
                <a:latin typeface="Calibri" panose="020F0502020204030204"/>
                <a:ea typeface="+mn-ea"/>
                <a:cs typeface="+mn-cs"/>
              </a:rPr>
              <a:t>BUSINESS ECONOMICS &amp; ACCOUNTING</a:t>
            </a:r>
          </a:p>
        </p:txBody>
      </p:sp>
      <p:sp>
        <p:nvSpPr>
          <p:cNvPr id="9" name="Rectangle 8"/>
          <p:cNvSpPr/>
          <p:nvPr/>
        </p:nvSpPr>
        <p:spPr>
          <a:xfrm>
            <a:off x="2786929" y="3399479"/>
            <a:ext cx="4248150" cy="692497"/>
          </a:xfrm>
          <a:prstGeom prst="rect">
            <a:avLst/>
          </a:prstGeom>
          <a:noFill/>
        </p:spPr>
        <p:txBody>
          <a:bodyPr wrap="square" lIns="68580" tIns="34290" rIns="68580" bIns="3429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4050" b="1" i="0" u="none" strike="noStrike" kern="1200" cap="none" spc="0" normalizeH="0" baseline="0" noProof="0" dirty="0">
              <a:ln w="13462">
                <a:solidFill>
                  <a:prstClr val="white"/>
                </a:solidFill>
                <a:prstDash val="solid"/>
              </a:ln>
              <a:solidFill>
                <a:prstClr val="black">
                  <a:lumMod val="95000"/>
                  <a:lumOff val="5000"/>
                </a:prstClr>
              </a:solidFill>
              <a:effectLst>
                <a:outerShdw dist="38100" dir="2700000" algn="bl" rotWithShape="0">
                  <a:srgbClr val="5B9BD5"/>
                </a:outerShdw>
              </a:effectLst>
              <a:uLnTx/>
              <a:uFillTx/>
              <a:latin typeface="Calibri" panose="020F0502020204030204"/>
              <a:ea typeface="+mn-ea"/>
              <a:cs typeface="+mn-cs"/>
            </a:endParaRPr>
          </a:p>
        </p:txBody>
      </p:sp>
      <p:sp>
        <p:nvSpPr>
          <p:cNvPr id="3" name="TextBox 2"/>
          <p:cNvSpPr txBox="1"/>
          <p:nvPr/>
        </p:nvSpPr>
        <p:spPr>
          <a:xfrm>
            <a:off x="3405119" y="3201520"/>
            <a:ext cx="5110231"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BSc in Engineering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Semester 6</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C573E5-23A8-48FB-BA36-BDEB8C222FDB}" type="slidenum">
              <a:rPr kumimoji="0" lang="en-US" sz="9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9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930E25E6-10E4-4ACA-B57B-F729D86071B9}"/>
              </a:ext>
            </a:extLst>
          </p:cNvPr>
          <p:cNvSpPr txBox="1"/>
          <p:nvPr/>
        </p:nvSpPr>
        <p:spPr>
          <a:xfrm>
            <a:off x="3733800" y="5119201"/>
            <a:ext cx="5714999"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By: W.D.H. De Mel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MBA (USJP), BBA (Finance) Sp., CIMA  passed finalist, MILT, MCPM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The Department of Management &amp; Finance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Faculty of Management, Social Sciences and Humanities,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       General Sir John Kotelawala Defence University </a:t>
            </a:r>
          </a:p>
        </p:txBody>
      </p:sp>
    </p:spTree>
    <p:extLst>
      <p:ext uri="{BB962C8B-B14F-4D97-AF65-F5344CB8AC3E}">
        <p14:creationId xmlns:p14="http://schemas.microsoft.com/office/powerpoint/2010/main" val="3929600129"/>
      </p:ext>
    </p:extLst>
  </p:cSld>
  <p:clrMapOvr>
    <a:masterClrMapping/>
  </p:clrMapOvr>
  <mc:AlternateContent xmlns:mc="http://schemas.openxmlformats.org/markup-compatibility/2006" xmlns:p14="http://schemas.microsoft.com/office/powerpoint/2010/main">
    <mc:Choice Requires="p14">
      <p:transition spd="slow" p14:dur="2000" advTm="35895"/>
    </mc:Choice>
    <mc:Fallback xmlns="">
      <p:transition spd="slow" advTm="3589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5800" y="1066800"/>
            <a:ext cx="7905749" cy="4685898"/>
          </a:xfrm>
          <a:prstGeom prst="rect">
            <a:avLst/>
          </a:prstGeom>
          <a:noFill/>
        </p:spPr>
        <p:txBody>
          <a:bodyPr wrap="square" lIns="68580" tIns="34290" rIns="68580" bIns="34290">
            <a:spAutoFit/>
          </a:bodyPr>
          <a:lstStyle/>
          <a:p>
            <a:pPr algn="ctr"/>
            <a:r>
              <a:rPr lang="en-US" sz="6000" b="1" dirty="0">
                <a:ln w="13462">
                  <a:solidFill>
                    <a:schemeClr val="bg1"/>
                  </a:solidFill>
                  <a:prstDash val="solid"/>
                </a:ln>
                <a:solidFill>
                  <a:srgbClr val="0070C0"/>
                </a:solidFill>
                <a:effectLst>
                  <a:outerShdw dist="38100" dir="2700000" algn="bl" rotWithShape="0">
                    <a:schemeClr val="accent5"/>
                  </a:outerShdw>
                </a:effectLst>
              </a:rPr>
              <a:t>Introduction, Accounting Concepts and Accounting Equation</a:t>
            </a:r>
          </a:p>
          <a:p>
            <a:pPr algn="ctr"/>
            <a:endParaRPr lang="en-US" sz="6000" b="1" dirty="0">
              <a:ln w="13462">
                <a:solidFill>
                  <a:schemeClr val="bg1"/>
                </a:solidFill>
                <a:prstDash val="solid"/>
              </a:ln>
              <a:solidFill>
                <a:srgbClr val="0070C0"/>
              </a:solidFill>
              <a:effectLst>
                <a:outerShdw dist="38100" dir="2700000" algn="bl" rotWithShape="0">
                  <a:schemeClr val="accent5"/>
                </a:outerShdw>
              </a:effectLst>
            </a:endParaRPr>
          </a:p>
        </p:txBody>
      </p:sp>
      <p:sp>
        <p:nvSpPr>
          <p:cNvPr id="6" name="Slide Number Placeholder 5"/>
          <p:cNvSpPr>
            <a:spLocks noGrp="1"/>
          </p:cNvSpPr>
          <p:nvPr>
            <p:ph type="sldNum" sz="quarter" idx="12"/>
          </p:nvPr>
        </p:nvSpPr>
        <p:spPr/>
        <p:txBody>
          <a:bodyPr/>
          <a:lstStyle/>
          <a:p>
            <a:fld id="{22C573E5-23A8-48FB-BA36-BDEB8C222FDB}" type="slidenum">
              <a:rPr lang="en-US" smtClean="0"/>
              <a:t>2</a:t>
            </a:fld>
            <a:endParaRPr lang="en-US"/>
          </a:p>
        </p:txBody>
      </p:sp>
    </p:spTree>
    <p:extLst>
      <p:ext uri="{BB962C8B-B14F-4D97-AF65-F5344CB8AC3E}">
        <p14:creationId xmlns:p14="http://schemas.microsoft.com/office/powerpoint/2010/main" val="3029028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457200"/>
            <a:ext cx="7772400" cy="990599"/>
          </a:xfrm>
        </p:spPr>
        <p:txBody>
          <a:bodyPr>
            <a:normAutofit/>
          </a:bodyPr>
          <a:lstStyle/>
          <a:p>
            <a:r>
              <a:rPr lang="en-US" b="1" dirty="0"/>
              <a:t>Accounting as a Process</a:t>
            </a:r>
          </a:p>
        </p:txBody>
      </p:sp>
      <p:sp>
        <p:nvSpPr>
          <p:cNvPr id="4" name="Rectangle 3"/>
          <p:cNvSpPr/>
          <p:nvPr/>
        </p:nvSpPr>
        <p:spPr>
          <a:xfrm>
            <a:off x="533400" y="2133600"/>
            <a:ext cx="20574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Input</a:t>
            </a:r>
          </a:p>
        </p:txBody>
      </p:sp>
      <p:sp>
        <p:nvSpPr>
          <p:cNvPr id="5" name="Rectangle 4"/>
          <p:cNvSpPr/>
          <p:nvPr/>
        </p:nvSpPr>
        <p:spPr>
          <a:xfrm>
            <a:off x="3657600" y="2133600"/>
            <a:ext cx="20574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Process</a:t>
            </a:r>
          </a:p>
        </p:txBody>
      </p:sp>
      <p:sp>
        <p:nvSpPr>
          <p:cNvPr id="6" name="Rectangle 5"/>
          <p:cNvSpPr/>
          <p:nvPr/>
        </p:nvSpPr>
        <p:spPr>
          <a:xfrm>
            <a:off x="6781800" y="2133600"/>
            <a:ext cx="2057400" cy="1066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Output</a:t>
            </a:r>
          </a:p>
        </p:txBody>
      </p:sp>
      <p:sp>
        <p:nvSpPr>
          <p:cNvPr id="7" name="Right Arrow 6"/>
          <p:cNvSpPr/>
          <p:nvPr/>
        </p:nvSpPr>
        <p:spPr>
          <a:xfrm>
            <a:off x="2781300" y="2514600"/>
            <a:ext cx="685800" cy="3048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a:off x="5943600" y="2514600"/>
            <a:ext cx="685800" cy="3048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33400" y="3657600"/>
            <a:ext cx="2057400" cy="830997"/>
          </a:xfrm>
          <a:prstGeom prst="rect">
            <a:avLst/>
          </a:prstGeom>
          <a:noFill/>
        </p:spPr>
        <p:txBody>
          <a:bodyPr wrap="square" rtlCol="0">
            <a:spAutoFit/>
          </a:bodyPr>
          <a:lstStyle/>
          <a:p>
            <a:r>
              <a:rPr lang="en-US" sz="2400" dirty="0"/>
              <a:t>Data of transactions</a:t>
            </a:r>
          </a:p>
        </p:txBody>
      </p:sp>
      <p:sp>
        <p:nvSpPr>
          <p:cNvPr id="10" name="TextBox 9"/>
          <p:cNvSpPr txBox="1"/>
          <p:nvPr/>
        </p:nvSpPr>
        <p:spPr>
          <a:xfrm>
            <a:off x="3352800" y="3611433"/>
            <a:ext cx="2362200" cy="2308324"/>
          </a:xfrm>
          <a:prstGeom prst="rect">
            <a:avLst/>
          </a:prstGeom>
          <a:noFill/>
        </p:spPr>
        <p:txBody>
          <a:bodyPr wrap="square" rtlCol="0">
            <a:spAutoFit/>
          </a:bodyPr>
          <a:lstStyle/>
          <a:p>
            <a:pPr marL="342900" indent="-342900">
              <a:buFont typeface="Arial" pitchFamily="34" charset="0"/>
              <a:buChar char="•"/>
            </a:pPr>
            <a:r>
              <a:rPr lang="en-US" sz="2400" dirty="0"/>
              <a:t>Identifying</a:t>
            </a:r>
          </a:p>
          <a:p>
            <a:pPr marL="342900" indent="-342900">
              <a:buFont typeface="Arial" pitchFamily="34" charset="0"/>
              <a:buChar char="•"/>
            </a:pPr>
            <a:r>
              <a:rPr lang="en-US" sz="2400" dirty="0"/>
              <a:t>Recording</a:t>
            </a:r>
          </a:p>
          <a:p>
            <a:pPr marL="342900" indent="-342900">
              <a:buFont typeface="Arial" pitchFamily="34" charset="0"/>
              <a:buChar char="•"/>
            </a:pPr>
            <a:r>
              <a:rPr lang="en-US" sz="2400" dirty="0"/>
              <a:t>Classifying</a:t>
            </a:r>
          </a:p>
          <a:p>
            <a:pPr marL="342900" indent="-342900">
              <a:buFont typeface="Arial" pitchFamily="34" charset="0"/>
              <a:buChar char="•"/>
            </a:pPr>
            <a:r>
              <a:rPr lang="en-US" sz="2400" dirty="0"/>
              <a:t>Summarizing</a:t>
            </a:r>
          </a:p>
          <a:p>
            <a:pPr marL="342900" indent="-342900">
              <a:buFont typeface="Arial" pitchFamily="34" charset="0"/>
              <a:buChar char="•"/>
            </a:pPr>
            <a:r>
              <a:rPr lang="en-US" sz="2400" dirty="0"/>
              <a:t>Analyzing</a:t>
            </a:r>
          </a:p>
          <a:p>
            <a:pPr marL="342900" indent="-342900">
              <a:buFont typeface="Arial" pitchFamily="34" charset="0"/>
              <a:buChar char="•"/>
            </a:pPr>
            <a:r>
              <a:rPr lang="en-US" sz="2400" dirty="0"/>
              <a:t>Interpreting</a:t>
            </a:r>
          </a:p>
        </p:txBody>
      </p:sp>
      <p:sp>
        <p:nvSpPr>
          <p:cNvPr id="11" name="TextBox 10"/>
          <p:cNvSpPr txBox="1"/>
          <p:nvPr/>
        </p:nvSpPr>
        <p:spPr>
          <a:xfrm>
            <a:off x="6324600" y="3611433"/>
            <a:ext cx="2722418" cy="461665"/>
          </a:xfrm>
          <a:prstGeom prst="rect">
            <a:avLst/>
          </a:prstGeom>
          <a:noFill/>
        </p:spPr>
        <p:txBody>
          <a:bodyPr wrap="square" rtlCol="0">
            <a:spAutoFit/>
          </a:bodyPr>
          <a:lstStyle/>
          <a:p>
            <a:pPr marL="285750" indent="-285750">
              <a:buFont typeface="Arial" pitchFamily="34" charset="0"/>
              <a:buChar char="•"/>
            </a:pPr>
            <a:r>
              <a:rPr lang="en-US" sz="2400" dirty="0"/>
              <a:t>Communicating</a:t>
            </a:r>
          </a:p>
        </p:txBody>
      </p:sp>
      <p:sp>
        <p:nvSpPr>
          <p:cNvPr id="12" name="TextBox 11"/>
          <p:cNvSpPr txBox="1"/>
          <p:nvPr/>
        </p:nvSpPr>
        <p:spPr>
          <a:xfrm>
            <a:off x="6082145" y="4174177"/>
            <a:ext cx="2992582" cy="3046988"/>
          </a:xfrm>
          <a:prstGeom prst="rect">
            <a:avLst/>
          </a:prstGeom>
          <a:noFill/>
        </p:spPr>
        <p:txBody>
          <a:bodyPr wrap="square" rtlCol="0">
            <a:spAutoFit/>
          </a:bodyPr>
          <a:lstStyle/>
          <a:p>
            <a:pPr marL="285750" indent="-285750">
              <a:buFontTx/>
              <a:buChar char="-"/>
            </a:pPr>
            <a:r>
              <a:rPr lang="en-US" sz="2400" dirty="0"/>
              <a:t>Income Statement</a:t>
            </a:r>
          </a:p>
          <a:p>
            <a:pPr marL="285750" indent="-285750">
              <a:buFontTx/>
              <a:buChar char="-"/>
            </a:pPr>
            <a:r>
              <a:rPr lang="en-US" sz="2400" dirty="0"/>
              <a:t>Balance Sheet</a:t>
            </a:r>
          </a:p>
          <a:p>
            <a:pPr marL="285750" indent="-285750">
              <a:buFontTx/>
              <a:buChar char="-"/>
            </a:pPr>
            <a:r>
              <a:rPr lang="en-US" sz="2400" dirty="0"/>
              <a:t>Cash flow statement</a:t>
            </a:r>
          </a:p>
          <a:p>
            <a:pPr marL="285750" indent="-285750">
              <a:buFontTx/>
              <a:buChar char="-"/>
            </a:pPr>
            <a:r>
              <a:rPr lang="en-US" sz="2400" dirty="0"/>
              <a:t>Statement of changes in equity</a:t>
            </a:r>
          </a:p>
          <a:p>
            <a:endParaRPr lang="en-US" sz="2400" dirty="0"/>
          </a:p>
          <a:p>
            <a:pPr marL="285750" indent="-285750">
              <a:buFontTx/>
              <a:buChar char="-"/>
            </a:pPr>
            <a:endParaRPr lang="en-US" sz="2400" dirty="0"/>
          </a:p>
        </p:txBody>
      </p:sp>
      <p:sp>
        <p:nvSpPr>
          <p:cNvPr id="3" name="Slide Number Placeholder 2"/>
          <p:cNvSpPr>
            <a:spLocks noGrp="1"/>
          </p:cNvSpPr>
          <p:nvPr>
            <p:ph type="sldNum" sz="quarter" idx="12"/>
          </p:nvPr>
        </p:nvSpPr>
        <p:spPr/>
        <p:txBody>
          <a:bodyPr/>
          <a:lstStyle/>
          <a:p>
            <a:fld id="{5E3FEA98-07C1-450B-B64E-D339A1BD688C}" type="slidenum">
              <a:rPr lang="en-US" smtClean="0"/>
              <a:t>3</a:t>
            </a:fld>
            <a:endParaRPr lang="en-US"/>
          </a:p>
        </p:txBody>
      </p:sp>
    </p:spTree>
    <p:extLst>
      <p:ext uri="{BB962C8B-B14F-4D97-AF65-F5344CB8AC3E}">
        <p14:creationId xmlns:p14="http://schemas.microsoft.com/office/powerpoint/2010/main" val="917954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685800"/>
            <a:ext cx="7772400" cy="936625"/>
          </a:xfrm>
        </p:spPr>
        <p:txBody>
          <a:bodyPr/>
          <a:lstStyle/>
          <a:p>
            <a:r>
              <a:rPr lang="en-US" b="1" dirty="0"/>
              <a:t>Accounting - definition</a:t>
            </a:r>
          </a:p>
        </p:txBody>
      </p:sp>
      <p:sp>
        <p:nvSpPr>
          <p:cNvPr id="4" name="TextBox 3"/>
          <p:cNvSpPr txBox="1"/>
          <p:nvPr/>
        </p:nvSpPr>
        <p:spPr>
          <a:xfrm>
            <a:off x="775855" y="2362200"/>
            <a:ext cx="7772400" cy="1815882"/>
          </a:xfrm>
          <a:prstGeom prst="rect">
            <a:avLst/>
          </a:prstGeom>
          <a:noFill/>
        </p:spPr>
        <p:txBody>
          <a:bodyPr wrap="square" rtlCol="0">
            <a:spAutoFit/>
          </a:bodyPr>
          <a:lstStyle/>
          <a:p>
            <a:r>
              <a:rPr lang="en-US" sz="2800" dirty="0"/>
              <a:t>The process of </a:t>
            </a:r>
            <a:r>
              <a:rPr lang="en-US" sz="2800" dirty="0">
                <a:solidFill>
                  <a:srgbClr val="FF0000"/>
                </a:solidFill>
              </a:rPr>
              <a:t>identifying</a:t>
            </a:r>
            <a:r>
              <a:rPr lang="en-US" sz="2800" dirty="0"/>
              <a:t>, </a:t>
            </a:r>
            <a:r>
              <a:rPr lang="en-US" sz="2800" dirty="0">
                <a:solidFill>
                  <a:srgbClr val="FF0000"/>
                </a:solidFill>
              </a:rPr>
              <a:t>recording</a:t>
            </a:r>
            <a:r>
              <a:rPr lang="en-US" sz="2800" dirty="0"/>
              <a:t>, </a:t>
            </a:r>
            <a:r>
              <a:rPr lang="en-US" sz="2800" dirty="0">
                <a:solidFill>
                  <a:srgbClr val="FF0000"/>
                </a:solidFill>
              </a:rPr>
              <a:t>classifying</a:t>
            </a:r>
            <a:r>
              <a:rPr lang="en-US" sz="2800" dirty="0"/>
              <a:t>, </a:t>
            </a:r>
            <a:r>
              <a:rPr lang="en-US" sz="2800" dirty="0">
                <a:solidFill>
                  <a:srgbClr val="FF0000"/>
                </a:solidFill>
              </a:rPr>
              <a:t>summarizing</a:t>
            </a:r>
            <a:r>
              <a:rPr lang="en-US" sz="2800" dirty="0"/>
              <a:t>, </a:t>
            </a:r>
            <a:r>
              <a:rPr lang="en-US" sz="2800" dirty="0">
                <a:solidFill>
                  <a:srgbClr val="FF0000"/>
                </a:solidFill>
              </a:rPr>
              <a:t>analyzing</a:t>
            </a:r>
            <a:r>
              <a:rPr lang="en-US" sz="2800" dirty="0"/>
              <a:t>, </a:t>
            </a:r>
            <a:r>
              <a:rPr lang="en-US" sz="2800" dirty="0">
                <a:solidFill>
                  <a:srgbClr val="FF0000"/>
                </a:solidFill>
              </a:rPr>
              <a:t>interpreting</a:t>
            </a:r>
            <a:r>
              <a:rPr lang="en-US" sz="2800" dirty="0"/>
              <a:t> and </a:t>
            </a:r>
            <a:r>
              <a:rPr lang="en-US" sz="2800" dirty="0">
                <a:solidFill>
                  <a:srgbClr val="FF0000"/>
                </a:solidFill>
              </a:rPr>
              <a:t>communicating</a:t>
            </a:r>
            <a:r>
              <a:rPr lang="en-US" sz="2800" dirty="0"/>
              <a:t> financial transactions to the </a:t>
            </a:r>
            <a:r>
              <a:rPr lang="en-US" sz="2800" dirty="0">
                <a:solidFill>
                  <a:srgbClr val="FF0000"/>
                </a:solidFill>
              </a:rPr>
              <a:t>users</a:t>
            </a:r>
            <a:r>
              <a:rPr lang="en-US" sz="2800" dirty="0"/>
              <a:t> of such information</a:t>
            </a:r>
          </a:p>
        </p:txBody>
      </p:sp>
      <p:sp>
        <p:nvSpPr>
          <p:cNvPr id="3" name="Slide Number Placeholder 2"/>
          <p:cNvSpPr>
            <a:spLocks noGrp="1"/>
          </p:cNvSpPr>
          <p:nvPr>
            <p:ph type="sldNum" sz="quarter" idx="12"/>
          </p:nvPr>
        </p:nvSpPr>
        <p:spPr/>
        <p:txBody>
          <a:bodyPr/>
          <a:lstStyle/>
          <a:p>
            <a:fld id="{5E3FEA98-07C1-450B-B64E-D339A1BD688C}" type="slidenum">
              <a:rPr lang="en-US" smtClean="0"/>
              <a:t>4</a:t>
            </a:fld>
            <a:endParaRPr lang="en-US"/>
          </a:p>
        </p:txBody>
      </p:sp>
    </p:spTree>
    <p:extLst>
      <p:ext uri="{BB962C8B-B14F-4D97-AF65-F5344CB8AC3E}">
        <p14:creationId xmlns:p14="http://schemas.microsoft.com/office/powerpoint/2010/main" val="32801231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a:t>Users of financial statements</a:t>
            </a:r>
          </a:p>
        </p:txBody>
      </p:sp>
      <p:sp>
        <p:nvSpPr>
          <p:cNvPr id="3" name="Content Placeholder 2"/>
          <p:cNvSpPr>
            <a:spLocks noGrp="1"/>
          </p:cNvSpPr>
          <p:nvPr>
            <p:ph idx="1"/>
          </p:nvPr>
        </p:nvSpPr>
        <p:spPr/>
        <p:txBody>
          <a:bodyPr>
            <a:normAutofit/>
          </a:bodyPr>
          <a:lstStyle/>
          <a:p>
            <a:r>
              <a:rPr lang="en-US" sz="2800" dirty="0"/>
              <a:t>Owners</a:t>
            </a:r>
          </a:p>
          <a:p>
            <a:r>
              <a:rPr lang="en-US" sz="2800" dirty="0"/>
              <a:t>Managers and employees</a:t>
            </a:r>
          </a:p>
          <a:p>
            <a:r>
              <a:rPr lang="en-US" sz="2800" dirty="0"/>
              <a:t>Investors</a:t>
            </a:r>
          </a:p>
          <a:p>
            <a:r>
              <a:rPr lang="en-US" sz="2800" dirty="0"/>
              <a:t>Suppliers</a:t>
            </a:r>
          </a:p>
          <a:p>
            <a:r>
              <a:rPr lang="en-US" sz="2800" dirty="0"/>
              <a:t>Customers</a:t>
            </a:r>
          </a:p>
          <a:p>
            <a:r>
              <a:rPr lang="en-US" sz="2800" dirty="0"/>
              <a:t>Government</a:t>
            </a:r>
          </a:p>
          <a:p>
            <a:r>
              <a:rPr lang="en-US" sz="2800" dirty="0"/>
              <a:t>General public</a:t>
            </a:r>
          </a:p>
          <a:p>
            <a:endParaRPr lang="en-US" sz="2800" dirty="0"/>
          </a:p>
          <a:p>
            <a:endParaRPr lang="en-US" sz="2800" dirty="0"/>
          </a:p>
        </p:txBody>
      </p:sp>
      <p:sp>
        <p:nvSpPr>
          <p:cNvPr id="4" name="Slide Number Placeholder 3"/>
          <p:cNvSpPr>
            <a:spLocks noGrp="1"/>
          </p:cNvSpPr>
          <p:nvPr>
            <p:ph type="sldNum" sz="quarter" idx="12"/>
          </p:nvPr>
        </p:nvSpPr>
        <p:spPr/>
        <p:txBody>
          <a:bodyPr/>
          <a:lstStyle/>
          <a:p>
            <a:fld id="{5E3FEA98-07C1-450B-B64E-D339A1BD688C}" type="slidenum">
              <a:rPr lang="en-US" smtClean="0"/>
              <a:t>5</a:t>
            </a:fld>
            <a:endParaRPr lang="en-US"/>
          </a:p>
        </p:txBody>
      </p:sp>
    </p:spTree>
    <p:extLst>
      <p:ext uri="{BB962C8B-B14F-4D97-AF65-F5344CB8AC3E}">
        <p14:creationId xmlns:p14="http://schemas.microsoft.com/office/powerpoint/2010/main" val="2739827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066800"/>
          </a:xfrm>
        </p:spPr>
        <p:txBody>
          <a:bodyPr/>
          <a:lstStyle/>
          <a:p>
            <a:r>
              <a:rPr lang="en-US" b="1" dirty="0"/>
              <a:t>Basic Accounting Terminology</a:t>
            </a:r>
          </a:p>
        </p:txBody>
      </p:sp>
      <p:sp>
        <p:nvSpPr>
          <p:cNvPr id="4" name="TextBox 3"/>
          <p:cNvSpPr txBox="1"/>
          <p:nvPr/>
        </p:nvSpPr>
        <p:spPr>
          <a:xfrm>
            <a:off x="838200" y="2209800"/>
            <a:ext cx="7391400" cy="3970318"/>
          </a:xfrm>
          <a:prstGeom prst="rect">
            <a:avLst/>
          </a:prstGeom>
          <a:noFill/>
        </p:spPr>
        <p:txBody>
          <a:bodyPr wrap="square" rtlCol="0">
            <a:spAutoFit/>
          </a:bodyPr>
          <a:lstStyle/>
          <a:p>
            <a:pPr marL="285750" indent="-285750">
              <a:buFont typeface="Arial" pitchFamily="34" charset="0"/>
              <a:buChar char="•"/>
            </a:pPr>
            <a:r>
              <a:rPr lang="en-US" sz="2800" dirty="0"/>
              <a:t>Assets</a:t>
            </a:r>
          </a:p>
          <a:p>
            <a:pPr marL="285750" indent="-285750">
              <a:buFont typeface="Arial" pitchFamily="34" charset="0"/>
              <a:buChar char="•"/>
            </a:pPr>
            <a:endParaRPr lang="en-US" sz="2800" dirty="0"/>
          </a:p>
          <a:p>
            <a:pPr marL="285750" indent="-285750">
              <a:buFont typeface="Arial" pitchFamily="34" charset="0"/>
              <a:buChar char="•"/>
            </a:pPr>
            <a:r>
              <a:rPr lang="en-US" sz="2800" dirty="0"/>
              <a:t>Liabilities</a:t>
            </a:r>
          </a:p>
          <a:p>
            <a:pPr marL="285750" indent="-285750">
              <a:buFont typeface="Arial" pitchFamily="34" charset="0"/>
              <a:buChar char="•"/>
            </a:pPr>
            <a:endParaRPr lang="en-US" sz="2800" dirty="0"/>
          </a:p>
          <a:p>
            <a:pPr marL="285750" indent="-285750">
              <a:buFont typeface="Arial" pitchFamily="34" charset="0"/>
              <a:buChar char="•"/>
            </a:pPr>
            <a:r>
              <a:rPr lang="en-US" sz="2800" dirty="0"/>
              <a:t>Equity (Capital)</a:t>
            </a:r>
          </a:p>
          <a:p>
            <a:pPr marL="285750" indent="-285750">
              <a:buFont typeface="Arial" pitchFamily="34" charset="0"/>
              <a:buChar char="•"/>
            </a:pPr>
            <a:endParaRPr lang="en-US" sz="2800" dirty="0"/>
          </a:p>
          <a:p>
            <a:pPr marL="285750" indent="-285750">
              <a:buFont typeface="Arial" pitchFamily="34" charset="0"/>
              <a:buChar char="•"/>
            </a:pPr>
            <a:r>
              <a:rPr lang="en-US" sz="2800" dirty="0"/>
              <a:t>Revenue (Income)</a:t>
            </a:r>
          </a:p>
          <a:p>
            <a:pPr marL="285750" indent="-285750">
              <a:buFont typeface="Arial" pitchFamily="34" charset="0"/>
              <a:buChar char="•"/>
            </a:pPr>
            <a:endParaRPr lang="en-US" sz="2800" dirty="0"/>
          </a:p>
          <a:p>
            <a:pPr marL="285750" indent="-285750">
              <a:buFont typeface="Arial" pitchFamily="34" charset="0"/>
              <a:buChar char="•"/>
            </a:pPr>
            <a:r>
              <a:rPr lang="en-US" sz="2800" dirty="0"/>
              <a:t>Expenses</a:t>
            </a:r>
          </a:p>
        </p:txBody>
      </p:sp>
      <p:sp>
        <p:nvSpPr>
          <p:cNvPr id="3" name="Slide Number Placeholder 2"/>
          <p:cNvSpPr>
            <a:spLocks noGrp="1"/>
          </p:cNvSpPr>
          <p:nvPr>
            <p:ph type="sldNum" sz="quarter" idx="12"/>
          </p:nvPr>
        </p:nvSpPr>
        <p:spPr/>
        <p:txBody>
          <a:bodyPr/>
          <a:lstStyle/>
          <a:p>
            <a:fld id="{5E3FEA98-07C1-450B-B64E-D339A1BD688C}" type="slidenum">
              <a:rPr lang="en-US" smtClean="0"/>
              <a:t>6</a:t>
            </a:fld>
            <a:endParaRPr lang="en-US"/>
          </a:p>
        </p:txBody>
      </p:sp>
    </p:spTree>
    <p:extLst>
      <p:ext uri="{BB962C8B-B14F-4D97-AF65-F5344CB8AC3E}">
        <p14:creationId xmlns:p14="http://schemas.microsoft.com/office/powerpoint/2010/main" val="22349139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71500" indent="-571500">
              <a:buFont typeface="Wingdings" panose="05000000000000000000" pitchFamily="2" charset="2"/>
              <a:buChar char="Ø"/>
            </a:pPr>
            <a:r>
              <a:rPr lang="en-US" sz="3600" b="1" dirty="0"/>
              <a:t>Assets</a:t>
            </a:r>
          </a:p>
        </p:txBody>
      </p:sp>
      <p:sp>
        <p:nvSpPr>
          <p:cNvPr id="3" name="Content Placeholder 2"/>
          <p:cNvSpPr>
            <a:spLocks noGrp="1"/>
          </p:cNvSpPr>
          <p:nvPr>
            <p:ph idx="1"/>
          </p:nvPr>
        </p:nvSpPr>
        <p:spPr/>
        <p:txBody>
          <a:bodyPr>
            <a:normAutofit/>
          </a:bodyPr>
          <a:lstStyle/>
          <a:p>
            <a:r>
              <a:rPr lang="en-US" sz="2800" dirty="0"/>
              <a:t>Tangible and intangible items that the company </a:t>
            </a:r>
            <a:r>
              <a:rPr lang="en-US" sz="2800" dirty="0">
                <a:solidFill>
                  <a:srgbClr val="FF0000"/>
                </a:solidFill>
              </a:rPr>
              <a:t>owns</a:t>
            </a:r>
            <a:r>
              <a:rPr lang="en-US" sz="2800" dirty="0"/>
              <a:t> that have value</a:t>
            </a:r>
          </a:p>
          <a:p>
            <a:pPr marL="0" indent="0">
              <a:buNone/>
            </a:pPr>
            <a:endParaRPr lang="en-US" sz="2800" dirty="0"/>
          </a:p>
        </p:txBody>
      </p:sp>
      <p:sp>
        <p:nvSpPr>
          <p:cNvPr id="4" name="Rectangle 3"/>
          <p:cNvSpPr/>
          <p:nvPr/>
        </p:nvSpPr>
        <p:spPr>
          <a:xfrm>
            <a:off x="1219200" y="2944091"/>
            <a:ext cx="1905000" cy="762000"/>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Tangible</a:t>
            </a:r>
          </a:p>
        </p:txBody>
      </p:sp>
      <p:sp>
        <p:nvSpPr>
          <p:cNvPr id="5" name="Rectangle 4"/>
          <p:cNvSpPr/>
          <p:nvPr/>
        </p:nvSpPr>
        <p:spPr>
          <a:xfrm>
            <a:off x="5347855" y="2944091"/>
            <a:ext cx="1905000" cy="762000"/>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Intangible</a:t>
            </a:r>
          </a:p>
        </p:txBody>
      </p:sp>
      <p:cxnSp>
        <p:nvCxnSpPr>
          <p:cNvPr id="7" name="Straight Arrow Connector 6"/>
          <p:cNvCxnSpPr/>
          <p:nvPr/>
        </p:nvCxnSpPr>
        <p:spPr>
          <a:xfrm>
            <a:off x="2057400" y="3810000"/>
            <a:ext cx="0" cy="3810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6400800" y="3761510"/>
            <a:ext cx="0" cy="3810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38200" y="4419600"/>
            <a:ext cx="2438400" cy="1569660"/>
          </a:xfrm>
          <a:prstGeom prst="rect">
            <a:avLst/>
          </a:prstGeom>
          <a:noFill/>
        </p:spPr>
        <p:txBody>
          <a:bodyPr wrap="square" rtlCol="0">
            <a:spAutoFit/>
          </a:bodyPr>
          <a:lstStyle/>
          <a:p>
            <a:pPr marL="285750" indent="-285750">
              <a:buFont typeface="Arial" pitchFamily="34" charset="0"/>
              <a:buChar char="•"/>
            </a:pPr>
            <a:r>
              <a:rPr lang="en-US" sz="2400" dirty="0"/>
              <a:t>Machinery</a:t>
            </a:r>
          </a:p>
          <a:p>
            <a:pPr marL="285750" indent="-285750">
              <a:buFont typeface="Arial" pitchFamily="34" charset="0"/>
              <a:buChar char="•"/>
            </a:pPr>
            <a:r>
              <a:rPr lang="en-US" sz="2400" dirty="0"/>
              <a:t>Building</a:t>
            </a:r>
          </a:p>
          <a:p>
            <a:pPr marL="285750" indent="-285750">
              <a:buFont typeface="Arial" pitchFamily="34" charset="0"/>
              <a:buChar char="•"/>
            </a:pPr>
            <a:r>
              <a:rPr lang="en-US" sz="2400" dirty="0"/>
              <a:t>Equipment</a:t>
            </a:r>
          </a:p>
          <a:p>
            <a:pPr marL="285750" indent="-285750">
              <a:buFont typeface="Arial" pitchFamily="34" charset="0"/>
              <a:buChar char="•"/>
            </a:pPr>
            <a:r>
              <a:rPr lang="en-US" sz="2400" dirty="0"/>
              <a:t>Inventory</a:t>
            </a:r>
          </a:p>
        </p:txBody>
      </p:sp>
      <p:sp>
        <p:nvSpPr>
          <p:cNvPr id="11" name="TextBox 10"/>
          <p:cNvSpPr txBox="1"/>
          <p:nvPr/>
        </p:nvSpPr>
        <p:spPr>
          <a:xfrm>
            <a:off x="5181600" y="4373431"/>
            <a:ext cx="2438400" cy="830997"/>
          </a:xfrm>
          <a:prstGeom prst="rect">
            <a:avLst/>
          </a:prstGeom>
          <a:noFill/>
        </p:spPr>
        <p:txBody>
          <a:bodyPr wrap="square" rtlCol="0">
            <a:spAutoFit/>
          </a:bodyPr>
          <a:lstStyle/>
          <a:p>
            <a:pPr marL="285750" indent="-285750">
              <a:buFont typeface="Arial" pitchFamily="34" charset="0"/>
              <a:buChar char="•"/>
            </a:pPr>
            <a:r>
              <a:rPr lang="en-US" sz="2400" dirty="0"/>
              <a:t>Goodwill</a:t>
            </a:r>
          </a:p>
          <a:p>
            <a:pPr marL="285750" indent="-285750">
              <a:buFont typeface="Arial" pitchFamily="34" charset="0"/>
              <a:buChar char="•"/>
            </a:pPr>
            <a:r>
              <a:rPr lang="en-US" sz="2400" dirty="0"/>
              <a:t>Patents</a:t>
            </a:r>
          </a:p>
        </p:txBody>
      </p:sp>
      <p:sp>
        <p:nvSpPr>
          <p:cNvPr id="6" name="Slide Number Placeholder 5"/>
          <p:cNvSpPr>
            <a:spLocks noGrp="1"/>
          </p:cNvSpPr>
          <p:nvPr>
            <p:ph type="sldNum" sz="quarter" idx="12"/>
          </p:nvPr>
        </p:nvSpPr>
        <p:spPr/>
        <p:txBody>
          <a:bodyPr/>
          <a:lstStyle/>
          <a:p>
            <a:fld id="{5E3FEA98-07C1-450B-B64E-D339A1BD688C}" type="slidenum">
              <a:rPr lang="en-US" smtClean="0"/>
              <a:t>7</a:t>
            </a:fld>
            <a:endParaRPr lang="en-US"/>
          </a:p>
        </p:txBody>
      </p:sp>
    </p:spTree>
    <p:extLst>
      <p:ext uri="{BB962C8B-B14F-4D97-AF65-F5344CB8AC3E}">
        <p14:creationId xmlns:p14="http://schemas.microsoft.com/office/powerpoint/2010/main" val="1134842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Assets Cont.…</a:t>
            </a:r>
          </a:p>
        </p:txBody>
      </p:sp>
      <p:sp>
        <p:nvSpPr>
          <p:cNvPr id="4" name="Rectangle 3"/>
          <p:cNvSpPr/>
          <p:nvPr/>
        </p:nvSpPr>
        <p:spPr>
          <a:xfrm>
            <a:off x="3429000" y="1676400"/>
            <a:ext cx="2133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Assets</a:t>
            </a:r>
          </a:p>
        </p:txBody>
      </p:sp>
      <p:sp>
        <p:nvSpPr>
          <p:cNvPr id="5" name="Oval 4"/>
          <p:cNvSpPr/>
          <p:nvPr/>
        </p:nvSpPr>
        <p:spPr>
          <a:xfrm>
            <a:off x="1239982" y="2667000"/>
            <a:ext cx="2341418" cy="137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Non -Current Assets</a:t>
            </a:r>
          </a:p>
        </p:txBody>
      </p:sp>
      <p:sp>
        <p:nvSpPr>
          <p:cNvPr id="6" name="Oval 5"/>
          <p:cNvSpPr/>
          <p:nvPr/>
        </p:nvSpPr>
        <p:spPr>
          <a:xfrm>
            <a:off x="5715000" y="2660072"/>
            <a:ext cx="2133600" cy="12261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Current Assets</a:t>
            </a:r>
          </a:p>
        </p:txBody>
      </p:sp>
      <p:cxnSp>
        <p:nvCxnSpPr>
          <p:cNvPr id="10" name="Straight Arrow Connector 9"/>
          <p:cNvCxnSpPr/>
          <p:nvPr/>
        </p:nvCxnSpPr>
        <p:spPr>
          <a:xfrm flipH="1">
            <a:off x="3429000" y="2362200"/>
            <a:ext cx="914400" cy="5334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4724400" y="2400300"/>
            <a:ext cx="990600" cy="5715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239982" y="4343400"/>
            <a:ext cx="2189018" cy="1938992"/>
          </a:xfrm>
          <a:prstGeom prst="rect">
            <a:avLst/>
          </a:prstGeom>
          <a:noFill/>
        </p:spPr>
        <p:txBody>
          <a:bodyPr wrap="square" rtlCol="0">
            <a:spAutoFit/>
          </a:bodyPr>
          <a:lstStyle/>
          <a:p>
            <a:r>
              <a:rPr lang="en-US" sz="2400" dirty="0"/>
              <a:t>Machinery</a:t>
            </a:r>
          </a:p>
          <a:p>
            <a:r>
              <a:rPr lang="en-US" sz="2400" dirty="0"/>
              <a:t>Buildings</a:t>
            </a:r>
          </a:p>
          <a:p>
            <a:r>
              <a:rPr lang="en-US" sz="2400" dirty="0"/>
              <a:t>Equipment</a:t>
            </a:r>
          </a:p>
          <a:p>
            <a:endParaRPr lang="en-US" sz="2400" dirty="0"/>
          </a:p>
          <a:p>
            <a:endParaRPr lang="en-US" sz="2400" dirty="0"/>
          </a:p>
        </p:txBody>
      </p:sp>
      <p:sp>
        <p:nvSpPr>
          <p:cNvPr id="17" name="TextBox 16"/>
          <p:cNvSpPr txBox="1"/>
          <p:nvPr/>
        </p:nvSpPr>
        <p:spPr>
          <a:xfrm>
            <a:off x="5867400" y="4343400"/>
            <a:ext cx="2189018" cy="2308324"/>
          </a:xfrm>
          <a:prstGeom prst="rect">
            <a:avLst/>
          </a:prstGeom>
          <a:noFill/>
        </p:spPr>
        <p:txBody>
          <a:bodyPr wrap="square" rtlCol="0">
            <a:spAutoFit/>
          </a:bodyPr>
          <a:lstStyle/>
          <a:p>
            <a:r>
              <a:rPr lang="en-US" sz="2400" dirty="0"/>
              <a:t>Cash in hand</a:t>
            </a:r>
          </a:p>
          <a:p>
            <a:r>
              <a:rPr lang="en-US" sz="2400" dirty="0"/>
              <a:t>Cash at bank</a:t>
            </a:r>
          </a:p>
          <a:p>
            <a:r>
              <a:rPr lang="en-US" sz="2400" dirty="0"/>
              <a:t>Debtors</a:t>
            </a:r>
          </a:p>
          <a:p>
            <a:r>
              <a:rPr lang="en-US" sz="2400" dirty="0"/>
              <a:t>Inventory</a:t>
            </a:r>
          </a:p>
          <a:p>
            <a:endParaRPr lang="en-US" sz="2400" dirty="0"/>
          </a:p>
          <a:p>
            <a:endParaRPr lang="en-US" sz="2400" dirty="0"/>
          </a:p>
        </p:txBody>
      </p:sp>
      <p:sp>
        <p:nvSpPr>
          <p:cNvPr id="3" name="Slide Number Placeholder 2"/>
          <p:cNvSpPr>
            <a:spLocks noGrp="1"/>
          </p:cNvSpPr>
          <p:nvPr>
            <p:ph type="sldNum" sz="quarter" idx="12"/>
          </p:nvPr>
        </p:nvSpPr>
        <p:spPr/>
        <p:txBody>
          <a:bodyPr/>
          <a:lstStyle/>
          <a:p>
            <a:fld id="{5E3FEA98-07C1-450B-B64E-D339A1BD688C}" type="slidenum">
              <a:rPr lang="en-US" smtClean="0"/>
              <a:t>8</a:t>
            </a:fld>
            <a:endParaRPr lang="en-US"/>
          </a:p>
        </p:txBody>
      </p:sp>
    </p:spTree>
    <p:extLst>
      <p:ext uri="{BB962C8B-B14F-4D97-AF65-F5344CB8AC3E}">
        <p14:creationId xmlns:p14="http://schemas.microsoft.com/office/powerpoint/2010/main" val="2611902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71500" indent="-571500">
              <a:buFont typeface="Wingdings" panose="05000000000000000000" pitchFamily="2" charset="2"/>
              <a:buChar char="Ø"/>
            </a:pPr>
            <a:r>
              <a:rPr lang="en-US" sz="3600" b="1" dirty="0"/>
              <a:t>Liabilities</a:t>
            </a:r>
          </a:p>
        </p:txBody>
      </p:sp>
      <p:sp>
        <p:nvSpPr>
          <p:cNvPr id="3" name="Content Placeholder 2"/>
          <p:cNvSpPr>
            <a:spLocks noGrp="1"/>
          </p:cNvSpPr>
          <p:nvPr>
            <p:ph idx="1"/>
          </p:nvPr>
        </p:nvSpPr>
        <p:spPr>
          <a:xfrm>
            <a:off x="656785" y="1804048"/>
            <a:ext cx="7886700" cy="4351338"/>
          </a:xfrm>
        </p:spPr>
        <p:txBody>
          <a:bodyPr>
            <a:normAutofit/>
          </a:bodyPr>
          <a:lstStyle/>
          <a:p>
            <a:r>
              <a:rPr lang="en-US" sz="2800" dirty="0"/>
              <a:t>Money that company </a:t>
            </a:r>
            <a:r>
              <a:rPr lang="en-US" sz="2800" dirty="0">
                <a:solidFill>
                  <a:srgbClr val="FF0000"/>
                </a:solidFill>
              </a:rPr>
              <a:t>owes</a:t>
            </a:r>
            <a:r>
              <a:rPr lang="en-US" sz="2800" dirty="0"/>
              <a:t> to the others</a:t>
            </a:r>
          </a:p>
          <a:p>
            <a:pPr marL="0" indent="0">
              <a:buNone/>
            </a:pPr>
            <a:endParaRPr lang="en-US" sz="2800" dirty="0"/>
          </a:p>
        </p:txBody>
      </p:sp>
      <p:sp>
        <p:nvSpPr>
          <p:cNvPr id="4" name="Rectangle 3"/>
          <p:cNvSpPr/>
          <p:nvPr/>
        </p:nvSpPr>
        <p:spPr>
          <a:xfrm>
            <a:off x="3657600" y="2303317"/>
            <a:ext cx="2133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Liabilities</a:t>
            </a:r>
          </a:p>
        </p:txBody>
      </p:sp>
      <p:sp>
        <p:nvSpPr>
          <p:cNvPr id="5" name="Oval 4"/>
          <p:cNvSpPr/>
          <p:nvPr/>
        </p:nvSpPr>
        <p:spPr>
          <a:xfrm>
            <a:off x="1468582" y="3293917"/>
            <a:ext cx="2798618" cy="137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Non -Current Liabilities</a:t>
            </a:r>
          </a:p>
        </p:txBody>
      </p:sp>
      <p:sp>
        <p:nvSpPr>
          <p:cNvPr id="6" name="Oval 5"/>
          <p:cNvSpPr/>
          <p:nvPr/>
        </p:nvSpPr>
        <p:spPr>
          <a:xfrm>
            <a:off x="5943600" y="3286989"/>
            <a:ext cx="2362200" cy="12261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Current Liabilities</a:t>
            </a:r>
          </a:p>
        </p:txBody>
      </p:sp>
      <p:sp>
        <p:nvSpPr>
          <p:cNvPr id="7" name="TextBox 6"/>
          <p:cNvSpPr txBox="1"/>
          <p:nvPr/>
        </p:nvSpPr>
        <p:spPr>
          <a:xfrm>
            <a:off x="1503218" y="5029199"/>
            <a:ext cx="2438400" cy="1569660"/>
          </a:xfrm>
          <a:prstGeom prst="rect">
            <a:avLst/>
          </a:prstGeom>
          <a:noFill/>
        </p:spPr>
        <p:txBody>
          <a:bodyPr wrap="square" rtlCol="0">
            <a:spAutoFit/>
          </a:bodyPr>
          <a:lstStyle/>
          <a:p>
            <a:r>
              <a:rPr lang="en-US" sz="2400" dirty="0"/>
              <a:t>Long term loans</a:t>
            </a:r>
          </a:p>
          <a:p>
            <a:r>
              <a:rPr lang="en-US" sz="2400" dirty="0"/>
              <a:t>Mortgages</a:t>
            </a:r>
          </a:p>
          <a:p>
            <a:r>
              <a:rPr lang="en-US" sz="2400" dirty="0"/>
              <a:t>Lease</a:t>
            </a:r>
          </a:p>
          <a:p>
            <a:endParaRPr lang="en-US" sz="2400" dirty="0"/>
          </a:p>
        </p:txBody>
      </p:sp>
      <p:sp>
        <p:nvSpPr>
          <p:cNvPr id="8" name="TextBox 7"/>
          <p:cNvSpPr txBox="1"/>
          <p:nvPr/>
        </p:nvSpPr>
        <p:spPr>
          <a:xfrm>
            <a:off x="5964381" y="5070762"/>
            <a:ext cx="2438400" cy="830997"/>
          </a:xfrm>
          <a:prstGeom prst="rect">
            <a:avLst/>
          </a:prstGeom>
          <a:noFill/>
        </p:spPr>
        <p:txBody>
          <a:bodyPr wrap="square" rtlCol="0">
            <a:spAutoFit/>
          </a:bodyPr>
          <a:lstStyle/>
          <a:p>
            <a:r>
              <a:rPr lang="en-US" sz="2400" dirty="0"/>
              <a:t>Creditors</a:t>
            </a:r>
          </a:p>
          <a:p>
            <a:r>
              <a:rPr lang="en-US" sz="2400" dirty="0"/>
              <a:t>Bank overdrafts</a:t>
            </a:r>
          </a:p>
        </p:txBody>
      </p:sp>
      <p:cxnSp>
        <p:nvCxnSpPr>
          <p:cNvPr id="10" name="Straight Arrow Connector 9"/>
          <p:cNvCxnSpPr/>
          <p:nvPr/>
        </p:nvCxnSpPr>
        <p:spPr>
          <a:xfrm flipH="1">
            <a:off x="3941618" y="3112075"/>
            <a:ext cx="782782" cy="36368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901045" y="3112075"/>
            <a:ext cx="1028700" cy="36368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Slide Number Placeholder 8"/>
          <p:cNvSpPr>
            <a:spLocks noGrp="1"/>
          </p:cNvSpPr>
          <p:nvPr>
            <p:ph type="sldNum" sz="quarter" idx="12"/>
          </p:nvPr>
        </p:nvSpPr>
        <p:spPr/>
        <p:txBody>
          <a:bodyPr/>
          <a:lstStyle/>
          <a:p>
            <a:fld id="{5E3FEA98-07C1-450B-B64E-D339A1BD688C}" type="slidenum">
              <a:rPr lang="en-US" smtClean="0"/>
              <a:t>9</a:t>
            </a:fld>
            <a:endParaRPr lang="en-US"/>
          </a:p>
        </p:txBody>
      </p:sp>
    </p:spTree>
    <p:extLst>
      <p:ext uri="{BB962C8B-B14F-4D97-AF65-F5344CB8AC3E}">
        <p14:creationId xmlns:p14="http://schemas.microsoft.com/office/powerpoint/2010/main" val="1245764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95" y="609600"/>
            <a:ext cx="3142370" cy="936625"/>
          </a:xfrm>
        </p:spPr>
        <p:txBody>
          <a:bodyPr>
            <a:normAutofit/>
          </a:bodyPr>
          <a:lstStyle/>
          <a:p>
            <a:pPr marL="571500" indent="-571500">
              <a:buFont typeface="Wingdings" panose="05000000000000000000" pitchFamily="2" charset="2"/>
              <a:buChar char="Ø"/>
            </a:pPr>
            <a:r>
              <a:rPr lang="en-US" sz="3600" b="1" dirty="0"/>
              <a:t>Equity</a:t>
            </a:r>
          </a:p>
        </p:txBody>
      </p:sp>
      <p:sp>
        <p:nvSpPr>
          <p:cNvPr id="3" name="Subtitle 2"/>
          <p:cNvSpPr>
            <a:spLocks noGrp="1"/>
          </p:cNvSpPr>
          <p:nvPr>
            <p:ph type="subTitle" idx="1"/>
          </p:nvPr>
        </p:nvSpPr>
        <p:spPr>
          <a:xfrm>
            <a:off x="838200" y="2133600"/>
            <a:ext cx="7391400" cy="3581400"/>
          </a:xfrm>
        </p:spPr>
        <p:txBody>
          <a:bodyPr>
            <a:normAutofit/>
          </a:bodyPr>
          <a:lstStyle/>
          <a:p>
            <a:pPr marL="457200" indent="-457200">
              <a:buFont typeface="Arial" pitchFamily="34" charset="0"/>
              <a:buChar char="•"/>
            </a:pPr>
            <a:r>
              <a:rPr lang="en-US" sz="2800" dirty="0">
                <a:solidFill>
                  <a:schemeClr val="tx1"/>
                </a:solidFill>
              </a:rPr>
              <a:t>Owner’s investment in the business</a:t>
            </a:r>
          </a:p>
          <a:p>
            <a:endParaRPr lang="en-US" sz="2800" dirty="0">
              <a:solidFill>
                <a:schemeClr val="tx1"/>
              </a:solidFill>
            </a:endParaRPr>
          </a:p>
          <a:p>
            <a:pPr algn="l"/>
            <a:r>
              <a:rPr lang="en-US" sz="2800" dirty="0">
                <a:solidFill>
                  <a:schemeClr val="tx1"/>
                </a:solidFill>
              </a:rPr>
              <a:t>Drawings</a:t>
            </a:r>
          </a:p>
          <a:p>
            <a:pPr algn="l"/>
            <a:r>
              <a:rPr lang="en-US" sz="2800" dirty="0">
                <a:solidFill>
                  <a:schemeClr val="tx1"/>
                </a:solidFill>
              </a:rPr>
              <a:t>Owner’s withdrawals of money, goods or assets</a:t>
            </a:r>
          </a:p>
          <a:p>
            <a:pPr algn="l"/>
            <a:endParaRPr lang="en-US" sz="2800" dirty="0">
              <a:solidFill>
                <a:schemeClr val="tx1"/>
              </a:solidFill>
            </a:endParaRPr>
          </a:p>
        </p:txBody>
      </p:sp>
      <p:sp>
        <p:nvSpPr>
          <p:cNvPr id="4" name="Slide Number Placeholder 3"/>
          <p:cNvSpPr>
            <a:spLocks noGrp="1"/>
          </p:cNvSpPr>
          <p:nvPr>
            <p:ph type="sldNum" sz="quarter" idx="12"/>
          </p:nvPr>
        </p:nvSpPr>
        <p:spPr/>
        <p:txBody>
          <a:bodyPr/>
          <a:lstStyle/>
          <a:p>
            <a:fld id="{5E3FEA98-07C1-450B-B64E-D339A1BD688C}" type="slidenum">
              <a:rPr lang="en-US" smtClean="0"/>
              <a:t>10</a:t>
            </a:fld>
            <a:endParaRPr lang="en-US"/>
          </a:p>
        </p:txBody>
      </p:sp>
    </p:spTree>
    <p:extLst>
      <p:ext uri="{BB962C8B-B14F-4D97-AF65-F5344CB8AC3E}">
        <p14:creationId xmlns:p14="http://schemas.microsoft.com/office/powerpoint/2010/main" val="2430836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71500" indent="-571500">
              <a:buFont typeface="Wingdings" panose="05000000000000000000" pitchFamily="2" charset="2"/>
              <a:buChar char="Ø"/>
            </a:pPr>
            <a:r>
              <a:rPr lang="en-US" sz="3600" b="1" dirty="0"/>
              <a:t>Revenue or Income</a:t>
            </a:r>
          </a:p>
        </p:txBody>
      </p:sp>
      <p:sp>
        <p:nvSpPr>
          <p:cNvPr id="3" name="Content Placeholder 2"/>
          <p:cNvSpPr>
            <a:spLocks noGrp="1"/>
          </p:cNvSpPr>
          <p:nvPr>
            <p:ph idx="1"/>
          </p:nvPr>
        </p:nvSpPr>
        <p:spPr>
          <a:xfrm>
            <a:off x="457200" y="2057400"/>
            <a:ext cx="8229600" cy="4297363"/>
          </a:xfrm>
        </p:spPr>
        <p:txBody>
          <a:bodyPr>
            <a:normAutofit/>
          </a:bodyPr>
          <a:lstStyle/>
          <a:p>
            <a:r>
              <a:rPr lang="en-US" sz="2800" dirty="0"/>
              <a:t>Money that company earns from its sales of products or services, and interest and dividends earned </a:t>
            </a:r>
          </a:p>
        </p:txBody>
      </p:sp>
      <p:sp>
        <p:nvSpPr>
          <p:cNvPr id="4" name="Slide Number Placeholder 3"/>
          <p:cNvSpPr>
            <a:spLocks noGrp="1"/>
          </p:cNvSpPr>
          <p:nvPr>
            <p:ph type="sldNum" sz="quarter" idx="12"/>
          </p:nvPr>
        </p:nvSpPr>
        <p:spPr/>
        <p:txBody>
          <a:bodyPr/>
          <a:lstStyle/>
          <a:p>
            <a:fld id="{5E3FEA98-07C1-450B-B64E-D339A1BD688C}" type="slidenum">
              <a:rPr lang="en-US" smtClean="0"/>
              <a:t>11</a:t>
            </a:fld>
            <a:endParaRPr lang="en-US"/>
          </a:p>
        </p:txBody>
      </p:sp>
    </p:spTree>
    <p:extLst>
      <p:ext uri="{BB962C8B-B14F-4D97-AF65-F5344CB8AC3E}">
        <p14:creationId xmlns:p14="http://schemas.microsoft.com/office/powerpoint/2010/main" val="3940970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Expenses</a:t>
            </a:r>
          </a:p>
        </p:txBody>
      </p:sp>
      <p:sp>
        <p:nvSpPr>
          <p:cNvPr id="3" name="Content Placeholder 2"/>
          <p:cNvSpPr>
            <a:spLocks noGrp="1"/>
          </p:cNvSpPr>
          <p:nvPr>
            <p:ph idx="1"/>
          </p:nvPr>
        </p:nvSpPr>
        <p:spPr/>
        <p:txBody>
          <a:bodyPr>
            <a:normAutofit/>
          </a:bodyPr>
          <a:lstStyle/>
          <a:p>
            <a:r>
              <a:rPr lang="en-US" sz="2800" dirty="0"/>
              <a:t>Money spent by the company to produce goods or services</a:t>
            </a:r>
          </a:p>
          <a:p>
            <a:endParaRPr lang="en-US" sz="2800" dirty="0"/>
          </a:p>
          <a:p>
            <a:r>
              <a:rPr lang="en-US" sz="2800" dirty="0"/>
              <a:t>Ex:- Purchases, Utility bills, advertising, rent, rates</a:t>
            </a:r>
          </a:p>
        </p:txBody>
      </p:sp>
      <p:sp>
        <p:nvSpPr>
          <p:cNvPr id="4" name="Slide Number Placeholder 3"/>
          <p:cNvSpPr>
            <a:spLocks noGrp="1"/>
          </p:cNvSpPr>
          <p:nvPr>
            <p:ph type="sldNum" sz="quarter" idx="12"/>
          </p:nvPr>
        </p:nvSpPr>
        <p:spPr/>
        <p:txBody>
          <a:bodyPr/>
          <a:lstStyle/>
          <a:p>
            <a:fld id="{5E3FEA98-07C1-450B-B64E-D339A1BD688C}" type="slidenum">
              <a:rPr lang="en-US" smtClean="0"/>
              <a:t>12</a:t>
            </a:fld>
            <a:endParaRPr lang="en-US"/>
          </a:p>
        </p:txBody>
      </p:sp>
    </p:spTree>
    <p:extLst>
      <p:ext uri="{BB962C8B-B14F-4D97-AF65-F5344CB8AC3E}">
        <p14:creationId xmlns:p14="http://schemas.microsoft.com/office/powerpoint/2010/main" val="3583505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Accounting Concepts and Principles</a:t>
            </a:r>
          </a:p>
        </p:txBody>
      </p:sp>
      <p:sp>
        <p:nvSpPr>
          <p:cNvPr id="3" name="Content Placeholder 2"/>
          <p:cNvSpPr>
            <a:spLocks noGrp="1"/>
          </p:cNvSpPr>
          <p:nvPr>
            <p:ph idx="1"/>
          </p:nvPr>
        </p:nvSpPr>
        <p:spPr>
          <a:xfrm>
            <a:off x="457200" y="1600200"/>
            <a:ext cx="8229600" cy="5181600"/>
          </a:xfrm>
        </p:spPr>
        <p:txBody>
          <a:bodyPr>
            <a:normAutofit/>
          </a:bodyPr>
          <a:lstStyle/>
          <a:p>
            <a:r>
              <a:rPr lang="en-US" sz="2400" dirty="0"/>
              <a:t>Business entity concept</a:t>
            </a:r>
          </a:p>
          <a:p>
            <a:r>
              <a:rPr lang="en-US" sz="2400" dirty="0"/>
              <a:t>Going concern concept</a:t>
            </a:r>
          </a:p>
          <a:p>
            <a:r>
              <a:rPr lang="en-US" sz="2400" dirty="0"/>
              <a:t>Money measurement concept</a:t>
            </a:r>
          </a:p>
          <a:p>
            <a:r>
              <a:rPr lang="en-US" sz="2400" dirty="0"/>
              <a:t>Accounting period concept</a:t>
            </a:r>
          </a:p>
          <a:p>
            <a:r>
              <a:rPr lang="en-US" sz="2400" dirty="0"/>
              <a:t>Cost principle</a:t>
            </a:r>
          </a:p>
          <a:p>
            <a:r>
              <a:rPr lang="en-US" sz="2400" dirty="0"/>
              <a:t>Duality principle</a:t>
            </a:r>
          </a:p>
          <a:p>
            <a:r>
              <a:rPr lang="en-US" sz="2400" dirty="0"/>
              <a:t>Accrual principle</a:t>
            </a:r>
          </a:p>
          <a:p>
            <a:r>
              <a:rPr lang="en-US" sz="2400" dirty="0"/>
              <a:t>Matching principle</a:t>
            </a:r>
          </a:p>
          <a:p>
            <a:r>
              <a:rPr lang="en-US" sz="2400" dirty="0"/>
              <a:t>Consistency principle</a:t>
            </a:r>
          </a:p>
          <a:p>
            <a:r>
              <a:rPr lang="en-US" sz="2400" dirty="0"/>
              <a:t>Materiality principle</a:t>
            </a:r>
          </a:p>
          <a:p>
            <a:r>
              <a:rPr lang="en-US" sz="2400" dirty="0"/>
              <a:t>Full disclosure principle</a:t>
            </a:r>
          </a:p>
          <a:p>
            <a:endParaRPr lang="en-US" sz="2400" dirty="0"/>
          </a:p>
        </p:txBody>
      </p:sp>
      <p:sp>
        <p:nvSpPr>
          <p:cNvPr id="4" name="Slide Number Placeholder 3"/>
          <p:cNvSpPr>
            <a:spLocks noGrp="1"/>
          </p:cNvSpPr>
          <p:nvPr>
            <p:ph type="sldNum" sz="quarter" idx="12"/>
          </p:nvPr>
        </p:nvSpPr>
        <p:spPr/>
        <p:txBody>
          <a:bodyPr/>
          <a:lstStyle/>
          <a:p>
            <a:fld id="{5E3FEA98-07C1-450B-B64E-D339A1BD688C}" type="slidenum">
              <a:rPr lang="en-US" smtClean="0"/>
              <a:t>13</a:t>
            </a:fld>
            <a:endParaRPr lang="en-US"/>
          </a:p>
        </p:txBody>
      </p:sp>
    </p:spTree>
    <p:extLst>
      <p:ext uri="{BB962C8B-B14F-4D97-AF65-F5344CB8AC3E}">
        <p14:creationId xmlns:p14="http://schemas.microsoft.com/office/powerpoint/2010/main" val="891462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US" sz="3600" b="1" dirty="0"/>
            </a:br>
            <a:r>
              <a:rPr lang="en-US" sz="3600" b="1" dirty="0"/>
              <a:t>Business Entity Concept</a:t>
            </a:r>
            <a:br>
              <a:rPr lang="en-US" sz="3600" b="1" dirty="0"/>
            </a:br>
            <a:endParaRPr lang="en-US" sz="3600" b="1" dirty="0"/>
          </a:p>
        </p:txBody>
      </p:sp>
      <p:sp>
        <p:nvSpPr>
          <p:cNvPr id="3" name="Content Placeholder 2"/>
          <p:cNvSpPr>
            <a:spLocks noGrp="1"/>
          </p:cNvSpPr>
          <p:nvPr>
            <p:ph idx="1"/>
          </p:nvPr>
        </p:nvSpPr>
        <p:spPr>
          <a:xfrm>
            <a:off x="628650" y="1690689"/>
            <a:ext cx="8229600" cy="4876800"/>
          </a:xfrm>
        </p:spPr>
        <p:txBody>
          <a:bodyPr>
            <a:normAutofit/>
          </a:bodyPr>
          <a:lstStyle/>
          <a:p>
            <a:pPr>
              <a:lnSpc>
                <a:spcPct val="150000"/>
              </a:lnSpc>
            </a:pPr>
            <a:r>
              <a:rPr lang="en-US" sz="2800" dirty="0"/>
              <a:t>The business enterprise is distinct from its owners</a:t>
            </a:r>
          </a:p>
          <a:p>
            <a:pPr>
              <a:lnSpc>
                <a:spcPct val="150000"/>
              </a:lnSpc>
            </a:pPr>
            <a:r>
              <a:rPr lang="en-US" sz="2800" dirty="0"/>
              <a:t>Owners personal expenses are not recorded</a:t>
            </a:r>
          </a:p>
          <a:p>
            <a:pPr>
              <a:lnSpc>
                <a:spcPct val="150000"/>
              </a:lnSpc>
            </a:pPr>
            <a:r>
              <a:rPr lang="en-US" sz="2800" dirty="0"/>
              <a:t>If owners personal expenses are paid out from the business, it is treated  as drawings</a:t>
            </a:r>
          </a:p>
        </p:txBody>
      </p:sp>
      <p:sp>
        <p:nvSpPr>
          <p:cNvPr id="4" name="Slide Number Placeholder 3"/>
          <p:cNvSpPr>
            <a:spLocks noGrp="1"/>
          </p:cNvSpPr>
          <p:nvPr>
            <p:ph type="sldNum" sz="quarter" idx="12"/>
          </p:nvPr>
        </p:nvSpPr>
        <p:spPr/>
        <p:txBody>
          <a:bodyPr/>
          <a:lstStyle/>
          <a:p>
            <a:fld id="{5E3FEA98-07C1-450B-B64E-D339A1BD688C}" type="slidenum">
              <a:rPr lang="en-US" smtClean="0"/>
              <a:t>14</a:t>
            </a:fld>
            <a:endParaRPr lang="en-US"/>
          </a:p>
        </p:txBody>
      </p:sp>
    </p:spTree>
    <p:extLst>
      <p:ext uri="{BB962C8B-B14F-4D97-AF65-F5344CB8AC3E}">
        <p14:creationId xmlns:p14="http://schemas.microsoft.com/office/powerpoint/2010/main" val="2496734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655637"/>
            <a:ext cx="7886700" cy="1325563"/>
          </a:xfrm>
        </p:spPr>
        <p:txBody>
          <a:bodyPr>
            <a:normAutofit/>
          </a:bodyPr>
          <a:lstStyle/>
          <a:p>
            <a:r>
              <a:rPr lang="en-US" sz="3600" b="1" dirty="0"/>
              <a:t>Going concern concept</a:t>
            </a:r>
            <a:br>
              <a:rPr lang="en-US" sz="3600" b="1" dirty="0"/>
            </a:br>
            <a:endParaRPr lang="en-US" sz="3600" b="1" dirty="0"/>
          </a:p>
        </p:txBody>
      </p:sp>
      <p:sp>
        <p:nvSpPr>
          <p:cNvPr id="3" name="Content Placeholder 2"/>
          <p:cNvSpPr>
            <a:spLocks noGrp="1"/>
          </p:cNvSpPr>
          <p:nvPr>
            <p:ph idx="1"/>
          </p:nvPr>
        </p:nvSpPr>
        <p:spPr>
          <a:xfrm>
            <a:off x="628650" y="1981200"/>
            <a:ext cx="7886700" cy="4351338"/>
          </a:xfrm>
        </p:spPr>
        <p:txBody>
          <a:bodyPr>
            <a:normAutofit/>
          </a:bodyPr>
          <a:lstStyle/>
          <a:p>
            <a:r>
              <a:rPr lang="en-US" sz="2800" dirty="0"/>
              <a:t>The business will continue to operate for an indefinite period of time in the future</a:t>
            </a:r>
          </a:p>
          <a:p>
            <a:endParaRPr lang="en-US" sz="2800" dirty="0"/>
          </a:p>
          <a:p>
            <a:endParaRPr lang="en-US" sz="2800" dirty="0"/>
          </a:p>
        </p:txBody>
      </p:sp>
      <p:sp>
        <p:nvSpPr>
          <p:cNvPr id="4" name="Slide Number Placeholder 3"/>
          <p:cNvSpPr>
            <a:spLocks noGrp="1"/>
          </p:cNvSpPr>
          <p:nvPr>
            <p:ph type="sldNum" sz="quarter" idx="12"/>
          </p:nvPr>
        </p:nvSpPr>
        <p:spPr/>
        <p:txBody>
          <a:bodyPr/>
          <a:lstStyle/>
          <a:p>
            <a:fld id="{5E3FEA98-07C1-450B-B64E-D339A1BD688C}" type="slidenum">
              <a:rPr lang="en-US" smtClean="0"/>
              <a:t>15</a:t>
            </a:fld>
            <a:endParaRPr lang="en-US"/>
          </a:p>
        </p:txBody>
      </p:sp>
    </p:spTree>
    <p:extLst>
      <p:ext uri="{BB962C8B-B14F-4D97-AF65-F5344CB8AC3E}">
        <p14:creationId xmlns:p14="http://schemas.microsoft.com/office/powerpoint/2010/main" val="1887281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Money Measurement Concept</a:t>
            </a:r>
            <a:br>
              <a:rPr lang="en-US" sz="3600" b="1" dirty="0"/>
            </a:br>
            <a:endParaRPr lang="en-US" sz="3600" b="1" dirty="0"/>
          </a:p>
        </p:txBody>
      </p:sp>
      <p:sp>
        <p:nvSpPr>
          <p:cNvPr id="3" name="Content Placeholder 2"/>
          <p:cNvSpPr>
            <a:spLocks noGrp="1"/>
          </p:cNvSpPr>
          <p:nvPr>
            <p:ph idx="1"/>
          </p:nvPr>
        </p:nvSpPr>
        <p:spPr/>
        <p:txBody>
          <a:bodyPr>
            <a:normAutofit/>
          </a:bodyPr>
          <a:lstStyle/>
          <a:p>
            <a:r>
              <a:rPr lang="en-US" sz="2800" dirty="0"/>
              <a:t>All transactions and events recorded in the financial statements must be recorded in a unit of monetary currency</a:t>
            </a:r>
          </a:p>
        </p:txBody>
      </p:sp>
      <p:sp>
        <p:nvSpPr>
          <p:cNvPr id="4" name="Slide Number Placeholder 3"/>
          <p:cNvSpPr>
            <a:spLocks noGrp="1"/>
          </p:cNvSpPr>
          <p:nvPr>
            <p:ph type="sldNum" sz="quarter" idx="12"/>
          </p:nvPr>
        </p:nvSpPr>
        <p:spPr/>
        <p:txBody>
          <a:bodyPr/>
          <a:lstStyle/>
          <a:p>
            <a:fld id="{5E3FEA98-07C1-450B-B64E-D339A1BD688C}" type="slidenum">
              <a:rPr lang="en-US" smtClean="0"/>
              <a:t>16</a:t>
            </a:fld>
            <a:endParaRPr lang="en-US"/>
          </a:p>
        </p:txBody>
      </p:sp>
    </p:spTree>
    <p:extLst>
      <p:ext uri="{BB962C8B-B14F-4D97-AF65-F5344CB8AC3E}">
        <p14:creationId xmlns:p14="http://schemas.microsoft.com/office/powerpoint/2010/main" val="1942645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7886700" cy="1325563"/>
          </a:xfrm>
        </p:spPr>
        <p:txBody>
          <a:bodyPr>
            <a:normAutofit/>
          </a:bodyPr>
          <a:lstStyle/>
          <a:p>
            <a:r>
              <a:rPr lang="en-US" sz="3600" b="1" dirty="0"/>
              <a:t>Accounting Period Concept</a:t>
            </a:r>
            <a:br>
              <a:rPr lang="en-US" sz="3600" b="1" dirty="0"/>
            </a:br>
            <a:endParaRPr lang="en-US" sz="3600" b="1" dirty="0"/>
          </a:p>
        </p:txBody>
      </p:sp>
      <p:sp>
        <p:nvSpPr>
          <p:cNvPr id="3" name="Content Placeholder 2"/>
          <p:cNvSpPr>
            <a:spLocks noGrp="1"/>
          </p:cNvSpPr>
          <p:nvPr>
            <p:ph idx="1"/>
          </p:nvPr>
        </p:nvSpPr>
        <p:spPr>
          <a:xfrm>
            <a:off x="762000" y="2133600"/>
            <a:ext cx="7886700" cy="4351338"/>
          </a:xfrm>
        </p:spPr>
        <p:txBody>
          <a:bodyPr>
            <a:normAutofit/>
          </a:bodyPr>
          <a:lstStyle/>
          <a:p>
            <a:r>
              <a:rPr lang="en-US" sz="2800" dirty="0"/>
              <a:t>Financial statements are being prepared periodically.</a:t>
            </a:r>
          </a:p>
          <a:p>
            <a:endParaRPr lang="en-US" sz="2800" dirty="0"/>
          </a:p>
          <a:p>
            <a:r>
              <a:rPr lang="en-US" sz="2800" dirty="0"/>
              <a:t>Annually, bi-annually, quarterly, monthly, etc. </a:t>
            </a:r>
          </a:p>
        </p:txBody>
      </p:sp>
      <p:sp>
        <p:nvSpPr>
          <p:cNvPr id="4" name="Slide Number Placeholder 3"/>
          <p:cNvSpPr>
            <a:spLocks noGrp="1"/>
          </p:cNvSpPr>
          <p:nvPr>
            <p:ph type="sldNum" sz="quarter" idx="12"/>
          </p:nvPr>
        </p:nvSpPr>
        <p:spPr/>
        <p:txBody>
          <a:bodyPr/>
          <a:lstStyle/>
          <a:p>
            <a:fld id="{5E3FEA98-07C1-450B-B64E-D339A1BD688C}" type="slidenum">
              <a:rPr lang="en-US" smtClean="0"/>
              <a:t>17</a:t>
            </a:fld>
            <a:endParaRPr lang="en-US"/>
          </a:p>
        </p:txBody>
      </p:sp>
    </p:spTree>
    <p:extLst>
      <p:ext uri="{BB962C8B-B14F-4D97-AF65-F5344CB8AC3E}">
        <p14:creationId xmlns:p14="http://schemas.microsoft.com/office/powerpoint/2010/main" val="2185923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Cost Principle</a:t>
            </a:r>
          </a:p>
        </p:txBody>
      </p:sp>
      <p:sp>
        <p:nvSpPr>
          <p:cNvPr id="3" name="Content Placeholder 2"/>
          <p:cNvSpPr>
            <a:spLocks noGrp="1"/>
          </p:cNvSpPr>
          <p:nvPr>
            <p:ph idx="1"/>
          </p:nvPr>
        </p:nvSpPr>
        <p:spPr>
          <a:xfrm>
            <a:off x="533400" y="1981200"/>
            <a:ext cx="8229600" cy="3916363"/>
          </a:xfrm>
        </p:spPr>
        <p:txBody>
          <a:bodyPr>
            <a:normAutofit/>
          </a:bodyPr>
          <a:lstStyle/>
          <a:p>
            <a:r>
              <a:rPr lang="en-US" sz="2800" dirty="0"/>
              <a:t>All assets should be recorded at purchase price or historical cost</a:t>
            </a:r>
          </a:p>
        </p:txBody>
      </p:sp>
      <p:sp>
        <p:nvSpPr>
          <p:cNvPr id="4" name="Slide Number Placeholder 3"/>
          <p:cNvSpPr>
            <a:spLocks noGrp="1"/>
          </p:cNvSpPr>
          <p:nvPr>
            <p:ph type="sldNum" sz="quarter" idx="12"/>
          </p:nvPr>
        </p:nvSpPr>
        <p:spPr/>
        <p:txBody>
          <a:bodyPr/>
          <a:lstStyle/>
          <a:p>
            <a:fld id="{5E3FEA98-07C1-450B-B64E-D339A1BD688C}" type="slidenum">
              <a:rPr lang="en-US" smtClean="0"/>
              <a:t>18</a:t>
            </a:fld>
            <a:endParaRPr lang="en-US"/>
          </a:p>
        </p:txBody>
      </p:sp>
    </p:spTree>
    <p:extLst>
      <p:ext uri="{BB962C8B-B14F-4D97-AF65-F5344CB8AC3E}">
        <p14:creationId xmlns:p14="http://schemas.microsoft.com/office/powerpoint/2010/main" val="2546819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515302"/>
            <a:ext cx="7886700" cy="1325563"/>
          </a:xfrm>
        </p:spPr>
        <p:txBody>
          <a:bodyPr>
            <a:normAutofit/>
          </a:bodyPr>
          <a:lstStyle/>
          <a:p>
            <a:r>
              <a:rPr lang="en-US" sz="3600" b="1" dirty="0"/>
              <a:t>Duality Principle</a:t>
            </a:r>
            <a:br>
              <a:rPr lang="en-US" sz="3600" b="1" dirty="0"/>
            </a:br>
            <a:endParaRPr lang="en-US" sz="3600" b="1" dirty="0"/>
          </a:p>
        </p:txBody>
      </p:sp>
      <p:sp>
        <p:nvSpPr>
          <p:cNvPr id="3" name="Content Placeholder 2"/>
          <p:cNvSpPr>
            <a:spLocks noGrp="1"/>
          </p:cNvSpPr>
          <p:nvPr>
            <p:ph idx="1"/>
          </p:nvPr>
        </p:nvSpPr>
        <p:spPr>
          <a:xfrm>
            <a:off x="628650" y="2057400"/>
            <a:ext cx="7886700" cy="4351338"/>
          </a:xfrm>
        </p:spPr>
        <p:txBody>
          <a:bodyPr>
            <a:normAutofit/>
          </a:bodyPr>
          <a:lstStyle/>
          <a:p>
            <a:r>
              <a:rPr lang="en-US" sz="2800" dirty="0"/>
              <a:t>Principle lies at the heart of the whole accounting process</a:t>
            </a:r>
          </a:p>
          <a:p>
            <a:endParaRPr lang="en-US" sz="2800" dirty="0"/>
          </a:p>
          <a:p>
            <a:r>
              <a:rPr lang="en-US" sz="2800" dirty="0"/>
              <a:t>Every transaction has a dual effect.</a:t>
            </a:r>
          </a:p>
        </p:txBody>
      </p:sp>
      <p:sp>
        <p:nvSpPr>
          <p:cNvPr id="4" name="Slide Number Placeholder 3"/>
          <p:cNvSpPr>
            <a:spLocks noGrp="1"/>
          </p:cNvSpPr>
          <p:nvPr>
            <p:ph type="sldNum" sz="quarter" idx="12"/>
          </p:nvPr>
        </p:nvSpPr>
        <p:spPr/>
        <p:txBody>
          <a:bodyPr/>
          <a:lstStyle/>
          <a:p>
            <a:fld id="{5E3FEA98-07C1-450B-B64E-D339A1BD688C}" type="slidenum">
              <a:rPr lang="en-US" smtClean="0"/>
              <a:t>19</a:t>
            </a:fld>
            <a:endParaRPr lang="en-US"/>
          </a:p>
        </p:txBody>
      </p:sp>
    </p:spTree>
    <p:extLst>
      <p:ext uri="{BB962C8B-B14F-4D97-AF65-F5344CB8AC3E}">
        <p14:creationId xmlns:p14="http://schemas.microsoft.com/office/powerpoint/2010/main" val="3579864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546612"/>
            <a:ext cx="7886700" cy="1325563"/>
          </a:xfrm>
        </p:spPr>
        <p:txBody>
          <a:bodyPr>
            <a:normAutofit/>
          </a:bodyPr>
          <a:lstStyle/>
          <a:p>
            <a:r>
              <a:rPr lang="en-US" sz="3600" b="1" dirty="0"/>
              <a:t>Accrual Principle</a:t>
            </a:r>
            <a:br>
              <a:rPr lang="en-US" sz="3600" b="1" dirty="0"/>
            </a:br>
            <a:endParaRPr lang="en-US" sz="3600" b="1" dirty="0"/>
          </a:p>
        </p:txBody>
      </p:sp>
      <p:sp>
        <p:nvSpPr>
          <p:cNvPr id="3" name="Content Placeholder 2"/>
          <p:cNvSpPr>
            <a:spLocks noGrp="1"/>
          </p:cNvSpPr>
          <p:nvPr>
            <p:ph idx="1"/>
          </p:nvPr>
        </p:nvSpPr>
        <p:spPr>
          <a:xfrm>
            <a:off x="628650" y="1905000"/>
            <a:ext cx="7886700" cy="4351338"/>
          </a:xfrm>
        </p:spPr>
        <p:txBody>
          <a:bodyPr>
            <a:normAutofit/>
          </a:bodyPr>
          <a:lstStyle/>
          <a:p>
            <a:r>
              <a:rPr lang="en-US" sz="2800" dirty="0"/>
              <a:t>Business transactions are recorded when they occur and not when the related payments are received or made</a:t>
            </a:r>
          </a:p>
          <a:p>
            <a:endParaRPr lang="en-US" sz="2800" dirty="0"/>
          </a:p>
          <a:p>
            <a:r>
              <a:rPr lang="en-US" sz="2800" dirty="0"/>
              <a:t>Income received in advance, pre paid expenses, income receivable, expenses payable are identifies separately</a:t>
            </a:r>
          </a:p>
        </p:txBody>
      </p:sp>
      <p:sp>
        <p:nvSpPr>
          <p:cNvPr id="4" name="Slide Number Placeholder 3"/>
          <p:cNvSpPr>
            <a:spLocks noGrp="1"/>
          </p:cNvSpPr>
          <p:nvPr>
            <p:ph type="sldNum" sz="quarter" idx="12"/>
          </p:nvPr>
        </p:nvSpPr>
        <p:spPr/>
        <p:txBody>
          <a:bodyPr/>
          <a:lstStyle/>
          <a:p>
            <a:fld id="{5E3FEA98-07C1-450B-B64E-D339A1BD688C}" type="slidenum">
              <a:rPr lang="en-US" smtClean="0"/>
              <a:t>20</a:t>
            </a:fld>
            <a:endParaRPr lang="en-US"/>
          </a:p>
        </p:txBody>
      </p:sp>
    </p:spTree>
    <p:extLst>
      <p:ext uri="{BB962C8B-B14F-4D97-AF65-F5344CB8AC3E}">
        <p14:creationId xmlns:p14="http://schemas.microsoft.com/office/powerpoint/2010/main" val="567124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Matching Principle</a:t>
            </a:r>
          </a:p>
        </p:txBody>
      </p:sp>
      <p:sp>
        <p:nvSpPr>
          <p:cNvPr id="3" name="Content Placeholder 2"/>
          <p:cNvSpPr>
            <a:spLocks noGrp="1"/>
          </p:cNvSpPr>
          <p:nvPr>
            <p:ph idx="1"/>
          </p:nvPr>
        </p:nvSpPr>
        <p:spPr>
          <a:xfrm>
            <a:off x="457200" y="2057400"/>
            <a:ext cx="8229600" cy="4373563"/>
          </a:xfrm>
        </p:spPr>
        <p:txBody>
          <a:bodyPr>
            <a:normAutofit/>
          </a:bodyPr>
          <a:lstStyle/>
          <a:p>
            <a:r>
              <a:rPr lang="en-US" sz="2800" dirty="0"/>
              <a:t>The process of matching revenue with expenses for a particular period</a:t>
            </a:r>
          </a:p>
        </p:txBody>
      </p:sp>
      <p:sp>
        <p:nvSpPr>
          <p:cNvPr id="4" name="Slide Number Placeholder 3"/>
          <p:cNvSpPr>
            <a:spLocks noGrp="1"/>
          </p:cNvSpPr>
          <p:nvPr>
            <p:ph type="sldNum" sz="quarter" idx="12"/>
          </p:nvPr>
        </p:nvSpPr>
        <p:spPr/>
        <p:txBody>
          <a:bodyPr/>
          <a:lstStyle/>
          <a:p>
            <a:fld id="{5E3FEA98-07C1-450B-B64E-D339A1BD688C}" type="slidenum">
              <a:rPr lang="en-US" smtClean="0"/>
              <a:t>21</a:t>
            </a:fld>
            <a:endParaRPr lang="en-US"/>
          </a:p>
        </p:txBody>
      </p:sp>
    </p:spTree>
    <p:extLst>
      <p:ext uri="{BB962C8B-B14F-4D97-AF65-F5344CB8AC3E}">
        <p14:creationId xmlns:p14="http://schemas.microsoft.com/office/powerpoint/2010/main" val="990683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Consistency Principle</a:t>
            </a:r>
          </a:p>
        </p:txBody>
      </p:sp>
      <p:sp>
        <p:nvSpPr>
          <p:cNvPr id="3" name="Content Placeholder 2"/>
          <p:cNvSpPr>
            <a:spLocks noGrp="1"/>
          </p:cNvSpPr>
          <p:nvPr>
            <p:ph idx="1"/>
          </p:nvPr>
        </p:nvSpPr>
        <p:spPr>
          <a:xfrm>
            <a:off x="628650" y="1981200"/>
            <a:ext cx="8229600" cy="4525963"/>
          </a:xfrm>
        </p:spPr>
        <p:txBody>
          <a:bodyPr>
            <a:normAutofit/>
          </a:bodyPr>
          <a:lstStyle/>
          <a:p>
            <a:r>
              <a:rPr lang="en-US" sz="2800" dirty="0"/>
              <a:t>When an organization has decided on one method, it should use the same method for all subsequent transactions and events of the same nature unless it has sound reasons to change methods</a:t>
            </a:r>
          </a:p>
        </p:txBody>
      </p:sp>
      <p:sp>
        <p:nvSpPr>
          <p:cNvPr id="4" name="Slide Number Placeholder 3"/>
          <p:cNvSpPr>
            <a:spLocks noGrp="1"/>
          </p:cNvSpPr>
          <p:nvPr>
            <p:ph type="sldNum" sz="quarter" idx="12"/>
          </p:nvPr>
        </p:nvSpPr>
        <p:spPr/>
        <p:txBody>
          <a:bodyPr/>
          <a:lstStyle/>
          <a:p>
            <a:fld id="{5E3FEA98-07C1-450B-B64E-D339A1BD688C}" type="slidenum">
              <a:rPr lang="en-US" smtClean="0"/>
              <a:t>22</a:t>
            </a:fld>
            <a:endParaRPr lang="en-US"/>
          </a:p>
        </p:txBody>
      </p:sp>
    </p:spTree>
    <p:extLst>
      <p:ext uri="{BB962C8B-B14F-4D97-AF65-F5344CB8AC3E}">
        <p14:creationId xmlns:p14="http://schemas.microsoft.com/office/powerpoint/2010/main" val="29868793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17794"/>
            <a:ext cx="8229600" cy="1143000"/>
          </a:xfrm>
        </p:spPr>
        <p:txBody>
          <a:bodyPr>
            <a:normAutofit/>
          </a:bodyPr>
          <a:lstStyle/>
          <a:p>
            <a:r>
              <a:rPr lang="en-US" sz="3600" b="1" dirty="0"/>
              <a:t>Materiality Principle</a:t>
            </a:r>
            <a:br>
              <a:rPr lang="en-US" sz="3600" b="1" dirty="0"/>
            </a:br>
            <a:endParaRPr lang="en-US" sz="3600" b="1" dirty="0"/>
          </a:p>
        </p:txBody>
      </p:sp>
      <p:sp>
        <p:nvSpPr>
          <p:cNvPr id="3" name="Content Placeholder 2"/>
          <p:cNvSpPr>
            <a:spLocks noGrp="1"/>
          </p:cNvSpPr>
          <p:nvPr>
            <p:ph idx="1"/>
          </p:nvPr>
        </p:nvSpPr>
        <p:spPr>
          <a:xfrm>
            <a:off x="450166" y="1752600"/>
            <a:ext cx="7886700" cy="4351338"/>
          </a:xfrm>
        </p:spPr>
        <p:txBody>
          <a:bodyPr>
            <a:normAutofit/>
          </a:bodyPr>
          <a:lstStyle/>
          <a:p>
            <a:r>
              <a:rPr lang="en-US" sz="2800" dirty="0"/>
              <a:t>Transactions and events that have immaterial or insignificant effects should not be recorded and reported in the financial statements</a:t>
            </a:r>
          </a:p>
        </p:txBody>
      </p:sp>
      <p:sp>
        <p:nvSpPr>
          <p:cNvPr id="4" name="Slide Number Placeholder 3"/>
          <p:cNvSpPr>
            <a:spLocks noGrp="1"/>
          </p:cNvSpPr>
          <p:nvPr>
            <p:ph type="sldNum" sz="quarter" idx="12"/>
          </p:nvPr>
        </p:nvSpPr>
        <p:spPr/>
        <p:txBody>
          <a:bodyPr/>
          <a:lstStyle/>
          <a:p>
            <a:fld id="{5E3FEA98-07C1-450B-B64E-D339A1BD688C}" type="slidenum">
              <a:rPr lang="en-US" smtClean="0"/>
              <a:t>23</a:t>
            </a:fld>
            <a:endParaRPr lang="en-US"/>
          </a:p>
        </p:txBody>
      </p:sp>
    </p:spTree>
    <p:extLst>
      <p:ext uri="{BB962C8B-B14F-4D97-AF65-F5344CB8AC3E}">
        <p14:creationId xmlns:p14="http://schemas.microsoft.com/office/powerpoint/2010/main" val="450664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751" y="533400"/>
            <a:ext cx="8229600" cy="1143000"/>
          </a:xfrm>
        </p:spPr>
        <p:txBody>
          <a:bodyPr>
            <a:normAutofit/>
          </a:bodyPr>
          <a:lstStyle/>
          <a:p>
            <a:r>
              <a:rPr lang="en-US" sz="3600" b="1" dirty="0"/>
              <a:t>Full Disclosure Principle</a:t>
            </a:r>
            <a:br>
              <a:rPr lang="en-US" sz="3600" b="1" dirty="0"/>
            </a:br>
            <a:endParaRPr lang="en-US" sz="3600" b="1" dirty="0"/>
          </a:p>
        </p:txBody>
      </p:sp>
      <p:sp>
        <p:nvSpPr>
          <p:cNvPr id="3" name="Content Placeholder 2"/>
          <p:cNvSpPr>
            <a:spLocks noGrp="1"/>
          </p:cNvSpPr>
          <p:nvPr>
            <p:ph idx="1"/>
          </p:nvPr>
        </p:nvSpPr>
        <p:spPr>
          <a:xfrm>
            <a:off x="467751" y="1905000"/>
            <a:ext cx="8229600" cy="4525963"/>
          </a:xfrm>
        </p:spPr>
        <p:txBody>
          <a:bodyPr>
            <a:normAutofit/>
          </a:bodyPr>
          <a:lstStyle/>
          <a:p>
            <a:r>
              <a:rPr lang="en-US" sz="2800" dirty="0"/>
              <a:t>Business should provide all relevant information to external users for the purpose of sound economic decisions</a:t>
            </a:r>
          </a:p>
        </p:txBody>
      </p:sp>
      <p:sp>
        <p:nvSpPr>
          <p:cNvPr id="4" name="Slide Number Placeholder 3"/>
          <p:cNvSpPr>
            <a:spLocks noGrp="1"/>
          </p:cNvSpPr>
          <p:nvPr>
            <p:ph type="sldNum" sz="quarter" idx="12"/>
          </p:nvPr>
        </p:nvSpPr>
        <p:spPr/>
        <p:txBody>
          <a:bodyPr/>
          <a:lstStyle/>
          <a:p>
            <a:fld id="{5E3FEA98-07C1-450B-B64E-D339A1BD688C}" type="slidenum">
              <a:rPr lang="en-US" smtClean="0"/>
              <a:t>24</a:t>
            </a:fld>
            <a:endParaRPr lang="en-US"/>
          </a:p>
        </p:txBody>
      </p:sp>
    </p:spTree>
    <p:extLst>
      <p:ext uri="{BB962C8B-B14F-4D97-AF65-F5344CB8AC3E}">
        <p14:creationId xmlns:p14="http://schemas.microsoft.com/office/powerpoint/2010/main" val="19088791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637"/>
            <a:ext cx="7886700" cy="1325563"/>
          </a:xfrm>
        </p:spPr>
        <p:txBody>
          <a:bodyPr>
            <a:normAutofit/>
          </a:bodyPr>
          <a:lstStyle/>
          <a:p>
            <a:r>
              <a:rPr lang="en-US" b="1" dirty="0"/>
              <a:t>Financial Accounting vs. Management Accounting</a:t>
            </a:r>
          </a:p>
        </p:txBody>
      </p:sp>
      <p:graphicFrame>
        <p:nvGraphicFramePr>
          <p:cNvPr id="4" name="Table 3"/>
          <p:cNvGraphicFramePr>
            <a:graphicFrameLocks noGrp="1"/>
          </p:cNvGraphicFramePr>
          <p:nvPr>
            <p:extLst>
              <p:ext uri="{D42A27DB-BD31-4B8C-83A1-F6EECF244321}">
                <p14:modId xmlns:p14="http://schemas.microsoft.com/office/powerpoint/2010/main" val="40564334"/>
              </p:ext>
            </p:extLst>
          </p:nvPr>
        </p:nvGraphicFramePr>
        <p:xfrm>
          <a:off x="228600" y="1600200"/>
          <a:ext cx="8763000" cy="5013098"/>
        </p:xfrm>
        <a:graphic>
          <a:graphicData uri="http://schemas.openxmlformats.org/drawingml/2006/table">
            <a:tbl>
              <a:tblPr firstRow="1" bandRow="1">
                <a:tableStyleId>{5C22544A-7EE6-4342-B048-85BDC9FD1C3A}</a:tableStyleId>
              </a:tblPr>
              <a:tblGrid>
                <a:gridCol w="4381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570494">
                <a:tc>
                  <a:txBody>
                    <a:bodyPr/>
                    <a:lstStyle/>
                    <a:p>
                      <a:pPr algn="ctr"/>
                      <a:r>
                        <a:rPr lang="en-US" sz="2400" dirty="0"/>
                        <a:t>Financial Accounting</a:t>
                      </a:r>
                    </a:p>
                  </a:txBody>
                  <a:tcPr/>
                </a:tc>
                <a:tc>
                  <a:txBody>
                    <a:bodyPr/>
                    <a:lstStyle/>
                    <a:p>
                      <a:pPr algn="ctr"/>
                      <a:r>
                        <a:rPr lang="en-US" sz="2400" dirty="0"/>
                        <a:t>Management  Accounting</a:t>
                      </a:r>
                      <a:r>
                        <a:rPr lang="en-US" sz="2400" baseline="0" dirty="0"/>
                        <a:t> </a:t>
                      </a:r>
                      <a:endParaRPr lang="en-US" sz="2400" dirty="0"/>
                    </a:p>
                  </a:txBody>
                  <a:tcPr/>
                </a:tc>
                <a:extLst>
                  <a:ext uri="{0D108BD9-81ED-4DB2-BD59-A6C34878D82A}">
                    <a16:rowId xmlns:a16="http://schemas.microsoft.com/office/drawing/2014/main" val="10000"/>
                  </a:ext>
                </a:extLst>
              </a:tr>
              <a:tr h="869543">
                <a:tc>
                  <a:txBody>
                    <a:bodyPr/>
                    <a:lstStyle/>
                    <a:p>
                      <a:r>
                        <a:rPr lang="en-US" sz="2000" dirty="0"/>
                        <a:t>Designed to supply</a:t>
                      </a:r>
                      <a:r>
                        <a:rPr lang="en-US" sz="2000" baseline="0" dirty="0"/>
                        <a:t> information via financial statements to internal and external stakeholders</a:t>
                      </a:r>
                      <a:endParaRPr lang="en-US" sz="2000" dirty="0"/>
                    </a:p>
                  </a:txBody>
                  <a:tcPr/>
                </a:tc>
                <a:tc>
                  <a:txBody>
                    <a:bodyPr/>
                    <a:lstStyle/>
                    <a:p>
                      <a:r>
                        <a:rPr lang="en-US" sz="2000" dirty="0"/>
                        <a:t>Designed principally</a:t>
                      </a:r>
                      <a:r>
                        <a:rPr lang="en-US" sz="2000" baseline="0" dirty="0"/>
                        <a:t> for internal use by the management</a:t>
                      </a:r>
                      <a:endParaRPr lang="en-US" sz="2000" dirty="0"/>
                    </a:p>
                  </a:txBody>
                  <a:tcPr/>
                </a:tc>
                <a:extLst>
                  <a:ext uri="{0D108BD9-81ED-4DB2-BD59-A6C34878D82A}">
                    <a16:rowId xmlns:a16="http://schemas.microsoft.com/office/drawing/2014/main" val="10001"/>
                  </a:ext>
                </a:extLst>
              </a:tr>
              <a:tr h="869543">
                <a:tc>
                  <a:txBody>
                    <a:bodyPr/>
                    <a:lstStyle/>
                    <a:p>
                      <a:r>
                        <a:rPr lang="en-US" sz="2000" dirty="0"/>
                        <a:t>Portrays the performance</a:t>
                      </a:r>
                      <a:r>
                        <a:rPr lang="en-US" sz="2000" baseline="0" dirty="0"/>
                        <a:t> and the position of the business as a whole</a:t>
                      </a:r>
                      <a:endParaRPr lang="en-US" sz="2000" dirty="0"/>
                    </a:p>
                  </a:txBody>
                  <a:tcPr/>
                </a:tc>
                <a:tc>
                  <a:txBody>
                    <a:bodyPr/>
                    <a:lstStyle/>
                    <a:p>
                      <a:r>
                        <a:rPr lang="en-US" sz="2000" dirty="0"/>
                        <a:t>Directs its attention to various divisions or departments</a:t>
                      </a:r>
                    </a:p>
                  </a:txBody>
                  <a:tcPr/>
                </a:tc>
                <a:extLst>
                  <a:ext uri="{0D108BD9-81ED-4DB2-BD59-A6C34878D82A}">
                    <a16:rowId xmlns:a16="http://schemas.microsoft.com/office/drawing/2014/main" val="10002"/>
                  </a:ext>
                </a:extLst>
              </a:tr>
              <a:tr h="869543">
                <a:tc>
                  <a:txBody>
                    <a:bodyPr/>
                    <a:lstStyle/>
                    <a:p>
                      <a:r>
                        <a:rPr lang="en-US" sz="2000" dirty="0"/>
                        <a:t>Concerned with</a:t>
                      </a:r>
                      <a:r>
                        <a:rPr lang="en-US" sz="2000" baseline="0" dirty="0"/>
                        <a:t> historical data and information</a:t>
                      </a:r>
                      <a:endParaRPr lang="en-US" sz="2000" dirty="0"/>
                    </a:p>
                  </a:txBody>
                  <a:tcPr/>
                </a:tc>
                <a:tc>
                  <a:txBody>
                    <a:bodyPr/>
                    <a:lstStyle/>
                    <a:p>
                      <a:r>
                        <a:rPr lang="en-US" sz="2000" dirty="0"/>
                        <a:t>Concerned with historical,</a:t>
                      </a:r>
                      <a:r>
                        <a:rPr lang="en-US" sz="2000" baseline="0" dirty="0"/>
                        <a:t> present  as well as future</a:t>
                      </a:r>
                      <a:endParaRPr lang="en-US" sz="2000" dirty="0"/>
                    </a:p>
                  </a:txBody>
                  <a:tcPr/>
                </a:tc>
                <a:extLst>
                  <a:ext uri="{0D108BD9-81ED-4DB2-BD59-A6C34878D82A}">
                    <a16:rowId xmlns:a16="http://schemas.microsoft.com/office/drawing/2014/main" val="10003"/>
                  </a:ext>
                </a:extLst>
              </a:tr>
              <a:tr h="828135">
                <a:tc>
                  <a:txBody>
                    <a:bodyPr/>
                    <a:lstStyle/>
                    <a:p>
                      <a:r>
                        <a:rPr lang="en-US" sz="2000" dirty="0"/>
                        <a:t>More objective </a:t>
                      </a:r>
                    </a:p>
                  </a:txBody>
                  <a:tcPr/>
                </a:tc>
                <a:tc>
                  <a:txBody>
                    <a:bodyPr/>
                    <a:lstStyle/>
                    <a:p>
                      <a:r>
                        <a:rPr lang="en-US" sz="2000" dirty="0"/>
                        <a:t>More</a:t>
                      </a:r>
                      <a:r>
                        <a:rPr lang="en-US" sz="2000" baseline="0" dirty="0"/>
                        <a:t> subjective</a:t>
                      </a:r>
                      <a:endParaRPr lang="en-US" sz="2000" dirty="0"/>
                    </a:p>
                  </a:txBody>
                  <a:tcPr/>
                </a:tc>
                <a:extLst>
                  <a:ext uri="{0D108BD9-81ED-4DB2-BD59-A6C34878D82A}">
                    <a16:rowId xmlns:a16="http://schemas.microsoft.com/office/drawing/2014/main" val="10004"/>
                  </a:ext>
                </a:extLst>
              </a:tr>
              <a:tr h="869543">
                <a:tc>
                  <a:txBody>
                    <a:bodyPr/>
                    <a:lstStyle/>
                    <a:p>
                      <a:r>
                        <a:rPr lang="en-US" sz="2000" dirty="0"/>
                        <a:t>Compulsory</a:t>
                      </a:r>
                      <a:r>
                        <a:rPr lang="en-US" sz="2000" baseline="0" dirty="0"/>
                        <a:t> and backed by legislation</a:t>
                      </a:r>
                      <a:endParaRPr lang="en-US" sz="2000" dirty="0"/>
                    </a:p>
                  </a:txBody>
                  <a:tcPr/>
                </a:tc>
                <a:tc>
                  <a:txBody>
                    <a:bodyPr/>
                    <a:lstStyle/>
                    <a:p>
                      <a:r>
                        <a:rPr lang="en-US" sz="2000" dirty="0"/>
                        <a:t>Business</a:t>
                      </a:r>
                      <a:r>
                        <a:rPr lang="en-US" sz="2000" baseline="0" dirty="0"/>
                        <a:t> is free to install or not to install management accounting system</a:t>
                      </a:r>
                      <a:endParaRPr lang="en-US" sz="2000" dirty="0"/>
                    </a:p>
                  </a:txBody>
                  <a:tcPr/>
                </a:tc>
                <a:extLst>
                  <a:ext uri="{0D108BD9-81ED-4DB2-BD59-A6C34878D82A}">
                    <a16:rowId xmlns:a16="http://schemas.microsoft.com/office/drawing/2014/main" val="10005"/>
                  </a:ext>
                </a:extLst>
              </a:tr>
            </a:tbl>
          </a:graphicData>
        </a:graphic>
      </p:graphicFrame>
      <p:sp>
        <p:nvSpPr>
          <p:cNvPr id="3" name="Slide Number Placeholder 2"/>
          <p:cNvSpPr>
            <a:spLocks noGrp="1"/>
          </p:cNvSpPr>
          <p:nvPr>
            <p:ph type="sldNum" sz="quarter" idx="12"/>
          </p:nvPr>
        </p:nvSpPr>
        <p:spPr/>
        <p:txBody>
          <a:bodyPr/>
          <a:lstStyle/>
          <a:p>
            <a:fld id="{5E3FEA98-07C1-450B-B64E-D339A1BD688C}" type="slidenum">
              <a:rPr lang="en-US" smtClean="0"/>
              <a:t>25</a:t>
            </a:fld>
            <a:endParaRPr lang="en-US"/>
          </a:p>
        </p:txBody>
      </p:sp>
    </p:spTree>
    <p:extLst>
      <p:ext uri="{BB962C8B-B14F-4D97-AF65-F5344CB8AC3E}">
        <p14:creationId xmlns:p14="http://schemas.microsoft.com/office/powerpoint/2010/main" val="42553273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181762"/>
            <a:ext cx="4724400" cy="1325563"/>
          </a:xfrm>
        </p:spPr>
        <p:txBody>
          <a:bodyPr>
            <a:normAutofit/>
          </a:bodyPr>
          <a:lstStyle/>
          <a:p>
            <a:r>
              <a:rPr lang="en-US" sz="4400" b="1" dirty="0"/>
              <a:t>Accounting Equation</a:t>
            </a:r>
          </a:p>
        </p:txBody>
      </p:sp>
      <p:sp>
        <p:nvSpPr>
          <p:cNvPr id="4" name="TextBox 3"/>
          <p:cNvSpPr txBox="1"/>
          <p:nvPr/>
        </p:nvSpPr>
        <p:spPr>
          <a:xfrm>
            <a:off x="1676400" y="1872963"/>
            <a:ext cx="5791200" cy="707886"/>
          </a:xfrm>
          <a:prstGeom prst="rect">
            <a:avLst/>
          </a:prstGeom>
          <a:noFill/>
          <a:ln w="38100">
            <a:solidFill>
              <a:schemeClr val="tx1"/>
            </a:solidFill>
          </a:ln>
        </p:spPr>
        <p:txBody>
          <a:bodyPr wrap="square" rtlCol="0">
            <a:spAutoFit/>
          </a:bodyPr>
          <a:lstStyle/>
          <a:p>
            <a:pPr algn="ctr"/>
            <a:r>
              <a:rPr lang="en-US" sz="4000" dirty="0"/>
              <a:t>Assets = Equity</a:t>
            </a:r>
          </a:p>
        </p:txBody>
      </p:sp>
      <p:sp>
        <p:nvSpPr>
          <p:cNvPr id="5" name="TextBox 4"/>
          <p:cNvSpPr txBox="1"/>
          <p:nvPr/>
        </p:nvSpPr>
        <p:spPr>
          <a:xfrm>
            <a:off x="609600" y="4746703"/>
            <a:ext cx="7848600" cy="707886"/>
          </a:xfrm>
          <a:prstGeom prst="rect">
            <a:avLst/>
          </a:prstGeom>
          <a:noFill/>
          <a:ln w="38100">
            <a:solidFill>
              <a:schemeClr val="tx1"/>
            </a:solidFill>
          </a:ln>
        </p:spPr>
        <p:txBody>
          <a:bodyPr wrap="square" rtlCol="0">
            <a:spAutoFit/>
          </a:bodyPr>
          <a:lstStyle/>
          <a:p>
            <a:pPr algn="ctr"/>
            <a:r>
              <a:rPr lang="en-US" sz="4000" dirty="0">
                <a:solidFill>
                  <a:srgbClr val="FF0000"/>
                </a:solidFill>
              </a:rPr>
              <a:t>Assets = Equity (Capital) + Liability</a:t>
            </a:r>
          </a:p>
        </p:txBody>
      </p:sp>
      <p:sp>
        <p:nvSpPr>
          <p:cNvPr id="6" name="Title 1"/>
          <p:cNvSpPr txBox="1">
            <a:spLocks/>
          </p:cNvSpPr>
          <p:nvPr/>
        </p:nvSpPr>
        <p:spPr>
          <a:xfrm>
            <a:off x="2345" y="3067826"/>
            <a:ext cx="5835748"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457200" indent="-457200">
              <a:buFont typeface="Arial" panose="020B0604020202020204" pitchFamily="34" charset="0"/>
              <a:buChar char="•"/>
            </a:pPr>
            <a:r>
              <a:rPr lang="en-US" sz="3200" b="1" dirty="0"/>
              <a:t>Basic accounting equation</a:t>
            </a:r>
          </a:p>
        </p:txBody>
      </p:sp>
      <p:sp>
        <p:nvSpPr>
          <p:cNvPr id="3" name="TextBox 2"/>
          <p:cNvSpPr txBox="1"/>
          <p:nvPr/>
        </p:nvSpPr>
        <p:spPr>
          <a:xfrm>
            <a:off x="609600" y="4114799"/>
            <a:ext cx="7924800" cy="461665"/>
          </a:xfrm>
          <a:prstGeom prst="rect">
            <a:avLst/>
          </a:prstGeom>
          <a:noFill/>
        </p:spPr>
        <p:txBody>
          <a:bodyPr wrap="square" rtlCol="0">
            <a:spAutoFit/>
          </a:bodyPr>
          <a:lstStyle/>
          <a:p>
            <a:r>
              <a:rPr lang="en-US" sz="2400" dirty="0"/>
              <a:t>This is also referred to as Balance Sheet Equation</a:t>
            </a:r>
          </a:p>
        </p:txBody>
      </p:sp>
    </p:spTree>
    <p:extLst>
      <p:ext uri="{BB962C8B-B14F-4D97-AF65-F5344CB8AC3E}">
        <p14:creationId xmlns:p14="http://schemas.microsoft.com/office/powerpoint/2010/main" val="38008622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57200" y="381000"/>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Accounting Equation Cont.</a:t>
            </a:r>
          </a:p>
        </p:txBody>
      </p:sp>
      <p:sp>
        <p:nvSpPr>
          <p:cNvPr id="3" name="TextBox 2"/>
          <p:cNvSpPr txBox="1"/>
          <p:nvPr/>
        </p:nvSpPr>
        <p:spPr>
          <a:xfrm>
            <a:off x="647700" y="1676400"/>
            <a:ext cx="7848600" cy="707886"/>
          </a:xfrm>
          <a:prstGeom prst="rect">
            <a:avLst/>
          </a:prstGeom>
          <a:noFill/>
          <a:ln w="38100">
            <a:solidFill>
              <a:schemeClr val="tx1"/>
            </a:solidFill>
          </a:ln>
        </p:spPr>
        <p:txBody>
          <a:bodyPr wrap="square" rtlCol="0">
            <a:spAutoFit/>
          </a:bodyPr>
          <a:lstStyle/>
          <a:p>
            <a:pPr algn="ctr"/>
            <a:r>
              <a:rPr lang="en-US" sz="4000" dirty="0">
                <a:solidFill>
                  <a:srgbClr val="FF0000"/>
                </a:solidFill>
              </a:rPr>
              <a:t>Assets = Equity (Capital) + Liability</a:t>
            </a:r>
          </a:p>
        </p:txBody>
      </p:sp>
      <p:sp>
        <p:nvSpPr>
          <p:cNvPr id="4" name="TextBox 3"/>
          <p:cNvSpPr txBox="1"/>
          <p:nvPr/>
        </p:nvSpPr>
        <p:spPr>
          <a:xfrm>
            <a:off x="647700" y="3429000"/>
            <a:ext cx="7848600" cy="1323439"/>
          </a:xfrm>
          <a:prstGeom prst="rect">
            <a:avLst/>
          </a:prstGeom>
          <a:noFill/>
          <a:ln w="38100">
            <a:solidFill>
              <a:schemeClr val="tx1"/>
            </a:solidFill>
          </a:ln>
        </p:spPr>
        <p:txBody>
          <a:bodyPr wrap="square" rtlCol="0">
            <a:spAutoFit/>
          </a:bodyPr>
          <a:lstStyle/>
          <a:p>
            <a:pPr algn="ctr"/>
            <a:r>
              <a:rPr lang="en-US" sz="4000" dirty="0">
                <a:solidFill>
                  <a:srgbClr val="FF0000"/>
                </a:solidFill>
              </a:rPr>
              <a:t>Assets = Equity (Capital) + </a:t>
            </a:r>
            <a:r>
              <a:rPr lang="en-US" sz="4000" b="1" dirty="0">
                <a:solidFill>
                  <a:srgbClr val="0070C0"/>
                </a:solidFill>
              </a:rPr>
              <a:t>Profit </a:t>
            </a:r>
            <a:r>
              <a:rPr lang="en-US" sz="4000" b="1" dirty="0">
                <a:solidFill>
                  <a:srgbClr val="FF0000"/>
                </a:solidFill>
              </a:rPr>
              <a:t>+</a:t>
            </a:r>
            <a:r>
              <a:rPr lang="en-US" sz="4000" dirty="0">
                <a:solidFill>
                  <a:srgbClr val="FF0000"/>
                </a:solidFill>
              </a:rPr>
              <a:t> Liability</a:t>
            </a:r>
          </a:p>
        </p:txBody>
      </p:sp>
    </p:spTree>
    <p:extLst>
      <p:ext uri="{BB962C8B-B14F-4D97-AF65-F5344CB8AC3E}">
        <p14:creationId xmlns:p14="http://schemas.microsoft.com/office/powerpoint/2010/main" val="42346327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7938" y="2320185"/>
            <a:ext cx="8572500" cy="707886"/>
          </a:xfrm>
          <a:prstGeom prst="rect">
            <a:avLst/>
          </a:prstGeom>
          <a:noFill/>
          <a:ln w="38100">
            <a:solidFill>
              <a:schemeClr val="tx1"/>
            </a:solidFill>
          </a:ln>
        </p:spPr>
        <p:txBody>
          <a:bodyPr wrap="square" rtlCol="0">
            <a:spAutoFit/>
          </a:bodyPr>
          <a:lstStyle/>
          <a:p>
            <a:pPr algn="ctr"/>
            <a:r>
              <a:rPr lang="en-US" sz="4000" dirty="0">
                <a:solidFill>
                  <a:srgbClr val="FF0000"/>
                </a:solidFill>
              </a:rPr>
              <a:t>Assets = Capital + </a:t>
            </a:r>
            <a:r>
              <a:rPr lang="en-US" sz="4000" b="1">
                <a:solidFill>
                  <a:srgbClr val="0070C0"/>
                </a:solidFill>
              </a:rPr>
              <a:t>Profit</a:t>
            </a:r>
            <a:r>
              <a:rPr lang="en-US" sz="4000">
                <a:solidFill>
                  <a:srgbClr val="FF0000"/>
                </a:solidFill>
              </a:rPr>
              <a:t> + Liability</a:t>
            </a:r>
            <a:endParaRPr lang="en-US" sz="4000" dirty="0">
              <a:solidFill>
                <a:srgbClr val="FF0000"/>
              </a:solidFill>
            </a:endParaRPr>
          </a:p>
        </p:txBody>
      </p:sp>
      <p:sp>
        <p:nvSpPr>
          <p:cNvPr id="6" name="Right Brace 5"/>
          <p:cNvSpPr/>
          <p:nvPr/>
        </p:nvSpPr>
        <p:spPr>
          <a:xfrm rot="5400000">
            <a:off x="5562600" y="2819400"/>
            <a:ext cx="457200" cy="1371600"/>
          </a:xfrm>
          <a:prstGeom prst="righ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p:cNvSpPr txBox="1"/>
          <p:nvPr/>
        </p:nvSpPr>
        <p:spPr>
          <a:xfrm>
            <a:off x="3962400" y="3982329"/>
            <a:ext cx="4152900" cy="707886"/>
          </a:xfrm>
          <a:prstGeom prst="rect">
            <a:avLst/>
          </a:prstGeom>
          <a:noFill/>
          <a:ln w="38100">
            <a:solidFill>
              <a:schemeClr val="tx1"/>
            </a:solidFill>
          </a:ln>
        </p:spPr>
        <p:txBody>
          <a:bodyPr wrap="square" rtlCol="0">
            <a:spAutoFit/>
          </a:bodyPr>
          <a:lstStyle/>
          <a:p>
            <a:pPr algn="ctr"/>
            <a:r>
              <a:rPr lang="en-US" sz="4000" dirty="0">
                <a:solidFill>
                  <a:srgbClr val="00B050"/>
                </a:solidFill>
              </a:rPr>
              <a:t>Income - Expenses</a:t>
            </a:r>
          </a:p>
        </p:txBody>
      </p:sp>
      <p:sp>
        <p:nvSpPr>
          <p:cNvPr id="8" name="Title 1"/>
          <p:cNvSpPr txBox="1">
            <a:spLocks/>
          </p:cNvSpPr>
          <p:nvPr/>
        </p:nvSpPr>
        <p:spPr>
          <a:xfrm>
            <a:off x="457200" y="381000"/>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t>Accounting Equation Cont.</a:t>
            </a:r>
          </a:p>
        </p:txBody>
      </p:sp>
    </p:spTree>
    <p:extLst>
      <p:ext uri="{BB962C8B-B14F-4D97-AF65-F5344CB8AC3E}">
        <p14:creationId xmlns:p14="http://schemas.microsoft.com/office/powerpoint/2010/main" val="4132181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476250" y="609600"/>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Accounting Equation Cont. </a:t>
            </a:r>
          </a:p>
        </p:txBody>
      </p:sp>
      <p:sp>
        <p:nvSpPr>
          <p:cNvPr id="3" name="TextBox 2"/>
          <p:cNvSpPr txBox="1"/>
          <p:nvPr/>
        </p:nvSpPr>
        <p:spPr>
          <a:xfrm>
            <a:off x="304800" y="2286000"/>
            <a:ext cx="8572500" cy="1323439"/>
          </a:xfrm>
          <a:prstGeom prst="rect">
            <a:avLst/>
          </a:prstGeom>
          <a:noFill/>
          <a:ln w="38100">
            <a:solidFill>
              <a:schemeClr val="tx1"/>
            </a:solidFill>
          </a:ln>
        </p:spPr>
        <p:txBody>
          <a:bodyPr wrap="square" rtlCol="0">
            <a:spAutoFit/>
          </a:bodyPr>
          <a:lstStyle/>
          <a:p>
            <a:pPr algn="ctr"/>
            <a:r>
              <a:rPr lang="en-US" sz="4000" dirty="0">
                <a:solidFill>
                  <a:srgbClr val="FF0000"/>
                </a:solidFill>
              </a:rPr>
              <a:t>Assets = Capital + </a:t>
            </a:r>
            <a:r>
              <a:rPr lang="en-US" sz="4000" b="1" dirty="0">
                <a:solidFill>
                  <a:srgbClr val="0070C0"/>
                </a:solidFill>
              </a:rPr>
              <a:t>Income – Expenses </a:t>
            </a:r>
            <a:r>
              <a:rPr lang="en-US" sz="4000" b="1" dirty="0">
                <a:solidFill>
                  <a:srgbClr val="FF0000"/>
                </a:solidFill>
              </a:rPr>
              <a:t>+</a:t>
            </a:r>
            <a:r>
              <a:rPr lang="en-US" sz="4000" dirty="0">
                <a:solidFill>
                  <a:srgbClr val="FF0000"/>
                </a:solidFill>
              </a:rPr>
              <a:t> Liability</a:t>
            </a:r>
          </a:p>
        </p:txBody>
      </p:sp>
    </p:spTree>
    <p:extLst>
      <p:ext uri="{BB962C8B-B14F-4D97-AF65-F5344CB8AC3E}">
        <p14:creationId xmlns:p14="http://schemas.microsoft.com/office/powerpoint/2010/main" val="16224960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6321" y="2590800"/>
            <a:ext cx="8572500" cy="1323439"/>
          </a:xfrm>
          <a:prstGeom prst="rect">
            <a:avLst/>
          </a:prstGeom>
          <a:noFill/>
          <a:ln w="38100">
            <a:solidFill>
              <a:schemeClr val="tx1"/>
            </a:solidFill>
          </a:ln>
        </p:spPr>
        <p:txBody>
          <a:bodyPr wrap="square" rtlCol="0">
            <a:spAutoFit/>
          </a:bodyPr>
          <a:lstStyle/>
          <a:p>
            <a:pPr algn="ctr"/>
            <a:r>
              <a:rPr lang="en-US" sz="4000" dirty="0">
                <a:solidFill>
                  <a:srgbClr val="FF0000"/>
                </a:solidFill>
              </a:rPr>
              <a:t>Assets + </a:t>
            </a:r>
            <a:r>
              <a:rPr lang="en-US" sz="4000" dirty="0">
                <a:solidFill>
                  <a:srgbClr val="0070C0"/>
                </a:solidFill>
              </a:rPr>
              <a:t>Expenses</a:t>
            </a:r>
            <a:r>
              <a:rPr lang="en-US" sz="4000" dirty="0">
                <a:solidFill>
                  <a:srgbClr val="FF0000"/>
                </a:solidFill>
              </a:rPr>
              <a:t> = Capital + </a:t>
            </a:r>
            <a:r>
              <a:rPr lang="en-US" sz="4000" dirty="0">
                <a:solidFill>
                  <a:srgbClr val="0070C0"/>
                </a:solidFill>
              </a:rPr>
              <a:t>Income</a:t>
            </a:r>
            <a:r>
              <a:rPr lang="en-US" sz="4000" b="1" dirty="0">
                <a:solidFill>
                  <a:srgbClr val="0070C0"/>
                </a:solidFill>
              </a:rPr>
              <a:t> </a:t>
            </a:r>
            <a:r>
              <a:rPr lang="en-US" sz="4000" b="1" dirty="0">
                <a:solidFill>
                  <a:srgbClr val="FF0000"/>
                </a:solidFill>
              </a:rPr>
              <a:t>+</a:t>
            </a:r>
            <a:r>
              <a:rPr lang="en-US" sz="4000" dirty="0">
                <a:solidFill>
                  <a:srgbClr val="FF0000"/>
                </a:solidFill>
              </a:rPr>
              <a:t> 			Liability</a:t>
            </a:r>
          </a:p>
        </p:txBody>
      </p:sp>
      <p:sp>
        <p:nvSpPr>
          <p:cNvPr id="3" name="Title 1"/>
          <p:cNvSpPr txBox="1">
            <a:spLocks/>
          </p:cNvSpPr>
          <p:nvPr/>
        </p:nvSpPr>
        <p:spPr>
          <a:xfrm>
            <a:off x="476250" y="609600"/>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a:t>Accounting Equation Cont. </a:t>
            </a:r>
          </a:p>
        </p:txBody>
      </p:sp>
    </p:spTree>
    <p:extLst>
      <p:ext uri="{BB962C8B-B14F-4D97-AF65-F5344CB8AC3E}">
        <p14:creationId xmlns:p14="http://schemas.microsoft.com/office/powerpoint/2010/main" val="1559654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1488</TotalTime>
  <Words>763</Words>
  <Application>Microsoft Office PowerPoint</Application>
  <PresentationFormat>On-screen Show (4:3)</PresentationFormat>
  <Paragraphs>182</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Wingdings</vt:lpstr>
      <vt:lpstr>Office Theme</vt:lpstr>
      <vt:lpstr>PowerPoint Presentation</vt:lpstr>
      <vt:lpstr>PowerPoint Presentation</vt:lpstr>
      <vt:lpstr>Accounting as a Process</vt:lpstr>
      <vt:lpstr>Accounting - definition</vt:lpstr>
      <vt:lpstr>Users of financial statements</vt:lpstr>
      <vt:lpstr>Basic Accounting Terminology</vt:lpstr>
      <vt:lpstr>Assets</vt:lpstr>
      <vt:lpstr>Assets Cont.…</vt:lpstr>
      <vt:lpstr>Liabilities</vt:lpstr>
      <vt:lpstr>Equity</vt:lpstr>
      <vt:lpstr>Revenue or Income</vt:lpstr>
      <vt:lpstr>Expenses</vt:lpstr>
      <vt:lpstr>Accounting Concepts and Principles</vt:lpstr>
      <vt:lpstr> Business Entity Concept </vt:lpstr>
      <vt:lpstr>Going concern concept </vt:lpstr>
      <vt:lpstr>Money Measurement Concept </vt:lpstr>
      <vt:lpstr>Accounting Period Concept </vt:lpstr>
      <vt:lpstr>Cost Principle</vt:lpstr>
      <vt:lpstr>Duality Principle </vt:lpstr>
      <vt:lpstr>Accrual Principle </vt:lpstr>
      <vt:lpstr>Matching Principle</vt:lpstr>
      <vt:lpstr>Consistency Principle</vt:lpstr>
      <vt:lpstr>Materiality Principle </vt:lpstr>
      <vt:lpstr>Full Disclosure Principle </vt:lpstr>
      <vt:lpstr>Financial Accounting vs. Management Accounting</vt:lpstr>
      <vt:lpstr>Accounting Equation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 definition</dc:title>
  <dc:creator>Danisha</dc:creator>
  <cp:lastModifiedBy>Danisha De Mel</cp:lastModifiedBy>
  <cp:revision>100</cp:revision>
  <dcterms:created xsi:type="dcterms:W3CDTF">2015-07-28T09:26:16Z</dcterms:created>
  <dcterms:modified xsi:type="dcterms:W3CDTF">2022-06-13T09:55:05Z</dcterms:modified>
</cp:coreProperties>
</file>