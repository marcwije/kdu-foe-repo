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301" r:id="rId3"/>
    <p:sldId id="305" r:id="rId4"/>
    <p:sldId id="322"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0" r:id="rId23"/>
    <p:sldId id="341" r:id="rId24"/>
    <p:sldId id="342" r:id="rId25"/>
    <p:sldId id="343" r:id="rId26"/>
    <p:sldId id="344" r:id="rId27"/>
    <p:sldId id="345" r:id="rId28"/>
    <p:sldId id="31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cas" initials="J R" lastIdx="1" clrIdx="0">
    <p:extLst>
      <p:ext uri="{19B8F6BF-5375-455C-9EA6-DF929625EA0E}">
        <p15:presenceInfo xmlns:p15="http://schemas.microsoft.com/office/powerpoint/2012/main" userId="Luc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79528" autoAdjust="0"/>
  </p:normalViewPr>
  <p:slideViewPr>
    <p:cSldViewPr snapToGrid="0">
      <p:cViewPr varScale="1">
        <p:scale>
          <a:sx n="64" d="100"/>
          <a:sy n="64" d="100"/>
        </p:scale>
        <p:origin x="684"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2.wmf"/><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413385-33B6-432C-BCB5-D28242722B6F}" type="datetimeFigureOut">
              <a:rPr lang="en-GB" smtClean="0"/>
              <a:t>18/07/2020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4AAFD-141F-4056-A367-1845A08BF131}" type="slidenum">
              <a:rPr lang="en-GB" smtClean="0"/>
              <a:t>‹#›</a:t>
            </a:fld>
            <a:endParaRPr lang="en-GB"/>
          </a:p>
        </p:txBody>
      </p:sp>
    </p:spTree>
    <p:extLst>
      <p:ext uri="{BB962C8B-B14F-4D97-AF65-F5344CB8AC3E}">
        <p14:creationId xmlns:p14="http://schemas.microsoft.com/office/powerpoint/2010/main" val="25832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Today, you will listen to my recorded presentation on the topic “</a:t>
            </a:r>
            <a:r>
              <a:rPr lang="en-GB" sz="1200" b="1" spc="-4" dirty="0">
                <a:solidFill>
                  <a:srgbClr val="A30000"/>
                </a:solidFill>
              </a:rPr>
              <a:t>AC Circuits</a:t>
            </a:r>
            <a:r>
              <a:rPr lang="en-US" dirty="0">
                <a:solidFill>
                  <a:schemeClr val="tx1"/>
                </a:solidFill>
              </a:rPr>
              <a:t>” in the module Theory of Electricity.  </a:t>
            </a:r>
          </a:p>
          <a:p>
            <a:r>
              <a:rPr lang="en-US" dirty="0">
                <a:solidFill>
                  <a:schemeClr val="tx1"/>
                </a:solidFill>
              </a:rPr>
              <a:t>This is an examinable module, and this lecture will be considered as part of the delivered lectures for the module.  </a:t>
            </a:r>
          </a:p>
          <a:p>
            <a:r>
              <a:rPr lang="en-US" dirty="0">
                <a:solidFill>
                  <a:schemeClr val="tx1"/>
                </a:solidFill>
              </a:rPr>
              <a:t>I will try and record this module to be as close as possible to a live lecture in the classroom.  However, you will not be able to ask online questions “but” get clarifications from me by an email.  </a:t>
            </a:r>
            <a:endParaRPr lang="en-GB"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E7AF17-32A2-4BCF-8664-2B97A4DCC40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434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a:t>
            </a:fld>
            <a:endParaRPr lang="en-GB"/>
          </a:p>
        </p:txBody>
      </p:sp>
    </p:spTree>
    <p:extLst>
      <p:ext uri="{BB962C8B-B14F-4D97-AF65-F5344CB8AC3E}">
        <p14:creationId xmlns:p14="http://schemas.microsoft.com/office/powerpoint/2010/main" val="184211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a:t>
            </a:fld>
            <a:endParaRPr lang="en-GB"/>
          </a:p>
        </p:txBody>
      </p:sp>
    </p:spTree>
    <p:extLst>
      <p:ext uri="{BB962C8B-B14F-4D97-AF65-F5344CB8AC3E}">
        <p14:creationId xmlns:p14="http://schemas.microsoft.com/office/powerpoint/2010/main" val="3630815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9</a:t>
            </a:fld>
            <a:endParaRPr lang="en-GB"/>
          </a:p>
        </p:txBody>
      </p:sp>
    </p:spTree>
    <p:extLst>
      <p:ext uri="{BB962C8B-B14F-4D97-AF65-F5344CB8AC3E}">
        <p14:creationId xmlns:p14="http://schemas.microsoft.com/office/powerpoint/2010/main" val="1626660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13</a:t>
            </a:fld>
            <a:endParaRPr lang="en-GB"/>
          </a:p>
        </p:txBody>
      </p:sp>
    </p:spTree>
    <p:extLst>
      <p:ext uri="{BB962C8B-B14F-4D97-AF65-F5344CB8AC3E}">
        <p14:creationId xmlns:p14="http://schemas.microsoft.com/office/powerpoint/2010/main" val="3424858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Although reactive power does not consume any energy, it reduces the power factor below unity.  </a:t>
            </a:r>
            <a:endParaRPr lang="en-GB" sz="12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solidFill>
                <a:srgbClr val="002060"/>
              </a:solidFill>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002060"/>
                </a:solidFill>
                <a:latin typeface="Times New Roman" panose="02020603050405020304" pitchFamily="18" charset="0"/>
                <a:ea typeface="Calibri" panose="020F0502020204030204" pitchFamily="34" charset="0"/>
              </a:rPr>
              <a:t>Thus supply authorities encourage industries to improve their power factors to be close to unity.</a:t>
            </a:r>
            <a:endParaRPr lang="en-GB" sz="1200"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23</a:t>
            </a:fld>
            <a:endParaRPr lang="en-GB"/>
          </a:p>
        </p:txBody>
      </p:sp>
    </p:spTree>
    <p:extLst>
      <p:ext uri="{BB962C8B-B14F-4D97-AF65-F5344CB8AC3E}">
        <p14:creationId xmlns:p14="http://schemas.microsoft.com/office/powerpoint/2010/main" val="149804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9750" y="0"/>
            <a:ext cx="8296275" cy="4667250"/>
          </a:xfrm>
        </p:spPr>
      </p:sp>
      <p:sp>
        <p:nvSpPr>
          <p:cNvPr id="3" name="Notes Placeholder 2"/>
          <p:cNvSpPr>
            <a:spLocks noGrp="1"/>
          </p:cNvSpPr>
          <p:nvPr>
            <p:ph type="body" idx="1"/>
          </p:nvPr>
        </p:nvSpPr>
        <p:spPr>
          <a:xfrm>
            <a:off x="307975" y="4700266"/>
            <a:ext cx="8759825" cy="2465581"/>
          </a:xfrm>
        </p:spPr>
        <p:txBody>
          <a:bodyPr/>
          <a:lstStyle/>
          <a:p>
            <a:r>
              <a:rPr lang="en-US" sz="1400" dirty="0"/>
              <a:t>You have now listened to my recorded presentation on the topic Review of basic electrical components and the review of ac theory in the section Alternating Current Circuits in the module Theory of Electricity.</a:t>
            </a:r>
          </a:p>
          <a:p>
            <a:pPr marL="0" indent="0">
              <a:buFont typeface="Wingdings" panose="05000000000000000000" pitchFamily="2" charset="2"/>
              <a:buNone/>
            </a:pPr>
            <a:r>
              <a:rPr lang="en-US" sz="1400" dirty="0"/>
              <a:t>Hope you were able to follow the lectures.</a:t>
            </a:r>
          </a:p>
          <a:p>
            <a:endParaRPr lang="en-GB" sz="1400" dirty="0"/>
          </a:p>
        </p:txBody>
      </p:sp>
      <p:sp>
        <p:nvSpPr>
          <p:cNvPr id="4" name="Slide Number Placeholder 3"/>
          <p:cNvSpPr>
            <a:spLocks noGrp="1"/>
          </p:cNvSpPr>
          <p:nvPr>
            <p:ph type="sldNum" sz="quarter" idx="5"/>
          </p:nvPr>
        </p:nvSpPr>
        <p:spPr>
          <a:xfrm>
            <a:off x="6781800" y="6948170"/>
            <a:ext cx="2817179" cy="367031"/>
          </a:xfrm>
          <a:prstGeom prst="rect">
            <a:avLst/>
          </a:prstGeom>
        </p:spPr>
        <p:txBody>
          <a:bodyPr/>
          <a:lstStyle/>
          <a:p>
            <a:fld id="{43E7AF17-32A2-4BCF-8664-2B97A4DCC405}" type="slidenum">
              <a:rPr lang="en-GB" smtClean="0"/>
              <a:t>27</a:t>
            </a:fld>
            <a:endParaRPr lang="en-GB" dirty="0"/>
          </a:p>
        </p:txBody>
      </p:sp>
    </p:spTree>
    <p:extLst>
      <p:ext uri="{BB962C8B-B14F-4D97-AF65-F5344CB8AC3E}">
        <p14:creationId xmlns:p14="http://schemas.microsoft.com/office/powerpoint/2010/main" val="2269872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8DE-CD73-4994-BB42-9A633DA0AB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D8D3E0B-20EC-4D0C-BDEC-5F64CC445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0574F8-A3DB-48D2-9728-3D6E3664C354}"/>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5" name="Footer Placeholder 4">
            <a:extLst>
              <a:ext uri="{FF2B5EF4-FFF2-40B4-BE49-F238E27FC236}">
                <a16:creationId xmlns:a16="http://schemas.microsoft.com/office/drawing/2014/main" id="{93EC6304-CDC6-49A6-B285-393CB01859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CA9079-5455-4256-A07C-9493AC33F46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60697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90CB-4690-4A91-8AF9-083DC561B09F}"/>
              </a:ext>
            </a:extLst>
          </p:cNvPr>
          <p:cNvSpPr>
            <a:spLocks noGrp="1"/>
          </p:cNvSpPr>
          <p:nvPr>
            <p:ph type="title"/>
          </p:nvPr>
        </p:nvSpPr>
        <p:spPr>
          <a:xfrm>
            <a:off x="429715" y="634543"/>
            <a:ext cx="10924085" cy="482745"/>
          </a:xfrm>
        </p:spPr>
        <p:txBody>
          <a:bodyPr>
            <a:normAutofit/>
          </a:bodyPr>
          <a:lstStyle>
            <a:lvl1pPr algn="ctr">
              <a:defRPr sz="3200" b="1">
                <a:solidFill>
                  <a:srgbClr val="C00000"/>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0584F62-959D-4731-9C9B-E08757CDB6EE}"/>
              </a:ext>
            </a:extLst>
          </p:cNvPr>
          <p:cNvSpPr>
            <a:spLocks noGrp="1"/>
          </p:cNvSpPr>
          <p:nvPr>
            <p:ph idx="1"/>
          </p:nvPr>
        </p:nvSpPr>
        <p:spPr>
          <a:xfrm>
            <a:off x="429715" y="1208323"/>
            <a:ext cx="11360503" cy="4024078"/>
          </a:xfrm>
        </p:spPr>
        <p:txBody>
          <a:bodyPr>
            <a:normAutofit/>
          </a:bodyPr>
          <a:lstStyle>
            <a:lvl1pPr>
              <a:defRPr sz="3600">
                <a:solidFill>
                  <a:srgbClr val="002060"/>
                </a:solidFill>
              </a:defRPr>
            </a:lvl1pPr>
            <a:lvl2pPr>
              <a:defRPr sz="3200">
                <a:solidFill>
                  <a:srgbClr val="002060"/>
                </a:solidFill>
              </a:defRPr>
            </a:lvl2pPr>
            <a:lvl3pPr>
              <a:defRPr sz="2800">
                <a:solidFill>
                  <a:srgbClr val="002060"/>
                </a:solidFill>
              </a:defRPr>
            </a:lvl3pPr>
            <a:lvl4pPr>
              <a:defRPr sz="2400">
                <a:solidFill>
                  <a:srgbClr val="002060"/>
                </a:solidFill>
              </a:defRPr>
            </a:lvl4pPr>
            <a:lvl5pPr>
              <a:defRPr sz="24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object 2">
            <a:extLst>
              <a:ext uri="{FF2B5EF4-FFF2-40B4-BE49-F238E27FC236}">
                <a16:creationId xmlns:a16="http://schemas.microsoft.com/office/drawing/2014/main" id="{B1DDA2E2-A596-4428-8BCB-4DAC8028B274}"/>
              </a:ext>
            </a:extLst>
          </p:cNvPr>
          <p:cNvSpPr txBox="1"/>
          <p:nvPr userDrawn="1"/>
        </p:nvSpPr>
        <p:spPr>
          <a:xfrm>
            <a:off x="566702" y="313267"/>
            <a:ext cx="8989252" cy="230242"/>
          </a:xfrm>
          <a:prstGeom prst="rect">
            <a:avLst/>
          </a:prstGeom>
        </p:spPr>
        <p:txBody>
          <a:bodyPr vert="horz" wrap="square" lIns="0" tIns="11289" rIns="0" bIns="0" rtlCol="0">
            <a:spAutoFit/>
          </a:bodyPr>
          <a:lstStyle/>
          <a:p>
            <a:pPr marL="11289" marR="0" lvl="0" indent="0" algn="l" defTabSz="914400" rtl="0" eaLnBrk="1" fontAlgn="auto" latinLnBrk="0" hangingPunct="1">
              <a:lnSpc>
                <a:spcPct val="100000"/>
              </a:lnSpc>
              <a:spcBef>
                <a:spcPts val="89"/>
              </a:spcBef>
              <a:spcAft>
                <a:spcPts val="0"/>
              </a:spcAft>
              <a:buClrTx/>
              <a:buSzTx/>
              <a:buFontTx/>
              <a:buNone/>
              <a:tabLst>
                <a:tab pos="4765664" algn="l"/>
              </a:tabLst>
              <a:defRPr/>
            </a:pPr>
            <a:r>
              <a:rPr kumimoji="0" sz="1422" b="0" i="0" u="none" strike="noStrike" kern="1200" cap="none" spc="-4" normalizeH="0" baseline="0" noProof="0" dirty="0">
                <a:ln>
                  <a:noFill/>
                </a:ln>
                <a:solidFill>
                  <a:prstClr val="black"/>
                </a:solidFill>
                <a:effectLst/>
                <a:uLnTx/>
                <a:uFillTx/>
                <a:latin typeface="Arial"/>
                <a:ea typeface="+mn-ea"/>
                <a:cs typeface="Arial"/>
              </a:rPr>
              <a:t>EE </a:t>
            </a:r>
            <a:r>
              <a:rPr kumimoji="0" sz="1422" b="0" i="0" u="none" strike="noStrike" kern="1200" cap="none" spc="-9" normalizeH="0" baseline="0" noProof="0" dirty="0">
                <a:ln>
                  <a:noFill/>
                </a:ln>
                <a:solidFill>
                  <a:prstClr val="black"/>
                </a:solidFill>
                <a:effectLst/>
                <a:uLnTx/>
                <a:uFillTx/>
                <a:latin typeface="Arial"/>
                <a:ea typeface="+mn-ea"/>
                <a:cs typeface="Arial"/>
              </a:rPr>
              <a:t>1</a:t>
            </a:r>
            <a:r>
              <a:rPr kumimoji="0" lang="en-US" sz="1422" b="0" i="0" u="none" strike="noStrike" kern="1200" cap="none" spc="-9" normalizeH="0" baseline="0" noProof="0" dirty="0">
                <a:ln>
                  <a:noFill/>
                </a:ln>
                <a:solidFill>
                  <a:prstClr val="black"/>
                </a:solidFill>
                <a:effectLst/>
                <a:uLnTx/>
                <a:uFillTx/>
                <a:latin typeface="Arial"/>
                <a:ea typeface="+mn-ea"/>
                <a:cs typeface="Arial"/>
              </a:rPr>
              <a:t>203Theory of Electricity</a:t>
            </a:r>
            <a:r>
              <a:rPr kumimoji="0" sz="1422" b="0" i="0" u="none" strike="noStrike" kern="1200" cap="none" spc="-13" normalizeH="0" baseline="0" noProof="0" dirty="0">
                <a:ln>
                  <a:noFill/>
                </a:ln>
                <a:solidFill>
                  <a:prstClr val="black"/>
                </a:solidFill>
                <a:effectLst/>
                <a:uLnTx/>
                <a:uFillTx/>
                <a:latin typeface="Arial"/>
                <a:ea typeface="+mn-ea"/>
                <a:cs typeface="Arial"/>
              </a:rPr>
              <a:t>	</a:t>
            </a:r>
            <a:r>
              <a:rPr kumimoji="0" lang="en-US" sz="1422" b="0" i="0" u="none" strike="noStrike" kern="1200" cap="none" spc="-4" normalizeH="0" baseline="0" noProof="0" dirty="0">
                <a:ln>
                  <a:noFill/>
                </a:ln>
                <a:solidFill>
                  <a:prstClr val="black"/>
                </a:solidFill>
                <a:effectLst/>
                <a:uLnTx/>
                <a:uFillTx/>
                <a:latin typeface="Arial"/>
                <a:ea typeface="+mn-ea"/>
                <a:cs typeface="Arial"/>
              </a:rPr>
              <a:t>AC Circuits</a:t>
            </a:r>
            <a:endParaRPr kumimoji="0" sz="1422" b="0" i="0" u="none" strike="noStrike" kern="1200" cap="none" spc="0" normalizeH="0" baseline="0" noProof="0" dirty="0">
              <a:ln>
                <a:noFill/>
              </a:ln>
              <a:solidFill>
                <a:prstClr val="black"/>
              </a:solidFill>
              <a:effectLst/>
              <a:uLnTx/>
              <a:uFillTx/>
              <a:latin typeface="Arial"/>
              <a:ea typeface="+mn-ea"/>
              <a:cs typeface="Arial"/>
            </a:endParaRPr>
          </a:p>
        </p:txBody>
      </p:sp>
      <p:sp>
        <p:nvSpPr>
          <p:cNvPr id="8" name="object 17">
            <a:extLst>
              <a:ext uri="{FF2B5EF4-FFF2-40B4-BE49-F238E27FC236}">
                <a16:creationId xmlns:a16="http://schemas.microsoft.com/office/drawing/2014/main" id="{D9290862-A2B6-4690-8DD9-3E247011FE75}"/>
              </a:ext>
            </a:extLst>
          </p:cNvPr>
          <p:cNvSpPr txBox="1">
            <a:spLocks/>
          </p:cNvSpPr>
          <p:nvPr userDrawn="1"/>
        </p:nvSpPr>
        <p:spPr>
          <a:xfrm>
            <a:off x="429714" y="6631631"/>
            <a:ext cx="2871425" cy="169277"/>
          </a:xfrm>
          <a:prstGeom prst="rect">
            <a:avLst/>
          </a:prstGeom>
        </p:spPr>
        <p:txBody>
          <a:bodyPr vert="horz" wrap="square" lIns="0" tIns="0" rIns="0" bIns="0" rtlCol="0" anchor="ctr">
            <a:spAutoFit/>
          </a:bodyPr>
          <a:lstStyle>
            <a:defPPr>
              <a:defRPr lang="en-US"/>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89">
              <a:spcBef>
                <a:spcPts val="22"/>
              </a:spcBef>
            </a:pPr>
            <a:r>
              <a:rPr lang="en-US" sz="1100" spc="-5" dirty="0" err="1">
                <a:solidFill>
                  <a:prstClr val="black"/>
                </a:solidFill>
              </a:rPr>
              <a:t>KDU</a:t>
            </a:r>
            <a:r>
              <a:rPr lang="en-US" sz="1100" spc="-5" dirty="0">
                <a:solidFill>
                  <a:prstClr val="black"/>
                </a:solidFill>
              </a:rPr>
              <a:t> </a:t>
            </a:r>
            <a:r>
              <a:rPr lang="en-US" sz="1100" dirty="0">
                <a:solidFill>
                  <a:prstClr val="black"/>
                </a:solidFill>
              </a:rPr>
              <a:t>– </a:t>
            </a:r>
            <a:r>
              <a:rPr lang="en-US" sz="1100" spc="-10" dirty="0">
                <a:solidFill>
                  <a:prstClr val="black"/>
                </a:solidFill>
              </a:rPr>
              <a:t>Prepared </a:t>
            </a:r>
            <a:r>
              <a:rPr lang="en-US" sz="1100" spc="-5" dirty="0">
                <a:solidFill>
                  <a:prstClr val="black"/>
                </a:solidFill>
              </a:rPr>
              <a:t>by Prof </a:t>
            </a:r>
            <a:r>
              <a:rPr lang="en-US" sz="1100" dirty="0">
                <a:solidFill>
                  <a:prstClr val="black"/>
                </a:solidFill>
              </a:rPr>
              <a:t>J R</a:t>
            </a:r>
            <a:r>
              <a:rPr lang="en-US" sz="1100" spc="-155" dirty="0">
                <a:solidFill>
                  <a:prstClr val="black"/>
                </a:solidFill>
              </a:rPr>
              <a:t> </a:t>
            </a:r>
            <a:r>
              <a:rPr lang="en-US" sz="1100" spc="-10" dirty="0">
                <a:solidFill>
                  <a:prstClr val="black"/>
                </a:solidFill>
              </a:rPr>
              <a:t>Lucas/July2020</a:t>
            </a:r>
            <a:endParaRPr lang="en-US" sz="3600" spc="-9" dirty="0">
              <a:solidFill>
                <a:prstClr val="black"/>
              </a:solidFill>
            </a:endParaRPr>
          </a:p>
        </p:txBody>
      </p:sp>
      <p:pic>
        <p:nvPicPr>
          <p:cNvPr id="9" name="Picture 8" descr="A close up of a logo&#10;&#10;Description automatically generated">
            <a:extLst>
              <a:ext uri="{FF2B5EF4-FFF2-40B4-BE49-F238E27FC236}">
                <a16:creationId xmlns:a16="http://schemas.microsoft.com/office/drawing/2014/main" id="{BFB1319B-F2FE-4D02-B2A1-51D353FC8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309" y="138184"/>
            <a:ext cx="1051611" cy="795982"/>
          </a:xfrm>
          <a:prstGeom prst="rect">
            <a:avLst/>
          </a:prstGeom>
        </p:spPr>
      </p:pic>
      <p:sp>
        <p:nvSpPr>
          <p:cNvPr id="10" name="Slide Number Placeholder 3">
            <a:extLst>
              <a:ext uri="{FF2B5EF4-FFF2-40B4-BE49-F238E27FC236}">
                <a16:creationId xmlns:a16="http://schemas.microsoft.com/office/drawing/2014/main" id="{E3A613AA-8F10-44E5-AAA9-2159C98886DB}"/>
              </a:ext>
            </a:extLst>
          </p:cNvPr>
          <p:cNvSpPr txBox="1">
            <a:spLocks/>
          </p:cNvSpPr>
          <p:nvPr userDrawn="1"/>
        </p:nvSpPr>
        <p:spPr>
          <a:xfrm>
            <a:off x="11637817" y="110691"/>
            <a:ext cx="512853" cy="3077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1" name="Picture 10">
            <a:extLst>
              <a:ext uri="{FF2B5EF4-FFF2-40B4-BE49-F238E27FC236}">
                <a16:creationId xmlns:a16="http://schemas.microsoft.com/office/drawing/2014/main" id="{86902206-91A7-4F27-8D6F-DA5FC0BA6DA7}"/>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186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FC7-0220-494A-9380-3FBEF410EB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1E399F-8B54-4C68-AA8A-F518B4A436A8}"/>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4" name="Footer Placeholder 3">
            <a:extLst>
              <a:ext uri="{FF2B5EF4-FFF2-40B4-BE49-F238E27FC236}">
                <a16:creationId xmlns:a16="http://schemas.microsoft.com/office/drawing/2014/main" id="{D6E1D7DB-7938-42F5-8AC4-1A18F58150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50C3806-1652-46C9-A784-4DC2410C107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780831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3952-F54C-43E4-819D-E16478102B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4774AF4-CC19-45AD-BA31-BED4748D7D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C6F291-4585-4782-8547-310F87E4A927}"/>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5" name="Footer Placeholder 4">
            <a:extLst>
              <a:ext uri="{FF2B5EF4-FFF2-40B4-BE49-F238E27FC236}">
                <a16:creationId xmlns:a16="http://schemas.microsoft.com/office/drawing/2014/main" id="{BA2327DE-B30C-42C9-B7F5-4107AFDD02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1C9D24-28C4-4CDF-82AB-BFFA36B7DE53}"/>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404321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0785-4E88-4CA2-86E1-86F019D306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105146F-9A20-4634-9640-DB923FED5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7E1E9F-3BB5-44DD-A7F5-F54E36A6A1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30C717-C07F-4031-A0F0-BAE1EEFCA19E}"/>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6" name="Footer Placeholder 5">
            <a:extLst>
              <a:ext uri="{FF2B5EF4-FFF2-40B4-BE49-F238E27FC236}">
                <a16:creationId xmlns:a16="http://schemas.microsoft.com/office/drawing/2014/main" id="{DF3FA273-9C20-4607-AD9E-99C9F5690F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807630-0514-4117-81AB-6B4018D2418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57340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C5A7-54A7-4DDC-BB19-624450B5FC2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2D6B91-9629-487B-AA04-CDED3F814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71CE11-EE39-4B9B-925C-25BE906A88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CF800F-415A-4BE4-9485-23101109D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2BBA2A-D453-44D5-90E0-47E5362B07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7280A6E-D560-419B-A121-807D0C7518D4}"/>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8" name="Footer Placeholder 7">
            <a:extLst>
              <a:ext uri="{FF2B5EF4-FFF2-40B4-BE49-F238E27FC236}">
                <a16:creationId xmlns:a16="http://schemas.microsoft.com/office/drawing/2014/main" id="{8109A7F8-AD71-4A41-A741-E440CD2CEF9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0BB6CE-2807-4B5B-B8BB-E21F862A1A51}"/>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240378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43D5-1AD2-44DC-A040-294715C3334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98D243E-AF43-4039-89E5-CF4D885269C5}"/>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4" name="Footer Placeholder 3">
            <a:extLst>
              <a:ext uri="{FF2B5EF4-FFF2-40B4-BE49-F238E27FC236}">
                <a16:creationId xmlns:a16="http://schemas.microsoft.com/office/drawing/2014/main" id="{A717C297-C40C-44D3-8032-A4875A955BC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81CF6B9-3852-4AB0-9E24-47771C0EECF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234710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C6DF0A-F9D7-4518-84D5-290CE4454CBF}"/>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3" name="Footer Placeholder 2">
            <a:extLst>
              <a:ext uri="{FF2B5EF4-FFF2-40B4-BE49-F238E27FC236}">
                <a16:creationId xmlns:a16="http://schemas.microsoft.com/office/drawing/2014/main" id="{42CD8973-3D6F-42B1-A1AA-89176276B61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6E5179-0F07-4B63-A286-490693193B5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0453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BA1F-9150-473A-8179-BB707ACC0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17237B-6B76-456F-A365-74A8010A5A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7CD164E-D222-4FEB-B058-997535A22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AD164-BB85-4771-B7C0-3CEEC9A35222}"/>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6" name="Footer Placeholder 5">
            <a:extLst>
              <a:ext uri="{FF2B5EF4-FFF2-40B4-BE49-F238E27FC236}">
                <a16:creationId xmlns:a16="http://schemas.microsoft.com/office/drawing/2014/main" id="{F91253B4-F02B-474A-B457-522B68AB95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D8DA2B-F10B-4BE0-A4CB-E0D3DF97A64F}"/>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05816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355D-14D5-4CE8-BB15-D9137835D5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50DCF38-A697-4AC3-AFA1-21F44E5ECA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8F2E1C3-C4B0-4713-BDD3-7F6ADF946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44945-6CC2-49CB-9F2B-64AF3DFF25BB}"/>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6" name="Footer Placeholder 5">
            <a:extLst>
              <a:ext uri="{FF2B5EF4-FFF2-40B4-BE49-F238E27FC236}">
                <a16:creationId xmlns:a16="http://schemas.microsoft.com/office/drawing/2014/main" id="{DA813277-DD44-44D3-956A-3948B0CF70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39D035-B381-4A65-98B9-23F2454C6F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2616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D4A1-573C-456E-BAEE-0617E37674F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A35CBB-1999-49D0-BC17-D62602C06D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A771CE-65C1-49EF-9BB0-45D9315044A7}"/>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5" name="Footer Placeholder 4">
            <a:extLst>
              <a:ext uri="{FF2B5EF4-FFF2-40B4-BE49-F238E27FC236}">
                <a16:creationId xmlns:a16="http://schemas.microsoft.com/office/drawing/2014/main" id="{DC07AAD9-C744-4ED3-9B87-A10F28CC6F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01EE95-F3AB-4292-B883-9FAD20BD7E9D}"/>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108174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A9D67-6881-40C8-BAAE-17422572D0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0F3D56-53A9-471F-A0FB-A30BC215A6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532E34-4E88-42F4-8442-4C31BEEA8360}"/>
              </a:ext>
            </a:extLst>
          </p:cNvPr>
          <p:cNvSpPr>
            <a:spLocks noGrp="1"/>
          </p:cNvSpPr>
          <p:nvPr>
            <p:ph type="dt" sz="half" idx="10"/>
          </p:nvPr>
        </p:nvSpPr>
        <p:spPr/>
        <p:txBody>
          <a:bodyPr/>
          <a:lstStyle/>
          <a:p>
            <a:fld id="{63DC8808-64BE-459B-935E-D1C096534883}" type="datetimeFigureOut">
              <a:rPr lang="en-GB" smtClean="0"/>
              <a:t>18/07/2020</a:t>
            </a:fld>
            <a:endParaRPr lang="en-GB"/>
          </a:p>
        </p:txBody>
      </p:sp>
      <p:sp>
        <p:nvSpPr>
          <p:cNvPr id="5" name="Footer Placeholder 4">
            <a:extLst>
              <a:ext uri="{FF2B5EF4-FFF2-40B4-BE49-F238E27FC236}">
                <a16:creationId xmlns:a16="http://schemas.microsoft.com/office/drawing/2014/main" id="{046EDB72-6935-4C96-80FE-AF9B3EA3B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53DF53-2727-4665-9B73-B2DDACA060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79699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A2A1-591B-4525-9A26-A18AED4DC7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35E6A4F-729B-4436-8F5E-55DFD4A14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8E25BD1-818C-4266-A714-74055694B6C3}"/>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5" name="Footer Placeholder 4">
            <a:extLst>
              <a:ext uri="{FF2B5EF4-FFF2-40B4-BE49-F238E27FC236}">
                <a16:creationId xmlns:a16="http://schemas.microsoft.com/office/drawing/2014/main" id="{AC2A9F59-2071-42B4-974A-410C755148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A12B14-469F-42C5-9784-59A4F89FC37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679843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651A8-FDF3-4778-B628-0633EA827A64}"/>
              </a:ext>
            </a:extLst>
          </p:cNvPr>
          <p:cNvSpPr>
            <a:spLocks noGrp="1"/>
          </p:cNvSpPr>
          <p:nvPr>
            <p:ph type="title"/>
          </p:nvPr>
        </p:nvSpPr>
        <p:spPr>
          <a:xfrm>
            <a:off x="838200" y="365125"/>
            <a:ext cx="10515600" cy="720725"/>
          </a:xfrm>
        </p:spPr>
        <p:txBody>
          <a:bodyPr>
            <a:normAutofit/>
          </a:bodyPr>
          <a:lstStyle>
            <a:lvl1pPr algn="ctr">
              <a:defRPr lang="en-GB" sz="3600" b="1" kern="1200" dirty="0">
                <a:solidFill>
                  <a:srgbClr val="C00000"/>
                </a:solidFill>
                <a:latin typeface="+mj-lt"/>
                <a:ea typeface="+mj-ea"/>
                <a:cs typeface="+mj-cs"/>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65599F8-A323-410E-962C-BADABB09809F}"/>
              </a:ext>
            </a:extLst>
          </p:cNvPr>
          <p:cNvSpPr>
            <a:spLocks noGrp="1"/>
          </p:cNvSpPr>
          <p:nvPr>
            <p:ph idx="1"/>
          </p:nvPr>
        </p:nvSpPr>
        <p:spPr>
          <a:xfrm>
            <a:off x="353291" y="1257300"/>
            <a:ext cx="11514859" cy="4919663"/>
          </a:xfrm>
        </p:spPr>
        <p:txBody>
          <a:bodyPr>
            <a:normAutofit/>
          </a:bodyPr>
          <a:lstStyle>
            <a:lvl1pPr>
              <a:defRPr sz="3200">
                <a:solidFill>
                  <a:srgbClr val="002060"/>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8088C8AB-55D8-450E-B38C-9B132FC0F197}"/>
              </a:ext>
            </a:extLst>
          </p:cNvPr>
          <p:cNvSpPr>
            <a:spLocks noGrp="1"/>
          </p:cNvSpPr>
          <p:nvPr>
            <p:ph type="ftr" sz="quarter" idx="11"/>
          </p:nvPr>
        </p:nvSpPr>
        <p:spPr/>
        <p:txBody>
          <a:bodyPr/>
          <a:lstStyle/>
          <a:p>
            <a:endParaRPr lang="en-GB"/>
          </a:p>
        </p:txBody>
      </p:sp>
      <p:sp>
        <p:nvSpPr>
          <p:cNvPr id="8" name="TextBox 7">
            <a:extLst>
              <a:ext uri="{FF2B5EF4-FFF2-40B4-BE49-F238E27FC236}">
                <a16:creationId xmlns:a16="http://schemas.microsoft.com/office/drawing/2014/main" id="{BF0894F9-5A70-4F72-9BD0-F1E7EEE0F927}"/>
              </a:ext>
            </a:extLst>
          </p:cNvPr>
          <p:cNvSpPr txBox="1"/>
          <p:nvPr userDrawn="1"/>
        </p:nvSpPr>
        <p:spPr>
          <a:xfrm>
            <a:off x="143740" y="6480729"/>
            <a:ext cx="2648097" cy="338554"/>
          </a:xfrm>
          <a:prstGeom prst="rect">
            <a:avLst/>
          </a:prstGeom>
          <a:noFill/>
        </p:spPr>
        <p:txBody>
          <a:bodyPr wrap="none" rtlCol="0">
            <a:spAutoFit/>
          </a:bodyPr>
          <a:lstStyle/>
          <a:p>
            <a:r>
              <a:rPr lang="en-US" sz="1600" dirty="0"/>
              <a:t>Prof J Rohan Lucas/April 2020</a:t>
            </a:r>
            <a:endParaRPr lang="en-GB" sz="1600" dirty="0"/>
          </a:p>
        </p:txBody>
      </p:sp>
      <p:pic>
        <p:nvPicPr>
          <p:cNvPr id="9" name="Picture 8">
            <a:extLst>
              <a:ext uri="{FF2B5EF4-FFF2-40B4-BE49-F238E27FC236}">
                <a16:creationId xmlns:a16="http://schemas.microsoft.com/office/drawing/2014/main" id="{0C812622-06DF-4C31-A9A3-DB231A498E7F}"/>
              </a:ext>
            </a:extLst>
          </p:cNvPr>
          <p:cNvPicPr>
            <a:picLocks noChangeAspect="1"/>
          </p:cNvPicPr>
          <p:nvPr userDrawn="1"/>
        </p:nvPicPr>
        <p:blipFill>
          <a:blip r:embed="rId2"/>
          <a:stretch>
            <a:fillRect/>
          </a:stretch>
        </p:blipFill>
        <p:spPr>
          <a:xfrm>
            <a:off x="109150" y="0"/>
            <a:ext cx="723810" cy="552381"/>
          </a:xfrm>
          <a:prstGeom prst="rect">
            <a:avLst/>
          </a:prstGeom>
        </p:spPr>
      </p:pic>
      <p:sp>
        <p:nvSpPr>
          <p:cNvPr id="10" name="TextBox 9">
            <a:extLst>
              <a:ext uri="{FF2B5EF4-FFF2-40B4-BE49-F238E27FC236}">
                <a16:creationId xmlns:a16="http://schemas.microsoft.com/office/drawing/2014/main" id="{17854FF0-A8F4-4774-BAD1-37B4DF796C39}"/>
              </a:ext>
            </a:extLst>
          </p:cNvPr>
          <p:cNvSpPr txBox="1"/>
          <p:nvPr userDrawn="1"/>
        </p:nvSpPr>
        <p:spPr>
          <a:xfrm>
            <a:off x="554182" y="53395"/>
            <a:ext cx="11000509" cy="369332"/>
          </a:xfrm>
          <a:prstGeom prst="rect">
            <a:avLst/>
          </a:prstGeom>
          <a:noFill/>
        </p:spPr>
        <p:txBody>
          <a:bodyPr wrap="square" rtlCol="0">
            <a:spAutoFit/>
          </a:bodyPr>
          <a:lstStyle/>
          <a:p>
            <a:pPr marL="504825" indent="0">
              <a:tabLst>
                <a:tab pos="5029200" algn="ctr"/>
                <a:tab pos="10683875" algn="r"/>
              </a:tabLst>
            </a:pPr>
            <a:r>
              <a:rPr lang="en-US" sz="1600" dirty="0"/>
              <a:t>High Voltage Engineering 1	</a:t>
            </a:r>
            <a:r>
              <a:rPr lang="en-GB" sz="1800" b="1" kern="1200" dirty="0">
                <a:solidFill>
                  <a:schemeClr val="tx1"/>
                </a:solidFill>
                <a:effectLst/>
                <a:latin typeface="+mn-lt"/>
                <a:ea typeface="+mn-ea"/>
                <a:cs typeface="+mn-cs"/>
              </a:rPr>
              <a:t>High Voltage Cables	</a:t>
            </a:r>
            <a:endParaRPr lang="en-GB" sz="1600" b="0" dirty="0"/>
          </a:p>
        </p:txBody>
      </p:sp>
      <p:sp>
        <p:nvSpPr>
          <p:cNvPr id="11" name="Slide Number Placeholder 3">
            <a:extLst>
              <a:ext uri="{FF2B5EF4-FFF2-40B4-BE49-F238E27FC236}">
                <a16:creationId xmlns:a16="http://schemas.microsoft.com/office/drawing/2014/main" id="{92F4B8B1-3073-4763-B6CE-A6611013B9DE}"/>
              </a:ext>
            </a:extLst>
          </p:cNvPr>
          <p:cNvSpPr txBox="1">
            <a:spLocks/>
          </p:cNvSpPr>
          <p:nvPr userDrawn="1"/>
        </p:nvSpPr>
        <p:spPr>
          <a:xfrm>
            <a:off x="11637818" y="110690"/>
            <a:ext cx="432304" cy="3120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2" name="Picture 11">
            <a:extLst>
              <a:ext uri="{FF2B5EF4-FFF2-40B4-BE49-F238E27FC236}">
                <a16:creationId xmlns:a16="http://schemas.microsoft.com/office/drawing/2014/main" id="{76687116-A6FA-4EC4-948A-D5634ECDB42A}"/>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232712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74FA-E26A-46D6-B929-7C613C025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62B014E-7DE2-42F2-8765-04FB4315EC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5DD7B5-4E82-4D07-B029-61A00ECC1354}"/>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5" name="Footer Placeholder 4">
            <a:extLst>
              <a:ext uri="{FF2B5EF4-FFF2-40B4-BE49-F238E27FC236}">
                <a16:creationId xmlns:a16="http://schemas.microsoft.com/office/drawing/2014/main" id="{C547D658-8E41-4E37-939A-0B2CA6CDC7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3FF8D6-07DA-48D8-AD18-D0A4207FD3B3}"/>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202736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24BB-E08A-475F-A889-2C85385F82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DC726D-4738-401F-83C1-3D2FC8A65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3B8BD1-B507-4610-8F81-599055BEA1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97EE15-D73D-47C9-A475-65326FE6B592}"/>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6" name="Footer Placeholder 5">
            <a:extLst>
              <a:ext uri="{FF2B5EF4-FFF2-40B4-BE49-F238E27FC236}">
                <a16:creationId xmlns:a16="http://schemas.microsoft.com/office/drawing/2014/main" id="{FBF6A158-340E-492B-96F4-52E6D7714F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308F35-AA19-42B6-BCF9-412E2808556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973087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EA92-B2E9-48AC-B4F8-BC4E24D30FD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DE20C0-AE32-4E35-9EBB-0FF6C9230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816D27-7723-45F1-836F-7E8EFC3AF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635F67-EE6A-4834-9E32-DA60C5424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3E882-BBD2-46E6-8452-EE99AF7A85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B52560D-52A9-4A51-A6D3-19198DF972AA}"/>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8" name="Footer Placeholder 7">
            <a:extLst>
              <a:ext uri="{FF2B5EF4-FFF2-40B4-BE49-F238E27FC236}">
                <a16:creationId xmlns:a16="http://schemas.microsoft.com/office/drawing/2014/main" id="{7E7E41DA-510B-4EDC-9016-B9BE55085E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2655B01-722C-46E7-9A92-3198895995A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878930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6D5DD-50BE-4538-9755-1B5CE79B9B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216EF5-F518-4D8F-ACAA-1C6F0912A6AC}"/>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4" name="Footer Placeholder 3">
            <a:extLst>
              <a:ext uri="{FF2B5EF4-FFF2-40B4-BE49-F238E27FC236}">
                <a16:creationId xmlns:a16="http://schemas.microsoft.com/office/drawing/2014/main" id="{8B1DA837-E573-4AFA-9AC2-49D7071843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B97314E-E4DE-4A9B-9CFB-F543408919BB}"/>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756104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A4D9F-3842-4C3A-AEFC-01B03C3B315F}"/>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3" name="Footer Placeholder 2">
            <a:extLst>
              <a:ext uri="{FF2B5EF4-FFF2-40B4-BE49-F238E27FC236}">
                <a16:creationId xmlns:a16="http://schemas.microsoft.com/office/drawing/2014/main" id="{09BC0069-0AF0-4465-96F0-D7270CE992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2B8CEB6-044C-4FC9-ADBC-1D11BE21D6C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72934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1AEB-D33F-4EAD-8CA0-87B8E8F47B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A63AE9-01D9-48D7-B5CB-57ED1822A8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630CEF0-5868-43E6-BEB2-097B0E4AD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5C560-2623-4603-A6A1-8614FDE98452}"/>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6" name="Footer Placeholder 5">
            <a:extLst>
              <a:ext uri="{FF2B5EF4-FFF2-40B4-BE49-F238E27FC236}">
                <a16:creationId xmlns:a16="http://schemas.microsoft.com/office/drawing/2014/main" id="{BC7C8641-D0C0-40F8-BE2B-B72395C45A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2D1BC4-C0F9-491C-ADCF-A858A0ED253C}"/>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574491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E6EF-6F8D-487C-AF39-D8AAB5B5F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8493A3A-E94A-4380-8589-4570807DB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4802534-C727-408D-ABD2-825C1D286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D1941-7764-49DA-B982-7D13931B2E00}"/>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6" name="Footer Placeholder 5">
            <a:extLst>
              <a:ext uri="{FF2B5EF4-FFF2-40B4-BE49-F238E27FC236}">
                <a16:creationId xmlns:a16="http://schemas.microsoft.com/office/drawing/2014/main" id="{735E193D-2426-4637-866B-85A4B78264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C56C82-5DCB-4DBE-9E04-DE8850D2DCC8}"/>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079106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6FCA-C8A0-450D-8598-11900CCBC6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2FAAD8-BD77-45BD-81A6-3AEDC1F817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DABCCD-B3E7-40A3-8FA2-5E4D883BC4CF}"/>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5" name="Footer Placeholder 4">
            <a:extLst>
              <a:ext uri="{FF2B5EF4-FFF2-40B4-BE49-F238E27FC236}">
                <a16:creationId xmlns:a16="http://schemas.microsoft.com/office/drawing/2014/main" id="{9AEF2CD6-9931-4769-8A66-6D1326D655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E8A456-274C-4878-8F46-E30F7F8452F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3680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BC83E-2BBC-4268-931E-5E665CB5E1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6460F5-020D-4420-AD3A-13BE41E223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8F72C6-35B3-489D-97CB-3E931F42F9A0}"/>
              </a:ext>
            </a:extLst>
          </p:cNvPr>
          <p:cNvSpPr>
            <a:spLocks noGrp="1"/>
          </p:cNvSpPr>
          <p:nvPr>
            <p:ph type="dt" sz="half" idx="10"/>
          </p:nvPr>
        </p:nvSpPr>
        <p:spPr/>
        <p:txBody>
          <a:bodyPr/>
          <a:lstStyle/>
          <a:p>
            <a:fld id="{C6BFAEEA-68D7-4B77-8C31-8040F6854DA5}" type="datetimeFigureOut">
              <a:rPr lang="en-GB" smtClean="0"/>
              <a:t>18/07/2020</a:t>
            </a:fld>
            <a:endParaRPr lang="en-GB"/>
          </a:p>
        </p:txBody>
      </p:sp>
      <p:sp>
        <p:nvSpPr>
          <p:cNvPr id="5" name="Footer Placeholder 4">
            <a:extLst>
              <a:ext uri="{FF2B5EF4-FFF2-40B4-BE49-F238E27FC236}">
                <a16:creationId xmlns:a16="http://schemas.microsoft.com/office/drawing/2014/main" id="{8282E2DE-5E4B-4C7A-9BD0-33CE19732F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B8065-7935-4361-B392-4F7C09199016}"/>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44110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5A80AE-56DA-4AB7-9F2F-CAF70E8B6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6876FA-7FD7-48E2-9162-474962FFE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2D6BE8-40DB-4B93-B86D-D09A1134D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DC8808-64BE-459B-935E-D1C096534883}" type="datetimeFigureOut">
              <a:rPr lang="en-GB" smtClean="0"/>
              <a:t>18/07/2020</a:t>
            </a:fld>
            <a:endParaRPr lang="en-GB"/>
          </a:p>
        </p:txBody>
      </p:sp>
      <p:sp>
        <p:nvSpPr>
          <p:cNvPr id="5" name="Footer Placeholder 4">
            <a:extLst>
              <a:ext uri="{FF2B5EF4-FFF2-40B4-BE49-F238E27FC236}">
                <a16:creationId xmlns:a16="http://schemas.microsoft.com/office/drawing/2014/main" id="{B0C6C5ED-8273-4F75-992D-3AE99237D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781DED9-22D4-402C-BD05-2B367BB21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53112-0FCF-4FF3-97FD-CEA299B20DF3}" type="slidenum">
              <a:rPr lang="en-GB" smtClean="0"/>
              <a:t>‹#›</a:t>
            </a:fld>
            <a:endParaRPr lang="en-GB"/>
          </a:p>
        </p:txBody>
      </p:sp>
    </p:spTree>
    <p:extLst>
      <p:ext uri="{BB962C8B-B14F-4D97-AF65-F5344CB8AC3E}">
        <p14:creationId xmlns:p14="http://schemas.microsoft.com/office/powerpoint/2010/main" val="47772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0B399-2484-4E11-AB1D-336B7A94C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832A8F-ABED-4C45-AB22-31F9BCA25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F5EFC3-8B1C-4A71-B826-F69E2780C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FAEEA-68D7-4B77-8C31-8040F6854DA5}" type="datetimeFigureOut">
              <a:rPr lang="en-GB" smtClean="0"/>
              <a:t>18/07/2020</a:t>
            </a:fld>
            <a:endParaRPr lang="en-GB"/>
          </a:p>
        </p:txBody>
      </p:sp>
      <p:sp>
        <p:nvSpPr>
          <p:cNvPr id="5" name="Footer Placeholder 4">
            <a:extLst>
              <a:ext uri="{FF2B5EF4-FFF2-40B4-BE49-F238E27FC236}">
                <a16:creationId xmlns:a16="http://schemas.microsoft.com/office/drawing/2014/main" id="{59B3293F-9F6A-49A9-B93F-35FDCF5825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5C94848-02A4-4E8A-8941-4F7E81352B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135758-0501-428A-A833-B23CBD0F728F}" type="slidenum">
              <a:rPr lang="en-GB" smtClean="0"/>
              <a:t>‹#›</a:t>
            </a:fld>
            <a:endParaRPr lang="en-GB"/>
          </a:p>
        </p:txBody>
      </p:sp>
    </p:spTree>
    <p:extLst>
      <p:ext uri="{BB962C8B-B14F-4D97-AF65-F5344CB8AC3E}">
        <p14:creationId xmlns:p14="http://schemas.microsoft.com/office/powerpoint/2010/main" val="1130220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1.bin"/><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4.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6.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9.wmf"/></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3.png"/><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10.bin"/><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image" Target="../media/image22.wmf"/></Relationships>
</file>

<file path=ppt/slides/_rels/slide15.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5.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image" Target="../media/image22.wmf"/><Relationship Id="rId9"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2.wmf"/><Relationship Id="rId11" Type="http://schemas.openxmlformats.org/officeDocument/2006/relationships/oleObject" Target="../embeddings/oleObject25.bin"/><Relationship Id="rId5" Type="http://schemas.openxmlformats.org/officeDocument/2006/relationships/oleObject" Target="../embeddings/oleObject21.bin"/><Relationship Id="rId10" Type="http://schemas.openxmlformats.org/officeDocument/2006/relationships/image" Target="../media/image24.wmf"/><Relationship Id="rId4" Type="http://schemas.openxmlformats.org/officeDocument/2006/relationships/image" Target="../media/image25.wmf"/><Relationship Id="rId9"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7.wmf"/><Relationship Id="rId5" Type="http://schemas.openxmlformats.org/officeDocument/2006/relationships/oleObject" Target="../embeddings/oleObject27.bin"/><Relationship Id="rId4" Type="http://schemas.openxmlformats.org/officeDocument/2006/relationships/image" Target="../media/image26.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9.wmf"/><Relationship Id="rId5" Type="http://schemas.openxmlformats.org/officeDocument/2006/relationships/oleObject" Target="../embeddings/oleObject29.bin"/><Relationship Id="rId4" Type="http://schemas.openxmlformats.org/officeDocument/2006/relationships/image" Target="../media/image28.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DD01-B154-455A-B4D9-DFF01AC0C3C1}"/>
              </a:ext>
            </a:extLst>
          </p:cNvPr>
          <p:cNvSpPr>
            <a:spLocks noGrp="1"/>
          </p:cNvSpPr>
          <p:nvPr>
            <p:ph type="title"/>
          </p:nvPr>
        </p:nvSpPr>
        <p:spPr>
          <a:xfrm>
            <a:off x="948267" y="2319865"/>
            <a:ext cx="9857458" cy="656590"/>
          </a:xfrm>
        </p:spPr>
        <p:txBody>
          <a:bodyPr>
            <a:normAutofit/>
          </a:bodyPr>
          <a:lstStyle/>
          <a:p>
            <a:pPr algn="ctr"/>
            <a:r>
              <a:rPr lang="en-GB" sz="4000" b="1" dirty="0">
                <a:latin typeface="Times New Roman" panose="02020603050405020304" pitchFamily="18" charset="0"/>
                <a:cs typeface="Times New Roman" panose="02020603050405020304" pitchFamily="18" charset="0"/>
              </a:rPr>
              <a:t>1.0 Review of </a:t>
            </a:r>
            <a:r>
              <a:rPr lang="en-GB" sz="4000" b="1" spc="-4" dirty="0">
                <a:latin typeface="Times New Roman" panose="02020603050405020304" pitchFamily="18" charset="0"/>
                <a:cs typeface="Times New Roman" panose="02020603050405020304" pitchFamily="18" charset="0"/>
              </a:rPr>
              <a:t>AC Circuits</a:t>
            </a:r>
            <a:endParaRPr lang="en-GB"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22518F5-E001-45B5-84BF-6CF8CE6D0467}"/>
              </a:ext>
            </a:extLst>
          </p:cNvPr>
          <p:cNvSpPr>
            <a:spLocks noGrp="1"/>
          </p:cNvSpPr>
          <p:nvPr>
            <p:ph type="body" idx="1"/>
          </p:nvPr>
        </p:nvSpPr>
        <p:spPr>
          <a:xfrm>
            <a:off x="1151467" y="1058333"/>
            <a:ext cx="9654258" cy="656590"/>
          </a:xfrm>
        </p:spPr>
        <p:txBody>
          <a:bodyPr>
            <a:norm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EE1203 – Theory of Electricity</a:t>
            </a:r>
            <a:endParaRPr lang="en-GB" b="1" dirty="0">
              <a:solidFill>
                <a:srgbClr val="C00000"/>
              </a:solidFill>
              <a:latin typeface="Times New Roman" panose="02020603050405020304" pitchFamily="18" charset="0"/>
              <a:cs typeface="Times New Roman" panose="02020603050405020304" pitchFamily="18" charset="0"/>
            </a:endParaRPr>
          </a:p>
        </p:txBody>
      </p:sp>
      <p:sp>
        <p:nvSpPr>
          <p:cNvPr id="5" name="Text Placeholder 2">
            <a:extLst>
              <a:ext uri="{FF2B5EF4-FFF2-40B4-BE49-F238E27FC236}">
                <a16:creationId xmlns:a16="http://schemas.microsoft.com/office/drawing/2014/main" id="{AC65E412-7FA8-4B5C-8E61-D0C3D1CE11B4}"/>
              </a:ext>
            </a:extLst>
          </p:cNvPr>
          <p:cNvSpPr txBox="1">
            <a:spLocks/>
          </p:cNvSpPr>
          <p:nvPr/>
        </p:nvSpPr>
        <p:spPr>
          <a:xfrm>
            <a:off x="1558635" y="3385968"/>
            <a:ext cx="8197380" cy="3282950"/>
          </a:xfrm>
          <a:prstGeom prst="rect">
            <a:avLst/>
          </a:prstGeom>
        </p:spPr>
        <p:txBody>
          <a:bodyPr wrap="square" lIns="0" tIns="0" rIns="0" bIns="0">
            <a:spAutoFit/>
          </a:bodyPr>
          <a:lstStyle>
            <a:lvl1pPr marL="0">
              <a:defRPr sz="32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56" b="1" i="0" u="none" strike="noStrike" kern="0" cap="none" spc="0" normalizeH="0" baseline="0" noProof="0" dirty="0">
                <a:ln>
                  <a:noFill/>
                </a:ln>
                <a:solidFill>
                  <a:srgbClr val="C00000"/>
                </a:solidFill>
                <a:effectLst/>
                <a:uLnTx/>
                <a:uFillTx/>
                <a:latin typeface="Times New Roman"/>
                <a:ea typeface="+mn-ea"/>
                <a:cs typeface="Times New Roman"/>
              </a:rPr>
              <a:t>      Prof J. Rohan Lucas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1" u="none" strike="noStrike" kern="0" cap="none" spc="0" normalizeH="0" baseline="0" noProof="0" dirty="0">
                <a:ln>
                  <a:noFill/>
                </a:ln>
                <a:solidFill>
                  <a:srgbClr val="C00000"/>
                </a:solidFill>
                <a:effectLst/>
                <a:uLnTx/>
                <a:uFillTx/>
                <a:latin typeface="Times New Roman"/>
                <a:ea typeface="+mn-ea"/>
                <a:cs typeface="Times New Roman"/>
              </a:rPr>
              <a:t>lucas@kdu.ac.lk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556"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556"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Department of Electrical, Electronic &amp; Telecommunication 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General Sir John Kotelawala </a:t>
            </a:r>
            <a:r>
              <a:rPr kumimoji="0" lang="en-US" sz="2844" b="0" i="0" u="none" strike="noStrike" kern="0" cap="none" spc="0" normalizeH="0" baseline="0" noProof="0" dirty="0" err="1">
                <a:ln>
                  <a:noFill/>
                </a:ln>
                <a:solidFill>
                  <a:prstClr val="black"/>
                </a:solidFill>
                <a:effectLst/>
                <a:uLnTx/>
                <a:uFillTx/>
                <a:latin typeface="Times New Roman"/>
                <a:ea typeface="+mn-ea"/>
                <a:cs typeface="Times New Roman"/>
              </a:rPr>
              <a:t>Defence</a:t>
            </a: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 University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July 2020</a:t>
            </a:r>
            <a:endParaRPr kumimoji="0" lang="en-GB" sz="2133" b="0" i="0" u="none" strike="noStrike" kern="0" cap="none" spc="0" normalizeH="0" baseline="0" noProof="0" dirty="0">
              <a:ln>
                <a:noFill/>
              </a:ln>
              <a:solidFill>
                <a:prstClr val="black"/>
              </a:solidFill>
              <a:effectLst/>
              <a:uLnTx/>
              <a:uFillTx/>
              <a:latin typeface="Times New Roman"/>
              <a:ea typeface="+mn-ea"/>
              <a:cs typeface="Times New Roman"/>
            </a:endParaRPr>
          </a:p>
        </p:txBody>
      </p:sp>
    </p:spTree>
    <p:custDataLst>
      <p:tags r:id="rId1"/>
    </p:custDataLst>
    <p:extLst>
      <p:ext uri="{BB962C8B-B14F-4D97-AF65-F5344CB8AC3E}">
        <p14:creationId xmlns:p14="http://schemas.microsoft.com/office/powerpoint/2010/main" val="3621768602"/>
      </p:ext>
    </p:extLst>
  </p:cSld>
  <p:clrMapOvr>
    <a:masterClrMapping/>
  </p:clrMapOvr>
  <mc:AlternateContent xmlns:mc="http://schemas.openxmlformats.org/markup-compatibility/2006" xmlns:p14="http://schemas.microsoft.com/office/powerpoint/2010/main">
    <mc:Choice Requires="p14">
      <p:transition spd="slow" p14:dur="2000" advTm="42109"/>
    </mc:Choice>
    <mc:Fallback xmlns="">
      <p:transition spd="slow" advTm="421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03D9-5BBE-47E4-8F66-CC176CE69F43}"/>
              </a:ext>
            </a:extLst>
          </p:cNvPr>
          <p:cNvSpPr>
            <a:spLocks noGrp="1"/>
          </p:cNvSpPr>
          <p:nvPr>
            <p:ph type="title"/>
          </p:nvPr>
        </p:nvSpPr>
        <p:spPr>
          <a:xfrm>
            <a:off x="429715" y="775219"/>
            <a:ext cx="10924085" cy="482745"/>
          </a:xfrm>
        </p:spPr>
        <p:txBody>
          <a:bodyPr>
            <a:noAutofit/>
          </a:bodyPr>
          <a:lstStyle/>
          <a:p>
            <a:pPr algn="ctr"/>
            <a:r>
              <a:rPr lang="en-GB" dirty="0">
                <a:latin typeface="Times New Roman" panose="02020603050405020304" pitchFamily="18" charset="0"/>
                <a:cs typeface="Times New Roman" panose="02020603050405020304" pitchFamily="18" charset="0"/>
              </a:rPr>
              <a:t>Learning Outcomes</a:t>
            </a:r>
          </a:p>
        </p:txBody>
      </p:sp>
      <p:sp>
        <p:nvSpPr>
          <p:cNvPr id="19" name="Text Box 2347">
            <a:extLst>
              <a:ext uri="{FF2B5EF4-FFF2-40B4-BE49-F238E27FC236}">
                <a16:creationId xmlns:a16="http://schemas.microsoft.com/office/drawing/2014/main" id="{E9381B68-0349-40D5-BA33-56730954E056}"/>
              </a:ext>
            </a:extLst>
          </p:cNvPr>
          <p:cNvSpPr txBox="1">
            <a:spLocks noChangeArrowheads="1"/>
          </p:cNvSpPr>
          <p:nvPr/>
        </p:nvSpPr>
        <p:spPr bwMode="auto">
          <a:xfrm>
            <a:off x="9218266" y="2607656"/>
            <a:ext cx="442844" cy="36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800">
              <a:effectLst/>
              <a:latin typeface="Times New Roman" panose="02020603050405020304" pitchFamily="18" charset="0"/>
              <a:ea typeface="Times New Roman" panose="02020603050405020304" pitchFamily="18" charset="0"/>
            </a:endParaRPr>
          </a:p>
        </p:txBody>
      </p:sp>
      <p:sp>
        <p:nvSpPr>
          <p:cNvPr id="20" name="Rectangle 25">
            <a:extLst>
              <a:ext uri="{FF2B5EF4-FFF2-40B4-BE49-F238E27FC236}">
                <a16:creationId xmlns:a16="http://schemas.microsoft.com/office/drawing/2014/main" id="{84DE05D7-D3E2-460A-8C84-4002F9584C5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8" name="Table 47">
            <a:extLst>
              <a:ext uri="{FF2B5EF4-FFF2-40B4-BE49-F238E27FC236}">
                <a16:creationId xmlns:a16="http://schemas.microsoft.com/office/drawing/2014/main" id="{E84C0A6E-6030-4E46-B4F1-468CB8CB8232}"/>
              </a:ext>
            </a:extLst>
          </p:cNvPr>
          <p:cNvGraphicFramePr>
            <a:graphicFrameLocks noGrp="1"/>
          </p:cNvGraphicFramePr>
          <p:nvPr>
            <p:extLst>
              <p:ext uri="{D42A27DB-BD31-4B8C-83A1-F6EECF244321}">
                <p14:modId xmlns:p14="http://schemas.microsoft.com/office/powerpoint/2010/main" val="223983447"/>
              </p:ext>
            </p:extLst>
          </p:nvPr>
        </p:nvGraphicFramePr>
        <p:xfrm>
          <a:off x="429714" y="1393743"/>
          <a:ext cx="11000285" cy="4948555"/>
        </p:xfrm>
        <a:graphic>
          <a:graphicData uri="http://schemas.openxmlformats.org/drawingml/2006/table">
            <a:tbl>
              <a:tblPr>
                <a:tableStyleId>{5C22544A-7EE6-4342-B048-85BDC9FD1C3A}</a:tableStyleId>
              </a:tblPr>
              <a:tblGrid>
                <a:gridCol w="11000285">
                  <a:extLst>
                    <a:ext uri="{9D8B030D-6E8A-4147-A177-3AD203B41FA5}">
                      <a16:colId xmlns:a16="http://schemas.microsoft.com/office/drawing/2014/main" val="1015431293"/>
                    </a:ext>
                  </a:extLst>
                </a:gridCol>
              </a:tblGrid>
              <a:tr h="4281528">
                <a:tc>
                  <a:txBody>
                    <a:bodyPr/>
                    <a:lstStyle/>
                    <a:p>
                      <a:pPr marL="1151255" marR="0" indent="-1151255" algn="l">
                        <a:lnSpc>
                          <a:spcPct val="115000"/>
                        </a:lnSpc>
                        <a:spcBef>
                          <a:spcPts val="0"/>
                        </a:spcBef>
                        <a:spcAft>
                          <a:spcPts val="0"/>
                        </a:spcAft>
                      </a:pPr>
                      <a:r>
                        <a:rPr lang="en-GB" sz="3400" dirty="0">
                          <a:solidFill>
                            <a:srgbClr val="002060"/>
                          </a:solidFill>
                          <a:effectLst/>
                          <a:latin typeface="Times New Roman" panose="02020603050405020304" pitchFamily="18" charset="0"/>
                          <a:ea typeface="Calibri" panose="020F0502020204030204" pitchFamily="34" charset="0"/>
                          <a:cs typeface="Latha" panose="02000400000000000000" pitchFamily="2"/>
                        </a:rPr>
                        <a:t>On completion of module, student will be able to </a:t>
                      </a:r>
                      <a:endParaRPr lang="en-GB" sz="1100" dirty="0">
                        <a:solidFill>
                          <a:srgbClr val="002060"/>
                        </a:solidFill>
                        <a:effectLst/>
                        <a:latin typeface="Calibri" panose="020F0502020204030204" pitchFamily="34" charset="0"/>
                        <a:ea typeface="Calibri" panose="020F0502020204030204" pitchFamily="34" charset="0"/>
                        <a:cs typeface="Latha" panose="02000400000000000000" pitchFamily="2"/>
                      </a:endParaRPr>
                    </a:p>
                    <a:p>
                      <a:pPr marL="1151255" marR="0" indent="-1151255" algn="l">
                        <a:lnSpc>
                          <a:spcPct val="115000"/>
                        </a:lnSpc>
                        <a:spcBef>
                          <a:spcPts val="0"/>
                        </a:spcBef>
                        <a:spcAft>
                          <a:spcPts val="0"/>
                        </a:spcAft>
                      </a:pPr>
                      <a:r>
                        <a:rPr lang="en-GB"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LO1</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3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Analyse the performances of AC circuits using nodal and mesh analysis</a:t>
                      </a:r>
                      <a:r>
                        <a:rPr lang="en-GB" sz="3400" dirty="0">
                          <a:solidFill>
                            <a:srgbClr val="00009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GB" sz="1100" dirty="0">
                        <a:effectLst/>
                        <a:latin typeface="Calibri" panose="020F0502020204030204" pitchFamily="34" charset="0"/>
                        <a:ea typeface="Times New Roman" panose="02020603050405020304" pitchFamily="18" charset="0"/>
                        <a:cs typeface="Times New Roman" panose="02020603050405020304" pitchFamily="18" charset="0"/>
                      </a:endParaRPr>
                    </a:p>
                    <a:p>
                      <a:pPr marL="1151255" marR="0" indent="-1151255" algn="l">
                        <a:lnSpc>
                          <a:spcPct val="115000"/>
                        </a:lnSpc>
                        <a:spcBef>
                          <a:spcPts val="0"/>
                        </a:spcBef>
                        <a:spcAft>
                          <a:spcPts val="0"/>
                        </a:spcAft>
                      </a:pPr>
                      <a:r>
                        <a:rPr lang="en-GB" sz="3400" b="1" dirty="0">
                          <a:solidFill>
                            <a:srgbClr val="002060"/>
                          </a:solidFill>
                          <a:effectLst/>
                          <a:latin typeface="Times New Roman" panose="02020603050405020304" pitchFamily="18" charset="0"/>
                          <a:ea typeface="Calibri" panose="020F0502020204030204" pitchFamily="34" charset="0"/>
                          <a:cs typeface="Latha" panose="02000400000000000000" pitchFamily="2"/>
                        </a:rPr>
                        <a:t>LO2</a:t>
                      </a:r>
                      <a:r>
                        <a:rPr lang="en-GB" sz="3400" dirty="0">
                          <a:solidFill>
                            <a:srgbClr val="002060"/>
                          </a:solidFill>
                          <a:effectLst/>
                          <a:latin typeface="Times New Roman" panose="02020603050405020304" pitchFamily="18" charset="0"/>
                          <a:ea typeface="Calibri" panose="020F0502020204030204" pitchFamily="34" charset="0"/>
                          <a:cs typeface="Latha" panose="02000400000000000000" pitchFamily="2"/>
                        </a:rPr>
                        <a:t>: </a:t>
                      </a:r>
                      <a:r>
                        <a:rPr lang="en-GB" sz="3400" b="1" dirty="0">
                          <a:solidFill>
                            <a:srgbClr val="002060"/>
                          </a:solidFill>
                          <a:effectLst/>
                          <a:latin typeface="Times New Roman" panose="02020603050405020304" pitchFamily="18" charset="0"/>
                          <a:ea typeface="Calibri" panose="020F0502020204030204" pitchFamily="34" charset="0"/>
                          <a:cs typeface="Latha" panose="02000400000000000000" pitchFamily="2"/>
                        </a:rPr>
                        <a:t>Analyse</a:t>
                      </a:r>
                      <a:r>
                        <a:rPr lang="en-GB" sz="3400" dirty="0">
                          <a:solidFill>
                            <a:srgbClr val="002060"/>
                          </a:solidFill>
                          <a:effectLst/>
                          <a:latin typeface="Times New Roman" panose="02020603050405020304" pitchFamily="18" charset="0"/>
                          <a:ea typeface="Calibri" panose="020F0502020204030204" pitchFamily="34" charset="0"/>
                          <a:cs typeface="Latha" panose="02000400000000000000" pitchFamily="2"/>
                        </a:rPr>
                        <a:t> 2 port networks using different models. </a:t>
                      </a:r>
                      <a:endParaRPr lang="en-GB" sz="1100" dirty="0">
                        <a:solidFill>
                          <a:srgbClr val="002060"/>
                        </a:solidFill>
                        <a:effectLst/>
                        <a:latin typeface="Calibri" panose="020F0502020204030204" pitchFamily="34" charset="0"/>
                        <a:ea typeface="Calibri" panose="020F0502020204030204" pitchFamily="34" charset="0"/>
                        <a:cs typeface="Latha" panose="02000400000000000000" pitchFamily="2"/>
                      </a:endParaRPr>
                    </a:p>
                    <a:p>
                      <a:pPr marL="1151255" marR="0" indent="-1151255" algn="l">
                        <a:lnSpc>
                          <a:spcPct val="115000"/>
                        </a:lnSpc>
                        <a:spcBef>
                          <a:spcPts val="0"/>
                        </a:spcBef>
                        <a:spcAft>
                          <a:spcPts val="0"/>
                        </a:spcAft>
                      </a:pPr>
                      <a:r>
                        <a:rPr lang="en-GB"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LO3</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Analyse</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34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RLC</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networks for transients. </a:t>
                      </a:r>
                      <a:endParaRPr lang="en-GB" sz="1100" dirty="0">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1151255" marR="0" indent="-1151255" algn="l">
                        <a:lnSpc>
                          <a:spcPct val="115000"/>
                        </a:lnSpc>
                        <a:spcBef>
                          <a:spcPts val="0"/>
                        </a:spcBef>
                        <a:spcAft>
                          <a:spcPts val="0"/>
                        </a:spcAft>
                      </a:pPr>
                      <a:r>
                        <a:rPr lang="en-GB"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LO4</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Analyse</a:t>
                      </a:r>
                      <a:r>
                        <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waveforms for its harmonics.</a:t>
                      </a:r>
                    </a:p>
                    <a:p>
                      <a:pPr marL="1151255" marR="0" indent="-1151255" algn="l">
                        <a:lnSpc>
                          <a:spcPct val="115000"/>
                        </a:lnSpc>
                        <a:spcBef>
                          <a:spcPts val="0"/>
                        </a:spcBef>
                        <a:spcAft>
                          <a:spcPts val="0"/>
                        </a:spcAft>
                      </a:pPr>
                      <a:r>
                        <a:rPr lang="en-US" sz="3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LO5: Perform </a:t>
                      </a:r>
                      <a:r>
                        <a:rPr lang="en-US"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calculations in three phase circuits    including the unbalanced waveforms.</a:t>
                      </a:r>
                      <a:endParaRPr lang="en-GB" sz="3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151255" marR="0" indent="-1151255" algn="l">
                        <a:lnSpc>
                          <a:spcPct val="115000"/>
                        </a:lnSpc>
                        <a:spcBef>
                          <a:spcPts val="0"/>
                        </a:spcBef>
                        <a:spcAft>
                          <a:spcPts val="0"/>
                        </a:spcAft>
                      </a:pPr>
                      <a:endParaRPr lang="en-GB"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18745" marR="118745"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4607510"/>
                  </a:ext>
                </a:extLst>
              </a:tr>
            </a:tbl>
          </a:graphicData>
        </a:graphic>
      </p:graphicFrame>
    </p:spTree>
    <p:custDataLst>
      <p:tags r:id="rId1"/>
    </p:custDataLst>
    <p:extLst>
      <p:ext uri="{BB962C8B-B14F-4D97-AF65-F5344CB8AC3E}">
        <p14:creationId xmlns:p14="http://schemas.microsoft.com/office/powerpoint/2010/main" val="1098626973"/>
      </p:ext>
    </p:extLst>
  </p:cSld>
  <p:clrMapOvr>
    <a:masterClrMapping/>
  </p:clrMapOvr>
  <mc:AlternateContent xmlns:mc="http://schemas.openxmlformats.org/markup-compatibility/2006" xmlns:p14="http://schemas.microsoft.com/office/powerpoint/2010/main">
    <mc:Choice Requires="p14">
      <p:transition spd="slow" p14:dur="2000" advTm="149574"/>
    </mc:Choice>
    <mc:Fallback xmlns="">
      <p:transition spd="slow" advTm="1495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C2F1E36-91C0-4B1C-A714-9D2956D09C78}"/>
              </a:ext>
            </a:extLst>
          </p:cNvPr>
          <p:cNvGraphicFramePr>
            <a:graphicFrameLocks noGrp="1"/>
          </p:cNvGraphicFramePr>
          <p:nvPr>
            <p:extLst>
              <p:ext uri="{D42A27DB-BD31-4B8C-83A1-F6EECF244321}">
                <p14:modId xmlns:p14="http://schemas.microsoft.com/office/powerpoint/2010/main" val="2350847880"/>
              </p:ext>
            </p:extLst>
          </p:nvPr>
        </p:nvGraphicFramePr>
        <p:xfrm>
          <a:off x="244875" y="1629766"/>
          <a:ext cx="8743006" cy="3569970"/>
        </p:xfrm>
        <a:graphic>
          <a:graphicData uri="http://schemas.openxmlformats.org/drawingml/2006/table">
            <a:tbl>
              <a:tblPr firstRow="1" firstCol="1" bandRow="1">
                <a:tableStyleId>{5C22544A-7EE6-4342-B048-85BDC9FD1C3A}</a:tableStyleId>
              </a:tblPr>
              <a:tblGrid>
                <a:gridCol w="8743006">
                  <a:extLst>
                    <a:ext uri="{9D8B030D-6E8A-4147-A177-3AD203B41FA5}">
                      <a16:colId xmlns:a16="http://schemas.microsoft.com/office/drawing/2014/main" val="2855793700"/>
                    </a:ext>
                  </a:extLst>
                </a:gridCol>
              </a:tblGrid>
              <a:tr h="1201794">
                <a:tc>
                  <a:txBody>
                    <a:bodyPr/>
                    <a:lstStyle/>
                    <a:p>
                      <a:pPr marL="0" marR="0" lvl="0" indent="0" algn="l">
                        <a:lnSpc>
                          <a:spcPct val="150000"/>
                        </a:lnSpc>
                        <a:spcBef>
                          <a:spcPts val="0"/>
                        </a:spcBef>
                        <a:spcAft>
                          <a:spcPts val="0"/>
                        </a:spcAft>
                        <a:buFont typeface="+mj-lt"/>
                        <a:buNone/>
                        <a:tabLst>
                          <a:tab pos="8697913" algn="l"/>
                        </a:tabLst>
                      </a:pPr>
                      <a:r>
                        <a:rPr lang="en-GB" sz="3200" b="1" dirty="0">
                          <a:solidFill>
                            <a:srgbClr val="002060"/>
                          </a:solidFill>
                          <a:effectLst/>
                          <a:latin typeface="Times New Roman" panose="02020603050405020304" pitchFamily="18" charset="0"/>
                          <a:cs typeface="Times New Roman" panose="02020603050405020304" pitchFamily="18" charset="0"/>
                        </a:rPr>
                        <a:t>Review of basic components and AC theory</a:t>
                      </a:r>
                    </a:p>
                    <a:p>
                      <a:pPr marL="0" marR="0" lvl="0" indent="0" algn="l">
                        <a:lnSpc>
                          <a:spcPct val="150000"/>
                        </a:lnSpc>
                        <a:spcBef>
                          <a:spcPts val="0"/>
                        </a:spcBef>
                        <a:spcAft>
                          <a:spcPts val="0"/>
                        </a:spcAft>
                        <a:buFont typeface="+mj-lt"/>
                        <a:buNone/>
                        <a:tabLst>
                          <a:tab pos="8697913" algn="l"/>
                        </a:tabLst>
                      </a:pPr>
                      <a:r>
                        <a:rPr lang="en-GB" sz="3200" b="0" dirty="0">
                          <a:solidFill>
                            <a:srgbClr val="002060"/>
                          </a:solidFill>
                          <a:effectLst/>
                          <a:latin typeface="Times New Roman" panose="02020603050405020304" pitchFamily="18" charset="0"/>
                          <a:cs typeface="Times New Roman" panose="02020603050405020304" pitchFamily="18" charset="0"/>
                        </a:rPr>
                        <a:t>Series and parallel resonance</a:t>
                      </a:r>
                    </a:p>
                    <a:p>
                      <a:pPr marL="0" marR="0" lvl="0" indent="0" algn="l">
                        <a:lnSpc>
                          <a:spcPct val="150000"/>
                        </a:lnSpc>
                        <a:spcBef>
                          <a:spcPts val="0"/>
                        </a:spcBef>
                        <a:spcAft>
                          <a:spcPts val="0"/>
                        </a:spcAft>
                        <a:buFont typeface="+mj-lt"/>
                        <a:buNone/>
                        <a:tabLst>
                          <a:tab pos="8697913" algn="l"/>
                        </a:tabLst>
                      </a:pPr>
                      <a:r>
                        <a:rPr lang="en-US" sz="3200" b="0" dirty="0">
                          <a:solidFill>
                            <a:srgbClr val="002060"/>
                          </a:solidFill>
                          <a:effectLst/>
                          <a:latin typeface="Times New Roman" panose="02020603050405020304" pitchFamily="18" charset="0"/>
                          <a:cs typeface="Times New Roman" panose="02020603050405020304" pitchFamily="18" charset="0"/>
                        </a:rPr>
                        <a:t>Electromagnetic coupling:  Mutual inductance Analysis of coupled circuits: Transformer.</a:t>
                      </a:r>
                    </a:p>
                    <a:p>
                      <a:pPr marL="0" marR="0" lvl="0" indent="0" algn="l">
                        <a:lnSpc>
                          <a:spcPct val="150000"/>
                        </a:lnSpc>
                        <a:spcBef>
                          <a:spcPts val="0"/>
                        </a:spcBef>
                        <a:spcAft>
                          <a:spcPts val="0"/>
                        </a:spcAft>
                        <a:buFont typeface="+mj-lt"/>
                        <a:buNone/>
                        <a:tabLst>
                          <a:tab pos="8697913" algn="l"/>
                        </a:tabLst>
                      </a:pPr>
                      <a:r>
                        <a:rPr lang="en-US" sz="3200" b="0" dirty="0">
                          <a:solidFill>
                            <a:srgbClr val="002060"/>
                          </a:solidFill>
                          <a:effectLst/>
                          <a:latin typeface="Times New Roman" panose="02020603050405020304" pitchFamily="18" charset="0"/>
                          <a:cs typeface="Times New Roman" panose="02020603050405020304" pitchFamily="18" charset="0"/>
                        </a:rPr>
                        <a:t>Dependent sources: solving circuits </a:t>
                      </a:r>
                    </a:p>
                  </a:txBody>
                  <a:tcPr marL="30796" marR="30796" marT="0" marB="0">
                    <a:noFill/>
                  </a:tcPr>
                </a:tc>
                <a:extLst>
                  <a:ext uri="{0D108BD9-81ED-4DB2-BD59-A6C34878D82A}">
                    <a16:rowId xmlns:a16="http://schemas.microsoft.com/office/drawing/2014/main" val="3653753088"/>
                  </a:ext>
                </a:extLst>
              </a:tr>
            </a:tbl>
          </a:graphicData>
        </a:graphic>
      </p:graphicFrame>
      <p:sp>
        <p:nvSpPr>
          <p:cNvPr id="2" name="Title 1">
            <a:extLst>
              <a:ext uri="{FF2B5EF4-FFF2-40B4-BE49-F238E27FC236}">
                <a16:creationId xmlns:a16="http://schemas.microsoft.com/office/drawing/2014/main" id="{782403D9-5BBE-47E4-8F66-CC176CE69F43}"/>
              </a:ext>
            </a:extLst>
          </p:cNvPr>
          <p:cNvSpPr>
            <a:spLocks noGrp="1"/>
          </p:cNvSpPr>
          <p:nvPr>
            <p:ph type="title"/>
          </p:nvPr>
        </p:nvSpPr>
        <p:spPr>
          <a:xfrm>
            <a:off x="429715" y="690159"/>
            <a:ext cx="10924085" cy="482745"/>
          </a:xfrm>
        </p:spPr>
        <p:txBody>
          <a:bodyPr>
            <a:noAutofit/>
          </a:bodyPr>
          <a:lstStyle/>
          <a:p>
            <a:pPr algn="ctr"/>
            <a:r>
              <a:rPr lang="en-GB" dirty="0"/>
              <a:t>AC Circuit analysis </a:t>
            </a:r>
            <a:r>
              <a:rPr lang="en-GB" dirty="0">
                <a:solidFill>
                  <a:srgbClr val="002060"/>
                </a:solidFill>
              </a:rPr>
              <a:t>(15 hrs) </a:t>
            </a:r>
          </a:p>
        </p:txBody>
      </p:sp>
      <p:sp>
        <p:nvSpPr>
          <p:cNvPr id="19" name="Text Box 2347">
            <a:extLst>
              <a:ext uri="{FF2B5EF4-FFF2-40B4-BE49-F238E27FC236}">
                <a16:creationId xmlns:a16="http://schemas.microsoft.com/office/drawing/2014/main" id="{E9381B68-0349-40D5-BA33-56730954E056}"/>
              </a:ext>
            </a:extLst>
          </p:cNvPr>
          <p:cNvSpPr txBox="1">
            <a:spLocks noChangeArrowheads="1"/>
          </p:cNvSpPr>
          <p:nvPr/>
        </p:nvSpPr>
        <p:spPr bwMode="auto">
          <a:xfrm>
            <a:off x="9218266" y="2607656"/>
            <a:ext cx="442844" cy="36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800">
              <a:effectLst/>
              <a:latin typeface="Times New Roman" panose="02020603050405020304" pitchFamily="18" charset="0"/>
              <a:ea typeface="Times New Roman" panose="02020603050405020304" pitchFamily="18" charset="0"/>
            </a:endParaRPr>
          </a:p>
        </p:txBody>
      </p:sp>
      <p:sp>
        <p:nvSpPr>
          <p:cNvPr id="20" name="Rectangle 25">
            <a:extLst>
              <a:ext uri="{FF2B5EF4-FFF2-40B4-BE49-F238E27FC236}">
                <a16:creationId xmlns:a16="http://schemas.microsoft.com/office/drawing/2014/main" id="{84DE05D7-D3E2-460A-8C84-4002F9584C5F}"/>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3" name="Picture 2">
            <a:extLst>
              <a:ext uri="{FF2B5EF4-FFF2-40B4-BE49-F238E27FC236}">
                <a16:creationId xmlns:a16="http://schemas.microsoft.com/office/drawing/2014/main" id="{8578B4D3-6944-43AA-9EB5-BBEF6D8F47DA}"/>
              </a:ext>
            </a:extLst>
          </p:cNvPr>
          <p:cNvPicPr>
            <a:picLocks noChangeAspect="1"/>
          </p:cNvPicPr>
          <p:nvPr/>
        </p:nvPicPr>
        <p:blipFill>
          <a:blip r:embed="rId4">
            <a:clrChange>
              <a:clrFrom>
                <a:srgbClr val="CDFFFF"/>
              </a:clrFrom>
              <a:clrTo>
                <a:srgbClr val="CDFFFF">
                  <a:alpha val="0"/>
                </a:srgbClr>
              </a:clrTo>
            </a:clrChange>
          </a:blip>
          <a:stretch>
            <a:fillRect/>
          </a:stretch>
        </p:blipFill>
        <p:spPr>
          <a:xfrm>
            <a:off x="9097712" y="1082654"/>
            <a:ext cx="2849413" cy="1755680"/>
          </a:xfrm>
          <a:prstGeom prst="rect">
            <a:avLst/>
          </a:prstGeom>
        </p:spPr>
      </p:pic>
      <p:pic>
        <p:nvPicPr>
          <p:cNvPr id="4" name="Picture 3">
            <a:extLst>
              <a:ext uri="{FF2B5EF4-FFF2-40B4-BE49-F238E27FC236}">
                <a16:creationId xmlns:a16="http://schemas.microsoft.com/office/drawing/2014/main" id="{2E2D7FB6-E161-41E7-87C4-3BDDA84DC613}"/>
              </a:ext>
            </a:extLst>
          </p:cNvPr>
          <p:cNvPicPr>
            <a:picLocks noChangeAspect="1"/>
          </p:cNvPicPr>
          <p:nvPr/>
        </p:nvPicPr>
        <p:blipFill>
          <a:blip r:embed="rId5">
            <a:clrChange>
              <a:clrFrom>
                <a:srgbClr val="CDFFFF"/>
              </a:clrFrom>
              <a:clrTo>
                <a:srgbClr val="CDFFFF">
                  <a:alpha val="0"/>
                </a:srgbClr>
              </a:clrTo>
            </a:clrChange>
          </a:blip>
          <a:stretch>
            <a:fillRect/>
          </a:stretch>
        </p:blipFill>
        <p:spPr>
          <a:xfrm>
            <a:off x="9049873" y="2977505"/>
            <a:ext cx="3057286" cy="2229815"/>
          </a:xfrm>
          <a:prstGeom prst="rect">
            <a:avLst/>
          </a:prstGeom>
        </p:spPr>
      </p:pic>
      <p:pic>
        <p:nvPicPr>
          <p:cNvPr id="5" name="Picture 4">
            <a:extLst>
              <a:ext uri="{FF2B5EF4-FFF2-40B4-BE49-F238E27FC236}">
                <a16:creationId xmlns:a16="http://schemas.microsoft.com/office/drawing/2014/main" id="{A9244F8A-DCA6-4379-A4EE-A687AFBFB6E4}"/>
              </a:ext>
            </a:extLst>
          </p:cNvPr>
          <p:cNvPicPr>
            <a:picLocks noChangeAspect="1"/>
          </p:cNvPicPr>
          <p:nvPr/>
        </p:nvPicPr>
        <p:blipFill>
          <a:blip r:embed="rId6">
            <a:clrChange>
              <a:clrFrom>
                <a:srgbClr val="CEFFFE"/>
              </a:clrFrom>
              <a:clrTo>
                <a:srgbClr val="CEFFFE">
                  <a:alpha val="0"/>
                </a:srgbClr>
              </a:clrTo>
            </a:clrChange>
          </a:blip>
          <a:stretch>
            <a:fillRect/>
          </a:stretch>
        </p:blipFill>
        <p:spPr>
          <a:xfrm>
            <a:off x="2649187" y="5651138"/>
            <a:ext cx="2584928" cy="664522"/>
          </a:xfrm>
          <a:prstGeom prst="rect">
            <a:avLst/>
          </a:prstGeom>
        </p:spPr>
      </p:pic>
      <p:pic>
        <p:nvPicPr>
          <p:cNvPr id="7" name="Picture 6">
            <a:extLst>
              <a:ext uri="{FF2B5EF4-FFF2-40B4-BE49-F238E27FC236}">
                <a16:creationId xmlns:a16="http://schemas.microsoft.com/office/drawing/2014/main" id="{FF9A9825-D2B7-4B33-A7A3-D48DC756EBA6}"/>
              </a:ext>
            </a:extLst>
          </p:cNvPr>
          <p:cNvPicPr>
            <a:picLocks noChangeAspect="1"/>
          </p:cNvPicPr>
          <p:nvPr/>
        </p:nvPicPr>
        <p:blipFill>
          <a:blip r:embed="rId7">
            <a:clrChange>
              <a:clrFrom>
                <a:srgbClr val="CDFFFF"/>
              </a:clrFrom>
              <a:clrTo>
                <a:srgbClr val="CDFFFF">
                  <a:alpha val="0"/>
                </a:srgbClr>
              </a:clrTo>
            </a:clrChange>
          </a:blip>
          <a:stretch>
            <a:fillRect/>
          </a:stretch>
        </p:blipFill>
        <p:spPr>
          <a:xfrm>
            <a:off x="6451355" y="4583515"/>
            <a:ext cx="2988333" cy="2135245"/>
          </a:xfrm>
          <a:prstGeom prst="rect">
            <a:avLst/>
          </a:prstGeom>
        </p:spPr>
      </p:pic>
    </p:spTree>
    <p:custDataLst>
      <p:tags r:id="rId1"/>
    </p:custDataLst>
    <p:extLst>
      <p:ext uri="{BB962C8B-B14F-4D97-AF65-F5344CB8AC3E}">
        <p14:creationId xmlns:p14="http://schemas.microsoft.com/office/powerpoint/2010/main" val="981130487"/>
      </p:ext>
    </p:extLst>
  </p:cSld>
  <p:clrMapOvr>
    <a:masterClrMapping/>
  </p:clrMapOvr>
  <mc:AlternateContent xmlns:mc="http://schemas.openxmlformats.org/markup-compatibility/2006" xmlns:p14="http://schemas.microsoft.com/office/powerpoint/2010/main">
    <mc:Choice Requires="p14">
      <p:transition spd="slow" p14:dur="2000" advTm="149574"/>
    </mc:Choice>
    <mc:Fallback xmlns="">
      <p:transition spd="slow" advTm="1495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51200-5476-402D-BDCD-76F56A166828}"/>
              </a:ext>
            </a:extLst>
          </p:cNvPr>
          <p:cNvSpPr>
            <a:spLocks noGrp="1"/>
          </p:cNvSpPr>
          <p:nvPr>
            <p:ph type="title"/>
          </p:nvPr>
        </p:nvSpPr>
        <p:spPr/>
        <p:txBody>
          <a:bodyPr>
            <a:normAutofit fontScale="90000"/>
          </a:bodyPr>
          <a:lstStyle/>
          <a:p>
            <a:r>
              <a:rPr lang="en-GB" dirty="0"/>
              <a:t>Review of electric components</a:t>
            </a:r>
          </a:p>
        </p:txBody>
      </p:sp>
      <p:pic>
        <p:nvPicPr>
          <p:cNvPr id="4" name="Picture 3">
            <a:extLst>
              <a:ext uri="{FF2B5EF4-FFF2-40B4-BE49-F238E27FC236}">
                <a16:creationId xmlns:a16="http://schemas.microsoft.com/office/drawing/2014/main" id="{B934DF62-3A67-4EF1-BECC-226DECC54378}"/>
              </a:ext>
            </a:extLst>
          </p:cNvPr>
          <p:cNvPicPr>
            <a:picLocks noChangeAspect="1"/>
          </p:cNvPicPr>
          <p:nvPr/>
        </p:nvPicPr>
        <p:blipFill>
          <a:blip r:embed="rId2">
            <a:clrChange>
              <a:clrFrom>
                <a:srgbClr val="CDFFFF"/>
              </a:clrFrom>
              <a:clrTo>
                <a:srgbClr val="CDFFFF">
                  <a:alpha val="0"/>
                </a:srgbClr>
              </a:clrTo>
            </a:clrChange>
          </a:blip>
          <a:stretch>
            <a:fillRect/>
          </a:stretch>
        </p:blipFill>
        <p:spPr>
          <a:xfrm>
            <a:off x="9500278" y="1208323"/>
            <a:ext cx="2380952" cy="2580952"/>
          </a:xfrm>
          <a:prstGeom prst="rect">
            <a:avLst/>
          </a:prstGeom>
        </p:spPr>
      </p:pic>
      <p:sp>
        <p:nvSpPr>
          <p:cNvPr id="5" name="Rectangle 40">
            <a:extLst>
              <a:ext uri="{FF2B5EF4-FFF2-40B4-BE49-F238E27FC236}">
                <a16:creationId xmlns:a16="http://schemas.microsoft.com/office/drawing/2014/main" id="{EC481A56-4D58-41EB-947D-E33B24E6E855}"/>
              </a:ext>
            </a:extLst>
          </p:cNvPr>
          <p:cNvSpPr>
            <a:spLocks noChangeArrowheads="1"/>
          </p:cNvSpPr>
          <p:nvPr/>
        </p:nvSpPr>
        <p:spPr bwMode="auto">
          <a:xfrm>
            <a:off x="310770" y="1449669"/>
            <a:ext cx="87663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1" i="1" u="none" strike="noStrike" cap="none" normalizeH="0" baseline="0" dirty="0">
                <a:ln>
                  <a:noFill/>
                </a:ln>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Resistance</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(unit: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ohm,</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letter symbol: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R, r</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endParaRPr kumimoji="0" lang="en-GB" altLang="en-US" sz="1100" b="0" i="0" u="none" strike="noStrike" cap="none" normalizeH="0" baseline="0" dirty="0">
              <a:ln>
                <a:noFill/>
              </a:ln>
              <a:solidFill>
                <a:schemeClr val="tx1"/>
              </a:solidFill>
              <a:effectLst/>
              <a:sym typeface="Symbol" panose="05050102010706020507" pitchFamily="18" charset="2"/>
            </a:endParaRPr>
          </a:p>
        </p:txBody>
      </p:sp>
      <p:sp>
        <p:nvSpPr>
          <p:cNvPr id="45" name="Rectangle 49">
            <a:extLst>
              <a:ext uri="{FF2B5EF4-FFF2-40B4-BE49-F238E27FC236}">
                <a16:creationId xmlns:a16="http://schemas.microsoft.com/office/drawing/2014/main" id="{A9FB42CC-9E70-4FF4-9DE5-8EE30458F6A6}"/>
              </a:ext>
            </a:extLst>
          </p:cNvPr>
          <p:cNvSpPr>
            <a:spLocks noChangeArrowheads="1"/>
          </p:cNvSpPr>
          <p:nvPr/>
        </p:nvSpPr>
        <p:spPr bwMode="auto">
          <a:xfrm>
            <a:off x="429715" y="4594303"/>
            <a:ext cx="950027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v = R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 G v</a:t>
            </a:r>
            <a:endParaRPr kumimoji="0" lang="en-GB"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1"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p(t) = v(t)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 = R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i</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2</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 = G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v </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2</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a:t>
            </a:r>
            <a:endParaRPr kumimoji="0" lang="en-GB"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w(t) =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v(t)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R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2</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dt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G</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v </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2</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.dt</a:t>
            </a:r>
          </a:p>
        </p:txBody>
      </p:sp>
      <p:grpSp>
        <p:nvGrpSpPr>
          <p:cNvPr id="47" name="Group 46">
            <a:extLst>
              <a:ext uri="{FF2B5EF4-FFF2-40B4-BE49-F238E27FC236}">
                <a16:creationId xmlns:a16="http://schemas.microsoft.com/office/drawing/2014/main" id="{6CBDF456-FBCC-4415-A3FB-1AB22E2D7DF9}"/>
              </a:ext>
            </a:extLst>
          </p:cNvPr>
          <p:cNvGrpSpPr>
            <a:grpSpLocks/>
          </p:cNvGrpSpPr>
          <p:nvPr/>
        </p:nvGrpSpPr>
        <p:grpSpPr bwMode="auto">
          <a:xfrm>
            <a:off x="981307" y="2389639"/>
            <a:ext cx="6846849" cy="2149338"/>
            <a:chOff x="1538" y="1778"/>
            <a:chExt cx="6360" cy="1706"/>
          </a:xfrm>
        </p:grpSpPr>
        <p:grpSp>
          <p:nvGrpSpPr>
            <p:cNvPr id="48" name="Group 47">
              <a:extLst>
                <a:ext uri="{FF2B5EF4-FFF2-40B4-BE49-F238E27FC236}">
                  <a16:creationId xmlns:a16="http://schemas.microsoft.com/office/drawing/2014/main" id="{EA905967-843D-4B7D-BAB3-324A3E263A8B}"/>
                </a:ext>
              </a:extLst>
            </p:cNvPr>
            <p:cNvGrpSpPr>
              <a:grpSpLocks/>
            </p:cNvGrpSpPr>
            <p:nvPr/>
          </p:nvGrpSpPr>
          <p:grpSpPr bwMode="auto">
            <a:xfrm>
              <a:off x="1778" y="2144"/>
              <a:ext cx="1440" cy="361"/>
              <a:chOff x="1658" y="2144"/>
              <a:chExt cx="1440" cy="361"/>
            </a:xfrm>
          </p:grpSpPr>
          <p:cxnSp>
            <p:nvCxnSpPr>
              <p:cNvPr id="77" name="Line 43">
                <a:extLst>
                  <a:ext uri="{FF2B5EF4-FFF2-40B4-BE49-F238E27FC236}">
                    <a16:creationId xmlns:a16="http://schemas.microsoft.com/office/drawing/2014/main" id="{651A1078-DDB6-4190-AFBA-8E07697E66E0}"/>
                  </a:ext>
                </a:extLst>
              </p:cNvPr>
              <p:cNvCxnSpPr>
                <a:cxnSpLocks noChangeShapeType="1"/>
              </p:cNvCxnSpPr>
              <p:nvPr/>
            </p:nvCxnSpPr>
            <p:spPr bwMode="auto">
              <a:xfrm>
                <a:off x="1658" y="2318"/>
                <a:ext cx="36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78" name="Group 77">
                <a:extLst>
                  <a:ext uri="{FF2B5EF4-FFF2-40B4-BE49-F238E27FC236}">
                    <a16:creationId xmlns:a16="http://schemas.microsoft.com/office/drawing/2014/main" id="{046D69EF-B939-4046-B75A-B96D72EF3E6B}"/>
                  </a:ext>
                </a:extLst>
              </p:cNvPr>
              <p:cNvGrpSpPr>
                <a:grpSpLocks/>
              </p:cNvGrpSpPr>
              <p:nvPr/>
            </p:nvGrpSpPr>
            <p:grpSpPr bwMode="auto">
              <a:xfrm>
                <a:off x="2018" y="2144"/>
                <a:ext cx="720" cy="361"/>
                <a:chOff x="2018" y="2138"/>
                <a:chExt cx="1200" cy="357"/>
              </a:xfrm>
            </p:grpSpPr>
            <p:cxnSp>
              <p:nvCxnSpPr>
                <p:cNvPr id="80" name="Line 45">
                  <a:extLst>
                    <a:ext uri="{FF2B5EF4-FFF2-40B4-BE49-F238E27FC236}">
                      <a16:creationId xmlns:a16="http://schemas.microsoft.com/office/drawing/2014/main" id="{13786923-A945-43F7-AB3F-FDFECECBC1D8}"/>
                    </a:ext>
                  </a:extLst>
                </p:cNvPr>
                <p:cNvCxnSpPr>
                  <a:cxnSpLocks noChangeShapeType="1"/>
                </p:cNvCxnSpPr>
                <p:nvPr/>
              </p:nvCxnSpPr>
              <p:spPr bwMode="auto">
                <a:xfrm flipV="1">
                  <a:off x="201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1" name="Line 46">
                  <a:extLst>
                    <a:ext uri="{FF2B5EF4-FFF2-40B4-BE49-F238E27FC236}">
                      <a16:creationId xmlns:a16="http://schemas.microsoft.com/office/drawing/2014/main" id="{C8E27090-AC98-4E5D-B8D5-9B7089E5943A}"/>
                    </a:ext>
                  </a:extLst>
                </p:cNvPr>
                <p:cNvCxnSpPr>
                  <a:cxnSpLocks noChangeShapeType="1"/>
                </p:cNvCxnSpPr>
                <p:nvPr/>
              </p:nvCxnSpPr>
              <p:spPr bwMode="auto">
                <a:xfrm flipH="1" flipV="1">
                  <a:off x="309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2" name="Line 47">
                  <a:extLst>
                    <a:ext uri="{FF2B5EF4-FFF2-40B4-BE49-F238E27FC236}">
                      <a16:creationId xmlns:a16="http://schemas.microsoft.com/office/drawing/2014/main" id="{9D0822FD-7859-4B4D-88FD-7A58B0AE1A33}"/>
                    </a:ext>
                  </a:extLst>
                </p:cNvPr>
                <p:cNvCxnSpPr>
                  <a:cxnSpLocks noChangeAspect="1" noChangeShapeType="1"/>
                </p:cNvCxnSpPr>
                <p:nvPr/>
              </p:nvCxnSpPr>
              <p:spPr bwMode="auto">
                <a:xfrm flipH="1" flipV="1">
                  <a:off x="212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3" name="Line 48">
                  <a:extLst>
                    <a:ext uri="{FF2B5EF4-FFF2-40B4-BE49-F238E27FC236}">
                      <a16:creationId xmlns:a16="http://schemas.microsoft.com/office/drawing/2014/main" id="{7A2FAD6E-593A-4901-BD3B-7DCF2DA24FCB}"/>
                    </a:ext>
                  </a:extLst>
                </p:cNvPr>
                <p:cNvCxnSpPr>
                  <a:cxnSpLocks noChangeAspect="1" noChangeShapeType="1"/>
                </p:cNvCxnSpPr>
                <p:nvPr/>
              </p:nvCxnSpPr>
              <p:spPr bwMode="auto">
                <a:xfrm flipV="1">
                  <a:off x="238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4" name="Line 49">
                  <a:extLst>
                    <a:ext uri="{FF2B5EF4-FFF2-40B4-BE49-F238E27FC236}">
                      <a16:creationId xmlns:a16="http://schemas.microsoft.com/office/drawing/2014/main" id="{C2CC8718-5501-4C58-BE42-6C5B334CE78C}"/>
                    </a:ext>
                  </a:extLst>
                </p:cNvPr>
                <p:cNvCxnSpPr>
                  <a:cxnSpLocks noChangeAspect="1" noChangeShapeType="1"/>
                </p:cNvCxnSpPr>
                <p:nvPr/>
              </p:nvCxnSpPr>
              <p:spPr bwMode="auto">
                <a:xfrm flipH="1" flipV="1">
                  <a:off x="260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5" name="Line 50">
                  <a:extLst>
                    <a:ext uri="{FF2B5EF4-FFF2-40B4-BE49-F238E27FC236}">
                      <a16:creationId xmlns:a16="http://schemas.microsoft.com/office/drawing/2014/main" id="{1A435DB1-1321-49E3-9F3D-A8679925D466}"/>
                    </a:ext>
                  </a:extLst>
                </p:cNvPr>
                <p:cNvCxnSpPr>
                  <a:cxnSpLocks noChangeAspect="1" noChangeShapeType="1"/>
                </p:cNvCxnSpPr>
                <p:nvPr/>
              </p:nvCxnSpPr>
              <p:spPr bwMode="auto">
                <a:xfrm flipV="1">
                  <a:off x="286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79" name="Line 51">
                <a:extLst>
                  <a:ext uri="{FF2B5EF4-FFF2-40B4-BE49-F238E27FC236}">
                    <a16:creationId xmlns:a16="http://schemas.microsoft.com/office/drawing/2014/main" id="{0F880C8F-BF88-4E84-912B-D2DEC9FF66A7}"/>
                  </a:ext>
                </a:extLst>
              </p:cNvPr>
              <p:cNvCxnSpPr>
                <a:cxnSpLocks noChangeShapeType="1"/>
              </p:cNvCxnSpPr>
              <p:nvPr/>
            </p:nvCxnSpPr>
            <p:spPr bwMode="auto">
              <a:xfrm>
                <a:off x="2738" y="2318"/>
                <a:ext cx="36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49" name="Text Box 52">
              <a:extLst>
                <a:ext uri="{FF2B5EF4-FFF2-40B4-BE49-F238E27FC236}">
                  <a16:creationId xmlns:a16="http://schemas.microsoft.com/office/drawing/2014/main" id="{48052ADC-08A5-4C9C-ADF6-571E2A247FFD}"/>
                </a:ext>
              </a:extLst>
            </p:cNvPr>
            <p:cNvSpPr txBox="1">
              <a:spLocks noChangeArrowheads="1"/>
            </p:cNvSpPr>
            <p:nvPr/>
          </p:nvSpPr>
          <p:spPr bwMode="auto">
            <a:xfrm>
              <a:off x="2378" y="177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0" name="Group 49">
              <a:extLst>
                <a:ext uri="{FF2B5EF4-FFF2-40B4-BE49-F238E27FC236}">
                  <a16:creationId xmlns:a16="http://schemas.microsoft.com/office/drawing/2014/main" id="{C81E5E02-EF23-4563-94EC-EAB34B7E0DFD}"/>
                </a:ext>
              </a:extLst>
            </p:cNvPr>
            <p:cNvGrpSpPr>
              <a:grpSpLocks/>
            </p:cNvGrpSpPr>
            <p:nvPr/>
          </p:nvGrpSpPr>
          <p:grpSpPr bwMode="auto">
            <a:xfrm rot="5400000">
              <a:off x="4691" y="1419"/>
              <a:ext cx="255" cy="1800"/>
              <a:chOff x="9885" y="1799"/>
              <a:chExt cx="360" cy="1800"/>
            </a:xfrm>
          </p:grpSpPr>
          <p:sp>
            <p:nvSpPr>
              <p:cNvPr id="74" name="Rectangle 73">
                <a:extLst>
                  <a:ext uri="{FF2B5EF4-FFF2-40B4-BE49-F238E27FC236}">
                    <a16:creationId xmlns:a16="http://schemas.microsoft.com/office/drawing/2014/main" id="{F57887F9-9001-4983-9345-AD920A89D07F}"/>
                  </a:ext>
                </a:extLst>
              </p:cNvPr>
              <p:cNvSpPr>
                <a:spLocks noChangeArrowheads="1"/>
              </p:cNvSpPr>
              <p:nvPr/>
            </p:nvSpPr>
            <p:spPr bwMode="auto">
              <a:xfrm>
                <a:off x="9885" y="2339"/>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75" name="Line 55">
                <a:extLst>
                  <a:ext uri="{FF2B5EF4-FFF2-40B4-BE49-F238E27FC236}">
                    <a16:creationId xmlns:a16="http://schemas.microsoft.com/office/drawing/2014/main" id="{5534B90A-007D-4F25-93FF-D63856704D4A}"/>
                  </a:ext>
                </a:extLst>
              </p:cNvPr>
              <p:cNvCxnSpPr>
                <a:cxnSpLocks noChangeShapeType="1"/>
              </p:cNvCxnSpPr>
              <p:nvPr/>
            </p:nvCxnSpPr>
            <p:spPr bwMode="auto">
              <a:xfrm>
                <a:off x="10065" y="1799"/>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6" name="Line 56">
                <a:extLst>
                  <a:ext uri="{FF2B5EF4-FFF2-40B4-BE49-F238E27FC236}">
                    <a16:creationId xmlns:a16="http://schemas.microsoft.com/office/drawing/2014/main" id="{D0043CEA-A650-43B7-AE9F-451BE2C138A0}"/>
                  </a:ext>
                </a:extLst>
              </p:cNvPr>
              <p:cNvCxnSpPr>
                <a:cxnSpLocks noChangeShapeType="1"/>
              </p:cNvCxnSpPr>
              <p:nvPr/>
            </p:nvCxnSpPr>
            <p:spPr bwMode="auto">
              <a:xfrm>
                <a:off x="10065" y="3059"/>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51" name="Text Box 57">
              <a:extLst>
                <a:ext uri="{FF2B5EF4-FFF2-40B4-BE49-F238E27FC236}">
                  <a16:creationId xmlns:a16="http://schemas.microsoft.com/office/drawing/2014/main" id="{AC71265C-F3BE-4A34-AD9C-6D1FB553561C}"/>
                </a:ext>
              </a:extLst>
            </p:cNvPr>
            <p:cNvSpPr txBox="1">
              <a:spLocks noChangeArrowheads="1"/>
            </p:cNvSpPr>
            <p:nvPr/>
          </p:nvSpPr>
          <p:spPr bwMode="auto">
            <a:xfrm>
              <a:off x="4637" y="178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2" name="Group 51">
              <a:extLst>
                <a:ext uri="{FF2B5EF4-FFF2-40B4-BE49-F238E27FC236}">
                  <a16:creationId xmlns:a16="http://schemas.microsoft.com/office/drawing/2014/main" id="{9E78775B-AFDB-4605-BA40-498E4F9FB77C}"/>
                </a:ext>
              </a:extLst>
            </p:cNvPr>
            <p:cNvGrpSpPr>
              <a:grpSpLocks/>
            </p:cNvGrpSpPr>
            <p:nvPr/>
          </p:nvGrpSpPr>
          <p:grpSpPr bwMode="auto">
            <a:xfrm>
              <a:off x="6338" y="2139"/>
              <a:ext cx="1560" cy="369"/>
              <a:chOff x="6338" y="2139"/>
              <a:chExt cx="1560" cy="369"/>
            </a:xfrm>
          </p:grpSpPr>
          <p:cxnSp>
            <p:nvCxnSpPr>
              <p:cNvPr id="61" name="Line 59">
                <a:extLst>
                  <a:ext uri="{FF2B5EF4-FFF2-40B4-BE49-F238E27FC236}">
                    <a16:creationId xmlns:a16="http://schemas.microsoft.com/office/drawing/2014/main" id="{DAEBA2A8-C52C-4BE3-973C-8BAF6AB0FF05}"/>
                  </a:ext>
                </a:extLst>
              </p:cNvPr>
              <p:cNvCxnSpPr>
                <a:cxnSpLocks noChangeShapeType="1"/>
              </p:cNvCxnSpPr>
              <p:nvPr/>
            </p:nvCxnSpPr>
            <p:spPr bwMode="auto">
              <a:xfrm>
                <a:off x="6338" y="2334"/>
                <a:ext cx="48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2" name="Line 60">
                <a:extLst>
                  <a:ext uri="{FF2B5EF4-FFF2-40B4-BE49-F238E27FC236}">
                    <a16:creationId xmlns:a16="http://schemas.microsoft.com/office/drawing/2014/main" id="{28F8E1B9-0C87-4783-AE18-C198482FB513}"/>
                  </a:ext>
                </a:extLst>
              </p:cNvPr>
              <p:cNvCxnSpPr>
                <a:cxnSpLocks noChangeShapeType="1"/>
              </p:cNvCxnSpPr>
              <p:nvPr/>
            </p:nvCxnSpPr>
            <p:spPr bwMode="auto">
              <a:xfrm flipV="1">
                <a:off x="6818" y="2154"/>
                <a:ext cx="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3" name="Line 61">
                <a:extLst>
                  <a:ext uri="{FF2B5EF4-FFF2-40B4-BE49-F238E27FC236}">
                    <a16:creationId xmlns:a16="http://schemas.microsoft.com/office/drawing/2014/main" id="{7359D998-8D87-4ED7-9DF8-834AEDF347DB}"/>
                  </a:ext>
                </a:extLst>
              </p:cNvPr>
              <p:cNvCxnSpPr>
                <a:cxnSpLocks noChangeShapeType="1"/>
              </p:cNvCxnSpPr>
              <p:nvPr/>
            </p:nvCxnSpPr>
            <p:spPr bwMode="auto">
              <a:xfrm>
                <a:off x="6812" y="2148"/>
                <a:ext cx="12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4" name="Line 62">
                <a:extLst>
                  <a:ext uri="{FF2B5EF4-FFF2-40B4-BE49-F238E27FC236}">
                    <a16:creationId xmlns:a16="http://schemas.microsoft.com/office/drawing/2014/main" id="{D73A8486-C406-4F45-9C39-B20B2DB03D8A}"/>
                  </a:ext>
                </a:extLst>
              </p:cNvPr>
              <p:cNvCxnSpPr>
                <a:cxnSpLocks noChangeShapeType="1"/>
              </p:cNvCxnSpPr>
              <p:nvPr/>
            </p:nvCxnSpPr>
            <p:spPr bwMode="auto">
              <a:xfrm flipV="1">
                <a:off x="6938" y="2139"/>
                <a:ext cx="0" cy="36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5" name="Line 63">
                <a:extLst>
                  <a:ext uri="{FF2B5EF4-FFF2-40B4-BE49-F238E27FC236}">
                    <a16:creationId xmlns:a16="http://schemas.microsoft.com/office/drawing/2014/main" id="{6C1C9723-341E-45A6-8BCB-57858F0AB660}"/>
                  </a:ext>
                </a:extLst>
              </p:cNvPr>
              <p:cNvCxnSpPr>
                <a:cxnSpLocks noChangeShapeType="1"/>
              </p:cNvCxnSpPr>
              <p:nvPr/>
            </p:nvCxnSpPr>
            <p:spPr bwMode="auto">
              <a:xfrm>
                <a:off x="6944" y="2508"/>
                <a:ext cx="108"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6" name="Line 64">
                <a:extLst>
                  <a:ext uri="{FF2B5EF4-FFF2-40B4-BE49-F238E27FC236}">
                    <a16:creationId xmlns:a16="http://schemas.microsoft.com/office/drawing/2014/main" id="{8D918292-8A78-4907-B3E7-45943EBDD605}"/>
                  </a:ext>
                </a:extLst>
              </p:cNvPr>
              <p:cNvCxnSpPr>
                <a:cxnSpLocks noChangeShapeType="1"/>
              </p:cNvCxnSpPr>
              <p:nvPr/>
            </p:nvCxnSpPr>
            <p:spPr bwMode="auto">
              <a:xfrm>
                <a:off x="7052" y="2148"/>
                <a:ext cx="12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7" name="Line 65">
                <a:extLst>
                  <a:ext uri="{FF2B5EF4-FFF2-40B4-BE49-F238E27FC236}">
                    <a16:creationId xmlns:a16="http://schemas.microsoft.com/office/drawing/2014/main" id="{7DF95FC8-424F-4567-8D63-513039A1AC3A}"/>
                  </a:ext>
                </a:extLst>
              </p:cNvPr>
              <p:cNvCxnSpPr>
                <a:cxnSpLocks noChangeShapeType="1"/>
              </p:cNvCxnSpPr>
              <p:nvPr/>
            </p:nvCxnSpPr>
            <p:spPr bwMode="auto">
              <a:xfrm flipV="1">
                <a:off x="7052" y="2143"/>
                <a:ext cx="0" cy="36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8" name="Line 66">
                <a:extLst>
                  <a:ext uri="{FF2B5EF4-FFF2-40B4-BE49-F238E27FC236}">
                    <a16:creationId xmlns:a16="http://schemas.microsoft.com/office/drawing/2014/main" id="{E95E52DD-F2F0-4B22-B917-9111B15046C3}"/>
                  </a:ext>
                </a:extLst>
              </p:cNvPr>
              <p:cNvCxnSpPr>
                <a:cxnSpLocks noChangeShapeType="1"/>
              </p:cNvCxnSpPr>
              <p:nvPr/>
            </p:nvCxnSpPr>
            <p:spPr bwMode="auto">
              <a:xfrm flipV="1">
                <a:off x="7178" y="2139"/>
                <a:ext cx="0" cy="36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9" name="Line 67">
                <a:extLst>
                  <a:ext uri="{FF2B5EF4-FFF2-40B4-BE49-F238E27FC236}">
                    <a16:creationId xmlns:a16="http://schemas.microsoft.com/office/drawing/2014/main" id="{83BD82A7-5AB1-4643-A76D-083914B16B78}"/>
                  </a:ext>
                </a:extLst>
              </p:cNvPr>
              <p:cNvCxnSpPr>
                <a:cxnSpLocks noChangeShapeType="1"/>
              </p:cNvCxnSpPr>
              <p:nvPr/>
            </p:nvCxnSpPr>
            <p:spPr bwMode="auto">
              <a:xfrm>
                <a:off x="7172" y="2508"/>
                <a:ext cx="12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0" name="Line 68">
                <a:extLst>
                  <a:ext uri="{FF2B5EF4-FFF2-40B4-BE49-F238E27FC236}">
                    <a16:creationId xmlns:a16="http://schemas.microsoft.com/office/drawing/2014/main" id="{C3020B56-8ACD-4406-BB50-15133CE34FCB}"/>
                  </a:ext>
                </a:extLst>
              </p:cNvPr>
              <p:cNvCxnSpPr>
                <a:cxnSpLocks noChangeShapeType="1"/>
              </p:cNvCxnSpPr>
              <p:nvPr/>
            </p:nvCxnSpPr>
            <p:spPr bwMode="auto">
              <a:xfrm>
                <a:off x="7292" y="2145"/>
                <a:ext cx="12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1" name="Line 69">
                <a:extLst>
                  <a:ext uri="{FF2B5EF4-FFF2-40B4-BE49-F238E27FC236}">
                    <a16:creationId xmlns:a16="http://schemas.microsoft.com/office/drawing/2014/main" id="{353098C7-DD75-4114-87DA-3410C36E2037}"/>
                  </a:ext>
                </a:extLst>
              </p:cNvPr>
              <p:cNvCxnSpPr>
                <a:cxnSpLocks noChangeShapeType="1"/>
              </p:cNvCxnSpPr>
              <p:nvPr/>
            </p:nvCxnSpPr>
            <p:spPr bwMode="auto">
              <a:xfrm flipV="1">
                <a:off x="7298" y="2139"/>
                <a:ext cx="0" cy="36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2" name="Line 70">
                <a:extLst>
                  <a:ext uri="{FF2B5EF4-FFF2-40B4-BE49-F238E27FC236}">
                    <a16:creationId xmlns:a16="http://schemas.microsoft.com/office/drawing/2014/main" id="{0FD7EEC4-D391-451D-B0E4-7AD0E7808B29}"/>
                  </a:ext>
                </a:extLst>
              </p:cNvPr>
              <p:cNvCxnSpPr>
                <a:cxnSpLocks noChangeShapeType="1"/>
              </p:cNvCxnSpPr>
              <p:nvPr/>
            </p:nvCxnSpPr>
            <p:spPr bwMode="auto">
              <a:xfrm>
                <a:off x="7418" y="2319"/>
                <a:ext cx="48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3" name="Line 71">
                <a:extLst>
                  <a:ext uri="{FF2B5EF4-FFF2-40B4-BE49-F238E27FC236}">
                    <a16:creationId xmlns:a16="http://schemas.microsoft.com/office/drawing/2014/main" id="{E85B9751-CE84-4952-BEBB-7110826955B2}"/>
                  </a:ext>
                </a:extLst>
              </p:cNvPr>
              <p:cNvCxnSpPr>
                <a:cxnSpLocks noChangeShapeType="1"/>
              </p:cNvCxnSpPr>
              <p:nvPr/>
            </p:nvCxnSpPr>
            <p:spPr bwMode="auto">
              <a:xfrm flipV="1">
                <a:off x="7424" y="2148"/>
                <a:ext cx="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53" name="Text Box 72">
              <a:extLst>
                <a:ext uri="{FF2B5EF4-FFF2-40B4-BE49-F238E27FC236}">
                  <a16:creationId xmlns:a16="http://schemas.microsoft.com/office/drawing/2014/main" id="{A495A379-D7A4-4F4B-8C8F-77976C5C54AB}"/>
                </a:ext>
              </a:extLst>
            </p:cNvPr>
            <p:cNvSpPr txBox="1">
              <a:spLocks noChangeArrowheads="1"/>
            </p:cNvSpPr>
            <p:nvPr/>
          </p:nvSpPr>
          <p:spPr bwMode="auto">
            <a:xfrm>
              <a:off x="1778" y="3010"/>
              <a:ext cx="6120"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1 – Circuit symbols for Resistance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Text Box 73">
              <a:extLst>
                <a:ext uri="{FF2B5EF4-FFF2-40B4-BE49-F238E27FC236}">
                  <a16:creationId xmlns:a16="http://schemas.microsoft.com/office/drawing/2014/main" id="{5427B0F7-0299-4F1A-8642-B0EA95C9D6AC}"/>
                </a:ext>
              </a:extLst>
            </p:cNvPr>
            <p:cNvSpPr txBox="1">
              <a:spLocks noChangeArrowheads="1"/>
            </p:cNvSpPr>
            <p:nvPr/>
          </p:nvSpPr>
          <p:spPr bwMode="auto">
            <a:xfrm>
              <a:off x="2378" y="2678"/>
              <a:ext cx="45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 Box 74">
              <a:extLst>
                <a:ext uri="{FF2B5EF4-FFF2-40B4-BE49-F238E27FC236}">
                  <a16:creationId xmlns:a16="http://schemas.microsoft.com/office/drawing/2014/main" id="{E19E014D-A1B8-4590-AA48-FBC884435587}"/>
                </a:ext>
              </a:extLst>
            </p:cNvPr>
            <p:cNvSpPr txBox="1">
              <a:spLocks noChangeArrowheads="1"/>
            </p:cNvSpPr>
            <p:nvPr/>
          </p:nvSpPr>
          <p:spPr bwMode="auto">
            <a:xfrm>
              <a:off x="4527" y="2689"/>
              <a:ext cx="48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6" name="Text Box 75">
              <a:extLst>
                <a:ext uri="{FF2B5EF4-FFF2-40B4-BE49-F238E27FC236}">
                  <a16:creationId xmlns:a16="http://schemas.microsoft.com/office/drawing/2014/main" id="{FEFAD8A0-B39F-4544-A013-37AA8E8C4367}"/>
                </a:ext>
              </a:extLst>
            </p:cNvPr>
            <p:cNvSpPr txBox="1">
              <a:spLocks noChangeArrowheads="1"/>
            </p:cNvSpPr>
            <p:nvPr/>
          </p:nvSpPr>
          <p:spPr bwMode="auto">
            <a:xfrm>
              <a:off x="6860" y="2702"/>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7" name="Line 76">
              <a:extLst>
                <a:ext uri="{FF2B5EF4-FFF2-40B4-BE49-F238E27FC236}">
                  <a16:creationId xmlns:a16="http://schemas.microsoft.com/office/drawing/2014/main" id="{BCCC9956-14DA-40B8-AACE-CD58786F4681}"/>
                </a:ext>
              </a:extLst>
            </p:cNvPr>
            <p:cNvCxnSpPr>
              <a:cxnSpLocks noChangeShapeType="1"/>
            </p:cNvCxnSpPr>
            <p:nvPr/>
          </p:nvCxnSpPr>
          <p:spPr bwMode="auto">
            <a:xfrm>
              <a:off x="1538" y="2318"/>
              <a:ext cx="240" cy="0"/>
            </a:xfrm>
            <a:prstGeom prst="line">
              <a:avLst/>
            </a:prstGeom>
            <a:noFill/>
            <a:ln w="25400">
              <a:solidFill>
                <a:srgbClr val="002060"/>
              </a:solidFill>
              <a:round/>
              <a:headEnd/>
              <a:tailEnd type="arrow" w="lg" len="lg"/>
            </a:ln>
            <a:extLst>
              <a:ext uri="{909E8E84-426E-40DD-AFC4-6F175D3DCCD1}">
                <a14:hiddenFill xmlns:a14="http://schemas.microsoft.com/office/drawing/2010/main">
                  <a:noFill/>
                </a14:hiddenFill>
              </a:ext>
            </a:extLst>
          </p:spPr>
        </p:cxnSp>
        <p:sp>
          <p:nvSpPr>
            <p:cNvPr id="58" name="Text Box 77">
              <a:extLst>
                <a:ext uri="{FF2B5EF4-FFF2-40B4-BE49-F238E27FC236}">
                  <a16:creationId xmlns:a16="http://schemas.microsoft.com/office/drawing/2014/main" id="{F5E23C7C-9E8C-472B-BCD6-584DD7D3D501}"/>
                </a:ext>
              </a:extLst>
            </p:cNvPr>
            <p:cNvSpPr txBox="1">
              <a:spLocks noChangeArrowheads="1"/>
            </p:cNvSpPr>
            <p:nvPr/>
          </p:nvSpPr>
          <p:spPr bwMode="auto">
            <a:xfrm>
              <a:off x="1575" y="1928"/>
              <a:ext cx="56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9" name="Text Box 78">
              <a:extLst>
                <a:ext uri="{FF2B5EF4-FFF2-40B4-BE49-F238E27FC236}">
                  <a16:creationId xmlns:a16="http://schemas.microsoft.com/office/drawing/2014/main" id="{7B32466C-2BAE-471B-B62C-B35146A92355}"/>
                </a:ext>
              </a:extLst>
            </p:cNvPr>
            <p:cNvSpPr txBox="1">
              <a:spLocks noChangeArrowheads="1"/>
            </p:cNvSpPr>
            <p:nvPr/>
          </p:nvSpPr>
          <p:spPr bwMode="auto">
            <a:xfrm>
              <a:off x="1624" y="2498"/>
              <a:ext cx="63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0" name="Line 79">
              <a:extLst>
                <a:ext uri="{FF2B5EF4-FFF2-40B4-BE49-F238E27FC236}">
                  <a16:creationId xmlns:a16="http://schemas.microsoft.com/office/drawing/2014/main" id="{94DEFBF1-F574-4D29-B959-BC726D4A751B}"/>
                </a:ext>
              </a:extLst>
            </p:cNvPr>
            <p:cNvCxnSpPr>
              <a:cxnSpLocks noChangeShapeType="1"/>
            </p:cNvCxnSpPr>
            <p:nvPr/>
          </p:nvCxnSpPr>
          <p:spPr bwMode="auto">
            <a:xfrm>
              <a:off x="2138" y="2618"/>
              <a:ext cx="720" cy="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1450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539F0-0201-4217-A300-EE4B61D9D248}"/>
              </a:ext>
            </a:extLst>
          </p:cNvPr>
          <p:cNvSpPr>
            <a:spLocks noGrp="1"/>
          </p:cNvSpPr>
          <p:nvPr>
            <p:ph type="title"/>
          </p:nvPr>
        </p:nvSpPr>
        <p:spPr/>
        <p:txBody>
          <a:bodyPr>
            <a:normAutofit fontScale="90000"/>
          </a:bodyPr>
          <a:lstStyle/>
          <a:p>
            <a:r>
              <a:rPr lang="en-GB" i="1" dirty="0">
                <a:latin typeface="Times New Roman" panose="02020603050405020304" pitchFamily="18" charset="0"/>
                <a:cs typeface="Times New Roman" panose="02020603050405020304" pitchFamily="18" charset="0"/>
              </a:rPr>
              <a:t>Inductance</a:t>
            </a:r>
            <a:r>
              <a:rPr lang="en-GB" dirty="0">
                <a:latin typeface="Times New Roman" panose="02020603050405020304" pitchFamily="18" charset="0"/>
                <a:cs typeface="Times New Roman" panose="02020603050405020304" pitchFamily="18" charset="0"/>
              </a:rPr>
              <a:t> </a:t>
            </a:r>
            <a:r>
              <a:rPr lang="en-GB" dirty="0">
                <a:solidFill>
                  <a:srgbClr val="002060"/>
                </a:solidFill>
                <a:latin typeface="Times New Roman" panose="02020603050405020304" pitchFamily="18" charset="0"/>
                <a:cs typeface="Times New Roman" panose="02020603050405020304" pitchFamily="18" charset="0"/>
              </a:rPr>
              <a:t>(unit: </a:t>
            </a:r>
            <a:r>
              <a:rPr lang="en-GB" i="1" dirty="0">
                <a:solidFill>
                  <a:srgbClr val="002060"/>
                </a:solidFill>
                <a:latin typeface="Times New Roman" panose="02020603050405020304" pitchFamily="18" charset="0"/>
                <a:cs typeface="Times New Roman" panose="02020603050405020304" pitchFamily="18" charset="0"/>
              </a:rPr>
              <a:t>henry,</a:t>
            </a:r>
            <a:r>
              <a:rPr lang="en-GB" dirty="0">
                <a:solidFill>
                  <a:srgbClr val="002060"/>
                </a:solidFill>
                <a:latin typeface="Times New Roman" panose="02020603050405020304" pitchFamily="18" charset="0"/>
                <a:cs typeface="Times New Roman" panose="02020603050405020304" pitchFamily="18" charset="0"/>
              </a:rPr>
              <a:t> H; letter symbol:  </a:t>
            </a:r>
            <a:r>
              <a:rPr lang="en-GB" i="1" dirty="0">
                <a:solidFill>
                  <a:srgbClr val="002060"/>
                </a:solidFill>
                <a:latin typeface="Times New Roman" panose="02020603050405020304" pitchFamily="18" charset="0"/>
                <a:cs typeface="Times New Roman" panose="02020603050405020304" pitchFamily="18" charset="0"/>
              </a:rPr>
              <a:t>L , l</a:t>
            </a:r>
            <a:r>
              <a:rPr lang="en-GB" dirty="0">
                <a:solidFill>
                  <a:srgbClr val="002060"/>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7E61084A-C390-4A44-982A-9C9DB16216DB}"/>
              </a:ext>
            </a:extLst>
          </p:cNvPr>
          <p:cNvPicPr/>
          <p:nvPr/>
        </p:nvPicPr>
        <p:blipFill>
          <a:blip r:embed="rId3">
            <a:clrChange>
              <a:clrFrom>
                <a:srgbClr val="CDFFFF"/>
              </a:clrFrom>
              <a:clrTo>
                <a:srgbClr val="CDFFFF">
                  <a:alpha val="0"/>
                </a:srgbClr>
              </a:clrTo>
            </a:clrChange>
            <a:extLst>
              <a:ext uri="{28A0092B-C50C-407E-A947-70E740481C1C}">
                <a14:useLocalDpi xmlns:a14="http://schemas.microsoft.com/office/drawing/2010/main" val="0"/>
              </a:ext>
            </a:extLst>
          </a:blip>
          <a:srcRect/>
          <a:stretch>
            <a:fillRect/>
          </a:stretch>
        </p:blipFill>
        <p:spPr bwMode="auto">
          <a:xfrm>
            <a:off x="9922890" y="1374395"/>
            <a:ext cx="1891665" cy="1878965"/>
          </a:xfrm>
          <a:prstGeom prst="rect">
            <a:avLst/>
          </a:prstGeom>
          <a:noFill/>
        </p:spPr>
      </p:pic>
      <p:pic>
        <p:nvPicPr>
          <p:cNvPr id="131" name="Picture 130">
            <a:extLst>
              <a:ext uri="{FF2B5EF4-FFF2-40B4-BE49-F238E27FC236}">
                <a16:creationId xmlns:a16="http://schemas.microsoft.com/office/drawing/2014/main" id="{A5C72BB0-21CC-4080-BDDF-BD48B7343578}"/>
              </a:ext>
            </a:extLst>
          </p:cNvPr>
          <p:cNvPicPr>
            <a:picLocks noChangeAspect="1"/>
          </p:cNvPicPr>
          <p:nvPr/>
        </p:nvPicPr>
        <p:blipFill>
          <a:blip r:embed="rId4"/>
          <a:stretch>
            <a:fillRect/>
          </a:stretch>
        </p:blipFill>
        <p:spPr>
          <a:xfrm>
            <a:off x="941937" y="1195673"/>
            <a:ext cx="8211696" cy="2057687"/>
          </a:xfrm>
          <a:prstGeom prst="rect">
            <a:avLst/>
          </a:prstGeom>
        </p:spPr>
      </p:pic>
      <p:sp>
        <p:nvSpPr>
          <p:cNvPr id="132" name="Rectangle 2">
            <a:extLst>
              <a:ext uri="{FF2B5EF4-FFF2-40B4-BE49-F238E27FC236}">
                <a16:creationId xmlns:a16="http://schemas.microsoft.com/office/drawing/2014/main" id="{B97E5ACD-A1BD-44BD-968C-076E5718DD65}"/>
              </a:ext>
            </a:extLst>
          </p:cNvPr>
          <p:cNvSpPr>
            <a:spLocks noChangeArrowheads="1"/>
          </p:cNvSpPr>
          <p:nvPr/>
        </p:nvSpPr>
        <p:spPr bwMode="auto">
          <a:xfrm>
            <a:off x="602166" y="2969994"/>
            <a:ext cx="10751634" cy="331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v =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Lp</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 v/</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Lp</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Current through inductor cannot change suddenly.</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0"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p(t) = v(t)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w(t)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v(t)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dt =</a:t>
            </a:r>
            <a:endPar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endParaRPr>
          </a:p>
        </p:txBody>
      </p:sp>
      <p:graphicFrame>
        <p:nvGraphicFramePr>
          <p:cNvPr id="133" name="Object 132">
            <a:extLst>
              <a:ext uri="{FF2B5EF4-FFF2-40B4-BE49-F238E27FC236}">
                <a16:creationId xmlns:a16="http://schemas.microsoft.com/office/drawing/2014/main" id="{8E92177A-A2A2-4BBB-BE16-A1BD47DCAF9C}"/>
              </a:ext>
            </a:extLst>
          </p:cNvPr>
          <p:cNvGraphicFramePr>
            <a:graphicFrameLocks noChangeAspect="1"/>
          </p:cNvGraphicFramePr>
          <p:nvPr>
            <p:extLst>
              <p:ext uri="{D42A27DB-BD31-4B8C-83A1-F6EECF244321}">
                <p14:modId xmlns:p14="http://schemas.microsoft.com/office/powerpoint/2010/main" val="2470168080"/>
              </p:ext>
            </p:extLst>
          </p:nvPr>
        </p:nvGraphicFramePr>
        <p:xfrm>
          <a:off x="4394196" y="5361827"/>
          <a:ext cx="2219325" cy="1200150"/>
        </p:xfrm>
        <a:graphic>
          <a:graphicData uri="http://schemas.openxmlformats.org/presentationml/2006/ole">
            <mc:AlternateContent xmlns:mc="http://schemas.openxmlformats.org/markup-compatibility/2006">
              <mc:Choice xmlns:v="urn:schemas-microsoft-com:vml" Requires="v">
                <p:oleObj spid="_x0000_s15386" r:id="rId5" imgW="723586" imgH="393529" progId="Equation.3">
                  <p:embed/>
                </p:oleObj>
              </mc:Choice>
              <mc:Fallback>
                <p:oleObj r:id="rId5" imgW="723586" imgH="393529"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4196" y="5361827"/>
                        <a:ext cx="2219325"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4" name="Rectangle 3">
            <a:extLst>
              <a:ext uri="{FF2B5EF4-FFF2-40B4-BE49-F238E27FC236}">
                <a16:creationId xmlns:a16="http://schemas.microsoft.com/office/drawing/2014/main" id="{58E5A14E-B865-46A1-A5B4-BC930359A76C}"/>
              </a:ext>
            </a:extLst>
          </p:cNvPr>
          <p:cNvSpPr>
            <a:spLocks noChangeArrowheads="1"/>
          </p:cNvSpPr>
          <p:nvPr/>
        </p:nvSpPr>
        <p:spPr bwMode="auto">
          <a:xfrm>
            <a:off x="6613521" y="5591641"/>
            <a:ext cx="42552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.di = </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½L</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2</a:t>
            </a:r>
            <a:r>
              <a:rPr kumimoji="0" lang="en-GB" altLang="en-US" sz="1100" b="0" i="0" u="none" strike="noStrike" cap="none" normalizeH="0" baseline="0" dirty="0">
                <a:ln>
                  <a:noFill/>
                </a:ln>
                <a:solidFill>
                  <a:schemeClr val="tx1"/>
                </a:solidFill>
                <a:effectLst/>
                <a:sym typeface="Symbol" panose="05050102010706020507" pitchFamily="18" charset="2"/>
              </a:rPr>
              <a:t> </a:t>
            </a:r>
            <a:endPar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671799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2543-4170-4905-ABE5-4021C242CCBF}"/>
              </a:ext>
            </a:extLst>
          </p:cNvPr>
          <p:cNvSpPr>
            <a:spLocks noGrp="1"/>
          </p:cNvSpPr>
          <p:nvPr>
            <p:ph type="title"/>
          </p:nvPr>
        </p:nvSpPr>
        <p:spPr>
          <a:xfrm>
            <a:off x="429715" y="572551"/>
            <a:ext cx="10924085" cy="482745"/>
          </a:xfrm>
        </p:spPr>
        <p:txBody>
          <a:bodyPr>
            <a:normAutofit fontScale="90000"/>
          </a:bodyPr>
          <a:lstStyle/>
          <a:p>
            <a:r>
              <a:rPr lang="en-GB" i="1" dirty="0"/>
              <a:t>Capacitance</a:t>
            </a:r>
            <a:r>
              <a:rPr lang="en-GB" dirty="0"/>
              <a:t> </a:t>
            </a:r>
            <a:r>
              <a:rPr lang="en-GB" dirty="0">
                <a:solidFill>
                  <a:srgbClr val="002060"/>
                </a:solidFill>
              </a:rPr>
              <a:t>(unit: </a:t>
            </a:r>
            <a:r>
              <a:rPr lang="en-GB" i="1" dirty="0">
                <a:solidFill>
                  <a:srgbClr val="002060"/>
                </a:solidFill>
              </a:rPr>
              <a:t>farad,</a:t>
            </a:r>
            <a:r>
              <a:rPr lang="en-GB" dirty="0">
                <a:solidFill>
                  <a:srgbClr val="002060"/>
                </a:solidFill>
              </a:rPr>
              <a:t> F; letter symbol:  </a:t>
            </a:r>
            <a:r>
              <a:rPr lang="en-GB" i="1" dirty="0">
                <a:solidFill>
                  <a:srgbClr val="002060"/>
                </a:solidFill>
              </a:rPr>
              <a:t>C, c</a:t>
            </a:r>
            <a:r>
              <a:rPr lang="en-GB" dirty="0">
                <a:solidFill>
                  <a:srgbClr val="002060"/>
                </a:solidFill>
              </a:rPr>
              <a:t> )</a:t>
            </a:r>
          </a:p>
        </p:txBody>
      </p:sp>
      <p:pic>
        <p:nvPicPr>
          <p:cNvPr id="4" name="Picture 3">
            <a:extLst>
              <a:ext uri="{FF2B5EF4-FFF2-40B4-BE49-F238E27FC236}">
                <a16:creationId xmlns:a16="http://schemas.microsoft.com/office/drawing/2014/main" id="{DBA9CD13-5332-49F3-AFB9-758A7460DA94}"/>
              </a:ext>
            </a:extLst>
          </p:cNvPr>
          <p:cNvPicPr/>
          <p:nvPr/>
        </p:nvPicPr>
        <p:blipFill>
          <a:blip r:embed="rId3">
            <a:clrChange>
              <a:clrFrom>
                <a:srgbClr val="CDFFFF"/>
              </a:clrFrom>
              <a:clrTo>
                <a:srgbClr val="CDFFFF">
                  <a:alpha val="0"/>
                </a:srgbClr>
              </a:clrTo>
            </a:clrChange>
            <a:extLst>
              <a:ext uri="{28A0092B-C50C-407E-A947-70E740481C1C}">
                <a14:useLocalDpi xmlns:a14="http://schemas.microsoft.com/office/drawing/2010/main" val="0"/>
              </a:ext>
            </a:extLst>
          </a:blip>
          <a:srcRect/>
          <a:stretch>
            <a:fillRect/>
          </a:stretch>
        </p:blipFill>
        <p:spPr bwMode="auto">
          <a:xfrm>
            <a:off x="9010253" y="1191716"/>
            <a:ext cx="2876550" cy="1733550"/>
          </a:xfrm>
          <a:prstGeom prst="rect">
            <a:avLst/>
          </a:prstGeom>
          <a:noFill/>
        </p:spPr>
      </p:pic>
      <p:grpSp>
        <p:nvGrpSpPr>
          <p:cNvPr id="5" name="Group 4">
            <a:extLst>
              <a:ext uri="{FF2B5EF4-FFF2-40B4-BE49-F238E27FC236}">
                <a16:creationId xmlns:a16="http://schemas.microsoft.com/office/drawing/2014/main" id="{97816207-4A6D-4DC9-915F-DCA95F9DE0B5}"/>
              </a:ext>
            </a:extLst>
          </p:cNvPr>
          <p:cNvGrpSpPr>
            <a:grpSpLocks/>
          </p:cNvGrpSpPr>
          <p:nvPr/>
        </p:nvGrpSpPr>
        <p:grpSpPr bwMode="auto">
          <a:xfrm>
            <a:off x="1842837" y="1015397"/>
            <a:ext cx="6980073" cy="1972103"/>
            <a:chOff x="1532" y="8789"/>
            <a:chExt cx="4326" cy="1331"/>
          </a:xfrm>
        </p:grpSpPr>
        <p:sp>
          <p:nvSpPr>
            <p:cNvPr id="6" name="Text Box 126">
              <a:extLst>
                <a:ext uri="{FF2B5EF4-FFF2-40B4-BE49-F238E27FC236}">
                  <a16:creationId xmlns:a16="http://schemas.microsoft.com/office/drawing/2014/main" id="{8128E4A5-4D09-4A29-92CC-71E50EAB152B}"/>
                </a:ext>
              </a:extLst>
            </p:cNvPr>
            <p:cNvSpPr txBox="1">
              <a:spLocks noChangeArrowheads="1"/>
            </p:cNvSpPr>
            <p:nvPr/>
          </p:nvSpPr>
          <p:spPr bwMode="auto">
            <a:xfrm>
              <a:off x="2250" y="8804"/>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7">
              <a:extLst>
                <a:ext uri="{FF2B5EF4-FFF2-40B4-BE49-F238E27FC236}">
                  <a16:creationId xmlns:a16="http://schemas.microsoft.com/office/drawing/2014/main" id="{5640678E-62DA-4F2C-8DA4-AC00DD3E42D1}"/>
                </a:ext>
              </a:extLst>
            </p:cNvPr>
            <p:cNvSpPr txBox="1">
              <a:spLocks noChangeArrowheads="1"/>
            </p:cNvSpPr>
            <p:nvPr/>
          </p:nvSpPr>
          <p:spPr bwMode="auto">
            <a:xfrm>
              <a:off x="4565" y="88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 Box 128">
              <a:extLst>
                <a:ext uri="{FF2B5EF4-FFF2-40B4-BE49-F238E27FC236}">
                  <a16:creationId xmlns:a16="http://schemas.microsoft.com/office/drawing/2014/main" id="{F3D1241E-C1DA-4ECB-B5DD-9B6A6BBDDC71}"/>
                </a:ext>
              </a:extLst>
            </p:cNvPr>
            <p:cNvSpPr txBox="1">
              <a:spLocks noChangeArrowheads="1"/>
            </p:cNvSpPr>
            <p:nvPr/>
          </p:nvSpPr>
          <p:spPr bwMode="auto">
            <a:xfrm>
              <a:off x="1538" y="9778"/>
              <a:ext cx="4320"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3 – Circuit symbols</a:t>
              </a:r>
              <a:r>
                <a:rPr lang="en-GB" sz="3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for Capacitance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129">
              <a:extLst>
                <a:ext uri="{FF2B5EF4-FFF2-40B4-BE49-F238E27FC236}">
                  <a16:creationId xmlns:a16="http://schemas.microsoft.com/office/drawing/2014/main" id="{2DD16C99-57A3-4BDF-8F0A-490689B309E9}"/>
                </a:ext>
              </a:extLst>
            </p:cNvPr>
            <p:cNvSpPr txBox="1">
              <a:spLocks noChangeArrowheads="1"/>
            </p:cNvSpPr>
            <p:nvPr/>
          </p:nvSpPr>
          <p:spPr bwMode="auto">
            <a:xfrm>
              <a:off x="2450" y="952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130">
              <a:extLst>
                <a:ext uri="{FF2B5EF4-FFF2-40B4-BE49-F238E27FC236}">
                  <a16:creationId xmlns:a16="http://schemas.microsoft.com/office/drawing/2014/main" id="{B44D6C5F-BF14-4572-8EE8-127A8697E81A}"/>
                </a:ext>
              </a:extLst>
            </p:cNvPr>
            <p:cNvSpPr txBox="1">
              <a:spLocks noChangeArrowheads="1"/>
            </p:cNvSpPr>
            <p:nvPr/>
          </p:nvSpPr>
          <p:spPr bwMode="auto">
            <a:xfrm>
              <a:off x="4825" y="941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Line 131">
              <a:extLst>
                <a:ext uri="{FF2B5EF4-FFF2-40B4-BE49-F238E27FC236}">
                  <a16:creationId xmlns:a16="http://schemas.microsoft.com/office/drawing/2014/main" id="{8AC5F2AE-DC32-4533-8D16-8FF83024DE39}"/>
                </a:ext>
              </a:extLst>
            </p:cNvPr>
            <p:cNvCxnSpPr>
              <a:cxnSpLocks noChangeShapeType="1"/>
            </p:cNvCxnSpPr>
            <p:nvPr/>
          </p:nvCxnSpPr>
          <p:spPr bwMode="auto">
            <a:xfrm>
              <a:off x="1826" y="9084"/>
              <a:ext cx="240" cy="0"/>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sp>
          <p:nvSpPr>
            <p:cNvPr id="12" name="Text Box 132">
              <a:extLst>
                <a:ext uri="{FF2B5EF4-FFF2-40B4-BE49-F238E27FC236}">
                  <a16:creationId xmlns:a16="http://schemas.microsoft.com/office/drawing/2014/main" id="{76DD0E6E-154B-44B4-AD53-93FAEC596CAD}"/>
                </a:ext>
              </a:extLst>
            </p:cNvPr>
            <p:cNvSpPr txBox="1">
              <a:spLocks noChangeArrowheads="1"/>
            </p:cNvSpPr>
            <p:nvPr/>
          </p:nvSpPr>
          <p:spPr bwMode="auto">
            <a:xfrm>
              <a:off x="1532" y="8789"/>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133">
              <a:extLst>
                <a:ext uri="{FF2B5EF4-FFF2-40B4-BE49-F238E27FC236}">
                  <a16:creationId xmlns:a16="http://schemas.microsoft.com/office/drawing/2014/main" id="{65890C1F-7F80-4707-B30A-DD4E5C120FE4}"/>
                </a:ext>
              </a:extLst>
            </p:cNvPr>
            <p:cNvSpPr txBox="1">
              <a:spLocks noChangeArrowheads="1"/>
            </p:cNvSpPr>
            <p:nvPr/>
          </p:nvSpPr>
          <p:spPr bwMode="auto">
            <a:xfrm>
              <a:off x="1706" y="9245"/>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4" name="Line 134">
              <a:extLst>
                <a:ext uri="{FF2B5EF4-FFF2-40B4-BE49-F238E27FC236}">
                  <a16:creationId xmlns:a16="http://schemas.microsoft.com/office/drawing/2014/main" id="{EA55F216-8C41-4C11-A107-32BD0FF4D53C}"/>
                </a:ext>
              </a:extLst>
            </p:cNvPr>
            <p:cNvCxnSpPr>
              <a:cxnSpLocks noChangeShapeType="1"/>
            </p:cNvCxnSpPr>
            <p:nvPr/>
          </p:nvCxnSpPr>
          <p:spPr bwMode="auto">
            <a:xfrm>
              <a:off x="2111" y="9362"/>
              <a:ext cx="1080" cy="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grpSp>
          <p:nvGrpSpPr>
            <p:cNvPr id="15" name="Group 14">
              <a:extLst>
                <a:ext uri="{FF2B5EF4-FFF2-40B4-BE49-F238E27FC236}">
                  <a16:creationId xmlns:a16="http://schemas.microsoft.com/office/drawing/2014/main" id="{4A809EE9-8A6F-4E2A-AC8F-15CCF36EA9A1}"/>
                </a:ext>
              </a:extLst>
            </p:cNvPr>
            <p:cNvGrpSpPr>
              <a:grpSpLocks noChangeAspect="1"/>
            </p:cNvGrpSpPr>
            <p:nvPr/>
          </p:nvGrpSpPr>
          <p:grpSpPr bwMode="auto">
            <a:xfrm rot="10800000" flipV="1">
              <a:off x="1772" y="8908"/>
              <a:ext cx="1492" cy="360"/>
              <a:chOff x="6218" y="1958"/>
              <a:chExt cx="1320" cy="360"/>
            </a:xfrm>
          </p:grpSpPr>
          <p:cxnSp>
            <p:nvCxnSpPr>
              <p:cNvPr id="20" name="Line 136">
                <a:extLst>
                  <a:ext uri="{FF2B5EF4-FFF2-40B4-BE49-F238E27FC236}">
                    <a16:creationId xmlns:a16="http://schemas.microsoft.com/office/drawing/2014/main" id="{0C6B837B-9C59-43C5-B00C-104F9072DEC6}"/>
                  </a:ext>
                </a:extLst>
              </p:cNvPr>
              <p:cNvCxnSpPr>
                <a:cxnSpLocks noChangeAspect="1" noChangeShapeType="1"/>
              </p:cNvCxnSpPr>
              <p:nvPr/>
            </p:nvCxnSpPr>
            <p:spPr bwMode="auto">
              <a:xfrm>
                <a:off x="6218" y="2138"/>
                <a:ext cx="60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1" name="Line 137">
                <a:extLst>
                  <a:ext uri="{FF2B5EF4-FFF2-40B4-BE49-F238E27FC236}">
                    <a16:creationId xmlns:a16="http://schemas.microsoft.com/office/drawing/2014/main" id="{7A738B13-A8D8-46A9-BF7D-F00105EF55CB}"/>
                  </a:ext>
                </a:extLst>
              </p:cNvPr>
              <p:cNvCxnSpPr>
                <a:cxnSpLocks noChangeAspect="1" noChangeShapeType="1"/>
              </p:cNvCxnSpPr>
              <p:nvPr/>
            </p:nvCxnSpPr>
            <p:spPr bwMode="auto">
              <a:xfrm>
                <a:off x="6938" y="2138"/>
                <a:ext cx="60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2" name="Line 138">
                <a:extLst>
                  <a:ext uri="{FF2B5EF4-FFF2-40B4-BE49-F238E27FC236}">
                    <a16:creationId xmlns:a16="http://schemas.microsoft.com/office/drawing/2014/main" id="{15B6FFD0-4C0F-4335-A6FC-EF2DA9EDF9F8}"/>
                  </a:ext>
                </a:extLst>
              </p:cNvPr>
              <p:cNvCxnSpPr>
                <a:cxnSpLocks noChangeAspect="1" noChangeShapeType="1"/>
              </p:cNvCxnSpPr>
              <p:nvPr/>
            </p:nvCxnSpPr>
            <p:spPr bwMode="auto">
              <a:xfrm>
                <a:off x="6818" y="1958"/>
                <a:ext cx="0" cy="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3" name="Line 139">
                <a:extLst>
                  <a:ext uri="{FF2B5EF4-FFF2-40B4-BE49-F238E27FC236}">
                    <a16:creationId xmlns:a16="http://schemas.microsoft.com/office/drawing/2014/main" id="{F9EF4DDE-E575-4695-B15E-DDA7521EC4C3}"/>
                  </a:ext>
                </a:extLst>
              </p:cNvPr>
              <p:cNvCxnSpPr>
                <a:cxnSpLocks noChangeAspect="1" noChangeShapeType="1"/>
              </p:cNvCxnSpPr>
              <p:nvPr/>
            </p:nvCxnSpPr>
            <p:spPr bwMode="auto">
              <a:xfrm>
                <a:off x="6938" y="1958"/>
                <a:ext cx="0" cy="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6" name="Line 140">
              <a:extLst>
                <a:ext uri="{FF2B5EF4-FFF2-40B4-BE49-F238E27FC236}">
                  <a16:creationId xmlns:a16="http://schemas.microsoft.com/office/drawing/2014/main" id="{8E7D2F41-ECA2-4FB1-8061-F2335C3479A7}"/>
                </a:ext>
              </a:extLst>
            </p:cNvPr>
            <p:cNvCxnSpPr>
              <a:cxnSpLocks noChangeAspect="1" noChangeShapeType="1"/>
            </p:cNvCxnSpPr>
            <p:nvPr/>
          </p:nvCxnSpPr>
          <p:spPr bwMode="auto">
            <a:xfrm rot="10800000" flipV="1">
              <a:off x="4946" y="9130"/>
              <a:ext cx="678"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7" name="Line 141">
              <a:extLst>
                <a:ext uri="{FF2B5EF4-FFF2-40B4-BE49-F238E27FC236}">
                  <a16:creationId xmlns:a16="http://schemas.microsoft.com/office/drawing/2014/main" id="{B4D46563-8F75-4B99-A561-C50A12D901F9}"/>
                </a:ext>
              </a:extLst>
            </p:cNvPr>
            <p:cNvCxnSpPr>
              <a:cxnSpLocks noChangeAspect="1" noChangeShapeType="1"/>
            </p:cNvCxnSpPr>
            <p:nvPr/>
          </p:nvCxnSpPr>
          <p:spPr bwMode="auto">
            <a:xfrm rot="10800000" flipV="1">
              <a:off x="4178" y="9130"/>
              <a:ext cx="678"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8" name="Line 142">
              <a:extLst>
                <a:ext uri="{FF2B5EF4-FFF2-40B4-BE49-F238E27FC236}">
                  <a16:creationId xmlns:a16="http://schemas.microsoft.com/office/drawing/2014/main" id="{837C093C-5444-47E1-96A5-C589729FCC81}"/>
                </a:ext>
              </a:extLst>
            </p:cNvPr>
            <p:cNvCxnSpPr>
              <a:cxnSpLocks noChangeAspect="1" noChangeShapeType="1"/>
            </p:cNvCxnSpPr>
            <p:nvPr/>
          </p:nvCxnSpPr>
          <p:spPr bwMode="auto">
            <a:xfrm rot="10800000" flipV="1">
              <a:off x="4856" y="8927"/>
              <a:ext cx="0" cy="406"/>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9" name="Arc 143">
              <a:extLst>
                <a:ext uri="{FF2B5EF4-FFF2-40B4-BE49-F238E27FC236}">
                  <a16:creationId xmlns:a16="http://schemas.microsoft.com/office/drawing/2014/main" id="{AB7DED08-4E16-4520-993F-A822E227CE4F}"/>
                </a:ext>
              </a:extLst>
            </p:cNvPr>
            <p:cNvSpPr>
              <a:spLocks noChangeAspect="1"/>
            </p:cNvSpPr>
            <p:nvPr/>
          </p:nvSpPr>
          <p:spPr bwMode="auto">
            <a:xfrm flipH="1">
              <a:off x="4958" y="8914"/>
              <a:ext cx="142" cy="436"/>
            </a:xfrm>
            <a:custGeom>
              <a:avLst/>
              <a:gdLst>
                <a:gd name="G0" fmla="+- 0 0 0"/>
                <a:gd name="G1" fmla="+- 19368 0 0"/>
                <a:gd name="G2" fmla="+- 21600 0 0"/>
                <a:gd name="T0" fmla="*/ 9563 w 21600"/>
                <a:gd name="T1" fmla="*/ 0 h 40968"/>
                <a:gd name="T2" fmla="*/ 0 w 21600"/>
                <a:gd name="T3" fmla="*/ 40968 h 40968"/>
                <a:gd name="T4" fmla="*/ 0 w 21600"/>
                <a:gd name="T5" fmla="*/ 19368 h 40968"/>
              </a:gdLst>
              <a:ahLst/>
              <a:cxnLst>
                <a:cxn ang="0">
                  <a:pos x="T0" y="T1"/>
                </a:cxn>
                <a:cxn ang="0">
                  <a:pos x="T2" y="T3"/>
                </a:cxn>
                <a:cxn ang="0">
                  <a:pos x="T4" y="T5"/>
                </a:cxn>
              </a:cxnLst>
              <a:rect l="0" t="0" r="r" b="b"/>
              <a:pathLst>
                <a:path w="21600" h="40968" fill="none" extrusionOk="0">
                  <a:moveTo>
                    <a:pt x="9562" y="0"/>
                  </a:moveTo>
                  <a:cubicBezTo>
                    <a:pt x="16933" y="3639"/>
                    <a:pt x="21600" y="11147"/>
                    <a:pt x="21600" y="19368"/>
                  </a:cubicBezTo>
                  <a:cubicBezTo>
                    <a:pt x="21600" y="31297"/>
                    <a:pt x="11929" y="40968"/>
                    <a:pt x="0" y="40968"/>
                  </a:cubicBezTo>
                </a:path>
                <a:path w="21600" h="40968" stroke="0" extrusionOk="0">
                  <a:moveTo>
                    <a:pt x="9562" y="0"/>
                  </a:moveTo>
                  <a:cubicBezTo>
                    <a:pt x="16933" y="3639"/>
                    <a:pt x="21600" y="11147"/>
                    <a:pt x="21600" y="19368"/>
                  </a:cubicBezTo>
                  <a:cubicBezTo>
                    <a:pt x="21600" y="31297"/>
                    <a:pt x="11929" y="40968"/>
                    <a:pt x="0" y="40968"/>
                  </a:cubicBezTo>
                  <a:lnTo>
                    <a:pt x="0" y="19368"/>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4" name="Rectangle 2">
            <a:extLst>
              <a:ext uri="{FF2B5EF4-FFF2-40B4-BE49-F238E27FC236}">
                <a16:creationId xmlns:a16="http://schemas.microsoft.com/office/drawing/2014/main" id="{7C979713-3A58-4E8F-A5E2-6C6E2C750056}"/>
              </a:ext>
            </a:extLst>
          </p:cNvPr>
          <p:cNvSpPr>
            <a:spLocks noChangeArrowheads="1"/>
          </p:cNvSpPr>
          <p:nvPr/>
        </p:nvSpPr>
        <p:spPr bwMode="auto">
          <a:xfrm>
            <a:off x="327303" y="2872006"/>
            <a:ext cx="9590049" cy="331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381000" algn="r"/>
                <a:tab pos="1447800" algn="r"/>
                <a:tab pos="2865438" algn="ctr"/>
                <a:tab pos="2895600" algn="l"/>
                <a:tab pos="57308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pt-BR"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v = (</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1/Cp) </a:t>
            </a:r>
            <a:r>
              <a:rPr kumimoji="0" lang="pt-BR"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 	 i = Cp v</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Voltage across capacitor cannot change suddenly.</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p(t) = v(t)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a:t>
            </a:r>
            <a:r>
              <a:rPr kumimoji="0" lang="en-GB"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tab pos="381000" algn="r"/>
                <a:tab pos="1447800" algn="r"/>
                <a:tab pos="2865438" algn="ctr"/>
                <a:tab pos="2895600" algn="l"/>
                <a:tab pos="5730875" algn="r"/>
              </a:tabLst>
            </a:pP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w(t)=</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v(t)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i(t)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dt =</a:t>
            </a:r>
            <a:endPar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endParaRPr>
          </a:p>
        </p:txBody>
      </p:sp>
      <p:graphicFrame>
        <p:nvGraphicFramePr>
          <p:cNvPr id="25" name="Object 24">
            <a:extLst>
              <a:ext uri="{FF2B5EF4-FFF2-40B4-BE49-F238E27FC236}">
                <a16:creationId xmlns:a16="http://schemas.microsoft.com/office/drawing/2014/main" id="{883D8401-BAF4-44F2-B0FA-2BCAAECFD7C8}"/>
              </a:ext>
            </a:extLst>
          </p:cNvPr>
          <p:cNvGraphicFramePr>
            <a:graphicFrameLocks noChangeAspect="1"/>
          </p:cNvGraphicFramePr>
          <p:nvPr>
            <p:extLst>
              <p:ext uri="{D42A27DB-BD31-4B8C-83A1-F6EECF244321}">
                <p14:modId xmlns:p14="http://schemas.microsoft.com/office/powerpoint/2010/main" val="154548828"/>
              </p:ext>
            </p:extLst>
          </p:nvPr>
        </p:nvGraphicFramePr>
        <p:xfrm>
          <a:off x="3793509" y="5181587"/>
          <a:ext cx="2419350" cy="1190625"/>
        </p:xfrm>
        <a:graphic>
          <a:graphicData uri="http://schemas.openxmlformats.org/presentationml/2006/ole">
            <mc:AlternateContent xmlns:mc="http://schemas.openxmlformats.org/markup-compatibility/2006">
              <mc:Choice xmlns:v="urn:schemas-microsoft-com:vml" Requires="v">
                <p:oleObj spid="_x0000_s16409" r:id="rId4" imgW="787058" imgH="393529" progId="Equation.3">
                  <p:embed/>
                </p:oleObj>
              </mc:Choice>
              <mc:Fallback>
                <p:oleObj r:id="rId4" imgW="787058" imgH="393529"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3509" y="5181587"/>
                        <a:ext cx="2419350" cy="119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3">
            <a:extLst>
              <a:ext uri="{FF2B5EF4-FFF2-40B4-BE49-F238E27FC236}">
                <a16:creationId xmlns:a16="http://schemas.microsoft.com/office/drawing/2014/main" id="{411DCC15-BEE1-41D3-B40F-9C68E81D3E6B}"/>
              </a:ext>
            </a:extLst>
          </p:cNvPr>
          <p:cNvSpPr>
            <a:spLocks noChangeArrowheads="1"/>
          </p:cNvSpPr>
          <p:nvPr/>
        </p:nvSpPr>
        <p:spPr bwMode="auto">
          <a:xfrm>
            <a:off x="6063619" y="5459281"/>
            <a:ext cx="45404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C</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v</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.dv  =  </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½C</a:t>
            </a:r>
            <a:r>
              <a:rPr kumimoji="0" lang="de-DE"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V</a:t>
            </a:r>
            <a:r>
              <a:rPr kumimoji="0" lang="de-DE" altLang="en-US" sz="2400" b="0" i="1"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 </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2</a:t>
            </a:r>
            <a:r>
              <a:rPr kumimoji="0" lang="en-GB" altLang="en-US" sz="1100" b="0" i="0" u="none" strike="noStrike" cap="none" normalizeH="0" baseline="0" dirty="0">
                <a:ln>
                  <a:noFill/>
                </a:ln>
                <a:solidFill>
                  <a:schemeClr val="tx1"/>
                </a:solidFill>
                <a:effectLst/>
                <a:sym typeface="Symbol" panose="05050102010706020507" pitchFamily="18" charset="2"/>
              </a:rPr>
              <a:t> </a:t>
            </a:r>
            <a:endPar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416936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2543-4170-4905-ABE5-4021C242CCBF}"/>
              </a:ext>
            </a:extLst>
          </p:cNvPr>
          <p:cNvSpPr>
            <a:spLocks noGrp="1"/>
          </p:cNvSpPr>
          <p:nvPr>
            <p:ph type="title"/>
          </p:nvPr>
        </p:nvSpPr>
        <p:spPr>
          <a:xfrm>
            <a:off x="429716" y="634543"/>
            <a:ext cx="10074734" cy="504630"/>
          </a:xfrm>
        </p:spPr>
        <p:txBody>
          <a:bodyPr>
            <a:normAutofit fontScale="90000"/>
          </a:bodyPr>
          <a:lstStyle/>
          <a:p>
            <a:r>
              <a:rPr lang="en-GB"/>
              <a:t>Review of AC theory</a:t>
            </a:r>
            <a:endParaRPr lang="en-GB" dirty="0"/>
          </a:p>
        </p:txBody>
      </p:sp>
      <p:grpSp>
        <p:nvGrpSpPr>
          <p:cNvPr id="3" name="Group 2">
            <a:extLst>
              <a:ext uri="{FF2B5EF4-FFF2-40B4-BE49-F238E27FC236}">
                <a16:creationId xmlns:a16="http://schemas.microsoft.com/office/drawing/2014/main" id="{B0D8D76E-E424-48CE-A558-678D8FFC8095}"/>
              </a:ext>
            </a:extLst>
          </p:cNvPr>
          <p:cNvGrpSpPr>
            <a:grpSpLocks noChangeAspect="1"/>
          </p:cNvGrpSpPr>
          <p:nvPr/>
        </p:nvGrpSpPr>
        <p:grpSpPr bwMode="auto">
          <a:xfrm>
            <a:off x="6096000" y="1658760"/>
            <a:ext cx="5884647" cy="3086100"/>
            <a:chOff x="2530" y="1711"/>
            <a:chExt cx="11376" cy="5221"/>
          </a:xfrm>
        </p:grpSpPr>
        <p:cxnSp>
          <p:nvCxnSpPr>
            <p:cNvPr id="4" name="Line 1795">
              <a:extLst>
                <a:ext uri="{FF2B5EF4-FFF2-40B4-BE49-F238E27FC236}">
                  <a16:creationId xmlns:a16="http://schemas.microsoft.com/office/drawing/2014/main" id="{DB5EF71C-461F-4FF6-AB5A-C00A40AE77A7}"/>
                </a:ext>
              </a:extLst>
            </p:cNvPr>
            <p:cNvCxnSpPr>
              <a:cxnSpLocks noChangeShapeType="1"/>
            </p:cNvCxnSpPr>
            <p:nvPr/>
          </p:nvCxnSpPr>
          <p:spPr bwMode="auto">
            <a:xfrm flipH="1">
              <a:off x="5401" y="2124"/>
              <a:ext cx="0" cy="2837"/>
            </a:xfrm>
            <a:prstGeom prst="line">
              <a:avLst/>
            </a:prstGeom>
            <a:noFill/>
            <a:ln w="28575">
              <a:solidFill>
                <a:srgbClr val="002060"/>
              </a:solidFill>
              <a:round/>
              <a:headEnd type="arrow" w="lg" len="lg"/>
              <a:tailEnd type="none" w="sm" len="med"/>
            </a:ln>
            <a:extLst>
              <a:ext uri="{909E8E84-426E-40DD-AFC4-6F175D3DCCD1}">
                <a14:hiddenFill xmlns:a14="http://schemas.microsoft.com/office/drawing/2010/main">
                  <a:noFill/>
                </a14:hiddenFill>
              </a:ext>
            </a:extLst>
          </p:spPr>
        </p:cxnSp>
        <p:cxnSp>
          <p:nvCxnSpPr>
            <p:cNvPr id="5" name="Line 1796">
              <a:extLst>
                <a:ext uri="{FF2B5EF4-FFF2-40B4-BE49-F238E27FC236}">
                  <a16:creationId xmlns:a16="http://schemas.microsoft.com/office/drawing/2014/main" id="{BEA811E0-C3D9-45AE-8863-B9AFECF46BC5}"/>
                </a:ext>
              </a:extLst>
            </p:cNvPr>
            <p:cNvCxnSpPr>
              <a:cxnSpLocks noChangeShapeType="1"/>
            </p:cNvCxnSpPr>
            <p:nvPr/>
          </p:nvCxnSpPr>
          <p:spPr bwMode="auto">
            <a:xfrm flipH="1">
              <a:off x="2530" y="5004"/>
              <a:ext cx="11376" cy="4"/>
            </a:xfrm>
            <a:prstGeom prst="line">
              <a:avLst/>
            </a:prstGeom>
            <a:noFill/>
            <a:ln w="28575">
              <a:solidFill>
                <a:srgbClr val="002060"/>
              </a:solidFill>
              <a:round/>
              <a:headEnd type="arrow" w="lg" len="lg"/>
              <a:tailEnd type="none" w="sm" len="med"/>
            </a:ln>
            <a:extLst>
              <a:ext uri="{909E8E84-426E-40DD-AFC4-6F175D3DCCD1}">
                <a14:hiddenFill xmlns:a14="http://schemas.microsoft.com/office/drawing/2010/main">
                  <a:noFill/>
                </a14:hiddenFill>
              </a:ext>
            </a:extLst>
          </p:spPr>
        </p:cxnSp>
        <p:sp>
          <p:nvSpPr>
            <p:cNvPr id="6" name="Rectangle 5">
              <a:extLst>
                <a:ext uri="{FF2B5EF4-FFF2-40B4-BE49-F238E27FC236}">
                  <a16:creationId xmlns:a16="http://schemas.microsoft.com/office/drawing/2014/main" id="{16069103-49A1-4F06-A5BE-17AAEF1BB35F}"/>
                </a:ext>
              </a:extLst>
            </p:cNvPr>
            <p:cNvSpPr>
              <a:spLocks noChangeArrowheads="1"/>
            </p:cNvSpPr>
            <p:nvPr/>
          </p:nvSpPr>
          <p:spPr bwMode="auto">
            <a:xfrm>
              <a:off x="4448" y="1711"/>
              <a:ext cx="981" cy="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002ACFE8-97EC-4D26-AABE-35EC459225A9}"/>
                </a:ext>
              </a:extLst>
            </p:cNvPr>
            <p:cNvSpPr>
              <a:spLocks noChangeArrowheads="1"/>
            </p:cNvSpPr>
            <p:nvPr/>
          </p:nvSpPr>
          <p:spPr bwMode="auto">
            <a:xfrm>
              <a:off x="13248" y="4135"/>
              <a:ext cx="495"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Line 1805">
              <a:extLst>
                <a:ext uri="{FF2B5EF4-FFF2-40B4-BE49-F238E27FC236}">
                  <a16:creationId xmlns:a16="http://schemas.microsoft.com/office/drawing/2014/main" id="{16343410-F9DE-4997-ABA5-6060BAD6BD3A}"/>
                </a:ext>
              </a:extLst>
            </p:cNvPr>
            <p:cNvCxnSpPr>
              <a:cxnSpLocks noChangeShapeType="1"/>
            </p:cNvCxnSpPr>
            <p:nvPr/>
          </p:nvCxnSpPr>
          <p:spPr bwMode="auto">
            <a:xfrm flipH="1">
              <a:off x="5101" y="5801"/>
              <a:ext cx="1413" cy="4"/>
            </a:xfrm>
            <a:prstGeom prst="line">
              <a:avLst/>
            </a:prstGeom>
            <a:noFill/>
            <a:ln w="19050">
              <a:solidFill>
                <a:srgbClr val="002060"/>
              </a:solidFill>
              <a:round/>
              <a:headEnd type="none" w="sm" len="med"/>
              <a:tailEnd type="arrow" w="lg" len="lg"/>
            </a:ln>
            <a:extLst>
              <a:ext uri="{909E8E84-426E-40DD-AFC4-6F175D3DCCD1}">
                <a14:hiddenFill xmlns:a14="http://schemas.microsoft.com/office/drawing/2010/main">
                  <a:noFill/>
                </a14:hiddenFill>
              </a:ext>
            </a:extLst>
          </p:spPr>
        </p:cxnSp>
        <p:cxnSp>
          <p:nvCxnSpPr>
            <p:cNvPr id="9" name="Line 1806">
              <a:extLst>
                <a:ext uri="{FF2B5EF4-FFF2-40B4-BE49-F238E27FC236}">
                  <a16:creationId xmlns:a16="http://schemas.microsoft.com/office/drawing/2014/main" id="{FEE7209A-AFD7-49D8-8D56-AC305A41B6B3}"/>
                </a:ext>
              </a:extLst>
            </p:cNvPr>
            <p:cNvCxnSpPr>
              <a:cxnSpLocks noChangeShapeType="1"/>
            </p:cNvCxnSpPr>
            <p:nvPr/>
          </p:nvCxnSpPr>
          <p:spPr bwMode="auto">
            <a:xfrm>
              <a:off x="7626" y="5801"/>
              <a:ext cx="1468" cy="4"/>
            </a:xfrm>
            <a:prstGeom prst="line">
              <a:avLst/>
            </a:prstGeom>
            <a:noFill/>
            <a:ln w="19050">
              <a:solidFill>
                <a:srgbClr val="002060"/>
              </a:solidFill>
              <a:round/>
              <a:headEnd type="none" w="sm" len="med"/>
              <a:tailEnd type="arrow" w="lg" len="lg"/>
            </a:ln>
            <a:extLst>
              <a:ext uri="{909E8E84-426E-40DD-AFC4-6F175D3DCCD1}">
                <a14:hiddenFill xmlns:a14="http://schemas.microsoft.com/office/drawing/2010/main">
                  <a:noFill/>
                </a14:hiddenFill>
              </a:ext>
            </a:extLst>
          </p:spPr>
        </p:cxnSp>
        <p:sp>
          <p:nvSpPr>
            <p:cNvPr id="10" name="Rectangle 9">
              <a:extLst>
                <a:ext uri="{FF2B5EF4-FFF2-40B4-BE49-F238E27FC236}">
                  <a16:creationId xmlns:a16="http://schemas.microsoft.com/office/drawing/2014/main" id="{45398A57-9912-4F34-B7D1-40EBE73461BD}"/>
                </a:ext>
              </a:extLst>
            </p:cNvPr>
            <p:cNvSpPr>
              <a:spLocks noChangeArrowheads="1"/>
            </p:cNvSpPr>
            <p:nvPr/>
          </p:nvSpPr>
          <p:spPr bwMode="auto">
            <a:xfrm>
              <a:off x="6679" y="5362"/>
              <a:ext cx="719" cy="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Line 1808">
              <a:extLst>
                <a:ext uri="{FF2B5EF4-FFF2-40B4-BE49-F238E27FC236}">
                  <a16:creationId xmlns:a16="http://schemas.microsoft.com/office/drawing/2014/main" id="{24B8AB62-6C94-4A54-A561-99EE2D103162}"/>
                </a:ext>
              </a:extLst>
            </p:cNvPr>
            <p:cNvCxnSpPr>
              <a:cxnSpLocks noChangeShapeType="1"/>
            </p:cNvCxnSpPr>
            <p:nvPr/>
          </p:nvCxnSpPr>
          <p:spPr bwMode="auto">
            <a:xfrm flipH="1">
              <a:off x="6101" y="2855"/>
              <a:ext cx="1412" cy="4"/>
            </a:xfrm>
            <a:prstGeom prst="line">
              <a:avLst/>
            </a:prstGeom>
            <a:noFill/>
            <a:ln w="19050">
              <a:solidFill>
                <a:srgbClr val="002060"/>
              </a:solidFill>
              <a:round/>
              <a:headEnd type="none" w="sm" len="med"/>
              <a:tailEnd type="arrow" w="lg" len="lg"/>
            </a:ln>
            <a:extLst>
              <a:ext uri="{909E8E84-426E-40DD-AFC4-6F175D3DCCD1}">
                <a14:hiddenFill xmlns:a14="http://schemas.microsoft.com/office/drawing/2010/main">
                  <a:noFill/>
                </a14:hiddenFill>
              </a:ext>
            </a:extLst>
          </p:spPr>
        </p:cxnSp>
        <p:cxnSp>
          <p:nvCxnSpPr>
            <p:cNvPr id="12" name="Line 1809">
              <a:extLst>
                <a:ext uri="{FF2B5EF4-FFF2-40B4-BE49-F238E27FC236}">
                  <a16:creationId xmlns:a16="http://schemas.microsoft.com/office/drawing/2014/main" id="{310E071C-B604-47F3-9E35-893AAF2FDEC5}"/>
                </a:ext>
              </a:extLst>
            </p:cNvPr>
            <p:cNvCxnSpPr>
              <a:cxnSpLocks noChangeShapeType="1"/>
            </p:cNvCxnSpPr>
            <p:nvPr/>
          </p:nvCxnSpPr>
          <p:spPr bwMode="auto">
            <a:xfrm>
              <a:off x="8541" y="2855"/>
              <a:ext cx="1468" cy="4"/>
            </a:xfrm>
            <a:prstGeom prst="line">
              <a:avLst/>
            </a:prstGeom>
            <a:noFill/>
            <a:ln w="19050">
              <a:solidFill>
                <a:srgbClr val="002060"/>
              </a:solidFill>
              <a:round/>
              <a:headEnd type="none" w="sm" len="med"/>
              <a:tailEnd type="arrow" w="lg" len="lg"/>
            </a:ln>
            <a:extLst>
              <a:ext uri="{909E8E84-426E-40DD-AFC4-6F175D3DCCD1}">
                <a14:hiddenFill xmlns:a14="http://schemas.microsoft.com/office/drawing/2010/main">
                  <a:noFill/>
                </a14:hiddenFill>
              </a:ext>
            </a:extLst>
          </p:spPr>
        </p:cxnSp>
        <p:sp>
          <p:nvSpPr>
            <p:cNvPr id="13" name="Rectangle 12">
              <a:extLst>
                <a:ext uri="{FF2B5EF4-FFF2-40B4-BE49-F238E27FC236}">
                  <a16:creationId xmlns:a16="http://schemas.microsoft.com/office/drawing/2014/main" id="{BAAFFFAE-B94D-4501-8911-452F0D89B630}"/>
                </a:ext>
              </a:extLst>
            </p:cNvPr>
            <p:cNvSpPr>
              <a:spLocks noChangeArrowheads="1"/>
            </p:cNvSpPr>
            <p:nvPr/>
          </p:nvSpPr>
          <p:spPr bwMode="auto">
            <a:xfrm>
              <a:off x="7679" y="2320"/>
              <a:ext cx="718" cy="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4" name="Line 1811">
              <a:extLst>
                <a:ext uri="{FF2B5EF4-FFF2-40B4-BE49-F238E27FC236}">
                  <a16:creationId xmlns:a16="http://schemas.microsoft.com/office/drawing/2014/main" id="{BF338A5A-3D20-45B3-B200-56953E682058}"/>
                </a:ext>
              </a:extLst>
            </p:cNvPr>
            <p:cNvCxnSpPr>
              <a:cxnSpLocks noChangeShapeType="1"/>
            </p:cNvCxnSpPr>
            <p:nvPr/>
          </p:nvCxnSpPr>
          <p:spPr bwMode="auto">
            <a:xfrm>
              <a:off x="5088" y="5066"/>
              <a:ext cx="3" cy="936"/>
            </a:xfrm>
            <a:prstGeom prst="line">
              <a:avLst/>
            </a:prstGeom>
            <a:noFill/>
            <a:ln w="28575">
              <a:solidFill>
                <a:srgbClr val="000000"/>
              </a:solidFill>
              <a:prstDash val="dash"/>
              <a:round/>
              <a:headEnd type="none" w="sm" len="med"/>
              <a:tailEnd type="none" w="sm" len="med"/>
            </a:ln>
            <a:extLst>
              <a:ext uri="{909E8E84-426E-40DD-AFC4-6F175D3DCCD1}">
                <a14:hiddenFill xmlns:a14="http://schemas.microsoft.com/office/drawing/2010/main">
                  <a:noFill/>
                </a14:hiddenFill>
              </a:ext>
            </a:extLst>
          </p:spPr>
        </p:cxnSp>
        <p:cxnSp>
          <p:nvCxnSpPr>
            <p:cNvPr id="15" name="Line 1812">
              <a:extLst>
                <a:ext uri="{FF2B5EF4-FFF2-40B4-BE49-F238E27FC236}">
                  <a16:creationId xmlns:a16="http://schemas.microsoft.com/office/drawing/2014/main" id="{14BBCF01-74D4-4D9A-9CDD-DF23C0A9BB8F}"/>
                </a:ext>
              </a:extLst>
            </p:cNvPr>
            <p:cNvCxnSpPr>
              <a:cxnSpLocks noChangeShapeType="1"/>
            </p:cNvCxnSpPr>
            <p:nvPr/>
          </p:nvCxnSpPr>
          <p:spPr bwMode="auto">
            <a:xfrm>
              <a:off x="9063" y="5047"/>
              <a:ext cx="3" cy="928"/>
            </a:xfrm>
            <a:prstGeom prst="line">
              <a:avLst/>
            </a:prstGeom>
            <a:noFill/>
            <a:ln w="28575">
              <a:solidFill>
                <a:srgbClr val="000000"/>
              </a:solidFill>
              <a:prstDash val="dash"/>
              <a:round/>
              <a:headEnd type="none" w="sm" len="med"/>
              <a:tailEnd type="none" w="sm" len="med"/>
            </a:ln>
            <a:extLst>
              <a:ext uri="{909E8E84-426E-40DD-AFC4-6F175D3DCCD1}">
                <a14:hiddenFill xmlns:a14="http://schemas.microsoft.com/office/drawing/2010/main">
                  <a:noFill/>
                </a14:hiddenFill>
              </a:ext>
            </a:extLst>
          </p:spPr>
        </p:cxnSp>
        <p:grpSp>
          <p:nvGrpSpPr>
            <p:cNvPr id="16" name="Group 15">
              <a:extLst>
                <a:ext uri="{FF2B5EF4-FFF2-40B4-BE49-F238E27FC236}">
                  <a16:creationId xmlns:a16="http://schemas.microsoft.com/office/drawing/2014/main" id="{4083DC57-7523-4C1F-B2EE-303A736C1A0D}"/>
                </a:ext>
              </a:extLst>
            </p:cNvPr>
            <p:cNvGrpSpPr>
              <a:grpSpLocks/>
            </p:cNvGrpSpPr>
            <p:nvPr/>
          </p:nvGrpSpPr>
          <p:grpSpPr bwMode="auto">
            <a:xfrm>
              <a:off x="3147" y="3040"/>
              <a:ext cx="9909" cy="3892"/>
              <a:chOff x="2787" y="2800"/>
              <a:chExt cx="9909" cy="3892"/>
            </a:xfrm>
          </p:grpSpPr>
          <p:sp>
            <p:nvSpPr>
              <p:cNvPr id="17" name="Freeform 2338">
                <a:extLst>
                  <a:ext uri="{FF2B5EF4-FFF2-40B4-BE49-F238E27FC236}">
                    <a16:creationId xmlns:a16="http://schemas.microsoft.com/office/drawing/2014/main" id="{93F22DD6-8AB8-454A-9C59-95201F750133}"/>
                  </a:ext>
                </a:extLst>
              </p:cNvPr>
              <p:cNvSpPr>
                <a:spLocks/>
              </p:cNvSpPr>
              <p:nvPr/>
            </p:nvSpPr>
            <p:spPr bwMode="auto">
              <a:xfrm>
                <a:off x="4734" y="2815"/>
                <a:ext cx="3972" cy="3877"/>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8" name="Freeform 2339">
                <a:extLst>
                  <a:ext uri="{FF2B5EF4-FFF2-40B4-BE49-F238E27FC236}">
                    <a16:creationId xmlns:a16="http://schemas.microsoft.com/office/drawing/2014/main" id="{BB946ABF-94A3-4A2B-9EB4-17DE882D9457}"/>
                  </a:ext>
                </a:extLst>
              </p:cNvPr>
              <p:cNvSpPr>
                <a:spLocks/>
              </p:cNvSpPr>
              <p:nvPr/>
            </p:nvSpPr>
            <p:spPr bwMode="auto">
              <a:xfrm>
                <a:off x="2787" y="4778"/>
                <a:ext cx="1954" cy="1897"/>
              </a:xfrm>
              <a:custGeom>
                <a:avLst/>
                <a:gdLst>
                  <a:gd name="T0" fmla="*/ 0 w 1954"/>
                  <a:gd name="T1" fmla="*/ 0 h 1897"/>
                  <a:gd name="T2" fmla="*/ 415 w 1954"/>
                  <a:gd name="T3" fmla="*/ 1170 h 1897"/>
                  <a:gd name="T4" fmla="*/ 768 w 1954"/>
                  <a:gd name="T5" fmla="*/ 1792 h 1897"/>
                  <a:gd name="T6" fmla="*/ 1153 w 1954"/>
                  <a:gd name="T7" fmla="*/ 1800 h 1897"/>
                  <a:gd name="T8" fmla="*/ 1528 w 1954"/>
                  <a:gd name="T9" fmla="*/ 1215 h 1897"/>
                  <a:gd name="T10" fmla="*/ 1954 w 1954"/>
                  <a:gd name="T11" fmla="*/ 1 h 1897"/>
                </a:gdLst>
                <a:ahLst/>
                <a:cxnLst>
                  <a:cxn ang="0">
                    <a:pos x="T0" y="T1"/>
                  </a:cxn>
                  <a:cxn ang="0">
                    <a:pos x="T2" y="T3"/>
                  </a:cxn>
                  <a:cxn ang="0">
                    <a:pos x="T4" y="T5"/>
                  </a:cxn>
                  <a:cxn ang="0">
                    <a:pos x="T6" y="T7"/>
                  </a:cxn>
                  <a:cxn ang="0">
                    <a:pos x="T8" y="T9"/>
                  </a:cxn>
                  <a:cxn ang="0">
                    <a:pos x="T10" y="T11"/>
                  </a:cxn>
                </a:cxnLst>
                <a:rect l="0" t="0" r="r" b="b"/>
                <a:pathLst>
                  <a:path w="1954" h="1897">
                    <a:moveTo>
                      <a:pt x="0" y="0"/>
                    </a:moveTo>
                    <a:cubicBezTo>
                      <a:pt x="69" y="195"/>
                      <a:pt x="287" y="871"/>
                      <a:pt x="415" y="1170"/>
                    </a:cubicBezTo>
                    <a:cubicBezTo>
                      <a:pt x="543" y="1469"/>
                      <a:pt x="645" y="1687"/>
                      <a:pt x="768" y="1792"/>
                    </a:cubicBezTo>
                    <a:cubicBezTo>
                      <a:pt x="891" y="1897"/>
                      <a:pt x="1026" y="1896"/>
                      <a:pt x="1153" y="1800"/>
                    </a:cubicBezTo>
                    <a:cubicBezTo>
                      <a:pt x="1280" y="1704"/>
                      <a:pt x="1394" y="1515"/>
                      <a:pt x="1528" y="1215"/>
                    </a:cubicBezTo>
                    <a:cubicBezTo>
                      <a:pt x="1662" y="915"/>
                      <a:pt x="1866" y="254"/>
                      <a:pt x="1954" y="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9" name="Freeform 2340">
                <a:extLst>
                  <a:ext uri="{FF2B5EF4-FFF2-40B4-BE49-F238E27FC236}">
                    <a16:creationId xmlns:a16="http://schemas.microsoft.com/office/drawing/2014/main" id="{8A3AE476-4AC7-4C9A-8D5D-39567C9E1A2A}"/>
                  </a:ext>
                </a:extLst>
              </p:cNvPr>
              <p:cNvSpPr>
                <a:spLocks/>
              </p:cNvSpPr>
              <p:nvPr/>
            </p:nvSpPr>
            <p:spPr bwMode="auto">
              <a:xfrm>
                <a:off x="8724" y="2800"/>
                <a:ext cx="3972" cy="3877"/>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C8CF2691-E257-41E8-8B49-88AF7DCD4B39}"/>
                  </a:ext>
                </a:extLst>
              </p:cNvPr>
              <p:cNvSpPr/>
              <p:nvPr/>
            </p:nvSpPr>
            <p:spPr>
              <a:xfrm>
                <a:off x="598770" y="1249016"/>
                <a:ext cx="5588600" cy="5148782"/>
              </a:xfrm>
              <a:prstGeom prst="rect">
                <a:avLst/>
              </a:prstGeom>
            </p:spPr>
            <p:txBody>
              <a:bodyPr wrap="square">
                <a:spAutoFit/>
              </a:bodyPr>
              <a:lstStyle/>
              <a:p>
                <a:pPr algn="just">
                  <a:lnSpc>
                    <a:spcPct val="115000"/>
                  </a:lnSpc>
                  <a:spcAft>
                    <a:spcPts val="3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Sinusoidal waveform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6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v(t) =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sin(</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 +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Period = 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Angular frequency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ts val="1200"/>
                  </a:spcBef>
                  <a:tabLst>
                    <a:tab pos="40005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Mean value = 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ts val="1200"/>
                  </a:spcBef>
                  <a:tabLst>
                    <a:tab pos="40005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Average value = </a:t>
                </a:r>
                <a14:m>
                  <m:oMath xmlns:m="http://schemas.openxmlformats.org/officeDocument/2006/math">
                    <m:f>
                      <m:fPr>
                        <m:ctrlP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2</m:t>
                        </m:r>
                      </m:num>
                      <m:den>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𝜋</m:t>
                        </m:r>
                      </m:den>
                    </m:f>
                    <m:sSub>
                      <m:sSubPr>
                        <m:ctrlP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𝐴</m:t>
                        </m:r>
                      </m:e>
                      <m:sub>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RMS value = </a:t>
                </a:r>
                <a14:m>
                  <m:oMath xmlns:m="http://schemas.openxmlformats.org/officeDocument/2006/math">
                    <m:f>
                      <m:fPr>
                        <m:ctrlPr>
                          <a:rPr lang="en-GB" sz="3600" i="1">
                            <a:solidFill>
                              <a:srgbClr val="002060"/>
                            </a:solidFill>
                            <a:effectLst/>
                            <a:latin typeface="Cambria Math" panose="02040503050406030204" pitchFamily="18" charset="0"/>
                          </a:rPr>
                        </m:ctrlPr>
                      </m:fPr>
                      <m:num>
                        <m:sSub>
                          <m:sSubPr>
                            <m:ctrlPr>
                              <a:rPr lang="en-GB" sz="3600" i="1">
                                <a:solidFill>
                                  <a:srgbClr val="002060"/>
                                </a:solidFill>
                                <a:effectLst/>
                                <a:latin typeface="Cambria Math" panose="02040503050406030204" pitchFamily="18" charset="0"/>
                              </a:rPr>
                            </m:ctrlPr>
                          </m:sSubPr>
                          <m:e>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𝐴</m:t>
                            </m:r>
                          </m:e>
                          <m:sub>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𝑚</m:t>
                            </m:r>
                          </m:sub>
                        </m:sSub>
                      </m:num>
                      <m:den>
                        <m:rad>
                          <m:radPr>
                            <m:degHide m:val="on"/>
                            <m:ctrlPr>
                              <a:rPr lang="en-GB" sz="3600" i="1">
                                <a:solidFill>
                                  <a:srgbClr val="002060"/>
                                </a:solidFill>
                                <a:effectLst/>
                                <a:latin typeface="Cambria Math" panose="02040503050406030204" pitchFamily="18" charset="0"/>
                              </a:rPr>
                            </m:ctrlPr>
                          </m:radPr>
                          <m:deg/>
                          <m:e>
                            <m:r>
                              <a:rPr lang="en-GB" sz="3600" i="1">
                                <a:solidFill>
                                  <a:srgbClr val="002060"/>
                                </a:solidFill>
                                <a:effectLst/>
                                <a:latin typeface="Cambria Math" panose="02040503050406030204" pitchFamily="18" charset="0"/>
                                <a:ea typeface="Calibri" panose="020F0502020204030204" pitchFamily="34" charset="0"/>
                                <a:cs typeface="Times New Roman" panose="02020603050405020304" pitchFamily="18" charset="0"/>
                              </a:rPr>
                              <m:t>2</m:t>
                            </m:r>
                          </m:e>
                        </m:rad>
                      </m:den>
                    </m:f>
                  </m:oMath>
                </a14:m>
                <a:r>
                  <a:rPr lang="en-GB" sz="3600" dirty="0">
                    <a:solidFill>
                      <a:srgbClr val="002060"/>
                    </a:solidFill>
                    <a:effectLst/>
                    <a:latin typeface="Times New Roman" panose="02020603050405020304" pitchFamily="18" charset="0"/>
                    <a:ea typeface="Calibri" panose="020F0502020204030204" pitchFamily="34" charset="0"/>
                  </a:rPr>
                  <a:t> </a:t>
                </a:r>
                <a:endParaRPr lang="en-GB" sz="3200" dirty="0"/>
              </a:p>
            </p:txBody>
          </p:sp>
        </mc:Choice>
        <mc:Fallback xmlns="">
          <p:sp>
            <p:nvSpPr>
              <p:cNvPr id="20" name="Rectangle 19">
                <a:extLst>
                  <a:ext uri="{FF2B5EF4-FFF2-40B4-BE49-F238E27FC236}">
                    <a16:creationId xmlns:a16="http://schemas.microsoft.com/office/drawing/2014/main" id="{C8CF2691-E257-41E8-8B49-88AF7DCD4B39}"/>
                  </a:ext>
                </a:extLst>
              </p:cNvPr>
              <p:cNvSpPr>
                <a:spLocks noRot="1" noChangeAspect="1" noMove="1" noResize="1" noEditPoints="1" noAdjustHandles="1" noChangeArrowheads="1" noChangeShapeType="1" noTextEdit="1"/>
              </p:cNvSpPr>
              <p:nvPr/>
            </p:nvSpPr>
            <p:spPr>
              <a:xfrm>
                <a:off x="598770" y="1249016"/>
                <a:ext cx="5588600" cy="5148782"/>
              </a:xfrm>
              <a:prstGeom prst="rect">
                <a:avLst/>
              </a:prstGeom>
              <a:blipFill>
                <a:blip r:embed="rId2"/>
                <a:stretch>
                  <a:fillRect l="-2726" t="-1065"/>
                </a:stretch>
              </a:blipFill>
            </p:spPr>
            <p:txBody>
              <a:bodyPr/>
              <a:lstStyle/>
              <a:p>
                <a:r>
                  <a:rPr lang="en-GB">
                    <a:noFill/>
                  </a:rPr>
                  <a:t> </a:t>
                </a:r>
              </a:p>
            </p:txBody>
          </p:sp>
        </mc:Fallback>
      </mc:AlternateContent>
    </p:spTree>
    <p:extLst>
      <p:ext uri="{BB962C8B-B14F-4D97-AF65-F5344CB8AC3E}">
        <p14:creationId xmlns:p14="http://schemas.microsoft.com/office/powerpoint/2010/main" val="2969462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2543-4170-4905-ABE5-4021C242CCBF}"/>
              </a:ext>
            </a:extLst>
          </p:cNvPr>
          <p:cNvSpPr>
            <a:spLocks noGrp="1"/>
          </p:cNvSpPr>
          <p:nvPr>
            <p:ph type="title"/>
          </p:nvPr>
        </p:nvSpPr>
        <p:spPr>
          <a:xfrm>
            <a:off x="429715" y="452347"/>
            <a:ext cx="10924085" cy="482745"/>
          </a:xfrm>
        </p:spPr>
        <p:txBody>
          <a:bodyPr>
            <a:normAutofit fontScale="90000"/>
          </a:bodyPr>
          <a:lstStyle/>
          <a:p>
            <a:r>
              <a:rPr lang="en-GB" dirty="0"/>
              <a:t>Review of Phasor Representation</a:t>
            </a:r>
          </a:p>
        </p:txBody>
      </p:sp>
      <p:sp>
        <p:nvSpPr>
          <p:cNvPr id="3" name="Rectangle 2">
            <a:extLst>
              <a:ext uri="{FF2B5EF4-FFF2-40B4-BE49-F238E27FC236}">
                <a16:creationId xmlns:a16="http://schemas.microsoft.com/office/drawing/2014/main" id="{5545E186-4319-401B-B3CE-878015393531}"/>
              </a:ext>
            </a:extLst>
          </p:cNvPr>
          <p:cNvSpPr/>
          <p:nvPr/>
        </p:nvSpPr>
        <p:spPr>
          <a:xfrm>
            <a:off x="429715" y="785782"/>
            <a:ext cx="11332570" cy="1077218"/>
          </a:xfrm>
          <a:prstGeom prst="rect">
            <a:avLst/>
          </a:prstGeom>
        </p:spPr>
        <p:txBody>
          <a:bodyPr wrap="square">
            <a:spAutoFit/>
          </a:bodyPr>
          <a:lstStyle/>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e</a:t>
            </a:r>
            <a:r>
              <a:rPr lang="en-GB"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cos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j sin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or    e</a:t>
            </a:r>
            <a:r>
              <a:rPr lang="en-GB" sz="2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aseline="30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baseline="30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aseline="30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cos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 j sin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t>
            </a:r>
            <a:endParaRPr lang="en-GB" sz="11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Sinusoidal waveform is the projection of complex exponential  </a:t>
            </a:r>
            <a:r>
              <a:rPr lang="en-GB" sz="3200" dirty="0" err="1">
                <a:solidFill>
                  <a:srgbClr val="002060"/>
                </a:solidFill>
                <a:latin typeface="Times New Roman" panose="02020603050405020304" pitchFamily="18" charset="0"/>
                <a:ea typeface="Calibri" panose="020F0502020204030204" pitchFamily="34" charset="0"/>
              </a:rPr>
              <a:t>e</a:t>
            </a:r>
            <a:r>
              <a:rPr lang="en-GB" sz="3200" baseline="30000" dirty="0" err="1">
                <a:solidFill>
                  <a:srgbClr val="002060"/>
                </a:solidFill>
                <a:latin typeface="Calibri" panose="020F0502020204030204" pitchFamily="34" charset="0"/>
                <a:ea typeface="Calibri" panose="020F0502020204030204" pitchFamily="34" charset="0"/>
                <a:cs typeface="Times New Roman" panose="02020603050405020304" pitchFamily="18" charset="0"/>
              </a:rPr>
              <a:t>j</a:t>
            </a:r>
            <a:r>
              <a:rPr lang="en-GB" sz="3200" baseline="30000" dirty="0" err="1">
                <a:solidFill>
                  <a:srgbClr val="002060"/>
                </a:solidFill>
                <a:latin typeface="Symbol" panose="05050102010706020507" pitchFamily="18" charset="2"/>
                <a:ea typeface="Calibri" panose="020F0502020204030204" pitchFamily="34" charset="0"/>
                <a:cs typeface="Times New Roman" panose="02020603050405020304" pitchFamily="18" charset="0"/>
              </a:rPr>
              <a:t>w</a:t>
            </a:r>
            <a:r>
              <a:rPr lang="en-GB" sz="3200" baseline="30000" dirty="0" err="1">
                <a:solidFill>
                  <a:srgbClr val="002060"/>
                </a:solidFill>
                <a:latin typeface="Calibri" panose="020F0502020204030204" pitchFamily="34" charset="0"/>
                <a:ea typeface="Calibri" panose="020F0502020204030204" pitchFamily="34" charset="0"/>
                <a:cs typeface="Times New Roman" panose="02020603050405020304" pitchFamily="18" charset="0"/>
              </a:rPr>
              <a:t>t</a:t>
            </a:r>
            <a:r>
              <a:rPr lang="en-GB" sz="3200" dirty="0">
                <a:solidFill>
                  <a:srgbClr val="002060"/>
                </a:solidFill>
                <a:latin typeface="Calibri" panose="020F0502020204030204" pitchFamily="34" charset="0"/>
                <a:ea typeface="Calibri" panose="020F0502020204030204" pitchFamily="34" charset="0"/>
                <a:cs typeface="Times New Roman" panose="02020603050405020304" pitchFamily="18" charset="0"/>
              </a:rPr>
              <a:t>.</a:t>
            </a:r>
            <a:endParaRPr lang="en-GB" sz="3200" dirty="0"/>
          </a:p>
        </p:txBody>
      </p:sp>
      <p:grpSp>
        <p:nvGrpSpPr>
          <p:cNvPr id="4" name="Group 3">
            <a:extLst>
              <a:ext uri="{FF2B5EF4-FFF2-40B4-BE49-F238E27FC236}">
                <a16:creationId xmlns:a16="http://schemas.microsoft.com/office/drawing/2014/main" id="{3B811A8C-134B-48FA-A09E-52907432FF0C}"/>
              </a:ext>
            </a:extLst>
          </p:cNvPr>
          <p:cNvGrpSpPr>
            <a:grpSpLocks/>
          </p:cNvGrpSpPr>
          <p:nvPr/>
        </p:nvGrpSpPr>
        <p:grpSpPr bwMode="auto">
          <a:xfrm>
            <a:off x="429715" y="1742952"/>
            <a:ext cx="7973060" cy="2645410"/>
            <a:chOff x="233" y="989"/>
            <a:chExt cx="12556" cy="4166"/>
          </a:xfrm>
        </p:grpSpPr>
        <p:cxnSp>
          <p:nvCxnSpPr>
            <p:cNvPr id="5" name="Line 488">
              <a:extLst>
                <a:ext uri="{FF2B5EF4-FFF2-40B4-BE49-F238E27FC236}">
                  <a16:creationId xmlns:a16="http://schemas.microsoft.com/office/drawing/2014/main" id="{30358782-A22E-4E68-B534-5E41AA1DDFED}"/>
                </a:ext>
              </a:extLst>
            </p:cNvPr>
            <p:cNvCxnSpPr>
              <a:cxnSpLocks noChangeShapeType="1"/>
            </p:cNvCxnSpPr>
            <p:nvPr/>
          </p:nvCxnSpPr>
          <p:spPr bwMode="auto">
            <a:xfrm>
              <a:off x="6452" y="1106"/>
              <a:ext cx="3" cy="3796"/>
            </a:xfrm>
            <a:prstGeom prst="line">
              <a:avLst/>
            </a:prstGeom>
            <a:noFill/>
            <a:ln w="28575">
              <a:solidFill>
                <a:srgbClr val="002060"/>
              </a:solidFill>
              <a:round/>
              <a:headEnd type="arrow" w="sm" len="med"/>
              <a:tailEnd type="none" w="sm" len="med"/>
            </a:ln>
            <a:extLst>
              <a:ext uri="{909E8E84-426E-40DD-AFC4-6F175D3DCCD1}">
                <a14:hiddenFill xmlns:a14="http://schemas.microsoft.com/office/drawing/2010/main">
                  <a:noFill/>
                </a14:hiddenFill>
              </a:ext>
            </a:extLst>
          </p:spPr>
        </p:cxnSp>
        <p:cxnSp>
          <p:nvCxnSpPr>
            <p:cNvPr id="6" name="Line 489">
              <a:extLst>
                <a:ext uri="{FF2B5EF4-FFF2-40B4-BE49-F238E27FC236}">
                  <a16:creationId xmlns:a16="http://schemas.microsoft.com/office/drawing/2014/main" id="{61FDE32C-7D9B-4952-8A56-3F4371E0627B}"/>
                </a:ext>
              </a:extLst>
            </p:cNvPr>
            <p:cNvCxnSpPr>
              <a:cxnSpLocks noChangeShapeType="1"/>
            </p:cNvCxnSpPr>
            <p:nvPr/>
          </p:nvCxnSpPr>
          <p:spPr bwMode="auto">
            <a:xfrm flipH="1">
              <a:off x="5823" y="3240"/>
              <a:ext cx="6827" cy="3"/>
            </a:xfrm>
            <a:prstGeom prst="line">
              <a:avLst/>
            </a:prstGeom>
            <a:noFill/>
            <a:ln w="28575">
              <a:solidFill>
                <a:srgbClr val="002060"/>
              </a:solidFill>
              <a:round/>
              <a:headEnd type="arrow" w="sm" len="med"/>
              <a:tailEnd type="none" w="sm" len="med"/>
            </a:ln>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9D70A06F-84A7-4661-BDF6-A60EC33FA1B8}"/>
                </a:ext>
              </a:extLst>
            </p:cNvPr>
            <p:cNvSpPr>
              <a:spLocks noChangeArrowheads="1"/>
            </p:cNvSpPr>
            <p:nvPr/>
          </p:nvSpPr>
          <p:spPr bwMode="auto">
            <a:xfrm>
              <a:off x="5165" y="989"/>
              <a:ext cx="761"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E2F1E7A5-B724-45A0-AB20-42224CB1069D}"/>
                </a:ext>
              </a:extLst>
            </p:cNvPr>
            <p:cNvSpPr>
              <a:spLocks noChangeArrowheads="1"/>
            </p:cNvSpPr>
            <p:nvPr/>
          </p:nvSpPr>
          <p:spPr bwMode="auto">
            <a:xfrm>
              <a:off x="12403" y="3332"/>
              <a:ext cx="38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Line 502">
              <a:extLst>
                <a:ext uri="{FF2B5EF4-FFF2-40B4-BE49-F238E27FC236}">
                  <a16:creationId xmlns:a16="http://schemas.microsoft.com/office/drawing/2014/main" id="{3E9EFECD-4B8D-46D3-B96E-522CA530EB72}"/>
                </a:ext>
              </a:extLst>
            </p:cNvPr>
            <p:cNvCxnSpPr>
              <a:cxnSpLocks noChangeShapeType="1"/>
            </p:cNvCxnSpPr>
            <p:nvPr/>
          </p:nvCxnSpPr>
          <p:spPr bwMode="auto">
            <a:xfrm flipH="1">
              <a:off x="8016" y="4830"/>
              <a:ext cx="1533" cy="2"/>
            </a:xfrm>
            <a:prstGeom prst="line">
              <a:avLst/>
            </a:prstGeom>
            <a:noFill/>
            <a:ln w="19050">
              <a:solidFill>
                <a:srgbClr val="002060"/>
              </a:solidFill>
              <a:round/>
              <a:headEnd type="none" w="sm" len="med"/>
              <a:tailEnd type="arrow" w="sm" len="med"/>
            </a:ln>
            <a:extLst>
              <a:ext uri="{909E8E84-426E-40DD-AFC4-6F175D3DCCD1}">
                <a14:hiddenFill xmlns:a14="http://schemas.microsoft.com/office/drawing/2010/main">
                  <a:noFill/>
                </a14:hiddenFill>
              </a:ext>
            </a:extLst>
          </p:spPr>
        </p:cxnSp>
        <p:cxnSp>
          <p:nvCxnSpPr>
            <p:cNvPr id="10" name="Line 503">
              <a:extLst>
                <a:ext uri="{FF2B5EF4-FFF2-40B4-BE49-F238E27FC236}">
                  <a16:creationId xmlns:a16="http://schemas.microsoft.com/office/drawing/2014/main" id="{3D61C33C-5A17-4FAB-882E-F0F7D3B3A39E}"/>
                </a:ext>
              </a:extLst>
            </p:cNvPr>
            <p:cNvCxnSpPr>
              <a:cxnSpLocks noChangeShapeType="1"/>
            </p:cNvCxnSpPr>
            <p:nvPr/>
          </p:nvCxnSpPr>
          <p:spPr bwMode="auto">
            <a:xfrm>
              <a:off x="10509" y="4830"/>
              <a:ext cx="1603" cy="2"/>
            </a:xfrm>
            <a:prstGeom prst="line">
              <a:avLst/>
            </a:prstGeom>
            <a:noFill/>
            <a:ln w="19050">
              <a:solidFill>
                <a:srgbClr val="002060"/>
              </a:solidFill>
              <a:round/>
              <a:headEnd type="none" w="sm" len="med"/>
              <a:tailEnd type="arrow" w="sm" len="med"/>
            </a:ln>
            <a:extLst>
              <a:ext uri="{909E8E84-426E-40DD-AFC4-6F175D3DCCD1}">
                <a14:hiddenFill xmlns:a14="http://schemas.microsoft.com/office/drawing/2010/main">
                  <a:noFill/>
                </a14:hiddenFill>
              </a:ext>
            </a:extLst>
          </p:spPr>
        </p:cxnSp>
        <p:sp>
          <p:nvSpPr>
            <p:cNvPr id="11" name="Rectangle 10">
              <a:extLst>
                <a:ext uri="{FF2B5EF4-FFF2-40B4-BE49-F238E27FC236}">
                  <a16:creationId xmlns:a16="http://schemas.microsoft.com/office/drawing/2014/main" id="{1BE2C40E-08D6-4681-A902-BA2F28C38A24}"/>
                </a:ext>
              </a:extLst>
            </p:cNvPr>
            <p:cNvSpPr>
              <a:spLocks noChangeArrowheads="1"/>
            </p:cNvSpPr>
            <p:nvPr/>
          </p:nvSpPr>
          <p:spPr bwMode="auto">
            <a:xfrm>
              <a:off x="9878" y="4592"/>
              <a:ext cx="560"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r>
                <a:rPr lang="en-GB" sz="24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 name="Line 505">
              <a:extLst>
                <a:ext uri="{FF2B5EF4-FFF2-40B4-BE49-F238E27FC236}">
                  <a16:creationId xmlns:a16="http://schemas.microsoft.com/office/drawing/2014/main" id="{38741A2B-F691-4687-B69D-F4BF7D6F775A}"/>
                </a:ext>
              </a:extLst>
            </p:cNvPr>
            <p:cNvCxnSpPr>
              <a:cxnSpLocks noChangeShapeType="1"/>
            </p:cNvCxnSpPr>
            <p:nvPr/>
          </p:nvCxnSpPr>
          <p:spPr bwMode="auto">
            <a:xfrm>
              <a:off x="6712" y="1765"/>
              <a:ext cx="2" cy="1506"/>
            </a:xfrm>
            <a:prstGeom prst="line">
              <a:avLst/>
            </a:prstGeom>
            <a:noFill/>
            <a:ln w="19050">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cxnSp>
          <p:nvCxnSpPr>
            <p:cNvPr id="13" name="Line 506">
              <a:extLst>
                <a:ext uri="{FF2B5EF4-FFF2-40B4-BE49-F238E27FC236}">
                  <a16:creationId xmlns:a16="http://schemas.microsoft.com/office/drawing/2014/main" id="{1D402DF9-2038-4E48-B750-2F5A2065C944}"/>
                </a:ext>
              </a:extLst>
            </p:cNvPr>
            <p:cNvCxnSpPr>
              <a:cxnSpLocks noChangeShapeType="1"/>
            </p:cNvCxnSpPr>
            <p:nvPr/>
          </p:nvCxnSpPr>
          <p:spPr bwMode="auto">
            <a:xfrm>
              <a:off x="7997" y="3264"/>
              <a:ext cx="2" cy="1672"/>
            </a:xfrm>
            <a:prstGeom prst="line">
              <a:avLst/>
            </a:prstGeom>
            <a:noFill/>
            <a:ln w="19050">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cxnSp>
          <p:nvCxnSpPr>
            <p:cNvPr id="14" name="Line 507">
              <a:extLst>
                <a:ext uri="{FF2B5EF4-FFF2-40B4-BE49-F238E27FC236}">
                  <a16:creationId xmlns:a16="http://schemas.microsoft.com/office/drawing/2014/main" id="{6472F3E3-3DEA-4C7A-A94F-ACC91751DA84}"/>
                </a:ext>
              </a:extLst>
            </p:cNvPr>
            <p:cNvCxnSpPr>
              <a:cxnSpLocks noChangeShapeType="1"/>
            </p:cNvCxnSpPr>
            <p:nvPr/>
          </p:nvCxnSpPr>
          <p:spPr bwMode="auto">
            <a:xfrm>
              <a:off x="3272" y="1958"/>
              <a:ext cx="3196" cy="3"/>
            </a:xfrm>
            <a:prstGeom prst="line">
              <a:avLst/>
            </a:prstGeom>
            <a:noFill/>
            <a:ln w="19050">
              <a:solidFill>
                <a:srgbClr val="002060"/>
              </a:solidFill>
              <a:prstDash val="sysDot"/>
              <a:round/>
              <a:headEnd type="none" w="lg" len="lg"/>
              <a:tailEnd type="none" w="lg" len="lg"/>
            </a:ln>
            <a:extLst>
              <a:ext uri="{909E8E84-426E-40DD-AFC4-6F175D3DCCD1}">
                <a14:hiddenFill xmlns:a14="http://schemas.microsoft.com/office/drawing/2010/main">
                  <a:noFill/>
                </a14:hiddenFill>
              </a:ext>
            </a:extLst>
          </p:spPr>
        </p:cxnSp>
        <p:sp>
          <p:nvSpPr>
            <p:cNvPr id="15" name="Rectangle 14">
              <a:extLst>
                <a:ext uri="{FF2B5EF4-FFF2-40B4-BE49-F238E27FC236}">
                  <a16:creationId xmlns:a16="http://schemas.microsoft.com/office/drawing/2014/main" id="{DDA3C181-831A-417B-99FC-C196D0CD90BC}"/>
                </a:ext>
              </a:extLst>
            </p:cNvPr>
            <p:cNvSpPr>
              <a:spLocks noChangeArrowheads="1"/>
            </p:cNvSpPr>
            <p:nvPr/>
          </p:nvSpPr>
          <p:spPr bwMode="auto">
            <a:xfrm>
              <a:off x="9196" y="1131"/>
              <a:ext cx="2919"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2200"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a:t>
              </a: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sin (</a:t>
              </a:r>
              <a:r>
                <a:rPr lang="en-GB" sz="2200"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  </a:t>
              </a:r>
              <a:r>
                <a:rPr lang="en-GB" sz="22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r>
                <a:rPr lang="en-GB" sz="2200"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Oval 15">
              <a:extLst>
                <a:ext uri="{FF2B5EF4-FFF2-40B4-BE49-F238E27FC236}">
                  <a16:creationId xmlns:a16="http://schemas.microsoft.com/office/drawing/2014/main" id="{0AE7E6C8-5324-4A2C-ADB0-B470835B7A15}"/>
                </a:ext>
              </a:extLst>
            </p:cNvPr>
            <p:cNvSpPr>
              <a:spLocks noChangeArrowheads="1"/>
            </p:cNvSpPr>
            <p:nvPr/>
          </p:nvSpPr>
          <p:spPr bwMode="auto">
            <a:xfrm>
              <a:off x="787" y="1613"/>
              <a:ext cx="3067" cy="3032"/>
            </a:xfrm>
            <a:prstGeom prst="ellipse">
              <a:avLst/>
            </a:prstGeom>
            <a:noFill/>
            <a:ln w="28575">
              <a:solidFill>
                <a:srgbClr val="C00000"/>
              </a:solidFill>
              <a:prstDash val="sysDot"/>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7" name="Line 510">
              <a:extLst>
                <a:ext uri="{FF2B5EF4-FFF2-40B4-BE49-F238E27FC236}">
                  <a16:creationId xmlns:a16="http://schemas.microsoft.com/office/drawing/2014/main" id="{EE42DBAD-3AE0-41AF-90E6-8E7CE377C212}"/>
                </a:ext>
              </a:extLst>
            </p:cNvPr>
            <p:cNvCxnSpPr>
              <a:cxnSpLocks noChangeShapeType="1"/>
            </p:cNvCxnSpPr>
            <p:nvPr/>
          </p:nvCxnSpPr>
          <p:spPr bwMode="auto">
            <a:xfrm>
              <a:off x="2268" y="3205"/>
              <a:ext cx="1612" cy="2"/>
            </a:xfrm>
            <a:prstGeom prst="line">
              <a:avLst/>
            </a:prstGeom>
            <a:noFill/>
            <a:ln w="28575">
              <a:solidFill>
                <a:srgbClr val="002060"/>
              </a:solidFill>
              <a:round/>
              <a:headEnd type="none" w="lg" len="lg"/>
              <a:tailEnd type="none" w="lg" len="lg"/>
            </a:ln>
            <a:extLst>
              <a:ext uri="{909E8E84-426E-40DD-AFC4-6F175D3DCCD1}">
                <a14:hiddenFill xmlns:a14="http://schemas.microsoft.com/office/drawing/2010/main">
                  <a:noFill/>
                </a14:hiddenFill>
              </a:ext>
            </a:extLst>
          </p:spPr>
        </p:cxnSp>
        <p:cxnSp>
          <p:nvCxnSpPr>
            <p:cNvPr id="18" name="Line 511">
              <a:extLst>
                <a:ext uri="{FF2B5EF4-FFF2-40B4-BE49-F238E27FC236}">
                  <a16:creationId xmlns:a16="http://schemas.microsoft.com/office/drawing/2014/main" id="{A9C597F3-E494-48D2-8F18-98C7310156B7}"/>
                </a:ext>
              </a:extLst>
            </p:cNvPr>
            <p:cNvCxnSpPr>
              <a:cxnSpLocks noChangeShapeType="1"/>
            </p:cNvCxnSpPr>
            <p:nvPr/>
          </p:nvCxnSpPr>
          <p:spPr bwMode="auto">
            <a:xfrm flipV="1">
              <a:off x="2306" y="2033"/>
              <a:ext cx="994" cy="1174"/>
            </a:xfrm>
            <a:prstGeom prst="line">
              <a:avLst/>
            </a:prstGeom>
            <a:noFill/>
            <a:ln w="19050">
              <a:solidFill>
                <a:srgbClr val="002060"/>
              </a:solidFill>
              <a:prstDash val="sysDot"/>
              <a:round/>
              <a:headEnd/>
              <a:tailEnd/>
            </a:ln>
            <a:extLst>
              <a:ext uri="{909E8E84-426E-40DD-AFC4-6F175D3DCCD1}">
                <a14:hiddenFill xmlns:a14="http://schemas.microsoft.com/office/drawing/2010/main">
                  <a:noFill/>
                </a14:hiddenFill>
              </a:ext>
            </a:extLst>
          </p:spPr>
        </p:cxnSp>
        <p:sp>
          <p:nvSpPr>
            <p:cNvPr id="19" name="Arc 512">
              <a:extLst>
                <a:ext uri="{FF2B5EF4-FFF2-40B4-BE49-F238E27FC236}">
                  <a16:creationId xmlns:a16="http://schemas.microsoft.com/office/drawing/2014/main" id="{C3ECE383-9BAA-4E77-ABA4-C180C12FE321}"/>
                </a:ext>
              </a:extLst>
            </p:cNvPr>
            <p:cNvSpPr>
              <a:spLocks/>
            </p:cNvSpPr>
            <p:nvPr/>
          </p:nvSpPr>
          <p:spPr bwMode="auto">
            <a:xfrm>
              <a:off x="2563" y="2886"/>
              <a:ext cx="195" cy="2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0" name="Rectangle 19">
              <a:extLst>
                <a:ext uri="{FF2B5EF4-FFF2-40B4-BE49-F238E27FC236}">
                  <a16:creationId xmlns:a16="http://schemas.microsoft.com/office/drawing/2014/main" id="{6AA25968-6005-4697-850C-05165160DA90}"/>
                </a:ext>
              </a:extLst>
            </p:cNvPr>
            <p:cNvSpPr>
              <a:spLocks noChangeArrowheads="1"/>
            </p:cNvSpPr>
            <p:nvPr/>
          </p:nvSpPr>
          <p:spPr bwMode="auto">
            <a:xfrm>
              <a:off x="2796" y="2695"/>
              <a:ext cx="518" cy="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 </a:t>
              </a:r>
              <a:r>
                <a:rPr lang="en-GB" sz="24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Arc 514">
              <a:extLst>
                <a:ext uri="{FF2B5EF4-FFF2-40B4-BE49-F238E27FC236}">
                  <a16:creationId xmlns:a16="http://schemas.microsoft.com/office/drawing/2014/main" id="{397A3E2E-B72C-4262-98D2-0D3D86606151}"/>
                </a:ext>
              </a:extLst>
            </p:cNvPr>
            <p:cNvSpPr>
              <a:spLocks/>
            </p:cNvSpPr>
            <p:nvPr/>
          </p:nvSpPr>
          <p:spPr bwMode="auto">
            <a:xfrm>
              <a:off x="2796" y="2250"/>
              <a:ext cx="363" cy="25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type="triangle" w="med" len="me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2" name="Line 515">
              <a:extLst>
                <a:ext uri="{FF2B5EF4-FFF2-40B4-BE49-F238E27FC236}">
                  <a16:creationId xmlns:a16="http://schemas.microsoft.com/office/drawing/2014/main" id="{BF905C3B-F147-40D5-B52D-E78E4F2E41D2}"/>
                </a:ext>
              </a:extLst>
            </p:cNvPr>
            <p:cNvCxnSpPr>
              <a:cxnSpLocks noChangeShapeType="1"/>
            </p:cNvCxnSpPr>
            <p:nvPr/>
          </p:nvCxnSpPr>
          <p:spPr bwMode="auto">
            <a:xfrm flipH="1" flipV="1">
              <a:off x="2654" y="2186"/>
              <a:ext cx="106" cy="40"/>
            </a:xfrm>
            <a:prstGeom prst="line">
              <a:avLst/>
            </a:prstGeom>
            <a:noFill/>
            <a:ln w="28575">
              <a:solidFill>
                <a:srgbClr val="FFFFFF"/>
              </a:solidFill>
              <a:round/>
              <a:headEnd type="none" w="sm" len="sm"/>
              <a:tailEnd type="triangle" w="sm" len="sm"/>
            </a:ln>
            <a:extLst>
              <a:ext uri="{909E8E84-426E-40DD-AFC4-6F175D3DCCD1}">
                <a14:hiddenFill xmlns:a14="http://schemas.microsoft.com/office/drawing/2010/main">
                  <a:noFill/>
                </a14:hiddenFill>
              </a:ext>
            </a:extLst>
          </p:spPr>
        </p:cxnSp>
        <p:sp>
          <p:nvSpPr>
            <p:cNvPr id="23" name="Rectangle 22">
              <a:extLst>
                <a:ext uri="{FF2B5EF4-FFF2-40B4-BE49-F238E27FC236}">
                  <a16:creationId xmlns:a16="http://schemas.microsoft.com/office/drawing/2014/main" id="{187113E1-F069-4CCF-AF6D-B12BCF50B789}"/>
                </a:ext>
              </a:extLst>
            </p:cNvPr>
            <p:cNvSpPr>
              <a:spLocks noChangeArrowheads="1"/>
            </p:cNvSpPr>
            <p:nvPr/>
          </p:nvSpPr>
          <p:spPr bwMode="auto">
            <a:xfrm>
              <a:off x="2293" y="1880"/>
              <a:ext cx="3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7ABF4194-9816-4A9B-AF2E-DB22C39577C0}"/>
                </a:ext>
              </a:extLst>
            </p:cNvPr>
            <p:cNvSpPr>
              <a:spLocks noChangeArrowheads="1"/>
            </p:cNvSpPr>
            <p:nvPr/>
          </p:nvSpPr>
          <p:spPr bwMode="auto">
            <a:xfrm>
              <a:off x="1971" y="3115"/>
              <a:ext cx="452"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CC685F41-E9D2-4DE1-8FD1-9D0E827BB635}"/>
                </a:ext>
              </a:extLst>
            </p:cNvPr>
            <p:cNvSpPr>
              <a:spLocks noChangeArrowheads="1"/>
            </p:cNvSpPr>
            <p:nvPr/>
          </p:nvSpPr>
          <p:spPr bwMode="auto">
            <a:xfrm>
              <a:off x="6196" y="3230"/>
              <a:ext cx="452"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1BE8E998-3CD3-41BB-9B4F-E047288C0559}"/>
                </a:ext>
              </a:extLst>
            </p:cNvPr>
            <p:cNvSpPr>
              <a:spLocks noChangeArrowheads="1"/>
            </p:cNvSpPr>
            <p:nvPr/>
          </p:nvSpPr>
          <p:spPr bwMode="auto">
            <a:xfrm>
              <a:off x="3246" y="2033"/>
              <a:ext cx="452"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6343B42E-FE80-4265-9C07-256C245F246F}"/>
                </a:ext>
              </a:extLst>
            </p:cNvPr>
            <p:cNvSpPr>
              <a:spLocks noChangeArrowheads="1"/>
            </p:cNvSpPr>
            <p:nvPr/>
          </p:nvSpPr>
          <p:spPr bwMode="auto">
            <a:xfrm>
              <a:off x="4006" y="2962"/>
              <a:ext cx="452"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X</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8" name="Line 521">
              <a:extLst>
                <a:ext uri="{FF2B5EF4-FFF2-40B4-BE49-F238E27FC236}">
                  <a16:creationId xmlns:a16="http://schemas.microsoft.com/office/drawing/2014/main" id="{17F61FE9-7B45-4ECC-9E25-3EB828FB9E52}"/>
                </a:ext>
              </a:extLst>
            </p:cNvPr>
            <p:cNvCxnSpPr>
              <a:cxnSpLocks noChangeShapeType="1"/>
            </p:cNvCxnSpPr>
            <p:nvPr/>
          </p:nvCxnSpPr>
          <p:spPr bwMode="auto">
            <a:xfrm flipV="1">
              <a:off x="2306" y="1702"/>
              <a:ext cx="518" cy="1505"/>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cxnSp>
        <p:sp>
          <p:nvSpPr>
            <p:cNvPr id="29" name="Rectangle 28">
              <a:extLst>
                <a:ext uri="{FF2B5EF4-FFF2-40B4-BE49-F238E27FC236}">
                  <a16:creationId xmlns:a16="http://schemas.microsoft.com/office/drawing/2014/main" id="{9425FDD2-2D12-4B64-9470-2DD00B8D4E97}"/>
                </a:ext>
              </a:extLst>
            </p:cNvPr>
            <p:cNvSpPr>
              <a:spLocks noChangeArrowheads="1"/>
            </p:cNvSpPr>
            <p:nvPr/>
          </p:nvSpPr>
          <p:spPr bwMode="auto">
            <a:xfrm>
              <a:off x="2730" y="1168"/>
              <a:ext cx="452"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F3AF5380-CE9F-4A66-BB95-0A9B42754E53}"/>
                </a:ext>
              </a:extLst>
            </p:cNvPr>
            <p:cNvSpPr>
              <a:spLocks noChangeArrowheads="1"/>
            </p:cNvSpPr>
            <p:nvPr/>
          </p:nvSpPr>
          <p:spPr bwMode="auto">
            <a:xfrm>
              <a:off x="2525" y="2300"/>
              <a:ext cx="3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1" name="Line 524">
              <a:extLst>
                <a:ext uri="{FF2B5EF4-FFF2-40B4-BE49-F238E27FC236}">
                  <a16:creationId xmlns:a16="http://schemas.microsoft.com/office/drawing/2014/main" id="{254273C8-0BE5-4F0F-8977-92FE4703C158}"/>
                </a:ext>
              </a:extLst>
            </p:cNvPr>
            <p:cNvCxnSpPr>
              <a:cxnSpLocks noChangeShapeType="1"/>
            </p:cNvCxnSpPr>
            <p:nvPr/>
          </p:nvCxnSpPr>
          <p:spPr bwMode="auto">
            <a:xfrm>
              <a:off x="2835" y="1715"/>
              <a:ext cx="3888" cy="2"/>
            </a:xfrm>
            <a:prstGeom prst="line">
              <a:avLst/>
            </a:prstGeom>
            <a:noFill/>
            <a:ln w="19050">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2" name="Line 525">
              <a:extLst>
                <a:ext uri="{FF2B5EF4-FFF2-40B4-BE49-F238E27FC236}">
                  <a16:creationId xmlns:a16="http://schemas.microsoft.com/office/drawing/2014/main" id="{AD27EDF8-65A6-49A8-95A0-5603FA0E3AD9}"/>
                </a:ext>
              </a:extLst>
            </p:cNvPr>
            <p:cNvCxnSpPr>
              <a:cxnSpLocks noChangeShapeType="1"/>
            </p:cNvCxnSpPr>
            <p:nvPr/>
          </p:nvCxnSpPr>
          <p:spPr bwMode="auto">
            <a:xfrm>
              <a:off x="12088" y="3264"/>
              <a:ext cx="2" cy="1672"/>
            </a:xfrm>
            <a:prstGeom prst="line">
              <a:avLst/>
            </a:prstGeom>
            <a:noFill/>
            <a:ln w="19050">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sp>
          <p:nvSpPr>
            <p:cNvPr id="33" name="Rectangle 32">
              <a:extLst>
                <a:ext uri="{FF2B5EF4-FFF2-40B4-BE49-F238E27FC236}">
                  <a16:creationId xmlns:a16="http://schemas.microsoft.com/office/drawing/2014/main" id="{E03F48F1-FE03-49E4-9388-BF3569EC554A}"/>
                </a:ext>
              </a:extLst>
            </p:cNvPr>
            <p:cNvSpPr>
              <a:spLocks noChangeArrowheads="1"/>
            </p:cNvSpPr>
            <p:nvPr/>
          </p:nvSpPr>
          <p:spPr bwMode="auto">
            <a:xfrm>
              <a:off x="233" y="4577"/>
              <a:ext cx="4510"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1000"/>
                </a:spcAft>
              </a:pPr>
              <a:r>
                <a:rPr lang="en-GB" sz="24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Rotating Phasor</a:t>
              </a:r>
              <a:r>
                <a:rPr lang="en-GB" sz="2400" dirty="0">
                  <a:solidFill>
                    <a:srgbClr val="FFFFFF"/>
                  </a:solidFill>
                  <a:effectLst/>
                  <a:latin typeface="Arial" panose="020B0604020202020204" pitchFamily="34" charset="0"/>
                  <a:ea typeface="Calibri" panose="020F0502020204030204" pitchFamily="34" charset="0"/>
                  <a:cs typeface="Times New Roman" panose="02020603050405020304" pitchFamily="18" charset="0"/>
                </a:rPr>
                <a:t>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4" name="Group 33">
              <a:extLst>
                <a:ext uri="{FF2B5EF4-FFF2-40B4-BE49-F238E27FC236}">
                  <a16:creationId xmlns:a16="http://schemas.microsoft.com/office/drawing/2014/main" id="{72CF195F-2F20-4354-991C-E8F39D1B92E0}"/>
                </a:ext>
              </a:extLst>
            </p:cNvPr>
            <p:cNvGrpSpPr>
              <a:grpSpLocks/>
            </p:cNvGrpSpPr>
            <p:nvPr/>
          </p:nvGrpSpPr>
          <p:grpSpPr bwMode="auto">
            <a:xfrm>
              <a:off x="5904" y="1545"/>
              <a:ext cx="6153" cy="3295"/>
              <a:chOff x="0" y="0"/>
              <a:chExt cx="20976" cy="17849"/>
            </a:xfrm>
          </p:grpSpPr>
          <p:sp>
            <p:nvSpPr>
              <p:cNvPr id="35" name="Freeform 3">
                <a:extLst>
                  <a:ext uri="{FF2B5EF4-FFF2-40B4-BE49-F238E27FC236}">
                    <a16:creationId xmlns:a16="http://schemas.microsoft.com/office/drawing/2014/main" id="{C8F03678-A8A7-4BB2-999C-D5BA75C17F29}"/>
                  </a:ext>
                </a:extLst>
              </p:cNvPr>
              <p:cNvSpPr>
                <a:spLocks/>
              </p:cNvSpPr>
              <p:nvPr/>
            </p:nvSpPr>
            <p:spPr bwMode="auto">
              <a:xfrm>
                <a:off x="0" y="0"/>
                <a:ext cx="13944" cy="17849"/>
              </a:xfrm>
              <a:custGeom>
                <a:avLst/>
                <a:gdLst>
                  <a:gd name="T0" fmla="*/ 0 w 6743"/>
                  <a:gd name="T1" fmla="*/ 880752 h 3877"/>
                  <a:gd name="T2" fmla="*/ 81686 w 6743"/>
                  <a:gd name="T3" fmla="*/ 573203 h 3877"/>
                  <a:gd name="T4" fmla="*/ 160891 w 6743"/>
                  <a:gd name="T5" fmla="*/ 320901 h 3877"/>
                  <a:gd name="T6" fmla="*/ 266360 w 6743"/>
                  <a:gd name="T7" fmla="*/ 69061 h 3877"/>
                  <a:gd name="T8" fmla="*/ 421461 w 6743"/>
                  <a:gd name="T9" fmla="*/ 48342 h 3877"/>
                  <a:gd name="T10" fmla="*/ 561051 w 6743"/>
                  <a:gd name="T11" fmla="*/ 359115 h 3877"/>
                  <a:gd name="T12" fmla="*/ 708294 w 6743"/>
                  <a:gd name="T13" fmla="*/ 911599 h 3877"/>
                  <a:gd name="T14" fmla="*/ 854089 w 6743"/>
                  <a:gd name="T15" fmla="*/ 1450272 h 3877"/>
                  <a:gd name="T16" fmla="*/ 978169 w 6743"/>
                  <a:gd name="T17" fmla="*/ 1736643 h 3877"/>
                  <a:gd name="T18" fmla="*/ 1113210 w 6743"/>
                  <a:gd name="T19" fmla="*/ 1740326 h 3877"/>
                  <a:gd name="T20" fmla="*/ 1244943 w 6743"/>
                  <a:gd name="T21" fmla="*/ 1470990 h 3877"/>
                  <a:gd name="T22" fmla="*/ 1394460 w 6743"/>
                  <a:gd name="T23" fmla="*/ 912060 h 38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6" name="Freeform 22">
                <a:extLst>
                  <a:ext uri="{FF2B5EF4-FFF2-40B4-BE49-F238E27FC236}">
                    <a16:creationId xmlns:a16="http://schemas.microsoft.com/office/drawing/2014/main" id="{2022A31B-1895-4224-A74B-88B1CD4AF10E}"/>
                  </a:ext>
                </a:extLst>
              </p:cNvPr>
              <p:cNvSpPr>
                <a:spLocks/>
              </p:cNvSpPr>
              <p:nvPr/>
            </p:nvSpPr>
            <p:spPr bwMode="auto">
              <a:xfrm flipV="1">
                <a:off x="13984" y="430"/>
                <a:ext cx="6992" cy="8693"/>
              </a:xfrm>
              <a:custGeom>
                <a:avLst/>
                <a:gdLst>
                  <a:gd name="T0" fmla="*/ 0 w 1954"/>
                  <a:gd name="T1" fmla="*/ 0 h 1897"/>
                  <a:gd name="T2" fmla="*/ 148486 w 1954"/>
                  <a:gd name="T3" fmla="*/ 536162 h 1897"/>
                  <a:gd name="T4" fmla="*/ 274788 w 1954"/>
                  <a:gd name="T5" fmla="*/ 821198 h 1897"/>
                  <a:gd name="T6" fmla="*/ 412540 w 1954"/>
                  <a:gd name="T7" fmla="*/ 824864 h 1897"/>
                  <a:gd name="T8" fmla="*/ 546714 w 1954"/>
                  <a:gd name="T9" fmla="*/ 556783 h 1897"/>
                  <a:gd name="T10" fmla="*/ 699135 w 1954"/>
                  <a:gd name="T11" fmla="*/ 458 h 18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4" h="1897">
                    <a:moveTo>
                      <a:pt x="0" y="0"/>
                    </a:moveTo>
                    <a:cubicBezTo>
                      <a:pt x="69" y="195"/>
                      <a:pt x="287" y="871"/>
                      <a:pt x="415" y="1170"/>
                    </a:cubicBezTo>
                    <a:cubicBezTo>
                      <a:pt x="543" y="1469"/>
                      <a:pt x="645" y="1687"/>
                      <a:pt x="768" y="1792"/>
                    </a:cubicBezTo>
                    <a:cubicBezTo>
                      <a:pt x="891" y="1897"/>
                      <a:pt x="1026" y="1896"/>
                      <a:pt x="1153" y="1800"/>
                    </a:cubicBezTo>
                    <a:cubicBezTo>
                      <a:pt x="1280" y="1704"/>
                      <a:pt x="1394" y="1515"/>
                      <a:pt x="1528" y="1215"/>
                    </a:cubicBezTo>
                    <a:cubicBezTo>
                      <a:pt x="1662" y="915"/>
                      <a:pt x="1866" y="254"/>
                      <a:pt x="1954" y="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37" name="Group 36">
            <a:extLst>
              <a:ext uri="{FF2B5EF4-FFF2-40B4-BE49-F238E27FC236}">
                <a16:creationId xmlns:a16="http://schemas.microsoft.com/office/drawing/2014/main" id="{C0C4908E-2DB3-4C35-B9C4-12B32E041602}"/>
              </a:ext>
            </a:extLst>
          </p:cNvPr>
          <p:cNvGrpSpPr>
            <a:grpSpLocks/>
          </p:cNvGrpSpPr>
          <p:nvPr/>
        </p:nvGrpSpPr>
        <p:grpSpPr bwMode="auto">
          <a:xfrm>
            <a:off x="9647816" y="3173248"/>
            <a:ext cx="1513206" cy="842644"/>
            <a:chOff x="-8" y="-3"/>
            <a:chExt cx="20008" cy="20003"/>
          </a:xfrm>
        </p:grpSpPr>
        <p:sp>
          <p:nvSpPr>
            <p:cNvPr id="38" name="Rectangle 37">
              <a:extLst>
                <a:ext uri="{FF2B5EF4-FFF2-40B4-BE49-F238E27FC236}">
                  <a16:creationId xmlns:a16="http://schemas.microsoft.com/office/drawing/2014/main" id="{27B88ECC-1217-4D73-A94E-596E9A39B3EC}"/>
                </a:ext>
              </a:extLst>
            </p:cNvPr>
            <p:cNvSpPr>
              <a:spLocks noChangeArrowheads="1"/>
            </p:cNvSpPr>
            <p:nvPr/>
          </p:nvSpPr>
          <p:spPr bwMode="auto">
            <a:xfrm>
              <a:off x="14850" y="12287"/>
              <a:ext cx="4295" cy="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9" name="Line 482">
              <a:extLst>
                <a:ext uri="{FF2B5EF4-FFF2-40B4-BE49-F238E27FC236}">
                  <a16:creationId xmlns:a16="http://schemas.microsoft.com/office/drawing/2014/main" id="{97FBB7AF-E3D9-457C-BBC4-21A2FE4CDFB3}"/>
                </a:ext>
              </a:extLst>
            </p:cNvPr>
            <p:cNvCxnSpPr>
              <a:cxnSpLocks noChangeShapeType="1"/>
            </p:cNvCxnSpPr>
            <p:nvPr/>
          </p:nvCxnSpPr>
          <p:spPr bwMode="auto">
            <a:xfrm flipV="1">
              <a:off x="2129" y="6911"/>
              <a:ext cx="12628" cy="7713"/>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cxnSp>
        <p:sp>
          <p:nvSpPr>
            <p:cNvPr id="40" name="Rectangle 39">
              <a:extLst>
                <a:ext uri="{FF2B5EF4-FFF2-40B4-BE49-F238E27FC236}">
                  <a16:creationId xmlns:a16="http://schemas.microsoft.com/office/drawing/2014/main" id="{068C21BD-04A9-4A16-87C2-A483C4916804}"/>
                </a:ext>
              </a:extLst>
            </p:cNvPr>
            <p:cNvSpPr>
              <a:spLocks noChangeArrowheads="1"/>
            </p:cNvSpPr>
            <p:nvPr/>
          </p:nvSpPr>
          <p:spPr bwMode="auto">
            <a:xfrm>
              <a:off x="15705" y="3454"/>
              <a:ext cx="4295" cy="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F7C1ED3E-77A6-44EB-8E91-C44D75057696}"/>
                </a:ext>
              </a:extLst>
            </p:cNvPr>
            <p:cNvSpPr>
              <a:spLocks noChangeArrowheads="1"/>
            </p:cNvSpPr>
            <p:nvPr/>
          </p:nvSpPr>
          <p:spPr bwMode="auto">
            <a:xfrm>
              <a:off x="8867" y="8445"/>
              <a:ext cx="3968" cy="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2" name="Line 485">
              <a:extLst>
                <a:ext uri="{FF2B5EF4-FFF2-40B4-BE49-F238E27FC236}">
                  <a16:creationId xmlns:a16="http://schemas.microsoft.com/office/drawing/2014/main" id="{F9C8D492-188A-45D1-AABB-A3D56F2174F1}"/>
                </a:ext>
              </a:extLst>
            </p:cNvPr>
            <p:cNvCxnSpPr>
              <a:cxnSpLocks noChangeShapeType="1"/>
            </p:cNvCxnSpPr>
            <p:nvPr/>
          </p:nvCxnSpPr>
          <p:spPr bwMode="auto">
            <a:xfrm>
              <a:off x="2556" y="15359"/>
              <a:ext cx="12316" cy="32"/>
            </a:xfrm>
            <a:prstGeom prst="line">
              <a:avLst/>
            </a:prstGeom>
            <a:noFill/>
            <a:ln w="19050">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3" name="Rectangle 42">
              <a:extLst>
                <a:ext uri="{FF2B5EF4-FFF2-40B4-BE49-F238E27FC236}">
                  <a16:creationId xmlns:a16="http://schemas.microsoft.com/office/drawing/2014/main" id="{2516B385-656E-4685-8102-16B371F63B72}"/>
                </a:ext>
              </a:extLst>
            </p:cNvPr>
            <p:cNvSpPr>
              <a:spLocks noChangeArrowheads="1"/>
            </p:cNvSpPr>
            <p:nvPr/>
          </p:nvSpPr>
          <p:spPr bwMode="auto">
            <a:xfrm>
              <a:off x="-8" y="13245"/>
              <a:ext cx="2372" cy="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4" name="Rectangle 43">
              <a:extLst>
                <a:ext uri="{FF2B5EF4-FFF2-40B4-BE49-F238E27FC236}">
                  <a16:creationId xmlns:a16="http://schemas.microsoft.com/office/drawing/2014/main" id="{560A23DF-5850-48CA-BE2D-EF392C85069C}"/>
                </a:ext>
              </a:extLst>
            </p:cNvPr>
            <p:cNvSpPr>
              <a:spLocks noChangeArrowheads="1"/>
            </p:cNvSpPr>
            <p:nvPr/>
          </p:nvSpPr>
          <p:spPr bwMode="auto">
            <a:xfrm>
              <a:off x="7905" y="-3"/>
              <a:ext cx="4288" cy="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2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5" name="Rectangle 44">
            <a:extLst>
              <a:ext uri="{FF2B5EF4-FFF2-40B4-BE49-F238E27FC236}">
                <a16:creationId xmlns:a16="http://schemas.microsoft.com/office/drawing/2014/main" id="{51596036-4228-4F6E-8B7C-3D0FF60EE2A6}"/>
              </a:ext>
            </a:extLst>
          </p:cNvPr>
          <p:cNvSpPr/>
          <p:nvPr/>
        </p:nvSpPr>
        <p:spPr>
          <a:xfrm>
            <a:off x="429715" y="4242185"/>
            <a:ext cx="8531310" cy="584775"/>
          </a:xfrm>
          <a:prstGeom prst="rect">
            <a:avLst/>
          </a:prstGeom>
        </p:spPr>
        <p:txBody>
          <a:bodyPr wrap="none">
            <a:spAutoFit/>
          </a:bodyPr>
          <a:lstStyle/>
          <a:p>
            <a:r>
              <a:rPr lang="en-GB" sz="3200" dirty="0">
                <a:solidFill>
                  <a:srgbClr val="002060"/>
                </a:solidFill>
                <a:latin typeface="Times New Roman" panose="02020603050405020304" pitchFamily="18" charset="0"/>
                <a:ea typeface="Calibri" panose="020F0502020204030204" pitchFamily="34" charset="0"/>
              </a:rPr>
              <a:t>A reference direction is chosen, usually horizontal.</a:t>
            </a:r>
            <a:endParaRPr lang="en-GB" sz="3200" dirty="0"/>
          </a:p>
        </p:txBody>
      </p:sp>
      <p:grpSp>
        <p:nvGrpSpPr>
          <p:cNvPr id="46" name="Group 45">
            <a:extLst>
              <a:ext uri="{FF2B5EF4-FFF2-40B4-BE49-F238E27FC236}">
                <a16:creationId xmlns:a16="http://schemas.microsoft.com/office/drawing/2014/main" id="{904D615D-DAEB-4E58-B7B9-0268188EE132}"/>
              </a:ext>
            </a:extLst>
          </p:cNvPr>
          <p:cNvGrpSpPr>
            <a:grpSpLocks noChangeAspect="1"/>
          </p:cNvGrpSpPr>
          <p:nvPr/>
        </p:nvGrpSpPr>
        <p:grpSpPr bwMode="auto">
          <a:xfrm>
            <a:off x="511360" y="4735786"/>
            <a:ext cx="4023359" cy="1794509"/>
            <a:chOff x="-8" y="-2"/>
            <a:chExt cx="20009" cy="20002"/>
          </a:xfrm>
        </p:grpSpPr>
        <p:sp>
          <p:nvSpPr>
            <p:cNvPr id="47" name="Rectangle 46">
              <a:extLst>
                <a:ext uri="{FF2B5EF4-FFF2-40B4-BE49-F238E27FC236}">
                  <a16:creationId xmlns:a16="http://schemas.microsoft.com/office/drawing/2014/main" id="{6058D8D3-F552-4DD5-AA32-3E7F6A518646}"/>
                </a:ext>
              </a:extLst>
            </p:cNvPr>
            <p:cNvSpPr>
              <a:spLocks noChangeAspect="1" noChangeArrowheads="1"/>
            </p:cNvSpPr>
            <p:nvPr/>
          </p:nvSpPr>
          <p:spPr bwMode="auto">
            <a:xfrm>
              <a:off x="17656" y="15612"/>
              <a:ext cx="1692" cy="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8" name="Line 529">
              <a:extLst>
                <a:ext uri="{FF2B5EF4-FFF2-40B4-BE49-F238E27FC236}">
                  <a16:creationId xmlns:a16="http://schemas.microsoft.com/office/drawing/2014/main" id="{E9F1DD61-FDDF-425E-85FA-A14CE6E0FC9D}"/>
                </a:ext>
              </a:extLst>
            </p:cNvPr>
            <p:cNvCxnSpPr>
              <a:cxnSpLocks noChangeAspect="1" noChangeShapeType="1"/>
            </p:cNvCxnSpPr>
            <p:nvPr/>
          </p:nvCxnSpPr>
          <p:spPr bwMode="auto">
            <a:xfrm flipV="1">
              <a:off x="1085" y="5101"/>
              <a:ext cx="16313" cy="11940"/>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cxnSp>
        <p:sp>
          <p:nvSpPr>
            <p:cNvPr id="49" name="Rectangle 48">
              <a:extLst>
                <a:ext uri="{FF2B5EF4-FFF2-40B4-BE49-F238E27FC236}">
                  <a16:creationId xmlns:a16="http://schemas.microsoft.com/office/drawing/2014/main" id="{E562B54E-C1C5-46DD-86BF-02CB15DD30D2}"/>
                </a:ext>
              </a:extLst>
            </p:cNvPr>
            <p:cNvSpPr>
              <a:spLocks noChangeAspect="1" noChangeArrowheads="1"/>
            </p:cNvSpPr>
            <p:nvPr/>
          </p:nvSpPr>
          <p:spPr bwMode="auto">
            <a:xfrm>
              <a:off x="18566" y="1835"/>
              <a:ext cx="1435" cy="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0" name="Rectangle 49">
              <a:extLst>
                <a:ext uri="{FF2B5EF4-FFF2-40B4-BE49-F238E27FC236}">
                  <a16:creationId xmlns:a16="http://schemas.microsoft.com/office/drawing/2014/main" id="{3C4A41C2-3576-441B-B4F5-FAABBF56C730}"/>
                </a:ext>
              </a:extLst>
            </p:cNvPr>
            <p:cNvSpPr>
              <a:spLocks noChangeAspect="1" noChangeArrowheads="1"/>
            </p:cNvSpPr>
            <p:nvPr/>
          </p:nvSpPr>
          <p:spPr bwMode="auto">
            <a:xfrm>
              <a:off x="6776" y="12244"/>
              <a:ext cx="1601" cy="5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1" name="Line 532">
              <a:extLst>
                <a:ext uri="{FF2B5EF4-FFF2-40B4-BE49-F238E27FC236}">
                  <a16:creationId xmlns:a16="http://schemas.microsoft.com/office/drawing/2014/main" id="{F82AEDC6-AC0E-4DDA-AFCE-0134D3FF7C2A}"/>
                </a:ext>
              </a:extLst>
            </p:cNvPr>
            <p:cNvCxnSpPr>
              <a:cxnSpLocks noChangeAspect="1" noChangeShapeType="1"/>
            </p:cNvCxnSpPr>
            <p:nvPr/>
          </p:nvCxnSpPr>
          <p:spPr bwMode="auto">
            <a:xfrm>
              <a:off x="1313" y="17313"/>
              <a:ext cx="16214" cy="17"/>
            </a:xfrm>
            <a:prstGeom prst="line">
              <a:avLst/>
            </a:prstGeom>
            <a:noFill/>
            <a:ln w="19050">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52" name="Rectangle 51">
              <a:extLst>
                <a:ext uri="{FF2B5EF4-FFF2-40B4-BE49-F238E27FC236}">
                  <a16:creationId xmlns:a16="http://schemas.microsoft.com/office/drawing/2014/main" id="{E9BDCA62-857B-4BAF-B1A1-D632A36259A5}"/>
                </a:ext>
              </a:extLst>
            </p:cNvPr>
            <p:cNvSpPr>
              <a:spLocks noChangeAspect="1" noChangeArrowheads="1"/>
            </p:cNvSpPr>
            <p:nvPr/>
          </p:nvSpPr>
          <p:spPr bwMode="auto">
            <a:xfrm>
              <a:off x="-8" y="15102"/>
              <a:ext cx="1465" cy="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3" name="Rectangle 52">
              <a:extLst>
                <a:ext uri="{FF2B5EF4-FFF2-40B4-BE49-F238E27FC236}">
                  <a16:creationId xmlns:a16="http://schemas.microsoft.com/office/drawing/2014/main" id="{0DD81659-2813-4A5A-99E4-24FB83FDBF2D}"/>
                </a:ext>
              </a:extLst>
            </p:cNvPr>
            <p:cNvSpPr>
              <a:spLocks noChangeAspect="1" noChangeArrowheads="1"/>
            </p:cNvSpPr>
            <p:nvPr/>
          </p:nvSpPr>
          <p:spPr bwMode="auto">
            <a:xfrm>
              <a:off x="14378" y="-2"/>
              <a:ext cx="2550" cy="4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28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Arc 535">
              <a:extLst>
                <a:ext uri="{FF2B5EF4-FFF2-40B4-BE49-F238E27FC236}">
                  <a16:creationId xmlns:a16="http://schemas.microsoft.com/office/drawing/2014/main" id="{D75E246E-6D01-4B6B-9578-9CA541D4C4AA}"/>
                </a:ext>
              </a:extLst>
            </p:cNvPr>
            <p:cNvSpPr>
              <a:spLocks noChangeAspect="1"/>
            </p:cNvSpPr>
            <p:nvPr/>
          </p:nvSpPr>
          <p:spPr bwMode="auto">
            <a:xfrm>
              <a:off x="4954" y="13877"/>
              <a:ext cx="372" cy="307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56" name="Group 55">
            <a:extLst>
              <a:ext uri="{FF2B5EF4-FFF2-40B4-BE49-F238E27FC236}">
                <a16:creationId xmlns:a16="http://schemas.microsoft.com/office/drawing/2014/main" id="{517426FB-D2C1-447C-A479-EDE97B76D274}"/>
              </a:ext>
            </a:extLst>
          </p:cNvPr>
          <p:cNvGrpSpPr>
            <a:grpSpLocks noChangeAspect="1"/>
          </p:cNvGrpSpPr>
          <p:nvPr/>
        </p:nvGrpSpPr>
        <p:grpSpPr bwMode="auto">
          <a:xfrm>
            <a:off x="4769577" y="5232366"/>
            <a:ext cx="5237480" cy="1533694"/>
            <a:chOff x="-1" y="6308"/>
            <a:chExt cx="20001" cy="13693"/>
          </a:xfrm>
        </p:grpSpPr>
        <p:sp>
          <p:nvSpPr>
            <p:cNvPr id="58" name="Rectangle 57">
              <a:extLst>
                <a:ext uri="{FF2B5EF4-FFF2-40B4-BE49-F238E27FC236}">
                  <a16:creationId xmlns:a16="http://schemas.microsoft.com/office/drawing/2014/main" id="{E3FAED40-6DDF-47E0-8C00-E58370EA78B8}"/>
                </a:ext>
              </a:extLst>
            </p:cNvPr>
            <p:cNvSpPr>
              <a:spLocks noChangeAspect="1" noChangeArrowheads="1"/>
            </p:cNvSpPr>
            <p:nvPr/>
          </p:nvSpPr>
          <p:spPr bwMode="auto">
            <a:xfrm>
              <a:off x="11355" y="11837"/>
              <a:ext cx="8645" cy="3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reference</a:t>
              </a:r>
              <a:r>
                <a:rPr lang="en-GB" sz="22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direction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9" name="Line 538">
              <a:extLst>
                <a:ext uri="{FF2B5EF4-FFF2-40B4-BE49-F238E27FC236}">
                  <a16:creationId xmlns:a16="http://schemas.microsoft.com/office/drawing/2014/main" id="{94061638-BE85-40C7-8BD4-751C89AB0813}"/>
                </a:ext>
              </a:extLst>
            </p:cNvPr>
            <p:cNvCxnSpPr>
              <a:cxnSpLocks noChangeAspect="1" noChangeShapeType="1"/>
            </p:cNvCxnSpPr>
            <p:nvPr/>
          </p:nvCxnSpPr>
          <p:spPr bwMode="auto">
            <a:xfrm flipV="1">
              <a:off x="920" y="6438"/>
              <a:ext cx="8724" cy="6084"/>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cxnSp>
        <p:sp>
          <p:nvSpPr>
            <p:cNvPr id="60" name="Rectangle 59">
              <a:extLst>
                <a:ext uri="{FF2B5EF4-FFF2-40B4-BE49-F238E27FC236}">
                  <a16:creationId xmlns:a16="http://schemas.microsoft.com/office/drawing/2014/main" id="{E6195341-3819-4A45-87EC-99CCD143DD5D}"/>
                </a:ext>
              </a:extLst>
            </p:cNvPr>
            <p:cNvSpPr>
              <a:spLocks noChangeAspect="1" noChangeArrowheads="1"/>
            </p:cNvSpPr>
            <p:nvPr/>
          </p:nvSpPr>
          <p:spPr bwMode="auto">
            <a:xfrm>
              <a:off x="4978" y="9073"/>
              <a:ext cx="1455" cy="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1" name="Line 540">
              <a:extLst>
                <a:ext uri="{FF2B5EF4-FFF2-40B4-BE49-F238E27FC236}">
                  <a16:creationId xmlns:a16="http://schemas.microsoft.com/office/drawing/2014/main" id="{94DD360C-89CD-4F76-8DEA-21D386E71838}"/>
                </a:ext>
              </a:extLst>
            </p:cNvPr>
            <p:cNvCxnSpPr>
              <a:cxnSpLocks noChangeAspect="1" noChangeShapeType="1"/>
            </p:cNvCxnSpPr>
            <p:nvPr/>
          </p:nvCxnSpPr>
          <p:spPr bwMode="auto">
            <a:xfrm>
              <a:off x="920" y="12664"/>
              <a:ext cx="10100" cy="12"/>
            </a:xfrm>
            <a:prstGeom prst="line">
              <a:avLst/>
            </a:prstGeom>
            <a:noFill/>
            <a:ln w="19050">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62" name="Rectangle 61">
              <a:extLst>
                <a:ext uri="{FF2B5EF4-FFF2-40B4-BE49-F238E27FC236}">
                  <a16:creationId xmlns:a16="http://schemas.microsoft.com/office/drawing/2014/main" id="{259AB518-D1BA-4579-B79E-24B7DEC04EEC}"/>
                </a:ext>
              </a:extLst>
            </p:cNvPr>
            <p:cNvSpPr>
              <a:spLocks noChangeAspect="1" noChangeArrowheads="1"/>
            </p:cNvSpPr>
            <p:nvPr/>
          </p:nvSpPr>
          <p:spPr bwMode="auto">
            <a:xfrm>
              <a:off x="-1" y="11412"/>
              <a:ext cx="1199" cy="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4" name="Arc 543">
              <a:extLst>
                <a:ext uri="{FF2B5EF4-FFF2-40B4-BE49-F238E27FC236}">
                  <a16:creationId xmlns:a16="http://schemas.microsoft.com/office/drawing/2014/main" id="{EA8B12C6-679C-485C-97D4-3B240CC8F7F9}"/>
                </a:ext>
              </a:extLst>
            </p:cNvPr>
            <p:cNvSpPr>
              <a:spLocks noChangeAspect="1"/>
            </p:cNvSpPr>
            <p:nvPr/>
          </p:nvSpPr>
          <p:spPr bwMode="auto">
            <a:xfrm>
              <a:off x="3443" y="10348"/>
              <a:ext cx="279" cy="213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65" name="Rectangle 64">
              <a:extLst>
                <a:ext uri="{FF2B5EF4-FFF2-40B4-BE49-F238E27FC236}">
                  <a16:creationId xmlns:a16="http://schemas.microsoft.com/office/drawing/2014/main" id="{F0C4EF9E-BDDA-4178-891A-0883A3BCF043}"/>
                </a:ext>
              </a:extLst>
            </p:cNvPr>
            <p:cNvSpPr>
              <a:spLocks noChangeAspect="1" noChangeArrowheads="1"/>
            </p:cNvSpPr>
            <p:nvPr/>
          </p:nvSpPr>
          <p:spPr bwMode="auto">
            <a:xfrm>
              <a:off x="1909" y="17366"/>
              <a:ext cx="8258" cy="2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1000"/>
                </a:spcAft>
              </a:pPr>
              <a:r>
                <a:rPr lang="en-GB" sz="220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Phasor diagram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p>
          </p:txBody>
        </p:sp>
        <p:cxnSp>
          <p:nvCxnSpPr>
            <p:cNvPr id="66" name="Line 545">
              <a:extLst>
                <a:ext uri="{FF2B5EF4-FFF2-40B4-BE49-F238E27FC236}">
                  <a16:creationId xmlns:a16="http://schemas.microsoft.com/office/drawing/2014/main" id="{F3E17B1F-A771-45B0-B16C-1EF38E89A8BB}"/>
                </a:ext>
              </a:extLst>
            </p:cNvPr>
            <p:cNvCxnSpPr>
              <a:cxnSpLocks noChangeAspect="1" noChangeShapeType="1"/>
            </p:cNvCxnSpPr>
            <p:nvPr/>
          </p:nvCxnSpPr>
          <p:spPr bwMode="auto">
            <a:xfrm>
              <a:off x="9718" y="6308"/>
              <a:ext cx="6" cy="6604"/>
            </a:xfrm>
            <a:prstGeom prst="line">
              <a:avLst/>
            </a:prstGeom>
            <a:noFill/>
            <a:ln w="19050">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67" name="Line 546">
              <a:extLst>
                <a:ext uri="{FF2B5EF4-FFF2-40B4-BE49-F238E27FC236}">
                  <a16:creationId xmlns:a16="http://schemas.microsoft.com/office/drawing/2014/main" id="{FE5A1DED-08EA-4ADE-9EC5-7E458312EA1D}"/>
                </a:ext>
              </a:extLst>
            </p:cNvPr>
            <p:cNvCxnSpPr>
              <a:cxnSpLocks noChangeAspect="1" noChangeShapeType="1"/>
            </p:cNvCxnSpPr>
            <p:nvPr/>
          </p:nvCxnSpPr>
          <p:spPr bwMode="auto">
            <a:xfrm>
              <a:off x="954" y="15878"/>
              <a:ext cx="8872" cy="12"/>
            </a:xfrm>
            <a:prstGeom prst="line">
              <a:avLst/>
            </a:prstGeom>
            <a:noFill/>
            <a:ln w="25400">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68" name="Line 547">
              <a:extLst>
                <a:ext uri="{FF2B5EF4-FFF2-40B4-BE49-F238E27FC236}">
                  <a16:creationId xmlns:a16="http://schemas.microsoft.com/office/drawing/2014/main" id="{987053D9-CD92-42A6-A62F-93617D793573}"/>
                </a:ext>
              </a:extLst>
            </p:cNvPr>
            <p:cNvCxnSpPr>
              <a:cxnSpLocks noChangeAspect="1" noChangeShapeType="1"/>
            </p:cNvCxnSpPr>
            <p:nvPr/>
          </p:nvCxnSpPr>
          <p:spPr bwMode="auto">
            <a:xfrm>
              <a:off x="10673" y="6521"/>
              <a:ext cx="6" cy="6037"/>
            </a:xfrm>
            <a:prstGeom prst="line">
              <a:avLst/>
            </a:prstGeom>
            <a:noFill/>
            <a:ln w="25400">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sp>
          <p:nvSpPr>
            <p:cNvPr id="69" name="Rectangle 68">
              <a:extLst>
                <a:ext uri="{FF2B5EF4-FFF2-40B4-BE49-F238E27FC236}">
                  <a16:creationId xmlns:a16="http://schemas.microsoft.com/office/drawing/2014/main" id="{B65730D8-4B4B-452B-9CAB-704E32097479}"/>
                </a:ext>
              </a:extLst>
            </p:cNvPr>
            <p:cNvSpPr>
              <a:spLocks noChangeAspect="1" noChangeArrowheads="1"/>
            </p:cNvSpPr>
            <p:nvPr/>
          </p:nvSpPr>
          <p:spPr bwMode="auto">
            <a:xfrm>
              <a:off x="11321" y="7867"/>
              <a:ext cx="1199" cy="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2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0" name="Rectangle 69">
              <a:extLst>
                <a:ext uri="{FF2B5EF4-FFF2-40B4-BE49-F238E27FC236}">
                  <a16:creationId xmlns:a16="http://schemas.microsoft.com/office/drawing/2014/main" id="{DD075DE1-CC5A-4E34-93D5-F3E2681A7C31}"/>
                </a:ext>
              </a:extLst>
            </p:cNvPr>
            <p:cNvSpPr>
              <a:spLocks noChangeAspect="1" noChangeArrowheads="1"/>
            </p:cNvSpPr>
            <p:nvPr/>
          </p:nvSpPr>
          <p:spPr bwMode="auto">
            <a:xfrm>
              <a:off x="5080" y="12490"/>
              <a:ext cx="1200" cy="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2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x</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aphicFrame>
        <p:nvGraphicFramePr>
          <p:cNvPr id="71" name="Object 70">
            <a:extLst>
              <a:ext uri="{FF2B5EF4-FFF2-40B4-BE49-F238E27FC236}">
                <a16:creationId xmlns:a16="http://schemas.microsoft.com/office/drawing/2014/main" id="{580C77D8-13E3-47DD-BB21-446C8E693411}"/>
              </a:ext>
            </a:extLst>
          </p:cNvPr>
          <p:cNvGraphicFramePr>
            <a:graphicFrameLocks noChangeAspect="1"/>
          </p:cNvGraphicFramePr>
          <p:nvPr>
            <p:extLst>
              <p:ext uri="{D42A27DB-BD31-4B8C-83A1-F6EECF244321}">
                <p14:modId xmlns:p14="http://schemas.microsoft.com/office/powerpoint/2010/main" val="4263215208"/>
              </p:ext>
            </p:extLst>
          </p:nvPr>
        </p:nvGraphicFramePr>
        <p:xfrm>
          <a:off x="7048002" y="4641011"/>
          <a:ext cx="1039468" cy="817817"/>
        </p:xfrm>
        <a:graphic>
          <a:graphicData uri="http://schemas.openxmlformats.org/presentationml/2006/ole">
            <mc:AlternateContent xmlns:mc="http://schemas.openxmlformats.org/markup-compatibility/2006">
              <mc:Choice xmlns:v="urn:schemas-microsoft-com:vml" Requires="v">
                <p:oleObj spid="_x0000_s27653" r:id="rId3" imgW="533169" imgH="418918" progId="Equation.3">
                  <p:embed/>
                </p:oleObj>
              </mc:Choice>
              <mc:Fallback>
                <p:oleObj r:id="rId3" imgW="533169" imgH="418918" progId="Equation.3">
                  <p:embed/>
                  <p:pic>
                    <p:nvPicPr>
                      <p:cNvPr id="16" name="Object 15">
                        <a:extLst>
                          <a:ext uri="{FF2B5EF4-FFF2-40B4-BE49-F238E27FC236}">
                            <a16:creationId xmlns:a16="http://schemas.microsoft.com/office/drawing/2014/main" id="{F0480EE7-91F6-4074-A43C-5F3ECC2082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002" y="4641011"/>
                        <a:ext cx="1039468" cy="817817"/>
                      </a:xfrm>
                      <a:prstGeom prst="rect">
                        <a:avLst/>
                      </a:prstGeom>
                      <a:noFill/>
                    </p:spPr>
                  </p:pic>
                </p:oleObj>
              </mc:Fallback>
            </mc:AlternateContent>
          </a:graphicData>
        </a:graphic>
      </p:graphicFrame>
    </p:spTree>
    <p:extLst>
      <p:ext uri="{BB962C8B-B14F-4D97-AF65-F5344CB8AC3E}">
        <p14:creationId xmlns:p14="http://schemas.microsoft.com/office/powerpoint/2010/main" val="2198646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2543-4170-4905-ABE5-4021C242CCBF}"/>
              </a:ext>
            </a:extLst>
          </p:cNvPr>
          <p:cNvSpPr>
            <a:spLocks noGrp="1"/>
          </p:cNvSpPr>
          <p:nvPr>
            <p:ph type="title"/>
          </p:nvPr>
        </p:nvSpPr>
        <p:spPr/>
        <p:txBody>
          <a:bodyPr>
            <a:normAutofit fontScale="90000"/>
          </a:bodyPr>
          <a:lstStyle/>
          <a:p>
            <a:r>
              <a:rPr lang="en-US" dirty="0"/>
              <a:t>Phasor</a:t>
            </a:r>
            <a:endParaRPr lang="en-GB" dirty="0"/>
          </a:p>
        </p:txBody>
      </p:sp>
      <p:sp>
        <p:nvSpPr>
          <p:cNvPr id="15" name="Rectangle 2">
            <a:extLst>
              <a:ext uri="{FF2B5EF4-FFF2-40B4-BE49-F238E27FC236}">
                <a16:creationId xmlns:a16="http://schemas.microsoft.com/office/drawing/2014/main" id="{F6F1D163-97F9-410D-A63A-B6A3B6867B4A}"/>
              </a:ext>
            </a:extLst>
          </p:cNvPr>
          <p:cNvSpPr>
            <a:spLocks noChangeArrowheads="1"/>
          </p:cNvSpPr>
          <p:nvPr/>
        </p:nvSpPr>
        <p:spPr bwMode="auto">
          <a:xfrm>
            <a:off x="10371331" y="91037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17" name="Group 16">
            <a:extLst>
              <a:ext uri="{FF2B5EF4-FFF2-40B4-BE49-F238E27FC236}">
                <a16:creationId xmlns:a16="http://schemas.microsoft.com/office/drawing/2014/main" id="{39CC0C0B-E3EA-47B5-8A74-6AAF61EE937E}"/>
              </a:ext>
            </a:extLst>
          </p:cNvPr>
          <p:cNvGrpSpPr/>
          <p:nvPr/>
        </p:nvGrpSpPr>
        <p:grpSpPr>
          <a:xfrm>
            <a:off x="6917235" y="910373"/>
            <a:ext cx="4845050" cy="2268125"/>
            <a:chOff x="6917235" y="910373"/>
            <a:chExt cx="4845050" cy="2268125"/>
          </a:xfrm>
        </p:grpSpPr>
        <p:grpSp>
          <p:nvGrpSpPr>
            <p:cNvPr id="3" name="Group 2">
              <a:extLst>
                <a:ext uri="{FF2B5EF4-FFF2-40B4-BE49-F238E27FC236}">
                  <a16:creationId xmlns:a16="http://schemas.microsoft.com/office/drawing/2014/main" id="{83EAA24D-1269-48FC-A755-7B99C80E0C4D}"/>
                </a:ext>
              </a:extLst>
            </p:cNvPr>
            <p:cNvGrpSpPr/>
            <p:nvPr/>
          </p:nvGrpSpPr>
          <p:grpSpPr>
            <a:xfrm>
              <a:off x="6917235" y="1117288"/>
              <a:ext cx="4845050" cy="2061210"/>
              <a:chOff x="0" y="590550"/>
              <a:chExt cx="4845050" cy="2061210"/>
            </a:xfrm>
          </p:grpSpPr>
          <p:cxnSp>
            <p:nvCxnSpPr>
              <p:cNvPr id="4" name="Line 2029">
                <a:extLst>
                  <a:ext uri="{FF2B5EF4-FFF2-40B4-BE49-F238E27FC236}">
                    <a16:creationId xmlns:a16="http://schemas.microsoft.com/office/drawing/2014/main" id="{29CBA01D-3F9E-423E-8AEA-BB5A0ACF867D}"/>
                  </a:ext>
                </a:extLst>
              </p:cNvPr>
              <p:cNvCxnSpPr>
                <a:cxnSpLocks noChangeAspect="1" noChangeShapeType="1"/>
              </p:cNvCxnSpPr>
              <p:nvPr/>
            </p:nvCxnSpPr>
            <p:spPr bwMode="auto">
              <a:xfrm flipV="1">
                <a:off x="381000" y="1047750"/>
                <a:ext cx="2961005" cy="1008380"/>
              </a:xfrm>
              <a:prstGeom prst="line">
                <a:avLst/>
              </a:prstGeom>
              <a:noFill/>
              <a:ln w="28575">
                <a:solidFill>
                  <a:srgbClr val="BB1121"/>
                </a:solidFill>
                <a:round/>
                <a:headEnd/>
                <a:tailEnd type="triangle" w="lg" len="lg"/>
              </a:ln>
              <a:extLst>
                <a:ext uri="{909E8E84-426E-40DD-AFC4-6F175D3DCCD1}">
                  <a14:hiddenFill xmlns:a14="http://schemas.microsoft.com/office/drawing/2010/main">
                    <a:noFill/>
                  </a14:hiddenFill>
                </a:ext>
              </a:extLst>
            </p:spPr>
          </p:cxnSp>
          <p:sp>
            <p:nvSpPr>
              <p:cNvPr id="5" name="Rectangle 4">
                <a:extLst>
                  <a:ext uri="{FF2B5EF4-FFF2-40B4-BE49-F238E27FC236}">
                    <a16:creationId xmlns:a16="http://schemas.microsoft.com/office/drawing/2014/main" id="{521F6A1B-B3E3-4D52-90C0-DEBE902AB86C}"/>
                  </a:ext>
                </a:extLst>
              </p:cNvPr>
              <p:cNvSpPr>
                <a:spLocks noChangeAspect="1" noChangeArrowheads="1"/>
              </p:cNvSpPr>
              <p:nvPr/>
            </p:nvSpPr>
            <p:spPr bwMode="auto">
              <a:xfrm>
                <a:off x="1752600" y="1530504"/>
                <a:ext cx="49339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200" dirty="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Line 2031">
                <a:extLst>
                  <a:ext uri="{FF2B5EF4-FFF2-40B4-BE49-F238E27FC236}">
                    <a16:creationId xmlns:a16="http://schemas.microsoft.com/office/drawing/2014/main" id="{4C5F1C70-5014-47BC-A966-56BA8E0DFE20}"/>
                  </a:ext>
                </a:extLst>
              </p:cNvPr>
              <p:cNvCxnSpPr>
                <a:cxnSpLocks noChangeAspect="1" noChangeShapeType="1"/>
              </p:cNvCxnSpPr>
              <p:nvPr/>
            </p:nvCxnSpPr>
            <p:spPr bwMode="auto">
              <a:xfrm>
                <a:off x="381000" y="2095500"/>
                <a:ext cx="3427095" cy="1905"/>
              </a:xfrm>
              <a:prstGeom prst="line">
                <a:avLst/>
              </a:prstGeom>
              <a:noFill/>
              <a:ln w="19050">
                <a:solidFill>
                  <a:srgbClr val="002060"/>
                </a:solidFill>
                <a:round/>
                <a:headEnd type="none" w="sm" len="sm"/>
                <a:tailEnd type="arrow" w="lg" len="lg"/>
              </a:ln>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FD39025C-64A7-4E0E-92B8-B7F2A1905AA2}"/>
                  </a:ext>
                </a:extLst>
              </p:cNvPr>
              <p:cNvSpPr>
                <a:spLocks noChangeAspect="1" noChangeArrowheads="1"/>
              </p:cNvSpPr>
              <p:nvPr/>
            </p:nvSpPr>
            <p:spPr bwMode="auto">
              <a:xfrm>
                <a:off x="57150" y="1885950"/>
                <a:ext cx="4064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A50B837B-8C63-4C4E-B032-D871CD714139}"/>
                  </a:ext>
                </a:extLst>
              </p:cNvPr>
              <p:cNvSpPr>
                <a:spLocks noChangeAspect="1" noChangeArrowheads="1"/>
              </p:cNvSpPr>
              <p:nvPr/>
            </p:nvSpPr>
            <p:spPr bwMode="auto">
              <a:xfrm>
                <a:off x="3550920" y="590550"/>
                <a:ext cx="129413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marL="0" marR="0">
                  <a:lnSpc>
                    <a:spcPct val="90000"/>
                  </a:lnSpc>
                  <a:spcBef>
                    <a:spcPts val="0"/>
                  </a:spcBef>
                  <a:spcAft>
                    <a:spcPts val="0"/>
                  </a:spcAft>
                </a:pPr>
                <a:endPar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Arc 2034">
                <a:extLst>
                  <a:ext uri="{FF2B5EF4-FFF2-40B4-BE49-F238E27FC236}">
                    <a16:creationId xmlns:a16="http://schemas.microsoft.com/office/drawing/2014/main" id="{2CBEEDF4-DDDD-4E83-84EB-233C74B27C12}"/>
                  </a:ext>
                </a:extLst>
              </p:cNvPr>
              <p:cNvSpPr>
                <a:spLocks noChangeAspect="1"/>
              </p:cNvSpPr>
              <p:nvPr/>
            </p:nvSpPr>
            <p:spPr bwMode="auto">
              <a:xfrm>
                <a:off x="1238250" y="1759104"/>
                <a:ext cx="94615" cy="3536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0" name="Line 2036">
                <a:extLst>
                  <a:ext uri="{FF2B5EF4-FFF2-40B4-BE49-F238E27FC236}">
                    <a16:creationId xmlns:a16="http://schemas.microsoft.com/office/drawing/2014/main" id="{0879084C-631A-4966-AED3-8D71E2F127A5}"/>
                  </a:ext>
                </a:extLst>
              </p:cNvPr>
              <p:cNvCxnSpPr>
                <a:cxnSpLocks noChangeAspect="1" noChangeShapeType="1"/>
              </p:cNvCxnSpPr>
              <p:nvPr/>
            </p:nvCxnSpPr>
            <p:spPr bwMode="auto">
              <a:xfrm>
                <a:off x="3371850" y="1047750"/>
                <a:ext cx="2540" cy="1093470"/>
              </a:xfrm>
              <a:prstGeom prst="line">
                <a:avLst/>
              </a:prstGeom>
              <a:noFill/>
              <a:ln w="19050">
                <a:solidFill>
                  <a:srgbClr val="002060"/>
                </a:solidFill>
                <a:prstDash val="dash"/>
                <a:round/>
                <a:headEnd type="none" w="sm" len="sm"/>
                <a:tailEnd type="none" w="sm" len="sm"/>
              </a:ln>
              <a:extLst>
                <a:ext uri="{909E8E84-426E-40DD-AFC4-6F175D3DCCD1}">
                  <a14:hiddenFill xmlns:a14="http://schemas.microsoft.com/office/drawing/2010/main">
                    <a:noFill/>
                  </a14:hiddenFill>
                </a:ext>
              </a:extLst>
            </p:spPr>
          </p:cxnSp>
          <p:cxnSp>
            <p:nvCxnSpPr>
              <p:cNvPr id="11" name="Line 2037">
                <a:extLst>
                  <a:ext uri="{FF2B5EF4-FFF2-40B4-BE49-F238E27FC236}">
                    <a16:creationId xmlns:a16="http://schemas.microsoft.com/office/drawing/2014/main" id="{6F968F10-9C24-4B6E-8EDA-DF65627A5A42}"/>
                  </a:ext>
                </a:extLst>
              </p:cNvPr>
              <p:cNvCxnSpPr>
                <a:cxnSpLocks noChangeAspect="1" noChangeShapeType="1"/>
              </p:cNvCxnSpPr>
              <p:nvPr/>
            </p:nvCxnSpPr>
            <p:spPr bwMode="auto">
              <a:xfrm>
                <a:off x="400050" y="1028700"/>
                <a:ext cx="3010535" cy="1905"/>
              </a:xfrm>
              <a:prstGeom prst="line">
                <a:avLst/>
              </a:prstGeom>
              <a:noFill/>
              <a:ln w="19050">
                <a:solidFill>
                  <a:srgbClr val="002060"/>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BDAEF5EE-4B73-4AE9-B86A-939072FA8E65}"/>
                  </a:ext>
                </a:extLst>
              </p:cNvPr>
              <p:cNvSpPr>
                <a:spLocks noChangeAspect="1" noChangeArrowheads="1"/>
              </p:cNvSpPr>
              <p:nvPr/>
            </p:nvSpPr>
            <p:spPr bwMode="auto">
              <a:xfrm>
                <a:off x="0" y="685800"/>
                <a:ext cx="407670" cy="499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BC8D7A00-A320-43ED-930D-5077DC5E0450}"/>
                  </a:ext>
                </a:extLst>
              </p:cNvPr>
              <p:cNvSpPr>
                <a:spLocks noChangeAspect="1" noChangeArrowheads="1"/>
              </p:cNvSpPr>
              <p:nvPr/>
            </p:nvSpPr>
            <p:spPr bwMode="auto">
              <a:xfrm>
                <a:off x="3143250" y="2152650"/>
                <a:ext cx="407670" cy="499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x</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4" name="Line 2042">
                <a:extLst>
                  <a:ext uri="{FF2B5EF4-FFF2-40B4-BE49-F238E27FC236}">
                    <a16:creationId xmlns:a16="http://schemas.microsoft.com/office/drawing/2014/main" id="{2222F16B-9A71-4966-AC8D-F2F1A771F0E1}"/>
                  </a:ext>
                </a:extLst>
              </p:cNvPr>
              <p:cNvCxnSpPr>
                <a:cxnSpLocks noChangeAspect="1" noChangeShapeType="1"/>
              </p:cNvCxnSpPr>
              <p:nvPr/>
            </p:nvCxnSpPr>
            <p:spPr bwMode="auto">
              <a:xfrm>
                <a:off x="381000" y="723900"/>
                <a:ext cx="3810" cy="1365885"/>
              </a:xfrm>
              <a:prstGeom prst="line">
                <a:avLst/>
              </a:prstGeom>
              <a:noFill/>
              <a:ln w="19050">
                <a:solidFill>
                  <a:srgbClr val="002060"/>
                </a:solidFill>
                <a:round/>
                <a:headEnd type="arrow" w="lg" len="lg"/>
                <a:tailEnd type="none" w="lg" len="lg"/>
              </a:ln>
              <a:extLst>
                <a:ext uri="{909E8E84-426E-40DD-AFC4-6F175D3DCCD1}">
                  <a14:hiddenFill xmlns:a14="http://schemas.microsoft.com/office/drawing/2010/main">
                    <a:noFill/>
                  </a14:hiddenFill>
                </a:ext>
              </a:extLst>
            </p:spPr>
          </p:cxnSp>
        </p:grpSp>
        <p:graphicFrame>
          <p:nvGraphicFramePr>
            <p:cNvPr id="16" name="Object 15">
              <a:extLst>
                <a:ext uri="{FF2B5EF4-FFF2-40B4-BE49-F238E27FC236}">
                  <a16:creationId xmlns:a16="http://schemas.microsoft.com/office/drawing/2014/main" id="{F0480EE7-91F6-4074-A43C-5F3ECC20822B}"/>
                </a:ext>
              </a:extLst>
            </p:cNvPr>
            <p:cNvGraphicFramePr>
              <a:graphicFrameLocks noChangeAspect="1"/>
            </p:cNvGraphicFramePr>
            <p:nvPr>
              <p:extLst>
                <p:ext uri="{D42A27DB-BD31-4B8C-83A1-F6EECF244321}">
                  <p14:modId xmlns:p14="http://schemas.microsoft.com/office/powerpoint/2010/main" val="458331913"/>
                </p:ext>
              </p:extLst>
            </p:nvPr>
          </p:nvGraphicFramePr>
          <p:xfrm>
            <a:off x="10371331" y="910373"/>
            <a:ext cx="1295400" cy="1019175"/>
          </p:xfrm>
          <a:graphic>
            <a:graphicData uri="http://schemas.openxmlformats.org/presentationml/2006/ole">
              <mc:AlternateContent xmlns:mc="http://schemas.openxmlformats.org/markup-compatibility/2006">
                <mc:Choice xmlns:v="urn:schemas-microsoft-com:vml" Requires="v">
                  <p:oleObj spid="_x0000_s17451" r:id="rId4" imgW="533169" imgH="418918" progId="Equation.3">
                    <p:embed/>
                  </p:oleObj>
                </mc:Choice>
                <mc:Fallback>
                  <p:oleObj r:id="rId4" imgW="533169" imgH="418918"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71331" y="910373"/>
                          <a:ext cx="129540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Rectangle 17">
            <a:extLst>
              <a:ext uri="{FF2B5EF4-FFF2-40B4-BE49-F238E27FC236}">
                <a16:creationId xmlns:a16="http://schemas.microsoft.com/office/drawing/2014/main" id="{291328DB-D675-45D3-A84B-1FFB0591B337}"/>
              </a:ext>
            </a:extLst>
          </p:cNvPr>
          <p:cNvSpPr/>
          <p:nvPr/>
        </p:nvSpPr>
        <p:spPr>
          <a:xfrm>
            <a:off x="310156" y="752515"/>
            <a:ext cx="6343554" cy="2139047"/>
          </a:xfrm>
          <a:prstGeom prst="rect">
            <a:avLst/>
          </a:prstGeom>
        </p:spPr>
        <p:txBody>
          <a:bodyPr wrap="square">
            <a:spAutoFit/>
          </a:bodyPr>
          <a:lstStyle/>
          <a:p>
            <a:pPr>
              <a:spcBef>
                <a:spcPts val="600"/>
              </a:spcBef>
              <a:tabLst>
                <a:tab pos="3771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Characterised by </a:t>
            </a:r>
            <a:endParaRPr lang="en-GB" sz="1100" dirty="0">
              <a:latin typeface="Calibri" panose="020F0502020204030204" pitchFamily="34" charset="0"/>
              <a:ea typeface="Calibri" panose="020F0502020204030204" pitchFamily="34" charset="0"/>
              <a:cs typeface="Times New Roman" panose="02020603050405020304" pitchFamily="18" charset="0"/>
            </a:endParaRPr>
          </a:p>
          <a:p>
            <a:pPr>
              <a:spcBef>
                <a:spcPts val="600"/>
              </a:spcBef>
              <a:tabLst>
                <a:tab pos="457200" algn="l"/>
                <a:tab pos="3771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Magnitude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phase angle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1100" dirty="0">
              <a:latin typeface="Calibri" panose="020F0502020204030204" pitchFamily="34" charset="0"/>
              <a:ea typeface="Calibri" panose="020F0502020204030204" pitchFamily="34" charset="0"/>
              <a:cs typeface="Times New Roman" panose="02020603050405020304" pitchFamily="18" charset="0"/>
            </a:endParaRPr>
          </a:p>
          <a:p>
            <a:pPr>
              <a:tabLst>
                <a:tab pos="457200" algn="l"/>
                <a:tab pos="3771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Polar co-ordinates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dirty="0">
                <a:solidFill>
                  <a:srgbClr val="002060"/>
                </a:solidFill>
                <a:latin typeface="Cambria" panose="020405030504060302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1100" dirty="0">
              <a:latin typeface="Calibri" panose="020F0502020204030204" pitchFamily="34" charset="0"/>
              <a:ea typeface="Calibri" panose="020F0502020204030204" pitchFamily="34" charset="0"/>
              <a:cs typeface="Times New Roman" panose="02020603050405020304" pitchFamily="18" charset="0"/>
            </a:endParaRPr>
          </a:p>
          <a:p>
            <a:pPr>
              <a:tabLst>
                <a:tab pos="457200" algn="l"/>
                <a:tab pos="3771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Cartesian co-ordinates </a:t>
            </a:r>
            <a:r>
              <a:rPr lang="en-GB" sz="3200" b="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A</a:t>
            </a:r>
            <a:r>
              <a:rPr lang="en-GB" sz="3200" b="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x</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j A</a:t>
            </a:r>
            <a:r>
              <a:rPr lang="en-GB" sz="3200"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itle 1">
            <a:extLst>
              <a:ext uri="{FF2B5EF4-FFF2-40B4-BE49-F238E27FC236}">
                <a16:creationId xmlns:a16="http://schemas.microsoft.com/office/drawing/2014/main" id="{E135FDDA-3E96-4EB8-B4F1-A4B0A73B97A7}"/>
              </a:ext>
            </a:extLst>
          </p:cNvPr>
          <p:cNvSpPr txBox="1">
            <a:spLocks/>
          </p:cNvSpPr>
          <p:nvPr/>
        </p:nvSpPr>
        <p:spPr>
          <a:xfrm>
            <a:off x="633957" y="3152315"/>
            <a:ext cx="10924085" cy="482745"/>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3200" b="1" kern="1200">
                <a:solidFill>
                  <a:srgbClr val="C00000"/>
                </a:solidFill>
                <a:latin typeface="+mj-lt"/>
                <a:ea typeface="+mj-ea"/>
                <a:cs typeface="+mj-cs"/>
              </a:defRPr>
            </a:lvl1pPr>
          </a:lstStyle>
          <a:p>
            <a:r>
              <a:rPr lang="en-US" dirty="0"/>
              <a:t>Phase difference</a:t>
            </a:r>
            <a:endParaRPr lang="en-GB" dirty="0"/>
          </a:p>
        </p:txBody>
      </p:sp>
      <p:grpSp>
        <p:nvGrpSpPr>
          <p:cNvPr id="20" name="Group 19">
            <a:extLst>
              <a:ext uri="{FF2B5EF4-FFF2-40B4-BE49-F238E27FC236}">
                <a16:creationId xmlns:a16="http://schemas.microsoft.com/office/drawing/2014/main" id="{D0A06265-B82B-46DE-940B-25258E13352F}"/>
              </a:ext>
            </a:extLst>
          </p:cNvPr>
          <p:cNvGrpSpPr>
            <a:grpSpLocks/>
          </p:cNvGrpSpPr>
          <p:nvPr/>
        </p:nvGrpSpPr>
        <p:grpSpPr bwMode="auto">
          <a:xfrm>
            <a:off x="429715" y="3416296"/>
            <a:ext cx="9418955" cy="2966085"/>
            <a:chOff x="450" y="1732"/>
            <a:chExt cx="14833" cy="4671"/>
          </a:xfrm>
        </p:grpSpPr>
        <p:sp>
          <p:nvSpPr>
            <p:cNvPr id="21" name="Rectangle 20">
              <a:extLst>
                <a:ext uri="{FF2B5EF4-FFF2-40B4-BE49-F238E27FC236}">
                  <a16:creationId xmlns:a16="http://schemas.microsoft.com/office/drawing/2014/main" id="{D6CBD29B-ECAB-48F2-B9EF-009C45923A8C}"/>
                </a:ext>
              </a:extLst>
            </p:cNvPr>
            <p:cNvSpPr>
              <a:spLocks noChangeArrowheads="1"/>
            </p:cNvSpPr>
            <p:nvPr/>
          </p:nvSpPr>
          <p:spPr bwMode="auto">
            <a:xfrm>
              <a:off x="5921" y="4200"/>
              <a:ext cx="349"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EC1C4692-1075-4359-A3B7-4BF9024B38C9}"/>
                </a:ext>
              </a:extLst>
            </p:cNvPr>
            <p:cNvSpPr>
              <a:spLocks noChangeArrowheads="1"/>
            </p:cNvSpPr>
            <p:nvPr/>
          </p:nvSpPr>
          <p:spPr bwMode="auto">
            <a:xfrm>
              <a:off x="6461" y="4274"/>
              <a:ext cx="348"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BC180CA2-8EC7-4052-8792-EADFA0734C09}"/>
                </a:ext>
              </a:extLst>
            </p:cNvPr>
            <p:cNvSpPr>
              <a:spLocks noChangeArrowheads="1"/>
            </p:cNvSpPr>
            <p:nvPr/>
          </p:nvSpPr>
          <p:spPr bwMode="auto">
            <a:xfrm>
              <a:off x="5336" y="4715"/>
              <a:ext cx="349"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4" name="Line 554">
              <a:extLst>
                <a:ext uri="{FF2B5EF4-FFF2-40B4-BE49-F238E27FC236}">
                  <a16:creationId xmlns:a16="http://schemas.microsoft.com/office/drawing/2014/main" id="{B72BAE5B-1C00-484C-BA4B-1B32DCFF4B44}"/>
                </a:ext>
              </a:extLst>
            </p:cNvPr>
            <p:cNvCxnSpPr>
              <a:cxnSpLocks noChangeShapeType="1"/>
            </p:cNvCxnSpPr>
            <p:nvPr/>
          </p:nvCxnSpPr>
          <p:spPr bwMode="auto">
            <a:xfrm>
              <a:off x="5662" y="4674"/>
              <a:ext cx="712" cy="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type="triangle" w="sm" len="sm"/>
                  <a:tailEnd type="triangle" w="sm" len="sm"/>
                </a14:hiddenLine>
              </a:ext>
            </a:extLst>
          </p:spPr>
        </p:cxnSp>
        <p:cxnSp>
          <p:nvCxnSpPr>
            <p:cNvPr id="25" name="Line 555">
              <a:extLst>
                <a:ext uri="{FF2B5EF4-FFF2-40B4-BE49-F238E27FC236}">
                  <a16:creationId xmlns:a16="http://schemas.microsoft.com/office/drawing/2014/main" id="{DBE5B5BD-E9F3-40C0-A17B-01EDAD8C361D}"/>
                </a:ext>
              </a:extLst>
            </p:cNvPr>
            <p:cNvCxnSpPr>
              <a:cxnSpLocks noChangeShapeType="1"/>
            </p:cNvCxnSpPr>
            <p:nvPr/>
          </p:nvCxnSpPr>
          <p:spPr bwMode="auto">
            <a:xfrm>
              <a:off x="6382" y="2193"/>
              <a:ext cx="2" cy="3385"/>
            </a:xfrm>
            <a:prstGeom prst="line">
              <a:avLst/>
            </a:prstGeom>
            <a:noFill/>
            <a:ln w="28575">
              <a:solidFill>
                <a:srgbClr val="002060"/>
              </a:solidFill>
              <a:round/>
              <a:headEnd type="arrow" w="sm" len="med"/>
              <a:tailEnd type="none" w="sm" len="med"/>
            </a:ln>
            <a:extLst>
              <a:ext uri="{909E8E84-426E-40DD-AFC4-6F175D3DCCD1}">
                <a14:hiddenFill xmlns:a14="http://schemas.microsoft.com/office/drawing/2010/main">
                  <a:noFill/>
                </a14:hiddenFill>
              </a:ext>
            </a:extLst>
          </p:spPr>
        </p:cxnSp>
        <p:cxnSp>
          <p:nvCxnSpPr>
            <p:cNvPr id="26" name="Line 556">
              <a:extLst>
                <a:ext uri="{FF2B5EF4-FFF2-40B4-BE49-F238E27FC236}">
                  <a16:creationId xmlns:a16="http://schemas.microsoft.com/office/drawing/2014/main" id="{57B8FE48-FE7F-4E25-83FC-0FB850EFA7EB}"/>
                </a:ext>
              </a:extLst>
            </p:cNvPr>
            <p:cNvCxnSpPr>
              <a:cxnSpLocks noChangeShapeType="1"/>
            </p:cNvCxnSpPr>
            <p:nvPr/>
          </p:nvCxnSpPr>
          <p:spPr bwMode="auto">
            <a:xfrm flipH="1">
              <a:off x="4481" y="4232"/>
              <a:ext cx="10802" cy="2"/>
            </a:xfrm>
            <a:prstGeom prst="line">
              <a:avLst/>
            </a:prstGeom>
            <a:noFill/>
            <a:ln w="28575">
              <a:solidFill>
                <a:srgbClr val="002060"/>
              </a:solidFill>
              <a:round/>
              <a:headEnd type="arrow" w="sm" len="med"/>
              <a:tailEnd type="none" w="sm" len="med"/>
            </a:ln>
            <a:extLst>
              <a:ext uri="{909E8E84-426E-40DD-AFC4-6F175D3DCCD1}">
                <a14:hiddenFill xmlns:a14="http://schemas.microsoft.com/office/drawing/2010/main">
                  <a:noFill/>
                </a14:hiddenFill>
              </a:ext>
            </a:extLst>
          </p:spPr>
        </p:cxnSp>
        <p:sp>
          <p:nvSpPr>
            <p:cNvPr id="27" name="Rectangle 26">
              <a:extLst>
                <a:ext uri="{FF2B5EF4-FFF2-40B4-BE49-F238E27FC236}">
                  <a16:creationId xmlns:a16="http://schemas.microsoft.com/office/drawing/2014/main" id="{9582CBD3-786E-4FC5-956F-E8837F287E54}"/>
                </a:ext>
              </a:extLst>
            </p:cNvPr>
            <p:cNvSpPr>
              <a:spLocks noChangeArrowheads="1"/>
            </p:cNvSpPr>
            <p:nvPr/>
          </p:nvSpPr>
          <p:spPr bwMode="auto">
            <a:xfrm>
              <a:off x="6618" y="2046"/>
              <a:ext cx="588"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y(t</a:t>
              </a:r>
              <a:r>
                <a:rPr lang="en-GB" sz="1800" i="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51B3B767-A29A-4B10-87C1-78349574C06E}"/>
                </a:ext>
              </a:extLst>
            </p:cNvPr>
            <p:cNvSpPr>
              <a:spLocks noChangeArrowheads="1"/>
            </p:cNvSpPr>
            <p:nvPr/>
          </p:nvSpPr>
          <p:spPr bwMode="auto">
            <a:xfrm>
              <a:off x="8363" y="3236"/>
              <a:ext cx="2366" cy="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900" i="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a:t>
              </a:r>
              <a:r>
                <a:rPr lang="en-GB" sz="1900" i="1" baseline="-250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a:t>
              </a:r>
              <a:r>
                <a:rPr lang="en-GB" sz="19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sin (</a:t>
              </a:r>
              <a:r>
                <a:rPr lang="en-GB" sz="1900" i="1">
                  <a:solidFill>
                    <a:srgbClr val="C00000"/>
                  </a:solidFill>
                  <a:effectLst/>
                  <a:latin typeface="Symbol" panose="05050102010706020507" pitchFamily="18" charset="2"/>
                  <a:ea typeface="Calibri" panose="020F0502020204030204" pitchFamily="34" charset="0"/>
                  <a:cs typeface="Times New Roman" panose="02020603050405020304" pitchFamily="18" charset="0"/>
                </a:rPr>
                <a:t>w </a:t>
              </a:r>
              <a:r>
                <a:rPr lang="en-GB" sz="1900" i="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a:t>
              </a:r>
              <a:r>
                <a:rPr lang="en-GB" sz="1900" i="1">
                  <a:solidFill>
                    <a:srgbClr val="C00000"/>
                  </a:solidFill>
                  <a:effectLst/>
                  <a:latin typeface="Symbol" panose="05050102010706020507" pitchFamily="18" charset="2"/>
                  <a:ea typeface="Calibri" panose="020F0502020204030204" pitchFamily="34" charset="0"/>
                  <a:cs typeface="Times New Roman" panose="02020603050405020304" pitchFamily="18" charset="0"/>
                </a:rPr>
                <a:t>f</a:t>
              </a:r>
              <a:r>
                <a:rPr lang="en-GB" sz="1900" i="1" baseline="-250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1</a:t>
              </a:r>
              <a:r>
                <a:rPr lang="en-GB" sz="1900" i="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786F6E73-64D7-4C7F-9886-F6EF937A8388}"/>
                </a:ext>
              </a:extLst>
            </p:cNvPr>
            <p:cNvSpPr>
              <a:spLocks noChangeArrowheads="1"/>
            </p:cNvSpPr>
            <p:nvPr/>
          </p:nvSpPr>
          <p:spPr bwMode="auto">
            <a:xfrm>
              <a:off x="7260" y="2473"/>
              <a:ext cx="2367"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900" i="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B</a:t>
              </a:r>
              <a:r>
                <a:rPr lang="en-GB" sz="1900" i="1" baseline="-250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a:t>
              </a:r>
              <a:r>
                <a:rPr lang="en-GB" sz="19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sin (</a:t>
              </a:r>
              <a:r>
                <a:rPr lang="en-GB" sz="1900" i="1">
                  <a:solidFill>
                    <a:srgbClr val="00B0F0"/>
                  </a:solidFill>
                  <a:effectLst/>
                  <a:latin typeface="Symbol" panose="05050102010706020507" pitchFamily="18" charset="2"/>
                  <a:ea typeface="Calibri" panose="020F0502020204030204" pitchFamily="34" charset="0"/>
                  <a:cs typeface="Times New Roman" panose="02020603050405020304" pitchFamily="18" charset="0"/>
                </a:rPr>
                <a:t>w </a:t>
              </a:r>
              <a:r>
                <a:rPr lang="en-GB" sz="1900" i="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t+</a:t>
              </a:r>
              <a:r>
                <a:rPr lang="en-GB" sz="1900" i="1">
                  <a:solidFill>
                    <a:srgbClr val="00B0F0"/>
                  </a:solidFill>
                  <a:effectLst/>
                  <a:latin typeface="Symbol" panose="05050102010706020507" pitchFamily="18" charset="2"/>
                  <a:ea typeface="Calibri" panose="020F0502020204030204" pitchFamily="34" charset="0"/>
                  <a:cs typeface="Times New Roman" panose="02020603050405020304" pitchFamily="18" charset="0"/>
                </a:rPr>
                <a:t>f</a:t>
              </a:r>
              <a:r>
                <a:rPr lang="en-GB" sz="1900" i="1" baseline="-250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a:t>
              </a:r>
              <a:r>
                <a:rPr lang="en-GB" sz="1900" i="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0" name="Line 570">
              <a:extLst>
                <a:ext uri="{FF2B5EF4-FFF2-40B4-BE49-F238E27FC236}">
                  <a16:creationId xmlns:a16="http://schemas.microsoft.com/office/drawing/2014/main" id="{09A6113C-A340-4C3B-8935-0AE8CCE66D32}"/>
                </a:ext>
              </a:extLst>
            </p:cNvPr>
            <p:cNvCxnSpPr>
              <a:cxnSpLocks noChangeShapeType="1"/>
            </p:cNvCxnSpPr>
            <p:nvPr/>
          </p:nvCxnSpPr>
          <p:spPr bwMode="auto">
            <a:xfrm flipH="1">
              <a:off x="5662" y="6140"/>
              <a:ext cx="2399" cy="2"/>
            </a:xfrm>
            <a:prstGeom prst="line">
              <a:avLst/>
            </a:prstGeom>
            <a:noFill/>
            <a:ln w="28575">
              <a:solidFill>
                <a:srgbClr val="002060"/>
              </a:solidFill>
              <a:round/>
              <a:headEnd type="none" w="sm" len="med"/>
              <a:tailEnd type="arrow" w="sm" len="med"/>
            </a:ln>
            <a:extLst>
              <a:ext uri="{909E8E84-426E-40DD-AFC4-6F175D3DCCD1}">
                <a14:hiddenFill xmlns:a14="http://schemas.microsoft.com/office/drawing/2010/main">
                  <a:noFill/>
                </a14:hiddenFill>
              </a:ext>
            </a:extLst>
          </p:spPr>
        </p:cxnSp>
        <p:cxnSp>
          <p:nvCxnSpPr>
            <p:cNvPr id="31" name="Line 571">
              <a:extLst>
                <a:ext uri="{FF2B5EF4-FFF2-40B4-BE49-F238E27FC236}">
                  <a16:creationId xmlns:a16="http://schemas.microsoft.com/office/drawing/2014/main" id="{3E463559-E6E9-4766-BD40-4BBF2E3ACBA2}"/>
                </a:ext>
              </a:extLst>
            </p:cNvPr>
            <p:cNvCxnSpPr>
              <a:cxnSpLocks noChangeShapeType="1"/>
            </p:cNvCxnSpPr>
            <p:nvPr/>
          </p:nvCxnSpPr>
          <p:spPr bwMode="auto">
            <a:xfrm>
              <a:off x="9071" y="6140"/>
              <a:ext cx="2512" cy="2"/>
            </a:xfrm>
            <a:prstGeom prst="line">
              <a:avLst/>
            </a:prstGeom>
            <a:noFill/>
            <a:ln w="28575">
              <a:solidFill>
                <a:srgbClr val="002060"/>
              </a:solidFill>
              <a:round/>
              <a:headEnd type="none" w="sm" len="med"/>
              <a:tailEnd type="arrow" w="sm" len="med"/>
            </a:ln>
            <a:extLst>
              <a:ext uri="{909E8E84-426E-40DD-AFC4-6F175D3DCCD1}">
                <a14:hiddenFill xmlns:a14="http://schemas.microsoft.com/office/drawing/2010/main">
                  <a:noFill/>
                </a14:hiddenFill>
              </a:ext>
            </a:extLst>
          </p:spPr>
        </p:cxnSp>
        <p:sp>
          <p:nvSpPr>
            <p:cNvPr id="32" name="Rectangle 31">
              <a:extLst>
                <a:ext uri="{FF2B5EF4-FFF2-40B4-BE49-F238E27FC236}">
                  <a16:creationId xmlns:a16="http://schemas.microsoft.com/office/drawing/2014/main" id="{A2D1EF10-F0BD-4564-A9B3-2AB7C9443B59}"/>
                </a:ext>
              </a:extLst>
            </p:cNvPr>
            <p:cNvSpPr>
              <a:spLocks noChangeArrowheads="1"/>
            </p:cNvSpPr>
            <p:nvPr/>
          </p:nvSpPr>
          <p:spPr bwMode="auto">
            <a:xfrm>
              <a:off x="8138" y="5948"/>
              <a:ext cx="824"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lang="en-GB" sz="1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3" name="Line 573">
              <a:extLst>
                <a:ext uri="{FF2B5EF4-FFF2-40B4-BE49-F238E27FC236}">
                  <a16:creationId xmlns:a16="http://schemas.microsoft.com/office/drawing/2014/main" id="{7176A5B5-7E11-4AA9-84E9-4E015207EF24}"/>
                </a:ext>
              </a:extLst>
            </p:cNvPr>
            <p:cNvCxnSpPr>
              <a:cxnSpLocks noChangeShapeType="1"/>
            </p:cNvCxnSpPr>
            <p:nvPr/>
          </p:nvCxnSpPr>
          <p:spPr bwMode="auto">
            <a:xfrm>
              <a:off x="11573" y="4346"/>
              <a:ext cx="2" cy="1944"/>
            </a:xfrm>
            <a:prstGeom prst="line">
              <a:avLst/>
            </a:prstGeom>
            <a:noFill/>
            <a:ln w="28575">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cxnSp>
          <p:nvCxnSpPr>
            <p:cNvPr id="34" name="Line 583">
              <a:extLst>
                <a:ext uri="{FF2B5EF4-FFF2-40B4-BE49-F238E27FC236}">
                  <a16:creationId xmlns:a16="http://schemas.microsoft.com/office/drawing/2014/main" id="{8376B409-E1D5-41C2-9412-4F7552B81D45}"/>
                </a:ext>
              </a:extLst>
            </p:cNvPr>
            <p:cNvCxnSpPr>
              <a:cxnSpLocks noChangeShapeType="1"/>
            </p:cNvCxnSpPr>
            <p:nvPr/>
          </p:nvCxnSpPr>
          <p:spPr bwMode="auto">
            <a:xfrm>
              <a:off x="5674" y="4329"/>
              <a:ext cx="2" cy="1943"/>
            </a:xfrm>
            <a:prstGeom prst="line">
              <a:avLst/>
            </a:prstGeom>
            <a:noFill/>
            <a:ln w="28575">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cxnSp>
          <p:nvCxnSpPr>
            <p:cNvPr id="35" name="Line 584">
              <a:extLst>
                <a:ext uri="{FF2B5EF4-FFF2-40B4-BE49-F238E27FC236}">
                  <a16:creationId xmlns:a16="http://schemas.microsoft.com/office/drawing/2014/main" id="{32986DB6-E785-4B4D-A9B9-95C04F9529F7}"/>
                </a:ext>
              </a:extLst>
            </p:cNvPr>
            <p:cNvCxnSpPr>
              <a:cxnSpLocks noChangeShapeType="1"/>
            </p:cNvCxnSpPr>
            <p:nvPr/>
          </p:nvCxnSpPr>
          <p:spPr bwMode="auto">
            <a:xfrm>
              <a:off x="5076" y="5241"/>
              <a:ext cx="1263" cy="2"/>
            </a:xfrm>
            <a:prstGeom prst="line">
              <a:avLst/>
            </a:prstGeom>
            <a:noFill/>
            <a:ln w="2857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6" name="Line 585">
              <a:extLst>
                <a:ext uri="{FF2B5EF4-FFF2-40B4-BE49-F238E27FC236}">
                  <a16:creationId xmlns:a16="http://schemas.microsoft.com/office/drawing/2014/main" id="{3682C2A9-666B-41CF-93D0-15467C97E340}"/>
                </a:ext>
              </a:extLst>
            </p:cNvPr>
            <p:cNvCxnSpPr>
              <a:cxnSpLocks noChangeShapeType="1"/>
            </p:cNvCxnSpPr>
            <p:nvPr/>
          </p:nvCxnSpPr>
          <p:spPr bwMode="auto">
            <a:xfrm>
              <a:off x="5055" y="4263"/>
              <a:ext cx="2" cy="1219"/>
            </a:xfrm>
            <a:prstGeom prst="line">
              <a:avLst/>
            </a:prstGeom>
            <a:noFill/>
            <a:ln w="28575">
              <a:solidFill>
                <a:srgbClr val="002060"/>
              </a:solidFill>
              <a:prstDash val="sysDot"/>
              <a:round/>
              <a:headEnd type="none" w="sm" len="med"/>
              <a:tailEnd type="none" w="sm" len="med"/>
            </a:ln>
            <a:extLst>
              <a:ext uri="{909E8E84-426E-40DD-AFC4-6F175D3DCCD1}">
                <a14:hiddenFill xmlns:a14="http://schemas.microsoft.com/office/drawing/2010/main">
                  <a:noFill/>
                </a14:hiddenFill>
              </a:ext>
            </a:extLst>
          </p:spPr>
        </p:cxnSp>
        <p:cxnSp>
          <p:nvCxnSpPr>
            <p:cNvPr id="37" name="Line 586">
              <a:extLst>
                <a:ext uri="{FF2B5EF4-FFF2-40B4-BE49-F238E27FC236}">
                  <a16:creationId xmlns:a16="http://schemas.microsoft.com/office/drawing/2014/main" id="{C5B4BFE4-6B3E-4157-9FB5-30E7F049435F}"/>
                </a:ext>
              </a:extLst>
            </p:cNvPr>
            <p:cNvCxnSpPr>
              <a:cxnSpLocks noChangeShapeType="1"/>
            </p:cNvCxnSpPr>
            <p:nvPr/>
          </p:nvCxnSpPr>
          <p:spPr bwMode="auto">
            <a:xfrm>
              <a:off x="12282" y="2206"/>
              <a:ext cx="2" cy="518"/>
            </a:xfrm>
            <a:prstGeom prst="line">
              <a:avLst/>
            </a:prstGeom>
            <a:noFill/>
            <a:ln w="28575">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8" name="Line 587">
              <a:extLst>
                <a:ext uri="{FF2B5EF4-FFF2-40B4-BE49-F238E27FC236}">
                  <a16:creationId xmlns:a16="http://schemas.microsoft.com/office/drawing/2014/main" id="{AE9E88D0-821C-4A6E-88B0-DB8D04E6F2CE}"/>
                </a:ext>
              </a:extLst>
            </p:cNvPr>
            <p:cNvCxnSpPr>
              <a:cxnSpLocks noChangeShapeType="1"/>
            </p:cNvCxnSpPr>
            <p:nvPr/>
          </p:nvCxnSpPr>
          <p:spPr bwMode="auto">
            <a:xfrm>
              <a:off x="12912" y="2196"/>
              <a:ext cx="2" cy="847"/>
            </a:xfrm>
            <a:prstGeom prst="line">
              <a:avLst/>
            </a:prstGeom>
            <a:noFill/>
            <a:ln w="28575">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33FD59B6-495F-4731-BD91-AF2EED1FC4C0}"/>
                </a:ext>
              </a:extLst>
            </p:cNvPr>
            <p:cNvSpPr>
              <a:spLocks noChangeArrowheads="1"/>
            </p:cNvSpPr>
            <p:nvPr/>
          </p:nvSpPr>
          <p:spPr bwMode="auto">
            <a:xfrm>
              <a:off x="12214" y="1732"/>
              <a:ext cx="1276"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2</a:t>
              </a: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 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0" name="Line 589">
              <a:extLst>
                <a:ext uri="{FF2B5EF4-FFF2-40B4-BE49-F238E27FC236}">
                  <a16:creationId xmlns:a16="http://schemas.microsoft.com/office/drawing/2014/main" id="{86A21DB7-021A-4872-99DF-4DDFD1C93A8E}"/>
                </a:ext>
              </a:extLst>
            </p:cNvPr>
            <p:cNvCxnSpPr>
              <a:cxnSpLocks noChangeShapeType="1"/>
            </p:cNvCxnSpPr>
            <p:nvPr/>
          </p:nvCxnSpPr>
          <p:spPr bwMode="auto">
            <a:xfrm>
              <a:off x="12282" y="2297"/>
              <a:ext cx="599" cy="2"/>
            </a:xfrm>
            <a:prstGeom prst="line">
              <a:avLst/>
            </a:prstGeom>
            <a:noFill/>
            <a:ln w="2857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1" name="Line 590">
              <a:extLst>
                <a:ext uri="{FF2B5EF4-FFF2-40B4-BE49-F238E27FC236}">
                  <a16:creationId xmlns:a16="http://schemas.microsoft.com/office/drawing/2014/main" id="{840EA0E1-1790-40C2-92B1-2E386B83622D}"/>
                </a:ext>
              </a:extLst>
            </p:cNvPr>
            <p:cNvCxnSpPr>
              <a:cxnSpLocks noChangeShapeType="1"/>
            </p:cNvCxnSpPr>
            <p:nvPr/>
          </p:nvCxnSpPr>
          <p:spPr bwMode="auto">
            <a:xfrm>
              <a:off x="13809" y="4361"/>
              <a:ext cx="2" cy="518"/>
            </a:xfrm>
            <a:prstGeom prst="line">
              <a:avLst/>
            </a:prstGeom>
            <a:noFill/>
            <a:ln w="28575">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2" name="Rectangle 41">
              <a:extLst>
                <a:ext uri="{FF2B5EF4-FFF2-40B4-BE49-F238E27FC236}">
                  <a16:creationId xmlns:a16="http://schemas.microsoft.com/office/drawing/2014/main" id="{B78F768C-FE09-4901-A80D-40644E527CD8}"/>
                </a:ext>
              </a:extLst>
            </p:cNvPr>
            <p:cNvSpPr>
              <a:spLocks noChangeArrowheads="1"/>
            </p:cNvSpPr>
            <p:nvPr/>
          </p:nvSpPr>
          <p:spPr bwMode="auto">
            <a:xfrm>
              <a:off x="13742" y="4614"/>
              <a:ext cx="1383"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2</a:t>
              </a:r>
              <a:r>
                <a:rPr lang="en-GB" sz="1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 f</a:t>
              </a:r>
              <a:r>
                <a:rPr lang="en-GB" sz="1800" baseline="-250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3" name="Line 592">
              <a:extLst>
                <a:ext uri="{FF2B5EF4-FFF2-40B4-BE49-F238E27FC236}">
                  <a16:creationId xmlns:a16="http://schemas.microsoft.com/office/drawing/2014/main" id="{ECDAE2EF-ABDA-4048-A153-BA28BF6214C1}"/>
                </a:ext>
              </a:extLst>
            </p:cNvPr>
            <p:cNvCxnSpPr>
              <a:cxnSpLocks noChangeShapeType="1"/>
            </p:cNvCxnSpPr>
            <p:nvPr/>
          </p:nvCxnSpPr>
          <p:spPr bwMode="auto">
            <a:xfrm>
              <a:off x="13809" y="4650"/>
              <a:ext cx="598" cy="2"/>
            </a:xfrm>
            <a:prstGeom prst="line">
              <a:avLst/>
            </a:prstGeom>
            <a:noFill/>
            <a:ln w="2857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44" name="Line 593">
              <a:extLst>
                <a:ext uri="{FF2B5EF4-FFF2-40B4-BE49-F238E27FC236}">
                  <a16:creationId xmlns:a16="http://schemas.microsoft.com/office/drawing/2014/main" id="{1B588B5B-77F8-416D-B279-4C45237C5F6D}"/>
                </a:ext>
              </a:extLst>
            </p:cNvPr>
            <p:cNvCxnSpPr>
              <a:cxnSpLocks noChangeShapeType="1"/>
            </p:cNvCxnSpPr>
            <p:nvPr/>
          </p:nvCxnSpPr>
          <p:spPr bwMode="auto">
            <a:xfrm>
              <a:off x="14405" y="4361"/>
              <a:ext cx="2" cy="518"/>
            </a:xfrm>
            <a:prstGeom prst="line">
              <a:avLst/>
            </a:prstGeom>
            <a:noFill/>
            <a:ln w="28575">
              <a:solidFill>
                <a:srgbClr val="002060"/>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5" name="Oval 44">
              <a:extLst>
                <a:ext uri="{FF2B5EF4-FFF2-40B4-BE49-F238E27FC236}">
                  <a16:creationId xmlns:a16="http://schemas.microsoft.com/office/drawing/2014/main" id="{ECA8BAED-C848-4212-A2B3-3CE68BB800DD}"/>
                </a:ext>
              </a:extLst>
            </p:cNvPr>
            <p:cNvSpPr>
              <a:spLocks noChangeArrowheads="1"/>
            </p:cNvSpPr>
            <p:nvPr/>
          </p:nvSpPr>
          <p:spPr bwMode="auto">
            <a:xfrm>
              <a:off x="450" y="2639"/>
              <a:ext cx="3235" cy="3156"/>
            </a:xfrm>
            <a:prstGeom prst="ellipse">
              <a:avLst/>
            </a:prstGeom>
            <a:noFill/>
            <a:ln w="28575">
              <a:solidFill>
                <a:srgbClr val="00B0F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6" name="Oval 45">
              <a:extLst>
                <a:ext uri="{FF2B5EF4-FFF2-40B4-BE49-F238E27FC236}">
                  <a16:creationId xmlns:a16="http://schemas.microsoft.com/office/drawing/2014/main" id="{3048BDA0-E69D-46F9-AFA3-98863E1BA0CF}"/>
                </a:ext>
              </a:extLst>
            </p:cNvPr>
            <p:cNvSpPr>
              <a:spLocks noChangeArrowheads="1"/>
            </p:cNvSpPr>
            <p:nvPr/>
          </p:nvSpPr>
          <p:spPr bwMode="auto">
            <a:xfrm>
              <a:off x="764" y="2968"/>
              <a:ext cx="2607" cy="2543"/>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47" name="Line 596">
              <a:extLst>
                <a:ext uri="{FF2B5EF4-FFF2-40B4-BE49-F238E27FC236}">
                  <a16:creationId xmlns:a16="http://schemas.microsoft.com/office/drawing/2014/main" id="{B21797E5-9335-4AEF-AC4D-AA3F26A590BF}"/>
                </a:ext>
              </a:extLst>
            </p:cNvPr>
            <p:cNvCxnSpPr>
              <a:cxnSpLocks noChangeShapeType="1"/>
            </p:cNvCxnSpPr>
            <p:nvPr/>
          </p:nvCxnSpPr>
          <p:spPr bwMode="auto">
            <a:xfrm>
              <a:off x="2035" y="4212"/>
              <a:ext cx="2287" cy="10"/>
            </a:xfrm>
            <a:prstGeom prst="line">
              <a:avLst/>
            </a:prstGeom>
            <a:noFill/>
            <a:ln w="28575">
              <a:solidFill>
                <a:srgbClr val="002060"/>
              </a:solidFill>
              <a:prstDash val="dash"/>
              <a:round/>
              <a:headEnd/>
              <a:tailEnd/>
            </a:ln>
            <a:extLst>
              <a:ext uri="{909E8E84-426E-40DD-AFC4-6F175D3DCCD1}">
                <a14:hiddenFill xmlns:a14="http://schemas.microsoft.com/office/drawing/2010/main">
                  <a:noFill/>
                </a14:hiddenFill>
              </a:ext>
            </a:extLst>
          </p:spPr>
        </p:cxnSp>
        <p:cxnSp>
          <p:nvCxnSpPr>
            <p:cNvPr id="48" name="Line 597">
              <a:extLst>
                <a:ext uri="{FF2B5EF4-FFF2-40B4-BE49-F238E27FC236}">
                  <a16:creationId xmlns:a16="http://schemas.microsoft.com/office/drawing/2014/main" id="{38879AE3-BAFA-441D-91C2-F7381B719A3A}"/>
                </a:ext>
              </a:extLst>
            </p:cNvPr>
            <p:cNvCxnSpPr>
              <a:cxnSpLocks noChangeShapeType="1"/>
            </p:cNvCxnSpPr>
            <p:nvPr/>
          </p:nvCxnSpPr>
          <p:spPr bwMode="auto">
            <a:xfrm flipV="1">
              <a:off x="2035" y="2968"/>
              <a:ext cx="990" cy="1254"/>
            </a:xfrm>
            <a:prstGeom prst="line">
              <a:avLst/>
            </a:prstGeom>
            <a:noFill/>
            <a:ln w="28575">
              <a:solidFill>
                <a:srgbClr val="00B0F0"/>
              </a:solidFill>
              <a:round/>
              <a:headEnd/>
              <a:tailEnd type="arrow" w="med" len="med"/>
            </a:ln>
            <a:extLst>
              <a:ext uri="{909E8E84-426E-40DD-AFC4-6F175D3DCCD1}">
                <a14:hiddenFill xmlns:a14="http://schemas.microsoft.com/office/drawing/2010/main">
                  <a:noFill/>
                </a14:hiddenFill>
              </a:ext>
            </a:extLst>
          </p:spPr>
        </p:cxnSp>
        <p:cxnSp>
          <p:nvCxnSpPr>
            <p:cNvPr id="49" name="Line 598">
              <a:extLst>
                <a:ext uri="{FF2B5EF4-FFF2-40B4-BE49-F238E27FC236}">
                  <a16:creationId xmlns:a16="http://schemas.microsoft.com/office/drawing/2014/main" id="{58BC8150-69CE-40C1-918C-69539D5B267E}"/>
                </a:ext>
              </a:extLst>
            </p:cNvPr>
            <p:cNvCxnSpPr>
              <a:cxnSpLocks noChangeShapeType="1"/>
            </p:cNvCxnSpPr>
            <p:nvPr/>
          </p:nvCxnSpPr>
          <p:spPr bwMode="auto">
            <a:xfrm flipV="1">
              <a:off x="2035" y="3928"/>
              <a:ext cx="1336" cy="294"/>
            </a:xfrm>
            <a:prstGeom prst="line">
              <a:avLst/>
            </a:prstGeom>
            <a:noFill/>
            <a:ln w="28575">
              <a:solidFill>
                <a:srgbClr val="C00000"/>
              </a:solidFill>
              <a:round/>
              <a:headEnd/>
              <a:tailEnd type="arrow" w="med" len="med"/>
            </a:ln>
            <a:extLst>
              <a:ext uri="{909E8E84-426E-40DD-AFC4-6F175D3DCCD1}">
                <a14:hiddenFill xmlns:a14="http://schemas.microsoft.com/office/drawing/2010/main">
                  <a:noFill/>
                </a14:hiddenFill>
              </a:ext>
            </a:extLst>
          </p:spPr>
        </p:cxnSp>
        <p:sp>
          <p:nvSpPr>
            <p:cNvPr id="50" name="Rectangle 49">
              <a:extLst>
                <a:ext uri="{FF2B5EF4-FFF2-40B4-BE49-F238E27FC236}">
                  <a16:creationId xmlns:a16="http://schemas.microsoft.com/office/drawing/2014/main" id="{6CA91F1B-B340-4746-8DA3-6EC0DF5DED77}"/>
                </a:ext>
              </a:extLst>
            </p:cNvPr>
            <p:cNvSpPr>
              <a:spLocks noChangeArrowheads="1"/>
            </p:cNvSpPr>
            <p:nvPr/>
          </p:nvSpPr>
          <p:spPr bwMode="auto">
            <a:xfrm>
              <a:off x="3371" y="3507"/>
              <a:ext cx="633"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i="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A</a:t>
              </a:r>
              <a:r>
                <a:rPr lang="en-GB" sz="2400" i="1" baseline="-250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1" name="Rectangle 50">
              <a:extLst>
                <a:ext uri="{FF2B5EF4-FFF2-40B4-BE49-F238E27FC236}">
                  <a16:creationId xmlns:a16="http://schemas.microsoft.com/office/drawing/2014/main" id="{D244448D-DA8F-4CC3-9C3A-4AF5C43DA04A}"/>
                </a:ext>
              </a:extLst>
            </p:cNvPr>
            <p:cNvSpPr>
              <a:spLocks noChangeArrowheads="1"/>
            </p:cNvSpPr>
            <p:nvPr/>
          </p:nvSpPr>
          <p:spPr bwMode="auto">
            <a:xfrm>
              <a:off x="3025" y="2433"/>
              <a:ext cx="632"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i="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B</a:t>
              </a:r>
              <a:r>
                <a:rPr lang="en-GB" sz="2400" i="1" baseline="-250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Arc 601">
              <a:extLst>
                <a:ext uri="{FF2B5EF4-FFF2-40B4-BE49-F238E27FC236}">
                  <a16:creationId xmlns:a16="http://schemas.microsoft.com/office/drawing/2014/main" id="{2639C611-D0BF-4A8D-B4F1-D74E078CCEF3}"/>
                </a:ext>
              </a:extLst>
            </p:cNvPr>
            <p:cNvSpPr>
              <a:spLocks/>
            </p:cNvSpPr>
            <p:nvPr/>
          </p:nvSpPr>
          <p:spPr bwMode="auto">
            <a:xfrm rot="-10800000" flipH="1" flipV="1">
              <a:off x="2162" y="3445"/>
              <a:ext cx="846" cy="1025"/>
            </a:xfrm>
            <a:custGeom>
              <a:avLst/>
              <a:gdLst>
                <a:gd name="G0" fmla="+- 9734 0 0"/>
                <a:gd name="G1" fmla="+- 21600 0 0"/>
                <a:gd name="G2" fmla="+- 21600 0 0"/>
                <a:gd name="T0" fmla="*/ 0 w 30587"/>
                <a:gd name="T1" fmla="*/ 2317 h 21600"/>
                <a:gd name="T2" fmla="*/ 30587 w 30587"/>
                <a:gd name="T3" fmla="*/ 15969 h 21600"/>
                <a:gd name="T4" fmla="*/ 9734 w 30587"/>
                <a:gd name="T5" fmla="*/ 21600 h 21600"/>
              </a:gdLst>
              <a:ahLst/>
              <a:cxnLst>
                <a:cxn ang="0">
                  <a:pos x="T0" y="T1"/>
                </a:cxn>
                <a:cxn ang="0">
                  <a:pos x="T2" y="T3"/>
                </a:cxn>
                <a:cxn ang="0">
                  <a:pos x="T4" y="T5"/>
                </a:cxn>
              </a:cxnLst>
              <a:rect l="0" t="0" r="r" b="b"/>
              <a:pathLst>
                <a:path w="30587" h="21600" fill="none" extrusionOk="0">
                  <a:moveTo>
                    <a:pt x="0" y="2317"/>
                  </a:moveTo>
                  <a:cubicBezTo>
                    <a:pt x="3018" y="793"/>
                    <a:pt x="6352" y="0"/>
                    <a:pt x="9734" y="0"/>
                  </a:cubicBezTo>
                  <a:cubicBezTo>
                    <a:pt x="19494" y="0"/>
                    <a:pt x="28042" y="6545"/>
                    <a:pt x="30587" y="15968"/>
                  </a:cubicBezTo>
                </a:path>
                <a:path w="30587" h="21600" stroke="0" extrusionOk="0">
                  <a:moveTo>
                    <a:pt x="0" y="2317"/>
                  </a:moveTo>
                  <a:cubicBezTo>
                    <a:pt x="3018" y="793"/>
                    <a:pt x="6352" y="0"/>
                    <a:pt x="9734" y="0"/>
                  </a:cubicBezTo>
                  <a:cubicBezTo>
                    <a:pt x="19494" y="0"/>
                    <a:pt x="28042" y="6545"/>
                    <a:pt x="30587" y="15968"/>
                  </a:cubicBezTo>
                  <a:lnTo>
                    <a:pt x="9734" y="21600"/>
                  </a:lnTo>
                  <a:close/>
                </a:path>
              </a:pathLst>
            </a:custGeom>
            <a:noFill/>
            <a:ln w="28575">
              <a:solidFill>
                <a:srgbClr val="002060"/>
              </a:solidFill>
              <a:round/>
              <a:headEnd type="arrow" w="med" len="me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3" name="Rectangle 52">
              <a:extLst>
                <a:ext uri="{FF2B5EF4-FFF2-40B4-BE49-F238E27FC236}">
                  <a16:creationId xmlns:a16="http://schemas.microsoft.com/office/drawing/2014/main" id="{C5D4D2E0-528F-4C63-BC28-CFB24DD130BE}"/>
                </a:ext>
              </a:extLst>
            </p:cNvPr>
            <p:cNvSpPr>
              <a:spLocks noChangeArrowheads="1"/>
            </p:cNvSpPr>
            <p:nvPr/>
          </p:nvSpPr>
          <p:spPr bwMode="auto">
            <a:xfrm>
              <a:off x="1798" y="3236"/>
              <a:ext cx="633" cy="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4" name="Group 53">
              <a:extLst>
                <a:ext uri="{FF2B5EF4-FFF2-40B4-BE49-F238E27FC236}">
                  <a16:creationId xmlns:a16="http://schemas.microsoft.com/office/drawing/2014/main" id="{41D9A3CE-C467-4B43-A46C-8F02760369F5}"/>
                </a:ext>
              </a:extLst>
            </p:cNvPr>
            <p:cNvGrpSpPr>
              <a:grpSpLocks/>
            </p:cNvGrpSpPr>
            <p:nvPr/>
          </p:nvGrpSpPr>
          <p:grpSpPr bwMode="auto">
            <a:xfrm>
              <a:off x="5054" y="2685"/>
              <a:ext cx="8693" cy="3073"/>
              <a:chOff x="0" y="0"/>
              <a:chExt cx="20976" cy="17849"/>
            </a:xfrm>
          </p:grpSpPr>
          <p:sp>
            <p:nvSpPr>
              <p:cNvPr id="58" name="Freeform 3">
                <a:extLst>
                  <a:ext uri="{FF2B5EF4-FFF2-40B4-BE49-F238E27FC236}">
                    <a16:creationId xmlns:a16="http://schemas.microsoft.com/office/drawing/2014/main" id="{2949160E-945A-4892-99E2-329CD61CF5A1}"/>
                  </a:ext>
                </a:extLst>
              </p:cNvPr>
              <p:cNvSpPr>
                <a:spLocks/>
              </p:cNvSpPr>
              <p:nvPr/>
            </p:nvSpPr>
            <p:spPr bwMode="auto">
              <a:xfrm>
                <a:off x="0" y="0"/>
                <a:ext cx="13944" cy="17849"/>
              </a:xfrm>
              <a:custGeom>
                <a:avLst/>
                <a:gdLst>
                  <a:gd name="T0" fmla="*/ 0 w 6743"/>
                  <a:gd name="T1" fmla="*/ 880752 h 3877"/>
                  <a:gd name="T2" fmla="*/ 81686 w 6743"/>
                  <a:gd name="T3" fmla="*/ 573203 h 3877"/>
                  <a:gd name="T4" fmla="*/ 160891 w 6743"/>
                  <a:gd name="T5" fmla="*/ 320901 h 3877"/>
                  <a:gd name="T6" fmla="*/ 266360 w 6743"/>
                  <a:gd name="T7" fmla="*/ 69061 h 3877"/>
                  <a:gd name="T8" fmla="*/ 421461 w 6743"/>
                  <a:gd name="T9" fmla="*/ 48342 h 3877"/>
                  <a:gd name="T10" fmla="*/ 561051 w 6743"/>
                  <a:gd name="T11" fmla="*/ 359115 h 3877"/>
                  <a:gd name="T12" fmla="*/ 708294 w 6743"/>
                  <a:gd name="T13" fmla="*/ 911599 h 3877"/>
                  <a:gd name="T14" fmla="*/ 854089 w 6743"/>
                  <a:gd name="T15" fmla="*/ 1450272 h 3877"/>
                  <a:gd name="T16" fmla="*/ 978169 w 6743"/>
                  <a:gd name="T17" fmla="*/ 1736643 h 3877"/>
                  <a:gd name="T18" fmla="*/ 1113210 w 6743"/>
                  <a:gd name="T19" fmla="*/ 1740326 h 3877"/>
                  <a:gd name="T20" fmla="*/ 1244943 w 6743"/>
                  <a:gd name="T21" fmla="*/ 1470990 h 3877"/>
                  <a:gd name="T22" fmla="*/ 1394460 w 6743"/>
                  <a:gd name="T23" fmla="*/ 912060 h 38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a:solidFill>
                  <a:srgbClr val="00B0F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9" name="Freeform 22">
                <a:extLst>
                  <a:ext uri="{FF2B5EF4-FFF2-40B4-BE49-F238E27FC236}">
                    <a16:creationId xmlns:a16="http://schemas.microsoft.com/office/drawing/2014/main" id="{F9CD9B07-4CEC-4C22-8864-AC2CD921D8A3}"/>
                  </a:ext>
                </a:extLst>
              </p:cNvPr>
              <p:cNvSpPr>
                <a:spLocks/>
              </p:cNvSpPr>
              <p:nvPr/>
            </p:nvSpPr>
            <p:spPr bwMode="auto">
              <a:xfrm flipV="1">
                <a:off x="13984" y="430"/>
                <a:ext cx="6992" cy="8693"/>
              </a:xfrm>
              <a:custGeom>
                <a:avLst/>
                <a:gdLst>
                  <a:gd name="T0" fmla="*/ 0 w 1954"/>
                  <a:gd name="T1" fmla="*/ 0 h 1897"/>
                  <a:gd name="T2" fmla="*/ 148486 w 1954"/>
                  <a:gd name="T3" fmla="*/ 536162 h 1897"/>
                  <a:gd name="T4" fmla="*/ 274788 w 1954"/>
                  <a:gd name="T5" fmla="*/ 821198 h 1897"/>
                  <a:gd name="T6" fmla="*/ 412540 w 1954"/>
                  <a:gd name="T7" fmla="*/ 824864 h 1897"/>
                  <a:gd name="T8" fmla="*/ 546714 w 1954"/>
                  <a:gd name="T9" fmla="*/ 556783 h 1897"/>
                  <a:gd name="T10" fmla="*/ 699135 w 1954"/>
                  <a:gd name="T11" fmla="*/ 458 h 18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4" h="1897">
                    <a:moveTo>
                      <a:pt x="0" y="0"/>
                    </a:moveTo>
                    <a:cubicBezTo>
                      <a:pt x="69" y="195"/>
                      <a:pt x="287" y="871"/>
                      <a:pt x="415" y="1170"/>
                    </a:cubicBezTo>
                    <a:cubicBezTo>
                      <a:pt x="543" y="1469"/>
                      <a:pt x="645" y="1687"/>
                      <a:pt x="768" y="1792"/>
                    </a:cubicBezTo>
                    <a:cubicBezTo>
                      <a:pt x="891" y="1897"/>
                      <a:pt x="1026" y="1896"/>
                      <a:pt x="1153" y="1800"/>
                    </a:cubicBezTo>
                    <a:cubicBezTo>
                      <a:pt x="1280" y="1704"/>
                      <a:pt x="1394" y="1515"/>
                      <a:pt x="1528" y="1215"/>
                    </a:cubicBezTo>
                    <a:cubicBezTo>
                      <a:pt x="1662" y="915"/>
                      <a:pt x="1866" y="254"/>
                      <a:pt x="1954" y="1"/>
                    </a:cubicBezTo>
                  </a:path>
                </a:pathLst>
              </a:custGeom>
              <a:noFill/>
              <a:ln w="28575">
                <a:solidFill>
                  <a:srgbClr val="00B0F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55" name="Group 54">
              <a:extLst>
                <a:ext uri="{FF2B5EF4-FFF2-40B4-BE49-F238E27FC236}">
                  <a16:creationId xmlns:a16="http://schemas.microsoft.com/office/drawing/2014/main" id="{C98F8FF1-59FE-42A4-AE61-F22DDFCBC00C}"/>
                </a:ext>
              </a:extLst>
            </p:cNvPr>
            <p:cNvGrpSpPr>
              <a:grpSpLocks/>
            </p:cNvGrpSpPr>
            <p:nvPr/>
          </p:nvGrpSpPr>
          <p:grpSpPr bwMode="auto">
            <a:xfrm>
              <a:off x="5639" y="2940"/>
              <a:ext cx="8693" cy="2593"/>
              <a:chOff x="0" y="0"/>
              <a:chExt cx="20976" cy="17849"/>
            </a:xfrm>
          </p:grpSpPr>
          <p:sp>
            <p:nvSpPr>
              <p:cNvPr id="56" name="Freeform 3">
                <a:extLst>
                  <a:ext uri="{FF2B5EF4-FFF2-40B4-BE49-F238E27FC236}">
                    <a16:creationId xmlns:a16="http://schemas.microsoft.com/office/drawing/2014/main" id="{F2548B93-E32D-4ECA-ACDF-1D0A45F076F1}"/>
                  </a:ext>
                </a:extLst>
              </p:cNvPr>
              <p:cNvSpPr>
                <a:spLocks/>
              </p:cNvSpPr>
              <p:nvPr/>
            </p:nvSpPr>
            <p:spPr bwMode="auto">
              <a:xfrm>
                <a:off x="0" y="0"/>
                <a:ext cx="13944" cy="17849"/>
              </a:xfrm>
              <a:custGeom>
                <a:avLst/>
                <a:gdLst>
                  <a:gd name="T0" fmla="*/ 0 w 6743"/>
                  <a:gd name="T1" fmla="*/ 880752 h 3877"/>
                  <a:gd name="T2" fmla="*/ 81686 w 6743"/>
                  <a:gd name="T3" fmla="*/ 573203 h 3877"/>
                  <a:gd name="T4" fmla="*/ 160891 w 6743"/>
                  <a:gd name="T5" fmla="*/ 320901 h 3877"/>
                  <a:gd name="T6" fmla="*/ 266360 w 6743"/>
                  <a:gd name="T7" fmla="*/ 69061 h 3877"/>
                  <a:gd name="T8" fmla="*/ 421461 w 6743"/>
                  <a:gd name="T9" fmla="*/ 48342 h 3877"/>
                  <a:gd name="T10" fmla="*/ 561051 w 6743"/>
                  <a:gd name="T11" fmla="*/ 359115 h 3877"/>
                  <a:gd name="T12" fmla="*/ 708294 w 6743"/>
                  <a:gd name="T13" fmla="*/ 911599 h 3877"/>
                  <a:gd name="T14" fmla="*/ 854089 w 6743"/>
                  <a:gd name="T15" fmla="*/ 1450272 h 3877"/>
                  <a:gd name="T16" fmla="*/ 978169 w 6743"/>
                  <a:gd name="T17" fmla="*/ 1736643 h 3877"/>
                  <a:gd name="T18" fmla="*/ 1113210 w 6743"/>
                  <a:gd name="T19" fmla="*/ 1740326 h 3877"/>
                  <a:gd name="T20" fmla="*/ 1244943 w 6743"/>
                  <a:gd name="T21" fmla="*/ 1470990 h 3877"/>
                  <a:gd name="T22" fmla="*/ 1394460 w 6743"/>
                  <a:gd name="T23" fmla="*/ 912060 h 38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7" name="Freeform 22">
                <a:extLst>
                  <a:ext uri="{FF2B5EF4-FFF2-40B4-BE49-F238E27FC236}">
                    <a16:creationId xmlns:a16="http://schemas.microsoft.com/office/drawing/2014/main" id="{BF5F7A3E-B172-491E-B309-9EB57179656C}"/>
                  </a:ext>
                </a:extLst>
              </p:cNvPr>
              <p:cNvSpPr>
                <a:spLocks/>
              </p:cNvSpPr>
              <p:nvPr/>
            </p:nvSpPr>
            <p:spPr bwMode="auto">
              <a:xfrm flipV="1">
                <a:off x="13984" y="430"/>
                <a:ext cx="6992" cy="8693"/>
              </a:xfrm>
              <a:custGeom>
                <a:avLst/>
                <a:gdLst>
                  <a:gd name="T0" fmla="*/ 0 w 1954"/>
                  <a:gd name="T1" fmla="*/ 0 h 1897"/>
                  <a:gd name="T2" fmla="*/ 148486 w 1954"/>
                  <a:gd name="T3" fmla="*/ 536162 h 1897"/>
                  <a:gd name="T4" fmla="*/ 274788 w 1954"/>
                  <a:gd name="T5" fmla="*/ 821198 h 1897"/>
                  <a:gd name="T6" fmla="*/ 412540 w 1954"/>
                  <a:gd name="T7" fmla="*/ 824864 h 1897"/>
                  <a:gd name="T8" fmla="*/ 546714 w 1954"/>
                  <a:gd name="T9" fmla="*/ 556783 h 1897"/>
                  <a:gd name="T10" fmla="*/ 699135 w 1954"/>
                  <a:gd name="T11" fmla="*/ 458 h 18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54" h="1897">
                    <a:moveTo>
                      <a:pt x="0" y="0"/>
                    </a:moveTo>
                    <a:cubicBezTo>
                      <a:pt x="69" y="195"/>
                      <a:pt x="287" y="871"/>
                      <a:pt x="415" y="1170"/>
                    </a:cubicBezTo>
                    <a:cubicBezTo>
                      <a:pt x="543" y="1469"/>
                      <a:pt x="645" y="1687"/>
                      <a:pt x="768" y="1792"/>
                    </a:cubicBezTo>
                    <a:cubicBezTo>
                      <a:pt x="891" y="1897"/>
                      <a:pt x="1026" y="1896"/>
                      <a:pt x="1153" y="1800"/>
                    </a:cubicBezTo>
                    <a:cubicBezTo>
                      <a:pt x="1280" y="1704"/>
                      <a:pt x="1394" y="1515"/>
                      <a:pt x="1528" y="1215"/>
                    </a:cubicBezTo>
                    <a:cubicBezTo>
                      <a:pt x="1662" y="915"/>
                      <a:pt x="1866" y="254"/>
                      <a:pt x="1954" y="1"/>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spTree>
    <p:extLst>
      <p:ext uri="{BB962C8B-B14F-4D97-AF65-F5344CB8AC3E}">
        <p14:creationId xmlns:p14="http://schemas.microsoft.com/office/powerpoint/2010/main" val="222111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3">
            <a:extLst>
              <a:ext uri="{FF2B5EF4-FFF2-40B4-BE49-F238E27FC236}">
                <a16:creationId xmlns:a16="http://schemas.microsoft.com/office/drawing/2014/main" id="{DFD8ADE2-8477-4095-87EE-491ABC6C6B55}"/>
              </a:ext>
            </a:extLst>
          </p:cNvPr>
          <p:cNvSpPr>
            <a:spLocks noChangeArrowheads="1"/>
          </p:cNvSpPr>
          <p:nvPr/>
        </p:nvSpPr>
        <p:spPr bwMode="auto">
          <a:xfrm>
            <a:off x="62206" y="2148733"/>
            <a:ext cx="677989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60363" algn="l"/>
              </a:tabLst>
              <a:defRPr>
                <a:solidFill>
                  <a:schemeClr val="tx1"/>
                </a:solidFill>
                <a:latin typeface="Arial" panose="020B0604020202020204" pitchFamily="34" charset="0"/>
              </a:defRPr>
            </a:lvl1pPr>
            <a:lvl2pPr eaLnBrk="0" fontAlgn="base" hangingPunct="0">
              <a:spcBef>
                <a:spcPct val="0"/>
              </a:spcBef>
              <a:spcAft>
                <a:spcPct val="0"/>
              </a:spcAft>
              <a:tabLst>
                <a:tab pos="360363" algn="l"/>
              </a:tabLst>
              <a:defRPr>
                <a:solidFill>
                  <a:schemeClr val="tx1"/>
                </a:solidFill>
                <a:latin typeface="Arial" panose="020B0604020202020204" pitchFamily="34" charset="0"/>
              </a:defRPr>
            </a:lvl2pPr>
            <a:lvl3pPr eaLnBrk="0" fontAlgn="base" hangingPunct="0">
              <a:spcBef>
                <a:spcPct val="0"/>
              </a:spcBef>
              <a:spcAft>
                <a:spcPct val="0"/>
              </a:spcAft>
              <a:tabLst>
                <a:tab pos="360363" algn="l"/>
              </a:tabLst>
              <a:defRPr>
                <a:solidFill>
                  <a:schemeClr val="tx1"/>
                </a:solidFill>
                <a:latin typeface="Arial" panose="020B0604020202020204" pitchFamily="34" charset="0"/>
              </a:defRPr>
            </a:lvl3pPr>
            <a:lvl4pPr eaLnBrk="0" fontAlgn="base" hangingPunct="0">
              <a:spcBef>
                <a:spcPct val="0"/>
              </a:spcBef>
              <a:spcAft>
                <a:spcPct val="0"/>
              </a:spcAft>
              <a:tabLst>
                <a:tab pos="360363" algn="l"/>
              </a:tabLst>
              <a:defRPr>
                <a:solidFill>
                  <a:schemeClr val="tx1"/>
                </a:solidFill>
                <a:latin typeface="Arial" panose="020B0604020202020204" pitchFamily="34" charset="0"/>
              </a:defRPr>
            </a:lvl4pPr>
            <a:lvl5pPr eaLnBrk="0" fontAlgn="base" hangingPunct="0">
              <a:spcBef>
                <a:spcPct val="0"/>
              </a:spcBef>
              <a:spcAft>
                <a:spcPct val="0"/>
              </a:spcAft>
              <a:tabLst>
                <a:tab pos="360363" algn="l"/>
              </a:tabLst>
              <a:defRPr>
                <a:solidFill>
                  <a:schemeClr val="tx1"/>
                </a:solidFill>
                <a:latin typeface="Arial" panose="020B0604020202020204" pitchFamily="34" charset="0"/>
              </a:defRPr>
            </a:lvl5pPr>
            <a:lvl6pPr eaLnBrk="0" fontAlgn="base" hangingPunct="0">
              <a:spcBef>
                <a:spcPct val="0"/>
              </a:spcBef>
              <a:spcAft>
                <a:spcPct val="0"/>
              </a:spcAft>
              <a:tabLst>
                <a:tab pos="360363" algn="l"/>
              </a:tabLst>
              <a:defRPr>
                <a:solidFill>
                  <a:schemeClr val="tx1"/>
                </a:solidFill>
                <a:latin typeface="Arial" panose="020B0604020202020204" pitchFamily="34" charset="0"/>
              </a:defRPr>
            </a:lvl6pPr>
            <a:lvl7pPr eaLnBrk="0" fontAlgn="base" hangingPunct="0">
              <a:spcBef>
                <a:spcPct val="0"/>
              </a:spcBef>
              <a:spcAft>
                <a:spcPct val="0"/>
              </a:spcAft>
              <a:tabLst>
                <a:tab pos="360363" algn="l"/>
              </a:tabLst>
              <a:defRPr>
                <a:solidFill>
                  <a:schemeClr val="tx1"/>
                </a:solidFill>
                <a:latin typeface="Arial" panose="020B0604020202020204" pitchFamily="34" charset="0"/>
              </a:defRPr>
            </a:lvl7pPr>
            <a:lvl8pPr eaLnBrk="0" fontAlgn="base" hangingPunct="0">
              <a:spcBef>
                <a:spcPct val="0"/>
              </a:spcBef>
              <a:spcAft>
                <a:spcPct val="0"/>
              </a:spcAft>
              <a:tabLst>
                <a:tab pos="360363" algn="l"/>
              </a:tabLst>
              <a:defRPr>
                <a:solidFill>
                  <a:schemeClr val="tx1"/>
                </a:solidFill>
                <a:latin typeface="Arial" panose="020B0604020202020204" pitchFamily="34" charset="0"/>
              </a:defRPr>
            </a:lvl8pPr>
            <a:lvl9pPr eaLnBrk="0" fontAlgn="base" hangingPunct="0">
              <a:spcBef>
                <a:spcPct val="0"/>
              </a:spcBef>
              <a:spcAft>
                <a:spcPct val="0"/>
              </a:spcAft>
              <a:tabLst>
                <a:tab pos="360363"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803275" algn="l"/>
              </a:tabLst>
            </a:pPr>
            <a:r>
              <a:rPr kumimoji="0" lang="en-GB" altLang="en-US" sz="2400" b="1" i="1"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(2)	Inductor</a:t>
            </a:r>
          </a:p>
          <a:p>
            <a:pPr marL="0" marR="0" lvl="0" indent="0" algn="just" defTabSz="914400" rtl="0" eaLnBrk="0" fontAlgn="base" latinLnBrk="0" hangingPunct="0">
              <a:lnSpc>
                <a:spcPct val="100000"/>
              </a:lnSpc>
              <a:spcBef>
                <a:spcPct val="0"/>
              </a:spcBef>
              <a:spcAft>
                <a:spcPct val="0"/>
              </a:spcAft>
              <a:buClrTx/>
              <a:buSzTx/>
              <a:buFontTx/>
              <a:buNone/>
              <a:tabLst>
                <a:tab pos="360363" algn="l"/>
              </a:tabLst>
            </a:pPr>
            <a:endParaRPr kumimoji="0" lang="en-GB" altLang="en-US" sz="2400" b="1" i="1"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arenBoth" startAt="2"/>
              <a:tabLst>
                <a:tab pos="360363" algn="l"/>
              </a:tabLst>
            </a:pPr>
            <a:endParaRPr lang="en-GB" altLang="en-US" b="1" i="1" dirty="0">
              <a:solidFill>
                <a:srgbClr val="002060"/>
              </a:solidFill>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arenBoth" startAt="2"/>
              <a:tabLst>
                <a:tab pos="360363" algn="l"/>
              </a:tabLst>
            </a:pPr>
            <a:endParaRPr kumimoji="0" lang="en-GB"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60363" algn="l"/>
              </a:tabLst>
            </a:pPr>
            <a:r>
              <a:rPr kumimoji="0" lang="en-GB" altLang="en-US" sz="2400" b="0" i="0"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 	</a:t>
            </a:r>
            <a:r>
              <a:rPr kumimoji="0" lang="en-GB" altLang="en-US" sz="2400" b="1" i="1"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V = </a:t>
            </a:r>
            <a:r>
              <a:rPr kumimoji="0" lang="en-GB" altLang="en-US" sz="2400" b="1" i="1" u="none" strike="noStrike" cap="none" normalizeH="0" baseline="0" dirty="0" err="1">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j</a:t>
            </a:r>
            <a:r>
              <a:rPr kumimoji="0" lang="en-GB" altLang="en-US" sz="2400" b="1" i="1" u="none" strike="noStrike" cap="none" normalizeH="0" baseline="0" dirty="0" err="1">
                <a:ln>
                  <a:noFill/>
                </a:ln>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kumimoji="0" lang="en-GB" altLang="en-US" sz="2400" b="1" i="1" u="none" strike="noStrike" cap="none" normalizeH="0" baseline="0" dirty="0" err="1">
                <a:ln>
                  <a:noFill/>
                </a:ln>
                <a:solidFill>
                  <a:srgbClr val="002060"/>
                </a:solidFill>
                <a:effectLst/>
                <a:ea typeface="Calibri" panose="020F0502020204030204" pitchFamily="34" charset="0"/>
                <a:cs typeface="Times New Roman" panose="02020603050405020304" pitchFamily="18" charset="0"/>
              </a:rPr>
              <a:t>L.I</a:t>
            </a:r>
            <a:r>
              <a:rPr kumimoji="0" lang="en-GB" altLang="en-US" sz="2400" b="0" i="0"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   </a:t>
            </a:r>
            <a:r>
              <a:rPr kumimoji="0" lang="en-GB" altLang="en-US" sz="2400" b="1" i="1" u="none" strike="noStrike" cap="none" normalizeH="0" baseline="0" dirty="0">
                <a:ln>
                  <a:noFill/>
                </a:ln>
                <a:solidFill>
                  <a:srgbClr val="002060"/>
                </a:solidFill>
                <a:effectLst/>
                <a:latin typeface="Arial" panose="020B0604020202020204" pitchFamily="34" charset="0"/>
                <a:ea typeface="Calibri" panose="020F0502020204030204" pitchFamily="34" charset="0"/>
                <a:cs typeface="Times New Roman" panose="02020603050405020304" pitchFamily="18" charset="0"/>
              </a:rPr>
              <a:t>= </a:t>
            </a:r>
            <a:r>
              <a:rPr kumimoji="0" lang="en-GB" altLang="en-US" sz="2400" b="1" i="1" u="none" strike="noStrike" cap="none" normalizeH="0" baseline="0" dirty="0">
                <a:ln>
                  <a:noFill/>
                </a:ln>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kumimoji="0" lang="en-GB" altLang="en-US" sz="2400" b="1" i="1"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L.I</a:t>
            </a:r>
            <a:r>
              <a:rPr kumimoji="0" lang="en-GB" altLang="en-US" sz="2400" b="1" i="1" u="none" strike="noStrike" cap="none" normalizeH="0" baseline="0" dirty="0">
                <a:ln>
                  <a:noFill/>
                </a:ln>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kumimoji="0" lang="en-GB" altLang="en-US" sz="2400" b="0" i="1" u="none" strike="noStrike" cap="none" normalizeH="0" baseline="0" dirty="0">
                <a:ln>
                  <a:noFill/>
                </a:ln>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90</a:t>
            </a:r>
            <a:r>
              <a:rPr kumimoji="0" lang="en-GB" altLang="en-US" sz="2400" b="1" i="1" u="none" strike="noStrike" cap="none" normalizeH="0" baseline="30000" dirty="0">
                <a:ln>
                  <a:noFill/>
                </a:ln>
                <a:solidFill>
                  <a:srgbClr val="002060"/>
                </a:solidFill>
                <a:effectLst/>
                <a:latin typeface="Symbol" panose="05050102010706020507" pitchFamily="18" charset="2"/>
                <a:ea typeface="Calibri" panose="020F0502020204030204" pitchFamily="34" charset="0"/>
                <a:cs typeface="Times New Roman" panose="02020603050405020304" pitchFamily="18" charset="0"/>
                <a:sym typeface="Symbol" panose="05050102010706020507" pitchFamily="18" charset="2"/>
              </a:rPr>
              <a:t>o</a:t>
            </a:r>
            <a:endParaRPr kumimoji="0" lang="en-GB" altLang="en-US" sz="2400" b="1" i="1" u="none" strike="noStrike" cap="none" normalizeH="0" baseline="0" dirty="0">
              <a:ln>
                <a:noFill/>
              </a:ln>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endParaRPr>
          </a:p>
        </p:txBody>
      </p:sp>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495061"/>
            <a:ext cx="10924085" cy="482745"/>
          </a:xfrm>
        </p:spPr>
        <p:txBody>
          <a:bodyPr>
            <a:normAutofit fontScale="90000"/>
          </a:bodyPr>
          <a:lstStyle/>
          <a:p>
            <a:r>
              <a:rPr lang="en-US" dirty="0"/>
              <a:t>Phase Difference</a:t>
            </a:r>
            <a:endParaRPr lang="en-GB" dirty="0"/>
          </a:p>
        </p:txBody>
      </p:sp>
      <p:grpSp>
        <p:nvGrpSpPr>
          <p:cNvPr id="4" name="Group 3">
            <a:extLst>
              <a:ext uri="{FF2B5EF4-FFF2-40B4-BE49-F238E27FC236}">
                <a16:creationId xmlns:a16="http://schemas.microsoft.com/office/drawing/2014/main" id="{68FBD9D4-29FC-4203-BA7B-379CBAA0D58C}"/>
              </a:ext>
            </a:extLst>
          </p:cNvPr>
          <p:cNvGrpSpPr>
            <a:grpSpLocks/>
          </p:cNvGrpSpPr>
          <p:nvPr/>
        </p:nvGrpSpPr>
        <p:grpSpPr bwMode="auto">
          <a:xfrm>
            <a:off x="4566875" y="4634923"/>
            <a:ext cx="2536825" cy="1542853"/>
            <a:chOff x="0" y="-191"/>
            <a:chExt cx="20001" cy="20472"/>
          </a:xfrm>
        </p:grpSpPr>
        <p:grpSp>
          <p:nvGrpSpPr>
            <p:cNvPr id="70" name="Group 69">
              <a:extLst>
                <a:ext uri="{FF2B5EF4-FFF2-40B4-BE49-F238E27FC236}">
                  <a16:creationId xmlns:a16="http://schemas.microsoft.com/office/drawing/2014/main" id="{25A8EE3D-5FEE-4A4F-935D-7F6DDA2BD0ED}"/>
                </a:ext>
              </a:extLst>
            </p:cNvPr>
            <p:cNvGrpSpPr>
              <a:grpSpLocks/>
            </p:cNvGrpSpPr>
            <p:nvPr/>
          </p:nvGrpSpPr>
          <p:grpSpPr bwMode="auto">
            <a:xfrm>
              <a:off x="0" y="2785"/>
              <a:ext cx="20001" cy="10632"/>
              <a:chOff x="0" y="-188"/>
              <a:chExt cx="20001" cy="20378"/>
            </a:xfrm>
          </p:grpSpPr>
          <p:cxnSp>
            <p:nvCxnSpPr>
              <p:cNvPr id="76" name="Line 688">
                <a:extLst>
                  <a:ext uri="{FF2B5EF4-FFF2-40B4-BE49-F238E27FC236}">
                    <a16:creationId xmlns:a16="http://schemas.microsoft.com/office/drawing/2014/main" id="{3D22DFC2-6D52-4007-9CA0-BACB2DAC988B}"/>
                  </a:ext>
                </a:extLst>
              </p:cNvPr>
              <p:cNvCxnSpPr>
                <a:cxnSpLocks noChangeShapeType="1"/>
              </p:cNvCxnSpPr>
              <p:nvPr/>
            </p:nvCxnSpPr>
            <p:spPr bwMode="auto">
              <a:xfrm>
                <a:off x="0" y="9932"/>
                <a:ext cx="8110" cy="46"/>
              </a:xfrm>
              <a:prstGeom prst="line">
                <a:avLst/>
              </a:prstGeom>
              <a:noFill/>
              <a:ln w="38100">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77" name="Line 689">
                <a:extLst>
                  <a:ext uri="{FF2B5EF4-FFF2-40B4-BE49-F238E27FC236}">
                    <a16:creationId xmlns:a16="http://schemas.microsoft.com/office/drawing/2014/main" id="{7E2F72E3-EA04-4866-9FB1-0E1C695BBCBB}"/>
                  </a:ext>
                </a:extLst>
              </p:cNvPr>
              <p:cNvCxnSpPr>
                <a:cxnSpLocks noChangeShapeType="1"/>
              </p:cNvCxnSpPr>
              <p:nvPr/>
            </p:nvCxnSpPr>
            <p:spPr bwMode="auto">
              <a:xfrm>
                <a:off x="9783" y="9932"/>
                <a:ext cx="10218" cy="46"/>
              </a:xfrm>
              <a:prstGeom prst="line">
                <a:avLst/>
              </a:prstGeom>
              <a:noFill/>
              <a:ln w="38100">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78" name="Line 690">
                <a:extLst>
                  <a:ext uri="{FF2B5EF4-FFF2-40B4-BE49-F238E27FC236}">
                    <a16:creationId xmlns:a16="http://schemas.microsoft.com/office/drawing/2014/main" id="{3743FF6A-1486-4129-BBB9-364FE9E5662E}"/>
                  </a:ext>
                </a:extLst>
              </p:cNvPr>
              <p:cNvCxnSpPr>
                <a:cxnSpLocks noChangeShapeType="1"/>
              </p:cNvCxnSpPr>
              <p:nvPr/>
            </p:nvCxnSpPr>
            <p:spPr bwMode="auto">
              <a:xfrm>
                <a:off x="8096" y="-4"/>
                <a:ext cx="14" cy="20194"/>
              </a:xfrm>
              <a:prstGeom prst="line">
                <a:avLst/>
              </a:prstGeom>
              <a:noFill/>
              <a:ln w="38100">
                <a:solidFill>
                  <a:srgbClr val="C00000"/>
                </a:solidFill>
                <a:round/>
                <a:headEnd type="none" w="med" len="lg"/>
                <a:tailEnd type="none" w="med" len="lg"/>
              </a:ln>
              <a:extLst>
                <a:ext uri="{909E8E84-426E-40DD-AFC4-6F175D3DCCD1}">
                  <a14:hiddenFill xmlns:a14="http://schemas.microsoft.com/office/drawing/2010/main">
                    <a:noFill/>
                  </a14:hiddenFill>
                </a:ext>
              </a:extLst>
            </p:spPr>
          </p:cxnSp>
          <p:cxnSp>
            <p:nvCxnSpPr>
              <p:cNvPr id="79" name="Line 691">
                <a:extLst>
                  <a:ext uri="{FF2B5EF4-FFF2-40B4-BE49-F238E27FC236}">
                    <a16:creationId xmlns:a16="http://schemas.microsoft.com/office/drawing/2014/main" id="{77CC9215-9DCE-450D-A6B0-A0713521FB0F}"/>
                  </a:ext>
                </a:extLst>
              </p:cNvPr>
              <p:cNvCxnSpPr>
                <a:cxnSpLocks noChangeShapeType="1"/>
              </p:cNvCxnSpPr>
              <p:nvPr/>
            </p:nvCxnSpPr>
            <p:spPr bwMode="auto">
              <a:xfrm>
                <a:off x="9473" y="-188"/>
                <a:ext cx="14" cy="20194"/>
              </a:xfrm>
              <a:prstGeom prst="line">
                <a:avLst/>
              </a:prstGeom>
              <a:noFill/>
              <a:ln w="38100">
                <a:solidFill>
                  <a:srgbClr val="C00000"/>
                </a:solidFill>
                <a:round/>
                <a:headEnd type="none" w="med" len="lg"/>
                <a:tailEnd type="none" w="med" len="lg"/>
              </a:ln>
              <a:extLst>
                <a:ext uri="{909E8E84-426E-40DD-AFC4-6F175D3DCCD1}">
                  <a14:hiddenFill xmlns:a14="http://schemas.microsoft.com/office/drawing/2010/main">
                    <a:noFill/>
                  </a14:hiddenFill>
                </a:ext>
              </a:extLst>
            </p:spPr>
          </p:cxnSp>
        </p:grpSp>
        <p:sp>
          <p:nvSpPr>
            <p:cNvPr id="71" name="Rectangle 70">
              <a:extLst>
                <a:ext uri="{FF2B5EF4-FFF2-40B4-BE49-F238E27FC236}">
                  <a16:creationId xmlns:a16="http://schemas.microsoft.com/office/drawing/2014/main" id="{D842F6C1-98A1-475E-AB91-160F2042EA3D}"/>
                </a:ext>
              </a:extLst>
            </p:cNvPr>
            <p:cNvSpPr>
              <a:spLocks noChangeArrowheads="1"/>
            </p:cNvSpPr>
            <p:nvPr/>
          </p:nvSpPr>
          <p:spPr bwMode="auto">
            <a:xfrm>
              <a:off x="10373" y="-191"/>
              <a:ext cx="3387" cy="5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2" name="Line 693">
              <a:extLst>
                <a:ext uri="{FF2B5EF4-FFF2-40B4-BE49-F238E27FC236}">
                  <a16:creationId xmlns:a16="http://schemas.microsoft.com/office/drawing/2014/main" id="{CB0CCCC2-AFF9-4BA5-951A-525BFB713602}"/>
                </a:ext>
              </a:extLst>
            </p:cNvPr>
            <p:cNvCxnSpPr>
              <a:cxnSpLocks noChangeShapeType="1"/>
            </p:cNvCxnSpPr>
            <p:nvPr/>
          </p:nvCxnSpPr>
          <p:spPr bwMode="auto">
            <a:xfrm>
              <a:off x="1940" y="7873"/>
              <a:ext cx="1700" cy="24"/>
            </a:xfrm>
            <a:prstGeom prst="line">
              <a:avLst/>
            </a:prstGeom>
            <a:noFill/>
            <a:ln w="38100">
              <a:solidFill>
                <a:srgbClr val="C00000"/>
              </a:solidFill>
              <a:round/>
              <a:headEnd type="none" w="sm" len="sm"/>
              <a:tailEnd type="triangle" w="lg" len="lg"/>
            </a:ln>
            <a:extLst>
              <a:ext uri="{909E8E84-426E-40DD-AFC4-6F175D3DCCD1}">
                <a14:hiddenFill xmlns:a14="http://schemas.microsoft.com/office/drawing/2010/main">
                  <a:noFill/>
                </a14:hiddenFill>
              </a:ext>
            </a:extLst>
          </p:spPr>
        </p:cxnSp>
        <p:sp>
          <p:nvSpPr>
            <p:cNvPr id="73" name="Rectangle 72">
              <a:extLst>
                <a:ext uri="{FF2B5EF4-FFF2-40B4-BE49-F238E27FC236}">
                  <a16:creationId xmlns:a16="http://schemas.microsoft.com/office/drawing/2014/main" id="{27271AE1-115A-4F0B-AFD3-5DC30F213D4D}"/>
                </a:ext>
              </a:extLst>
            </p:cNvPr>
            <p:cNvSpPr>
              <a:spLocks noChangeArrowheads="1"/>
            </p:cNvSpPr>
            <p:nvPr/>
          </p:nvSpPr>
          <p:spPr bwMode="auto">
            <a:xfrm>
              <a:off x="6578" y="14497"/>
              <a:ext cx="5074" cy="5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4" name="Rectangle 73">
              <a:extLst>
                <a:ext uri="{FF2B5EF4-FFF2-40B4-BE49-F238E27FC236}">
                  <a16:creationId xmlns:a16="http://schemas.microsoft.com/office/drawing/2014/main" id="{0D30906B-278A-4E47-8B8C-FC4F6F72B5D7}"/>
                </a:ext>
              </a:extLst>
            </p:cNvPr>
            <p:cNvSpPr>
              <a:spLocks noChangeArrowheads="1"/>
            </p:cNvSpPr>
            <p:nvPr/>
          </p:nvSpPr>
          <p:spPr bwMode="auto">
            <a:xfrm>
              <a:off x="337" y="817"/>
              <a:ext cx="4147" cy="5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5" name="Line 696">
              <a:extLst>
                <a:ext uri="{FF2B5EF4-FFF2-40B4-BE49-F238E27FC236}">
                  <a16:creationId xmlns:a16="http://schemas.microsoft.com/office/drawing/2014/main" id="{B3F0E490-9C41-4741-A643-E05863C5DFED}"/>
                </a:ext>
              </a:extLst>
            </p:cNvPr>
            <p:cNvCxnSpPr>
              <a:cxnSpLocks noChangeShapeType="1"/>
            </p:cNvCxnSpPr>
            <p:nvPr/>
          </p:nvCxnSpPr>
          <p:spPr bwMode="auto">
            <a:xfrm>
              <a:off x="2867" y="14929"/>
              <a:ext cx="12917" cy="24"/>
            </a:xfrm>
            <a:prstGeom prst="line">
              <a:avLst/>
            </a:prstGeom>
            <a:noFill/>
            <a:ln w="28575">
              <a:solidFill>
                <a:srgbClr val="002060"/>
              </a:solidFill>
              <a:round/>
              <a:headEnd type="arrow" w="sm" len="lg"/>
              <a:tailEnd type="none" w="sm" len="lg"/>
            </a:ln>
            <a:extLst>
              <a:ext uri="{909E8E84-426E-40DD-AFC4-6F175D3DCCD1}">
                <a14:hiddenFill xmlns:a14="http://schemas.microsoft.com/office/drawing/2010/main">
                  <a:noFill/>
                </a14:hiddenFill>
              </a:ext>
            </a:extLst>
          </p:spPr>
        </p:cxnSp>
      </p:grpSp>
      <p:grpSp>
        <p:nvGrpSpPr>
          <p:cNvPr id="5" name="Group 4">
            <a:extLst>
              <a:ext uri="{FF2B5EF4-FFF2-40B4-BE49-F238E27FC236}">
                <a16:creationId xmlns:a16="http://schemas.microsoft.com/office/drawing/2014/main" id="{9A9CBECD-18AA-4E50-999C-B2058123D380}"/>
              </a:ext>
            </a:extLst>
          </p:cNvPr>
          <p:cNvGrpSpPr>
            <a:grpSpLocks/>
          </p:cNvGrpSpPr>
          <p:nvPr/>
        </p:nvGrpSpPr>
        <p:grpSpPr bwMode="auto">
          <a:xfrm>
            <a:off x="4728256" y="902970"/>
            <a:ext cx="2597785" cy="1346201"/>
            <a:chOff x="0" y="160"/>
            <a:chExt cx="20002" cy="19642"/>
          </a:xfrm>
        </p:grpSpPr>
        <p:grpSp>
          <p:nvGrpSpPr>
            <p:cNvPr id="54" name="Group 53">
              <a:extLst>
                <a:ext uri="{FF2B5EF4-FFF2-40B4-BE49-F238E27FC236}">
                  <a16:creationId xmlns:a16="http://schemas.microsoft.com/office/drawing/2014/main" id="{1EC7AF3F-38D8-4B6E-99DA-B7E11DA75B95}"/>
                </a:ext>
              </a:extLst>
            </p:cNvPr>
            <p:cNvGrpSpPr>
              <a:grpSpLocks/>
            </p:cNvGrpSpPr>
            <p:nvPr/>
          </p:nvGrpSpPr>
          <p:grpSpPr bwMode="auto">
            <a:xfrm>
              <a:off x="0" y="6186"/>
              <a:ext cx="20002" cy="5957"/>
              <a:chOff x="0" y="146"/>
              <a:chExt cx="20002" cy="19684"/>
            </a:xfrm>
          </p:grpSpPr>
          <p:cxnSp>
            <p:nvCxnSpPr>
              <p:cNvPr id="60" name="Line 1877">
                <a:extLst>
                  <a:ext uri="{FF2B5EF4-FFF2-40B4-BE49-F238E27FC236}">
                    <a16:creationId xmlns:a16="http://schemas.microsoft.com/office/drawing/2014/main" id="{DAF7ABF7-BC3A-43CF-8E6B-BA99061D5E2C}"/>
                  </a:ext>
                </a:extLst>
              </p:cNvPr>
              <p:cNvCxnSpPr>
                <a:cxnSpLocks noChangeShapeType="1"/>
              </p:cNvCxnSpPr>
              <p:nvPr/>
            </p:nvCxnSpPr>
            <p:spPr bwMode="auto">
              <a:xfrm>
                <a:off x="0" y="9190"/>
                <a:ext cx="4357" cy="76"/>
              </a:xfrm>
              <a:prstGeom prst="line">
                <a:avLst/>
              </a:prstGeom>
              <a:noFill/>
              <a:ln w="28575">
                <a:solidFill>
                  <a:srgbClr val="C00000"/>
                </a:solidFill>
                <a:round/>
                <a:headEnd type="none" w="lg" len="med"/>
                <a:tailEnd type="none" w="med" len="med"/>
              </a:ln>
              <a:extLst>
                <a:ext uri="{909E8E84-426E-40DD-AFC4-6F175D3DCCD1}">
                  <a14:hiddenFill xmlns:a14="http://schemas.microsoft.com/office/drawing/2010/main">
                    <a:noFill/>
                  </a14:hiddenFill>
                </a:ext>
              </a:extLst>
            </p:spPr>
          </p:cxnSp>
          <p:cxnSp>
            <p:nvCxnSpPr>
              <p:cNvPr id="61" name="Line 1878">
                <a:extLst>
                  <a:ext uri="{FF2B5EF4-FFF2-40B4-BE49-F238E27FC236}">
                    <a16:creationId xmlns:a16="http://schemas.microsoft.com/office/drawing/2014/main" id="{E513938F-9461-4DEB-B976-DCA92B8A1D8C}"/>
                  </a:ext>
                </a:extLst>
              </p:cNvPr>
              <p:cNvCxnSpPr>
                <a:cxnSpLocks noChangeShapeType="1"/>
              </p:cNvCxnSpPr>
              <p:nvPr/>
            </p:nvCxnSpPr>
            <p:spPr bwMode="auto">
              <a:xfrm flipV="1">
                <a:off x="4223" y="146"/>
                <a:ext cx="838" cy="9120"/>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2" name="Line 1879">
                <a:extLst>
                  <a:ext uri="{FF2B5EF4-FFF2-40B4-BE49-F238E27FC236}">
                    <a16:creationId xmlns:a16="http://schemas.microsoft.com/office/drawing/2014/main" id="{A7468778-019D-40DB-A232-8E7672D43002}"/>
                  </a:ext>
                </a:extLst>
              </p:cNvPr>
              <p:cNvCxnSpPr>
                <a:cxnSpLocks noChangeShapeType="1"/>
              </p:cNvCxnSpPr>
              <p:nvPr/>
            </p:nvCxnSpPr>
            <p:spPr bwMode="auto">
              <a:xfrm flipH="1" flipV="1">
                <a:off x="4915" y="146"/>
                <a:ext cx="1809"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3" name="Line 1880">
                <a:extLst>
                  <a:ext uri="{FF2B5EF4-FFF2-40B4-BE49-F238E27FC236}">
                    <a16:creationId xmlns:a16="http://schemas.microsoft.com/office/drawing/2014/main" id="{77238641-1174-4F99-9A45-5860FC074955}"/>
                  </a:ext>
                </a:extLst>
              </p:cNvPr>
              <p:cNvCxnSpPr>
                <a:cxnSpLocks noChangeShapeType="1"/>
              </p:cNvCxnSpPr>
              <p:nvPr/>
            </p:nvCxnSpPr>
            <p:spPr bwMode="auto">
              <a:xfrm flipV="1">
                <a:off x="6590" y="146"/>
                <a:ext cx="1809"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4" name="Line 1881">
                <a:extLst>
                  <a:ext uri="{FF2B5EF4-FFF2-40B4-BE49-F238E27FC236}">
                    <a16:creationId xmlns:a16="http://schemas.microsoft.com/office/drawing/2014/main" id="{08D23A82-2313-4D8A-B17E-565EEF1487E8}"/>
                  </a:ext>
                </a:extLst>
              </p:cNvPr>
              <p:cNvCxnSpPr>
                <a:cxnSpLocks noChangeShapeType="1"/>
              </p:cNvCxnSpPr>
              <p:nvPr/>
            </p:nvCxnSpPr>
            <p:spPr bwMode="auto">
              <a:xfrm flipH="1" flipV="1">
                <a:off x="8083" y="146"/>
                <a:ext cx="1809"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5" name="Line 1882">
                <a:extLst>
                  <a:ext uri="{FF2B5EF4-FFF2-40B4-BE49-F238E27FC236}">
                    <a16:creationId xmlns:a16="http://schemas.microsoft.com/office/drawing/2014/main" id="{B0CA55BB-5097-4E69-9DFD-9E147523D4AD}"/>
                  </a:ext>
                </a:extLst>
              </p:cNvPr>
              <p:cNvCxnSpPr>
                <a:cxnSpLocks noChangeShapeType="1"/>
              </p:cNvCxnSpPr>
              <p:nvPr/>
            </p:nvCxnSpPr>
            <p:spPr bwMode="auto">
              <a:xfrm flipV="1">
                <a:off x="9880" y="146"/>
                <a:ext cx="1808"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6" name="Line 1883">
                <a:extLst>
                  <a:ext uri="{FF2B5EF4-FFF2-40B4-BE49-F238E27FC236}">
                    <a16:creationId xmlns:a16="http://schemas.microsoft.com/office/drawing/2014/main" id="{7AD8C72B-4117-42F2-B4CB-21C5F56E65DC}"/>
                  </a:ext>
                </a:extLst>
              </p:cNvPr>
              <p:cNvCxnSpPr>
                <a:cxnSpLocks noChangeShapeType="1"/>
              </p:cNvCxnSpPr>
              <p:nvPr/>
            </p:nvCxnSpPr>
            <p:spPr bwMode="auto">
              <a:xfrm flipH="1" flipV="1">
                <a:off x="11494" y="146"/>
                <a:ext cx="1808"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7" name="Line 1884">
                <a:extLst>
                  <a:ext uri="{FF2B5EF4-FFF2-40B4-BE49-F238E27FC236}">
                    <a16:creationId xmlns:a16="http://schemas.microsoft.com/office/drawing/2014/main" id="{D6957CE3-DE58-4E24-A34F-2227B8353A56}"/>
                  </a:ext>
                </a:extLst>
              </p:cNvPr>
              <p:cNvCxnSpPr>
                <a:cxnSpLocks noChangeShapeType="1"/>
              </p:cNvCxnSpPr>
              <p:nvPr/>
            </p:nvCxnSpPr>
            <p:spPr bwMode="auto">
              <a:xfrm flipV="1">
                <a:off x="13241" y="146"/>
                <a:ext cx="1809" cy="19684"/>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8" name="Line 1885">
                <a:extLst>
                  <a:ext uri="{FF2B5EF4-FFF2-40B4-BE49-F238E27FC236}">
                    <a16:creationId xmlns:a16="http://schemas.microsoft.com/office/drawing/2014/main" id="{2B5FE25A-D687-4FB4-B665-291AC86074CB}"/>
                  </a:ext>
                </a:extLst>
              </p:cNvPr>
              <p:cNvCxnSpPr>
                <a:cxnSpLocks noChangeShapeType="1"/>
              </p:cNvCxnSpPr>
              <p:nvPr/>
            </p:nvCxnSpPr>
            <p:spPr bwMode="auto">
              <a:xfrm flipH="1">
                <a:off x="15645" y="9190"/>
                <a:ext cx="4357" cy="76"/>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69" name="Line 1886">
                <a:extLst>
                  <a:ext uri="{FF2B5EF4-FFF2-40B4-BE49-F238E27FC236}">
                    <a16:creationId xmlns:a16="http://schemas.microsoft.com/office/drawing/2014/main" id="{55502048-842A-4D51-9308-AA1D99F8D0D5}"/>
                  </a:ext>
                </a:extLst>
              </p:cNvPr>
              <p:cNvCxnSpPr>
                <a:cxnSpLocks noChangeShapeType="1"/>
              </p:cNvCxnSpPr>
              <p:nvPr/>
            </p:nvCxnSpPr>
            <p:spPr bwMode="auto">
              <a:xfrm flipH="1" flipV="1">
                <a:off x="14929" y="146"/>
                <a:ext cx="837" cy="9120"/>
              </a:xfrm>
              <a:prstGeom prst="line">
                <a:avLst/>
              </a:prstGeom>
              <a:noFill/>
              <a:ln w="28575">
                <a:solidFill>
                  <a:srgbClr val="C00000"/>
                </a:solidFill>
                <a:round/>
                <a:headEnd type="none" w="lg" len="med"/>
                <a:tailEnd type="none" w="lg" len="med"/>
              </a:ln>
              <a:extLst>
                <a:ext uri="{909E8E84-426E-40DD-AFC4-6F175D3DCCD1}">
                  <a14:hiddenFill xmlns:a14="http://schemas.microsoft.com/office/drawing/2010/main">
                    <a:noFill/>
                  </a14:hiddenFill>
                </a:ext>
              </a:extLst>
            </p:spPr>
          </p:cxnSp>
        </p:grpSp>
        <p:sp>
          <p:nvSpPr>
            <p:cNvPr id="55" name="Rectangle 54">
              <a:extLst>
                <a:ext uri="{FF2B5EF4-FFF2-40B4-BE49-F238E27FC236}">
                  <a16:creationId xmlns:a16="http://schemas.microsoft.com/office/drawing/2014/main" id="{6AD58362-CB77-4C74-B773-AAA41F3ADC70}"/>
                </a:ext>
              </a:extLst>
            </p:cNvPr>
            <p:cNvSpPr>
              <a:spLocks noChangeArrowheads="1"/>
            </p:cNvSpPr>
            <p:nvPr/>
          </p:nvSpPr>
          <p:spPr bwMode="auto">
            <a:xfrm>
              <a:off x="8884" y="160"/>
              <a:ext cx="2925" cy="5543"/>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6" name="Line 1888">
              <a:extLst>
                <a:ext uri="{FF2B5EF4-FFF2-40B4-BE49-F238E27FC236}">
                  <a16:creationId xmlns:a16="http://schemas.microsoft.com/office/drawing/2014/main" id="{23673FDE-4DAF-4043-9BDB-3E546D86B120}"/>
                </a:ext>
              </a:extLst>
            </p:cNvPr>
            <p:cNvCxnSpPr>
              <a:cxnSpLocks noChangeShapeType="1"/>
            </p:cNvCxnSpPr>
            <p:nvPr/>
          </p:nvCxnSpPr>
          <p:spPr bwMode="auto">
            <a:xfrm>
              <a:off x="1608" y="8877"/>
              <a:ext cx="1408" cy="0"/>
            </a:xfrm>
            <a:prstGeom prst="line">
              <a:avLst/>
            </a:prstGeom>
            <a:noFill/>
            <a:ln w="57150">
              <a:solidFill>
                <a:srgbClr val="C00000"/>
              </a:solidFill>
              <a:round/>
              <a:headEnd type="none" w="sm" len="sm"/>
              <a:tailEnd type="triangle" w="med" len="med"/>
            </a:ln>
            <a:extLst>
              <a:ext uri="{909E8E84-426E-40DD-AFC4-6F175D3DCCD1}">
                <a14:hiddenFill xmlns:a14="http://schemas.microsoft.com/office/drawing/2010/main">
                  <a:noFill/>
                </a14:hiddenFill>
              </a:ext>
            </a:extLst>
          </p:spPr>
        </p:cxnSp>
        <p:sp>
          <p:nvSpPr>
            <p:cNvPr id="57" name="Rectangle 56">
              <a:extLst>
                <a:ext uri="{FF2B5EF4-FFF2-40B4-BE49-F238E27FC236}">
                  <a16:creationId xmlns:a16="http://schemas.microsoft.com/office/drawing/2014/main" id="{89DFDEA3-3183-48E5-8427-F2B030DC2A16}"/>
                </a:ext>
              </a:extLst>
            </p:cNvPr>
            <p:cNvSpPr>
              <a:spLocks noChangeArrowheads="1"/>
            </p:cNvSpPr>
            <p:nvPr/>
          </p:nvSpPr>
          <p:spPr bwMode="auto">
            <a:xfrm>
              <a:off x="8884" y="14259"/>
              <a:ext cx="4382" cy="5543"/>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marL="0" marR="0">
                <a:lnSpc>
                  <a:spcPct val="115000"/>
                </a:lnSpc>
                <a:spcBef>
                  <a:spcPts val="20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8" name="Rectangle 57">
              <a:extLst>
                <a:ext uri="{FF2B5EF4-FFF2-40B4-BE49-F238E27FC236}">
                  <a16:creationId xmlns:a16="http://schemas.microsoft.com/office/drawing/2014/main" id="{A1F356A2-BC09-49BA-B4EF-9C3D03DFDB29}"/>
                </a:ext>
              </a:extLst>
            </p:cNvPr>
            <p:cNvSpPr>
              <a:spLocks noChangeArrowheads="1"/>
            </p:cNvSpPr>
            <p:nvPr/>
          </p:nvSpPr>
          <p:spPr bwMode="auto">
            <a:xfrm>
              <a:off x="565" y="1395"/>
              <a:ext cx="3580" cy="5543"/>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9" name="Line 1891">
              <a:extLst>
                <a:ext uri="{FF2B5EF4-FFF2-40B4-BE49-F238E27FC236}">
                  <a16:creationId xmlns:a16="http://schemas.microsoft.com/office/drawing/2014/main" id="{DFA5AC99-2B24-494D-8A5C-E75B28DBFD93}"/>
                </a:ext>
              </a:extLst>
            </p:cNvPr>
            <p:cNvCxnSpPr>
              <a:cxnSpLocks noChangeShapeType="1"/>
            </p:cNvCxnSpPr>
            <p:nvPr/>
          </p:nvCxnSpPr>
          <p:spPr bwMode="auto">
            <a:xfrm>
              <a:off x="4588" y="14650"/>
              <a:ext cx="11154" cy="23"/>
            </a:xfrm>
            <a:prstGeom prst="line">
              <a:avLst/>
            </a:prstGeom>
            <a:noFill/>
            <a:ln w="28575">
              <a:solidFill>
                <a:srgbClr val="002060"/>
              </a:solidFill>
              <a:round/>
              <a:headEnd type="arrow" w="lg" len="lg"/>
              <a:tailEnd type="none" w="lg" len="lg"/>
            </a:ln>
            <a:extLst>
              <a:ext uri="{909E8E84-426E-40DD-AFC4-6F175D3DCCD1}">
                <a14:hiddenFill xmlns:a14="http://schemas.microsoft.com/office/drawing/2010/main">
                  <a:noFill/>
                </a14:hiddenFill>
              </a:ext>
            </a:extLst>
          </p:spPr>
        </p:cxnSp>
      </p:grpSp>
      <p:grpSp>
        <p:nvGrpSpPr>
          <p:cNvPr id="6" name="Group 5">
            <a:extLst>
              <a:ext uri="{FF2B5EF4-FFF2-40B4-BE49-F238E27FC236}">
                <a16:creationId xmlns:a16="http://schemas.microsoft.com/office/drawing/2014/main" id="{2DB4CA19-AAAD-49ED-878D-2914AD7467B3}"/>
              </a:ext>
            </a:extLst>
          </p:cNvPr>
          <p:cNvGrpSpPr>
            <a:grpSpLocks/>
          </p:cNvGrpSpPr>
          <p:nvPr/>
        </p:nvGrpSpPr>
        <p:grpSpPr bwMode="auto">
          <a:xfrm>
            <a:off x="7689813" y="4606425"/>
            <a:ext cx="2457450" cy="1459865"/>
            <a:chOff x="11176" y="7673"/>
            <a:chExt cx="3870" cy="2299"/>
          </a:xfrm>
        </p:grpSpPr>
        <p:cxnSp>
          <p:nvCxnSpPr>
            <p:cNvPr id="48" name="Line 783">
              <a:extLst>
                <a:ext uri="{FF2B5EF4-FFF2-40B4-BE49-F238E27FC236}">
                  <a16:creationId xmlns:a16="http://schemas.microsoft.com/office/drawing/2014/main" id="{00F755C6-5A56-42CC-A13C-0976CEBC45B9}"/>
                </a:ext>
              </a:extLst>
            </p:cNvPr>
            <p:cNvCxnSpPr>
              <a:cxnSpLocks noChangeShapeType="1"/>
            </p:cNvCxnSpPr>
            <p:nvPr/>
          </p:nvCxnSpPr>
          <p:spPr bwMode="auto">
            <a:xfrm>
              <a:off x="11746" y="9136"/>
              <a:ext cx="2880" cy="2"/>
            </a:xfrm>
            <a:prstGeom prst="line">
              <a:avLst/>
            </a:prstGeom>
            <a:noFill/>
            <a:ln w="38100">
              <a:solidFill>
                <a:srgbClr val="00B0F0"/>
              </a:solidFill>
              <a:round/>
              <a:headEnd type="none" w="sm" len="lg"/>
              <a:tailEnd type="arrow" w="sm" len="lg"/>
            </a:ln>
            <a:extLst>
              <a:ext uri="{909E8E84-426E-40DD-AFC4-6F175D3DCCD1}">
                <a14:hiddenFill xmlns:a14="http://schemas.microsoft.com/office/drawing/2010/main">
                  <a:noFill/>
                </a14:hiddenFill>
              </a:ext>
            </a:extLst>
          </p:spPr>
        </p:cxnSp>
        <p:cxnSp>
          <p:nvCxnSpPr>
            <p:cNvPr id="49" name="Line 784">
              <a:extLst>
                <a:ext uri="{FF2B5EF4-FFF2-40B4-BE49-F238E27FC236}">
                  <a16:creationId xmlns:a16="http://schemas.microsoft.com/office/drawing/2014/main" id="{731A62E6-4B8B-4E27-B6F3-9B0FF089B1D7}"/>
                </a:ext>
              </a:extLst>
            </p:cNvPr>
            <p:cNvCxnSpPr>
              <a:cxnSpLocks noChangeShapeType="1"/>
            </p:cNvCxnSpPr>
            <p:nvPr/>
          </p:nvCxnSpPr>
          <p:spPr bwMode="auto">
            <a:xfrm flipV="1">
              <a:off x="11775" y="7872"/>
              <a:ext cx="2" cy="1280"/>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sp>
          <p:nvSpPr>
            <p:cNvPr id="50" name="Rectangle 49">
              <a:extLst>
                <a:ext uri="{FF2B5EF4-FFF2-40B4-BE49-F238E27FC236}">
                  <a16:creationId xmlns:a16="http://schemas.microsoft.com/office/drawing/2014/main" id="{416B4244-18AA-4A6A-B879-118A73BEB431}"/>
                </a:ext>
              </a:extLst>
            </p:cNvPr>
            <p:cNvSpPr>
              <a:spLocks noChangeArrowheads="1"/>
            </p:cNvSpPr>
            <p:nvPr/>
          </p:nvSpPr>
          <p:spPr bwMode="auto">
            <a:xfrm>
              <a:off x="14163" y="8183"/>
              <a:ext cx="88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Rectangle 50">
              <a:extLst>
                <a:ext uri="{FF2B5EF4-FFF2-40B4-BE49-F238E27FC236}">
                  <a16:creationId xmlns:a16="http://schemas.microsoft.com/office/drawing/2014/main" id="{6C0235DA-C0D1-41C8-B0DD-4B7F96836AA5}"/>
                </a:ext>
              </a:extLst>
            </p:cNvPr>
            <p:cNvSpPr>
              <a:spLocks noChangeArrowheads="1"/>
            </p:cNvSpPr>
            <p:nvPr/>
          </p:nvSpPr>
          <p:spPr bwMode="auto">
            <a:xfrm>
              <a:off x="12058" y="7673"/>
              <a:ext cx="88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Rectangle 51">
              <a:extLst>
                <a:ext uri="{FF2B5EF4-FFF2-40B4-BE49-F238E27FC236}">
                  <a16:creationId xmlns:a16="http://schemas.microsoft.com/office/drawing/2014/main" id="{775DD6D5-EB46-485D-AC1D-C6858840997D}"/>
                </a:ext>
              </a:extLst>
            </p:cNvPr>
            <p:cNvSpPr>
              <a:spLocks noChangeArrowheads="1"/>
            </p:cNvSpPr>
            <p:nvPr/>
          </p:nvSpPr>
          <p:spPr bwMode="auto">
            <a:xfrm>
              <a:off x="11178" y="8852"/>
              <a:ext cx="71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3" name="Rectangle 52">
              <a:extLst>
                <a:ext uri="{FF2B5EF4-FFF2-40B4-BE49-F238E27FC236}">
                  <a16:creationId xmlns:a16="http://schemas.microsoft.com/office/drawing/2014/main" id="{44DB9724-ADDF-40F0-9E11-ED6F14CEC23A}"/>
                </a:ext>
              </a:extLst>
            </p:cNvPr>
            <p:cNvSpPr>
              <a:spLocks noChangeArrowheads="1"/>
            </p:cNvSpPr>
            <p:nvPr/>
          </p:nvSpPr>
          <p:spPr bwMode="auto">
            <a:xfrm>
              <a:off x="11176" y="9359"/>
              <a:ext cx="3745"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E4461CB9-DCB7-416A-86D7-F42945D63FB8}"/>
              </a:ext>
            </a:extLst>
          </p:cNvPr>
          <p:cNvGrpSpPr>
            <a:grpSpLocks/>
          </p:cNvGrpSpPr>
          <p:nvPr/>
        </p:nvGrpSpPr>
        <p:grpSpPr bwMode="auto">
          <a:xfrm>
            <a:off x="7720938" y="2457777"/>
            <a:ext cx="2799080" cy="1379855"/>
            <a:chOff x="12176" y="6845"/>
            <a:chExt cx="4408" cy="2173"/>
          </a:xfrm>
        </p:grpSpPr>
        <p:cxnSp>
          <p:nvCxnSpPr>
            <p:cNvPr id="42" name="Line 2330">
              <a:extLst>
                <a:ext uri="{FF2B5EF4-FFF2-40B4-BE49-F238E27FC236}">
                  <a16:creationId xmlns:a16="http://schemas.microsoft.com/office/drawing/2014/main" id="{31FD6FB7-5CFD-4F76-9808-AA5CE00131A2}"/>
                </a:ext>
              </a:extLst>
            </p:cNvPr>
            <p:cNvCxnSpPr>
              <a:cxnSpLocks noChangeShapeType="1"/>
            </p:cNvCxnSpPr>
            <p:nvPr/>
          </p:nvCxnSpPr>
          <p:spPr bwMode="auto">
            <a:xfrm>
              <a:off x="12744" y="7732"/>
              <a:ext cx="3766" cy="2"/>
            </a:xfrm>
            <a:prstGeom prst="line">
              <a:avLst/>
            </a:prstGeom>
            <a:noFill/>
            <a:ln w="38100">
              <a:solidFill>
                <a:srgbClr val="00B0F0"/>
              </a:solidFill>
              <a:round/>
              <a:headEnd type="none" w="sm" len="lg"/>
              <a:tailEnd type="arrow" w="sm" len="lg"/>
            </a:ln>
            <a:extLst>
              <a:ext uri="{909E8E84-426E-40DD-AFC4-6F175D3DCCD1}">
                <a14:hiddenFill xmlns:a14="http://schemas.microsoft.com/office/drawing/2010/main">
                  <a:noFill/>
                </a14:hiddenFill>
              </a:ext>
            </a:extLst>
          </p:spPr>
        </p:cxnSp>
        <p:cxnSp>
          <p:nvCxnSpPr>
            <p:cNvPr id="43" name="Line 2331">
              <a:extLst>
                <a:ext uri="{FF2B5EF4-FFF2-40B4-BE49-F238E27FC236}">
                  <a16:creationId xmlns:a16="http://schemas.microsoft.com/office/drawing/2014/main" id="{870A1034-425E-4FFD-B8C6-A1006EA08DD0}"/>
                </a:ext>
              </a:extLst>
            </p:cNvPr>
            <p:cNvCxnSpPr>
              <a:cxnSpLocks noChangeShapeType="1"/>
            </p:cNvCxnSpPr>
            <p:nvPr/>
          </p:nvCxnSpPr>
          <p:spPr bwMode="auto">
            <a:xfrm flipV="1">
              <a:off x="12773" y="7693"/>
              <a:ext cx="2" cy="1280"/>
            </a:xfrm>
            <a:prstGeom prst="line">
              <a:avLst/>
            </a:prstGeom>
            <a:noFill/>
            <a:ln w="38100">
              <a:solidFill>
                <a:srgbClr val="C00000"/>
              </a:solidFill>
              <a:round/>
              <a:headEnd type="arrow" w="med" len="med"/>
              <a:tailEnd type="none" w="sm" len="med"/>
            </a:ln>
            <a:extLst>
              <a:ext uri="{909E8E84-426E-40DD-AFC4-6F175D3DCCD1}">
                <a14:hiddenFill xmlns:a14="http://schemas.microsoft.com/office/drawing/2010/main">
                  <a:noFill/>
                </a14:hiddenFill>
              </a:ext>
            </a:extLst>
          </p:spPr>
        </p:cxnSp>
        <p:sp>
          <p:nvSpPr>
            <p:cNvPr id="44" name="Rectangle 43">
              <a:extLst>
                <a:ext uri="{FF2B5EF4-FFF2-40B4-BE49-F238E27FC236}">
                  <a16:creationId xmlns:a16="http://schemas.microsoft.com/office/drawing/2014/main" id="{3820F530-0F2C-471B-BC57-051DC0DA7DC5}"/>
                </a:ext>
              </a:extLst>
            </p:cNvPr>
            <p:cNvSpPr>
              <a:spLocks noChangeArrowheads="1"/>
            </p:cNvSpPr>
            <p:nvPr/>
          </p:nvSpPr>
          <p:spPr bwMode="auto">
            <a:xfrm>
              <a:off x="15627" y="7743"/>
              <a:ext cx="88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33B704A1-6E5A-4DFE-B2FB-55D790659D69}"/>
                </a:ext>
              </a:extLst>
            </p:cNvPr>
            <p:cNvSpPr>
              <a:spLocks noChangeArrowheads="1"/>
            </p:cNvSpPr>
            <p:nvPr/>
          </p:nvSpPr>
          <p:spPr bwMode="auto">
            <a:xfrm>
              <a:off x="13056" y="8419"/>
              <a:ext cx="88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7D093B24-62DE-4A8B-A8B5-5A30F38252DB}"/>
                </a:ext>
              </a:extLst>
            </p:cNvPr>
            <p:cNvSpPr>
              <a:spLocks noChangeArrowheads="1"/>
            </p:cNvSpPr>
            <p:nvPr/>
          </p:nvSpPr>
          <p:spPr bwMode="auto">
            <a:xfrm>
              <a:off x="12176" y="7448"/>
              <a:ext cx="713"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7" name="Rectangle 46">
              <a:extLst>
                <a:ext uri="{FF2B5EF4-FFF2-40B4-BE49-F238E27FC236}">
                  <a16:creationId xmlns:a16="http://schemas.microsoft.com/office/drawing/2014/main" id="{978FFA75-4E3B-4E3C-9043-9C36FE7699E9}"/>
                </a:ext>
              </a:extLst>
            </p:cNvPr>
            <p:cNvSpPr>
              <a:spLocks noChangeArrowheads="1"/>
            </p:cNvSpPr>
            <p:nvPr/>
          </p:nvSpPr>
          <p:spPr bwMode="auto">
            <a:xfrm>
              <a:off x="12839" y="6845"/>
              <a:ext cx="3745"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9DDAD317-DE18-4673-A421-667B29E9ED09}"/>
              </a:ext>
            </a:extLst>
          </p:cNvPr>
          <p:cNvGrpSpPr>
            <a:grpSpLocks/>
          </p:cNvGrpSpPr>
          <p:nvPr/>
        </p:nvGrpSpPr>
        <p:grpSpPr bwMode="auto">
          <a:xfrm>
            <a:off x="4542043" y="2568825"/>
            <a:ext cx="2659421" cy="1332230"/>
            <a:chOff x="1590" y="1714"/>
            <a:chExt cx="5278" cy="2644"/>
          </a:xfrm>
        </p:grpSpPr>
        <p:sp>
          <p:nvSpPr>
            <p:cNvPr id="16" name="Rectangle 15">
              <a:extLst>
                <a:ext uri="{FF2B5EF4-FFF2-40B4-BE49-F238E27FC236}">
                  <a16:creationId xmlns:a16="http://schemas.microsoft.com/office/drawing/2014/main" id="{A1206303-8BBE-4A4D-BA51-0E4CE4731C75}"/>
                </a:ext>
              </a:extLst>
            </p:cNvPr>
            <p:cNvSpPr>
              <a:spLocks noChangeArrowheads="1"/>
            </p:cNvSpPr>
            <p:nvPr/>
          </p:nvSpPr>
          <p:spPr bwMode="auto">
            <a:xfrm>
              <a:off x="3903" y="1714"/>
              <a:ext cx="814"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C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 name="Line 732">
              <a:extLst>
                <a:ext uri="{FF2B5EF4-FFF2-40B4-BE49-F238E27FC236}">
                  <a16:creationId xmlns:a16="http://schemas.microsoft.com/office/drawing/2014/main" id="{CAC65E98-3117-40A5-90CF-B3668F385F9C}"/>
                </a:ext>
              </a:extLst>
            </p:cNvPr>
            <p:cNvCxnSpPr>
              <a:cxnSpLocks noChangeShapeType="1"/>
            </p:cNvCxnSpPr>
            <p:nvPr/>
          </p:nvCxnSpPr>
          <p:spPr bwMode="auto">
            <a:xfrm>
              <a:off x="1898" y="2932"/>
              <a:ext cx="408" cy="3"/>
            </a:xfrm>
            <a:prstGeom prst="line">
              <a:avLst/>
            </a:prstGeom>
            <a:noFill/>
            <a:ln w="38100">
              <a:solidFill>
                <a:srgbClr val="C00000"/>
              </a:solidFill>
              <a:round/>
              <a:headEnd type="none" w="sm" len="sm"/>
              <a:tailEnd type="triangle" w="lg" len="lg"/>
            </a:ln>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0FEDFB86-565B-4269-8CB2-110EB2E8D693}"/>
                </a:ext>
              </a:extLst>
            </p:cNvPr>
            <p:cNvSpPr>
              <a:spLocks noChangeArrowheads="1"/>
            </p:cNvSpPr>
            <p:nvPr/>
          </p:nvSpPr>
          <p:spPr bwMode="auto">
            <a:xfrm>
              <a:off x="3782" y="3589"/>
              <a:ext cx="1219"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C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D0034980-5F70-4EC5-AC6F-5704D20087FC}"/>
                </a:ext>
              </a:extLst>
            </p:cNvPr>
            <p:cNvSpPr>
              <a:spLocks noChangeArrowheads="1"/>
            </p:cNvSpPr>
            <p:nvPr/>
          </p:nvSpPr>
          <p:spPr bwMode="auto">
            <a:xfrm>
              <a:off x="1590" y="1738"/>
              <a:ext cx="99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C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0" name="Line 735">
              <a:extLst>
                <a:ext uri="{FF2B5EF4-FFF2-40B4-BE49-F238E27FC236}">
                  <a16:creationId xmlns:a16="http://schemas.microsoft.com/office/drawing/2014/main" id="{F9E88059-762F-450C-9781-A0B6DE3A6279}"/>
                </a:ext>
              </a:extLst>
            </p:cNvPr>
            <p:cNvCxnSpPr>
              <a:cxnSpLocks noChangeShapeType="1"/>
            </p:cNvCxnSpPr>
            <p:nvPr/>
          </p:nvCxnSpPr>
          <p:spPr bwMode="auto">
            <a:xfrm>
              <a:off x="2586" y="3647"/>
              <a:ext cx="3103" cy="3"/>
            </a:xfrm>
            <a:prstGeom prst="line">
              <a:avLst/>
            </a:prstGeom>
            <a:noFill/>
            <a:ln w="38100">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21" name="Line 710">
              <a:extLst>
                <a:ext uri="{FF2B5EF4-FFF2-40B4-BE49-F238E27FC236}">
                  <a16:creationId xmlns:a16="http://schemas.microsoft.com/office/drawing/2014/main" id="{D79C2747-FCCB-4763-92CD-E82D0DC0395B}"/>
                </a:ext>
              </a:extLst>
            </p:cNvPr>
            <p:cNvCxnSpPr>
              <a:cxnSpLocks noChangeShapeType="1"/>
            </p:cNvCxnSpPr>
            <p:nvPr/>
          </p:nvCxnSpPr>
          <p:spPr bwMode="auto">
            <a:xfrm>
              <a:off x="1740" y="2944"/>
              <a:ext cx="1212" cy="3"/>
            </a:xfrm>
            <a:prstGeom prst="line">
              <a:avLst/>
            </a:prstGeom>
            <a:noFill/>
            <a:ln w="38100">
              <a:solidFill>
                <a:srgbClr val="C00000"/>
              </a:solidFill>
              <a:round/>
              <a:headEnd type="none" w="lg" len="med"/>
              <a:tailEnd type="none" w="lg" len="med"/>
            </a:ln>
            <a:extLst>
              <a:ext uri="{909E8E84-426E-40DD-AFC4-6F175D3DCCD1}">
                <a14:hiddenFill xmlns:a14="http://schemas.microsoft.com/office/drawing/2010/main">
                  <a:noFill/>
                </a14:hiddenFill>
              </a:ext>
            </a:extLst>
          </p:spPr>
        </p:cxnSp>
        <p:cxnSp>
          <p:nvCxnSpPr>
            <p:cNvPr id="22" name="Line 711">
              <a:extLst>
                <a:ext uri="{FF2B5EF4-FFF2-40B4-BE49-F238E27FC236}">
                  <a16:creationId xmlns:a16="http://schemas.microsoft.com/office/drawing/2014/main" id="{4F75C85B-0471-4991-869E-7400B3C69968}"/>
                </a:ext>
              </a:extLst>
            </p:cNvPr>
            <p:cNvCxnSpPr>
              <a:cxnSpLocks noChangeShapeType="1"/>
            </p:cNvCxnSpPr>
            <p:nvPr/>
          </p:nvCxnSpPr>
          <p:spPr bwMode="auto">
            <a:xfrm flipH="1">
              <a:off x="5656" y="2979"/>
              <a:ext cx="1212" cy="3"/>
            </a:xfrm>
            <a:prstGeom prst="line">
              <a:avLst/>
            </a:prstGeom>
            <a:noFill/>
            <a:ln w="38100">
              <a:solidFill>
                <a:srgbClr val="C00000"/>
              </a:solidFill>
              <a:round/>
              <a:headEnd type="none" w="lg" len="med"/>
              <a:tailEnd type="none" w="lg" len="med"/>
            </a:ln>
            <a:extLst>
              <a:ext uri="{909E8E84-426E-40DD-AFC4-6F175D3DCCD1}">
                <a14:hiddenFill xmlns:a14="http://schemas.microsoft.com/office/drawing/2010/main">
                  <a:noFill/>
                </a14:hiddenFill>
              </a:ext>
            </a:extLst>
          </p:spPr>
        </p:cxnSp>
        <p:sp>
          <p:nvSpPr>
            <p:cNvPr id="23" name="Arc 712">
              <a:extLst>
                <a:ext uri="{FF2B5EF4-FFF2-40B4-BE49-F238E27FC236}">
                  <a16:creationId xmlns:a16="http://schemas.microsoft.com/office/drawing/2014/main" id="{4819F58B-2362-4925-A745-428ACFD93D55}"/>
                </a:ext>
              </a:extLst>
            </p:cNvPr>
            <p:cNvSpPr>
              <a:spLocks/>
            </p:cNvSpPr>
            <p:nvPr/>
          </p:nvSpPr>
          <p:spPr bwMode="auto">
            <a:xfrm flipH="1">
              <a:off x="2954" y="2431"/>
              <a:ext cx="510" cy="4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24" name="Group 23">
              <a:extLst>
                <a:ext uri="{FF2B5EF4-FFF2-40B4-BE49-F238E27FC236}">
                  <a16:creationId xmlns:a16="http://schemas.microsoft.com/office/drawing/2014/main" id="{EB5DB1C5-660F-4314-8390-9472102CC3A3}"/>
                </a:ext>
              </a:extLst>
            </p:cNvPr>
            <p:cNvGrpSpPr>
              <a:grpSpLocks/>
            </p:cNvGrpSpPr>
            <p:nvPr/>
          </p:nvGrpSpPr>
          <p:grpSpPr bwMode="auto">
            <a:xfrm>
              <a:off x="3239" y="2427"/>
              <a:ext cx="916" cy="941"/>
              <a:chOff x="1" y="0"/>
              <a:chExt cx="19999" cy="19999"/>
            </a:xfrm>
          </p:grpSpPr>
          <p:grpSp>
            <p:nvGrpSpPr>
              <p:cNvPr id="37" name="Group 36">
                <a:extLst>
                  <a:ext uri="{FF2B5EF4-FFF2-40B4-BE49-F238E27FC236}">
                    <a16:creationId xmlns:a16="http://schemas.microsoft.com/office/drawing/2014/main" id="{54CEBD5F-C0BC-448D-9121-A7CCD9F1BB45}"/>
                  </a:ext>
                </a:extLst>
              </p:cNvPr>
              <p:cNvGrpSpPr>
                <a:grpSpLocks/>
              </p:cNvGrpSpPr>
              <p:nvPr/>
            </p:nvGrpSpPr>
            <p:grpSpPr bwMode="auto">
              <a:xfrm>
                <a:off x="4870" y="0"/>
                <a:ext cx="7161" cy="19999"/>
                <a:chOff x="0" y="0"/>
                <a:chExt cx="20000" cy="19999"/>
              </a:xfrm>
            </p:grpSpPr>
            <p:sp>
              <p:nvSpPr>
                <p:cNvPr id="40" name="Arc 715">
                  <a:extLst>
                    <a:ext uri="{FF2B5EF4-FFF2-40B4-BE49-F238E27FC236}">
                      <a16:creationId xmlns:a16="http://schemas.microsoft.com/office/drawing/2014/main" id="{4E9F1F92-82C1-404B-9E3B-0F179245791B}"/>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1" name="Arc 716">
                  <a:extLst>
                    <a:ext uri="{FF2B5EF4-FFF2-40B4-BE49-F238E27FC236}">
                      <a16:creationId xmlns:a16="http://schemas.microsoft.com/office/drawing/2014/main" id="{D0C39D07-B8E4-4457-AF8E-2D0CADEFFCF4}"/>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38" name="Arc 717">
                <a:extLst>
                  <a:ext uri="{FF2B5EF4-FFF2-40B4-BE49-F238E27FC236}">
                    <a16:creationId xmlns:a16="http://schemas.microsoft.com/office/drawing/2014/main" id="{06F544DF-A076-482F-A595-0781A77FB4A1}"/>
                  </a:ext>
                </a:extLst>
              </p:cNvPr>
              <p:cNvSpPr>
                <a:spLocks/>
              </p:cNvSpPr>
              <p:nvPr/>
            </p:nvSpPr>
            <p:spPr bwMode="auto">
              <a:xfrm flipH="1">
                <a:off x="1" y="407"/>
                <a:ext cx="19999"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9" name="Arc 718">
                <a:extLst>
                  <a:ext uri="{FF2B5EF4-FFF2-40B4-BE49-F238E27FC236}">
                    <a16:creationId xmlns:a16="http://schemas.microsoft.com/office/drawing/2014/main" id="{6BF58AA2-45C4-41F2-B65D-210C23215067}"/>
                  </a:ext>
                </a:extLst>
              </p:cNvPr>
              <p:cNvSpPr>
                <a:spLocks/>
              </p:cNvSpPr>
              <p:nvPr/>
            </p:nvSpPr>
            <p:spPr bwMode="auto">
              <a:xfrm flipH="1" flipV="1">
                <a:off x="1" y="9762"/>
                <a:ext cx="7161"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5" name="Group 24">
              <a:extLst>
                <a:ext uri="{FF2B5EF4-FFF2-40B4-BE49-F238E27FC236}">
                  <a16:creationId xmlns:a16="http://schemas.microsoft.com/office/drawing/2014/main" id="{80165BE1-94DF-4E7F-B10D-0D50CA52FFC6}"/>
                </a:ext>
              </a:extLst>
            </p:cNvPr>
            <p:cNvGrpSpPr>
              <a:grpSpLocks/>
            </p:cNvGrpSpPr>
            <p:nvPr/>
          </p:nvGrpSpPr>
          <p:grpSpPr bwMode="auto">
            <a:xfrm>
              <a:off x="3934" y="2442"/>
              <a:ext cx="914" cy="941"/>
              <a:chOff x="-1" y="0"/>
              <a:chExt cx="20002" cy="19999"/>
            </a:xfrm>
          </p:grpSpPr>
          <p:grpSp>
            <p:nvGrpSpPr>
              <p:cNvPr id="32" name="Group 31">
                <a:extLst>
                  <a:ext uri="{FF2B5EF4-FFF2-40B4-BE49-F238E27FC236}">
                    <a16:creationId xmlns:a16="http://schemas.microsoft.com/office/drawing/2014/main" id="{83623F8D-9990-4E7D-924B-038989082560}"/>
                  </a:ext>
                </a:extLst>
              </p:cNvPr>
              <p:cNvGrpSpPr>
                <a:grpSpLocks/>
              </p:cNvGrpSpPr>
              <p:nvPr/>
            </p:nvGrpSpPr>
            <p:grpSpPr bwMode="auto">
              <a:xfrm>
                <a:off x="4865" y="0"/>
                <a:ext cx="7158" cy="19999"/>
                <a:chOff x="0" y="0"/>
                <a:chExt cx="20000" cy="19999"/>
              </a:xfrm>
            </p:grpSpPr>
            <p:sp>
              <p:nvSpPr>
                <p:cNvPr id="35" name="Arc 721">
                  <a:extLst>
                    <a:ext uri="{FF2B5EF4-FFF2-40B4-BE49-F238E27FC236}">
                      <a16:creationId xmlns:a16="http://schemas.microsoft.com/office/drawing/2014/main" id="{2C2F92AB-CE57-4DD6-B45E-14FA60A6890F}"/>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6" name="Arc 722">
                  <a:extLst>
                    <a:ext uri="{FF2B5EF4-FFF2-40B4-BE49-F238E27FC236}">
                      <a16:creationId xmlns:a16="http://schemas.microsoft.com/office/drawing/2014/main" id="{6A8A01BE-347D-45FE-85F1-1AAA0084E5D8}"/>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33" name="Arc 723">
                <a:extLst>
                  <a:ext uri="{FF2B5EF4-FFF2-40B4-BE49-F238E27FC236}">
                    <a16:creationId xmlns:a16="http://schemas.microsoft.com/office/drawing/2014/main" id="{BDAFD37A-323B-436F-8024-906DCDC222E3}"/>
                  </a:ext>
                </a:extLst>
              </p:cNvPr>
              <p:cNvSpPr>
                <a:spLocks/>
              </p:cNvSpPr>
              <p:nvPr/>
            </p:nvSpPr>
            <p:spPr bwMode="auto">
              <a:xfrm flipH="1">
                <a:off x="-1" y="407"/>
                <a:ext cx="20002"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4" name="Arc 724">
                <a:extLst>
                  <a:ext uri="{FF2B5EF4-FFF2-40B4-BE49-F238E27FC236}">
                    <a16:creationId xmlns:a16="http://schemas.microsoft.com/office/drawing/2014/main" id="{6B46AD81-6D9C-4056-AADF-97E2546385BC}"/>
                  </a:ext>
                </a:extLst>
              </p:cNvPr>
              <p:cNvSpPr>
                <a:spLocks/>
              </p:cNvSpPr>
              <p:nvPr/>
            </p:nvSpPr>
            <p:spPr bwMode="auto">
              <a:xfrm flipH="1" flipV="1">
                <a:off x="-1" y="9762"/>
                <a:ext cx="7158"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6" name="Group 25">
              <a:extLst>
                <a:ext uri="{FF2B5EF4-FFF2-40B4-BE49-F238E27FC236}">
                  <a16:creationId xmlns:a16="http://schemas.microsoft.com/office/drawing/2014/main" id="{9A2CF4D2-8DCA-4476-B759-6162CF4CDB51}"/>
                </a:ext>
              </a:extLst>
            </p:cNvPr>
            <p:cNvGrpSpPr>
              <a:grpSpLocks/>
            </p:cNvGrpSpPr>
            <p:nvPr/>
          </p:nvGrpSpPr>
          <p:grpSpPr bwMode="auto">
            <a:xfrm>
              <a:off x="4835" y="2457"/>
              <a:ext cx="328" cy="942"/>
              <a:chOff x="0" y="0"/>
              <a:chExt cx="20000" cy="19999"/>
            </a:xfrm>
          </p:grpSpPr>
          <p:sp>
            <p:nvSpPr>
              <p:cNvPr id="30" name="Arc 726">
                <a:extLst>
                  <a:ext uri="{FF2B5EF4-FFF2-40B4-BE49-F238E27FC236}">
                    <a16:creationId xmlns:a16="http://schemas.microsoft.com/office/drawing/2014/main" id="{78FE5544-D5E3-45EE-9AED-55CB3A6F89FC}"/>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1" name="Arc 727">
                <a:extLst>
                  <a:ext uri="{FF2B5EF4-FFF2-40B4-BE49-F238E27FC236}">
                    <a16:creationId xmlns:a16="http://schemas.microsoft.com/office/drawing/2014/main" id="{6F0BBDE5-3964-4CB5-9409-06FC896277D3}"/>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7" name="Arc 728">
              <a:extLst>
                <a:ext uri="{FF2B5EF4-FFF2-40B4-BE49-F238E27FC236}">
                  <a16:creationId xmlns:a16="http://schemas.microsoft.com/office/drawing/2014/main" id="{AE041D2C-4E33-4EC4-ACAE-FF0AC0419782}"/>
                </a:ext>
              </a:extLst>
            </p:cNvPr>
            <p:cNvSpPr>
              <a:spLocks/>
            </p:cNvSpPr>
            <p:nvPr/>
          </p:nvSpPr>
          <p:spPr bwMode="auto">
            <a:xfrm flipH="1">
              <a:off x="4612" y="2476"/>
              <a:ext cx="551" cy="4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8" name="Arc 729">
              <a:extLst>
                <a:ext uri="{FF2B5EF4-FFF2-40B4-BE49-F238E27FC236}">
                  <a16:creationId xmlns:a16="http://schemas.microsoft.com/office/drawing/2014/main" id="{82EBC691-E3FE-411F-9F62-BFDCF3694FCF}"/>
                </a:ext>
              </a:extLst>
            </p:cNvPr>
            <p:cNvSpPr>
              <a:spLocks/>
            </p:cNvSpPr>
            <p:nvPr/>
          </p:nvSpPr>
          <p:spPr bwMode="auto">
            <a:xfrm flipH="1" flipV="1">
              <a:off x="4612" y="2916"/>
              <a:ext cx="328" cy="4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9" name="Arc 730">
              <a:extLst>
                <a:ext uri="{FF2B5EF4-FFF2-40B4-BE49-F238E27FC236}">
                  <a16:creationId xmlns:a16="http://schemas.microsoft.com/office/drawing/2014/main" id="{20B4224E-E067-4D22-B519-88139AEE4180}"/>
                </a:ext>
              </a:extLst>
            </p:cNvPr>
            <p:cNvSpPr>
              <a:spLocks/>
            </p:cNvSpPr>
            <p:nvPr/>
          </p:nvSpPr>
          <p:spPr bwMode="auto">
            <a:xfrm>
              <a:off x="5155" y="2476"/>
              <a:ext cx="510" cy="4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9" name="Group 8">
            <a:extLst>
              <a:ext uri="{FF2B5EF4-FFF2-40B4-BE49-F238E27FC236}">
                <a16:creationId xmlns:a16="http://schemas.microsoft.com/office/drawing/2014/main" id="{3123B08F-E62B-45B7-8CDC-7342D9368F8C}"/>
              </a:ext>
            </a:extLst>
          </p:cNvPr>
          <p:cNvGrpSpPr/>
          <p:nvPr/>
        </p:nvGrpSpPr>
        <p:grpSpPr>
          <a:xfrm>
            <a:off x="7771334" y="959658"/>
            <a:ext cx="2797175" cy="971377"/>
            <a:chOff x="0" y="-133812"/>
            <a:chExt cx="2797175" cy="971377"/>
          </a:xfrm>
        </p:grpSpPr>
        <p:cxnSp>
          <p:nvCxnSpPr>
            <p:cNvPr id="10" name="Line 2330">
              <a:extLst>
                <a:ext uri="{FF2B5EF4-FFF2-40B4-BE49-F238E27FC236}">
                  <a16:creationId xmlns:a16="http://schemas.microsoft.com/office/drawing/2014/main" id="{AB271930-EA26-432E-B92B-E37B54BE1006}"/>
                </a:ext>
              </a:extLst>
            </p:cNvPr>
            <p:cNvCxnSpPr>
              <a:cxnSpLocks noChangeShapeType="1"/>
            </p:cNvCxnSpPr>
            <p:nvPr/>
          </p:nvCxnSpPr>
          <p:spPr bwMode="auto">
            <a:xfrm>
              <a:off x="361950" y="438150"/>
              <a:ext cx="2391410" cy="1270"/>
            </a:xfrm>
            <a:prstGeom prst="line">
              <a:avLst/>
            </a:prstGeom>
            <a:noFill/>
            <a:ln w="38100">
              <a:solidFill>
                <a:srgbClr val="00B0F0"/>
              </a:solidFill>
              <a:round/>
              <a:headEnd type="none" w="sm" len="lg"/>
              <a:tailEnd type="arrow" w="sm" len="lg"/>
            </a:ln>
            <a:extLst>
              <a:ext uri="{909E8E84-426E-40DD-AFC4-6F175D3DCCD1}">
                <a14:hiddenFill xmlns:a14="http://schemas.microsoft.com/office/drawing/2010/main">
                  <a:noFill/>
                </a14:hiddenFill>
              </a:ext>
            </a:extLst>
          </p:spPr>
        </p:cxnSp>
        <p:cxnSp>
          <p:nvCxnSpPr>
            <p:cNvPr id="11" name="Line 2331">
              <a:extLst>
                <a:ext uri="{FF2B5EF4-FFF2-40B4-BE49-F238E27FC236}">
                  <a16:creationId xmlns:a16="http://schemas.microsoft.com/office/drawing/2014/main" id="{91232EA6-40A8-4207-96A0-B82928334A1C}"/>
                </a:ext>
              </a:extLst>
            </p:cNvPr>
            <p:cNvCxnSpPr>
              <a:cxnSpLocks noChangeShapeType="1"/>
            </p:cNvCxnSpPr>
            <p:nvPr/>
          </p:nvCxnSpPr>
          <p:spPr bwMode="auto">
            <a:xfrm rot="16200000" flipV="1">
              <a:off x="733425" y="66675"/>
              <a:ext cx="1270" cy="812800"/>
            </a:xfrm>
            <a:prstGeom prst="line">
              <a:avLst/>
            </a:prstGeom>
            <a:noFill/>
            <a:ln w="38100">
              <a:solidFill>
                <a:srgbClr val="C00000"/>
              </a:solidFill>
              <a:round/>
              <a:headEnd type="arrow" w="med" len="med"/>
              <a:tailEnd type="none" w="sm" len="me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14733243-B30D-40A1-B9F9-305F4BDEE5F5}"/>
                </a:ext>
              </a:extLst>
            </p:cNvPr>
            <p:cNvSpPr>
              <a:spLocks noChangeArrowheads="1"/>
            </p:cNvSpPr>
            <p:nvPr/>
          </p:nvSpPr>
          <p:spPr bwMode="auto">
            <a:xfrm>
              <a:off x="2190750" y="438150"/>
              <a:ext cx="560705" cy="38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5B851417-C9E2-4D9D-906A-E7E7312823AE}"/>
                </a:ext>
              </a:extLst>
            </p:cNvPr>
            <p:cNvSpPr>
              <a:spLocks noChangeArrowheads="1"/>
            </p:cNvSpPr>
            <p:nvPr/>
          </p:nvSpPr>
          <p:spPr bwMode="auto">
            <a:xfrm>
              <a:off x="0" y="247650"/>
              <a:ext cx="452755" cy="38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O</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CBC63BFC-4B71-4513-AA28-FB9E37304298}"/>
                </a:ext>
              </a:extLst>
            </p:cNvPr>
            <p:cNvSpPr>
              <a:spLocks noChangeArrowheads="1"/>
            </p:cNvSpPr>
            <p:nvPr/>
          </p:nvSpPr>
          <p:spPr bwMode="auto">
            <a:xfrm>
              <a:off x="819150" y="457200"/>
              <a:ext cx="560705" cy="38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5583C976-30D1-4E44-820D-FBE0C7B8F911}"/>
                </a:ext>
              </a:extLst>
            </p:cNvPr>
            <p:cNvSpPr>
              <a:spLocks noChangeArrowheads="1"/>
            </p:cNvSpPr>
            <p:nvPr/>
          </p:nvSpPr>
          <p:spPr bwMode="auto">
            <a:xfrm>
              <a:off x="419100" y="-133812"/>
              <a:ext cx="2378075" cy="38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80" name="Rectangle 79">
            <a:extLst>
              <a:ext uri="{FF2B5EF4-FFF2-40B4-BE49-F238E27FC236}">
                <a16:creationId xmlns:a16="http://schemas.microsoft.com/office/drawing/2014/main" id="{50760E1D-AFF6-462E-B283-2A4362708F0C}"/>
              </a:ext>
            </a:extLst>
          </p:cNvPr>
          <p:cNvSpPr/>
          <p:nvPr/>
        </p:nvSpPr>
        <p:spPr>
          <a:xfrm>
            <a:off x="-38068" y="926135"/>
            <a:ext cx="4226070" cy="924869"/>
          </a:xfrm>
          <a:prstGeom prst="rect">
            <a:avLst/>
          </a:prstGeom>
        </p:spPr>
        <p:txBody>
          <a:bodyPr wrap="square">
            <a:spAutoFit/>
          </a:bodyPr>
          <a:lstStyle/>
          <a:p>
            <a:pPr algn="just">
              <a:lnSpc>
                <a:spcPct val="115000"/>
              </a:lnSpc>
              <a:spcAft>
                <a:spcPts val="300"/>
              </a:spcAft>
              <a:tabLst>
                <a:tab pos="360045" algn="l"/>
              </a:tabLst>
            </a:pPr>
            <a:r>
              <a:rPr lang="en-GB" sz="2400" b="1" i="1" dirty="0">
                <a:solidFill>
                  <a:srgbClr val="002060"/>
                </a:solidFill>
                <a:latin typeface="Arial" panose="020B0604020202020204" pitchFamily="34" charset="0"/>
                <a:ea typeface="Calibri" panose="020F0502020204030204" pitchFamily="34" charset="0"/>
                <a:cs typeface="Arial" panose="020B0604020202020204" pitchFamily="34" charset="0"/>
              </a:rPr>
              <a:t> (1)	Resistor</a:t>
            </a:r>
            <a:endParaRPr lang="en-GB" sz="1000" dirty="0">
              <a:latin typeface="Arial" panose="020B0604020202020204" pitchFamily="34" charset="0"/>
              <a:ea typeface="Calibri" panose="020F0502020204030204" pitchFamily="34" charset="0"/>
              <a:cs typeface="Arial" panose="020B0604020202020204" pitchFamily="34" charset="0"/>
            </a:endParaRPr>
          </a:p>
          <a:p>
            <a:r>
              <a:rPr lang="en-GB" sz="2400" b="1" i="1" dirty="0">
                <a:solidFill>
                  <a:srgbClr val="002060"/>
                </a:solidFill>
                <a:latin typeface="Arial" panose="020B0604020202020204" pitchFamily="34" charset="0"/>
                <a:ea typeface="Calibri" panose="020F0502020204030204" pitchFamily="34" charset="0"/>
                <a:cs typeface="Arial" panose="020B0604020202020204" pitchFamily="34" charset="0"/>
              </a:rPr>
              <a:t>  V = R . I</a:t>
            </a:r>
            <a:r>
              <a:rPr lang="en-GB" sz="2400" b="1" i="1" baseline="-25000"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GB" sz="2400" dirty="0">
                <a:solidFill>
                  <a:srgbClr val="002060"/>
                </a:solidFill>
                <a:latin typeface="Arial" panose="020B0604020202020204" pitchFamily="34" charset="0"/>
                <a:ea typeface="Calibri" panose="020F0502020204030204" pitchFamily="34" charset="0"/>
                <a:cs typeface="Arial" panose="020B0604020202020204" pitchFamily="34" charset="0"/>
              </a:rPr>
              <a:t>with rms values</a:t>
            </a:r>
            <a:endParaRPr lang="en-GB" sz="2400" dirty="0">
              <a:latin typeface="Arial" panose="020B0604020202020204" pitchFamily="34" charset="0"/>
              <a:cs typeface="Arial" panose="020B0604020202020204" pitchFamily="34" charset="0"/>
            </a:endParaRPr>
          </a:p>
        </p:txBody>
      </p:sp>
      <p:sp>
        <p:nvSpPr>
          <p:cNvPr id="81" name="Rectangle 2">
            <a:extLst>
              <a:ext uri="{FF2B5EF4-FFF2-40B4-BE49-F238E27FC236}">
                <a16:creationId xmlns:a16="http://schemas.microsoft.com/office/drawing/2014/main" id="{F9FB27B0-C241-434F-8B66-E67A3B40E52A}"/>
              </a:ext>
            </a:extLst>
          </p:cNvPr>
          <p:cNvSpPr>
            <a:spLocks noChangeArrowheads="1"/>
          </p:cNvSpPr>
          <p:nvPr/>
        </p:nvSpPr>
        <p:spPr bwMode="auto">
          <a:xfrm flipV="1">
            <a:off x="-49519" y="2541135"/>
            <a:ext cx="67798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82" name="Object 81">
            <a:extLst>
              <a:ext uri="{FF2B5EF4-FFF2-40B4-BE49-F238E27FC236}">
                <a16:creationId xmlns:a16="http://schemas.microsoft.com/office/drawing/2014/main" id="{27EC2024-2EF3-4C2F-95D7-86F7051E8C0F}"/>
              </a:ext>
            </a:extLst>
          </p:cNvPr>
          <p:cNvGraphicFramePr>
            <a:graphicFrameLocks noChangeAspect="1"/>
          </p:cNvGraphicFramePr>
          <p:nvPr>
            <p:extLst>
              <p:ext uri="{D42A27DB-BD31-4B8C-83A1-F6EECF244321}">
                <p14:modId xmlns:p14="http://schemas.microsoft.com/office/powerpoint/2010/main" val="2998868636"/>
              </p:ext>
            </p:extLst>
          </p:nvPr>
        </p:nvGraphicFramePr>
        <p:xfrm>
          <a:off x="902981" y="2671988"/>
          <a:ext cx="1523060" cy="920332"/>
        </p:xfrm>
        <a:graphic>
          <a:graphicData uri="http://schemas.openxmlformats.org/presentationml/2006/ole">
            <mc:AlternateContent xmlns:mc="http://schemas.openxmlformats.org/markup-compatibility/2006">
              <mc:Choice xmlns:v="urn:schemas-microsoft-com:vml" Requires="v">
                <p:oleObj spid="_x0000_s18527" r:id="rId3" imgW="850531" imgH="393529" progId="Equation.3">
                  <p:embed/>
                </p:oleObj>
              </mc:Choice>
              <mc:Fallback>
                <p:oleObj r:id="rId3" imgW="850531" imgH="39352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981" y="2671988"/>
                        <a:ext cx="1523060" cy="920332"/>
                      </a:xfrm>
                      <a:prstGeom prst="rect">
                        <a:avLst/>
                      </a:prstGeom>
                      <a:noFill/>
                    </p:spPr>
                  </p:pic>
                </p:oleObj>
              </mc:Fallback>
            </mc:AlternateContent>
          </a:graphicData>
        </a:graphic>
      </p:graphicFrame>
      <p:sp>
        <p:nvSpPr>
          <p:cNvPr id="84" name="Rectangle 83">
            <a:extLst>
              <a:ext uri="{FF2B5EF4-FFF2-40B4-BE49-F238E27FC236}">
                <a16:creationId xmlns:a16="http://schemas.microsoft.com/office/drawing/2014/main" id="{8052E39C-94B8-48E7-A223-9C1FED369FC9}"/>
              </a:ext>
            </a:extLst>
          </p:cNvPr>
          <p:cNvSpPr/>
          <p:nvPr/>
        </p:nvSpPr>
        <p:spPr>
          <a:xfrm>
            <a:off x="64737" y="4246703"/>
            <a:ext cx="2416046" cy="461665"/>
          </a:xfrm>
          <a:prstGeom prst="rect">
            <a:avLst/>
          </a:prstGeom>
        </p:spPr>
        <p:txBody>
          <a:bodyPr wrap="none">
            <a:spAutoFit/>
          </a:bodyPr>
          <a:lstStyle/>
          <a:p>
            <a:pPr>
              <a:tabLst>
                <a:tab pos="803275" algn="l"/>
              </a:tabLst>
            </a:pPr>
            <a:r>
              <a:rPr lang="en-GB" sz="2400" b="1" i="1" dirty="0">
                <a:solidFill>
                  <a:srgbClr val="002060"/>
                </a:solidFill>
                <a:latin typeface="Arial" panose="020B0604020202020204" pitchFamily="34" charset="0"/>
                <a:ea typeface="Calibri" panose="020F0502020204030204" pitchFamily="34" charset="0"/>
                <a:cs typeface="Arial" panose="020B0604020202020204" pitchFamily="34" charset="0"/>
              </a:rPr>
              <a:t>(3)	Capacitor</a:t>
            </a:r>
            <a:endParaRPr lang="en-GB" sz="2400" dirty="0">
              <a:latin typeface="Arial" panose="020B0604020202020204" pitchFamily="34" charset="0"/>
              <a:cs typeface="Arial" panose="020B0604020202020204" pitchFamily="34" charset="0"/>
            </a:endParaRPr>
          </a:p>
        </p:txBody>
      </p:sp>
      <p:graphicFrame>
        <p:nvGraphicFramePr>
          <p:cNvPr id="85" name="Object 84">
            <a:extLst>
              <a:ext uri="{FF2B5EF4-FFF2-40B4-BE49-F238E27FC236}">
                <a16:creationId xmlns:a16="http://schemas.microsoft.com/office/drawing/2014/main" id="{F56507D6-586C-4E19-8F25-B76B63280684}"/>
              </a:ext>
            </a:extLst>
          </p:cNvPr>
          <p:cNvGraphicFramePr>
            <a:graphicFrameLocks noChangeAspect="1"/>
          </p:cNvGraphicFramePr>
          <p:nvPr>
            <p:extLst>
              <p:ext uri="{D42A27DB-BD31-4B8C-83A1-F6EECF244321}">
                <p14:modId xmlns:p14="http://schemas.microsoft.com/office/powerpoint/2010/main" val="2054216970"/>
              </p:ext>
            </p:extLst>
          </p:nvPr>
        </p:nvGraphicFramePr>
        <p:xfrm>
          <a:off x="583070" y="4640116"/>
          <a:ext cx="1933575" cy="1062037"/>
        </p:xfrm>
        <a:graphic>
          <a:graphicData uri="http://schemas.openxmlformats.org/presentationml/2006/ole">
            <mc:AlternateContent xmlns:mc="http://schemas.openxmlformats.org/markup-compatibility/2006">
              <mc:Choice xmlns:v="urn:schemas-microsoft-com:vml" Requires="v">
                <p:oleObj spid="_x0000_s18528" r:id="rId5" imgW="685800" imgH="393700" progId="">
                  <p:embed/>
                </p:oleObj>
              </mc:Choice>
              <mc:Fallback>
                <p:oleObj r:id="rId5" imgW="685800" imgH="393700" progId="">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070" y="4640116"/>
                        <a:ext cx="1933575" cy="1062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 name="Rectangle 90">
            <a:extLst>
              <a:ext uri="{FF2B5EF4-FFF2-40B4-BE49-F238E27FC236}">
                <a16:creationId xmlns:a16="http://schemas.microsoft.com/office/drawing/2014/main" id="{6996ACA7-0AE8-49B0-A9BA-51EB2C44F8CD}"/>
              </a:ext>
            </a:extLst>
          </p:cNvPr>
          <p:cNvSpPr/>
          <p:nvPr/>
        </p:nvSpPr>
        <p:spPr>
          <a:xfrm>
            <a:off x="658363" y="5882673"/>
            <a:ext cx="3680816" cy="461665"/>
          </a:xfrm>
          <a:prstGeom prst="rect">
            <a:avLst/>
          </a:prstGeom>
        </p:spPr>
        <p:txBody>
          <a:bodyPr wrap="none">
            <a:spAutoFit/>
          </a:bodyPr>
          <a:lstStyle/>
          <a:p>
            <a:r>
              <a:rPr lang="en-GB" sz="2400" b="1" i="1" dirty="0">
                <a:solidFill>
                  <a:srgbClr val="002060"/>
                </a:solidFill>
                <a:latin typeface="Calibri" panose="020F0502020204030204" pitchFamily="34" charset="0"/>
                <a:ea typeface="Calibri" panose="020F0502020204030204" pitchFamily="34" charset="0"/>
                <a:cs typeface="Times New Roman" panose="02020603050405020304" pitchFamily="18" charset="0"/>
              </a:rPr>
              <a:t>V =             .I  =           .</a:t>
            </a:r>
            <a:r>
              <a:rPr lang="en-GB" sz="2400" b="1" i="1" dirty="0"/>
              <a:t> I</a:t>
            </a:r>
            <a:r>
              <a:rPr lang="en-GB" sz="2400" b="1" i="1" dirty="0">
                <a:sym typeface="Symbol" panose="05050102010706020507" pitchFamily="18" charset="2"/>
              </a:rPr>
              <a:t></a:t>
            </a:r>
            <a:r>
              <a:rPr lang="en-GB" sz="2400" b="1" i="1" dirty="0"/>
              <a:t>-</a:t>
            </a:r>
            <a:r>
              <a:rPr lang="en-GB" sz="2400" i="1" dirty="0"/>
              <a:t>90</a:t>
            </a:r>
            <a:r>
              <a:rPr lang="en-GB" sz="2400" i="1" baseline="30000" dirty="0"/>
              <a:t>o</a:t>
            </a:r>
            <a:endParaRPr lang="en-GB" sz="2400" dirty="0"/>
          </a:p>
        </p:txBody>
      </p:sp>
      <p:sp>
        <p:nvSpPr>
          <p:cNvPr id="92" name="Rectangle 12">
            <a:extLst>
              <a:ext uri="{FF2B5EF4-FFF2-40B4-BE49-F238E27FC236}">
                <a16:creationId xmlns:a16="http://schemas.microsoft.com/office/drawing/2014/main" id="{10A62F0A-1E83-483B-8A39-538E4616A5A0}"/>
              </a:ext>
            </a:extLst>
          </p:cNvPr>
          <p:cNvSpPr>
            <a:spLocks noChangeArrowheads="1"/>
          </p:cNvSpPr>
          <p:nvPr/>
        </p:nvSpPr>
        <p:spPr bwMode="auto">
          <a:xfrm>
            <a:off x="1343062" y="58203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3" name="Object 92">
            <a:extLst>
              <a:ext uri="{FF2B5EF4-FFF2-40B4-BE49-F238E27FC236}">
                <a16:creationId xmlns:a16="http://schemas.microsoft.com/office/drawing/2014/main" id="{D6F25802-0ED6-4215-B72B-3325572DD4F2}"/>
              </a:ext>
            </a:extLst>
          </p:cNvPr>
          <p:cNvGraphicFramePr>
            <a:graphicFrameLocks noChangeAspect="1"/>
          </p:cNvGraphicFramePr>
          <p:nvPr>
            <p:extLst>
              <p:ext uri="{D42A27DB-BD31-4B8C-83A1-F6EECF244321}">
                <p14:modId xmlns:p14="http://schemas.microsoft.com/office/powerpoint/2010/main" val="2546794193"/>
              </p:ext>
            </p:extLst>
          </p:nvPr>
        </p:nvGraphicFramePr>
        <p:xfrm>
          <a:off x="1231552" y="5731147"/>
          <a:ext cx="781050" cy="828675"/>
        </p:xfrm>
        <a:graphic>
          <a:graphicData uri="http://schemas.openxmlformats.org/presentationml/2006/ole">
            <mc:AlternateContent xmlns:mc="http://schemas.openxmlformats.org/markup-compatibility/2006">
              <mc:Choice xmlns:v="urn:schemas-microsoft-com:vml" Requires="v">
                <p:oleObj spid="_x0000_s18529" r:id="rId7" imgW="444307" imgH="495085" progId="Equation.2">
                  <p:embed/>
                </p:oleObj>
              </mc:Choice>
              <mc:Fallback>
                <p:oleObj r:id="rId7" imgW="444307" imgH="495085" progId="Equation.2">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1552" y="5731147"/>
                        <a:ext cx="78105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 name="Rectangle 14">
            <a:extLst>
              <a:ext uri="{FF2B5EF4-FFF2-40B4-BE49-F238E27FC236}">
                <a16:creationId xmlns:a16="http://schemas.microsoft.com/office/drawing/2014/main" id="{ABB5EA0B-1361-480A-9992-A2BD7709ECE1}"/>
              </a:ext>
            </a:extLst>
          </p:cNvPr>
          <p:cNvSpPr>
            <a:spLocks noChangeArrowheads="1"/>
          </p:cNvSpPr>
          <p:nvPr/>
        </p:nvSpPr>
        <p:spPr bwMode="auto">
          <a:xfrm>
            <a:off x="2585791" y="58203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5" name="Object 94">
            <a:extLst>
              <a:ext uri="{FF2B5EF4-FFF2-40B4-BE49-F238E27FC236}">
                <a16:creationId xmlns:a16="http://schemas.microsoft.com/office/drawing/2014/main" id="{6E8C938C-4CC1-4B3A-A451-67439DEFEC29}"/>
              </a:ext>
            </a:extLst>
          </p:cNvPr>
          <p:cNvGraphicFramePr>
            <a:graphicFrameLocks noChangeAspect="1"/>
          </p:cNvGraphicFramePr>
          <p:nvPr>
            <p:extLst>
              <p:ext uri="{D42A27DB-BD31-4B8C-83A1-F6EECF244321}">
                <p14:modId xmlns:p14="http://schemas.microsoft.com/office/powerpoint/2010/main" val="638808126"/>
              </p:ext>
            </p:extLst>
          </p:nvPr>
        </p:nvGraphicFramePr>
        <p:xfrm>
          <a:off x="2585791" y="5731147"/>
          <a:ext cx="619125" cy="828675"/>
        </p:xfrm>
        <a:graphic>
          <a:graphicData uri="http://schemas.openxmlformats.org/presentationml/2006/ole">
            <mc:AlternateContent xmlns:mc="http://schemas.openxmlformats.org/markup-compatibility/2006">
              <mc:Choice xmlns:v="urn:schemas-microsoft-com:vml" Requires="v">
                <p:oleObj spid="_x0000_s18530" r:id="rId9" imgW="355292" imgH="494870" progId="Equation.2">
                  <p:embed/>
                </p:oleObj>
              </mc:Choice>
              <mc:Fallback>
                <p:oleObj r:id="rId9" imgW="355292" imgH="494870" progId="Equation.2">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85791" y="5731147"/>
                        <a:ext cx="619125" cy="828675"/>
                      </a:xfrm>
                      <a:prstGeom prst="rect">
                        <a:avLst/>
                      </a:prstGeom>
                      <a:noFill/>
                    </p:spPr>
                  </p:pic>
                </p:oleObj>
              </mc:Fallback>
            </mc:AlternateContent>
          </a:graphicData>
        </a:graphic>
      </p:graphicFrame>
    </p:spTree>
    <p:extLst>
      <p:ext uri="{BB962C8B-B14F-4D97-AF65-F5344CB8AC3E}">
        <p14:creationId xmlns:p14="http://schemas.microsoft.com/office/powerpoint/2010/main" val="2516425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45335"/>
            <a:ext cx="10924085" cy="482745"/>
          </a:xfrm>
        </p:spPr>
        <p:txBody>
          <a:bodyPr>
            <a:normAutofit fontScale="90000"/>
          </a:bodyPr>
          <a:lstStyle/>
          <a:p>
            <a:r>
              <a:rPr lang="en-GB" dirty="0"/>
              <a:t>Impedance and Admittance in an </a:t>
            </a:r>
            <a:r>
              <a:rPr lang="en-GB" dirty="0" err="1"/>
              <a:t>a.c</a:t>
            </a:r>
            <a:r>
              <a:rPr lang="en-GB" dirty="0"/>
              <a:t>. circuit</a:t>
            </a:r>
          </a:p>
        </p:txBody>
      </p:sp>
      <p:sp>
        <p:nvSpPr>
          <p:cNvPr id="3" name="Rectangle 2">
            <a:extLst>
              <a:ext uri="{FF2B5EF4-FFF2-40B4-BE49-F238E27FC236}">
                <a16:creationId xmlns:a16="http://schemas.microsoft.com/office/drawing/2014/main" id="{58134CF0-C515-4230-B640-69E644393140}"/>
              </a:ext>
            </a:extLst>
          </p:cNvPr>
          <p:cNvSpPr/>
          <p:nvPr/>
        </p:nvSpPr>
        <p:spPr>
          <a:xfrm>
            <a:off x="429714" y="894268"/>
            <a:ext cx="10924085" cy="1569660"/>
          </a:xfrm>
          <a:prstGeom prst="rect">
            <a:avLst/>
          </a:prstGeom>
        </p:spPr>
        <p:txBody>
          <a:bodyPr wrap="square">
            <a:spAutoFit/>
          </a:bodyPr>
          <a:lstStyle/>
          <a:p>
            <a:pPr algn="just"/>
            <a:r>
              <a:rPr lang="en-GB" sz="32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Impedance</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Z</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is a complex quantity.</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Relates complex rms voltage to complex rms current.   </a:t>
            </a:r>
          </a:p>
          <a:p>
            <a:pPr algn="just"/>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V  =  Z . I</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364DDDC-FA31-421D-B93D-915EF072ACFD}"/>
              </a:ext>
            </a:extLst>
          </p:cNvPr>
          <p:cNvSpPr/>
          <p:nvPr/>
        </p:nvSpPr>
        <p:spPr>
          <a:xfrm>
            <a:off x="429714" y="2377281"/>
            <a:ext cx="8714286" cy="1189108"/>
          </a:xfrm>
          <a:prstGeom prst="rect">
            <a:avLst/>
          </a:prstGeom>
        </p:spPr>
        <p:txBody>
          <a:bodyPr wrap="square">
            <a:spAutoFit/>
          </a:bodyPr>
          <a:lstStyle/>
          <a:p>
            <a:pPr algn="just">
              <a:lnSpc>
                <a:spcPct val="115000"/>
              </a:lnSpc>
            </a:pPr>
            <a:r>
              <a:rPr lang="en-GB" sz="32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Admittance</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is inverse of impedance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Z</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15000"/>
              </a:lnSpc>
            </a:pP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  =  Y . V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BB9CCB1F-CEA2-4B4D-AAA8-A88BC70D4B68}"/>
              </a:ext>
            </a:extLst>
          </p:cNvPr>
          <p:cNvGraphicFramePr>
            <a:graphicFrameLocks noChangeAspect="1"/>
          </p:cNvGraphicFramePr>
          <p:nvPr>
            <p:extLst>
              <p:ext uri="{D42A27DB-BD31-4B8C-83A1-F6EECF244321}">
                <p14:modId xmlns:p14="http://schemas.microsoft.com/office/powerpoint/2010/main" val="1735924326"/>
              </p:ext>
            </p:extLst>
          </p:nvPr>
        </p:nvGraphicFramePr>
        <p:xfrm>
          <a:off x="7856537" y="2171477"/>
          <a:ext cx="1287463" cy="1163638"/>
        </p:xfrm>
        <a:graphic>
          <a:graphicData uri="http://schemas.openxmlformats.org/presentationml/2006/ole">
            <mc:AlternateContent xmlns:mc="http://schemas.openxmlformats.org/markup-compatibility/2006">
              <mc:Choice xmlns:v="urn:schemas-microsoft-com:vml" Requires="v">
                <p:oleObj spid="_x0000_s19478" r:id="rId3" imgW="418918" imgH="393529" progId="">
                  <p:embed/>
                </p:oleObj>
              </mc:Choice>
              <mc:Fallback>
                <p:oleObj r:id="rId3" imgW="418918" imgH="393529"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6537" y="2171477"/>
                        <a:ext cx="128746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a:extLst>
              <a:ext uri="{FF2B5EF4-FFF2-40B4-BE49-F238E27FC236}">
                <a16:creationId xmlns:a16="http://schemas.microsoft.com/office/drawing/2014/main" id="{0B969687-632E-4F27-A447-FC9B46DF3A84}"/>
              </a:ext>
            </a:extLst>
          </p:cNvPr>
          <p:cNvSpPr/>
          <p:nvPr/>
        </p:nvSpPr>
        <p:spPr>
          <a:xfrm>
            <a:off x="429713" y="3544592"/>
            <a:ext cx="9361057" cy="3046988"/>
          </a:xfrm>
          <a:prstGeom prst="rect">
            <a:avLst/>
          </a:prstGeom>
        </p:spPr>
        <p:txBody>
          <a:bodyPr wrap="square">
            <a:spAutoFit/>
          </a:bodyPr>
          <a:lstStyle/>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 cartesian form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Z = R + j X</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 = G + j B</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Real part of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Z</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is </a:t>
            </a:r>
            <a:r>
              <a:rPr lang="en-GB" sz="32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resistive</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usually denoted by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Imaginary part of </a:t>
            </a:r>
            <a:r>
              <a:rPr lang="en-GB" sz="3200" b="1" i="1" dirty="0">
                <a:solidFill>
                  <a:srgbClr val="002060"/>
                </a:solidFill>
                <a:latin typeface="Times New Roman" panose="02020603050405020304" pitchFamily="18" charset="0"/>
                <a:ea typeface="Calibri" panose="020F0502020204030204" pitchFamily="34" charset="0"/>
              </a:rPr>
              <a:t>Z</a:t>
            </a:r>
            <a:r>
              <a:rPr lang="en-GB" sz="3200" dirty="0">
                <a:solidFill>
                  <a:srgbClr val="002060"/>
                </a:solidFill>
                <a:latin typeface="Times New Roman" panose="02020603050405020304" pitchFamily="18" charset="0"/>
                <a:ea typeface="Calibri" panose="020F0502020204030204" pitchFamily="34" charset="0"/>
              </a:rPr>
              <a:t> is called a </a:t>
            </a:r>
            <a:r>
              <a:rPr lang="en-GB" sz="3200" i="1" dirty="0">
                <a:solidFill>
                  <a:srgbClr val="002060"/>
                </a:solidFill>
                <a:latin typeface="Times New Roman" panose="02020603050405020304" pitchFamily="18" charset="0"/>
                <a:ea typeface="Calibri" panose="020F0502020204030204" pitchFamily="34" charset="0"/>
              </a:rPr>
              <a:t>reactance</a:t>
            </a:r>
            <a:r>
              <a:rPr lang="en-GB" sz="3200" dirty="0">
                <a:solidFill>
                  <a:srgbClr val="002060"/>
                </a:solidFill>
                <a:latin typeface="Times New Roman" panose="02020603050405020304" pitchFamily="18" charset="0"/>
                <a:ea typeface="Calibri" panose="020F0502020204030204" pitchFamily="34" charset="0"/>
              </a:rPr>
              <a:t> denoted by </a:t>
            </a:r>
            <a:r>
              <a:rPr lang="en-GB" sz="3200" b="1" i="1" dirty="0">
                <a:solidFill>
                  <a:srgbClr val="002060"/>
                </a:solidFill>
                <a:latin typeface="Times New Roman" panose="02020603050405020304" pitchFamily="18" charset="0"/>
                <a:ea typeface="Calibri" panose="020F0502020204030204" pitchFamily="34" charset="0"/>
              </a:rPr>
              <a:t>X</a:t>
            </a:r>
            <a:r>
              <a:rPr lang="en-GB" sz="3200" dirty="0">
                <a:solidFill>
                  <a:srgbClr val="002060"/>
                </a:solidFill>
                <a:latin typeface="Times New Roman" panose="02020603050405020304" pitchFamily="18" charset="0"/>
                <a:ea typeface="Calibri" panose="020F0502020204030204" pitchFamily="34" charset="0"/>
              </a:rPr>
              <a:t>.</a:t>
            </a:r>
          </a:p>
          <a:p>
            <a:r>
              <a:rPr lang="en-GB" sz="3200" dirty="0">
                <a:solidFill>
                  <a:srgbClr val="002060"/>
                </a:solidFill>
                <a:latin typeface="Times New Roman" panose="02020603050405020304" pitchFamily="18" charset="0"/>
              </a:rPr>
              <a:t>Real part of Y is a conductance, denoted by </a:t>
            </a:r>
            <a:r>
              <a:rPr lang="en-GB" sz="3200" b="1" dirty="0">
                <a:solidFill>
                  <a:srgbClr val="002060"/>
                </a:solidFill>
                <a:latin typeface="Times New Roman" panose="02020603050405020304" pitchFamily="18" charset="0"/>
              </a:rPr>
              <a:t>G</a:t>
            </a:r>
            <a:r>
              <a:rPr lang="en-GB" sz="3200" dirty="0">
                <a:solidFill>
                  <a:srgbClr val="002060"/>
                </a:solidFill>
                <a:latin typeface="Times New Roman" panose="02020603050405020304" pitchFamily="18" charset="0"/>
              </a:rPr>
              <a:t>, </a:t>
            </a:r>
          </a:p>
          <a:p>
            <a:r>
              <a:rPr lang="en-GB" sz="3200" dirty="0">
                <a:solidFill>
                  <a:srgbClr val="002060"/>
                </a:solidFill>
                <a:latin typeface="Times New Roman" panose="02020603050405020304" pitchFamily="18" charset="0"/>
              </a:rPr>
              <a:t>Imaginary part of Y is a </a:t>
            </a:r>
            <a:r>
              <a:rPr lang="en-GB" sz="3200" dirty="0" err="1">
                <a:solidFill>
                  <a:srgbClr val="002060"/>
                </a:solidFill>
                <a:latin typeface="Times New Roman" panose="02020603050405020304" pitchFamily="18" charset="0"/>
              </a:rPr>
              <a:t>susceptance</a:t>
            </a:r>
            <a:r>
              <a:rPr lang="en-GB" sz="3200" dirty="0">
                <a:solidFill>
                  <a:srgbClr val="002060"/>
                </a:solidFill>
                <a:latin typeface="Times New Roman" panose="02020603050405020304" pitchFamily="18" charset="0"/>
              </a:rPr>
              <a:t>, denoted by </a:t>
            </a:r>
            <a:r>
              <a:rPr lang="en-GB" sz="3200" b="1" dirty="0">
                <a:solidFill>
                  <a:srgbClr val="002060"/>
                </a:solidFill>
                <a:latin typeface="Times New Roman" panose="02020603050405020304" pitchFamily="18" charset="0"/>
              </a:rPr>
              <a:t>B</a:t>
            </a:r>
          </a:p>
        </p:txBody>
      </p:sp>
    </p:spTree>
    <p:extLst>
      <p:ext uri="{BB962C8B-B14F-4D97-AF65-F5344CB8AC3E}">
        <p14:creationId xmlns:p14="http://schemas.microsoft.com/office/powerpoint/2010/main" val="3152746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US" dirty="0"/>
              <a:t>Impedance and Admittance for R, L and C</a:t>
            </a:r>
            <a:endParaRPr lang="en-GB"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B1AFE80-CAC5-40DD-9D7E-1EF0DAB70C42}"/>
                  </a:ext>
                </a:extLst>
              </p:cNvPr>
              <p:cNvSpPr/>
              <p:nvPr/>
            </p:nvSpPr>
            <p:spPr>
              <a:xfrm>
                <a:off x="174884" y="1094986"/>
                <a:ext cx="9829408" cy="1470980"/>
              </a:xfrm>
              <a:prstGeom prst="rect">
                <a:avLst/>
              </a:prstGeom>
            </p:spPr>
            <p:txBody>
              <a:bodyPr wrap="square">
                <a:spAutoFit/>
              </a:bodyPr>
              <a:lstStyle/>
              <a:p>
                <a:r>
                  <a:rPr lang="en-GB" sz="3200" dirty="0">
                    <a:solidFill>
                      <a:srgbClr val="002060"/>
                    </a:solidFill>
                    <a:latin typeface="Times New Roman" panose="02020603050405020304" pitchFamily="18" charset="0"/>
                    <a:ea typeface="Calibri" panose="020F0502020204030204" pitchFamily="34" charset="0"/>
                  </a:rPr>
                  <a:t>Pure resistor has only resistive part and not reactive part.</a:t>
                </a:r>
              </a:p>
              <a:p>
                <a:r>
                  <a:rPr lang="en-GB" sz="3200" b="1" dirty="0">
                    <a:solidFill>
                      <a:srgbClr val="002060"/>
                    </a:solidFill>
                    <a:latin typeface="Times New Roman" panose="02020603050405020304" pitchFamily="18" charset="0"/>
                  </a:rPr>
                  <a:t>	Z = R + j 0     </a:t>
                </a:r>
                <a:r>
                  <a:rPr lang="en-GB" sz="3200" dirty="0">
                    <a:solidFill>
                      <a:srgbClr val="002060"/>
                    </a:solidFill>
                    <a:latin typeface="Times New Roman" panose="02020603050405020304" pitchFamily="18" charset="0"/>
                  </a:rPr>
                  <a:t>and    </a:t>
                </a:r>
                <a:r>
                  <a:rPr lang="en-GB" sz="3200" b="1" dirty="0">
                    <a:solidFill>
                      <a:srgbClr val="002060"/>
                    </a:solidFill>
                    <a:latin typeface="Times New Roman" panose="02020603050405020304" pitchFamily="18" charset="0"/>
                  </a:rPr>
                  <a:t>Y = </a:t>
                </a:r>
                <a14:m>
                  <m:oMath xmlns:m="http://schemas.openxmlformats.org/officeDocument/2006/math">
                    <m:f>
                      <m:fPr>
                        <m:ctrlPr>
                          <a:rPr lang="en-GB" sz="4000" b="1" i="1" smtClean="0">
                            <a:solidFill>
                              <a:srgbClr val="002060"/>
                            </a:solidFill>
                            <a:latin typeface="Cambria Math" panose="02040503050406030204" pitchFamily="18" charset="0"/>
                          </a:rPr>
                        </m:ctrlPr>
                      </m:fPr>
                      <m:num>
                        <m:r>
                          <a:rPr lang="en-US" sz="4000" b="1" i="1" smtClean="0">
                            <a:solidFill>
                              <a:srgbClr val="002060"/>
                            </a:solidFill>
                            <a:latin typeface="Cambria Math" panose="02040503050406030204" pitchFamily="18" charset="0"/>
                          </a:rPr>
                          <m:t>𝟏</m:t>
                        </m:r>
                      </m:num>
                      <m:den>
                        <m:r>
                          <a:rPr lang="en-US" sz="4000" b="1" i="1" smtClean="0">
                            <a:solidFill>
                              <a:srgbClr val="002060"/>
                            </a:solidFill>
                            <a:latin typeface="Cambria Math" panose="02040503050406030204" pitchFamily="18" charset="0"/>
                          </a:rPr>
                          <m:t>𝑹</m:t>
                        </m:r>
                      </m:den>
                    </m:f>
                  </m:oMath>
                </a14:m>
                <a:r>
                  <a:rPr lang="en-GB" sz="3200" b="1" dirty="0">
                    <a:solidFill>
                      <a:srgbClr val="002060"/>
                    </a:solidFill>
                    <a:latin typeface="Times New Roman" panose="02020603050405020304" pitchFamily="18" charset="0"/>
                  </a:rPr>
                  <a:t> + j 0		</a:t>
                </a:r>
                <a:r>
                  <a:rPr lang="en-GB" sz="3200" dirty="0">
                    <a:solidFill>
                      <a:srgbClr val="002060"/>
                    </a:solidFill>
                    <a:latin typeface="Times New Roman" panose="02020603050405020304" pitchFamily="18" charset="0"/>
                    <a:ea typeface="Calibri" panose="020F0502020204030204" pitchFamily="34" charset="0"/>
                  </a:rPr>
                  <a:t> for a resistor</a:t>
                </a:r>
                <a:endParaRPr lang="en-GB" sz="3200" b="1" dirty="0">
                  <a:solidFill>
                    <a:srgbClr val="002060"/>
                  </a:solidFill>
                  <a:latin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6B1AFE80-CAC5-40DD-9D7E-1EF0DAB70C42}"/>
                  </a:ext>
                </a:extLst>
              </p:cNvPr>
              <p:cNvSpPr>
                <a:spLocks noRot="1" noChangeAspect="1" noMove="1" noResize="1" noEditPoints="1" noAdjustHandles="1" noChangeArrowheads="1" noChangeShapeType="1" noTextEdit="1"/>
              </p:cNvSpPr>
              <p:nvPr/>
            </p:nvSpPr>
            <p:spPr>
              <a:xfrm>
                <a:off x="174884" y="1094986"/>
                <a:ext cx="9829408" cy="1470980"/>
              </a:xfrm>
              <a:prstGeom prst="rect">
                <a:avLst/>
              </a:prstGeom>
              <a:blipFill>
                <a:blip r:embed="rId3"/>
                <a:stretch>
                  <a:fillRect l="-1613" t="-5809" b="-166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C56223E-FBCC-43A5-A0EF-01970CB0463C}"/>
                  </a:ext>
                </a:extLst>
              </p:cNvPr>
              <p:cNvSpPr/>
              <p:nvPr/>
            </p:nvSpPr>
            <p:spPr>
              <a:xfrm>
                <a:off x="174883" y="2573653"/>
                <a:ext cx="11256764" cy="1851597"/>
              </a:xfrm>
              <a:prstGeom prst="rect">
                <a:avLst/>
              </a:prstGeom>
            </p:spPr>
            <p:txBody>
              <a:bodyPr wrap="square">
                <a:spAutoFit/>
              </a:bodyPr>
              <a:lstStyle/>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Pure inductor and pure capacitor have reactance only and not resistive part,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	</a:t>
                </a:r>
                <a:r>
                  <a:rPr lang="en-GB" sz="3200" b="1" dirty="0">
                    <a:solidFill>
                      <a:srgbClr val="002060"/>
                    </a:solidFill>
                    <a:latin typeface="Times New Roman" panose="02020603050405020304" pitchFamily="18" charset="0"/>
                    <a:ea typeface="Calibri" panose="020F0502020204030204" pitchFamily="34" charset="0"/>
                  </a:rPr>
                  <a:t>Z =  </a:t>
                </a:r>
                <a:r>
                  <a:rPr lang="en-GB" sz="3200" i="1" dirty="0" err="1">
                    <a:solidFill>
                      <a:srgbClr val="002060"/>
                    </a:solidFill>
                    <a:latin typeface="Times New Roman" panose="02020603050405020304" pitchFamily="18" charset="0"/>
                    <a:ea typeface="Calibri" panose="020F0502020204030204" pitchFamily="34" charset="0"/>
                  </a:rPr>
                  <a:t>j</a:t>
                </a:r>
                <a:r>
                  <a:rPr lang="en-GB" sz="3200"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i="1" dirty="0" err="1">
                    <a:solidFill>
                      <a:srgbClr val="002060"/>
                    </a:solidFill>
                    <a:latin typeface="Times New Roman" panose="02020603050405020304" pitchFamily="18" charset="0"/>
                    <a:ea typeface="Calibri" panose="020F0502020204030204" pitchFamily="34" charset="0"/>
                  </a:rPr>
                  <a:t>L</a:t>
                </a:r>
                <a:r>
                  <a:rPr lang="en-GB" sz="3200" i="1" dirty="0">
                    <a:solidFill>
                      <a:srgbClr val="002060"/>
                    </a:solidFill>
                    <a:latin typeface="Times New Roman" panose="02020603050405020304" pitchFamily="18" charset="0"/>
                    <a:ea typeface="Calibri" panose="020F0502020204030204" pitchFamily="34" charset="0"/>
                  </a:rPr>
                  <a:t>  =</a:t>
                </a:r>
                <a:r>
                  <a:rPr lang="en-GB" sz="3200" b="1" dirty="0">
                    <a:solidFill>
                      <a:srgbClr val="002060"/>
                    </a:solidFill>
                    <a:latin typeface="Times New Roman" panose="02020603050405020304" pitchFamily="18" charset="0"/>
                    <a:ea typeface="Calibri" panose="020F0502020204030204" pitchFamily="34" charset="0"/>
                  </a:rPr>
                  <a:t> 0 + </a:t>
                </a:r>
                <a:r>
                  <a:rPr lang="en-GB" sz="3200" b="1" dirty="0" err="1">
                    <a:solidFill>
                      <a:srgbClr val="002060"/>
                    </a:solidFill>
                    <a:latin typeface="Times New Roman" panose="02020603050405020304" pitchFamily="18" charset="0"/>
                    <a:ea typeface="Calibri" panose="020F0502020204030204" pitchFamily="34" charset="0"/>
                  </a:rPr>
                  <a:t>j</a:t>
                </a:r>
                <a:r>
                  <a:rPr lang="en-GB" sz="3200" b="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dirty="0" err="1">
                    <a:solidFill>
                      <a:srgbClr val="002060"/>
                    </a:solidFill>
                    <a:latin typeface="Times New Roman" panose="02020603050405020304" pitchFamily="18" charset="0"/>
                    <a:ea typeface="Calibri" panose="020F0502020204030204" pitchFamily="34" charset="0"/>
                  </a:rPr>
                  <a:t>L</a:t>
                </a:r>
                <a:r>
                  <a:rPr lang="en-GB" sz="3200" dirty="0">
                    <a:solidFill>
                      <a:srgbClr val="002060"/>
                    </a:solidFill>
                    <a:latin typeface="Times New Roman" panose="02020603050405020304" pitchFamily="18" charset="0"/>
                    <a:ea typeface="Calibri" panose="020F0502020204030204" pitchFamily="34" charset="0"/>
                  </a:rPr>
                  <a:t>  and </a:t>
                </a:r>
                <a:r>
                  <a:rPr lang="en-GB" sz="3200" b="1" dirty="0">
                    <a:solidFill>
                      <a:srgbClr val="002060"/>
                    </a:solidFill>
                    <a:latin typeface="Times New Roman" panose="02020603050405020304" pitchFamily="18" charset="0"/>
                  </a:rPr>
                  <a:t>Y = 0 </a:t>
                </a:r>
                <a:r>
                  <a:rPr lang="en-GB" sz="4800" b="1" dirty="0">
                    <a:solidFill>
                      <a:srgbClr val="002060"/>
                    </a:solidFill>
                    <a:latin typeface="Times New Roman" panose="02020603050405020304" pitchFamily="18" charset="0"/>
                  </a:rPr>
                  <a:t>-</a:t>
                </a:r>
                <a:r>
                  <a:rPr lang="en-GB" sz="3200" b="1" dirty="0">
                    <a:solidFill>
                      <a:srgbClr val="002060"/>
                    </a:solidFill>
                    <a:latin typeface="Times New Roman" panose="02020603050405020304" pitchFamily="18" charset="0"/>
                  </a:rPr>
                  <a:t>  </a:t>
                </a:r>
                <a14:m>
                  <m:oMath xmlns:m="http://schemas.openxmlformats.org/officeDocument/2006/math">
                    <m:f>
                      <m:fPr>
                        <m:ctrlPr>
                          <a:rPr lang="en-GB" sz="3200" b="1" i="1">
                            <a:solidFill>
                              <a:srgbClr val="002060"/>
                            </a:solidFill>
                            <a:latin typeface="Cambria Math" panose="02040503050406030204" pitchFamily="18" charset="0"/>
                          </a:rPr>
                        </m:ctrlPr>
                      </m:fPr>
                      <m:num>
                        <m:r>
                          <a:rPr lang="en-US" sz="3200" b="1" i="1">
                            <a:solidFill>
                              <a:srgbClr val="002060"/>
                            </a:solidFill>
                            <a:latin typeface="Cambria Math" panose="02040503050406030204" pitchFamily="18" charset="0"/>
                          </a:rPr>
                          <m:t>𝟏</m:t>
                        </m:r>
                      </m:num>
                      <m:den>
                        <m:r>
                          <a:rPr lang="en-US" sz="3200" b="1" i="1" smtClean="0">
                            <a:solidFill>
                              <a:srgbClr val="002060"/>
                            </a:solidFill>
                            <a:latin typeface="Cambria Math" panose="02040503050406030204" pitchFamily="18" charset="0"/>
                          </a:rPr>
                          <m:t>𝒋</m:t>
                        </m:r>
                        <m:r>
                          <m:rPr>
                            <m:nor/>
                          </m:rP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m:t></m:t>
                        </m:r>
                        <m:r>
                          <m:rPr>
                            <m:nor/>
                          </m:rPr>
                          <a:rPr lang="en-GB" sz="3200" b="1" dirty="0">
                            <a:solidFill>
                              <a:srgbClr val="002060"/>
                            </a:solidFill>
                            <a:latin typeface="Times New Roman" panose="02020603050405020304" pitchFamily="18" charset="0"/>
                            <a:ea typeface="Calibri" panose="020F0502020204030204" pitchFamily="34" charset="0"/>
                          </a:rPr>
                          <m:t>L</m:t>
                        </m:r>
                      </m:den>
                    </m:f>
                  </m:oMath>
                </a14:m>
                <a:r>
                  <a:rPr lang="en-GB" sz="2400" b="1" dirty="0">
                    <a:solidFill>
                      <a:srgbClr val="002060"/>
                    </a:solidFill>
                    <a:latin typeface="Times New Roman" panose="02020603050405020304" pitchFamily="18" charset="0"/>
                  </a:rPr>
                  <a:t>	</a:t>
                </a:r>
                <a:r>
                  <a:rPr lang="en-GB" sz="3200" b="1" dirty="0">
                    <a:solidFill>
                      <a:srgbClr val="002060"/>
                    </a:solidFill>
                    <a:latin typeface="Times New Roman" panose="02020603050405020304" pitchFamily="18" charset="0"/>
                  </a:rPr>
                  <a:t> </a:t>
                </a:r>
                <a:r>
                  <a:rPr lang="en-GB" sz="3200" dirty="0">
                    <a:solidFill>
                      <a:srgbClr val="002060"/>
                    </a:solidFill>
                    <a:latin typeface="Times New Roman" panose="02020603050405020304" pitchFamily="18" charset="0"/>
                    <a:ea typeface="Calibri" panose="020F0502020204030204" pitchFamily="34" charset="0"/>
                  </a:rPr>
                  <a:t>for an inductor</a:t>
                </a:r>
                <a:endParaRPr lang="en-GB" sz="3200" dirty="0"/>
              </a:p>
            </p:txBody>
          </p:sp>
        </mc:Choice>
        <mc:Fallback xmlns="">
          <p:sp>
            <p:nvSpPr>
              <p:cNvPr id="4" name="Rectangle 3">
                <a:extLst>
                  <a:ext uri="{FF2B5EF4-FFF2-40B4-BE49-F238E27FC236}">
                    <a16:creationId xmlns:a16="http://schemas.microsoft.com/office/drawing/2014/main" id="{BC56223E-FBCC-43A5-A0EF-01970CB0463C}"/>
                  </a:ext>
                </a:extLst>
              </p:cNvPr>
              <p:cNvSpPr>
                <a:spLocks noRot="1" noChangeAspect="1" noMove="1" noResize="1" noEditPoints="1" noAdjustHandles="1" noChangeArrowheads="1" noChangeShapeType="1" noTextEdit="1"/>
              </p:cNvSpPr>
              <p:nvPr/>
            </p:nvSpPr>
            <p:spPr>
              <a:xfrm>
                <a:off x="174883" y="2573653"/>
                <a:ext cx="11256764" cy="1851597"/>
              </a:xfrm>
              <a:prstGeom prst="rect">
                <a:avLst/>
              </a:prstGeom>
              <a:blipFill>
                <a:blip r:embed="rId4"/>
                <a:stretch>
                  <a:fillRect l="-1408" t="-4605" r="-1354" b="-11184"/>
                </a:stretch>
              </a:blipFill>
            </p:spPr>
            <p:txBody>
              <a:bodyPr/>
              <a:lstStyle/>
              <a:p>
                <a:r>
                  <a:rPr lang="en-GB">
                    <a:noFill/>
                  </a:rPr>
                  <a:t> </a:t>
                </a:r>
              </a:p>
            </p:txBody>
          </p:sp>
        </mc:Fallback>
      </mc:AlternateContent>
      <p:sp>
        <p:nvSpPr>
          <p:cNvPr id="5" name="Rectangle 4">
            <a:extLst>
              <a:ext uri="{FF2B5EF4-FFF2-40B4-BE49-F238E27FC236}">
                <a16:creationId xmlns:a16="http://schemas.microsoft.com/office/drawing/2014/main" id="{595DC123-A1A9-44AD-BD1C-9AE43507C0C2}"/>
              </a:ext>
            </a:extLst>
          </p:cNvPr>
          <p:cNvSpPr/>
          <p:nvPr/>
        </p:nvSpPr>
        <p:spPr>
          <a:xfrm>
            <a:off x="174883" y="5014661"/>
            <a:ext cx="10023065" cy="584775"/>
          </a:xfrm>
          <a:prstGeom prst="rect">
            <a:avLst/>
          </a:prstGeom>
        </p:spPr>
        <p:txBody>
          <a:bodyPr wrap="none">
            <a:spAutoFit/>
          </a:bodyPr>
          <a:lstStyle/>
          <a:p>
            <a:r>
              <a:rPr lang="en-GB" sz="3200" dirty="0">
                <a:solidFill>
                  <a:srgbClr val="002060"/>
                </a:solidFill>
                <a:latin typeface="Times New Roman" panose="02020603050405020304" pitchFamily="18" charset="0"/>
                <a:ea typeface="Calibri" panose="020F0502020204030204" pitchFamily="34" charset="0"/>
              </a:rPr>
              <a:t>and 	</a:t>
            </a:r>
            <a:r>
              <a:rPr lang="en-GB" sz="3200" b="1" dirty="0">
                <a:solidFill>
                  <a:srgbClr val="002060"/>
                </a:solidFill>
                <a:latin typeface="Times New Roman" panose="02020603050405020304" pitchFamily="18" charset="0"/>
                <a:ea typeface="Calibri" panose="020F0502020204030204" pitchFamily="34" charset="0"/>
              </a:rPr>
              <a:t>Z =         </a:t>
            </a:r>
            <a:r>
              <a:rPr lang="en-GB" sz="3200" dirty="0">
                <a:solidFill>
                  <a:srgbClr val="002060"/>
                </a:solidFill>
                <a:latin typeface="Times New Roman" panose="02020603050405020304" pitchFamily="18" charset="0"/>
                <a:ea typeface="Calibri" panose="020F0502020204030204" pitchFamily="34" charset="0"/>
              </a:rPr>
              <a:t> =</a:t>
            </a:r>
            <a:r>
              <a:rPr lang="en-GB" sz="3200" i="1" dirty="0">
                <a:solidFill>
                  <a:srgbClr val="002060"/>
                </a:solidFill>
                <a:latin typeface="Times New Roman" panose="02020603050405020304" pitchFamily="18" charset="0"/>
                <a:ea typeface="Calibri" panose="020F0502020204030204" pitchFamily="34" charset="0"/>
              </a:rPr>
              <a:t> </a:t>
            </a:r>
            <a:r>
              <a:rPr lang="en-GB" sz="3200" b="1" dirty="0">
                <a:solidFill>
                  <a:srgbClr val="002060"/>
                </a:solidFill>
                <a:latin typeface="Times New Roman" panose="02020603050405020304" pitchFamily="18" charset="0"/>
                <a:ea typeface="Calibri" panose="020F0502020204030204" pitchFamily="34" charset="0"/>
              </a:rPr>
              <a:t>0 – j        </a:t>
            </a:r>
            <a:r>
              <a:rPr lang="en-GB" sz="3200" b="1" i="1" dirty="0">
                <a:solidFill>
                  <a:srgbClr val="002060"/>
                </a:solidFill>
                <a:latin typeface="Times New Roman" panose="02020603050405020304" pitchFamily="18" charset="0"/>
                <a:ea typeface="Calibri" panose="020F0502020204030204" pitchFamily="34" charset="0"/>
              </a:rPr>
              <a:t> </a:t>
            </a:r>
            <a:r>
              <a:rPr lang="en-GB" sz="3200" dirty="0">
                <a:solidFill>
                  <a:srgbClr val="002060"/>
                </a:solidFill>
                <a:latin typeface="Times New Roman" panose="02020603050405020304" pitchFamily="18" charset="0"/>
                <a:ea typeface="Calibri" panose="020F0502020204030204" pitchFamily="34" charset="0"/>
              </a:rPr>
              <a:t>and</a:t>
            </a:r>
            <a:r>
              <a:rPr lang="en-GB" sz="3200" b="1" i="1" dirty="0">
                <a:solidFill>
                  <a:srgbClr val="002060"/>
                </a:solidFill>
                <a:latin typeface="Times New Roman" panose="02020603050405020304" pitchFamily="18" charset="0"/>
                <a:ea typeface="Calibri" panose="020F0502020204030204" pitchFamily="34" charset="0"/>
              </a:rPr>
              <a:t> </a:t>
            </a:r>
            <a:r>
              <a:rPr lang="en-GB" sz="3200" b="1" dirty="0">
                <a:solidFill>
                  <a:srgbClr val="002060"/>
                </a:solidFill>
                <a:latin typeface="Times New Roman" panose="02020603050405020304" pitchFamily="18" charset="0"/>
                <a:ea typeface="Calibri" panose="020F0502020204030204" pitchFamily="34" charset="0"/>
              </a:rPr>
              <a:t>Y </a:t>
            </a:r>
            <a:r>
              <a:rPr lang="en-GB" sz="3200" i="1" dirty="0">
                <a:solidFill>
                  <a:srgbClr val="002060"/>
                </a:solidFill>
                <a:latin typeface="Times New Roman" panose="02020603050405020304" pitchFamily="18" charset="0"/>
                <a:ea typeface="Calibri" panose="020F0502020204030204" pitchFamily="34" charset="0"/>
              </a:rPr>
              <a:t>=</a:t>
            </a:r>
            <a:r>
              <a:rPr lang="en-GB" sz="3200" b="1" dirty="0">
                <a:solidFill>
                  <a:srgbClr val="002060"/>
                </a:solidFill>
                <a:latin typeface="Times New Roman" panose="02020603050405020304" pitchFamily="18" charset="0"/>
                <a:ea typeface="Calibri" panose="020F0502020204030204" pitchFamily="34" charset="0"/>
              </a:rPr>
              <a:t> 0 + </a:t>
            </a:r>
            <a:r>
              <a:rPr lang="en-GB" sz="3200" b="1" dirty="0" err="1">
                <a:solidFill>
                  <a:srgbClr val="002060"/>
                </a:solidFill>
                <a:latin typeface="Times New Roman" panose="02020603050405020304" pitchFamily="18" charset="0"/>
                <a:ea typeface="Calibri" panose="020F0502020204030204" pitchFamily="34" charset="0"/>
              </a:rPr>
              <a:t>j</a:t>
            </a:r>
            <a:r>
              <a:rPr lang="en-GB" sz="3200" b="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b="1" dirty="0" err="1">
                <a:solidFill>
                  <a:srgbClr val="002060"/>
                </a:solidFill>
                <a:latin typeface="Times New Roman" panose="02020603050405020304" pitchFamily="18" charset="0"/>
                <a:ea typeface="Calibri" panose="020F0502020204030204" pitchFamily="34" charset="0"/>
              </a:rPr>
              <a:t>C</a:t>
            </a:r>
            <a:r>
              <a:rPr lang="en-GB" sz="3200" dirty="0">
                <a:solidFill>
                  <a:srgbClr val="002060"/>
                </a:solidFill>
                <a:latin typeface="Times New Roman" panose="02020603050405020304" pitchFamily="18" charset="0"/>
                <a:ea typeface="Calibri" panose="020F0502020204030204" pitchFamily="34" charset="0"/>
              </a:rPr>
              <a:t> for a capacitor</a:t>
            </a:r>
            <a:endParaRPr lang="en-GB" sz="3200" dirty="0"/>
          </a:p>
        </p:txBody>
      </p:sp>
      <p:graphicFrame>
        <p:nvGraphicFramePr>
          <p:cNvPr id="6" name="Object 5">
            <a:extLst>
              <a:ext uri="{FF2B5EF4-FFF2-40B4-BE49-F238E27FC236}">
                <a16:creationId xmlns:a16="http://schemas.microsoft.com/office/drawing/2014/main" id="{AC575660-185E-4984-A4BD-FB4F9C473CEB}"/>
              </a:ext>
            </a:extLst>
          </p:cNvPr>
          <p:cNvGraphicFramePr>
            <a:graphicFrameLocks noChangeAspect="1"/>
          </p:cNvGraphicFramePr>
          <p:nvPr>
            <p:extLst>
              <p:ext uri="{D42A27DB-BD31-4B8C-83A1-F6EECF244321}">
                <p14:modId xmlns:p14="http://schemas.microsoft.com/office/powerpoint/2010/main" val="2873839867"/>
              </p:ext>
            </p:extLst>
          </p:nvPr>
        </p:nvGraphicFramePr>
        <p:xfrm>
          <a:off x="2107195" y="4768885"/>
          <a:ext cx="942975" cy="1076325"/>
        </p:xfrm>
        <a:graphic>
          <a:graphicData uri="http://schemas.openxmlformats.org/presentationml/2006/ole">
            <mc:AlternateContent xmlns:mc="http://schemas.openxmlformats.org/markup-compatibility/2006">
              <mc:Choice xmlns:v="urn:schemas-microsoft-com:vml" Requires="v">
                <p:oleObj spid="_x0000_s20524" r:id="rId5" imgW="355446" imgH="431613" progId="">
                  <p:embed/>
                </p:oleObj>
              </mc:Choice>
              <mc:Fallback>
                <p:oleObj r:id="rId5" imgW="355446" imgH="431613" progId="">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7195" y="4768885"/>
                        <a:ext cx="942975"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118E2D98-24E5-4D71-B01B-41CB2F1C4FF5}"/>
              </a:ext>
            </a:extLst>
          </p:cNvPr>
          <p:cNvGraphicFramePr>
            <a:graphicFrameLocks noChangeAspect="1"/>
          </p:cNvGraphicFramePr>
          <p:nvPr>
            <p:extLst>
              <p:ext uri="{D42A27DB-BD31-4B8C-83A1-F6EECF244321}">
                <p14:modId xmlns:p14="http://schemas.microsoft.com/office/powerpoint/2010/main" val="2897423148"/>
              </p:ext>
            </p:extLst>
          </p:nvPr>
        </p:nvGraphicFramePr>
        <p:xfrm>
          <a:off x="4149383" y="4768885"/>
          <a:ext cx="838200" cy="1123950"/>
        </p:xfrm>
        <a:graphic>
          <a:graphicData uri="http://schemas.openxmlformats.org/presentationml/2006/ole">
            <mc:AlternateContent xmlns:mc="http://schemas.openxmlformats.org/markup-compatibility/2006">
              <mc:Choice xmlns:v="urn:schemas-microsoft-com:vml" Requires="v">
                <p:oleObj spid="_x0000_s20525" r:id="rId7" imgW="279279" imgH="431613" progId="">
                  <p:embed/>
                </p:oleObj>
              </mc:Choice>
              <mc:Fallback>
                <p:oleObj r:id="rId7" imgW="279279" imgH="431613" progId="">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9383" y="4768885"/>
                        <a:ext cx="8382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653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23033"/>
            <a:ext cx="10924085" cy="482745"/>
          </a:xfrm>
        </p:spPr>
        <p:txBody>
          <a:bodyPr>
            <a:normAutofit fontScale="90000"/>
          </a:bodyPr>
          <a:lstStyle/>
          <a:p>
            <a:r>
              <a:rPr lang="en-GB" dirty="0"/>
              <a:t>R-L series circuit</a:t>
            </a:r>
          </a:p>
        </p:txBody>
      </p:sp>
      <p:grpSp>
        <p:nvGrpSpPr>
          <p:cNvPr id="3" name="Group 2">
            <a:extLst>
              <a:ext uri="{FF2B5EF4-FFF2-40B4-BE49-F238E27FC236}">
                <a16:creationId xmlns:a16="http://schemas.microsoft.com/office/drawing/2014/main" id="{F76BFE85-8A86-4D7B-AB70-EA0F538CB5D6}"/>
              </a:ext>
            </a:extLst>
          </p:cNvPr>
          <p:cNvGrpSpPr>
            <a:grpSpLocks/>
          </p:cNvGrpSpPr>
          <p:nvPr/>
        </p:nvGrpSpPr>
        <p:grpSpPr bwMode="auto">
          <a:xfrm>
            <a:off x="7196636" y="875915"/>
            <a:ext cx="4565649" cy="1774185"/>
            <a:chOff x="1292" y="7896"/>
            <a:chExt cx="3215" cy="1249"/>
          </a:xfrm>
        </p:grpSpPr>
        <p:grpSp>
          <p:nvGrpSpPr>
            <p:cNvPr id="4" name="Group 3">
              <a:extLst>
                <a:ext uri="{FF2B5EF4-FFF2-40B4-BE49-F238E27FC236}">
                  <a16:creationId xmlns:a16="http://schemas.microsoft.com/office/drawing/2014/main" id="{D857B5D5-C2FD-4ED0-9237-DE5CA0622080}"/>
                </a:ext>
              </a:extLst>
            </p:cNvPr>
            <p:cNvGrpSpPr>
              <a:grpSpLocks/>
            </p:cNvGrpSpPr>
            <p:nvPr/>
          </p:nvGrpSpPr>
          <p:grpSpPr bwMode="auto">
            <a:xfrm>
              <a:off x="1292" y="8479"/>
              <a:ext cx="1648" cy="259"/>
              <a:chOff x="0" y="266"/>
              <a:chExt cx="19997" cy="19425"/>
            </a:xfrm>
          </p:grpSpPr>
          <p:cxnSp>
            <p:nvCxnSpPr>
              <p:cNvPr id="37" name="Line 1166">
                <a:extLst>
                  <a:ext uri="{FF2B5EF4-FFF2-40B4-BE49-F238E27FC236}">
                    <a16:creationId xmlns:a16="http://schemas.microsoft.com/office/drawing/2014/main" id="{A1339EAD-0130-4A87-A91A-524036E73FEB}"/>
                  </a:ext>
                </a:extLst>
              </p:cNvPr>
              <p:cNvCxnSpPr>
                <a:cxnSpLocks noChangeShapeType="1"/>
              </p:cNvCxnSpPr>
              <p:nvPr/>
            </p:nvCxnSpPr>
            <p:spPr bwMode="auto">
              <a:xfrm>
                <a:off x="0" y="9191"/>
                <a:ext cx="4356" cy="7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38" name="Line 1167">
                <a:extLst>
                  <a:ext uri="{FF2B5EF4-FFF2-40B4-BE49-F238E27FC236}">
                    <a16:creationId xmlns:a16="http://schemas.microsoft.com/office/drawing/2014/main" id="{21AF0618-565E-4B79-A91A-94D468AF6011}"/>
                  </a:ext>
                </a:extLst>
              </p:cNvPr>
              <p:cNvCxnSpPr>
                <a:cxnSpLocks noChangeShapeType="1"/>
              </p:cNvCxnSpPr>
              <p:nvPr/>
            </p:nvCxnSpPr>
            <p:spPr bwMode="auto">
              <a:xfrm flipV="1">
                <a:off x="4223" y="266"/>
                <a:ext cx="837" cy="900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39" name="Line 1168">
                <a:extLst>
                  <a:ext uri="{FF2B5EF4-FFF2-40B4-BE49-F238E27FC236}">
                    <a16:creationId xmlns:a16="http://schemas.microsoft.com/office/drawing/2014/main" id="{074307C6-1440-4A5E-AE4B-7A52407F7D99}"/>
                  </a:ext>
                </a:extLst>
              </p:cNvPr>
              <p:cNvCxnSpPr>
                <a:cxnSpLocks noChangeShapeType="1"/>
              </p:cNvCxnSpPr>
              <p:nvPr/>
            </p:nvCxnSpPr>
            <p:spPr bwMode="auto">
              <a:xfrm flipH="1" flipV="1">
                <a:off x="4914" y="266"/>
                <a:ext cx="1808"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0" name="Line 1169">
                <a:extLst>
                  <a:ext uri="{FF2B5EF4-FFF2-40B4-BE49-F238E27FC236}">
                    <a16:creationId xmlns:a16="http://schemas.microsoft.com/office/drawing/2014/main" id="{C425A145-AA62-4415-8672-55B10D1EE624}"/>
                  </a:ext>
                </a:extLst>
              </p:cNvPr>
              <p:cNvCxnSpPr>
                <a:cxnSpLocks noChangeShapeType="1"/>
              </p:cNvCxnSpPr>
              <p:nvPr/>
            </p:nvCxnSpPr>
            <p:spPr bwMode="auto">
              <a:xfrm flipV="1">
                <a:off x="6589" y="266"/>
                <a:ext cx="1807"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1" name="Line 1170">
                <a:extLst>
                  <a:ext uri="{FF2B5EF4-FFF2-40B4-BE49-F238E27FC236}">
                    <a16:creationId xmlns:a16="http://schemas.microsoft.com/office/drawing/2014/main" id="{5F0F69B9-F72B-4A1C-9EC6-10B34871BC3C}"/>
                  </a:ext>
                </a:extLst>
              </p:cNvPr>
              <p:cNvCxnSpPr>
                <a:cxnSpLocks noChangeShapeType="1"/>
              </p:cNvCxnSpPr>
              <p:nvPr/>
            </p:nvCxnSpPr>
            <p:spPr bwMode="auto">
              <a:xfrm flipH="1" flipV="1">
                <a:off x="8080" y="266"/>
                <a:ext cx="1808"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2" name="Line 1171">
                <a:extLst>
                  <a:ext uri="{FF2B5EF4-FFF2-40B4-BE49-F238E27FC236}">
                    <a16:creationId xmlns:a16="http://schemas.microsoft.com/office/drawing/2014/main" id="{0059F6A7-27DD-4BAC-ABDB-FD4ABDEFB593}"/>
                  </a:ext>
                </a:extLst>
              </p:cNvPr>
              <p:cNvCxnSpPr>
                <a:cxnSpLocks noChangeShapeType="1"/>
              </p:cNvCxnSpPr>
              <p:nvPr/>
            </p:nvCxnSpPr>
            <p:spPr bwMode="auto">
              <a:xfrm flipV="1">
                <a:off x="9876" y="266"/>
                <a:ext cx="1809"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3" name="Line 1172">
                <a:extLst>
                  <a:ext uri="{FF2B5EF4-FFF2-40B4-BE49-F238E27FC236}">
                    <a16:creationId xmlns:a16="http://schemas.microsoft.com/office/drawing/2014/main" id="{044D0D14-A7D0-4772-850B-DFBADBD9FA5F}"/>
                  </a:ext>
                </a:extLst>
              </p:cNvPr>
              <p:cNvCxnSpPr>
                <a:cxnSpLocks noChangeShapeType="1"/>
              </p:cNvCxnSpPr>
              <p:nvPr/>
            </p:nvCxnSpPr>
            <p:spPr bwMode="auto">
              <a:xfrm flipH="1" flipV="1">
                <a:off x="11490" y="266"/>
                <a:ext cx="1808"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4" name="Line 1173">
                <a:extLst>
                  <a:ext uri="{FF2B5EF4-FFF2-40B4-BE49-F238E27FC236}">
                    <a16:creationId xmlns:a16="http://schemas.microsoft.com/office/drawing/2014/main" id="{93B8211A-3223-466C-9279-90E07F3A0258}"/>
                  </a:ext>
                </a:extLst>
              </p:cNvPr>
              <p:cNvCxnSpPr>
                <a:cxnSpLocks noChangeShapeType="1"/>
              </p:cNvCxnSpPr>
              <p:nvPr/>
            </p:nvCxnSpPr>
            <p:spPr bwMode="auto">
              <a:xfrm flipV="1">
                <a:off x="13238" y="266"/>
                <a:ext cx="1808" cy="1942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5" name="Line 1174">
                <a:extLst>
                  <a:ext uri="{FF2B5EF4-FFF2-40B4-BE49-F238E27FC236}">
                    <a16:creationId xmlns:a16="http://schemas.microsoft.com/office/drawing/2014/main" id="{A7D940C6-8ED3-4747-9F0C-50F80E5AC8C0}"/>
                  </a:ext>
                </a:extLst>
              </p:cNvPr>
              <p:cNvCxnSpPr>
                <a:cxnSpLocks noChangeShapeType="1"/>
              </p:cNvCxnSpPr>
              <p:nvPr/>
            </p:nvCxnSpPr>
            <p:spPr bwMode="auto">
              <a:xfrm flipH="1">
                <a:off x="15641" y="9191"/>
                <a:ext cx="4356" cy="7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6" name="Line 1175">
                <a:extLst>
                  <a:ext uri="{FF2B5EF4-FFF2-40B4-BE49-F238E27FC236}">
                    <a16:creationId xmlns:a16="http://schemas.microsoft.com/office/drawing/2014/main" id="{59762F5A-BB48-478E-A6EF-5622994796FD}"/>
                  </a:ext>
                </a:extLst>
              </p:cNvPr>
              <p:cNvCxnSpPr>
                <a:cxnSpLocks noChangeShapeType="1"/>
              </p:cNvCxnSpPr>
              <p:nvPr/>
            </p:nvCxnSpPr>
            <p:spPr bwMode="auto">
              <a:xfrm flipH="1" flipV="1">
                <a:off x="14925" y="266"/>
                <a:ext cx="837" cy="900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grpSp>
        <p:grpSp>
          <p:nvGrpSpPr>
            <p:cNvPr id="5" name="Group 4">
              <a:extLst>
                <a:ext uri="{FF2B5EF4-FFF2-40B4-BE49-F238E27FC236}">
                  <a16:creationId xmlns:a16="http://schemas.microsoft.com/office/drawing/2014/main" id="{CB7DC5BB-7F82-4607-8831-903A6565CFC5}"/>
                </a:ext>
              </a:extLst>
            </p:cNvPr>
            <p:cNvGrpSpPr>
              <a:grpSpLocks/>
            </p:cNvGrpSpPr>
            <p:nvPr/>
          </p:nvGrpSpPr>
          <p:grpSpPr bwMode="auto">
            <a:xfrm>
              <a:off x="2954" y="8425"/>
              <a:ext cx="1553" cy="295"/>
              <a:chOff x="0" y="-35"/>
              <a:chExt cx="19999" cy="20060"/>
            </a:xfrm>
          </p:grpSpPr>
          <p:cxnSp>
            <p:nvCxnSpPr>
              <p:cNvPr id="16" name="Line 1177">
                <a:extLst>
                  <a:ext uri="{FF2B5EF4-FFF2-40B4-BE49-F238E27FC236}">
                    <a16:creationId xmlns:a16="http://schemas.microsoft.com/office/drawing/2014/main" id="{FA46DE55-2965-40A8-A127-60A0C4740F91}"/>
                  </a:ext>
                </a:extLst>
              </p:cNvPr>
              <p:cNvCxnSpPr>
                <a:cxnSpLocks noChangeShapeType="1"/>
              </p:cNvCxnSpPr>
              <p:nvPr/>
            </p:nvCxnSpPr>
            <p:spPr bwMode="auto">
              <a:xfrm>
                <a:off x="0" y="11729"/>
                <a:ext cx="4623" cy="68"/>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17" name="Line 1178">
                <a:extLst>
                  <a:ext uri="{FF2B5EF4-FFF2-40B4-BE49-F238E27FC236}">
                    <a16:creationId xmlns:a16="http://schemas.microsoft.com/office/drawing/2014/main" id="{37862D28-6043-4906-A1DC-92DFF821185D}"/>
                  </a:ext>
                </a:extLst>
              </p:cNvPr>
              <p:cNvCxnSpPr>
                <a:cxnSpLocks noChangeShapeType="1"/>
              </p:cNvCxnSpPr>
              <p:nvPr/>
            </p:nvCxnSpPr>
            <p:spPr bwMode="auto">
              <a:xfrm flipH="1">
                <a:off x="15376" y="11729"/>
                <a:ext cx="4623" cy="68"/>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sp>
            <p:nvSpPr>
              <p:cNvPr id="18" name="Arc 1179">
                <a:extLst>
                  <a:ext uri="{FF2B5EF4-FFF2-40B4-BE49-F238E27FC236}">
                    <a16:creationId xmlns:a16="http://schemas.microsoft.com/office/drawing/2014/main" id="{8C2D4CBC-5152-4F01-B25F-A847130E0559}"/>
                  </a:ext>
                </a:extLst>
              </p:cNvPr>
              <p:cNvSpPr>
                <a:spLocks/>
              </p:cNvSpPr>
              <p:nvPr/>
            </p:nvSpPr>
            <p:spPr bwMode="auto">
              <a:xfrm flipH="1">
                <a:off x="4327" y="373"/>
                <a:ext cx="1944" cy="102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19" name="Group 18">
                <a:extLst>
                  <a:ext uri="{FF2B5EF4-FFF2-40B4-BE49-F238E27FC236}">
                    <a16:creationId xmlns:a16="http://schemas.microsoft.com/office/drawing/2014/main" id="{9B009981-6259-4F2D-83E0-276266C5EF6E}"/>
                  </a:ext>
                </a:extLst>
              </p:cNvPr>
              <p:cNvGrpSpPr>
                <a:grpSpLocks/>
              </p:cNvGrpSpPr>
              <p:nvPr/>
            </p:nvGrpSpPr>
            <p:grpSpPr bwMode="auto">
              <a:xfrm>
                <a:off x="5639" y="-35"/>
                <a:ext cx="3491" cy="20060"/>
                <a:chOff x="-1" y="0"/>
                <a:chExt cx="20002" cy="19999"/>
              </a:xfrm>
            </p:grpSpPr>
            <p:grpSp>
              <p:nvGrpSpPr>
                <p:cNvPr id="32" name="Group 31">
                  <a:extLst>
                    <a:ext uri="{FF2B5EF4-FFF2-40B4-BE49-F238E27FC236}">
                      <a16:creationId xmlns:a16="http://schemas.microsoft.com/office/drawing/2014/main" id="{69A0292B-4AB4-4C92-8A8A-A671CF856187}"/>
                    </a:ext>
                  </a:extLst>
                </p:cNvPr>
                <p:cNvGrpSpPr>
                  <a:grpSpLocks/>
                </p:cNvGrpSpPr>
                <p:nvPr/>
              </p:nvGrpSpPr>
              <p:grpSpPr bwMode="auto">
                <a:xfrm>
                  <a:off x="4875" y="0"/>
                  <a:ext cx="7156" cy="19999"/>
                  <a:chOff x="0" y="0"/>
                  <a:chExt cx="20000" cy="19999"/>
                </a:xfrm>
              </p:grpSpPr>
              <p:sp>
                <p:nvSpPr>
                  <p:cNvPr id="35" name="Arc 1182">
                    <a:extLst>
                      <a:ext uri="{FF2B5EF4-FFF2-40B4-BE49-F238E27FC236}">
                        <a16:creationId xmlns:a16="http://schemas.microsoft.com/office/drawing/2014/main" id="{CD801616-59C7-4810-84C4-AFBB9F2758CD}"/>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6" name="Arc 1183">
                    <a:extLst>
                      <a:ext uri="{FF2B5EF4-FFF2-40B4-BE49-F238E27FC236}">
                        <a16:creationId xmlns:a16="http://schemas.microsoft.com/office/drawing/2014/main" id="{4309491A-6A75-47E3-BF32-EF45EF4E9E17}"/>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33" name="Arc 1184">
                  <a:extLst>
                    <a:ext uri="{FF2B5EF4-FFF2-40B4-BE49-F238E27FC236}">
                      <a16:creationId xmlns:a16="http://schemas.microsoft.com/office/drawing/2014/main" id="{8F96E8CB-607A-438C-9109-9CA166CC3BA5}"/>
                    </a:ext>
                  </a:extLst>
                </p:cNvPr>
                <p:cNvSpPr>
                  <a:spLocks/>
                </p:cNvSpPr>
                <p:nvPr/>
              </p:nvSpPr>
              <p:spPr bwMode="auto">
                <a:xfrm flipH="1">
                  <a:off x="-1" y="407"/>
                  <a:ext cx="20002"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4" name="Arc 1185">
                  <a:extLst>
                    <a:ext uri="{FF2B5EF4-FFF2-40B4-BE49-F238E27FC236}">
                      <a16:creationId xmlns:a16="http://schemas.microsoft.com/office/drawing/2014/main" id="{A1B80BEB-0A45-44CB-95AC-E03F21C6D654}"/>
                    </a:ext>
                  </a:extLst>
                </p:cNvPr>
                <p:cNvSpPr>
                  <a:spLocks/>
                </p:cNvSpPr>
                <p:nvPr/>
              </p:nvSpPr>
              <p:spPr bwMode="auto">
                <a:xfrm flipH="1" flipV="1">
                  <a:off x="-1" y="9762"/>
                  <a:ext cx="7168"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0" name="Group 19">
                <a:extLst>
                  <a:ext uri="{FF2B5EF4-FFF2-40B4-BE49-F238E27FC236}">
                    <a16:creationId xmlns:a16="http://schemas.microsoft.com/office/drawing/2014/main" id="{DEE9D96A-CC82-4201-A52E-7E86CD2A6E53}"/>
                  </a:ext>
                </a:extLst>
              </p:cNvPr>
              <p:cNvGrpSpPr>
                <a:grpSpLocks/>
              </p:cNvGrpSpPr>
              <p:nvPr/>
            </p:nvGrpSpPr>
            <p:grpSpPr bwMode="auto">
              <a:xfrm>
                <a:off x="8577" y="-35"/>
                <a:ext cx="3489" cy="20060"/>
                <a:chOff x="1" y="0"/>
                <a:chExt cx="19998" cy="19999"/>
              </a:xfrm>
            </p:grpSpPr>
            <p:grpSp>
              <p:nvGrpSpPr>
                <p:cNvPr id="27" name="Group 26">
                  <a:extLst>
                    <a:ext uri="{FF2B5EF4-FFF2-40B4-BE49-F238E27FC236}">
                      <a16:creationId xmlns:a16="http://schemas.microsoft.com/office/drawing/2014/main" id="{B6010700-BE37-40D9-8468-D74E7037A0E0}"/>
                    </a:ext>
                  </a:extLst>
                </p:cNvPr>
                <p:cNvGrpSpPr>
                  <a:grpSpLocks/>
                </p:cNvGrpSpPr>
                <p:nvPr/>
              </p:nvGrpSpPr>
              <p:grpSpPr bwMode="auto">
                <a:xfrm>
                  <a:off x="4867" y="0"/>
                  <a:ext cx="7165" cy="19999"/>
                  <a:chOff x="0" y="0"/>
                  <a:chExt cx="20000" cy="19999"/>
                </a:xfrm>
              </p:grpSpPr>
              <p:sp>
                <p:nvSpPr>
                  <p:cNvPr id="30" name="Arc 1188">
                    <a:extLst>
                      <a:ext uri="{FF2B5EF4-FFF2-40B4-BE49-F238E27FC236}">
                        <a16:creationId xmlns:a16="http://schemas.microsoft.com/office/drawing/2014/main" id="{9C2D4E08-42D6-4DBC-8792-A9405563D766}"/>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1" name="Arc 1189">
                    <a:extLst>
                      <a:ext uri="{FF2B5EF4-FFF2-40B4-BE49-F238E27FC236}">
                        <a16:creationId xmlns:a16="http://schemas.microsoft.com/office/drawing/2014/main" id="{06C4C3ED-1B71-4CB6-A1D5-6912558BFC82}"/>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8" name="Arc 1190">
                  <a:extLst>
                    <a:ext uri="{FF2B5EF4-FFF2-40B4-BE49-F238E27FC236}">
                      <a16:creationId xmlns:a16="http://schemas.microsoft.com/office/drawing/2014/main" id="{BF0CAB74-44C6-4D64-AE6E-D2AA792BCB07}"/>
                    </a:ext>
                  </a:extLst>
                </p:cNvPr>
                <p:cNvSpPr>
                  <a:spLocks/>
                </p:cNvSpPr>
                <p:nvPr/>
              </p:nvSpPr>
              <p:spPr bwMode="auto">
                <a:xfrm flipH="1">
                  <a:off x="1" y="407"/>
                  <a:ext cx="19998"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9" name="Arc 1191">
                  <a:extLst>
                    <a:ext uri="{FF2B5EF4-FFF2-40B4-BE49-F238E27FC236}">
                      <a16:creationId xmlns:a16="http://schemas.microsoft.com/office/drawing/2014/main" id="{ECBFA293-A83E-43AE-80E9-91A65A2CE6FA}"/>
                    </a:ext>
                  </a:extLst>
                </p:cNvPr>
                <p:cNvSpPr>
                  <a:spLocks/>
                </p:cNvSpPr>
                <p:nvPr/>
              </p:nvSpPr>
              <p:spPr bwMode="auto">
                <a:xfrm flipH="1" flipV="1">
                  <a:off x="1" y="9762"/>
                  <a:ext cx="7159"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1" name="Group 20">
                <a:extLst>
                  <a:ext uri="{FF2B5EF4-FFF2-40B4-BE49-F238E27FC236}">
                    <a16:creationId xmlns:a16="http://schemas.microsoft.com/office/drawing/2014/main" id="{4AD5F38D-846F-4B54-8CCD-327B8AB0D0A1}"/>
                  </a:ext>
                </a:extLst>
              </p:cNvPr>
              <p:cNvGrpSpPr>
                <a:grpSpLocks/>
              </p:cNvGrpSpPr>
              <p:nvPr/>
            </p:nvGrpSpPr>
            <p:grpSpPr bwMode="auto">
              <a:xfrm>
                <a:off x="12130" y="-35"/>
                <a:ext cx="1250" cy="20060"/>
                <a:chOff x="0" y="0"/>
                <a:chExt cx="20000" cy="19999"/>
              </a:xfrm>
            </p:grpSpPr>
            <p:sp>
              <p:nvSpPr>
                <p:cNvPr id="25" name="Arc 1193">
                  <a:extLst>
                    <a:ext uri="{FF2B5EF4-FFF2-40B4-BE49-F238E27FC236}">
                      <a16:creationId xmlns:a16="http://schemas.microsoft.com/office/drawing/2014/main" id="{30FE0A13-F3B0-4FDB-B4D5-51F5EE2C3B3E}"/>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6" name="Arc 1194">
                  <a:extLst>
                    <a:ext uri="{FF2B5EF4-FFF2-40B4-BE49-F238E27FC236}">
                      <a16:creationId xmlns:a16="http://schemas.microsoft.com/office/drawing/2014/main" id="{B7F825EF-981C-4319-A133-C88C868B094C}"/>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2" name="Arc 1195">
                <a:extLst>
                  <a:ext uri="{FF2B5EF4-FFF2-40B4-BE49-F238E27FC236}">
                    <a16:creationId xmlns:a16="http://schemas.microsoft.com/office/drawing/2014/main" id="{44A88014-3464-4901-957C-8AF831283FA5}"/>
                  </a:ext>
                </a:extLst>
              </p:cNvPr>
              <p:cNvSpPr>
                <a:spLocks/>
              </p:cNvSpPr>
              <p:nvPr/>
            </p:nvSpPr>
            <p:spPr bwMode="auto">
              <a:xfrm flipH="1">
                <a:off x="11281" y="373"/>
                <a:ext cx="2099" cy="986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3" name="Arc 1196">
                <a:extLst>
                  <a:ext uri="{FF2B5EF4-FFF2-40B4-BE49-F238E27FC236}">
                    <a16:creationId xmlns:a16="http://schemas.microsoft.com/office/drawing/2014/main" id="{E66C0743-5284-4941-89F4-A0176ED0D3D7}"/>
                  </a:ext>
                </a:extLst>
              </p:cNvPr>
              <p:cNvSpPr>
                <a:spLocks/>
              </p:cNvSpPr>
              <p:nvPr/>
            </p:nvSpPr>
            <p:spPr bwMode="auto">
              <a:xfrm flipH="1" flipV="1">
                <a:off x="11281" y="9757"/>
                <a:ext cx="1248" cy="102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4" name="Arc 1197">
                <a:extLst>
                  <a:ext uri="{FF2B5EF4-FFF2-40B4-BE49-F238E27FC236}">
                    <a16:creationId xmlns:a16="http://schemas.microsoft.com/office/drawing/2014/main" id="{D6B50BEA-F89B-4B63-A263-A9940E35AF94}"/>
                  </a:ext>
                </a:extLst>
              </p:cNvPr>
              <p:cNvSpPr>
                <a:spLocks/>
              </p:cNvSpPr>
              <p:nvPr/>
            </p:nvSpPr>
            <p:spPr bwMode="auto">
              <a:xfrm>
                <a:off x="13521" y="373"/>
                <a:ext cx="1944" cy="102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6" name="Rectangle 5">
              <a:extLst>
                <a:ext uri="{FF2B5EF4-FFF2-40B4-BE49-F238E27FC236}">
                  <a16:creationId xmlns:a16="http://schemas.microsoft.com/office/drawing/2014/main" id="{CD009512-AA83-4196-90AB-A0C6DECDDC17}"/>
                </a:ext>
              </a:extLst>
            </p:cNvPr>
            <p:cNvSpPr>
              <a:spLocks noChangeArrowheads="1"/>
            </p:cNvSpPr>
            <p:nvPr/>
          </p:nvSpPr>
          <p:spPr bwMode="auto">
            <a:xfrm>
              <a:off x="2054" y="8251"/>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64637493-AB9B-41E4-BBC3-AF150324E935}"/>
                </a:ext>
              </a:extLst>
            </p:cNvPr>
            <p:cNvSpPr>
              <a:spLocks noChangeArrowheads="1"/>
            </p:cNvSpPr>
            <p:nvPr/>
          </p:nvSpPr>
          <p:spPr bwMode="auto">
            <a:xfrm>
              <a:off x="3446" y="8136"/>
              <a:ext cx="421"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j</a:t>
              </a:r>
              <a:r>
                <a:rPr lang="en-GB" sz="2400" b="1"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Line 1200">
              <a:extLst>
                <a:ext uri="{FF2B5EF4-FFF2-40B4-BE49-F238E27FC236}">
                  <a16:creationId xmlns:a16="http://schemas.microsoft.com/office/drawing/2014/main" id="{17ADE2DF-0F3A-42E5-9657-90A477B26B6C}"/>
                </a:ext>
              </a:extLst>
            </p:cNvPr>
            <p:cNvCxnSpPr>
              <a:cxnSpLocks noChangeShapeType="1"/>
            </p:cNvCxnSpPr>
            <p:nvPr/>
          </p:nvCxnSpPr>
          <p:spPr bwMode="auto">
            <a:xfrm>
              <a:off x="2846" y="8599"/>
              <a:ext cx="199" cy="1"/>
            </a:xfrm>
            <a:prstGeom prst="line">
              <a:avLst/>
            </a:prstGeom>
            <a:noFill/>
            <a:ln w="34925">
              <a:solidFill>
                <a:srgbClr val="002060"/>
              </a:solidFill>
              <a:round/>
              <a:headEnd type="none" w="lg" len="lg"/>
              <a:tailEnd type="arrow" w="med" len="med"/>
            </a:ln>
            <a:extLst>
              <a:ext uri="{909E8E84-426E-40DD-AFC4-6F175D3DCCD1}">
                <a14:hiddenFill xmlns:a14="http://schemas.microsoft.com/office/drawing/2010/main">
                  <a:noFill/>
                </a14:hiddenFill>
              </a:ext>
            </a:extLst>
          </p:spPr>
        </p:cxnSp>
        <p:sp>
          <p:nvSpPr>
            <p:cNvPr id="9" name="Rectangle 8">
              <a:extLst>
                <a:ext uri="{FF2B5EF4-FFF2-40B4-BE49-F238E27FC236}">
                  <a16:creationId xmlns:a16="http://schemas.microsoft.com/office/drawing/2014/main" id="{D6BCC64E-9D29-40C6-A0BA-E52377F338EF}"/>
                </a:ext>
              </a:extLst>
            </p:cNvPr>
            <p:cNvSpPr>
              <a:spLocks noChangeArrowheads="1"/>
            </p:cNvSpPr>
            <p:nvPr/>
          </p:nvSpPr>
          <p:spPr bwMode="auto">
            <a:xfrm>
              <a:off x="2864" y="8261"/>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6C9411E-016F-4375-BFBF-C678F47AEFC2}"/>
                </a:ext>
              </a:extLst>
            </p:cNvPr>
            <p:cNvSpPr>
              <a:spLocks noChangeArrowheads="1"/>
            </p:cNvSpPr>
            <p:nvPr/>
          </p:nvSpPr>
          <p:spPr bwMode="auto">
            <a:xfrm>
              <a:off x="2006" y="8874"/>
              <a:ext cx="3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E8D7C4E8-30C0-4B33-BAA6-76CDD20B42E0}"/>
                </a:ext>
              </a:extLst>
            </p:cNvPr>
            <p:cNvSpPr>
              <a:spLocks noChangeArrowheads="1"/>
            </p:cNvSpPr>
            <p:nvPr/>
          </p:nvSpPr>
          <p:spPr bwMode="auto">
            <a:xfrm>
              <a:off x="3506" y="8844"/>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2" name="Line 1204">
              <a:extLst>
                <a:ext uri="{FF2B5EF4-FFF2-40B4-BE49-F238E27FC236}">
                  <a16:creationId xmlns:a16="http://schemas.microsoft.com/office/drawing/2014/main" id="{CCAC2B96-6CDA-4EAD-82C2-F298039C6DB6}"/>
                </a:ext>
              </a:extLst>
            </p:cNvPr>
            <p:cNvCxnSpPr>
              <a:cxnSpLocks noChangeShapeType="1"/>
            </p:cNvCxnSpPr>
            <p:nvPr/>
          </p:nvCxnSpPr>
          <p:spPr bwMode="auto">
            <a:xfrm>
              <a:off x="1646" y="8844"/>
              <a:ext cx="931" cy="1"/>
            </a:xfrm>
            <a:prstGeom prst="line">
              <a:avLst/>
            </a:prstGeom>
            <a:noFill/>
            <a:ln w="28575">
              <a:solidFill>
                <a:srgbClr val="002060"/>
              </a:solidFill>
              <a:round/>
              <a:headEnd type="arrow" w="lg" len="lg"/>
              <a:tailEnd type="none" w="lg" len="lg"/>
            </a:ln>
            <a:extLst>
              <a:ext uri="{909E8E84-426E-40DD-AFC4-6F175D3DCCD1}">
                <a14:hiddenFill xmlns:a14="http://schemas.microsoft.com/office/drawing/2010/main">
                  <a:noFill/>
                </a14:hiddenFill>
              </a:ext>
            </a:extLst>
          </p:spPr>
        </p:cxnSp>
        <p:cxnSp>
          <p:nvCxnSpPr>
            <p:cNvPr id="13" name="Line 1205">
              <a:extLst>
                <a:ext uri="{FF2B5EF4-FFF2-40B4-BE49-F238E27FC236}">
                  <a16:creationId xmlns:a16="http://schemas.microsoft.com/office/drawing/2014/main" id="{09DC11D2-5699-46B1-96F5-776B541D69AB}"/>
                </a:ext>
              </a:extLst>
            </p:cNvPr>
            <p:cNvCxnSpPr>
              <a:cxnSpLocks noChangeShapeType="1"/>
            </p:cNvCxnSpPr>
            <p:nvPr/>
          </p:nvCxnSpPr>
          <p:spPr bwMode="auto">
            <a:xfrm>
              <a:off x="3248" y="8815"/>
              <a:ext cx="93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14" name="Line 1206">
              <a:extLst>
                <a:ext uri="{FF2B5EF4-FFF2-40B4-BE49-F238E27FC236}">
                  <a16:creationId xmlns:a16="http://schemas.microsoft.com/office/drawing/2014/main" id="{EF753F65-0E10-4489-83F9-6F2F98B322E7}"/>
                </a:ext>
              </a:extLst>
            </p:cNvPr>
            <p:cNvCxnSpPr>
              <a:cxnSpLocks noChangeShapeType="1"/>
            </p:cNvCxnSpPr>
            <p:nvPr/>
          </p:nvCxnSpPr>
          <p:spPr bwMode="auto">
            <a:xfrm>
              <a:off x="1574" y="8125"/>
              <a:ext cx="2641" cy="1"/>
            </a:xfrm>
            <a:prstGeom prst="line">
              <a:avLst/>
            </a:prstGeom>
            <a:noFill/>
            <a:ln w="28575">
              <a:solidFill>
                <a:srgbClr val="002060"/>
              </a:solidFill>
              <a:round/>
              <a:headEnd type="arrow" w="lg" len="lg"/>
              <a:tailEnd type="none" w="lg" len="lg"/>
            </a:ln>
            <a:extLst>
              <a:ext uri="{909E8E84-426E-40DD-AFC4-6F175D3DCCD1}">
                <a14:hiddenFill xmlns:a14="http://schemas.microsoft.com/office/drawing/2010/main">
                  <a:noFill/>
                </a14:hiddenFill>
              </a:ext>
            </a:extLst>
          </p:spPr>
        </p:cxnSp>
        <p:sp>
          <p:nvSpPr>
            <p:cNvPr id="15" name="Rectangle 14">
              <a:extLst>
                <a:ext uri="{FF2B5EF4-FFF2-40B4-BE49-F238E27FC236}">
                  <a16:creationId xmlns:a16="http://schemas.microsoft.com/office/drawing/2014/main" id="{6C2D63AB-A171-4D83-A276-ECBC3B491420}"/>
                </a:ext>
              </a:extLst>
            </p:cNvPr>
            <p:cNvSpPr>
              <a:spLocks noChangeArrowheads="1"/>
            </p:cNvSpPr>
            <p:nvPr/>
          </p:nvSpPr>
          <p:spPr bwMode="auto">
            <a:xfrm>
              <a:off x="2822" y="7896"/>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47" name="Group 46">
            <a:extLst>
              <a:ext uri="{FF2B5EF4-FFF2-40B4-BE49-F238E27FC236}">
                <a16:creationId xmlns:a16="http://schemas.microsoft.com/office/drawing/2014/main" id="{B38D21A7-8823-489E-B048-6F3BB5C42EEE}"/>
              </a:ext>
            </a:extLst>
          </p:cNvPr>
          <p:cNvGrpSpPr>
            <a:grpSpLocks/>
          </p:cNvGrpSpPr>
          <p:nvPr/>
        </p:nvGrpSpPr>
        <p:grpSpPr bwMode="auto">
          <a:xfrm>
            <a:off x="6433107" y="4227783"/>
            <a:ext cx="2785110" cy="2385060"/>
            <a:chOff x="11831" y="4539"/>
            <a:chExt cx="4386" cy="3756"/>
          </a:xfrm>
        </p:grpSpPr>
        <p:cxnSp>
          <p:nvCxnSpPr>
            <p:cNvPr id="48" name="Line 1209">
              <a:extLst>
                <a:ext uri="{FF2B5EF4-FFF2-40B4-BE49-F238E27FC236}">
                  <a16:creationId xmlns:a16="http://schemas.microsoft.com/office/drawing/2014/main" id="{CBF5FEB7-3778-46B3-AC02-C6FA6C0189AE}"/>
                </a:ext>
              </a:extLst>
            </p:cNvPr>
            <p:cNvCxnSpPr>
              <a:cxnSpLocks noChangeShapeType="1"/>
            </p:cNvCxnSpPr>
            <p:nvPr/>
          </p:nvCxnSpPr>
          <p:spPr bwMode="auto">
            <a:xfrm>
              <a:off x="11887" y="6899"/>
              <a:ext cx="3398" cy="3"/>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sp>
          <p:nvSpPr>
            <p:cNvPr id="49" name="Rectangle 48">
              <a:extLst>
                <a:ext uri="{FF2B5EF4-FFF2-40B4-BE49-F238E27FC236}">
                  <a16:creationId xmlns:a16="http://schemas.microsoft.com/office/drawing/2014/main" id="{99CD8B0B-CAA4-4D64-A54F-AB9F7E2ADB04}"/>
                </a:ext>
              </a:extLst>
            </p:cNvPr>
            <p:cNvSpPr>
              <a:spLocks noChangeArrowheads="1"/>
            </p:cNvSpPr>
            <p:nvPr/>
          </p:nvSpPr>
          <p:spPr bwMode="auto">
            <a:xfrm>
              <a:off x="12949" y="6153"/>
              <a:ext cx="517"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0" name="Line 1211">
              <a:extLst>
                <a:ext uri="{FF2B5EF4-FFF2-40B4-BE49-F238E27FC236}">
                  <a16:creationId xmlns:a16="http://schemas.microsoft.com/office/drawing/2014/main" id="{54C26320-0D4D-453F-925E-8189C27CD473}"/>
                </a:ext>
              </a:extLst>
            </p:cNvPr>
            <p:cNvCxnSpPr>
              <a:cxnSpLocks noChangeShapeType="1"/>
            </p:cNvCxnSpPr>
            <p:nvPr/>
          </p:nvCxnSpPr>
          <p:spPr bwMode="auto">
            <a:xfrm>
              <a:off x="11923" y="6899"/>
              <a:ext cx="1433" cy="3"/>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cxnSp>
          <p:nvCxnSpPr>
            <p:cNvPr id="51" name="Line 1212">
              <a:extLst>
                <a:ext uri="{FF2B5EF4-FFF2-40B4-BE49-F238E27FC236}">
                  <a16:creationId xmlns:a16="http://schemas.microsoft.com/office/drawing/2014/main" id="{00B8DCEE-94F0-45B2-A2B4-AF82BB249950}"/>
                </a:ext>
              </a:extLst>
            </p:cNvPr>
            <p:cNvCxnSpPr>
              <a:cxnSpLocks noChangeShapeType="1"/>
            </p:cNvCxnSpPr>
            <p:nvPr/>
          </p:nvCxnSpPr>
          <p:spPr bwMode="auto">
            <a:xfrm flipV="1">
              <a:off x="15317" y="4795"/>
              <a:ext cx="3" cy="2104"/>
            </a:xfrm>
            <a:prstGeom prst="line">
              <a:avLst/>
            </a:prstGeom>
            <a:noFill/>
            <a:ln w="28575">
              <a:solidFill>
                <a:srgbClr val="002060"/>
              </a:solidFill>
              <a:prstDash val="sysDashDot"/>
              <a:round/>
              <a:headEnd type="none" w="sm" len="lg"/>
              <a:tailEnd type="arrow" w="sm" len="lg"/>
            </a:ln>
            <a:extLst>
              <a:ext uri="{909E8E84-426E-40DD-AFC4-6F175D3DCCD1}">
                <a14:hiddenFill xmlns:a14="http://schemas.microsoft.com/office/drawing/2010/main">
                  <a:noFill/>
                </a14:hiddenFill>
              </a:ext>
            </a:extLst>
          </p:spPr>
        </p:cxnSp>
        <p:cxnSp>
          <p:nvCxnSpPr>
            <p:cNvPr id="52" name="Line 1213">
              <a:extLst>
                <a:ext uri="{FF2B5EF4-FFF2-40B4-BE49-F238E27FC236}">
                  <a16:creationId xmlns:a16="http://schemas.microsoft.com/office/drawing/2014/main" id="{4B13749E-286F-4142-8516-0D6738D814D1}"/>
                </a:ext>
              </a:extLst>
            </p:cNvPr>
            <p:cNvCxnSpPr>
              <a:cxnSpLocks noChangeShapeType="1"/>
            </p:cNvCxnSpPr>
            <p:nvPr/>
          </p:nvCxnSpPr>
          <p:spPr bwMode="auto">
            <a:xfrm flipV="1">
              <a:off x="11831" y="4908"/>
              <a:ext cx="3454" cy="1943"/>
            </a:xfrm>
            <a:prstGeom prst="line">
              <a:avLst/>
            </a:prstGeom>
            <a:noFill/>
            <a:ln w="28575">
              <a:solidFill>
                <a:srgbClr val="00B0F0"/>
              </a:solidFill>
              <a:round/>
              <a:headEnd type="none" w="sm" len="lg"/>
              <a:tailEnd type="arrow" w="sm" len="lg"/>
            </a:ln>
            <a:extLst>
              <a:ext uri="{909E8E84-426E-40DD-AFC4-6F175D3DCCD1}">
                <a14:hiddenFill xmlns:a14="http://schemas.microsoft.com/office/drawing/2010/main">
                  <a:noFill/>
                </a14:hiddenFill>
              </a:ext>
            </a:extLst>
          </p:spPr>
        </p:cxnSp>
        <p:sp>
          <p:nvSpPr>
            <p:cNvPr id="53" name="Rectangle 52">
              <a:extLst>
                <a:ext uri="{FF2B5EF4-FFF2-40B4-BE49-F238E27FC236}">
                  <a16:creationId xmlns:a16="http://schemas.microsoft.com/office/drawing/2014/main" id="{A5E709F2-A32F-4475-B99A-625CB8848367}"/>
                </a:ext>
              </a:extLst>
            </p:cNvPr>
            <p:cNvSpPr>
              <a:spLocks noChangeArrowheads="1"/>
            </p:cNvSpPr>
            <p:nvPr/>
          </p:nvSpPr>
          <p:spPr bwMode="auto">
            <a:xfrm>
              <a:off x="14366" y="4539"/>
              <a:ext cx="884"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Rectangle 53">
              <a:extLst>
                <a:ext uri="{FF2B5EF4-FFF2-40B4-BE49-F238E27FC236}">
                  <a16:creationId xmlns:a16="http://schemas.microsoft.com/office/drawing/2014/main" id="{36C6D8C6-5FDE-4AB3-97C7-A9D19117E9B6}"/>
                </a:ext>
              </a:extLst>
            </p:cNvPr>
            <p:cNvSpPr>
              <a:spLocks noChangeArrowheads="1"/>
            </p:cNvSpPr>
            <p:nvPr/>
          </p:nvSpPr>
          <p:spPr bwMode="auto">
            <a:xfrm>
              <a:off x="15557" y="4795"/>
              <a:ext cx="660"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Rectangle 54">
              <a:extLst>
                <a:ext uri="{FF2B5EF4-FFF2-40B4-BE49-F238E27FC236}">
                  <a16:creationId xmlns:a16="http://schemas.microsoft.com/office/drawing/2014/main" id="{5D73F9F2-350E-45DA-98EE-958D9C2D9C89}"/>
                </a:ext>
              </a:extLst>
            </p:cNvPr>
            <p:cNvSpPr>
              <a:spLocks noChangeArrowheads="1"/>
            </p:cNvSpPr>
            <p:nvPr/>
          </p:nvSpPr>
          <p:spPr bwMode="auto">
            <a:xfrm>
              <a:off x="14310" y="6980"/>
              <a:ext cx="884"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EDBA2A61-A740-4981-9A49-6B21C3F4F457}"/>
                </a:ext>
              </a:extLst>
            </p:cNvPr>
            <p:cNvSpPr>
              <a:spLocks noChangeArrowheads="1"/>
            </p:cNvSpPr>
            <p:nvPr/>
          </p:nvSpPr>
          <p:spPr bwMode="auto">
            <a:xfrm>
              <a:off x="12747" y="7061"/>
              <a:ext cx="884"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7" name="Rectangle 56">
              <a:extLst>
                <a:ext uri="{FF2B5EF4-FFF2-40B4-BE49-F238E27FC236}">
                  <a16:creationId xmlns:a16="http://schemas.microsoft.com/office/drawing/2014/main" id="{7814EC97-643C-4B7F-8D53-111D2B224A1B}"/>
                </a:ext>
              </a:extLst>
            </p:cNvPr>
            <p:cNvSpPr>
              <a:spLocks noChangeArrowheads="1"/>
            </p:cNvSpPr>
            <p:nvPr/>
          </p:nvSpPr>
          <p:spPr bwMode="auto">
            <a:xfrm>
              <a:off x="11831" y="7597"/>
              <a:ext cx="3821"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8" name="Arc 1219">
              <a:extLst>
                <a:ext uri="{FF2B5EF4-FFF2-40B4-BE49-F238E27FC236}">
                  <a16:creationId xmlns:a16="http://schemas.microsoft.com/office/drawing/2014/main" id="{97FED83D-B19F-4A41-913E-A4549776A1A6}"/>
                </a:ext>
              </a:extLst>
            </p:cNvPr>
            <p:cNvSpPr>
              <a:spLocks/>
            </p:cNvSpPr>
            <p:nvPr/>
          </p:nvSpPr>
          <p:spPr bwMode="auto">
            <a:xfrm>
              <a:off x="13116" y="6104"/>
              <a:ext cx="372" cy="74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9" name="Line 1220">
              <a:extLst>
                <a:ext uri="{FF2B5EF4-FFF2-40B4-BE49-F238E27FC236}">
                  <a16:creationId xmlns:a16="http://schemas.microsoft.com/office/drawing/2014/main" id="{5910B233-1ECB-475A-B093-F73BD6A4BCD5}"/>
                </a:ext>
              </a:extLst>
            </p:cNvPr>
            <p:cNvCxnSpPr>
              <a:cxnSpLocks noChangeShapeType="1"/>
            </p:cNvCxnSpPr>
            <p:nvPr/>
          </p:nvCxnSpPr>
          <p:spPr bwMode="auto">
            <a:xfrm flipV="1">
              <a:off x="11887" y="4730"/>
              <a:ext cx="3" cy="2105"/>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sp>
          <p:nvSpPr>
            <p:cNvPr id="60" name="Rectangle 59">
              <a:extLst>
                <a:ext uri="{FF2B5EF4-FFF2-40B4-BE49-F238E27FC236}">
                  <a16:creationId xmlns:a16="http://schemas.microsoft.com/office/drawing/2014/main" id="{3907C1BF-DC59-477F-AD41-73D43C93FA54}"/>
                </a:ext>
              </a:extLst>
            </p:cNvPr>
            <p:cNvSpPr>
              <a:spLocks noChangeArrowheads="1"/>
            </p:cNvSpPr>
            <p:nvPr/>
          </p:nvSpPr>
          <p:spPr bwMode="auto">
            <a:xfrm>
              <a:off x="12125" y="4730"/>
              <a:ext cx="883"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61" name="Group 60">
            <a:extLst>
              <a:ext uri="{FF2B5EF4-FFF2-40B4-BE49-F238E27FC236}">
                <a16:creationId xmlns:a16="http://schemas.microsoft.com/office/drawing/2014/main" id="{3398A3A8-4B9A-4E12-8F6D-380AF1BC00F2}"/>
              </a:ext>
            </a:extLst>
          </p:cNvPr>
          <p:cNvGrpSpPr>
            <a:grpSpLocks/>
          </p:cNvGrpSpPr>
          <p:nvPr/>
        </p:nvGrpSpPr>
        <p:grpSpPr bwMode="auto">
          <a:xfrm>
            <a:off x="8756144" y="2824503"/>
            <a:ext cx="3238501" cy="2431542"/>
            <a:chOff x="9504" y="2795"/>
            <a:chExt cx="6490" cy="4129"/>
          </a:xfrm>
        </p:grpSpPr>
        <p:sp>
          <p:nvSpPr>
            <p:cNvPr id="62" name="Rectangle 61">
              <a:extLst>
                <a:ext uri="{FF2B5EF4-FFF2-40B4-BE49-F238E27FC236}">
                  <a16:creationId xmlns:a16="http://schemas.microsoft.com/office/drawing/2014/main" id="{91751AF3-0FF2-47F0-9DBF-3535E0992D09}"/>
                </a:ext>
              </a:extLst>
            </p:cNvPr>
            <p:cNvSpPr>
              <a:spLocks noChangeArrowheads="1"/>
            </p:cNvSpPr>
            <p:nvPr/>
          </p:nvSpPr>
          <p:spPr bwMode="auto">
            <a:xfrm>
              <a:off x="11022" y="3620"/>
              <a:ext cx="622"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3" name="Arc 1907">
              <a:extLst>
                <a:ext uri="{FF2B5EF4-FFF2-40B4-BE49-F238E27FC236}">
                  <a16:creationId xmlns:a16="http://schemas.microsoft.com/office/drawing/2014/main" id="{6BBCDDAB-9DEE-4A8D-B5E6-9269EE92CC77}"/>
                </a:ext>
              </a:extLst>
            </p:cNvPr>
            <p:cNvSpPr>
              <a:spLocks/>
            </p:cNvSpPr>
            <p:nvPr/>
          </p:nvSpPr>
          <p:spPr bwMode="auto">
            <a:xfrm flipV="1">
              <a:off x="11220" y="3769"/>
              <a:ext cx="424" cy="68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64" name="Rectangle 63">
              <a:extLst>
                <a:ext uri="{FF2B5EF4-FFF2-40B4-BE49-F238E27FC236}">
                  <a16:creationId xmlns:a16="http://schemas.microsoft.com/office/drawing/2014/main" id="{C4E7A4C0-CDB9-4A34-BAA8-EB9D0B91D272}"/>
                </a:ext>
              </a:extLst>
            </p:cNvPr>
            <p:cNvSpPr>
              <a:spLocks noChangeArrowheads="1"/>
            </p:cNvSpPr>
            <p:nvPr/>
          </p:nvSpPr>
          <p:spPr bwMode="auto">
            <a:xfrm>
              <a:off x="10430" y="6043"/>
              <a:ext cx="4585" cy="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dirty="0">
                  <a:solidFill>
                    <a:srgbClr val="002060"/>
                  </a:solidFill>
                  <a:effectLst/>
                  <a:latin typeface="Arial" panose="020B0604020202020204" pitchFamily="34" charset="0"/>
                  <a:ea typeface="Calibri" panose="020F0502020204030204" pitchFamily="34" charset="0"/>
                  <a:cs typeface="Arial" panose="020B0604020202020204" pitchFamily="34" charset="0"/>
                </a:rPr>
                <a:t>Phasor diagram</a:t>
              </a:r>
              <a:endParaRPr lang="en-GB" sz="1050" dirty="0">
                <a:effectLst/>
                <a:latin typeface="Arial" panose="020B0604020202020204" pitchFamily="34" charset="0"/>
                <a:ea typeface="Calibri" panose="020F050202020403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242358D3-2ABC-439F-890C-9330C800C7E8}"/>
                </a:ext>
              </a:extLst>
            </p:cNvPr>
            <p:cNvSpPr>
              <a:spLocks noChangeArrowheads="1"/>
            </p:cNvSpPr>
            <p:nvPr/>
          </p:nvSpPr>
          <p:spPr bwMode="auto">
            <a:xfrm>
              <a:off x="14281" y="2795"/>
              <a:ext cx="1061"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6" name="Rectangle 65">
              <a:extLst>
                <a:ext uri="{FF2B5EF4-FFF2-40B4-BE49-F238E27FC236}">
                  <a16:creationId xmlns:a16="http://schemas.microsoft.com/office/drawing/2014/main" id="{7C5B30F4-7424-4389-B2AE-8EEDF47E838A}"/>
                </a:ext>
              </a:extLst>
            </p:cNvPr>
            <p:cNvSpPr>
              <a:spLocks noChangeArrowheads="1"/>
            </p:cNvSpPr>
            <p:nvPr/>
          </p:nvSpPr>
          <p:spPr bwMode="auto">
            <a:xfrm>
              <a:off x="15162" y="3982"/>
              <a:ext cx="832"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Rectangle 66">
              <a:extLst>
                <a:ext uri="{FF2B5EF4-FFF2-40B4-BE49-F238E27FC236}">
                  <a16:creationId xmlns:a16="http://schemas.microsoft.com/office/drawing/2014/main" id="{866E2934-25B7-43DC-9AC3-70AD01FBB59A}"/>
                </a:ext>
              </a:extLst>
            </p:cNvPr>
            <p:cNvSpPr>
              <a:spLocks noChangeArrowheads="1"/>
            </p:cNvSpPr>
            <p:nvPr/>
          </p:nvSpPr>
          <p:spPr bwMode="auto">
            <a:xfrm>
              <a:off x="12278" y="5134"/>
              <a:ext cx="1060"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8" name="Rectangle 67">
              <a:extLst>
                <a:ext uri="{FF2B5EF4-FFF2-40B4-BE49-F238E27FC236}">
                  <a16:creationId xmlns:a16="http://schemas.microsoft.com/office/drawing/2014/main" id="{B30C3AD0-42D1-41E9-9B64-B014D0933D6C}"/>
                </a:ext>
              </a:extLst>
            </p:cNvPr>
            <p:cNvSpPr>
              <a:spLocks noChangeArrowheads="1"/>
            </p:cNvSpPr>
            <p:nvPr/>
          </p:nvSpPr>
          <p:spPr bwMode="auto">
            <a:xfrm>
              <a:off x="10240" y="4267"/>
              <a:ext cx="1060"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9" name="Line 1913">
              <a:extLst>
                <a:ext uri="{FF2B5EF4-FFF2-40B4-BE49-F238E27FC236}">
                  <a16:creationId xmlns:a16="http://schemas.microsoft.com/office/drawing/2014/main" id="{CE7815BF-B562-4A20-91D1-CDA70A6B2396}"/>
                </a:ext>
              </a:extLst>
            </p:cNvPr>
            <p:cNvCxnSpPr>
              <a:cxnSpLocks noChangeShapeType="1"/>
            </p:cNvCxnSpPr>
            <p:nvPr/>
          </p:nvCxnSpPr>
          <p:spPr bwMode="auto">
            <a:xfrm>
              <a:off x="9504" y="3685"/>
              <a:ext cx="5665" cy="4"/>
            </a:xfrm>
            <a:prstGeom prst="line">
              <a:avLst/>
            </a:prstGeom>
            <a:noFill/>
            <a:ln w="28575">
              <a:solidFill>
                <a:srgbClr val="00B0F0"/>
              </a:solidFill>
              <a:round/>
              <a:headEnd type="none" w="sm" len="lg"/>
              <a:tailEnd type="arrow" w="sm" len="lg"/>
            </a:ln>
            <a:extLst>
              <a:ext uri="{909E8E84-426E-40DD-AFC4-6F175D3DCCD1}">
                <a14:hiddenFill xmlns:a14="http://schemas.microsoft.com/office/drawing/2010/main">
                  <a:noFill/>
                </a14:hiddenFill>
              </a:ext>
            </a:extLst>
          </p:spPr>
        </p:cxnSp>
        <p:cxnSp>
          <p:nvCxnSpPr>
            <p:cNvPr id="70" name="Line 1914">
              <a:extLst>
                <a:ext uri="{FF2B5EF4-FFF2-40B4-BE49-F238E27FC236}">
                  <a16:creationId xmlns:a16="http://schemas.microsoft.com/office/drawing/2014/main" id="{CC2EAD13-76CA-49AE-9A73-F5D76EF162E3}"/>
                </a:ext>
              </a:extLst>
            </p:cNvPr>
            <p:cNvCxnSpPr>
              <a:cxnSpLocks noChangeShapeType="1"/>
            </p:cNvCxnSpPr>
            <p:nvPr/>
          </p:nvCxnSpPr>
          <p:spPr bwMode="auto">
            <a:xfrm>
              <a:off x="9504" y="3741"/>
              <a:ext cx="4230" cy="1824"/>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71" name="Line 1915">
              <a:extLst>
                <a:ext uri="{FF2B5EF4-FFF2-40B4-BE49-F238E27FC236}">
                  <a16:creationId xmlns:a16="http://schemas.microsoft.com/office/drawing/2014/main" id="{03F16066-AAD7-4E82-9EC2-9030CB4D8391}"/>
                </a:ext>
              </a:extLst>
            </p:cNvPr>
            <p:cNvCxnSpPr>
              <a:cxnSpLocks noChangeShapeType="1"/>
            </p:cNvCxnSpPr>
            <p:nvPr/>
          </p:nvCxnSpPr>
          <p:spPr bwMode="auto">
            <a:xfrm flipV="1">
              <a:off x="13691" y="3741"/>
              <a:ext cx="1434" cy="1821"/>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72" name="Line 1916">
              <a:extLst>
                <a:ext uri="{FF2B5EF4-FFF2-40B4-BE49-F238E27FC236}">
                  <a16:creationId xmlns:a16="http://schemas.microsoft.com/office/drawing/2014/main" id="{73DCAAB4-15A7-46E2-9978-FB993F5906D3}"/>
                </a:ext>
              </a:extLst>
            </p:cNvPr>
            <p:cNvCxnSpPr>
              <a:cxnSpLocks noChangeShapeType="1"/>
            </p:cNvCxnSpPr>
            <p:nvPr/>
          </p:nvCxnSpPr>
          <p:spPr bwMode="auto">
            <a:xfrm>
              <a:off x="9547" y="3741"/>
              <a:ext cx="1503" cy="652"/>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grpSp>
      <p:sp>
        <p:nvSpPr>
          <p:cNvPr id="73" name="Rectangle 72">
            <a:extLst>
              <a:ext uri="{FF2B5EF4-FFF2-40B4-BE49-F238E27FC236}">
                <a16:creationId xmlns:a16="http://schemas.microsoft.com/office/drawing/2014/main" id="{AB0A43E7-073F-499B-A1AE-109D25647934}"/>
              </a:ext>
            </a:extLst>
          </p:cNvPr>
          <p:cNvSpPr/>
          <p:nvPr/>
        </p:nvSpPr>
        <p:spPr>
          <a:xfrm>
            <a:off x="215100" y="640622"/>
            <a:ext cx="6674569" cy="3046988"/>
          </a:xfrm>
          <a:prstGeom prst="rect">
            <a:avLst/>
          </a:prstGeom>
        </p:spPr>
        <p:txBody>
          <a:bodyPr wrap="square">
            <a:spAutoFit/>
          </a:bodyPr>
          <a:lstStyle/>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R.I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and   V = V</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(R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Z  = R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is in phase with I,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b="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is  leading I by 90</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By phasor addition, V = V</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V</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4" name="Rectangle 73">
            <a:extLst>
              <a:ext uri="{FF2B5EF4-FFF2-40B4-BE49-F238E27FC236}">
                <a16:creationId xmlns:a16="http://schemas.microsoft.com/office/drawing/2014/main" id="{7F4D520C-8634-40A6-AB68-1571C8E375B0}"/>
              </a:ext>
            </a:extLst>
          </p:cNvPr>
          <p:cNvSpPr/>
          <p:nvPr/>
        </p:nvSpPr>
        <p:spPr>
          <a:xfrm>
            <a:off x="195961" y="3698166"/>
            <a:ext cx="5976301" cy="3046988"/>
          </a:xfrm>
          <a:prstGeom prst="rect">
            <a:avLst/>
          </a:prstGeom>
        </p:spPr>
        <p:txBody>
          <a:bodyPr wrap="square">
            <a:spAutoFit/>
          </a:bodyPr>
          <a:lstStyle/>
          <a:p>
            <a:pPr marR="29210"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 R-L circuit, </a:t>
            </a:r>
          </a:p>
          <a:p>
            <a:pPr marR="29210"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current I lags voltage V by an angle less than 90</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the circuit is said to be inductive.</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Power dissipation only occurs in resistive part of circuit and as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R.I</a:t>
            </a:r>
            <a:r>
              <a:rPr lang="en-GB" sz="3200" b="1"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2</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1605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67637"/>
            <a:ext cx="10924085" cy="482745"/>
          </a:xfrm>
        </p:spPr>
        <p:txBody>
          <a:bodyPr>
            <a:normAutofit fontScale="90000"/>
          </a:bodyPr>
          <a:lstStyle/>
          <a:p>
            <a:r>
              <a:rPr lang="en-GB" dirty="0"/>
              <a:t>R-C series circuit</a:t>
            </a:r>
          </a:p>
        </p:txBody>
      </p:sp>
      <p:grpSp>
        <p:nvGrpSpPr>
          <p:cNvPr id="3" name="Group 2">
            <a:extLst>
              <a:ext uri="{FF2B5EF4-FFF2-40B4-BE49-F238E27FC236}">
                <a16:creationId xmlns:a16="http://schemas.microsoft.com/office/drawing/2014/main" id="{7ED9BA12-125C-429A-AE87-2B08A4FA9A26}"/>
              </a:ext>
            </a:extLst>
          </p:cNvPr>
          <p:cNvGrpSpPr>
            <a:grpSpLocks/>
          </p:cNvGrpSpPr>
          <p:nvPr/>
        </p:nvGrpSpPr>
        <p:grpSpPr bwMode="auto">
          <a:xfrm>
            <a:off x="4296220" y="1077072"/>
            <a:ext cx="4633595" cy="1807209"/>
            <a:chOff x="1414" y="5054"/>
            <a:chExt cx="3067" cy="1236"/>
          </a:xfrm>
        </p:grpSpPr>
        <p:grpSp>
          <p:nvGrpSpPr>
            <p:cNvPr id="4" name="Group 3">
              <a:extLst>
                <a:ext uri="{FF2B5EF4-FFF2-40B4-BE49-F238E27FC236}">
                  <a16:creationId xmlns:a16="http://schemas.microsoft.com/office/drawing/2014/main" id="{8CEAC5DA-D11C-4F42-94CA-1C4218179672}"/>
                </a:ext>
              </a:extLst>
            </p:cNvPr>
            <p:cNvGrpSpPr>
              <a:grpSpLocks/>
            </p:cNvGrpSpPr>
            <p:nvPr/>
          </p:nvGrpSpPr>
          <p:grpSpPr bwMode="auto">
            <a:xfrm>
              <a:off x="1414" y="5637"/>
              <a:ext cx="1648" cy="259"/>
              <a:chOff x="0" y="147"/>
              <a:chExt cx="20000" cy="19684"/>
            </a:xfrm>
          </p:grpSpPr>
          <p:cxnSp>
            <p:nvCxnSpPr>
              <p:cNvPr id="20" name="Line 616">
                <a:extLst>
                  <a:ext uri="{FF2B5EF4-FFF2-40B4-BE49-F238E27FC236}">
                    <a16:creationId xmlns:a16="http://schemas.microsoft.com/office/drawing/2014/main" id="{10457C0C-8CBF-41BD-9CF8-13E562257F71}"/>
                  </a:ext>
                </a:extLst>
              </p:cNvPr>
              <p:cNvCxnSpPr>
                <a:cxnSpLocks noChangeShapeType="1"/>
              </p:cNvCxnSpPr>
              <p:nvPr/>
            </p:nvCxnSpPr>
            <p:spPr bwMode="auto">
              <a:xfrm>
                <a:off x="0" y="9191"/>
                <a:ext cx="4357" cy="76"/>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1" name="Line 617">
                <a:extLst>
                  <a:ext uri="{FF2B5EF4-FFF2-40B4-BE49-F238E27FC236}">
                    <a16:creationId xmlns:a16="http://schemas.microsoft.com/office/drawing/2014/main" id="{A7387473-7757-4DBE-B29A-C363728D77A7}"/>
                  </a:ext>
                </a:extLst>
              </p:cNvPr>
              <p:cNvCxnSpPr>
                <a:cxnSpLocks noChangeShapeType="1"/>
              </p:cNvCxnSpPr>
              <p:nvPr/>
            </p:nvCxnSpPr>
            <p:spPr bwMode="auto">
              <a:xfrm flipV="1">
                <a:off x="4223" y="147"/>
                <a:ext cx="838" cy="912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2" name="Line 618">
                <a:extLst>
                  <a:ext uri="{FF2B5EF4-FFF2-40B4-BE49-F238E27FC236}">
                    <a16:creationId xmlns:a16="http://schemas.microsoft.com/office/drawing/2014/main" id="{34FD3D4D-186F-4F7A-B6B9-8C88DEF49B63}"/>
                  </a:ext>
                </a:extLst>
              </p:cNvPr>
              <p:cNvCxnSpPr>
                <a:cxnSpLocks noChangeShapeType="1"/>
              </p:cNvCxnSpPr>
              <p:nvPr/>
            </p:nvCxnSpPr>
            <p:spPr bwMode="auto">
              <a:xfrm flipH="1" flipV="1">
                <a:off x="4916" y="147"/>
                <a:ext cx="1807"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3" name="Line 619">
                <a:extLst>
                  <a:ext uri="{FF2B5EF4-FFF2-40B4-BE49-F238E27FC236}">
                    <a16:creationId xmlns:a16="http://schemas.microsoft.com/office/drawing/2014/main" id="{ED35B1C6-0EFF-402F-83DF-4DA13B0AEC97}"/>
                  </a:ext>
                </a:extLst>
              </p:cNvPr>
              <p:cNvCxnSpPr>
                <a:cxnSpLocks noChangeShapeType="1"/>
              </p:cNvCxnSpPr>
              <p:nvPr/>
            </p:nvCxnSpPr>
            <p:spPr bwMode="auto">
              <a:xfrm flipV="1">
                <a:off x="6589" y="147"/>
                <a:ext cx="1809"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4" name="Line 620">
                <a:extLst>
                  <a:ext uri="{FF2B5EF4-FFF2-40B4-BE49-F238E27FC236}">
                    <a16:creationId xmlns:a16="http://schemas.microsoft.com/office/drawing/2014/main" id="{483391DF-5ACA-4FC9-93E4-47284A9D40E4}"/>
                  </a:ext>
                </a:extLst>
              </p:cNvPr>
              <p:cNvCxnSpPr>
                <a:cxnSpLocks noChangeShapeType="1"/>
              </p:cNvCxnSpPr>
              <p:nvPr/>
            </p:nvCxnSpPr>
            <p:spPr bwMode="auto">
              <a:xfrm flipH="1" flipV="1">
                <a:off x="8082" y="147"/>
                <a:ext cx="1809"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5" name="Line 621">
                <a:extLst>
                  <a:ext uri="{FF2B5EF4-FFF2-40B4-BE49-F238E27FC236}">
                    <a16:creationId xmlns:a16="http://schemas.microsoft.com/office/drawing/2014/main" id="{AE77EA3A-6E63-4798-AB38-F2D42DC22678}"/>
                  </a:ext>
                </a:extLst>
              </p:cNvPr>
              <p:cNvCxnSpPr>
                <a:cxnSpLocks noChangeShapeType="1"/>
              </p:cNvCxnSpPr>
              <p:nvPr/>
            </p:nvCxnSpPr>
            <p:spPr bwMode="auto">
              <a:xfrm flipV="1">
                <a:off x="9878" y="147"/>
                <a:ext cx="1809"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6" name="Line 622">
                <a:extLst>
                  <a:ext uri="{FF2B5EF4-FFF2-40B4-BE49-F238E27FC236}">
                    <a16:creationId xmlns:a16="http://schemas.microsoft.com/office/drawing/2014/main" id="{4866366A-B8D7-4762-8163-0A33A59F3D15}"/>
                  </a:ext>
                </a:extLst>
              </p:cNvPr>
              <p:cNvCxnSpPr>
                <a:cxnSpLocks noChangeShapeType="1"/>
              </p:cNvCxnSpPr>
              <p:nvPr/>
            </p:nvCxnSpPr>
            <p:spPr bwMode="auto">
              <a:xfrm flipH="1" flipV="1">
                <a:off x="11493" y="147"/>
                <a:ext cx="1808"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7" name="Line 623">
                <a:extLst>
                  <a:ext uri="{FF2B5EF4-FFF2-40B4-BE49-F238E27FC236}">
                    <a16:creationId xmlns:a16="http://schemas.microsoft.com/office/drawing/2014/main" id="{20AE996E-9690-448E-8CF2-6F91087FFD17}"/>
                  </a:ext>
                </a:extLst>
              </p:cNvPr>
              <p:cNvCxnSpPr>
                <a:cxnSpLocks noChangeShapeType="1"/>
              </p:cNvCxnSpPr>
              <p:nvPr/>
            </p:nvCxnSpPr>
            <p:spPr bwMode="auto">
              <a:xfrm flipV="1">
                <a:off x="13240" y="147"/>
                <a:ext cx="1809" cy="1968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8" name="Line 624">
                <a:extLst>
                  <a:ext uri="{FF2B5EF4-FFF2-40B4-BE49-F238E27FC236}">
                    <a16:creationId xmlns:a16="http://schemas.microsoft.com/office/drawing/2014/main" id="{E38DAF4C-5BD6-4204-BAEC-9B258A939157}"/>
                  </a:ext>
                </a:extLst>
              </p:cNvPr>
              <p:cNvCxnSpPr>
                <a:cxnSpLocks noChangeShapeType="1"/>
              </p:cNvCxnSpPr>
              <p:nvPr/>
            </p:nvCxnSpPr>
            <p:spPr bwMode="auto">
              <a:xfrm flipH="1">
                <a:off x="15643" y="9191"/>
                <a:ext cx="4357" cy="76"/>
              </a:xfrm>
              <a:prstGeom prst="line">
                <a:avLst/>
              </a:prstGeom>
              <a:noFill/>
              <a:ln w="28575">
                <a:solidFill>
                  <a:srgbClr val="002060"/>
                </a:solidFill>
                <a:round/>
                <a:headEnd type="none" w="lg" len="med"/>
                <a:tailEnd type="none" w="lg" len="lg"/>
              </a:ln>
              <a:extLst>
                <a:ext uri="{909E8E84-426E-40DD-AFC4-6F175D3DCCD1}">
                  <a14:hiddenFill xmlns:a14="http://schemas.microsoft.com/office/drawing/2010/main">
                    <a:noFill/>
                  </a14:hiddenFill>
                </a:ext>
              </a:extLst>
            </p:spPr>
          </p:cxnSp>
          <p:cxnSp>
            <p:nvCxnSpPr>
              <p:cNvPr id="29" name="Line 625">
                <a:extLst>
                  <a:ext uri="{FF2B5EF4-FFF2-40B4-BE49-F238E27FC236}">
                    <a16:creationId xmlns:a16="http://schemas.microsoft.com/office/drawing/2014/main" id="{37BA9A68-63B6-4605-9131-A5FC88B00A01}"/>
                  </a:ext>
                </a:extLst>
              </p:cNvPr>
              <p:cNvCxnSpPr>
                <a:cxnSpLocks noChangeShapeType="1"/>
              </p:cNvCxnSpPr>
              <p:nvPr/>
            </p:nvCxnSpPr>
            <p:spPr bwMode="auto">
              <a:xfrm flipH="1" flipV="1">
                <a:off x="14928" y="147"/>
                <a:ext cx="837" cy="912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grpSp>
        <p:sp>
          <p:nvSpPr>
            <p:cNvPr id="5" name="Rectangle 4">
              <a:extLst>
                <a:ext uri="{FF2B5EF4-FFF2-40B4-BE49-F238E27FC236}">
                  <a16:creationId xmlns:a16="http://schemas.microsoft.com/office/drawing/2014/main" id="{52427218-01CB-4265-8CEF-21AECBAC93FC}"/>
                </a:ext>
              </a:extLst>
            </p:cNvPr>
            <p:cNvSpPr>
              <a:spLocks noChangeArrowheads="1"/>
            </p:cNvSpPr>
            <p:nvPr/>
          </p:nvSpPr>
          <p:spPr bwMode="auto">
            <a:xfrm>
              <a:off x="2176" y="5409"/>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03958FDE-85E7-4D13-BD6B-8DFA3E5E2A5A}"/>
                </a:ext>
              </a:extLst>
            </p:cNvPr>
            <p:cNvSpPr>
              <a:spLocks noChangeArrowheads="1"/>
            </p:cNvSpPr>
            <p:nvPr/>
          </p:nvSpPr>
          <p:spPr bwMode="auto">
            <a:xfrm>
              <a:off x="3772" y="5305"/>
              <a:ext cx="4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endParaRPr lang="en-GB" sz="2400">
                <a:effectLst/>
                <a:latin typeface="Symbol" panose="05050102010706020507" pitchFamily="18" charset="2"/>
                <a:ea typeface="Calibri" panose="020F0502020204030204" pitchFamily="34" charset="0"/>
                <a:cs typeface="Times New Roman" panose="02020603050405020304" pitchFamily="18" charset="0"/>
              </a:endParaRPr>
            </a:p>
          </p:txBody>
        </p:sp>
        <p:cxnSp>
          <p:nvCxnSpPr>
            <p:cNvPr id="7" name="Line 628">
              <a:extLst>
                <a:ext uri="{FF2B5EF4-FFF2-40B4-BE49-F238E27FC236}">
                  <a16:creationId xmlns:a16="http://schemas.microsoft.com/office/drawing/2014/main" id="{CA09B15A-54D9-47D1-82C0-E74C1C57744E}"/>
                </a:ext>
              </a:extLst>
            </p:cNvPr>
            <p:cNvCxnSpPr>
              <a:cxnSpLocks noChangeShapeType="1"/>
            </p:cNvCxnSpPr>
            <p:nvPr/>
          </p:nvCxnSpPr>
          <p:spPr bwMode="auto">
            <a:xfrm>
              <a:off x="2968" y="5757"/>
              <a:ext cx="199" cy="1"/>
            </a:xfrm>
            <a:prstGeom prst="line">
              <a:avLst/>
            </a:prstGeom>
            <a:noFill/>
            <a:ln w="34925">
              <a:solidFill>
                <a:srgbClr val="002060"/>
              </a:solidFill>
              <a:round/>
              <a:headEnd type="none" w="lg" len="lg"/>
              <a:tailEnd type="arrow" w="lg" len="lg"/>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1292CC87-438E-4923-84D7-008872EC4FEB}"/>
                </a:ext>
              </a:extLst>
            </p:cNvPr>
            <p:cNvSpPr>
              <a:spLocks noChangeArrowheads="1"/>
            </p:cNvSpPr>
            <p:nvPr/>
          </p:nvSpPr>
          <p:spPr bwMode="auto">
            <a:xfrm>
              <a:off x="2986" y="5451"/>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042EC457-6911-4E43-8484-8E6D59CD8736}"/>
                </a:ext>
              </a:extLst>
            </p:cNvPr>
            <p:cNvSpPr>
              <a:spLocks noChangeArrowheads="1"/>
            </p:cNvSpPr>
            <p:nvPr/>
          </p:nvSpPr>
          <p:spPr bwMode="auto">
            <a:xfrm>
              <a:off x="2128" y="6032"/>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03317CDD-D80E-474B-ACAA-2C0D3BBEA734}"/>
                </a:ext>
              </a:extLst>
            </p:cNvPr>
            <p:cNvSpPr>
              <a:spLocks noChangeArrowheads="1"/>
            </p:cNvSpPr>
            <p:nvPr/>
          </p:nvSpPr>
          <p:spPr bwMode="auto">
            <a:xfrm>
              <a:off x="3592" y="6049"/>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Line 632">
              <a:extLst>
                <a:ext uri="{FF2B5EF4-FFF2-40B4-BE49-F238E27FC236}">
                  <a16:creationId xmlns:a16="http://schemas.microsoft.com/office/drawing/2014/main" id="{C925F2C2-240E-48B8-9158-07C153164716}"/>
                </a:ext>
              </a:extLst>
            </p:cNvPr>
            <p:cNvCxnSpPr>
              <a:cxnSpLocks noChangeShapeType="1"/>
            </p:cNvCxnSpPr>
            <p:nvPr/>
          </p:nvCxnSpPr>
          <p:spPr bwMode="auto">
            <a:xfrm>
              <a:off x="1768" y="6002"/>
              <a:ext cx="93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12" name="Line 633">
              <a:extLst>
                <a:ext uri="{FF2B5EF4-FFF2-40B4-BE49-F238E27FC236}">
                  <a16:creationId xmlns:a16="http://schemas.microsoft.com/office/drawing/2014/main" id="{A980DAC2-D826-41FC-8F32-8FAD8F2B9857}"/>
                </a:ext>
              </a:extLst>
            </p:cNvPr>
            <p:cNvCxnSpPr>
              <a:cxnSpLocks noChangeShapeType="1"/>
            </p:cNvCxnSpPr>
            <p:nvPr/>
          </p:nvCxnSpPr>
          <p:spPr bwMode="auto">
            <a:xfrm>
              <a:off x="3334" y="6019"/>
              <a:ext cx="679"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13" name="Line 634">
              <a:extLst>
                <a:ext uri="{FF2B5EF4-FFF2-40B4-BE49-F238E27FC236}">
                  <a16:creationId xmlns:a16="http://schemas.microsoft.com/office/drawing/2014/main" id="{2355ABB0-4B51-4E57-A4ED-57576F550473}"/>
                </a:ext>
              </a:extLst>
            </p:cNvPr>
            <p:cNvCxnSpPr>
              <a:cxnSpLocks noChangeShapeType="1"/>
            </p:cNvCxnSpPr>
            <p:nvPr/>
          </p:nvCxnSpPr>
          <p:spPr bwMode="auto">
            <a:xfrm>
              <a:off x="1696" y="5283"/>
              <a:ext cx="264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2864954C-DF22-4ACF-BD9A-1CD80EAEDAD6}"/>
                </a:ext>
              </a:extLst>
            </p:cNvPr>
            <p:cNvSpPr>
              <a:spLocks noChangeArrowheads="1"/>
            </p:cNvSpPr>
            <p:nvPr/>
          </p:nvSpPr>
          <p:spPr bwMode="auto">
            <a:xfrm>
              <a:off x="2944" y="5054"/>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E3C89022-59C7-48D8-ADE8-6ACD6B9DCC5F}"/>
                </a:ext>
              </a:extLst>
            </p:cNvPr>
            <p:cNvGrpSpPr>
              <a:grpSpLocks/>
            </p:cNvGrpSpPr>
            <p:nvPr/>
          </p:nvGrpSpPr>
          <p:grpSpPr bwMode="auto">
            <a:xfrm>
              <a:off x="3058" y="5528"/>
              <a:ext cx="1423" cy="443"/>
              <a:chOff x="0" y="32"/>
              <a:chExt cx="20001" cy="19935"/>
            </a:xfrm>
          </p:grpSpPr>
          <p:cxnSp>
            <p:nvCxnSpPr>
              <p:cNvPr id="16" name="Line 637">
                <a:extLst>
                  <a:ext uri="{FF2B5EF4-FFF2-40B4-BE49-F238E27FC236}">
                    <a16:creationId xmlns:a16="http://schemas.microsoft.com/office/drawing/2014/main" id="{D45ADF5D-F188-48D1-AD66-CC81B0E9892C}"/>
                  </a:ext>
                </a:extLst>
              </p:cNvPr>
              <p:cNvCxnSpPr>
                <a:cxnSpLocks noChangeShapeType="1"/>
              </p:cNvCxnSpPr>
              <p:nvPr/>
            </p:nvCxnSpPr>
            <p:spPr bwMode="auto">
              <a:xfrm>
                <a:off x="0" y="9932"/>
                <a:ext cx="8110" cy="4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17" name="Line 638">
                <a:extLst>
                  <a:ext uri="{FF2B5EF4-FFF2-40B4-BE49-F238E27FC236}">
                    <a16:creationId xmlns:a16="http://schemas.microsoft.com/office/drawing/2014/main" id="{B3A9D204-7E71-4A97-959C-44724EDFC91A}"/>
                  </a:ext>
                </a:extLst>
              </p:cNvPr>
              <p:cNvCxnSpPr>
                <a:cxnSpLocks noChangeShapeType="1"/>
              </p:cNvCxnSpPr>
              <p:nvPr/>
            </p:nvCxnSpPr>
            <p:spPr bwMode="auto">
              <a:xfrm>
                <a:off x="9783" y="9932"/>
                <a:ext cx="10218" cy="45"/>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18" name="Line 639">
                <a:extLst>
                  <a:ext uri="{FF2B5EF4-FFF2-40B4-BE49-F238E27FC236}">
                    <a16:creationId xmlns:a16="http://schemas.microsoft.com/office/drawing/2014/main" id="{E9E946F9-DCF3-4C35-81F0-F6DD06C23CE4}"/>
                  </a:ext>
                </a:extLst>
              </p:cNvPr>
              <p:cNvCxnSpPr>
                <a:cxnSpLocks noChangeShapeType="1"/>
              </p:cNvCxnSpPr>
              <p:nvPr/>
            </p:nvCxnSpPr>
            <p:spPr bwMode="auto">
              <a:xfrm>
                <a:off x="8097" y="212"/>
                <a:ext cx="13" cy="19755"/>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cxnSp>
            <p:nvCxnSpPr>
              <p:cNvPr id="19" name="Line 640">
                <a:extLst>
                  <a:ext uri="{FF2B5EF4-FFF2-40B4-BE49-F238E27FC236}">
                    <a16:creationId xmlns:a16="http://schemas.microsoft.com/office/drawing/2014/main" id="{41E689BF-AD45-4E9A-8317-0B98C3A0148E}"/>
                  </a:ext>
                </a:extLst>
              </p:cNvPr>
              <p:cNvCxnSpPr>
                <a:cxnSpLocks noChangeShapeType="1"/>
              </p:cNvCxnSpPr>
              <p:nvPr/>
            </p:nvCxnSpPr>
            <p:spPr bwMode="auto">
              <a:xfrm>
                <a:off x="9472" y="32"/>
                <a:ext cx="15" cy="19755"/>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grpSp>
      </p:grpSp>
      <p:grpSp>
        <p:nvGrpSpPr>
          <p:cNvPr id="30" name="Group 29">
            <a:extLst>
              <a:ext uri="{FF2B5EF4-FFF2-40B4-BE49-F238E27FC236}">
                <a16:creationId xmlns:a16="http://schemas.microsoft.com/office/drawing/2014/main" id="{2762ED23-8E3C-48B3-AEF9-49BF5642F0D7}"/>
              </a:ext>
            </a:extLst>
          </p:cNvPr>
          <p:cNvGrpSpPr>
            <a:grpSpLocks/>
          </p:cNvGrpSpPr>
          <p:nvPr/>
        </p:nvGrpSpPr>
        <p:grpSpPr bwMode="auto">
          <a:xfrm>
            <a:off x="9207655" y="826191"/>
            <a:ext cx="2759710" cy="1946275"/>
            <a:chOff x="7459" y="3386"/>
            <a:chExt cx="4346" cy="3065"/>
          </a:xfrm>
        </p:grpSpPr>
        <p:cxnSp>
          <p:nvCxnSpPr>
            <p:cNvPr id="31" name="Line 2109">
              <a:extLst>
                <a:ext uri="{FF2B5EF4-FFF2-40B4-BE49-F238E27FC236}">
                  <a16:creationId xmlns:a16="http://schemas.microsoft.com/office/drawing/2014/main" id="{3DE84A73-70EA-4175-B352-8AF3CC3D9F6D}"/>
                </a:ext>
              </a:extLst>
            </p:cNvPr>
            <p:cNvCxnSpPr>
              <a:cxnSpLocks noChangeShapeType="1"/>
            </p:cNvCxnSpPr>
            <p:nvPr/>
          </p:nvCxnSpPr>
          <p:spPr bwMode="auto">
            <a:xfrm>
              <a:off x="7471" y="4245"/>
              <a:ext cx="3600" cy="3"/>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32" name="Line 2108">
              <a:extLst>
                <a:ext uri="{FF2B5EF4-FFF2-40B4-BE49-F238E27FC236}">
                  <a16:creationId xmlns:a16="http://schemas.microsoft.com/office/drawing/2014/main" id="{BFEE51CF-0EAD-4D5B-BBE3-7D8C614EB400}"/>
                </a:ext>
              </a:extLst>
            </p:cNvPr>
            <p:cNvCxnSpPr>
              <a:cxnSpLocks noChangeShapeType="1"/>
            </p:cNvCxnSpPr>
            <p:nvPr/>
          </p:nvCxnSpPr>
          <p:spPr bwMode="auto">
            <a:xfrm>
              <a:off x="7507" y="4245"/>
              <a:ext cx="1451" cy="3"/>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cxnSp>
          <p:nvCxnSpPr>
            <p:cNvPr id="33" name="Line 2110">
              <a:extLst>
                <a:ext uri="{FF2B5EF4-FFF2-40B4-BE49-F238E27FC236}">
                  <a16:creationId xmlns:a16="http://schemas.microsoft.com/office/drawing/2014/main" id="{9C1AE359-9F14-4A49-AEDE-9BA83518B5DE}"/>
                </a:ext>
              </a:extLst>
            </p:cNvPr>
            <p:cNvCxnSpPr>
              <a:cxnSpLocks noChangeShapeType="1"/>
            </p:cNvCxnSpPr>
            <p:nvPr/>
          </p:nvCxnSpPr>
          <p:spPr bwMode="auto">
            <a:xfrm>
              <a:off x="11002" y="4218"/>
              <a:ext cx="2" cy="2033"/>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34" name="Line 2111">
              <a:extLst>
                <a:ext uri="{FF2B5EF4-FFF2-40B4-BE49-F238E27FC236}">
                  <a16:creationId xmlns:a16="http://schemas.microsoft.com/office/drawing/2014/main" id="{90F0DCA2-CA12-44E1-993F-35768C8EC193}"/>
                </a:ext>
              </a:extLst>
            </p:cNvPr>
            <p:cNvCxnSpPr>
              <a:cxnSpLocks noChangeShapeType="1"/>
            </p:cNvCxnSpPr>
            <p:nvPr/>
          </p:nvCxnSpPr>
          <p:spPr bwMode="auto">
            <a:xfrm>
              <a:off x="7459" y="4280"/>
              <a:ext cx="3600" cy="1944"/>
            </a:xfrm>
            <a:prstGeom prst="line">
              <a:avLst/>
            </a:prstGeom>
            <a:noFill/>
            <a:ln w="28575">
              <a:solidFill>
                <a:srgbClr val="00B0F0"/>
              </a:solidFill>
              <a:round/>
              <a:headEnd type="none" w="sm" len="lg"/>
              <a:tailEnd type="arrow" w="sm" len="lg"/>
            </a:ln>
            <a:extLst>
              <a:ext uri="{909E8E84-426E-40DD-AFC4-6F175D3DCCD1}">
                <a14:hiddenFill xmlns:a14="http://schemas.microsoft.com/office/drawing/2010/main">
                  <a:noFill/>
                </a14:hiddenFill>
              </a:ext>
            </a:extLst>
          </p:spPr>
        </p:cxnSp>
        <p:sp>
          <p:nvSpPr>
            <p:cNvPr id="35" name="Rectangle 34">
              <a:extLst>
                <a:ext uri="{FF2B5EF4-FFF2-40B4-BE49-F238E27FC236}">
                  <a16:creationId xmlns:a16="http://schemas.microsoft.com/office/drawing/2014/main" id="{B504748A-3358-49D0-8D3F-888078A61302}"/>
                </a:ext>
              </a:extLst>
            </p:cNvPr>
            <p:cNvSpPr>
              <a:spLocks noChangeArrowheads="1"/>
            </p:cNvSpPr>
            <p:nvPr/>
          </p:nvSpPr>
          <p:spPr bwMode="auto">
            <a:xfrm>
              <a:off x="9898" y="5745"/>
              <a:ext cx="895"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Rectangle 35">
              <a:extLst>
                <a:ext uri="{FF2B5EF4-FFF2-40B4-BE49-F238E27FC236}">
                  <a16:creationId xmlns:a16="http://schemas.microsoft.com/office/drawing/2014/main" id="{577B63DF-174A-4532-B540-9173739E57C4}"/>
                </a:ext>
              </a:extLst>
            </p:cNvPr>
            <p:cNvSpPr>
              <a:spLocks noChangeArrowheads="1"/>
            </p:cNvSpPr>
            <p:nvPr/>
          </p:nvSpPr>
          <p:spPr bwMode="auto">
            <a:xfrm>
              <a:off x="11181" y="5576"/>
              <a:ext cx="624" cy="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dirty="0">
                  <a:effectLst/>
                  <a:latin typeface="Calibri" panose="020F0502020204030204" pitchFamily="34" charset="0"/>
                  <a:ea typeface="Calibri" panose="020F0502020204030204" pitchFamily="34" charset="0"/>
                  <a:cs typeface="Times New Roman" panose="02020603050405020304" pitchFamily="18" charset="0"/>
                </a:rPr>
                <a:t>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5CC37A08-B904-4F9A-9C1B-066EFBAAC615}"/>
                </a:ext>
              </a:extLst>
            </p:cNvPr>
            <p:cNvSpPr>
              <a:spLocks noChangeArrowheads="1"/>
            </p:cNvSpPr>
            <p:nvPr/>
          </p:nvSpPr>
          <p:spPr bwMode="auto">
            <a:xfrm>
              <a:off x="10101" y="3464"/>
              <a:ext cx="896"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7DDAD4F2-C557-4B55-839A-6FE4AF95EADF}"/>
                </a:ext>
              </a:extLst>
            </p:cNvPr>
            <p:cNvSpPr>
              <a:spLocks noChangeArrowheads="1"/>
            </p:cNvSpPr>
            <p:nvPr/>
          </p:nvSpPr>
          <p:spPr bwMode="auto">
            <a:xfrm>
              <a:off x="8523" y="3386"/>
              <a:ext cx="896"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79FE7C29-A2EE-40E8-9F1A-EA23B4D90B99}"/>
                </a:ext>
              </a:extLst>
            </p:cNvPr>
            <p:cNvSpPr>
              <a:spLocks noChangeArrowheads="1"/>
            </p:cNvSpPr>
            <p:nvPr/>
          </p:nvSpPr>
          <p:spPr bwMode="auto">
            <a:xfrm>
              <a:off x="8630" y="4198"/>
              <a:ext cx="440"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Arc 2117">
              <a:extLst>
                <a:ext uri="{FF2B5EF4-FFF2-40B4-BE49-F238E27FC236}">
                  <a16:creationId xmlns:a16="http://schemas.microsoft.com/office/drawing/2014/main" id="{4E30A9E5-29A6-414C-BE4E-B942722AA493}"/>
                </a:ext>
              </a:extLst>
            </p:cNvPr>
            <p:cNvSpPr>
              <a:spLocks/>
            </p:cNvSpPr>
            <p:nvPr/>
          </p:nvSpPr>
          <p:spPr bwMode="auto">
            <a:xfrm flipV="1">
              <a:off x="8849" y="4297"/>
              <a:ext cx="299" cy="6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41" name="Group 40">
            <a:extLst>
              <a:ext uri="{FF2B5EF4-FFF2-40B4-BE49-F238E27FC236}">
                <a16:creationId xmlns:a16="http://schemas.microsoft.com/office/drawing/2014/main" id="{F6BCE79C-A394-4638-AA5E-A3B0964A7EC6}"/>
              </a:ext>
            </a:extLst>
          </p:cNvPr>
          <p:cNvGrpSpPr>
            <a:grpSpLocks noChangeAspect="1"/>
          </p:cNvGrpSpPr>
          <p:nvPr/>
        </p:nvGrpSpPr>
        <p:grpSpPr bwMode="auto">
          <a:xfrm>
            <a:off x="9144503" y="3143288"/>
            <a:ext cx="3108958" cy="1764031"/>
            <a:chOff x="8836" y="3971"/>
            <a:chExt cx="7004" cy="3862"/>
          </a:xfrm>
        </p:grpSpPr>
        <p:sp>
          <p:nvSpPr>
            <p:cNvPr id="42" name="Rectangle 41">
              <a:extLst>
                <a:ext uri="{FF2B5EF4-FFF2-40B4-BE49-F238E27FC236}">
                  <a16:creationId xmlns:a16="http://schemas.microsoft.com/office/drawing/2014/main" id="{92062752-764D-4464-92BA-3BBEF3A5272F}"/>
                </a:ext>
              </a:extLst>
            </p:cNvPr>
            <p:cNvSpPr>
              <a:spLocks noChangeAspect="1" noChangeArrowheads="1"/>
            </p:cNvSpPr>
            <p:nvPr/>
          </p:nvSpPr>
          <p:spPr bwMode="auto">
            <a:xfrm>
              <a:off x="10513" y="5823"/>
              <a:ext cx="702" cy="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Rectangle 42">
              <a:extLst>
                <a:ext uri="{FF2B5EF4-FFF2-40B4-BE49-F238E27FC236}">
                  <a16:creationId xmlns:a16="http://schemas.microsoft.com/office/drawing/2014/main" id="{8B45A745-6FD4-4D38-BF68-9289832B711F}"/>
                </a:ext>
              </a:extLst>
            </p:cNvPr>
            <p:cNvSpPr>
              <a:spLocks noChangeAspect="1" noChangeArrowheads="1"/>
            </p:cNvSpPr>
            <p:nvPr/>
          </p:nvSpPr>
          <p:spPr bwMode="auto">
            <a:xfrm>
              <a:off x="14240" y="7043"/>
              <a:ext cx="1199" cy="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4" name="Rectangle 43">
              <a:extLst>
                <a:ext uri="{FF2B5EF4-FFF2-40B4-BE49-F238E27FC236}">
                  <a16:creationId xmlns:a16="http://schemas.microsoft.com/office/drawing/2014/main" id="{9564706C-8BFE-46F4-83DE-1EA2454E327E}"/>
                </a:ext>
              </a:extLst>
            </p:cNvPr>
            <p:cNvSpPr>
              <a:spLocks noChangeAspect="1" noChangeArrowheads="1"/>
            </p:cNvSpPr>
            <p:nvPr/>
          </p:nvSpPr>
          <p:spPr bwMode="auto">
            <a:xfrm>
              <a:off x="14945" y="5656"/>
              <a:ext cx="895" cy="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120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55802B60-9403-4461-9A3C-49CD48A1DC5C}"/>
                </a:ext>
              </a:extLst>
            </p:cNvPr>
            <p:cNvSpPr>
              <a:spLocks noChangeAspect="1" noChangeArrowheads="1"/>
            </p:cNvSpPr>
            <p:nvPr/>
          </p:nvSpPr>
          <p:spPr bwMode="auto">
            <a:xfrm>
              <a:off x="11974" y="3971"/>
              <a:ext cx="1200"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V</a:t>
              </a:r>
              <a:r>
                <a:rPr lang="en-GB" sz="2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5324EA87-5D50-48D0-8B42-7C573BE228ED}"/>
                </a:ext>
              </a:extLst>
            </p:cNvPr>
            <p:cNvSpPr>
              <a:spLocks noChangeAspect="1" noChangeArrowheads="1"/>
            </p:cNvSpPr>
            <p:nvPr/>
          </p:nvSpPr>
          <p:spPr bwMode="auto">
            <a:xfrm>
              <a:off x="10127" y="4946"/>
              <a:ext cx="507" cy="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1200"/>
                </a:spcBef>
                <a:spcAft>
                  <a:spcPts val="1000"/>
                </a:spcAft>
              </a:pPr>
              <a:r>
                <a:rPr lang="en-GB" sz="26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7" name="Line 1228">
              <a:extLst>
                <a:ext uri="{FF2B5EF4-FFF2-40B4-BE49-F238E27FC236}">
                  <a16:creationId xmlns:a16="http://schemas.microsoft.com/office/drawing/2014/main" id="{CF45FB4F-9917-4D12-B549-76D4323A4E47}"/>
                </a:ext>
              </a:extLst>
            </p:cNvPr>
            <p:cNvCxnSpPr>
              <a:cxnSpLocks noChangeAspect="1" noChangeShapeType="1"/>
            </p:cNvCxnSpPr>
            <p:nvPr/>
          </p:nvCxnSpPr>
          <p:spPr bwMode="auto">
            <a:xfrm>
              <a:off x="8836" y="6967"/>
              <a:ext cx="6404" cy="5"/>
            </a:xfrm>
            <a:prstGeom prst="line">
              <a:avLst/>
            </a:prstGeom>
            <a:noFill/>
            <a:ln w="28575">
              <a:solidFill>
                <a:srgbClr val="00B0F0"/>
              </a:solidFill>
              <a:round/>
              <a:headEnd type="none" w="sm" len="lg"/>
              <a:tailEnd type="arrow" w="sm" len="lg"/>
            </a:ln>
            <a:extLst>
              <a:ext uri="{909E8E84-426E-40DD-AFC4-6F175D3DCCD1}">
                <a14:hiddenFill xmlns:a14="http://schemas.microsoft.com/office/drawing/2010/main">
                  <a:noFill/>
                </a14:hiddenFill>
              </a:ext>
            </a:extLst>
          </p:spPr>
        </p:cxnSp>
        <p:cxnSp>
          <p:nvCxnSpPr>
            <p:cNvPr id="48" name="Line 1229">
              <a:extLst>
                <a:ext uri="{FF2B5EF4-FFF2-40B4-BE49-F238E27FC236}">
                  <a16:creationId xmlns:a16="http://schemas.microsoft.com/office/drawing/2014/main" id="{C423EFC3-9982-4031-8CDA-2AF2A9E1A699}"/>
                </a:ext>
              </a:extLst>
            </p:cNvPr>
            <p:cNvCxnSpPr>
              <a:cxnSpLocks noChangeAspect="1" noChangeShapeType="1"/>
            </p:cNvCxnSpPr>
            <p:nvPr/>
          </p:nvCxnSpPr>
          <p:spPr bwMode="auto">
            <a:xfrm flipV="1">
              <a:off x="8836" y="4449"/>
              <a:ext cx="4785" cy="2448"/>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49" name="Line 1230">
              <a:extLst>
                <a:ext uri="{FF2B5EF4-FFF2-40B4-BE49-F238E27FC236}">
                  <a16:creationId xmlns:a16="http://schemas.microsoft.com/office/drawing/2014/main" id="{F2E7589D-89E9-419F-8BCC-0A8AA50D2CAA}"/>
                </a:ext>
              </a:extLst>
            </p:cNvPr>
            <p:cNvCxnSpPr>
              <a:cxnSpLocks noChangeAspect="1" noChangeShapeType="1"/>
            </p:cNvCxnSpPr>
            <p:nvPr/>
          </p:nvCxnSpPr>
          <p:spPr bwMode="auto">
            <a:xfrm>
              <a:off x="13582" y="4536"/>
              <a:ext cx="1623" cy="2444"/>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50" name="Line 1231">
              <a:extLst>
                <a:ext uri="{FF2B5EF4-FFF2-40B4-BE49-F238E27FC236}">
                  <a16:creationId xmlns:a16="http://schemas.microsoft.com/office/drawing/2014/main" id="{AEB29D37-88E9-4D7F-91AA-E13FD144A9A1}"/>
                </a:ext>
              </a:extLst>
            </p:cNvPr>
            <p:cNvCxnSpPr>
              <a:cxnSpLocks noChangeAspect="1" noChangeShapeType="1"/>
            </p:cNvCxnSpPr>
            <p:nvPr/>
          </p:nvCxnSpPr>
          <p:spPr bwMode="auto">
            <a:xfrm flipV="1">
              <a:off x="8886" y="6022"/>
              <a:ext cx="1697" cy="875"/>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sp>
          <p:nvSpPr>
            <p:cNvPr id="51" name="Arc 1232">
              <a:extLst>
                <a:ext uri="{FF2B5EF4-FFF2-40B4-BE49-F238E27FC236}">
                  <a16:creationId xmlns:a16="http://schemas.microsoft.com/office/drawing/2014/main" id="{940928FB-44DE-4D9C-8D9B-212D9B85499A}"/>
                </a:ext>
              </a:extLst>
            </p:cNvPr>
            <p:cNvSpPr>
              <a:spLocks noChangeAspect="1"/>
            </p:cNvSpPr>
            <p:nvPr/>
          </p:nvSpPr>
          <p:spPr bwMode="auto">
            <a:xfrm>
              <a:off x="10779" y="5997"/>
              <a:ext cx="476" cy="9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aphicFrame>
        <p:nvGraphicFramePr>
          <p:cNvPr id="53" name="Object 52">
            <a:extLst>
              <a:ext uri="{FF2B5EF4-FFF2-40B4-BE49-F238E27FC236}">
                <a16:creationId xmlns:a16="http://schemas.microsoft.com/office/drawing/2014/main" id="{D414B044-23B4-4D99-9F68-0C75E9129C28}"/>
              </a:ext>
            </a:extLst>
          </p:cNvPr>
          <p:cNvGraphicFramePr>
            <a:graphicFrameLocks noChangeAspect="1"/>
          </p:cNvGraphicFramePr>
          <p:nvPr>
            <p:extLst>
              <p:ext uri="{D42A27DB-BD31-4B8C-83A1-F6EECF244321}">
                <p14:modId xmlns:p14="http://schemas.microsoft.com/office/powerpoint/2010/main" val="3451902042"/>
              </p:ext>
            </p:extLst>
          </p:nvPr>
        </p:nvGraphicFramePr>
        <p:xfrm>
          <a:off x="3019219" y="708732"/>
          <a:ext cx="809625" cy="952500"/>
        </p:xfrm>
        <a:graphic>
          <a:graphicData uri="http://schemas.openxmlformats.org/presentationml/2006/ole">
            <mc:AlternateContent xmlns:mc="http://schemas.openxmlformats.org/markup-compatibility/2006">
              <mc:Choice xmlns:v="urn:schemas-microsoft-com:vml" Requires="v">
                <p:oleObj spid="_x0000_s21559" r:id="rId3" imgW="444307" imgH="495085" progId="Equation.2">
                  <p:embed/>
                </p:oleObj>
              </mc:Choice>
              <mc:Fallback>
                <p:oleObj r:id="rId3" imgW="444307" imgH="495085" progId="Equation.2">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9219" y="708732"/>
                        <a:ext cx="809625" cy="952500"/>
                      </a:xfrm>
                      <a:prstGeom prst="rect">
                        <a:avLst/>
                      </a:prstGeom>
                      <a:noFill/>
                    </p:spPr>
                  </p:pic>
                </p:oleObj>
              </mc:Fallback>
            </mc:AlternateContent>
          </a:graphicData>
        </a:graphic>
      </p:graphicFrame>
      <p:sp>
        <p:nvSpPr>
          <p:cNvPr id="55" name="Rectangle 54">
            <a:extLst>
              <a:ext uri="{FF2B5EF4-FFF2-40B4-BE49-F238E27FC236}">
                <a16:creationId xmlns:a16="http://schemas.microsoft.com/office/drawing/2014/main" id="{F6062E03-17EE-432D-A45E-42C98E577EE7}"/>
              </a:ext>
            </a:extLst>
          </p:cNvPr>
          <p:cNvSpPr/>
          <p:nvPr/>
        </p:nvSpPr>
        <p:spPr>
          <a:xfrm>
            <a:off x="295903" y="862525"/>
            <a:ext cx="3990772" cy="2218300"/>
          </a:xfrm>
          <a:prstGeom prst="rect">
            <a:avLst/>
          </a:prstGeom>
        </p:spPr>
        <p:txBody>
          <a:bodyPr wrap="none">
            <a:spAutoFit/>
          </a:bodyPr>
          <a:lstStyle/>
          <a:p>
            <a:pPr>
              <a:lnSpc>
                <a:spcPct val="150000"/>
              </a:lnSpc>
            </a:pPr>
            <a:r>
              <a:rPr lang="en-GB" sz="3200" dirty="0">
                <a:solidFill>
                  <a:srgbClr val="002060"/>
                </a:solidFill>
                <a:latin typeface="Times New Roman" panose="02020603050405020304" pitchFamily="18" charset="0"/>
                <a:ea typeface="Calibri" panose="020F0502020204030204" pitchFamily="34" charset="0"/>
              </a:rPr>
              <a:t>V</a:t>
            </a:r>
            <a:r>
              <a:rPr lang="en-GB" sz="3200" baseline="-25000" dirty="0">
                <a:solidFill>
                  <a:srgbClr val="002060"/>
                </a:solidFill>
                <a:latin typeface="Times New Roman" panose="02020603050405020304" pitchFamily="18" charset="0"/>
                <a:ea typeface="Calibri" panose="020F0502020204030204" pitchFamily="34" charset="0"/>
              </a:rPr>
              <a:t>R</a:t>
            </a:r>
            <a:r>
              <a:rPr lang="en-GB" sz="3200" dirty="0">
                <a:solidFill>
                  <a:srgbClr val="002060"/>
                </a:solidFill>
                <a:latin typeface="Times New Roman" panose="02020603050405020304" pitchFamily="18" charset="0"/>
                <a:ea typeface="Calibri" panose="020F0502020204030204" pitchFamily="34" charset="0"/>
              </a:rPr>
              <a:t> = </a:t>
            </a:r>
            <a:r>
              <a:rPr lang="en-GB" sz="3200" dirty="0" err="1">
                <a:solidFill>
                  <a:srgbClr val="002060"/>
                </a:solidFill>
                <a:latin typeface="Times New Roman" panose="02020603050405020304" pitchFamily="18" charset="0"/>
                <a:ea typeface="Calibri" panose="020F0502020204030204" pitchFamily="34" charset="0"/>
              </a:rPr>
              <a:t>R.I</a:t>
            </a:r>
            <a:r>
              <a:rPr lang="en-GB" sz="3200" dirty="0">
                <a:solidFill>
                  <a:srgbClr val="002060"/>
                </a:solidFill>
                <a:latin typeface="Times New Roman" panose="02020603050405020304" pitchFamily="18" charset="0"/>
                <a:ea typeface="Calibri" panose="020F0502020204030204" pitchFamily="34" charset="0"/>
              </a:rPr>
              <a:t>,  V</a:t>
            </a:r>
            <a:r>
              <a:rPr lang="en-GB" sz="3200" baseline="-25000" dirty="0">
                <a:solidFill>
                  <a:srgbClr val="002060"/>
                </a:solidFill>
                <a:latin typeface="Times New Roman" panose="02020603050405020304" pitchFamily="18" charset="0"/>
                <a:ea typeface="Calibri" panose="020F0502020204030204" pitchFamily="34" charset="0"/>
              </a:rPr>
              <a:t>C</a:t>
            </a:r>
            <a:r>
              <a:rPr lang="en-GB" sz="3200" dirty="0">
                <a:solidFill>
                  <a:srgbClr val="002060"/>
                </a:solidFill>
                <a:latin typeface="Times New Roman" panose="02020603050405020304" pitchFamily="18" charset="0"/>
                <a:ea typeface="Calibri" panose="020F0502020204030204" pitchFamily="34" charset="0"/>
              </a:rPr>
              <a:t> =         .I </a:t>
            </a:r>
          </a:p>
          <a:p>
            <a:pPr>
              <a:lnSpc>
                <a:spcPct val="150000"/>
              </a:lnSpc>
            </a:pPr>
            <a:r>
              <a:rPr lang="en-GB" sz="3200" dirty="0">
                <a:solidFill>
                  <a:srgbClr val="002060"/>
                </a:solidFill>
                <a:latin typeface="Times New Roman" panose="02020603050405020304" pitchFamily="18" charset="0"/>
                <a:cs typeface="Times New Roman" panose="02020603050405020304" pitchFamily="18" charset="0"/>
              </a:rPr>
              <a:t>and   V = V</a:t>
            </a:r>
            <a:r>
              <a:rPr lang="en-GB" sz="3200" baseline="-25000" dirty="0">
                <a:solidFill>
                  <a:srgbClr val="002060"/>
                </a:solidFill>
                <a:latin typeface="Times New Roman" panose="02020603050405020304" pitchFamily="18" charset="0"/>
                <a:cs typeface="Times New Roman" panose="02020603050405020304" pitchFamily="18" charset="0"/>
              </a:rPr>
              <a:t>R</a:t>
            </a:r>
            <a:r>
              <a:rPr lang="en-GB" sz="3200" dirty="0">
                <a:solidFill>
                  <a:srgbClr val="002060"/>
                </a:solidFill>
                <a:latin typeface="Times New Roman" panose="02020603050405020304" pitchFamily="18" charset="0"/>
                <a:cs typeface="Times New Roman" panose="02020603050405020304" pitchFamily="18" charset="0"/>
              </a:rPr>
              <a:t> + V</a:t>
            </a:r>
            <a:r>
              <a:rPr lang="en-GB" sz="3200" baseline="-25000" dirty="0">
                <a:solidFill>
                  <a:srgbClr val="002060"/>
                </a:solidFill>
                <a:latin typeface="Times New Roman" panose="02020603050405020304" pitchFamily="18" charset="0"/>
                <a:cs typeface="Times New Roman" panose="02020603050405020304" pitchFamily="18" charset="0"/>
              </a:rPr>
              <a:t>C</a:t>
            </a:r>
          </a:p>
          <a:p>
            <a:pPr>
              <a:lnSpc>
                <a:spcPct val="150000"/>
              </a:lnSpc>
            </a:pPr>
            <a:r>
              <a:rPr lang="en-GB" sz="3200" b="1"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b="1" dirty="0">
                <a:solidFill>
                  <a:srgbClr val="002060"/>
                </a:solidFill>
                <a:latin typeface="Times New Roman" panose="02020603050405020304" pitchFamily="18" charset="0"/>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rPr>
              <a:t>   V  = (R +         </a:t>
            </a:r>
            <a:r>
              <a:rPr lang="en-GB" sz="3200" dirty="0">
                <a:latin typeface="Times New Roman" panose="02020603050405020304" pitchFamily="18" charset="0"/>
                <a:cs typeface="Times New Roman" panose="02020603050405020304" pitchFamily="18" charset="0"/>
              </a:rPr>
              <a:t>.I </a:t>
            </a:r>
            <a:endParaRPr lang="en-GB" sz="7200" dirty="0">
              <a:solidFill>
                <a:srgbClr val="002060"/>
              </a:solidFill>
              <a:latin typeface="Times New Roman" panose="02020603050405020304" pitchFamily="18" charset="0"/>
              <a:cs typeface="Times New Roman" panose="02020603050405020304" pitchFamily="18" charset="0"/>
            </a:endParaRPr>
          </a:p>
        </p:txBody>
      </p:sp>
      <p:sp>
        <p:nvSpPr>
          <p:cNvPr id="56" name="Rectangle 6">
            <a:extLst>
              <a:ext uri="{FF2B5EF4-FFF2-40B4-BE49-F238E27FC236}">
                <a16:creationId xmlns:a16="http://schemas.microsoft.com/office/drawing/2014/main" id="{476CE6C1-DF04-4891-8034-31735DFF3A1B}"/>
              </a:ext>
            </a:extLst>
          </p:cNvPr>
          <p:cNvSpPr>
            <a:spLocks noChangeArrowheads="1"/>
          </p:cNvSpPr>
          <p:nvPr/>
        </p:nvSpPr>
        <p:spPr bwMode="auto">
          <a:xfrm>
            <a:off x="2628694" y="23755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7" name="Object 56">
            <a:extLst>
              <a:ext uri="{FF2B5EF4-FFF2-40B4-BE49-F238E27FC236}">
                <a16:creationId xmlns:a16="http://schemas.microsoft.com/office/drawing/2014/main" id="{A36B2594-85E7-4D48-9463-4103DF2A51F7}"/>
              </a:ext>
            </a:extLst>
          </p:cNvPr>
          <p:cNvGraphicFramePr>
            <a:graphicFrameLocks noChangeAspect="1"/>
          </p:cNvGraphicFramePr>
          <p:nvPr>
            <p:extLst>
              <p:ext uri="{D42A27DB-BD31-4B8C-83A1-F6EECF244321}">
                <p14:modId xmlns:p14="http://schemas.microsoft.com/office/powerpoint/2010/main" val="962795743"/>
              </p:ext>
            </p:extLst>
          </p:nvPr>
        </p:nvGraphicFramePr>
        <p:xfrm>
          <a:off x="2851714" y="2375535"/>
          <a:ext cx="781050" cy="914400"/>
        </p:xfrm>
        <a:graphic>
          <a:graphicData uri="http://schemas.openxmlformats.org/presentationml/2006/ole">
            <mc:AlternateContent xmlns:mc="http://schemas.openxmlformats.org/markup-compatibility/2006">
              <mc:Choice xmlns:v="urn:schemas-microsoft-com:vml" Requires="v">
                <p:oleObj spid="_x0000_s21560" r:id="rId5" imgW="368140" imgH="444307" progId="Equation.2">
                  <p:embed/>
                </p:oleObj>
              </mc:Choice>
              <mc:Fallback>
                <p:oleObj r:id="rId5" imgW="368140" imgH="444307" progId="Equation.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1714" y="2375535"/>
                        <a:ext cx="7810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Rectangle 8">
            <a:extLst>
              <a:ext uri="{FF2B5EF4-FFF2-40B4-BE49-F238E27FC236}">
                <a16:creationId xmlns:a16="http://schemas.microsoft.com/office/drawing/2014/main" id="{66989282-6544-4DA8-8BFD-D4E1871822DA}"/>
              </a:ext>
            </a:extLst>
          </p:cNvPr>
          <p:cNvSpPr>
            <a:spLocks noChangeArrowheads="1"/>
          </p:cNvSpPr>
          <p:nvPr/>
        </p:nvSpPr>
        <p:spPr bwMode="auto">
          <a:xfrm>
            <a:off x="288727" y="3369443"/>
            <a:ext cx="79088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so that Z  = R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9" name="Object 58">
            <a:extLst>
              <a:ext uri="{FF2B5EF4-FFF2-40B4-BE49-F238E27FC236}">
                <a16:creationId xmlns:a16="http://schemas.microsoft.com/office/drawing/2014/main" id="{A47AFEE5-C245-4DCB-B1D2-2738D4AE0822}"/>
              </a:ext>
            </a:extLst>
          </p:cNvPr>
          <p:cNvGraphicFramePr>
            <a:graphicFrameLocks noChangeAspect="1"/>
          </p:cNvGraphicFramePr>
          <p:nvPr>
            <p:extLst>
              <p:ext uri="{D42A27DB-BD31-4B8C-83A1-F6EECF244321}">
                <p14:modId xmlns:p14="http://schemas.microsoft.com/office/powerpoint/2010/main" val="746144889"/>
              </p:ext>
            </p:extLst>
          </p:nvPr>
        </p:nvGraphicFramePr>
        <p:xfrm>
          <a:off x="3462131" y="3354697"/>
          <a:ext cx="733425" cy="819150"/>
        </p:xfrm>
        <a:graphic>
          <a:graphicData uri="http://schemas.openxmlformats.org/presentationml/2006/ole">
            <mc:AlternateContent xmlns:mc="http://schemas.openxmlformats.org/markup-compatibility/2006">
              <mc:Choice xmlns:v="urn:schemas-microsoft-com:vml" Requires="v">
                <p:oleObj spid="_x0000_s21561" r:id="rId7" imgW="444307" imgH="495085" progId="Equation.2">
                  <p:embed/>
                </p:oleObj>
              </mc:Choice>
              <mc:Fallback>
                <p:oleObj r:id="rId7" imgW="444307" imgH="495085" progId="Equation.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2131" y="3354697"/>
                        <a:ext cx="73342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Rectangle 9">
            <a:extLst>
              <a:ext uri="{FF2B5EF4-FFF2-40B4-BE49-F238E27FC236}">
                <a16:creationId xmlns:a16="http://schemas.microsoft.com/office/drawing/2014/main" id="{0B35C996-8C57-44E9-A471-4B33730AA755}"/>
              </a:ext>
            </a:extLst>
          </p:cNvPr>
          <p:cNvSpPr>
            <a:spLocks noChangeArrowheads="1"/>
          </p:cNvSpPr>
          <p:nvPr/>
        </p:nvSpPr>
        <p:spPr bwMode="auto">
          <a:xfrm>
            <a:off x="220405" y="4129346"/>
            <a:ext cx="1117051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Phasor diagram is drawn with V (or I) as reference. </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In R-C circuit, current I leads voltage V by an angle less than 90</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and the circuit is said to be capacitive.</a:t>
            </a:r>
          </a:p>
        </p:txBody>
      </p:sp>
      <p:sp>
        <p:nvSpPr>
          <p:cNvPr id="61" name="Rectangle 60">
            <a:extLst>
              <a:ext uri="{FF2B5EF4-FFF2-40B4-BE49-F238E27FC236}">
                <a16:creationId xmlns:a16="http://schemas.microsoft.com/office/drawing/2014/main" id="{EE4681FD-CADC-43B0-B272-86CDBDA19CF3}"/>
              </a:ext>
            </a:extLst>
          </p:cNvPr>
          <p:cNvSpPr/>
          <p:nvPr/>
        </p:nvSpPr>
        <p:spPr>
          <a:xfrm>
            <a:off x="270215" y="5550005"/>
            <a:ext cx="9618680" cy="1077218"/>
          </a:xfrm>
          <a:prstGeom prst="rect">
            <a:avLst/>
          </a:prstGeom>
        </p:spPr>
        <p:txBody>
          <a:bodyPr wrap="square">
            <a:spAutoFit/>
          </a:bodyPr>
          <a:lstStyle/>
          <a:p>
            <a:pPr lvl="0" eaLnBrk="0" fontAlgn="base" hangingPunct="0">
              <a:spcBef>
                <a:spcPct val="0"/>
              </a:spcBef>
              <a:spcAft>
                <a:spcPct val="0"/>
              </a:spcAft>
            </a:pPr>
            <a:r>
              <a:rPr lang="en-GB" altLang="en-US"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Power dissipation can only occur in the resistive part of the circuit and is equal to </a:t>
            </a:r>
            <a:r>
              <a:rPr lang="en-GB" altLang="en-US"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R.I</a:t>
            </a:r>
            <a:r>
              <a:rPr lang="en-GB" altLang="en-US" sz="3200" b="1"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2</a:t>
            </a:r>
            <a:r>
              <a:rPr lang="en-GB" altLang="en-US"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altLang="en-US"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not equal to product V. I.</a:t>
            </a:r>
            <a:r>
              <a:rPr lang="en-GB" altLang="en-US" sz="3200" dirty="0"/>
              <a:t> </a:t>
            </a:r>
            <a:endParaRPr lang="en-GB" altLang="en-US" sz="3200" dirty="0">
              <a:latin typeface="Arial" panose="020B0604020202020204" pitchFamily="34" charset="0"/>
            </a:endParaRPr>
          </a:p>
        </p:txBody>
      </p:sp>
    </p:spTree>
    <p:extLst>
      <p:ext uri="{BB962C8B-B14F-4D97-AF65-F5344CB8AC3E}">
        <p14:creationId xmlns:p14="http://schemas.microsoft.com/office/powerpoint/2010/main" val="3699626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29613"/>
            <a:ext cx="10924085" cy="482745"/>
          </a:xfrm>
        </p:spPr>
        <p:txBody>
          <a:bodyPr>
            <a:normAutofit fontScale="90000"/>
          </a:bodyPr>
          <a:lstStyle/>
          <a:p>
            <a:r>
              <a:rPr lang="en-GB" dirty="0"/>
              <a:t>L-C series circuit</a:t>
            </a:r>
          </a:p>
        </p:txBody>
      </p:sp>
      <p:grpSp>
        <p:nvGrpSpPr>
          <p:cNvPr id="3" name="Group 2">
            <a:extLst>
              <a:ext uri="{FF2B5EF4-FFF2-40B4-BE49-F238E27FC236}">
                <a16:creationId xmlns:a16="http://schemas.microsoft.com/office/drawing/2014/main" id="{CCFC4259-F375-4E38-A1D2-C76D9D01308E}"/>
              </a:ext>
            </a:extLst>
          </p:cNvPr>
          <p:cNvGrpSpPr>
            <a:grpSpLocks/>
          </p:cNvGrpSpPr>
          <p:nvPr/>
        </p:nvGrpSpPr>
        <p:grpSpPr bwMode="auto">
          <a:xfrm>
            <a:off x="6907956" y="786707"/>
            <a:ext cx="5022214" cy="2025015"/>
            <a:chOff x="1406" y="4443"/>
            <a:chExt cx="3023" cy="1219"/>
          </a:xfrm>
        </p:grpSpPr>
        <p:grpSp>
          <p:nvGrpSpPr>
            <p:cNvPr id="4" name="Group 3">
              <a:extLst>
                <a:ext uri="{FF2B5EF4-FFF2-40B4-BE49-F238E27FC236}">
                  <a16:creationId xmlns:a16="http://schemas.microsoft.com/office/drawing/2014/main" id="{919EAFED-3B1B-4D3B-976C-3D14B65EB172}"/>
                </a:ext>
              </a:extLst>
            </p:cNvPr>
            <p:cNvGrpSpPr>
              <a:grpSpLocks/>
            </p:cNvGrpSpPr>
            <p:nvPr/>
          </p:nvGrpSpPr>
          <p:grpSpPr bwMode="auto">
            <a:xfrm>
              <a:off x="2876" y="4972"/>
              <a:ext cx="1553" cy="295"/>
              <a:chOff x="0" y="-556"/>
              <a:chExt cx="19999" cy="20945"/>
            </a:xfrm>
          </p:grpSpPr>
          <p:cxnSp>
            <p:nvCxnSpPr>
              <p:cNvPr id="19" name="Line 1235">
                <a:extLst>
                  <a:ext uri="{FF2B5EF4-FFF2-40B4-BE49-F238E27FC236}">
                    <a16:creationId xmlns:a16="http://schemas.microsoft.com/office/drawing/2014/main" id="{543BDCB8-1DD1-4C53-8679-C59DB44AC1E6}"/>
                  </a:ext>
                </a:extLst>
              </p:cNvPr>
              <p:cNvCxnSpPr>
                <a:cxnSpLocks noChangeShapeType="1"/>
              </p:cNvCxnSpPr>
              <p:nvPr/>
            </p:nvCxnSpPr>
            <p:spPr bwMode="auto">
              <a:xfrm>
                <a:off x="0" y="11727"/>
                <a:ext cx="4623" cy="71"/>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20" name="Line 1236">
                <a:extLst>
                  <a:ext uri="{FF2B5EF4-FFF2-40B4-BE49-F238E27FC236}">
                    <a16:creationId xmlns:a16="http://schemas.microsoft.com/office/drawing/2014/main" id="{137415B0-41C5-4814-8FEE-E99161ECC719}"/>
                  </a:ext>
                </a:extLst>
              </p:cNvPr>
              <p:cNvCxnSpPr>
                <a:cxnSpLocks noChangeShapeType="1"/>
              </p:cNvCxnSpPr>
              <p:nvPr/>
            </p:nvCxnSpPr>
            <p:spPr bwMode="auto">
              <a:xfrm flipH="1">
                <a:off x="15376" y="11727"/>
                <a:ext cx="4623" cy="71"/>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sp>
            <p:nvSpPr>
              <p:cNvPr id="21" name="Arc 1237">
                <a:extLst>
                  <a:ext uri="{FF2B5EF4-FFF2-40B4-BE49-F238E27FC236}">
                    <a16:creationId xmlns:a16="http://schemas.microsoft.com/office/drawing/2014/main" id="{E9D6EE9B-7219-4F9E-A516-564BC2F264D8}"/>
                  </a:ext>
                </a:extLst>
              </p:cNvPr>
              <p:cNvSpPr>
                <a:spLocks/>
              </p:cNvSpPr>
              <p:nvPr/>
            </p:nvSpPr>
            <p:spPr bwMode="auto">
              <a:xfrm flipH="1">
                <a:off x="4327" y="-130"/>
                <a:ext cx="1945" cy="107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22" name="Group 21">
                <a:extLst>
                  <a:ext uri="{FF2B5EF4-FFF2-40B4-BE49-F238E27FC236}">
                    <a16:creationId xmlns:a16="http://schemas.microsoft.com/office/drawing/2014/main" id="{B9E07327-B0B0-4FBA-A8D1-9B8EB2D4507A}"/>
                  </a:ext>
                </a:extLst>
              </p:cNvPr>
              <p:cNvGrpSpPr>
                <a:grpSpLocks/>
              </p:cNvGrpSpPr>
              <p:nvPr/>
            </p:nvGrpSpPr>
            <p:grpSpPr bwMode="auto">
              <a:xfrm>
                <a:off x="5641" y="-556"/>
                <a:ext cx="3488" cy="20945"/>
                <a:chOff x="-1" y="0"/>
                <a:chExt cx="20002" cy="19999"/>
              </a:xfrm>
            </p:grpSpPr>
            <p:grpSp>
              <p:nvGrpSpPr>
                <p:cNvPr id="35" name="Group 34">
                  <a:extLst>
                    <a:ext uri="{FF2B5EF4-FFF2-40B4-BE49-F238E27FC236}">
                      <a16:creationId xmlns:a16="http://schemas.microsoft.com/office/drawing/2014/main" id="{BCC6C342-CC79-4F05-A408-DF4357F2B373}"/>
                    </a:ext>
                  </a:extLst>
                </p:cNvPr>
                <p:cNvGrpSpPr>
                  <a:grpSpLocks/>
                </p:cNvGrpSpPr>
                <p:nvPr/>
              </p:nvGrpSpPr>
              <p:grpSpPr bwMode="auto">
                <a:xfrm>
                  <a:off x="4868" y="0"/>
                  <a:ext cx="7168" cy="19999"/>
                  <a:chOff x="0" y="0"/>
                  <a:chExt cx="20000" cy="19999"/>
                </a:xfrm>
              </p:grpSpPr>
              <p:sp>
                <p:nvSpPr>
                  <p:cNvPr id="38" name="Arc 1240">
                    <a:extLst>
                      <a:ext uri="{FF2B5EF4-FFF2-40B4-BE49-F238E27FC236}">
                        <a16:creationId xmlns:a16="http://schemas.microsoft.com/office/drawing/2014/main" id="{55142B24-C770-4128-884A-410B409C61DC}"/>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9" name="Arc 1241">
                    <a:extLst>
                      <a:ext uri="{FF2B5EF4-FFF2-40B4-BE49-F238E27FC236}">
                        <a16:creationId xmlns:a16="http://schemas.microsoft.com/office/drawing/2014/main" id="{A7A02040-DE2D-4898-8CB7-68D85A319E56}"/>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36" name="Arc 1242">
                  <a:extLst>
                    <a:ext uri="{FF2B5EF4-FFF2-40B4-BE49-F238E27FC236}">
                      <a16:creationId xmlns:a16="http://schemas.microsoft.com/office/drawing/2014/main" id="{DA4DFA37-829D-4BD7-8676-B5F538408904}"/>
                    </a:ext>
                  </a:extLst>
                </p:cNvPr>
                <p:cNvSpPr>
                  <a:spLocks/>
                </p:cNvSpPr>
                <p:nvPr/>
              </p:nvSpPr>
              <p:spPr bwMode="auto">
                <a:xfrm flipH="1">
                  <a:off x="-1" y="407"/>
                  <a:ext cx="20002"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7" name="Arc 1243">
                  <a:extLst>
                    <a:ext uri="{FF2B5EF4-FFF2-40B4-BE49-F238E27FC236}">
                      <a16:creationId xmlns:a16="http://schemas.microsoft.com/office/drawing/2014/main" id="{16258F7C-B4D8-4A97-A969-E7D458680801}"/>
                    </a:ext>
                  </a:extLst>
                </p:cNvPr>
                <p:cNvSpPr>
                  <a:spLocks/>
                </p:cNvSpPr>
                <p:nvPr/>
              </p:nvSpPr>
              <p:spPr bwMode="auto">
                <a:xfrm flipH="1" flipV="1">
                  <a:off x="-1" y="9762"/>
                  <a:ext cx="7157"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3" name="Group 22">
                <a:extLst>
                  <a:ext uri="{FF2B5EF4-FFF2-40B4-BE49-F238E27FC236}">
                    <a16:creationId xmlns:a16="http://schemas.microsoft.com/office/drawing/2014/main" id="{0D9B7F9F-AC10-4359-AFA3-1860524BFA90}"/>
                  </a:ext>
                </a:extLst>
              </p:cNvPr>
              <p:cNvGrpSpPr>
                <a:grpSpLocks/>
              </p:cNvGrpSpPr>
              <p:nvPr/>
            </p:nvGrpSpPr>
            <p:grpSpPr bwMode="auto">
              <a:xfrm>
                <a:off x="8577" y="-556"/>
                <a:ext cx="3490" cy="20945"/>
                <a:chOff x="0" y="0"/>
                <a:chExt cx="20000" cy="19999"/>
              </a:xfrm>
            </p:grpSpPr>
            <p:grpSp>
              <p:nvGrpSpPr>
                <p:cNvPr id="30" name="Group 29">
                  <a:extLst>
                    <a:ext uri="{FF2B5EF4-FFF2-40B4-BE49-F238E27FC236}">
                      <a16:creationId xmlns:a16="http://schemas.microsoft.com/office/drawing/2014/main" id="{64FE1A76-CA8D-4A6B-8EA2-73880A02F5AB}"/>
                    </a:ext>
                  </a:extLst>
                </p:cNvPr>
                <p:cNvGrpSpPr>
                  <a:grpSpLocks/>
                </p:cNvGrpSpPr>
                <p:nvPr/>
              </p:nvGrpSpPr>
              <p:grpSpPr bwMode="auto">
                <a:xfrm>
                  <a:off x="4871" y="0"/>
                  <a:ext cx="7152" cy="19999"/>
                  <a:chOff x="0" y="0"/>
                  <a:chExt cx="20000" cy="19999"/>
                </a:xfrm>
              </p:grpSpPr>
              <p:sp>
                <p:nvSpPr>
                  <p:cNvPr id="33" name="Arc 1246">
                    <a:extLst>
                      <a:ext uri="{FF2B5EF4-FFF2-40B4-BE49-F238E27FC236}">
                        <a16:creationId xmlns:a16="http://schemas.microsoft.com/office/drawing/2014/main" id="{440322B9-F754-4B1B-BF7C-A3141F1D73E5}"/>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4" name="Arc 1247">
                    <a:extLst>
                      <a:ext uri="{FF2B5EF4-FFF2-40B4-BE49-F238E27FC236}">
                        <a16:creationId xmlns:a16="http://schemas.microsoft.com/office/drawing/2014/main" id="{FAD19367-537C-4EC9-AAF5-8BD65D474311}"/>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31" name="Arc 1248">
                  <a:extLst>
                    <a:ext uri="{FF2B5EF4-FFF2-40B4-BE49-F238E27FC236}">
                      <a16:creationId xmlns:a16="http://schemas.microsoft.com/office/drawing/2014/main" id="{3FA9AF68-740D-4A20-AFB0-4F667AC2FBC6}"/>
                    </a:ext>
                  </a:extLst>
                </p:cNvPr>
                <p:cNvSpPr>
                  <a:spLocks/>
                </p:cNvSpPr>
                <p:nvPr/>
              </p:nvSpPr>
              <p:spPr bwMode="auto">
                <a:xfrm flipH="1">
                  <a:off x="0" y="407"/>
                  <a:ext cx="20000" cy="98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2" name="Arc 1249">
                  <a:extLst>
                    <a:ext uri="{FF2B5EF4-FFF2-40B4-BE49-F238E27FC236}">
                      <a16:creationId xmlns:a16="http://schemas.microsoft.com/office/drawing/2014/main" id="{5C67E516-A307-4872-9D60-AA5330CB78C0}"/>
                    </a:ext>
                  </a:extLst>
                </p:cNvPr>
                <p:cNvSpPr>
                  <a:spLocks/>
                </p:cNvSpPr>
                <p:nvPr/>
              </p:nvSpPr>
              <p:spPr bwMode="auto">
                <a:xfrm flipH="1" flipV="1">
                  <a:off x="0" y="9762"/>
                  <a:ext cx="7158"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24" name="Group 23">
                <a:extLst>
                  <a:ext uri="{FF2B5EF4-FFF2-40B4-BE49-F238E27FC236}">
                    <a16:creationId xmlns:a16="http://schemas.microsoft.com/office/drawing/2014/main" id="{EE665259-3A91-46DB-B094-C55FDFF12ABB}"/>
                  </a:ext>
                </a:extLst>
              </p:cNvPr>
              <p:cNvGrpSpPr>
                <a:grpSpLocks/>
              </p:cNvGrpSpPr>
              <p:nvPr/>
            </p:nvGrpSpPr>
            <p:grpSpPr bwMode="auto">
              <a:xfrm>
                <a:off x="12131" y="-556"/>
                <a:ext cx="1250" cy="20945"/>
                <a:chOff x="0" y="0"/>
                <a:chExt cx="20000" cy="19999"/>
              </a:xfrm>
            </p:grpSpPr>
            <p:sp>
              <p:nvSpPr>
                <p:cNvPr id="28" name="Arc 1251">
                  <a:extLst>
                    <a:ext uri="{FF2B5EF4-FFF2-40B4-BE49-F238E27FC236}">
                      <a16:creationId xmlns:a16="http://schemas.microsoft.com/office/drawing/2014/main" id="{A64DC0A8-ABAD-436A-825F-95A0E513F5F1}"/>
                    </a:ext>
                  </a:extLst>
                </p:cNvPr>
                <p:cNvSpPr>
                  <a:spLocks/>
                </p:cNvSpPr>
                <p:nvPr/>
              </p:nvSpPr>
              <p:spPr bwMode="auto">
                <a:xfrm>
                  <a:off x="0" y="0"/>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9" name="Arc 1252">
                  <a:extLst>
                    <a:ext uri="{FF2B5EF4-FFF2-40B4-BE49-F238E27FC236}">
                      <a16:creationId xmlns:a16="http://schemas.microsoft.com/office/drawing/2014/main" id="{BA195D58-01BC-4A3A-A0BF-FD2911A67F46}"/>
                    </a:ext>
                  </a:extLst>
                </p:cNvPr>
                <p:cNvSpPr>
                  <a:spLocks/>
                </p:cNvSpPr>
                <p:nvPr/>
              </p:nvSpPr>
              <p:spPr bwMode="auto">
                <a:xfrm flipV="1">
                  <a:off x="0" y="9762"/>
                  <a:ext cx="20000" cy="102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5" name="Arc 1253">
                <a:extLst>
                  <a:ext uri="{FF2B5EF4-FFF2-40B4-BE49-F238E27FC236}">
                    <a16:creationId xmlns:a16="http://schemas.microsoft.com/office/drawing/2014/main" id="{8D5D76C2-82AC-42D8-BCD5-50E42DE4A25B}"/>
                  </a:ext>
                </a:extLst>
              </p:cNvPr>
              <p:cNvSpPr>
                <a:spLocks/>
              </p:cNvSpPr>
              <p:nvPr/>
            </p:nvSpPr>
            <p:spPr bwMode="auto">
              <a:xfrm flipH="1">
                <a:off x="11280" y="-130"/>
                <a:ext cx="2101" cy="102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6" name="Arc 1254">
                <a:extLst>
                  <a:ext uri="{FF2B5EF4-FFF2-40B4-BE49-F238E27FC236}">
                    <a16:creationId xmlns:a16="http://schemas.microsoft.com/office/drawing/2014/main" id="{FDD3D5C6-3A55-4037-A66B-E2429CCCF5CF}"/>
                  </a:ext>
                </a:extLst>
              </p:cNvPr>
              <p:cNvSpPr>
                <a:spLocks/>
              </p:cNvSpPr>
              <p:nvPr/>
            </p:nvSpPr>
            <p:spPr bwMode="auto">
              <a:xfrm flipH="1" flipV="1">
                <a:off x="11280" y="9668"/>
                <a:ext cx="1250" cy="107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7" name="Arc 1255">
                <a:extLst>
                  <a:ext uri="{FF2B5EF4-FFF2-40B4-BE49-F238E27FC236}">
                    <a16:creationId xmlns:a16="http://schemas.microsoft.com/office/drawing/2014/main" id="{20D25D01-D538-492B-83B0-F4FE3BC63656}"/>
                  </a:ext>
                </a:extLst>
              </p:cNvPr>
              <p:cNvSpPr>
                <a:spLocks/>
              </p:cNvSpPr>
              <p:nvPr/>
            </p:nvSpPr>
            <p:spPr bwMode="auto">
              <a:xfrm>
                <a:off x="13521" y="-130"/>
                <a:ext cx="1944" cy="1072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5" name="Rectangle 4">
              <a:extLst>
                <a:ext uri="{FF2B5EF4-FFF2-40B4-BE49-F238E27FC236}">
                  <a16:creationId xmlns:a16="http://schemas.microsoft.com/office/drawing/2014/main" id="{1275EF2C-5855-4823-AC71-5999373779F6}"/>
                </a:ext>
              </a:extLst>
            </p:cNvPr>
            <p:cNvSpPr>
              <a:spLocks noChangeArrowheads="1"/>
            </p:cNvSpPr>
            <p:nvPr/>
          </p:nvSpPr>
          <p:spPr bwMode="auto">
            <a:xfrm>
              <a:off x="2108" y="4702"/>
              <a:ext cx="427"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endParaRPr lang="en-GB" sz="1100">
                <a:effectLst/>
                <a:latin typeface="Symbol" panose="05050102010706020507" pitchFamily="18" charset="2"/>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 name="Rectangle 5">
              <a:extLst>
                <a:ext uri="{FF2B5EF4-FFF2-40B4-BE49-F238E27FC236}">
                  <a16:creationId xmlns:a16="http://schemas.microsoft.com/office/drawing/2014/main" id="{2489360C-8D5E-4137-8320-8B8D3FB843CA}"/>
                </a:ext>
              </a:extLst>
            </p:cNvPr>
            <p:cNvSpPr>
              <a:spLocks noChangeArrowheads="1"/>
            </p:cNvSpPr>
            <p:nvPr/>
          </p:nvSpPr>
          <p:spPr bwMode="auto">
            <a:xfrm>
              <a:off x="3368" y="4683"/>
              <a:ext cx="421"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j</a:t>
              </a:r>
              <a:r>
                <a:rPr lang="en-GB" sz="2400" b="1"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Line 1258">
              <a:extLst>
                <a:ext uri="{FF2B5EF4-FFF2-40B4-BE49-F238E27FC236}">
                  <a16:creationId xmlns:a16="http://schemas.microsoft.com/office/drawing/2014/main" id="{2A2EC128-55D1-4FC6-980D-99503606C8F2}"/>
                </a:ext>
              </a:extLst>
            </p:cNvPr>
            <p:cNvCxnSpPr>
              <a:cxnSpLocks noChangeShapeType="1"/>
            </p:cNvCxnSpPr>
            <p:nvPr/>
          </p:nvCxnSpPr>
          <p:spPr bwMode="auto">
            <a:xfrm flipH="1">
              <a:off x="2768" y="5146"/>
              <a:ext cx="199" cy="1"/>
            </a:xfrm>
            <a:prstGeom prst="line">
              <a:avLst/>
            </a:prstGeom>
            <a:noFill/>
            <a:ln w="28575">
              <a:solidFill>
                <a:srgbClr val="002060"/>
              </a:solidFill>
              <a:round/>
              <a:headEnd type="arrow" w="lg" len="lg"/>
              <a:tailEnd type="none" w="lg" len="lg"/>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A07C7E96-B73A-4657-BA49-1B29B57AE86D}"/>
                </a:ext>
              </a:extLst>
            </p:cNvPr>
            <p:cNvSpPr>
              <a:spLocks noChangeArrowheads="1"/>
            </p:cNvSpPr>
            <p:nvPr/>
          </p:nvSpPr>
          <p:spPr bwMode="auto">
            <a:xfrm>
              <a:off x="2786" y="4840"/>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E0739C4C-1EF8-4022-93A8-B88E0D1FB48E}"/>
                </a:ext>
              </a:extLst>
            </p:cNvPr>
            <p:cNvSpPr>
              <a:spLocks noChangeArrowheads="1"/>
            </p:cNvSpPr>
            <p:nvPr/>
          </p:nvSpPr>
          <p:spPr bwMode="auto">
            <a:xfrm>
              <a:off x="1928" y="5421"/>
              <a:ext cx="31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87E8C34C-09D0-456B-9310-6D0D51BAC8B1}"/>
                </a:ext>
              </a:extLst>
            </p:cNvPr>
            <p:cNvSpPr>
              <a:spLocks noChangeArrowheads="1"/>
            </p:cNvSpPr>
            <p:nvPr/>
          </p:nvSpPr>
          <p:spPr bwMode="auto">
            <a:xfrm>
              <a:off x="3428" y="5391"/>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Line 1262">
              <a:extLst>
                <a:ext uri="{FF2B5EF4-FFF2-40B4-BE49-F238E27FC236}">
                  <a16:creationId xmlns:a16="http://schemas.microsoft.com/office/drawing/2014/main" id="{71DA1B30-5487-45FA-8518-4A0E16FDC6B6}"/>
                </a:ext>
              </a:extLst>
            </p:cNvPr>
            <p:cNvCxnSpPr>
              <a:cxnSpLocks noChangeShapeType="1"/>
            </p:cNvCxnSpPr>
            <p:nvPr/>
          </p:nvCxnSpPr>
          <p:spPr bwMode="auto">
            <a:xfrm>
              <a:off x="1568" y="5391"/>
              <a:ext cx="93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12" name="Line 1263">
              <a:extLst>
                <a:ext uri="{FF2B5EF4-FFF2-40B4-BE49-F238E27FC236}">
                  <a16:creationId xmlns:a16="http://schemas.microsoft.com/office/drawing/2014/main" id="{C4D41019-154B-41D2-8B73-2F7056C58E93}"/>
                </a:ext>
              </a:extLst>
            </p:cNvPr>
            <p:cNvCxnSpPr>
              <a:cxnSpLocks noChangeShapeType="1"/>
            </p:cNvCxnSpPr>
            <p:nvPr/>
          </p:nvCxnSpPr>
          <p:spPr bwMode="auto">
            <a:xfrm>
              <a:off x="3170" y="5362"/>
              <a:ext cx="93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13" name="Line 1264">
              <a:extLst>
                <a:ext uri="{FF2B5EF4-FFF2-40B4-BE49-F238E27FC236}">
                  <a16:creationId xmlns:a16="http://schemas.microsoft.com/office/drawing/2014/main" id="{377DD3C1-F7A1-46D4-806F-AAD67642CC4D}"/>
                </a:ext>
              </a:extLst>
            </p:cNvPr>
            <p:cNvCxnSpPr>
              <a:cxnSpLocks noChangeShapeType="1"/>
            </p:cNvCxnSpPr>
            <p:nvPr/>
          </p:nvCxnSpPr>
          <p:spPr bwMode="auto">
            <a:xfrm>
              <a:off x="1496" y="4672"/>
              <a:ext cx="2641" cy="1"/>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04B09FAC-2614-49AA-BF3E-174EF3B0E1EF}"/>
                </a:ext>
              </a:extLst>
            </p:cNvPr>
            <p:cNvSpPr>
              <a:spLocks noChangeArrowheads="1"/>
            </p:cNvSpPr>
            <p:nvPr/>
          </p:nvSpPr>
          <p:spPr bwMode="auto">
            <a:xfrm>
              <a:off x="2744" y="4443"/>
              <a:ext cx="259"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5" name="Line 1266">
              <a:extLst>
                <a:ext uri="{FF2B5EF4-FFF2-40B4-BE49-F238E27FC236}">
                  <a16:creationId xmlns:a16="http://schemas.microsoft.com/office/drawing/2014/main" id="{59521915-29EF-4EEC-B78F-66CFBBFFAD80}"/>
                </a:ext>
              </a:extLst>
            </p:cNvPr>
            <p:cNvCxnSpPr>
              <a:cxnSpLocks noChangeShapeType="1"/>
            </p:cNvCxnSpPr>
            <p:nvPr/>
          </p:nvCxnSpPr>
          <p:spPr bwMode="auto">
            <a:xfrm>
              <a:off x="1406" y="5152"/>
              <a:ext cx="577" cy="1"/>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16" name="Line 1267">
              <a:extLst>
                <a:ext uri="{FF2B5EF4-FFF2-40B4-BE49-F238E27FC236}">
                  <a16:creationId xmlns:a16="http://schemas.microsoft.com/office/drawing/2014/main" id="{39A2B898-C220-42BE-9846-FE2B2A16616F}"/>
                </a:ext>
              </a:extLst>
            </p:cNvPr>
            <p:cNvCxnSpPr>
              <a:cxnSpLocks noChangeShapeType="1"/>
            </p:cNvCxnSpPr>
            <p:nvPr/>
          </p:nvCxnSpPr>
          <p:spPr bwMode="auto">
            <a:xfrm>
              <a:off x="2102" y="5152"/>
              <a:ext cx="727" cy="1"/>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17" name="Line 1268">
              <a:extLst>
                <a:ext uri="{FF2B5EF4-FFF2-40B4-BE49-F238E27FC236}">
                  <a16:creationId xmlns:a16="http://schemas.microsoft.com/office/drawing/2014/main" id="{4B18380E-22B9-4928-881A-09F4F92E3598}"/>
                </a:ext>
              </a:extLst>
            </p:cNvPr>
            <p:cNvCxnSpPr>
              <a:cxnSpLocks noChangeShapeType="1"/>
            </p:cNvCxnSpPr>
            <p:nvPr/>
          </p:nvCxnSpPr>
          <p:spPr bwMode="auto">
            <a:xfrm>
              <a:off x="1982" y="4936"/>
              <a:ext cx="1" cy="439"/>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cxnSp>
          <p:nvCxnSpPr>
            <p:cNvPr id="18" name="Line 1269">
              <a:extLst>
                <a:ext uri="{FF2B5EF4-FFF2-40B4-BE49-F238E27FC236}">
                  <a16:creationId xmlns:a16="http://schemas.microsoft.com/office/drawing/2014/main" id="{CB4C175B-EB1B-4F19-A0A9-1E36715821EC}"/>
                </a:ext>
              </a:extLst>
            </p:cNvPr>
            <p:cNvCxnSpPr>
              <a:cxnSpLocks noChangeShapeType="1"/>
            </p:cNvCxnSpPr>
            <p:nvPr/>
          </p:nvCxnSpPr>
          <p:spPr bwMode="auto">
            <a:xfrm>
              <a:off x="2080" y="4932"/>
              <a:ext cx="1" cy="439"/>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grpSp>
      <p:grpSp>
        <p:nvGrpSpPr>
          <p:cNvPr id="40" name="Group 39">
            <a:extLst>
              <a:ext uri="{FF2B5EF4-FFF2-40B4-BE49-F238E27FC236}">
                <a16:creationId xmlns:a16="http://schemas.microsoft.com/office/drawing/2014/main" id="{56A6038B-2DDD-4B06-B9E9-3E2A12D786BC}"/>
              </a:ext>
            </a:extLst>
          </p:cNvPr>
          <p:cNvGrpSpPr>
            <a:grpSpLocks/>
          </p:cNvGrpSpPr>
          <p:nvPr/>
        </p:nvGrpSpPr>
        <p:grpSpPr bwMode="auto">
          <a:xfrm>
            <a:off x="7530059" y="2719858"/>
            <a:ext cx="4062095" cy="2529840"/>
            <a:chOff x="9705" y="3719"/>
            <a:chExt cx="6397" cy="3984"/>
          </a:xfrm>
        </p:grpSpPr>
        <p:sp>
          <p:nvSpPr>
            <p:cNvPr id="41" name="Rectangle 40">
              <a:extLst>
                <a:ext uri="{FF2B5EF4-FFF2-40B4-BE49-F238E27FC236}">
                  <a16:creationId xmlns:a16="http://schemas.microsoft.com/office/drawing/2014/main" id="{729BF6C9-776E-4F1F-BC2F-F7FE742FB2B3}"/>
                </a:ext>
              </a:extLst>
            </p:cNvPr>
            <p:cNvSpPr>
              <a:spLocks noChangeArrowheads="1"/>
            </p:cNvSpPr>
            <p:nvPr/>
          </p:nvSpPr>
          <p:spPr bwMode="auto">
            <a:xfrm>
              <a:off x="12000" y="6995"/>
              <a:ext cx="3413"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F990AC4F-48E6-44B2-862D-9223143B50F2}"/>
                </a:ext>
              </a:extLst>
            </p:cNvPr>
            <p:cNvSpPr>
              <a:spLocks noChangeArrowheads="1"/>
            </p:cNvSpPr>
            <p:nvPr/>
          </p:nvSpPr>
          <p:spPr bwMode="auto">
            <a:xfrm>
              <a:off x="9705" y="4899"/>
              <a:ext cx="544"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Rectangle 42">
              <a:extLst>
                <a:ext uri="{FF2B5EF4-FFF2-40B4-BE49-F238E27FC236}">
                  <a16:creationId xmlns:a16="http://schemas.microsoft.com/office/drawing/2014/main" id="{EA97FD65-763A-4721-873C-57B9E5D00F61}"/>
                </a:ext>
              </a:extLst>
            </p:cNvPr>
            <p:cNvSpPr>
              <a:spLocks noChangeArrowheads="1"/>
            </p:cNvSpPr>
            <p:nvPr/>
          </p:nvSpPr>
          <p:spPr bwMode="auto">
            <a:xfrm>
              <a:off x="13082" y="5014"/>
              <a:ext cx="659" cy="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or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4" name="Line 934">
              <a:extLst>
                <a:ext uri="{FF2B5EF4-FFF2-40B4-BE49-F238E27FC236}">
                  <a16:creationId xmlns:a16="http://schemas.microsoft.com/office/drawing/2014/main" id="{99549017-CEA6-4CC3-888B-AD377B724A4B}"/>
                </a:ext>
              </a:extLst>
            </p:cNvPr>
            <p:cNvCxnSpPr>
              <a:cxnSpLocks noChangeShapeType="1"/>
            </p:cNvCxnSpPr>
            <p:nvPr/>
          </p:nvCxnSpPr>
          <p:spPr bwMode="auto">
            <a:xfrm flipV="1">
              <a:off x="10590" y="4981"/>
              <a:ext cx="3" cy="1020"/>
            </a:xfrm>
            <a:prstGeom prst="line">
              <a:avLst/>
            </a:prstGeom>
            <a:noFill/>
            <a:ln w="38100">
              <a:solidFill>
                <a:srgbClr val="00B0F0"/>
              </a:solidFill>
              <a:round/>
              <a:headEnd type="none" w="sm" len="med"/>
              <a:tailEnd type="arrow" w="sm" len="med"/>
            </a:ln>
            <a:extLst>
              <a:ext uri="{909E8E84-426E-40DD-AFC4-6F175D3DCCD1}">
                <a14:hiddenFill xmlns:a14="http://schemas.microsoft.com/office/drawing/2010/main">
                  <a:noFill/>
                </a14:hiddenFill>
              </a:ext>
            </a:extLst>
          </p:spPr>
        </p:cxnSp>
        <p:cxnSp>
          <p:nvCxnSpPr>
            <p:cNvPr id="45" name="Line 935">
              <a:extLst>
                <a:ext uri="{FF2B5EF4-FFF2-40B4-BE49-F238E27FC236}">
                  <a16:creationId xmlns:a16="http://schemas.microsoft.com/office/drawing/2014/main" id="{AEBF1BD7-5154-4397-99F4-029F935B1220}"/>
                </a:ext>
              </a:extLst>
            </p:cNvPr>
            <p:cNvCxnSpPr>
              <a:cxnSpLocks noChangeShapeType="1"/>
            </p:cNvCxnSpPr>
            <p:nvPr/>
          </p:nvCxnSpPr>
          <p:spPr bwMode="auto">
            <a:xfrm>
              <a:off x="14776" y="5987"/>
              <a:ext cx="1282" cy="3"/>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cxnSp>
          <p:nvCxnSpPr>
            <p:cNvPr id="46" name="Line 936">
              <a:extLst>
                <a:ext uri="{FF2B5EF4-FFF2-40B4-BE49-F238E27FC236}">
                  <a16:creationId xmlns:a16="http://schemas.microsoft.com/office/drawing/2014/main" id="{E98F8A1E-4E25-41B3-AE24-77F86008DB00}"/>
                </a:ext>
              </a:extLst>
            </p:cNvPr>
            <p:cNvCxnSpPr>
              <a:cxnSpLocks noChangeShapeType="1"/>
            </p:cNvCxnSpPr>
            <p:nvPr/>
          </p:nvCxnSpPr>
          <p:spPr bwMode="auto">
            <a:xfrm>
              <a:off x="14705" y="3899"/>
              <a:ext cx="3" cy="1241"/>
            </a:xfrm>
            <a:prstGeom prst="line">
              <a:avLst/>
            </a:prstGeom>
            <a:noFill/>
            <a:ln w="28575">
              <a:solidFill>
                <a:srgbClr val="002060"/>
              </a:solidFill>
              <a:round/>
              <a:headEnd type="none" w="sm" len="med"/>
              <a:tailEnd type="arrow" w="sm" len="med"/>
            </a:ln>
            <a:extLst>
              <a:ext uri="{909E8E84-426E-40DD-AFC4-6F175D3DCCD1}">
                <a14:hiddenFill xmlns:a14="http://schemas.microsoft.com/office/drawing/2010/main">
                  <a:noFill/>
                </a14:hiddenFill>
              </a:ext>
            </a:extLst>
          </p:spPr>
        </p:cxnSp>
        <p:sp>
          <p:nvSpPr>
            <p:cNvPr id="47" name="Rectangle 46">
              <a:extLst>
                <a:ext uri="{FF2B5EF4-FFF2-40B4-BE49-F238E27FC236}">
                  <a16:creationId xmlns:a16="http://schemas.microsoft.com/office/drawing/2014/main" id="{B77F98D6-9A02-4FC2-88FB-BF66204C4335}"/>
                </a:ext>
              </a:extLst>
            </p:cNvPr>
            <p:cNvSpPr>
              <a:spLocks noChangeArrowheads="1"/>
            </p:cNvSpPr>
            <p:nvPr/>
          </p:nvSpPr>
          <p:spPr bwMode="auto">
            <a:xfrm>
              <a:off x="14000" y="4413"/>
              <a:ext cx="790"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Rectangle 47">
              <a:extLst>
                <a:ext uri="{FF2B5EF4-FFF2-40B4-BE49-F238E27FC236}">
                  <a16:creationId xmlns:a16="http://schemas.microsoft.com/office/drawing/2014/main" id="{7F84B490-ECB4-40B9-8B2D-77CEA3A88F50}"/>
                </a:ext>
              </a:extLst>
            </p:cNvPr>
            <p:cNvSpPr>
              <a:spLocks noChangeArrowheads="1"/>
            </p:cNvSpPr>
            <p:nvPr/>
          </p:nvSpPr>
          <p:spPr bwMode="auto">
            <a:xfrm>
              <a:off x="14951" y="3719"/>
              <a:ext cx="790"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Rectangle 48">
              <a:extLst>
                <a:ext uri="{FF2B5EF4-FFF2-40B4-BE49-F238E27FC236}">
                  <a16:creationId xmlns:a16="http://schemas.microsoft.com/office/drawing/2014/main" id="{D0CFD5A2-DF62-4AD9-89C9-283E64F31E4F}"/>
                </a:ext>
              </a:extLst>
            </p:cNvPr>
            <p:cNvSpPr>
              <a:spLocks noChangeArrowheads="1"/>
            </p:cNvSpPr>
            <p:nvPr/>
          </p:nvSpPr>
          <p:spPr bwMode="auto">
            <a:xfrm>
              <a:off x="15574" y="5195"/>
              <a:ext cx="52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0" name="Line 940">
              <a:extLst>
                <a:ext uri="{FF2B5EF4-FFF2-40B4-BE49-F238E27FC236}">
                  <a16:creationId xmlns:a16="http://schemas.microsoft.com/office/drawing/2014/main" id="{DF24A76B-4A0A-4F95-A35C-7B45288B808C}"/>
                </a:ext>
              </a:extLst>
            </p:cNvPr>
            <p:cNvCxnSpPr>
              <a:cxnSpLocks noChangeShapeType="1"/>
            </p:cNvCxnSpPr>
            <p:nvPr/>
          </p:nvCxnSpPr>
          <p:spPr bwMode="auto">
            <a:xfrm flipV="1">
              <a:off x="14787" y="3883"/>
              <a:ext cx="3" cy="2134"/>
            </a:xfrm>
            <a:prstGeom prst="line">
              <a:avLst/>
            </a:prstGeom>
            <a:noFill/>
            <a:ln w="28575">
              <a:solidFill>
                <a:srgbClr val="002060"/>
              </a:solidFill>
              <a:round/>
              <a:headEnd type="none" w="sm" len="med"/>
              <a:tailEnd type="arrow" w="sm" len="med"/>
            </a:ln>
            <a:extLst>
              <a:ext uri="{909E8E84-426E-40DD-AFC4-6F175D3DCCD1}">
                <a14:hiddenFill xmlns:a14="http://schemas.microsoft.com/office/drawing/2010/main">
                  <a:noFill/>
                </a14:hiddenFill>
              </a:ext>
            </a:extLst>
          </p:spPr>
        </p:cxnSp>
        <p:sp>
          <p:nvSpPr>
            <p:cNvPr id="51" name="Rectangle 50">
              <a:extLst>
                <a:ext uri="{FF2B5EF4-FFF2-40B4-BE49-F238E27FC236}">
                  <a16:creationId xmlns:a16="http://schemas.microsoft.com/office/drawing/2014/main" id="{E6A0E0C1-E58C-4AA4-83F9-AABA234F9DB9}"/>
                </a:ext>
              </a:extLst>
            </p:cNvPr>
            <p:cNvSpPr>
              <a:spLocks noChangeArrowheads="1"/>
            </p:cNvSpPr>
            <p:nvPr/>
          </p:nvSpPr>
          <p:spPr bwMode="auto">
            <a:xfrm>
              <a:off x="14738" y="5651"/>
              <a:ext cx="232" cy="350"/>
            </a:xfrm>
            <a:prstGeom prst="rect">
              <a:avLst/>
            </a:prstGeom>
            <a:noFill/>
            <a:ln w="1905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2" name="Rectangle 51">
              <a:extLst>
                <a:ext uri="{FF2B5EF4-FFF2-40B4-BE49-F238E27FC236}">
                  <a16:creationId xmlns:a16="http://schemas.microsoft.com/office/drawing/2014/main" id="{8CA0AE5D-333E-47B3-9EC2-BBBDD4CE41FC}"/>
                </a:ext>
              </a:extLst>
            </p:cNvPr>
            <p:cNvSpPr>
              <a:spLocks noChangeArrowheads="1"/>
            </p:cNvSpPr>
            <p:nvPr/>
          </p:nvSpPr>
          <p:spPr bwMode="auto">
            <a:xfrm>
              <a:off x="14099" y="5063"/>
              <a:ext cx="543"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3" name="Line 943">
              <a:extLst>
                <a:ext uri="{FF2B5EF4-FFF2-40B4-BE49-F238E27FC236}">
                  <a16:creationId xmlns:a16="http://schemas.microsoft.com/office/drawing/2014/main" id="{DCC8B7DA-287F-4AF3-B7C0-DF0CFF116F3D}"/>
                </a:ext>
              </a:extLst>
            </p:cNvPr>
            <p:cNvCxnSpPr>
              <a:cxnSpLocks noChangeShapeType="1"/>
            </p:cNvCxnSpPr>
            <p:nvPr/>
          </p:nvCxnSpPr>
          <p:spPr bwMode="auto">
            <a:xfrm flipV="1">
              <a:off x="14705" y="4981"/>
              <a:ext cx="3" cy="1020"/>
            </a:xfrm>
            <a:prstGeom prst="line">
              <a:avLst/>
            </a:prstGeom>
            <a:noFill/>
            <a:ln w="38100">
              <a:solidFill>
                <a:srgbClr val="00B0F0"/>
              </a:solidFill>
              <a:round/>
              <a:headEnd type="none" w="sm" len="med"/>
              <a:tailEnd type="arrow" w="sm" len="med"/>
            </a:ln>
            <a:extLst>
              <a:ext uri="{909E8E84-426E-40DD-AFC4-6F175D3DCCD1}">
                <a14:hiddenFill xmlns:a14="http://schemas.microsoft.com/office/drawing/2010/main">
                  <a:noFill/>
                </a14:hiddenFill>
              </a:ext>
            </a:extLst>
          </p:spPr>
        </p:cxnSp>
        <p:cxnSp>
          <p:nvCxnSpPr>
            <p:cNvPr id="54" name="Line 926">
              <a:extLst>
                <a:ext uri="{FF2B5EF4-FFF2-40B4-BE49-F238E27FC236}">
                  <a16:creationId xmlns:a16="http://schemas.microsoft.com/office/drawing/2014/main" id="{1A5387BB-7D2D-4C34-B481-C6BB032B01D7}"/>
                </a:ext>
              </a:extLst>
            </p:cNvPr>
            <p:cNvCxnSpPr>
              <a:cxnSpLocks noChangeShapeType="1"/>
            </p:cNvCxnSpPr>
            <p:nvPr/>
          </p:nvCxnSpPr>
          <p:spPr bwMode="auto">
            <a:xfrm>
              <a:off x="10631" y="5987"/>
              <a:ext cx="1296" cy="0"/>
            </a:xfrm>
            <a:prstGeom prst="line">
              <a:avLst/>
            </a:prstGeom>
            <a:noFill/>
            <a:ln w="38100">
              <a:solidFill>
                <a:srgbClr val="C00000"/>
              </a:solidFill>
              <a:round/>
              <a:headEnd type="none" w="sm" len="med"/>
              <a:tailEnd type="arrow" w="sm" len="med"/>
            </a:ln>
            <a:extLst>
              <a:ext uri="{909E8E84-426E-40DD-AFC4-6F175D3DCCD1}">
                <a14:hiddenFill xmlns:a14="http://schemas.microsoft.com/office/drawing/2010/main">
                  <a:noFill/>
                </a14:hiddenFill>
              </a:ext>
            </a:extLst>
          </p:spPr>
        </p:cxnSp>
        <p:cxnSp>
          <p:nvCxnSpPr>
            <p:cNvPr id="55" name="Line 927">
              <a:extLst>
                <a:ext uri="{FF2B5EF4-FFF2-40B4-BE49-F238E27FC236}">
                  <a16:creationId xmlns:a16="http://schemas.microsoft.com/office/drawing/2014/main" id="{4CEF2541-87D8-416C-9C46-F34A8E79AC54}"/>
                </a:ext>
              </a:extLst>
            </p:cNvPr>
            <p:cNvCxnSpPr>
              <a:cxnSpLocks noChangeShapeType="1"/>
            </p:cNvCxnSpPr>
            <p:nvPr/>
          </p:nvCxnSpPr>
          <p:spPr bwMode="auto">
            <a:xfrm>
              <a:off x="10639" y="5990"/>
              <a:ext cx="3" cy="1240"/>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sp>
          <p:nvSpPr>
            <p:cNvPr id="56" name="Rectangle 55">
              <a:extLst>
                <a:ext uri="{FF2B5EF4-FFF2-40B4-BE49-F238E27FC236}">
                  <a16:creationId xmlns:a16="http://schemas.microsoft.com/office/drawing/2014/main" id="{390240B2-C212-4E17-8A61-9CDF91B7B7DE}"/>
                </a:ext>
              </a:extLst>
            </p:cNvPr>
            <p:cNvSpPr>
              <a:spLocks noChangeArrowheads="1"/>
            </p:cNvSpPr>
            <p:nvPr/>
          </p:nvSpPr>
          <p:spPr bwMode="auto">
            <a:xfrm>
              <a:off x="10935" y="6667"/>
              <a:ext cx="789"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7" name="Rectangle 56">
              <a:extLst>
                <a:ext uri="{FF2B5EF4-FFF2-40B4-BE49-F238E27FC236}">
                  <a16:creationId xmlns:a16="http://schemas.microsoft.com/office/drawing/2014/main" id="{AC899165-A64B-4303-9CB2-7C14A3541832}"/>
                </a:ext>
              </a:extLst>
            </p:cNvPr>
            <p:cNvSpPr>
              <a:spLocks noChangeArrowheads="1"/>
            </p:cNvSpPr>
            <p:nvPr/>
          </p:nvSpPr>
          <p:spPr bwMode="auto">
            <a:xfrm>
              <a:off x="10836" y="3719"/>
              <a:ext cx="790"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8" name="Rectangle 57">
              <a:extLst>
                <a:ext uri="{FF2B5EF4-FFF2-40B4-BE49-F238E27FC236}">
                  <a16:creationId xmlns:a16="http://schemas.microsoft.com/office/drawing/2014/main" id="{9547AC25-B595-43AB-A8E9-454977398188}"/>
                </a:ext>
              </a:extLst>
            </p:cNvPr>
            <p:cNvSpPr>
              <a:spLocks noChangeArrowheads="1"/>
            </p:cNvSpPr>
            <p:nvPr/>
          </p:nvSpPr>
          <p:spPr bwMode="auto">
            <a:xfrm>
              <a:off x="11459" y="5195"/>
              <a:ext cx="52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9" name="Line 931">
              <a:extLst>
                <a:ext uri="{FF2B5EF4-FFF2-40B4-BE49-F238E27FC236}">
                  <a16:creationId xmlns:a16="http://schemas.microsoft.com/office/drawing/2014/main" id="{B2F95B86-B94F-4E72-A1DA-34DA8C1C3853}"/>
                </a:ext>
              </a:extLst>
            </p:cNvPr>
            <p:cNvCxnSpPr>
              <a:cxnSpLocks noChangeShapeType="1"/>
            </p:cNvCxnSpPr>
            <p:nvPr/>
          </p:nvCxnSpPr>
          <p:spPr bwMode="auto">
            <a:xfrm flipV="1">
              <a:off x="10639" y="3883"/>
              <a:ext cx="3" cy="2134"/>
            </a:xfrm>
            <a:prstGeom prst="line">
              <a:avLst/>
            </a:prstGeom>
            <a:noFill/>
            <a:ln w="28575">
              <a:solidFill>
                <a:srgbClr val="002060"/>
              </a:solidFill>
              <a:round/>
              <a:headEnd type="none" w="sm" len="lg"/>
              <a:tailEnd type="arrow" w="sm" len="lg"/>
            </a:ln>
            <a:extLst>
              <a:ext uri="{909E8E84-426E-40DD-AFC4-6F175D3DCCD1}">
                <a14:hiddenFill xmlns:a14="http://schemas.microsoft.com/office/drawing/2010/main">
                  <a:noFill/>
                </a14:hiddenFill>
              </a:ext>
            </a:extLst>
          </p:spPr>
        </p:cxnSp>
        <p:sp>
          <p:nvSpPr>
            <p:cNvPr id="60" name="Rectangle 59">
              <a:extLst>
                <a:ext uri="{FF2B5EF4-FFF2-40B4-BE49-F238E27FC236}">
                  <a16:creationId xmlns:a16="http://schemas.microsoft.com/office/drawing/2014/main" id="{0E48046C-D083-4C0F-B849-D24155629CE8}"/>
                </a:ext>
              </a:extLst>
            </p:cNvPr>
            <p:cNvSpPr>
              <a:spLocks noChangeArrowheads="1"/>
            </p:cNvSpPr>
            <p:nvPr/>
          </p:nvSpPr>
          <p:spPr bwMode="auto">
            <a:xfrm>
              <a:off x="10623" y="5651"/>
              <a:ext cx="282" cy="658"/>
            </a:xfrm>
            <a:prstGeom prst="rect">
              <a:avLst/>
            </a:prstGeom>
            <a:noFill/>
            <a:ln w="1905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94" name="Rectangle 93">
            <a:extLst>
              <a:ext uri="{FF2B5EF4-FFF2-40B4-BE49-F238E27FC236}">
                <a16:creationId xmlns:a16="http://schemas.microsoft.com/office/drawing/2014/main" id="{693ACF0C-92D9-430E-AE2A-75635C1A9911}"/>
              </a:ext>
            </a:extLst>
          </p:cNvPr>
          <p:cNvSpPr/>
          <p:nvPr/>
        </p:nvSpPr>
        <p:spPr>
          <a:xfrm>
            <a:off x="277515" y="733107"/>
            <a:ext cx="6327984" cy="4003404"/>
          </a:xfrm>
          <a:prstGeom prst="rect">
            <a:avLst/>
          </a:prstGeom>
        </p:spPr>
        <p:txBody>
          <a:bodyPr wrap="square">
            <a:spAutoFit/>
          </a:bodyPr>
          <a:lstStyle/>
          <a:p>
            <a:pPr>
              <a:lnSpc>
                <a:spcPct val="150000"/>
              </a:lnSpc>
              <a:spcAft>
                <a:spcPts val="1200"/>
              </a:spcAft>
            </a:pPr>
            <a:r>
              <a:rPr lang="en-GB" sz="3200" dirty="0" err="1">
                <a:solidFill>
                  <a:srgbClr val="002060"/>
                </a:solidFill>
                <a:latin typeface="Times New Roman" panose="02020603050405020304" pitchFamily="18" charset="0"/>
                <a:ea typeface="Calibri" panose="020F0502020204030204" pitchFamily="34" charset="0"/>
              </a:rPr>
              <a:t>V</a:t>
            </a:r>
            <a:r>
              <a:rPr lang="en-GB" sz="3200" baseline="-25000" dirty="0" err="1">
                <a:solidFill>
                  <a:srgbClr val="002060"/>
                </a:solidFill>
                <a:latin typeface="Times New Roman" panose="02020603050405020304" pitchFamily="18" charset="0"/>
                <a:ea typeface="Calibri" panose="020F0502020204030204" pitchFamily="34" charset="0"/>
              </a:rPr>
              <a:t>L</a:t>
            </a:r>
            <a:r>
              <a:rPr lang="en-GB" sz="3200" dirty="0">
                <a:solidFill>
                  <a:srgbClr val="002060"/>
                </a:solidFill>
                <a:latin typeface="Times New Roman" panose="02020603050405020304" pitchFamily="18" charset="0"/>
                <a:ea typeface="Calibri" panose="020F0502020204030204" pitchFamily="34" charset="0"/>
              </a:rPr>
              <a:t> = </a:t>
            </a:r>
            <a:r>
              <a:rPr lang="en-GB" sz="3200" dirty="0" err="1">
                <a:solidFill>
                  <a:srgbClr val="002060"/>
                </a:solidFill>
                <a:latin typeface="Times New Roman" panose="02020603050405020304" pitchFamily="18" charset="0"/>
                <a:ea typeface="Calibri" panose="020F0502020204030204" pitchFamily="34" charset="0"/>
              </a:rPr>
              <a:t>j</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Calibri" panose="020F0502020204030204" pitchFamily="34" charset="0"/>
              </a:rPr>
              <a:t>L.I</a:t>
            </a:r>
            <a:endParaRPr lang="en-GB" sz="3200" dirty="0">
              <a:solidFill>
                <a:srgbClr val="002060"/>
              </a:solidFill>
              <a:latin typeface="Times New Roman" panose="02020603050405020304" pitchFamily="18" charset="0"/>
              <a:ea typeface="Calibri" panose="020F0502020204030204" pitchFamily="34" charset="0"/>
            </a:endParaRPr>
          </a:p>
          <a:p>
            <a:pPr>
              <a:lnSpc>
                <a:spcPct val="150000"/>
              </a:lnSpc>
              <a:spcAft>
                <a:spcPts val="1200"/>
              </a:spcAft>
            </a:pPr>
            <a:r>
              <a:rPr lang="en-GB" sz="3200" dirty="0">
                <a:solidFill>
                  <a:srgbClr val="002060"/>
                </a:solidFill>
                <a:latin typeface="Times New Roman" panose="02020603050405020304" pitchFamily="18" charset="0"/>
                <a:cs typeface="Times New Roman" panose="02020603050405020304" pitchFamily="18" charset="0"/>
              </a:rPr>
              <a:t>V</a:t>
            </a:r>
            <a:r>
              <a:rPr lang="en-GB" sz="3200" baseline="-25000" dirty="0">
                <a:solidFill>
                  <a:srgbClr val="002060"/>
                </a:solidFill>
                <a:latin typeface="Times New Roman" panose="02020603050405020304" pitchFamily="18" charset="0"/>
                <a:cs typeface="Times New Roman" panose="02020603050405020304" pitchFamily="18" charset="0"/>
              </a:rPr>
              <a:t>C</a:t>
            </a:r>
            <a:r>
              <a:rPr lang="en-GB" sz="3200" dirty="0">
                <a:solidFill>
                  <a:srgbClr val="002060"/>
                </a:solidFill>
                <a:latin typeface="Times New Roman" panose="02020603050405020304" pitchFamily="18" charset="0"/>
                <a:cs typeface="Times New Roman" panose="02020603050405020304" pitchFamily="18" charset="0"/>
              </a:rPr>
              <a:t> =        .I = - j </a:t>
            </a:r>
          </a:p>
          <a:p>
            <a:pPr>
              <a:lnSpc>
                <a:spcPct val="150000"/>
              </a:lnSpc>
            </a:pPr>
            <a:r>
              <a:rPr lang="en-GB" sz="3200" dirty="0">
                <a:solidFill>
                  <a:srgbClr val="002060"/>
                </a:solidFill>
                <a:latin typeface="Times New Roman" panose="02020603050405020304" pitchFamily="18" charset="0"/>
                <a:cs typeface="Times New Roman" panose="02020603050405020304" pitchFamily="18" charset="0"/>
              </a:rPr>
              <a:t>and   V = </a:t>
            </a:r>
            <a:r>
              <a:rPr lang="en-GB" sz="3200" dirty="0" err="1">
                <a:solidFill>
                  <a:srgbClr val="002060"/>
                </a:solidFill>
                <a:latin typeface="Times New Roman" panose="02020603050405020304" pitchFamily="18" charset="0"/>
                <a:cs typeface="Times New Roman" panose="02020603050405020304" pitchFamily="18" charset="0"/>
              </a:rPr>
              <a:t>V</a:t>
            </a:r>
            <a:r>
              <a:rPr lang="en-GB" sz="3200" baseline="-250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V</a:t>
            </a:r>
            <a:r>
              <a:rPr lang="en-GB" sz="3200" baseline="-25000" dirty="0">
                <a:solidFill>
                  <a:srgbClr val="002060"/>
                </a:solidFill>
                <a:latin typeface="Times New Roman" panose="02020603050405020304" pitchFamily="18" charset="0"/>
                <a:cs typeface="Times New Roman" panose="02020603050405020304" pitchFamily="18" charset="0"/>
              </a:rPr>
              <a:t>C</a:t>
            </a:r>
            <a:endParaRPr lang="en-GB" sz="3200"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en-GB" sz="3200" dirty="0">
                <a:solidFill>
                  <a:srgbClr val="002060"/>
                </a:solidFill>
                <a:latin typeface="Times New Roman" panose="02020603050405020304" pitchFamily="18" charset="0"/>
                <a:cs typeface="Times New Roman" panose="02020603050405020304" pitchFamily="18" charset="0"/>
              </a:rPr>
              <a:t> </a:t>
            </a:r>
            <a:r>
              <a:rPr lang="en-GB" sz="3200" b="1"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b="1" dirty="0">
                <a:solidFill>
                  <a:srgbClr val="002060"/>
                </a:solidFill>
                <a:latin typeface="Times New Roman" panose="02020603050405020304" pitchFamily="18" charset="0"/>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rPr>
              <a:t>   V  = (</a:t>
            </a:r>
            <a:r>
              <a:rPr lang="en-GB" sz="3200" dirty="0" err="1">
                <a:solidFill>
                  <a:srgbClr val="002060"/>
                </a:solidFill>
                <a:latin typeface="Times New Roman" panose="02020603050405020304" pitchFamily="18" charset="0"/>
                <a:cs typeface="Times New Roman" panose="02020603050405020304" pitchFamily="18" charset="0"/>
              </a:rPr>
              <a:t>j</a:t>
            </a:r>
            <a:r>
              <a:rPr lang="en-GB" sz="3200" dirty="0" err="1">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).I</a:t>
            </a:r>
          </a:p>
          <a:p>
            <a:pPr>
              <a:lnSpc>
                <a:spcPct val="150000"/>
              </a:lnSpc>
            </a:pPr>
            <a:r>
              <a:rPr lang="en-GB" sz="3200" dirty="0">
                <a:solidFill>
                  <a:srgbClr val="002060"/>
                </a:solidFill>
                <a:latin typeface="Times New Roman" panose="02020603050405020304" pitchFamily="18" charset="0"/>
                <a:cs typeface="Times New Roman" panose="02020603050405020304" pitchFamily="18" charset="0"/>
              </a:rPr>
              <a:t>Z  = </a:t>
            </a:r>
            <a:r>
              <a:rPr lang="en-GB" sz="3200" dirty="0" err="1">
                <a:solidFill>
                  <a:srgbClr val="002060"/>
                </a:solidFill>
                <a:latin typeface="Times New Roman" panose="02020603050405020304" pitchFamily="18" charset="0"/>
                <a:cs typeface="Times New Roman" panose="02020603050405020304" pitchFamily="18" charset="0"/>
              </a:rPr>
              <a:t>j</a:t>
            </a:r>
            <a:r>
              <a:rPr lang="en-GB" sz="3200" dirty="0" err="1">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 </a:t>
            </a:r>
            <a:r>
              <a:rPr lang="en-GB" sz="3200" dirty="0" err="1">
                <a:solidFill>
                  <a:srgbClr val="002060"/>
                </a:solidFill>
                <a:latin typeface="Times New Roman" panose="02020603050405020304" pitchFamily="18" charset="0"/>
                <a:cs typeface="Times New Roman" panose="02020603050405020304" pitchFamily="18" charset="0"/>
              </a:rPr>
              <a:t>j</a:t>
            </a:r>
            <a:r>
              <a:rPr lang="en-GB" sz="3200" dirty="0" err="1">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j </a:t>
            </a:r>
          </a:p>
        </p:txBody>
      </p:sp>
      <p:sp>
        <p:nvSpPr>
          <p:cNvPr id="95" name="Rectangle 94">
            <a:extLst>
              <a:ext uri="{FF2B5EF4-FFF2-40B4-BE49-F238E27FC236}">
                <a16:creationId xmlns:a16="http://schemas.microsoft.com/office/drawing/2014/main" id="{32D24997-078B-4A3F-86AB-361920F56A22}"/>
              </a:ext>
            </a:extLst>
          </p:cNvPr>
          <p:cNvSpPr/>
          <p:nvPr/>
        </p:nvSpPr>
        <p:spPr>
          <a:xfrm>
            <a:off x="277515" y="5062373"/>
            <a:ext cx="9283592" cy="1569660"/>
          </a:xfrm>
          <a:prstGeom prst="rect">
            <a:avLst/>
          </a:prstGeom>
        </p:spPr>
        <p:txBody>
          <a:bodyPr wrap="square">
            <a:spAutoFit/>
          </a:bodyPr>
          <a:lstStyle/>
          <a:p>
            <a:r>
              <a:rPr lang="en-GB" sz="3200" dirty="0">
                <a:solidFill>
                  <a:srgbClr val="002060"/>
                </a:solidFill>
              </a:rPr>
              <a:t>All voltages are </a:t>
            </a:r>
            <a:r>
              <a:rPr lang="en-GB" sz="3200" dirty="0" err="1">
                <a:solidFill>
                  <a:srgbClr val="002060"/>
                </a:solidFill>
              </a:rPr>
              <a:t>inphase</a:t>
            </a:r>
            <a:r>
              <a:rPr lang="en-GB" sz="3200" dirty="0">
                <a:solidFill>
                  <a:srgbClr val="002060"/>
                </a:solidFill>
              </a:rPr>
              <a:t> but perpendicular to current I.  </a:t>
            </a:r>
          </a:p>
          <a:p>
            <a:r>
              <a:rPr lang="en-GB" sz="3200" dirty="0">
                <a:solidFill>
                  <a:srgbClr val="002060"/>
                </a:solidFill>
              </a:rPr>
              <a:t>Resultant voltage could be either up or down depending on which voltage </a:t>
            </a:r>
            <a:r>
              <a:rPr lang="en-GB" sz="3200" dirty="0" err="1">
                <a:solidFill>
                  <a:srgbClr val="002060"/>
                </a:solidFill>
              </a:rPr>
              <a:t>V</a:t>
            </a:r>
            <a:r>
              <a:rPr lang="en-GB" sz="3200" baseline="-25000" dirty="0" err="1">
                <a:solidFill>
                  <a:srgbClr val="002060"/>
                </a:solidFill>
              </a:rPr>
              <a:t>L</a:t>
            </a:r>
            <a:r>
              <a:rPr lang="en-GB" sz="3200" dirty="0">
                <a:solidFill>
                  <a:srgbClr val="002060"/>
                </a:solidFill>
              </a:rPr>
              <a:t> or V</a:t>
            </a:r>
            <a:r>
              <a:rPr lang="en-GB" sz="3200" baseline="-25000" dirty="0">
                <a:solidFill>
                  <a:srgbClr val="002060"/>
                </a:solidFill>
              </a:rPr>
              <a:t>C</a:t>
            </a:r>
            <a:r>
              <a:rPr lang="en-GB" sz="3200" dirty="0">
                <a:solidFill>
                  <a:srgbClr val="002060"/>
                </a:solidFill>
              </a:rPr>
              <a:t> is more.</a:t>
            </a:r>
            <a:endParaRPr lang="en-GB" sz="4800" dirty="0">
              <a:solidFill>
                <a:srgbClr val="002060"/>
              </a:solidFill>
              <a:latin typeface="Times New Roman" panose="02020603050405020304" pitchFamily="18" charset="0"/>
              <a:cs typeface="Times New Roman" panose="02020603050405020304" pitchFamily="18" charset="0"/>
            </a:endParaRPr>
          </a:p>
        </p:txBody>
      </p:sp>
      <p:sp>
        <p:nvSpPr>
          <p:cNvPr id="96" name="Rectangle 45">
            <a:extLst>
              <a:ext uri="{FF2B5EF4-FFF2-40B4-BE49-F238E27FC236}">
                <a16:creationId xmlns:a16="http://schemas.microsoft.com/office/drawing/2014/main" id="{FBB8107E-560D-4C3F-B718-B2A4CCE04676}"/>
              </a:ext>
            </a:extLst>
          </p:cNvPr>
          <p:cNvSpPr>
            <a:spLocks noChangeArrowheads="1"/>
          </p:cNvSpPr>
          <p:nvPr/>
        </p:nvSpPr>
        <p:spPr bwMode="auto">
          <a:xfrm>
            <a:off x="1127827" y="16555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7" name="Object 96">
            <a:extLst>
              <a:ext uri="{FF2B5EF4-FFF2-40B4-BE49-F238E27FC236}">
                <a16:creationId xmlns:a16="http://schemas.microsoft.com/office/drawing/2014/main" id="{15CE94EF-9A36-4F22-A41A-1A85A2F885FE}"/>
              </a:ext>
            </a:extLst>
          </p:cNvPr>
          <p:cNvGraphicFramePr>
            <a:graphicFrameLocks noChangeAspect="1"/>
          </p:cNvGraphicFramePr>
          <p:nvPr>
            <p:extLst>
              <p:ext uri="{D42A27DB-BD31-4B8C-83A1-F6EECF244321}">
                <p14:modId xmlns:p14="http://schemas.microsoft.com/office/powerpoint/2010/main" val="3265838269"/>
              </p:ext>
            </p:extLst>
          </p:nvPr>
        </p:nvGraphicFramePr>
        <p:xfrm>
          <a:off x="1172431" y="1655519"/>
          <a:ext cx="733425" cy="819150"/>
        </p:xfrm>
        <a:graphic>
          <a:graphicData uri="http://schemas.openxmlformats.org/presentationml/2006/ole">
            <mc:AlternateContent xmlns:mc="http://schemas.openxmlformats.org/markup-compatibility/2006">
              <mc:Choice xmlns:v="urn:schemas-microsoft-com:vml" Requires="v">
                <p:oleObj spid="_x0000_s22657" r:id="rId3" imgW="444307" imgH="495085" progId="Equation.2">
                  <p:embed/>
                </p:oleObj>
              </mc:Choice>
              <mc:Fallback>
                <p:oleObj r:id="rId3" imgW="444307" imgH="495085" progId="Equation.2">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431" y="1655519"/>
                        <a:ext cx="73342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 name="Rectangle 47">
            <a:extLst>
              <a:ext uri="{FF2B5EF4-FFF2-40B4-BE49-F238E27FC236}">
                <a16:creationId xmlns:a16="http://schemas.microsoft.com/office/drawing/2014/main" id="{D2BCE8E9-B2CF-4926-A072-259E9EA7F216}"/>
              </a:ext>
            </a:extLst>
          </p:cNvPr>
          <p:cNvSpPr>
            <a:spLocks noChangeArrowheads="1"/>
          </p:cNvSpPr>
          <p:nvPr/>
        </p:nvSpPr>
        <p:spPr bwMode="auto">
          <a:xfrm>
            <a:off x="3189249" y="33032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9" name="Object 98">
            <a:extLst>
              <a:ext uri="{FF2B5EF4-FFF2-40B4-BE49-F238E27FC236}">
                <a16:creationId xmlns:a16="http://schemas.microsoft.com/office/drawing/2014/main" id="{68EC4CCB-E4F1-4995-A2A1-3ACC8E122325}"/>
              </a:ext>
            </a:extLst>
          </p:cNvPr>
          <p:cNvGraphicFramePr>
            <a:graphicFrameLocks noChangeAspect="1"/>
          </p:cNvGraphicFramePr>
          <p:nvPr>
            <p:extLst>
              <p:ext uri="{D42A27DB-BD31-4B8C-83A1-F6EECF244321}">
                <p14:modId xmlns:p14="http://schemas.microsoft.com/office/powerpoint/2010/main" val="791429927"/>
              </p:ext>
            </p:extLst>
          </p:nvPr>
        </p:nvGraphicFramePr>
        <p:xfrm>
          <a:off x="3189249" y="3303209"/>
          <a:ext cx="733425" cy="819150"/>
        </p:xfrm>
        <a:graphic>
          <a:graphicData uri="http://schemas.openxmlformats.org/presentationml/2006/ole">
            <mc:AlternateContent xmlns:mc="http://schemas.openxmlformats.org/markup-compatibility/2006">
              <mc:Choice xmlns:v="urn:schemas-microsoft-com:vml" Requires="v">
                <p:oleObj spid="_x0000_s22658" r:id="rId5" imgW="444307" imgH="495085" progId="Equation.2">
                  <p:embed/>
                </p:oleObj>
              </mc:Choice>
              <mc:Fallback>
                <p:oleObj r:id="rId5" imgW="444307" imgH="495085" progId="Equation.2">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9249" y="3303209"/>
                        <a:ext cx="73342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 name="Object 100">
            <a:extLst>
              <a:ext uri="{FF2B5EF4-FFF2-40B4-BE49-F238E27FC236}">
                <a16:creationId xmlns:a16="http://schemas.microsoft.com/office/drawing/2014/main" id="{1DEA2BCE-4392-4BD8-ACFC-40C0F12F2D57}"/>
              </a:ext>
            </a:extLst>
          </p:cNvPr>
          <p:cNvGraphicFramePr>
            <a:graphicFrameLocks noChangeAspect="1"/>
          </p:cNvGraphicFramePr>
          <p:nvPr>
            <p:extLst>
              <p:ext uri="{D42A27DB-BD31-4B8C-83A1-F6EECF244321}">
                <p14:modId xmlns:p14="http://schemas.microsoft.com/office/powerpoint/2010/main" val="3406065183"/>
              </p:ext>
            </p:extLst>
          </p:nvPr>
        </p:nvGraphicFramePr>
        <p:xfrm>
          <a:off x="2173566" y="3971377"/>
          <a:ext cx="733425" cy="819150"/>
        </p:xfrm>
        <a:graphic>
          <a:graphicData uri="http://schemas.openxmlformats.org/presentationml/2006/ole">
            <mc:AlternateContent xmlns:mc="http://schemas.openxmlformats.org/markup-compatibility/2006">
              <mc:Choice xmlns:v="urn:schemas-microsoft-com:vml" Requires="v">
                <p:oleObj spid="_x0000_s22659" r:id="rId6" imgW="444307" imgH="495085" progId="Equation.2">
                  <p:embed/>
                </p:oleObj>
              </mc:Choice>
              <mc:Fallback>
                <p:oleObj r:id="rId6" imgW="444307" imgH="495085" progId="Equation.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566" y="3971377"/>
                        <a:ext cx="733425"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 name="Object 102">
            <a:extLst>
              <a:ext uri="{FF2B5EF4-FFF2-40B4-BE49-F238E27FC236}">
                <a16:creationId xmlns:a16="http://schemas.microsoft.com/office/drawing/2014/main" id="{9EFAF2E2-AFF5-4446-8889-15EB71C3CCE3}"/>
              </a:ext>
            </a:extLst>
          </p:cNvPr>
          <p:cNvGraphicFramePr>
            <a:graphicFrameLocks noChangeAspect="1"/>
          </p:cNvGraphicFramePr>
          <p:nvPr>
            <p:extLst>
              <p:ext uri="{D42A27DB-BD31-4B8C-83A1-F6EECF244321}">
                <p14:modId xmlns:p14="http://schemas.microsoft.com/office/powerpoint/2010/main" val="3332086180"/>
              </p:ext>
            </p:extLst>
          </p:nvPr>
        </p:nvGraphicFramePr>
        <p:xfrm>
          <a:off x="3076875" y="1671542"/>
          <a:ext cx="638175" cy="904875"/>
        </p:xfrm>
        <a:graphic>
          <a:graphicData uri="http://schemas.openxmlformats.org/presentationml/2006/ole">
            <mc:AlternateContent xmlns:mc="http://schemas.openxmlformats.org/markup-compatibility/2006">
              <mc:Choice xmlns:v="urn:schemas-microsoft-com:vml" Requires="v">
                <p:oleObj spid="_x0000_s22660" r:id="rId7" imgW="355292" imgH="494870" progId="Equation.2">
                  <p:embed/>
                </p:oleObj>
              </mc:Choice>
              <mc:Fallback>
                <p:oleObj r:id="rId7" imgW="355292" imgH="494870" progId="Equation.2">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6875" y="1671542"/>
                        <a:ext cx="6381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 name="Object 104">
            <a:extLst>
              <a:ext uri="{FF2B5EF4-FFF2-40B4-BE49-F238E27FC236}">
                <a16:creationId xmlns:a16="http://schemas.microsoft.com/office/drawing/2014/main" id="{F24846EB-AC1D-40BB-9634-EC16D4DD1D22}"/>
              </a:ext>
            </a:extLst>
          </p:cNvPr>
          <p:cNvGraphicFramePr>
            <a:graphicFrameLocks noChangeAspect="1"/>
          </p:cNvGraphicFramePr>
          <p:nvPr>
            <p:extLst>
              <p:ext uri="{D42A27DB-BD31-4B8C-83A1-F6EECF244321}">
                <p14:modId xmlns:p14="http://schemas.microsoft.com/office/powerpoint/2010/main" val="2800495282"/>
              </p:ext>
            </p:extLst>
          </p:nvPr>
        </p:nvGraphicFramePr>
        <p:xfrm>
          <a:off x="4669751" y="4011093"/>
          <a:ext cx="638175" cy="904875"/>
        </p:xfrm>
        <a:graphic>
          <a:graphicData uri="http://schemas.openxmlformats.org/presentationml/2006/ole">
            <mc:AlternateContent xmlns:mc="http://schemas.openxmlformats.org/markup-compatibility/2006">
              <mc:Choice xmlns:v="urn:schemas-microsoft-com:vml" Requires="v">
                <p:oleObj spid="_x0000_s22661" r:id="rId9" imgW="355292" imgH="494870" progId="Equation.2">
                  <p:embed/>
                </p:oleObj>
              </mc:Choice>
              <mc:Fallback>
                <p:oleObj r:id="rId9" imgW="355292" imgH="494870" progId="Equation.2">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9751" y="4011093"/>
                        <a:ext cx="6381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69063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89939"/>
            <a:ext cx="10924085" cy="482745"/>
          </a:xfrm>
        </p:spPr>
        <p:txBody>
          <a:bodyPr>
            <a:normAutofit fontScale="90000"/>
          </a:bodyPr>
          <a:lstStyle/>
          <a:p>
            <a:r>
              <a:rPr lang="en-GB" dirty="0"/>
              <a:t>R-L-C series circuit</a:t>
            </a:r>
          </a:p>
        </p:txBody>
      </p:sp>
      <p:grpSp>
        <p:nvGrpSpPr>
          <p:cNvPr id="3" name="Group 2">
            <a:extLst>
              <a:ext uri="{FF2B5EF4-FFF2-40B4-BE49-F238E27FC236}">
                <a16:creationId xmlns:a16="http://schemas.microsoft.com/office/drawing/2014/main" id="{54E156F4-B676-4497-9F2E-FFA87F77C241}"/>
              </a:ext>
            </a:extLst>
          </p:cNvPr>
          <p:cNvGrpSpPr>
            <a:grpSpLocks/>
          </p:cNvGrpSpPr>
          <p:nvPr/>
        </p:nvGrpSpPr>
        <p:grpSpPr bwMode="auto">
          <a:xfrm>
            <a:off x="8127110" y="1535693"/>
            <a:ext cx="3654425" cy="3206750"/>
            <a:chOff x="9554" y="4899"/>
            <a:chExt cx="5755" cy="5050"/>
          </a:xfrm>
        </p:grpSpPr>
        <p:sp>
          <p:nvSpPr>
            <p:cNvPr id="4" name="Rectangle 3">
              <a:extLst>
                <a:ext uri="{FF2B5EF4-FFF2-40B4-BE49-F238E27FC236}">
                  <a16:creationId xmlns:a16="http://schemas.microsoft.com/office/drawing/2014/main" id="{AE49376C-688D-4B58-AE73-759DFA84A810}"/>
                </a:ext>
              </a:extLst>
            </p:cNvPr>
            <p:cNvSpPr>
              <a:spLocks noChangeArrowheads="1"/>
            </p:cNvSpPr>
            <p:nvPr/>
          </p:nvSpPr>
          <p:spPr bwMode="auto">
            <a:xfrm>
              <a:off x="10764" y="9320"/>
              <a:ext cx="3841" cy="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Phasor diagram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D6FAFDD-D883-4E5B-AB05-255FC4D77155}"/>
                </a:ext>
              </a:extLst>
            </p:cNvPr>
            <p:cNvSpPr>
              <a:spLocks noChangeArrowheads="1"/>
            </p:cNvSpPr>
            <p:nvPr/>
          </p:nvSpPr>
          <p:spPr bwMode="auto">
            <a:xfrm>
              <a:off x="10485" y="6996"/>
              <a:ext cx="482"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Line 2477">
              <a:extLst>
                <a:ext uri="{FF2B5EF4-FFF2-40B4-BE49-F238E27FC236}">
                  <a16:creationId xmlns:a16="http://schemas.microsoft.com/office/drawing/2014/main" id="{FAE58B0D-49FF-40A5-863E-C3036DC85256}"/>
                </a:ext>
              </a:extLst>
            </p:cNvPr>
            <p:cNvCxnSpPr>
              <a:cxnSpLocks noChangeShapeType="1"/>
            </p:cNvCxnSpPr>
            <p:nvPr/>
          </p:nvCxnSpPr>
          <p:spPr bwMode="auto">
            <a:xfrm>
              <a:off x="9621" y="7114"/>
              <a:ext cx="4144" cy="2"/>
            </a:xfrm>
            <a:prstGeom prst="line">
              <a:avLst/>
            </a:prstGeom>
            <a:noFill/>
            <a:ln w="38100">
              <a:solidFill>
                <a:srgbClr val="00B0F0"/>
              </a:solidFill>
              <a:round/>
              <a:headEnd type="none" w="sm" len="med"/>
              <a:tailEnd type="arrow" w="sm" len="med"/>
            </a:ln>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C6FBA78D-38BD-43BF-9238-91F35FCB9C20}"/>
                </a:ext>
              </a:extLst>
            </p:cNvPr>
            <p:cNvSpPr>
              <a:spLocks noChangeArrowheads="1"/>
            </p:cNvSpPr>
            <p:nvPr/>
          </p:nvSpPr>
          <p:spPr bwMode="auto">
            <a:xfrm>
              <a:off x="10835" y="7971"/>
              <a:ext cx="546"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D37442A6-A47E-4604-A4E6-9455978E3C25}"/>
                </a:ext>
              </a:extLst>
            </p:cNvPr>
            <p:cNvSpPr>
              <a:spLocks noChangeArrowheads="1"/>
            </p:cNvSpPr>
            <p:nvPr/>
          </p:nvSpPr>
          <p:spPr bwMode="auto">
            <a:xfrm>
              <a:off x="13761" y="7461"/>
              <a:ext cx="1548"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effectLst/>
                  <a:latin typeface="Calibri" panose="020F0502020204030204" pitchFamily="34" charset="0"/>
                  <a:ea typeface="Calibri" panose="020F0502020204030204" pitchFamily="34" charset="0"/>
                  <a:cs typeface="Times New Roman" panose="02020603050405020304" pitchFamily="18" charset="0"/>
                </a:rPr>
                <a:t>L</a:t>
              </a:r>
              <a:r>
                <a:rPr lang="en-GB" sz="2600">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A0F736AC-6944-4DD1-9ED5-9B1E4E6908AB}"/>
                </a:ext>
              </a:extLst>
            </p:cNvPr>
            <p:cNvSpPr>
              <a:spLocks noChangeArrowheads="1"/>
            </p:cNvSpPr>
            <p:nvPr/>
          </p:nvSpPr>
          <p:spPr bwMode="auto">
            <a:xfrm>
              <a:off x="12000" y="8582"/>
              <a:ext cx="782"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D3C5E558-EDA1-41DC-BBFC-02F8FD7C498C}"/>
                </a:ext>
              </a:extLst>
            </p:cNvPr>
            <p:cNvSpPr>
              <a:spLocks noChangeArrowheads="1"/>
            </p:cNvSpPr>
            <p:nvPr/>
          </p:nvSpPr>
          <p:spPr bwMode="auto">
            <a:xfrm>
              <a:off x="13046" y="6478"/>
              <a:ext cx="489" cy="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Arc 2485">
              <a:extLst>
                <a:ext uri="{FF2B5EF4-FFF2-40B4-BE49-F238E27FC236}">
                  <a16:creationId xmlns:a16="http://schemas.microsoft.com/office/drawing/2014/main" id="{8DD7F294-4D58-4A68-A645-905D77A00C21}"/>
                </a:ext>
              </a:extLst>
            </p:cNvPr>
            <p:cNvSpPr>
              <a:spLocks/>
            </p:cNvSpPr>
            <p:nvPr/>
          </p:nvSpPr>
          <p:spPr bwMode="auto">
            <a:xfrm flipV="1">
              <a:off x="10677" y="7057"/>
              <a:ext cx="327" cy="67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2" name="Rectangle 11">
              <a:extLst>
                <a:ext uri="{FF2B5EF4-FFF2-40B4-BE49-F238E27FC236}">
                  <a16:creationId xmlns:a16="http://schemas.microsoft.com/office/drawing/2014/main" id="{F7760205-23C6-4685-B561-7E47E6E19CD7}"/>
                </a:ext>
              </a:extLst>
            </p:cNvPr>
            <p:cNvSpPr>
              <a:spLocks noChangeArrowheads="1"/>
            </p:cNvSpPr>
            <p:nvPr/>
          </p:nvSpPr>
          <p:spPr bwMode="auto">
            <a:xfrm>
              <a:off x="14178" y="4899"/>
              <a:ext cx="781"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Line 2490">
              <a:extLst>
                <a:ext uri="{FF2B5EF4-FFF2-40B4-BE49-F238E27FC236}">
                  <a16:creationId xmlns:a16="http://schemas.microsoft.com/office/drawing/2014/main" id="{1B4DEF97-5A7F-4267-AFEB-CD2AC7988CC3}"/>
                </a:ext>
              </a:extLst>
            </p:cNvPr>
            <p:cNvCxnSpPr>
              <a:cxnSpLocks noChangeAspect="1" noChangeShapeType="1"/>
            </p:cNvCxnSpPr>
            <p:nvPr/>
          </p:nvCxnSpPr>
          <p:spPr bwMode="auto">
            <a:xfrm>
              <a:off x="9569" y="7089"/>
              <a:ext cx="3312" cy="1900"/>
            </a:xfrm>
            <a:prstGeom prst="line">
              <a:avLst/>
            </a:prstGeom>
            <a:noFill/>
            <a:ln w="38100">
              <a:solidFill>
                <a:srgbClr val="002060"/>
              </a:solidFill>
              <a:round/>
              <a:headEnd type="none" w="sm" len="lg"/>
              <a:tailEnd type="arrow" w="sm" len="lg"/>
            </a:ln>
            <a:extLst>
              <a:ext uri="{909E8E84-426E-40DD-AFC4-6F175D3DCCD1}">
                <a14:hiddenFill xmlns:a14="http://schemas.microsoft.com/office/drawing/2010/main">
                  <a:noFill/>
                </a14:hiddenFill>
              </a:ext>
            </a:extLst>
          </p:spPr>
        </p:cxnSp>
        <p:cxnSp>
          <p:nvCxnSpPr>
            <p:cNvPr id="14" name="Line 2480">
              <a:extLst>
                <a:ext uri="{FF2B5EF4-FFF2-40B4-BE49-F238E27FC236}">
                  <a16:creationId xmlns:a16="http://schemas.microsoft.com/office/drawing/2014/main" id="{1811AE51-6CE3-454B-B6AA-D238CCCFAB45}"/>
                </a:ext>
              </a:extLst>
            </p:cNvPr>
            <p:cNvCxnSpPr>
              <a:cxnSpLocks noChangeAspect="1" noChangeShapeType="1"/>
            </p:cNvCxnSpPr>
            <p:nvPr/>
          </p:nvCxnSpPr>
          <p:spPr bwMode="auto">
            <a:xfrm>
              <a:off x="9554" y="7089"/>
              <a:ext cx="2131" cy="1222"/>
            </a:xfrm>
            <a:prstGeom prst="line">
              <a:avLst/>
            </a:prstGeom>
            <a:noFill/>
            <a:ln w="38100">
              <a:solidFill>
                <a:srgbClr val="C00000"/>
              </a:solidFill>
              <a:round/>
              <a:headEnd type="none" w="sm" len="lg"/>
              <a:tailEnd type="arrow" w="sm" len="lg"/>
            </a:ln>
            <a:extLst>
              <a:ext uri="{909E8E84-426E-40DD-AFC4-6F175D3DCCD1}">
                <a14:hiddenFill xmlns:a14="http://schemas.microsoft.com/office/drawing/2010/main">
                  <a:noFill/>
                </a14:hiddenFill>
              </a:ext>
            </a:extLst>
          </p:spPr>
        </p:cxnSp>
        <p:cxnSp>
          <p:nvCxnSpPr>
            <p:cNvPr id="15" name="Line 2491">
              <a:extLst>
                <a:ext uri="{FF2B5EF4-FFF2-40B4-BE49-F238E27FC236}">
                  <a16:creationId xmlns:a16="http://schemas.microsoft.com/office/drawing/2014/main" id="{39488645-B6EE-41FB-9417-92D7B25CE08E}"/>
                </a:ext>
              </a:extLst>
            </p:cNvPr>
            <p:cNvCxnSpPr>
              <a:cxnSpLocks noChangeAspect="1" noChangeShapeType="1"/>
            </p:cNvCxnSpPr>
            <p:nvPr/>
          </p:nvCxnSpPr>
          <p:spPr bwMode="auto">
            <a:xfrm rot="-5400000">
              <a:off x="11974" y="5885"/>
              <a:ext cx="3888" cy="2232"/>
            </a:xfrm>
            <a:prstGeom prst="line">
              <a:avLst/>
            </a:prstGeom>
            <a:noFill/>
            <a:ln w="38100">
              <a:solidFill>
                <a:srgbClr val="FF0000"/>
              </a:solidFill>
              <a:round/>
              <a:headEnd type="none" w="sm" len="lg"/>
              <a:tailEnd type="arrow" w="sm" len="lg"/>
            </a:ln>
            <a:extLst>
              <a:ext uri="{909E8E84-426E-40DD-AFC4-6F175D3DCCD1}">
                <a14:hiddenFill xmlns:a14="http://schemas.microsoft.com/office/drawing/2010/main">
                  <a:noFill/>
                </a14:hiddenFill>
              </a:ext>
            </a:extLst>
          </p:spPr>
        </p:cxnSp>
        <p:cxnSp>
          <p:nvCxnSpPr>
            <p:cNvPr id="16" name="Line 2492">
              <a:extLst>
                <a:ext uri="{FF2B5EF4-FFF2-40B4-BE49-F238E27FC236}">
                  <a16:creationId xmlns:a16="http://schemas.microsoft.com/office/drawing/2014/main" id="{A6F770DB-8510-46F0-B596-08834ED8A805}"/>
                </a:ext>
              </a:extLst>
            </p:cNvPr>
            <p:cNvCxnSpPr>
              <a:cxnSpLocks noChangeAspect="1" noChangeShapeType="1"/>
            </p:cNvCxnSpPr>
            <p:nvPr/>
          </p:nvCxnSpPr>
          <p:spPr bwMode="auto">
            <a:xfrm rot="-5400000">
              <a:off x="13431" y="5619"/>
              <a:ext cx="2016" cy="1158"/>
            </a:xfrm>
            <a:prstGeom prst="line">
              <a:avLst/>
            </a:prstGeom>
            <a:noFill/>
            <a:ln w="38100">
              <a:solidFill>
                <a:srgbClr val="7030A0"/>
              </a:solidFill>
              <a:round/>
              <a:headEnd type="arrow" w="sm" len="lg"/>
              <a:tailEnd type="none" w="sm" len="lg"/>
            </a:ln>
            <a:extLst>
              <a:ext uri="{909E8E84-426E-40DD-AFC4-6F175D3DCCD1}">
                <a14:hiddenFill xmlns:a14="http://schemas.microsoft.com/office/drawing/2010/main">
                  <a:noFill/>
                </a14:hiddenFill>
              </a:ext>
            </a:extLst>
          </p:spPr>
        </p:cxnSp>
        <p:sp>
          <p:nvSpPr>
            <p:cNvPr id="17" name="Rectangle 16">
              <a:extLst>
                <a:ext uri="{FF2B5EF4-FFF2-40B4-BE49-F238E27FC236}">
                  <a16:creationId xmlns:a16="http://schemas.microsoft.com/office/drawing/2014/main" id="{9B470A38-A67F-47E8-A1B8-D1C4DA3FA25B}"/>
                </a:ext>
              </a:extLst>
            </p:cNvPr>
            <p:cNvSpPr>
              <a:spLocks noChangeArrowheads="1"/>
            </p:cNvSpPr>
            <p:nvPr/>
          </p:nvSpPr>
          <p:spPr bwMode="auto">
            <a:xfrm>
              <a:off x="14238" y="6879"/>
              <a:ext cx="781"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aseline="-250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Line 2494">
              <a:extLst>
                <a:ext uri="{FF2B5EF4-FFF2-40B4-BE49-F238E27FC236}">
                  <a16:creationId xmlns:a16="http://schemas.microsoft.com/office/drawing/2014/main" id="{6F8AAB91-B83D-469C-A802-36DA27E32120}"/>
                </a:ext>
              </a:extLst>
            </p:cNvPr>
            <p:cNvCxnSpPr>
              <a:cxnSpLocks noChangeAspect="1" noChangeShapeType="1"/>
            </p:cNvCxnSpPr>
            <p:nvPr/>
          </p:nvCxnSpPr>
          <p:spPr bwMode="auto">
            <a:xfrm rot="-5400000">
              <a:off x="12517" y="7607"/>
              <a:ext cx="1728" cy="992"/>
            </a:xfrm>
            <a:prstGeom prst="line">
              <a:avLst/>
            </a:prstGeom>
            <a:noFill/>
            <a:ln w="12700">
              <a:solidFill>
                <a:srgbClr val="000000"/>
              </a:solidFill>
              <a:round/>
              <a:headEnd type="none" w="sm" len="lg"/>
              <a:tailEnd type="arrow" w="sm" len="lg"/>
            </a:ln>
            <a:extLst>
              <a:ext uri="{909E8E84-426E-40DD-AFC4-6F175D3DCCD1}">
                <a14:hiddenFill xmlns:a14="http://schemas.microsoft.com/office/drawing/2010/main">
                  <a:noFill/>
                </a14:hiddenFill>
              </a:ext>
            </a:extLst>
          </p:spPr>
        </p:cxnSp>
      </p:grpSp>
      <p:grpSp>
        <p:nvGrpSpPr>
          <p:cNvPr id="19" name="Group 18">
            <a:extLst>
              <a:ext uri="{FF2B5EF4-FFF2-40B4-BE49-F238E27FC236}">
                <a16:creationId xmlns:a16="http://schemas.microsoft.com/office/drawing/2014/main" id="{9B515C12-DE06-49C1-989F-CEE761155293}"/>
              </a:ext>
            </a:extLst>
          </p:cNvPr>
          <p:cNvGrpSpPr>
            <a:grpSpLocks/>
          </p:cNvGrpSpPr>
          <p:nvPr/>
        </p:nvGrpSpPr>
        <p:grpSpPr bwMode="auto">
          <a:xfrm>
            <a:off x="838200" y="616137"/>
            <a:ext cx="6941819" cy="2088074"/>
            <a:chOff x="0" y="-2192"/>
            <a:chExt cx="20001" cy="22221"/>
          </a:xfrm>
        </p:grpSpPr>
        <p:grpSp>
          <p:nvGrpSpPr>
            <p:cNvPr id="20" name="Group 19">
              <a:extLst>
                <a:ext uri="{FF2B5EF4-FFF2-40B4-BE49-F238E27FC236}">
                  <a16:creationId xmlns:a16="http://schemas.microsoft.com/office/drawing/2014/main" id="{80A1EAF8-31EC-47C3-AD28-195622DA1E73}"/>
                </a:ext>
              </a:extLst>
            </p:cNvPr>
            <p:cNvGrpSpPr>
              <a:grpSpLocks/>
            </p:cNvGrpSpPr>
            <p:nvPr/>
          </p:nvGrpSpPr>
          <p:grpSpPr bwMode="auto">
            <a:xfrm>
              <a:off x="0" y="10099"/>
              <a:ext cx="7161" cy="3975"/>
              <a:chOff x="0" y="-62"/>
              <a:chExt cx="20003" cy="20140"/>
            </a:xfrm>
          </p:grpSpPr>
          <p:cxnSp>
            <p:nvCxnSpPr>
              <p:cNvPr id="61" name="Line 1272">
                <a:extLst>
                  <a:ext uri="{FF2B5EF4-FFF2-40B4-BE49-F238E27FC236}">
                    <a16:creationId xmlns:a16="http://schemas.microsoft.com/office/drawing/2014/main" id="{7D127E4C-FBE0-4152-A18C-F44FC21FCACE}"/>
                  </a:ext>
                </a:extLst>
              </p:cNvPr>
              <p:cNvCxnSpPr>
                <a:cxnSpLocks noChangeShapeType="1"/>
              </p:cNvCxnSpPr>
              <p:nvPr/>
            </p:nvCxnSpPr>
            <p:spPr bwMode="auto">
              <a:xfrm>
                <a:off x="0" y="9210"/>
                <a:ext cx="4355" cy="76"/>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2" name="Line 1273">
                <a:extLst>
                  <a:ext uri="{FF2B5EF4-FFF2-40B4-BE49-F238E27FC236}">
                    <a16:creationId xmlns:a16="http://schemas.microsoft.com/office/drawing/2014/main" id="{1B6B90C7-A974-4C61-9E7D-134A08745913}"/>
                  </a:ext>
                </a:extLst>
              </p:cNvPr>
              <p:cNvCxnSpPr>
                <a:cxnSpLocks noChangeShapeType="1"/>
              </p:cNvCxnSpPr>
              <p:nvPr/>
            </p:nvCxnSpPr>
            <p:spPr bwMode="auto">
              <a:xfrm flipV="1">
                <a:off x="4224" y="-62"/>
                <a:ext cx="841" cy="9348"/>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3" name="Line 1274">
                <a:extLst>
                  <a:ext uri="{FF2B5EF4-FFF2-40B4-BE49-F238E27FC236}">
                    <a16:creationId xmlns:a16="http://schemas.microsoft.com/office/drawing/2014/main" id="{7D706B59-EFDA-4F1D-9B72-9135D6D46247}"/>
                  </a:ext>
                </a:extLst>
              </p:cNvPr>
              <p:cNvCxnSpPr>
                <a:cxnSpLocks noChangeShapeType="1"/>
              </p:cNvCxnSpPr>
              <p:nvPr/>
            </p:nvCxnSpPr>
            <p:spPr bwMode="auto">
              <a:xfrm flipH="1" flipV="1">
                <a:off x="4920" y="-62"/>
                <a:ext cx="1804"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4" name="Line 1275">
                <a:extLst>
                  <a:ext uri="{FF2B5EF4-FFF2-40B4-BE49-F238E27FC236}">
                    <a16:creationId xmlns:a16="http://schemas.microsoft.com/office/drawing/2014/main" id="{581B755C-568B-4C02-A73F-42E4E23266B3}"/>
                  </a:ext>
                </a:extLst>
              </p:cNvPr>
              <p:cNvCxnSpPr>
                <a:cxnSpLocks noChangeShapeType="1"/>
              </p:cNvCxnSpPr>
              <p:nvPr/>
            </p:nvCxnSpPr>
            <p:spPr bwMode="auto">
              <a:xfrm flipV="1">
                <a:off x="6593" y="-62"/>
                <a:ext cx="1804"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5" name="Line 1276">
                <a:extLst>
                  <a:ext uri="{FF2B5EF4-FFF2-40B4-BE49-F238E27FC236}">
                    <a16:creationId xmlns:a16="http://schemas.microsoft.com/office/drawing/2014/main" id="{8CE9E3FE-DDDF-4471-8E39-56549C8F0561}"/>
                  </a:ext>
                </a:extLst>
              </p:cNvPr>
              <p:cNvCxnSpPr>
                <a:cxnSpLocks noChangeShapeType="1"/>
              </p:cNvCxnSpPr>
              <p:nvPr/>
            </p:nvCxnSpPr>
            <p:spPr bwMode="auto">
              <a:xfrm flipH="1" flipV="1">
                <a:off x="8084" y="-62"/>
                <a:ext cx="1805"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6" name="Line 1277">
                <a:extLst>
                  <a:ext uri="{FF2B5EF4-FFF2-40B4-BE49-F238E27FC236}">
                    <a16:creationId xmlns:a16="http://schemas.microsoft.com/office/drawing/2014/main" id="{39AB6521-8597-429C-AAB3-B7757EFF6C76}"/>
                  </a:ext>
                </a:extLst>
              </p:cNvPr>
              <p:cNvCxnSpPr>
                <a:cxnSpLocks noChangeShapeType="1"/>
              </p:cNvCxnSpPr>
              <p:nvPr/>
            </p:nvCxnSpPr>
            <p:spPr bwMode="auto">
              <a:xfrm flipV="1">
                <a:off x="9878" y="-62"/>
                <a:ext cx="1804"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7" name="Line 1278">
                <a:extLst>
                  <a:ext uri="{FF2B5EF4-FFF2-40B4-BE49-F238E27FC236}">
                    <a16:creationId xmlns:a16="http://schemas.microsoft.com/office/drawing/2014/main" id="{65A73323-3AC7-499D-8FC6-A84B5C89F75B}"/>
                  </a:ext>
                </a:extLst>
              </p:cNvPr>
              <p:cNvCxnSpPr>
                <a:cxnSpLocks noChangeShapeType="1"/>
              </p:cNvCxnSpPr>
              <p:nvPr/>
            </p:nvCxnSpPr>
            <p:spPr bwMode="auto">
              <a:xfrm flipH="1" flipV="1">
                <a:off x="11500" y="-62"/>
                <a:ext cx="1805"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8" name="Line 1279">
                <a:extLst>
                  <a:ext uri="{FF2B5EF4-FFF2-40B4-BE49-F238E27FC236}">
                    <a16:creationId xmlns:a16="http://schemas.microsoft.com/office/drawing/2014/main" id="{28393122-84D7-4B54-AB56-2E1A9251CF79}"/>
                  </a:ext>
                </a:extLst>
              </p:cNvPr>
              <p:cNvCxnSpPr>
                <a:cxnSpLocks noChangeShapeType="1"/>
              </p:cNvCxnSpPr>
              <p:nvPr/>
            </p:nvCxnSpPr>
            <p:spPr bwMode="auto">
              <a:xfrm flipV="1">
                <a:off x="13244" y="-62"/>
                <a:ext cx="1804" cy="20140"/>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69" name="Line 1280">
                <a:extLst>
                  <a:ext uri="{FF2B5EF4-FFF2-40B4-BE49-F238E27FC236}">
                    <a16:creationId xmlns:a16="http://schemas.microsoft.com/office/drawing/2014/main" id="{2BCC5608-BC98-4384-B487-0673C1D413ED}"/>
                  </a:ext>
                </a:extLst>
              </p:cNvPr>
              <p:cNvCxnSpPr>
                <a:cxnSpLocks noChangeShapeType="1"/>
              </p:cNvCxnSpPr>
              <p:nvPr/>
            </p:nvCxnSpPr>
            <p:spPr bwMode="auto">
              <a:xfrm flipH="1">
                <a:off x="15649" y="9210"/>
                <a:ext cx="4354" cy="76"/>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70" name="Line 1281">
                <a:extLst>
                  <a:ext uri="{FF2B5EF4-FFF2-40B4-BE49-F238E27FC236}">
                    <a16:creationId xmlns:a16="http://schemas.microsoft.com/office/drawing/2014/main" id="{90E9CFDE-29CB-4A91-BC2C-DA510D368BAC}"/>
                  </a:ext>
                </a:extLst>
              </p:cNvPr>
              <p:cNvCxnSpPr>
                <a:cxnSpLocks noChangeShapeType="1"/>
              </p:cNvCxnSpPr>
              <p:nvPr/>
            </p:nvCxnSpPr>
            <p:spPr bwMode="auto">
              <a:xfrm flipH="1" flipV="1">
                <a:off x="14928" y="-62"/>
                <a:ext cx="840" cy="9348"/>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grpSp>
        <p:grpSp>
          <p:nvGrpSpPr>
            <p:cNvPr id="21" name="Group 20">
              <a:extLst>
                <a:ext uri="{FF2B5EF4-FFF2-40B4-BE49-F238E27FC236}">
                  <a16:creationId xmlns:a16="http://schemas.microsoft.com/office/drawing/2014/main" id="{470AE788-078F-428D-8386-B2B590EF19AD}"/>
                </a:ext>
              </a:extLst>
            </p:cNvPr>
            <p:cNvGrpSpPr>
              <a:grpSpLocks/>
            </p:cNvGrpSpPr>
            <p:nvPr/>
          </p:nvGrpSpPr>
          <p:grpSpPr bwMode="auto">
            <a:xfrm>
              <a:off x="7221" y="9274"/>
              <a:ext cx="6748" cy="4515"/>
              <a:chOff x="0" y="79"/>
              <a:chExt cx="20002" cy="19866"/>
            </a:xfrm>
          </p:grpSpPr>
          <p:cxnSp>
            <p:nvCxnSpPr>
              <p:cNvPr id="40" name="Line 1283">
                <a:extLst>
                  <a:ext uri="{FF2B5EF4-FFF2-40B4-BE49-F238E27FC236}">
                    <a16:creationId xmlns:a16="http://schemas.microsoft.com/office/drawing/2014/main" id="{6B10A08D-4189-4742-9A3A-2E66A252CF2C}"/>
                  </a:ext>
                </a:extLst>
              </p:cNvPr>
              <p:cNvCxnSpPr>
                <a:cxnSpLocks noChangeShapeType="1"/>
              </p:cNvCxnSpPr>
              <p:nvPr/>
            </p:nvCxnSpPr>
            <p:spPr bwMode="auto">
              <a:xfrm>
                <a:off x="0" y="11761"/>
                <a:ext cx="4621" cy="66"/>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41" name="Line 1284">
                <a:extLst>
                  <a:ext uri="{FF2B5EF4-FFF2-40B4-BE49-F238E27FC236}">
                    <a16:creationId xmlns:a16="http://schemas.microsoft.com/office/drawing/2014/main" id="{986F5920-78D3-4618-8958-A7BDA252596A}"/>
                  </a:ext>
                </a:extLst>
              </p:cNvPr>
              <p:cNvCxnSpPr>
                <a:cxnSpLocks noChangeShapeType="1"/>
              </p:cNvCxnSpPr>
              <p:nvPr/>
            </p:nvCxnSpPr>
            <p:spPr bwMode="auto">
              <a:xfrm flipH="1">
                <a:off x="15381" y="11761"/>
                <a:ext cx="4621" cy="66"/>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sp>
            <p:nvSpPr>
              <p:cNvPr id="42" name="Arc 1285">
                <a:extLst>
                  <a:ext uri="{FF2B5EF4-FFF2-40B4-BE49-F238E27FC236}">
                    <a16:creationId xmlns:a16="http://schemas.microsoft.com/office/drawing/2014/main" id="{3423ED16-377A-4C5B-B5EF-43CFD4FDFF3E}"/>
                  </a:ext>
                </a:extLst>
              </p:cNvPr>
              <p:cNvSpPr>
                <a:spLocks/>
              </p:cNvSpPr>
              <p:nvPr/>
            </p:nvSpPr>
            <p:spPr bwMode="auto">
              <a:xfrm flipH="1">
                <a:off x="4328" y="475"/>
                <a:ext cx="1941" cy="1016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43" name="Group 42">
                <a:extLst>
                  <a:ext uri="{FF2B5EF4-FFF2-40B4-BE49-F238E27FC236}">
                    <a16:creationId xmlns:a16="http://schemas.microsoft.com/office/drawing/2014/main" id="{E7FB0CAF-3882-487D-A579-6866A3D3FCD1}"/>
                  </a:ext>
                </a:extLst>
              </p:cNvPr>
              <p:cNvGrpSpPr>
                <a:grpSpLocks/>
              </p:cNvGrpSpPr>
              <p:nvPr/>
            </p:nvGrpSpPr>
            <p:grpSpPr bwMode="auto">
              <a:xfrm>
                <a:off x="5644" y="79"/>
                <a:ext cx="3483" cy="19866"/>
                <a:chOff x="0" y="0"/>
                <a:chExt cx="20001" cy="20001"/>
              </a:xfrm>
            </p:grpSpPr>
            <p:grpSp>
              <p:nvGrpSpPr>
                <p:cNvPr id="56" name="Group 55">
                  <a:extLst>
                    <a:ext uri="{FF2B5EF4-FFF2-40B4-BE49-F238E27FC236}">
                      <a16:creationId xmlns:a16="http://schemas.microsoft.com/office/drawing/2014/main" id="{4A689A02-DB5B-4189-AFDA-74353E1F72A3}"/>
                    </a:ext>
                  </a:extLst>
                </p:cNvPr>
                <p:cNvGrpSpPr>
                  <a:grpSpLocks/>
                </p:cNvGrpSpPr>
                <p:nvPr/>
              </p:nvGrpSpPr>
              <p:grpSpPr bwMode="auto">
                <a:xfrm>
                  <a:off x="4898" y="0"/>
                  <a:ext cx="7184" cy="20001"/>
                  <a:chOff x="0" y="0"/>
                  <a:chExt cx="20000" cy="20001"/>
                </a:xfrm>
              </p:grpSpPr>
              <p:sp>
                <p:nvSpPr>
                  <p:cNvPr id="59" name="Arc 1288">
                    <a:extLst>
                      <a:ext uri="{FF2B5EF4-FFF2-40B4-BE49-F238E27FC236}">
                        <a16:creationId xmlns:a16="http://schemas.microsoft.com/office/drawing/2014/main" id="{77165703-FE9B-4524-BB25-B05ACB3180C3}"/>
                      </a:ext>
                    </a:extLst>
                  </p:cNvPr>
                  <p:cNvSpPr>
                    <a:spLocks/>
                  </p:cNvSpPr>
                  <p:nvPr/>
                </p:nvSpPr>
                <p:spPr bwMode="auto">
                  <a:xfrm>
                    <a:off x="0" y="0"/>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60" name="Arc 1289">
                    <a:extLst>
                      <a:ext uri="{FF2B5EF4-FFF2-40B4-BE49-F238E27FC236}">
                        <a16:creationId xmlns:a16="http://schemas.microsoft.com/office/drawing/2014/main" id="{E58BCA39-F647-4ED6-8D03-639DAF9A18A4}"/>
                      </a:ext>
                    </a:extLst>
                  </p:cNvPr>
                  <p:cNvSpPr>
                    <a:spLocks/>
                  </p:cNvSpPr>
                  <p:nvPr/>
                </p:nvSpPr>
                <p:spPr bwMode="auto">
                  <a:xfrm flipV="1">
                    <a:off x="0" y="9768"/>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57" name="Arc 1290">
                  <a:extLst>
                    <a:ext uri="{FF2B5EF4-FFF2-40B4-BE49-F238E27FC236}">
                      <a16:creationId xmlns:a16="http://schemas.microsoft.com/office/drawing/2014/main" id="{ECE0F39B-5850-42C4-8E31-F8DBCA7A5DF0}"/>
                    </a:ext>
                  </a:extLst>
                </p:cNvPr>
                <p:cNvSpPr>
                  <a:spLocks/>
                </p:cNvSpPr>
                <p:nvPr/>
              </p:nvSpPr>
              <p:spPr bwMode="auto">
                <a:xfrm flipH="1">
                  <a:off x="0" y="399"/>
                  <a:ext cx="20001" cy="983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8" name="Arc 1291">
                  <a:extLst>
                    <a:ext uri="{FF2B5EF4-FFF2-40B4-BE49-F238E27FC236}">
                      <a16:creationId xmlns:a16="http://schemas.microsoft.com/office/drawing/2014/main" id="{781FA2B3-B05D-4CCE-AE33-0F92F42DF04A}"/>
                    </a:ext>
                  </a:extLst>
                </p:cNvPr>
                <p:cNvSpPr>
                  <a:spLocks/>
                </p:cNvSpPr>
                <p:nvPr/>
              </p:nvSpPr>
              <p:spPr bwMode="auto">
                <a:xfrm flipH="1" flipV="1">
                  <a:off x="0" y="9768"/>
                  <a:ext cx="7184"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44" name="Group 43">
                <a:extLst>
                  <a:ext uri="{FF2B5EF4-FFF2-40B4-BE49-F238E27FC236}">
                    <a16:creationId xmlns:a16="http://schemas.microsoft.com/office/drawing/2014/main" id="{11F11FB5-D813-4A3C-A3A5-90F14C4C0D42}"/>
                  </a:ext>
                </a:extLst>
              </p:cNvPr>
              <p:cNvGrpSpPr>
                <a:grpSpLocks/>
              </p:cNvGrpSpPr>
              <p:nvPr/>
            </p:nvGrpSpPr>
            <p:grpSpPr bwMode="auto">
              <a:xfrm>
                <a:off x="8578" y="79"/>
                <a:ext cx="3486" cy="19866"/>
                <a:chOff x="0" y="0"/>
                <a:chExt cx="20000" cy="20001"/>
              </a:xfrm>
            </p:grpSpPr>
            <p:grpSp>
              <p:nvGrpSpPr>
                <p:cNvPr id="51" name="Group 50">
                  <a:extLst>
                    <a:ext uri="{FF2B5EF4-FFF2-40B4-BE49-F238E27FC236}">
                      <a16:creationId xmlns:a16="http://schemas.microsoft.com/office/drawing/2014/main" id="{2B183A55-FFD3-4D1D-9546-A3C6B9DFBD6A}"/>
                    </a:ext>
                  </a:extLst>
                </p:cNvPr>
                <p:cNvGrpSpPr>
                  <a:grpSpLocks/>
                </p:cNvGrpSpPr>
                <p:nvPr/>
              </p:nvGrpSpPr>
              <p:grpSpPr bwMode="auto">
                <a:xfrm>
                  <a:off x="4917" y="0"/>
                  <a:ext cx="7177" cy="20001"/>
                  <a:chOff x="0" y="0"/>
                  <a:chExt cx="20000" cy="20001"/>
                </a:xfrm>
              </p:grpSpPr>
              <p:sp>
                <p:nvSpPr>
                  <p:cNvPr id="54" name="Arc 1294">
                    <a:extLst>
                      <a:ext uri="{FF2B5EF4-FFF2-40B4-BE49-F238E27FC236}">
                        <a16:creationId xmlns:a16="http://schemas.microsoft.com/office/drawing/2014/main" id="{E3BFEAC2-6732-4DC7-B728-4E7B8CB770CC}"/>
                      </a:ext>
                    </a:extLst>
                  </p:cNvPr>
                  <p:cNvSpPr>
                    <a:spLocks/>
                  </p:cNvSpPr>
                  <p:nvPr/>
                </p:nvSpPr>
                <p:spPr bwMode="auto">
                  <a:xfrm>
                    <a:off x="0" y="0"/>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5" name="Arc 1295">
                    <a:extLst>
                      <a:ext uri="{FF2B5EF4-FFF2-40B4-BE49-F238E27FC236}">
                        <a16:creationId xmlns:a16="http://schemas.microsoft.com/office/drawing/2014/main" id="{466E6F20-59C8-464F-8E65-6DE9242EB83A}"/>
                      </a:ext>
                    </a:extLst>
                  </p:cNvPr>
                  <p:cNvSpPr>
                    <a:spLocks/>
                  </p:cNvSpPr>
                  <p:nvPr/>
                </p:nvSpPr>
                <p:spPr bwMode="auto">
                  <a:xfrm flipV="1">
                    <a:off x="0" y="9768"/>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52" name="Arc 1296">
                  <a:extLst>
                    <a:ext uri="{FF2B5EF4-FFF2-40B4-BE49-F238E27FC236}">
                      <a16:creationId xmlns:a16="http://schemas.microsoft.com/office/drawing/2014/main" id="{BFDF3D5D-07DE-443C-99FF-C40B7FCC605B}"/>
                    </a:ext>
                  </a:extLst>
                </p:cNvPr>
                <p:cNvSpPr>
                  <a:spLocks/>
                </p:cNvSpPr>
                <p:nvPr/>
              </p:nvSpPr>
              <p:spPr bwMode="auto">
                <a:xfrm flipH="1">
                  <a:off x="0" y="399"/>
                  <a:ext cx="20000" cy="983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3" name="Arc 1297">
                  <a:extLst>
                    <a:ext uri="{FF2B5EF4-FFF2-40B4-BE49-F238E27FC236}">
                      <a16:creationId xmlns:a16="http://schemas.microsoft.com/office/drawing/2014/main" id="{8C52B695-E98C-45D1-828F-FD0126F3F13D}"/>
                    </a:ext>
                  </a:extLst>
                </p:cNvPr>
                <p:cNvSpPr>
                  <a:spLocks/>
                </p:cNvSpPr>
                <p:nvPr/>
              </p:nvSpPr>
              <p:spPr bwMode="auto">
                <a:xfrm flipH="1" flipV="1">
                  <a:off x="0" y="9768"/>
                  <a:ext cx="7177"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45" name="Group 44">
                <a:extLst>
                  <a:ext uri="{FF2B5EF4-FFF2-40B4-BE49-F238E27FC236}">
                    <a16:creationId xmlns:a16="http://schemas.microsoft.com/office/drawing/2014/main" id="{8B07696B-3540-4C97-A935-284E49716912}"/>
                  </a:ext>
                </a:extLst>
              </p:cNvPr>
              <p:cNvGrpSpPr>
                <a:grpSpLocks/>
              </p:cNvGrpSpPr>
              <p:nvPr/>
            </p:nvGrpSpPr>
            <p:grpSpPr bwMode="auto">
              <a:xfrm>
                <a:off x="12138" y="79"/>
                <a:ext cx="1251" cy="19866"/>
                <a:chOff x="0" y="0"/>
                <a:chExt cx="20000" cy="20001"/>
              </a:xfrm>
            </p:grpSpPr>
            <p:sp>
              <p:nvSpPr>
                <p:cNvPr id="49" name="Arc 1299">
                  <a:extLst>
                    <a:ext uri="{FF2B5EF4-FFF2-40B4-BE49-F238E27FC236}">
                      <a16:creationId xmlns:a16="http://schemas.microsoft.com/office/drawing/2014/main" id="{E156AE95-F3A2-43BB-A913-5C5D21602188}"/>
                    </a:ext>
                  </a:extLst>
                </p:cNvPr>
                <p:cNvSpPr>
                  <a:spLocks/>
                </p:cNvSpPr>
                <p:nvPr/>
              </p:nvSpPr>
              <p:spPr bwMode="auto">
                <a:xfrm>
                  <a:off x="0" y="0"/>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0" name="Arc 1300">
                  <a:extLst>
                    <a:ext uri="{FF2B5EF4-FFF2-40B4-BE49-F238E27FC236}">
                      <a16:creationId xmlns:a16="http://schemas.microsoft.com/office/drawing/2014/main" id="{93ED6B30-14FC-49F6-8DB6-F1F0DFF24532}"/>
                    </a:ext>
                  </a:extLst>
                </p:cNvPr>
                <p:cNvSpPr>
                  <a:spLocks/>
                </p:cNvSpPr>
                <p:nvPr/>
              </p:nvSpPr>
              <p:spPr bwMode="auto">
                <a:xfrm flipV="1">
                  <a:off x="0" y="9768"/>
                  <a:ext cx="20000" cy="10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46" name="Arc 1301">
                <a:extLst>
                  <a:ext uri="{FF2B5EF4-FFF2-40B4-BE49-F238E27FC236}">
                    <a16:creationId xmlns:a16="http://schemas.microsoft.com/office/drawing/2014/main" id="{3297C004-8E32-471A-9631-9184B3C9DA15}"/>
                  </a:ext>
                </a:extLst>
              </p:cNvPr>
              <p:cNvSpPr>
                <a:spLocks/>
              </p:cNvSpPr>
              <p:nvPr/>
            </p:nvSpPr>
            <p:spPr bwMode="auto">
              <a:xfrm flipH="1">
                <a:off x="11284" y="475"/>
                <a:ext cx="2093" cy="976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7" name="Arc 1302">
                <a:extLst>
                  <a:ext uri="{FF2B5EF4-FFF2-40B4-BE49-F238E27FC236}">
                    <a16:creationId xmlns:a16="http://schemas.microsoft.com/office/drawing/2014/main" id="{8D638177-753F-469B-8872-2BD3889DC1DA}"/>
                  </a:ext>
                </a:extLst>
              </p:cNvPr>
              <p:cNvSpPr>
                <a:spLocks/>
              </p:cNvSpPr>
              <p:nvPr/>
            </p:nvSpPr>
            <p:spPr bwMode="auto">
              <a:xfrm flipH="1" flipV="1">
                <a:off x="11284" y="9781"/>
                <a:ext cx="1251" cy="1016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8" name="Arc 1303">
                <a:extLst>
                  <a:ext uri="{FF2B5EF4-FFF2-40B4-BE49-F238E27FC236}">
                    <a16:creationId xmlns:a16="http://schemas.microsoft.com/office/drawing/2014/main" id="{E3EC2461-CCE9-4438-9AB7-21C2DB8D085D}"/>
                  </a:ext>
                </a:extLst>
              </p:cNvPr>
              <p:cNvSpPr>
                <a:spLocks/>
              </p:cNvSpPr>
              <p:nvPr/>
            </p:nvSpPr>
            <p:spPr bwMode="auto">
              <a:xfrm>
                <a:off x="13531" y="475"/>
                <a:ext cx="1939" cy="1016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22" name="Rectangle 21">
              <a:extLst>
                <a:ext uri="{FF2B5EF4-FFF2-40B4-BE49-F238E27FC236}">
                  <a16:creationId xmlns:a16="http://schemas.microsoft.com/office/drawing/2014/main" id="{014A86D6-EEB6-4907-8080-A3E9F7A8E43F}"/>
                </a:ext>
              </a:extLst>
            </p:cNvPr>
            <p:cNvSpPr>
              <a:spLocks noChangeArrowheads="1"/>
            </p:cNvSpPr>
            <p:nvPr/>
          </p:nvSpPr>
          <p:spPr bwMode="auto">
            <a:xfrm>
              <a:off x="3311" y="6604"/>
              <a:ext cx="1124"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B47CDE76-FAC3-418D-AAFB-FB5267A33D56}"/>
                </a:ext>
              </a:extLst>
            </p:cNvPr>
            <p:cNvSpPr>
              <a:spLocks noChangeArrowheads="1"/>
            </p:cNvSpPr>
            <p:nvPr/>
          </p:nvSpPr>
          <p:spPr bwMode="auto">
            <a:xfrm>
              <a:off x="9361" y="4834"/>
              <a:ext cx="1831" cy="4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j</a:t>
              </a:r>
              <a:r>
                <a:rPr lang="en-GB" sz="2400" b="1"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w</a:t>
              </a: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4" name="Line 1306">
              <a:extLst>
                <a:ext uri="{FF2B5EF4-FFF2-40B4-BE49-F238E27FC236}">
                  <a16:creationId xmlns:a16="http://schemas.microsoft.com/office/drawing/2014/main" id="{C73360FF-9668-49D6-B86C-7BFE3A9CD9EC}"/>
                </a:ext>
              </a:extLst>
            </p:cNvPr>
            <p:cNvCxnSpPr>
              <a:cxnSpLocks noChangeShapeType="1"/>
            </p:cNvCxnSpPr>
            <p:nvPr/>
          </p:nvCxnSpPr>
          <p:spPr bwMode="auto">
            <a:xfrm>
              <a:off x="6752" y="11944"/>
              <a:ext cx="865" cy="15"/>
            </a:xfrm>
            <a:prstGeom prst="line">
              <a:avLst/>
            </a:prstGeom>
            <a:noFill/>
            <a:ln w="28575">
              <a:solidFill>
                <a:srgbClr val="002060"/>
              </a:solidFill>
              <a:round/>
              <a:headEnd w="lg" len="lg"/>
              <a:tailEnd type="arrow" w="lg" len="lg"/>
            </a:ln>
            <a:extLst>
              <a:ext uri="{909E8E84-426E-40DD-AFC4-6F175D3DCCD1}">
                <a14:hiddenFill xmlns:a14="http://schemas.microsoft.com/office/drawing/2010/main">
                  <a:noFill/>
                </a14:hiddenFill>
              </a:ext>
            </a:extLst>
          </p:spPr>
        </p:cxnSp>
        <p:sp>
          <p:nvSpPr>
            <p:cNvPr id="25" name="Rectangle 24">
              <a:extLst>
                <a:ext uri="{FF2B5EF4-FFF2-40B4-BE49-F238E27FC236}">
                  <a16:creationId xmlns:a16="http://schemas.microsoft.com/office/drawing/2014/main" id="{380CD13B-00E5-4A10-B8EB-B6F9A0E13D8C}"/>
                </a:ext>
              </a:extLst>
            </p:cNvPr>
            <p:cNvSpPr>
              <a:spLocks noChangeArrowheads="1"/>
            </p:cNvSpPr>
            <p:nvPr/>
          </p:nvSpPr>
          <p:spPr bwMode="auto">
            <a:xfrm>
              <a:off x="6829" y="7249"/>
              <a:ext cx="1124"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4D38BF2C-9FE5-4001-82BA-B26B57F4666E}"/>
                </a:ext>
              </a:extLst>
            </p:cNvPr>
            <p:cNvSpPr>
              <a:spLocks noChangeArrowheads="1"/>
            </p:cNvSpPr>
            <p:nvPr/>
          </p:nvSpPr>
          <p:spPr bwMode="auto">
            <a:xfrm>
              <a:off x="3105" y="16159"/>
              <a:ext cx="1124"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1F877AFA-A195-4FDB-8B95-985D3D19E00E}"/>
                </a:ext>
              </a:extLst>
            </p:cNvPr>
            <p:cNvSpPr>
              <a:spLocks noChangeArrowheads="1"/>
            </p:cNvSpPr>
            <p:nvPr/>
          </p:nvSpPr>
          <p:spPr bwMode="auto">
            <a:xfrm>
              <a:off x="9620" y="15709"/>
              <a:ext cx="1124"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8" name="Line 1310">
              <a:extLst>
                <a:ext uri="{FF2B5EF4-FFF2-40B4-BE49-F238E27FC236}">
                  <a16:creationId xmlns:a16="http://schemas.microsoft.com/office/drawing/2014/main" id="{7EB50411-4EF3-4D21-BD41-A7255045A0C2}"/>
                </a:ext>
              </a:extLst>
            </p:cNvPr>
            <p:cNvCxnSpPr>
              <a:cxnSpLocks noChangeShapeType="1"/>
            </p:cNvCxnSpPr>
            <p:nvPr/>
          </p:nvCxnSpPr>
          <p:spPr bwMode="auto">
            <a:xfrm>
              <a:off x="1537" y="15709"/>
              <a:ext cx="4044" cy="15"/>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29" name="Line 1311">
              <a:extLst>
                <a:ext uri="{FF2B5EF4-FFF2-40B4-BE49-F238E27FC236}">
                  <a16:creationId xmlns:a16="http://schemas.microsoft.com/office/drawing/2014/main" id="{56066FA7-9CCA-41AA-9B2B-364B3B90A5C3}"/>
                </a:ext>
              </a:extLst>
            </p:cNvPr>
            <p:cNvCxnSpPr>
              <a:cxnSpLocks noChangeShapeType="1"/>
            </p:cNvCxnSpPr>
            <p:nvPr/>
          </p:nvCxnSpPr>
          <p:spPr bwMode="auto">
            <a:xfrm>
              <a:off x="8500" y="15259"/>
              <a:ext cx="4044" cy="15"/>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cxnSp>
          <p:nvCxnSpPr>
            <p:cNvPr id="30" name="Line 1312">
              <a:extLst>
                <a:ext uri="{FF2B5EF4-FFF2-40B4-BE49-F238E27FC236}">
                  <a16:creationId xmlns:a16="http://schemas.microsoft.com/office/drawing/2014/main" id="{54F79027-D349-4E6F-B7D5-B1204F1FF42D}"/>
                </a:ext>
              </a:extLst>
            </p:cNvPr>
            <p:cNvCxnSpPr>
              <a:cxnSpLocks noChangeShapeType="1"/>
            </p:cNvCxnSpPr>
            <p:nvPr/>
          </p:nvCxnSpPr>
          <p:spPr bwMode="auto">
            <a:xfrm>
              <a:off x="1227" y="3664"/>
              <a:ext cx="17263" cy="15"/>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sp>
          <p:nvSpPr>
            <p:cNvPr id="31" name="Rectangle 30">
              <a:extLst>
                <a:ext uri="{FF2B5EF4-FFF2-40B4-BE49-F238E27FC236}">
                  <a16:creationId xmlns:a16="http://schemas.microsoft.com/office/drawing/2014/main" id="{548E66EE-23C5-476D-B8CE-52705C16CB02}"/>
                </a:ext>
              </a:extLst>
            </p:cNvPr>
            <p:cNvSpPr>
              <a:spLocks noChangeArrowheads="1"/>
            </p:cNvSpPr>
            <p:nvPr/>
          </p:nvSpPr>
          <p:spPr bwMode="auto">
            <a:xfrm>
              <a:off x="2220" y="-2192"/>
              <a:ext cx="1124"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b="1" i="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2" name="Group 31">
              <a:extLst>
                <a:ext uri="{FF2B5EF4-FFF2-40B4-BE49-F238E27FC236}">
                  <a16:creationId xmlns:a16="http://schemas.microsoft.com/office/drawing/2014/main" id="{5B8187BB-1378-4004-853C-FC44C3165920}"/>
                </a:ext>
              </a:extLst>
            </p:cNvPr>
            <p:cNvGrpSpPr>
              <a:grpSpLocks/>
            </p:cNvGrpSpPr>
            <p:nvPr/>
          </p:nvGrpSpPr>
          <p:grpSpPr bwMode="auto">
            <a:xfrm>
              <a:off x="13818" y="8614"/>
              <a:ext cx="6183" cy="6795"/>
              <a:chOff x="0" y="34"/>
              <a:chExt cx="20000" cy="19932"/>
            </a:xfrm>
          </p:grpSpPr>
          <p:cxnSp>
            <p:nvCxnSpPr>
              <p:cNvPr id="36" name="Line 1315">
                <a:extLst>
                  <a:ext uri="{FF2B5EF4-FFF2-40B4-BE49-F238E27FC236}">
                    <a16:creationId xmlns:a16="http://schemas.microsoft.com/office/drawing/2014/main" id="{4D46F616-9466-47D2-BBF3-C2447954E545}"/>
                  </a:ext>
                </a:extLst>
              </p:cNvPr>
              <p:cNvCxnSpPr>
                <a:cxnSpLocks noChangeShapeType="1"/>
              </p:cNvCxnSpPr>
              <p:nvPr/>
            </p:nvCxnSpPr>
            <p:spPr bwMode="auto">
              <a:xfrm>
                <a:off x="0" y="9934"/>
                <a:ext cx="8106" cy="4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37" name="Line 1316">
                <a:extLst>
                  <a:ext uri="{FF2B5EF4-FFF2-40B4-BE49-F238E27FC236}">
                    <a16:creationId xmlns:a16="http://schemas.microsoft.com/office/drawing/2014/main" id="{807F6EA5-D2DD-4DC1-B931-44AF76716FC8}"/>
                  </a:ext>
                </a:extLst>
              </p:cNvPr>
              <p:cNvCxnSpPr>
                <a:cxnSpLocks noChangeShapeType="1"/>
              </p:cNvCxnSpPr>
              <p:nvPr/>
            </p:nvCxnSpPr>
            <p:spPr bwMode="auto">
              <a:xfrm>
                <a:off x="9778" y="9934"/>
                <a:ext cx="10222" cy="44"/>
              </a:xfrm>
              <a:prstGeom prst="line">
                <a:avLst/>
              </a:prstGeom>
              <a:noFill/>
              <a:ln w="28575">
                <a:solidFill>
                  <a:srgbClr val="002060"/>
                </a:solidFill>
                <a:round/>
                <a:headEnd type="none" w="lg" len="med"/>
                <a:tailEnd type="none" w="lg" len="med"/>
              </a:ln>
              <a:extLst>
                <a:ext uri="{909E8E84-426E-40DD-AFC4-6F175D3DCCD1}">
                  <a14:hiddenFill xmlns:a14="http://schemas.microsoft.com/office/drawing/2010/main">
                    <a:noFill/>
                  </a14:hiddenFill>
                </a:ext>
              </a:extLst>
            </p:spPr>
          </p:cxnSp>
          <p:cxnSp>
            <p:nvCxnSpPr>
              <p:cNvPr id="38" name="Line 1317">
                <a:extLst>
                  <a:ext uri="{FF2B5EF4-FFF2-40B4-BE49-F238E27FC236}">
                    <a16:creationId xmlns:a16="http://schemas.microsoft.com/office/drawing/2014/main" id="{F262C1EF-C201-4B0E-9A56-BA5816F41311}"/>
                  </a:ext>
                </a:extLst>
              </p:cNvPr>
              <p:cNvCxnSpPr>
                <a:cxnSpLocks noChangeShapeType="1"/>
              </p:cNvCxnSpPr>
              <p:nvPr/>
            </p:nvCxnSpPr>
            <p:spPr bwMode="auto">
              <a:xfrm>
                <a:off x="8090" y="210"/>
                <a:ext cx="16" cy="19756"/>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cxnSp>
            <p:nvCxnSpPr>
              <p:cNvPr id="39" name="Line 1318">
                <a:extLst>
                  <a:ext uri="{FF2B5EF4-FFF2-40B4-BE49-F238E27FC236}">
                    <a16:creationId xmlns:a16="http://schemas.microsoft.com/office/drawing/2014/main" id="{DC1D7B97-493D-47DE-B658-AC7E510D945E}"/>
                  </a:ext>
                </a:extLst>
              </p:cNvPr>
              <p:cNvCxnSpPr>
                <a:cxnSpLocks noChangeShapeType="1"/>
              </p:cNvCxnSpPr>
              <p:nvPr/>
            </p:nvCxnSpPr>
            <p:spPr bwMode="auto">
              <a:xfrm>
                <a:off x="9471" y="34"/>
                <a:ext cx="13" cy="19756"/>
              </a:xfrm>
              <a:prstGeom prst="line">
                <a:avLst/>
              </a:prstGeom>
              <a:noFill/>
              <a:ln w="28575">
                <a:solidFill>
                  <a:srgbClr val="002060"/>
                </a:solidFill>
                <a:round/>
                <a:headEnd type="none" w="med" len="lg"/>
                <a:tailEnd type="none" w="med" len="lg"/>
              </a:ln>
              <a:extLst>
                <a:ext uri="{909E8E84-426E-40DD-AFC4-6F175D3DCCD1}">
                  <a14:hiddenFill xmlns:a14="http://schemas.microsoft.com/office/drawing/2010/main">
                    <a:noFill/>
                  </a14:hiddenFill>
                </a:ext>
              </a:extLst>
            </p:spPr>
          </p:cxnSp>
        </p:grpSp>
        <p:sp>
          <p:nvSpPr>
            <p:cNvPr id="33" name="Rectangle 32">
              <a:extLst>
                <a:ext uri="{FF2B5EF4-FFF2-40B4-BE49-F238E27FC236}">
                  <a16:creationId xmlns:a16="http://schemas.microsoft.com/office/drawing/2014/main" id="{6EC6B224-7987-4676-AC6D-7F375F76C12C}"/>
                </a:ext>
              </a:extLst>
            </p:cNvPr>
            <p:cNvSpPr>
              <a:spLocks noChangeArrowheads="1"/>
            </p:cNvSpPr>
            <p:nvPr/>
          </p:nvSpPr>
          <p:spPr bwMode="auto">
            <a:xfrm>
              <a:off x="14468" y="4744"/>
              <a:ext cx="1856" cy="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endParaRPr lang="en-GB" sz="1100">
                <a:effectLst/>
                <a:latin typeface="Symbol" panose="05050102010706020507" pitchFamily="18" charset="2"/>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GB"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4" name="Rectangle 33">
              <a:extLst>
                <a:ext uri="{FF2B5EF4-FFF2-40B4-BE49-F238E27FC236}">
                  <a16:creationId xmlns:a16="http://schemas.microsoft.com/office/drawing/2014/main" id="{56FBD82D-E922-4CC4-BE25-A15F4AF358B9}"/>
                </a:ext>
              </a:extLst>
            </p:cNvPr>
            <p:cNvSpPr>
              <a:spLocks noChangeArrowheads="1"/>
            </p:cNvSpPr>
            <p:nvPr/>
          </p:nvSpPr>
          <p:spPr bwMode="auto">
            <a:xfrm>
              <a:off x="15773" y="16324"/>
              <a:ext cx="1123" cy="3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5" name="Line 1321">
              <a:extLst>
                <a:ext uri="{FF2B5EF4-FFF2-40B4-BE49-F238E27FC236}">
                  <a16:creationId xmlns:a16="http://schemas.microsoft.com/office/drawing/2014/main" id="{F2B5E2F1-FE01-46D9-9252-ECDC6F4379E8}"/>
                </a:ext>
              </a:extLst>
            </p:cNvPr>
            <p:cNvCxnSpPr>
              <a:cxnSpLocks noChangeShapeType="1"/>
            </p:cNvCxnSpPr>
            <p:nvPr/>
          </p:nvCxnSpPr>
          <p:spPr bwMode="auto">
            <a:xfrm>
              <a:off x="14210" y="15964"/>
              <a:ext cx="4043" cy="15"/>
            </a:xfrm>
            <a:prstGeom prst="line">
              <a:avLst/>
            </a:prstGeom>
            <a:noFill/>
            <a:ln w="28575">
              <a:solidFill>
                <a:srgbClr val="002060"/>
              </a:solidFill>
              <a:round/>
              <a:headEnd type="arrow" w="lg" len="lg"/>
              <a:tailEnd type="none" w="sm" len="lg"/>
            </a:ln>
            <a:extLst>
              <a:ext uri="{909E8E84-426E-40DD-AFC4-6F175D3DCCD1}">
                <a14:hiddenFill xmlns:a14="http://schemas.microsoft.com/office/drawing/2010/main">
                  <a:noFill/>
                </a14:hiddenFill>
              </a:ext>
            </a:extLst>
          </p:spPr>
        </p:cxnSp>
      </p:grpSp>
      <p:sp>
        <p:nvSpPr>
          <p:cNvPr id="71" name="Rectangle 70">
            <a:extLst>
              <a:ext uri="{FF2B5EF4-FFF2-40B4-BE49-F238E27FC236}">
                <a16:creationId xmlns:a16="http://schemas.microsoft.com/office/drawing/2014/main" id="{00CCEF87-A836-4AA1-A38B-76872D376870}"/>
              </a:ext>
            </a:extLst>
          </p:cNvPr>
          <p:cNvSpPr/>
          <p:nvPr/>
        </p:nvSpPr>
        <p:spPr>
          <a:xfrm>
            <a:off x="666342" y="2817458"/>
            <a:ext cx="6886728" cy="2829172"/>
          </a:xfrm>
          <a:prstGeom prst="rect">
            <a:avLst/>
          </a:prstGeom>
        </p:spPr>
        <p:txBody>
          <a:bodyPr wrap="square">
            <a:spAutoFit/>
          </a:bodyPr>
          <a:lstStyle/>
          <a:p>
            <a:pPr marR="0" algn="just">
              <a:lnSpc>
                <a:spcPct val="125000"/>
              </a:lnSpc>
              <a:spcBef>
                <a:spcPts val="0"/>
              </a:spcBef>
              <a:spcAft>
                <a:spcPts val="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R.I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j</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L.I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a:solidFill>
                  <a:srgbClr val="002060"/>
                </a:solidFill>
                <a:latin typeface="Times New Roman" panose="02020603050405020304" pitchFamily="18" charset="0"/>
                <a:ea typeface="Calibri" panose="020F0502020204030204" pitchFamily="34" charset="0"/>
              </a:rPr>
              <a:t>V</a:t>
            </a:r>
            <a:r>
              <a:rPr lang="en-GB" sz="3200" baseline="-25000" dirty="0">
                <a:solidFill>
                  <a:srgbClr val="002060"/>
                </a:solidFill>
                <a:latin typeface="Times New Roman" panose="02020603050405020304" pitchFamily="18" charset="0"/>
                <a:ea typeface="Calibri" panose="020F0502020204030204" pitchFamily="34" charset="0"/>
              </a:rPr>
              <a:t>C</a:t>
            </a:r>
            <a:r>
              <a:rPr lang="en-GB" sz="3200" dirty="0">
                <a:solidFill>
                  <a:srgbClr val="002060"/>
                </a:solidFill>
                <a:latin typeface="Times New Roman" panose="02020603050405020304" pitchFamily="18" charset="0"/>
                <a:ea typeface="Calibri" panose="020F0502020204030204" pitchFamily="34" charset="0"/>
              </a:rPr>
              <a:t> =</a:t>
            </a:r>
          </a:p>
          <a:p>
            <a:pPr marR="0" algn="just">
              <a:lnSpc>
                <a:spcPct val="125000"/>
              </a:lnSpc>
              <a:spcBef>
                <a:spcPts val="0"/>
              </a:spcBef>
              <a:spcAft>
                <a:spcPts val="0"/>
              </a:spcAft>
            </a:pPr>
            <a:r>
              <a:rPr lang="en-GB" sz="3200" dirty="0">
                <a:solidFill>
                  <a:srgbClr val="002060"/>
                </a:solidFill>
                <a:latin typeface="Times New Roman" panose="02020603050405020304" pitchFamily="18" charset="0"/>
                <a:cs typeface="Times New Roman" panose="02020603050405020304" pitchFamily="18" charset="0"/>
              </a:rPr>
              <a:t>V = V</a:t>
            </a:r>
            <a:r>
              <a:rPr lang="en-GB" sz="3200" baseline="-25000" dirty="0">
                <a:solidFill>
                  <a:srgbClr val="002060"/>
                </a:solidFill>
                <a:latin typeface="Times New Roman" panose="02020603050405020304" pitchFamily="18" charset="0"/>
                <a:cs typeface="Times New Roman" panose="02020603050405020304" pitchFamily="18" charset="0"/>
              </a:rPr>
              <a:t>R</a:t>
            </a:r>
            <a:r>
              <a:rPr lang="en-GB" sz="3200" dirty="0">
                <a:solidFill>
                  <a:srgbClr val="002060"/>
                </a:solidFill>
                <a:latin typeface="Times New Roman" panose="02020603050405020304" pitchFamily="18" charset="0"/>
                <a:cs typeface="Times New Roman" panose="02020603050405020304" pitchFamily="18" charset="0"/>
              </a:rPr>
              <a:t> +</a:t>
            </a:r>
            <a:r>
              <a:rPr lang="en-GB" sz="3200" dirty="0" err="1">
                <a:solidFill>
                  <a:srgbClr val="002060"/>
                </a:solidFill>
                <a:latin typeface="Times New Roman" panose="02020603050405020304" pitchFamily="18" charset="0"/>
                <a:cs typeface="Times New Roman" panose="02020603050405020304" pitchFamily="18" charset="0"/>
              </a:rPr>
              <a:t>V</a:t>
            </a:r>
            <a:r>
              <a:rPr lang="en-GB" sz="3200" baseline="-250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V</a:t>
            </a:r>
            <a:r>
              <a:rPr lang="en-GB" sz="3200" baseline="-25000" dirty="0">
                <a:solidFill>
                  <a:srgbClr val="002060"/>
                </a:solidFill>
                <a:latin typeface="Times New Roman" panose="02020603050405020304" pitchFamily="18" charset="0"/>
                <a:cs typeface="Times New Roman" panose="02020603050405020304" pitchFamily="18" charset="0"/>
              </a:rPr>
              <a:t>C</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rPr>
              <a:t> = (R + </a:t>
            </a:r>
            <a:r>
              <a:rPr lang="en-GB" sz="3200" dirty="0" err="1">
                <a:solidFill>
                  <a:srgbClr val="002060"/>
                </a:solidFill>
                <a:latin typeface="Times New Roman" panose="02020603050405020304" pitchFamily="18" charset="0"/>
                <a:cs typeface="Times New Roman" panose="02020603050405020304" pitchFamily="18" charset="0"/>
              </a:rPr>
              <a:t>j</a:t>
            </a:r>
            <a:r>
              <a:rPr lang="en-GB" sz="3200" dirty="0" err="1">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).I</a:t>
            </a:r>
          </a:p>
          <a:p>
            <a:pPr marR="0" algn="just">
              <a:lnSpc>
                <a:spcPct val="150000"/>
              </a:lnSpc>
              <a:spcBef>
                <a:spcPts val="0"/>
              </a:spcBef>
              <a:spcAft>
                <a:spcPts val="0"/>
              </a:spcAft>
            </a:pPr>
            <a:r>
              <a:rPr lang="en-GB" sz="3200" dirty="0">
                <a:solidFill>
                  <a:srgbClr val="002060"/>
                </a:solidFill>
                <a:latin typeface="Times New Roman" panose="02020603050405020304" pitchFamily="18" charset="0"/>
                <a:cs typeface="Times New Roman" panose="02020603050405020304" pitchFamily="18" charset="0"/>
              </a:rPr>
              <a:t>Z  = R +</a:t>
            </a:r>
            <a:r>
              <a:rPr lang="en-GB" sz="3200" dirty="0" err="1">
                <a:solidFill>
                  <a:srgbClr val="002060"/>
                </a:solidFill>
                <a:latin typeface="Times New Roman" panose="02020603050405020304" pitchFamily="18" charset="0"/>
                <a:cs typeface="Times New Roman" panose="02020603050405020304" pitchFamily="18" charset="0"/>
              </a:rPr>
              <a:t>j</a:t>
            </a:r>
            <a:r>
              <a:rPr lang="en-GB" sz="3200" dirty="0" err="1">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cs typeface="Times New Roman" panose="02020603050405020304" pitchFamily="18" charset="0"/>
              </a:rPr>
              <a:t>L</a:t>
            </a:r>
            <a:r>
              <a:rPr lang="en-GB" sz="3200" dirty="0">
                <a:solidFill>
                  <a:srgbClr val="002060"/>
                </a:solidFill>
                <a:latin typeface="Times New Roman" panose="02020603050405020304" pitchFamily="18" charset="0"/>
                <a:cs typeface="Times New Roman" panose="02020603050405020304" pitchFamily="18" charset="0"/>
              </a:rPr>
              <a:t> +          = R + j(</a:t>
            </a:r>
            <a:r>
              <a:rPr lang="en-GB" sz="3200"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cs typeface="Times New Roman" panose="02020603050405020304" pitchFamily="18" charset="0"/>
              </a:rPr>
              <a:t>L </a:t>
            </a:r>
            <a:r>
              <a:rPr lang="en-GB" sz="3200" b="1" dirty="0">
                <a:solidFill>
                  <a:srgbClr val="002060"/>
                </a:solidFill>
                <a:latin typeface="Times New Roman" panose="02020603050405020304" pitchFamily="18" charset="0"/>
                <a:cs typeface="Times New Roman" panose="02020603050405020304" pitchFamily="18" charset="0"/>
              </a:rPr>
              <a:t>–       )</a:t>
            </a:r>
          </a:p>
          <a:p>
            <a:pPr marR="0" algn="just">
              <a:lnSpc>
                <a:spcPct val="125000"/>
              </a:lnSpc>
              <a:spcBef>
                <a:spcPts val="0"/>
              </a:spcBef>
              <a:spcAft>
                <a:spcPts val="0"/>
              </a:spcAft>
            </a:pPr>
            <a:endParaRPr lang="en-GB" sz="4400" dirty="0">
              <a:solidFill>
                <a:srgbClr val="002060"/>
              </a:solidFill>
              <a:latin typeface="Times New Roman" panose="02020603050405020304" pitchFamily="18" charset="0"/>
              <a:cs typeface="Times New Roman" panose="02020603050405020304" pitchFamily="18" charset="0"/>
            </a:endParaRPr>
          </a:p>
        </p:txBody>
      </p:sp>
      <p:graphicFrame>
        <p:nvGraphicFramePr>
          <p:cNvPr id="73" name="Object 72">
            <a:extLst>
              <a:ext uri="{FF2B5EF4-FFF2-40B4-BE49-F238E27FC236}">
                <a16:creationId xmlns:a16="http://schemas.microsoft.com/office/drawing/2014/main" id="{A994843C-C8AC-41AF-B0AD-74A6FAEE6CBF}"/>
              </a:ext>
            </a:extLst>
          </p:cNvPr>
          <p:cNvGraphicFramePr>
            <a:graphicFrameLocks noChangeAspect="1"/>
          </p:cNvGraphicFramePr>
          <p:nvPr>
            <p:extLst>
              <p:ext uri="{D42A27DB-BD31-4B8C-83A1-F6EECF244321}">
                <p14:modId xmlns:p14="http://schemas.microsoft.com/office/powerpoint/2010/main" val="4106536650"/>
              </p:ext>
            </p:extLst>
          </p:nvPr>
        </p:nvGraphicFramePr>
        <p:xfrm>
          <a:off x="753228" y="4957041"/>
          <a:ext cx="3690208" cy="1162359"/>
        </p:xfrm>
        <a:graphic>
          <a:graphicData uri="http://schemas.openxmlformats.org/presentationml/2006/ole">
            <mc:AlternateContent xmlns:mc="http://schemas.openxmlformats.org/markup-compatibility/2006">
              <mc:Choice xmlns:v="urn:schemas-microsoft-com:vml" Requires="v">
                <p:oleObj spid="_x0000_s23639" r:id="rId3" imgW="1943100" imgH="622300" progId="Equation.2">
                  <p:embed/>
                </p:oleObj>
              </mc:Choice>
              <mc:Fallback>
                <p:oleObj r:id="rId3" imgW="1943100" imgH="622300" progId="Equation.2">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28" y="4957041"/>
                        <a:ext cx="3690208" cy="1162359"/>
                      </a:xfrm>
                      <a:prstGeom prst="rect">
                        <a:avLst/>
                      </a:prstGeom>
                      <a:noFill/>
                    </p:spPr>
                  </p:pic>
                </p:oleObj>
              </mc:Fallback>
            </mc:AlternateContent>
          </a:graphicData>
        </a:graphic>
      </p:graphicFrame>
      <p:sp>
        <p:nvSpPr>
          <p:cNvPr id="74" name="Rectangle 73">
            <a:extLst>
              <a:ext uri="{FF2B5EF4-FFF2-40B4-BE49-F238E27FC236}">
                <a16:creationId xmlns:a16="http://schemas.microsoft.com/office/drawing/2014/main" id="{1287D330-8EDA-445D-B7F3-5352F8B49F01}"/>
              </a:ext>
            </a:extLst>
          </p:cNvPr>
          <p:cNvSpPr/>
          <p:nvPr/>
        </p:nvSpPr>
        <p:spPr>
          <a:xfrm>
            <a:off x="612911" y="6004688"/>
            <a:ext cx="7080785" cy="584775"/>
          </a:xfrm>
          <a:prstGeom prst="rect">
            <a:avLst/>
          </a:prstGeom>
        </p:spPr>
        <p:txBody>
          <a:bodyPr wrap="none">
            <a:spAutoFit/>
          </a:bodyPr>
          <a:lstStyle/>
          <a:p>
            <a:r>
              <a:rPr lang="en-GB" sz="3200" dirty="0">
                <a:solidFill>
                  <a:srgbClr val="002060"/>
                </a:solidFill>
                <a:latin typeface="Times New Roman" panose="02020603050405020304" pitchFamily="18" charset="0"/>
                <a:ea typeface="Calibri" panose="020F0502020204030204" pitchFamily="34" charset="0"/>
              </a:rPr>
              <a:t>Magnitude has minimum value at </a:t>
            </a:r>
            <a:r>
              <a:rPr lang="en-GB" sz="32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i="1" dirty="0">
                <a:solidFill>
                  <a:srgbClr val="002060"/>
                </a:solidFill>
                <a:latin typeface="Times New Roman" panose="02020603050405020304" pitchFamily="18" charset="0"/>
                <a:ea typeface="Calibri" panose="020F0502020204030204" pitchFamily="34" charset="0"/>
              </a:rPr>
              <a:t>L</a:t>
            </a:r>
            <a:r>
              <a:rPr lang="en-GB" sz="3200" dirty="0">
                <a:solidFill>
                  <a:srgbClr val="002060"/>
                </a:solidFill>
                <a:latin typeface="Times New Roman" panose="02020603050405020304" pitchFamily="18" charset="0"/>
                <a:ea typeface="Calibri" panose="020F0502020204030204" pitchFamily="34" charset="0"/>
              </a:rPr>
              <a:t> =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rPr>
              <a:t> </a:t>
            </a:r>
            <a:endParaRPr lang="en-GB" sz="3200" dirty="0"/>
          </a:p>
        </p:txBody>
      </p:sp>
      <p:sp>
        <p:nvSpPr>
          <p:cNvPr id="75" name="Rectangle 4">
            <a:extLst>
              <a:ext uri="{FF2B5EF4-FFF2-40B4-BE49-F238E27FC236}">
                <a16:creationId xmlns:a16="http://schemas.microsoft.com/office/drawing/2014/main" id="{7200E814-18D5-41D9-8080-0867D63584DB}"/>
              </a:ext>
            </a:extLst>
          </p:cNvPr>
          <p:cNvSpPr>
            <a:spLocks noChangeArrowheads="1"/>
          </p:cNvSpPr>
          <p:nvPr/>
        </p:nvSpPr>
        <p:spPr bwMode="auto">
          <a:xfrm>
            <a:off x="5417555" y="265224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6" name="Object 75">
            <a:extLst>
              <a:ext uri="{FF2B5EF4-FFF2-40B4-BE49-F238E27FC236}">
                <a16:creationId xmlns:a16="http://schemas.microsoft.com/office/drawing/2014/main" id="{E37BBEE3-04AF-4B02-A0D7-8DC628891381}"/>
              </a:ext>
            </a:extLst>
          </p:cNvPr>
          <p:cNvGraphicFramePr>
            <a:graphicFrameLocks noChangeAspect="1"/>
          </p:cNvGraphicFramePr>
          <p:nvPr>
            <p:extLst>
              <p:ext uri="{D42A27DB-BD31-4B8C-83A1-F6EECF244321}">
                <p14:modId xmlns:p14="http://schemas.microsoft.com/office/powerpoint/2010/main" val="3072885413"/>
              </p:ext>
            </p:extLst>
          </p:nvPr>
        </p:nvGraphicFramePr>
        <p:xfrm>
          <a:off x="5417555" y="2652244"/>
          <a:ext cx="809625" cy="904875"/>
        </p:xfrm>
        <a:graphic>
          <a:graphicData uri="http://schemas.openxmlformats.org/presentationml/2006/ole">
            <mc:AlternateContent xmlns:mc="http://schemas.openxmlformats.org/markup-compatibility/2006">
              <mc:Choice xmlns:v="urn:schemas-microsoft-com:vml" Requires="v">
                <p:oleObj spid="_x0000_s23640" r:id="rId5" imgW="444307" imgH="495085" progId="Equation.2">
                  <p:embed/>
                </p:oleObj>
              </mc:Choice>
              <mc:Fallback>
                <p:oleObj r:id="rId5" imgW="444307" imgH="495085" progId="Equation.2">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7555" y="2652244"/>
                        <a:ext cx="80962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 name="Rectangle 6">
            <a:extLst>
              <a:ext uri="{FF2B5EF4-FFF2-40B4-BE49-F238E27FC236}">
                <a16:creationId xmlns:a16="http://schemas.microsoft.com/office/drawing/2014/main" id="{71A3A9B5-823B-4A25-8280-06F966C57850}"/>
              </a:ext>
            </a:extLst>
          </p:cNvPr>
          <p:cNvSpPr>
            <a:spLocks noChangeArrowheads="1"/>
          </p:cNvSpPr>
          <p:nvPr/>
        </p:nvSpPr>
        <p:spPr bwMode="auto">
          <a:xfrm>
            <a:off x="3432717" y="375118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8" name="Object 77">
            <a:extLst>
              <a:ext uri="{FF2B5EF4-FFF2-40B4-BE49-F238E27FC236}">
                <a16:creationId xmlns:a16="http://schemas.microsoft.com/office/drawing/2014/main" id="{C016A6FA-2CFE-4027-A248-393B69C02ABE}"/>
              </a:ext>
            </a:extLst>
          </p:cNvPr>
          <p:cNvGraphicFramePr>
            <a:graphicFrameLocks noChangeAspect="1"/>
          </p:cNvGraphicFramePr>
          <p:nvPr>
            <p:extLst>
              <p:ext uri="{D42A27DB-BD31-4B8C-83A1-F6EECF244321}">
                <p14:modId xmlns:p14="http://schemas.microsoft.com/office/powerpoint/2010/main" val="770847609"/>
              </p:ext>
            </p:extLst>
          </p:nvPr>
        </p:nvGraphicFramePr>
        <p:xfrm>
          <a:off x="6043464" y="3298742"/>
          <a:ext cx="809625" cy="904875"/>
        </p:xfrm>
        <a:graphic>
          <a:graphicData uri="http://schemas.openxmlformats.org/presentationml/2006/ole">
            <mc:AlternateContent xmlns:mc="http://schemas.openxmlformats.org/markup-compatibility/2006">
              <mc:Choice xmlns:v="urn:schemas-microsoft-com:vml" Requires="v">
                <p:oleObj spid="_x0000_s23641" r:id="rId7" imgW="444307" imgH="495085" progId="Equation.2">
                  <p:embed/>
                </p:oleObj>
              </mc:Choice>
              <mc:Fallback>
                <p:oleObj r:id="rId7" imgW="444307" imgH="495085" progId="Equation.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3464" y="3298742"/>
                        <a:ext cx="80962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 name="Object 79">
            <a:extLst>
              <a:ext uri="{FF2B5EF4-FFF2-40B4-BE49-F238E27FC236}">
                <a16:creationId xmlns:a16="http://schemas.microsoft.com/office/drawing/2014/main" id="{729B2DBF-A4FF-4992-AAB9-A6DE82A3B388}"/>
              </a:ext>
            </a:extLst>
          </p:cNvPr>
          <p:cNvGraphicFramePr>
            <a:graphicFrameLocks noChangeAspect="1"/>
          </p:cNvGraphicFramePr>
          <p:nvPr>
            <p:extLst>
              <p:ext uri="{D42A27DB-BD31-4B8C-83A1-F6EECF244321}">
                <p14:modId xmlns:p14="http://schemas.microsoft.com/office/powerpoint/2010/main" val="3656537507"/>
              </p:ext>
            </p:extLst>
          </p:nvPr>
        </p:nvGraphicFramePr>
        <p:xfrm>
          <a:off x="3190422" y="4015992"/>
          <a:ext cx="809625" cy="904875"/>
        </p:xfrm>
        <a:graphic>
          <a:graphicData uri="http://schemas.openxmlformats.org/presentationml/2006/ole">
            <mc:AlternateContent xmlns:mc="http://schemas.openxmlformats.org/markup-compatibility/2006">
              <mc:Choice xmlns:v="urn:schemas-microsoft-com:vml" Requires="v">
                <p:oleObj spid="_x0000_s23642" r:id="rId8" imgW="444307" imgH="495085" progId="Equation.2">
                  <p:embed/>
                </p:oleObj>
              </mc:Choice>
              <mc:Fallback>
                <p:oleObj r:id="rId8" imgW="444307" imgH="495085" progId="Equation.2">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0422" y="4015992"/>
                        <a:ext cx="80962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 name="Rectangle 14">
            <a:extLst>
              <a:ext uri="{FF2B5EF4-FFF2-40B4-BE49-F238E27FC236}">
                <a16:creationId xmlns:a16="http://schemas.microsoft.com/office/drawing/2014/main" id="{94E3BBC7-1854-4BF1-A50A-ABCF66A7BEFF}"/>
              </a:ext>
            </a:extLst>
          </p:cNvPr>
          <p:cNvSpPr>
            <a:spLocks noChangeArrowheads="1"/>
          </p:cNvSpPr>
          <p:nvPr/>
        </p:nvSpPr>
        <p:spPr bwMode="auto">
          <a:xfrm>
            <a:off x="6309420" y="408074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2" name="Object 81">
            <a:extLst>
              <a:ext uri="{FF2B5EF4-FFF2-40B4-BE49-F238E27FC236}">
                <a16:creationId xmlns:a16="http://schemas.microsoft.com/office/drawing/2014/main" id="{9E568784-A3FB-4066-B85A-7F2197BD781F}"/>
              </a:ext>
            </a:extLst>
          </p:cNvPr>
          <p:cNvGraphicFramePr>
            <a:graphicFrameLocks noChangeAspect="1"/>
          </p:cNvGraphicFramePr>
          <p:nvPr>
            <p:extLst>
              <p:ext uri="{D42A27DB-BD31-4B8C-83A1-F6EECF244321}">
                <p14:modId xmlns:p14="http://schemas.microsoft.com/office/powerpoint/2010/main" val="4256023913"/>
              </p:ext>
            </p:extLst>
          </p:nvPr>
        </p:nvGraphicFramePr>
        <p:xfrm>
          <a:off x="6309420" y="4080741"/>
          <a:ext cx="638175" cy="876300"/>
        </p:xfrm>
        <a:graphic>
          <a:graphicData uri="http://schemas.openxmlformats.org/presentationml/2006/ole">
            <mc:AlternateContent xmlns:mc="http://schemas.openxmlformats.org/markup-compatibility/2006">
              <mc:Choice xmlns:v="urn:schemas-microsoft-com:vml" Requires="v">
                <p:oleObj spid="_x0000_s23643" r:id="rId9" imgW="355292" imgH="494870" progId="Equation.2">
                  <p:embed/>
                </p:oleObj>
              </mc:Choice>
              <mc:Fallback>
                <p:oleObj r:id="rId9" imgW="355292" imgH="494870" progId="Equation.2">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9420" y="4080741"/>
                        <a:ext cx="638175"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 name="Object 82">
            <a:extLst>
              <a:ext uri="{FF2B5EF4-FFF2-40B4-BE49-F238E27FC236}">
                <a16:creationId xmlns:a16="http://schemas.microsoft.com/office/drawing/2014/main" id="{73F296FF-0858-4390-AD0E-D4543654469B}"/>
              </a:ext>
            </a:extLst>
          </p:cNvPr>
          <p:cNvGraphicFramePr>
            <a:graphicFrameLocks noChangeAspect="1"/>
          </p:cNvGraphicFramePr>
          <p:nvPr>
            <p:extLst>
              <p:ext uri="{D42A27DB-BD31-4B8C-83A1-F6EECF244321}">
                <p14:modId xmlns:p14="http://schemas.microsoft.com/office/powerpoint/2010/main" val="2413791216"/>
              </p:ext>
            </p:extLst>
          </p:nvPr>
        </p:nvGraphicFramePr>
        <p:xfrm>
          <a:off x="7531480" y="5886610"/>
          <a:ext cx="638175" cy="876300"/>
        </p:xfrm>
        <a:graphic>
          <a:graphicData uri="http://schemas.openxmlformats.org/presentationml/2006/ole">
            <mc:AlternateContent xmlns:mc="http://schemas.openxmlformats.org/markup-compatibility/2006">
              <mc:Choice xmlns:v="urn:schemas-microsoft-com:vml" Requires="v">
                <p:oleObj spid="_x0000_s23644" r:id="rId11" imgW="355292" imgH="494870" progId="Equation.2">
                  <p:embed/>
                </p:oleObj>
              </mc:Choice>
              <mc:Fallback>
                <p:oleObj r:id="rId11" imgW="355292" imgH="494870" progId="Equation.2">
                  <p:embed/>
                  <p:pic>
                    <p:nvPicPr>
                      <p:cNvPr id="82" name="Object 81">
                        <a:extLst>
                          <a:ext uri="{FF2B5EF4-FFF2-40B4-BE49-F238E27FC236}">
                            <a16:creationId xmlns:a16="http://schemas.microsoft.com/office/drawing/2014/main" id="{9E568784-A3FB-4066-B85A-7F2197BD781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31480" y="5886610"/>
                        <a:ext cx="638175"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4113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GB" dirty="0"/>
              <a:t>Active Power and Apparent Power</a:t>
            </a:r>
          </a:p>
        </p:txBody>
      </p:sp>
      <p:sp>
        <p:nvSpPr>
          <p:cNvPr id="4" name="Rectangle 3">
            <a:extLst>
              <a:ext uri="{FF2B5EF4-FFF2-40B4-BE49-F238E27FC236}">
                <a16:creationId xmlns:a16="http://schemas.microsoft.com/office/drawing/2014/main" id="{196692DF-D8A7-4435-99B7-9B418374D87C}"/>
              </a:ext>
            </a:extLst>
          </p:cNvPr>
          <p:cNvSpPr/>
          <p:nvPr/>
        </p:nvSpPr>
        <p:spPr>
          <a:xfrm>
            <a:off x="429715" y="1117288"/>
            <a:ext cx="11323670" cy="4955203"/>
          </a:xfrm>
          <a:prstGeom prst="rect">
            <a:avLst/>
          </a:prstGeom>
        </p:spPr>
        <p:txBody>
          <a:bodyPr wrap="square">
            <a:spAutoFit/>
          </a:bodyPr>
          <a:lstStyle/>
          <a:p>
            <a:pPr algn="just">
              <a:spcBef>
                <a:spcPts val="600"/>
              </a:spcBef>
              <a:spcAft>
                <a:spcPts val="6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 an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a.c</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circuit,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active power P</a:t>
            </a:r>
          </a:p>
          <a:p>
            <a:pPr marL="342900" indent="-342900" algn="just">
              <a:spcBef>
                <a:spcPts val="600"/>
              </a:spcBef>
              <a:spcAft>
                <a:spcPts val="600"/>
              </a:spcAft>
              <a:buFont typeface="Wingdings" panose="05000000000000000000" pitchFamily="2" charset="2"/>
              <a:buChar char=""/>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is commonly referred to as Power, unless otherwise stated</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600"/>
              </a:spcBef>
              <a:spcAft>
                <a:spcPts val="600"/>
              </a:spcAft>
              <a:buFont typeface="Wingdings" panose="05000000000000000000" pitchFamily="2" charset="2"/>
              <a:buChar char=""/>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is consumed only in resistive parts of circuit</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600"/>
              </a:spcBef>
              <a:spcAft>
                <a:spcPts val="600"/>
              </a:spcAft>
              <a:buFont typeface="Wingdings" panose="05000000000000000000" pitchFamily="2" charset="2"/>
              <a:buChar char=""/>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 general is not equal to product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 . 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spcBef>
                <a:spcPts val="600"/>
              </a:spcBef>
              <a:spcAft>
                <a:spcPts val="600"/>
              </a:spcAft>
              <a:buFont typeface="Wingdings" panose="05000000000000000000" pitchFamily="2" charset="2"/>
              <a:buChar char=""/>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 purely inductive parts and purely capacitive parts of a circuit active power is zero.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spcBef>
                <a:spcPts val="600"/>
              </a:spcBef>
              <a:spcAft>
                <a:spcPts val="6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To account for apparent discrepancy, we define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indent="457200" algn="just">
              <a:spcBef>
                <a:spcPts val="600"/>
              </a:spcBef>
              <a:spcAft>
                <a:spcPts val="600"/>
              </a:spcAft>
            </a:pP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apparent power  S  =  V . I</a:t>
            </a:r>
            <a:endParaRPr lang="en-GB" sz="3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4801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US" dirty="0"/>
              <a:t>Reactive Power</a:t>
            </a:r>
            <a:endParaRPr lang="en-GB"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D8F0F62-1556-45FD-9A03-9BDE861F7CF6}"/>
                  </a:ext>
                </a:extLst>
              </p:cNvPr>
              <p:cNvSpPr/>
              <p:nvPr/>
            </p:nvSpPr>
            <p:spPr>
              <a:xfrm>
                <a:off x="387664" y="1073051"/>
                <a:ext cx="9408196" cy="5450403"/>
              </a:xfrm>
              <a:prstGeom prst="rect">
                <a:avLst/>
              </a:prstGeom>
            </p:spPr>
            <p:txBody>
              <a:bodyPr wrap="square">
                <a:spAutoFit/>
              </a:bodyPr>
              <a:lstStyle/>
              <a:p>
                <a:pPr algn="just">
                  <a:spcAft>
                    <a:spcPts val="1200"/>
                  </a:spcAft>
                </a:pPr>
                <a14:m>
                  <m:oMath xmlns:m="http://schemas.openxmlformats.org/officeDocument/2006/math">
                    <m:r>
                      <a:rPr lang="en-GB" sz="320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oMath>
                </a14:m>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Matisse ITC" panose="04040403030D02020704" pitchFamily="82" charset="0"/>
                    <a:ea typeface="Calibri" panose="020F0502020204030204" pitchFamily="34" charset="0"/>
                    <a:cs typeface="Times New Roman" panose="02020603050405020304" pitchFamily="18" charset="0"/>
                    <a:sym typeface="Symbol" panose="05050102010706020507" pitchFamily="18" charset="2"/>
                  </a:rPr>
                  <a:t>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apparent power S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GB" sz="320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active power P</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Define</a:t>
                </a:r>
                <a:r>
                  <a:rPr lang="en-GB" sz="3200" dirty="0">
                    <a:latin typeface="Calibri" panose="020F0502020204030204" pitchFamily="34"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rPr>
                  <a:t>reactive power Q </a:t>
                </a:r>
                <a:r>
                  <a:rPr lang="en-GB" sz="3200" dirty="0">
                    <a:solidFill>
                      <a:srgbClr val="002060"/>
                    </a:solidFill>
                    <a:latin typeface="Times New Roman" panose="02020603050405020304" pitchFamily="18" charset="0"/>
                    <a:ea typeface="Calibri" panose="020F0502020204030204" pitchFamily="34" charset="0"/>
                  </a:rPr>
                  <a:t> </a:t>
                </a:r>
              </a:p>
              <a:p>
                <a:pPr marL="457200" indent="-457200">
                  <a:buFont typeface="Wingdings" panose="05000000000000000000" pitchFamily="2" charset="2"/>
                  <a:buChar char="Ø"/>
                </a:pPr>
                <a14:m>
                  <m:oMath xmlns:m="http://schemas.openxmlformats.org/officeDocument/2006/math">
                    <m:rad>
                      <m:radPr>
                        <m:degHide m:val="on"/>
                        <m:ctrlPr>
                          <a:rPr lang="en-GB" sz="3200" i="1" smtClean="0">
                            <a:solidFill>
                              <a:srgbClr val="002060"/>
                            </a:solidFill>
                            <a:latin typeface="Cambria Math" panose="02040503050406030204" pitchFamily="18" charset="0"/>
                          </a:rPr>
                        </m:ctrlPr>
                      </m:radPr>
                      <m:deg/>
                      <m:e>
                        <m:sSup>
                          <m:sSupPr>
                            <m:ctrlPr>
                              <a:rPr lang="en-GB" sz="3200" i="1" smtClean="0">
                                <a:solidFill>
                                  <a:srgbClr val="002060"/>
                                </a:solidFill>
                                <a:latin typeface="Cambria Math" panose="02040503050406030204" pitchFamily="18" charset="0"/>
                              </a:rPr>
                            </m:ctrlPr>
                          </m:sSupPr>
                          <m:e>
                            <m:r>
                              <a:rPr lang="en-US" sz="3200" b="0" i="1" smtClean="0">
                                <a:solidFill>
                                  <a:srgbClr val="002060"/>
                                </a:solidFill>
                                <a:latin typeface="Cambria Math" panose="02040503050406030204" pitchFamily="18" charset="0"/>
                              </a:rPr>
                              <m:t>𝑆</m:t>
                            </m:r>
                          </m:e>
                          <m:sup>
                            <m:r>
                              <a:rPr lang="en-US" sz="3200" b="0" i="1" smtClean="0">
                                <a:solidFill>
                                  <a:srgbClr val="002060"/>
                                </a:solidFill>
                                <a:latin typeface="Cambria Math" panose="02040503050406030204" pitchFamily="18" charset="0"/>
                              </a:rPr>
                              <m:t>2</m:t>
                            </m:r>
                          </m:sup>
                        </m:sSup>
                        <m:r>
                          <a:rPr lang="en-US" sz="3200" b="0" i="1" smtClean="0">
                            <a:solidFill>
                              <a:srgbClr val="002060"/>
                            </a:solidFill>
                            <a:latin typeface="Cambria Math" panose="02040503050406030204" pitchFamily="18" charset="0"/>
                          </a:rPr>
                          <m:t>−</m:t>
                        </m:r>
                        <m:sSup>
                          <m:sSupPr>
                            <m:ctrlPr>
                              <a:rPr lang="en-US" sz="3200" b="0" i="1" smtClean="0">
                                <a:solidFill>
                                  <a:srgbClr val="002060"/>
                                </a:solidFill>
                                <a:latin typeface="Cambria Math" panose="02040503050406030204" pitchFamily="18" charset="0"/>
                              </a:rPr>
                            </m:ctrlPr>
                          </m:sSupPr>
                          <m:e>
                            <m:r>
                              <a:rPr lang="en-US" sz="3200" b="0" i="1" smtClean="0">
                                <a:solidFill>
                                  <a:srgbClr val="002060"/>
                                </a:solidFill>
                                <a:latin typeface="Cambria Math" panose="02040503050406030204" pitchFamily="18" charset="0"/>
                              </a:rPr>
                              <m:t>𝑃</m:t>
                            </m:r>
                          </m:e>
                          <m:sup>
                            <m:r>
                              <a:rPr lang="en-US" sz="3200" b="0" i="1" smtClean="0">
                                <a:solidFill>
                                  <a:srgbClr val="002060"/>
                                </a:solidFill>
                                <a:latin typeface="Cambria Math" panose="02040503050406030204" pitchFamily="18" charset="0"/>
                              </a:rPr>
                              <m:t>2</m:t>
                            </m:r>
                          </m:sup>
                        </m:sSup>
                      </m:e>
                    </m:rad>
                  </m:oMath>
                </a14:m>
                <a:endParaRPr lang="en-GB" sz="3200" dirty="0">
                  <a:solidFill>
                    <a:srgbClr val="002060"/>
                  </a:solidFill>
                  <a:latin typeface="Times New Roman" panose="02020603050405020304" pitchFamily="18" charset="0"/>
                  <a:ea typeface="Calibri" panose="020F0502020204030204" pitchFamily="34" charset="0"/>
                </a:endParaRPr>
              </a:p>
              <a:p>
                <a:pPr marL="457200" indent="-457200">
                  <a:buFont typeface="Wingdings" panose="05000000000000000000" pitchFamily="2" charset="2"/>
                  <a:buChar char="Ø"/>
                </a:pPr>
                <a:r>
                  <a:rPr lang="en-GB" sz="3200" dirty="0">
                    <a:solidFill>
                      <a:srgbClr val="002060"/>
                    </a:solidFill>
                    <a:latin typeface="Times New Roman" panose="02020603050405020304" pitchFamily="18" charset="0"/>
                    <a:ea typeface="Calibri" panose="020F0502020204030204" pitchFamily="34" charset="0"/>
                  </a:rPr>
                  <a:t>volt-ampere occurring in reactance </a:t>
                </a:r>
                <a:r>
                  <a:rPr lang="en-GB" sz="3200" b="1" i="1" dirty="0">
                    <a:solidFill>
                      <a:srgbClr val="002060"/>
                    </a:solidFill>
                    <a:latin typeface="Times New Roman" panose="02020603050405020304" pitchFamily="18" charset="0"/>
                    <a:ea typeface="Calibri" panose="020F0502020204030204" pitchFamily="34" charset="0"/>
                  </a:rPr>
                  <a:t>X</a:t>
                </a:r>
                <a:r>
                  <a:rPr lang="en-GB" sz="3200" dirty="0">
                    <a:solidFill>
                      <a:srgbClr val="002060"/>
                    </a:solidFill>
                    <a:latin typeface="Times New Roman" panose="02020603050405020304" pitchFamily="18" charset="0"/>
                    <a:ea typeface="Calibri" panose="020F0502020204030204" pitchFamily="34" charset="0"/>
                  </a:rPr>
                  <a:t> </a:t>
                </a:r>
              </a:p>
              <a:p>
                <a:pPr marL="457200" indent="-457200">
                  <a:buFont typeface="Wingdings" panose="05000000000000000000" pitchFamily="2" charset="2"/>
                  <a:buChar char="Ø"/>
                </a:pPr>
                <a:r>
                  <a:rPr lang="en-GB" sz="3200" dirty="0">
                    <a:solidFill>
                      <a:srgbClr val="002060"/>
                    </a:solidFill>
                    <a:latin typeface="Times New Roman" panose="02020603050405020304" pitchFamily="18" charset="0"/>
                    <a:ea typeface="Calibri" panose="020F0502020204030204" pitchFamily="34" charset="0"/>
                  </a:rPr>
                  <a:t>S . sin </a:t>
                </a:r>
                <a:r>
                  <a:rPr lang="en-GB" sz="3200" dirty="0">
                    <a:solidFill>
                      <a:srgbClr val="002060"/>
                    </a:solidFill>
                    <a:latin typeface="Times New Roman" panose="02020603050405020304" pitchFamily="18" charset="0"/>
                    <a:ea typeface="Calibri" panose="020F0502020204030204" pitchFamily="34" charset="0"/>
                    <a:sym typeface="Symbol" panose="05050102010706020507" pitchFamily="18" charset="2"/>
                  </a:rPr>
                  <a:t>   for purely sinusoidal quantities</a:t>
                </a:r>
              </a:p>
              <a:p>
                <a:pPr marL="512763" indent="-512763">
                  <a:tabLst>
                    <a:tab pos="468313" algn="l"/>
                  </a:tabLst>
                </a:pPr>
                <a:r>
                  <a:rPr lang="en-GB" sz="3200" dirty="0">
                    <a:solidFill>
                      <a:srgbClr val="002060"/>
                    </a:solidFill>
                    <a:latin typeface="Times New Roman" panose="02020603050405020304" pitchFamily="18" charset="0"/>
                    <a:ea typeface="Calibri" panose="020F0502020204030204" pitchFamily="34" charset="0"/>
                    <a:sym typeface="Symbol" panose="05050102010706020507" pitchFamily="18" charset="2"/>
                  </a:rPr>
                  <a:t>	</a:t>
                </a:r>
                <a:r>
                  <a:rPr lang="en-GB" sz="2800" dirty="0">
                    <a:solidFill>
                      <a:srgbClr val="002060"/>
                    </a:solidFill>
                    <a:latin typeface="Times New Roman" panose="02020603050405020304" pitchFamily="18" charset="0"/>
                  </a:rPr>
                  <a:t>product of quadrature components of voltage and current (90</a:t>
                </a:r>
                <a:r>
                  <a:rPr lang="en-GB" sz="2800" baseline="30000" dirty="0">
                    <a:solidFill>
                      <a:srgbClr val="002060"/>
                    </a:solidFill>
                    <a:latin typeface="Times New Roman" panose="02020603050405020304" pitchFamily="18" charset="0"/>
                  </a:rPr>
                  <a:t>o</a:t>
                </a:r>
                <a:r>
                  <a:rPr lang="en-GB" sz="2800" dirty="0">
                    <a:solidFill>
                      <a:srgbClr val="002060"/>
                    </a:solidFill>
                    <a:latin typeface="Times New Roman" panose="02020603050405020304" pitchFamily="18" charset="0"/>
                  </a:rPr>
                  <a:t> out of phase)</a:t>
                </a:r>
                <a:endParaRPr lang="en-GB" sz="2800" dirty="0">
                  <a:solidFill>
                    <a:srgbClr val="002060"/>
                  </a:solidFill>
                  <a:latin typeface="Times New Roman" panose="02020603050405020304" pitchFamily="18" charset="0"/>
                  <a:ea typeface="Calibri" panose="020F0502020204030204" pitchFamily="34" charset="0"/>
                </a:endParaRPr>
              </a:p>
              <a:p>
                <a:endParaRPr lang="en-GB" dirty="0">
                  <a:solidFill>
                    <a:srgbClr val="002060"/>
                  </a:solidFill>
                  <a:latin typeface="Times New Roman" panose="02020603050405020304" pitchFamily="18" charset="0"/>
                  <a:ea typeface="Calibri" panose="020F0502020204030204" pitchFamily="34" charset="0"/>
                </a:endParaRPr>
              </a:p>
              <a:p>
                <a:pPr algn="just"/>
                <a:r>
                  <a:rPr lang="en-GB" sz="3200" b="1" dirty="0">
                    <a:solidFill>
                      <a:srgbClr val="002060"/>
                    </a:solidFill>
                    <a:latin typeface="Times New Roman" panose="02020603050405020304" pitchFamily="18" charset="0"/>
                    <a:ea typeface="Calibri" panose="020F0502020204030204" pitchFamily="34" charset="0"/>
                  </a:rPr>
                  <a:t>watt (W)</a:t>
                </a:r>
                <a:r>
                  <a:rPr lang="en-GB" sz="3200" dirty="0">
                    <a:solidFill>
                      <a:srgbClr val="002060"/>
                    </a:solidFill>
                    <a:latin typeface="Times New Roman" panose="02020603050405020304" pitchFamily="18" charset="0"/>
                    <a:ea typeface="Calibri" panose="020F0502020204030204" pitchFamily="34" charset="0"/>
                  </a:rPr>
                  <a:t> is used only for  </a:t>
                </a:r>
                <a:r>
                  <a:rPr lang="en-GB" sz="3200" b="1" dirty="0">
                    <a:solidFill>
                      <a:srgbClr val="002060"/>
                    </a:solidFill>
                    <a:latin typeface="Times New Roman" panose="02020603050405020304" pitchFamily="18" charset="0"/>
                    <a:ea typeface="Calibri" panose="020F0502020204030204" pitchFamily="34" charset="0"/>
                  </a:rPr>
                  <a:t>Active power</a:t>
                </a:r>
                <a:endPar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volt-ampere (VA)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is used for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Apparent power</a:t>
                </a:r>
              </a:p>
              <a:p>
                <a:pPr algn="just"/>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volt-ampere-reactive (var)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is used for </a:t>
                </a: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Reactive power </a:t>
                </a:r>
                <a:endParaRPr lang="en-GB" sz="3200" dirty="0">
                  <a:solidFill>
                    <a:srgbClr val="002060"/>
                  </a:solidFill>
                  <a:latin typeface="Times New Roman" panose="02020603050405020304" pitchFamily="18" charset="0"/>
                  <a:ea typeface="Calibri" panose="020F0502020204030204" pitchFamily="34" charset="0"/>
                </a:endParaRPr>
              </a:p>
            </p:txBody>
          </p:sp>
        </mc:Choice>
        <mc:Fallback xmlns="">
          <p:sp>
            <p:nvSpPr>
              <p:cNvPr id="4" name="Rectangle 3">
                <a:extLst>
                  <a:ext uri="{FF2B5EF4-FFF2-40B4-BE49-F238E27FC236}">
                    <a16:creationId xmlns:a16="http://schemas.microsoft.com/office/drawing/2014/main" id="{9D8F0F62-1556-45FD-9A03-9BDE861F7CF6}"/>
                  </a:ext>
                </a:extLst>
              </p:cNvPr>
              <p:cNvSpPr>
                <a:spLocks noRot="1" noChangeAspect="1" noMove="1" noResize="1" noEditPoints="1" noAdjustHandles="1" noChangeArrowheads="1" noChangeShapeType="1" noTextEdit="1"/>
              </p:cNvSpPr>
              <p:nvPr/>
            </p:nvSpPr>
            <p:spPr>
              <a:xfrm>
                <a:off x="387664" y="1073051"/>
                <a:ext cx="9408196" cy="5450403"/>
              </a:xfrm>
              <a:prstGeom prst="rect">
                <a:avLst/>
              </a:prstGeom>
              <a:blipFill>
                <a:blip r:embed="rId2"/>
                <a:stretch>
                  <a:fillRect l="-1685" t="-1678" r="-713" b="-2685"/>
                </a:stretch>
              </a:blipFill>
            </p:spPr>
            <p:txBody>
              <a:bodyPr/>
              <a:lstStyle/>
              <a:p>
                <a:r>
                  <a:rPr lang="en-GB">
                    <a:noFill/>
                  </a:rPr>
                  <a:t> </a:t>
                </a:r>
              </a:p>
            </p:txBody>
          </p:sp>
        </mc:Fallback>
      </mc:AlternateContent>
      <p:sp>
        <p:nvSpPr>
          <p:cNvPr id="5" name="Rectangle 4">
            <a:extLst>
              <a:ext uri="{FF2B5EF4-FFF2-40B4-BE49-F238E27FC236}">
                <a16:creationId xmlns:a16="http://schemas.microsoft.com/office/drawing/2014/main" id="{A4C2149B-B8CC-44A4-A23F-B64F92C0B504}"/>
              </a:ext>
            </a:extLst>
          </p:cNvPr>
          <p:cNvSpPr/>
          <p:nvPr/>
        </p:nvSpPr>
        <p:spPr>
          <a:xfrm>
            <a:off x="5031152" y="4433116"/>
            <a:ext cx="317716" cy="369332"/>
          </a:xfrm>
          <a:prstGeom prst="rect">
            <a:avLst/>
          </a:prstGeom>
        </p:spPr>
        <p:txBody>
          <a:bodyPr wrap="none">
            <a:spAutoFit/>
          </a:bodyPr>
          <a:lstStyle/>
          <a:p>
            <a:r>
              <a:rPr lang="en-GB" dirty="0">
                <a:solidFill>
                  <a:srgbClr val="222222"/>
                </a:solidFill>
                <a:latin typeface="arial" panose="020B0604020202020204" pitchFamily="34" charset="0"/>
              </a:rPr>
              <a:t>∵</a:t>
            </a:r>
            <a:endParaRPr lang="en-GB" dirty="0"/>
          </a:p>
        </p:txBody>
      </p:sp>
      <p:grpSp>
        <p:nvGrpSpPr>
          <p:cNvPr id="14" name="Group 13">
            <a:extLst>
              <a:ext uri="{FF2B5EF4-FFF2-40B4-BE49-F238E27FC236}">
                <a16:creationId xmlns:a16="http://schemas.microsoft.com/office/drawing/2014/main" id="{F847743E-0098-4B51-B123-45FB8451BBF9}"/>
              </a:ext>
            </a:extLst>
          </p:cNvPr>
          <p:cNvGrpSpPr/>
          <p:nvPr/>
        </p:nvGrpSpPr>
        <p:grpSpPr>
          <a:xfrm>
            <a:off x="8882243" y="1596311"/>
            <a:ext cx="3042495" cy="2647467"/>
            <a:chOff x="7914807" y="1458251"/>
            <a:chExt cx="3042495" cy="2647467"/>
          </a:xfrm>
        </p:grpSpPr>
        <p:sp>
          <p:nvSpPr>
            <p:cNvPr id="6" name="Freeform: Shape 5">
              <a:extLst>
                <a:ext uri="{FF2B5EF4-FFF2-40B4-BE49-F238E27FC236}">
                  <a16:creationId xmlns:a16="http://schemas.microsoft.com/office/drawing/2014/main" id="{0A272B88-25D8-4789-AE00-FAA350AAA56B}"/>
                </a:ext>
              </a:extLst>
            </p:cNvPr>
            <p:cNvSpPr/>
            <p:nvPr/>
          </p:nvSpPr>
          <p:spPr>
            <a:xfrm>
              <a:off x="7914807" y="1487837"/>
              <a:ext cx="3042495" cy="2034852"/>
            </a:xfrm>
            <a:custGeom>
              <a:avLst/>
              <a:gdLst>
                <a:gd name="connsiteX0" fmla="*/ 0 w 3732550"/>
                <a:gd name="connsiteY0" fmla="*/ 0 h 2398427"/>
                <a:gd name="connsiteX1" fmla="*/ 0 w 3732550"/>
                <a:gd name="connsiteY1" fmla="*/ 2398427 h 2398427"/>
                <a:gd name="connsiteX2" fmla="*/ 3732550 w 3732550"/>
                <a:gd name="connsiteY2" fmla="*/ 2383436 h 2398427"/>
              </a:gdLst>
              <a:ahLst/>
              <a:cxnLst>
                <a:cxn ang="0">
                  <a:pos x="connsiteX0" y="connsiteY0"/>
                </a:cxn>
                <a:cxn ang="0">
                  <a:pos x="connsiteX1" y="connsiteY1"/>
                </a:cxn>
                <a:cxn ang="0">
                  <a:pos x="connsiteX2" y="connsiteY2"/>
                </a:cxn>
              </a:cxnLst>
              <a:rect l="l" t="t" r="r" b="b"/>
              <a:pathLst>
                <a:path w="3732550" h="2398427">
                  <a:moveTo>
                    <a:pt x="0" y="0"/>
                  </a:moveTo>
                  <a:lnTo>
                    <a:pt x="0" y="2398427"/>
                  </a:lnTo>
                  <a:lnTo>
                    <a:pt x="3732550" y="2383436"/>
                  </a:lnTo>
                </a:path>
              </a:pathLst>
            </a:custGeom>
            <a:noFill/>
            <a:ln>
              <a:headEnd type="non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F630CFB1-55D9-4057-8C0C-862A3C042585}"/>
                </a:ext>
              </a:extLst>
            </p:cNvPr>
            <p:cNvCxnSpPr>
              <a:stCxn id="6" idx="1"/>
            </p:cNvCxnSpPr>
            <p:nvPr/>
          </p:nvCxnSpPr>
          <p:spPr>
            <a:xfrm flipV="1">
              <a:off x="7914807" y="1828800"/>
              <a:ext cx="2329573" cy="169388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87C321D-F7E1-463F-92C8-5D48AAD3B169}"/>
                </a:ext>
              </a:extLst>
            </p:cNvPr>
            <p:cNvCxnSpPr>
              <a:stCxn id="6" idx="1"/>
            </p:cNvCxnSpPr>
            <p:nvPr/>
          </p:nvCxnSpPr>
          <p:spPr>
            <a:xfrm>
              <a:off x="7914807" y="3522689"/>
              <a:ext cx="2329573" cy="0"/>
            </a:xfrm>
            <a:prstGeom prst="straightConnector1">
              <a:avLst/>
            </a:prstGeom>
            <a:ln w="38100">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18388A2-8BF3-4D21-8D56-A1D9F1555FC0}"/>
                </a:ext>
              </a:extLst>
            </p:cNvPr>
            <p:cNvCxnSpPr/>
            <p:nvPr/>
          </p:nvCxnSpPr>
          <p:spPr>
            <a:xfrm flipV="1">
              <a:off x="10244380" y="1828800"/>
              <a:ext cx="0" cy="1693889"/>
            </a:xfrm>
            <a:prstGeom prst="straightConnector1">
              <a:avLst/>
            </a:prstGeom>
            <a:ln w="38100">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DC67337-8D3D-4172-A402-F58C920B94BD}"/>
                </a:ext>
              </a:extLst>
            </p:cNvPr>
            <p:cNvSpPr txBox="1"/>
            <p:nvPr/>
          </p:nvSpPr>
          <p:spPr>
            <a:xfrm>
              <a:off x="9942461" y="3520943"/>
              <a:ext cx="396262" cy="584775"/>
            </a:xfrm>
            <a:prstGeom prst="rect">
              <a:avLst/>
            </a:prstGeom>
            <a:noFill/>
          </p:spPr>
          <p:txBody>
            <a:bodyPr wrap="none" rtlCol="0">
              <a:spAutoFit/>
            </a:bodyPr>
            <a:lstStyle/>
            <a:p>
              <a:r>
                <a:rPr lang="en-US" sz="3200" dirty="0">
                  <a:solidFill>
                    <a:srgbClr val="0070C0"/>
                  </a:solidFill>
                </a:rPr>
                <a:t>P</a:t>
              </a:r>
              <a:endParaRPr lang="en-GB" sz="3200" dirty="0">
                <a:solidFill>
                  <a:srgbClr val="0070C0"/>
                </a:solidFill>
              </a:endParaRPr>
            </a:p>
          </p:txBody>
        </p:sp>
        <p:sp>
          <p:nvSpPr>
            <p:cNvPr id="15" name="TextBox 14">
              <a:extLst>
                <a:ext uri="{FF2B5EF4-FFF2-40B4-BE49-F238E27FC236}">
                  <a16:creationId xmlns:a16="http://schemas.microsoft.com/office/drawing/2014/main" id="{01C013D8-0898-4279-BA4B-CC8612F6BA0A}"/>
                </a:ext>
              </a:extLst>
            </p:cNvPr>
            <p:cNvSpPr txBox="1"/>
            <p:nvPr/>
          </p:nvSpPr>
          <p:spPr>
            <a:xfrm>
              <a:off x="10331914" y="1627228"/>
              <a:ext cx="460382" cy="584775"/>
            </a:xfrm>
            <a:prstGeom prst="rect">
              <a:avLst/>
            </a:prstGeom>
            <a:noFill/>
          </p:spPr>
          <p:txBody>
            <a:bodyPr wrap="none" rtlCol="0">
              <a:spAutoFit/>
            </a:bodyPr>
            <a:lstStyle/>
            <a:p>
              <a:r>
                <a:rPr lang="en-US" sz="3200" dirty="0">
                  <a:solidFill>
                    <a:srgbClr val="00B050"/>
                  </a:solidFill>
                </a:rPr>
                <a:t>Q</a:t>
              </a:r>
              <a:endParaRPr lang="en-GB" sz="3200" dirty="0">
                <a:solidFill>
                  <a:srgbClr val="00B050"/>
                </a:solidFill>
              </a:endParaRPr>
            </a:p>
          </p:txBody>
        </p:sp>
        <p:sp>
          <p:nvSpPr>
            <p:cNvPr id="16" name="TextBox 15">
              <a:extLst>
                <a:ext uri="{FF2B5EF4-FFF2-40B4-BE49-F238E27FC236}">
                  <a16:creationId xmlns:a16="http://schemas.microsoft.com/office/drawing/2014/main" id="{A6CBE69B-ED83-401A-B278-D206F7F03C44}"/>
                </a:ext>
              </a:extLst>
            </p:cNvPr>
            <p:cNvSpPr txBox="1"/>
            <p:nvPr/>
          </p:nvSpPr>
          <p:spPr>
            <a:xfrm>
              <a:off x="9683651" y="1458251"/>
              <a:ext cx="373820" cy="584775"/>
            </a:xfrm>
            <a:prstGeom prst="rect">
              <a:avLst/>
            </a:prstGeom>
            <a:noFill/>
          </p:spPr>
          <p:txBody>
            <a:bodyPr wrap="none" rtlCol="0">
              <a:spAutoFit/>
            </a:bodyPr>
            <a:lstStyle/>
            <a:p>
              <a:r>
                <a:rPr lang="en-US" sz="3200" dirty="0">
                  <a:solidFill>
                    <a:srgbClr val="FF0000"/>
                  </a:solidFill>
                </a:rPr>
                <a:t>S</a:t>
              </a:r>
              <a:endParaRPr lang="en-GB" sz="3200" dirty="0">
                <a:solidFill>
                  <a:srgbClr val="FF0000"/>
                </a:solidFill>
              </a:endParaRPr>
            </a:p>
          </p:txBody>
        </p:sp>
      </p:grpSp>
      <p:sp>
        <p:nvSpPr>
          <p:cNvPr id="18" name="TextBox 17">
            <a:extLst>
              <a:ext uri="{FF2B5EF4-FFF2-40B4-BE49-F238E27FC236}">
                <a16:creationId xmlns:a16="http://schemas.microsoft.com/office/drawing/2014/main" id="{423B071A-9612-4EBE-B2AF-8657E3966394}"/>
              </a:ext>
            </a:extLst>
          </p:cNvPr>
          <p:cNvSpPr txBox="1"/>
          <p:nvPr/>
        </p:nvSpPr>
        <p:spPr>
          <a:xfrm>
            <a:off x="9568681" y="3475664"/>
            <a:ext cx="500458" cy="584775"/>
          </a:xfrm>
          <a:prstGeom prst="rect">
            <a:avLst/>
          </a:prstGeom>
          <a:noFill/>
        </p:spPr>
        <p:txBody>
          <a:bodyPr wrap="none" rtlCol="0">
            <a:spAutoFit/>
          </a:bodyPr>
          <a:lstStyle/>
          <a:p>
            <a:r>
              <a:rPr lang="en-US" sz="3200" dirty="0">
                <a:solidFill>
                  <a:srgbClr val="FF0000"/>
                </a:solidFill>
                <a:sym typeface="Symbol" panose="05050102010706020507" pitchFamily="18" charset="2"/>
              </a:rPr>
              <a:t></a:t>
            </a:r>
            <a:endParaRPr lang="en-GB" sz="3200" dirty="0">
              <a:solidFill>
                <a:srgbClr val="FF0000"/>
              </a:solidFill>
            </a:endParaRPr>
          </a:p>
        </p:txBody>
      </p:sp>
    </p:spTree>
    <p:extLst>
      <p:ext uri="{BB962C8B-B14F-4D97-AF65-F5344CB8AC3E}">
        <p14:creationId xmlns:p14="http://schemas.microsoft.com/office/powerpoint/2010/main" val="1134177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67637"/>
            <a:ext cx="10924085" cy="482745"/>
          </a:xfrm>
        </p:spPr>
        <p:txBody>
          <a:bodyPr>
            <a:normAutofit fontScale="90000"/>
          </a:bodyPr>
          <a:lstStyle/>
          <a:p>
            <a:r>
              <a:rPr lang="en-US" dirty="0" err="1"/>
              <a:t>Intantaneous</a:t>
            </a:r>
            <a:r>
              <a:rPr lang="en-US" dirty="0"/>
              <a:t> power p(t) with time varying quantities</a:t>
            </a:r>
            <a:endParaRPr lang="en-GB" dirty="0"/>
          </a:p>
        </p:txBody>
      </p:sp>
      <p:sp>
        <p:nvSpPr>
          <p:cNvPr id="3" name="Rectangle 2">
            <a:extLst>
              <a:ext uri="{FF2B5EF4-FFF2-40B4-BE49-F238E27FC236}">
                <a16:creationId xmlns:a16="http://schemas.microsoft.com/office/drawing/2014/main" id="{FF6096BE-D0D8-4759-B847-730AE941A222}"/>
              </a:ext>
            </a:extLst>
          </p:cNvPr>
          <p:cNvSpPr/>
          <p:nvPr/>
        </p:nvSpPr>
        <p:spPr>
          <a:xfrm>
            <a:off x="429715" y="894268"/>
            <a:ext cx="11524392" cy="2554545"/>
          </a:xfrm>
          <a:prstGeom prst="rect">
            <a:avLst/>
          </a:prstGeom>
        </p:spPr>
        <p:txBody>
          <a:bodyPr wrap="square">
            <a:spAutoFit/>
          </a:bodyPr>
          <a:lstStyle/>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Instantaneous value of power is given by </a:t>
            </a:r>
            <a:r>
              <a:rPr lang="en-GB" sz="3200" dirty="0">
                <a:latin typeface="Calibri" panose="020F0502020204030204" pitchFamily="34"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p(t) = v(t) .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If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v(t) =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 f</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where voltage is reference and current lags voltage by phase angle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f.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Then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p(t) 	=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 f</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.½. 2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 f</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½V</a:t>
            </a:r>
            <a:r>
              <a:rPr lang="en-GB" sz="3200" b="1" i="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b="1" i="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(2</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 f</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cos </a:t>
            </a:r>
            <a:r>
              <a:rPr lang="en-GB" sz="3200" b="1" i="1"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 name="Group 3">
            <a:extLst>
              <a:ext uri="{FF2B5EF4-FFF2-40B4-BE49-F238E27FC236}">
                <a16:creationId xmlns:a16="http://schemas.microsoft.com/office/drawing/2014/main" id="{44B37C84-F3F8-42BB-B31F-E10FD71BE290}"/>
              </a:ext>
            </a:extLst>
          </p:cNvPr>
          <p:cNvGrpSpPr>
            <a:grpSpLocks/>
          </p:cNvGrpSpPr>
          <p:nvPr/>
        </p:nvGrpSpPr>
        <p:grpSpPr>
          <a:xfrm>
            <a:off x="237893" y="3568392"/>
            <a:ext cx="9708995" cy="2565857"/>
            <a:chOff x="0" y="0"/>
            <a:chExt cx="10063536" cy="2786044"/>
          </a:xfrm>
        </p:grpSpPr>
        <p:sp>
          <p:nvSpPr>
            <p:cNvPr id="5" name="Rectangle 4">
              <a:extLst>
                <a:ext uri="{FF2B5EF4-FFF2-40B4-BE49-F238E27FC236}">
                  <a16:creationId xmlns:a16="http://schemas.microsoft.com/office/drawing/2014/main" id="{C28B8832-7978-49FD-8138-5AC4F1C8FD1A}"/>
                </a:ext>
              </a:extLst>
            </p:cNvPr>
            <p:cNvSpPr>
              <a:spLocks noChangeArrowheads="1"/>
            </p:cNvSpPr>
            <p:nvPr/>
          </p:nvSpPr>
          <p:spPr bwMode="auto">
            <a:xfrm>
              <a:off x="3076687" y="753036"/>
              <a:ext cx="1495313" cy="3638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½ V</a:t>
              </a:r>
              <a:r>
                <a:rPr lang="en-GB" sz="20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a:t>
              </a:r>
              <a:r>
                <a:rPr lang="en-GB" sz="20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I</a:t>
              </a:r>
              <a:r>
                <a:rPr lang="en-GB" sz="20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  </a:t>
              </a:r>
              <a:r>
                <a:rPr lang="en-GB" sz="20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cos </a:t>
              </a:r>
              <a:r>
                <a:rPr lang="en-GB" sz="2000" i="1">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Line 81">
              <a:extLst>
                <a:ext uri="{FF2B5EF4-FFF2-40B4-BE49-F238E27FC236}">
                  <a16:creationId xmlns:a16="http://schemas.microsoft.com/office/drawing/2014/main" id="{1C0CD8CB-56C0-479C-8AD0-7114D17A5996}"/>
                </a:ext>
              </a:extLst>
            </p:cNvPr>
            <p:cNvCxnSpPr>
              <a:cxnSpLocks noChangeShapeType="1"/>
            </p:cNvCxnSpPr>
            <p:nvPr/>
          </p:nvCxnSpPr>
          <p:spPr bwMode="auto">
            <a:xfrm>
              <a:off x="516367" y="32273"/>
              <a:ext cx="635" cy="2689225"/>
            </a:xfrm>
            <a:prstGeom prst="line">
              <a:avLst/>
            </a:prstGeom>
            <a:noFill/>
            <a:ln w="19050">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 name="Line 82">
              <a:extLst>
                <a:ext uri="{FF2B5EF4-FFF2-40B4-BE49-F238E27FC236}">
                  <a16:creationId xmlns:a16="http://schemas.microsoft.com/office/drawing/2014/main" id="{82F05190-49E9-4133-B555-AF5C86E6ABF6}"/>
                </a:ext>
              </a:extLst>
            </p:cNvPr>
            <p:cNvCxnSpPr>
              <a:cxnSpLocks noChangeShapeType="1"/>
            </p:cNvCxnSpPr>
            <p:nvPr/>
          </p:nvCxnSpPr>
          <p:spPr bwMode="auto">
            <a:xfrm flipH="1">
              <a:off x="107577" y="1473798"/>
              <a:ext cx="3842358" cy="1211"/>
            </a:xfrm>
            <a:prstGeom prst="line">
              <a:avLst/>
            </a:prstGeom>
            <a:noFill/>
            <a:ln w="19050">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Rectangle 7">
              <a:extLst>
                <a:ext uri="{FF2B5EF4-FFF2-40B4-BE49-F238E27FC236}">
                  <a16:creationId xmlns:a16="http://schemas.microsoft.com/office/drawing/2014/main" id="{7502D5AD-4D18-4848-9AE8-B103553E075F}"/>
                </a:ext>
              </a:extLst>
            </p:cNvPr>
            <p:cNvSpPr>
              <a:spLocks noChangeArrowheads="1"/>
            </p:cNvSpPr>
            <p:nvPr/>
          </p:nvSpPr>
          <p:spPr bwMode="auto">
            <a:xfrm>
              <a:off x="1237130" y="268941"/>
              <a:ext cx="469265"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DF1D1F09-4AE0-4DF9-8C31-71E83D9920BB}"/>
                </a:ext>
              </a:extLst>
            </p:cNvPr>
            <p:cNvSpPr>
              <a:spLocks noChangeArrowheads="1"/>
            </p:cNvSpPr>
            <p:nvPr/>
          </p:nvSpPr>
          <p:spPr bwMode="auto">
            <a:xfrm>
              <a:off x="3797450" y="1516829"/>
              <a:ext cx="208915"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0" name="Line 97">
              <a:extLst>
                <a:ext uri="{FF2B5EF4-FFF2-40B4-BE49-F238E27FC236}">
                  <a16:creationId xmlns:a16="http://schemas.microsoft.com/office/drawing/2014/main" id="{C2E7391C-7FB9-4847-8701-8F7C6EFE2082}"/>
                </a:ext>
              </a:extLst>
            </p:cNvPr>
            <p:cNvCxnSpPr>
              <a:cxnSpLocks noChangeShapeType="1"/>
            </p:cNvCxnSpPr>
            <p:nvPr/>
          </p:nvCxnSpPr>
          <p:spPr bwMode="auto">
            <a:xfrm flipH="1">
              <a:off x="311972" y="2140772"/>
              <a:ext cx="596900" cy="635"/>
            </a:xfrm>
            <a:prstGeom prst="line">
              <a:avLst/>
            </a:prstGeom>
            <a:noFill/>
            <a:ln w="28575">
              <a:solidFill>
                <a:srgbClr val="002060"/>
              </a:solidFill>
              <a:round/>
              <a:headEnd type="none"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Line 98">
              <a:extLst>
                <a:ext uri="{FF2B5EF4-FFF2-40B4-BE49-F238E27FC236}">
                  <a16:creationId xmlns:a16="http://schemas.microsoft.com/office/drawing/2014/main" id="{F9A84E3F-CEAD-45EE-968B-01B36D9A2182}"/>
                </a:ext>
              </a:extLst>
            </p:cNvPr>
            <p:cNvCxnSpPr>
              <a:cxnSpLocks noChangeShapeType="1"/>
            </p:cNvCxnSpPr>
            <p:nvPr/>
          </p:nvCxnSpPr>
          <p:spPr bwMode="auto">
            <a:xfrm>
              <a:off x="1376979" y="2140772"/>
              <a:ext cx="619760" cy="635"/>
            </a:xfrm>
            <a:prstGeom prst="line">
              <a:avLst/>
            </a:prstGeom>
            <a:noFill/>
            <a:ln w="28575">
              <a:solidFill>
                <a:srgbClr val="002060"/>
              </a:solidFill>
              <a:round/>
              <a:headEnd type="none" w="sm" len="me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 name="Rectangle 11">
              <a:extLst>
                <a:ext uri="{FF2B5EF4-FFF2-40B4-BE49-F238E27FC236}">
                  <a16:creationId xmlns:a16="http://schemas.microsoft.com/office/drawing/2014/main" id="{4F21B5B1-243E-4DAD-B9CA-0FFC8E2538D3}"/>
                </a:ext>
              </a:extLst>
            </p:cNvPr>
            <p:cNvSpPr>
              <a:spLocks noChangeArrowheads="1"/>
            </p:cNvSpPr>
            <p:nvPr/>
          </p:nvSpPr>
          <p:spPr bwMode="auto">
            <a:xfrm>
              <a:off x="1021977" y="1947134"/>
              <a:ext cx="30353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1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GB" sz="2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Line 100">
              <a:extLst>
                <a:ext uri="{FF2B5EF4-FFF2-40B4-BE49-F238E27FC236}">
                  <a16:creationId xmlns:a16="http://schemas.microsoft.com/office/drawing/2014/main" id="{08BCFA3D-58CA-4570-843C-2DFF319ED28A}"/>
                </a:ext>
              </a:extLst>
            </p:cNvPr>
            <p:cNvCxnSpPr>
              <a:cxnSpLocks noChangeShapeType="1"/>
            </p:cNvCxnSpPr>
            <p:nvPr/>
          </p:nvCxnSpPr>
          <p:spPr bwMode="auto">
            <a:xfrm>
              <a:off x="301214" y="1463040"/>
              <a:ext cx="635" cy="623570"/>
            </a:xfrm>
            <a:prstGeom prst="line">
              <a:avLst/>
            </a:prstGeom>
            <a:noFill/>
            <a:ln w="28575">
              <a:solidFill>
                <a:srgbClr val="002060"/>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Line 101">
              <a:extLst>
                <a:ext uri="{FF2B5EF4-FFF2-40B4-BE49-F238E27FC236}">
                  <a16:creationId xmlns:a16="http://schemas.microsoft.com/office/drawing/2014/main" id="{BB7B6E47-8FBD-4DF3-B6A7-C840C97B6AEB}"/>
                </a:ext>
              </a:extLst>
            </p:cNvPr>
            <p:cNvCxnSpPr>
              <a:cxnSpLocks noChangeShapeType="1"/>
            </p:cNvCxnSpPr>
            <p:nvPr/>
          </p:nvCxnSpPr>
          <p:spPr bwMode="auto">
            <a:xfrm>
              <a:off x="2000923" y="1463040"/>
              <a:ext cx="635" cy="617220"/>
            </a:xfrm>
            <a:prstGeom prst="line">
              <a:avLst/>
            </a:prstGeom>
            <a:noFill/>
            <a:ln w="28575">
              <a:solidFill>
                <a:srgbClr val="002060"/>
              </a:solidFill>
              <a:prstDash val="sys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Line 114">
              <a:extLst>
                <a:ext uri="{FF2B5EF4-FFF2-40B4-BE49-F238E27FC236}">
                  <a16:creationId xmlns:a16="http://schemas.microsoft.com/office/drawing/2014/main" id="{3C6F71BF-9713-4928-8D08-8EF4883A2E02}"/>
                </a:ext>
              </a:extLst>
            </p:cNvPr>
            <p:cNvCxnSpPr>
              <a:cxnSpLocks noChangeShapeType="1"/>
            </p:cNvCxnSpPr>
            <p:nvPr/>
          </p:nvCxnSpPr>
          <p:spPr bwMode="auto">
            <a:xfrm>
              <a:off x="64546" y="1097280"/>
              <a:ext cx="4023360" cy="1211"/>
            </a:xfrm>
            <a:prstGeom prst="line">
              <a:avLst/>
            </a:prstGeom>
            <a:noFill/>
            <a:ln w="28575">
              <a:solidFill>
                <a:srgbClr val="002060"/>
              </a:solidFill>
              <a:prstDash val="sysDash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 name="Rectangle 15">
              <a:extLst>
                <a:ext uri="{FF2B5EF4-FFF2-40B4-BE49-F238E27FC236}">
                  <a16:creationId xmlns:a16="http://schemas.microsoft.com/office/drawing/2014/main" id="{F366FF45-4490-4F74-836F-C998B8032FCB}"/>
                </a:ext>
              </a:extLst>
            </p:cNvPr>
            <p:cNvSpPr>
              <a:spLocks noChangeArrowheads="1"/>
            </p:cNvSpPr>
            <p:nvPr/>
          </p:nvSpPr>
          <p:spPr bwMode="auto">
            <a:xfrm>
              <a:off x="2022438" y="0"/>
              <a:ext cx="469265"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i="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v(t)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AB2C2BA6-21F2-4159-9C45-22F7A16D22B6}"/>
                </a:ext>
              </a:extLst>
            </p:cNvPr>
            <p:cNvSpPr>
              <a:spLocks noChangeArrowheads="1"/>
            </p:cNvSpPr>
            <p:nvPr/>
          </p:nvSpPr>
          <p:spPr bwMode="auto">
            <a:xfrm>
              <a:off x="6992471" y="1645920"/>
              <a:ext cx="209531" cy="2869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Line 142">
              <a:extLst>
                <a:ext uri="{FF2B5EF4-FFF2-40B4-BE49-F238E27FC236}">
                  <a16:creationId xmlns:a16="http://schemas.microsoft.com/office/drawing/2014/main" id="{C4ACDE47-68EE-4938-80A4-1E48055EBEBC}"/>
                </a:ext>
              </a:extLst>
            </p:cNvPr>
            <p:cNvCxnSpPr>
              <a:cxnSpLocks noChangeShapeType="1"/>
            </p:cNvCxnSpPr>
            <p:nvPr/>
          </p:nvCxnSpPr>
          <p:spPr bwMode="auto">
            <a:xfrm>
              <a:off x="5142156" y="64546"/>
              <a:ext cx="1270" cy="2689225"/>
            </a:xfrm>
            <a:prstGeom prst="line">
              <a:avLst/>
            </a:prstGeom>
            <a:noFill/>
            <a:ln w="28575">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Line 143">
              <a:extLst>
                <a:ext uri="{FF2B5EF4-FFF2-40B4-BE49-F238E27FC236}">
                  <a16:creationId xmlns:a16="http://schemas.microsoft.com/office/drawing/2014/main" id="{A765A294-31EB-4692-8CDB-E35C89C58F5B}"/>
                </a:ext>
              </a:extLst>
            </p:cNvPr>
            <p:cNvCxnSpPr>
              <a:cxnSpLocks noChangeShapeType="1"/>
            </p:cNvCxnSpPr>
            <p:nvPr/>
          </p:nvCxnSpPr>
          <p:spPr bwMode="auto">
            <a:xfrm flipH="1">
              <a:off x="4658062" y="1506071"/>
              <a:ext cx="2560320" cy="1210"/>
            </a:xfrm>
            <a:prstGeom prst="line">
              <a:avLst/>
            </a:prstGeom>
            <a:noFill/>
            <a:ln w="28575">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 name="Rectangle 19">
              <a:extLst>
                <a:ext uri="{FF2B5EF4-FFF2-40B4-BE49-F238E27FC236}">
                  <a16:creationId xmlns:a16="http://schemas.microsoft.com/office/drawing/2014/main" id="{24C121B3-388A-424A-A211-A46C0174E099}"/>
                </a:ext>
              </a:extLst>
            </p:cNvPr>
            <p:cNvSpPr>
              <a:spLocks noChangeArrowheads="1"/>
            </p:cNvSpPr>
            <p:nvPr/>
          </p:nvSpPr>
          <p:spPr bwMode="auto">
            <a:xfrm>
              <a:off x="5819887" y="53789"/>
              <a:ext cx="469900"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Line 155">
              <a:extLst>
                <a:ext uri="{FF2B5EF4-FFF2-40B4-BE49-F238E27FC236}">
                  <a16:creationId xmlns:a16="http://schemas.microsoft.com/office/drawing/2014/main" id="{DE45D63E-6353-46C9-86B5-8162CBAF365D}"/>
                </a:ext>
              </a:extLst>
            </p:cNvPr>
            <p:cNvCxnSpPr>
              <a:cxnSpLocks noChangeShapeType="1"/>
            </p:cNvCxnSpPr>
            <p:nvPr/>
          </p:nvCxnSpPr>
          <p:spPr bwMode="auto">
            <a:xfrm>
              <a:off x="4701092" y="978946"/>
              <a:ext cx="2468880" cy="635"/>
            </a:xfrm>
            <a:prstGeom prst="line">
              <a:avLst/>
            </a:prstGeom>
            <a:noFill/>
            <a:ln w="28575">
              <a:solidFill>
                <a:srgbClr val="002060"/>
              </a:solidFill>
              <a:prstDash val="sysDash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Line 171">
              <a:extLst>
                <a:ext uri="{FF2B5EF4-FFF2-40B4-BE49-F238E27FC236}">
                  <a16:creationId xmlns:a16="http://schemas.microsoft.com/office/drawing/2014/main" id="{C81CC53C-9CB4-4A69-8802-AAF05D43FCC6}"/>
                </a:ext>
              </a:extLst>
            </p:cNvPr>
            <p:cNvCxnSpPr>
              <a:cxnSpLocks noChangeShapeType="1"/>
            </p:cNvCxnSpPr>
            <p:nvPr/>
          </p:nvCxnSpPr>
          <p:spPr bwMode="auto">
            <a:xfrm>
              <a:off x="7928386" y="96819"/>
              <a:ext cx="635" cy="2689225"/>
            </a:xfrm>
            <a:prstGeom prst="line">
              <a:avLst/>
            </a:prstGeom>
            <a:noFill/>
            <a:ln w="28575">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 name="Line 172">
              <a:extLst>
                <a:ext uri="{FF2B5EF4-FFF2-40B4-BE49-F238E27FC236}">
                  <a16:creationId xmlns:a16="http://schemas.microsoft.com/office/drawing/2014/main" id="{887DDDB7-D0FA-4C80-8792-0691901DA508}"/>
                </a:ext>
              </a:extLst>
            </p:cNvPr>
            <p:cNvCxnSpPr>
              <a:cxnSpLocks noChangeShapeType="1"/>
            </p:cNvCxnSpPr>
            <p:nvPr/>
          </p:nvCxnSpPr>
          <p:spPr bwMode="auto">
            <a:xfrm flipH="1">
              <a:off x="7422777" y="1538344"/>
              <a:ext cx="2560320" cy="635"/>
            </a:xfrm>
            <a:prstGeom prst="line">
              <a:avLst/>
            </a:prstGeom>
            <a:noFill/>
            <a:ln w="28575">
              <a:solidFill>
                <a:srgbClr val="002060"/>
              </a:solidFill>
              <a:round/>
              <a:headEnd type="arrow"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Rectangle 23">
              <a:extLst>
                <a:ext uri="{FF2B5EF4-FFF2-40B4-BE49-F238E27FC236}">
                  <a16:creationId xmlns:a16="http://schemas.microsoft.com/office/drawing/2014/main" id="{FE576AF7-5BC8-46BD-B7BF-191F754EB47F}"/>
                </a:ext>
              </a:extLst>
            </p:cNvPr>
            <p:cNvSpPr>
              <a:spLocks noChangeArrowheads="1"/>
            </p:cNvSpPr>
            <p:nvPr/>
          </p:nvSpPr>
          <p:spPr bwMode="auto">
            <a:xfrm>
              <a:off x="8756725" y="613186"/>
              <a:ext cx="469265"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5" name="Line 184">
              <a:extLst>
                <a:ext uri="{FF2B5EF4-FFF2-40B4-BE49-F238E27FC236}">
                  <a16:creationId xmlns:a16="http://schemas.microsoft.com/office/drawing/2014/main" id="{5BB8D674-50FC-4EDA-A943-D9756C8B12E5}"/>
                </a:ext>
              </a:extLst>
            </p:cNvPr>
            <p:cNvCxnSpPr>
              <a:cxnSpLocks noChangeShapeType="1"/>
            </p:cNvCxnSpPr>
            <p:nvPr/>
          </p:nvCxnSpPr>
          <p:spPr bwMode="auto">
            <a:xfrm>
              <a:off x="7433534" y="1516829"/>
              <a:ext cx="2377440" cy="635"/>
            </a:xfrm>
            <a:prstGeom prst="line">
              <a:avLst/>
            </a:prstGeom>
            <a:noFill/>
            <a:ln w="28575">
              <a:solidFill>
                <a:srgbClr val="002060"/>
              </a:solidFill>
              <a:prstDash val="sysDashDot"/>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6" name="Freeform 326">
              <a:extLst>
                <a:ext uri="{FF2B5EF4-FFF2-40B4-BE49-F238E27FC236}">
                  <a16:creationId xmlns:a16="http://schemas.microsoft.com/office/drawing/2014/main" id="{D109F7A2-CDE3-4AFD-90E6-2F4726F5168A}"/>
                </a:ext>
              </a:extLst>
            </p:cNvPr>
            <p:cNvSpPr>
              <a:spLocks/>
            </p:cNvSpPr>
            <p:nvPr/>
          </p:nvSpPr>
          <p:spPr bwMode="auto">
            <a:xfrm>
              <a:off x="355003" y="849854"/>
              <a:ext cx="1645903"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7" name="Freeform 328">
              <a:extLst>
                <a:ext uri="{FF2B5EF4-FFF2-40B4-BE49-F238E27FC236}">
                  <a16:creationId xmlns:a16="http://schemas.microsoft.com/office/drawing/2014/main" id="{3B4ABF03-1DDA-4E06-8F59-101007C8A97B}"/>
                </a:ext>
              </a:extLst>
            </p:cNvPr>
            <p:cNvSpPr>
              <a:spLocks/>
            </p:cNvSpPr>
            <p:nvPr/>
          </p:nvSpPr>
          <p:spPr bwMode="auto">
            <a:xfrm>
              <a:off x="2000923" y="849854"/>
              <a:ext cx="1645903"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8" name="Freeform 329">
              <a:extLst>
                <a:ext uri="{FF2B5EF4-FFF2-40B4-BE49-F238E27FC236}">
                  <a16:creationId xmlns:a16="http://schemas.microsoft.com/office/drawing/2014/main" id="{01F31676-ACD5-46CF-B6C0-2A0B8EE58825}"/>
                </a:ext>
              </a:extLst>
            </p:cNvPr>
            <p:cNvSpPr>
              <a:spLocks/>
            </p:cNvSpPr>
            <p:nvPr/>
          </p:nvSpPr>
          <p:spPr bwMode="auto">
            <a:xfrm>
              <a:off x="96819" y="279699"/>
              <a:ext cx="1645920" cy="237744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9" name="Freeform 330">
              <a:extLst>
                <a:ext uri="{FF2B5EF4-FFF2-40B4-BE49-F238E27FC236}">
                  <a16:creationId xmlns:a16="http://schemas.microsoft.com/office/drawing/2014/main" id="{00940AC0-836C-4F35-920B-579A31C2F75A}"/>
                </a:ext>
              </a:extLst>
            </p:cNvPr>
            <p:cNvSpPr>
              <a:spLocks/>
            </p:cNvSpPr>
            <p:nvPr/>
          </p:nvSpPr>
          <p:spPr bwMode="auto">
            <a:xfrm>
              <a:off x="1731982" y="279699"/>
              <a:ext cx="1645920" cy="237744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0" name="Freeform 333">
              <a:extLst>
                <a:ext uri="{FF2B5EF4-FFF2-40B4-BE49-F238E27FC236}">
                  <a16:creationId xmlns:a16="http://schemas.microsoft.com/office/drawing/2014/main" id="{E9EBC3AB-C599-47AC-94CA-CBC3BE9A8A99}"/>
                </a:ext>
              </a:extLst>
            </p:cNvPr>
            <p:cNvSpPr>
              <a:spLocks/>
            </p:cNvSpPr>
            <p:nvPr/>
          </p:nvSpPr>
          <p:spPr bwMode="auto">
            <a:xfrm>
              <a:off x="419549" y="484094"/>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1" name="Freeform 335">
              <a:extLst>
                <a:ext uri="{FF2B5EF4-FFF2-40B4-BE49-F238E27FC236}">
                  <a16:creationId xmlns:a16="http://schemas.microsoft.com/office/drawing/2014/main" id="{9B059292-B727-4D60-A8D3-8B3F95D4AEE7}"/>
                </a:ext>
              </a:extLst>
            </p:cNvPr>
            <p:cNvSpPr>
              <a:spLocks/>
            </p:cNvSpPr>
            <p:nvPr/>
          </p:nvSpPr>
          <p:spPr bwMode="auto">
            <a:xfrm>
              <a:off x="1247887" y="505610"/>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2" name="Freeform 336">
              <a:extLst>
                <a:ext uri="{FF2B5EF4-FFF2-40B4-BE49-F238E27FC236}">
                  <a16:creationId xmlns:a16="http://schemas.microsoft.com/office/drawing/2014/main" id="{1E962449-3BD4-41A6-8CE6-40E49DBCAED6}"/>
                </a:ext>
              </a:extLst>
            </p:cNvPr>
            <p:cNvSpPr>
              <a:spLocks/>
            </p:cNvSpPr>
            <p:nvPr/>
          </p:nvSpPr>
          <p:spPr bwMode="auto">
            <a:xfrm>
              <a:off x="2086984" y="527125"/>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3" name="Freeform 337">
              <a:extLst>
                <a:ext uri="{FF2B5EF4-FFF2-40B4-BE49-F238E27FC236}">
                  <a16:creationId xmlns:a16="http://schemas.microsoft.com/office/drawing/2014/main" id="{B59AF0F3-5BA8-42E9-A295-2662B832C69E}"/>
                </a:ext>
              </a:extLst>
            </p:cNvPr>
            <p:cNvSpPr>
              <a:spLocks/>
            </p:cNvSpPr>
            <p:nvPr/>
          </p:nvSpPr>
          <p:spPr bwMode="auto">
            <a:xfrm>
              <a:off x="2926080" y="548640"/>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4" name="Freeform 338">
              <a:extLst>
                <a:ext uri="{FF2B5EF4-FFF2-40B4-BE49-F238E27FC236}">
                  <a16:creationId xmlns:a16="http://schemas.microsoft.com/office/drawing/2014/main" id="{B4005296-DB1D-42EA-871D-D9B0E0F2173E}"/>
                </a:ext>
              </a:extLst>
            </p:cNvPr>
            <p:cNvSpPr>
              <a:spLocks/>
            </p:cNvSpPr>
            <p:nvPr/>
          </p:nvSpPr>
          <p:spPr bwMode="auto">
            <a:xfrm>
              <a:off x="32273" y="1097280"/>
              <a:ext cx="398033" cy="612648"/>
            </a:xfrm>
            <a:custGeom>
              <a:avLst/>
              <a:gdLst>
                <a:gd name="T0" fmla="*/ 0 w 1954"/>
                <a:gd name="T1" fmla="*/ 0 h 1897"/>
                <a:gd name="T2" fmla="*/ 415 w 1954"/>
                <a:gd name="T3" fmla="*/ 1170 h 1897"/>
                <a:gd name="T4" fmla="*/ 768 w 1954"/>
                <a:gd name="T5" fmla="*/ 1792 h 1897"/>
                <a:gd name="T6" fmla="*/ 1153 w 1954"/>
                <a:gd name="T7" fmla="*/ 1800 h 1897"/>
                <a:gd name="T8" fmla="*/ 1528 w 1954"/>
                <a:gd name="T9" fmla="*/ 1215 h 1897"/>
                <a:gd name="T10" fmla="*/ 1954 w 1954"/>
                <a:gd name="T11" fmla="*/ 1 h 1897"/>
              </a:gdLst>
              <a:ahLst/>
              <a:cxnLst>
                <a:cxn ang="0">
                  <a:pos x="T0" y="T1"/>
                </a:cxn>
                <a:cxn ang="0">
                  <a:pos x="T2" y="T3"/>
                </a:cxn>
                <a:cxn ang="0">
                  <a:pos x="T4" y="T5"/>
                </a:cxn>
                <a:cxn ang="0">
                  <a:pos x="T6" y="T7"/>
                </a:cxn>
                <a:cxn ang="0">
                  <a:pos x="T8" y="T9"/>
                </a:cxn>
                <a:cxn ang="0">
                  <a:pos x="T10" y="T11"/>
                </a:cxn>
              </a:cxnLst>
              <a:rect l="0" t="0" r="r" b="b"/>
              <a:pathLst>
                <a:path w="1954" h="1897">
                  <a:moveTo>
                    <a:pt x="0" y="0"/>
                  </a:moveTo>
                  <a:cubicBezTo>
                    <a:pt x="69" y="195"/>
                    <a:pt x="287" y="871"/>
                    <a:pt x="415" y="1170"/>
                  </a:cubicBezTo>
                  <a:cubicBezTo>
                    <a:pt x="543" y="1469"/>
                    <a:pt x="645" y="1687"/>
                    <a:pt x="768" y="1792"/>
                  </a:cubicBezTo>
                  <a:cubicBezTo>
                    <a:pt x="891" y="1897"/>
                    <a:pt x="1026" y="1896"/>
                    <a:pt x="1153" y="1800"/>
                  </a:cubicBezTo>
                  <a:cubicBezTo>
                    <a:pt x="1280" y="1704"/>
                    <a:pt x="1394" y="1515"/>
                    <a:pt x="1528" y="1215"/>
                  </a:cubicBezTo>
                  <a:cubicBezTo>
                    <a:pt x="1662" y="915"/>
                    <a:pt x="1866" y="254"/>
                    <a:pt x="1954" y="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5" name="Rectangle 34">
              <a:extLst>
                <a:ext uri="{FF2B5EF4-FFF2-40B4-BE49-F238E27FC236}">
                  <a16:creationId xmlns:a16="http://schemas.microsoft.com/office/drawing/2014/main" id="{5573E812-9D8A-478A-96BA-9D73FCF2235C}"/>
                </a:ext>
              </a:extLst>
            </p:cNvPr>
            <p:cNvSpPr>
              <a:spLocks noChangeArrowheads="1"/>
            </p:cNvSpPr>
            <p:nvPr/>
          </p:nvSpPr>
          <p:spPr bwMode="auto">
            <a:xfrm>
              <a:off x="796066" y="591671"/>
              <a:ext cx="469265"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i(t)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Freeform 340">
              <a:extLst>
                <a:ext uri="{FF2B5EF4-FFF2-40B4-BE49-F238E27FC236}">
                  <a16:creationId xmlns:a16="http://schemas.microsoft.com/office/drawing/2014/main" id="{0A3CE8D0-161A-4EA8-B7F7-4100F1E38725}"/>
                </a:ext>
              </a:extLst>
            </p:cNvPr>
            <p:cNvSpPr>
              <a:spLocks/>
            </p:cNvSpPr>
            <p:nvPr/>
          </p:nvSpPr>
          <p:spPr bwMode="auto">
            <a:xfrm>
              <a:off x="4733365" y="333487"/>
              <a:ext cx="1645920" cy="237744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7" name="Freeform 341">
              <a:extLst>
                <a:ext uri="{FF2B5EF4-FFF2-40B4-BE49-F238E27FC236}">
                  <a16:creationId xmlns:a16="http://schemas.microsoft.com/office/drawing/2014/main" id="{6A4E7092-A32A-45D9-A4CE-8ED02A3392FA}"/>
                </a:ext>
              </a:extLst>
            </p:cNvPr>
            <p:cNvSpPr>
              <a:spLocks/>
            </p:cNvSpPr>
            <p:nvPr/>
          </p:nvSpPr>
          <p:spPr bwMode="auto">
            <a:xfrm>
              <a:off x="6368527" y="365760"/>
              <a:ext cx="662171" cy="1143974"/>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 name="connsiteX0" fmla="*/ 0 w 7922"/>
                <a:gd name="connsiteY0" fmla="*/ 9652 h 9652"/>
                <a:gd name="connsiteX1" fmla="*/ 1153 w 7922"/>
                <a:gd name="connsiteY1" fmla="*/ 6197 h 9652"/>
                <a:gd name="connsiteX2" fmla="*/ 2273 w 7922"/>
                <a:gd name="connsiteY2" fmla="*/ 3363 h 9652"/>
                <a:gd name="connsiteX3" fmla="*/ 3760 w 7922"/>
                <a:gd name="connsiteY3" fmla="*/ 535 h 9652"/>
                <a:gd name="connsiteX4" fmla="*/ 5952 w 7922"/>
                <a:gd name="connsiteY4" fmla="*/ 300 h 9652"/>
                <a:gd name="connsiteX5" fmla="*/ 7922 w 7922"/>
                <a:gd name="connsiteY5" fmla="*/ 3793 h 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22" h="9652">
                  <a:moveTo>
                    <a:pt x="0" y="9652"/>
                  </a:moveTo>
                  <a:cubicBezTo>
                    <a:pt x="193" y="9080"/>
                    <a:pt x="773" y="7241"/>
                    <a:pt x="1153" y="6197"/>
                  </a:cubicBezTo>
                  <a:cubicBezTo>
                    <a:pt x="1534" y="5152"/>
                    <a:pt x="1837" y="4303"/>
                    <a:pt x="2273" y="3363"/>
                  </a:cubicBezTo>
                  <a:cubicBezTo>
                    <a:pt x="2707" y="2421"/>
                    <a:pt x="3149" y="1045"/>
                    <a:pt x="3760" y="535"/>
                  </a:cubicBezTo>
                  <a:cubicBezTo>
                    <a:pt x="4374" y="21"/>
                    <a:pt x="5259" y="-242"/>
                    <a:pt x="5952" y="300"/>
                  </a:cubicBezTo>
                  <a:cubicBezTo>
                    <a:pt x="6643" y="844"/>
                    <a:pt x="7249" y="2180"/>
                    <a:pt x="7922" y="3793"/>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8" name="Freeform 342">
              <a:extLst>
                <a:ext uri="{FF2B5EF4-FFF2-40B4-BE49-F238E27FC236}">
                  <a16:creationId xmlns:a16="http://schemas.microsoft.com/office/drawing/2014/main" id="{640ED58B-5250-4E27-BE35-1FA489E6D101}"/>
                </a:ext>
              </a:extLst>
            </p:cNvPr>
            <p:cNvSpPr>
              <a:spLocks/>
            </p:cNvSpPr>
            <p:nvPr/>
          </p:nvSpPr>
          <p:spPr bwMode="auto">
            <a:xfrm>
              <a:off x="4722607" y="871370"/>
              <a:ext cx="164528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9" name="Freeform 343">
              <a:extLst>
                <a:ext uri="{FF2B5EF4-FFF2-40B4-BE49-F238E27FC236}">
                  <a16:creationId xmlns:a16="http://schemas.microsoft.com/office/drawing/2014/main" id="{91ABB0C1-A421-4286-A7F8-E1B363E8C355}"/>
                </a:ext>
              </a:extLst>
            </p:cNvPr>
            <p:cNvSpPr>
              <a:spLocks/>
            </p:cNvSpPr>
            <p:nvPr/>
          </p:nvSpPr>
          <p:spPr bwMode="auto">
            <a:xfrm>
              <a:off x="6368527" y="892885"/>
              <a:ext cx="661955" cy="595919"/>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 name="connsiteX0" fmla="*/ 0 w 7922"/>
                <a:gd name="connsiteY0" fmla="*/ 9652 h 9652"/>
                <a:gd name="connsiteX1" fmla="*/ 1153 w 7922"/>
                <a:gd name="connsiteY1" fmla="*/ 6197 h 9652"/>
                <a:gd name="connsiteX2" fmla="*/ 2273 w 7922"/>
                <a:gd name="connsiteY2" fmla="*/ 3363 h 9652"/>
                <a:gd name="connsiteX3" fmla="*/ 3760 w 7922"/>
                <a:gd name="connsiteY3" fmla="*/ 535 h 9652"/>
                <a:gd name="connsiteX4" fmla="*/ 5952 w 7922"/>
                <a:gd name="connsiteY4" fmla="*/ 300 h 9652"/>
                <a:gd name="connsiteX5" fmla="*/ 7922 w 7922"/>
                <a:gd name="connsiteY5" fmla="*/ 3793 h 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22" h="9652">
                  <a:moveTo>
                    <a:pt x="0" y="9652"/>
                  </a:moveTo>
                  <a:cubicBezTo>
                    <a:pt x="193" y="9080"/>
                    <a:pt x="773" y="7241"/>
                    <a:pt x="1153" y="6197"/>
                  </a:cubicBezTo>
                  <a:cubicBezTo>
                    <a:pt x="1534" y="5152"/>
                    <a:pt x="1837" y="4303"/>
                    <a:pt x="2273" y="3363"/>
                  </a:cubicBezTo>
                  <a:cubicBezTo>
                    <a:pt x="2707" y="2421"/>
                    <a:pt x="3149" y="1045"/>
                    <a:pt x="3760" y="535"/>
                  </a:cubicBezTo>
                  <a:cubicBezTo>
                    <a:pt x="4374" y="21"/>
                    <a:pt x="5259" y="-242"/>
                    <a:pt x="5952" y="300"/>
                  </a:cubicBezTo>
                  <a:cubicBezTo>
                    <a:pt x="6643" y="844"/>
                    <a:pt x="7249" y="2180"/>
                    <a:pt x="7922" y="3793"/>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0" name="Freeform 344">
              <a:extLst>
                <a:ext uri="{FF2B5EF4-FFF2-40B4-BE49-F238E27FC236}">
                  <a16:creationId xmlns:a16="http://schemas.microsoft.com/office/drawing/2014/main" id="{5959F85D-B9EC-461A-8105-2ECCD6D36C43}"/>
                </a:ext>
              </a:extLst>
            </p:cNvPr>
            <p:cNvSpPr>
              <a:spLocks/>
            </p:cNvSpPr>
            <p:nvPr/>
          </p:nvSpPr>
          <p:spPr bwMode="auto">
            <a:xfrm>
              <a:off x="4905487" y="279699"/>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1" name="Freeform 345">
              <a:extLst>
                <a:ext uri="{FF2B5EF4-FFF2-40B4-BE49-F238E27FC236}">
                  <a16:creationId xmlns:a16="http://schemas.microsoft.com/office/drawing/2014/main" id="{B38DF4F2-4C87-48CA-BC5C-91F2A1E4EA12}"/>
                </a:ext>
              </a:extLst>
            </p:cNvPr>
            <p:cNvSpPr>
              <a:spLocks/>
            </p:cNvSpPr>
            <p:nvPr/>
          </p:nvSpPr>
          <p:spPr bwMode="auto">
            <a:xfrm>
              <a:off x="5744584" y="301214"/>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2" name="Freeform 346">
              <a:extLst>
                <a:ext uri="{FF2B5EF4-FFF2-40B4-BE49-F238E27FC236}">
                  <a16:creationId xmlns:a16="http://schemas.microsoft.com/office/drawing/2014/main" id="{CE8821CA-A24C-485A-A899-67E2E34D44A9}"/>
                </a:ext>
              </a:extLst>
            </p:cNvPr>
            <p:cNvSpPr>
              <a:spLocks/>
            </p:cNvSpPr>
            <p:nvPr/>
          </p:nvSpPr>
          <p:spPr bwMode="auto">
            <a:xfrm>
              <a:off x="6583680" y="344245"/>
              <a:ext cx="427309" cy="617405"/>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2" h="6230">
                  <a:moveTo>
                    <a:pt x="0" y="6013"/>
                  </a:moveTo>
                  <a:cubicBezTo>
                    <a:pt x="160" y="5657"/>
                    <a:pt x="641" y="4511"/>
                    <a:pt x="956" y="3861"/>
                  </a:cubicBezTo>
                  <a:cubicBezTo>
                    <a:pt x="1272" y="3210"/>
                    <a:pt x="1523" y="2681"/>
                    <a:pt x="1885" y="2095"/>
                  </a:cubicBezTo>
                  <a:cubicBezTo>
                    <a:pt x="2245" y="1508"/>
                    <a:pt x="2611" y="651"/>
                    <a:pt x="3118" y="333"/>
                  </a:cubicBezTo>
                  <a:cubicBezTo>
                    <a:pt x="3627" y="13"/>
                    <a:pt x="4361" y="-151"/>
                    <a:pt x="4935" y="187"/>
                  </a:cubicBezTo>
                  <a:cubicBezTo>
                    <a:pt x="5508" y="526"/>
                    <a:pt x="6011" y="1358"/>
                    <a:pt x="6569" y="2363"/>
                  </a:cubicBezTo>
                  <a:cubicBezTo>
                    <a:pt x="7129" y="3369"/>
                    <a:pt x="7722" y="4957"/>
                    <a:pt x="8292" y="6230"/>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3" name="Rectangle 42">
              <a:extLst>
                <a:ext uri="{FF2B5EF4-FFF2-40B4-BE49-F238E27FC236}">
                  <a16:creationId xmlns:a16="http://schemas.microsoft.com/office/drawing/2014/main" id="{C4BFAD0F-BC67-471D-AE49-02592A4FC11C}"/>
                </a:ext>
              </a:extLst>
            </p:cNvPr>
            <p:cNvSpPr>
              <a:spLocks noChangeArrowheads="1"/>
            </p:cNvSpPr>
            <p:nvPr/>
          </p:nvSpPr>
          <p:spPr bwMode="auto">
            <a:xfrm>
              <a:off x="5593977" y="656217"/>
              <a:ext cx="925157" cy="3638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½ V</a:t>
              </a:r>
              <a:r>
                <a:rPr lang="en-GB" sz="20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a:t>
              </a:r>
              <a:r>
                <a:rPr lang="en-GB" sz="2000" b="1"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I</a:t>
              </a:r>
              <a:r>
                <a:rPr lang="en-GB" sz="2000" b="1" i="1"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m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4" name="Freeform 350">
              <a:extLst>
                <a:ext uri="{FF2B5EF4-FFF2-40B4-BE49-F238E27FC236}">
                  <a16:creationId xmlns:a16="http://schemas.microsoft.com/office/drawing/2014/main" id="{D3289B8B-EB56-4A7A-B996-AE90B7126587}"/>
                </a:ext>
              </a:extLst>
            </p:cNvPr>
            <p:cNvSpPr>
              <a:spLocks/>
            </p:cNvSpPr>
            <p:nvPr/>
          </p:nvSpPr>
          <p:spPr bwMode="auto">
            <a:xfrm>
              <a:off x="7508838" y="322730"/>
              <a:ext cx="1645920" cy="237744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5" name="Freeform 351">
              <a:extLst>
                <a:ext uri="{FF2B5EF4-FFF2-40B4-BE49-F238E27FC236}">
                  <a16:creationId xmlns:a16="http://schemas.microsoft.com/office/drawing/2014/main" id="{AE2932C9-4B0F-47EC-9E21-17B4CF976D49}"/>
                </a:ext>
              </a:extLst>
            </p:cNvPr>
            <p:cNvSpPr>
              <a:spLocks/>
            </p:cNvSpPr>
            <p:nvPr/>
          </p:nvSpPr>
          <p:spPr bwMode="auto">
            <a:xfrm>
              <a:off x="9154758" y="365760"/>
              <a:ext cx="661670" cy="1143635"/>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 name="connsiteX0" fmla="*/ 0 w 7922"/>
                <a:gd name="connsiteY0" fmla="*/ 9652 h 9652"/>
                <a:gd name="connsiteX1" fmla="*/ 1153 w 7922"/>
                <a:gd name="connsiteY1" fmla="*/ 6197 h 9652"/>
                <a:gd name="connsiteX2" fmla="*/ 2273 w 7922"/>
                <a:gd name="connsiteY2" fmla="*/ 3363 h 9652"/>
                <a:gd name="connsiteX3" fmla="*/ 3760 w 7922"/>
                <a:gd name="connsiteY3" fmla="*/ 535 h 9652"/>
                <a:gd name="connsiteX4" fmla="*/ 5952 w 7922"/>
                <a:gd name="connsiteY4" fmla="*/ 300 h 9652"/>
                <a:gd name="connsiteX5" fmla="*/ 7922 w 7922"/>
                <a:gd name="connsiteY5" fmla="*/ 3793 h 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22" h="9652">
                  <a:moveTo>
                    <a:pt x="0" y="9652"/>
                  </a:moveTo>
                  <a:cubicBezTo>
                    <a:pt x="193" y="9080"/>
                    <a:pt x="773" y="7241"/>
                    <a:pt x="1153" y="6197"/>
                  </a:cubicBezTo>
                  <a:cubicBezTo>
                    <a:pt x="1534" y="5152"/>
                    <a:pt x="1837" y="4303"/>
                    <a:pt x="2273" y="3363"/>
                  </a:cubicBezTo>
                  <a:cubicBezTo>
                    <a:pt x="2707" y="2421"/>
                    <a:pt x="3149" y="1045"/>
                    <a:pt x="3760" y="535"/>
                  </a:cubicBezTo>
                  <a:cubicBezTo>
                    <a:pt x="4374" y="21"/>
                    <a:pt x="5259" y="-242"/>
                    <a:pt x="5952" y="300"/>
                  </a:cubicBezTo>
                  <a:cubicBezTo>
                    <a:pt x="6643" y="844"/>
                    <a:pt x="7249" y="2180"/>
                    <a:pt x="7922" y="3793"/>
                  </a:cubicBezTo>
                </a:path>
              </a:pathLst>
            </a:custGeom>
            <a:noFill/>
            <a:ln w="28575" cmpd="sng">
              <a:solidFill>
                <a:srgbClr val="00B0F0"/>
              </a:solidFill>
              <a:prstDash val="sysDash"/>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6" name="Freeform 352">
              <a:extLst>
                <a:ext uri="{FF2B5EF4-FFF2-40B4-BE49-F238E27FC236}">
                  <a16:creationId xmlns:a16="http://schemas.microsoft.com/office/drawing/2014/main" id="{BF94AB2B-31B9-4079-B3D4-4478A60FC580}"/>
                </a:ext>
              </a:extLst>
            </p:cNvPr>
            <p:cNvSpPr>
              <a:spLocks/>
            </p:cNvSpPr>
            <p:nvPr/>
          </p:nvSpPr>
          <p:spPr bwMode="auto">
            <a:xfrm>
              <a:off x="7508838" y="1516829"/>
              <a:ext cx="413912" cy="597393"/>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9414"/>
                <a:gd name="connsiteY0" fmla="*/ 3090 h 9812"/>
                <a:gd name="connsiteX1" fmla="*/ 568 w 9414"/>
                <a:gd name="connsiteY1" fmla="*/ 1677 h 9812"/>
                <a:gd name="connsiteX2" fmla="*/ 1324 w 9414"/>
                <a:gd name="connsiteY2" fmla="*/ 266 h 9812"/>
                <a:gd name="connsiteX3" fmla="*/ 2436 w 9414"/>
                <a:gd name="connsiteY3" fmla="*/ 150 h 9812"/>
                <a:gd name="connsiteX4" fmla="*/ 3437 w 9414"/>
                <a:gd name="connsiteY4" fmla="*/ 1891 h 9812"/>
                <a:gd name="connsiteX5" fmla="*/ 4493 w 9414"/>
                <a:gd name="connsiteY5" fmla="*/ 4986 h 9812"/>
                <a:gd name="connsiteX6" fmla="*/ 5539 w 9414"/>
                <a:gd name="connsiteY6" fmla="*/ 8004 h 9812"/>
                <a:gd name="connsiteX7" fmla="*/ 6429 w 9414"/>
                <a:gd name="connsiteY7" fmla="*/ 9608 h 9812"/>
                <a:gd name="connsiteX8" fmla="*/ 7397 w 9414"/>
                <a:gd name="connsiteY8" fmla="*/ 9629 h 9812"/>
                <a:gd name="connsiteX9" fmla="*/ 8342 w 9414"/>
                <a:gd name="connsiteY9" fmla="*/ 8120 h 9812"/>
                <a:gd name="connsiteX10" fmla="*/ 9414 w 9414"/>
                <a:gd name="connsiteY10" fmla="*/ 4989 h 9812"/>
                <a:gd name="connsiteX0" fmla="*/ 0 w 9397"/>
                <a:gd name="connsiteY0" fmla="*/ 1709 h 10000"/>
                <a:gd name="connsiteX1" fmla="*/ 803 w 9397"/>
                <a:gd name="connsiteY1" fmla="*/ 271 h 10000"/>
                <a:gd name="connsiteX2" fmla="*/ 1985 w 9397"/>
                <a:gd name="connsiteY2" fmla="*/ 153 h 10000"/>
                <a:gd name="connsiteX3" fmla="*/ 3048 w 9397"/>
                <a:gd name="connsiteY3" fmla="*/ 1927 h 10000"/>
                <a:gd name="connsiteX4" fmla="*/ 4170 w 9397"/>
                <a:gd name="connsiteY4" fmla="*/ 5082 h 10000"/>
                <a:gd name="connsiteX5" fmla="*/ 5281 w 9397"/>
                <a:gd name="connsiteY5" fmla="*/ 8157 h 10000"/>
                <a:gd name="connsiteX6" fmla="*/ 6226 w 9397"/>
                <a:gd name="connsiteY6" fmla="*/ 9792 h 10000"/>
                <a:gd name="connsiteX7" fmla="*/ 7254 w 9397"/>
                <a:gd name="connsiteY7" fmla="*/ 9813 h 10000"/>
                <a:gd name="connsiteX8" fmla="*/ 8258 w 9397"/>
                <a:gd name="connsiteY8" fmla="*/ 8276 h 10000"/>
                <a:gd name="connsiteX9" fmla="*/ 9397 w 9397"/>
                <a:gd name="connsiteY9" fmla="*/ 5085 h 10000"/>
                <a:gd name="connsiteX0" fmla="*/ 0 w 9145"/>
                <a:gd name="connsiteY0" fmla="*/ 271 h 10000"/>
                <a:gd name="connsiteX1" fmla="*/ 1257 w 9145"/>
                <a:gd name="connsiteY1" fmla="*/ 153 h 10000"/>
                <a:gd name="connsiteX2" fmla="*/ 2389 w 9145"/>
                <a:gd name="connsiteY2" fmla="*/ 1927 h 10000"/>
                <a:gd name="connsiteX3" fmla="*/ 3583 w 9145"/>
                <a:gd name="connsiteY3" fmla="*/ 5082 h 10000"/>
                <a:gd name="connsiteX4" fmla="*/ 4765 w 9145"/>
                <a:gd name="connsiteY4" fmla="*/ 8157 h 10000"/>
                <a:gd name="connsiteX5" fmla="*/ 5771 w 9145"/>
                <a:gd name="connsiteY5" fmla="*/ 9792 h 10000"/>
                <a:gd name="connsiteX6" fmla="*/ 6864 w 9145"/>
                <a:gd name="connsiteY6" fmla="*/ 9813 h 10000"/>
                <a:gd name="connsiteX7" fmla="*/ 7933 w 9145"/>
                <a:gd name="connsiteY7" fmla="*/ 8276 h 10000"/>
                <a:gd name="connsiteX8" fmla="*/ 9145 w 9145"/>
                <a:gd name="connsiteY8" fmla="*/ 5085 h 10000"/>
                <a:gd name="connsiteX0" fmla="*/ 0 w 8625"/>
                <a:gd name="connsiteY0" fmla="*/ 0 h 9847"/>
                <a:gd name="connsiteX1" fmla="*/ 1237 w 8625"/>
                <a:gd name="connsiteY1" fmla="*/ 1774 h 9847"/>
                <a:gd name="connsiteX2" fmla="*/ 2543 w 8625"/>
                <a:gd name="connsiteY2" fmla="*/ 4929 h 9847"/>
                <a:gd name="connsiteX3" fmla="*/ 3835 w 8625"/>
                <a:gd name="connsiteY3" fmla="*/ 8004 h 9847"/>
                <a:gd name="connsiteX4" fmla="*/ 4936 w 8625"/>
                <a:gd name="connsiteY4" fmla="*/ 9639 h 9847"/>
                <a:gd name="connsiteX5" fmla="*/ 6131 w 8625"/>
                <a:gd name="connsiteY5" fmla="*/ 9660 h 9847"/>
                <a:gd name="connsiteX6" fmla="*/ 7300 w 8625"/>
                <a:gd name="connsiteY6" fmla="*/ 8123 h 9847"/>
                <a:gd name="connsiteX7" fmla="*/ 8625 w 8625"/>
                <a:gd name="connsiteY7" fmla="*/ 4932 h 9847"/>
                <a:gd name="connsiteX0" fmla="*/ 0 w 8566"/>
                <a:gd name="connsiteY0" fmla="*/ 0 h 8198"/>
                <a:gd name="connsiteX1" fmla="*/ 1514 w 8566"/>
                <a:gd name="connsiteY1" fmla="*/ 3204 h 8198"/>
                <a:gd name="connsiteX2" fmla="*/ 3012 w 8566"/>
                <a:gd name="connsiteY2" fmla="*/ 6326 h 8198"/>
                <a:gd name="connsiteX3" fmla="*/ 4289 w 8566"/>
                <a:gd name="connsiteY3" fmla="*/ 7987 h 8198"/>
                <a:gd name="connsiteX4" fmla="*/ 5674 w 8566"/>
                <a:gd name="connsiteY4" fmla="*/ 8008 h 8198"/>
                <a:gd name="connsiteX5" fmla="*/ 7030 w 8566"/>
                <a:gd name="connsiteY5" fmla="*/ 6447 h 8198"/>
                <a:gd name="connsiteX6" fmla="*/ 8566 w 8566"/>
                <a:gd name="connsiteY6" fmla="*/ 3207 h 8198"/>
                <a:gd name="connsiteX0" fmla="*/ 0 w 8233"/>
                <a:gd name="connsiteY0" fmla="*/ 0 h 6092"/>
                <a:gd name="connsiteX1" fmla="*/ 1749 w 8233"/>
                <a:gd name="connsiteY1" fmla="*/ 3809 h 6092"/>
                <a:gd name="connsiteX2" fmla="*/ 3240 w 8233"/>
                <a:gd name="connsiteY2" fmla="*/ 5835 h 6092"/>
                <a:gd name="connsiteX3" fmla="*/ 4857 w 8233"/>
                <a:gd name="connsiteY3" fmla="*/ 5860 h 6092"/>
                <a:gd name="connsiteX4" fmla="*/ 6440 w 8233"/>
                <a:gd name="connsiteY4" fmla="*/ 3956 h 6092"/>
                <a:gd name="connsiteX5" fmla="*/ 8233 w 8233"/>
                <a:gd name="connsiteY5" fmla="*/ 4 h 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 h="6092">
                  <a:moveTo>
                    <a:pt x="0" y="0"/>
                  </a:moveTo>
                  <a:cubicBezTo>
                    <a:pt x="584" y="1286"/>
                    <a:pt x="1211" y="2836"/>
                    <a:pt x="1749" y="3809"/>
                  </a:cubicBezTo>
                  <a:cubicBezTo>
                    <a:pt x="2290" y="4783"/>
                    <a:pt x="2721" y="5492"/>
                    <a:pt x="3240" y="5835"/>
                  </a:cubicBezTo>
                  <a:cubicBezTo>
                    <a:pt x="3757" y="6176"/>
                    <a:pt x="4326" y="6173"/>
                    <a:pt x="4857" y="5860"/>
                  </a:cubicBezTo>
                  <a:cubicBezTo>
                    <a:pt x="5390" y="5548"/>
                    <a:pt x="5875" y="4932"/>
                    <a:pt x="6440" y="3956"/>
                  </a:cubicBezTo>
                  <a:cubicBezTo>
                    <a:pt x="7001" y="2979"/>
                    <a:pt x="7862" y="826"/>
                    <a:pt x="8233" y="4"/>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7" name="Freeform 353">
              <a:extLst>
                <a:ext uri="{FF2B5EF4-FFF2-40B4-BE49-F238E27FC236}">
                  <a16:creationId xmlns:a16="http://schemas.microsoft.com/office/drawing/2014/main" id="{7802FF89-0A45-4887-8C08-EB7DBAEFCFAD}"/>
                </a:ext>
              </a:extLst>
            </p:cNvPr>
            <p:cNvSpPr>
              <a:spLocks/>
            </p:cNvSpPr>
            <p:nvPr/>
          </p:nvSpPr>
          <p:spPr bwMode="auto">
            <a:xfrm>
              <a:off x="7928386" y="892885"/>
              <a:ext cx="795762"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8" name="Freeform 354">
              <a:extLst>
                <a:ext uri="{FF2B5EF4-FFF2-40B4-BE49-F238E27FC236}">
                  <a16:creationId xmlns:a16="http://schemas.microsoft.com/office/drawing/2014/main" id="{6F6FD316-18DA-4D94-8324-8B95A56DD42F}"/>
                </a:ext>
              </a:extLst>
            </p:cNvPr>
            <p:cNvSpPr>
              <a:spLocks/>
            </p:cNvSpPr>
            <p:nvPr/>
          </p:nvSpPr>
          <p:spPr bwMode="auto">
            <a:xfrm>
              <a:off x="9585064" y="903643"/>
              <a:ext cx="253975" cy="595741"/>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 name="connsiteX0" fmla="*/ 0 w 7922"/>
                <a:gd name="connsiteY0" fmla="*/ 9652 h 9652"/>
                <a:gd name="connsiteX1" fmla="*/ 1153 w 7922"/>
                <a:gd name="connsiteY1" fmla="*/ 6197 h 9652"/>
                <a:gd name="connsiteX2" fmla="*/ 2273 w 7922"/>
                <a:gd name="connsiteY2" fmla="*/ 3363 h 9652"/>
                <a:gd name="connsiteX3" fmla="*/ 3760 w 7922"/>
                <a:gd name="connsiteY3" fmla="*/ 535 h 9652"/>
                <a:gd name="connsiteX4" fmla="*/ 5952 w 7922"/>
                <a:gd name="connsiteY4" fmla="*/ 300 h 9652"/>
                <a:gd name="connsiteX5" fmla="*/ 7922 w 7922"/>
                <a:gd name="connsiteY5" fmla="*/ 3793 h 9652"/>
                <a:gd name="connsiteX0" fmla="*/ 0 w 7513"/>
                <a:gd name="connsiteY0" fmla="*/ 10000 h 10000"/>
                <a:gd name="connsiteX1" fmla="*/ 1455 w 7513"/>
                <a:gd name="connsiteY1" fmla="*/ 6420 h 10000"/>
                <a:gd name="connsiteX2" fmla="*/ 2869 w 7513"/>
                <a:gd name="connsiteY2" fmla="*/ 3484 h 10000"/>
                <a:gd name="connsiteX3" fmla="*/ 4746 w 7513"/>
                <a:gd name="connsiteY3" fmla="*/ 554 h 10000"/>
                <a:gd name="connsiteX4" fmla="*/ 7513 w 7513"/>
                <a:gd name="connsiteY4" fmla="*/ 31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 h="10000">
                  <a:moveTo>
                    <a:pt x="0" y="10000"/>
                  </a:moveTo>
                  <a:cubicBezTo>
                    <a:pt x="244" y="9407"/>
                    <a:pt x="976" y="7502"/>
                    <a:pt x="1455" y="6420"/>
                  </a:cubicBezTo>
                  <a:cubicBezTo>
                    <a:pt x="1936" y="5338"/>
                    <a:pt x="2319" y="4458"/>
                    <a:pt x="2869" y="3484"/>
                  </a:cubicBezTo>
                  <a:cubicBezTo>
                    <a:pt x="3417" y="2508"/>
                    <a:pt x="3975" y="1083"/>
                    <a:pt x="4746" y="554"/>
                  </a:cubicBezTo>
                  <a:cubicBezTo>
                    <a:pt x="5521" y="22"/>
                    <a:pt x="6638" y="-251"/>
                    <a:pt x="7513" y="31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9" name="Freeform 355">
              <a:extLst>
                <a:ext uri="{FF2B5EF4-FFF2-40B4-BE49-F238E27FC236}">
                  <a16:creationId xmlns:a16="http://schemas.microsoft.com/office/drawing/2014/main" id="{4165322D-8278-4B54-B51D-4871104808F0}"/>
                </a:ext>
              </a:extLst>
            </p:cNvPr>
            <p:cNvSpPr>
              <a:spLocks/>
            </p:cNvSpPr>
            <p:nvPr/>
          </p:nvSpPr>
          <p:spPr bwMode="auto">
            <a:xfrm>
              <a:off x="8735210" y="903643"/>
              <a:ext cx="84137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0" name="Freeform 356">
              <a:extLst>
                <a:ext uri="{FF2B5EF4-FFF2-40B4-BE49-F238E27FC236}">
                  <a16:creationId xmlns:a16="http://schemas.microsoft.com/office/drawing/2014/main" id="{14981C2E-F895-4ED8-98DB-FFD93D646929}"/>
                </a:ext>
              </a:extLst>
            </p:cNvPr>
            <p:cNvSpPr>
              <a:spLocks/>
            </p:cNvSpPr>
            <p:nvPr/>
          </p:nvSpPr>
          <p:spPr bwMode="auto">
            <a:xfrm>
              <a:off x="7928386" y="892885"/>
              <a:ext cx="1645285" cy="1238250"/>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43" h="3877">
                  <a:moveTo>
                    <a:pt x="0" y="1913"/>
                  </a:moveTo>
                  <a:cubicBezTo>
                    <a:pt x="66" y="1802"/>
                    <a:pt x="265" y="1447"/>
                    <a:pt x="395" y="1245"/>
                  </a:cubicBezTo>
                  <a:cubicBezTo>
                    <a:pt x="525" y="1043"/>
                    <a:pt x="629" y="879"/>
                    <a:pt x="778" y="697"/>
                  </a:cubicBezTo>
                  <a:cubicBezTo>
                    <a:pt x="927" y="515"/>
                    <a:pt x="1078" y="249"/>
                    <a:pt x="1288" y="150"/>
                  </a:cubicBezTo>
                  <a:cubicBezTo>
                    <a:pt x="1498" y="51"/>
                    <a:pt x="1801" y="0"/>
                    <a:pt x="2038" y="105"/>
                  </a:cubicBezTo>
                  <a:cubicBezTo>
                    <a:pt x="2275" y="210"/>
                    <a:pt x="2482" y="468"/>
                    <a:pt x="2713" y="780"/>
                  </a:cubicBezTo>
                  <a:cubicBezTo>
                    <a:pt x="2944" y="1092"/>
                    <a:pt x="3189" y="1585"/>
                    <a:pt x="3425" y="1980"/>
                  </a:cubicBezTo>
                  <a:cubicBezTo>
                    <a:pt x="3661" y="2375"/>
                    <a:pt x="3913" y="2851"/>
                    <a:pt x="4130" y="3150"/>
                  </a:cubicBezTo>
                  <a:cubicBezTo>
                    <a:pt x="4347" y="3449"/>
                    <a:pt x="4521" y="3667"/>
                    <a:pt x="4730" y="3772"/>
                  </a:cubicBezTo>
                  <a:cubicBezTo>
                    <a:pt x="4939" y="3877"/>
                    <a:pt x="5168" y="3876"/>
                    <a:pt x="5383" y="3780"/>
                  </a:cubicBezTo>
                  <a:cubicBezTo>
                    <a:pt x="5598" y="3684"/>
                    <a:pt x="5793" y="3495"/>
                    <a:pt x="6020" y="3195"/>
                  </a:cubicBezTo>
                  <a:cubicBezTo>
                    <a:pt x="6247" y="2895"/>
                    <a:pt x="6593" y="2234"/>
                    <a:pt x="6743" y="1981"/>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1" name="Freeform 357">
              <a:extLst>
                <a:ext uri="{FF2B5EF4-FFF2-40B4-BE49-F238E27FC236}">
                  <a16:creationId xmlns:a16="http://schemas.microsoft.com/office/drawing/2014/main" id="{63B2C05A-1433-4A0A-ADD4-6A8CABF096D6}"/>
                </a:ext>
              </a:extLst>
            </p:cNvPr>
            <p:cNvSpPr>
              <a:spLocks/>
            </p:cNvSpPr>
            <p:nvPr/>
          </p:nvSpPr>
          <p:spPr bwMode="auto">
            <a:xfrm>
              <a:off x="9585064" y="957431"/>
              <a:ext cx="314161" cy="562905"/>
            </a:xfrm>
            <a:custGeom>
              <a:avLst/>
              <a:gdLst>
                <a:gd name="T0" fmla="*/ 0 w 6743"/>
                <a:gd name="T1" fmla="*/ 1913 h 3877"/>
                <a:gd name="T2" fmla="*/ 395 w 6743"/>
                <a:gd name="T3" fmla="*/ 1245 h 3877"/>
                <a:gd name="T4" fmla="*/ 778 w 6743"/>
                <a:gd name="T5" fmla="*/ 697 h 3877"/>
                <a:gd name="T6" fmla="*/ 1288 w 6743"/>
                <a:gd name="T7" fmla="*/ 150 h 3877"/>
                <a:gd name="T8" fmla="*/ 2038 w 6743"/>
                <a:gd name="T9" fmla="*/ 105 h 3877"/>
                <a:gd name="T10" fmla="*/ 2713 w 6743"/>
                <a:gd name="T11" fmla="*/ 780 h 3877"/>
                <a:gd name="T12" fmla="*/ 3425 w 6743"/>
                <a:gd name="T13" fmla="*/ 1980 h 3877"/>
                <a:gd name="T14" fmla="*/ 4130 w 6743"/>
                <a:gd name="T15" fmla="*/ 3150 h 3877"/>
                <a:gd name="T16" fmla="*/ 4730 w 6743"/>
                <a:gd name="T17" fmla="*/ 3772 h 3877"/>
                <a:gd name="T18" fmla="*/ 5383 w 6743"/>
                <a:gd name="T19" fmla="*/ 3780 h 3877"/>
                <a:gd name="T20" fmla="*/ 6020 w 6743"/>
                <a:gd name="T21" fmla="*/ 3195 h 3877"/>
                <a:gd name="T22" fmla="*/ 6743 w 6743"/>
                <a:gd name="T23" fmla="*/ 1981 h 3877"/>
                <a:gd name="connsiteX0" fmla="*/ 0 w 8928"/>
                <a:gd name="connsiteY0" fmla="*/ 4813 h 9812"/>
                <a:gd name="connsiteX1" fmla="*/ 586 w 8928"/>
                <a:gd name="connsiteY1" fmla="*/ 3090 h 9812"/>
                <a:gd name="connsiteX2" fmla="*/ 1154 w 8928"/>
                <a:gd name="connsiteY2" fmla="*/ 1677 h 9812"/>
                <a:gd name="connsiteX3" fmla="*/ 1910 w 8928"/>
                <a:gd name="connsiteY3" fmla="*/ 266 h 9812"/>
                <a:gd name="connsiteX4" fmla="*/ 3022 w 8928"/>
                <a:gd name="connsiteY4" fmla="*/ 150 h 9812"/>
                <a:gd name="connsiteX5" fmla="*/ 4023 w 8928"/>
                <a:gd name="connsiteY5" fmla="*/ 1891 h 9812"/>
                <a:gd name="connsiteX6" fmla="*/ 5079 w 8928"/>
                <a:gd name="connsiteY6" fmla="*/ 4986 h 9812"/>
                <a:gd name="connsiteX7" fmla="*/ 6125 w 8928"/>
                <a:gd name="connsiteY7" fmla="*/ 8004 h 9812"/>
                <a:gd name="connsiteX8" fmla="*/ 7015 w 8928"/>
                <a:gd name="connsiteY8" fmla="*/ 9608 h 9812"/>
                <a:gd name="connsiteX9" fmla="*/ 7983 w 8928"/>
                <a:gd name="connsiteY9" fmla="*/ 9629 h 9812"/>
                <a:gd name="connsiteX10" fmla="*/ 8928 w 8928"/>
                <a:gd name="connsiteY10" fmla="*/ 8120 h 9812"/>
                <a:gd name="connsiteX0" fmla="*/ 0 w 8942"/>
                <a:gd name="connsiteY0" fmla="*/ 4905 h 10000"/>
                <a:gd name="connsiteX1" fmla="*/ 656 w 8942"/>
                <a:gd name="connsiteY1" fmla="*/ 3149 h 10000"/>
                <a:gd name="connsiteX2" fmla="*/ 1293 w 8942"/>
                <a:gd name="connsiteY2" fmla="*/ 1709 h 10000"/>
                <a:gd name="connsiteX3" fmla="*/ 2139 w 8942"/>
                <a:gd name="connsiteY3" fmla="*/ 271 h 10000"/>
                <a:gd name="connsiteX4" fmla="*/ 3385 w 8942"/>
                <a:gd name="connsiteY4" fmla="*/ 153 h 10000"/>
                <a:gd name="connsiteX5" fmla="*/ 4506 w 8942"/>
                <a:gd name="connsiteY5" fmla="*/ 1927 h 10000"/>
                <a:gd name="connsiteX6" fmla="*/ 5689 w 8942"/>
                <a:gd name="connsiteY6" fmla="*/ 5082 h 10000"/>
                <a:gd name="connsiteX7" fmla="*/ 6860 w 8942"/>
                <a:gd name="connsiteY7" fmla="*/ 8157 h 10000"/>
                <a:gd name="connsiteX8" fmla="*/ 7857 w 8942"/>
                <a:gd name="connsiteY8" fmla="*/ 9792 h 10000"/>
                <a:gd name="connsiteX9" fmla="*/ 8942 w 8942"/>
                <a:gd name="connsiteY9" fmla="*/ 9813 h 10000"/>
                <a:gd name="connsiteX0" fmla="*/ 0 w 8787"/>
                <a:gd name="connsiteY0" fmla="*/ 4905 h 9792"/>
                <a:gd name="connsiteX1" fmla="*/ 734 w 8787"/>
                <a:gd name="connsiteY1" fmla="*/ 3149 h 9792"/>
                <a:gd name="connsiteX2" fmla="*/ 1446 w 8787"/>
                <a:gd name="connsiteY2" fmla="*/ 1709 h 9792"/>
                <a:gd name="connsiteX3" fmla="*/ 2392 w 8787"/>
                <a:gd name="connsiteY3" fmla="*/ 271 h 9792"/>
                <a:gd name="connsiteX4" fmla="*/ 3786 w 8787"/>
                <a:gd name="connsiteY4" fmla="*/ 153 h 9792"/>
                <a:gd name="connsiteX5" fmla="*/ 5039 w 8787"/>
                <a:gd name="connsiteY5" fmla="*/ 1927 h 9792"/>
                <a:gd name="connsiteX6" fmla="*/ 6362 w 8787"/>
                <a:gd name="connsiteY6" fmla="*/ 5082 h 9792"/>
                <a:gd name="connsiteX7" fmla="*/ 7672 w 8787"/>
                <a:gd name="connsiteY7" fmla="*/ 8157 h 9792"/>
                <a:gd name="connsiteX8" fmla="*/ 8787 w 8787"/>
                <a:gd name="connsiteY8" fmla="*/ 9792 h 9792"/>
                <a:gd name="connsiteX0" fmla="*/ 0 w 8731"/>
                <a:gd name="connsiteY0" fmla="*/ 5009 h 8330"/>
                <a:gd name="connsiteX1" fmla="*/ 835 w 8731"/>
                <a:gd name="connsiteY1" fmla="*/ 3216 h 8330"/>
                <a:gd name="connsiteX2" fmla="*/ 1646 w 8731"/>
                <a:gd name="connsiteY2" fmla="*/ 1745 h 8330"/>
                <a:gd name="connsiteX3" fmla="*/ 2722 w 8731"/>
                <a:gd name="connsiteY3" fmla="*/ 277 h 8330"/>
                <a:gd name="connsiteX4" fmla="*/ 4309 w 8731"/>
                <a:gd name="connsiteY4" fmla="*/ 156 h 8330"/>
                <a:gd name="connsiteX5" fmla="*/ 5735 w 8731"/>
                <a:gd name="connsiteY5" fmla="*/ 1968 h 8330"/>
                <a:gd name="connsiteX6" fmla="*/ 7240 w 8731"/>
                <a:gd name="connsiteY6" fmla="*/ 5190 h 8330"/>
                <a:gd name="connsiteX7" fmla="*/ 8731 w 8731"/>
                <a:gd name="connsiteY7" fmla="*/ 8330 h 8330"/>
                <a:gd name="connsiteX0" fmla="*/ 0 w 8292"/>
                <a:gd name="connsiteY0" fmla="*/ 6013 h 6230"/>
                <a:gd name="connsiteX1" fmla="*/ 956 w 8292"/>
                <a:gd name="connsiteY1" fmla="*/ 3861 h 6230"/>
                <a:gd name="connsiteX2" fmla="*/ 1885 w 8292"/>
                <a:gd name="connsiteY2" fmla="*/ 2095 h 6230"/>
                <a:gd name="connsiteX3" fmla="*/ 3118 w 8292"/>
                <a:gd name="connsiteY3" fmla="*/ 333 h 6230"/>
                <a:gd name="connsiteX4" fmla="*/ 4935 w 8292"/>
                <a:gd name="connsiteY4" fmla="*/ 187 h 6230"/>
                <a:gd name="connsiteX5" fmla="*/ 6569 w 8292"/>
                <a:gd name="connsiteY5" fmla="*/ 2363 h 6230"/>
                <a:gd name="connsiteX6" fmla="*/ 8292 w 8292"/>
                <a:gd name="connsiteY6" fmla="*/ 6230 h 6230"/>
                <a:gd name="connsiteX0" fmla="*/ 0 w 7922"/>
                <a:gd name="connsiteY0" fmla="*/ 9652 h 9652"/>
                <a:gd name="connsiteX1" fmla="*/ 1153 w 7922"/>
                <a:gd name="connsiteY1" fmla="*/ 6197 h 9652"/>
                <a:gd name="connsiteX2" fmla="*/ 2273 w 7922"/>
                <a:gd name="connsiteY2" fmla="*/ 3363 h 9652"/>
                <a:gd name="connsiteX3" fmla="*/ 3760 w 7922"/>
                <a:gd name="connsiteY3" fmla="*/ 535 h 9652"/>
                <a:gd name="connsiteX4" fmla="*/ 5952 w 7922"/>
                <a:gd name="connsiteY4" fmla="*/ 300 h 9652"/>
                <a:gd name="connsiteX5" fmla="*/ 7922 w 7922"/>
                <a:gd name="connsiteY5" fmla="*/ 3793 h 9652"/>
                <a:gd name="connsiteX0" fmla="*/ 0 w 7513"/>
                <a:gd name="connsiteY0" fmla="*/ 10000 h 10000"/>
                <a:gd name="connsiteX1" fmla="*/ 1455 w 7513"/>
                <a:gd name="connsiteY1" fmla="*/ 6420 h 10000"/>
                <a:gd name="connsiteX2" fmla="*/ 2869 w 7513"/>
                <a:gd name="connsiteY2" fmla="*/ 3484 h 10000"/>
                <a:gd name="connsiteX3" fmla="*/ 4746 w 7513"/>
                <a:gd name="connsiteY3" fmla="*/ 554 h 10000"/>
                <a:gd name="connsiteX4" fmla="*/ 7513 w 7513"/>
                <a:gd name="connsiteY4" fmla="*/ 311 h 10000"/>
                <a:gd name="connsiteX0" fmla="*/ 0 w 6317"/>
                <a:gd name="connsiteY0" fmla="*/ 9446 h 9446"/>
                <a:gd name="connsiteX1" fmla="*/ 1937 w 6317"/>
                <a:gd name="connsiteY1" fmla="*/ 5866 h 9446"/>
                <a:gd name="connsiteX2" fmla="*/ 3819 w 6317"/>
                <a:gd name="connsiteY2" fmla="*/ 2930 h 9446"/>
                <a:gd name="connsiteX3" fmla="*/ 6317 w 6317"/>
                <a:gd name="connsiteY3" fmla="*/ 0 h 9446"/>
              </a:gdLst>
              <a:ahLst/>
              <a:cxnLst>
                <a:cxn ang="0">
                  <a:pos x="connsiteX0" y="connsiteY0"/>
                </a:cxn>
                <a:cxn ang="0">
                  <a:pos x="connsiteX1" y="connsiteY1"/>
                </a:cxn>
                <a:cxn ang="0">
                  <a:pos x="connsiteX2" y="connsiteY2"/>
                </a:cxn>
                <a:cxn ang="0">
                  <a:pos x="connsiteX3" y="connsiteY3"/>
                </a:cxn>
              </a:cxnLst>
              <a:rect l="l" t="t" r="r" b="b"/>
              <a:pathLst>
                <a:path w="6317" h="9446">
                  <a:moveTo>
                    <a:pt x="0" y="9446"/>
                  </a:moveTo>
                  <a:cubicBezTo>
                    <a:pt x="325" y="8853"/>
                    <a:pt x="1299" y="6948"/>
                    <a:pt x="1937" y="5866"/>
                  </a:cubicBezTo>
                  <a:cubicBezTo>
                    <a:pt x="2577" y="4784"/>
                    <a:pt x="3087" y="3904"/>
                    <a:pt x="3819" y="2930"/>
                  </a:cubicBezTo>
                  <a:cubicBezTo>
                    <a:pt x="4548" y="1954"/>
                    <a:pt x="5291" y="529"/>
                    <a:pt x="6317" y="0"/>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2" name="Freeform 358">
              <a:extLst>
                <a:ext uri="{FF2B5EF4-FFF2-40B4-BE49-F238E27FC236}">
                  <a16:creationId xmlns:a16="http://schemas.microsoft.com/office/drawing/2014/main" id="{408DE587-B425-4721-A0ED-036D64E7E376}"/>
                </a:ext>
              </a:extLst>
            </p:cNvPr>
            <p:cNvSpPr>
              <a:spLocks/>
            </p:cNvSpPr>
            <p:nvPr/>
          </p:nvSpPr>
          <p:spPr bwMode="auto">
            <a:xfrm>
              <a:off x="7444292" y="1549101"/>
              <a:ext cx="500380" cy="584171"/>
            </a:xfrm>
            <a:custGeom>
              <a:avLst/>
              <a:gdLst>
                <a:gd name="T0" fmla="*/ 0 w 1954"/>
                <a:gd name="T1" fmla="*/ 0 h 1897"/>
                <a:gd name="T2" fmla="*/ 415 w 1954"/>
                <a:gd name="T3" fmla="*/ 1170 h 1897"/>
                <a:gd name="T4" fmla="*/ 768 w 1954"/>
                <a:gd name="T5" fmla="*/ 1792 h 1897"/>
                <a:gd name="T6" fmla="*/ 1153 w 1954"/>
                <a:gd name="T7" fmla="*/ 1800 h 1897"/>
                <a:gd name="T8" fmla="*/ 1528 w 1954"/>
                <a:gd name="T9" fmla="*/ 1215 h 1897"/>
                <a:gd name="T10" fmla="*/ 1954 w 1954"/>
                <a:gd name="T11" fmla="*/ 1 h 1897"/>
                <a:gd name="connsiteX0" fmla="*/ 0 w 7876"/>
                <a:gd name="connsiteY0" fmla="*/ 6163 h 9860"/>
                <a:gd name="connsiteX1" fmla="*/ 1806 w 7876"/>
                <a:gd name="connsiteY1" fmla="*/ 9441 h 9860"/>
                <a:gd name="connsiteX2" fmla="*/ 3777 w 7876"/>
                <a:gd name="connsiteY2" fmla="*/ 9484 h 9860"/>
                <a:gd name="connsiteX3" fmla="*/ 5696 w 7876"/>
                <a:gd name="connsiteY3" fmla="*/ 6400 h 9860"/>
                <a:gd name="connsiteX4" fmla="*/ 7876 w 7876"/>
                <a:gd name="connsiteY4" fmla="*/ 0 h 9860"/>
                <a:gd name="connsiteX0" fmla="*/ 0 w 7707"/>
                <a:gd name="connsiteY0" fmla="*/ 9575 h 10000"/>
                <a:gd name="connsiteX1" fmla="*/ 2503 w 7707"/>
                <a:gd name="connsiteY1" fmla="*/ 9619 h 10000"/>
                <a:gd name="connsiteX2" fmla="*/ 4939 w 7707"/>
                <a:gd name="connsiteY2" fmla="*/ 6491 h 10000"/>
                <a:gd name="connsiteX3" fmla="*/ 7707 w 7707"/>
                <a:gd name="connsiteY3" fmla="*/ 0 h 10000"/>
                <a:gd name="connsiteX0" fmla="*/ 0 w 10000"/>
                <a:gd name="connsiteY0" fmla="*/ 9575 h 9913"/>
                <a:gd name="connsiteX1" fmla="*/ 1289 w 10000"/>
                <a:gd name="connsiteY1" fmla="*/ 9777 h 9913"/>
                <a:gd name="connsiteX2" fmla="*/ 3248 w 10000"/>
                <a:gd name="connsiteY2" fmla="*/ 9619 h 9913"/>
                <a:gd name="connsiteX3" fmla="*/ 6408 w 10000"/>
                <a:gd name="connsiteY3" fmla="*/ 6491 h 9913"/>
                <a:gd name="connsiteX4" fmla="*/ 10000 w 10000"/>
                <a:gd name="connsiteY4" fmla="*/ 0 h 9913"/>
                <a:gd name="connsiteX0" fmla="*/ 0 w 10000"/>
                <a:gd name="connsiteY0" fmla="*/ 9659 h 9924"/>
                <a:gd name="connsiteX1" fmla="*/ 3248 w 10000"/>
                <a:gd name="connsiteY1" fmla="*/ 9703 h 9924"/>
                <a:gd name="connsiteX2" fmla="*/ 6408 w 10000"/>
                <a:gd name="connsiteY2" fmla="*/ 6548 h 9924"/>
                <a:gd name="connsiteX3" fmla="*/ 10000 w 10000"/>
                <a:gd name="connsiteY3" fmla="*/ 0 h 9924"/>
              </a:gdLst>
              <a:ahLst/>
              <a:cxnLst>
                <a:cxn ang="0">
                  <a:pos x="connsiteX0" y="connsiteY0"/>
                </a:cxn>
                <a:cxn ang="0">
                  <a:pos x="connsiteX1" y="connsiteY1"/>
                </a:cxn>
                <a:cxn ang="0">
                  <a:pos x="connsiteX2" y="connsiteY2"/>
                </a:cxn>
                <a:cxn ang="0">
                  <a:pos x="connsiteX3" y="connsiteY3"/>
                </a:cxn>
              </a:cxnLst>
              <a:rect l="l" t="t" r="r" b="b"/>
              <a:pathLst>
                <a:path w="10000" h="9924">
                  <a:moveTo>
                    <a:pt x="0" y="9659"/>
                  </a:moveTo>
                  <a:cubicBezTo>
                    <a:pt x="677" y="9668"/>
                    <a:pt x="2180" y="10221"/>
                    <a:pt x="3248" y="9703"/>
                  </a:cubicBezTo>
                  <a:cubicBezTo>
                    <a:pt x="4101" y="9151"/>
                    <a:pt x="5278" y="8165"/>
                    <a:pt x="6408" y="6548"/>
                  </a:cubicBezTo>
                  <a:cubicBezTo>
                    <a:pt x="7539" y="4929"/>
                    <a:pt x="9259" y="1365"/>
                    <a:pt x="10000" y="0"/>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3" name="Freeform 359">
              <a:extLst>
                <a:ext uri="{FF2B5EF4-FFF2-40B4-BE49-F238E27FC236}">
                  <a16:creationId xmlns:a16="http://schemas.microsoft.com/office/drawing/2014/main" id="{235439BC-A849-4EC9-92F2-2B4FFC8FFCCB}"/>
                </a:ext>
              </a:extLst>
            </p:cNvPr>
            <p:cNvSpPr>
              <a:spLocks/>
            </p:cNvSpPr>
            <p:nvPr/>
          </p:nvSpPr>
          <p:spPr bwMode="auto">
            <a:xfrm>
              <a:off x="0" y="1452283"/>
              <a:ext cx="338070" cy="571541"/>
            </a:xfrm>
            <a:custGeom>
              <a:avLst/>
              <a:gdLst>
                <a:gd name="T0" fmla="*/ 0 w 1954"/>
                <a:gd name="T1" fmla="*/ 0 h 1897"/>
                <a:gd name="T2" fmla="*/ 415 w 1954"/>
                <a:gd name="T3" fmla="*/ 1170 h 1897"/>
                <a:gd name="T4" fmla="*/ 768 w 1954"/>
                <a:gd name="T5" fmla="*/ 1792 h 1897"/>
                <a:gd name="T6" fmla="*/ 1153 w 1954"/>
                <a:gd name="T7" fmla="*/ 1800 h 1897"/>
                <a:gd name="T8" fmla="*/ 1528 w 1954"/>
                <a:gd name="T9" fmla="*/ 1215 h 1897"/>
                <a:gd name="T10" fmla="*/ 1954 w 1954"/>
                <a:gd name="T11" fmla="*/ 1 h 1897"/>
                <a:gd name="connsiteX0" fmla="*/ 0 w 7876"/>
                <a:gd name="connsiteY0" fmla="*/ 6163 h 9860"/>
                <a:gd name="connsiteX1" fmla="*/ 1806 w 7876"/>
                <a:gd name="connsiteY1" fmla="*/ 9441 h 9860"/>
                <a:gd name="connsiteX2" fmla="*/ 3777 w 7876"/>
                <a:gd name="connsiteY2" fmla="*/ 9484 h 9860"/>
                <a:gd name="connsiteX3" fmla="*/ 5696 w 7876"/>
                <a:gd name="connsiteY3" fmla="*/ 6400 h 9860"/>
                <a:gd name="connsiteX4" fmla="*/ 7876 w 7876"/>
                <a:gd name="connsiteY4" fmla="*/ 0 h 9860"/>
                <a:gd name="connsiteX0" fmla="*/ 0 w 7707"/>
                <a:gd name="connsiteY0" fmla="*/ 9575 h 10000"/>
                <a:gd name="connsiteX1" fmla="*/ 2503 w 7707"/>
                <a:gd name="connsiteY1" fmla="*/ 9619 h 10000"/>
                <a:gd name="connsiteX2" fmla="*/ 4939 w 7707"/>
                <a:gd name="connsiteY2" fmla="*/ 6491 h 10000"/>
                <a:gd name="connsiteX3" fmla="*/ 7707 w 7707"/>
                <a:gd name="connsiteY3" fmla="*/ 0 h 10000"/>
                <a:gd name="connsiteX0" fmla="*/ 0 w 6752"/>
                <a:gd name="connsiteY0" fmla="*/ 9619 h 9619"/>
                <a:gd name="connsiteX1" fmla="*/ 3160 w 6752"/>
                <a:gd name="connsiteY1" fmla="*/ 6491 h 9619"/>
                <a:gd name="connsiteX2" fmla="*/ 6752 w 6752"/>
                <a:gd name="connsiteY2" fmla="*/ 0 h 9619"/>
              </a:gdLst>
              <a:ahLst/>
              <a:cxnLst>
                <a:cxn ang="0">
                  <a:pos x="connsiteX0" y="connsiteY0"/>
                </a:cxn>
                <a:cxn ang="0">
                  <a:pos x="connsiteX1" y="connsiteY1"/>
                </a:cxn>
                <a:cxn ang="0">
                  <a:pos x="connsiteX2" y="connsiteY2"/>
                </a:cxn>
              </a:cxnLst>
              <a:rect l="l" t="t" r="r" b="b"/>
              <a:pathLst>
                <a:path w="6752" h="9619">
                  <a:moveTo>
                    <a:pt x="0" y="9619"/>
                  </a:moveTo>
                  <a:cubicBezTo>
                    <a:pt x="1070" y="9105"/>
                    <a:pt x="2030" y="8094"/>
                    <a:pt x="3160" y="6491"/>
                  </a:cubicBezTo>
                  <a:cubicBezTo>
                    <a:pt x="4291" y="4886"/>
                    <a:pt x="6011" y="1353"/>
                    <a:pt x="6752" y="0"/>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4" name="Rectangle 53">
              <a:extLst>
                <a:ext uri="{FF2B5EF4-FFF2-40B4-BE49-F238E27FC236}">
                  <a16:creationId xmlns:a16="http://schemas.microsoft.com/office/drawing/2014/main" id="{CFD34DDE-47B7-4700-8B4C-2C0D2D289080}"/>
                </a:ext>
              </a:extLst>
            </p:cNvPr>
            <p:cNvSpPr>
              <a:spLocks noChangeArrowheads="1"/>
            </p:cNvSpPr>
            <p:nvPr/>
          </p:nvSpPr>
          <p:spPr bwMode="auto">
            <a:xfrm>
              <a:off x="9316123" y="1269403"/>
              <a:ext cx="225911" cy="28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Rectangle 54">
              <a:extLst>
                <a:ext uri="{FF2B5EF4-FFF2-40B4-BE49-F238E27FC236}">
                  <a16:creationId xmlns:a16="http://schemas.microsoft.com/office/drawing/2014/main" id="{6593EA06-F72A-4DCB-9F4D-407AD08159C1}"/>
                </a:ext>
              </a:extLst>
            </p:cNvPr>
            <p:cNvSpPr>
              <a:spLocks noChangeArrowheads="1"/>
            </p:cNvSpPr>
            <p:nvPr/>
          </p:nvSpPr>
          <p:spPr bwMode="auto">
            <a:xfrm>
              <a:off x="9854005" y="1592132"/>
              <a:ext cx="209531" cy="2869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 uri="{AF507438-7753-43E0-B8FC-AC1667EBCBE1}">
                <a14:hiddenEffects xmlns:a14="http://schemas.microsoft.com/office/drawing/2010/main">
                  <a:effectLst/>
                </a14:hiddenEffects>
              </a:ext>
            </a:extLst>
          </p:spPr>
          <p:txBody>
            <a:bodyPr rot="0" vert="horz" wrap="square" lIns="0" tIns="0" rIns="0" bIns="0" anchor="t" anchorCtr="0" upright="1">
              <a:noAutofit/>
            </a:bodyPr>
            <a:lstStyle/>
            <a:p>
              <a:pPr marL="0" marR="0">
                <a:lnSpc>
                  <a:spcPct val="115000"/>
                </a:lnSpc>
                <a:spcBef>
                  <a:spcPts val="0"/>
                </a:spcBef>
                <a:spcAft>
                  <a:spcPts val="1000"/>
                </a:spcAft>
              </a:pPr>
              <a:r>
                <a:rPr lang="en-GB" sz="1800" i="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6" name="Rectangle 55">
            <a:extLst>
              <a:ext uri="{FF2B5EF4-FFF2-40B4-BE49-F238E27FC236}">
                <a16:creationId xmlns:a16="http://schemas.microsoft.com/office/drawing/2014/main" id="{EECB9D1C-1E3E-4384-A952-B280B64C4602}"/>
              </a:ext>
            </a:extLst>
          </p:cNvPr>
          <p:cNvSpPr>
            <a:spLocks noChangeArrowheads="1"/>
          </p:cNvSpPr>
          <p:nvPr/>
        </p:nvSpPr>
        <p:spPr bwMode="auto">
          <a:xfrm>
            <a:off x="190921" y="6175773"/>
            <a:ext cx="9599061" cy="56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current lagging voltage by angle </a:t>
            </a:r>
            <a:r>
              <a:rPr lang="en-GB" sz="2400" dirty="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             </a:t>
            </a:r>
            <a:r>
              <a:rPr lang="en-GB" sz="2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inphase</a:t>
            </a:r>
            <a:r>
              <a:rPr lang="en-GB"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quadrature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5305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45335"/>
            <a:ext cx="10924085" cy="482745"/>
          </a:xfrm>
        </p:spPr>
        <p:txBody>
          <a:bodyPr>
            <a:normAutofit fontScale="90000"/>
          </a:bodyPr>
          <a:lstStyle/>
          <a:p>
            <a:r>
              <a:rPr lang="en-US" dirty="0"/>
              <a:t>Power Factor</a:t>
            </a:r>
            <a:endParaRPr lang="en-GB" dirty="0"/>
          </a:p>
        </p:txBody>
      </p:sp>
      <p:sp>
        <p:nvSpPr>
          <p:cNvPr id="3" name="Rectangle 2">
            <a:extLst>
              <a:ext uri="{FF2B5EF4-FFF2-40B4-BE49-F238E27FC236}">
                <a16:creationId xmlns:a16="http://schemas.microsoft.com/office/drawing/2014/main" id="{1FC87F45-2532-456F-B62E-E4A5C08D7D60}"/>
              </a:ext>
            </a:extLst>
          </p:cNvPr>
          <p:cNvSpPr/>
          <p:nvPr/>
        </p:nvSpPr>
        <p:spPr>
          <a:xfrm>
            <a:off x="429715" y="827362"/>
            <a:ext cx="11332570" cy="2554545"/>
          </a:xfrm>
          <a:prstGeom prst="rect">
            <a:avLst/>
          </a:prstGeom>
        </p:spPr>
        <p:txBody>
          <a:bodyPr wrap="square">
            <a:spAutoFit/>
          </a:bodyPr>
          <a:lstStyle/>
          <a:p>
            <a:pPr algn="just">
              <a:spcAft>
                <a:spcPts val="600"/>
              </a:spcAf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Waveform of power p(t) has a sinusoidally varying component and a constant component.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Average value of power (active power)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would be given by the constant value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½ </a:t>
            </a:r>
            <a:r>
              <a:rPr lang="en-GB" sz="28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28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2800" b="1" i="1" baseline="-250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m</a:t>
            </a:r>
            <a:r>
              <a:rPr lang="en-GB" sz="2800" b="1" i="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cos </a:t>
            </a:r>
            <a:r>
              <a:rPr lang="en-GB" sz="2800" i="1"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spcBef>
                <a:spcPts val="1200"/>
              </a:spcBef>
            </a:pPr>
            <a:r>
              <a:rPr lang="en-GB" sz="2800" b="1" i="1" dirty="0">
                <a:solidFill>
                  <a:srgbClr val="002060"/>
                </a:solidFill>
                <a:latin typeface="Times New Roman" panose="02020603050405020304" pitchFamily="18" charset="0"/>
                <a:ea typeface="Calibri" panose="020F0502020204030204" pitchFamily="34" charset="0"/>
              </a:rPr>
              <a:t>P = ½ </a:t>
            </a:r>
            <a:r>
              <a:rPr lang="en-GB" sz="2800" b="1" i="1" dirty="0" err="1">
                <a:solidFill>
                  <a:srgbClr val="002060"/>
                </a:solidFill>
                <a:latin typeface="Times New Roman" panose="02020603050405020304" pitchFamily="18" charset="0"/>
                <a:ea typeface="Calibri" panose="020F0502020204030204" pitchFamily="34" charset="0"/>
              </a:rPr>
              <a:t>V</a:t>
            </a:r>
            <a:r>
              <a:rPr lang="en-GB" sz="2800" b="1" i="1" baseline="-25000" dirty="0" err="1">
                <a:solidFill>
                  <a:srgbClr val="002060"/>
                </a:solidFill>
                <a:latin typeface="Times New Roman" panose="02020603050405020304" pitchFamily="18" charset="0"/>
                <a:ea typeface="Calibri" panose="020F0502020204030204" pitchFamily="34" charset="0"/>
              </a:rPr>
              <a:t>m</a:t>
            </a:r>
            <a:r>
              <a:rPr lang="en-GB" sz="2800" b="1" i="1" dirty="0">
                <a:solidFill>
                  <a:srgbClr val="002060"/>
                </a:solidFill>
                <a:latin typeface="Times New Roman" panose="02020603050405020304" pitchFamily="18" charset="0"/>
                <a:ea typeface="Calibri" panose="020F0502020204030204" pitchFamily="34" charset="0"/>
              </a:rPr>
              <a:t> </a:t>
            </a:r>
            <a:r>
              <a:rPr lang="en-GB" sz="2800" b="1" i="1" dirty="0" err="1">
                <a:solidFill>
                  <a:srgbClr val="002060"/>
                </a:solidFill>
                <a:latin typeface="Times New Roman" panose="02020603050405020304" pitchFamily="18" charset="0"/>
                <a:ea typeface="Calibri" panose="020F0502020204030204" pitchFamily="34" charset="0"/>
              </a:rPr>
              <a:t>I</a:t>
            </a:r>
            <a:r>
              <a:rPr lang="en-GB" sz="2800" b="1" i="1" baseline="-25000" dirty="0" err="1">
                <a:solidFill>
                  <a:srgbClr val="002060"/>
                </a:solidFill>
                <a:latin typeface="Times New Roman" panose="02020603050405020304" pitchFamily="18" charset="0"/>
                <a:ea typeface="Calibri" panose="020F0502020204030204" pitchFamily="34" charset="0"/>
              </a:rPr>
              <a:t>m</a:t>
            </a:r>
            <a:r>
              <a:rPr lang="en-GB" sz="2800" b="1" i="1" baseline="-25000" dirty="0">
                <a:solidFill>
                  <a:srgbClr val="002060"/>
                </a:solidFill>
                <a:latin typeface="Times New Roman" panose="02020603050405020304" pitchFamily="18" charset="0"/>
                <a:ea typeface="Calibri" panose="020F0502020204030204" pitchFamily="34" charset="0"/>
              </a:rPr>
              <a:t>  </a:t>
            </a:r>
            <a:r>
              <a:rPr lang="en-GB" sz="2800" b="1" i="1" dirty="0">
                <a:solidFill>
                  <a:srgbClr val="002060"/>
                </a:solidFill>
                <a:latin typeface="Times New Roman" panose="02020603050405020304" pitchFamily="18" charset="0"/>
                <a:ea typeface="Calibri" panose="020F0502020204030204" pitchFamily="34" charset="0"/>
              </a:rPr>
              <a:t>cos </a:t>
            </a:r>
            <a:r>
              <a:rPr lang="en-GB" sz="2800" i="1"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  =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b="1" i="1" dirty="0">
                <a:latin typeface="Times New Roman" panose="02020603050405020304" pitchFamily="18" charset="0"/>
                <a:cs typeface="Times New Roman" panose="02020603050405020304" pitchFamily="18" charset="0"/>
              </a:rPr>
              <a:t>V . I cos </a:t>
            </a:r>
            <a:r>
              <a:rPr lang="en-GB" sz="2800" dirty="0">
                <a:latin typeface="Symbol" panose="05050102010706020507" pitchFamily="18" charset="2"/>
                <a:cs typeface="Times New Roman" panose="02020603050405020304" pitchFamily="18" charset="0"/>
              </a:rPr>
              <a:t>f</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 </a:t>
            </a:r>
            <a:endParaRPr lang="en-GB" sz="2800" dirty="0">
              <a:latin typeface="Symbol" panose="05050102010706020507" pitchFamily="18" charset="2"/>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58F1A6B7-C408-44F1-B1E0-05556270A8D8}"/>
              </a:ext>
            </a:extLst>
          </p:cNvPr>
          <p:cNvGraphicFramePr>
            <a:graphicFrameLocks noChangeAspect="1"/>
          </p:cNvGraphicFramePr>
          <p:nvPr>
            <p:extLst>
              <p:ext uri="{D42A27DB-BD31-4B8C-83A1-F6EECF244321}">
                <p14:modId xmlns:p14="http://schemas.microsoft.com/office/powerpoint/2010/main" val="1217832312"/>
              </p:ext>
            </p:extLst>
          </p:nvPr>
        </p:nvGraphicFramePr>
        <p:xfrm>
          <a:off x="3659466" y="2609397"/>
          <a:ext cx="2057400" cy="952500"/>
        </p:xfrm>
        <a:graphic>
          <a:graphicData uri="http://schemas.openxmlformats.org/presentationml/2006/ole">
            <mc:AlternateContent xmlns:mc="http://schemas.openxmlformats.org/markup-compatibility/2006">
              <mc:Choice xmlns:v="urn:schemas-microsoft-com:vml" Requires="v">
                <p:oleObj spid="_x0000_s25626" r:id="rId3" imgW="927100" imgH="419100" progId="Equation.2">
                  <p:embed/>
                </p:oleObj>
              </mc:Choice>
              <mc:Fallback>
                <p:oleObj r:id="rId3" imgW="927100" imgH="419100" progId="Equation.2">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9466" y="2609397"/>
                        <a:ext cx="20574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CB905251-5309-425A-B79F-36AB3D390697}"/>
              </a:ext>
            </a:extLst>
          </p:cNvPr>
          <p:cNvGraphicFramePr>
            <a:graphicFrameLocks noChangeAspect="1"/>
          </p:cNvGraphicFramePr>
          <p:nvPr>
            <p:extLst>
              <p:ext uri="{D42A27DB-BD31-4B8C-83A1-F6EECF244321}">
                <p14:modId xmlns:p14="http://schemas.microsoft.com/office/powerpoint/2010/main" val="1569072217"/>
              </p:ext>
            </p:extLst>
          </p:nvPr>
        </p:nvGraphicFramePr>
        <p:xfrm>
          <a:off x="401441" y="3517293"/>
          <a:ext cx="5337728" cy="1076517"/>
        </p:xfrm>
        <a:graphic>
          <a:graphicData uri="http://schemas.openxmlformats.org/presentationml/2006/ole">
            <mc:AlternateContent xmlns:mc="http://schemas.openxmlformats.org/markup-compatibility/2006">
              <mc:Choice xmlns:v="urn:schemas-microsoft-com:vml" Requires="v">
                <p:oleObj spid="_x0000_s25627" r:id="rId5" imgW="2133600" imgH="431800" progId="Equation.3">
                  <p:embed/>
                </p:oleObj>
              </mc:Choice>
              <mc:Fallback>
                <p:oleObj r:id="rId5" imgW="21336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441" y="3517293"/>
                        <a:ext cx="5337728" cy="1076517"/>
                      </a:xfrm>
                      <a:prstGeom prst="rect">
                        <a:avLst/>
                      </a:prstGeom>
                      <a:noFill/>
                    </p:spPr>
                  </p:pic>
                </p:oleObj>
              </mc:Fallback>
            </mc:AlternateContent>
          </a:graphicData>
        </a:graphic>
      </p:graphicFrame>
      <p:sp>
        <p:nvSpPr>
          <p:cNvPr id="8" name="Rectangle 7">
            <a:extLst>
              <a:ext uri="{FF2B5EF4-FFF2-40B4-BE49-F238E27FC236}">
                <a16:creationId xmlns:a16="http://schemas.microsoft.com/office/drawing/2014/main" id="{956E7BE9-70C8-4332-A959-5A14DB738C6E}"/>
              </a:ext>
            </a:extLst>
          </p:cNvPr>
          <p:cNvSpPr/>
          <p:nvPr/>
        </p:nvSpPr>
        <p:spPr>
          <a:xfrm>
            <a:off x="379138" y="4491461"/>
            <a:ext cx="9456238" cy="2086725"/>
          </a:xfrm>
          <a:prstGeom prst="rect">
            <a:avLst/>
          </a:prstGeom>
        </p:spPr>
        <p:txBody>
          <a:bodyPr wrap="square">
            <a:spAutoFit/>
          </a:bodyPr>
          <a:lstStyle/>
          <a:p>
            <a:pPr algn="just">
              <a:lnSpc>
                <a:spcPct val="115000"/>
              </a:lnSpc>
              <a:spcAft>
                <a:spcPts val="600"/>
              </a:spcAf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For sinusoidal quantities,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power factor (</a:t>
            </a:r>
            <a:r>
              <a:rPr lang="en-GB" sz="28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cos </a:t>
            </a:r>
            <a:r>
              <a:rPr lang="en-GB" sz="2800" i="1"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For a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resistor</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0</a:t>
            </a:r>
            <a:r>
              <a:rPr lang="en-GB" sz="28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1,  so that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 = V . I</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For an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inductor</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90</a:t>
            </a:r>
            <a:r>
              <a:rPr lang="en-GB" sz="28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lagging,  </a:t>
            </a:r>
            <a:r>
              <a:rPr lang="en-GB" sz="28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0,  so that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 = 0</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r>
              <a:rPr lang="en-GB" sz="2800" dirty="0">
                <a:solidFill>
                  <a:srgbClr val="002060"/>
                </a:solidFill>
                <a:latin typeface="Times New Roman" panose="02020603050405020304" pitchFamily="18" charset="0"/>
                <a:ea typeface="Calibri" panose="020F0502020204030204" pitchFamily="34" charset="0"/>
              </a:rPr>
              <a:t>For an </a:t>
            </a:r>
            <a:r>
              <a:rPr lang="en-GB" sz="2800" b="1" i="1" dirty="0">
                <a:solidFill>
                  <a:srgbClr val="002060"/>
                </a:solidFill>
                <a:latin typeface="Times New Roman" panose="02020603050405020304" pitchFamily="18" charset="0"/>
                <a:ea typeface="Calibri" panose="020F0502020204030204" pitchFamily="34" charset="0"/>
              </a:rPr>
              <a:t>capacitor</a:t>
            </a:r>
            <a:r>
              <a:rPr lang="en-GB" sz="2800" dirty="0">
                <a:solidFill>
                  <a:srgbClr val="002060"/>
                </a:solidFill>
                <a:latin typeface="Times New Roman" panose="02020603050405020304" pitchFamily="18" charset="0"/>
                <a:ea typeface="Calibri" panose="020F0502020204030204" pitchFamily="34" charset="0"/>
              </a:rPr>
              <a:t>, </a:t>
            </a:r>
            <a:r>
              <a:rPr lang="en-GB" sz="28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2800" dirty="0">
                <a:solidFill>
                  <a:srgbClr val="002060"/>
                </a:solidFill>
                <a:latin typeface="Times New Roman" panose="02020603050405020304" pitchFamily="18" charset="0"/>
                <a:ea typeface="Calibri" panose="020F0502020204030204" pitchFamily="34" charset="0"/>
              </a:rPr>
              <a:t> = 90</a:t>
            </a:r>
            <a:r>
              <a:rPr lang="en-GB" sz="2800" baseline="30000" dirty="0">
                <a:solidFill>
                  <a:srgbClr val="002060"/>
                </a:solidFill>
                <a:latin typeface="Times New Roman" panose="02020603050405020304" pitchFamily="18" charset="0"/>
                <a:ea typeface="Calibri" panose="020F0502020204030204" pitchFamily="34" charset="0"/>
              </a:rPr>
              <a:t>o</a:t>
            </a:r>
            <a:r>
              <a:rPr lang="en-GB" sz="2800" dirty="0">
                <a:solidFill>
                  <a:srgbClr val="002060"/>
                </a:solidFill>
                <a:latin typeface="Times New Roman" panose="02020603050405020304" pitchFamily="18" charset="0"/>
                <a:ea typeface="Calibri" panose="020F0502020204030204" pitchFamily="34" charset="0"/>
              </a:rPr>
              <a:t> leading,  </a:t>
            </a:r>
            <a:r>
              <a:rPr lang="en-GB" sz="2800" dirty="0" err="1">
                <a:solidFill>
                  <a:srgbClr val="002060"/>
                </a:solidFill>
                <a:latin typeface="Times New Roman" panose="02020603050405020304" pitchFamily="18" charset="0"/>
                <a:ea typeface="Calibri" panose="020F0502020204030204" pitchFamily="34" charset="0"/>
              </a:rPr>
              <a:t>p.f</a:t>
            </a:r>
            <a:r>
              <a:rPr lang="en-GB" sz="2800" dirty="0">
                <a:solidFill>
                  <a:srgbClr val="002060"/>
                </a:solidFill>
                <a:latin typeface="Times New Roman" panose="02020603050405020304" pitchFamily="18" charset="0"/>
                <a:ea typeface="Calibri" panose="020F0502020204030204" pitchFamily="34" charset="0"/>
              </a:rPr>
              <a:t>. = 0,  so that  </a:t>
            </a:r>
            <a:r>
              <a:rPr lang="en-GB" sz="2800" b="1" i="1" dirty="0">
                <a:solidFill>
                  <a:srgbClr val="002060"/>
                </a:solidFill>
                <a:latin typeface="Times New Roman" panose="02020603050405020304" pitchFamily="18" charset="0"/>
                <a:ea typeface="Calibri" panose="020F0502020204030204" pitchFamily="34" charset="0"/>
              </a:rPr>
              <a:t>P = 0</a:t>
            </a:r>
            <a:endParaRPr lang="en-GB" sz="2800" dirty="0"/>
          </a:p>
        </p:txBody>
      </p:sp>
    </p:spTree>
    <p:extLst>
      <p:ext uri="{BB962C8B-B14F-4D97-AF65-F5344CB8AC3E}">
        <p14:creationId xmlns:p14="http://schemas.microsoft.com/office/powerpoint/2010/main" val="22764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45335"/>
            <a:ext cx="10924085" cy="482745"/>
          </a:xfrm>
        </p:spPr>
        <p:txBody>
          <a:bodyPr>
            <a:normAutofit fontScale="90000"/>
          </a:bodyPr>
          <a:lstStyle/>
          <a:p>
            <a:r>
              <a:rPr lang="en-US" dirty="0"/>
              <a:t>Power factor angle</a:t>
            </a:r>
            <a:endParaRPr lang="en-GB" dirty="0"/>
          </a:p>
        </p:txBody>
      </p:sp>
      <p:sp>
        <p:nvSpPr>
          <p:cNvPr id="3" name="Rectangle 2">
            <a:extLst>
              <a:ext uri="{FF2B5EF4-FFF2-40B4-BE49-F238E27FC236}">
                <a16:creationId xmlns:a16="http://schemas.microsoft.com/office/drawing/2014/main" id="{55337A33-5E6E-425E-9F84-13094BD26521}"/>
              </a:ext>
            </a:extLst>
          </p:cNvPr>
          <p:cNvSpPr/>
          <p:nvPr/>
        </p:nvSpPr>
        <p:spPr>
          <a:xfrm>
            <a:off x="429715" y="718019"/>
            <a:ext cx="11332570" cy="5993500"/>
          </a:xfrm>
          <a:prstGeom prst="rect">
            <a:avLst/>
          </a:prstGeom>
        </p:spPr>
        <p:txBody>
          <a:bodyPr wrap="square">
            <a:spAutoFit/>
          </a:bodyPr>
          <a:lstStyle/>
          <a:p>
            <a:pPr>
              <a:lnSpc>
                <a:spcPct val="120000"/>
              </a:lnSpc>
            </a:pPr>
            <a:r>
              <a:rPr lang="en-GB" sz="3200" dirty="0">
                <a:solidFill>
                  <a:srgbClr val="002060"/>
                </a:solidFill>
                <a:latin typeface="Times New Roman" panose="02020603050405020304" pitchFamily="18" charset="0"/>
                <a:ea typeface="Calibri" panose="020F0502020204030204" pitchFamily="34" charset="0"/>
              </a:rPr>
              <a:t>For resistor,</a:t>
            </a:r>
          </a:p>
          <a:p>
            <a:pPr marL="457200" indent="-457200">
              <a:lnSpc>
                <a:spcPct val="120000"/>
              </a:lnSpc>
              <a:buFont typeface="Wingdings" panose="05000000000000000000" pitchFamily="2" charset="2"/>
              <a:buChar char="Ø"/>
            </a:pPr>
            <a:r>
              <a:rPr lang="en-GB" sz="3200" b="1" i="1" dirty="0">
                <a:solidFill>
                  <a:srgbClr val="002060"/>
                </a:solidFill>
                <a:latin typeface="Times New Roman" panose="02020603050405020304" pitchFamily="18" charset="0"/>
                <a:ea typeface="Calibri" panose="020F0502020204030204" pitchFamily="34" charset="0"/>
              </a:rPr>
              <a:t>P = V. I</a:t>
            </a:r>
          </a:p>
          <a:p>
            <a:pPr marL="457200" indent="-457200">
              <a:lnSpc>
                <a:spcPct val="120000"/>
              </a:lnSpc>
              <a:buFont typeface="Wingdings" panose="05000000000000000000" pitchFamily="2" charset="2"/>
              <a:buChar char="Ø"/>
            </a:pPr>
            <a:r>
              <a:rPr lang="en-GB" sz="3200" dirty="0">
                <a:solidFill>
                  <a:srgbClr val="002060"/>
                </a:solidFill>
                <a:latin typeface="Times New Roman" panose="02020603050405020304" pitchFamily="18" charset="0"/>
                <a:cs typeface="Times New Roman" panose="02020603050405020304" pitchFamily="18" charset="0"/>
              </a:rPr>
              <a:t>Power factor angle </a:t>
            </a:r>
            <a:r>
              <a:rPr lang="en-GB" sz="3200" i="1" dirty="0">
                <a:solidFill>
                  <a:srgbClr val="002060"/>
                </a:solidFill>
                <a:latin typeface="Symbol" panose="05050102010706020507" pitchFamily="18" charset="2"/>
                <a:cs typeface="Times New Roman" panose="02020603050405020304" pitchFamily="18" charset="0"/>
              </a:rPr>
              <a:t>f</a:t>
            </a:r>
            <a:r>
              <a:rPr lang="en-GB" sz="3200" dirty="0">
                <a:solidFill>
                  <a:srgbClr val="002060"/>
                </a:solidFill>
                <a:latin typeface="Symbol" panose="05050102010706020507" pitchFamily="18" charset="2"/>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rPr>
              <a:t>= 0</a:t>
            </a:r>
            <a:r>
              <a:rPr lang="en-GB" sz="3200" baseline="30000" dirty="0">
                <a:solidFill>
                  <a:srgbClr val="002060"/>
                </a:solidFill>
                <a:latin typeface="Times New Roman" panose="02020603050405020304" pitchFamily="18" charset="0"/>
                <a:cs typeface="Times New Roman" panose="02020603050405020304" pitchFamily="18" charset="0"/>
              </a:rPr>
              <a:t>o</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reactive</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power</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Q</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 0</a:t>
            </a:r>
            <a:endParaRPr lang="en-GB" sz="3200" dirty="0">
              <a:solidFill>
                <a:srgbClr val="002060"/>
              </a:solidFill>
              <a:latin typeface="Times New Roman" panose="02020603050405020304" pitchFamily="18" charset="0"/>
              <a:ea typeface="Calibri" panose="020F0502020204030204" pitchFamily="34" charset="0"/>
            </a:endParaRPr>
          </a:p>
          <a:p>
            <a:pPr>
              <a:lnSpc>
                <a:spcPct val="120000"/>
              </a:lnSpc>
            </a:pPr>
            <a:r>
              <a:rPr lang="en-GB" sz="3200" dirty="0">
                <a:solidFill>
                  <a:srgbClr val="002060"/>
                </a:solidFill>
                <a:latin typeface="Times New Roman" panose="02020603050405020304" pitchFamily="18" charset="0"/>
                <a:ea typeface="Calibri" panose="020F0502020204030204" pitchFamily="34" charset="0"/>
              </a:rPr>
              <a:t>For inductor or capacitor, </a:t>
            </a:r>
          </a:p>
          <a:p>
            <a:pPr marL="457200" indent="-457200">
              <a:lnSpc>
                <a:spcPct val="120000"/>
              </a:lnSpc>
              <a:buFont typeface="Wingdings" panose="05000000000000000000" pitchFamily="2" charset="2"/>
              <a:buChar char="Ø"/>
            </a:pPr>
            <a:r>
              <a:rPr lang="en-GB" sz="3200" b="1" i="1" dirty="0">
                <a:solidFill>
                  <a:srgbClr val="002060"/>
                </a:solidFill>
                <a:latin typeface="Times New Roman" panose="02020603050405020304" pitchFamily="18" charset="0"/>
                <a:ea typeface="Calibri" panose="020F0502020204030204" pitchFamily="34" charset="0"/>
              </a:rPr>
              <a:t>V. I </a:t>
            </a:r>
            <a:r>
              <a:rPr lang="en-GB" sz="3200" dirty="0">
                <a:solidFill>
                  <a:srgbClr val="002060"/>
                </a:solidFill>
                <a:latin typeface="Times New Roman" panose="02020603050405020304" pitchFamily="18" charset="0"/>
                <a:ea typeface="Calibri" panose="020F0502020204030204" pitchFamily="34" charset="0"/>
              </a:rPr>
              <a:t>exists although  </a:t>
            </a:r>
            <a:r>
              <a:rPr lang="en-GB" sz="3200" b="1" i="1" dirty="0">
                <a:solidFill>
                  <a:srgbClr val="002060"/>
                </a:solidFill>
                <a:latin typeface="Times New Roman" panose="02020603050405020304" pitchFamily="18" charset="0"/>
                <a:ea typeface="Calibri" panose="020F0502020204030204" pitchFamily="34" charset="0"/>
              </a:rPr>
              <a:t>P = 0</a:t>
            </a:r>
          </a:p>
          <a:p>
            <a:pPr marL="457200" indent="-457200">
              <a:lnSpc>
                <a:spcPct val="120000"/>
              </a:lnSpc>
              <a:buFont typeface="Wingdings" panose="05000000000000000000" pitchFamily="2" charset="2"/>
              <a:buChar char="Ø"/>
            </a:pPr>
            <a:r>
              <a:rPr lang="en-GB" sz="3200" dirty="0">
                <a:solidFill>
                  <a:srgbClr val="002060"/>
                </a:solidFill>
                <a:latin typeface="Times New Roman" panose="02020603050405020304" pitchFamily="18" charset="0"/>
                <a:cs typeface="Times New Roman" panose="02020603050405020304" pitchFamily="18" charset="0"/>
              </a:rPr>
              <a:t>Power factor angle </a:t>
            </a:r>
            <a:r>
              <a:rPr lang="en-GB" sz="3200" i="1" dirty="0">
                <a:solidFill>
                  <a:srgbClr val="002060"/>
                </a:solidFill>
                <a:latin typeface="Symbol" panose="05050102010706020507" pitchFamily="18" charset="2"/>
                <a:cs typeface="Times New Roman" panose="02020603050405020304" pitchFamily="18" charset="0"/>
              </a:rPr>
              <a:t>f</a:t>
            </a:r>
            <a:r>
              <a:rPr lang="en-GB" sz="3200" dirty="0">
                <a:solidFill>
                  <a:srgbClr val="002060"/>
                </a:solidFill>
                <a:latin typeface="Symbol" panose="05050102010706020507" pitchFamily="18" charset="2"/>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rPr>
              <a:t>= </a:t>
            </a:r>
            <a:r>
              <a:rPr lang="en-GB" sz="3200" dirty="0">
                <a:solidFill>
                  <a:srgbClr val="002060"/>
                </a:solidFill>
                <a:latin typeface="Times New Roman" panose="02020603050405020304" pitchFamily="18" charset="0"/>
                <a:cs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cs typeface="Times New Roman" panose="02020603050405020304" pitchFamily="18" charset="0"/>
              </a:rPr>
              <a:t>90</a:t>
            </a:r>
            <a:r>
              <a:rPr lang="en-GB" sz="3200" baseline="30000" dirty="0">
                <a:solidFill>
                  <a:srgbClr val="002060"/>
                </a:solidFill>
                <a:latin typeface="Times New Roman" panose="02020603050405020304" pitchFamily="18" charset="0"/>
                <a:cs typeface="Times New Roman" panose="02020603050405020304" pitchFamily="18" charset="0"/>
              </a:rPr>
              <a:t>o</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reactive</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power</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Q</a:t>
            </a:r>
            <a:r>
              <a:rPr lang="en-GB" sz="3200" dirty="0">
                <a:solidFill>
                  <a:srgbClr val="002060"/>
                </a:solidFill>
                <a:latin typeface="Times New Roman" panose="02020603050405020304" pitchFamily="18" charset="0"/>
                <a:cs typeface="Times New Roman" panose="02020603050405020304" pitchFamily="18" charset="0"/>
              </a:rPr>
              <a:t> =</a:t>
            </a:r>
            <a:r>
              <a:rPr lang="en-GB" sz="3200" b="1" i="1" dirty="0">
                <a:solidFill>
                  <a:srgbClr val="002060"/>
                </a:solidFill>
                <a:latin typeface="Times New Roman" panose="02020603050405020304" pitchFamily="18" charset="0"/>
                <a:cs typeface="Times New Roman" panose="02020603050405020304" pitchFamily="18" charset="0"/>
              </a:rPr>
              <a:t> V. I</a:t>
            </a:r>
            <a:endParaRPr lang="en-GB" sz="3200" dirty="0">
              <a:solidFill>
                <a:srgbClr val="002060"/>
              </a:solidFill>
              <a:latin typeface="Times New Roman" panose="02020603050405020304" pitchFamily="18" charset="0"/>
              <a:cs typeface="Times New Roman" panose="02020603050405020304" pitchFamily="18" charset="0"/>
            </a:endParaRPr>
          </a:p>
          <a:p>
            <a:pPr algn="just">
              <a:spcAft>
                <a:spcPts val="1200"/>
              </a:spcAft>
            </a:pPr>
            <a:r>
              <a:rPr lang="en-GB" sz="3200" dirty="0">
                <a:solidFill>
                  <a:srgbClr val="002060"/>
                </a:solidFill>
                <a:latin typeface="Times New Roman" panose="02020603050405020304" pitchFamily="18" charset="0"/>
              </a:rPr>
              <a:t>Unlike </a:t>
            </a:r>
            <a:r>
              <a:rPr lang="en-GB" sz="3200" dirty="0" err="1">
                <a:solidFill>
                  <a:srgbClr val="002060"/>
                </a:solidFill>
                <a:latin typeface="Times New Roman" panose="02020603050405020304" pitchFamily="18" charset="0"/>
              </a:rPr>
              <a:t>inphase</a:t>
            </a:r>
            <a:r>
              <a:rPr lang="en-GB" sz="3200" dirty="0">
                <a:solidFill>
                  <a:srgbClr val="002060"/>
                </a:solidFill>
                <a:latin typeface="Times New Roman" panose="02020603050405020304" pitchFamily="18" charset="0"/>
              </a:rPr>
              <a:t>, where same direction means positive, with quadrature, there is no natural positive direction.</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20000"/>
              </a:lnSpc>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For combinations of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resistor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inductor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capacitor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20000"/>
              </a:lnSpc>
              <a:spcAft>
                <a:spcPts val="1200"/>
              </a:spcAft>
            </a:pP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lies between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 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0</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between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a:t>
            </a:r>
            <a:r>
              <a:rPr lang="en-GB" sz="32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0</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3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4748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US" dirty="0"/>
              <a:t>Convention for Reactive Power</a:t>
            </a:r>
            <a:endParaRPr lang="en-GB" dirty="0"/>
          </a:p>
        </p:txBody>
      </p:sp>
      <p:grpSp>
        <p:nvGrpSpPr>
          <p:cNvPr id="3" name="Group 2">
            <a:extLst>
              <a:ext uri="{FF2B5EF4-FFF2-40B4-BE49-F238E27FC236}">
                <a16:creationId xmlns:a16="http://schemas.microsoft.com/office/drawing/2014/main" id="{3C91F81B-6E40-4FBE-B1BC-CA55BED64867}"/>
              </a:ext>
            </a:extLst>
          </p:cNvPr>
          <p:cNvGrpSpPr>
            <a:grpSpLocks/>
          </p:cNvGrpSpPr>
          <p:nvPr/>
        </p:nvGrpSpPr>
        <p:grpSpPr bwMode="auto">
          <a:xfrm>
            <a:off x="9068614" y="1624466"/>
            <a:ext cx="2752725" cy="1544646"/>
            <a:chOff x="12271" y="3381"/>
            <a:chExt cx="3646" cy="1299"/>
          </a:xfrm>
        </p:grpSpPr>
        <p:cxnSp>
          <p:nvCxnSpPr>
            <p:cNvPr id="4" name="Line 2561">
              <a:extLst>
                <a:ext uri="{FF2B5EF4-FFF2-40B4-BE49-F238E27FC236}">
                  <a16:creationId xmlns:a16="http://schemas.microsoft.com/office/drawing/2014/main" id="{13A8C744-64F1-4787-AB98-CEEEE8D11861}"/>
                </a:ext>
              </a:extLst>
            </p:cNvPr>
            <p:cNvCxnSpPr>
              <a:cxnSpLocks noChangeShapeType="1"/>
            </p:cNvCxnSpPr>
            <p:nvPr/>
          </p:nvCxnSpPr>
          <p:spPr bwMode="auto">
            <a:xfrm>
              <a:off x="12271" y="3435"/>
              <a:ext cx="3466" cy="0"/>
            </a:xfrm>
            <a:prstGeom prst="line">
              <a:avLst/>
            </a:prstGeom>
            <a:noFill/>
            <a:ln w="28575">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5" name="Line 2563">
              <a:extLst>
                <a:ext uri="{FF2B5EF4-FFF2-40B4-BE49-F238E27FC236}">
                  <a16:creationId xmlns:a16="http://schemas.microsoft.com/office/drawing/2014/main" id="{1E737DD5-564D-447D-9022-24E1548D425E}"/>
                </a:ext>
              </a:extLst>
            </p:cNvPr>
            <p:cNvCxnSpPr>
              <a:cxnSpLocks noChangeAspect="1" noChangeShapeType="1"/>
            </p:cNvCxnSpPr>
            <p:nvPr/>
          </p:nvCxnSpPr>
          <p:spPr bwMode="auto">
            <a:xfrm>
              <a:off x="12271" y="3435"/>
              <a:ext cx="1742" cy="991"/>
            </a:xfrm>
            <a:prstGeom prst="line">
              <a:avLst/>
            </a:prstGeom>
            <a:noFill/>
            <a:ln w="28575">
              <a:solidFill>
                <a:srgbClr val="00B0F0"/>
              </a:solidFill>
              <a:round/>
              <a:headEnd/>
              <a:tailEnd type="arrow" w="med" len="med"/>
            </a:ln>
            <a:extLst>
              <a:ext uri="{909E8E84-426E-40DD-AFC4-6F175D3DCCD1}">
                <a14:hiddenFill xmlns:a14="http://schemas.microsoft.com/office/drawing/2010/main">
                  <a:noFill/>
                </a14:hiddenFill>
              </a:ext>
            </a:extLst>
          </p:spPr>
        </p:cxnSp>
        <p:sp>
          <p:nvSpPr>
            <p:cNvPr id="6" name="Text Box 2564">
              <a:extLst>
                <a:ext uri="{FF2B5EF4-FFF2-40B4-BE49-F238E27FC236}">
                  <a16:creationId xmlns:a16="http://schemas.microsoft.com/office/drawing/2014/main" id="{4B5C7856-7F3D-4BF3-A927-830AD1F3F2EC}"/>
                </a:ext>
              </a:extLst>
            </p:cNvPr>
            <p:cNvSpPr txBox="1">
              <a:spLocks noChangeArrowheads="1"/>
            </p:cNvSpPr>
            <p:nvPr/>
          </p:nvSpPr>
          <p:spPr bwMode="auto">
            <a:xfrm>
              <a:off x="15128" y="3381"/>
              <a:ext cx="789"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Arc 2566">
              <a:extLst>
                <a:ext uri="{FF2B5EF4-FFF2-40B4-BE49-F238E27FC236}">
                  <a16:creationId xmlns:a16="http://schemas.microsoft.com/office/drawing/2014/main" id="{B34F0448-490E-4031-AE71-7D71A87DCBC1}"/>
                </a:ext>
              </a:extLst>
            </p:cNvPr>
            <p:cNvSpPr>
              <a:spLocks noChangeAspect="1"/>
            </p:cNvSpPr>
            <p:nvPr/>
          </p:nvSpPr>
          <p:spPr bwMode="auto">
            <a:xfrm>
              <a:off x="13042" y="3435"/>
              <a:ext cx="200" cy="399"/>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 name="Text Box 2567">
              <a:extLst>
                <a:ext uri="{FF2B5EF4-FFF2-40B4-BE49-F238E27FC236}">
                  <a16:creationId xmlns:a16="http://schemas.microsoft.com/office/drawing/2014/main" id="{D02F2CE9-98FF-4026-B51D-D5EA549551B6}"/>
                </a:ext>
              </a:extLst>
            </p:cNvPr>
            <p:cNvSpPr txBox="1">
              <a:spLocks noChangeArrowheads="1"/>
            </p:cNvSpPr>
            <p:nvPr/>
          </p:nvSpPr>
          <p:spPr bwMode="auto">
            <a:xfrm>
              <a:off x="13415" y="3435"/>
              <a:ext cx="789" cy="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568">
              <a:extLst>
                <a:ext uri="{FF2B5EF4-FFF2-40B4-BE49-F238E27FC236}">
                  <a16:creationId xmlns:a16="http://schemas.microsoft.com/office/drawing/2014/main" id="{D5CDA44D-5E1B-4076-BEA6-08AA833FC180}"/>
                </a:ext>
              </a:extLst>
            </p:cNvPr>
            <p:cNvSpPr txBox="1">
              <a:spLocks noChangeArrowheads="1"/>
            </p:cNvSpPr>
            <p:nvPr/>
          </p:nvSpPr>
          <p:spPr bwMode="auto">
            <a:xfrm>
              <a:off x="14154" y="4063"/>
              <a:ext cx="489"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7C5EF65A-6A46-4F02-87BC-95346EFA2464}"/>
              </a:ext>
            </a:extLst>
          </p:cNvPr>
          <p:cNvGrpSpPr>
            <a:grpSpLocks/>
          </p:cNvGrpSpPr>
          <p:nvPr/>
        </p:nvGrpSpPr>
        <p:grpSpPr bwMode="auto">
          <a:xfrm>
            <a:off x="9223101" y="3044876"/>
            <a:ext cx="2609850" cy="1919963"/>
            <a:chOff x="12511" y="4993"/>
            <a:chExt cx="3646" cy="1277"/>
          </a:xfrm>
        </p:grpSpPr>
        <p:cxnSp>
          <p:nvCxnSpPr>
            <p:cNvPr id="11" name="Line 2571">
              <a:extLst>
                <a:ext uri="{FF2B5EF4-FFF2-40B4-BE49-F238E27FC236}">
                  <a16:creationId xmlns:a16="http://schemas.microsoft.com/office/drawing/2014/main" id="{2FD75873-6BE2-4D4B-9D60-953E2E01EBE2}"/>
                </a:ext>
              </a:extLst>
            </p:cNvPr>
            <p:cNvCxnSpPr>
              <a:cxnSpLocks noChangeShapeType="1"/>
            </p:cNvCxnSpPr>
            <p:nvPr/>
          </p:nvCxnSpPr>
          <p:spPr bwMode="auto">
            <a:xfrm>
              <a:off x="12511" y="6270"/>
              <a:ext cx="3466" cy="0"/>
            </a:xfrm>
            <a:prstGeom prst="line">
              <a:avLst/>
            </a:prstGeom>
            <a:noFill/>
            <a:ln w="28575">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12" name="Line 2572">
              <a:extLst>
                <a:ext uri="{FF2B5EF4-FFF2-40B4-BE49-F238E27FC236}">
                  <a16:creationId xmlns:a16="http://schemas.microsoft.com/office/drawing/2014/main" id="{56147390-FEA9-48B0-A530-C5C27DBA7A4D}"/>
                </a:ext>
              </a:extLst>
            </p:cNvPr>
            <p:cNvCxnSpPr>
              <a:cxnSpLocks noChangeAspect="1" noChangeShapeType="1"/>
            </p:cNvCxnSpPr>
            <p:nvPr/>
          </p:nvCxnSpPr>
          <p:spPr bwMode="auto">
            <a:xfrm flipV="1">
              <a:off x="12511" y="5250"/>
              <a:ext cx="1742" cy="991"/>
            </a:xfrm>
            <a:prstGeom prst="line">
              <a:avLst/>
            </a:prstGeom>
            <a:noFill/>
            <a:ln w="28575">
              <a:solidFill>
                <a:srgbClr val="00B0F0"/>
              </a:solidFill>
              <a:round/>
              <a:headEnd/>
              <a:tailEnd type="arrow" w="med" len="med"/>
            </a:ln>
            <a:extLst>
              <a:ext uri="{909E8E84-426E-40DD-AFC4-6F175D3DCCD1}">
                <a14:hiddenFill xmlns:a14="http://schemas.microsoft.com/office/drawing/2010/main">
                  <a:noFill/>
                </a14:hiddenFill>
              </a:ext>
            </a:extLst>
          </p:spPr>
        </p:cxnSp>
        <p:sp>
          <p:nvSpPr>
            <p:cNvPr id="13" name="Text Box 2573">
              <a:extLst>
                <a:ext uri="{FF2B5EF4-FFF2-40B4-BE49-F238E27FC236}">
                  <a16:creationId xmlns:a16="http://schemas.microsoft.com/office/drawing/2014/main" id="{866BC9D5-4AF6-4930-AAAC-0EB716E0BC7B}"/>
                </a:ext>
              </a:extLst>
            </p:cNvPr>
            <p:cNvSpPr txBox="1">
              <a:spLocks noChangeArrowheads="1"/>
            </p:cNvSpPr>
            <p:nvPr/>
          </p:nvSpPr>
          <p:spPr bwMode="auto">
            <a:xfrm>
              <a:off x="15368" y="5511"/>
              <a:ext cx="789"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Calibri" panose="020F0502020204030204" pitchFamily="34" charset="0"/>
                  <a:ea typeface="Calibri" panose="020F0502020204030204" pitchFamily="34" charset="0"/>
                  <a:cs typeface="Times New Roman" panose="02020603050405020304" pitchFamily="18" charset="0"/>
                </a:rPr>
                <a:t>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Arc 2574">
              <a:extLst>
                <a:ext uri="{FF2B5EF4-FFF2-40B4-BE49-F238E27FC236}">
                  <a16:creationId xmlns:a16="http://schemas.microsoft.com/office/drawing/2014/main" id="{85774869-EB41-40FE-B183-06394C2FAD51}"/>
                </a:ext>
              </a:extLst>
            </p:cNvPr>
            <p:cNvSpPr>
              <a:spLocks noChangeAspect="1"/>
            </p:cNvSpPr>
            <p:nvPr/>
          </p:nvSpPr>
          <p:spPr bwMode="auto">
            <a:xfrm>
              <a:off x="13057" y="5956"/>
              <a:ext cx="200" cy="303"/>
            </a:xfrm>
            <a:custGeom>
              <a:avLst/>
              <a:gdLst>
                <a:gd name="G0" fmla="+- 0 0 0"/>
                <a:gd name="G1" fmla="+- 21600 0 0"/>
                <a:gd name="G2" fmla="+- 21600 0 0"/>
                <a:gd name="T0" fmla="*/ 0 w 21600"/>
                <a:gd name="T1" fmla="*/ 0 h 32847"/>
                <a:gd name="T2" fmla="*/ 18441 w 21600"/>
                <a:gd name="T3" fmla="*/ 32847 h 32847"/>
                <a:gd name="T4" fmla="*/ 0 w 21600"/>
                <a:gd name="T5" fmla="*/ 21600 h 32847"/>
              </a:gdLst>
              <a:ahLst/>
              <a:cxnLst>
                <a:cxn ang="0">
                  <a:pos x="T0" y="T1"/>
                </a:cxn>
                <a:cxn ang="0">
                  <a:pos x="T2" y="T3"/>
                </a:cxn>
                <a:cxn ang="0">
                  <a:pos x="T4" y="T5"/>
                </a:cxn>
              </a:cxnLst>
              <a:rect l="0" t="0" r="r" b="b"/>
              <a:pathLst>
                <a:path w="21600" h="32847" fill="none" extrusionOk="0">
                  <a:moveTo>
                    <a:pt x="-1" y="0"/>
                  </a:moveTo>
                  <a:cubicBezTo>
                    <a:pt x="11929" y="0"/>
                    <a:pt x="21600" y="9670"/>
                    <a:pt x="21600" y="21600"/>
                  </a:cubicBezTo>
                  <a:cubicBezTo>
                    <a:pt x="21600" y="25567"/>
                    <a:pt x="20506" y="29459"/>
                    <a:pt x="18440" y="32846"/>
                  </a:cubicBezTo>
                </a:path>
                <a:path w="21600" h="32847" stroke="0" extrusionOk="0">
                  <a:moveTo>
                    <a:pt x="-1" y="0"/>
                  </a:moveTo>
                  <a:cubicBezTo>
                    <a:pt x="11929" y="0"/>
                    <a:pt x="21600" y="9670"/>
                    <a:pt x="21600" y="21600"/>
                  </a:cubicBezTo>
                  <a:cubicBezTo>
                    <a:pt x="21600" y="25567"/>
                    <a:pt x="20506" y="29459"/>
                    <a:pt x="18440" y="32846"/>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5" name="Text Box 2575">
              <a:extLst>
                <a:ext uri="{FF2B5EF4-FFF2-40B4-BE49-F238E27FC236}">
                  <a16:creationId xmlns:a16="http://schemas.microsoft.com/office/drawing/2014/main" id="{BB965F63-D3F1-4331-AED2-5530936CFCBC}"/>
                </a:ext>
              </a:extLst>
            </p:cNvPr>
            <p:cNvSpPr txBox="1">
              <a:spLocks noChangeArrowheads="1"/>
            </p:cNvSpPr>
            <p:nvPr/>
          </p:nvSpPr>
          <p:spPr bwMode="auto">
            <a:xfrm>
              <a:off x="13490" y="5774"/>
              <a:ext cx="789"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Symbol" panose="05050102010706020507" pitchFamily="18" charset="2"/>
                  <a:ea typeface="Calibri" panose="020F0502020204030204" pitchFamily="34" charset="0"/>
                  <a:cs typeface="Times New Roman" panose="02020603050405020304" pitchFamily="18" charset="0"/>
                </a:rPr>
                <a:t>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2576">
              <a:extLst>
                <a:ext uri="{FF2B5EF4-FFF2-40B4-BE49-F238E27FC236}">
                  <a16:creationId xmlns:a16="http://schemas.microsoft.com/office/drawing/2014/main" id="{BBA945C1-7CAE-4563-9D05-D3D6B44C6356}"/>
                </a:ext>
              </a:extLst>
            </p:cNvPr>
            <p:cNvSpPr txBox="1">
              <a:spLocks noChangeArrowheads="1"/>
            </p:cNvSpPr>
            <p:nvPr/>
          </p:nvSpPr>
          <p:spPr bwMode="auto">
            <a:xfrm>
              <a:off x="14394" y="4993"/>
              <a:ext cx="489"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17" name="Rectangle 16">
            <a:extLst>
              <a:ext uri="{FF2B5EF4-FFF2-40B4-BE49-F238E27FC236}">
                <a16:creationId xmlns:a16="http://schemas.microsoft.com/office/drawing/2014/main" id="{01620FBD-8085-4DA6-915B-91AAE15E0082}"/>
              </a:ext>
            </a:extLst>
          </p:cNvPr>
          <p:cNvSpPr/>
          <p:nvPr/>
        </p:nvSpPr>
        <p:spPr>
          <a:xfrm>
            <a:off x="464491" y="1418674"/>
            <a:ext cx="8474264" cy="4020652"/>
          </a:xfrm>
          <a:prstGeom prst="rect">
            <a:avLst/>
          </a:prstGeom>
        </p:spPr>
        <p:txBody>
          <a:bodyPr wrap="square">
            <a:spAutoFit/>
          </a:bodyPr>
          <a:lstStyle/>
          <a:p>
            <a:pPr algn="just">
              <a:lnSpc>
                <a:spcPct val="115000"/>
              </a:lnSpc>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Usual to define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Inductive reactive power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when current lagging voltage</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GB" sz="32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Capacitive reactive power</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when current leading voltage.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Inductive reactive power and capacitive reactive power have opposite signs.</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9682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429715" y="567637"/>
            <a:ext cx="10924085" cy="482745"/>
          </a:xfrm>
        </p:spPr>
        <p:txBody>
          <a:bodyPr>
            <a:normAutofit fontScale="90000"/>
          </a:bodyPr>
          <a:lstStyle/>
          <a:p>
            <a:r>
              <a:rPr lang="en-GB" dirty="0"/>
              <a:t>Power factor correction</a:t>
            </a:r>
          </a:p>
        </p:txBody>
      </p:sp>
      <p:grpSp>
        <p:nvGrpSpPr>
          <p:cNvPr id="3" name="Group 2">
            <a:extLst>
              <a:ext uri="{FF2B5EF4-FFF2-40B4-BE49-F238E27FC236}">
                <a16:creationId xmlns:a16="http://schemas.microsoft.com/office/drawing/2014/main" id="{781B1CF6-6899-4D3A-84F7-FAD6C9DB44AA}"/>
              </a:ext>
            </a:extLst>
          </p:cNvPr>
          <p:cNvGrpSpPr>
            <a:grpSpLocks/>
          </p:cNvGrpSpPr>
          <p:nvPr/>
        </p:nvGrpSpPr>
        <p:grpSpPr bwMode="auto">
          <a:xfrm>
            <a:off x="8497266" y="838360"/>
            <a:ext cx="3566226" cy="2064843"/>
            <a:chOff x="8576" y="4640"/>
            <a:chExt cx="2010" cy="1278"/>
          </a:xfrm>
        </p:grpSpPr>
        <p:cxnSp>
          <p:nvCxnSpPr>
            <p:cNvPr id="4" name="Line 975">
              <a:extLst>
                <a:ext uri="{FF2B5EF4-FFF2-40B4-BE49-F238E27FC236}">
                  <a16:creationId xmlns:a16="http://schemas.microsoft.com/office/drawing/2014/main" id="{C664F0BA-EF93-4299-9A9A-D6F9A4FCCBE3}"/>
                </a:ext>
              </a:extLst>
            </p:cNvPr>
            <p:cNvCxnSpPr>
              <a:cxnSpLocks noChangeShapeType="1"/>
            </p:cNvCxnSpPr>
            <p:nvPr/>
          </p:nvCxnSpPr>
          <p:spPr bwMode="auto">
            <a:xfrm>
              <a:off x="8576" y="5018"/>
              <a:ext cx="1582"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5" name="Line 976">
              <a:extLst>
                <a:ext uri="{FF2B5EF4-FFF2-40B4-BE49-F238E27FC236}">
                  <a16:creationId xmlns:a16="http://schemas.microsoft.com/office/drawing/2014/main" id="{8ED59DF6-FDEE-4216-AB1A-6D2369A2C5FA}"/>
                </a:ext>
              </a:extLst>
            </p:cNvPr>
            <p:cNvCxnSpPr>
              <a:cxnSpLocks noChangeShapeType="1"/>
            </p:cNvCxnSpPr>
            <p:nvPr/>
          </p:nvCxnSpPr>
          <p:spPr bwMode="auto">
            <a:xfrm>
              <a:off x="10158" y="5018"/>
              <a:ext cx="0" cy="90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6" name="Line 977">
              <a:extLst>
                <a:ext uri="{FF2B5EF4-FFF2-40B4-BE49-F238E27FC236}">
                  <a16:creationId xmlns:a16="http://schemas.microsoft.com/office/drawing/2014/main" id="{122543D3-02F5-4D6A-AC17-41EF48610C02}"/>
                </a:ext>
              </a:extLst>
            </p:cNvPr>
            <p:cNvCxnSpPr>
              <a:cxnSpLocks noChangeShapeType="1"/>
            </p:cNvCxnSpPr>
            <p:nvPr/>
          </p:nvCxnSpPr>
          <p:spPr bwMode="auto">
            <a:xfrm>
              <a:off x="8576" y="5018"/>
              <a:ext cx="1582" cy="90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7" name="Text Box 978">
              <a:extLst>
                <a:ext uri="{FF2B5EF4-FFF2-40B4-BE49-F238E27FC236}">
                  <a16:creationId xmlns:a16="http://schemas.microsoft.com/office/drawing/2014/main" id="{1E3B2AFD-BC6C-4DE5-9DC6-3AC650056377}"/>
                </a:ext>
              </a:extLst>
            </p:cNvPr>
            <p:cNvSpPr txBox="1">
              <a:spLocks noChangeArrowheads="1"/>
            </p:cNvSpPr>
            <p:nvPr/>
          </p:nvSpPr>
          <p:spPr bwMode="auto">
            <a:xfrm>
              <a:off x="9702" y="464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effectLst/>
                  <a:latin typeface="Calibri" panose="020F0502020204030204" pitchFamily="34" charset="0"/>
                  <a:ea typeface="Calibri" panose="020F0502020204030204" pitchFamily="34" charset="0"/>
                  <a:cs typeface="Times New Roman" panose="02020603050405020304" pitchFamily="18" charset="0"/>
                </a:rPr>
                <a:t>P</a:t>
              </a:r>
              <a:r>
                <a:rPr lang="en-GB" sz="36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 Box 979">
              <a:extLst>
                <a:ext uri="{FF2B5EF4-FFF2-40B4-BE49-F238E27FC236}">
                  <a16:creationId xmlns:a16="http://schemas.microsoft.com/office/drawing/2014/main" id="{FDAF96E5-83DB-477E-8850-B260F71C4607}"/>
                </a:ext>
              </a:extLst>
            </p:cNvPr>
            <p:cNvSpPr txBox="1">
              <a:spLocks noChangeArrowheads="1"/>
            </p:cNvSpPr>
            <p:nvPr/>
          </p:nvSpPr>
          <p:spPr bwMode="auto">
            <a:xfrm>
              <a:off x="10226" y="555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dirty="0">
                  <a:effectLst/>
                  <a:latin typeface="Calibri" panose="020F0502020204030204" pitchFamily="34" charset="0"/>
                  <a:ea typeface="Calibri" panose="020F0502020204030204" pitchFamily="34" charset="0"/>
                  <a:cs typeface="Times New Roman" panose="02020603050405020304" pitchFamily="18" charset="0"/>
                </a:rPr>
                <a:t>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Arc 980">
              <a:extLst>
                <a:ext uri="{FF2B5EF4-FFF2-40B4-BE49-F238E27FC236}">
                  <a16:creationId xmlns:a16="http://schemas.microsoft.com/office/drawing/2014/main" id="{68DB7DB1-452F-4275-B1D9-D11A250F7ABD}"/>
                </a:ext>
              </a:extLst>
            </p:cNvPr>
            <p:cNvSpPr>
              <a:spLocks noChangeAspect="1"/>
            </p:cNvSpPr>
            <p:nvPr/>
          </p:nvSpPr>
          <p:spPr bwMode="auto">
            <a:xfrm>
              <a:off x="8928" y="5018"/>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0" name="Text Box 981">
              <a:extLst>
                <a:ext uri="{FF2B5EF4-FFF2-40B4-BE49-F238E27FC236}">
                  <a16:creationId xmlns:a16="http://schemas.microsoft.com/office/drawing/2014/main" id="{4BB48069-392D-4AFB-B21A-B78C64816506}"/>
                </a:ext>
              </a:extLst>
            </p:cNvPr>
            <p:cNvSpPr txBox="1">
              <a:spLocks noChangeArrowheads="1"/>
            </p:cNvSpPr>
            <p:nvPr/>
          </p:nvSpPr>
          <p:spPr bwMode="auto">
            <a:xfrm>
              <a:off x="9098" y="501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effectLst/>
                  <a:latin typeface="Symbol" panose="05050102010706020507" pitchFamily="18" charset="2"/>
                  <a:ea typeface="Calibri" panose="020F0502020204030204" pitchFamily="34" charset="0"/>
                  <a:cs typeface="Times New Roman" panose="02020603050405020304" pitchFamily="18" charset="0"/>
                </a:rPr>
                <a:t>f</a:t>
              </a:r>
              <a:r>
                <a:rPr lang="en-GB" sz="3600" baseline="-25000">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25" name="Rectangle 24">
            <a:extLst>
              <a:ext uri="{FF2B5EF4-FFF2-40B4-BE49-F238E27FC236}">
                <a16:creationId xmlns:a16="http://schemas.microsoft.com/office/drawing/2014/main" id="{2A60778F-A822-4F4E-A0C5-448D082A8DAF}"/>
              </a:ext>
            </a:extLst>
          </p:cNvPr>
          <p:cNvSpPr/>
          <p:nvPr/>
        </p:nvSpPr>
        <p:spPr>
          <a:xfrm>
            <a:off x="128508" y="1030563"/>
            <a:ext cx="7919627" cy="1546064"/>
          </a:xfrm>
          <a:prstGeom prst="rect">
            <a:avLst/>
          </a:prstGeom>
        </p:spPr>
        <p:txBody>
          <a:bodyPr wrap="square">
            <a:spAutoFit/>
          </a:bodyPr>
          <a:lstStyle/>
          <a:p>
            <a:pPr algn="just">
              <a:lnSpc>
                <a:spcPct val="115000"/>
              </a:lnSpc>
              <a:spcAft>
                <a:spcPts val="600"/>
              </a:spcAf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With </a:t>
            </a:r>
            <a:r>
              <a:rPr lang="en-GB" sz="28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&lt; 1, for same power transfer P the current required becomes larger and the power losses in the circuit becomes still larger (power loss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a:t>
            </a:r>
            <a:r>
              <a:rPr lang="en-GB" sz="28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AE483126-A4D6-4C66-802A-C23137EA7E2E}"/>
              </a:ext>
            </a:extLst>
          </p:cNvPr>
          <p:cNvSpPr/>
          <p:nvPr/>
        </p:nvSpPr>
        <p:spPr>
          <a:xfrm>
            <a:off x="150705" y="2625536"/>
            <a:ext cx="9391421" cy="2339102"/>
          </a:xfrm>
          <a:prstGeom prst="rect">
            <a:avLst/>
          </a:prstGeom>
        </p:spPr>
        <p:txBody>
          <a:bodyPr wrap="square">
            <a:spAutoFit/>
          </a:bodyPr>
          <a:lstStyle/>
          <a:p>
            <a:pPr algn="just">
              <a:lnSpc>
                <a:spcPct val="90000"/>
              </a:lnSpc>
              <a:spcAft>
                <a:spcPts val="600"/>
              </a:spcAft>
            </a:pPr>
            <a:r>
              <a:rPr lang="en-GB" sz="2800" dirty="0">
                <a:solidFill>
                  <a:srgbClr val="002060"/>
                </a:solidFill>
                <a:latin typeface="Times New Roman" panose="02020603050405020304" pitchFamily="18" charset="0"/>
                <a:ea typeface="Times New Roman" panose="02020603050405020304" pitchFamily="18" charset="0"/>
              </a:rPr>
              <a:t>For a </a:t>
            </a:r>
            <a:r>
              <a:rPr lang="en-GB" sz="2800" dirty="0">
                <a:solidFill>
                  <a:srgbClr val="002060"/>
                </a:solidFill>
                <a:latin typeface="Times New Roman" panose="02020603050405020304" pitchFamily="18" charset="0"/>
              </a:rPr>
              <a:t>load with </a:t>
            </a:r>
            <a:r>
              <a:rPr lang="en-GB" sz="2800" dirty="0">
                <a:solidFill>
                  <a:srgbClr val="002060"/>
                </a:solidFill>
                <a:latin typeface="Times New Roman" panose="02020603050405020304" pitchFamily="18" charset="0"/>
                <a:ea typeface="Times New Roman" panose="02020603050405020304" pitchFamily="18" charset="0"/>
              </a:rPr>
              <a:t>lagging power factor cos </a:t>
            </a:r>
            <a:r>
              <a:rPr lang="en-GB" sz="2800" dirty="0">
                <a:solidFill>
                  <a:srgbClr val="002060"/>
                </a:solidFill>
                <a:latin typeface="Symbol" panose="05050102010706020507" pitchFamily="18" charset="2"/>
                <a:ea typeface="Times New Roman" panose="02020603050405020304" pitchFamily="18" charset="0"/>
              </a:rPr>
              <a:t>f</a:t>
            </a:r>
            <a:r>
              <a:rPr lang="en-GB" sz="2800" baseline="-25000" dirty="0">
                <a:solidFill>
                  <a:srgbClr val="002060"/>
                </a:solidFill>
                <a:latin typeface="Times New Roman" panose="02020603050405020304" pitchFamily="18" charset="0"/>
                <a:ea typeface="Times New Roman" panose="02020603050405020304" pitchFamily="18" charset="0"/>
              </a:rPr>
              <a:t>1</a:t>
            </a:r>
            <a:endParaRPr lang="en-GB" sz="2800" b="1" i="1" dirty="0">
              <a:latin typeface="Times New Roman" panose="02020603050405020304" pitchFamily="18" charset="0"/>
              <a:ea typeface="Times New Roman" panose="02020603050405020304" pitchFamily="18" charset="0"/>
            </a:endParaRPr>
          </a:p>
          <a:p>
            <a:pPr marL="342900" marR="0" lvl="0" indent="-342900" algn="just">
              <a:lnSpc>
                <a:spcPct val="90000"/>
              </a:lnSpc>
              <a:spcBef>
                <a:spcPts val="0"/>
              </a:spcBef>
              <a:spcAft>
                <a:spcPts val="600"/>
              </a:spcAft>
              <a:buFont typeface="Symbol" panose="05050102010706020507" pitchFamily="18" charset="2"/>
              <a:buChar char=""/>
            </a:pPr>
            <a:r>
              <a:rPr lang="en-GB" sz="2800" dirty="0">
                <a:solidFill>
                  <a:srgbClr val="002060"/>
                </a:solidFill>
                <a:latin typeface="Times New Roman" panose="02020603050405020304" pitchFamily="18" charset="0"/>
                <a:ea typeface="Times New Roman" panose="02020603050405020304" pitchFamily="18" charset="0"/>
              </a:rPr>
              <a:t>active power P</a:t>
            </a:r>
            <a:r>
              <a:rPr lang="en-GB" sz="2800" baseline="-25000" dirty="0">
                <a:solidFill>
                  <a:srgbClr val="002060"/>
                </a:solidFill>
                <a:latin typeface="Times New Roman" panose="02020603050405020304" pitchFamily="18" charset="0"/>
                <a:ea typeface="Times New Roman" panose="02020603050405020304" pitchFamily="18" charset="0"/>
              </a:rPr>
              <a:t>1</a:t>
            </a:r>
            <a:r>
              <a:rPr lang="en-GB" sz="2800" dirty="0">
                <a:solidFill>
                  <a:srgbClr val="002060"/>
                </a:solidFill>
                <a:latin typeface="Times New Roman" panose="02020603050405020304" pitchFamily="18" charset="0"/>
                <a:ea typeface="Times New Roman" panose="02020603050405020304" pitchFamily="18" charset="0"/>
              </a:rPr>
              <a:t>, reactive power Q</a:t>
            </a:r>
            <a:r>
              <a:rPr lang="en-GB" sz="2800" baseline="-25000" dirty="0">
                <a:solidFill>
                  <a:srgbClr val="002060"/>
                </a:solidFill>
                <a:latin typeface="Times New Roman" panose="02020603050405020304" pitchFamily="18" charset="0"/>
                <a:ea typeface="Times New Roman" panose="02020603050405020304" pitchFamily="18" charset="0"/>
              </a:rPr>
              <a:t>1</a:t>
            </a:r>
            <a:endParaRPr lang="en-GB" sz="2800" b="1" i="1" dirty="0">
              <a:latin typeface="Times New Roman" panose="02020603050405020304" pitchFamily="18" charset="0"/>
              <a:ea typeface="Times New Roman" panose="02020603050405020304" pitchFamily="18" charset="0"/>
            </a:endParaRPr>
          </a:p>
          <a:p>
            <a:pPr algn="just">
              <a:lnSpc>
                <a:spcPct val="90000"/>
              </a:lnSpc>
              <a:spcAft>
                <a:spcPts val="600"/>
              </a:spcAft>
            </a:pPr>
            <a:r>
              <a:rPr lang="en-GB" sz="2800" dirty="0">
                <a:solidFill>
                  <a:srgbClr val="002060"/>
                </a:solidFill>
                <a:latin typeface="Times New Roman" panose="02020603050405020304" pitchFamily="18" charset="0"/>
                <a:ea typeface="Times New Roman" panose="02020603050405020304" pitchFamily="18" charset="0"/>
              </a:rPr>
              <a:t>If power factor is improved to a new value cos </a:t>
            </a:r>
            <a:r>
              <a:rPr lang="en-GB" sz="2800" dirty="0">
                <a:solidFill>
                  <a:srgbClr val="002060"/>
                </a:solidFill>
                <a:latin typeface="Symbol" panose="05050102010706020507" pitchFamily="18" charset="2"/>
                <a:ea typeface="Times New Roman" panose="02020603050405020304" pitchFamily="18" charset="0"/>
              </a:rPr>
              <a:t>f</a:t>
            </a:r>
            <a:r>
              <a:rPr lang="en-GB" sz="2800" baseline="-25000" dirty="0">
                <a:solidFill>
                  <a:srgbClr val="002060"/>
                </a:solidFill>
                <a:latin typeface="Times New Roman" panose="02020603050405020304" pitchFamily="18" charset="0"/>
                <a:ea typeface="Times New Roman" panose="02020603050405020304" pitchFamily="18" charset="0"/>
              </a:rPr>
              <a:t>2</a:t>
            </a:r>
            <a:r>
              <a:rPr lang="en-GB" sz="2800" dirty="0">
                <a:solidFill>
                  <a:srgbClr val="002060"/>
                </a:solidFill>
                <a:latin typeface="Times New Roman" panose="02020603050405020304" pitchFamily="18" charset="0"/>
                <a:ea typeface="Times New Roman" panose="02020603050405020304" pitchFamily="18" charset="0"/>
              </a:rPr>
              <a:t> ( &gt;cos </a:t>
            </a:r>
            <a:r>
              <a:rPr lang="en-GB" sz="2800" dirty="0">
                <a:solidFill>
                  <a:srgbClr val="002060"/>
                </a:solidFill>
                <a:latin typeface="Symbol" panose="05050102010706020507" pitchFamily="18" charset="2"/>
                <a:ea typeface="Times New Roman" panose="02020603050405020304" pitchFamily="18" charset="0"/>
              </a:rPr>
              <a:t>f</a:t>
            </a:r>
            <a:r>
              <a:rPr lang="en-GB" sz="2800" baseline="-25000" dirty="0">
                <a:solidFill>
                  <a:srgbClr val="002060"/>
                </a:solidFill>
                <a:latin typeface="Times New Roman" panose="02020603050405020304" pitchFamily="18" charset="0"/>
                <a:ea typeface="Times New Roman" panose="02020603050405020304" pitchFamily="18" charset="0"/>
              </a:rPr>
              <a:t>1</a:t>
            </a:r>
            <a:r>
              <a:rPr lang="en-GB" sz="2800" dirty="0">
                <a:solidFill>
                  <a:srgbClr val="002060"/>
                </a:solidFill>
                <a:latin typeface="Times New Roman" panose="02020603050405020304" pitchFamily="18" charset="0"/>
                <a:ea typeface="Times New Roman" panose="02020603050405020304" pitchFamily="18" charset="0"/>
              </a:rPr>
              <a:t>) </a:t>
            </a:r>
            <a:endParaRPr lang="en-GB" sz="2800" b="1" i="1" dirty="0">
              <a:latin typeface="Times New Roman" panose="02020603050405020304" pitchFamily="18" charset="0"/>
              <a:ea typeface="Times New Roman" panose="02020603050405020304" pitchFamily="18" charset="0"/>
            </a:endParaRPr>
          </a:p>
          <a:p>
            <a:pPr marL="342900" marR="0" lvl="0" indent="-342900" algn="just">
              <a:lnSpc>
                <a:spcPct val="90000"/>
              </a:lnSpc>
              <a:spcBef>
                <a:spcPts val="0"/>
              </a:spcBef>
              <a:spcAft>
                <a:spcPts val="600"/>
              </a:spcAft>
              <a:buFont typeface="Symbol" panose="05050102010706020507" pitchFamily="18" charset="2"/>
              <a:buChar char=""/>
            </a:pPr>
            <a:r>
              <a:rPr lang="en-GB" sz="2800" dirty="0">
                <a:solidFill>
                  <a:srgbClr val="002060"/>
                </a:solidFill>
                <a:latin typeface="Times New Roman" panose="02020603050405020304" pitchFamily="18" charset="0"/>
                <a:ea typeface="Times New Roman" panose="02020603050405020304" pitchFamily="18" charset="0"/>
              </a:rPr>
              <a:t>leading reactive power Q</a:t>
            </a:r>
            <a:r>
              <a:rPr lang="en-GB" sz="2800" baseline="-25000" dirty="0">
                <a:solidFill>
                  <a:srgbClr val="002060"/>
                </a:solidFill>
                <a:latin typeface="Times New Roman" panose="02020603050405020304" pitchFamily="18" charset="0"/>
                <a:ea typeface="Times New Roman" panose="02020603050405020304" pitchFamily="18" charset="0"/>
              </a:rPr>
              <a:t>c</a:t>
            </a:r>
            <a:r>
              <a:rPr lang="en-GB" sz="2800" dirty="0">
                <a:solidFill>
                  <a:srgbClr val="002060"/>
                </a:solidFill>
                <a:latin typeface="Times New Roman" panose="02020603050405020304" pitchFamily="18" charset="0"/>
                <a:ea typeface="Times New Roman" panose="02020603050405020304" pitchFamily="18" charset="0"/>
              </a:rPr>
              <a:t> must be added. </a:t>
            </a:r>
            <a:endParaRPr lang="en-GB" sz="2800" b="1" i="1" dirty="0">
              <a:latin typeface="Times New Roman" panose="02020603050405020304" pitchFamily="18" charset="0"/>
              <a:ea typeface="Times New Roman" panose="02020603050405020304" pitchFamily="18" charset="0"/>
            </a:endParaRPr>
          </a:p>
          <a:p>
            <a:pPr marL="342900" marR="0" lvl="0" indent="-342900" algn="just">
              <a:lnSpc>
                <a:spcPct val="90000"/>
              </a:lnSpc>
              <a:spcBef>
                <a:spcPts val="0"/>
              </a:spcBef>
              <a:spcAft>
                <a:spcPts val="600"/>
              </a:spcAft>
              <a:buFont typeface="Symbol" panose="05050102010706020507" pitchFamily="18" charset="2"/>
              <a:buChar char=""/>
            </a:pPr>
            <a:r>
              <a:rPr lang="en-GB" sz="2800" dirty="0">
                <a:solidFill>
                  <a:srgbClr val="002060"/>
                </a:solidFill>
                <a:latin typeface="Calibri" panose="020F0502020204030204" pitchFamily="34" charset="0"/>
                <a:ea typeface="Calibri" panose="020F0502020204030204" pitchFamily="34" charset="0"/>
                <a:cs typeface="Times New Roman" panose="02020603050405020304" pitchFamily="18" charset="0"/>
              </a:rPr>
              <a:t>usually done by using capacitors.</a:t>
            </a:r>
            <a:endParaRPr lang="en-GB" sz="2800" dirty="0"/>
          </a:p>
        </p:txBody>
      </p:sp>
      <p:sp>
        <p:nvSpPr>
          <p:cNvPr id="27" name="Rectangle 26">
            <a:extLst>
              <a:ext uri="{FF2B5EF4-FFF2-40B4-BE49-F238E27FC236}">
                <a16:creationId xmlns:a16="http://schemas.microsoft.com/office/drawing/2014/main" id="{8C18044C-241B-477A-966A-067BB3B5146D}"/>
              </a:ext>
            </a:extLst>
          </p:cNvPr>
          <p:cNvSpPr/>
          <p:nvPr/>
        </p:nvSpPr>
        <p:spPr>
          <a:xfrm>
            <a:off x="161670" y="4986776"/>
            <a:ext cx="9245992" cy="1408975"/>
          </a:xfrm>
          <a:prstGeom prst="rect">
            <a:avLst/>
          </a:prstGeom>
        </p:spPr>
        <p:txBody>
          <a:bodyPr wrap="square">
            <a:spAutoFit/>
          </a:bodyPr>
          <a:lstStyle/>
          <a:p>
            <a:pPr algn="just">
              <a:lnSpc>
                <a:spcPct val="90000"/>
              </a:lnSpc>
              <a:spcAft>
                <a:spcPts val="600"/>
              </a:spcAft>
            </a:pPr>
            <a:r>
              <a:rPr lang="en-GB" sz="2800" dirty="0">
                <a:solidFill>
                  <a:srgbClr val="002060"/>
                </a:solidFill>
                <a:latin typeface="Times New Roman" panose="02020603050405020304" pitchFamily="18" charset="0"/>
                <a:ea typeface="Times New Roman" panose="02020603050405020304" pitchFamily="18" charset="0"/>
              </a:rPr>
              <a:t>With pure capacitors, active power is unchanged at P</a:t>
            </a:r>
            <a:r>
              <a:rPr lang="en-GB" sz="2800" baseline="-25000" dirty="0">
                <a:solidFill>
                  <a:srgbClr val="002060"/>
                </a:solidFill>
                <a:latin typeface="Times New Roman" panose="02020603050405020304" pitchFamily="18" charset="0"/>
                <a:ea typeface="Times New Roman" panose="02020603050405020304" pitchFamily="18" charset="0"/>
              </a:rPr>
              <a:t>1</a:t>
            </a:r>
            <a:r>
              <a:rPr lang="en-GB" sz="2800" dirty="0">
                <a:solidFill>
                  <a:srgbClr val="002060"/>
                </a:solidFill>
                <a:latin typeface="Times New Roman" panose="02020603050405020304" pitchFamily="18" charset="0"/>
                <a:ea typeface="Times New Roman" panose="02020603050405020304" pitchFamily="18" charset="0"/>
              </a:rPr>
              <a:t>, assuming supply voltage remains unchanged.</a:t>
            </a:r>
            <a:endParaRPr lang="en-GB" sz="2800" b="1" i="1" dirty="0">
              <a:latin typeface="Times New Roman" panose="02020603050405020304" pitchFamily="18" charset="0"/>
              <a:ea typeface="Times New Roman" panose="02020603050405020304" pitchFamily="18" charset="0"/>
            </a:endParaRPr>
          </a:p>
          <a:p>
            <a:pPr>
              <a:lnSpc>
                <a:spcPct val="115000"/>
              </a:lnSpc>
              <a:spcAft>
                <a:spcPts val="600"/>
              </a:spcAf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Thus new reactive power Q</a:t>
            </a:r>
            <a:r>
              <a:rPr lang="en-GB" sz="28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Q</a:t>
            </a:r>
            <a:r>
              <a:rPr lang="en-GB" sz="28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Q</a:t>
            </a:r>
            <a:r>
              <a:rPr lang="en-GB" sz="28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8" name="Group 27">
            <a:extLst>
              <a:ext uri="{FF2B5EF4-FFF2-40B4-BE49-F238E27FC236}">
                <a16:creationId xmlns:a16="http://schemas.microsoft.com/office/drawing/2014/main" id="{60CDF44F-F1D8-4A88-BDD5-08B0159A0325}"/>
              </a:ext>
            </a:extLst>
          </p:cNvPr>
          <p:cNvGrpSpPr>
            <a:grpSpLocks/>
          </p:cNvGrpSpPr>
          <p:nvPr/>
        </p:nvGrpSpPr>
        <p:grpSpPr bwMode="auto">
          <a:xfrm>
            <a:off x="8475979" y="2854665"/>
            <a:ext cx="3524762" cy="2133305"/>
            <a:chOff x="8576" y="6098"/>
            <a:chExt cx="1987" cy="1425"/>
          </a:xfrm>
        </p:grpSpPr>
        <p:cxnSp>
          <p:nvCxnSpPr>
            <p:cNvPr id="29" name="Line 983">
              <a:extLst>
                <a:ext uri="{FF2B5EF4-FFF2-40B4-BE49-F238E27FC236}">
                  <a16:creationId xmlns:a16="http://schemas.microsoft.com/office/drawing/2014/main" id="{72439441-8941-4A0F-82BE-476E4AB561F9}"/>
                </a:ext>
              </a:extLst>
            </p:cNvPr>
            <p:cNvCxnSpPr>
              <a:cxnSpLocks noChangeShapeType="1"/>
            </p:cNvCxnSpPr>
            <p:nvPr/>
          </p:nvCxnSpPr>
          <p:spPr bwMode="auto">
            <a:xfrm>
              <a:off x="8576" y="6458"/>
              <a:ext cx="1582"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30" name="Line 984">
              <a:extLst>
                <a:ext uri="{FF2B5EF4-FFF2-40B4-BE49-F238E27FC236}">
                  <a16:creationId xmlns:a16="http://schemas.microsoft.com/office/drawing/2014/main" id="{341F115F-2FF3-46C7-AD29-BD38DF71041B}"/>
                </a:ext>
              </a:extLst>
            </p:cNvPr>
            <p:cNvCxnSpPr>
              <a:cxnSpLocks noChangeShapeType="1"/>
            </p:cNvCxnSpPr>
            <p:nvPr/>
          </p:nvCxnSpPr>
          <p:spPr bwMode="auto">
            <a:xfrm>
              <a:off x="10158" y="6458"/>
              <a:ext cx="0" cy="90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31" name="Line 985">
              <a:extLst>
                <a:ext uri="{FF2B5EF4-FFF2-40B4-BE49-F238E27FC236}">
                  <a16:creationId xmlns:a16="http://schemas.microsoft.com/office/drawing/2014/main" id="{9F5A5413-106D-4E53-985A-A1C31198BAF0}"/>
                </a:ext>
              </a:extLst>
            </p:cNvPr>
            <p:cNvCxnSpPr>
              <a:cxnSpLocks noChangeShapeType="1"/>
            </p:cNvCxnSpPr>
            <p:nvPr/>
          </p:nvCxnSpPr>
          <p:spPr bwMode="auto">
            <a:xfrm>
              <a:off x="8576" y="6458"/>
              <a:ext cx="1582" cy="900"/>
            </a:xfrm>
            <a:prstGeom prst="line">
              <a:avLst/>
            </a:prstGeom>
            <a:noFill/>
            <a:ln w="28575">
              <a:solidFill>
                <a:srgbClr val="9A0034"/>
              </a:solidFill>
              <a:round/>
              <a:headEnd/>
              <a:tailEnd type="arrow" w="med" len="med"/>
            </a:ln>
            <a:extLst>
              <a:ext uri="{909E8E84-426E-40DD-AFC4-6F175D3DCCD1}">
                <a14:hiddenFill xmlns:a14="http://schemas.microsoft.com/office/drawing/2010/main">
                  <a:noFill/>
                </a14:hiddenFill>
              </a:ext>
            </a:extLst>
          </p:spPr>
        </p:cxnSp>
        <p:sp>
          <p:nvSpPr>
            <p:cNvPr id="32" name="Text Box 986">
              <a:extLst>
                <a:ext uri="{FF2B5EF4-FFF2-40B4-BE49-F238E27FC236}">
                  <a16:creationId xmlns:a16="http://schemas.microsoft.com/office/drawing/2014/main" id="{FC3CDEDE-DC1D-484F-AAB3-BB11729074ED}"/>
                </a:ext>
              </a:extLst>
            </p:cNvPr>
            <p:cNvSpPr txBox="1">
              <a:spLocks noChangeArrowheads="1"/>
            </p:cNvSpPr>
            <p:nvPr/>
          </p:nvSpPr>
          <p:spPr bwMode="auto">
            <a:xfrm>
              <a:off x="9702" y="60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987">
              <a:extLst>
                <a:ext uri="{FF2B5EF4-FFF2-40B4-BE49-F238E27FC236}">
                  <a16:creationId xmlns:a16="http://schemas.microsoft.com/office/drawing/2014/main" id="{650A9F31-8690-4500-AE64-A1411B8C839E}"/>
                </a:ext>
              </a:extLst>
            </p:cNvPr>
            <p:cNvSpPr txBox="1">
              <a:spLocks noChangeArrowheads="1"/>
            </p:cNvSpPr>
            <p:nvPr/>
          </p:nvSpPr>
          <p:spPr bwMode="auto">
            <a:xfrm>
              <a:off x="10253" y="7163"/>
              <a:ext cx="3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Arc 988">
              <a:extLst>
                <a:ext uri="{FF2B5EF4-FFF2-40B4-BE49-F238E27FC236}">
                  <a16:creationId xmlns:a16="http://schemas.microsoft.com/office/drawing/2014/main" id="{7820B01A-4AFA-4EBD-98A2-0BBB41879F58}"/>
                </a:ext>
              </a:extLst>
            </p:cNvPr>
            <p:cNvSpPr>
              <a:spLocks noChangeAspect="1"/>
            </p:cNvSpPr>
            <p:nvPr/>
          </p:nvSpPr>
          <p:spPr bwMode="auto">
            <a:xfrm>
              <a:off x="8928" y="6458"/>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5" name="Text Box 989">
              <a:extLst>
                <a:ext uri="{FF2B5EF4-FFF2-40B4-BE49-F238E27FC236}">
                  <a16:creationId xmlns:a16="http://schemas.microsoft.com/office/drawing/2014/main" id="{03C701FA-7FDC-46F2-8365-8367B672DA7B}"/>
                </a:ext>
              </a:extLst>
            </p:cNvPr>
            <p:cNvSpPr txBox="1">
              <a:spLocks noChangeArrowheads="1"/>
            </p:cNvSpPr>
            <p:nvPr/>
          </p:nvSpPr>
          <p:spPr bwMode="auto">
            <a:xfrm>
              <a:off x="9098" y="635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36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 Box 990">
              <a:extLst>
                <a:ext uri="{FF2B5EF4-FFF2-40B4-BE49-F238E27FC236}">
                  <a16:creationId xmlns:a16="http://schemas.microsoft.com/office/drawing/2014/main" id="{8D64AD45-8987-4CBA-99FB-EE1FC89C7D12}"/>
                </a:ext>
              </a:extLst>
            </p:cNvPr>
            <p:cNvSpPr txBox="1">
              <a:spLocks noChangeArrowheads="1"/>
            </p:cNvSpPr>
            <p:nvPr/>
          </p:nvSpPr>
          <p:spPr bwMode="auto">
            <a:xfrm>
              <a:off x="10253" y="6818"/>
              <a:ext cx="3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9A0034"/>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dirty="0">
                  <a:solidFill>
                    <a:srgbClr val="9A0034"/>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7" name="Line 991">
              <a:extLst>
                <a:ext uri="{FF2B5EF4-FFF2-40B4-BE49-F238E27FC236}">
                  <a16:creationId xmlns:a16="http://schemas.microsoft.com/office/drawing/2014/main" id="{CA39E88B-71D5-4E28-B038-6CA5858CC67C}"/>
                </a:ext>
              </a:extLst>
            </p:cNvPr>
            <p:cNvCxnSpPr>
              <a:cxnSpLocks noChangeShapeType="1"/>
            </p:cNvCxnSpPr>
            <p:nvPr/>
          </p:nvCxnSpPr>
          <p:spPr bwMode="auto">
            <a:xfrm flipV="1">
              <a:off x="10187" y="6818"/>
              <a:ext cx="0" cy="540"/>
            </a:xfrm>
            <a:prstGeom prst="line">
              <a:avLst/>
            </a:prstGeom>
            <a:noFill/>
            <a:ln w="28575">
              <a:solidFill>
                <a:srgbClr val="9A0034"/>
              </a:solidFill>
              <a:round/>
              <a:headEnd/>
              <a:tailEnd type="arrow" w="med" len="med"/>
            </a:ln>
            <a:extLst>
              <a:ext uri="{909E8E84-426E-40DD-AFC4-6F175D3DCCD1}">
                <a14:hiddenFill xmlns:a14="http://schemas.microsoft.com/office/drawing/2010/main">
                  <a:noFill/>
                </a14:hiddenFill>
              </a:ext>
            </a:extLst>
          </p:spPr>
        </p:cxnSp>
        <p:cxnSp>
          <p:nvCxnSpPr>
            <p:cNvPr id="38" name="Line 992">
              <a:extLst>
                <a:ext uri="{FF2B5EF4-FFF2-40B4-BE49-F238E27FC236}">
                  <a16:creationId xmlns:a16="http://schemas.microsoft.com/office/drawing/2014/main" id="{CD896B22-C7E7-4916-B010-C34B6100DF71}"/>
                </a:ext>
              </a:extLst>
            </p:cNvPr>
            <p:cNvCxnSpPr>
              <a:cxnSpLocks noChangeShapeType="1"/>
            </p:cNvCxnSpPr>
            <p:nvPr/>
          </p:nvCxnSpPr>
          <p:spPr bwMode="auto">
            <a:xfrm>
              <a:off x="10187" y="6458"/>
              <a:ext cx="0" cy="360"/>
            </a:xfrm>
            <a:prstGeom prst="line">
              <a:avLst/>
            </a:prstGeom>
            <a:noFill/>
            <a:ln w="28575">
              <a:solidFill>
                <a:srgbClr val="00B0F0"/>
              </a:solidFill>
              <a:round/>
              <a:headEnd/>
              <a:tailEnd type="triangle" w="med" len="med"/>
            </a:ln>
            <a:extLst>
              <a:ext uri="{909E8E84-426E-40DD-AFC4-6F175D3DCCD1}">
                <a14:hiddenFill xmlns:a14="http://schemas.microsoft.com/office/drawing/2010/main">
                  <a:noFill/>
                </a14:hiddenFill>
              </a:ext>
            </a:extLst>
          </p:spPr>
        </p:cxnSp>
        <p:cxnSp>
          <p:nvCxnSpPr>
            <p:cNvPr id="39" name="Line 993">
              <a:extLst>
                <a:ext uri="{FF2B5EF4-FFF2-40B4-BE49-F238E27FC236}">
                  <a16:creationId xmlns:a16="http://schemas.microsoft.com/office/drawing/2014/main" id="{B160CFAB-F03D-4ADE-A64A-5E2D11C1FA0C}"/>
                </a:ext>
              </a:extLst>
            </p:cNvPr>
            <p:cNvCxnSpPr>
              <a:cxnSpLocks noChangeShapeType="1"/>
            </p:cNvCxnSpPr>
            <p:nvPr/>
          </p:nvCxnSpPr>
          <p:spPr bwMode="auto">
            <a:xfrm>
              <a:off x="8588" y="6458"/>
              <a:ext cx="1570" cy="360"/>
            </a:xfrm>
            <a:prstGeom prst="line">
              <a:avLst/>
            </a:prstGeom>
            <a:noFill/>
            <a:ln w="28575">
              <a:solidFill>
                <a:srgbClr val="00B0F0"/>
              </a:solidFill>
              <a:round/>
              <a:headEnd/>
              <a:tailEnd type="triangle" w="med" len="med"/>
            </a:ln>
            <a:extLst>
              <a:ext uri="{909E8E84-426E-40DD-AFC4-6F175D3DCCD1}">
                <a14:hiddenFill xmlns:a14="http://schemas.microsoft.com/office/drawing/2010/main">
                  <a:noFill/>
                </a14:hiddenFill>
              </a:ext>
            </a:extLst>
          </p:spPr>
        </p:cxnSp>
        <p:sp>
          <p:nvSpPr>
            <p:cNvPr id="40" name="Text Box 994">
              <a:extLst>
                <a:ext uri="{FF2B5EF4-FFF2-40B4-BE49-F238E27FC236}">
                  <a16:creationId xmlns:a16="http://schemas.microsoft.com/office/drawing/2014/main" id="{43A00984-1700-45A0-A832-C5FA2C3806EC}"/>
                </a:ext>
              </a:extLst>
            </p:cNvPr>
            <p:cNvSpPr txBox="1">
              <a:spLocks noChangeArrowheads="1"/>
            </p:cNvSpPr>
            <p:nvPr/>
          </p:nvSpPr>
          <p:spPr bwMode="auto">
            <a:xfrm>
              <a:off x="10253" y="6488"/>
              <a:ext cx="3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Text Box 995">
              <a:extLst>
                <a:ext uri="{FF2B5EF4-FFF2-40B4-BE49-F238E27FC236}">
                  <a16:creationId xmlns:a16="http://schemas.microsoft.com/office/drawing/2014/main" id="{1BE1DBAD-A4F0-4ED1-8438-30B111924818}"/>
                </a:ext>
              </a:extLst>
            </p:cNvPr>
            <p:cNvSpPr txBox="1">
              <a:spLocks noChangeArrowheads="1"/>
            </p:cNvSpPr>
            <p:nvPr/>
          </p:nvSpPr>
          <p:spPr bwMode="auto">
            <a:xfrm>
              <a:off x="9503" y="63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B0F0"/>
                  </a:solidFill>
                  <a:effectLst/>
                  <a:latin typeface="Symbol" panose="05050102010706020507" pitchFamily="18" charset="2"/>
                  <a:ea typeface="Calibri" panose="020F0502020204030204" pitchFamily="34" charset="0"/>
                  <a:cs typeface="Times New Roman" panose="02020603050405020304" pitchFamily="18" charset="0"/>
                </a:rPr>
                <a:t>f</a:t>
              </a:r>
              <a:r>
                <a:rPr lang="en-GB" sz="3600" baseline="-250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297372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US" dirty="0"/>
              <a:t>Calculation of required capacitor for correct power factor</a:t>
            </a:r>
            <a:endParaRPr lang="en-GB" dirty="0"/>
          </a:p>
        </p:txBody>
      </p:sp>
      <p:sp>
        <p:nvSpPr>
          <p:cNvPr id="3" name="Rectangle 2">
            <a:extLst>
              <a:ext uri="{FF2B5EF4-FFF2-40B4-BE49-F238E27FC236}">
                <a16:creationId xmlns:a16="http://schemas.microsoft.com/office/drawing/2014/main" id="{A7C93153-7C58-4755-B678-8F27C152010C}"/>
              </a:ext>
            </a:extLst>
          </p:cNvPr>
          <p:cNvSpPr/>
          <p:nvPr/>
        </p:nvSpPr>
        <p:spPr>
          <a:xfrm>
            <a:off x="421996" y="1060166"/>
            <a:ext cx="9124759" cy="4911088"/>
          </a:xfrm>
          <a:prstGeom prst="rect">
            <a:avLst/>
          </a:prstGeom>
        </p:spPr>
        <p:txBody>
          <a:bodyPr wrap="square">
            <a:spAutoFit/>
          </a:bodyPr>
          <a:lstStyle/>
          <a:p>
            <a:pPr>
              <a:lnSpc>
                <a:spcPct val="115000"/>
              </a:lnSpc>
              <a:spcAft>
                <a:spcPts val="6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What is known is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cos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cos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tabLst>
                <a:tab pos="1485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Thus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tabLst>
                <a:tab pos="1485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so that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Reactive power supplied by a capacitor is dependant on its capacitance C and its voltage V.  </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tabLst>
                <a:tab pos="14859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Thus	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P</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tan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f</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V</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 = V</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w</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The rating of the capacitor can be given as Q</a:t>
            </a:r>
            <a:r>
              <a:rPr lang="en-GB" sz="3200" baseline="-25000" dirty="0">
                <a:solidFill>
                  <a:srgbClr val="002060"/>
                </a:solidFill>
                <a:latin typeface="Times New Roman" panose="02020603050405020304" pitchFamily="18" charset="0"/>
                <a:ea typeface="Calibri" panose="020F0502020204030204" pitchFamily="34" charset="0"/>
              </a:rPr>
              <a:t>c</a:t>
            </a:r>
            <a:endParaRPr lang="en-GB" sz="3200" dirty="0">
              <a:solidFill>
                <a:srgbClr val="002060"/>
              </a:solidFill>
              <a:latin typeface="Times New Roman" panose="02020603050405020304" pitchFamily="18" charset="0"/>
              <a:ea typeface="Calibri" panose="020F0502020204030204" pitchFamily="34" charset="0"/>
            </a:endParaRPr>
          </a:p>
          <a:p>
            <a:r>
              <a:rPr lang="en-GB" sz="3200" dirty="0">
                <a:solidFill>
                  <a:srgbClr val="002060"/>
                </a:solidFill>
                <a:latin typeface="Times New Roman" panose="02020603050405020304" pitchFamily="18" charset="0"/>
                <a:ea typeface="Calibri" panose="020F0502020204030204" pitchFamily="34" charset="0"/>
              </a:rPr>
              <a:t>Or the value of C can be determined from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V</a:t>
            </a:r>
            <a:r>
              <a:rPr lang="en-GB" sz="32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w =</a:t>
            </a:r>
            <a:r>
              <a:rPr lang="en-GB" sz="3200" dirty="0">
                <a:latin typeface="Calibri" panose="020F0502020204030204" pitchFamily="34" charset="0"/>
                <a:ea typeface="Calibri" panose="020F0502020204030204" pitchFamily="34" charset="0"/>
                <a:cs typeface="Times New Roman" panose="02020603050405020304" pitchFamily="18" charset="0"/>
              </a:rPr>
              <a:t> </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Q</a:t>
            </a:r>
            <a:r>
              <a:rPr lang="en-GB" sz="32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a:t>
            </a:r>
            <a:endParaRPr lang="en-GB" sz="3200" dirty="0"/>
          </a:p>
        </p:txBody>
      </p:sp>
      <p:grpSp>
        <p:nvGrpSpPr>
          <p:cNvPr id="4" name="Group 3">
            <a:extLst>
              <a:ext uri="{FF2B5EF4-FFF2-40B4-BE49-F238E27FC236}">
                <a16:creationId xmlns:a16="http://schemas.microsoft.com/office/drawing/2014/main" id="{6CCF6704-B4B5-43DC-9EF4-D22CDD04F92C}"/>
              </a:ext>
            </a:extLst>
          </p:cNvPr>
          <p:cNvGrpSpPr>
            <a:grpSpLocks/>
          </p:cNvGrpSpPr>
          <p:nvPr/>
        </p:nvGrpSpPr>
        <p:grpSpPr bwMode="auto">
          <a:xfrm>
            <a:off x="8027946" y="1295695"/>
            <a:ext cx="3857625" cy="2133305"/>
            <a:chOff x="8576" y="6098"/>
            <a:chExt cx="2037" cy="1425"/>
          </a:xfrm>
        </p:grpSpPr>
        <p:cxnSp>
          <p:nvCxnSpPr>
            <p:cNvPr id="5" name="Line 983">
              <a:extLst>
                <a:ext uri="{FF2B5EF4-FFF2-40B4-BE49-F238E27FC236}">
                  <a16:creationId xmlns:a16="http://schemas.microsoft.com/office/drawing/2014/main" id="{A4D9B5BB-816B-4231-9E06-479A50357DA0}"/>
                </a:ext>
              </a:extLst>
            </p:cNvPr>
            <p:cNvCxnSpPr>
              <a:cxnSpLocks noChangeShapeType="1"/>
            </p:cNvCxnSpPr>
            <p:nvPr/>
          </p:nvCxnSpPr>
          <p:spPr bwMode="auto">
            <a:xfrm>
              <a:off x="8576" y="6458"/>
              <a:ext cx="1582"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6" name="Line 984">
              <a:extLst>
                <a:ext uri="{FF2B5EF4-FFF2-40B4-BE49-F238E27FC236}">
                  <a16:creationId xmlns:a16="http://schemas.microsoft.com/office/drawing/2014/main" id="{0BDCB750-E16E-401C-8535-9CCCCC2E98B3}"/>
                </a:ext>
              </a:extLst>
            </p:cNvPr>
            <p:cNvCxnSpPr>
              <a:cxnSpLocks noChangeShapeType="1"/>
            </p:cNvCxnSpPr>
            <p:nvPr/>
          </p:nvCxnSpPr>
          <p:spPr bwMode="auto">
            <a:xfrm>
              <a:off x="10158" y="6458"/>
              <a:ext cx="0" cy="90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985">
              <a:extLst>
                <a:ext uri="{FF2B5EF4-FFF2-40B4-BE49-F238E27FC236}">
                  <a16:creationId xmlns:a16="http://schemas.microsoft.com/office/drawing/2014/main" id="{89940A5D-6BA2-425F-ADB1-6EF9FBD1E1CA}"/>
                </a:ext>
              </a:extLst>
            </p:cNvPr>
            <p:cNvCxnSpPr>
              <a:cxnSpLocks noChangeShapeType="1"/>
            </p:cNvCxnSpPr>
            <p:nvPr/>
          </p:nvCxnSpPr>
          <p:spPr bwMode="auto">
            <a:xfrm>
              <a:off x="8576" y="6458"/>
              <a:ext cx="1582" cy="900"/>
            </a:xfrm>
            <a:prstGeom prst="line">
              <a:avLst/>
            </a:prstGeom>
            <a:noFill/>
            <a:ln w="28575">
              <a:solidFill>
                <a:srgbClr val="9A0034"/>
              </a:solidFill>
              <a:round/>
              <a:headEnd/>
              <a:tailEnd type="arrow" w="med" len="med"/>
            </a:ln>
            <a:extLst>
              <a:ext uri="{909E8E84-426E-40DD-AFC4-6F175D3DCCD1}">
                <a14:hiddenFill xmlns:a14="http://schemas.microsoft.com/office/drawing/2010/main">
                  <a:noFill/>
                </a14:hiddenFill>
              </a:ext>
            </a:extLst>
          </p:spPr>
        </p:cxnSp>
        <p:sp>
          <p:nvSpPr>
            <p:cNvPr id="8" name="Text Box 986">
              <a:extLst>
                <a:ext uri="{FF2B5EF4-FFF2-40B4-BE49-F238E27FC236}">
                  <a16:creationId xmlns:a16="http://schemas.microsoft.com/office/drawing/2014/main" id="{B77EFC61-459A-4D3F-B1ED-031073A738D7}"/>
                </a:ext>
              </a:extLst>
            </p:cNvPr>
            <p:cNvSpPr txBox="1">
              <a:spLocks noChangeArrowheads="1"/>
            </p:cNvSpPr>
            <p:nvPr/>
          </p:nvSpPr>
          <p:spPr bwMode="auto">
            <a:xfrm>
              <a:off x="9702" y="60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987">
              <a:extLst>
                <a:ext uri="{FF2B5EF4-FFF2-40B4-BE49-F238E27FC236}">
                  <a16:creationId xmlns:a16="http://schemas.microsoft.com/office/drawing/2014/main" id="{ABF0B443-9034-4DBC-8FC9-B161E642A666}"/>
                </a:ext>
              </a:extLst>
            </p:cNvPr>
            <p:cNvSpPr txBox="1">
              <a:spLocks noChangeArrowheads="1"/>
            </p:cNvSpPr>
            <p:nvPr/>
          </p:nvSpPr>
          <p:spPr bwMode="auto">
            <a:xfrm>
              <a:off x="10253" y="716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Arc 988">
              <a:extLst>
                <a:ext uri="{FF2B5EF4-FFF2-40B4-BE49-F238E27FC236}">
                  <a16:creationId xmlns:a16="http://schemas.microsoft.com/office/drawing/2014/main" id="{B62EBD9B-1DFB-41F8-9B42-28044210DCBE}"/>
                </a:ext>
              </a:extLst>
            </p:cNvPr>
            <p:cNvSpPr>
              <a:spLocks noChangeAspect="1"/>
            </p:cNvSpPr>
            <p:nvPr/>
          </p:nvSpPr>
          <p:spPr bwMode="auto">
            <a:xfrm>
              <a:off x="8928" y="6458"/>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1" name="Text Box 989">
              <a:extLst>
                <a:ext uri="{FF2B5EF4-FFF2-40B4-BE49-F238E27FC236}">
                  <a16:creationId xmlns:a16="http://schemas.microsoft.com/office/drawing/2014/main" id="{DABEB1EC-F942-4747-A191-ACA02A30B37B}"/>
                </a:ext>
              </a:extLst>
            </p:cNvPr>
            <p:cNvSpPr txBox="1">
              <a:spLocks noChangeArrowheads="1"/>
            </p:cNvSpPr>
            <p:nvPr/>
          </p:nvSpPr>
          <p:spPr bwMode="auto">
            <a:xfrm>
              <a:off x="9098" y="635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f</a:t>
              </a:r>
              <a:r>
                <a:rPr lang="en-GB" sz="36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990">
              <a:extLst>
                <a:ext uri="{FF2B5EF4-FFF2-40B4-BE49-F238E27FC236}">
                  <a16:creationId xmlns:a16="http://schemas.microsoft.com/office/drawing/2014/main" id="{9E42E809-FBDE-4F4E-A8B4-6CDFC7D0D6CE}"/>
                </a:ext>
              </a:extLst>
            </p:cNvPr>
            <p:cNvSpPr txBox="1">
              <a:spLocks noChangeArrowheads="1"/>
            </p:cNvSpPr>
            <p:nvPr/>
          </p:nvSpPr>
          <p:spPr bwMode="auto">
            <a:xfrm>
              <a:off x="10253" y="681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solidFill>
                    <a:srgbClr val="9A0034"/>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a:solidFill>
                    <a:srgbClr val="9A0034"/>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Line 991">
              <a:extLst>
                <a:ext uri="{FF2B5EF4-FFF2-40B4-BE49-F238E27FC236}">
                  <a16:creationId xmlns:a16="http://schemas.microsoft.com/office/drawing/2014/main" id="{80F97636-DA0A-4624-AD5C-03A83622EF56}"/>
                </a:ext>
              </a:extLst>
            </p:cNvPr>
            <p:cNvCxnSpPr>
              <a:cxnSpLocks noChangeShapeType="1"/>
            </p:cNvCxnSpPr>
            <p:nvPr/>
          </p:nvCxnSpPr>
          <p:spPr bwMode="auto">
            <a:xfrm flipV="1">
              <a:off x="10187" y="6818"/>
              <a:ext cx="0" cy="540"/>
            </a:xfrm>
            <a:prstGeom prst="line">
              <a:avLst/>
            </a:prstGeom>
            <a:noFill/>
            <a:ln w="28575">
              <a:solidFill>
                <a:srgbClr val="9A0034"/>
              </a:solidFill>
              <a:round/>
              <a:headEnd/>
              <a:tailEnd type="arrow" w="med" len="med"/>
            </a:ln>
            <a:extLst>
              <a:ext uri="{909E8E84-426E-40DD-AFC4-6F175D3DCCD1}">
                <a14:hiddenFill xmlns:a14="http://schemas.microsoft.com/office/drawing/2010/main">
                  <a:noFill/>
                </a14:hiddenFill>
              </a:ext>
            </a:extLst>
          </p:spPr>
        </p:cxnSp>
        <p:cxnSp>
          <p:nvCxnSpPr>
            <p:cNvPr id="14" name="Line 992">
              <a:extLst>
                <a:ext uri="{FF2B5EF4-FFF2-40B4-BE49-F238E27FC236}">
                  <a16:creationId xmlns:a16="http://schemas.microsoft.com/office/drawing/2014/main" id="{D4E83235-F229-4D6F-B452-0FCAEDF8446B}"/>
                </a:ext>
              </a:extLst>
            </p:cNvPr>
            <p:cNvCxnSpPr>
              <a:cxnSpLocks noChangeShapeType="1"/>
            </p:cNvCxnSpPr>
            <p:nvPr/>
          </p:nvCxnSpPr>
          <p:spPr bwMode="auto">
            <a:xfrm>
              <a:off x="10187" y="6458"/>
              <a:ext cx="0" cy="360"/>
            </a:xfrm>
            <a:prstGeom prst="line">
              <a:avLst/>
            </a:prstGeom>
            <a:noFill/>
            <a:ln w="28575">
              <a:solidFill>
                <a:srgbClr val="00B0F0"/>
              </a:solidFill>
              <a:round/>
              <a:headEnd/>
              <a:tailEnd type="triangle" w="med" len="med"/>
            </a:ln>
            <a:extLst>
              <a:ext uri="{909E8E84-426E-40DD-AFC4-6F175D3DCCD1}">
                <a14:hiddenFill xmlns:a14="http://schemas.microsoft.com/office/drawing/2010/main">
                  <a:noFill/>
                </a14:hiddenFill>
              </a:ext>
            </a:extLst>
          </p:spPr>
        </p:cxnSp>
        <p:cxnSp>
          <p:nvCxnSpPr>
            <p:cNvPr id="15" name="Line 993">
              <a:extLst>
                <a:ext uri="{FF2B5EF4-FFF2-40B4-BE49-F238E27FC236}">
                  <a16:creationId xmlns:a16="http://schemas.microsoft.com/office/drawing/2014/main" id="{2F61469C-5E5A-4964-A4BF-7E4252340CD8}"/>
                </a:ext>
              </a:extLst>
            </p:cNvPr>
            <p:cNvCxnSpPr>
              <a:cxnSpLocks noChangeShapeType="1"/>
            </p:cNvCxnSpPr>
            <p:nvPr/>
          </p:nvCxnSpPr>
          <p:spPr bwMode="auto">
            <a:xfrm>
              <a:off x="8588" y="6458"/>
              <a:ext cx="1570" cy="360"/>
            </a:xfrm>
            <a:prstGeom prst="line">
              <a:avLst/>
            </a:prstGeom>
            <a:noFill/>
            <a:ln w="28575">
              <a:solidFill>
                <a:srgbClr val="00B0F0"/>
              </a:solidFill>
              <a:round/>
              <a:headEnd/>
              <a:tailEnd type="triangle" w="med" len="med"/>
            </a:ln>
            <a:extLst>
              <a:ext uri="{909E8E84-426E-40DD-AFC4-6F175D3DCCD1}">
                <a14:hiddenFill xmlns:a14="http://schemas.microsoft.com/office/drawing/2010/main">
                  <a:noFill/>
                </a14:hiddenFill>
              </a:ext>
            </a:extLst>
          </p:spPr>
        </p:cxnSp>
        <p:sp>
          <p:nvSpPr>
            <p:cNvPr id="16" name="Text Box 994">
              <a:extLst>
                <a:ext uri="{FF2B5EF4-FFF2-40B4-BE49-F238E27FC236}">
                  <a16:creationId xmlns:a16="http://schemas.microsoft.com/office/drawing/2014/main" id="{A3373B26-F8B7-48CF-8D0F-1BD185EFD731}"/>
                </a:ext>
              </a:extLst>
            </p:cNvPr>
            <p:cNvSpPr txBox="1">
              <a:spLocks noChangeArrowheads="1"/>
            </p:cNvSpPr>
            <p:nvPr/>
          </p:nvSpPr>
          <p:spPr bwMode="auto">
            <a:xfrm>
              <a:off x="10253" y="648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Q</a:t>
              </a:r>
              <a:r>
                <a:rPr lang="en-GB" sz="3600" baseline="-250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 Box 995">
              <a:extLst>
                <a:ext uri="{FF2B5EF4-FFF2-40B4-BE49-F238E27FC236}">
                  <a16:creationId xmlns:a16="http://schemas.microsoft.com/office/drawing/2014/main" id="{A3C13819-7CEA-4872-BC5A-E70FAD0A9B2F}"/>
                </a:ext>
              </a:extLst>
            </p:cNvPr>
            <p:cNvSpPr txBox="1">
              <a:spLocks noChangeArrowheads="1"/>
            </p:cNvSpPr>
            <p:nvPr/>
          </p:nvSpPr>
          <p:spPr bwMode="auto">
            <a:xfrm>
              <a:off x="9503" y="63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9A0034"/>
                  </a:solidFill>
                  <a:miter lim="800000"/>
                  <a:headEnd/>
                  <a:tailEnd/>
                </a14:hiddenLine>
              </a:ext>
            </a:extLst>
          </p:spPr>
          <p:txBody>
            <a:bodyPr rot="0" vert="horz" wrap="square" lIns="18000" tIns="10800" rIns="18000" bIns="10800" anchor="t" anchorCtr="0" upright="1">
              <a:noAutofit/>
            </a:bodyPr>
            <a:lstStyle/>
            <a:p>
              <a:pPr marL="0" marR="0">
                <a:lnSpc>
                  <a:spcPct val="115000"/>
                </a:lnSpc>
                <a:spcBef>
                  <a:spcPts val="0"/>
                </a:spcBef>
                <a:spcAft>
                  <a:spcPts val="1000"/>
                </a:spcAft>
              </a:pPr>
              <a:r>
                <a:rPr lang="en-GB" sz="3600" dirty="0">
                  <a:solidFill>
                    <a:srgbClr val="00B0F0"/>
                  </a:solidFill>
                  <a:effectLst/>
                  <a:latin typeface="Symbol" panose="05050102010706020507" pitchFamily="18" charset="2"/>
                  <a:ea typeface="Calibri" panose="020F0502020204030204" pitchFamily="34" charset="0"/>
                  <a:cs typeface="Times New Roman" panose="02020603050405020304" pitchFamily="18" charset="0"/>
                </a:rPr>
                <a:t>f</a:t>
              </a:r>
              <a:r>
                <a:rPr lang="en-GB" sz="3600" baseline="-250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2</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500789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p:txBody>
          <a:bodyPr>
            <a:normAutofit fontScale="90000"/>
          </a:bodyPr>
          <a:lstStyle/>
          <a:p>
            <a:r>
              <a:rPr lang="en-US" dirty="0"/>
              <a:t>Example on Power factor correction</a:t>
            </a:r>
            <a:endParaRPr lang="en-GB" dirty="0"/>
          </a:p>
        </p:txBody>
      </p:sp>
      <p:sp>
        <p:nvSpPr>
          <p:cNvPr id="3" name="Rectangle 2">
            <a:extLst>
              <a:ext uri="{FF2B5EF4-FFF2-40B4-BE49-F238E27FC236}">
                <a16:creationId xmlns:a16="http://schemas.microsoft.com/office/drawing/2014/main" id="{57CD555A-7B28-4152-A24E-B3182F5E4289}"/>
              </a:ext>
            </a:extLst>
          </p:cNvPr>
          <p:cNvSpPr/>
          <p:nvPr/>
        </p:nvSpPr>
        <p:spPr>
          <a:xfrm>
            <a:off x="168339" y="954511"/>
            <a:ext cx="7105473" cy="5121402"/>
          </a:xfrm>
          <a:prstGeom prst="rect">
            <a:avLst/>
          </a:prstGeom>
        </p:spPr>
        <p:txBody>
          <a:bodyPr wrap="square">
            <a:spAutoFit/>
          </a:bodyPr>
          <a:lstStyle/>
          <a:p>
            <a:pPr algn="just">
              <a:lnSpc>
                <a:spcPct val="115000"/>
              </a:lnSpc>
              <a:spcAft>
                <a:spcPts val="600"/>
              </a:spcAf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 240V, 50Hz supply feeds (</a:t>
            </a:r>
            <a:r>
              <a:rPr lang="en-GB" sz="32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 load of 40 +j 30 </a:t>
            </a:r>
            <a:r>
              <a:rPr lang="en-GB" sz="3200" dirty="0">
                <a:solidFill>
                  <a:srgbClr val="002060"/>
                </a:solidFill>
                <a:latin typeface="Symbol" panose="05050102010706020507" pitchFamily="18" charset="2"/>
                <a:ea typeface="Calibri" panose="020F0502020204030204" pitchFamily="34" charset="0"/>
                <a:cs typeface="Times New Roman" panose="02020603050405020304" pitchFamily="18" charset="0"/>
              </a:rPr>
              <a:t>W</a:t>
            </a: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and (ii) a single phase motor of 2 kW at a power factor of 0.65 lag.</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600"/>
              </a:spcAft>
              <a:tabLst>
                <a:tab pos="685800" algn="l"/>
              </a:tabLst>
            </a:pPr>
            <a:r>
              <a:rPr lang="en-GB" sz="32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	Determine the active power and the reactive power taken by the combination of the two loads.</a:t>
            </a:r>
            <a:endParaRPr lang="en-GB" sz="3200" dirty="0">
              <a:latin typeface="Calibri" panose="020F0502020204030204" pitchFamily="34" charset="0"/>
              <a:ea typeface="Calibri" panose="020F0502020204030204" pitchFamily="34" charset="0"/>
              <a:cs typeface="Times New Roman" panose="02020603050405020304" pitchFamily="18" charset="0"/>
            </a:endParaRPr>
          </a:p>
          <a:p>
            <a:r>
              <a:rPr lang="en-GB" sz="3200" dirty="0">
                <a:solidFill>
                  <a:srgbClr val="002060"/>
                </a:solidFill>
                <a:latin typeface="Times New Roman" panose="02020603050405020304" pitchFamily="18" charset="0"/>
                <a:ea typeface="Calibri" panose="020F0502020204030204" pitchFamily="34" charset="0"/>
              </a:rPr>
              <a:t>(b)	What should be the rating of the capacitance to be added to correct the power factor to 0.95 lag?</a:t>
            </a:r>
            <a:r>
              <a:rPr lang="en-GB" sz="3200" b="1" dirty="0">
                <a:solidFill>
                  <a:srgbClr val="002060"/>
                </a:solidFill>
                <a:latin typeface="Times New Roman" panose="02020603050405020304" pitchFamily="18" charset="0"/>
                <a:ea typeface="Calibri" panose="020F0502020204030204" pitchFamily="34" charset="0"/>
              </a:rPr>
              <a:t> </a:t>
            </a:r>
            <a:endParaRPr lang="en-GB" sz="3200" dirty="0"/>
          </a:p>
        </p:txBody>
      </p:sp>
      <p:grpSp>
        <p:nvGrpSpPr>
          <p:cNvPr id="4" name="Canvas 2068">
            <a:extLst>
              <a:ext uri="{FF2B5EF4-FFF2-40B4-BE49-F238E27FC236}">
                <a16:creationId xmlns:a16="http://schemas.microsoft.com/office/drawing/2014/main" id="{B9468094-DB65-4F9A-82DB-F0D51A70A2D9}"/>
              </a:ext>
            </a:extLst>
          </p:cNvPr>
          <p:cNvGrpSpPr/>
          <p:nvPr/>
        </p:nvGrpSpPr>
        <p:grpSpPr>
          <a:xfrm>
            <a:off x="7716643" y="1392407"/>
            <a:ext cx="4018920" cy="2531745"/>
            <a:chOff x="0" y="197485"/>
            <a:chExt cx="5062220" cy="2531745"/>
          </a:xfrm>
        </p:grpSpPr>
        <p:sp>
          <p:nvSpPr>
            <p:cNvPr id="5" name="Rectangle 4">
              <a:extLst>
                <a:ext uri="{FF2B5EF4-FFF2-40B4-BE49-F238E27FC236}">
                  <a16:creationId xmlns:a16="http://schemas.microsoft.com/office/drawing/2014/main" id="{1FF979DA-0692-45DC-8BC9-29EE73631A18}"/>
                </a:ext>
              </a:extLst>
            </p:cNvPr>
            <p:cNvSpPr>
              <a:spLocks noChangeArrowheads="1"/>
            </p:cNvSpPr>
            <p:nvPr/>
          </p:nvSpPr>
          <p:spPr bwMode="auto">
            <a:xfrm rot="16200000">
              <a:off x="4633595" y="1531620"/>
              <a:ext cx="514350" cy="342900"/>
            </a:xfrm>
            <a:prstGeom prst="rect">
              <a:avLst/>
            </a:prstGeom>
            <a:solidFill>
              <a:srgbClr val="FFFFFF"/>
            </a:solidFill>
            <a:ln w="28575">
              <a:solidFill>
                <a:srgbClr val="C00000"/>
              </a:solidFill>
              <a:miter lim="800000"/>
              <a:headEnd/>
              <a:tailEnd/>
            </a:ln>
          </p:spPr>
          <p:txBody>
            <a:bodyPr rot="0" vert="horz" wrap="square" lIns="91440" tIns="45720" rIns="91440" bIns="45720" anchor="t" anchorCtr="0" upright="1">
              <a:noAutofit/>
            </a:bodyPr>
            <a:lstStyle/>
            <a:p>
              <a:endParaRPr lang="en-GB"/>
            </a:p>
          </p:txBody>
        </p:sp>
        <p:cxnSp>
          <p:nvCxnSpPr>
            <p:cNvPr id="6" name="Line 2071">
              <a:extLst>
                <a:ext uri="{FF2B5EF4-FFF2-40B4-BE49-F238E27FC236}">
                  <a16:creationId xmlns:a16="http://schemas.microsoft.com/office/drawing/2014/main" id="{3C4FF389-E53A-4CB5-AACC-218AA0B14BE3}"/>
                </a:ext>
              </a:extLst>
            </p:cNvPr>
            <p:cNvCxnSpPr>
              <a:cxnSpLocks noChangeShapeType="1"/>
            </p:cNvCxnSpPr>
            <p:nvPr/>
          </p:nvCxnSpPr>
          <p:spPr bwMode="auto">
            <a:xfrm>
              <a:off x="238760" y="200025"/>
              <a:ext cx="1105535" cy="2413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7" name="Line 2072">
              <a:extLst>
                <a:ext uri="{FF2B5EF4-FFF2-40B4-BE49-F238E27FC236}">
                  <a16:creationId xmlns:a16="http://schemas.microsoft.com/office/drawing/2014/main" id="{E1EC7A1D-A1C9-437F-A20B-CDD4E2663969}"/>
                </a:ext>
              </a:extLst>
            </p:cNvPr>
            <p:cNvCxnSpPr>
              <a:cxnSpLocks noChangeShapeType="1"/>
            </p:cNvCxnSpPr>
            <p:nvPr/>
          </p:nvCxnSpPr>
          <p:spPr bwMode="auto">
            <a:xfrm>
              <a:off x="1344295" y="222885"/>
              <a:ext cx="3522980" cy="127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8" name="Line 2073">
              <a:extLst>
                <a:ext uri="{FF2B5EF4-FFF2-40B4-BE49-F238E27FC236}">
                  <a16:creationId xmlns:a16="http://schemas.microsoft.com/office/drawing/2014/main" id="{C26A49BC-381B-42DB-8C7E-B0414D0C16EC}"/>
                </a:ext>
              </a:extLst>
            </p:cNvPr>
            <p:cNvCxnSpPr>
              <a:cxnSpLocks noChangeShapeType="1"/>
            </p:cNvCxnSpPr>
            <p:nvPr/>
          </p:nvCxnSpPr>
          <p:spPr bwMode="auto">
            <a:xfrm flipH="1">
              <a:off x="4868545" y="213360"/>
              <a:ext cx="1270" cy="125603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9" name="Line 2074">
              <a:extLst>
                <a:ext uri="{FF2B5EF4-FFF2-40B4-BE49-F238E27FC236}">
                  <a16:creationId xmlns:a16="http://schemas.microsoft.com/office/drawing/2014/main" id="{159502BE-19A6-40FC-AE17-EC07C80DA78E}"/>
                </a:ext>
              </a:extLst>
            </p:cNvPr>
            <p:cNvCxnSpPr>
              <a:cxnSpLocks noChangeShapeType="1"/>
            </p:cNvCxnSpPr>
            <p:nvPr/>
          </p:nvCxnSpPr>
          <p:spPr bwMode="auto">
            <a:xfrm flipH="1">
              <a:off x="4868545" y="1960245"/>
              <a:ext cx="20955" cy="72009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10" name="Text Box 2075">
              <a:extLst>
                <a:ext uri="{FF2B5EF4-FFF2-40B4-BE49-F238E27FC236}">
                  <a16:creationId xmlns:a16="http://schemas.microsoft.com/office/drawing/2014/main" id="{4728D047-983C-40C6-9A46-B881E44E574C}"/>
                </a:ext>
              </a:extLst>
            </p:cNvPr>
            <p:cNvSpPr txBox="1">
              <a:spLocks noChangeArrowheads="1"/>
            </p:cNvSpPr>
            <p:nvPr/>
          </p:nvSpPr>
          <p:spPr bwMode="auto">
            <a:xfrm>
              <a:off x="3406140" y="1445895"/>
              <a:ext cx="137033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i="1">
                  <a:effectLst/>
                  <a:latin typeface="Calibri" panose="020F0502020204030204" pitchFamily="34" charset="0"/>
                  <a:ea typeface="Calibri" panose="020F0502020204030204" pitchFamily="34" charset="0"/>
                  <a:cs typeface="Times New Roman" panose="02020603050405020304" pitchFamily="18" charset="0"/>
                </a:rPr>
                <a:t>40+j30</a:t>
              </a:r>
              <a:r>
                <a:rPr lang="en-GB" sz="2600" i="1">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1" name="Line 2076">
              <a:extLst>
                <a:ext uri="{FF2B5EF4-FFF2-40B4-BE49-F238E27FC236}">
                  <a16:creationId xmlns:a16="http://schemas.microsoft.com/office/drawing/2014/main" id="{BA2F1697-8727-4C69-9E44-403647D8279D}"/>
                </a:ext>
              </a:extLst>
            </p:cNvPr>
            <p:cNvCxnSpPr>
              <a:cxnSpLocks noChangeShapeType="1"/>
            </p:cNvCxnSpPr>
            <p:nvPr/>
          </p:nvCxnSpPr>
          <p:spPr bwMode="auto">
            <a:xfrm rot="5400000">
              <a:off x="2643505" y="729615"/>
              <a:ext cx="85725" cy="1270"/>
            </a:xfrm>
            <a:prstGeom prst="line">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sp>
          <p:nvSpPr>
            <p:cNvPr id="12" name="Text Box 2077">
              <a:extLst>
                <a:ext uri="{FF2B5EF4-FFF2-40B4-BE49-F238E27FC236}">
                  <a16:creationId xmlns:a16="http://schemas.microsoft.com/office/drawing/2014/main" id="{F465628D-F49A-4FC4-8877-B9FCBA0B85AC}"/>
                </a:ext>
              </a:extLst>
            </p:cNvPr>
            <p:cNvSpPr txBox="1">
              <a:spLocks noChangeArrowheads="1"/>
            </p:cNvSpPr>
            <p:nvPr/>
          </p:nvSpPr>
          <p:spPr bwMode="auto">
            <a:xfrm>
              <a:off x="4201795" y="320675"/>
              <a:ext cx="49403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i="1">
                  <a:effectLst/>
                  <a:latin typeface="Calibri" panose="020F0502020204030204" pitchFamily="34" charset="0"/>
                  <a:ea typeface="Calibri" panose="020F0502020204030204" pitchFamily="34" charset="0"/>
                  <a:cs typeface="Times New Roman" panose="02020603050405020304" pitchFamily="18" charset="0"/>
                </a:rPr>
                <a:t>i</a:t>
              </a:r>
              <a:r>
                <a:rPr lang="en-GB" sz="3600" i="1" baseline="-25000">
                  <a:effectLst/>
                  <a:latin typeface="Calibri" panose="020F0502020204030204" pitchFamily="34" charset="0"/>
                  <a:ea typeface="Calibri" panose="020F0502020204030204" pitchFamily="34" charset="0"/>
                  <a:cs typeface="Times New Roman" panose="02020603050405020304" pitchFamily="18" charset="0"/>
                </a:rPr>
                <a:t>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AutoShape 2078">
              <a:extLst>
                <a:ext uri="{FF2B5EF4-FFF2-40B4-BE49-F238E27FC236}">
                  <a16:creationId xmlns:a16="http://schemas.microsoft.com/office/drawing/2014/main" id="{BE4711D7-7245-44D4-8017-C3F7E84D024F}"/>
                </a:ext>
              </a:extLst>
            </p:cNvPr>
            <p:cNvCxnSpPr>
              <a:cxnSpLocks noChangeShapeType="1"/>
            </p:cNvCxnSpPr>
            <p:nvPr/>
          </p:nvCxnSpPr>
          <p:spPr bwMode="auto">
            <a:xfrm flipV="1">
              <a:off x="2675255" y="2266950"/>
              <a:ext cx="1905" cy="427355"/>
            </a:xfrm>
            <a:prstGeom prst="straightConnector1">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4" name="Line 2079">
              <a:extLst>
                <a:ext uri="{FF2B5EF4-FFF2-40B4-BE49-F238E27FC236}">
                  <a16:creationId xmlns:a16="http://schemas.microsoft.com/office/drawing/2014/main" id="{47E68D47-4753-4B85-A32E-66BF6FCF41C4}"/>
                </a:ext>
              </a:extLst>
            </p:cNvPr>
            <p:cNvCxnSpPr>
              <a:cxnSpLocks noChangeShapeType="1"/>
            </p:cNvCxnSpPr>
            <p:nvPr/>
          </p:nvCxnSpPr>
          <p:spPr bwMode="auto">
            <a:xfrm rot="5400000">
              <a:off x="4824730" y="785495"/>
              <a:ext cx="85725" cy="1270"/>
            </a:xfrm>
            <a:prstGeom prst="line">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cxnSp>
          <p:nvCxnSpPr>
            <p:cNvPr id="15" name="AutoShape 2080">
              <a:extLst>
                <a:ext uri="{FF2B5EF4-FFF2-40B4-BE49-F238E27FC236}">
                  <a16:creationId xmlns:a16="http://schemas.microsoft.com/office/drawing/2014/main" id="{4D658479-0AF3-4DE8-B1FE-4A324FED24B8}"/>
                </a:ext>
              </a:extLst>
            </p:cNvPr>
            <p:cNvCxnSpPr>
              <a:cxnSpLocks noChangeShapeType="1"/>
              <a:endCxn id="9" idx="1"/>
            </p:cNvCxnSpPr>
            <p:nvPr/>
          </p:nvCxnSpPr>
          <p:spPr bwMode="auto">
            <a:xfrm flipV="1">
              <a:off x="236220" y="2694305"/>
              <a:ext cx="4632960" cy="34925"/>
            </a:xfrm>
            <a:prstGeom prst="straightConnector1">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16" name="Oval 15">
              <a:extLst>
                <a:ext uri="{FF2B5EF4-FFF2-40B4-BE49-F238E27FC236}">
                  <a16:creationId xmlns:a16="http://schemas.microsoft.com/office/drawing/2014/main" id="{452A6EE1-440E-420D-8BA0-91AD39DC5A05}"/>
                </a:ext>
              </a:extLst>
            </p:cNvPr>
            <p:cNvSpPr>
              <a:spLocks noChangeArrowheads="1"/>
            </p:cNvSpPr>
            <p:nvPr/>
          </p:nvSpPr>
          <p:spPr bwMode="auto">
            <a:xfrm>
              <a:off x="2153791" y="1356995"/>
              <a:ext cx="1022984" cy="880110"/>
            </a:xfrm>
            <a:prstGeom prst="ellipse">
              <a:avLst/>
            </a:prstGeom>
            <a:solidFill>
              <a:srgbClr val="FFFFFF"/>
            </a:solidFill>
            <a:ln w="28575">
              <a:solidFill>
                <a:srgbClr val="C00000"/>
              </a:solidFill>
              <a:round/>
              <a:headEnd/>
              <a:tailEnd/>
            </a:ln>
          </p:spPr>
          <p:txBody>
            <a:bodyPr rot="0" vert="horz" wrap="square" lIns="91440" tIns="45720" rIns="91440" bIns="45720" anchor="t" anchorCtr="0" upright="1">
              <a:noAutofit/>
            </a:bodyPr>
            <a:lstStyle/>
            <a:p>
              <a:endParaRPr lang="en-GB"/>
            </a:p>
          </p:txBody>
        </p:sp>
        <p:sp>
          <p:nvSpPr>
            <p:cNvPr id="17" name="Text Box 2082">
              <a:extLst>
                <a:ext uri="{FF2B5EF4-FFF2-40B4-BE49-F238E27FC236}">
                  <a16:creationId xmlns:a16="http://schemas.microsoft.com/office/drawing/2014/main" id="{6519907C-7D9D-44C7-A1BC-42FDD196507C}"/>
                </a:ext>
              </a:extLst>
            </p:cNvPr>
            <p:cNvSpPr txBox="1">
              <a:spLocks noChangeArrowheads="1"/>
            </p:cNvSpPr>
            <p:nvPr/>
          </p:nvSpPr>
          <p:spPr bwMode="auto">
            <a:xfrm>
              <a:off x="2494915" y="1585595"/>
              <a:ext cx="6858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600" i="1">
                  <a:effectLst/>
                  <a:latin typeface="Calibri" panose="020F0502020204030204" pitchFamily="34" charset="0"/>
                  <a:ea typeface="Calibri" panose="020F0502020204030204" pitchFamily="34" charset="0"/>
                  <a:cs typeface="Times New Roman" panose="02020603050405020304" pitchFamily="18" charset="0"/>
                </a:rPr>
                <a:t>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Line 2083">
              <a:extLst>
                <a:ext uri="{FF2B5EF4-FFF2-40B4-BE49-F238E27FC236}">
                  <a16:creationId xmlns:a16="http://schemas.microsoft.com/office/drawing/2014/main" id="{E8570F3A-CF02-42D3-9D1A-D4A2C9DF65BF}"/>
                </a:ext>
              </a:extLst>
            </p:cNvPr>
            <p:cNvCxnSpPr>
              <a:cxnSpLocks noChangeShapeType="1"/>
            </p:cNvCxnSpPr>
            <p:nvPr/>
          </p:nvCxnSpPr>
          <p:spPr bwMode="auto">
            <a:xfrm flipH="1">
              <a:off x="2675255" y="236220"/>
              <a:ext cx="8890" cy="115189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19" name="Text Box 2084">
              <a:extLst>
                <a:ext uri="{FF2B5EF4-FFF2-40B4-BE49-F238E27FC236}">
                  <a16:creationId xmlns:a16="http://schemas.microsoft.com/office/drawing/2014/main" id="{59361FFC-C6B3-4BD2-B178-140C00F4572F}"/>
                </a:ext>
              </a:extLst>
            </p:cNvPr>
            <p:cNvSpPr txBox="1">
              <a:spLocks noChangeArrowheads="1"/>
            </p:cNvSpPr>
            <p:nvPr/>
          </p:nvSpPr>
          <p:spPr bwMode="auto">
            <a:xfrm>
              <a:off x="2115820" y="294005"/>
              <a:ext cx="46164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i="1">
                  <a:effectLst/>
                  <a:latin typeface="Calibri" panose="020F0502020204030204" pitchFamily="34" charset="0"/>
                  <a:ea typeface="Calibri" panose="020F0502020204030204" pitchFamily="34" charset="0"/>
                  <a:cs typeface="Times New Roman" panose="02020603050405020304" pitchFamily="18" charset="0"/>
                </a:rPr>
                <a:t>i</a:t>
              </a:r>
              <a:r>
                <a:rPr lang="en-GB" sz="3600" i="1" baseline="-25000">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0" name="AutoShape 2085">
              <a:extLst>
                <a:ext uri="{FF2B5EF4-FFF2-40B4-BE49-F238E27FC236}">
                  <a16:creationId xmlns:a16="http://schemas.microsoft.com/office/drawing/2014/main" id="{B4F8A516-4A0F-41F1-82E7-5CBEEDC0A86A}"/>
                </a:ext>
              </a:extLst>
            </p:cNvPr>
            <p:cNvCxnSpPr>
              <a:cxnSpLocks noChangeShapeType="1"/>
            </p:cNvCxnSpPr>
            <p:nvPr/>
          </p:nvCxnSpPr>
          <p:spPr bwMode="auto">
            <a:xfrm>
              <a:off x="945515" y="197485"/>
              <a:ext cx="91440" cy="1270"/>
            </a:xfrm>
            <a:prstGeom prst="straightConnector1">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sp>
          <p:nvSpPr>
            <p:cNvPr id="21" name="Text Box 2086">
              <a:extLst>
                <a:ext uri="{FF2B5EF4-FFF2-40B4-BE49-F238E27FC236}">
                  <a16:creationId xmlns:a16="http://schemas.microsoft.com/office/drawing/2014/main" id="{90AE580A-4FCA-4E23-AAB4-C49C49C71017}"/>
                </a:ext>
              </a:extLst>
            </p:cNvPr>
            <p:cNvSpPr txBox="1">
              <a:spLocks noChangeArrowheads="1"/>
            </p:cNvSpPr>
            <p:nvPr/>
          </p:nvSpPr>
          <p:spPr bwMode="auto">
            <a:xfrm>
              <a:off x="784225" y="271145"/>
              <a:ext cx="505460" cy="514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3600" i="1">
                  <a:effectLst/>
                  <a:latin typeface="Calibri" panose="020F0502020204030204" pitchFamily="34" charset="0"/>
                  <a:ea typeface="Calibri" panose="020F0502020204030204" pitchFamily="34" charset="0"/>
                  <a:cs typeface="Times New Roman" panose="02020603050405020304" pitchFamily="18" charset="0"/>
                </a:rPr>
                <a:t>i</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 Box 2087">
              <a:extLst>
                <a:ext uri="{FF2B5EF4-FFF2-40B4-BE49-F238E27FC236}">
                  <a16:creationId xmlns:a16="http://schemas.microsoft.com/office/drawing/2014/main" id="{EF119987-EC21-4715-8A0F-E8E317CD8148}"/>
                </a:ext>
              </a:extLst>
            </p:cNvPr>
            <p:cNvSpPr txBox="1">
              <a:spLocks noChangeArrowheads="1"/>
            </p:cNvSpPr>
            <p:nvPr/>
          </p:nvSpPr>
          <p:spPr bwMode="auto">
            <a:xfrm>
              <a:off x="0" y="863600"/>
              <a:ext cx="1228725" cy="91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0"/>
                </a:spcAft>
              </a:pPr>
              <a:r>
                <a:rPr lang="en-GB" sz="2800" i="1">
                  <a:effectLst/>
                  <a:latin typeface="Calibri" panose="020F0502020204030204" pitchFamily="34" charset="0"/>
                  <a:ea typeface="Calibri" panose="020F0502020204030204" pitchFamily="34" charset="0"/>
                  <a:cs typeface="Times New Roman" panose="02020603050405020304" pitchFamily="18" charset="0"/>
                </a:rPr>
                <a:t>240V</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GB" sz="2800" i="1">
                  <a:effectLst/>
                  <a:latin typeface="Calibri" panose="020F0502020204030204" pitchFamily="34" charset="0"/>
                  <a:ea typeface="Calibri" panose="020F0502020204030204" pitchFamily="34" charset="0"/>
                  <a:cs typeface="Times New Roman" panose="02020603050405020304" pitchFamily="18" charset="0"/>
                </a:rPr>
                <a:t>50Hz</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 Box 2088">
              <a:extLst>
                <a:ext uri="{FF2B5EF4-FFF2-40B4-BE49-F238E27FC236}">
                  <a16:creationId xmlns:a16="http://schemas.microsoft.com/office/drawing/2014/main" id="{C2587D0F-C65F-4DE4-814C-B0FCEF7372DB}"/>
                </a:ext>
              </a:extLst>
            </p:cNvPr>
            <p:cNvSpPr txBox="1">
              <a:spLocks noChangeArrowheads="1"/>
            </p:cNvSpPr>
            <p:nvPr/>
          </p:nvSpPr>
          <p:spPr bwMode="auto">
            <a:xfrm>
              <a:off x="736848" y="1600835"/>
              <a:ext cx="1755140"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0"/>
                </a:spcAft>
              </a:pPr>
              <a:r>
                <a:rPr lang="en-GB" sz="2800" i="1" dirty="0">
                  <a:effectLst/>
                  <a:latin typeface="Calibri" panose="020F0502020204030204" pitchFamily="34" charset="0"/>
                  <a:ea typeface="Calibri" panose="020F0502020204030204" pitchFamily="34" charset="0"/>
                  <a:cs typeface="Times New Roman" panose="02020603050405020304" pitchFamily="18" charset="0"/>
                </a:rPr>
                <a:t>2 kW</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GB" sz="2800" i="1" dirty="0" err="1">
                  <a:effectLst/>
                  <a:latin typeface="Calibri" panose="020F0502020204030204" pitchFamily="34" charset="0"/>
                  <a:ea typeface="Calibri" panose="020F0502020204030204" pitchFamily="34" charset="0"/>
                  <a:cs typeface="Times New Roman" panose="02020603050405020304" pitchFamily="18" charset="0"/>
                </a:rPr>
                <a:t>p.f</a:t>
              </a:r>
              <a:r>
                <a:rPr lang="en-GB" sz="2800" i="1" dirty="0">
                  <a:effectLst/>
                  <a:latin typeface="Calibri" panose="020F0502020204030204" pitchFamily="34" charset="0"/>
                  <a:ea typeface="Calibri" panose="020F0502020204030204" pitchFamily="34" charset="0"/>
                  <a:cs typeface="Times New Roman" panose="02020603050405020304" pitchFamily="18" charset="0"/>
                </a:rPr>
                <a:t>. 0.65 lag</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4216344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0CE0-0710-4CFA-8F8E-61FF326E57FA}"/>
              </a:ext>
            </a:extLst>
          </p:cNvPr>
          <p:cNvSpPr>
            <a:spLocks noGrp="1"/>
          </p:cNvSpPr>
          <p:nvPr>
            <p:ph type="title"/>
          </p:nvPr>
        </p:nvSpPr>
        <p:spPr>
          <a:xfrm>
            <a:off x="2011532" y="154978"/>
            <a:ext cx="4900375" cy="482745"/>
          </a:xfrm>
        </p:spPr>
        <p:txBody>
          <a:bodyPr>
            <a:normAutofit fontScale="90000"/>
          </a:bodyPr>
          <a:lstStyle/>
          <a:p>
            <a:r>
              <a:rPr lang="en-US" dirty="0"/>
              <a:t>Answers</a:t>
            </a:r>
            <a:endParaRPr lang="en-GB" dirty="0"/>
          </a:p>
        </p:txBody>
      </p:sp>
      <p:sp>
        <p:nvSpPr>
          <p:cNvPr id="27" name="Rectangle 2">
            <a:extLst>
              <a:ext uri="{FF2B5EF4-FFF2-40B4-BE49-F238E27FC236}">
                <a16:creationId xmlns:a16="http://schemas.microsoft.com/office/drawing/2014/main" id="{0E1A01E2-A5F7-4B04-8BB2-4C8BD9A45BBB}"/>
              </a:ext>
            </a:extLst>
          </p:cNvPr>
          <p:cNvSpPr>
            <a:spLocks noChangeArrowheads="1"/>
          </p:cNvSpPr>
          <p:nvPr/>
        </p:nvSpPr>
        <p:spPr bwMode="auto">
          <a:xfrm>
            <a:off x="290336" y="33195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8" name="Object 27">
            <a:extLst>
              <a:ext uri="{FF2B5EF4-FFF2-40B4-BE49-F238E27FC236}">
                <a16:creationId xmlns:a16="http://schemas.microsoft.com/office/drawing/2014/main" id="{8CA646A2-99E2-41F8-8229-F414ED0DBDA8}"/>
              </a:ext>
            </a:extLst>
          </p:cNvPr>
          <p:cNvGraphicFramePr>
            <a:graphicFrameLocks noChangeAspect="1"/>
          </p:cNvGraphicFramePr>
          <p:nvPr>
            <p:extLst>
              <p:ext uri="{D42A27DB-BD31-4B8C-83A1-F6EECF244321}">
                <p14:modId xmlns:p14="http://schemas.microsoft.com/office/powerpoint/2010/main" val="1514044830"/>
              </p:ext>
            </p:extLst>
          </p:nvPr>
        </p:nvGraphicFramePr>
        <p:xfrm>
          <a:off x="290337" y="789159"/>
          <a:ext cx="4593781" cy="841830"/>
        </p:xfrm>
        <a:graphic>
          <a:graphicData uri="http://schemas.openxmlformats.org/presentationml/2006/ole">
            <mc:AlternateContent xmlns:mc="http://schemas.openxmlformats.org/markup-compatibility/2006">
              <mc:Choice xmlns:v="urn:schemas-microsoft-com:vml" Requires="v">
                <p:oleObj spid="_x0000_s26647" r:id="rId3" imgW="2159000" imgH="393700" progId="Equation.3">
                  <p:embed/>
                </p:oleObj>
              </mc:Choice>
              <mc:Fallback>
                <p:oleObj r:id="rId3" imgW="2159000" imgH="3937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337" y="789159"/>
                        <a:ext cx="4593781" cy="841830"/>
                      </a:xfrm>
                      <a:prstGeom prst="rect">
                        <a:avLst/>
                      </a:prstGeom>
                      <a:noFill/>
                    </p:spPr>
                  </p:pic>
                </p:oleObj>
              </mc:Fallback>
            </mc:AlternateContent>
          </a:graphicData>
        </a:graphic>
      </p:graphicFrame>
      <p:graphicFrame>
        <p:nvGraphicFramePr>
          <p:cNvPr id="30" name="Object 29">
            <a:extLst>
              <a:ext uri="{FF2B5EF4-FFF2-40B4-BE49-F238E27FC236}">
                <a16:creationId xmlns:a16="http://schemas.microsoft.com/office/drawing/2014/main" id="{2A3B168B-D313-4BA5-892E-DEFC8D5DE712}"/>
              </a:ext>
            </a:extLst>
          </p:cNvPr>
          <p:cNvGraphicFramePr>
            <a:graphicFrameLocks noChangeAspect="1"/>
          </p:cNvGraphicFramePr>
          <p:nvPr>
            <p:extLst>
              <p:ext uri="{D42A27DB-BD31-4B8C-83A1-F6EECF244321}">
                <p14:modId xmlns:p14="http://schemas.microsoft.com/office/powerpoint/2010/main" val="4181033620"/>
              </p:ext>
            </p:extLst>
          </p:nvPr>
        </p:nvGraphicFramePr>
        <p:xfrm>
          <a:off x="290514" y="1882775"/>
          <a:ext cx="3442037" cy="1000545"/>
        </p:xfrm>
        <a:graphic>
          <a:graphicData uri="http://schemas.openxmlformats.org/presentationml/2006/ole">
            <mc:AlternateContent xmlns:mc="http://schemas.openxmlformats.org/markup-compatibility/2006">
              <mc:Choice xmlns:v="urn:schemas-microsoft-com:vml" Requires="v">
                <p:oleObj spid="_x0000_s26648" r:id="rId5" imgW="1930400" imgH="431800" progId="Equation.3">
                  <p:embed/>
                </p:oleObj>
              </mc:Choice>
              <mc:Fallback>
                <p:oleObj r:id="rId5" imgW="19304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514" y="1882775"/>
                        <a:ext cx="3442037" cy="1000545"/>
                      </a:xfrm>
                      <a:prstGeom prst="rect">
                        <a:avLst/>
                      </a:prstGeom>
                      <a:noFill/>
                    </p:spPr>
                  </p:pic>
                </p:oleObj>
              </mc:Fallback>
            </mc:AlternateContent>
          </a:graphicData>
        </a:graphic>
      </p:graphicFrame>
      <p:sp>
        <p:nvSpPr>
          <p:cNvPr id="31" name="Rectangle 30">
            <a:extLst>
              <a:ext uri="{FF2B5EF4-FFF2-40B4-BE49-F238E27FC236}">
                <a16:creationId xmlns:a16="http://schemas.microsoft.com/office/drawing/2014/main" id="{F82B5E1B-F0AE-4F91-BCD1-C47585C2964D}"/>
              </a:ext>
            </a:extLst>
          </p:cNvPr>
          <p:cNvSpPr/>
          <p:nvPr/>
        </p:nvSpPr>
        <p:spPr>
          <a:xfrm>
            <a:off x="290336" y="2787618"/>
            <a:ext cx="10035691" cy="555024"/>
          </a:xfrm>
          <a:prstGeom prst="rect">
            <a:avLst/>
          </a:prstGeom>
        </p:spPr>
        <p:txBody>
          <a:bodyPr wrap="square">
            <a:spAutoFit/>
          </a:bodyPr>
          <a:lstStyle/>
          <a:p>
            <a:pPr marL="57150" marR="0">
              <a:lnSpc>
                <a:spcPct val="115000"/>
              </a:lnSpc>
              <a:spcBef>
                <a:spcPts val="0"/>
              </a:spcBef>
              <a:spcAft>
                <a:spcPts val="0"/>
              </a:spcAft>
              <a:tabLst>
                <a:tab pos="360045" algn="l"/>
                <a:tab pos="810260" algn="l"/>
                <a:tab pos="5657850" algn="r"/>
              </a:tabLst>
            </a:pPr>
            <a:r>
              <a:rPr lang="en-GB" sz="2800"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i</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i</a:t>
            </a:r>
            <a:r>
              <a:rPr lang="en-GB" sz="2800" i="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i</a:t>
            </a:r>
            <a:r>
              <a:rPr lang="en-GB" sz="2800" i="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 </a:t>
            </a:r>
            <a:r>
              <a:rPr lang="en-GB" sz="2800" i="1" dirty="0"/>
              <a:t>= 12.82</a:t>
            </a:r>
            <a:r>
              <a:rPr lang="en-GB" sz="2800" i="1" dirty="0">
                <a:sym typeface="Symbol" panose="05050102010706020507" pitchFamily="18" charset="2"/>
              </a:rPr>
              <a:t></a:t>
            </a:r>
            <a:r>
              <a:rPr lang="en-GB" sz="2800" i="1" dirty="0"/>
              <a:t>49.46</a:t>
            </a:r>
            <a:r>
              <a:rPr lang="en-GB" sz="2800" i="1" baseline="30000" dirty="0"/>
              <a:t>0</a:t>
            </a:r>
            <a:r>
              <a:rPr lang="en-GB" sz="2800" i="1" dirty="0"/>
              <a:t> + 4.8</a:t>
            </a:r>
            <a:r>
              <a:rPr lang="en-GB" sz="2800" i="1" dirty="0">
                <a:sym typeface="Symbol" panose="05050102010706020507" pitchFamily="18" charset="2"/>
              </a:rPr>
              <a:t></a:t>
            </a:r>
            <a:r>
              <a:rPr lang="en-GB" sz="2800" i="1" dirty="0"/>
              <a:t>36.87</a:t>
            </a:r>
            <a:r>
              <a:rPr lang="en-GB" sz="2800" i="1" baseline="30000" dirty="0"/>
              <a:t>0</a:t>
            </a:r>
            <a:r>
              <a:rPr lang="en-GB" sz="2800" i="1" dirty="0"/>
              <a:t>    = 17.54</a:t>
            </a:r>
            <a:r>
              <a:rPr lang="en-GB" sz="2800" i="1" dirty="0">
                <a:sym typeface="Symbol" panose="05050102010706020507" pitchFamily="18" charset="2"/>
              </a:rPr>
              <a:t></a:t>
            </a:r>
            <a:r>
              <a:rPr lang="en-GB" sz="2800" i="1" dirty="0"/>
              <a:t> 46.03</a:t>
            </a:r>
            <a:r>
              <a:rPr lang="en-GB" sz="2800" i="1" baseline="30000" dirty="0"/>
              <a:t>0</a:t>
            </a:r>
            <a:r>
              <a:rPr lang="en-GB" sz="2800" i="1" dirty="0"/>
              <a:t> A</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2" name="Group 31">
            <a:extLst>
              <a:ext uri="{FF2B5EF4-FFF2-40B4-BE49-F238E27FC236}">
                <a16:creationId xmlns:a16="http://schemas.microsoft.com/office/drawing/2014/main" id="{B452ACE7-F561-4CC2-9693-F7BC776CAA37}"/>
              </a:ext>
            </a:extLst>
          </p:cNvPr>
          <p:cNvGrpSpPr>
            <a:grpSpLocks/>
          </p:cNvGrpSpPr>
          <p:nvPr/>
        </p:nvGrpSpPr>
        <p:grpSpPr bwMode="auto">
          <a:xfrm>
            <a:off x="8947757" y="837961"/>
            <a:ext cx="3039620" cy="2761527"/>
            <a:chOff x="10484" y="774"/>
            <a:chExt cx="4579" cy="4098"/>
          </a:xfrm>
        </p:grpSpPr>
        <p:cxnSp>
          <p:nvCxnSpPr>
            <p:cNvPr id="33" name="AutoShape 2059">
              <a:extLst>
                <a:ext uri="{FF2B5EF4-FFF2-40B4-BE49-F238E27FC236}">
                  <a16:creationId xmlns:a16="http://schemas.microsoft.com/office/drawing/2014/main" id="{9BD18281-E80E-4680-9FFF-829039DA2286}"/>
                </a:ext>
              </a:extLst>
            </p:cNvPr>
            <p:cNvCxnSpPr>
              <a:cxnSpLocks noChangeShapeType="1"/>
            </p:cNvCxnSpPr>
            <p:nvPr/>
          </p:nvCxnSpPr>
          <p:spPr bwMode="auto">
            <a:xfrm>
              <a:off x="10484" y="1561"/>
              <a:ext cx="4032" cy="3"/>
            </a:xfrm>
            <a:prstGeom prst="straightConnector1">
              <a:avLst/>
            </a:prstGeom>
            <a:noFill/>
            <a:ln w="38100">
              <a:solidFill>
                <a:srgbClr val="000000"/>
              </a:solidFill>
              <a:round/>
              <a:headEnd/>
              <a:tailEnd type="arrow" w="lg" len="lg"/>
            </a:ln>
            <a:extLst>
              <a:ext uri="{909E8E84-426E-40DD-AFC4-6F175D3DCCD1}">
                <a14:hiddenFill xmlns:a14="http://schemas.microsoft.com/office/drawing/2010/main">
                  <a:noFill/>
                </a14:hiddenFill>
              </a:ext>
            </a:extLst>
          </p:spPr>
        </p:cxnSp>
        <p:cxnSp>
          <p:nvCxnSpPr>
            <p:cNvPr id="34" name="AutoShape 2061">
              <a:extLst>
                <a:ext uri="{FF2B5EF4-FFF2-40B4-BE49-F238E27FC236}">
                  <a16:creationId xmlns:a16="http://schemas.microsoft.com/office/drawing/2014/main" id="{C8916746-5ADC-4287-98C2-06B6DBEB6483}"/>
                </a:ext>
              </a:extLst>
            </p:cNvPr>
            <p:cNvCxnSpPr>
              <a:cxnSpLocks noChangeShapeType="1"/>
            </p:cNvCxnSpPr>
            <p:nvPr/>
          </p:nvCxnSpPr>
          <p:spPr bwMode="auto">
            <a:xfrm>
              <a:off x="14470" y="1628"/>
              <a:ext cx="0" cy="2591"/>
            </a:xfrm>
            <a:prstGeom prst="straightConnector1">
              <a:avLst/>
            </a:prstGeom>
            <a:noFill/>
            <a:ln w="38100">
              <a:solidFill>
                <a:srgbClr val="000000"/>
              </a:solidFill>
              <a:round/>
              <a:headEnd/>
              <a:tailEnd type="stealth" w="lg" len="lg"/>
            </a:ln>
            <a:extLst>
              <a:ext uri="{909E8E84-426E-40DD-AFC4-6F175D3DCCD1}">
                <a14:hiddenFill xmlns:a14="http://schemas.microsoft.com/office/drawing/2010/main">
                  <a:noFill/>
                </a14:hiddenFill>
              </a:ext>
            </a:extLst>
          </p:spPr>
        </p:cxnSp>
        <p:cxnSp>
          <p:nvCxnSpPr>
            <p:cNvPr id="35" name="AutoShape 2062">
              <a:extLst>
                <a:ext uri="{FF2B5EF4-FFF2-40B4-BE49-F238E27FC236}">
                  <a16:creationId xmlns:a16="http://schemas.microsoft.com/office/drawing/2014/main" id="{B4D5C2BE-96A7-4EBF-A68A-A378A1E278B5}"/>
                </a:ext>
              </a:extLst>
            </p:cNvPr>
            <p:cNvCxnSpPr>
              <a:cxnSpLocks noChangeShapeType="1"/>
            </p:cNvCxnSpPr>
            <p:nvPr/>
          </p:nvCxnSpPr>
          <p:spPr bwMode="auto">
            <a:xfrm>
              <a:off x="10525" y="1547"/>
              <a:ext cx="3875" cy="259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6" name="AutoShape 2063">
              <a:extLst>
                <a:ext uri="{FF2B5EF4-FFF2-40B4-BE49-F238E27FC236}">
                  <a16:creationId xmlns:a16="http://schemas.microsoft.com/office/drawing/2014/main" id="{1500E3A1-8209-4265-B6A5-A6658E07D19D}"/>
                </a:ext>
              </a:extLst>
            </p:cNvPr>
            <p:cNvCxnSpPr>
              <a:cxnSpLocks noChangeShapeType="1"/>
            </p:cNvCxnSpPr>
            <p:nvPr/>
          </p:nvCxnSpPr>
          <p:spPr bwMode="auto">
            <a:xfrm>
              <a:off x="10525" y="1547"/>
              <a:ext cx="3926" cy="1197"/>
            </a:xfrm>
            <a:prstGeom prst="straightConnector1">
              <a:avLst/>
            </a:prstGeom>
            <a:noFill/>
            <a:ln w="28575">
              <a:solidFill>
                <a:srgbClr val="000000"/>
              </a:solidFill>
              <a:prstDash val="lgDash"/>
              <a:round/>
              <a:headEnd/>
              <a:tailEnd/>
            </a:ln>
            <a:extLst>
              <a:ext uri="{909E8E84-426E-40DD-AFC4-6F175D3DCCD1}">
                <a14:hiddenFill xmlns:a14="http://schemas.microsoft.com/office/drawing/2010/main">
                  <a:noFill/>
                </a14:hiddenFill>
              </a:ext>
            </a:extLst>
          </p:spPr>
        </p:cxnSp>
        <p:cxnSp>
          <p:nvCxnSpPr>
            <p:cNvPr id="37" name="AutoShape 2064">
              <a:extLst>
                <a:ext uri="{FF2B5EF4-FFF2-40B4-BE49-F238E27FC236}">
                  <a16:creationId xmlns:a16="http://schemas.microsoft.com/office/drawing/2014/main" id="{9598EB5A-468D-4B08-8A4A-041C352F6F8D}"/>
                </a:ext>
              </a:extLst>
            </p:cNvPr>
            <p:cNvCxnSpPr>
              <a:cxnSpLocks noChangeShapeType="1"/>
            </p:cNvCxnSpPr>
            <p:nvPr/>
          </p:nvCxnSpPr>
          <p:spPr bwMode="auto">
            <a:xfrm flipV="1">
              <a:off x="14735" y="2757"/>
              <a:ext cx="0" cy="1475"/>
            </a:xfrm>
            <a:prstGeom prst="straightConnector1">
              <a:avLst/>
            </a:prstGeom>
            <a:noFill/>
            <a:ln w="31750">
              <a:solidFill>
                <a:srgbClr val="FF0000"/>
              </a:solidFill>
              <a:round/>
              <a:headEnd/>
              <a:tailEnd type="triangle" w="lg" len="lg"/>
            </a:ln>
            <a:extLst>
              <a:ext uri="{909E8E84-426E-40DD-AFC4-6F175D3DCCD1}">
                <a14:hiddenFill xmlns:a14="http://schemas.microsoft.com/office/drawing/2010/main">
                  <a:noFill/>
                </a14:hiddenFill>
              </a:ext>
            </a:extLst>
          </p:spPr>
        </p:cxnSp>
        <p:sp>
          <p:nvSpPr>
            <p:cNvPr id="38" name="Text Box 2065">
              <a:extLst>
                <a:ext uri="{FF2B5EF4-FFF2-40B4-BE49-F238E27FC236}">
                  <a16:creationId xmlns:a16="http://schemas.microsoft.com/office/drawing/2014/main" id="{3D6A429F-4800-4181-A54C-8624345A9A97}"/>
                </a:ext>
              </a:extLst>
            </p:cNvPr>
            <p:cNvSpPr txBox="1">
              <a:spLocks noChangeArrowheads="1"/>
            </p:cNvSpPr>
            <p:nvPr/>
          </p:nvSpPr>
          <p:spPr bwMode="auto">
            <a:xfrm>
              <a:off x="13634" y="2548"/>
              <a:ext cx="1177" cy="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US" sz="32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Q</a:t>
              </a:r>
              <a:r>
                <a:rPr lang="en-US" sz="3200" baseline="-250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cap</a:t>
              </a:r>
              <a:endParaRPr lang="en-GB" sz="105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Text Box 2066">
              <a:extLst>
                <a:ext uri="{FF2B5EF4-FFF2-40B4-BE49-F238E27FC236}">
                  <a16:creationId xmlns:a16="http://schemas.microsoft.com/office/drawing/2014/main" id="{3C5CA9BF-7751-47E9-AA0E-374FA13BDC9C}"/>
                </a:ext>
              </a:extLst>
            </p:cNvPr>
            <p:cNvSpPr txBox="1">
              <a:spLocks noChangeArrowheads="1"/>
            </p:cNvSpPr>
            <p:nvPr/>
          </p:nvSpPr>
          <p:spPr bwMode="auto">
            <a:xfrm>
              <a:off x="14283" y="4194"/>
              <a:ext cx="780"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US" sz="3600">
                  <a:effectLst/>
                  <a:latin typeface="Calibri" panose="020F0502020204030204" pitchFamily="34" charset="0"/>
                  <a:ea typeface="Calibri" panose="020F0502020204030204" pitchFamily="34" charset="0"/>
                  <a:cs typeface="Times New Roman" panose="02020603050405020304" pitchFamily="18" charset="0"/>
                </a:rPr>
                <a:t>Q</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Text Box 2067">
              <a:extLst>
                <a:ext uri="{FF2B5EF4-FFF2-40B4-BE49-F238E27FC236}">
                  <a16:creationId xmlns:a16="http://schemas.microsoft.com/office/drawing/2014/main" id="{AD019592-F7AA-4B50-BCC9-16DDE60C3F26}"/>
                </a:ext>
              </a:extLst>
            </p:cNvPr>
            <p:cNvSpPr txBox="1">
              <a:spLocks noChangeArrowheads="1"/>
            </p:cNvSpPr>
            <p:nvPr/>
          </p:nvSpPr>
          <p:spPr bwMode="auto">
            <a:xfrm>
              <a:off x="13524" y="1634"/>
              <a:ext cx="1249" cy="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US" sz="3200" dirty="0" err="1">
                  <a:effectLst/>
                  <a:latin typeface="Calibri" panose="020F0502020204030204" pitchFamily="34" charset="0"/>
                  <a:ea typeface="Calibri" panose="020F0502020204030204" pitchFamily="34" charset="0"/>
                  <a:cs typeface="Times New Roman" panose="02020603050405020304" pitchFamily="18" charset="0"/>
                </a:rPr>
                <a:t>Q</a:t>
              </a:r>
              <a:r>
                <a:rPr lang="en-US" sz="3200" baseline="-25000" dirty="0" err="1">
                  <a:effectLst/>
                  <a:latin typeface="Calibri" panose="020F0502020204030204" pitchFamily="34" charset="0"/>
                  <a:ea typeface="Calibri" panose="020F0502020204030204" pitchFamily="34" charset="0"/>
                  <a:cs typeface="Times New Roman" panose="02020603050405020304" pitchFamily="18" charset="0"/>
                </a:rPr>
                <a:t>new</a:t>
              </a:r>
              <a:endParaRPr lang="en-GB"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Text Box 2091">
              <a:extLst>
                <a:ext uri="{FF2B5EF4-FFF2-40B4-BE49-F238E27FC236}">
                  <a16:creationId xmlns:a16="http://schemas.microsoft.com/office/drawing/2014/main" id="{B4D38019-67BC-46ED-AD01-848FE3411523}"/>
                </a:ext>
              </a:extLst>
            </p:cNvPr>
            <p:cNvSpPr txBox="1">
              <a:spLocks noChangeArrowheads="1"/>
            </p:cNvSpPr>
            <p:nvPr/>
          </p:nvSpPr>
          <p:spPr bwMode="auto">
            <a:xfrm>
              <a:off x="14040" y="774"/>
              <a:ext cx="780"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US" sz="3600" dirty="0">
                  <a:effectLst/>
                  <a:latin typeface="Calibri" panose="020F0502020204030204" pitchFamily="34" charset="0"/>
                  <a:ea typeface="Calibri" panose="020F0502020204030204" pitchFamily="34" charset="0"/>
                  <a:cs typeface="Times New Roman" panose="02020603050405020304" pitchFamily="18" charset="0"/>
                </a:rPr>
                <a:t>P</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2" name="AutoShape 2092">
              <a:extLst>
                <a:ext uri="{FF2B5EF4-FFF2-40B4-BE49-F238E27FC236}">
                  <a16:creationId xmlns:a16="http://schemas.microsoft.com/office/drawing/2014/main" id="{E47CC692-2A8F-4C7C-BE0A-81FE6B070CAD}"/>
                </a:ext>
              </a:extLst>
            </p:cNvPr>
            <p:cNvCxnSpPr>
              <a:cxnSpLocks noChangeShapeType="1"/>
            </p:cNvCxnSpPr>
            <p:nvPr/>
          </p:nvCxnSpPr>
          <p:spPr bwMode="auto">
            <a:xfrm>
              <a:off x="14710" y="1572"/>
              <a:ext cx="0" cy="1152"/>
            </a:xfrm>
            <a:prstGeom prst="straightConnector1">
              <a:avLst/>
            </a:prstGeom>
            <a:noFill/>
            <a:ln w="31750">
              <a:solidFill>
                <a:srgbClr val="000000"/>
              </a:solidFill>
              <a:round/>
              <a:headEnd/>
              <a:tailEnd type="stealth" w="lg" len="lg"/>
            </a:ln>
            <a:extLst>
              <a:ext uri="{909E8E84-426E-40DD-AFC4-6F175D3DCCD1}">
                <a14:hiddenFill xmlns:a14="http://schemas.microsoft.com/office/drawing/2010/main">
                  <a:noFill/>
                </a14:hiddenFill>
              </a:ext>
            </a:extLst>
          </p:spPr>
        </p:cxnSp>
      </p:grpSp>
      <p:sp>
        <p:nvSpPr>
          <p:cNvPr id="43" name="Rectangle 42">
            <a:extLst>
              <a:ext uri="{FF2B5EF4-FFF2-40B4-BE49-F238E27FC236}">
                <a16:creationId xmlns:a16="http://schemas.microsoft.com/office/drawing/2014/main" id="{FB5EFB4E-A429-4B8C-B5E6-7AFF16A1946C}"/>
              </a:ext>
            </a:extLst>
          </p:cNvPr>
          <p:cNvSpPr/>
          <p:nvPr/>
        </p:nvSpPr>
        <p:spPr>
          <a:xfrm>
            <a:off x="251319" y="3282559"/>
            <a:ext cx="11650341" cy="3186513"/>
          </a:xfrm>
          <a:prstGeom prst="rect">
            <a:avLst/>
          </a:prstGeom>
        </p:spPr>
        <p:txBody>
          <a:bodyPr wrap="square">
            <a:spAutoFit/>
          </a:bodyPr>
          <a:lstStyle/>
          <a:p>
            <a:pPr marL="57150" marR="0" algn="just">
              <a:lnSpc>
                <a:spcPct val="115000"/>
              </a:lnSpc>
              <a:spcBef>
                <a:spcPts val="0"/>
              </a:spcBef>
              <a:spcAft>
                <a:spcPts val="0"/>
              </a:spcAft>
              <a:tabLst>
                <a:tab pos="360045" algn="l"/>
                <a:tab pos="810260" algn="l"/>
                <a:tab pos="5657850" algn="r"/>
              </a:tabLst>
            </a:pPr>
            <a:r>
              <a:rPr lang="en-GB" sz="2800"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supply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power factor =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cos(46.03</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0</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0.694 lag</a:t>
            </a:r>
            <a:endParaRPr lang="en-GB" sz="2800" i="1" dirty="0">
              <a:latin typeface="Calibri" panose="020F0502020204030204" pitchFamily="34" charset="0"/>
              <a:ea typeface="Calibri" panose="020F0502020204030204" pitchFamily="34" charset="0"/>
              <a:cs typeface="Times New Roman" panose="02020603050405020304" pitchFamily="18" charset="0"/>
            </a:endParaRPr>
          </a:p>
          <a:p>
            <a:pPr marL="57150" marR="0" algn="just">
              <a:lnSpc>
                <a:spcPct val="115000"/>
              </a:lnSpc>
              <a:spcBef>
                <a:spcPts val="0"/>
              </a:spcBef>
              <a:spcAft>
                <a:spcPts val="0"/>
              </a:spcAft>
              <a:tabLst>
                <a:tab pos="360045" algn="l"/>
                <a:tab pos="810260" algn="l"/>
                <a:tab pos="5657850" algn="r"/>
              </a:tabLs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active power =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240</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17.54</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0.694 =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2.92 kW</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(also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 = 2000+4.8</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40</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marL="57150" marR="0" algn="just">
              <a:lnSpc>
                <a:spcPct val="115000"/>
              </a:lnSpc>
              <a:spcBef>
                <a:spcPts val="0"/>
              </a:spcBef>
              <a:spcAft>
                <a:spcPts val="0"/>
              </a:spcAft>
              <a:tabLst>
                <a:tab pos="360045" algn="l"/>
                <a:tab pos="810260" algn="l"/>
                <a:tab pos="5657850" algn="r"/>
              </a:tabLs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reactive power =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240</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17.54</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sin(46.03</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0</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a:t>
            </a:r>
            <a:r>
              <a:rPr lang="en-GB" sz="2800" b="1"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3.03 </a:t>
            </a:r>
            <a:r>
              <a:rPr lang="en-GB" sz="2800" b="1"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kvar</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endParaRPr lang="en-GB" sz="28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tabLst>
                <a:tab pos="-90170" algn="l"/>
                <a:tab pos="228600" algn="l"/>
                <a:tab pos="1143000" algn="l"/>
              </a:tabLs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with </a:t>
            </a:r>
            <a:r>
              <a:rPr lang="en-GB" sz="2800"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p.f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0.95 lag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18.19</a:t>
            </a:r>
            <a:r>
              <a:rPr lang="en-GB" sz="2800"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new reactive power =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2.92×tan 18.19</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0.96 </a:t>
            </a:r>
            <a:r>
              <a:rPr lang="en-GB" sz="2800"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kvar</a:t>
            </a:r>
            <a:endParaRPr lang="en-GB" sz="2800" i="1"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tabLst>
                <a:tab pos="-90170" algn="l"/>
                <a:tab pos="228600" algn="l"/>
                <a:tab pos="1143000" algn="l"/>
              </a:tabLs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Rating of capacitor Q</a:t>
            </a:r>
            <a:r>
              <a:rPr lang="en-GB" sz="2800"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(3.03 – 0.96) = 2.07  </a:t>
            </a:r>
            <a:r>
              <a:rPr lang="en-GB" sz="2800" i="1" dirty="0" err="1">
                <a:solidFill>
                  <a:srgbClr val="002060"/>
                </a:solidFill>
                <a:latin typeface="Times New Roman" panose="02020603050405020304" pitchFamily="18" charset="0"/>
                <a:ea typeface="Calibri" panose="020F0502020204030204" pitchFamily="34" charset="0"/>
                <a:cs typeface="Times New Roman" panose="02020603050405020304" pitchFamily="18" charset="0"/>
              </a:rPr>
              <a:t>kvar</a:t>
            </a:r>
            <a:endParaRPr lang="en-GB" sz="2800" i="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tabLst>
                <a:tab pos="360045" algn="l"/>
                <a:tab pos="810260" algn="l"/>
                <a:tab pos="5657850" algn="r"/>
              </a:tabLst>
            </a:pP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[or value of capacitor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 = 2.07×10</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3</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/(240</a:t>
            </a:r>
            <a:r>
              <a:rPr lang="en-GB" sz="2800" i="1" baseline="30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2</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×100</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 114.4 </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GB" sz="2800" i="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F</a:t>
            </a:r>
            <a:r>
              <a:rPr lang="en-GB" sz="28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4" name="Canvas 2068">
            <a:extLst>
              <a:ext uri="{FF2B5EF4-FFF2-40B4-BE49-F238E27FC236}">
                <a16:creationId xmlns:a16="http://schemas.microsoft.com/office/drawing/2014/main" id="{A74723D7-8020-466D-869B-E9DC58CB1E17}"/>
              </a:ext>
            </a:extLst>
          </p:cNvPr>
          <p:cNvGrpSpPr>
            <a:grpSpLocks noChangeAspect="1"/>
          </p:cNvGrpSpPr>
          <p:nvPr/>
        </p:nvGrpSpPr>
        <p:grpSpPr>
          <a:xfrm>
            <a:off x="4937671" y="972820"/>
            <a:ext cx="4262926" cy="1519047"/>
            <a:chOff x="-260280" y="197485"/>
            <a:chExt cx="6925041" cy="2531745"/>
          </a:xfrm>
        </p:grpSpPr>
        <p:sp>
          <p:nvSpPr>
            <p:cNvPr id="45" name="Rectangle 44">
              <a:extLst>
                <a:ext uri="{FF2B5EF4-FFF2-40B4-BE49-F238E27FC236}">
                  <a16:creationId xmlns:a16="http://schemas.microsoft.com/office/drawing/2014/main" id="{84C8D999-3663-48C9-ADB3-2D58410A48B2}"/>
                </a:ext>
              </a:extLst>
            </p:cNvPr>
            <p:cNvSpPr>
              <a:spLocks noChangeArrowheads="1"/>
            </p:cNvSpPr>
            <p:nvPr/>
          </p:nvSpPr>
          <p:spPr bwMode="auto">
            <a:xfrm rot="16200000">
              <a:off x="4633595" y="1531620"/>
              <a:ext cx="514350" cy="342900"/>
            </a:xfrm>
            <a:prstGeom prst="rect">
              <a:avLst/>
            </a:prstGeom>
            <a:solidFill>
              <a:srgbClr val="FFFFFF"/>
            </a:solidFill>
            <a:ln w="28575">
              <a:solidFill>
                <a:srgbClr val="C00000"/>
              </a:solidFill>
              <a:miter lim="800000"/>
              <a:headEnd/>
              <a:tailEnd/>
            </a:ln>
          </p:spPr>
          <p:txBody>
            <a:bodyPr rot="0" vert="horz" wrap="square" lIns="91440" tIns="45720" rIns="91440" bIns="45720" anchor="t" anchorCtr="0" upright="1">
              <a:noAutofit/>
            </a:bodyPr>
            <a:lstStyle/>
            <a:p>
              <a:endParaRPr lang="en-GB" sz="1400"/>
            </a:p>
          </p:txBody>
        </p:sp>
        <p:cxnSp>
          <p:nvCxnSpPr>
            <p:cNvPr id="46" name="Line 2071">
              <a:extLst>
                <a:ext uri="{FF2B5EF4-FFF2-40B4-BE49-F238E27FC236}">
                  <a16:creationId xmlns:a16="http://schemas.microsoft.com/office/drawing/2014/main" id="{9B6A9B41-E6CB-4F46-8AF0-D4BA8EE87300}"/>
                </a:ext>
              </a:extLst>
            </p:cNvPr>
            <p:cNvCxnSpPr>
              <a:cxnSpLocks noChangeShapeType="1"/>
            </p:cNvCxnSpPr>
            <p:nvPr/>
          </p:nvCxnSpPr>
          <p:spPr bwMode="auto">
            <a:xfrm>
              <a:off x="238760" y="200025"/>
              <a:ext cx="1105535" cy="2413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7" name="Line 2072">
              <a:extLst>
                <a:ext uri="{FF2B5EF4-FFF2-40B4-BE49-F238E27FC236}">
                  <a16:creationId xmlns:a16="http://schemas.microsoft.com/office/drawing/2014/main" id="{241F86EB-728C-4153-B0CF-663DBA8D2451}"/>
                </a:ext>
              </a:extLst>
            </p:cNvPr>
            <p:cNvCxnSpPr>
              <a:cxnSpLocks noChangeShapeType="1"/>
            </p:cNvCxnSpPr>
            <p:nvPr/>
          </p:nvCxnSpPr>
          <p:spPr bwMode="auto">
            <a:xfrm>
              <a:off x="1344295" y="222885"/>
              <a:ext cx="3522980" cy="127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8" name="Line 2073">
              <a:extLst>
                <a:ext uri="{FF2B5EF4-FFF2-40B4-BE49-F238E27FC236}">
                  <a16:creationId xmlns:a16="http://schemas.microsoft.com/office/drawing/2014/main" id="{D69B8FDD-728E-495D-BD15-CF3C98F5B7A9}"/>
                </a:ext>
              </a:extLst>
            </p:cNvPr>
            <p:cNvCxnSpPr>
              <a:cxnSpLocks noChangeShapeType="1"/>
            </p:cNvCxnSpPr>
            <p:nvPr/>
          </p:nvCxnSpPr>
          <p:spPr bwMode="auto">
            <a:xfrm flipH="1">
              <a:off x="4868545" y="213360"/>
              <a:ext cx="1270" cy="125603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9" name="Line 2074">
              <a:extLst>
                <a:ext uri="{FF2B5EF4-FFF2-40B4-BE49-F238E27FC236}">
                  <a16:creationId xmlns:a16="http://schemas.microsoft.com/office/drawing/2014/main" id="{A7C4AB4C-D482-4B0D-A6B8-6838D4BE6A21}"/>
                </a:ext>
              </a:extLst>
            </p:cNvPr>
            <p:cNvCxnSpPr>
              <a:cxnSpLocks noChangeShapeType="1"/>
            </p:cNvCxnSpPr>
            <p:nvPr/>
          </p:nvCxnSpPr>
          <p:spPr bwMode="auto">
            <a:xfrm flipH="1">
              <a:off x="4868545" y="1960245"/>
              <a:ext cx="20955" cy="72009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50" name="Text Box 2075">
              <a:extLst>
                <a:ext uri="{FF2B5EF4-FFF2-40B4-BE49-F238E27FC236}">
                  <a16:creationId xmlns:a16="http://schemas.microsoft.com/office/drawing/2014/main" id="{28FE27CC-C8A6-4C0A-BFB3-656C32248A72}"/>
                </a:ext>
              </a:extLst>
            </p:cNvPr>
            <p:cNvSpPr txBox="1">
              <a:spLocks noChangeArrowheads="1"/>
            </p:cNvSpPr>
            <p:nvPr/>
          </p:nvSpPr>
          <p:spPr bwMode="auto">
            <a:xfrm>
              <a:off x="5170570" y="1422132"/>
              <a:ext cx="1494191" cy="51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i="1" dirty="0">
                  <a:effectLst/>
                  <a:latin typeface="Calibri" panose="020F0502020204030204" pitchFamily="34" charset="0"/>
                  <a:ea typeface="Calibri" panose="020F0502020204030204" pitchFamily="34" charset="0"/>
                  <a:cs typeface="Times New Roman" panose="02020603050405020304" pitchFamily="18" charset="0"/>
                </a:rPr>
                <a:t>40+j30</a:t>
              </a:r>
              <a:r>
                <a:rPr lang="en-GB" sz="2000" i="1" dirty="0">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1" name="Line 2076">
              <a:extLst>
                <a:ext uri="{FF2B5EF4-FFF2-40B4-BE49-F238E27FC236}">
                  <a16:creationId xmlns:a16="http://schemas.microsoft.com/office/drawing/2014/main" id="{F18BD097-305A-4DE0-B10E-39AB44D42AC0}"/>
                </a:ext>
              </a:extLst>
            </p:cNvPr>
            <p:cNvCxnSpPr>
              <a:cxnSpLocks noChangeShapeType="1"/>
            </p:cNvCxnSpPr>
            <p:nvPr/>
          </p:nvCxnSpPr>
          <p:spPr bwMode="auto">
            <a:xfrm rot="5400000">
              <a:off x="2643505" y="729615"/>
              <a:ext cx="85725" cy="1270"/>
            </a:xfrm>
            <a:prstGeom prst="line">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sp>
          <p:nvSpPr>
            <p:cNvPr id="52" name="Text Box 2077">
              <a:extLst>
                <a:ext uri="{FF2B5EF4-FFF2-40B4-BE49-F238E27FC236}">
                  <a16:creationId xmlns:a16="http://schemas.microsoft.com/office/drawing/2014/main" id="{54F4AD06-8163-4504-8C71-1EAA9B01044A}"/>
                </a:ext>
              </a:extLst>
            </p:cNvPr>
            <p:cNvSpPr txBox="1">
              <a:spLocks noChangeArrowheads="1"/>
            </p:cNvSpPr>
            <p:nvPr/>
          </p:nvSpPr>
          <p:spPr bwMode="auto">
            <a:xfrm>
              <a:off x="4201795" y="320675"/>
              <a:ext cx="49403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effectLst/>
                  <a:latin typeface="Calibri" panose="020F0502020204030204" pitchFamily="34" charset="0"/>
                  <a:ea typeface="Calibri" panose="020F0502020204030204" pitchFamily="34" charset="0"/>
                  <a:cs typeface="Times New Roman" panose="02020603050405020304" pitchFamily="18" charset="0"/>
                </a:rPr>
                <a:t>i</a:t>
              </a:r>
              <a:r>
                <a:rPr lang="en-GB" sz="2800" i="1" baseline="-25000">
                  <a:effectLst/>
                  <a:latin typeface="Calibri" panose="020F0502020204030204" pitchFamily="34" charset="0"/>
                  <a:ea typeface="Calibri" panose="020F0502020204030204" pitchFamily="34" charset="0"/>
                  <a:cs typeface="Times New Roman" panose="02020603050405020304" pitchFamily="18" charset="0"/>
                </a:rPr>
                <a:t>2</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3" name="AutoShape 2078">
              <a:extLst>
                <a:ext uri="{FF2B5EF4-FFF2-40B4-BE49-F238E27FC236}">
                  <a16:creationId xmlns:a16="http://schemas.microsoft.com/office/drawing/2014/main" id="{176C117E-C208-46F7-954B-D9514D153466}"/>
                </a:ext>
              </a:extLst>
            </p:cNvPr>
            <p:cNvCxnSpPr>
              <a:cxnSpLocks noChangeShapeType="1"/>
            </p:cNvCxnSpPr>
            <p:nvPr/>
          </p:nvCxnSpPr>
          <p:spPr bwMode="auto">
            <a:xfrm flipV="1">
              <a:off x="2675255" y="2266950"/>
              <a:ext cx="1905" cy="427355"/>
            </a:xfrm>
            <a:prstGeom prst="straightConnector1">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54" name="Line 2079">
              <a:extLst>
                <a:ext uri="{FF2B5EF4-FFF2-40B4-BE49-F238E27FC236}">
                  <a16:creationId xmlns:a16="http://schemas.microsoft.com/office/drawing/2014/main" id="{26E6AEC0-4D88-45C9-96FD-A70DA89528D3}"/>
                </a:ext>
              </a:extLst>
            </p:cNvPr>
            <p:cNvCxnSpPr>
              <a:cxnSpLocks noChangeShapeType="1"/>
            </p:cNvCxnSpPr>
            <p:nvPr/>
          </p:nvCxnSpPr>
          <p:spPr bwMode="auto">
            <a:xfrm rot="5400000">
              <a:off x="4824730" y="785495"/>
              <a:ext cx="85725" cy="1270"/>
            </a:xfrm>
            <a:prstGeom prst="line">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cxnSp>
          <p:nvCxnSpPr>
            <p:cNvPr id="55" name="AutoShape 2080">
              <a:extLst>
                <a:ext uri="{FF2B5EF4-FFF2-40B4-BE49-F238E27FC236}">
                  <a16:creationId xmlns:a16="http://schemas.microsoft.com/office/drawing/2014/main" id="{E5568F4E-3992-44A2-84DC-8BD3150A2B47}"/>
                </a:ext>
              </a:extLst>
            </p:cNvPr>
            <p:cNvCxnSpPr>
              <a:cxnSpLocks noChangeShapeType="1"/>
              <a:endCxn id="49" idx="1"/>
            </p:cNvCxnSpPr>
            <p:nvPr/>
          </p:nvCxnSpPr>
          <p:spPr bwMode="auto">
            <a:xfrm flipV="1">
              <a:off x="236220" y="2694305"/>
              <a:ext cx="4632960" cy="34925"/>
            </a:xfrm>
            <a:prstGeom prst="straightConnector1">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56" name="Oval 55">
              <a:extLst>
                <a:ext uri="{FF2B5EF4-FFF2-40B4-BE49-F238E27FC236}">
                  <a16:creationId xmlns:a16="http://schemas.microsoft.com/office/drawing/2014/main" id="{B833E7CC-BCFE-475E-A07C-7F1726807070}"/>
                </a:ext>
              </a:extLst>
            </p:cNvPr>
            <p:cNvSpPr>
              <a:spLocks noChangeArrowheads="1"/>
            </p:cNvSpPr>
            <p:nvPr/>
          </p:nvSpPr>
          <p:spPr bwMode="auto">
            <a:xfrm>
              <a:off x="2153791" y="1356995"/>
              <a:ext cx="1022984" cy="880110"/>
            </a:xfrm>
            <a:prstGeom prst="ellipse">
              <a:avLst/>
            </a:prstGeom>
            <a:solidFill>
              <a:srgbClr val="FFFFFF"/>
            </a:solidFill>
            <a:ln w="28575">
              <a:solidFill>
                <a:srgbClr val="C00000"/>
              </a:solidFill>
              <a:round/>
              <a:headEnd/>
              <a:tailEnd/>
            </a:ln>
          </p:spPr>
          <p:txBody>
            <a:bodyPr rot="0" vert="horz" wrap="square" lIns="91440" tIns="45720" rIns="91440" bIns="45720" anchor="t" anchorCtr="0" upright="1">
              <a:noAutofit/>
            </a:bodyPr>
            <a:lstStyle/>
            <a:p>
              <a:endParaRPr lang="en-GB" sz="1400"/>
            </a:p>
          </p:txBody>
        </p:sp>
        <p:sp>
          <p:nvSpPr>
            <p:cNvPr id="57" name="Text Box 2082">
              <a:extLst>
                <a:ext uri="{FF2B5EF4-FFF2-40B4-BE49-F238E27FC236}">
                  <a16:creationId xmlns:a16="http://schemas.microsoft.com/office/drawing/2014/main" id="{ED76C95D-3B74-4518-90B3-8B60C291D5D5}"/>
                </a:ext>
              </a:extLst>
            </p:cNvPr>
            <p:cNvSpPr txBox="1">
              <a:spLocks noChangeArrowheads="1"/>
            </p:cNvSpPr>
            <p:nvPr/>
          </p:nvSpPr>
          <p:spPr bwMode="auto">
            <a:xfrm>
              <a:off x="2496390" y="1484348"/>
              <a:ext cx="6858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000" i="1" dirty="0">
                  <a:effectLst/>
                  <a:latin typeface="Calibri" panose="020F0502020204030204" pitchFamily="34" charset="0"/>
                  <a:ea typeface="Calibri" panose="020F0502020204030204" pitchFamily="34" charset="0"/>
                  <a:cs typeface="Times New Roman" panose="02020603050405020304" pitchFamily="18" charset="0"/>
                </a:rPr>
                <a:t>M</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8" name="Line 2083">
              <a:extLst>
                <a:ext uri="{FF2B5EF4-FFF2-40B4-BE49-F238E27FC236}">
                  <a16:creationId xmlns:a16="http://schemas.microsoft.com/office/drawing/2014/main" id="{A42A5D50-41A5-4210-B16B-A41D5CBAF12E}"/>
                </a:ext>
              </a:extLst>
            </p:cNvPr>
            <p:cNvCxnSpPr>
              <a:cxnSpLocks noChangeShapeType="1"/>
            </p:cNvCxnSpPr>
            <p:nvPr/>
          </p:nvCxnSpPr>
          <p:spPr bwMode="auto">
            <a:xfrm flipH="1">
              <a:off x="2675255" y="236220"/>
              <a:ext cx="8890" cy="115189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sp>
          <p:nvSpPr>
            <p:cNvPr id="59" name="Text Box 2084">
              <a:extLst>
                <a:ext uri="{FF2B5EF4-FFF2-40B4-BE49-F238E27FC236}">
                  <a16:creationId xmlns:a16="http://schemas.microsoft.com/office/drawing/2014/main" id="{EEB82B85-D3FA-476F-9335-190D0CC5DE32}"/>
                </a:ext>
              </a:extLst>
            </p:cNvPr>
            <p:cNvSpPr txBox="1">
              <a:spLocks noChangeArrowheads="1"/>
            </p:cNvSpPr>
            <p:nvPr/>
          </p:nvSpPr>
          <p:spPr bwMode="auto">
            <a:xfrm>
              <a:off x="2115820" y="294005"/>
              <a:ext cx="46164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effectLst/>
                  <a:latin typeface="Calibri" panose="020F0502020204030204" pitchFamily="34" charset="0"/>
                  <a:ea typeface="Calibri" panose="020F0502020204030204" pitchFamily="34" charset="0"/>
                  <a:cs typeface="Times New Roman" panose="02020603050405020304" pitchFamily="18" charset="0"/>
                </a:rPr>
                <a:t>i</a:t>
              </a:r>
              <a:r>
                <a:rPr lang="en-GB" sz="2800" i="1" baseline="-25000">
                  <a:effectLst/>
                  <a:latin typeface="Calibri" panose="020F0502020204030204" pitchFamily="34" charset="0"/>
                  <a:ea typeface="Calibri" panose="020F0502020204030204" pitchFamily="34" charset="0"/>
                  <a:cs typeface="Times New Roman" panose="02020603050405020304" pitchFamily="18" charset="0"/>
                </a:rPr>
                <a:t>1</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0" name="AutoShape 2085">
              <a:extLst>
                <a:ext uri="{FF2B5EF4-FFF2-40B4-BE49-F238E27FC236}">
                  <a16:creationId xmlns:a16="http://schemas.microsoft.com/office/drawing/2014/main" id="{41D39E19-217F-426A-8480-FF331988858B}"/>
                </a:ext>
              </a:extLst>
            </p:cNvPr>
            <p:cNvCxnSpPr>
              <a:cxnSpLocks noChangeShapeType="1"/>
            </p:cNvCxnSpPr>
            <p:nvPr/>
          </p:nvCxnSpPr>
          <p:spPr bwMode="auto">
            <a:xfrm>
              <a:off x="945515" y="197485"/>
              <a:ext cx="91440" cy="1270"/>
            </a:xfrm>
            <a:prstGeom prst="straightConnector1">
              <a:avLst/>
            </a:prstGeom>
            <a:noFill/>
            <a:ln w="57150">
              <a:solidFill>
                <a:srgbClr val="C00000"/>
              </a:solidFill>
              <a:round/>
              <a:headEnd/>
              <a:tailEnd type="stealth" w="med" len="med"/>
            </a:ln>
            <a:extLst>
              <a:ext uri="{909E8E84-426E-40DD-AFC4-6F175D3DCCD1}">
                <a14:hiddenFill xmlns:a14="http://schemas.microsoft.com/office/drawing/2010/main">
                  <a:noFill/>
                </a14:hiddenFill>
              </a:ext>
            </a:extLst>
          </p:spPr>
        </p:cxnSp>
        <p:sp>
          <p:nvSpPr>
            <p:cNvPr id="61" name="Text Box 2086">
              <a:extLst>
                <a:ext uri="{FF2B5EF4-FFF2-40B4-BE49-F238E27FC236}">
                  <a16:creationId xmlns:a16="http://schemas.microsoft.com/office/drawing/2014/main" id="{20ED9706-F261-4B11-816E-AE62F38F2551}"/>
                </a:ext>
              </a:extLst>
            </p:cNvPr>
            <p:cNvSpPr txBox="1">
              <a:spLocks noChangeArrowheads="1"/>
            </p:cNvSpPr>
            <p:nvPr/>
          </p:nvSpPr>
          <p:spPr bwMode="auto">
            <a:xfrm>
              <a:off x="784225" y="271145"/>
              <a:ext cx="505460" cy="514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nSpc>
                  <a:spcPct val="115000"/>
                </a:lnSpc>
                <a:spcBef>
                  <a:spcPts val="0"/>
                </a:spcBef>
                <a:spcAft>
                  <a:spcPts val="1000"/>
                </a:spcAft>
              </a:pPr>
              <a:r>
                <a:rPr lang="en-GB" sz="2800" i="1">
                  <a:effectLst/>
                  <a:latin typeface="Calibri" panose="020F0502020204030204" pitchFamily="34" charset="0"/>
                  <a:ea typeface="Calibri" panose="020F0502020204030204" pitchFamily="34" charset="0"/>
                  <a:cs typeface="Times New Roman" panose="02020603050405020304" pitchFamily="18" charset="0"/>
                </a:rPr>
                <a:t>i</a:t>
              </a:r>
              <a:endParaRPr lang="en-GB" sz="1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2" name="Text Box 2087">
              <a:extLst>
                <a:ext uri="{FF2B5EF4-FFF2-40B4-BE49-F238E27FC236}">
                  <a16:creationId xmlns:a16="http://schemas.microsoft.com/office/drawing/2014/main" id="{C523190B-75A4-426C-B12B-86820CFAD1F7}"/>
                </a:ext>
              </a:extLst>
            </p:cNvPr>
            <p:cNvSpPr txBox="1">
              <a:spLocks noChangeArrowheads="1"/>
            </p:cNvSpPr>
            <p:nvPr/>
          </p:nvSpPr>
          <p:spPr bwMode="auto">
            <a:xfrm>
              <a:off x="-260280" y="863600"/>
              <a:ext cx="1228724" cy="91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0"/>
                </a:spcAft>
              </a:pPr>
              <a:r>
                <a:rPr lang="en-GB" sz="2000" i="1" dirty="0">
                  <a:effectLst/>
                  <a:latin typeface="Calibri" panose="020F0502020204030204" pitchFamily="34" charset="0"/>
                  <a:ea typeface="Calibri" panose="020F0502020204030204" pitchFamily="34" charset="0"/>
                  <a:cs typeface="Times New Roman" panose="02020603050405020304" pitchFamily="18" charset="0"/>
                </a:rPr>
                <a:t>240V</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GB" sz="2000" i="1" dirty="0">
                  <a:effectLst/>
                  <a:latin typeface="Calibri" panose="020F0502020204030204" pitchFamily="34" charset="0"/>
                  <a:ea typeface="Calibri" panose="020F0502020204030204" pitchFamily="34" charset="0"/>
                  <a:cs typeface="Times New Roman" panose="02020603050405020304" pitchFamily="18" charset="0"/>
                </a:rPr>
                <a:t>50Hz</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3" name="Text Box 2088">
              <a:extLst>
                <a:ext uri="{FF2B5EF4-FFF2-40B4-BE49-F238E27FC236}">
                  <a16:creationId xmlns:a16="http://schemas.microsoft.com/office/drawing/2014/main" id="{ADC23182-BD17-453B-905C-C81141C41193}"/>
                </a:ext>
              </a:extLst>
            </p:cNvPr>
            <p:cNvSpPr txBox="1">
              <a:spLocks noChangeArrowheads="1"/>
            </p:cNvSpPr>
            <p:nvPr/>
          </p:nvSpPr>
          <p:spPr bwMode="auto">
            <a:xfrm>
              <a:off x="592728" y="1446312"/>
              <a:ext cx="2022883" cy="101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0" marR="0" algn="ctr">
                <a:lnSpc>
                  <a:spcPct val="115000"/>
                </a:lnSpc>
                <a:spcBef>
                  <a:spcPts val="0"/>
                </a:spcBef>
                <a:spcAft>
                  <a:spcPts val="0"/>
                </a:spcAft>
              </a:pPr>
              <a:r>
                <a:rPr lang="en-GB" sz="2000" i="1" dirty="0">
                  <a:effectLst/>
                  <a:latin typeface="Calibri" panose="020F0502020204030204" pitchFamily="34" charset="0"/>
                  <a:ea typeface="Calibri" panose="020F0502020204030204" pitchFamily="34" charset="0"/>
                  <a:cs typeface="Times New Roman" panose="02020603050405020304" pitchFamily="18" charset="0"/>
                </a:rPr>
                <a:t>2 kW</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GB" sz="2000" i="1" dirty="0" err="1">
                  <a:effectLst/>
                  <a:latin typeface="Calibri" panose="020F0502020204030204" pitchFamily="34" charset="0"/>
                  <a:ea typeface="Calibri" panose="020F0502020204030204" pitchFamily="34" charset="0"/>
                  <a:cs typeface="Times New Roman" panose="02020603050405020304" pitchFamily="18" charset="0"/>
                </a:rPr>
                <a:t>p.f</a:t>
              </a:r>
              <a:r>
                <a:rPr lang="en-GB" sz="2000" i="1" dirty="0">
                  <a:effectLst/>
                  <a:latin typeface="Calibri" panose="020F0502020204030204" pitchFamily="34" charset="0"/>
                  <a:ea typeface="Calibri" panose="020F0502020204030204" pitchFamily="34" charset="0"/>
                  <a:cs typeface="Times New Roman" panose="02020603050405020304" pitchFamily="18" charset="0"/>
                </a:rPr>
                <a:t>. 0.65 lag</a:t>
              </a:r>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548797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FCEE-C6C3-4C50-A797-BA0B5B234D76}"/>
              </a:ext>
            </a:extLst>
          </p:cNvPr>
          <p:cNvSpPr>
            <a:spLocks noGrp="1"/>
          </p:cNvSpPr>
          <p:nvPr>
            <p:ph type="title"/>
          </p:nvPr>
        </p:nvSpPr>
        <p:spPr>
          <a:xfrm>
            <a:off x="422816" y="651933"/>
            <a:ext cx="9857458" cy="601874"/>
          </a:xfrm>
        </p:spPr>
        <p:txBody>
          <a:bodyPr>
            <a:normAutofit fontScale="90000"/>
          </a:bodyPr>
          <a:lstStyle/>
          <a:p>
            <a:r>
              <a:rPr lang="en-US" sz="3911" dirty="0"/>
              <a:t>Recap of Lecture</a:t>
            </a:r>
            <a:endParaRPr lang="en-GB" sz="3911" dirty="0"/>
          </a:p>
        </p:txBody>
      </p:sp>
      <p:sp>
        <p:nvSpPr>
          <p:cNvPr id="3" name="Text Placeholder 2">
            <a:extLst>
              <a:ext uri="{FF2B5EF4-FFF2-40B4-BE49-F238E27FC236}">
                <a16:creationId xmlns:a16="http://schemas.microsoft.com/office/drawing/2014/main" id="{7B4B0E18-9EAE-4901-9F39-9A1FA51983A2}"/>
              </a:ext>
            </a:extLst>
          </p:cNvPr>
          <p:cNvSpPr>
            <a:spLocks noGrp="1"/>
          </p:cNvSpPr>
          <p:nvPr>
            <p:ph type="body" idx="1"/>
          </p:nvPr>
        </p:nvSpPr>
        <p:spPr>
          <a:xfrm>
            <a:off x="355083" y="1304566"/>
            <a:ext cx="8856651" cy="5373267"/>
          </a:xfrm>
        </p:spPr>
        <p:txBody>
          <a:bodyPr>
            <a:normAutofit/>
          </a:bodyPr>
          <a:lstStyle/>
          <a:p>
            <a:pPr marL="406405" indent="-406405">
              <a:lnSpc>
                <a:spcPct val="110000"/>
              </a:lnSpc>
              <a:buFont typeface="Wingdings" panose="05000000000000000000" pitchFamily="2" charset="2"/>
              <a:buChar char="Ø"/>
            </a:pPr>
            <a:r>
              <a:rPr lang="en-US" sz="3556" dirty="0"/>
              <a:t>Review of basic electrical components</a:t>
            </a:r>
          </a:p>
          <a:p>
            <a:pPr marL="406405" indent="-406405">
              <a:lnSpc>
                <a:spcPct val="110000"/>
              </a:lnSpc>
              <a:buFont typeface="Wingdings" panose="05000000000000000000" pitchFamily="2" charset="2"/>
              <a:buChar char="Ø"/>
            </a:pPr>
            <a:r>
              <a:rPr lang="en-US" sz="3556" dirty="0"/>
              <a:t>Review of ac theory</a:t>
            </a:r>
          </a:p>
          <a:p>
            <a:pPr marL="406405" indent="-406405">
              <a:lnSpc>
                <a:spcPct val="110000"/>
              </a:lnSpc>
              <a:buFont typeface="Wingdings" panose="05000000000000000000" pitchFamily="2" charset="2"/>
              <a:buChar char="Ø"/>
            </a:pPr>
            <a:endParaRPr lang="en-GB" sz="3556" dirty="0"/>
          </a:p>
        </p:txBody>
      </p:sp>
    </p:spTree>
    <p:custDataLst>
      <p:tags r:id="rId1"/>
    </p:custDataLst>
    <p:extLst>
      <p:ext uri="{BB962C8B-B14F-4D97-AF65-F5344CB8AC3E}">
        <p14:creationId xmlns:p14="http://schemas.microsoft.com/office/powerpoint/2010/main" val="1317909277"/>
      </p:ext>
    </p:extLst>
  </p:cSld>
  <p:clrMapOvr>
    <a:masterClrMapping/>
  </p:clrMapOvr>
  <mc:AlternateContent xmlns:mc="http://schemas.openxmlformats.org/markup-compatibility/2006" xmlns:p14="http://schemas.microsoft.com/office/powerpoint/2010/main">
    <mc:Choice Requires="p14">
      <p:transition spd="slow" p14:dur="2000" advTm="89126"/>
    </mc:Choice>
    <mc:Fallback xmlns="">
      <p:transition spd="slow" advTm="8912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7|26.6"/>
</p:tagLst>
</file>

<file path=ppt/tags/tag2.xml><?xml version="1.0" encoding="utf-8"?>
<p:tagLst xmlns:a="http://schemas.openxmlformats.org/drawingml/2006/main" xmlns:r="http://schemas.openxmlformats.org/officeDocument/2006/relationships" xmlns:p="http://schemas.openxmlformats.org/presentationml/2006/main">
  <p:tag name="TIMING" val="|1.3|2.8|4|40.3|24.9|5.6|5.5|5.6|1.8|6.8|7.9|4.8|15.4|8.8"/>
</p:tagLst>
</file>

<file path=ppt/tags/tag3.xml><?xml version="1.0" encoding="utf-8"?>
<p:tagLst xmlns:a="http://schemas.openxmlformats.org/drawingml/2006/main" xmlns:r="http://schemas.openxmlformats.org/officeDocument/2006/relationships" xmlns:p="http://schemas.openxmlformats.org/presentationml/2006/main">
  <p:tag name="TIMING" val="|1.3|2.8|4|40.3|24.9|5.6|5.5|5.6|1.8|6.8|7.9|4.8|15.4|8.8"/>
</p:tagLst>
</file>

<file path=ppt/tags/tag4.xml><?xml version="1.0" encoding="utf-8"?>
<p:tagLst xmlns:a="http://schemas.openxmlformats.org/drawingml/2006/main" xmlns:r="http://schemas.openxmlformats.org/officeDocument/2006/relationships" xmlns:p="http://schemas.openxmlformats.org/presentationml/2006/main">
  <p:tag name="TIMING" val="|14.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2947</TotalTime>
  <Words>1980</Words>
  <Application>Microsoft Office PowerPoint</Application>
  <PresentationFormat>Widescreen</PresentationFormat>
  <Paragraphs>432</Paragraphs>
  <Slides>27</Slides>
  <Notes>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2</vt:i4>
      </vt:variant>
      <vt:variant>
        <vt:lpstr>Slide Titles</vt:lpstr>
      </vt:variant>
      <vt:variant>
        <vt:i4>27</vt:i4>
      </vt:variant>
    </vt:vector>
  </HeadingPairs>
  <TitlesOfParts>
    <vt:vector size="41" baseType="lpstr">
      <vt:lpstr>Arial</vt:lpstr>
      <vt:lpstr>Arial</vt:lpstr>
      <vt:lpstr>Calibri</vt:lpstr>
      <vt:lpstr>Calibri Light</vt:lpstr>
      <vt:lpstr>Cambria</vt:lpstr>
      <vt:lpstr>Cambria Math</vt:lpstr>
      <vt:lpstr>Matisse ITC</vt:lpstr>
      <vt:lpstr>Symbol</vt:lpstr>
      <vt:lpstr>Times New Roman</vt:lpstr>
      <vt:lpstr>Wingdings</vt:lpstr>
      <vt:lpstr>Office Theme</vt:lpstr>
      <vt:lpstr>Custom Design</vt:lpstr>
      <vt:lpstr>Equation.3</vt:lpstr>
      <vt:lpstr>Equation.2</vt:lpstr>
      <vt:lpstr>1.0 Review of AC Circuits</vt:lpstr>
      <vt:lpstr>Learning Outcomes</vt:lpstr>
      <vt:lpstr>AC Circuit analysis (15 hrs) </vt:lpstr>
      <vt:lpstr>Review of electric components</vt:lpstr>
      <vt:lpstr>Inductance (unit: henry, H; letter symbol:  L , l )</vt:lpstr>
      <vt:lpstr>Capacitance (unit: farad, F; letter symbol:  C, c )</vt:lpstr>
      <vt:lpstr>Review of AC theory</vt:lpstr>
      <vt:lpstr>Review of Phasor Representation</vt:lpstr>
      <vt:lpstr>Phasor</vt:lpstr>
      <vt:lpstr>Phase Difference</vt:lpstr>
      <vt:lpstr>Impedance and Admittance in an a.c. circuit</vt:lpstr>
      <vt:lpstr>Impedance and Admittance for R, L and C</vt:lpstr>
      <vt:lpstr>R-L series circuit</vt:lpstr>
      <vt:lpstr>R-C series circuit</vt:lpstr>
      <vt:lpstr>L-C series circuit</vt:lpstr>
      <vt:lpstr>R-L-C series circuit</vt:lpstr>
      <vt:lpstr>Active Power and Apparent Power</vt:lpstr>
      <vt:lpstr>Reactive Power</vt:lpstr>
      <vt:lpstr>Intantaneous power p(t) with time varying quantities</vt:lpstr>
      <vt:lpstr>Power Factor</vt:lpstr>
      <vt:lpstr>Power factor angle</vt:lpstr>
      <vt:lpstr>Convention for Reactive Power</vt:lpstr>
      <vt:lpstr>Power factor correction</vt:lpstr>
      <vt:lpstr>Calculation of required capacitor for correct power factor</vt:lpstr>
      <vt:lpstr>Example on Power factor correction</vt:lpstr>
      <vt:lpstr>Answers</vt:lpstr>
      <vt:lpstr>Recap of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Waveform Characteristics</dc:title>
  <dc:creator>Lucas</dc:creator>
  <cp:lastModifiedBy>Lucas</cp:lastModifiedBy>
  <cp:revision>182</cp:revision>
  <dcterms:created xsi:type="dcterms:W3CDTF">2020-04-15T07:17:18Z</dcterms:created>
  <dcterms:modified xsi:type="dcterms:W3CDTF">2020-07-18T11:33:19Z</dcterms:modified>
</cp:coreProperties>
</file>