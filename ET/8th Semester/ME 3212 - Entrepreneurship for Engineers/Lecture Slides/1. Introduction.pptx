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26"/>
  </p:notesMasterIdLst>
  <p:sldIdLst>
    <p:sldId id="256" r:id="rId2"/>
    <p:sldId id="313" r:id="rId3"/>
    <p:sldId id="341" r:id="rId4"/>
    <p:sldId id="337" r:id="rId5"/>
    <p:sldId id="338" r:id="rId6"/>
    <p:sldId id="309" r:id="rId7"/>
    <p:sldId id="310" r:id="rId8"/>
    <p:sldId id="335" r:id="rId9"/>
    <p:sldId id="336" r:id="rId10"/>
    <p:sldId id="340" r:id="rId11"/>
    <p:sldId id="298" r:id="rId12"/>
    <p:sldId id="343" r:id="rId13"/>
    <p:sldId id="345" r:id="rId14"/>
    <p:sldId id="346" r:id="rId15"/>
    <p:sldId id="347" r:id="rId16"/>
    <p:sldId id="348" r:id="rId17"/>
    <p:sldId id="350" r:id="rId18"/>
    <p:sldId id="351" r:id="rId19"/>
    <p:sldId id="352" r:id="rId20"/>
    <p:sldId id="353" r:id="rId21"/>
    <p:sldId id="354" r:id="rId22"/>
    <p:sldId id="355" r:id="rId23"/>
    <p:sldId id="356" r:id="rId24"/>
    <p:sldId id="29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70"/>
    <p:restoredTop sz="92135" autoAdjust="0"/>
  </p:normalViewPr>
  <p:slideViewPr>
    <p:cSldViewPr snapToGrid="0">
      <p:cViewPr varScale="1">
        <p:scale>
          <a:sx n="109" d="100"/>
          <a:sy n="109" d="100"/>
        </p:scale>
        <p:origin x="19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0.png"/><Relationship Id="rId4" Type="http://schemas.openxmlformats.org/officeDocument/2006/relationships/image" Target="../media/image16.svg"/></Relationships>
</file>

<file path=ppt/diagrams/_rels/data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0.png"/><Relationship Id="rId4"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D2AC67-2F83-4CAA-BE76-2320AE53CD0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CB8EC0FF-048C-4627-8BB5-59BFB187943E}">
      <dgm:prSet/>
      <dgm:spPr/>
      <dgm:t>
        <a:bodyPr/>
        <a:lstStyle/>
        <a:p>
          <a:pPr>
            <a:lnSpc>
              <a:spcPct val="100000"/>
            </a:lnSpc>
            <a:defRPr b="1"/>
          </a:pPr>
          <a:r>
            <a:rPr lang="en-US" b="1"/>
            <a:t>Passion for the Business</a:t>
          </a:r>
          <a:endParaRPr lang="en-US"/>
        </a:p>
      </dgm:t>
    </dgm:pt>
    <dgm:pt modelId="{DEF10632-DC82-48BF-83C3-E110CC8C280B}" type="parTrans" cxnId="{6B14E757-4E48-45C1-8078-53137E738A81}">
      <dgm:prSet/>
      <dgm:spPr/>
      <dgm:t>
        <a:bodyPr/>
        <a:lstStyle/>
        <a:p>
          <a:endParaRPr lang="en-US"/>
        </a:p>
      </dgm:t>
    </dgm:pt>
    <dgm:pt modelId="{C3FC0113-D0AE-42B6-AAE6-E13A26EE2349}" type="sibTrans" cxnId="{6B14E757-4E48-45C1-8078-53137E738A81}">
      <dgm:prSet/>
      <dgm:spPr/>
      <dgm:t>
        <a:bodyPr/>
        <a:lstStyle/>
        <a:p>
          <a:endParaRPr lang="en-US"/>
        </a:p>
      </dgm:t>
    </dgm:pt>
    <dgm:pt modelId="{924641AF-C2EF-46B2-83E0-ECC3F0A89B49}">
      <dgm:prSet/>
      <dgm:spPr/>
      <dgm:t>
        <a:bodyPr/>
        <a:lstStyle/>
        <a:p>
          <a:pPr>
            <a:lnSpc>
              <a:spcPct val="100000"/>
            </a:lnSpc>
          </a:pPr>
          <a:r>
            <a:rPr lang="en-US"/>
            <a:t>The number one characteristic shared by successful entrepreneurs is a </a:t>
          </a:r>
          <a:r>
            <a:rPr lang="en-US" i="1" u="sng"/>
            <a:t>passion for the business</a:t>
          </a:r>
          <a:r>
            <a:rPr lang="en-US"/>
            <a:t>.</a:t>
          </a:r>
        </a:p>
      </dgm:t>
    </dgm:pt>
    <dgm:pt modelId="{B0C9BF6B-3CEF-490F-9184-9A34D21F7419}" type="parTrans" cxnId="{5EF83973-7AF0-4A0E-A85C-B3B1D2944A2D}">
      <dgm:prSet/>
      <dgm:spPr/>
      <dgm:t>
        <a:bodyPr/>
        <a:lstStyle/>
        <a:p>
          <a:endParaRPr lang="en-US"/>
        </a:p>
      </dgm:t>
    </dgm:pt>
    <dgm:pt modelId="{3B2E781D-D026-46E4-A19E-593F981E23ED}" type="sibTrans" cxnId="{5EF83973-7AF0-4A0E-A85C-B3B1D2944A2D}">
      <dgm:prSet/>
      <dgm:spPr/>
      <dgm:t>
        <a:bodyPr/>
        <a:lstStyle/>
        <a:p>
          <a:endParaRPr lang="en-US"/>
        </a:p>
      </dgm:t>
    </dgm:pt>
    <dgm:pt modelId="{3D048B7F-0B92-4124-8FC5-AC6947BB0361}">
      <dgm:prSet/>
      <dgm:spPr/>
      <dgm:t>
        <a:bodyPr/>
        <a:lstStyle/>
        <a:p>
          <a:pPr>
            <a:lnSpc>
              <a:spcPct val="100000"/>
            </a:lnSpc>
          </a:pPr>
          <a:r>
            <a:rPr lang="en-US"/>
            <a:t>This passion typically stems from the entrepreneur’s belief that </a:t>
          </a:r>
          <a:r>
            <a:rPr lang="en-US" i="1" u="sng"/>
            <a:t>the business will positively influence people’s lives</a:t>
          </a:r>
          <a:r>
            <a:rPr lang="en-US"/>
            <a:t>.</a:t>
          </a:r>
        </a:p>
      </dgm:t>
    </dgm:pt>
    <dgm:pt modelId="{FE3FC015-66A4-4DA1-9228-7BF45E9690EA}" type="parTrans" cxnId="{8425F378-0A24-424B-A705-F1CC06C474A0}">
      <dgm:prSet/>
      <dgm:spPr/>
      <dgm:t>
        <a:bodyPr/>
        <a:lstStyle/>
        <a:p>
          <a:endParaRPr lang="en-US"/>
        </a:p>
      </dgm:t>
    </dgm:pt>
    <dgm:pt modelId="{CFBD665E-3123-4EBD-8574-F3DFACE66347}" type="sibTrans" cxnId="{8425F378-0A24-424B-A705-F1CC06C474A0}">
      <dgm:prSet/>
      <dgm:spPr/>
      <dgm:t>
        <a:bodyPr/>
        <a:lstStyle/>
        <a:p>
          <a:endParaRPr lang="en-US"/>
        </a:p>
      </dgm:t>
    </dgm:pt>
    <dgm:pt modelId="{D26EBF93-9A16-4544-A42D-7B462AD21D20}">
      <dgm:prSet/>
      <dgm:spPr/>
      <dgm:t>
        <a:bodyPr/>
        <a:lstStyle/>
        <a:p>
          <a:pPr>
            <a:lnSpc>
              <a:spcPct val="100000"/>
            </a:lnSpc>
            <a:defRPr b="1"/>
          </a:pPr>
          <a:r>
            <a:rPr lang="en-US" b="1"/>
            <a:t>Product/Customer Focus</a:t>
          </a:r>
          <a:endParaRPr lang="en-US"/>
        </a:p>
      </dgm:t>
    </dgm:pt>
    <dgm:pt modelId="{6EA5A1D3-3ACB-4102-9725-E653F2F4D57B}" type="parTrans" cxnId="{4D652BF6-0C6E-4349-B229-C0006CF21CBF}">
      <dgm:prSet/>
      <dgm:spPr/>
      <dgm:t>
        <a:bodyPr/>
        <a:lstStyle/>
        <a:p>
          <a:endParaRPr lang="en-US"/>
        </a:p>
      </dgm:t>
    </dgm:pt>
    <dgm:pt modelId="{AC7B178E-93F8-4296-9A1E-C685E2E152EE}" type="sibTrans" cxnId="{4D652BF6-0C6E-4349-B229-C0006CF21CBF}">
      <dgm:prSet/>
      <dgm:spPr/>
      <dgm:t>
        <a:bodyPr/>
        <a:lstStyle/>
        <a:p>
          <a:endParaRPr lang="en-US"/>
        </a:p>
      </dgm:t>
    </dgm:pt>
    <dgm:pt modelId="{0C3FDB37-BBF7-4EB8-BE49-19334D65F14B}">
      <dgm:prSet/>
      <dgm:spPr/>
      <dgm:t>
        <a:bodyPr/>
        <a:lstStyle/>
        <a:p>
          <a:pPr>
            <a:lnSpc>
              <a:spcPct val="100000"/>
            </a:lnSpc>
          </a:pPr>
          <a:r>
            <a:rPr lang="en-US"/>
            <a:t>A second defining characteristic of successful entrepreneurs is a </a:t>
          </a:r>
          <a:r>
            <a:rPr lang="en-US" b="1"/>
            <a:t>product/customer focus.</a:t>
          </a:r>
          <a:endParaRPr lang="en-US"/>
        </a:p>
      </dgm:t>
    </dgm:pt>
    <dgm:pt modelId="{7425B60F-DA66-455E-BAE3-F829D0CCDAB2}" type="parTrans" cxnId="{CE71733B-89E3-4942-A1D0-DAA1D9808875}">
      <dgm:prSet/>
      <dgm:spPr/>
      <dgm:t>
        <a:bodyPr/>
        <a:lstStyle/>
        <a:p>
          <a:endParaRPr lang="en-US"/>
        </a:p>
      </dgm:t>
    </dgm:pt>
    <dgm:pt modelId="{91698857-F08E-466E-8662-C898D2C91737}" type="sibTrans" cxnId="{CE71733B-89E3-4942-A1D0-DAA1D9808875}">
      <dgm:prSet/>
      <dgm:spPr/>
      <dgm:t>
        <a:bodyPr/>
        <a:lstStyle/>
        <a:p>
          <a:endParaRPr lang="en-US"/>
        </a:p>
      </dgm:t>
    </dgm:pt>
    <dgm:pt modelId="{5727A682-5C3A-4CFB-8BEA-F3EBA07031B0}">
      <dgm:prSet/>
      <dgm:spPr/>
      <dgm:t>
        <a:bodyPr/>
        <a:lstStyle/>
        <a:p>
          <a:pPr>
            <a:lnSpc>
              <a:spcPct val="100000"/>
            </a:lnSpc>
          </a:pPr>
          <a:r>
            <a:rPr lang="en-US"/>
            <a:t>Developing </a:t>
          </a:r>
          <a:r>
            <a:rPr lang="en-US" b="1"/>
            <a:t>products</a:t>
          </a:r>
          <a:r>
            <a:rPr lang="en-US"/>
            <a:t> that enhance people's lives is an aspect of the </a:t>
          </a:r>
          <a:r>
            <a:rPr lang="en-US" b="1"/>
            <a:t>entrepreneurial</a:t>
          </a:r>
          <a:r>
            <a:rPr lang="en-US"/>
            <a:t> process that many business owners find very rewarding. </a:t>
          </a:r>
        </a:p>
      </dgm:t>
    </dgm:pt>
    <dgm:pt modelId="{87DA1904-0F98-4FA1-B4E4-662C73CE812A}" type="parTrans" cxnId="{6E7D2212-B0FA-4177-899B-E5004382BA38}">
      <dgm:prSet/>
      <dgm:spPr/>
      <dgm:t>
        <a:bodyPr/>
        <a:lstStyle/>
        <a:p>
          <a:endParaRPr lang="en-US"/>
        </a:p>
      </dgm:t>
    </dgm:pt>
    <dgm:pt modelId="{F3C2CC67-EEA3-425A-8291-56B81B282A85}" type="sibTrans" cxnId="{6E7D2212-B0FA-4177-899B-E5004382BA38}">
      <dgm:prSet/>
      <dgm:spPr/>
      <dgm:t>
        <a:bodyPr/>
        <a:lstStyle/>
        <a:p>
          <a:endParaRPr lang="en-US"/>
        </a:p>
      </dgm:t>
    </dgm:pt>
    <dgm:pt modelId="{4E9B1CCB-1C6C-4983-8A0E-7488B568053D}" type="pres">
      <dgm:prSet presAssocID="{88D2AC67-2F83-4CAA-BE76-2320AE53CD0B}" presName="root" presStyleCnt="0">
        <dgm:presLayoutVars>
          <dgm:dir/>
          <dgm:resizeHandles val="exact"/>
        </dgm:presLayoutVars>
      </dgm:prSet>
      <dgm:spPr/>
    </dgm:pt>
    <dgm:pt modelId="{42B21869-B1F7-4C1C-AEB9-3F252F5F321F}" type="pres">
      <dgm:prSet presAssocID="{CB8EC0FF-048C-4627-8BB5-59BFB187943E}" presName="compNode" presStyleCnt="0"/>
      <dgm:spPr/>
    </dgm:pt>
    <dgm:pt modelId="{D206CC2F-66E7-441E-99B9-DACE040774C4}" type="pres">
      <dgm:prSet presAssocID="{CB8EC0FF-048C-4627-8BB5-59BFB187943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nections"/>
        </a:ext>
      </dgm:extLst>
    </dgm:pt>
    <dgm:pt modelId="{1006FDDD-2685-48CB-B144-B1A2CE8401A0}" type="pres">
      <dgm:prSet presAssocID="{CB8EC0FF-048C-4627-8BB5-59BFB187943E}" presName="iconSpace" presStyleCnt="0"/>
      <dgm:spPr/>
    </dgm:pt>
    <dgm:pt modelId="{1EC38368-A5E7-4CB4-9D49-1DE9A3A548C6}" type="pres">
      <dgm:prSet presAssocID="{CB8EC0FF-048C-4627-8BB5-59BFB187943E}" presName="parTx" presStyleLbl="revTx" presStyleIdx="0" presStyleCnt="4">
        <dgm:presLayoutVars>
          <dgm:chMax val="0"/>
          <dgm:chPref val="0"/>
        </dgm:presLayoutVars>
      </dgm:prSet>
      <dgm:spPr/>
    </dgm:pt>
    <dgm:pt modelId="{61AE9136-34B8-486D-B2D0-EF660C78FE80}" type="pres">
      <dgm:prSet presAssocID="{CB8EC0FF-048C-4627-8BB5-59BFB187943E}" presName="txSpace" presStyleCnt="0"/>
      <dgm:spPr/>
    </dgm:pt>
    <dgm:pt modelId="{A7284D02-DB1C-45FA-A80D-C3BC7C268FFD}" type="pres">
      <dgm:prSet presAssocID="{CB8EC0FF-048C-4627-8BB5-59BFB187943E}" presName="desTx" presStyleLbl="revTx" presStyleIdx="1" presStyleCnt="4">
        <dgm:presLayoutVars/>
      </dgm:prSet>
      <dgm:spPr/>
    </dgm:pt>
    <dgm:pt modelId="{1CBDD38C-4011-476F-B754-D2DD5156010B}" type="pres">
      <dgm:prSet presAssocID="{C3FC0113-D0AE-42B6-AAE6-E13A26EE2349}" presName="sibTrans" presStyleCnt="0"/>
      <dgm:spPr/>
    </dgm:pt>
    <dgm:pt modelId="{6F355624-418A-4835-836A-F54B46430CBA}" type="pres">
      <dgm:prSet presAssocID="{D26EBF93-9A16-4544-A42D-7B462AD21D20}" presName="compNode" presStyleCnt="0"/>
      <dgm:spPr/>
    </dgm:pt>
    <dgm:pt modelId="{FAE36827-80DF-428F-A61B-9F299DFBFADA}" type="pres">
      <dgm:prSet presAssocID="{D26EBF93-9A16-4544-A42D-7B462AD21D2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B79B75D8-9963-4EB3-BD59-B89FC0D70AE6}" type="pres">
      <dgm:prSet presAssocID="{D26EBF93-9A16-4544-A42D-7B462AD21D20}" presName="iconSpace" presStyleCnt="0"/>
      <dgm:spPr/>
    </dgm:pt>
    <dgm:pt modelId="{6E89473E-242C-4F41-A5CC-1D09BC2E9366}" type="pres">
      <dgm:prSet presAssocID="{D26EBF93-9A16-4544-A42D-7B462AD21D20}" presName="parTx" presStyleLbl="revTx" presStyleIdx="2" presStyleCnt="4">
        <dgm:presLayoutVars>
          <dgm:chMax val="0"/>
          <dgm:chPref val="0"/>
        </dgm:presLayoutVars>
      </dgm:prSet>
      <dgm:spPr/>
    </dgm:pt>
    <dgm:pt modelId="{24445936-E1E5-4F01-83FA-90EA206A1288}" type="pres">
      <dgm:prSet presAssocID="{D26EBF93-9A16-4544-A42D-7B462AD21D20}" presName="txSpace" presStyleCnt="0"/>
      <dgm:spPr/>
    </dgm:pt>
    <dgm:pt modelId="{77D11E4B-B816-4315-8EAE-715898B456AA}" type="pres">
      <dgm:prSet presAssocID="{D26EBF93-9A16-4544-A42D-7B462AD21D20}" presName="desTx" presStyleLbl="revTx" presStyleIdx="3" presStyleCnt="4">
        <dgm:presLayoutVars/>
      </dgm:prSet>
      <dgm:spPr/>
    </dgm:pt>
  </dgm:ptLst>
  <dgm:cxnLst>
    <dgm:cxn modelId="{8C281E02-2B05-428A-A2DE-C5F7DE05196C}" type="presOf" srcId="{0C3FDB37-BBF7-4EB8-BE49-19334D65F14B}" destId="{77D11E4B-B816-4315-8EAE-715898B456AA}" srcOrd="0" destOrd="0" presId="urn:microsoft.com/office/officeart/2018/2/layout/IconLabelDescriptionList"/>
    <dgm:cxn modelId="{6E7D2212-B0FA-4177-899B-E5004382BA38}" srcId="{D26EBF93-9A16-4544-A42D-7B462AD21D20}" destId="{5727A682-5C3A-4CFB-8BEA-F3EBA07031B0}" srcOrd="1" destOrd="0" parTransId="{87DA1904-0F98-4FA1-B4E4-662C73CE812A}" sibTransId="{F3C2CC67-EEA3-425A-8291-56B81B282A85}"/>
    <dgm:cxn modelId="{79AC7D39-B63B-4C27-8994-A91CA273006D}" type="presOf" srcId="{5727A682-5C3A-4CFB-8BEA-F3EBA07031B0}" destId="{77D11E4B-B816-4315-8EAE-715898B456AA}" srcOrd="0" destOrd="1" presId="urn:microsoft.com/office/officeart/2018/2/layout/IconLabelDescriptionList"/>
    <dgm:cxn modelId="{CE71733B-89E3-4942-A1D0-DAA1D9808875}" srcId="{D26EBF93-9A16-4544-A42D-7B462AD21D20}" destId="{0C3FDB37-BBF7-4EB8-BE49-19334D65F14B}" srcOrd="0" destOrd="0" parTransId="{7425B60F-DA66-455E-BAE3-F829D0CCDAB2}" sibTransId="{91698857-F08E-466E-8662-C898D2C91737}"/>
    <dgm:cxn modelId="{AB57CC52-1BC8-485A-85C8-9398533C2E85}" type="presOf" srcId="{924641AF-C2EF-46B2-83E0-ECC3F0A89B49}" destId="{A7284D02-DB1C-45FA-A80D-C3BC7C268FFD}" srcOrd="0" destOrd="0" presId="urn:microsoft.com/office/officeart/2018/2/layout/IconLabelDescriptionList"/>
    <dgm:cxn modelId="{31D53457-A30F-4340-8CD5-638DA4D4169F}" type="presOf" srcId="{3D048B7F-0B92-4124-8FC5-AC6947BB0361}" destId="{A7284D02-DB1C-45FA-A80D-C3BC7C268FFD}" srcOrd="0" destOrd="1" presId="urn:microsoft.com/office/officeart/2018/2/layout/IconLabelDescriptionList"/>
    <dgm:cxn modelId="{6B14E757-4E48-45C1-8078-53137E738A81}" srcId="{88D2AC67-2F83-4CAA-BE76-2320AE53CD0B}" destId="{CB8EC0FF-048C-4627-8BB5-59BFB187943E}" srcOrd="0" destOrd="0" parTransId="{DEF10632-DC82-48BF-83C3-E110CC8C280B}" sibTransId="{C3FC0113-D0AE-42B6-AAE6-E13A26EE2349}"/>
    <dgm:cxn modelId="{08E6CC6B-2A3F-4F65-9605-F0BBDCCBE275}" type="presOf" srcId="{88D2AC67-2F83-4CAA-BE76-2320AE53CD0B}" destId="{4E9B1CCB-1C6C-4983-8A0E-7488B568053D}" srcOrd="0" destOrd="0" presId="urn:microsoft.com/office/officeart/2018/2/layout/IconLabelDescriptionList"/>
    <dgm:cxn modelId="{5EF83973-7AF0-4A0E-A85C-B3B1D2944A2D}" srcId="{CB8EC0FF-048C-4627-8BB5-59BFB187943E}" destId="{924641AF-C2EF-46B2-83E0-ECC3F0A89B49}" srcOrd="0" destOrd="0" parTransId="{B0C9BF6B-3CEF-490F-9184-9A34D21F7419}" sibTransId="{3B2E781D-D026-46E4-A19E-593F981E23ED}"/>
    <dgm:cxn modelId="{8425F378-0A24-424B-A705-F1CC06C474A0}" srcId="{CB8EC0FF-048C-4627-8BB5-59BFB187943E}" destId="{3D048B7F-0B92-4124-8FC5-AC6947BB0361}" srcOrd="1" destOrd="0" parTransId="{FE3FC015-66A4-4DA1-9228-7BF45E9690EA}" sibTransId="{CFBD665E-3123-4EBD-8574-F3DFACE66347}"/>
    <dgm:cxn modelId="{A96B96DC-47AF-4CFC-AD36-AB2A07F50D9D}" type="presOf" srcId="{D26EBF93-9A16-4544-A42D-7B462AD21D20}" destId="{6E89473E-242C-4F41-A5CC-1D09BC2E9366}" srcOrd="0" destOrd="0" presId="urn:microsoft.com/office/officeart/2018/2/layout/IconLabelDescriptionList"/>
    <dgm:cxn modelId="{4D652BF6-0C6E-4349-B229-C0006CF21CBF}" srcId="{88D2AC67-2F83-4CAA-BE76-2320AE53CD0B}" destId="{D26EBF93-9A16-4544-A42D-7B462AD21D20}" srcOrd="1" destOrd="0" parTransId="{6EA5A1D3-3ACB-4102-9725-E653F2F4D57B}" sibTransId="{AC7B178E-93F8-4296-9A1E-C685E2E152EE}"/>
    <dgm:cxn modelId="{EAE9F4FA-C990-4DE5-A366-AB6DEC1FEB89}" type="presOf" srcId="{CB8EC0FF-048C-4627-8BB5-59BFB187943E}" destId="{1EC38368-A5E7-4CB4-9D49-1DE9A3A548C6}" srcOrd="0" destOrd="0" presId="urn:microsoft.com/office/officeart/2018/2/layout/IconLabelDescriptionList"/>
    <dgm:cxn modelId="{AC380FD7-76F1-4DDB-8EB7-DA9294EA9E77}" type="presParOf" srcId="{4E9B1CCB-1C6C-4983-8A0E-7488B568053D}" destId="{42B21869-B1F7-4C1C-AEB9-3F252F5F321F}" srcOrd="0" destOrd="0" presId="urn:microsoft.com/office/officeart/2018/2/layout/IconLabelDescriptionList"/>
    <dgm:cxn modelId="{B12DF159-489F-4C23-A56A-4A5F6A4EEB65}" type="presParOf" srcId="{42B21869-B1F7-4C1C-AEB9-3F252F5F321F}" destId="{D206CC2F-66E7-441E-99B9-DACE040774C4}" srcOrd="0" destOrd="0" presId="urn:microsoft.com/office/officeart/2018/2/layout/IconLabelDescriptionList"/>
    <dgm:cxn modelId="{704FB31F-C67E-4701-A12B-6977B1723E16}" type="presParOf" srcId="{42B21869-B1F7-4C1C-AEB9-3F252F5F321F}" destId="{1006FDDD-2685-48CB-B144-B1A2CE8401A0}" srcOrd="1" destOrd="0" presId="urn:microsoft.com/office/officeart/2018/2/layout/IconLabelDescriptionList"/>
    <dgm:cxn modelId="{ED45A738-7E2F-4AD9-A10A-5C580C8E72DD}" type="presParOf" srcId="{42B21869-B1F7-4C1C-AEB9-3F252F5F321F}" destId="{1EC38368-A5E7-4CB4-9D49-1DE9A3A548C6}" srcOrd="2" destOrd="0" presId="urn:microsoft.com/office/officeart/2018/2/layout/IconLabelDescriptionList"/>
    <dgm:cxn modelId="{EEDFFE0D-4646-456F-82CB-6E92E92BA328}" type="presParOf" srcId="{42B21869-B1F7-4C1C-AEB9-3F252F5F321F}" destId="{61AE9136-34B8-486D-B2D0-EF660C78FE80}" srcOrd="3" destOrd="0" presId="urn:microsoft.com/office/officeart/2018/2/layout/IconLabelDescriptionList"/>
    <dgm:cxn modelId="{1E6A44FD-72D4-4693-BFC7-383EAB0604CF}" type="presParOf" srcId="{42B21869-B1F7-4C1C-AEB9-3F252F5F321F}" destId="{A7284D02-DB1C-45FA-A80D-C3BC7C268FFD}" srcOrd="4" destOrd="0" presId="urn:microsoft.com/office/officeart/2018/2/layout/IconLabelDescriptionList"/>
    <dgm:cxn modelId="{E650C19D-9959-4033-927A-C1C8A6F49173}" type="presParOf" srcId="{4E9B1CCB-1C6C-4983-8A0E-7488B568053D}" destId="{1CBDD38C-4011-476F-B754-D2DD5156010B}" srcOrd="1" destOrd="0" presId="urn:microsoft.com/office/officeart/2018/2/layout/IconLabelDescriptionList"/>
    <dgm:cxn modelId="{EEF12B54-FD8F-4FF5-9F8F-6483853597A8}" type="presParOf" srcId="{4E9B1CCB-1C6C-4983-8A0E-7488B568053D}" destId="{6F355624-418A-4835-836A-F54B46430CBA}" srcOrd="2" destOrd="0" presId="urn:microsoft.com/office/officeart/2018/2/layout/IconLabelDescriptionList"/>
    <dgm:cxn modelId="{B8EE7B83-87A7-4BEA-B9F0-6DACB2CA75CE}" type="presParOf" srcId="{6F355624-418A-4835-836A-F54B46430CBA}" destId="{FAE36827-80DF-428F-A61B-9F299DFBFADA}" srcOrd="0" destOrd="0" presId="urn:microsoft.com/office/officeart/2018/2/layout/IconLabelDescriptionList"/>
    <dgm:cxn modelId="{71FB48A8-2D53-414E-A135-4B7EC4D582B1}" type="presParOf" srcId="{6F355624-418A-4835-836A-F54B46430CBA}" destId="{B79B75D8-9963-4EB3-BD59-B89FC0D70AE6}" srcOrd="1" destOrd="0" presId="urn:microsoft.com/office/officeart/2018/2/layout/IconLabelDescriptionList"/>
    <dgm:cxn modelId="{679D934D-7CDC-4440-9B60-5C4516A54908}" type="presParOf" srcId="{6F355624-418A-4835-836A-F54B46430CBA}" destId="{6E89473E-242C-4F41-A5CC-1D09BC2E9366}" srcOrd="2" destOrd="0" presId="urn:microsoft.com/office/officeart/2018/2/layout/IconLabelDescriptionList"/>
    <dgm:cxn modelId="{B1CD55A7-C3EB-4FBE-BCE0-4FEB766EEA97}" type="presParOf" srcId="{6F355624-418A-4835-836A-F54B46430CBA}" destId="{24445936-E1E5-4F01-83FA-90EA206A1288}" srcOrd="3" destOrd="0" presId="urn:microsoft.com/office/officeart/2018/2/layout/IconLabelDescriptionList"/>
    <dgm:cxn modelId="{DB2147FE-52A0-4557-9103-3AF46DFA0CBB}" type="presParOf" srcId="{6F355624-418A-4835-836A-F54B46430CBA}" destId="{77D11E4B-B816-4315-8EAE-715898B456AA}"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88401-8AE5-4057-8290-80D2594B4401}"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9C84D620-30C4-487E-AEBD-76D2B36F7C4D}">
      <dgm:prSet/>
      <dgm:spPr/>
      <dgm:t>
        <a:bodyPr/>
        <a:lstStyle/>
        <a:p>
          <a:pPr>
            <a:lnSpc>
              <a:spcPct val="100000"/>
            </a:lnSpc>
            <a:defRPr b="1"/>
          </a:pPr>
          <a:r>
            <a:rPr lang="en-US" b="1"/>
            <a:t>Tenacity Despite Failure</a:t>
          </a:r>
          <a:endParaRPr lang="en-US"/>
        </a:p>
      </dgm:t>
    </dgm:pt>
    <dgm:pt modelId="{22EFD1C9-E1AD-4BE7-8A93-F1642433E8CF}" type="parTrans" cxnId="{BABEAE87-8DC0-4644-B091-98BDE3BE024E}">
      <dgm:prSet/>
      <dgm:spPr/>
      <dgm:t>
        <a:bodyPr/>
        <a:lstStyle/>
        <a:p>
          <a:endParaRPr lang="en-US"/>
        </a:p>
      </dgm:t>
    </dgm:pt>
    <dgm:pt modelId="{D469136C-63E1-4A7E-BABB-AC9E53FEC018}" type="sibTrans" cxnId="{BABEAE87-8DC0-4644-B091-98BDE3BE024E}">
      <dgm:prSet/>
      <dgm:spPr/>
      <dgm:t>
        <a:bodyPr/>
        <a:lstStyle/>
        <a:p>
          <a:endParaRPr lang="en-US"/>
        </a:p>
      </dgm:t>
    </dgm:pt>
    <dgm:pt modelId="{C3FE6824-E668-49B7-BAD5-F4B180EDB119}">
      <dgm:prSet/>
      <dgm:spPr/>
      <dgm:t>
        <a:bodyPr/>
        <a:lstStyle/>
        <a:p>
          <a:pPr>
            <a:lnSpc>
              <a:spcPct val="100000"/>
            </a:lnSpc>
          </a:pPr>
          <a:r>
            <a:rPr lang="en-US"/>
            <a:t>Because entrepreneurs are typically trying </a:t>
          </a:r>
          <a:r>
            <a:rPr lang="en-US" u="sng"/>
            <a:t>something new</a:t>
          </a:r>
          <a:r>
            <a:rPr lang="en-US"/>
            <a:t>, the </a:t>
          </a:r>
          <a:r>
            <a:rPr lang="en-US" u="sng"/>
            <a:t>failure rate is naturally high</a:t>
          </a:r>
          <a:r>
            <a:rPr lang="en-US"/>
            <a:t>.</a:t>
          </a:r>
        </a:p>
      </dgm:t>
    </dgm:pt>
    <dgm:pt modelId="{D7EED023-1B81-463D-9C8D-1B1B820209DB}" type="parTrans" cxnId="{697C5296-DDD3-4CEA-B149-AB00AF52555C}">
      <dgm:prSet/>
      <dgm:spPr/>
      <dgm:t>
        <a:bodyPr/>
        <a:lstStyle/>
        <a:p>
          <a:endParaRPr lang="en-US"/>
        </a:p>
      </dgm:t>
    </dgm:pt>
    <dgm:pt modelId="{7E405F96-109B-42EE-8ABC-33798D324B83}" type="sibTrans" cxnId="{697C5296-DDD3-4CEA-B149-AB00AF52555C}">
      <dgm:prSet/>
      <dgm:spPr/>
      <dgm:t>
        <a:bodyPr/>
        <a:lstStyle/>
        <a:p>
          <a:endParaRPr lang="en-US"/>
        </a:p>
      </dgm:t>
    </dgm:pt>
    <dgm:pt modelId="{F2CCF71A-0AEB-4EC5-8F9E-F2EE89C2D9C8}">
      <dgm:prSet/>
      <dgm:spPr/>
      <dgm:t>
        <a:bodyPr/>
        <a:lstStyle/>
        <a:p>
          <a:pPr>
            <a:lnSpc>
              <a:spcPct val="100000"/>
            </a:lnSpc>
          </a:pPr>
          <a:r>
            <a:rPr lang="en-US"/>
            <a:t>A defining characteristic of successful entrepreneurs is their ability to persevere through setbacks and failures.</a:t>
          </a:r>
        </a:p>
      </dgm:t>
    </dgm:pt>
    <dgm:pt modelId="{D28FE9F0-7082-4713-890D-7617DB3B9D33}" type="parTrans" cxnId="{C8A8DEDA-03F7-44D3-8574-E2CABF53C9BB}">
      <dgm:prSet/>
      <dgm:spPr/>
      <dgm:t>
        <a:bodyPr/>
        <a:lstStyle/>
        <a:p>
          <a:endParaRPr lang="en-US"/>
        </a:p>
      </dgm:t>
    </dgm:pt>
    <dgm:pt modelId="{F09E031F-61AC-4F0F-9EB6-30F8650FA979}" type="sibTrans" cxnId="{C8A8DEDA-03F7-44D3-8574-E2CABF53C9BB}">
      <dgm:prSet/>
      <dgm:spPr/>
      <dgm:t>
        <a:bodyPr/>
        <a:lstStyle/>
        <a:p>
          <a:endParaRPr lang="en-US"/>
        </a:p>
      </dgm:t>
    </dgm:pt>
    <dgm:pt modelId="{842A95DF-C26E-4E94-89E6-54F63FD6705B}">
      <dgm:prSet/>
      <dgm:spPr/>
      <dgm:t>
        <a:bodyPr/>
        <a:lstStyle/>
        <a:p>
          <a:pPr>
            <a:lnSpc>
              <a:spcPct val="100000"/>
            </a:lnSpc>
            <a:defRPr b="1"/>
          </a:pPr>
          <a:r>
            <a:rPr lang="en-US" b="1"/>
            <a:t>Execution Intelligence</a:t>
          </a:r>
          <a:endParaRPr lang="en-US"/>
        </a:p>
      </dgm:t>
    </dgm:pt>
    <dgm:pt modelId="{15646628-957E-45F6-8D61-A624017F022E}" type="parTrans" cxnId="{537BA1EF-8455-482E-9B18-E047A97B0262}">
      <dgm:prSet/>
      <dgm:spPr/>
      <dgm:t>
        <a:bodyPr/>
        <a:lstStyle/>
        <a:p>
          <a:endParaRPr lang="en-US"/>
        </a:p>
      </dgm:t>
    </dgm:pt>
    <dgm:pt modelId="{109C5F1E-C489-4FE3-B7F7-C08937F8714F}" type="sibTrans" cxnId="{537BA1EF-8455-482E-9B18-E047A97B0262}">
      <dgm:prSet/>
      <dgm:spPr/>
      <dgm:t>
        <a:bodyPr/>
        <a:lstStyle/>
        <a:p>
          <a:endParaRPr lang="en-US"/>
        </a:p>
      </dgm:t>
    </dgm:pt>
    <dgm:pt modelId="{9D949730-36AC-4880-92CC-26244FFC046A}">
      <dgm:prSet/>
      <dgm:spPr/>
      <dgm:t>
        <a:bodyPr/>
        <a:lstStyle/>
        <a:p>
          <a:pPr>
            <a:lnSpc>
              <a:spcPct val="100000"/>
            </a:lnSpc>
          </a:pPr>
          <a:r>
            <a:rPr lang="en-US"/>
            <a:t>The ability to fashion a </a:t>
          </a:r>
          <a:r>
            <a:rPr lang="en-US" u="sng"/>
            <a:t>solid business idea into a viable business </a:t>
          </a:r>
          <a:r>
            <a:rPr lang="en-US"/>
            <a:t>is a key characteristic of successful entrepreneurs.</a:t>
          </a:r>
        </a:p>
      </dgm:t>
    </dgm:pt>
    <dgm:pt modelId="{4138A167-CD87-40ED-9DDE-4B19E724FFF9}" type="parTrans" cxnId="{518683FE-99B8-44FA-822B-E495FCD1087C}">
      <dgm:prSet/>
      <dgm:spPr/>
      <dgm:t>
        <a:bodyPr/>
        <a:lstStyle/>
        <a:p>
          <a:endParaRPr lang="en-US"/>
        </a:p>
      </dgm:t>
    </dgm:pt>
    <dgm:pt modelId="{CE050EAB-47E7-4F98-AE65-06B94962E630}" type="sibTrans" cxnId="{518683FE-99B8-44FA-822B-E495FCD1087C}">
      <dgm:prSet/>
      <dgm:spPr/>
      <dgm:t>
        <a:bodyPr/>
        <a:lstStyle/>
        <a:p>
          <a:endParaRPr lang="en-US"/>
        </a:p>
      </dgm:t>
    </dgm:pt>
    <dgm:pt modelId="{FB431BC8-3689-410A-A35E-5E24FEE5E87B}">
      <dgm:prSet/>
      <dgm:spPr/>
      <dgm:t>
        <a:bodyPr/>
        <a:lstStyle/>
        <a:p>
          <a:pPr>
            <a:lnSpc>
              <a:spcPct val="100000"/>
            </a:lnSpc>
          </a:pPr>
          <a:r>
            <a:rPr lang="en-US"/>
            <a:t>The ability to translate thought, creativity, and imagination into action and measurable results is the essence of execution intelligence.</a:t>
          </a:r>
        </a:p>
      </dgm:t>
    </dgm:pt>
    <dgm:pt modelId="{769D5DFA-C82D-4196-9F31-0DDCD6B322B0}" type="parTrans" cxnId="{C3393E98-0351-473C-A8F8-7D920D6E9C41}">
      <dgm:prSet/>
      <dgm:spPr/>
      <dgm:t>
        <a:bodyPr/>
        <a:lstStyle/>
        <a:p>
          <a:endParaRPr lang="en-US"/>
        </a:p>
      </dgm:t>
    </dgm:pt>
    <dgm:pt modelId="{4AC15B1F-B1B9-4FDD-878A-C695AFEBE82A}" type="sibTrans" cxnId="{C3393E98-0351-473C-A8F8-7D920D6E9C41}">
      <dgm:prSet/>
      <dgm:spPr/>
      <dgm:t>
        <a:bodyPr/>
        <a:lstStyle/>
        <a:p>
          <a:endParaRPr lang="en-US"/>
        </a:p>
      </dgm:t>
    </dgm:pt>
    <dgm:pt modelId="{089E16CD-FEA0-4C0D-B131-0E9E536EB94B}" type="pres">
      <dgm:prSet presAssocID="{DA888401-8AE5-4057-8290-80D2594B4401}" presName="root" presStyleCnt="0">
        <dgm:presLayoutVars>
          <dgm:dir/>
          <dgm:resizeHandles val="exact"/>
        </dgm:presLayoutVars>
      </dgm:prSet>
      <dgm:spPr/>
    </dgm:pt>
    <dgm:pt modelId="{BA972CA6-987B-4E91-900A-0D04C4AC8B79}" type="pres">
      <dgm:prSet presAssocID="{9C84D620-30C4-487E-AEBD-76D2B36F7C4D}" presName="compNode" presStyleCnt="0"/>
      <dgm:spPr/>
    </dgm:pt>
    <dgm:pt modelId="{1F05CB3A-ED07-4AC8-8EB4-E9AFB772F910}" type="pres">
      <dgm:prSet presAssocID="{9C84D620-30C4-487E-AEBD-76D2B36F7C4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 Bulb and Gear"/>
        </a:ext>
      </dgm:extLst>
    </dgm:pt>
    <dgm:pt modelId="{45ACBF0D-4327-49E3-8AB8-98748C3B46A5}" type="pres">
      <dgm:prSet presAssocID="{9C84D620-30C4-487E-AEBD-76D2B36F7C4D}" presName="iconSpace" presStyleCnt="0"/>
      <dgm:spPr/>
    </dgm:pt>
    <dgm:pt modelId="{C3E3491A-BEB3-45F1-9A74-A0C85D01EB89}" type="pres">
      <dgm:prSet presAssocID="{9C84D620-30C4-487E-AEBD-76D2B36F7C4D}" presName="parTx" presStyleLbl="revTx" presStyleIdx="0" presStyleCnt="4">
        <dgm:presLayoutVars>
          <dgm:chMax val="0"/>
          <dgm:chPref val="0"/>
        </dgm:presLayoutVars>
      </dgm:prSet>
      <dgm:spPr/>
    </dgm:pt>
    <dgm:pt modelId="{AE8A5935-1994-4A56-A900-E37028DB16A7}" type="pres">
      <dgm:prSet presAssocID="{9C84D620-30C4-487E-AEBD-76D2B36F7C4D}" presName="txSpace" presStyleCnt="0"/>
      <dgm:spPr/>
    </dgm:pt>
    <dgm:pt modelId="{211765CF-71B2-42C1-8489-49FEC879C231}" type="pres">
      <dgm:prSet presAssocID="{9C84D620-30C4-487E-AEBD-76D2B36F7C4D}" presName="desTx" presStyleLbl="revTx" presStyleIdx="1" presStyleCnt="4">
        <dgm:presLayoutVars/>
      </dgm:prSet>
      <dgm:spPr/>
    </dgm:pt>
    <dgm:pt modelId="{7645DD84-5A2E-4784-A8CC-121144B933BD}" type="pres">
      <dgm:prSet presAssocID="{D469136C-63E1-4A7E-BABB-AC9E53FEC018}" presName="sibTrans" presStyleCnt="0"/>
      <dgm:spPr/>
    </dgm:pt>
    <dgm:pt modelId="{DB2C186A-AE28-4072-96C9-6FC6E64E7E2D}" type="pres">
      <dgm:prSet presAssocID="{842A95DF-C26E-4E94-89E6-54F63FD6705B}" presName="compNode" presStyleCnt="0"/>
      <dgm:spPr/>
    </dgm:pt>
    <dgm:pt modelId="{0CDA54F4-456F-4B03-86E2-2D8479815420}" type="pres">
      <dgm:prSet presAssocID="{842A95DF-C26E-4E94-89E6-54F63FD6705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ABD05DD1-22C6-4E51-BD0E-024AE9CCC712}" type="pres">
      <dgm:prSet presAssocID="{842A95DF-C26E-4E94-89E6-54F63FD6705B}" presName="iconSpace" presStyleCnt="0"/>
      <dgm:spPr/>
    </dgm:pt>
    <dgm:pt modelId="{30131DE1-033D-4862-8491-A6B16A2CD675}" type="pres">
      <dgm:prSet presAssocID="{842A95DF-C26E-4E94-89E6-54F63FD6705B}" presName="parTx" presStyleLbl="revTx" presStyleIdx="2" presStyleCnt="4">
        <dgm:presLayoutVars>
          <dgm:chMax val="0"/>
          <dgm:chPref val="0"/>
        </dgm:presLayoutVars>
      </dgm:prSet>
      <dgm:spPr/>
    </dgm:pt>
    <dgm:pt modelId="{520EBAFE-4D69-4CA3-82C3-F3864D0EA773}" type="pres">
      <dgm:prSet presAssocID="{842A95DF-C26E-4E94-89E6-54F63FD6705B}" presName="txSpace" presStyleCnt="0"/>
      <dgm:spPr/>
    </dgm:pt>
    <dgm:pt modelId="{BBAFAC7D-888E-4C29-A582-ED9E19E0D4E1}" type="pres">
      <dgm:prSet presAssocID="{842A95DF-C26E-4E94-89E6-54F63FD6705B}" presName="desTx" presStyleLbl="revTx" presStyleIdx="3" presStyleCnt="4">
        <dgm:presLayoutVars/>
      </dgm:prSet>
      <dgm:spPr/>
    </dgm:pt>
  </dgm:ptLst>
  <dgm:cxnLst>
    <dgm:cxn modelId="{1C2D3804-799E-47F7-B026-F99CCA1447EB}" type="presOf" srcId="{DA888401-8AE5-4057-8290-80D2594B4401}" destId="{089E16CD-FEA0-4C0D-B131-0E9E536EB94B}" srcOrd="0" destOrd="0" presId="urn:microsoft.com/office/officeart/2018/2/layout/IconLabelDescriptionList"/>
    <dgm:cxn modelId="{B50EFE07-3043-4BF8-AA8A-D71A5308FD34}" type="presOf" srcId="{842A95DF-C26E-4E94-89E6-54F63FD6705B}" destId="{30131DE1-033D-4862-8491-A6B16A2CD675}" srcOrd="0" destOrd="0" presId="urn:microsoft.com/office/officeart/2018/2/layout/IconLabelDescriptionList"/>
    <dgm:cxn modelId="{65889C4D-09F3-4A92-B4EB-B352D835425B}" type="presOf" srcId="{9C84D620-30C4-487E-AEBD-76D2B36F7C4D}" destId="{C3E3491A-BEB3-45F1-9A74-A0C85D01EB89}" srcOrd="0" destOrd="0" presId="urn:microsoft.com/office/officeart/2018/2/layout/IconLabelDescriptionList"/>
    <dgm:cxn modelId="{072C5B4F-DB64-430B-BD18-8E7805D1B5EC}" type="presOf" srcId="{F2CCF71A-0AEB-4EC5-8F9E-F2EE89C2D9C8}" destId="{211765CF-71B2-42C1-8489-49FEC879C231}" srcOrd="0" destOrd="1" presId="urn:microsoft.com/office/officeart/2018/2/layout/IconLabelDescriptionList"/>
    <dgm:cxn modelId="{AD3D865F-3DE4-40E6-978E-E43C695A2F7A}" type="presOf" srcId="{FB431BC8-3689-410A-A35E-5E24FEE5E87B}" destId="{BBAFAC7D-888E-4C29-A582-ED9E19E0D4E1}" srcOrd="0" destOrd="1" presId="urn:microsoft.com/office/officeart/2018/2/layout/IconLabelDescriptionList"/>
    <dgm:cxn modelId="{418AE768-976A-4286-BB37-6233A004AE24}" type="presOf" srcId="{C3FE6824-E668-49B7-BAD5-F4B180EDB119}" destId="{211765CF-71B2-42C1-8489-49FEC879C231}" srcOrd="0" destOrd="0" presId="urn:microsoft.com/office/officeart/2018/2/layout/IconLabelDescriptionList"/>
    <dgm:cxn modelId="{BABEAE87-8DC0-4644-B091-98BDE3BE024E}" srcId="{DA888401-8AE5-4057-8290-80D2594B4401}" destId="{9C84D620-30C4-487E-AEBD-76D2B36F7C4D}" srcOrd="0" destOrd="0" parTransId="{22EFD1C9-E1AD-4BE7-8A93-F1642433E8CF}" sibTransId="{D469136C-63E1-4A7E-BABB-AC9E53FEC018}"/>
    <dgm:cxn modelId="{697C5296-DDD3-4CEA-B149-AB00AF52555C}" srcId="{9C84D620-30C4-487E-AEBD-76D2B36F7C4D}" destId="{C3FE6824-E668-49B7-BAD5-F4B180EDB119}" srcOrd="0" destOrd="0" parTransId="{D7EED023-1B81-463D-9C8D-1B1B820209DB}" sibTransId="{7E405F96-109B-42EE-8ABC-33798D324B83}"/>
    <dgm:cxn modelId="{C3393E98-0351-473C-A8F8-7D920D6E9C41}" srcId="{842A95DF-C26E-4E94-89E6-54F63FD6705B}" destId="{FB431BC8-3689-410A-A35E-5E24FEE5E87B}" srcOrd="1" destOrd="0" parTransId="{769D5DFA-C82D-4196-9F31-0DDCD6B322B0}" sibTransId="{4AC15B1F-B1B9-4FDD-878A-C695AFEBE82A}"/>
    <dgm:cxn modelId="{63C316B4-B513-4522-A214-2B63A7C01A08}" type="presOf" srcId="{9D949730-36AC-4880-92CC-26244FFC046A}" destId="{BBAFAC7D-888E-4C29-A582-ED9E19E0D4E1}" srcOrd="0" destOrd="0" presId="urn:microsoft.com/office/officeart/2018/2/layout/IconLabelDescriptionList"/>
    <dgm:cxn modelId="{C8A8DEDA-03F7-44D3-8574-E2CABF53C9BB}" srcId="{9C84D620-30C4-487E-AEBD-76D2B36F7C4D}" destId="{F2CCF71A-0AEB-4EC5-8F9E-F2EE89C2D9C8}" srcOrd="1" destOrd="0" parTransId="{D28FE9F0-7082-4713-890D-7617DB3B9D33}" sibTransId="{F09E031F-61AC-4F0F-9EB6-30F8650FA979}"/>
    <dgm:cxn modelId="{537BA1EF-8455-482E-9B18-E047A97B0262}" srcId="{DA888401-8AE5-4057-8290-80D2594B4401}" destId="{842A95DF-C26E-4E94-89E6-54F63FD6705B}" srcOrd="1" destOrd="0" parTransId="{15646628-957E-45F6-8D61-A624017F022E}" sibTransId="{109C5F1E-C489-4FE3-B7F7-C08937F8714F}"/>
    <dgm:cxn modelId="{518683FE-99B8-44FA-822B-E495FCD1087C}" srcId="{842A95DF-C26E-4E94-89E6-54F63FD6705B}" destId="{9D949730-36AC-4880-92CC-26244FFC046A}" srcOrd="0" destOrd="0" parTransId="{4138A167-CD87-40ED-9DDE-4B19E724FFF9}" sibTransId="{CE050EAB-47E7-4F98-AE65-06B94962E630}"/>
    <dgm:cxn modelId="{413A9894-42E4-450C-B91A-5420488430A3}" type="presParOf" srcId="{089E16CD-FEA0-4C0D-B131-0E9E536EB94B}" destId="{BA972CA6-987B-4E91-900A-0D04C4AC8B79}" srcOrd="0" destOrd="0" presId="urn:microsoft.com/office/officeart/2018/2/layout/IconLabelDescriptionList"/>
    <dgm:cxn modelId="{FFDB46AE-27FD-4A9F-8AC6-1FB23C326538}" type="presParOf" srcId="{BA972CA6-987B-4E91-900A-0D04C4AC8B79}" destId="{1F05CB3A-ED07-4AC8-8EB4-E9AFB772F910}" srcOrd="0" destOrd="0" presId="urn:microsoft.com/office/officeart/2018/2/layout/IconLabelDescriptionList"/>
    <dgm:cxn modelId="{461A3B78-F411-4A1C-9348-957CCEA19C40}" type="presParOf" srcId="{BA972CA6-987B-4E91-900A-0D04C4AC8B79}" destId="{45ACBF0D-4327-49E3-8AB8-98748C3B46A5}" srcOrd="1" destOrd="0" presId="urn:microsoft.com/office/officeart/2018/2/layout/IconLabelDescriptionList"/>
    <dgm:cxn modelId="{6E6F15CB-2AD1-427B-B333-BAAC89824C58}" type="presParOf" srcId="{BA972CA6-987B-4E91-900A-0D04C4AC8B79}" destId="{C3E3491A-BEB3-45F1-9A74-A0C85D01EB89}" srcOrd="2" destOrd="0" presId="urn:microsoft.com/office/officeart/2018/2/layout/IconLabelDescriptionList"/>
    <dgm:cxn modelId="{B83B0587-41B9-4C1D-A4F2-43E38F07C3EB}" type="presParOf" srcId="{BA972CA6-987B-4E91-900A-0D04C4AC8B79}" destId="{AE8A5935-1994-4A56-A900-E37028DB16A7}" srcOrd="3" destOrd="0" presId="urn:microsoft.com/office/officeart/2018/2/layout/IconLabelDescriptionList"/>
    <dgm:cxn modelId="{ED3ACDCB-67CF-4E14-A820-F383AFC5A303}" type="presParOf" srcId="{BA972CA6-987B-4E91-900A-0D04C4AC8B79}" destId="{211765CF-71B2-42C1-8489-49FEC879C231}" srcOrd="4" destOrd="0" presId="urn:microsoft.com/office/officeart/2018/2/layout/IconLabelDescriptionList"/>
    <dgm:cxn modelId="{D0EC4ABF-EC21-4492-87C4-3515908CC137}" type="presParOf" srcId="{089E16CD-FEA0-4C0D-B131-0E9E536EB94B}" destId="{7645DD84-5A2E-4784-A8CC-121144B933BD}" srcOrd="1" destOrd="0" presId="urn:microsoft.com/office/officeart/2018/2/layout/IconLabelDescriptionList"/>
    <dgm:cxn modelId="{BE8B1D6F-3F1F-40AC-BFCA-E26AA944BF0B}" type="presParOf" srcId="{089E16CD-FEA0-4C0D-B131-0E9E536EB94B}" destId="{DB2C186A-AE28-4072-96C9-6FC6E64E7E2D}" srcOrd="2" destOrd="0" presId="urn:microsoft.com/office/officeart/2018/2/layout/IconLabelDescriptionList"/>
    <dgm:cxn modelId="{DD3FD75E-E15D-446E-8427-58561B8D6C54}" type="presParOf" srcId="{DB2C186A-AE28-4072-96C9-6FC6E64E7E2D}" destId="{0CDA54F4-456F-4B03-86E2-2D8479815420}" srcOrd="0" destOrd="0" presId="urn:microsoft.com/office/officeart/2018/2/layout/IconLabelDescriptionList"/>
    <dgm:cxn modelId="{20AC1153-6636-4E87-A2DC-23787B725C54}" type="presParOf" srcId="{DB2C186A-AE28-4072-96C9-6FC6E64E7E2D}" destId="{ABD05DD1-22C6-4E51-BD0E-024AE9CCC712}" srcOrd="1" destOrd="0" presId="urn:microsoft.com/office/officeart/2018/2/layout/IconLabelDescriptionList"/>
    <dgm:cxn modelId="{F1E8531B-9D07-474A-9509-517A5B42FC4E}" type="presParOf" srcId="{DB2C186A-AE28-4072-96C9-6FC6E64E7E2D}" destId="{30131DE1-033D-4862-8491-A6B16A2CD675}" srcOrd="2" destOrd="0" presId="urn:microsoft.com/office/officeart/2018/2/layout/IconLabelDescriptionList"/>
    <dgm:cxn modelId="{2E2DFDC7-D56E-425B-BBE9-09271199DCEC}" type="presParOf" srcId="{DB2C186A-AE28-4072-96C9-6FC6E64E7E2D}" destId="{520EBAFE-4D69-4CA3-82C3-F3864D0EA773}" srcOrd="3" destOrd="0" presId="urn:microsoft.com/office/officeart/2018/2/layout/IconLabelDescriptionList"/>
    <dgm:cxn modelId="{E6F6ED54-E0B5-439F-9A4A-F43D2BDC9833}" type="presParOf" srcId="{DB2C186A-AE28-4072-96C9-6FC6E64E7E2D}" destId="{BBAFAC7D-888E-4C29-A582-ED9E19E0D4E1}"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D74F72-77B7-470B-B5E7-505A19CF696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42EAC86-E21D-4316-98BB-6C21271DC185}">
      <dgm:prSet/>
      <dgm:spPr/>
      <dgm:t>
        <a:bodyPr/>
        <a:lstStyle/>
        <a:p>
          <a:pPr>
            <a:lnSpc>
              <a:spcPct val="100000"/>
            </a:lnSpc>
          </a:pPr>
          <a:r>
            <a:rPr lang="en-US" dirty="0"/>
            <a:t>Innovation</a:t>
          </a:r>
        </a:p>
      </dgm:t>
    </dgm:pt>
    <dgm:pt modelId="{B02C22E2-93F7-4870-B596-8AF020BE5B54}" type="parTrans" cxnId="{BBD25D32-5950-4240-BDF9-796503EB1DE0}">
      <dgm:prSet/>
      <dgm:spPr/>
      <dgm:t>
        <a:bodyPr/>
        <a:lstStyle/>
        <a:p>
          <a:endParaRPr lang="en-US"/>
        </a:p>
      </dgm:t>
    </dgm:pt>
    <dgm:pt modelId="{3108A333-A6B0-4803-9DE3-D5F50768AF06}" type="sibTrans" cxnId="{BBD25D32-5950-4240-BDF9-796503EB1DE0}">
      <dgm:prSet/>
      <dgm:spPr/>
      <dgm:t>
        <a:bodyPr/>
        <a:lstStyle/>
        <a:p>
          <a:endParaRPr lang="en-US"/>
        </a:p>
      </dgm:t>
    </dgm:pt>
    <dgm:pt modelId="{ACC13D98-3376-46B2-9621-533746B8AC1A}">
      <dgm:prSet custT="1"/>
      <dgm:spPr/>
      <dgm:t>
        <a:bodyPr/>
        <a:lstStyle/>
        <a:p>
          <a:pPr>
            <a:lnSpc>
              <a:spcPct val="100000"/>
            </a:lnSpc>
          </a:pPr>
          <a:r>
            <a:rPr lang="en-US" sz="1800" dirty="0"/>
            <a:t>Is the process of creating something new, which is central to the entrepreneurial process.</a:t>
          </a:r>
        </a:p>
      </dgm:t>
    </dgm:pt>
    <dgm:pt modelId="{40FADAD4-E368-4AFC-B0B4-99C98FA1F029}" type="parTrans" cxnId="{4D8B3B55-840C-4276-A7B3-E362DCBA5320}">
      <dgm:prSet/>
      <dgm:spPr/>
      <dgm:t>
        <a:bodyPr/>
        <a:lstStyle/>
        <a:p>
          <a:endParaRPr lang="en-US"/>
        </a:p>
      </dgm:t>
    </dgm:pt>
    <dgm:pt modelId="{1C2C639A-5082-4F4F-8D0D-2A58A8091185}" type="sibTrans" cxnId="{4D8B3B55-840C-4276-A7B3-E362DCBA5320}">
      <dgm:prSet/>
      <dgm:spPr/>
      <dgm:t>
        <a:bodyPr/>
        <a:lstStyle/>
        <a:p>
          <a:endParaRPr lang="en-US"/>
        </a:p>
      </dgm:t>
    </dgm:pt>
    <dgm:pt modelId="{8D0DFB0E-21E5-4464-BF39-8BA0C6E707B0}">
      <dgm:prSet custT="1"/>
      <dgm:spPr/>
      <dgm:t>
        <a:bodyPr/>
        <a:lstStyle/>
        <a:p>
          <a:pPr>
            <a:lnSpc>
              <a:spcPct val="100000"/>
            </a:lnSpc>
          </a:pPr>
          <a:r>
            <a:rPr lang="en-US" sz="1800"/>
            <a:t>Small entrepreneurial firms are responsible for over two-thirds of all innovations in the U.S.</a:t>
          </a:r>
        </a:p>
      </dgm:t>
    </dgm:pt>
    <dgm:pt modelId="{7E7C0EB2-2EFE-4493-B0B8-346CC57C7B7B}" type="parTrans" cxnId="{BBCC9AD8-1C80-4699-9D58-5B8F53380442}">
      <dgm:prSet/>
      <dgm:spPr/>
      <dgm:t>
        <a:bodyPr/>
        <a:lstStyle/>
        <a:p>
          <a:endParaRPr lang="en-US"/>
        </a:p>
      </dgm:t>
    </dgm:pt>
    <dgm:pt modelId="{B6623E2D-987D-4AA1-8BA0-F3CEF0CC6F51}" type="sibTrans" cxnId="{BBCC9AD8-1C80-4699-9D58-5B8F53380442}">
      <dgm:prSet/>
      <dgm:spPr/>
      <dgm:t>
        <a:bodyPr/>
        <a:lstStyle/>
        <a:p>
          <a:endParaRPr lang="en-US"/>
        </a:p>
      </dgm:t>
    </dgm:pt>
    <dgm:pt modelId="{E8C58520-4C53-4423-A9D9-E6E52224E986}">
      <dgm:prSet/>
      <dgm:spPr/>
      <dgm:t>
        <a:bodyPr/>
        <a:lstStyle/>
        <a:p>
          <a:pPr>
            <a:lnSpc>
              <a:spcPct val="100000"/>
            </a:lnSpc>
          </a:pPr>
          <a:r>
            <a:rPr lang="en-US" dirty="0"/>
            <a:t>Job Creation</a:t>
          </a:r>
        </a:p>
      </dgm:t>
    </dgm:pt>
    <dgm:pt modelId="{E9C5D0AA-3F14-4B76-9CED-5167F4D24EBA}" type="parTrans" cxnId="{0A7C62BE-EEFF-43A5-8DDC-E9984583E39F}">
      <dgm:prSet/>
      <dgm:spPr/>
      <dgm:t>
        <a:bodyPr/>
        <a:lstStyle/>
        <a:p>
          <a:endParaRPr lang="en-US"/>
        </a:p>
      </dgm:t>
    </dgm:pt>
    <dgm:pt modelId="{DDA4A841-8F7B-4290-AC2D-851DB7AF10BC}" type="sibTrans" cxnId="{0A7C62BE-EEFF-43A5-8DDC-E9984583E39F}">
      <dgm:prSet/>
      <dgm:spPr/>
      <dgm:t>
        <a:bodyPr/>
        <a:lstStyle/>
        <a:p>
          <a:endParaRPr lang="en-US"/>
        </a:p>
      </dgm:t>
    </dgm:pt>
    <dgm:pt modelId="{41D6379B-3D41-4303-905D-D0D7092CC571}">
      <dgm:prSet custT="1"/>
      <dgm:spPr/>
      <dgm:t>
        <a:bodyPr/>
        <a:lstStyle/>
        <a:p>
          <a:pPr>
            <a:lnSpc>
              <a:spcPct val="100000"/>
            </a:lnSpc>
          </a:pPr>
          <a:r>
            <a:rPr lang="en-US" sz="1800" dirty="0"/>
            <a:t>In the past two decades, economic activity has moved in the direction of smaller entrepreneurial firms, which may be due to their unique ability to innovate and focus on specialized tasks.</a:t>
          </a:r>
        </a:p>
      </dgm:t>
    </dgm:pt>
    <dgm:pt modelId="{9CD995D1-2E17-457D-82BC-7716D5068FF5}" type="parTrans" cxnId="{CEBFB76B-D017-447B-98F5-A38F924CC080}">
      <dgm:prSet/>
      <dgm:spPr/>
      <dgm:t>
        <a:bodyPr/>
        <a:lstStyle/>
        <a:p>
          <a:endParaRPr lang="en-US"/>
        </a:p>
      </dgm:t>
    </dgm:pt>
    <dgm:pt modelId="{408BEFAD-DB94-4954-8040-8B1D2AD6B06D}" type="sibTrans" cxnId="{CEBFB76B-D017-447B-98F5-A38F924CC080}">
      <dgm:prSet/>
      <dgm:spPr/>
      <dgm:t>
        <a:bodyPr/>
        <a:lstStyle/>
        <a:p>
          <a:endParaRPr lang="en-US"/>
        </a:p>
      </dgm:t>
    </dgm:pt>
    <dgm:pt modelId="{B4DEE686-4400-474F-BA0D-63771E82EBC9}" type="pres">
      <dgm:prSet presAssocID="{8CD74F72-77B7-470B-B5E7-505A19CF6965}" presName="root" presStyleCnt="0">
        <dgm:presLayoutVars>
          <dgm:dir/>
          <dgm:resizeHandles val="exact"/>
        </dgm:presLayoutVars>
      </dgm:prSet>
      <dgm:spPr/>
    </dgm:pt>
    <dgm:pt modelId="{17ADDFA4-4B52-4F1D-A7A5-E48713704CB2}" type="pres">
      <dgm:prSet presAssocID="{E42EAC86-E21D-4316-98BB-6C21271DC185}" presName="compNode" presStyleCnt="0"/>
      <dgm:spPr/>
    </dgm:pt>
    <dgm:pt modelId="{7C98B135-C054-40AB-BE60-908E7F885C77}" type="pres">
      <dgm:prSet presAssocID="{E42EAC86-E21D-4316-98BB-6C21271DC185}" presName="bgRect" presStyleLbl="bgShp" presStyleIdx="0" presStyleCnt="2" custScaleY="129854"/>
      <dgm:spPr/>
    </dgm:pt>
    <dgm:pt modelId="{A27AD079-6EB4-4329-8BA1-AB2864782CD4}" type="pres">
      <dgm:prSet presAssocID="{E42EAC86-E21D-4316-98BB-6C21271DC18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 Bulb and Gear"/>
        </a:ext>
      </dgm:extLst>
    </dgm:pt>
    <dgm:pt modelId="{61DAAFE2-14EA-474C-A87B-946AD7F151FC}" type="pres">
      <dgm:prSet presAssocID="{E42EAC86-E21D-4316-98BB-6C21271DC185}" presName="spaceRect" presStyleCnt="0"/>
      <dgm:spPr/>
    </dgm:pt>
    <dgm:pt modelId="{241C594B-9049-4280-A672-37C87CEFA58B}" type="pres">
      <dgm:prSet presAssocID="{E42EAC86-E21D-4316-98BB-6C21271DC185}" presName="parTx" presStyleLbl="revTx" presStyleIdx="0" presStyleCnt="4" custLinFactNeighborX="-7286" custLinFactNeighborY="-852">
        <dgm:presLayoutVars>
          <dgm:chMax val="0"/>
          <dgm:chPref val="0"/>
        </dgm:presLayoutVars>
      </dgm:prSet>
      <dgm:spPr/>
    </dgm:pt>
    <dgm:pt modelId="{3BC98715-3FD8-4CEF-9B32-824E5C09F504}" type="pres">
      <dgm:prSet presAssocID="{E42EAC86-E21D-4316-98BB-6C21271DC185}" presName="desTx" presStyleLbl="revTx" presStyleIdx="1" presStyleCnt="4" custScaleX="152419" custLinFactNeighborX="-28015" custLinFactNeighborY="-852">
        <dgm:presLayoutVars/>
      </dgm:prSet>
      <dgm:spPr/>
    </dgm:pt>
    <dgm:pt modelId="{959CFA15-398A-49CF-85AB-EC07158AC056}" type="pres">
      <dgm:prSet presAssocID="{3108A333-A6B0-4803-9DE3-D5F50768AF06}" presName="sibTrans" presStyleCnt="0"/>
      <dgm:spPr/>
    </dgm:pt>
    <dgm:pt modelId="{6CDA420E-B3A3-490C-98AC-9CE5A0092B63}" type="pres">
      <dgm:prSet presAssocID="{E8C58520-4C53-4423-A9D9-E6E52224E986}" presName="compNode" presStyleCnt="0"/>
      <dgm:spPr/>
    </dgm:pt>
    <dgm:pt modelId="{91527512-F635-4747-9318-E4DF4D1FA646}" type="pres">
      <dgm:prSet presAssocID="{E8C58520-4C53-4423-A9D9-E6E52224E986}" presName="bgRect" presStyleLbl="bgShp" presStyleIdx="1" presStyleCnt="2" custScaleY="129817" custLinFactNeighborX="-4189" custLinFactNeighborY="965"/>
      <dgm:spPr/>
    </dgm:pt>
    <dgm:pt modelId="{A071FFAE-1233-4BE4-A60C-A49FEDF50214}" type="pres">
      <dgm:prSet presAssocID="{E8C58520-4C53-4423-A9D9-E6E52224E98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37377546-45DF-48CB-94A2-7024E50FF371}" type="pres">
      <dgm:prSet presAssocID="{E8C58520-4C53-4423-A9D9-E6E52224E986}" presName="spaceRect" presStyleCnt="0"/>
      <dgm:spPr/>
    </dgm:pt>
    <dgm:pt modelId="{4C190050-5F16-4F3C-9716-6572156C6F81}" type="pres">
      <dgm:prSet presAssocID="{E8C58520-4C53-4423-A9D9-E6E52224E986}" presName="parTx" presStyleLbl="revTx" presStyleIdx="2" presStyleCnt="4" custLinFactNeighborX="-11739" custLinFactNeighborY="1930">
        <dgm:presLayoutVars>
          <dgm:chMax val="0"/>
          <dgm:chPref val="0"/>
        </dgm:presLayoutVars>
      </dgm:prSet>
      <dgm:spPr/>
    </dgm:pt>
    <dgm:pt modelId="{C7A18788-50D8-406B-8CA4-2B1D97705E74}" type="pres">
      <dgm:prSet presAssocID="{E8C58520-4C53-4423-A9D9-E6E52224E986}" presName="desTx" presStyleLbl="revTx" presStyleIdx="3" presStyleCnt="4" custScaleX="161394" custLinFactNeighborX="-24741" custLinFactNeighborY="2895">
        <dgm:presLayoutVars/>
      </dgm:prSet>
      <dgm:spPr/>
    </dgm:pt>
  </dgm:ptLst>
  <dgm:cxnLst>
    <dgm:cxn modelId="{FDCE5D28-EE2E-451C-82F5-DCB827CEDCF6}" type="presOf" srcId="{E8C58520-4C53-4423-A9D9-E6E52224E986}" destId="{4C190050-5F16-4F3C-9716-6572156C6F81}" srcOrd="0" destOrd="0" presId="urn:microsoft.com/office/officeart/2018/2/layout/IconVerticalSolidList"/>
    <dgm:cxn modelId="{B755D131-A65B-4B5A-A1FD-C2195CE9F805}" type="presOf" srcId="{ACC13D98-3376-46B2-9621-533746B8AC1A}" destId="{3BC98715-3FD8-4CEF-9B32-824E5C09F504}" srcOrd="0" destOrd="0" presId="urn:microsoft.com/office/officeart/2018/2/layout/IconVerticalSolidList"/>
    <dgm:cxn modelId="{BBD25D32-5950-4240-BDF9-796503EB1DE0}" srcId="{8CD74F72-77B7-470B-B5E7-505A19CF6965}" destId="{E42EAC86-E21D-4316-98BB-6C21271DC185}" srcOrd="0" destOrd="0" parTransId="{B02C22E2-93F7-4870-B596-8AF020BE5B54}" sibTransId="{3108A333-A6B0-4803-9DE3-D5F50768AF06}"/>
    <dgm:cxn modelId="{392C7441-7F02-4F5D-9557-D30006FE5D05}" type="presOf" srcId="{8CD74F72-77B7-470B-B5E7-505A19CF6965}" destId="{B4DEE686-4400-474F-BA0D-63771E82EBC9}" srcOrd="0" destOrd="0" presId="urn:microsoft.com/office/officeart/2018/2/layout/IconVerticalSolidList"/>
    <dgm:cxn modelId="{4D8B3B55-840C-4276-A7B3-E362DCBA5320}" srcId="{E42EAC86-E21D-4316-98BB-6C21271DC185}" destId="{ACC13D98-3376-46B2-9621-533746B8AC1A}" srcOrd="0" destOrd="0" parTransId="{40FADAD4-E368-4AFC-B0B4-99C98FA1F029}" sibTransId="{1C2C639A-5082-4F4F-8D0D-2A58A8091185}"/>
    <dgm:cxn modelId="{3638215B-AF62-4792-9C90-5469242FF528}" type="presOf" srcId="{8D0DFB0E-21E5-4464-BF39-8BA0C6E707B0}" destId="{3BC98715-3FD8-4CEF-9B32-824E5C09F504}" srcOrd="0" destOrd="1" presId="urn:microsoft.com/office/officeart/2018/2/layout/IconVerticalSolidList"/>
    <dgm:cxn modelId="{34095861-F962-4FA7-98BC-A5637F1AD7E1}" type="presOf" srcId="{41D6379B-3D41-4303-905D-D0D7092CC571}" destId="{C7A18788-50D8-406B-8CA4-2B1D97705E74}" srcOrd="0" destOrd="0" presId="urn:microsoft.com/office/officeart/2018/2/layout/IconVerticalSolidList"/>
    <dgm:cxn modelId="{CEBFB76B-D017-447B-98F5-A38F924CC080}" srcId="{E8C58520-4C53-4423-A9D9-E6E52224E986}" destId="{41D6379B-3D41-4303-905D-D0D7092CC571}" srcOrd="0" destOrd="0" parTransId="{9CD995D1-2E17-457D-82BC-7716D5068FF5}" sibTransId="{408BEFAD-DB94-4954-8040-8B1D2AD6B06D}"/>
    <dgm:cxn modelId="{36B05E7F-1EA2-4C20-9241-A5CB9D8E8514}" type="presOf" srcId="{E42EAC86-E21D-4316-98BB-6C21271DC185}" destId="{241C594B-9049-4280-A672-37C87CEFA58B}" srcOrd="0" destOrd="0" presId="urn:microsoft.com/office/officeart/2018/2/layout/IconVerticalSolidList"/>
    <dgm:cxn modelId="{0A7C62BE-EEFF-43A5-8DDC-E9984583E39F}" srcId="{8CD74F72-77B7-470B-B5E7-505A19CF6965}" destId="{E8C58520-4C53-4423-A9D9-E6E52224E986}" srcOrd="1" destOrd="0" parTransId="{E9C5D0AA-3F14-4B76-9CED-5167F4D24EBA}" sibTransId="{DDA4A841-8F7B-4290-AC2D-851DB7AF10BC}"/>
    <dgm:cxn modelId="{BBCC9AD8-1C80-4699-9D58-5B8F53380442}" srcId="{E42EAC86-E21D-4316-98BB-6C21271DC185}" destId="{8D0DFB0E-21E5-4464-BF39-8BA0C6E707B0}" srcOrd="1" destOrd="0" parTransId="{7E7C0EB2-2EFE-4493-B0B8-346CC57C7B7B}" sibTransId="{B6623E2D-987D-4AA1-8BA0-F3CEF0CC6F51}"/>
    <dgm:cxn modelId="{E6107D4A-E348-4A52-948C-4FD41A515CE3}" type="presParOf" srcId="{B4DEE686-4400-474F-BA0D-63771E82EBC9}" destId="{17ADDFA4-4B52-4F1D-A7A5-E48713704CB2}" srcOrd="0" destOrd="0" presId="urn:microsoft.com/office/officeart/2018/2/layout/IconVerticalSolidList"/>
    <dgm:cxn modelId="{A5EFC4D7-38EF-4EDA-9F4C-510F4D184074}" type="presParOf" srcId="{17ADDFA4-4B52-4F1D-A7A5-E48713704CB2}" destId="{7C98B135-C054-40AB-BE60-908E7F885C77}" srcOrd="0" destOrd="0" presId="urn:microsoft.com/office/officeart/2018/2/layout/IconVerticalSolidList"/>
    <dgm:cxn modelId="{CC447EC6-5E1A-4F04-8C33-2F8184F67266}" type="presParOf" srcId="{17ADDFA4-4B52-4F1D-A7A5-E48713704CB2}" destId="{A27AD079-6EB4-4329-8BA1-AB2864782CD4}" srcOrd="1" destOrd="0" presId="urn:microsoft.com/office/officeart/2018/2/layout/IconVerticalSolidList"/>
    <dgm:cxn modelId="{B1AD7C1D-CE52-4948-91EB-57994BFBFED9}" type="presParOf" srcId="{17ADDFA4-4B52-4F1D-A7A5-E48713704CB2}" destId="{61DAAFE2-14EA-474C-A87B-946AD7F151FC}" srcOrd="2" destOrd="0" presId="urn:microsoft.com/office/officeart/2018/2/layout/IconVerticalSolidList"/>
    <dgm:cxn modelId="{7CB38850-1AED-4502-A8BC-385D41791523}" type="presParOf" srcId="{17ADDFA4-4B52-4F1D-A7A5-E48713704CB2}" destId="{241C594B-9049-4280-A672-37C87CEFA58B}" srcOrd="3" destOrd="0" presId="urn:microsoft.com/office/officeart/2018/2/layout/IconVerticalSolidList"/>
    <dgm:cxn modelId="{963DEC4E-D975-47B1-8F08-48AA1F220E3E}" type="presParOf" srcId="{17ADDFA4-4B52-4F1D-A7A5-E48713704CB2}" destId="{3BC98715-3FD8-4CEF-9B32-824E5C09F504}" srcOrd="4" destOrd="0" presId="urn:microsoft.com/office/officeart/2018/2/layout/IconVerticalSolidList"/>
    <dgm:cxn modelId="{B8BC8509-6952-459C-B5ED-F94E826BD320}" type="presParOf" srcId="{B4DEE686-4400-474F-BA0D-63771E82EBC9}" destId="{959CFA15-398A-49CF-85AB-EC07158AC056}" srcOrd="1" destOrd="0" presId="urn:microsoft.com/office/officeart/2018/2/layout/IconVerticalSolidList"/>
    <dgm:cxn modelId="{BB4F42EA-3422-43D3-BCB2-A480EBC7BE0B}" type="presParOf" srcId="{B4DEE686-4400-474F-BA0D-63771E82EBC9}" destId="{6CDA420E-B3A3-490C-98AC-9CE5A0092B63}" srcOrd="2" destOrd="0" presId="urn:microsoft.com/office/officeart/2018/2/layout/IconVerticalSolidList"/>
    <dgm:cxn modelId="{8845CBC1-E47B-42B4-95DC-CAD287B35D4A}" type="presParOf" srcId="{6CDA420E-B3A3-490C-98AC-9CE5A0092B63}" destId="{91527512-F635-4747-9318-E4DF4D1FA646}" srcOrd="0" destOrd="0" presId="urn:microsoft.com/office/officeart/2018/2/layout/IconVerticalSolidList"/>
    <dgm:cxn modelId="{0FCF6FBD-0D77-4061-8C64-7ECDC0CFAF28}" type="presParOf" srcId="{6CDA420E-B3A3-490C-98AC-9CE5A0092B63}" destId="{A071FFAE-1233-4BE4-A60C-A49FEDF50214}" srcOrd="1" destOrd="0" presId="urn:microsoft.com/office/officeart/2018/2/layout/IconVerticalSolidList"/>
    <dgm:cxn modelId="{A44222C5-F237-4D32-94E0-552FC600E5E8}" type="presParOf" srcId="{6CDA420E-B3A3-490C-98AC-9CE5A0092B63}" destId="{37377546-45DF-48CB-94A2-7024E50FF371}" srcOrd="2" destOrd="0" presId="urn:microsoft.com/office/officeart/2018/2/layout/IconVerticalSolidList"/>
    <dgm:cxn modelId="{433CA4AA-3C02-4556-85CC-C846AD1C2595}" type="presParOf" srcId="{6CDA420E-B3A3-490C-98AC-9CE5A0092B63}" destId="{4C190050-5F16-4F3C-9716-6572156C6F81}" srcOrd="3" destOrd="0" presId="urn:microsoft.com/office/officeart/2018/2/layout/IconVerticalSolidList"/>
    <dgm:cxn modelId="{98954C0B-29EB-4C28-AE1E-21572B8AF874}" type="presParOf" srcId="{6CDA420E-B3A3-490C-98AC-9CE5A0092B63}" destId="{C7A18788-50D8-406B-8CA4-2B1D97705E7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F33608-622A-4241-A7CA-E44007C50A4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891872E-384F-4766-9C4A-974E481577F9}">
      <dgm:prSet/>
      <dgm:spPr/>
      <dgm:t>
        <a:bodyPr/>
        <a:lstStyle/>
        <a:p>
          <a:pPr>
            <a:lnSpc>
              <a:spcPct val="100000"/>
            </a:lnSpc>
          </a:pPr>
          <a:r>
            <a:rPr lang="en-US" dirty="0"/>
            <a:t>Impact on Society</a:t>
          </a:r>
        </a:p>
      </dgm:t>
    </dgm:pt>
    <dgm:pt modelId="{851BE03A-6DCB-4BF0-BAFC-3CC8D05F5331}" type="parTrans" cxnId="{665F2410-01A1-4F0D-9197-4B5F38FEB272}">
      <dgm:prSet/>
      <dgm:spPr/>
      <dgm:t>
        <a:bodyPr/>
        <a:lstStyle/>
        <a:p>
          <a:endParaRPr lang="en-US"/>
        </a:p>
      </dgm:t>
    </dgm:pt>
    <dgm:pt modelId="{55FADD7D-9D8F-4F95-B6F1-EA72218B1AD4}" type="sibTrans" cxnId="{665F2410-01A1-4F0D-9197-4B5F38FEB272}">
      <dgm:prSet/>
      <dgm:spPr/>
      <dgm:t>
        <a:bodyPr/>
        <a:lstStyle/>
        <a:p>
          <a:endParaRPr lang="en-US"/>
        </a:p>
      </dgm:t>
    </dgm:pt>
    <dgm:pt modelId="{948A11B2-A491-4BC3-9E1C-AB7E0FE63438}">
      <dgm:prSet custT="1"/>
      <dgm:spPr/>
      <dgm:t>
        <a:bodyPr/>
        <a:lstStyle/>
        <a:p>
          <a:pPr>
            <a:lnSpc>
              <a:spcPct val="100000"/>
            </a:lnSpc>
          </a:pPr>
          <a:r>
            <a:rPr lang="en-US" sz="1600"/>
            <a:t>The innovations of entrepreneurial firms have a dramatic impact on society.</a:t>
          </a:r>
        </a:p>
      </dgm:t>
    </dgm:pt>
    <dgm:pt modelId="{D6E0E345-4039-468A-899A-40DDE11B75FE}" type="parTrans" cxnId="{285B3D93-AD25-4561-A807-FFDB4EE8166A}">
      <dgm:prSet/>
      <dgm:spPr/>
      <dgm:t>
        <a:bodyPr/>
        <a:lstStyle/>
        <a:p>
          <a:endParaRPr lang="en-US"/>
        </a:p>
      </dgm:t>
    </dgm:pt>
    <dgm:pt modelId="{37278205-9FBC-4E76-91C0-9811EA52FFEE}" type="sibTrans" cxnId="{285B3D93-AD25-4561-A807-FFDB4EE8166A}">
      <dgm:prSet/>
      <dgm:spPr/>
      <dgm:t>
        <a:bodyPr/>
        <a:lstStyle/>
        <a:p>
          <a:endParaRPr lang="en-US"/>
        </a:p>
      </dgm:t>
    </dgm:pt>
    <dgm:pt modelId="{854159A7-B8E8-4C47-BE0B-1C8C1CD2D40C}">
      <dgm:prSet custT="1"/>
      <dgm:spPr/>
      <dgm:t>
        <a:bodyPr/>
        <a:lstStyle/>
        <a:p>
          <a:pPr>
            <a:lnSpc>
              <a:spcPct val="100000"/>
            </a:lnSpc>
          </a:pPr>
          <a:r>
            <a:rPr lang="en-US" sz="1600" dirty="0"/>
            <a:t>Think of all the new products and services that make our lives easier, enhance our productivity at work, improve our health, and entertain us in new ways.</a:t>
          </a:r>
        </a:p>
      </dgm:t>
    </dgm:pt>
    <dgm:pt modelId="{43BE88A7-68E4-4DB8-8360-03B52E78F836}" type="parTrans" cxnId="{CE6FB29C-BFCE-430C-9DAF-50DB52257290}">
      <dgm:prSet/>
      <dgm:spPr/>
      <dgm:t>
        <a:bodyPr/>
        <a:lstStyle/>
        <a:p>
          <a:endParaRPr lang="en-US"/>
        </a:p>
      </dgm:t>
    </dgm:pt>
    <dgm:pt modelId="{6298EAD6-179B-4172-9897-8C046D1952A3}" type="sibTrans" cxnId="{CE6FB29C-BFCE-430C-9DAF-50DB52257290}">
      <dgm:prSet/>
      <dgm:spPr/>
      <dgm:t>
        <a:bodyPr/>
        <a:lstStyle/>
        <a:p>
          <a:endParaRPr lang="en-US"/>
        </a:p>
      </dgm:t>
    </dgm:pt>
    <dgm:pt modelId="{F86A35F8-7CFB-4A4E-9161-8A4C433AEB42}">
      <dgm:prSet/>
      <dgm:spPr/>
      <dgm:t>
        <a:bodyPr/>
        <a:lstStyle/>
        <a:p>
          <a:pPr>
            <a:lnSpc>
              <a:spcPct val="100000"/>
            </a:lnSpc>
          </a:pPr>
          <a:r>
            <a:rPr lang="en-US" dirty="0"/>
            <a:t>Impact on Larger Firms</a:t>
          </a:r>
        </a:p>
      </dgm:t>
    </dgm:pt>
    <dgm:pt modelId="{25ABA852-14E6-4DB5-9707-277040BF5286}" type="parTrans" cxnId="{F60318A8-97C9-4DAC-A059-C5BBBB68B805}">
      <dgm:prSet/>
      <dgm:spPr/>
      <dgm:t>
        <a:bodyPr/>
        <a:lstStyle/>
        <a:p>
          <a:endParaRPr lang="en-US"/>
        </a:p>
      </dgm:t>
    </dgm:pt>
    <dgm:pt modelId="{45EF9A2E-ECD7-401B-A195-782E3C1FE294}" type="sibTrans" cxnId="{F60318A8-97C9-4DAC-A059-C5BBBB68B805}">
      <dgm:prSet/>
      <dgm:spPr/>
      <dgm:t>
        <a:bodyPr/>
        <a:lstStyle/>
        <a:p>
          <a:endParaRPr lang="en-US"/>
        </a:p>
      </dgm:t>
    </dgm:pt>
    <dgm:pt modelId="{895F94F3-8CDC-4879-9693-15894E66A1CE}">
      <dgm:prSet custT="1"/>
      <dgm:spPr/>
      <dgm:t>
        <a:bodyPr/>
        <a:lstStyle/>
        <a:p>
          <a:pPr>
            <a:lnSpc>
              <a:spcPct val="100000"/>
            </a:lnSpc>
          </a:pPr>
          <a:r>
            <a:rPr lang="en-US" sz="1800" dirty="0"/>
            <a:t>Many entrepreneurial firms have built their entire business models around producing products and services that help larger firms become more efficient and effective.</a:t>
          </a:r>
        </a:p>
      </dgm:t>
    </dgm:pt>
    <dgm:pt modelId="{36AF499E-5C0F-4214-8789-E7B3B37171C5}" type="parTrans" cxnId="{A386524C-8B24-4E53-B497-43EB4A87E7B7}">
      <dgm:prSet/>
      <dgm:spPr/>
      <dgm:t>
        <a:bodyPr/>
        <a:lstStyle/>
        <a:p>
          <a:endParaRPr lang="en-US"/>
        </a:p>
      </dgm:t>
    </dgm:pt>
    <dgm:pt modelId="{A301CABA-034E-45C4-82CF-527D6F291FDF}" type="sibTrans" cxnId="{A386524C-8B24-4E53-B497-43EB4A87E7B7}">
      <dgm:prSet/>
      <dgm:spPr/>
      <dgm:t>
        <a:bodyPr/>
        <a:lstStyle/>
        <a:p>
          <a:endParaRPr lang="en-US"/>
        </a:p>
      </dgm:t>
    </dgm:pt>
    <dgm:pt modelId="{D038D4E9-0811-461F-9422-FE19486CCF9B}" type="pres">
      <dgm:prSet presAssocID="{19F33608-622A-4241-A7CA-E44007C50A44}" presName="root" presStyleCnt="0">
        <dgm:presLayoutVars>
          <dgm:dir/>
          <dgm:resizeHandles val="exact"/>
        </dgm:presLayoutVars>
      </dgm:prSet>
      <dgm:spPr/>
    </dgm:pt>
    <dgm:pt modelId="{8AD6660E-D790-4D47-80CC-8F88595BE747}" type="pres">
      <dgm:prSet presAssocID="{7891872E-384F-4766-9C4A-974E481577F9}" presName="compNode" presStyleCnt="0"/>
      <dgm:spPr/>
    </dgm:pt>
    <dgm:pt modelId="{53FDBE51-F921-4D72-A472-5475E8D232AF}" type="pres">
      <dgm:prSet presAssocID="{7891872E-384F-4766-9C4A-974E481577F9}" presName="bgRect" presStyleLbl="bgShp" presStyleIdx="0" presStyleCnt="2" custScaleY="125417"/>
      <dgm:spPr/>
    </dgm:pt>
    <dgm:pt modelId="{D950614D-EFD2-4580-A402-93FBA71CAAA5}" type="pres">
      <dgm:prSet presAssocID="{7891872E-384F-4766-9C4A-974E481577F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bulb"/>
        </a:ext>
      </dgm:extLst>
    </dgm:pt>
    <dgm:pt modelId="{2B1B50A6-FC14-48AB-92D3-C76798D285C3}" type="pres">
      <dgm:prSet presAssocID="{7891872E-384F-4766-9C4A-974E481577F9}" presName="spaceRect" presStyleCnt="0"/>
      <dgm:spPr/>
    </dgm:pt>
    <dgm:pt modelId="{CF944E95-E0C1-4ECF-AF6E-B76DCA373383}" type="pres">
      <dgm:prSet presAssocID="{7891872E-384F-4766-9C4A-974E481577F9}" presName="parTx" presStyleLbl="revTx" presStyleIdx="0" presStyleCnt="4" custLinFactNeighborX="-11388" custLinFactNeighborY="924">
        <dgm:presLayoutVars>
          <dgm:chMax val="0"/>
          <dgm:chPref val="0"/>
        </dgm:presLayoutVars>
      </dgm:prSet>
      <dgm:spPr/>
    </dgm:pt>
    <dgm:pt modelId="{E8C037A7-19AB-43F5-AECA-1B21F2128F05}" type="pres">
      <dgm:prSet presAssocID="{7891872E-384F-4766-9C4A-974E481577F9}" presName="desTx" presStyleLbl="revTx" presStyleIdx="1" presStyleCnt="4" custScaleX="143303" custLinFactNeighborX="-32709" custLinFactNeighborY="2782">
        <dgm:presLayoutVars/>
      </dgm:prSet>
      <dgm:spPr/>
    </dgm:pt>
    <dgm:pt modelId="{145BCE29-BE47-4E71-B024-FB30238BF7DA}" type="pres">
      <dgm:prSet presAssocID="{55FADD7D-9D8F-4F95-B6F1-EA72218B1AD4}" presName="sibTrans" presStyleCnt="0"/>
      <dgm:spPr/>
    </dgm:pt>
    <dgm:pt modelId="{FCC0001E-EF58-4F29-90DE-9661AF87C2ED}" type="pres">
      <dgm:prSet presAssocID="{F86A35F8-7CFB-4A4E-9161-8A4C433AEB42}" presName="compNode" presStyleCnt="0"/>
      <dgm:spPr/>
    </dgm:pt>
    <dgm:pt modelId="{8899D354-18EA-4179-84BB-B40F97A72542}" type="pres">
      <dgm:prSet presAssocID="{F86A35F8-7CFB-4A4E-9161-8A4C433AEB42}" presName="bgRect" presStyleLbl="bgShp" presStyleIdx="1" presStyleCnt="2"/>
      <dgm:spPr/>
    </dgm:pt>
    <dgm:pt modelId="{3380617D-51C2-459A-918B-F26D5305F878}" type="pres">
      <dgm:prSet presAssocID="{F86A35F8-7CFB-4A4E-9161-8A4C433AEB4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1A7B3D50-F58D-42E5-98F0-832393541793}" type="pres">
      <dgm:prSet presAssocID="{F86A35F8-7CFB-4A4E-9161-8A4C433AEB42}" presName="spaceRect" presStyleCnt="0"/>
      <dgm:spPr/>
    </dgm:pt>
    <dgm:pt modelId="{BB5D1519-8551-4A0A-8A2B-B31D15476F2A}" type="pres">
      <dgm:prSet presAssocID="{F86A35F8-7CFB-4A4E-9161-8A4C433AEB42}" presName="parTx" presStyleLbl="revTx" presStyleIdx="2" presStyleCnt="4" custLinFactNeighborX="-12858">
        <dgm:presLayoutVars>
          <dgm:chMax val="0"/>
          <dgm:chPref val="0"/>
        </dgm:presLayoutVars>
      </dgm:prSet>
      <dgm:spPr/>
    </dgm:pt>
    <dgm:pt modelId="{2DC79275-3716-400D-B667-79714F9F3EA2}" type="pres">
      <dgm:prSet presAssocID="{F86A35F8-7CFB-4A4E-9161-8A4C433AEB42}" presName="desTx" presStyleLbl="revTx" presStyleIdx="3" presStyleCnt="4" custScaleX="140402" custLinFactNeighborX="-24070" custLinFactNeighborY="927">
        <dgm:presLayoutVars/>
      </dgm:prSet>
      <dgm:spPr/>
    </dgm:pt>
  </dgm:ptLst>
  <dgm:cxnLst>
    <dgm:cxn modelId="{665F2410-01A1-4F0D-9197-4B5F38FEB272}" srcId="{19F33608-622A-4241-A7CA-E44007C50A44}" destId="{7891872E-384F-4766-9C4A-974E481577F9}" srcOrd="0" destOrd="0" parTransId="{851BE03A-6DCB-4BF0-BAFC-3CC8D05F5331}" sibTransId="{55FADD7D-9D8F-4F95-B6F1-EA72218B1AD4}"/>
    <dgm:cxn modelId="{E0D3AB19-81A9-43ED-871A-539550A720BC}" type="presOf" srcId="{7891872E-384F-4766-9C4A-974E481577F9}" destId="{CF944E95-E0C1-4ECF-AF6E-B76DCA373383}" srcOrd="0" destOrd="0" presId="urn:microsoft.com/office/officeart/2018/2/layout/IconVerticalSolidList"/>
    <dgm:cxn modelId="{51C0A71E-B629-464B-B12D-2B3B1A80A07D}" type="presOf" srcId="{19F33608-622A-4241-A7CA-E44007C50A44}" destId="{D038D4E9-0811-461F-9422-FE19486CCF9B}" srcOrd="0" destOrd="0" presId="urn:microsoft.com/office/officeart/2018/2/layout/IconVerticalSolidList"/>
    <dgm:cxn modelId="{D80D3223-E01C-4E80-B66E-5C555BE7C276}" type="presOf" srcId="{895F94F3-8CDC-4879-9693-15894E66A1CE}" destId="{2DC79275-3716-400D-B667-79714F9F3EA2}" srcOrd="0" destOrd="0" presId="urn:microsoft.com/office/officeart/2018/2/layout/IconVerticalSolidList"/>
    <dgm:cxn modelId="{5AA58B39-79FE-48F6-AF19-FE4AC5C0AFD6}" type="presOf" srcId="{948A11B2-A491-4BC3-9E1C-AB7E0FE63438}" destId="{E8C037A7-19AB-43F5-AECA-1B21F2128F05}" srcOrd="0" destOrd="0" presId="urn:microsoft.com/office/officeart/2018/2/layout/IconVerticalSolidList"/>
    <dgm:cxn modelId="{A386524C-8B24-4E53-B497-43EB4A87E7B7}" srcId="{F86A35F8-7CFB-4A4E-9161-8A4C433AEB42}" destId="{895F94F3-8CDC-4879-9693-15894E66A1CE}" srcOrd="0" destOrd="0" parTransId="{36AF499E-5C0F-4214-8789-E7B3B37171C5}" sibTransId="{A301CABA-034E-45C4-82CF-527D6F291FDF}"/>
    <dgm:cxn modelId="{285B3D93-AD25-4561-A807-FFDB4EE8166A}" srcId="{7891872E-384F-4766-9C4A-974E481577F9}" destId="{948A11B2-A491-4BC3-9E1C-AB7E0FE63438}" srcOrd="0" destOrd="0" parTransId="{D6E0E345-4039-468A-899A-40DDE11B75FE}" sibTransId="{37278205-9FBC-4E76-91C0-9811EA52FFEE}"/>
    <dgm:cxn modelId="{0CAF5E95-D73D-4185-9568-B535B37F9132}" type="presOf" srcId="{F86A35F8-7CFB-4A4E-9161-8A4C433AEB42}" destId="{BB5D1519-8551-4A0A-8A2B-B31D15476F2A}" srcOrd="0" destOrd="0" presId="urn:microsoft.com/office/officeart/2018/2/layout/IconVerticalSolidList"/>
    <dgm:cxn modelId="{CE6FB29C-BFCE-430C-9DAF-50DB52257290}" srcId="{7891872E-384F-4766-9C4A-974E481577F9}" destId="{854159A7-B8E8-4C47-BE0B-1C8C1CD2D40C}" srcOrd="1" destOrd="0" parTransId="{43BE88A7-68E4-4DB8-8360-03B52E78F836}" sibTransId="{6298EAD6-179B-4172-9897-8C046D1952A3}"/>
    <dgm:cxn modelId="{F60318A8-97C9-4DAC-A059-C5BBBB68B805}" srcId="{19F33608-622A-4241-A7CA-E44007C50A44}" destId="{F86A35F8-7CFB-4A4E-9161-8A4C433AEB42}" srcOrd="1" destOrd="0" parTransId="{25ABA852-14E6-4DB5-9707-277040BF5286}" sibTransId="{45EF9A2E-ECD7-401B-A195-782E3C1FE294}"/>
    <dgm:cxn modelId="{2532DDD4-CA69-4D3D-A4CF-DAB3C43BF203}" type="presOf" srcId="{854159A7-B8E8-4C47-BE0B-1C8C1CD2D40C}" destId="{E8C037A7-19AB-43F5-AECA-1B21F2128F05}" srcOrd="0" destOrd="1" presId="urn:microsoft.com/office/officeart/2018/2/layout/IconVerticalSolidList"/>
    <dgm:cxn modelId="{89E9C6BB-3DE3-4BC2-BF2E-6AFE9A747406}" type="presParOf" srcId="{D038D4E9-0811-461F-9422-FE19486CCF9B}" destId="{8AD6660E-D790-4D47-80CC-8F88595BE747}" srcOrd="0" destOrd="0" presId="urn:microsoft.com/office/officeart/2018/2/layout/IconVerticalSolidList"/>
    <dgm:cxn modelId="{A809C052-6EF3-4A0B-81DB-7634C74C247F}" type="presParOf" srcId="{8AD6660E-D790-4D47-80CC-8F88595BE747}" destId="{53FDBE51-F921-4D72-A472-5475E8D232AF}" srcOrd="0" destOrd="0" presId="urn:microsoft.com/office/officeart/2018/2/layout/IconVerticalSolidList"/>
    <dgm:cxn modelId="{ACE44DAD-D183-4E30-B084-C9CA00891187}" type="presParOf" srcId="{8AD6660E-D790-4D47-80CC-8F88595BE747}" destId="{D950614D-EFD2-4580-A402-93FBA71CAAA5}" srcOrd="1" destOrd="0" presId="urn:microsoft.com/office/officeart/2018/2/layout/IconVerticalSolidList"/>
    <dgm:cxn modelId="{8A84ECE4-B799-4D22-AF7E-EB2FA80706E7}" type="presParOf" srcId="{8AD6660E-D790-4D47-80CC-8F88595BE747}" destId="{2B1B50A6-FC14-48AB-92D3-C76798D285C3}" srcOrd="2" destOrd="0" presId="urn:microsoft.com/office/officeart/2018/2/layout/IconVerticalSolidList"/>
    <dgm:cxn modelId="{254C1BCA-B71B-4938-9B6F-F3270A759CD3}" type="presParOf" srcId="{8AD6660E-D790-4D47-80CC-8F88595BE747}" destId="{CF944E95-E0C1-4ECF-AF6E-B76DCA373383}" srcOrd="3" destOrd="0" presId="urn:microsoft.com/office/officeart/2018/2/layout/IconVerticalSolidList"/>
    <dgm:cxn modelId="{339C849A-DADE-4861-B011-57F56C03113A}" type="presParOf" srcId="{8AD6660E-D790-4D47-80CC-8F88595BE747}" destId="{E8C037A7-19AB-43F5-AECA-1B21F2128F05}" srcOrd="4" destOrd="0" presId="urn:microsoft.com/office/officeart/2018/2/layout/IconVerticalSolidList"/>
    <dgm:cxn modelId="{25062221-F3E9-4EE1-9CA1-FB16A5924CB2}" type="presParOf" srcId="{D038D4E9-0811-461F-9422-FE19486CCF9B}" destId="{145BCE29-BE47-4E71-B024-FB30238BF7DA}" srcOrd="1" destOrd="0" presId="urn:microsoft.com/office/officeart/2018/2/layout/IconVerticalSolidList"/>
    <dgm:cxn modelId="{A3580E37-FAA0-407A-9C3C-E9FE51A82FAA}" type="presParOf" srcId="{D038D4E9-0811-461F-9422-FE19486CCF9B}" destId="{FCC0001E-EF58-4F29-90DE-9661AF87C2ED}" srcOrd="2" destOrd="0" presId="urn:microsoft.com/office/officeart/2018/2/layout/IconVerticalSolidList"/>
    <dgm:cxn modelId="{5470FE47-A550-46FB-A13C-8817946CC6F5}" type="presParOf" srcId="{FCC0001E-EF58-4F29-90DE-9661AF87C2ED}" destId="{8899D354-18EA-4179-84BB-B40F97A72542}" srcOrd="0" destOrd="0" presId="urn:microsoft.com/office/officeart/2018/2/layout/IconVerticalSolidList"/>
    <dgm:cxn modelId="{0F05F6C9-CE26-4E0A-80DD-B94275D050BB}" type="presParOf" srcId="{FCC0001E-EF58-4F29-90DE-9661AF87C2ED}" destId="{3380617D-51C2-459A-918B-F26D5305F878}" srcOrd="1" destOrd="0" presId="urn:microsoft.com/office/officeart/2018/2/layout/IconVerticalSolidList"/>
    <dgm:cxn modelId="{757C3F05-5825-4EEC-8A35-E8E5AB219278}" type="presParOf" srcId="{FCC0001E-EF58-4F29-90DE-9661AF87C2ED}" destId="{1A7B3D50-F58D-42E5-98F0-832393541793}" srcOrd="2" destOrd="0" presId="urn:microsoft.com/office/officeart/2018/2/layout/IconVerticalSolidList"/>
    <dgm:cxn modelId="{3CAEF344-0E30-4D8B-8AB4-F32141862986}" type="presParOf" srcId="{FCC0001E-EF58-4F29-90DE-9661AF87C2ED}" destId="{BB5D1519-8551-4A0A-8A2B-B31D15476F2A}" srcOrd="3" destOrd="0" presId="urn:microsoft.com/office/officeart/2018/2/layout/IconVerticalSolidList"/>
    <dgm:cxn modelId="{428D2209-BAC6-40AF-9FC1-D239ED51370B}" type="presParOf" srcId="{FCC0001E-EF58-4F29-90DE-9661AF87C2ED}" destId="{2DC79275-3716-400D-B667-79714F9F3EA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6CC2F-66E7-441E-99B9-DACE040774C4}">
      <dsp:nvSpPr>
        <dsp:cNvPr id="0" name=""/>
        <dsp:cNvSpPr/>
      </dsp:nvSpPr>
      <dsp:spPr>
        <a:xfrm>
          <a:off x="1095698" y="737696"/>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C38368-A5E7-4CB4-9D49-1DE9A3A548C6}">
      <dsp:nvSpPr>
        <dsp:cNvPr id="0" name=""/>
        <dsp:cNvSpPr/>
      </dsp:nvSpPr>
      <dsp:spPr>
        <a:xfrm>
          <a:off x="1095698" y="242544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100000"/>
            </a:lnSpc>
            <a:spcBef>
              <a:spcPct val="0"/>
            </a:spcBef>
            <a:spcAft>
              <a:spcPct val="35000"/>
            </a:spcAft>
            <a:buNone/>
            <a:defRPr b="1"/>
          </a:pPr>
          <a:r>
            <a:rPr lang="en-US" sz="2900" b="1" kern="1200"/>
            <a:t>Passion for the Business</a:t>
          </a:r>
          <a:endParaRPr lang="en-US" sz="2900" kern="1200"/>
        </a:p>
      </dsp:txBody>
      <dsp:txXfrm>
        <a:off x="1095698" y="2425446"/>
        <a:ext cx="4320000" cy="648000"/>
      </dsp:txXfrm>
    </dsp:sp>
    <dsp:sp modelId="{A7284D02-DB1C-45FA-A80D-C3BC7C268FFD}">
      <dsp:nvSpPr>
        <dsp:cNvPr id="0" name=""/>
        <dsp:cNvSpPr/>
      </dsp:nvSpPr>
      <dsp:spPr>
        <a:xfrm>
          <a:off x="1095698" y="3155190"/>
          <a:ext cx="4320000" cy="1669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The number one characteristic shared by successful entrepreneurs is a </a:t>
          </a:r>
          <a:r>
            <a:rPr lang="en-US" sz="1700" i="1" u="sng" kern="1200"/>
            <a:t>passion for the business</a:t>
          </a:r>
          <a:r>
            <a:rPr lang="en-US" sz="1700" kern="1200"/>
            <a:t>.</a:t>
          </a:r>
        </a:p>
        <a:p>
          <a:pPr marL="0" lvl="0" indent="0" algn="l" defTabSz="755650">
            <a:lnSpc>
              <a:spcPct val="100000"/>
            </a:lnSpc>
            <a:spcBef>
              <a:spcPct val="0"/>
            </a:spcBef>
            <a:spcAft>
              <a:spcPct val="35000"/>
            </a:spcAft>
            <a:buNone/>
          </a:pPr>
          <a:r>
            <a:rPr lang="en-US" sz="1700" kern="1200"/>
            <a:t>This passion typically stems from the entrepreneur’s belief that </a:t>
          </a:r>
          <a:r>
            <a:rPr lang="en-US" sz="1700" i="1" u="sng" kern="1200"/>
            <a:t>the business will positively influence people’s lives</a:t>
          </a:r>
          <a:r>
            <a:rPr lang="en-US" sz="1700" kern="1200"/>
            <a:t>.</a:t>
          </a:r>
        </a:p>
      </dsp:txBody>
      <dsp:txXfrm>
        <a:off x="1095698" y="3155190"/>
        <a:ext cx="4320000" cy="1669713"/>
      </dsp:txXfrm>
    </dsp:sp>
    <dsp:sp modelId="{FAE36827-80DF-428F-A61B-9F299DFBFADA}">
      <dsp:nvSpPr>
        <dsp:cNvPr id="0" name=""/>
        <dsp:cNvSpPr/>
      </dsp:nvSpPr>
      <dsp:spPr>
        <a:xfrm>
          <a:off x="6171698" y="737696"/>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89473E-242C-4F41-A5CC-1D09BC2E9366}">
      <dsp:nvSpPr>
        <dsp:cNvPr id="0" name=""/>
        <dsp:cNvSpPr/>
      </dsp:nvSpPr>
      <dsp:spPr>
        <a:xfrm>
          <a:off x="6171698" y="242544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100000"/>
            </a:lnSpc>
            <a:spcBef>
              <a:spcPct val="0"/>
            </a:spcBef>
            <a:spcAft>
              <a:spcPct val="35000"/>
            </a:spcAft>
            <a:buNone/>
            <a:defRPr b="1"/>
          </a:pPr>
          <a:r>
            <a:rPr lang="en-US" sz="2900" b="1" kern="1200"/>
            <a:t>Product/Customer Focus</a:t>
          </a:r>
          <a:endParaRPr lang="en-US" sz="2900" kern="1200"/>
        </a:p>
      </dsp:txBody>
      <dsp:txXfrm>
        <a:off x="6171698" y="2425446"/>
        <a:ext cx="4320000" cy="648000"/>
      </dsp:txXfrm>
    </dsp:sp>
    <dsp:sp modelId="{77D11E4B-B816-4315-8EAE-715898B456AA}">
      <dsp:nvSpPr>
        <dsp:cNvPr id="0" name=""/>
        <dsp:cNvSpPr/>
      </dsp:nvSpPr>
      <dsp:spPr>
        <a:xfrm>
          <a:off x="6171698" y="3155190"/>
          <a:ext cx="4320000" cy="1669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A second defining characteristic of successful entrepreneurs is a </a:t>
          </a:r>
          <a:r>
            <a:rPr lang="en-US" sz="1700" b="1" kern="1200"/>
            <a:t>product/customer focus.</a:t>
          </a:r>
          <a:endParaRPr lang="en-US" sz="1700" kern="1200"/>
        </a:p>
        <a:p>
          <a:pPr marL="0" lvl="0" indent="0" algn="l" defTabSz="755650">
            <a:lnSpc>
              <a:spcPct val="100000"/>
            </a:lnSpc>
            <a:spcBef>
              <a:spcPct val="0"/>
            </a:spcBef>
            <a:spcAft>
              <a:spcPct val="35000"/>
            </a:spcAft>
            <a:buNone/>
          </a:pPr>
          <a:r>
            <a:rPr lang="en-US" sz="1700" kern="1200"/>
            <a:t>Developing </a:t>
          </a:r>
          <a:r>
            <a:rPr lang="en-US" sz="1700" b="1" kern="1200"/>
            <a:t>products</a:t>
          </a:r>
          <a:r>
            <a:rPr lang="en-US" sz="1700" kern="1200"/>
            <a:t> that enhance people's lives is an aspect of the </a:t>
          </a:r>
          <a:r>
            <a:rPr lang="en-US" sz="1700" b="1" kern="1200"/>
            <a:t>entrepreneurial</a:t>
          </a:r>
          <a:r>
            <a:rPr lang="en-US" sz="1700" kern="1200"/>
            <a:t> process that many business owners find very rewarding. </a:t>
          </a:r>
        </a:p>
      </dsp:txBody>
      <dsp:txXfrm>
        <a:off x="6171698" y="3155190"/>
        <a:ext cx="4320000" cy="16697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05CB3A-ED07-4AC8-8EB4-E9AFB772F910}">
      <dsp:nvSpPr>
        <dsp:cNvPr id="0" name=""/>
        <dsp:cNvSpPr/>
      </dsp:nvSpPr>
      <dsp:spPr>
        <a:xfrm>
          <a:off x="968282" y="531917"/>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E3491A-BEB3-45F1-9A74-A0C85D01EB89}">
      <dsp:nvSpPr>
        <dsp:cNvPr id="0" name=""/>
        <dsp:cNvSpPr/>
      </dsp:nvSpPr>
      <dsp:spPr>
        <a:xfrm>
          <a:off x="968282" y="223081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b="1" kern="1200"/>
            <a:t>Tenacity Despite Failure</a:t>
          </a:r>
          <a:endParaRPr lang="en-US" sz="3000" kern="1200"/>
        </a:p>
      </dsp:txBody>
      <dsp:txXfrm>
        <a:off x="968282" y="2230811"/>
        <a:ext cx="4320000" cy="648000"/>
      </dsp:txXfrm>
    </dsp:sp>
    <dsp:sp modelId="{211765CF-71B2-42C1-8489-49FEC879C231}">
      <dsp:nvSpPr>
        <dsp:cNvPr id="0" name=""/>
        <dsp:cNvSpPr/>
      </dsp:nvSpPr>
      <dsp:spPr>
        <a:xfrm>
          <a:off x="968282" y="2965738"/>
          <a:ext cx="4320000" cy="1912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Because entrepreneurs are typically trying </a:t>
          </a:r>
          <a:r>
            <a:rPr lang="en-US" sz="1700" u="sng" kern="1200"/>
            <a:t>something new</a:t>
          </a:r>
          <a:r>
            <a:rPr lang="en-US" sz="1700" kern="1200"/>
            <a:t>, the </a:t>
          </a:r>
          <a:r>
            <a:rPr lang="en-US" sz="1700" u="sng" kern="1200"/>
            <a:t>failure rate is naturally high</a:t>
          </a:r>
          <a:r>
            <a:rPr lang="en-US" sz="1700" kern="1200"/>
            <a:t>.</a:t>
          </a:r>
        </a:p>
        <a:p>
          <a:pPr marL="0" lvl="0" indent="0" algn="l" defTabSz="755650">
            <a:lnSpc>
              <a:spcPct val="100000"/>
            </a:lnSpc>
            <a:spcBef>
              <a:spcPct val="0"/>
            </a:spcBef>
            <a:spcAft>
              <a:spcPct val="35000"/>
            </a:spcAft>
            <a:buNone/>
          </a:pPr>
          <a:r>
            <a:rPr lang="en-US" sz="1700" kern="1200"/>
            <a:t>A defining characteristic of successful entrepreneurs is their ability to persevere through setbacks and failures.</a:t>
          </a:r>
        </a:p>
      </dsp:txBody>
      <dsp:txXfrm>
        <a:off x="968282" y="2965738"/>
        <a:ext cx="4320000" cy="1912543"/>
      </dsp:txXfrm>
    </dsp:sp>
    <dsp:sp modelId="{0CDA54F4-456F-4B03-86E2-2D8479815420}">
      <dsp:nvSpPr>
        <dsp:cNvPr id="0" name=""/>
        <dsp:cNvSpPr/>
      </dsp:nvSpPr>
      <dsp:spPr>
        <a:xfrm>
          <a:off x="6044282" y="531917"/>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131DE1-033D-4862-8491-A6B16A2CD675}">
      <dsp:nvSpPr>
        <dsp:cNvPr id="0" name=""/>
        <dsp:cNvSpPr/>
      </dsp:nvSpPr>
      <dsp:spPr>
        <a:xfrm>
          <a:off x="6044282" y="223081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b="1" kern="1200"/>
            <a:t>Execution Intelligence</a:t>
          </a:r>
          <a:endParaRPr lang="en-US" sz="3000" kern="1200"/>
        </a:p>
      </dsp:txBody>
      <dsp:txXfrm>
        <a:off x="6044282" y="2230811"/>
        <a:ext cx="4320000" cy="648000"/>
      </dsp:txXfrm>
    </dsp:sp>
    <dsp:sp modelId="{BBAFAC7D-888E-4C29-A582-ED9E19E0D4E1}">
      <dsp:nvSpPr>
        <dsp:cNvPr id="0" name=""/>
        <dsp:cNvSpPr/>
      </dsp:nvSpPr>
      <dsp:spPr>
        <a:xfrm>
          <a:off x="6044282" y="2965738"/>
          <a:ext cx="4320000" cy="1912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The ability to fashion a </a:t>
          </a:r>
          <a:r>
            <a:rPr lang="en-US" sz="1700" u="sng" kern="1200"/>
            <a:t>solid business idea into a viable business </a:t>
          </a:r>
          <a:r>
            <a:rPr lang="en-US" sz="1700" kern="1200"/>
            <a:t>is a key characteristic of successful entrepreneurs.</a:t>
          </a:r>
        </a:p>
        <a:p>
          <a:pPr marL="0" lvl="0" indent="0" algn="l" defTabSz="755650">
            <a:lnSpc>
              <a:spcPct val="100000"/>
            </a:lnSpc>
            <a:spcBef>
              <a:spcPct val="0"/>
            </a:spcBef>
            <a:spcAft>
              <a:spcPct val="35000"/>
            </a:spcAft>
            <a:buNone/>
          </a:pPr>
          <a:r>
            <a:rPr lang="en-US" sz="1700" kern="1200"/>
            <a:t>The ability to translate thought, creativity, and imagination into action and measurable results is the essence of execution intelligence.</a:t>
          </a:r>
        </a:p>
      </dsp:txBody>
      <dsp:txXfrm>
        <a:off x="6044282" y="2965738"/>
        <a:ext cx="4320000" cy="19125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8B135-C054-40AB-BE60-908E7F885C77}">
      <dsp:nvSpPr>
        <dsp:cNvPr id="0" name=""/>
        <dsp:cNvSpPr/>
      </dsp:nvSpPr>
      <dsp:spPr>
        <a:xfrm>
          <a:off x="-417086" y="388038"/>
          <a:ext cx="8229600" cy="20168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7AD079-6EB4-4329-8BA1-AB2864782CD4}">
      <dsp:nvSpPr>
        <dsp:cNvPr id="0" name=""/>
        <dsp:cNvSpPr/>
      </dsp:nvSpPr>
      <dsp:spPr>
        <a:xfrm>
          <a:off x="52744" y="969339"/>
          <a:ext cx="854238" cy="8542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1C594B-9049-4280-A672-37C87CEFA58B}">
      <dsp:nvSpPr>
        <dsp:cNvPr id="0" name=""/>
        <dsp:cNvSpPr/>
      </dsp:nvSpPr>
      <dsp:spPr>
        <a:xfrm>
          <a:off x="1106990" y="606645"/>
          <a:ext cx="3703320" cy="1553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76" tIns="164376" rIns="164376" bIns="164376" numCol="1" spcCol="1270" anchor="ctr" anchorCtr="0">
          <a:noAutofit/>
        </a:bodyPr>
        <a:lstStyle/>
        <a:p>
          <a:pPr marL="0" lvl="0" indent="0" algn="l" defTabSz="1111250">
            <a:lnSpc>
              <a:spcPct val="100000"/>
            </a:lnSpc>
            <a:spcBef>
              <a:spcPct val="0"/>
            </a:spcBef>
            <a:spcAft>
              <a:spcPct val="35000"/>
            </a:spcAft>
            <a:buNone/>
          </a:pPr>
          <a:r>
            <a:rPr lang="en-US" sz="2500" kern="1200" dirty="0"/>
            <a:t>Innovation</a:t>
          </a:r>
        </a:p>
      </dsp:txBody>
      <dsp:txXfrm>
        <a:off x="1106990" y="606645"/>
        <a:ext cx="3703320" cy="1553160"/>
      </dsp:txXfrm>
    </dsp:sp>
    <dsp:sp modelId="{3BC98715-3FD8-4CEF-9B32-824E5C09F504}">
      <dsp:nvSpPr>
        <dsp:cNvPr id="0" name=""/>
        <dsp:cNvSpPr/>
      </dsp:nvSpPr>
      <dsp:spPr>
        <a:xfrm>
          <a:off x="3600417" y="606645"/>
          <a:ext cx="4159317" cy="1553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76" tIns="164376" rIns="164376" bIns="164376" numCol="1" spcCol="1270" anchor="ctr" anchorCtr="0">
          <a:noAutofit/>
        </a:bodyPr>
        <a:lstStyle/>
        <a:p>
          <a:pPr marL="0" lvl="0" indent="0" algn="l" defTabSz="800100">
            <a:lnSpc>
              <a:spcPct val="100000"/>
            </a:lnSpc>
            <a:spcBef>
              <a:spcPct val="0"/>
            </a:spcBef>
            <a:spcAft>
              <a:spcPct val="35000"/>
            </a:spcAft>
            <a:buNone/>
          </a:pPr>
          <a:r>
            <a:rPr lang="en-US" sz="1800" kern="1200" dirty="0"/>
            <a:t>Is the process of creating something new, which is central to the entrepreneurial process.</a:t>
          </a:r>
        </a:p>
        <a:p>
          <a:pPr marL="0" lvl="0" indent="0" algn="l" defTabSz="800100">
            <a:lnSpc>
              <a:spcPct val="100000"/>
            </a:lnSpc>
            <a:spcBef>
              <a:spcPct val="0"/>
            </a:spcBef>
            <a:spcAft>
              <a:spcPct val="35000"/>
            </a:spcAft>
            <a:buNone/>
          </a:pPr>
          <a:r>
            <a:rPr lang="en-US" sz="1800" kern="1200"/>
            <a:t>Small entrepreneurial firms are responsible for over two-thirds of all innovations in the U.S.</a:t>
          </a:r>
        </a:p>
      </dsp:txBody>
      <dsp:txXfrm>
        <a:off x="3600417" y="606645"/>
        <a:ext cx="4159317" cy="1553160"/>
      </dsp:txXfrm>
    </dsp:sp>
    <dsp:sp modelId="{91527512-F635-4747-9318-E4DF4D1FA646}">
      <dsp:nvSpPr>
        <dsp:cNvPr id="0" name=""/>
        <dsp:cNvSpPr/>
      </dsp:nvSpPr>
      <dsp:spPr>
        <a:xfrm>
          <a:off x="-417086" y="2808157"/>
          <a:ext cx="8229600" cy="201626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71FFAE-1233-4BE4-A60C-A49FEDF50214}">
      <dsp:nvSpPr>
        <dsp:cNvPr id="0" name=""/>
        <dsp:cNvSpPr/>
      </dsp:nvSpPr>
      <dsp:spPr>
        <a:xfrm>
          <a:off x="52744" y="3374184"/>
          <a:ext cx="854238" cy="8542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190050-5F16-4F3C-9716-6572156C6F81}">
      <dsp:nvSpPr>
        <dsp:cNvPr id="0" name=""/>
        <dsp:cNvSpPr/>
      </dsp:nvSpPr>
      <dsp:spPr>
        <a:xfrm>
          <a:off x="942081" y="3054698"/>
          <a:ext cx="3703320" cy="1553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76" tIns="164376" rIns="164376" bIns="164376" numCol="1" spcCol="1270" anchor="ctr" anchorCtr="0">
          <a:noAutofit/>
        </a:bodyPr>
        <a:lstStyle/>
        <a:p>
          <a:pPr marL="0" lvl="0" indent="0" algn="l" defTabSz="1111250">
            <a:lnSpc>
              <a:spcPct val="100000"/>
            </a:lnSpc>
            <a:spcBef>
              <a:spcPct val="0"/>
            </a:spcBef>
            <a:spcAft>
              <a:spcPct val="35000"/>
            </a:spcAft>
            <a:buNone/>
          </a:pPr>
          <a:r>
            <a:rPr lang="en-US" sz="2500" kern="1200" dirty="0"/>
            <a:t>Job Creation</a:t>
          </a:r>
        </a:p>
      </dsp:txBody>
      <dsp:txXfrm>
        <a:off x="942081" y="3054698"/>
        <a:ext cx="3703320" cy="1553160"/>
      </dsp:txXfrm>
    </dsp:sp>
    <dsp:sp modelId="{C7A18788-50D8-406B-8CA4-2B1D97705E74}">
      <dsp:nvSpPr>
        <dsp:cNvPr id="0" name=""/>
        <dsp:cNvSpPr/>
      </dsp:nvSpPr>
      <dsp:spPr>
        <a:xfrm>
          <a:off x="3567302" y="3069686"/>
          <a:ext cx="4404233" cy="1553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76" tIns="164376" rIns="164376" bIns="164376" numCol="1" spcCol="1270" anchor="ctr" anchorCtr="0">
          <a:noAutofit/>
        </a:bodyPr>
        <a:lstStyle/>
        <a:p>
          <a:pPr marL="0" lvl="0" indent="0" algn="l" defTabSz="800100">
            <a:lnSpc>
              <a:spcPct val="100000"/>
            </a:lnSpc>
            <a:spcBef>
              <a:spcPct val="0"/>
            </a:spcBef>
            <a:spcAft>
              <a:spcPct val="35000"/>
            </a:spcAft>
            <a:buNone/>
          </a:pPr>
          <a:r>
            <a:rPr lang="en-US" sz="1800" kern="1200" dirty="0"/>
            <a:t>In the past two decades, economic activity has moved in the direction of smaller entrepreneurial firms, which may be due to their unique ability to innovate and focus on specialized tasks.</a:t>
          </a:r>
        </a:p>
      </dsp:txBody>
      <dsp:txXfrm>
        <a:off x="3567302" y="3069686"/>
        <a:ext cx="4404233" cy="1553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DBE51-F921-4D72-A472-5475E8D232AF}">
      <dsp:nvSpPr>
        <dsp:cNvPr id="0" name=""/>
        <dsp:cNvSpPr/>
      </dsp:nvSpPr>
      <dsp:spPr>
        <a:xfrm>
          <a:off x="-335538" y="680817"/>
          <a:ext cx="9067800" cy="202765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50614D-EFD2-4580-A402-93FBA71CAAA5}">
      <dsp:nvSpPr>
        <dsp:cNvPr id="0" name=""/>
        <dsp:cNvSpPr/>
      </dsp:nvSpPr>
      <dsp:spPr>
        <a:xfrm>
          <a:off x="153522" y="1250043"/>
          <a:ext cx="889201" cy="8892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44E95-E0C1-4ECF-AF6E-B76DCA373383}">
      <dsp:nvSpPr>
        <dsp:cNvPr id="0" name=""/>
        <dsp:cNvSpPr/>
      </dsp:nvSpPr>
      <dsp:spPr>
        <a:xfrm>
          <a:off x="1067095" y="901218"/>
          <a:ext cx="4080510" cy="1616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104" tIns="171104" rIns="171104" bIns="171104" numCol="1" spcCol="1270" anchor="ctr" anchorCtr="0">
          <a:noAutofit/>
        </a:bodyPr>
        <a:lstStyle/>
        <a:p>
          <a:pPr marL="0" lvl="0" indent="0" algn="l" defTabSz="1111250">
            <a:lnSpc>
              <a:spcPct val="100000"/>
            </a:lnSpc>
            <a:spcBef>
              <a:spcPct val="0"/>
            </a:spcBef>
            <a:spcAft>
              <a:spcPct val="35000"/>
            </a:spcAft>
            <a:buNone/>
          </a:pPr>
          <a:r>
            <a:rPr lang="en-US" sz="2500" kern="1200" dirty="0"/>
            <a:t>Impact on Society</a:t>
          </a:r>
        </a:p>
      </dsp:txBody>
      <dsp:txXfrm>
        <a:off x="1067095" y="901218"/>
        <a:ext cx="4080510" cy="1616729"/>
      </dsp:txXfrm>
    </dsp:sp>
    <dsp:sp modelId="{E8C037A7-19AB-43F5-AECA-1B21F2128F05}">
      <dsp:nvSpPr>
        <dsp:cNvPr id="0" name=""/>
        <dsp:cNvSpPr/>
      </dsp:nvSpPr>
      <dsp:spPr>
        <a:xfrm>
          <a:off x="3918249" y="931257"/>
          <a:ext cx="4465773" cy="1616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104" tIns="171104" rIns="171104" bIns="171104" numCol="1" spcCol="1270" anchor="ctr" anchorCtr="0">
          <a:noAutofit/>
        </a:bodyPr>
        <a:lstStyle/>
        <a:p>
          <a:pPr marL="0" lvl="0" indent="0" algn="l" defTabSz="711200">
            <a:lnSpc>
              <a:spcPct val="100000"/>
            </a:lnSpc>
            <a:spcBef>
              <a:spcPct val="0"/>
            </a:spcBef>
            <a:spcAft>
              <a:spcPct val="35000"/>
            </a:spcAft>
            <a:buNone/>
          </a:pPr>
          <a:r>
            <a:rPr lang="en-US" sz="1600" kern="1200"/>
            <a:t>The innovations of entrepreneurial firms have a dramatic impact on society.</a:t>
          </a:r>
        </a:p>
        <a:p>
          <a:pPr marL="0" lvl="0" indent="0" algn="l" defTabSz="711200">
            <a:lnSpc>
              <a:spcPct val="100000"/>
            </a:lnSpc>
            <a:spcBef>
              <a:spcPct val="0"/>
            </a:spcBef>
            <a:spcAft>
              <a:spcPct val="35000"/>
            </a:spcAft>
            <a:buNone/>
          </a:pPr>
          <a:r>
            <a:rPr lang="en-US" sz="1600" kern="1200" dirty="0"/>
            <a:t>Think of all the new products and services that make our lives easier, enhance our productivity at work, improve our health, and entertain us in new ways.</a:t>
          </a:r>
        </a:p>
      </dsp:txBody>
      <dsp:txXfrm>
        <a:off x="3918249" y="931257"/>
        <a:ext cx="4465773" cy="1616729"/>
      </dsp:txXfrm>
    </dsp:sp>
    <dsp:sp modelId="{8899D354-18EA-4179-84BB-B40F97A72542}">
      <dsp:nvSpPr>
        <dsp:cNvPr id="0" name=""/>
        <dsp:cNvSpPr/>
      </dsp:nvSpPr>
      <dsp:spPr>
        <a:xfrm>
          <a:off x="-335538" y="3112653"/>
          <a:ext cx="9067800" cy="16167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80617D-51C2-459A-918B-F26D5305F878}">
      <dsp:nvSpPr>
        <dsp:cNvPr id="0" name=""/>
        <dsp:cNvSpPr/>
      </dsp:nvSpPr>
      <dsp:spPr>
        <a:xfrm>
          <a:off x="153522" y="3476417"/>
          <a:ext cx="889201" cy="8892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5D1519-8551-4A0A-8A2B-B31D15476F2A}">
      <dsp:nvSpPr>
        <dsp:cNvPr id="0" name=""/>
        <dsp:cNvSpPr/>
      </dsp:nvSpPr>
      <dsp:spPr>
        <a:xfrm>
          <a:off x="1007111" y="3112653"/>
          <a:ext cx="4080510" cy="1616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104" tIns="171104" rIns="171104" bIns="171104" numCol="1" spcCol="1270" anchor="ctr" anchorCtr="0">
          <a:noAutofit/>
        </a:bodyPr>
        <a:lstStyle/>
        <a:p>
          <a:pPr marL="0" lvl="0" indent="0" algn="l" defTabSz="1111250">
            <a:lnSpc>
              <a:spcPct val="100000"/>
            </a:lnSpc>
            <a:spcBef>
              <a:spcPct val="0"/>
            </a:spcBef>
            <a:spcAft>
              <a:spcPct val="35000"/>
            </a:spcAft>
            <a:buNone/>
          </a:pPr>
          <a:r>
            <a:rPr lang="en-US" sz="2500" kern="1200" dirty="0"/>
            <a:t>Impact on Larger Firms</a:t>
          </a:r>
        </a:p>
      </dsp:txBody>
      <dsp:txXfrm>
        <a:off x="1007111" y="3112653"/>
        <a:ext cx="4080510" cy="1616729"/>
      </dsp:txXfrm>
    </dsp:sp>
    <dsp:sp modelId="{2DC79275-3716-400D-B667-79714F9F3EA2}">
      <dsp:nvSpPr>
        <dsp:cNvPr id="0" name=""/>
        <dsp:cNvSpPr/>
      </dsp:nvSpPr>
      <dsp:spPr>
        <a:xfrm>
          <a:off x="4232670" y="3127640"/>
          <a:ext cx="4375369" cy="1616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104" tIns="171104" rIns="171104" bIns="171104" numCol="1" spcCol="1270" anchor="ctr" anchorCtr="0">
          <a:noAutofit/>
        </a:bodyPr>
        <a:lstStyle/>
        <a:p>
          <a:pPr marL="0" lvl="0" indent="0" algn="l" defTabSz="800100">
            <a:lnSpc>
              <a:spcPct val="100000"/>
            </a:lnSpc>
            <a:spcBef>
              <a:spcPct val="0"/>
            </a:spcBef>
            <a:spcAft>
              <a:spcPct val="35000"/>
            </a:spcAft>
            <a:buNone/>
          </a:pPr>
          <a:r>
            <a:rPr lang="en-US" sz="1800" kern="1200" dirty="0"/>
            <a:t>Many entrepreneurial firms have built their entire business models around producing products and services that help larger firms become more efficient and effective.</a:t>
          </a:r>
        </a:p>
      </dsp:txBody>
      <dsp:txXfrm>
        <a:off x="4232670" y="3127640"/>
        <a:ext cx="4375369" cy="161672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AC6E16-5ED3-4A88-8A03-32FB32E8C382}" type="datetimeFigureOut">
              <a:rPr lang="en-US" smtClean="0"/>
              <a:t>10/7/25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58477-E43F-491E-8C58-7CB45E805D8B}" type="slidenum">
              <a:rPr lang="en-US" smtClean="0"/>
              <a:t>‹#›</a:t>
            </a:fld>
            <a:endParaRPr lang="en-US"/>
          </a:p>
        </p:txBody>
      </p:sp>
    </p:spTree>
    <p:extLst>
      <p:ext uri="{BB962C8B-B14F-4D97-AF65-F5344CB8AC3E}">
        <p14:creationId xmlns:p14="http://schemas.microsoft.com/office/powerpoint/2010/main" val="17530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6DF17-0224-4F77-8190-317FF74C7ACA}" type="slidenum">
              <a:rPr lang="en-US" smtClean="0"/>
              <a:pPr>
                <a:spcBef>
                  <a:spcPct val="0"/>
                </a:spcBef>
              </a:pPr>
              <a:t>2</a:t>
            </a:fld>
            <a:endParaRPr lang="en-US"/>
          </a:p>
        </p:txBody>
      </p:sp>
      <p:sp>
        <p:nvSpPr>
          <p:cNvPr id="92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t>Change to 9</a:t>
            </a:r>
            <a:r>
              <a:rPr lang="en-GB" baseline="30000"/>
              <a:t>th</a:t>
            </a:r>
            <a:r>
              <a:rPr lang="en-GB"/>
              <a:t> Edition and change title to Exploring Strategy. Update design</a:t>
            </a:r>
          </a:p>
        </p:txBody>
      </p:sp>
    </p:spTree>
    <p:extLst>
      <p:ext uri="{BB962C8B-B14F-4D97-AF65-F5344CB8AC3E}">
        <p14:creationId xmlns:p14="http://schemas.microsoft.com/office/powerpoint/2010/main" val="182877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C9731E54-5929-D591-323C-C3D2D9EB3B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E6D1C7D-46D1-6542-AEFF-CCDE0E95DB40}" type="slidenum">
              <a:rPr lang="en-US" altLang="en-US"/>
              <a:pPr>
                <a:spcBef>
                  <a:spcPct val="0"/>
                </a:spcBef>
              </a:pPr>
              <a:t>4</a:t>
            </a:fld>
            <a:endParaRPr lang="en-US" altLang="en-US"/>
          </a:p>
        </p:txBody>
      </p:sp>
      <p:sp>
        <p:nvSpPr>
          <p:cNvPr id="49154" name="Rectangle 2">
            <a:extLst>
              <a:ext uri="{FF2B5EF4-FFF2-40B4-BE49-F238E27FC236}">
                <a16:creationId xmlns:a16="http://schemas.microsoft.com/office/drawing/2014/main" id="{CC705136-0956-5DE4-9889-93BAE21F542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71F742B7-2EAC-BB60-9AB9-145FF8B4DC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2782DAA4-3B2A-BAAA-B0A6-6F05E06130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8992B6E-6387-9247-B3DC-FF8A9DBA2D57}" type="slidenum">
              <a:rPr lang="en-US" altLang="en-US"/>
              <a:pPr>
                <a:spcBef>
                  <a:spcPct val="0"/>
                </a:spcBef>
              </a:pPr>
              <a:t>5</a:t>
            </a:fld>
            <a:endParaRPr lang="en-US" altLang="en-US"/>
          </a:p>
        </p:txBody>
      </p:sp>
      <p:sp>
        <p:nvSpPr>
          <p:cNvPr id="51202" name="Rectangle 7">
            <a:extLst>
              <a:ext uri="{FF2B5EF4-FFF2-40B4-BE49-F238E27FC236}">
                <a16:creationId xmlns:a16="http://schemas.microsoft.com/office/drawing/2014/main" id="{EC53177E-D616-D003-2044-639A5A40A15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E27EBCD6-8D4B-1549-8D99-92BF2272EA1A}" type="slidenum">
              <a:rPr lang="en-US" altLang="en-US"/>
              <a:pPr algn="r" eaLnBrk="1" hangingPunct="1">
                <a:spcBef>
                  <a:spcPct val="0"/>
                </a:spcBef>
              </a:pPr>
              <a:t>5</a:t>
            </a:fld>
            <a:endParaRPr lang="en-US" altLang="en-US"/>
          </a:p>
        </p:txBody>
      </p:sp>
      <p:sp>
        <p:nvSpPr>
          <p:cNvPr id="51203" name="Rectangle 2">
            <a:extLst>
              <a:ext uri="{FF2B5EF4-FFF2-40B4-BE49-F238E27FC236}">
                <a16:creationId xmlns:a16="http://schemas.microsoft.com/office/drawing/2014/main" id="{B6D626BA-F078-4224-C8AA-CF639ECEF037}"/>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C1D3A8D3-145B-8EED-3C88-C4190D786F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6F4405B2-3443-4FA3-1E75-4160CF3684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EF59896-4D84-8248-B4C2-03AD8D095A0F}" type="slidenum">
              <a:rPr lang="en-US" altLang="en-US"/>
              <a:pPr>
                <a:spcBef>
                  <a:spcPct val="0"/>
                </a:spcBef>
              </a:pPr>
              <a:t>8</a:t>
            </a:fld>
            <a:endParaRPr lang="en-US" altLang="en-US"/>
          </a:p>
        </p:txBody>
      </p:sp>
      <p:sp>
        <p:nvSpPr>
          <p:cNvPr id="55298" name="Rectangle 2">
            <a:extLst>
              <a:ext uri="{FF2B5EF4-FFF2-40B4-BE49-F238E27FC236}">
                <a16:creationId xmlns:a16="http://schemas.microsoft.com/office/drawing/2014/main" id="{5345F492-F24B-F495-FF33-CE4C8F0BAA7C}"/>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7011FFB-AB5A-7AA6-BAD3-D288860BA5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4B90DEBF-76C6-F401-A633-91D29604EA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D5EA347-0B90-E14A-A186-B69155F9BA93}" type="slidenum">
              <a:rPr lang="en-US" altLang="en-US"/>
              <a:pPr>
                <a:spcBef>
                  <a:spcPct val="0"/>
                </a:spcBef>
              </a:pPr>
              <a:t>9</a:t>
            </a:fld>
            <a:endParaRPr lang="en-US" altLang="en-US"/>
          </a:p>
        </p:txBody>
      </p:sp>
      <p:sp>
        <p:nvSpPr>
          <p:cNvPr id="57346" name="Rectangle 7">
            <a:extLst>
              <a:ext uri="{FF2B5EF4-FFF2-40B4-BE49-F238E27FC236}">
                <a16:creationId xmlns:a16="http://schemas.microsoft.com/office/drawing/2014/main" id="{60D5C16A-2333-F661-5DCE-DB4769DEABD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C6DC4105-F766-D243-BF7D-CA474A4BD4B1}" type="slidenum">
              <a:rPr lang="en-US" altLang="en-US"/>
              <a:pPr algn="r" eaLnBrk="1" hangingPunct="1">
                <a:spcBef>
                  <a:spcPct val="0"/>
                </a:spcBef>
              </a:pPr>
              <a:t>9</a:t>
            </a:fld>
            <a:endParaRPr lang="en-US" altLang="en-US"/>
          </a:p>
        </p:txBody>
      </p:sp>
      <p:sp>
        <p:nvSpPr>
          <p:cNvPr id="57347" name="Rectangle 2">
            <a:extLst>
              <a:ext uri="{FF2B5EF4-FFF2-40B4-BE49-F238E27FC236}">
                <a16:creationId xmlns:a16="http://schemas.microsoft.com/office/drawing/2014/main" id="{486ED907-211B-08D2-3592-C1076119B996}"/>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8EF4751B-C7CB-0A38-0B4C-B8F552B2F4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FE7D8D9E-DB5D-5CD8-95EC-5026F5B5B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FCA27E2-83D1-8249-96A0-C45EA27E5A43}" type="slidenum">
              <a:rPr lang="en-US" altLang="en-US"/>
              <a:pPr>
                <a:spcBef>
                  <a:spcPct val="0"/>
                </a:spcBef>
              </a:pPr>
              <a:t>10</a:t>
            </a:fld>
            <a:endParaRPr lang="en-US" altLang="en-US"/>
          </a:p>
        </p:txBody>
      </p:sp>
      <p:sp>
        <p:nvSpPr>
          <p:cNvPr id="59394" name="Rectangle 7">
            <a:extLst>
              <a:ext uri="{FF2B5EF4-FFF2-40B4-BE49-F238E27FC236}">
                <a16:creationId xmlns:a16="http://schemas.microsoft.com/office/drawing/2014/main" id="{E88C5019-7F9A-3255-FD8D-919D47F6537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32BE4476-646E-7F46-90B3-9231BB2B414B}" type="slidenum">
              <a:rPr lang="en-US" altLang="en-US"/>
              <a:pPr algn="r" eaLnBrk="1" hangingPunct="1">
                <a:spcBef>
                  <a:spcPct val="0"/>
                </a:spcBef>
              </a:pPr>
              <a:t>10</a:t>
            </a:fld>
            <a:endParaRPr lang="en-US" altLang="en-US"/>
          </a:p>
        </p:txBody>
      </p:sp>
      <p:sp>
        <p:nvSpPr>
          <p:cNvPr id="59395" name="Rectangle 2">
            <a:extLst>
              <a:ext uri="{FF2B5EF4-FFF2-40B4-BE49-F238E27FC236}">
                <a16:creationId xmlns:a16="http://schemas.microsoft.com/office/drawing/2014/main" id="{A020B3F2-F993-B9FA-2326-A8E946F5476A}"/>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B7A32C20-6462-D286-2A97-1D4D6BE4E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2F6AA1-FB17-4FE6-A263-7BC8876E4BCB}" type="slidenum">
              <a:rPr lang="en-US" smtClean="0"/>
              <a:t>11</a:t>
            </a:fld>
            <a:endParaRPr lang="en-US"/>
          </a:p>
        </p:txBody>
      </p:sp>
    </p:spTree>
    <p:extLst>
      <p:ext uri="{BB962C8B-B14F-4D97-AF65-F5344CB8AC3E}">
        <p14:creationId xmlns:p14="http://schemas.microsoft.com/office/powerpoint/2010/main" val="2083696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Integrated approach:</a:t>
            </a:r>
            <a:r>
              <a:rPr lang="en-US" altLang="en-US"/>
              <a:t> if the operations are not in line with strategy then the the strategy will fail</a:t>
            </a:r>
          </a:p>
          <a:p>
            <a:r>
              <a:rPr lang="en-US" altLang="en-US" b="1"/>
              <a:t>Change : </a:t>
            </a:r>
            <a:r>
              <a:rPr lang="en-US" altLang="en-US"/>
              <a:t>heritage and culture issue in mergers and acquistions</a:t>
            </a:r>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defRPr sz="2400">
                <a:solidFill>
                  <a:schemeClr val="tx1"/>
                </a:solidFill>
                <a:latin typeface="Helvetica" panose="020B0604020202020204" pitchFamily="34" charset="0"/>
              </a:defRPr>
            </a:lvl1pPr>
            <a:lvl2pPr marL="742950" indent="-285750" defTabSz="971550">
              <a:defRPr sz="2400">
                <a:solidFill>
                  <a:schemeClr val="tx1"/>
                </a:solidFill>
                <a:latin typeface="Helvetica" panose="020B0604020202020204" pitchFamily="34" charset="0"/>
              </a:defRPr>
            </a:lvl2pPr>
            <a:lvl3pPr marL="1143000" indent="-228600" defTabSz="971550">
              <a:defRPr sz="2400">
                <a:solidFill>
                  <a:schemeClr val="tx1"/>
                </a:solidFill>
                <a:latin typeface="Helvetica" panose="020B0604020202020204" pitchFamily="34" charset="0"/>
              </a:defRPr>
            </a:lvl3pPr>
            <a:lvl4pPr marL="1600200" indent="-228600" defTabSz="971550">
              <a:defRPr sz="2400">
                <a:solidFill>
                  <a:schemeClr val="tx1"/>
                </a:solidFill>
                <a:latin typeface="Helvetica" panose="020B0604020202020204" pitchFamily="34" charset="0"/>
              </a:defRPr>
            </a:lvl4pPr>
            <a:lvl5pPr marL="2057400" indent="-228600" defTabSz="971550">
              <a:defRPr sz="2400">
                <a:solidFill>
                  <a:schemeClr val="tx1"/>
                </a:solidFill>
                <a:latin typeface="Helvetica" panose="020B0604020202020204" pitchFamily="34" charset="0"/>
              </a:defRPr>
            </a:lvl5pPr>
            <a:lvl6pPr marL="2514600" indent="-228600" defTabSz="971550" eaLnBrk="0" fontAlgn="base" hangingPunct="0">
              <a:spcBef>
                <a:spcPct val="0"/>
              </a:spcBef>
              <a:spcAft>
                <a:spcPct val="0"/>
              </a:spcAft>
              <a:defRPr sz="2400">
                <a:solidFill>
                  <a:schemeClr val="tx1"/>
                </a:solidFill>
                <a:latin typeface="Helvetica" panose="020B0604020202020204" pitchFamily="34" charset="0"/>
              </a:defRPr>
            </a:lvl6pPr>
            <a:lvl7pPr marL="2971800" indent="-228600" defTabSz="971550" eaLnBrk="0" fontAlgn="base" hangingPunct="0">
              <a:spcBef>
                <a:spcPct val="0"/>
              </a:spcBef>
              <a:spcAft>
                <a:spcPct val="0"/>
              </a:spcAft>
              <a:defRPr sz="2400">
                <a:solidFill>
                  <a:schemeClr val="tx1"/>
                </a:solidFill>
                <a:latin typeface="Helvetica" panose="020B0604020202020204" pitchFamily="34" charset="0"/>
              </a:defRPr>
            </a:lvl7pPr>
            <a:lvl8pPr marL="3429000" indent="-228600" defTabSz="971550" eaLnBrk="0" fontAlgn="base" hangingPunct="0">
              <a:spcBef>
                <a:spcPct val="0"/>
              </a:spcBef>
              <a:spcAft>
                <a:spcPct val="0"/>
              </a:spcAft>
              <a:defRPr sz="2400">
                <a:solidFill>
                  <a:schemeClr val="tx1"/>
                </a:solidFill>
                <a:latin typeface="Helvetica" panose="020B0604020202020204" pitchFamily="34" charset="0"/>
              </a:defRPr>
            </a:lvl8pPr>
            <a:lvl9pPr marL="3886200" indent="-228600" defTabSz="971550" eaLnBrk="0" fontAlgn="base" hangingPunct="0">
              <a:spcBef>
                <a:spcPct val="0"/>
              </a:spcBef>
              <a:spcAft>
                <a:spcPct val="0"/>
              </a:spcAft>
              <a:defRPr sz="2400">
                <a:solidFill>
                  <a:schemeClr val="tx1"/>
                </a:solidFill>
                <a:latin typeface="Helvetica" panose="020B0604020202020204" pitchFamily="34" charset="0"/>
              </a:defRPr>
            </a:lvl9pPr>
          </a:lstStyle>
          <a:p>
            <a:fld id="{51CEECF4-5498-476C-BB28-88E01923C359}" type="slidenum">
              <a:rPr lang="en-US" altLang="en-US" sz="1300" smtClean="0"/>
              <a:pPr/>
              <a:t>12</a:t>
            </a:fld>
            <a:endParaRPr lang="en-US" altLang="en-US" sz="1300"/>
          </a:p>
        </p:txBody>
      </p:sp>
    </p:spTree>
    <p:extLst>
      <p:ext uri="{BB962C8B-B14F-4D97-AF65-F5344CB8AC3E}">
        <p14:creationId xmlns:p14="http://schemas.microsoft.com/office/powerpoint/2010/main" val="289183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2F6AA1-FB17-4FE6-A263-7BC8876E4BCB}" type="slidenum">
              <a:rPr lang="en-US" smtClean="0"/>
              <a:t>14</a:t>
            </a:fld>
            <a:endParaRPr lang="en-US"/>
          </a:p>
        </p:txBody>
      </p:sp>
    </p:spTree>
    <p:extLst>
      <p:ext uri="{BB962C8B-B14F-4D97-AF65-F5344CB8AC3E}">
        <p14:creationId xmlns:p14="http://schemas.microsoft.com/office/powerpoint/2010/main" val="2959981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5E258477-E43F-491E-8C58-7CB45E805D8B}" type="slidenum">
              <a:rPr lang="en-US" smtClean="0"/>
              <a:t>19</a:t>
            </a:fld>
            <a:endParaRPr lang="en-US"/>
          </a:p>
        </p:txBody>
      </p:sp>
    </p:spTree>
    <p:extLst>
      <p:ext uri="{BB962C8B-B14F-4D97-AF65-F5344CB8AC3E}">
        <p14:creationId xmlns:p14="http://schemas.microsoft.com/office/powerpoint/2010/main" val="4113717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284A420-F50C-4C2C-B88E-E6F4EF504B6E}"/>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893A6D2E-5228-4998-9E24-EFCCA024675E}"/>
              </a:ext>
            </a:extLst>
          </p:cNvPr>
          <p:cNvSpPr/>
          <p:nvPr/>
        </p:nvSpPr>
        <p:spPr>
          <a:xfrm>
            <a:off x="0" y="-2"/>
            <a:ext cx="12188952" cy="3567547"/>
          </a:xfrm>
          <a:prstGeom prst="rect">
            <a:avLst/>
          </a:prstGeom>
          <a:ln>
            <a:noFill/>
          </a:ln>
          <a:effectLst>
            <a:outerShdw blurRad="228600" dist="152400" dir="5460000" sx="95000" sy="95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9D878C-9930-44AF-AE18-FCA0DAE10D39}"/>
              </a:ext>
            </a:extLst>
          </p:cNvPr>
          <p:cNvSpPr>
            <a:spLocks noGrp="1"/>
          </p:cNvSpPr>
          <p:nvPr>
            <p:ph type="ctrTitle"/>
          </p:nvPr>
        </p:nvSpPr>
        <p:spPr>
          <a:xfrm>
            <a:off x="761802" y="852055"/>
            <a:ext cx="10380572" cy="2581463"/>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82D608-1F8D-47BB-B595-43B7BEACA90A}"/>
              </a:ext>
            </a:extLst>
          </p:cNvPr>
          <p:cNvSpPr>
            <a:spLocks noGrp="1"/>
          </p:cNvSpPr>
          <p:nvPr>
            <p:ph type="subTitle" idx="1"/>
          </p:nvPr>
        </p:nvSpPr>
        <p:spPr>
          <a:xfrm>
            <a:off x="761802" y="3754582"/>
            <a:ext cx="10380572" cy="2244436"/>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2D3C1DA-DAC9-422B-9450-54A7E03B3DE0}"/>
              </a:ext>
            </a:extLst>
          </p:cNvPr>
          <p:cNvSpPr>
            <a:spLocks noGrp="1"/>
          </p:cNvSpPr>
          <p:nvPr>
            <p:ph type="dt" sz="half" idx="10"/>
          </p:nvPr>
        </p:nvSpPr>
        <p:spPr/>
        <p:txBody>
          <a:bodyPr/>
          <a:lstStyle/>
          <a:p>
            <a:fld id="{3341EE12-F28E-4B03-A404-A8FCAE0F6316}" type="datetime1">
              <a:rPr lang="en-US" smtClean="0"/>
              <a:t>10/7/25</a:t>
            </a:fld>
            <a:endParaRPr lang="en-US" dirty="0"/>
          </a:p>
        </p:txBody>
      </p:sp>
      <p:sp>
        <p:nvSpPr>
          <p:cNvPr id="5" name="Footer Placeholder 4">
            <a:extLst>
              <a:ext uri="{FF2B5EF4-FFF2-40B4-BE49-F238E27FC236}">
                <a16:creationId xmlns:a16="http://schemas.microsoft.com/office/drawing/2014/main" id="{6739A2B9-3E23-4C08-A5CE-698861210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2E61E-26F7-4369-8F2F-6D3CDF644D94}"/>
              </a:ext>
            </a:extLst>
          </p:cNvPr>
          <p:cNvSpPr>
            <a:spLocks noGrp="1"/>
          </p:cNvSpPr>
          <p:nvPr>
            <p:ph type="sldNum" sz="quarter" idx="12"/>
          </p:nvPr>
        </p:nvSpPr>
        <p:spPr/>
        <p:txBody>
          <a:bodyPr/>
          <a:lstStyle/>
          <a:p>
            <a:fld id="{B4A918BC-4D43-4B42-B3C0-E7EBE25E6AF0}" type="slidenum">
              <a:rPr lang="en-US" smtClean="0"/>
              <a:t>‹#›</a:t>
            </a:fld>
            <a:endParaRPr lang="en-US" dirty="0"/>
          </a:p>
        </p:txBody>
      </p:sp>
      <p:cxnSp>
        <p:nvCxnSpPr>
          <p:cNvPr id="23" name="Straight Connector 22">
            <a:extLst>
              <a:ext uri="{FF2B5EF4-FFF2-40B4-BE49-F238E27FC236}">
                <a16:creationId xmlns:a16="http://schemas.microsoft.com/office/drawing/2014/main" id="{3ADB48DB-8E25-4F2F-8C02-5B793937255F}"/>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32BA7E3-7313-49C8-A245-A85BDEB13EB3}"/>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514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2CCA-8D32-44C3-809A-54D0245B8ABF}"/>
              </a:ext>
            </a:extLst>
          </p:cNvPr>
          <p:cNvSpPr>
            <a:spLocks noGrp="1"/>
          </p:cNvSpPr>
          <p:nvPr>
            <p:ph type="title"/>
          </p:nvPr>
        </p:nvSpPr>
        <p:spPr>
          <a:xfrm>
            <a:off x="761801" y="858982"/>
            <a:ext cx="10380573" cy="143227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689041-349C-49F8-B155-6F5862873736}"/>
              </a:ext>
            </a:extLst>
          </p:cNvPr>
          <p:cNvSpPr>
            <a:spLocks noGrp="1"/>
          </p:cNvSpPr>
          <p:nvPr>
            <p:ph idx="1"/>
          </p:nvPr>
        </p:nvSpPr>
        <p:spPr>
          <a:xfrm>
            <a:off x="761799" y="2750126"/>
            <a:ext cx="10381205" cy="32617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5E088-72B1-425B-B53B-81B134826169}"/>
              </a:ext>
            </a:extLst>
          </p:cNvPr>
          <p:cNvSpPr>
            <a:spLocks noGrp="1"/>
          </p:cNvSpPr>
          <p:nvPr>
            <p:ph type="dt" sz="half" idx="10"/>
          </p:nvPr>
        </p:nvSpPr>
        <p:spPr/>
        <p:txBody>
          <a:bodyPr/>
          <a:lstStyle/>
          <a:p>
            <a:fld id="{1962799E-EB8E-4038-8063-81BB57C732D4}" type="datetime1">
              <a:rPr lang="en-US" smtClean="0"/>
              <a:t>10/7/25</a:t>
            </a:fld>
            <a:endParaRPr lang="en-US"/>
          </a:p>
        </p:txBody>
      </p:sp>
      <p:sp>
        <p:nvSpPr>
          <p:cNvPr id="5" name="Footer Placeholder 4">
            <a:extLst>
              <a:ext uri="{FF2B5EF4-FFF2-40B4-BE49-F238E27FC236}">
                <a16:creationId xmlns:a16="http://schemas.microsoft.com/office/drawing/2014/main" id="{89180451-8BF9-48B2-8E6A-9E15C8335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68196E-3A76-4417-BFD8-4400D16E07EA}"/>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276407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FB183B-99B9-4420-AB2D-070568510522}"/>
              </a:ext>
            </a:extLst>
          </p:cNvPr>
          <p:cNvSpPr/>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76DF62B9-1876-4EEB-929D-B46F98265E34}"/>
              </a:ext>
            </a:extLst>
          </p:cNvPr>
          <p:cNvSpPr/>
          <p:nvPr/>
        </p:nvSpPr>
        <p:spPr>
          <a:xfrm>
            <a:off x="0" y="-2"/>
            <a:ext cx="12192000" cy="3862064"/>
          </a:xfrm>
          <a:prstGeom prst="rect">
            <a:avLst/>
          </a:prstGeom>
          <a:ln>
            <a:noFill/>
          </a:ln>
          <a:effectLst>
            <a:outerShdw blurRad="203200" dist="127000" dir="5460000" sx="96000" sy="96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B5F0E4DD-839A-4BD2-B5FA-FF319E87D037}"/>
              </a:ext>
            </a:extLst>
          </p:cNvPr>
          <p:cNvCxnSpPr>
            <a:cxnSpLocks/>
          </p:cNvCxnSpPr>
          <p:nvPr/>
        </p:nvCxnSpPr>
        <p:spPr>
          <a:xfrm>
            <a:off x="11668155" y="852056"/>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692C2FB-E558-4132-AAF5-EFCED0144BA2}"/>
              </a:ext>
            </a:extLst>
          </p:cNvPr>
          <p:cNvSpPr>
            <a:spLocks noGrp="1"/>
          </p:cNvSpPr>
          <p:nvPr>
            <p:ph type="title"/>
          </p:nvPr>
        </p:nvSpPr>
        <p:spPr>
          <a:xfrm>
            <a:off x="761801" y="852056"/>
            <a:ext cx="10380572" cy="257694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AA20424-DA4E-467F-AC0A-D44192A54F64}"/>
              </a:ext>
            </a:extLst>
          </p:cNvPr>
          <p:cNvSpPr>
            <a:spLocks noGrp="1"/>
          </p:cNvSpPr>
          <p:nvPr>
            <p:ph type="body" idx="1"/>
          </p:nvPr>
        </p:nvSpPr>
        <p:spPr>
          <a:xfrm>
            <a:off x="761797" y="4202832"/>
            <a:ext cx="10395116" cy="1789260"/>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B39F9C-ADA9-4225-9D74-193A8894ED7A}"/>
              </a:ext>
            </a:extLst>
          </p:cNvPr>
          <p:cNvSpPr>
            <a:spLocks noGrp="1"/>
          </p:cNvSpPr>
          <p:nvPr>
            <p:ph type="dt" sz="half" idx="10"/>
          </p:nvPr>
        </p:nvSpPr>
        <p:spPr>
          <a:xfrm>
            <a:off x="332481" y="6236208"/>
            <a:ext cx="3037459" cy="365125"/>
          </a:xfrm>
        </p:spPr>
        <p:txBody>
          <a:bodyPr/>
          <a:lstStyle/>
          <a:p>
            <a:fld id="{217A73C3-B243-44D3-809D-EF8FDFBD85D4}" type="datetime1">
              <a:rPr lang="en-US" smtClean="0"/>
              <a:t>10/7/25</a:t>
            </a:fld>
            <a:endParaRPr lang="en-US" dirty="0"/>
          </a:p>
        </p:txBody>
      </p:sp>
      <p:sp>
        <p:nvSpPr>
          <p:cNvPr id="5" name="Footer Placeholder 4">
            <a:extLst>
              <a:ext uri="{FF2B5EF4-FFF2-40B4-BE49-F238E27FC236}">
                <a16:creationId xmlns:a16="http://schemas.microsoft.com/office/drawing/2014/main" id="{84057DEC-B96B-4D69-8B62-5156FDA6D9BB}"/>
              </a:ext>
            </a:extLst>
          </p:cNvPr>
          <p:cNvSpPr>
            <a:spLocks noGrp="1"/>
          </p:cNvSpPr>
          <p:nvPr>
            <p:ph type="ftr" sz="quarter" idx="11"/>
          </p:nvPr>
        </p:nvSpPr>
        <p:spPr>
          <a:xfrm>
            <a:off x="332481" y="237744"/>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A0BF4AC1-9934-43DC-B9AC-322612A74656}"/>
              </a:ext>
            </a:extLst>
          </p:cNvPr>
          <p:cNvSpPr>
            <a:spLocks noGrp="1"/>
          </p:cNvSpPr>
          <p:nvPr>
            <p:ph type="sldNum" sz="quarter" idx="12"/>
          </p:nvPr>
        </p:nvSpPr>
        <p:spPr>
          <a:xfrm>
            <a:off x="11289782" y="237744"/>
            <a:ext cx="756746" cy="365760"/>
          </a:xfrm>
        </p:spPr>
        <p:txBody>
          <a:bodyPr/>
          <a:lstStyle/>
          <a:p>
            <a:fld id="{B4A918BC-4D43-4B42-B3C0-E7EBE25E6AF0}" type="slidenum">
              <a:rPr lang="en-US" smtClean="0"/>
              <a:t>‹#›</a:t>
            </a:fld>
            <a:endParaRPr lang="en-US"/>
          </a:p>
        </p:txBody>
      </p:sp>
      <p:cxnSp>
        <p:nvCxnSpPr>
          <p:cNvPr id="11" name="Straight Connector 10">
            <a:extLst>
              <a:ext uri="{FF2B5EF4-FFF2-40B4-BE49-F238E27FC236}">
                <a16:creationId xmlns:a16="http://schemas.microsoft.com/office/drawing/2014/main" id="{4CBDA60A-39CD-41D4-8AE5-0FB7FD78559C}"/>
              </a:ext>
            </a:extLst>
          </p:cNvPr>
          <p:cNvCxnSpPr>
            <a:cxnSpLocks/>
          </p:cNvCxnSpPr>
          <p:nvPr/>
        </p:nvCxnSpPr>
        <p:spPr>
          <a:xfrm>
            <a:off x="11668155" y="852056"/>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3999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CAF84-4A19-4D9A-9B82-46BCBED4F7BD}"/>
              </a:ext>
            </a:extLst>
          </p:cNvPr>
          <p:cNvSpPr>
            <a:spLocks noGrp="1"/>
          </p:cNvSpPr>
          <p:nvPr>
            <p:ph type="title"/>
          </p:nvPr>
        </p:nvSpPr>
        <p:spPr>
          <a:xfrm>
            <a:off x="761801" y="858982"/>
            <a:ext cx="10380573" cy="143227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5A373DD-26AC-4E69-A17C-538D9C7C6854}"/>
              </a:ext>
            </a:extLst>
          </p:cNvPr>
          <p:cNvSpPr>
            <a:spLocks noGrp="1"/>
          </p:cNvSpPr>
          <p:nvPr>
            <p:ph sz="half" idx="1"/>
          </p:nvPr>
        </p:nvSpPr>
        <p:spPr>
          <a:xfrm>
            <a:off x="761800" y="2833255"/>
            <a:ext cx="5045281" cy="3165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AD30C23-A75F-45DF-BCCF-760C533AC7FA}"/>
              </a:ext>
            </a:extLst>
          </p:cNvPr>
          <p:cNvSpPr>
            <a:spLocks noGrp="1"/>
          </p:cNvSpPr>
          <p:nvPr>
            <p:ph sz="half" idx="2"/>
          </p:nvPr>
        </p:nvSpPr>
        <p:spPr>
          <a:xfrm>
            <a:off x="6097092" y="2833255"/>
            <a:ext cx="5045281" cy="3165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82C3974-73EC-4F1B-9E92-0E279ABEE5CD}"/>
              </a:ext>
            </a:extLst>
          </p:cNvPr>
          <p:cNvSpPr>
            <a:spLocks noGrp="1"/>
          </p:cNvSpPr>
          <p:nvPr>
            <p:ph type="dt" sz="half" idx="10"/>
          </p:nvPr>
        </p:nvSpPr>
        <p:spPr>
          <a:xfrm>
            <a:off x="332481" y="6236208"/>
            <a:ext cx="3037459" cy="365125"/>
          </a:xfrm>
        </p:spPr>
        <p:txBody>
          <a:bodyPr/>
          <a:lstStyle/>
          <a:p>
            <a:fld id="{C9B6D3E3-28E2-4380-A113-67698215C5F8}" type="datetime1">
              <a:rPr lang="en-US" smtClean="0"/>
              <a:t>10/7/25</a:t>
            </a:fld>
            <a:endParaRPr lang="en-US" dirty="0"/>
          </a:p>
        </p:txBody>
      </p:sp>
      <p:sp>
        <p:nvSpPr>
          <p:cNvPr id="6" name="Footer Placeholder 5">
            <a:extLst>
              <a:ext uri="{FF2B5EF4-FFF2-40B4-BE49-F238E27FC236}">
                <a16:creationId xmlns:a16="http://schemas.microsoft.com/office/drawing/2014/main" id="{CC70B3F2-3F28-42A3-9701-A6F01F1B185A}"/>
              </a:ext>
            </a:extLst>
          </p:cNvPr>
          <p:cNvSpPr>
            <a:spLocks noGrp="1"/>
          </p:cNvSpPr>
          <p:nvPr>
            <p:ph type="ftr" sz="quarter" idx="11"/>
          </p:nvPr>
        </p:nvSpPr>
        <p:spPr>
          <a:xfrm>
            <a:off x="332481" y="237744"/>
            <a:ext cx="4114800" cy="365125"/>
          </a:xfrm>
        </p:spPr>
        <p:txBody>
          <a:bodyPr/>
          <a:lstStyle/>
          <a:p>
            <a:endParaRPr lang="en-US" dirty="0"/>
          </a:p>
        </p:txBody>
      </p:sp>
      <p:sp>
        <p:nvSpPr>
          <p:cNvPr id="7" name="Slide Number Placeholder 6">
            <a:extLst>
              <a:ext uri="{FF2B5EF4-FFF2-40B4-BE49-F238E27FC236}">
                <a16:creationId xmlns:a16="http://schemas.microsoft.com/office/drawing/2014/main" id="{E5E7A2FC-50E7-4972-9F28-E3AC4EF93D44}"/>
              </a:ext>
            </a:extLst>
          </p:cNvPr>
          <p:cNvSpPr>
            <a:spLocks noGrp="1"/>
          </p:cNvSpPr>
          <p:nvPr>
            <p:ph type="sldNum" sz="quarter" idx="12"/>
          </p:nvPr>
        </p:nvSpPr>
        <p:spPr>
          <a:xfrm>
            <a:off x="11289782" y="237744"/>
            <a:ext cx="756746" cy="365760"/>
          </a:xfrm>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424965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5F85-77E6-4F6D-9FFA-5D76201B13E5}"/>
              </a:ext>
            </a:extLst>
          </p:cNvPr>
          <p:cNvSpPr>
            <a:spLocks noGrp="1"/>
          </p:cNvSpPr>
          <p:nvPr>
            <p:ph type="title"/>
          </p:nvPr>
        </p:nvSpPr>
        <p:spPr>
          <a:xfrm>
            <a:off x="761802" y="872836"/>
            <a:ext cx="10380572" cy="1427019"/>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C6C0DAE-58D1-45D9-9FC4-B0864E332C08}"/>
              </a:ext>
            </a:extLst>
          </p:cNvPr>
          <p:cNvSpPr>
            <a:spLocks noGrp="1"/>
          </p:cNvSpPr>
          <p:nvPr>
            <p:ph type="body" idx="1"/>
          </p:nvPr>
        </p:nvSpPr>
        <p:spPr>
          <a:xfrm>
            <a:off x="761801" y="2713326"/>
            <a:ext cx="5023424" cy="823912"/>
          </a:xfrm>
        </p:spPr>
        <p:txBody>
          <a:bodyPr anchor="b">
            <a:normAutofit/>
          </a:bodyPr>
          <a:lstStyle>
            <a:lvl1pPr marL="0" indent="0">
              <a:buNone/>
              <a:defRPr sz="2400" b="0" i="1" u="none"/>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1E63D7-9812-4EA1-A0A2-14D974311FAD}"/>
              </a:ext>
            </a:extLst>
          </p:cNvPr>
          <p:cNvSpPr>
            <a:spLocks noGrp="1"/>
          </p:cNvSpPr>
          <p:nvPr>
            <p:ph sz="half" idx="2"/>
          </p:nvPr>
        </p:nvSpPr>
        <p:spPr>
          <a:xfrm>
            <a:off x="761801" y="3706091"/>
            <a:ext cx="5023424" cy="2334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4C5055B-04A0-47D3-90ED-135025F857F9}"/>
              </a:ext>
            </a:extLst>
          </p:cNvPr>
          <p:cNvSpPr>
            <a:spLocks noGrp="1"/>
          </p:cNvSpPr>
          <p:nvPr>
            <p:ph type="body" sz="quarter" idx="3"/>
          </p:nvPr>
        </p:nvSpPr>
        <p:spPr>
          <a:xfrm>
            <a:off x="6094211" y="2713326"/>
            <a:ext cx="5048163" cy="823912"/>
          </a:xfrm>
        </p:spPr>
        <p:txBody>
          <a:bodyPr anchor="b">
            <a:normAutofit/>
          </a:bodyPr>
          <a:lstStyle>
            <a:lvl1pPr marL="0" indent="0">
              <a:buNone/>
              <a:defRPr sz="2400" b="0" i="1" u="none"/>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936E6E-8F64-49E6-B57C-86CF92D1689E}"/>
              </a:ext>
            </a:extLst>
          </p:cNvPr>
          <p:cNvSpPr>
            <a:spLocks noGrp="1"/>
          </p:cNvSpPr>
          <p:nvPr>
            <p:ph sz="quarter" idx="4"/>
          </p:nvPr>
        </p:nvSpPr>
        <p:spPr>
          <a:xfrm>
            <a:off x="6094211" y="3706091"/>
            <a:ext cx="5048163" cy="2334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FFBEAD-2827-40DA-8338-2D691325F1B3}"/>
              </a:ext>
            </a:extLst>
          </p:cNvPr>
          <p:cNvSpPr>
            <a:spLocks noGrp="1"/>
          </p:cNvSpPr>
          <p:nvPr>
            <p:ph type="dt" sz="half" idx="10"/>
          </p:nvPr>
        </p:nvSpPr>
        <p:spPr>
          <a:xfrm>
            <a:off x="332481" y="6236208"/>
            <a:ext cx="3037459" cy="365125"/>
          </a:xfrm>
        </p:spPr>
        <p:txBody>
          <a:bodyPr/>
          <a:lstStyle/>
          <a:p>
            <a:fld id="{A9EFCB61-04AD-47C9-BF79-2BD8B9CEC07A}" type="datetime1">
              <a:rPr lang="en-US" smtClean="0"/>
              <a:t>10/7/25</a:t>
            </a:fld>
            <a:endParaRPr lang="en-US" dirty="0"/>
          </a:p>
        </p:txBody>
      </p:sp>
      <p:sp>
        <p:nvSpPr>
          <p:cNvPr id="8" name="Footer Placeholder 7">
            <a:extLst>
              <a:ext uri="{FF2B5EF4-FFF2-40B4-BE49-F238E27FC236}">
                <a16:creationId xmlns:a16="http://schemas.microsoft.com/office/drawing/2014/main" id="{DF34B88D-9C6E-4A88-985C-3ED5057A1F65}"/>
              </a:ext>
            </a:extLst>
          </p:cNvPr>
          <p:cNvSpPr>
            <a:spLocks noGrp="1"/>
          </p:cNvSpPr>
          <p:nvPr>
            <p:ph type="ftr" sz="quarter" idx="11"/>
          </p:nvPr>
        </p:nvSpPr>
        <p:spPr>
          <a:xfrm>
            <a:off x="332481" y="237744"/>
            <a:ext cx="4114800" cy="365125"/>
          </a:xfrm>
        </p:spPr>
        <p:txBody>
          <a:bodyPr/>
          <a:lstStyle/>
          <a:p>
            <a:endParaRPr lang="en-US" dirty="0"/>
          </a:p>
        </p:txBody>
      </p:sp>
      <p:sp>
        <p:nvSpPr>
          <p:cNvPr id="9" name="Slide Number Placeholder 8">
            <a:extLst>
              <a:ext uri="{FF2B5EF4-FFF2-40B4-BE49-F238E27FC236}">
                <a16:creationId xmlns:a16="http://schemas.microsoft.com/office/drawing/2014/main" id="{880B6A32-2D15-425F-B6A9-146AFB5C1ACB}"/>
              </a:ext>
            </a:extLst>
          </p:cNvPr>
          <p:cNvSpPr>
            <a:spLocks noGrp="1"/>
          </p:cNvSpPr>
          <p:nvPr>
            <p:ph type="sldNum" sz="quarter" idx="12"/>
          </p:nvPr>
        </p:nvSpPr>
        <p:spPr>
          <a:xfrm>
            <a:off x="11289782" y="237744"/>
            <a:ext cx="756746" cy="365760"/>
          </a:xfrm>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799902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1B7C-9BD5-4CF8-BAEB-A6CB78DA2F89}"/>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AD85F1D3-3353-4FC6-8854-51B0BFFD6D5A}"/>
              </a:ext>
            </a:extLst>
          </p:cNvPr>
          <p:cNvSpPr>
            <a:spLocks noGrp="1"/>
          </p:cNvSpPr>
          <p:nvPr>
            <p:ph type="dt" sz="half" idx="10"/>
          </p:nvPr>
        </p:nvSpPr>
        <p:spPr/>
        <p:txBody>
          <a:bodyPr/>
          <a:lstStyle/>
          <a:p>
            <a:fld id="{A4535E0C-D585-492F-8146-7493F4086301}" type="datetime1">
              <a:rPr lang="en-US" smtClean="0"/>
              <a:t>10/7/25</a:t>
            </a:fld>
            <a:endParaRPr lang="en-US"/>
          </a:p>
        </p:txBody>
      </p:sp>
      <p:sp>
        <p:nvSpPr>
          <p:cNvPr id="4" name="Footer Placeholder 3">
            <a:extLst>
              <a:ext uri="{FF2B5EF4-FFF2-40B4-BE49-F238E27FC236}">
                <a16:creationId xmlns:a16="http://schemas.microsoft.com/office/drawing/2014/main" id="{F7226CE6-6BEB-46DB-BD4B-9B8AE89A1A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81BCCC-8B3F-40B3-91D5-52E53B2AAE11}"/>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1901732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C0FBB6-4CCA-4358-9DD5-CDF2173E63C8}"/>
              </a:ext>
            </a:extLst>
          </p:cNvPr>
          <p:cNvSpPr/>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902559A-671A-4FDE-82C3-1CF8CFCF18EC}"/>
              </a:ext>
            </a:extLst>
          </p:cNvPr>
          <p:cNvSpPr>
            <a:spLocks noGrp="1"/>
          </p:cNvSpPr>
          <p:nvPr>
            <p:ph type="dt" sz="half" idx="10"/>
          </p:nvPr>
        </p:nvSpPr>
        <p:spPr/>
        <p:txBody>
          <a:bodyPr/>
          <a:lstStyle/>
          <a:p>
            <a:fld id="{8CE48390-48B5-49AB-B019-A7C8FB8C31F6}" type="datetime1">
              <a:rPr lang="en-US" smtClean="0"/>
              <a:t>10/7/25</a:t>
            </a:fld>
            <a:endParaRPr lang="en-US"/>
          </a:p>
        </p:txBody>
      </p:sp>
      <p:sp>
        <p:nvSpPr>
          <p:cNvPr id="3" name="Footer Placeholder 2">
            <a:extLst>
              <a:ext uri="{FF2B5EF4-FFF2-40B4-BE49-F238E27FC236}">
                <a16:creationId xmlns:a16="http://schemas.microsoft.com/office/drawing/2014/main" id="{78A14275-250D-437E-BAF1-5BB3CDE64AC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FD93BDE-2A52-4AA7-B222-0F25570EBF77}"/>
              </a:ext>
            </a:extLst>
          </p:cNvPr>
          <p:cNvSpPr>
            <a:spLocks noGrp="1"/>
          </p:cNvSpPr>
          <p:nvPr>
            <p:ph type="sldNum" sz="quarter" idx="12"/>
          </p:nvPr>
        </p:nvSpPr>
        <p:spPr/>
        <p:txBody>
          <a:bodyPr/>
          <a:lstStyle/>
          <a:p>
            <a:fld id="{B4A918BC-4D43-4B42-B3C0-E7EBE25E6AF0}" type="slidenum">
              <a:rPr lang="en-US" smtClean="0"/>
              <a:t>‹#›</a:t>
            </a:fld>
            <a:endParaRPr lang="en-US"/>
          </a:p>
        </p:txBody>
      </p:sp>
      <p:cxnSp>
        <p:nvCxnSpPr>
          <p:cNvPr id="5" name="Straight Connector 4">
            <a:extLst>
              <a:ext uri="{FF2B5EF4-FFF2-40B4-BE49-F238E27FC236}">
                <a16:creationId xmlns:a16="http://schemas.microsoft.com/office/drawing/2014/main" id="{9E6B771E-DDF7-430C-9462-BA1D3742C84E}"/>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586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F9A0B00-F6ED-4C3A-97DC-C2AF9D62EE8B}"/>
              </a:ext>
            </a:extLst>
          </p:cNvPr>
          <p:cNvSpPr/>
          <p:nvPr/>
        </p:nvSpPr>
        <p:spPr>
          <a:xfrm>
            <a:off x="79067" y="0"/>
            <a:ext cx="4998624" cy="6858000"/>
          </a:xfrm>
          <a:prstGeom prst="rect">
            <a:avLst/>
          </a:prstGeom>
          <a:ln>
            <a:noFill/>
          </a:ln>
          <a:effectLst>
            <a:outerShdw blurRad="228600" dist="114300" dir="2154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3" name="Rectangle 122">
            <a:extLst>
              <a:ext uri="{FF2B5EF4-FFF2-40B4-BE49-F238E27FC236}">
                <a16:creationId xmlns:a16="http://schemas.microsoft.com/office/drawing/2014/main" id="{3B025FD9-B9EF-4F5C-B67D-3485253B7A6A}"/>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47F545CD-A200-4C66-BF9A-9B839D0CE648}"/>
              </a:ext>
            </a:extLst>
          </p:cNvPr>
          <p:cNvSpPr/>
          <p:nvPr/>
        </p:nvSpPr>
        <p:spPr>
          <a:xfrm>
            <a:off x="0" y="0"/>
            <a:ext cx="6096000" cy="6858000"/>
          </a:xfrm>
          <a:prstGeom prst="rect">
            <a:avLst/>
          </a:prstGeom>
          <a:ln>
            <a:noFill/>
          </a:ln>
          <a:effectLst>
            <a:outerShdw blurRad="228600" dist="152400" dir="2154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110916-EEE9-418C-B24A-EC09A6D22859}"/>
              </a:ext>
            </a:extLst>
          </p:cNvPr>
          <p:cNvSpPr>
            <a:spLocks noGrp="1"/>
          </p:cNvSpPr>
          <p:nvPr>
            <p:ph type="title"/>
          </p:nvPr>
        </p:nvSpPr>
        <p:spPr>
          <a:xfrm>
            <a:off x="770537" y="872836"/>
            <a:ext cx="4560525" cy="2281050"/>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9C3A0F4-FD98-409E-B41A-5F4352C6A8E5}"/>
              </a:ext>
            </a:extLst>
          </p:cNvPr>
          <p:cNvSpPr>
            <a:spLocks noGrp="1"/>
          </p:cNvSpPr>
          <p:nvPr>
            <p:ph idx="1"/>
          </p:nvPr>
        </p:nvSpPr>
        <p:spPr>
          <a:xfrm>
            <a:off x="6621781" y="872837"/>
            <a:ext cx="4520593" cy="5140036"/>
          </a:xfrm>
        </p:spPr>
        <p:txBody>
          <a:bodyPr>
            <a:normAutofit/>
          </a:bodyPr>
          <a:lstStyle>
            <a:lvl1pPr algn="l">
              <a:defRPr sz="2800"/>
            </a:lvl1pPr>
            <a:lvl2pPr algn="l">
              <a:defRPr sz="2400"/>
            </a:lvl2pPr>
            <a:lvl3pPr algn="l">
              <a:defRPr sz="2000"/>
            </a:lvl3pPr>
            <a:lvl4pPr algn="l">
              <a:defRPr sz="1800"/>
            </a:lvl4pPr>
            <a:lvl5pPr algn="l">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EFABF6F-6E7C-4B3F-B205-09361DA5898B}"/>
              </a:ext>
            </a:extLst>
          </p:cNvPr>
          <p:cNvSpPr>
            <a:spLocks noGrp="1"/>
          </p:cNvSpPr>
          <p:nvPr>
            <p:ph type="body" sz="half" idx="2"/>
          </p:nvPr>
        </p:nvSpPr>
        <p:spPr>
          <a:xfrm>
            <a:off x="770537" y="3442854"/>
            <a:ext cx="4560525" cy="2576945"/>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5198D-8500-4277-AA5D-3C3D8FDDCF4B}"/>
              </a:ext>
            </a:extLst>
          </p:cNvPr>
          <p:cNvSpPr>
            <a:spLocks noGrp="1"/>
          </p:cNvSpPr>
          <p:nvPr>
            <p:ph type="dt" sz="half" idx="10"/>
          </p:nvPr>
        </p:nvSpPr>
        <p:spPr>
          <a:xfrm>
            <a:off x="329184" y="6236208"/>
            <a:ext cx="3037459" cy="365125"/>
          </a:xfrm>
        </p:spPr>
        <p:txBody>
          <a:bodyPr/>
          <a:lstStyle/>
          <a:p>
            <a:fld id="{962E767E-8A14-4E70-91B9-2101CBC4D7BD}" type="datetime1">
              <a:rPr lang="en-US" smtClean="0"/>
              <a:t>10/7/25</a:t>
            </a:fld>
            <a:endParaRPr lang="en-US" dirty="0"/>
          </a:p>
        </p:txBody>
      </p:sp>
      <p:sp>
        <p:nvSpPr>
          <p:cNvPr id="6" name="Footer Placeholder 5">
            <a:extLst>
              <a:ext uri="{FF2B5EF4-FFF2-40B4-BE49-F238E27FC236}">
                <a16:creationId xmlns:a16="http://schemas.microsoft.com/office/drawing/2014/main" id="{F98D219F-027A-4632-9FB0-BD098D5693DB}"/>
              </a:ext>
            </a:extLst>
          </p:cNvPr>
          <p:cNvSpPr>
            <a:spLocks noGrp="1"/>
          </p:cNvSpPr>
          <p:nvPr>
            <p:ph type="ftr" sz="quarter" idx="11"/>
          </p:nvPr>
        </p:nvSpPr>
        <p:spPr>
          <a:xfrm>
            <a:off x="329184" y="237744"/>
            <a:ext cx="3792532" cy="365125"/>
          </a:xfrm>
        </p:spPr>
        <p:txBody>
          <a:bodyPr/>
          <a:lstStyle>
            <a:lvl1pPr algn="l">
              <a:defRPr/>
            </a:lvl1pPr>
          </a:lstStyle>
          <a:p>
            <a:endParaRPr lang="en-US" dirty="0"/>
          </a:p>
        </p:txBody>
      </p:sp>
      <p:sp>
        <p:nvSpPr>
          <p:cNvPr id="7" name="Slide Number Placeholder 6">
            <a:extLst>
              <a:ext uri="{FF2B5EF4-FFF2-40B4-BE49-F238E27FC236}">
                <a16:creationId xmlns:a16="http://schemas.microsoft.com/office/drawing/2014/main" id="{CA30C82B-C7DC-434D-8768-DE9D1176715B}"/>
              </a:ext>
            </a:extLst>
          </p:cNvPr>
          <p:cNvSpPr>
            <a:spLocks noGrp="1"/>
          </p:cNvSpPr>
          <p:nvPr>
            <p:ph type="sldNum" sz="quarter" idx="12"/>
          </p:nvPr>
        </p:nvSpPr>
        <p:spPr>
          <a:xfrm>
            <a:off x="11292840" y="237744"/>
            <a:ext cx="756746" cy="365760"/>
          </a:xfrm>
        </p:spPr>
        <p:txBody>
          <a:bodyPr/>
          <a:lstStyle/>
          <a:p>
            <a:fld id="{B4A918BC-4D43-4B42-B3C0-E7EBE25E6AF0}" type="slidenum">
              <a:rPr lang="en-US" smtClean="0"/>
              <a:t>‹#›</a:t>
            </a:fld>
            <a:endParaRPr lang="en-US" dirty="0"/>
          </a:p>
        </p:txBody>
      </p:sp>
      <p:cxnSp>
        <p:nvCxnSpPr>
          <p:cNvPr id="129" name="Straight Connector 128">
            <a:extLst>
              <a:ext uri="{FF2B5EF4-FFF2-40B4-BE49-F238E27FC236}">
                <a16:creationId xmlns:a16="http://schemas.microsoft.com/office/drawing/2014/main" id="{A8CCC603-9605-46C8-9034-8DAE6AC40DD9}"/>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BBF1D9-8F8F-45A3-BDB4-952D0FB20A4D}"/>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29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CBEB8797-B080-41A6-B14E-8DC7F0F27E4E}"/>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C6C7272-A552-46B3-992F-F5ADD5AA2443}"/>
              </a:ext>
            </a:extLst>
          </p:cNvPr>
          <p:cNvSpPr/>
          <p:nvPr/>
        </p:nvSpPr>
        <p:spPr>
          <a:xfrm>
            <a:off x="-1" y="0"/>
            <a:ext cx="6087677" cy="6858000"/>
          </a:xfrm>
          <a:prstGeom prst="rect">
            <a:avLst/>
          </a:prstGeom>
          <a:solidFill>
            <a:schemeClr val="bg1"/>
          </a:solidFill>
          <a:ln>
            <a:noFill/>
          </a:ln>
          <a:effectLst>
            <a:outerShdw blurRad="228600" dist="152400" dir="2154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C25F6AD1-1E6C-46AF-8431-6627180FFD2E}"/>
              </a:ext>
            </a:extLst>
          </p:cNvPr>
          <p:cNvSpPr>
            <a:spLocks noGrp="1"/>
          </p:cNvSpPr>
          <p:nvPr>
            <p:ph type="title"/>
          </p:nvPr>
        </p:nvSpPr>
        <p:spPr>
          <a:xfrm>
            <a:off x="768733" y="858981"/>
            <a:ext cx="4556749" cy="2281052"/>
          </a:xfrm>
        </p:spPr>
        <p:txBody>
          <a:bodyPr anchor="b"/>
          <a:lstStyle>
            <a:lvl1pPr>
              <a:defRPr lang="en-US" sz="3600" kern="1200" dirty="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88A91F9-760E-4CF4-8A03-FA1482C35EB7}"/>
              </a:ext>
            </a:extLst>
          </p:cNvPr>
          <p:cNvSpPr>
            <a:spLocks noGrp="1"/>
          </p:cNvSpPr>
          <p:nvPr>
            <p:ph type="pic" idx="1"/>
          </p:nvPr>
        </p:nvSpPr>
        <p:spPr>
          <a:xfrm>
            <a:off x="6559826" y="865909"/>
            <a:ext cx="4582548" cy="512618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149A9D5-BA6E-4C4A-88A0-5BB86958B8E6}"/>
              </a:ext>
            </a:extLst>
          </p:cNvPr>
          <p:cNvSpPr>
            <a:spLocks noGrp="1"/>
          </p:cNvSpPr>
          <p:nvPr>
            <p:ph type="body" sz="half" idx="2"/>
          </p:nvPr>
        </p:nvSpPr>
        <p:spPr>
          <a:xfrm>
            <a:off x="768733" y="3429000"/>
            <a:ext cx="4556749" cy="2590800"/>
          </a:xfrm>
        </p:spPr>
        <p:txBody>
          <a:bodyPr/>
          <a:lstStyle>
            <a:lvl1pPr marL="0" indent="0">
              <a:buNone/>
              <a:defRPr lang="en-US" sz="2400" kern="1200" dirty="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6899E-70A1-4EFB-87EC-6C4F3BC0360B}"/>
              </a:ext>
            </a:extLst>
          </p:cNvPr>
          <p:cNvSpPr>
            <a:spLocks noGrp="1"/>
          </p:cNvSpPr>
          <p:nvPr>
            <p:ph type="dt" sz="half" idx="10"/>
          </p:nvPr>
        </p:nvSpPr>
        <p:spPr>
          <a:xfrm>
            <a:off x="329184" y="6236208"/>
            <a:ext cx="3037459" cy="365125"/>
          </a:xfrm>
        </p:spPr>
        <p:txBody>
          <a:bodyPr/>
          <a:lstStyle/>
          <a:p>
            <a:fld id="{01AF0C4B-5A4A-45CA-ABEC-10F107160D33}" type="datetime1">
              <a:rPr lang="en-US" smtClean="0"/>
              <a:t>10/7/25</a:t>
            </a:fld>
            <a:endParaRPr lang="en-US" dirty="0"/>
          </a:p>
        </p:txBody>
      </p:sp>
      <p:sp>
        <p:nvSpPr>
          <p:cNvPr id="6" name="Footer Placeholder 5">
            <a:extLst>
              <a:ext uri="{FF2B5EF4-FFF2-40B4-BE49-F238E27FC236}">
                <a16:creationId xmlns:a16="http://schemas.microsoft.com/office/drawing/2014/main" id="{5FC34B05-4931-4BC8-BD43-9E6B944B3069}"/>
              </a:ext>
            </a:extLst>
          </p:cNvPr>
          <p:cNvSpPr>
            <a:spLocks noGrp="1"/>
          </p:cNvSpPr>
          <p:nvPr>
            <p:ph type="ftr" sz="quarter" idx="11"/>
          </p:nvPr>
        </p:nvSpPr>
        <p:spPr>
          <a:xfrm>
            <a:off x="329184" y="237744"/>
            <a:ext cx="4114800" cy="365125"/>
          </a:xfrm>
        </p:spPr>
        <p:txBody>
          <a:bodyPr/>
          <a:lstStyle>
            <a:lvl1pPr algn="l">
              <a:defRPr/>
            </a:lvl1pPr>
          </a:lstStyle>
          <a:p>
            <a:endParaRPr lang="en-US" dirty="0"/>
          </a:p>
        </p:txBody>
      </p:sp>
      <p:sp>
        <p:nvSpPr>
          <p:cNvPr id="7" name="Slide Number Placeholder 6">
            <a:extLst>
              <a:ext uri="{FF2B5EF4-FFF2-40B4-BE49-F238E27FC236}">
                <a16:creationId xmlns:a16="http://schemas.microsoft.com/office/drawing/2014/main" id="{AD4ABE5D-7EA4-4D33-B23E-52E640CBF217}"/>
              </a:ext>
            </a:extLst>
          </p:cNvPr>
          <p:cNvSpPr>
            <a:spLocks noGrp="1"/>
          </p:cNvSpPr>
          <p:nvPr>
            <p:ph type="sldNum" sz="quarter" idx="12"/>
          </p:nvPr>
        </p:nvSpPr>
        <p:spPr>
          <a:xfrm>
            <a:off x="11292840" y="237744"/>
            <a:ext cx="756746" cy="365760"/>
          </a:xfrm>
        </p:spPr>
        <p:txBody>
          <a:bodyPr/>
          <a:lstStyle/>
          <a:p>
            <a:fld id="{B4A918BC-4D43-4B42-B3C0-E7EBE25E6AF0}" type="slidenum">
              <a:rPr lang="en-US" smtClean="0"/>
              <a:t>‹#›</a:t>
            </a:fld>
            <a:endParaRPr lang="en-US" dirty="0"/>
          </a:p>
        </p:txBody>
      </p:sp>
      <p:cxnSp>
        <p:nvCxnSpPr>
          <p:cNvPr id="74" name="Straight Connector 73">
            <a:extLst>
              <a:ext uri="{FF2B5EF4-FFF2-40B4-BE49-F238E27FC236}">
                <a16:creationId xmlns:a16="http://schemas.microsoft.com/office/drawing/2014/main" id="{DF0DB5EA-94EC-4DB5-B8E5-B454005C1552}"/>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99FF82-B951-46E6-AEA7-0993C867FB6D}"/>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576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69F7-12D5-40F0-88F0-33D60AEB021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65BB511-E79D-41D8-AF91-14A5C803FC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05DFA-4DAF-4B30-8032-503081AEA4BF}"/>
              </a:ext>
            </a:extLst>
          </p:cNvPr>
          <p:cNvSpPr>
            <a:spLocks noGrp="1"/>
          </p:cNvSpPr>
          <p:nvPr>
            <p:ph type="dt" sz="half" idx="10"/>
          </p:nvPr>
        </p:nvSpPr>
        <p:spPr/>
        <p:txBody>
          <a:bodyPr/>
          <a:lstStyle/>
          <a:p>
            <a:fld id="{B68B8189-0D9C-48A6-9FA3-862227B094CE}" type="datetime1">
              <a:rPr lang="en-US" smtClean="0"/>
              <a:t>10/7/25</a:t>
            </a:fld>
            <a:endParaRPr lang="en-US"/>
          </a:p>
        </p:txBody>
      </p:sp>
      <p:sp>
        <p:nvSpPr>
          <p:cNvPr id="5" name="Footer Placeholder 4">
            <a:extLst>
              <a:ext uri="{FF2B5EF4-FFF2-40B4-BE49-F238E27FC236}">
                <a16:creationId xmlns:a16="http://schemas.microsoft.com/office/drawing/2014/main" id="{E034FBF5-16C0-46A0-916A-4910C1B61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26EA6-7E48-454C-887A-0EF3356F91D5}"/>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2389246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312BAB-A07B-4FEA-8EB5-A7BD8B24C6DA}"/>
              </a:ext>
            </a:extLst>
          </p:cNvPr>
          <p:cNvSpPr/>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F245A432-7E52-48B5-A8BB-13EED592E35A}"/>
              </a:ext>
            </a:extLst>
          </p:cNvPr>
          <p:cNvSpPr/>
          <p:nvPr/>
        </p:nvSpPr>
        <p:spPr>
          <a:xfrm>
            <a:off x="7813964" y="0"/>
            <a:ext cx="4378036" cy="6858000"/>
          </a:xfrm>
          <a:prstGeom prst="rect">
            <a:avLst/>
          </a:prstGeom>
          <a:ln>
            <a:noFill/>
          </a:ln>
          <a:effectLst>
            <a:outerShdw blurRad="254000" dist="152400" dir="1068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656288B6-16BD-4DEE-9187-C78963ED1D8A}"/>
              </a:ext>
            </a:extLst>
          </p:cNvPr>
          <p:cNvCxnSpPr>
            <a:cxnSpLocks/>
          </p:cNvCxnSpPr>
          <p:nvPr/>
        </p:nvCxnSpPr>
        <p:spPr>
          <a:xfrm rot="16200000" flipH="1">
            <a:off x="10361537" y="120772"/>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a:extLst>
              <a:ext uri="{FF2B5EF4-FFF2-40B4-BE49-F238E27FC236}">
                <a16:creationId xmlns:a16="http://schemas.microsoft.com/office/drawing/2014/main" id="{F9259F7B-ED77-4251-A424-93712C6F57A0}"/>
              </a:ext>
            </a:extLst>
          </p:cNvPr>
          <p:cNvSpPr>
            <a:spLocks noGrp="1"/>
          </p:cNvSpPr>
          <p:nvPr>
            <p:ph type="title" orient="vert"/>
          </p:nvPr>
        </p:nvSpPr>
        <p:spPr>
          <a:xfrm>
            <a:off x="8139544" y="872836"/>
            <a:ext cx="2521527" cy="5119256"/>
          </a:xfrm>
        </p:spPr>
        <p:txBody>
          <a:bodyPr vert="eaVert" ancho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0295692-9BD0-4EB9-B344-9A6945DB0B81}"/>
              </a:ext>
            </a:extLst>
          </p:cNvPr>
          <p:cNvSpPr>
            <a:spLocks noGrp="1"/>
          </p:cNvSpPr>
          <p:nvPr>
            <p:ph type="body" orient="vert" idx="1"/>
          </p:nvPr>
        </p:nvSpPr>
        <p:spPr>
          <a:xfrm>
            <a:off x="756746" y="872836"/>
            <a:ext cx="6634169" cy="5119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B128527-7CED-4CF3-A260-649685D2E6D3}"/>
              </a:ext>
            </a:extLst>
          </p:cNvPr>
          <p:cNvSpPr>
            <a:spLocks noGrp="1"/>
          </p:cNvSpPr>
          <p:nvPr>
            <p:ph type="dt" sz="half" idx="10"/>
          </p:nvPr>
        </p:nvSpPr>
        <p:spPr>
          <a:xfrm>
            <a:off x="329184" y="6236208"/>
            <a:ext cx="3037459" cy="365125"/>
          </a:xfrm>
        </p:spPr>
        <p:txBody>
          <a:bodyPr/>
          <a:lstStyle/>
          <a:p>
            <a:fld id="{26ADDCAE-6443-42C3-9C19-F95985500186}" type="datetime1">
              <a:rPr lang="en-US" smtClean="0"/>
              <a:t>10/7/25</a:t>
            </a:fld>
            <a:endParaRPr lang="en-US" dirty="0"/>
          </a:p>
        </p:txBody>
      </p:sp>
      <p:sp>
        <p:nvSpPr>
          <p:cNvPr id="5" name="Footer Placeholder 4">
            <a:extLst>
              <a:ext uri="{FF2B5EF4-FFF2-40B4-BE49-F238E27FC236}">
                <a16:creationId xmlns:a16="http://schemas.microsoft.com/office/drawing/2014/main" id="{20517F65-E517-4B50-B559-FD7D59F3E8B5}"/>
              </a:ext>
            </a:extLst>
          </p:cNvPr>
          <p:cNvSpPr>
            <a:spLocks noGrp="1"/>
          </p:cNvSpPr>
          <p:nvPr>
            <p:ph type="ftr" sz="quarter" idx="11"/>
          </p:nvPr>
        </p:nvSpPr>
        <p:spPr>
          <a:xfrm>
            <a:off x="329184" y="237744"/>
            <a:ext cx="3581400" cy="365125"/>
          </a:xfrm>
        </p:spPr>
        <p:txBody>
          <a:bodyPr/>
          <a:lstStyle/>
          <a:p>
            <a:endParaRPr lang="en-US" dirty="0"/>
          </a:p>
        </p:txBody>
      </p:sp>
      <p:sp>
        <p:nvSpPr>
          <p:cNvPr id="6" name="Slide Number Placeholder 5">
            <a:extLst>
              <a:ext uri="{FF2B5EF4-FFF2-40B4-BE49-F238E27FC236}">
                <a16:creationId xmlns:a16="http://schemas.microsoft.com/office/drawing/2014/main" id="{CAED40B7-46EE-49D9-BE89-7E101F80A497}"/>
              </a:ext>
            </a:extLst>
          </p:cNvPr>
          <p:cNvSpPr>
            <a:spLocks noGrp="1"/>
          </p:cNvSpPr>
          <p:nvPr>
            <p:ph type="sldNum" sz="quarter" idx="12"/>
          </p:nvPr>
        </p:nvSpPr>
        <p:spPr>
          <a:xfrm>
            <a:off x="11292840" y="237744"/>
            <a:ext cx="756746" cy="365760"/>
          </a:xfrm>
        </p:spPr>
        <p:txBody>
          <a:bodyPr/>
          <a:lstStyle/>
          <a:p>
            <a:fld id="{B4A918BC-4D43-4B42-B3C0-E7EBE25E6AF0}" type="slidenum">
              <a:rPr lang="en-US" smtClean="0"/>
              <a:t>‹#›</a:t>
            </a:fld>
            <a:endParaRPr lang="en-US" dirty="0"/>
          </a:p>
        </p:txBody>
      </p:sp>
      <p:cxnSp>
        <p:nvCxnSpPr>
          <p:cNvPr id="16" name="Straight Connector 15">
            <a:extLst>
              <a:ext uri="{FF2B5EF4-FFF2-40B4-BE49-F238E27FC236}">
                <a16:creationId xmlns:a16="http://schemas.microsoft.com/office/drawing/2014/main" id="{E05031BF-2EA5-4128-B6AF-2D0F5A101095}"/>
              </a:ext>
            </a:extLst>
          </p:cNvPr>
          <p:cNvCxnSpPr>
            <a:cxnSpLocks/>
          </p:cNvCxnSpPr>
          <p:nvPr/>
        </p:nvCxnSpPr>
        <p:spPr>
          <a:xfrm rot="16200000" flipH="1">
            <a:off x="10361537" y="120772"/>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632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38E7D36-B1C9-463C-983F-AEA5810A60D0}"/>
              </a:ext>
            </a:extLst>
          </p:cNvPr>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7B9A221-B33F-47C2-85FF-2C8F363D797B}"/>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ectangle 7">
            <a:extLst>
              <a:ext uri="{FF2B5EF4-FFF2-40B4-BE49-F238E27FC236}">
                <a16:creationId xmlns:a16="http://schemas.microsoft.com/office/drawing/2014/main" id="{CD0E0EF1-7626-4514-9337-271DD661B1EB}"/>
              </a:ext>
            </a:extLst>
          </p:cNvPr>
          <p:cNvSpPr/>
          <p:nvPr/>
        </p:nvSpPr>
        <p:spPr>
          <a:xfrm>
            <a:off x="0" y="0"/>
            <a:ext cx="1218895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5" name="Rectangle 64">
            <a:extLst>
              <a:ext uri="{FF2B5EF4-FFF2-40B4-BE49-F238E27FC236}">
                <a16:creationId xmlns:a16="http://schemas.microsoft.com/office/drawing/2014/main" id="{5F0B1492-9A00-4F80-8771-0BB2C2C4353C}"/>
              </a:ext>
            </a:extLst>
          </p:cNvPr>
          <p:cNvSpPr/>
          <p:nvPr/>
        </p:nvSpPr>
        <p:spPr>
          <a:xfrm>
            <a:off x="0" y="-2"/>
            <a:ext cx="12188952" cy="2544415"/>
          </a:xfrm>
          <a:prstGeom prst="rect">
            <a:avLst/>
          </a:prstGeom>
          <a:ln>
            <a:noFill/>
          </a:ln>
          <a:effectLst>
            <a:outerShdw blurRad="190500" dist="1270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0F462805-4F8E-44FE-905C-2C3F1A2B3D44}"/>
              </a:ext>
            </a:extLst>
          </p:cNvPr>
          <p:cNvSpPr>
            <a:spLocks noGrp="1"/>
          </p:cNvSpPr>
          <p:nvPr>
            <p:ph type="title"/>
          </p:nvPr>
        </p:nvSpPr>
        <p:spPr>
          <a:xfrm>
            <a:off x="761801" y="858982"/>
            <a:ext cx="10380573" cy="143227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345021C-0380-49AA-ADA1-A8B473FBF572}"/>
              </a:ext>
            </a:extLst>
          </p:cNvPr>
          <p:cNvSpPr>
            <a:spLocks noGrp="1"/>
          </p:cNvSpPr>
          <p:nvPr>
            <p:ph type="body" idx="1"/>
          </p:nvPr>
        </p:nvSpPr>
        <p:spPr>
          <a:xfrm>
            <a:off x="761799" y="2750126"/>
            <a:ext cx="10381205" cy="32617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B7A2409-F298-40BF-BFAC-65A3E71D29E8}"/>
              </a:ext>
            </a:extLst>
          </p:cNvPr>
          <p:cNvSpPr>
            <a:spLocks noGrp="1"/>
          </p:cNvSpPr>
          <p:nvPr>
            <p:ph type="dt" sz="half" idx="2"/>
          </p:nvPr>
        </p:nvSpPr>
        <p:spPr>
          <a:xfrm>
            <a:off x="332481" y="6240079"/>
            <a:ext cx="4114800" cy="365125"/>
          </a:xfrm>
          <a:prstGeom prst="rect">
            <a:avLst/>
          </a:prstGeom>
        </p:spPr>
        <p:txBody>
          <a:bodyPr vert="horz" lIns="91440" tIns="45720" rIns="91440" bIns="45720" rtlCol="0" anchor="ctr"/>
          <a:lstStyle>
            <a:lvl1pPr algn="l">
              <a:defRPr sz="900">
                <a:solidFill>
                  <a:schemeClr val="tx1"/>
                </a:solidFill>
              </a:defRPr>
            </a:lvl1pPr>
          </a:lstStyle>
          <a:p>
            <a:fld id="{6989806E-8E94-473C-AEE7-BE6F15F85533}" type="datetime1">
              <a:rPr lang="en-US" smtClean="0"/>
              <a:t>10/7/25</a:t>
            </a:fld>
            <a:endParaRPr lang="en-US" dirty="0"/>
          </a:p>
        </p:txBody>
      </p:sp>
      <p:sp>
        <p:nvSpPr>
          <p:cNvPr id="5" name="Footer Placeholder 4">
            <a:extLst>
              <a:ext uri="{FF2B5EF4-FFF2-40B4-BE49-F238E27FC236}">
                <a16:creationId xmlns:a16="http://schemas.microsoft.com/office/drawing/2014/main" id="{CB4799D8-4DBF-4BB2-8D2B-65592ADC9004}"/>
              </a:ext>
            </a:extLst>
          </p:cNvPr>
          <p:cNvSpPr>
            <a:spLocks noGrp="1"/>
          </p:cNvSpPr>
          <p:nvPr>
            <p:ph type="ftr" sz="quarter" idx="3"/>
          </p:nvPr>
        </p:nvSpPr>
        <p:spPr>
          <a:xfrm>
            <a:off x="332481" y="236199"/>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F9F99666-11C3-48A1-966C-439EBF9D9A01}"/>
              </a:ext>
            </a:extLst>
          </p:cNvPr>
          <p:cNvSpPr>
            <a:spLocks noGrp="1"/>
          </p:cNvSpPr>
          <p:nvPr>
            <p:ph type="sldNum" sz="quarter" idx="4"/>
          </p:nvPr>
        </p:nvSpPr>
        <p:spPr>
          <a:xfrm>
            <a:off x="11289782" y="235881"/>
            <a:ext cx="756746" cy="365760"/>
          </a:xfrm>
          <a:prstGeom prst="rect">
            <a:avLst/>
          </a:prstGeom>
        </p:spPr>
        <p:txBody>
          <a:bodyPr vert="horz" lIns="91440" tIns="45720" rIns="91440" bIns="45720" rtlCol="0" anchor="ctr"/>
          <a:lstStyle>
            <a:lvl1pPr algn="ctr">
              <a:defRPr lang="en-US" sz="1400" b="1" kern="1200" smtClean="0">
                <a:solidFill>
                  <a:schemeClr val="tx1"/>
                </a:solidFill>
                <a:latin typeface="Bierstadt" panose="020B0504020202020204" pitchFamily="34" charset="0"/>
                <a:ea typeface="+mn-ea"/>
                <a:cs typeface="+mn-cs"/>
              </a:defRPr>
            </a:lvl1pPr>
          </a:lstStyle>
          <a:p>
            <a:fld id="{B4A918BC-4D43-4B42-B3C0-E7EBE25E6AF0}" type="slidenum">
              <a:rPr lang="en-US" smtClean="0"/>
              <a:pPr/>
              <a:t>‹#›</a:t>
            </a:fld>
            <a:endParaRPr lang="en-US" dirty="0"/>
          </a:p>
        </p:txBody>
      </p:sp>
      <p:cxnSp>
        <p:nvCxnSpPr>
          <p:cNvPr id="119" name="Straight Connector 118">
            <a:extLst>
              <a:ext uri="{FF2B5EF4-FFF2-40B4-BE49-F238E27FC236}">
                <a16:creationId xmlns:a16="http://schemas.microsoft.com/office/drawing/2014/main" id="{7FAC7B62-8ACC-41ED-80AB-8D1CDF38B9E4}"/>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45FF525-9A83-4625-99D9-B267BDE077E7}"/>
              </a:ext>
            </a:extLst>
          </p:cNvPr>
          <p:cNvCxnSpPr>
            <a:cxnSpLocks/>
          </p:cNvCxnSpPr>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42291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696" r:id="rId6"/>
    <p:sldLayoutId id="2147483707" r:id="rId7"/>
    <p:sldLayoutId id="2147483706" r:id="rId8"/>
    <p:sldLayoutId id="2147483705" r:id="rId9"/>
    <p:sldLayoutId id="2147483704" r:id="rId10"/>
    <p:sldLayoutId id="2147483697"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200" kern="1200">
          <a:solidFill>
            <a:schemeClr val="tx1"/>
          </a:solidFill>
          <a:latin typeface="+mn-lt"/>
          <a:ea typeface="+mn-ea"/>
          <a:cs typeface="+mn-cs"/>
        </a:defRPr>
      </a:lvl1pPr>
      <a:lvl2pPr marL="228600" indent="0" algn="l"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6858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Slide Background">
            <a:extLst>
              <a:ext uri="{FF2B5EF4-FFF2-40B4-BE49-F238E27FC236}">
                <a16:creationId xmlns:a16="http://schemas.microsoft.com/office/drawing/2014/main" id="{922E0291-99C8-40F9-ADAB-32589A3B5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oster with people and graphics&#10;&#10;Description automatically generated with medium confidence">
            <a:extLst>
              <a:ext uri="{FF2B5EF4-FFF2-40B4-BE49-F238E27FC236}">
                <a16:creationId xmlns:a16="http://schemas.microsoft.com/office/drawing/2014/main" id="{6BDD4488-C2B3-3E89-A0BF-DC4BBF743360}"/>
              </a:ext>
            </a:extLst>
          </p:cNvPr>
          <p:cNvPicPr>
            <a:picLocks noChangeAspect="1"/>
          </p:cNvPicPr>
          <p:nvPr/>
        </p:nvPicPr>
        <p:blipFill>
          <a:blip r:embed="rId2"/>
          <a:srcRect b="1747"/>
          <a:stretch/>
        </p:blipFill>
        <p:spPr>
          <a:xfrm>
            <a:off x="20" y="2"/>
            <a:ext cx="12191979" cy="6857998"/>
          </a:xfrm>
          <a:prstGeom prst="rect">
            <a:avLst/>
          </a:prstGeom>
          <a:effectLst>
            <a:outerShdw blurRad="596900" dist="330200" dir="8820000" sx="87000" sy="87000" algn="ctr" rotWithShape="0">
              <a:srgbClr val="000000">
                <a:alpha val="29000"/>
              </a:srgbClr>
            </a:outerShdw>
          </a:effectLst>
        </p:spPr>
      </p:pic>
      <p:sp>
        <p:nvSpPr>
          <p:cNvPr id="48" name="Rectangle 47">
            <a:extLst>
              <a:ext uri="{FF2B5EF4-FFF2-40B4-BE49-F238E27FC236}">
                <a16:creationId xmlns:a16="http://schemas.microsoft.com/office/drawing/2014/main" id="{095830D2-F2AE-4DD8-B586-89B097791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58714" y="258715"/>
            <a:ext cx="6858000" cy="6340569"/>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DCF27-8850-7B7A-2EC0-BE6C312FA06F}"/>
              </a:ext>
            </a:extLst>
          </p:cNvPr>
          <p:cNvSpPr>
            <a:spLocks noGrp="1"/>
          </p:cNvSpPr>
          <p:nvPr>
            <p:ph type="ctrTitle"/>
          </p:nvPr>
        </p:nvSpPr>
        <p:spPr>
          <a:xfrm>
            <a:off x="157869" y="169246"/>
            <a:ext cx="7258785" cy="2508616"/>
          </a:xfrm>
        </p:spPr>
        <p:txBody>
          <a:bodyPr anchor="t">
            <a:normAutofit/>
          </a:bodyPr>
          <a:lstStyle/>
          <a:p>
            <a:pPr>
              <a:lnSpc>
                <a:spcPct val="90000"/>
              </a:lnSpc>
            </a:pPr>
            <a:r>
              <a:rPr lang="en-US" sz="4000" b="1" dirty="0">
                <a:solidFill>
                  <a:srgbClr val="FFFFFF"/>
                </a:solidFill>
              </a:rPr>
              <a:t>Entrepreneurship Development</a:t>
            </a:r>
            <a:br>
              <a:rPr lang="en-US" sz="3400" dirty="0">
                <a:solidFill>
                  <a:srgbClr val="FFFFFF"/>
                </a:solidFill>
              </a:rPr>
            </a:br>
            <a:br>
              <a:rPr lang="en-US" sz="3400" dirty="0">
                <a:solidFill>
                  <a:srgbClr val="FFFFFF"/>
                </a:solidFill>
              </a:rPr>
            </a:br>
            <a:r>
              <a:rPr lang="en-US" sz="3400" dirty="0">
                <a:solidFill>
                  <a:srgbClr val="FFFFFF"/>
                </a:solidFill>
              </a:rPr>
              <a:t>By: Dr Kalpana </a:t>
            </a:r>
            <a:r>
              <a:rPr lang="en-US" sz="3400" dirty="0" err="1">
                <a:solidFill>
                  <a:srgbClr val="FFFFFF"/>
                </a:solidFill>
              </a:rPr>
              <a:t>Ambepitiya</a:t>
            </a:r>
            <a:endParaRPr lang="en-US" sz="3400" dirty="0">
              <a:solidFill>
                <a:srgbClr val="FFFFFF"/>
              </a:solidFill>
            </a:endParaRPr>
          </a:p>
        </p:txBody>
      </p:sp>
      <p:sp>
        <p:nvSpPr>
          <p:cNvPr id="3" name="Subtitle 2">
            <a:extLst>
              <a:ext uri="{FF2B5EF4-FFF2-40B4-BE49-F238E27FC236}">
                <a16:creationId xmlns:a16="http://schemas.microsoft.com/office/drawing/2014/main" id="{55B80909-EF8E-60D2-93FD-FB3624D504F5}"/>
              </a:ext>
            </a:extLst>
          </p:cNvPr>
          <p:cNvSpPr>
            <a:spLocks noGrp="1"/>
          </p:cNvSpPr>
          <p:nvPr>
            <p:ph type="subTitle" idx="1"/>
          </p:nvPr>
        </p:nvSpPr>
        <p:spPr>
          <a:xfrm>
            <a:off x="5070765" y="2524992"/>
            <a:ext cx="2345890" cy="1319644"/>
          </a:xfrm>
        </p:spPr>
        <p:style>
          <a:lnRef idx="2">
            <a:schemeClr val="accent1">
              <a:shade val="15000"/>
            </a:schemeClr>
          </a:lnRef>
          <a:fillRef idx="1">
            <a:schemeClr val="accent1"/>
          </a:fillRef>
          <a:effectRef idx="0">
            <a:schemeClr val="accent1"/>
          </a:effectRef>
          <a:fontRef idx="minor">
            <a:schemeClr val="lt1"/>
          </a:fontRef>
        </p:style>
        <p:txBody>
          <a:bodyPr anchor="b">
            <a:normAutofit fontScale="92500" lnSpcReduction="20000"/>
          </a:bodyPr>
          <a:lstStyle/>
          <a:p>
            <a:pPr algn="ctr"/>
            <a:r>
              <a:rPr lang="en-US" dirty="0"/>
              <a:t>Introduction</a:t>
            </a:r>
          </a:p>
          <a:p>
            <a:pPr algn="ctr"/>
            <a:r>
              <a:rPr lang="en-US" dirty="0"/>
              <a:t>Chapter 01</a:t>
            </a:r>
          </a:p>
          <a:p>
            <a:pPr algn="ctr"/>
            <a:r>
              <a:rPr lang="en-US" dirty="0"/>
              <a:t>Session 01</a:t>
            </a:r>
          </a:p>
        </p:txBody>
      </p:sp>
      <p:sp useBgFill="1">
        <p:nvSpPr>
          <p:cNvPr id="49" name="Rectangle 48">
            <a:extLst>
              <a:ext uri="{FF2B5EF4-FFF2-40B4-BE49-F238E27FC236}">
                <a16:creationId xmlns:a16="http://schemas.microsoft.com/office/drawing/2014/main" id="{7A8F735B-89DD-459E-BB4B-B9E1603DE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2375" y="0"/>
            <a:ext cx="1051560" cy="6858000"/>
          </a:xfrm>
          <a:prstGeom prst="rect">
            <a:avLst/>
          </a:prstGeom>
          <a:ln>
            <a:noFill/>
          </a:ln>
          <a:effectLst>
            <a:outerShdw blurRad="190500" dist="76200" dir="57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FAFF45CC-4046-4B20-8A54-5D613033F0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50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4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4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4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ctrTitle" idx="4294967295"/>
          </p:nvPr>
        </p:nvSpPr>
        <p:spPr>
          <a:xfrm>
            <a:off x="3504010" y="2082406"/>
            <a:ext cx="4914900" cy="1918975"/>
          </a:xfrm>
        </p:spPr>
        <p:txBody>
          <a:bodyPr>
            <a:noAutofit/>
          </a:bodyPr>
          <a:lstStyle/>
          <a:p>
            <a:pPr algn="ctr" eaLnBrk="1" hangingPunct="1"/>
            <a:br>
              <a:rPr lang="en-US" sz="3600" dirty="0">
                <a:latin typeface="Arial" panose="020B0604020202020204" pitchFamily="34" charset="0"/>
              </a:rPr>
            </a:br>
            <a:r>
              <a:rPr lang="en-US" sz="3600" dirty="0">
                <a:latin typeface="Arial" panose="020B0604020202020204" pitchFamily="34" charset="0"/>
              </a:rPr>
              <a:t>Introduction</a:t>
            </a:r>
            <a:br>
              <a:rPr lang="en-US" sz="3600" dirty="0">
                <a:latin typeface="Arial" panose="020B0604020202020204" pitchFamily="34" charset="0"/>
              </a:rPr>
            </a:br>
            <a:br>
              <a:rPr lang="en-US" sz="3600" dirty="0">
                <a:latin typeface="Arial" panose="020B0604020202020204" pitchFamily="34" charset="0"/>
              </a:rPr>
            </a:br>
            <a:endParaRPr lang="en-US" sz="2100" dirty="0">
              <a:latin typeface="Arial" panose="020B0604020202020204" pitchFamily="34" charset="0"/>
            </a:endParaRPr>
          </a:p>
        </p:txBody>
      </p:sp>
      <p:sp>
        <p:nvSpPr>
          <p:cNvPr id="2" name="Slide Number Placeholder 1"/>
          <p:cNvSpPr>
            <a:spLocks noGrp="1"/>
          </p:cNvSpPr>
          <p:nvPr>
            <p:ph type="sldNum" sz="quarter" idx="12"/>
          </p:nvPr>
        </p:nvSpPr>
        <p:spPr/>
        <p:txBody>
          <a:bodyPr/>
          <a:lstStyle/>
          <a:p>
            <a:fld id="{CBA11E76-6ACE-4FE2-B993-B09811D5B49A}" type="slidenum">
              <a:rPr lang="en-US" smtClean="0"/>
              <a:t>2</a:t>
            </a:fld>
            <a:endParaRPr lang="en-US"/>
          </a:p>
        </p:txBody>
      </p:sp>
    </p:spTree>
    <p:extLst>
      <p:ext uri="{BB962C8B-B14F-4D97-AF65-F5344CB8AC3E}">
        <p14:creationId xmlns:p14="http://schemas.microsoft.com/office/powerpoint/2010/main" val="2103282720"/>
      </p:ext>
    </p:extLst>
  </p:cSld>
  <p:clrMapOvr>
    <a:masterClrMapping/>
  </p:clrMapOvr>
  <p:transition>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420761" y="992055"/>
            <a:ext cx="8229600" cy="1143000"/>
          </a:xfrm>
        </p:spPr>
        <p:txBody>
          <a:bodyPr/>
          <a:lstStyle/>
          <a:p>
            <a:pPr eaLnBrk="1" hangingPunct="1"/>
            <a:r>
              <a:rPr lang="en-US" altLang="en-US" sz="3600" dirty="0">
                <a:latin typeface="Times New Roman" panose="02020603050405020304" pitchFamily="18" charset="0"/>
              </a:rPr>
              <a:t>Chapter Objectives</a:t>
            </a:r>
            <a:br>
              <a:rPr lang="en-US" altLang="en-US" sz="3600" dirty="0">
                <a:latin typeface="Times New Roman" panose="02020603050405020304" pitchFamily="18" charset="0"/>
              </a:rPr>
            </a:br>
            <a:endParaRPr lang="en-US" altLang="en-US" sz="2000" dirty="0">
              <a:latin typeface="Times New Roman" panose="02020603050405020304" pitchFamily="18" charset="0"/>
            </a:endParaRPr>
          </a:p>
        </p:txBody>
      </p:sp>
      <p:sp>
        <p:nvSpPr>
          <p:cNvPr id="17411" name="Rectangle 3"/>
          <p:cNvSpPr>
            <a:spLocks noGrp="1" noChangeArrowheads="1"/>
          </p:cNvSpPr>
          <p:nvPr>
            <p:ph type="body" idx="1"/>
          </p:nvPr>
        </p:nvSpPr>
        <p:spPr>
          <a:xfrm>
            <a:off x="761799" y="2545102"/>
            <a:ext cx="10381205" cy="4106418"/>
          </a:xfrm>
        </p:spPr>
        <p:txBody>
          <a:bodyPr>
            <a:normAutofit fontScale="92500" lnSpcReduction="20000"/>
          </a:bodyPr>
          <a:lstStyle/>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Explain entrepreneurship and discuss its importance.</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Describe corporate entrepreneurship and its use in established firms.</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Discuss three main reasons that people become entrepreneurs.</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Identify four main characteristics of successful entrepreneurs.</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Explain the five common myths regarding entrepreneurs. </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 the economic impact of entrepreneurial firms.</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Discuss the impact of entrepreneurial firms on society.</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Identify ways in which large firms benefit from the presence of smaller entrepreneurial firms.</a:t>
            </a:r>
          </a:p>
          <a:p>
            <a:pPr marL="457200" indent="-457200">
              <a:lnSpc>
                <a:spcPct val="90000"/>
              </a:lnSpc>
              <a:buFont typeface="Arial" panose="020B0604020202020204" pitchFamily="34" charset="0"/>
              <a:buChar char="•"/>
            </a:pPr>
            <a:r>
              <a:rPr lang="en-US" altLang="en-US" sz="2800" dirty="0">
                <a:latin typeface="Times New Roman" panose="02020603050405020304" pitchFamily="18" charset="0"/>
              </a:rPr>
              <a:t>Explain the entrepreneurial process.</a:t>
            </a:r>
          </a:p>
        </p:txBody>
      </p:sp>
      <p:sp>
        <p:nvSpPr>
          <p:cNvPr id="17412" name="Line 4"/>
          <p:cNvSpPr>
            <a:spLocks noChangeShapeType="1"/>
          </p:cNvSpPr>
          <p:nvPr/>
        </p:nvSpPr>
        <p:spPr bwMode="auto">
          <a:xfrm>
            <a:off x="1420761" y="2340078"/>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19660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descr="Slideheader01">
            <a:extLst>
              <a:ext uri="{FF2B5EF4-FFF2-40B4-BE49-F238E27FC236}">
                <a16:creationId xmlns:a16="http://schemas.microsoft.com/office/drawing/2014/main" id="{8F9D57DA-F369-4F3F-A5B0-6434986896B4}"/>
              </a:ext>
            </a:extLst>
          </p:cNvPr>
          <p:cNvSpPr>
            <a:spLocks noGrp="1" noChangeArrowheads="1"/>
          </p:cNvSpPr>
          <p:nvPr>
            <p:ph type="title"/>
          </p:nvPr>
        </p:nvSpPr>
        <p:spPr>
          <a:xfrm>
            <a:off x="2129883" y="330820"/>
            <a:ext cx="8382000" cy="1485900"/>
          </a:xfrm>
        </p:spPr>
        <p:txBody>
          <a:bodyPr/>
          <a:lstStyle/>
          <a:p>
            <a:pPr eaLnBrk="1" hangingPunct="1"/>
            <a:r>
              <a:rPr lang="en-US" altLang="en-US" sz="4000" dirty="0">
                <a:latin typeface="Times New Roman" panose="02020603050405020304" pitchFamily="18" charset="0"/>
                <a:cs typeface="Times New Roman" panose="02020603050405020304" pitchFamily="18" charset="0"/>
              </a:rPr>
              <a:t>The Evolution of Entrepreneurship</a:t>
            </a:r>
          </a:p>
        </p:txBody>
      </p:sp>
      <p:sp>
        <p:nvSpPr>
          <p:cNvPr id="46082" name="Rectangle 3">
            <a:extLst>
              <a:ext uri="{FF2B5EF4-FFF2-40B4-BE49-F238E27FC236}">
                <a16:creationId xmlns:a16="http://schemas.microsoft.com/office/drawing/2014/main" id="{C052FCED-F4B7-DF45-8926-EFBFA93A3115}"/>
              </a:ext>
            </a:extLst>
          </p:cNvPr>
          <p:cNvSpPr>
            <a:spLocks noGrp="1" noChangeArrowheads="1"/>
          </p:cNvSpPr>
          <p:nvPr>
            <p:ph idx="1"/>
          </p:nvPr>
        </p:nvSpPr>
        <p:spPr>
          <a:xfrm>
            <a:off x="925551" y="1905000"/>
            <a:ext cx="9361449" cy="3581400"/>
          </a:xfrm>
        </p:spPr>
        <p:txBody>
          <a:bodyPr rtlCol="0">
            <a:normAutofit/>
          </a:bodyPr>
          <a:lstStyle/>
          <a:p>
            <a:pPr>
              <a:spcBef>
                <a:spcPct val="50000"/>
              </a:spcBef>
              <a:buFont typeface="Wingdings 3" charset="2"/>
              <a:buChar char=""/>
              <a:defRPr/>
            </a:pPr>
            <a:r>
              <a:rPr lang="en-US" altLang="en-US" sz="2800" dirty="0">
                <a:solidFill>
                  <a:schemeClr val="tx1">
                    <a:lumMod val="75000"/>
                    <a:lumOff val="25000"/>
                  </a:schemeClr>
                </a:solidFill>
                <a:latin typeface="Times New Roman" panose="02020603050405020304" pitchFamily="18" charset="0"/>
                <a:cs typeface="Times New Roman" panose="02020603050405020304" pitchFamily="18" charset="0"/>
              </a:rPr>
              <a:t>Entrepreneur is derived from the French </a:t>
            </a:r>
            <a:r>
              <a:rPr lang="en-US" altLang="en-US" sz="2800" i="1" dirty="0" err="1">
                <a:solidFill>
                  <a:srgbClr val="996600"/>
                </a:solidFill>
                <a:latin typeface="Times New Roman" panose="02020603050405020304" pitchFamily="18" charset="0"/>
                <a:cs typeface="Times New Roman" panose="02020603050405020304" pitchFamily="18" charset="0"/>
              </a:rPr>
              <a:t>entreprendre</a:t>
            </a:r>
            <a:r>
              <a:rPr lang="en-US" altLang="en-US" sz="2800" dirty="0">
                <a:solidFill>
                  <a:schemeClr val="tx1">
                    <a:lumMod val="75000"/>
                    <a:lumOff val="25000"/>
                  </a:schemeClr>
                </a:solidFill>
                <a:latin typeface="Times New Roman" panose="02020603050405020304" pitchFamily="18" charset="0"/>
                <a:cs typeface="Times New Roman" panose="02020603050405020304" pitchFamily="18" charset="0"/>
              </a:rPr>
              <a:t>, meaning “to undertake.”</a:t>
            </a:r>
          </a:p>
          <a:p>
            <a:pPr lvl="1">
              <a:spcBef>
                <a:spcPct val="50000"/>
              </a:spcBef>
              <a:buFont typeface="Wingdings 3" charset="2"/>
              <a:buChar char=""/>
              <a:defRPr/>
            </a:pP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An entrepreneur is one who undertakes to organize, manage, and assume the risks of a business.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descr="Slideheader01">
            <a:extLst>
              <a:ext uri="{FF2B5EF4-FFF2-40B4-BE49-F238E27FC236}">
                <a16:creationId xmlns:a16="http://schemas.microsoft.com/office/drawing/2014/main" id="{4CE812CE-BD5B-DD4A-A011-53BD1D7F695A}"/>
              </a:ext>
            </a:extLst>
          </p:cNvPr>
          <p:cNvSpPr>
            <a:spLocks noGrp="1" noChangeArrowheads="1"/>
          </p:cNvSpPr>
          <p:nvPr>
            <p:ph type="title" idx="4294967295"/>
          </p:nvPr>
        </p:nvSpPr>
        <p:spPr>
          <a:xfrm>
            <a:off x="2286000" y="395279"/>
            <a:ext cx="9124950" cy="954107"/>
          </a:xfrm>
        </p:spPr>
        <p:txBody>
          <a:bodyPr vert="horz" lIns="91440" tIns="182880" rIns="91440" bIns="91440" rtlCol="0" anchor="ctr">
            <a:spAutoFit/>
          </a:bodyPr>
          <a:lstStyle/>
          <a:p>
            <a:pPr marL="514350">
              <a:defRPr/>
            </a:pPr>
            <a:r>
              <a:rPr lang="en-US" altLang="en-US" dirty="0">
                <a:solidFill>
                  <a:schemeClr val="tx1">
                    <a:lumMod val="85000"/>
                    <a:lumOff val="15000"/>
                  </a:schemeClr>
                </a:solidFill>
                <a:latin typeface="Times New Roman" charset="0"/>
              </a:rPr>
              <a:t>What is Entrepreneurship?</a:t>
            </a:r>
            <a:endParaRPr lang="en-US" dirty="0">
              <a:solidFill>
                <a:schemeClr val="tx1">
                  <a:lumMod val="85000"/>
                  <a:lumOff val="15000"/>
                </a:schemeClr>
              </a:solidFill>
              <a:effectLst>
                <a:outerShdw blurRad="38100" dist="38100" dir="2700000" algn="tl">
                  <a:srgbClr val="C0C0C0"/>
                </a:outerShdw>
              </a:effectLst>
              <a:latin typeface="Times New Roman" charset="0"/>
              <a:ea typeface="Times New Roman" charset="0"/>
              <a:cs typeface="Times New Roman" charset="0"/>
            </a:endParaRPr>
          </a:p>
        </p:txBody>
      </p:sp>
      <p:sp>
        <p:nvSpPr>
          <p:cNvPr id="313347" name="Rectangle 3">
            <a:extLst>
              <a:ext uri="{FF2B5EF4-FFF2-40B4-BE49-F238E27FC236}">
                <a16:creationId xmlns:a16="http://schemas.microsoft.com/office/drawing/2014/main" id="{A7FB96A4-AC0C-E847-8B88-BACBA1D813D7}"/>
              </a:ext>
            </a:extLst>
          </p:cNvPr>
          <p:cNvSpPr>
            <a:spLocks noGrp="1" noChangeArrowheads="1"/>
          </p:cNvSpPr>
          <p:nvPr>
            <p:ph type="body" idx="4294967295"/>
          </p:nvPr>
        </p:nvSpPr>
        <p:spPr>
          <a:xfrm>
            <a:off x="936702" y="2057401"/>
            <a:ext cx="9731298" cy="4125913"/>
          </a:xfrm>
        </p:spPr>
        <p:txBody>
          <a:bodyPr rtlCol="0">
            <a:noAutofit/>
          </a:bodyPr>
          <a:lstStyle/>
          <a:p>
            <a:pPr marL="688975" lvl="1" indent="-287338">
              <a:spcBef>
                <a:spcPct val="3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A dynamic process of creating incremental wealth.</a:t>
            </a:r>
          </a:p>
          <a:p>
            <a:pPr marL="688975" lvl="1" indent="-287338">
              <a:spcBef>
                <a:spcPct val="3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This wealth is created by individuals who assume major risks in terms of equity, time, and/or career commitment of providing value for a product or service.  </a:t>
            </a:r>
          </a:p>
          <a:p>
            <a:pPr marL="688975" lvl="1" indent="-287338">
              <a:spcBef>
                <a:spcPct val="3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The product or service itself may or may not be new or unique but the entrepreneur must somehow infuse value by securing and allocating the necessary skills and resources.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6B3774E1-3CA7-F049-A690-6355693D4FEA}"/>
              </a:ext>
            </a:extLst>
          </p:cNvPr>
          <p:cNvSpPr>
            <a:spLocks noGrp="1" noChangeArrowheads="1"/>
          </p:cNvSpPr>
          <p:nvPr>
            <p:ph type="title"/>
          </p:nvPr>
        </p:nvSpPr>
        <p:spPr>
          <a:xfrm>
            <a:off x="3200400" y="398463"/>
            <a:ext cx="8229600" cy="1143000"/>
          </a:xfrm>
        </p:spPr>
        <p:txBody>
          <a:bodyPr rtlCol="0">
            <a:normAutofit fontScale="90000"/>
          </a:bodyPr>
          <a:lstStyle/>
          <a:p>
            <a:pPr>
              <a:defRPr/>
            </a:pPr>
            <a:r>
              <a:rPr lang="en-US" altLang="en-US" dirty="0">
                <a:solidFill>
                  <a:schemeClr val="tx1">
                    <a:lumMod val="85000"/>
                    <a:lumOff val="15000"/>
                  </a:schemeClr>
                </a:solidFill>
                <a:latin typeface="Times New Roman" panose="02020603050405020304" pitchFamily="18" charset="0"/>
              </a:rPr>
              <a:t>What is Entrepreneurship?</a:t>
            </a:r>
            <a:br>
              <a:rPr lang="en-US" altLang="en-US" dirty="0">
                <a:solidFill>
                  <a:schemeClr val="tx1">
                    <a:lumMod val="85000"/>
                    <a:lumOff val="15000"/>
                  </a:schemeClr>
                </a:solidFill>
                <a:latin typeface="Times New Roman" panose="02020603050405020304" pitchFamily="18" charset="0"/>
              </a:rPr>
            </a:br>
            <a:endParaRPr lang="en-US" altLang="en-US" dirty="0">
              <a:solidFill>
                <a:schemeClr val="tx1">
                  <a:lumMod val="85000"/>
                  <a:lumOff val="15000"/>
                </a:schemeClr>
              </a:solidFill>
              <a:latin typeface="Times New Roman" panose="02020603050405020304" pitchFamily="18" charset="0"/>
            </a:endParaRPr>
          </a:p>
        </p:txBody>
      </p:sp>
      <p:sp>
        <p:nvSpPr>
          <p:cNvPr id="52226" name="Rectangle 3">
            <a:extLst>
              <a:ext uri="{FF2B5EF4-FFF2-40B4-BE49-F238E27FC236}">
                <a16:creationId xmlns:a16="http://schemas.microsoft.com/office/drawing/2014/main" id="{D892A0D9-D3AE-BF4B-BD16-8D3434EA7D57}"/>
              </a:ext>
            </a:extLst>
          </p:cNvPr>
          <p:cNvSpPr>
            <a:spLocks noGrp="1" noChangeArrowheads="1"/>
          </p:cNvSpPr>
          <p:nvPr>
            <p:ph idx="1"/>
          </p:nvPr>
        </p:nvSpPr>
        <p:spPr>
          <a:xfrm>
            <a:off x="1524000" y="1828800"/>
            <a:ext cx="9303834" cy="3581400"/>
          </a:xfrm>
        </p:spPr>
        <p:txBody>
          <a:bodyPr rtlCol="0">
            <a:noAutofit/>
          </a:bodyPr>
          <a:lstStyle/>
          <a:p>
            <a:pPr lvl="1">
              <a:buFont typeface="Wingdings 3" charset="2"/>
              <a:buChar char=""/>
              <a:defRPr/>
            </a:pPr>
            <a:r>
              <a:rPr lang="en-US" altLang="en-US" sz="2800" dirty="0">
                <a:solidFill>
                  <a:schemeClr val="tx1">
                    <a:lumMod val="75000"/>
                    <a:lumOff val="25000"/>
                  </a:schemeClr>
                </a:solidFill>
                <a:latin typeface="Times New Roman" panose="02020603050405020304" pitchFamily="18" charset="0"/>
              </a:rPr>
              <a:t>Entrepreneurship is the process by which individuals pursue opportunities without regard to the resources they currently control.</a:t>
            </a:r>
          </a:p>
          <a:p>
            <a:pPr lvl="1">
              <a:buFont typeface="Wingdings 3" charset="2"/>
              <a:buChar char=""/>
              <a:defRPr/>
            </a:pPr>
            <a:r>
              <a:rPr lang="en-US" altLang="en-US" sz="2800" dirty="0">
                <a:solidFill>
                  <a:schemeClr val="tx1">
                    <a:lumMod val="75000"/>
                    <a:lumOff val="25000"/>
                  </a:schemeClr>
                </a:solidFill>
                <a:latin typeface="Times New Roman" panose="02020603050405020304" pitchFamily="18" charset="0"/>
              </a:rPr>
              <a:t>The essence of entrepreneurial behavior is identifying opportunities and putting useful ideas into practice.</a:t>
            </a:r>
          </a:p>
          <a:p>
            <a:pPr lvl="1">
              <a:buFont typeface="Wingdings 3" charset="2"/>
              <a:buChar char=""/>
              <a:defRPr/>
            </a:pPr>
            <a:r>
              <a:rPr lang="en-US" altLang="en-US" sz="2800" dirty="0">
                <a:solidFill>
                  <a:schemeClr val="tx1">
                    <a:lumMod val="75000"/>
                    <a:lumOff val="25000"/>
                  </a:schemeClr>
                </a:solidFill>
                <a:latin typeface="Times New Roman" panose="02020603050405020304" pitchFamily="18" charset="0"/>
              </a:rPr>
              <a:t>The set of tasks called for by this behavior can be accomplished by either an individual or a group and typically requires creativity, drive, and a willingness to take risks.</a:t>
            </a:r>
          </a:p>
        </p:txBody>
      </p:sp>
      <p:sp>
        <p:nvSpPr>
          <p:cNvPr id="52227" name="Slide Number Placeholder 5">
            <a:extLst>
              <a:ext uri="{FF2B5EF4-FFF2-40B4-BE49-F238E27FC236}">
                <a16:creationId xmlns:a16="http://schemas.microsoft.com/office/drawing/2014/main" id="{26C47E02-A1C1-9DE8-539A-D0AE3CD43B7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a:solidFill>
                  <a:schemeClr val="tx1"/>
                </a:solidFill>
                <a:latin typeface="Arial" panose="020B0604020202020204" pitchFamily="34" charset="0"/>
              </a:rPr>
              <a:t>1-</a:t>
            </a:r>
            <a:fld id="{49967634-2903-9F4A-A896-7325D79B94AA}" type="slidenum">
              <a:rPr lang="en-US" altLang="en-US">
                <a:solidFill>
                  <a:schemeClr val="tx1"/>
                </a:solidFill>
                <a:latin typeface="Arial" panose="020B0604020202020204" pitchFamily="34" charset="0"/>
              </a:rPr>
              <a:pPr>
                <a:spcBef>
                  <a:spcPct val="0"/>
                </a:spcBef>
                <a:buClrTx/>
                <a:buFontTx/>
                <a:buNone/>
              </a:pPr>
              <a:t>6</a:t>
            </a:fld>
            <a:endParaRPr lang="en-US" altLang="en-US">
              <a:solidFill>
                <a:schemeClr val="tx1"/>
              </a:solidFill>
              <a:latin typeface="Arial" panose="020B0604020202020204" pitchFamily="34" charset="0"/>
            </a:endParaRPr>
          </a:p>
        </p:txBody>
      </p:sp>
      <p:sp>
        <p:nvSpPr>
          <p:cNvPr id="52228" name="Line 4">
            <a:extLst>
              <a:ext uri="{FF2B5EF4-FFF2-40B4-BE49-F238E27FC236}">
                <a16:creationId xmlns:a16="http://schemas.microsoft.com/office/drawing/2014/main" id="{56AD70B5-CEE2-DA98-ED3B-EBEAA6894F1F}"/>
              </a:ext>
            </a:extLst>
          </p:cNvPr>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L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FE451F60-8631-535F-5F65-8D8C9C9D454C}"/>
              </a:ext>
            </a:extLst>
          </p:cNvPr>
          <p:cNvSpPr>
            <a:spLocks noGrp="1" noChangeArrowheads="1"/>
          </p:cNvSpPr>
          <p:nvPr>
            <p:ph type="title"/>
          </p:nvPr>
        </p:nvSpPr>
        <p:spPr>
          <a:xfrm>
            <a:off x="2895600" y="495300"/>
            <a:ext cx="8229600" cy="1143000"/>
          </a:xfrm>
        </p:spPr>
        <p:txBody>
          <a:bodyPr>
            <a:normAutofit fontScale="90000"/>
          </a:bodyPr>
          <a:lstStyle/>
          <a:p>
            <a:pPr eaLnBrk="1" hangingPunct="1"/>
            <a:r>
              <a:rPr lang="en-US" altLang="en-US">
                <a:latin typeface="Times New Roman" panose="02020603050405020304" pitchFamily="18" charset="0"/>
              </a:rPr>
              <a:t>What is Entrepreneurship?</a:t>
            </a:r>
            <a:br>
              <a:rPr lang="en-US" altLang="en-US">
                <a:latin typeface="Times New Roman" panose="02020603050405020304" pitchFamily="18" charset="0"/>
              </a:rPr>
            </a:br>
            <a:endParaRPr lang="en-US" altLang="en-US" sz="3200">
              <a:latin typeface="Times New Roman" panose="02020603050405020304" pitchFamily="18" charset="0"/>
            </a:endParaRPr>
          </a:p>
        </p:txBody>
      </p:sp>
      <p:sp>
        <p:nvSpPr>
          <p:cNvPr id="53250" name="Slide Number Placeholder 5">
            <a:extLst>
              <a:ext uri="{FF2B5EF4-FFF2-40B4-BE49-F238E27FC236}">
                <a16:creationId xmlns:a16="http://schemas.microsoft.com/office/drawing/2014/main" id="{8C4A4A86-9ABF-FEAE-FCE2-463886E4CD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a:solidFill>
                  <a:schemeClr val="tx1"/>
                </a:solidFill>
                <a:latin typeface="Arial" panose="020B0604020202020204" pitchFamily="34" charset="0"/>
              </a:rPr>
              <a:t>1-</a:t>
            </a:r>
            <a:fld id="{4F67415F-BE35-8F4B-9371-FDB5211FFD6C}" type="slidenum">
              <a:rPr lang="en-US" altLang="en-US">
                <a:solidFill>
                  <a:schemeClr val="tx1"/>
                </a:solidFill>
                <a:latin typeface="Arial" panose="020B0604020202020204" pitchFamily="34" charset="0"/>
              </a:rPr>
              <a:pPr>
                <a:spcBef>
                  <a:spcPct val="0"/>
                </a:spcBef>
                <a:buClrTx/>
                <a:buFontTx/>
                <a:buNone/>
              </a:pPr>
              <a:t>7</a:t>
            </a:fld>
            <a:endParaRPr lang="en-US" altLang="en-US">
              <a:solidFill>
                <a:schemeClr val="tx1"/>
              </a:solidFill>
              <a:latin typeface="Arial" panose="020B0604020202020204" pitchFamily="34" charset="0"/>
            </a:endParaRPr>
          </a:p>
        </p:txBody>
      </p:sp>
      <p:sp>
        <p:nvSpPr>
          <p:cNvPr id="53251" name="Line 3">
            <a:extLst>
              <a:ext uri="{FF2B5EF4-FFF2-40B4-BE49-F238E27FC236}">
                <a16:creationId xmlns:a16="http://schemas.microsoft.com/office/drawing/2014/main" id="{4343D75D-9143-EFB1-83A6-70714477B304}"/>
              </a:ext>
            </a:extLst>
          </p:cNvPr>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3252" name="Text Box 7">
            <a:extLst>
              <a:ext uri="{FF2B5EF4-FFF2-40B4-BE49-F238E27FC236}">
                <a16:creationId xmlns:a16="http://schemas.microsoft.com/office/drawing/2014/main" id="{4466DDB2-9A2F-DE42-924B-468E3E1EB2CB}"/>
              </a:ext>
            </a:extLst>
          </p:cNvPr>
          <p:cNvSpPr txBox="1">
            <a:spLocks noChangeArrowheads="1"/>
          </p:cNvSpPr>
          <p:nvPr/>
        </p:nvSpPr>
        <p:spPr bwMode="auto">
          <a:xfrm>
            <a:off x="2667000" y="24384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eaLnBrk="1" hangingPunct="1">
              <a:spcBef>
                <a:spcPct val="50000"/>
              </a:spcBef>
              <a:buClrTx/>
              <a:buFontTx/>
              <a:buNone/>
            </a:pPr>
            <a:r>
              <a:rPr lang="en-US" altLang="en-US" sz="2400">
                <a:solidFill>
                  <a:schemeClr val="tx1"/>
                </a:solidFill>
                <a:latin typeface="Times New Roman" panose="02020603050405020304" pitchFamily="18" charset="0"/>
              </a:rPr>
              <a:t> </a:t>
            </a:r>
          </a:p>
        </p:txBody>
      </p:sp>
      <p:sp>
        <p:nvSpPr>
          <p:cNvPr id="53253" name="Text Box 11">
            <a:extLst>
              <a:ext uri="{FF2B5EF4-FFF2-40B4-BE49-F238E27FC236}">
                <a16:creationId xmlns:a16="http://schemas.microsoft.com/office/drawing/2014/main" id="{EEF47156-1198-263D-C2B0-017B2BC34FF6}"/>
              </a:ext>
            </a:extLst>
          </p:cNvPr>
          <p:cNvSpPr txBox="1">
            <a:spLocks noChangeArrowheads="1"/>
          </p:cNvSpPr>
          <p:nvPr/>
        </p:nvSpPr>
        <p:spPr bwMode="auto">
          <a:xfrm>
            <a:off x="1676400" y="1331913"/>
            <a:ext cx="571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algn="ctr" eaLnBrk="1" hangingPunct="1">
              <a:spcBef>
                <a:spcPct val="50000"/>
              </a:spcBef>
              <a:buClrTx/>
              <a:buFontTx/>
              <a:buNone/>
            </a:pPr>
            <a:r>
              <a:rPr lang="en-US" altLang="en-US" sz="2800">
                <a:solidFill>
                  <a:schemeClr val="tx1"/>
                </a:solidFill>
                <a:latin typeface="Times New Roman" panose="02020603050405020304" pitchFamily="18" charset="0"/>
              </a:rPr>
              <a:t>eBay Case</a:t>
            </a:r>
          </a:p>
        </p:txBody>
      </p:sp>
      <p:sp>
        <p:nvSpPr>
          <p:cNvPr id="53254" name="Text Box 15">
            <a:extLst>
              <a:ext uri="{FF2B5EF4-FFF2-40B4-BE49-F238E27FC236}">
                <a16:creationId xmlns:a16="http://schemas.microsoft.com/office/drawing/2014/main" id="{6CCE77AA-9A47-129B-A315-C2069C831A91}"/>
              </a:ext>
            </a:extLst>
          </p:cNvPr>
          <p:cNvSpPr txBox="1">
            <a:spLocks noChangeArrowheads="1"/>
          </p:cNvSpPr>
          <p:nvPr/>
        </p:nvSpPr>
        <p:spPr bwMode="auto">
          <a:xfrm>
            <a:off x="5334000" y="2362201"/>
            <a:ext cx="472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eaLnBrk="1" hangingPunct="1">
              <a:spcBef>
                <a:spcPct val="50000"/>
              </a:spcBef>
              <a:buClrTx/>
              <a:buFontTx/>
              <a:buNone/>
            </a:pPr>
            <a:endParaRPr lang="en-US" altLang="en-US" sz="2800">
              <a:solidFill>
                <a:schemeClr val="tx1"/>
              </a:solidFill>
              <a:latin typeface="Times New Roman" panose="02020603050405020304" pitchFamily="18" charset="0"/>
            </a:endParaRPr>
          </a:p>
        </p:txBody>
      </p:sp>
      <p:sp>
        <p:nvSpPr>
          <p:cNvPr id="53255" name="Text Box 16">
            <a:extLst>
              <a:ext uri="{FF2B5EF4-FFF2-40B4-BE49-F238E27FC236}">
                <a16:creationId xmlns:a16="http://schemas.microsoft.com/office/drawing/2014/main" id="{F4BF49D6-85E3-4053-D958-97A877C0B468}"/>
              </a:ext>
            </a:extLst>
          </p:cNvPr>
          <p:cNvSpPr txBox="1">
            <a:spLocks noChangeArrowheads="1"/>
          </p:cNvSpPr>
          <p:nvPr/>
        </p:nvSpPr>
        <p:spPr bwMode="auto">
          <a:xfrm>
            <a:off x="1523999" y="2133601"/>
            <a:ext cx="9143999"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eaLnBrk="1" hangingPunct="1">
              <a:spcBef>
                <a:spcPct val="50000"/>
              </a:spcBef>
              <a:buClrTx/>
              <a:buFontTx/>
              <a:buNone/>
            </a:pPr>
            <a:r>
              <a:rPr lang="en-US" altLang="en-US" sz="2800" dirty="0">
                <a:solidFill>
                  <a:schemeClr val="tx1"/>
                </a:solidFill>
                <a:latin typeface="Times New Roman" panose="02020603050405020304" pitchFamily="18" charset="0"/>
              </a:rPr>
              <a:t>Pierre Omidyar, the founder of eBay, exemplified all these qualities. </a:t>
            </a:r>
            <a:r>
              <a:rPr lang="en-US" altLang="en-US" sz="2800" dirty="0" err="1">
                <a:solidFill>
                  <a:schemeClr val="tx1"/>
                </a:solidFill>
                <a:latin typeface="Times New Roman" panose="02020603050405020304" pitchFamily="18" charset="0"/>
              </a:rPr>
              <a:t>Omidayar</a:t>
            </a:r>
            <a:r>
              <a:rPr lang="en-US" altLang="en-US" sz="2800" dirty="0">
                <a:solidFill>
                  <a:schemeClr val="tx1"/>
                </a:solidFill>
                <a:latin typeface="Times New Roman" panose="02020603050405020304" pitchFamily="18" charset="0"/>
              </a:rPr>
              <a:t> saw an </a:t>
            </a:r>
            <a:r>
              <a:rPr lang="en-US" altLang="en-US" sz="2800" u="sng" dirty="0">
                <a:solidFill>
                  <a:schemeClr val="tx1"/>
                </a:solidFill>
                <a:latin typeface="Times New Roman" panose="02020603050405020304" pitchFamily="18" charset="0"/>
              </a:rPr>
              <a:t>opportunity</a:t>
            </a:r>
            <a:r>
              <a:rPr lang="en-US" altLang="en-US" sz="2800" dirty="0">
                <a:solidFill>
                  <a:schemeClr val="tx1"/>
                </a:solidFill>
                <a:latin typeface="Times New Roman" panose="02020603050405020304" pitchFamily="18" charset="0"/>
              </a:rPr>
              <a:t> to create a marketplace where people could find each other online. He </a:t>
            </a:r>
            <a:r>
              <a:rPr lang="en-US" altLang="en-US" sz="2800" u="sng" dirty="0">
                <a:solidFill>
                  <a:schemeClr val="tx1"/>
                </a:solidFill>
                <a:latin typeface="Times New Roman" panose="02020603050405020304" pitchFamily="18" charset="0"/>
              </a:rPr>
              <a:t>risked</a:t>
            </a:r>
            <a:r>
              <a:rPr lang="en-US" altLang="en-US" sz="2800" dirty="0">
                <a:solidFill>
                  <a:schemeClr val="tx1"/>
                </a:solidFill>
                <a:latin typeface="Times New Roman" panose="02020603050405020304" pitchFamily="18" charset="0"/>
              </a:rPr>
              <a:t> his career by quitting his job to work on eBay full-time. He </a:t>
            </a:r>
            <a:r>
              <a:rPr lang="en-US" altLang="en-US" sz="2800" u="sng" dirty="0">
                <a:solidFill>
                  <a:schemeClr val="tx1"/>
                </a:solidFill>
                <a:latin typeface="Times New Roman" panose="02020603050405020304" pitchFamily="18" charset="0"/>
              </a:rPr>
              <a:t>worked hard</a:t>
            </a:r>
            <a:r>
              <a:rPr lang="en-US" altLang="en-US" sz="2800" dirty="0">
                <a:solidFill>
                  <a:schemeClr val="tx1"/>
                </a:solidFill>
                <a:latin typeface="Times New Roman" panose="02020603050405020304" pitchFamily="18" charset="0"/>
              </a:rPr>
              <a:t> to build a profitable company that delivers customers a creative and useful service.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descr="Slideheader01">
            <a:extLst>
              <a:ext uri="{FF2B5EF4-FFF2-40B4-BE49-F238E27FC236}">
                <a16:creationId xmlns:a16="http://schemas.microsoft.com/office/drawing/2014/main" id="{B2D6353B-CB78-72F4-6EDA-78E190FEC240}"/>
              </a:ext>
            </a:extLst>
          </p:cNvPr>
          <p:cNvSpPr>
            <a:spLocks noGrp="1" noChangeArrowheads="1"/>
          </p:cNvSpPr>
          <p:nvPr>
            <p:ph type="title"/>
          </p:nvPr>
        </p:nvSpPr>
        <p:spPr>
          <a:xfrm>
            <a:off x="936703" y="533400"/>
            <a:ext cx="10188497" cy="1485900"/>
          </a:xfrm>
        </p:spPr>
        <p:txBody>
          <a:bodyPr/>
          <a:lstStyle/>
          <a:p>
            <a:pPr eaLnBrk="1" hangingPunct="1"/>
            <a:r>
              <a:rPr lang="en-US" altLang="en-US" sz="4000" dirty="0">
                <a:latin typeface="Times New Roman" panose="02020603050405020304" pitchFamily="18" charset="0"/>
                <a:cs typeface="Times New Roman" panose="02020603050405020304" pitchFamily="18" charset="0"/>
              </a:rPr>
              <a:t>Entrepreneurs: Challenging the Unknown</a:t>
            </a:r>
          </a:p>
        </p:txBody>
      </p:sp>
      <p:sp>
        <p:nvSpPr>
          <p:cNvPr id="54274" name="Rectangle 3">
            <a:extLst>
              <a:ext uri="{FF2B5EF4-FFF2-40B4-BE49-F238E27FC236}">
                <a16:creationId xmlns:a16="http://schemas.microsoft.com/office/drawing/2014/main" id="{EE9E2CF8-2A05-975A-C7BF-74F1F0AD687A}"/>
              </a:ext>
            </a:extLst>
          </p:cNvPr>
          <p:cNvSpPr>
            <a:spLocks noGrp="1" noChangeArrowheads="1"/>
          </p:cNvSpPr>
          <p:nvPr>
            <p:ph idx="1"/>
          </p:nvPr>
        </p:nvSpPr>
        <p:spPr>
          <a:xfrm>
            <a:off x="936703" y="1905000"/>
            <a:ext cx="9588424" cy="4572000"/>
          </a:xfrm>
        </p:spPr>
        <p:txBody>
          <a:bodyPr/>
          <a:lstStyle/>
          <a:p>
            <a:pPr eaLnBrk="1" hangingPunct="1">
              <a:spcBef>
                <a:spcPct val="50000"/>
              </a:spcBef>
            </a:pPr>
            <a:r>
              <a:rPr lang="en-US" altLang="en-US" sz="2800" dirty="0">
                <a:latin typeface="Times New Roman" panose="02020603050405020304" pitchFamily="18" charset="0"/>
                <a:cs typeface="Times New Roman" panose="02020603050405020304" pitchFamily="18" charset="0"/>
              </a:rPr>
              <a:t>Entrepreneurs</a:t>
            </a:r>
          </a:p>
          <a:p>
            <a:pPr lvl="1" eaLnBrk="1" hangingPunct="1">
              <a:spcBef>
                <a:spcPct val="50000"/>
              </a:spcBef>
            </a:pPr>
            <a:r>
              <a:rPr lang="en-US" altLang="en-US" sz="2800" dirty="0">
                <a:latin typeface="Times New Roman" panose="02020603050405020304" pitchFamily="18" charset="0"/>
                <a:cs typeface="Times New Roman" panose="02020603050405020304" pitchFamily="18" charset="0"/>
              </a:rPr>
              <a:t>Recognize opportunities where others see confusion or contradictions</a:t>
            </a:r>
          </a:p>
          <a:p>
            <a:pPr lvl="1" eaLnBrk="1" hangingPunct="1">
              <a:spcBef>
                <a:spcPct val="50000"/>
              </a:spcBef>
            </a:pPr>
            <a:r>
              <a:rPr lang="en-US" altLang="en-US" sz="2800" dirty="0">
                <a:latin typeface="Times New Roman" panose="02020603050405020304" pitchFamily="18" charset="0"/>
                <a:cs typeface="Times New Roman" panose="02020603050405020304" pitchFamily="18" charset="0"/>
              </a:rPr>
              <a:t>Are aggressive catalysts for change within the marketplace</a:t>
            </a:r>
          </a:p>
          <a:p>
            <a:pPr lvl="1" eaLnBrk="1" hangingPunct="1">
              <a:spcBef>
                <a:spcPct val="50000"/>
              </a:spcBef>
            </a:pPr>
            <a:r>
              <a:rPr lang="en-US" altLang="en-US" sz="2800" dirty="0">
                <a:latin typeface="Times New Roman" panose="02020603050405020304" pitchFamily="18" charset="0"/>
                <a:cs typeface="Times New Roman" panose="02020603050405020304" pitchFamily="18" charset="0"/>
              </a:rPr>
              <a:t>Challenge the unknown and continuously create the future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descr="Slideheader01">
            <a:extLst>
              <a:ext uri="{FF2B5EF4-FFF2-40B4-BE49-F238E27FC236}">
                <a16:creationId xmlns:a16="http://schemas.microsoft.com/office/drawing/2014/main" id="{51C9A4AF-0822-654C-B3B4-773B3CC84A22}"/>
              </a:ext>
            </a:extLst>
          </p:cNvPr>
          <p:cNvSpPr>
            <a:spLocks noGrp="1" noChangeArrowheads="1"/>
          </p:cNvSpPr>
          <p:nvPr>
            <p:ph type="title" idx="4294967295"/>
          </p:nvPr>
        </p:nvSpPr>
        <p:spPr>
          <a:xfrm>
            <a:off x="1884556" y="473848"/>
            <a:ext cx="7200900" cy="907941"/>
          </a:xfrm>
        </p:spPr>
        <p:txBody>
          <a:bodyPr vert="horz" lIns="91440" tIns="137160" rIns="91440" bIns="91440" rtlCol="0" anchor="ctr">
            <a:spAutoFit/>
          </a:bodyPr>
          <a:lstStyle/>
          <a:p>
            <a:pPr marL="514350">
              <a:defRPr/>
            </a:pPr>
            <a:r>
              <a:rPr lang="en-US" dirty="0">
                <a:solidFill>
                  <a:schemeClr val="tx1">
                    <a:lumMod val="85000"/>
                    <a:lumOff val="15000"/>
                  </a:schemeClr>
                </a:solidFill>
                <a:effectLst>
                  <a:outerShdw blurRad="38100" dist="38100" dir="2700000" algn="tl">
                    <a:srgbClr val="C0C0C0"/>
                  </a:outerShdw>
                </a:effectLst>
                <a:latin typeface="Times New Roman" charset="0"/>
                <a:ea typeface="Times New Roman" charset="0"/>
                <a:cs typeface="Times New Roman" charset="0"/>
              </a:rPr>
              <a:t>Entrepreneurship: A Mindset</a:t>
            </a:r>
          </a:p>
        </p:txBody>
      </p:sp>
      <p:sp>
        <p:nvSpPr>
          <p:cNvPr id="253955" name="Rectangle 3">
            <a:extLst>
              <a:ext uri="{FF2B5EF4-FFF2-40B4-BE49-F238E27FC236}">
                <a16:creationId xmlns:a16="http://schemas.microsoft.com/office/drawing/2014/main" id="{DA71BDFA-30DD-8447-91C4-40DED42AB127}"/>
              </a:ext>
            </a:extLst>
          </p:cNvPr>
          <p:cNvSpPr>
            <a:spLocks noGrp="1" noChangeArrowheads="1"/>
          </p:cNvSpPr>
          <p:nvPr>
            <p:ph type="body" idx="4294967295"/>
          </p:nvPr>
        </p:nvSpPr>
        <p:spPr>
          <a:xfrm>
            <a:off x="903249" y="1676400"/>
            <a:ext cx="9764751" cy="3581400"/>
          </a:xfrm>
        </p:spPr>
        <p:txBody>
          <a:bodyPr rtlCol="0">
            <a:noAutofit/>
          </a:bodyPr>
          <a:lstStyle/>
          <a:p>
            <a:pPr marL="231775" indent="-231775">
              <a:spcBef>
                <a:spcPct val="5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Entrepreneurship is more than the mere creation of business: </a:t>
            </a:r>
          </a:p>
          <a:p>
            <a:pPr marL="688975" lvl="1" indent="-287338">
              <a:spcBef>
                <a:spcPct val="5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Seeking opportunities</a:t>
            </a:r>
          </a:p>
          <a:p>
            <a:pPr marL="688975" lvl="1" indent="-287338">
              <a:spcBef>
                <a:spcPct val="5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Taking risks beyond security</a:t>
            </a:r>
          </a:p>
          <a:p>
            <a:pPr marL="688975" lvl="1" indent="-287338">
              <a:spcBef>
                <a:spcPct val="5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Having the tenacity to push an idea through to reality </a:t>
            </a:r>
          </a:p>
          <a:p>
            <a:pPr marL="231775" indent="-231775">
              <a:spcBef>
                <a:spcPct val="50000"/>
              </a:spcBef>
              <a:buFont typeface="Wingdings 3" charset="2"/>
              <a:buChar char=""/>
              <a:defRPr/>
            </a:pPr>
            <a:r>
              <a:rPr lang="en-US" sz="2800" dirty="0">
                <a:solidFill>
                  <a:schemeClr val="tx1">
                    <a:lumMod val="75000"/>
                    <a:lumOff val="25000"/>
                  </a:schemeClr>
                </a:solidFill>
                <a:effectLst>
                  <a:outerShdw blurRad="38100" dist="38100" dir="2700000" algn="tl">
                    <a:srgbClr val="C0C0C0"/>
                  </a:outerShdw>
                </a:effectLst>
                <a:latin typeface="Times New Roman" charset="0"/>
                <a:ea typeface="Times New Roman" charset="0"/>
                <a:cs typeface="Times New Roman" charset="0"/>
              </a:rPr>
              <a:t>Entrepreneurship is an integrated concept that permeates an individual’s business in an innovative manner.</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descr="Slideheader01">
            <a:extLst>
              <a:ext uri="{FF2B5EF4-FFF2-40B4-BE49-F238E27FC236}">
                <a16:creationId xmlns:a16="http://schemas.microsoft.com/office/drawing/2014/main" id="{213AD90D-2F1E-67D3-AE33-F42DA2BE4F73}"/>
              </a:ext>
            </a:extLst>
          </p:cNvPr>
          <p:cNvSpPr>
            <a:spLocks noGrp="1" noChangeArrowheads="1"/>
          </p:cNvSpPr>
          <p:nvPr>
            <p:ph type="title" idx="4294967295"/>
          </p:nvPr>
        </p:nvSpPr>
        <p:spPr>
          <a:xfrm>
            <a:off x="2657979" y="206375"/>
            <a:ext cx="7697787" cy="860425"/>
          </a:xfrm>
        </p:spPr>
        <p:txBody>
          <a:bodyPr vert="horz" lIns="0" tIns="0" rIns="0" bIns="0" rtlCol="0" anchor="ctr">
            <a:spAutoFit/>
          </a:bodyPr>
          <a:lstStyle/>
          <a:p>
            <a:pPr marL="1654175" indent="-1420813">
              <a:tabLst>
                <a:tab pos="1147763" algn="ctr"/>
              </a:tabLst>
            </a:pPr>
            <a:r>
              <a:rPr lang="en-US" altLang="en-US" sz="2800" dirty="0">
                <a:latin typeface="Times New Roman" panose="02020603050405020304" pitchFamily="18" charset="0"/>
                <a:cs typeface="Times New Roman" panose="02020603050405020304" pitchFamily="18" charset="0"/>
              </a:rPr>
              <a:t>An Integrative Model of Entrepreneurial </a:t>
            </a:r>
            <a:br>
              <a:rPr lang="en-US" altLang="en-US" sz="2800" dirty="0">
                <a:latin typeface="Times New Roman" panose="02020603050405020304" pitchFamily="18" charset="0"/>
                <a:cs typeface="Times New Roman" panose="02020603050405020304" pitchFamily="18" charset="0"/>
              </a:rPr>
            </a:br>
            <a:r>
              <a:rPr lang="en-US" altLang="en-US" sz="2800" dirty="0">
                <a:latin typeface="Times New Roman" panose="02020603050405020304" pitchFamily="18" charset="0"/>
                <a:cs typeface="Times New Roman" panose="02020603050405020304" pitchFamily="18" charset="0"/>
              </a:rPr>
              <a:t>Inputs and Outcomes</a:t>
            </a:r>
            <a:r>
              <a:rPr lang="en-US" altLang="en-US" sz="2800" dirty="0">
                <a:solidFill>
                  <a:srgbClr val="008080"/>
                </a:solidFill>
                <a:latin typeface="Times New Roman" panose="02020603050405020304" pitchFamily="18" charset="0"/>
                <a:cs typeface="Times New Roman" panose="02020603050405020304" pitchFamily="18" charset="0"/>
              </a:rPr>
              <a:t> </a:t>
            </a:r>
          </a:p>
        </p:txBody>
      </p:sp>
      <p:sp>
        <p:nvSpPr>
          <p:cNvPr id="58370" name="Rectangle 4">
            <a:extLst>
              <a:ext uri="{FF2B5EF4-FFF2-40B4-BE49-F238E27FC236}">
                <a16:creationId xmlns:a16="http://schemas.microsoft.com/office/drawing/2014/main" id="{E04496E4-FFF4-D2DC-CAC1-48E5551B3707}"/>
              </a:ext>
            </a:extLst>
          </p:cNvPr>
          <p:cNvSpPr>
            <a:spLocks noChangeArrowheads="1"/>
          </p:cNvSpPr>
          <p:nvPr/>
        </p:nvSpPr>
        <p:spPr bwMode="auto">
          <a:xfrm>
            <a:off x="1981200" y="6172200"/>
            <a:ext cx="52212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itchFamily="2"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itchFamily="2"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itchFamily="2"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itchFamily="2"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itchFamily="2"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en-US" altLang="en-US" sz="900" i="1">
                <a:solidFill>
                  <a:schemeClr val="tx1"/>
                </a:solidFill>
                <a:latin typeface="Arial" panose="020B0604020202020204" pitchFamily="34" charset="0"/>
              </a:rPr>
              <a:t>Source: </a:t>
            </a:r>
            <a:r>
              <a:rPr lang="en-US" altLang="en-US" sz="900">
                <a:solidFill>
                  <a:schemeClr val="tx1"/>
                </a:solidFill>
                <a:latin typeface="Arial" panose="020B0604020202020204" pitchFamily="34" charset="0"/>
              </a:rPr>
              <a:t>Michael H. Morris, P. Lewis, and Donald L. Sexton, “Reconceptualizing Entrepreneurship: An Input-Output Perspective,” </a:t>
            </a:r>
            <a:r>
              <a:rPr lang="en-US" altLang="en-US" sz="900" i="1">
                <a:solidFill>
                  <a:schemeClr val="tx1"/>
                </a:solidFill>
                <a:latin typeface="Arial" panose="020B0604020202020204" pitchFamily="34" charset="0"/>
              </a:rPr>
              <a:t>SAM Advanced Management Journal </a:t>
            </a:r>
            <a:r>
              <a:rPr lang="en-US" altLang="en-US" sz="900">
                <a:solidFill>
                  <a:schemeClr val="tx1"/>
                </a:solidFill>
                <a:latin typeface="Arial" panose="020B0604020202020204" pitchFamily="34" charset="0"/>
              </a:rPr>
              <a:t>59, no.1 (Winter 1994): 21–31.</a:t>
            </a:r>
          </a:p>
        </p:txBody>
      </p:sp>
      <p:pic>
        <p:nvPicPr>
          <p:cNvPr id="58371" name="Picture 5" descr="0102">
            <a:extLst>
              <a:ext uri="{FF2B5EF4-FFF2-40B4-BE49-F238E27FC236}">
                <a16:creationId xmlns:a16="http://schemas.microsoft.com/office/drawing/2014/main" id="{E664FD02-67E6-9924-18EA-751B39FAB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524000"/>
            <a:ext cx="8305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Line 4">
            <a:extLst>
              <a:ext uri="{FF2B5EF4-FFF2-40B4-BE49-F238E27FC236}">
                <a16:creationId xmlns:a16="http://schemas.microsoft.com/office/drawing/2014/main" id="{B6656EBC-901C-1C8A-C8A2-9DCCB6127CDE}"/>
              </a:ext>
            </a:extLst>
          </p:cNvPr>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LK"/>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179" name="Rectangle 7178">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Rectangle 2"/>
          <p:cNvSpPr>
            <a:spLocks noGrp="1" noChangeArrowheads="1"/>
          </p:cNvSpPr>
          <p:nvPr>
            <p:ph type="title"/>
          </p:nvPr>
        </p:nvSpPr>
        <p:spPr>
          <a:xfrm>
            <a:off x="6788582" y="858983"/>
            <a:ext cx="3968783" cy="2021378"/>
          </a:xfrm>
        </p:spPr>
        <p:txBody>
          <a:bodyPr>
            <a:normAutofit/>
          </a:bodyPr>
          <a:lstStyle/>
          <a:p>
            <a:pPr>
              <a:lnSpc>
                <a:spcPct val="90000"/>
              </a:lnSpc>
            </a:pPr>
            <a:r>
              <a:rPr lang="en-US" altLang="en-US" sz="3700" dirty="0">
                <a:latin typeface="Times New Roman" panose="02020603050405020304" pitchFamily="18" charset="0"/>
              </a:rPr>
              <a:t>Difference Between an Inventor and an Entrepreneur</a:t>
            </a:r>
          </a:p>
        </p:txBody>
      </p:sp>
      <p:pic>
        <p:nvPicPr>
          <p:cNvPr id="7173" name="Picture 7172" descr="Light bulb on yellow background with sketched light beams and cord">
            <a:extLst>
              <a:ext uri="{FF2B5EF4-FFF2-40B4-BE49-F238E27FC236}">
                <a16:creationId xmlns:a16="http://schemas.microsoft.com/office/drawing/2014/main" id="{A13A8595-A8D9-BDC6-0D0C-852105F7C3A9}"/>
              </a:ext>
            </a:extLst>
          </p:cNvPr>
          <p:cNvPicPr>
            <a:picLocks noChangeAspect="1"/>
          </p:cNvPicPr>
          <p:nvPr/>
        </p:nvPicPr>
        <p:blipFill rotWithShape="1">
          <a:blip r:embed="rId3"/>
          <a:srcRect l="42832"/>
          <a:stretch/>
        </p:blipFill>
        <p:spPr>
          <a:xfrm>
            <a:off x="-1" y="-2"/>
            <a:ext cx="6374929" cy="6858002"/>
          </a:xfrm>
          <a:prstGeom prst="rect">
            <a:avLst/>
          </a:prstGeom>
        </p:spPr>
      </p:pic>
      <p:sp>
        <p:nvSpPr>
          <p:cNvPr id="7171" name="Rectangle 3"/>
          <p:cNvSpPr>
            <a:spLocks noGrp="1" noChangeArrowheads="1"/>
          </p:cNvSpPr>
          <p:nvPr>
            <p:ph idx="1"/>
          </p:nvPr>
        </p:nvSpPr>
        <p:spPr>
          <a:xfrm>
            <a:off x="6504040" y="2880360"/>
            <a:ext cx="4640270" cy="3359719"/>
          </a:xfrm>
        </p:spPr>
        <p:txBody>
          <a:bodyPr vert="horz" lIns="84992" tIns="42497" rIns="84992" bIns="42497" rtlCol="0" anchor="ctr">
            <a:noAutofit/>
          </a:bodyPr>
          <a:lstStyle/>
          <a:p>
            <a:pPr marL="457200" lvl="1"/>
            <a:r>
              <a:rPr lang="en-US" altLang="en-US" sz="2400" dirty="0">
                <a:latin typeface="Times New Roman" panose="02020603050405020304" pitchFamily="18" charset="0"/>
              </a:rPr>
              <a:t>An inventor creates something new.</a:t>
            </a:r>
          </a:p>
          <a:p>
            <a:pPr marL="457200" lvl="1"/>
            <a:r>
              <a:rPr lang="en-US" altLang="en-US" sz="2400" dirty="0">
                <a:latin typeface="Times New Roman" panose="02020603050405020304" pitchFamily="18" charset="0"/>
              </a:rPr>
              <a:t>An entrepreneur </a:t>
            </a:r>
            <a:r>
              <a:rPr lang="en-US" altLang="en-US" sz="2400" u="sng" dirty="0">
                <a:latin typeface="Times New Roman" panose="02020603050405020304" pitchFamily="18" charset="0"/>
              </a:rPr>
              <a:t>puts together all the resources </a:t>
            </a:r>
            <a:r>
              <a:rPr lang="en-US" altLang="en-US" sz="2400" dirty="0">
                <a:latin typeface="Times New Roman" panose="02020603050405020304" pitchFamily="18" charset="0"/>
              </a:rPr>
              <a:t>needed—the money, the people, the strategy, and the risk-bearing ability to </a:t>
            </a:r>
            <a:r>
              <a:rPr lang="en-US" altLang="en-US" sz="2400" b="1" dirty="0">
                <a:latin typeface="Times New Roman" panose="02020603050405020304" pitchFamily="18" charset="0"/>
              </a:rPr>
              <a:t>transform the invention into a viable business</a:t>
            </a:r>
            <a:r>
              <a:rPr lang="en-US" altLang="en-US" sz="2400" dirty="0">
                <a:latin typeface="Times New Roman" panose="02020603050405020304" pitchFamily="18" charset="0"/>
              </a:rPr>
              <a:t>.</a:t>
            </a:r>
          </a:p>
        </p:txBody>
      </p:sp>
      <p:cxnSp>
        <p:nvCxnSpPr>
          <p:cNvPr id="7181" name="Straight Connector 7180">
            <a:extLst>
              <a:ext uri="{FF2B5EF4-FFF2-40B4-BE49-F238E27FC236}">
                <a16:creationId xmlns:a16="http://schemas.microsoft.com/office/drawing/2014/main" id="{E58B1629-F209-47B0-BA59-6BD937DBB0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499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ChangeArrowheads="1"/>
          </p:cNvSpPr>
          <p:nvPr/>
        </p:nvSpPr>
        <p:spPr bwMode="auto">
          <a:xfrm>
            <a:off x="434898" y="697524"/>
            <a:ext cx="10614101" cy="1055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992" tIns="42497" rIns="84992" bIns="42497" anchor="ctr"/>
          <a:lstStyle>
            <a:lvl1pPr>
              <a:defRPr sz="2400">
                <a:solidFill>
                  <a:schemeClr val="tx1"/>
                </a:solidFill>
                <a:latin typeface="Helvetica" panose="020B0604020202020204" pitchFamily="34" charset="0"/>
              </a:defRPr>
            </a:lvl1pPr>
            <a:lvl2pPr marL="742950" indent="-285750">
              <a:defRPr sz="2400">
                <a:solidFill>
                  <a:schemeClr val="tx1"/>
                </a:solidFill>
                <a:latin typeface="Helvetica" panose="020B0604020202020204" pitchFamily="34" charset="0"/>
              </a:defRPr>
            </a:lvl2pPr>
            <a:lvl3pPr marL="1143000" indent="-228600">
              <a:defRPr sz="2400">
                <a:solidFill>
                  <a:schemeClr val="tx1"/>
                </a:solidFill>
                <a:latin typeface="Helvetica" panose="020B0604020202020204" pitchFamily="34" charset="0"/>
              </a:defRPr>
            </a:lvl3pPr>
            <a:lvl4pPr marL="1600200" indent="-228600">
              <a:defRPr sz="2400">
                <a:solidFill>
                  <a:schemeClr val="tx1"/>
                </a:solidFill>
                <a:latin typeface="Helvetica" panose="020B0604020202020204" pitchFamily="34" charset="0"/>
              </a:defRPr>
            </a:lvl4pPr>
            <a:lvl5pPr marL="2057400" indent="-228600">
              <a:defRPr sz="2400">
                <a:solidFill>
                  <a:schemeClr val="tx1"/>
                </a:solidFill>
                <a:latin typeface="Helvetica" panose="020B0604020202020204" pitchFamily="34" charset="0"/>
              </a:defRPr>
            </a:lvl5pPr>
            <a:lvl6pPr marL="2514600" indent="-228600" eaLnBrk="0" fontAlgn="base" hangingPunct="0">
              <a:spcBef>
                <a:spcPct val="0"/>
              </a:spcBef>
              <a:spcAft>
                <a:spcPct val="0"/>
              </a:spcAft>
              <a:defRPr sz="2400">
                <a:solidFill>
                  <a:schemeClr val="tx1"/>
                </a:solidFill>
                <a:latin typeface="Helvetica" panose="020B0604020202020204" pitchFamily="34" charset="0"/>
              </a:defRPr>
            </a:lvl6pPr>
            <a:lvl7pPr marL="2971800" indent="-228600" eaLnBrk="0" fontAlgn="base" hangingPunct="0">
              <a:spcBef>
                <a:spcPct val="0"/>
              </a:spcBef>
              <a:spcAft>
                <a:spcPct val="0"/>
              </a:spcAft>
              <a:defRPr sz="2400">
                <a:solidFill>
                  <a:schemeClr val="tx1"/>
                </a:solidFill>
                <a:latin typeface="Helvetica" panose="020B0604020202020204" pitchFamily="34" charset="0"/>
              </a:defRPr>
            </a:lvl7pPr>
            <a:lvl8pPr marL="3429000" indent="-228600" eaLnBrk="0" fontAlgn="base" hangingPunct="0">
              <a:spcBef>
                <a:spcPct val="0"/>
              </a:spcBef>
              <a:spcAft>
                <a:spcPct val="0"/>
              </a:spcAft>
              <a:defRPr sz="2400">
                <a:solidFill>
                  <a:schemeClr val="tx1"/>
                </a:solidFill>
                <a:latin typeface="Helvetica" panose="020B0604020202020204" pitchFamily="34" charset="0"/>
              </a:defRPr>
            </a:lvl8pPr>
            <a:lvl9pPr marL="3886200" indent="-228600" eaLnBrk="0" fontAlgn="base" hangingPunct="0">
              <a:spcBef>
                <a:spcPct val="0"/>
              </a:spcBef>
              <a:spcAft>
                <a:spcPct val="0"/>
              </a:spcAft>
              <a:defRPr sz="2400">
                <a:solidFill>
                  <a:schemeClr val="tx1"/>
                </a:solidFill>
                <a:latin typeface="Helvetica" panose="020B0604020202020204" pitchFamily="34" charset="0"/>
              </a:defRPr>
            </a:lvl9pPr>
          </a:lstStyle>
          <a:p>
            <a:pPr algn="ctr"/>
            <a:r>
              <a:rPr lang="en-US" altLang="en-US" sz="3600" dirty="0">
                <a:solidFill>
                  <a:srgbClr val="0B51A1"/>
                </a:solidFill>
              </a:rPr>
              <a:t>What is Corporate Entrepreneurship?</a:t>
            </a:r>
            <a:br>
              <a:rPr lang="en-US" altLang="en-US" sz="3600" dirty="0">
                <a:solidFill>
                  <a:srgbClr val="0B51A1"/>
                </a:solidFill>
              </a:rPr>
            </a:br>
            <a:endParaRPr lang="en-US" altLang="en-US" sz="3600" dirty="0">
              <a:solidFill>
                <a:srgbClr val="0B51A1"/>
              </a:solidFill>
            </a:endParaRPr>
          </a:p>
        </p:txBody>
      </p:sp>
      <p:sp>
        <p:nvSpPr>
          <p:cNvPr id="2" name="Slide Number Placeholder 1"/>
          <p:cNvSpPr>
            <a:spLocks noGrp="1"/>
          </p:cNvSpPr>
          <p:nvPr>
            <p:ph type="sldNum" sz="quarter" idx="12"/>
          </p:nvPr>
        </p:nvSpPr>
        <p:spPr/>
        <p:txBody>
          <a:bodyPr/>
          <a:lstStyle/>
          <a:p>
            <a:pPr>
              <a:defRPr/>
            </a:pPr>
            <a:fld id="{6BF251FD-6895-47BC-BEE3-FCD120A1B802}" type="slidenum">
              <a:rPr lang="en-US" smtClean="0"/>
              <a:pPr>
                <a:defRPr/>
              </a:pPr>
              <a:t>12</a:t>
            </a:fld>
            <a:endParaRPr lang="en-US"/>
          </a:p>
        </p:txBody>
      </p:sp>
      <p:sp>
        <p:nvSpPr>
          <p:cNvPr id="3" name="Rectangle 2"/>
          <p:cNvSpPr/>
          <p:nvPr/>
        </p:nvSpPr>
        <p:spPr>
          <a:xfrm>
            <a:off x="599606" y="1752601"/>
            <a:ext cx="10912839" cy="2456057"/>
          </a:xfrm>
          <a:prstGeom prst="rect">
            <a:avLst/>
          </a:prstGeom>
        </p:spPr>
        <p:txBody>
          <a:bodyPr wrap="square">
            <a:spAutoFit/>
          </a:bodyPr>
          <a:lstStyle/>
          <a:p>
            <a:pPr lvl="1" indent="-246888" algn="just" fontAlgn="base">
              <a:lnSpc>
                <a:spcPct val="150000"/>
              </a:lnSpc>
              <a:spcBef>
                <a:spcPct val="20000"/>
              </a:spcBef>
              <a:spcAft>
                <a:spcPct val="0"/>
              </a:spcAft>
              <a:buClr>
                <a:schemeClr val="accent1"/>
              </a:buClr>
              <a:buSzPct val="85000"/>
              <a:buFont typeface="Wingdings 2"/>
              <a:buChar char=""/>
            </a:pPr>
            <a:r>
              <a:rPr lang="en-US" altLang="en-US" sz="2400" dirty="0">
                <a:latin typeface="Times New Roman" panose="02020603050405020304" pitchFamily="18" charset="0"/>
              </a:rPr>
              <a:t>Is the conceptualization of entrepreneurship </a:t>
            </a:r>
            <a:r>
              <a:rPr lang="en-US" altLang="en-US" sz="2400" b="1" dirty="0">
                <a:latin typeface="Times New Roman" panose="02020603050405020304" pitchFamily="18" charset="0"/>
              </a:rPr>
              <a:t>at the firm level</a:t>
            </a:r>
            <a:r>
              <a:rPr lang="en-US" altLang="en-US" sz="2400" dirty="0">
                <a:latin typeface="Times New Roman" panose="02020603050405020304" pitchFamily="18" charset="0"/>
              </a:rPr>
              <a:t>.</a:t>
            </a:r>
          </a:p>
          <a:p>
            <a:pPr lvl="1" indent="-246888" algn="just" fontAlgn="base">
              <a:lnSpc>
                <a:spcPct val="150000"/>
              </a:lnSpc>
              <a:spcBef>
                <a:spcPct val="20000"/>
              </a:spcBef>
              <a:spcAft>
                <a:spcPct val="0"/>
              </a:spcAft>
              <a:buClr>
                <a:schemeClr val="accent1"/>
              </a:buClr>
              <a:buSzPct val="85000"/>
              <a:buFont typeface="Wingdings 2"/>
              <a:buChar char=""/>
            </a:pPr>
            <a:r>
              <a:rPr lang="en-US" altLang="en-US" sz="2400" dirty="0">
                <a:latin typeface="Times New Roman" panose="02020603050405020304" pitchFamily="18" charset="0"/>
              </a:rPr>
              <a:t>All firms fall along a conceptual continuum that ranges from highly conservative </a:t>
            </a:r>
            <a:r>
              <a:rPr lang="en-US" altLang="en-US" sz="2400" u="sng" dirty="0">
                <a:latin typeface="Times New Roman" panose="02020603050405020304" pitchFamily="18" charset="0"/>
              </a:rPr>
              <a:t>to highly entrepreneurial</a:t>
            </a:r>
            <a:r>
              <a:rPr lang="en-US" altLang="en-US" sz="2400" dirty="0">
                <a:latin typeface="Times New Roman" panose="02020603050405020304" pitchFamily="18" charset="0"/>
              </a:rPr>
              <a:t>.</a:t>
            </a:r>
          </a:p>
          <a:p>
            <a:pPr lvl="1" indent="-246888" algn="just" fontAlgn="base">
              <a:lnSpc>
                <a:spcPct val="150000"/>
              </a:lnSpc>
              <a:spcBef>
                <a:spcPct val="20000"/>
              </a:spcBef>
              <a:spcAft>
                <a:spcPct val="0"/>
              </a:spcAft>
              <a:buClr>
                <a:schemeClr val="accent1"/>
              </a:buClr>
              <a:buSzPct val="85000"/>
              <a:buFont typeface="Wingdings 2"/>
              <a:buChar char=""/>
            </a:pPr>
            <a:endParaRPr lang="en-US" altLang="en-US" sz="2400" dirty="0">
              <a:latin typeface="Times New Roman" panose="02020603050405020304" pitchFamily="18" charset="0"/>
            </a:endParaRPr>
          </a:p>
        </p:txBody>
      </p:sp>
      <p:sp>
        <p:nvSpPr>
          <p:cNvPr id="5" name="Text Box 5"/>
          <p:cNvSpPr txBox="1">
            <a:spLocks noChangeArrowheads="1"/>
          </p:cNvSpPr>
          <p:nvPr/>
        </p:nvSpPr>
        <p:spPr bwMode="auto">
          <a:xfrm>
            <a:off x="2057400" y="3777468"/>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Entrepreneurial Firms</a:t>
            </a:r>
          </a:p>
        </p:txBody>
      </p:sp>
      <p:sp>
        <p:nvSpPr>
          <p:cNvPr id="6" name="Text Box 6"/>
          <p:cNvSpPr txBox="1">
            <a:spLocks noChangeArrowheads="1"/>
          </p:cNvSpPr>
          <p:nvPr/>
        </p:nvSpPr>
        <p:spPr bwMode="auto">
          <a:xfrm>
            <a:off x="6419849" y="3689545"/>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Conservative Firms</a:t>
            </a:r>
          </a:p>
        </p:txBody>
      </p:sp>
      <p:sp>
        <p:nvSpPr>
          <p:cNvPr id="7" name="Text Box 9"/>
          <p:cNvSpPr txBox="1">
            <a:spLocks noChangeArrowheads="1"/>
          </p:cNvSpPr>
          <p:nvPr/>
        </p:nvSpPr>
        <p:spPr bwMode="auto">
          <a:xfrm>
            <a:off x="2438399" y="4436915"/>
            <a:ext cx="3733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pPr>
            <a:r>
              <a:rPr lang="en-US" altLang="en-US" sz="2400" dirty="0">
                <a:latin typeface="Times New Roman" panose="02020603050405020304" pitchFamily="18" charset="0"/>
              </a:rPr>
              <a:t> Proactive</a:t>
            </a:r>
          </a:p>
          <a:p>
            <a:pPr eaLnBrk="1" hangingPunct="1">
              <a:spcBef>
                <a:spcPct val="50000"/>
              </a:spcBef>
            </a:pPr>
            <a:r>
              <a:rPr lang="en-US" altLang="en-US" sz="2400" dirty="0">
                <a:latin typeface="Times New Roman" panose="02020603050405020304" pitchFamily="18" charset="0"/>
              </a:rPr>
              <a:t> Innovative</a:t>
            </a:r>
          </a:p>
          <a:p>
            <a:pPr eaLnBrk="1" hangingPunct="1">
              <a:spcBef>
                <a:spcPct val="50000"/>
              </a:spcBef>
            </a:pPr>
            <a:r>
              <a:rPr lang="en-US" altLang="en-US" sz="2400" dirty="0">
                <a:latin typeface="Times New Roman" panose="02020603050405020304" pitchFamily="18" charset="0"/>
              </a:rPr>
              <a:t> Risk taking</a:t>
            </a:r>
          </a:p>
        </p:txBody>
      </p:sp>
      <p:sp>
        <p:nvSpPr>
          <p:cNvPr id="8" name="Text Box 10"/>
          <p:cNvSpPr txBox="1">
            <a:spLocks noChangeArrowheads="1"/>
          </p:cNvSpPr>
          <p:nvPr/>
        </p:nvSpPr>
        <p:spPr bwMode="auto">
          <a:xfrm>
            <a:off x="6667500" y="4436915"/>
            <a:ext cx="39624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50000"/>
              </a:lnSpc>
              <a:spcBef>
                <a:spcPct val="50000"/>
              </a:spcBef>
            </a:pPr>
            <a:r>
              <a:rPr lang="en-US" altLang="en-US" sz="2400" dirty="0">
                <a:latin typeface="Times New Roman" panose="02020603050405020304" pitchFamily="18" charset="0"/>
              </a:rPr>
              <a:t> Take a more “wait and see”       </a:t>
            </a:r>
          </a:p>
          <a:p>
            <a:pPr eaLnBrk="1" hangingPunct="1">
              <a:lnSpc>
                <a:spcPct val="50000"/>
              </a:lnSpc>
              <a:spcBef>
                <a:spcPct val="50000"/>
              </a:spcBef>
              <a:buFontTx/>
              <a:buNone/>
            </a:pPr>
            <a:r>
              <a:rPr lang="en-US" altLang="en-US" sz="2400" dirty="0">
                <a:latin typeface="Times New Roman" panose="02020603050405020304" pitchFamily="18" charset="0"/>
              </a:rPr>
              <a:t>   posture </a:t>
            </a:r>
          </a:p>
          <a:p>
            <a:pPr eaLnBrk="1" hangingPunct="1">
              <a:spcBef>
                <a:spcPct val="50000"/>
              </a:spcBef>
            </a:pPr>
            <a:r>
              <a:rPr lang="en-US" altLang="en-US" sz="2400" dirty="0">
                <a:latin typeface="Times New Roman" panose="02020603050405020304" pitchFamily="18" charset="0"/>
              </a:rPr>
              <a:t> Less innovative</a:t>
            </a:r>
          </a:p>
          <a:p>
            <a:pPr eaLnBrk="1" hangingPunct="1">
              <a:spcBef>
                <a:spcPct val="50000"/>
              </a:spcBef>
            </a:pPr>
            <a:r>
              <a:rPr lang="en-US" altLang="en-US" sz="2400" dirty="0">
                <a:latin typeface="Times New Roman" panose="02020603050405020304" pitchFamily="18" charset="0"/>
              </a:rPr>
              <a:t> Risk adverse</a:t>
            </a:r>
          </a:p>
        </p:txBody>
      </p:sp>
    </p:spTree>
    <p:extLst>
      <p:ext uri="{BB962C8B-B14F-4D97-AF65-F5344CB8AC3E}">
        <p14:creationId xmlns:p14="http://schemas.microsoft.com/office/powerpoint/2010/main" val="278812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12" name="Slide Background">
            <a:extLst>
              <a:ext uri="{FF2B5EF4-FFF2-40B4-BE49-F238E27FC236}">
                <a16:creationId xmlns:a16="http://schemas.microsoft.com/office/drawing/2014/main" id="{9165109B-7036-4613-93D4-579E77F6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Rectangle 2"/>
          <p:cNvSpPr>
            <a:spLocks noGrp="1" noChangeArrowheads="1"/>
          </p:cNvSpPr>
          <p:nvPr>
            <p:ph type="title"/>
          </p:nvPr>
        </p:nvSpPr>
        <p:spPr>
          <a:xfrm>
            <a:off x="761802" y="858982"/>
            <a:ext cx="3451060" cy="5152933"/>
          </a:xfrm>
        </p:spPr>
        <p:txBody>
          <a:bodyPr>
            <a:normAutofit/>
          </a:bodyPr>
          <a:lstStyle/>
          <a:p>
            <a:pPr eaLnBrk="1" hangingPunct="1"/>
            <a:r>
              <a:rPr lang="en-US" altLang="en-US">
                <a:latin typeface="Times New Roman" panose="02020603050405020304" pitchFamily="18" charset="0"/>
              </a:rPr>
              <a:t>Why Become an Entrepreneur?</a:t>
            </a:r>
          </a:p>
        </p:txBody>
      </p:sp>
      <p:sp useBgFill="1">
        <p:nvSpPr>
          <p:cNvPr id="25614" name="Rectangle 25613">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6707" y="0"/>
            <a:ext cx="7455294" cy="6858000"/>
          </a:xfrm>
          <a:prstGeom prst="rect">
            <a:avLst/>
          </a:prstGeom>
          <a:ln>
            <a:noFill/>
          </a:ln>
          <a:effectLst>
            <a:outerShdw blurRad="660400" dist="279400" dir="798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616" name="Straight Connector 25615">
            <a:extLst>
              <a:ext uri="{FF2B5EF4-FFF2-40B4-BE49-F238E27FC236}">
                <a16:creationId xmlns:a16="http://schemas.microsoft.com/office/drawing/2014/main" id="{E58B1629-F209-47B0-BA59-6BD937DBB0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668155" y="5641010"/>
            <a:ext cx="0" cy="599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AutoShape 2" descr="Image result for own bos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Image result for own idea"/>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603" name="Line 3"/>
          <p:cNvSpPr>
            <a:spLocks noChangeShapeType="1"/>
          </p:cNvSpPr>
          <p:nvPr/>
        </p:nvSpPr>
        <p:spPr bwMode="auto">
          <a:xfrm>
            <a:off x="5088860" y="1553604"/>
            <a:ext cx="605545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4" name="Text Box 4"/>
          <p:cNvSpPr txBox="1">
            <a:spLocks noChangeArrowheads="1"/>
          </p:cNvSpPr>
          <p:nvPr/>
        </p:nvSpPr>
        <p:spPr bwMode="auto">
          <a:xfrm>
            <a:off x="5396220" y="1639409"/>
            <a:ext cx="4894822" cy="106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301752">
              <a:spcBef>
                <a:spcPct val="50000"/>
              </a:spcBef>
              <a:buNone/>
            </a:pPr>
            <a:r>
              <a:rPr lang="en-US" altLang="en-US" sz="2112" kern="1200">
                <a:solidFill>
                  <a:schemeClr val="tx1"/>
                </a:solidFill>
                <a:latin typeface="Times New Roman" panose="02020603050405020304" pitchFamily="18" charset="0"/>
                <a:ea typeface="+mn-ea"/>
                <a:cs typeface="+mn-cs"/>
              </a:rPr>
              <a:t>The three primary reasons that people become entrepreneurs and start their own firms</a:t>
            </a:r>
            <a:endParaRPr lang="en-US" altLang="en-US">
              <a:latin typeface="Times New Roman" panose="02020603050405020304" pitchFamily="18" charset="0"/>
            </a:endParaRPr>
          </a:p>
        </p:txBody>
      </p:sp>
      <p:sp>
        <p:nvSpPr>
          <p:cNvPr id="25605" name="Rectangle 7"/>
          <p:cNvSpPr>
            <a:spLocks noChangeArrowheads="1"/>
          </p:cNvSpPr>
          <p:nvPr/>
        </p:nvSpPr>
        <p:spPr bwMode="auto">
          <a:xfrm>
            <a:off x="8318433" y="2711520"/>
            <a:ext cx="2371718" cy="504621"/>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301752">
              <a:spcBef>
                <a:spcPct val="0"/>
              </a:spcBef>
              <a:spcAft>
                <a:spcPts val="600"/>
              </a:spcAft>
              <a:buNone/>
            </a:pPr>
            <a:r>
              <a:rPr lang="en-US" altLang="en-US" sz="1584" kern="1200">
                <a:solidFill>
                  <a:schemeClr val="tx1"/>
                </a:solidFill>
                <a:latin typeface="Times New Roman" panose="02020603050405020304" pitchFamily="18" charset="0"/>
                <a:ea typeface="+mn-ea"/>
                <a:cs typeface="+mn-cs"/>
              </a:rPr>
              <a:t>Desire to be their own boss</a:t>
            </a:r>
            <a:endParaRPr lang="en-US" altLang="en-US" sz="2400">
              <a:latin typeface="Times New Roman" panose="02020603050405020304" pitchFamily="18" charset="0"/>
            </a:endParaRPr>
          </a:p>
        </p:txBody>
      </p:sp>
      <p:sp>
        <p:nvSpPr>
          <p:cNvPr id="25606" name="Rectangle 12"/>
          <p:cNvSpPr>
            <a:spLocks noChangeArrowheads="1"/>
          </p:cNvSpPr>
          <p:nvPr/>
        </p:nvSpPr>
        <p:spPr bwMode="auto">
          <a:xfrm>
            <a:off x="7460578" y="4364362"/>
            <a:ext cx="2371718" cy="504621"/>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301752">
              <a:spcBef>
                <a:spcPct val="0"/>
              </a:spcBef>
              <a:spcAft>
                <a:spcPts val="600"/>
              </a:spcAft>
              <a:buNone/>
            </a:pPr>
            <a:r>
              <a:rPr lang="en-US" altLang="en-US" sz="1584" kern="1200">
                <a:solidFill>
                  <a:schemeClr val="tx1"/>
                </a:solidFill>
                <a:latin typeface="Times New Roman" panose="02020603050405020304" pitchFamily="18" charset="0"/>
                <a:ea typeface="+mn-ea"/>
                <a:cs typeface="+mn-cs"/>
              </a:rPr>
              <a:t>Financial rewards</a:t>
            </a:r>
            <a:endParaRPr lang="en-US" altLang="en-US" sz="2400">
              <a:latin typeface="Times New Roman" panose="02020603050405020304" pitchFamily="18" charset="0"/>
            </a:endParaRPr>
          </a:p>
        </p:txBody>
      </p:sp>
      <p:sp>
        <p:nvSpPr>
          <p:cNvPr id="25607" name="Rectangle 13"/>
          <p:cNvSpPr>
            <a:spLocks noChangeArrowheads="1"/>
          </p:cNvSpPr>
          <p:nvPr/>
        </p:nvSpPr>
        <p:spPr bwMode="auto">
          <a:xfrm>
            <a:off x="5196474" y="2986768"/>
            <a:ext cx="2371718" cy="504621"/>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301752">
              <a:spcBef>
                <a:spcPct val="0"/>
              </a:spcBef>
              <a:spcAft>
                <a:spcPts val="600"/>
              </a:spcAft>
              <a:buNone/>
            </a:pPr>
            <a:r>
              <a:rPr lang="en-US" altLang="en-US" sz="1584" kern="1200">
                <a:solidFill>
                  <a:schemeClr val="tx1"/>
                </a:solidFill>
                <a:latin typeface="Times New Roman" panose="02020603050405020304" pitchFamily="18" charset="0"/>
                <a:ea typeface="+mn-ea"/>
                <a:cs typeface="+mn-cs"/>
              </a:rPr>
              <a:t>Desire to pursue their</a:t>
            </a:r>
          </a:p>
          <a:p>
            <a:pPr algn="ctr" defTabSz="301752">
              <a:spcBef>
                <a:spcPct val="0"/>
              </a:spcBef>
              <a:spcAft>
                <a:spcPts val="600"/>
              </a:spcAft>
              <a:buNone/>
            </a:pPr>
            <a:r>
              <a:rPr lang="en-US" altLang="en-US" sz="1584" kern="1200">
                <a:solidFill>
                  <a:schemeClr val="tx1"/>
                </a:solidFill>
                <a:latin typeface="Times New Roman" panose="02020603050405020304" pitchFamily="18" charset="0"/>
                <a:ea typeface="+mn-ea"/>
                <a:cs typeface="+mn-cs"/>
              </a:rPr>
              <a:t>own ideas</a:t>
            </a:r>
            <a:endParaRPr lang="en-US" altLang="en-US" sz="2400">
              <a:latin typeface="Times New Roman" panose="02020603050405020304" pitchFamily="18" charset="0"/>
            </a:endParaRPr>
          </a:p>
        </p:txBody>
      </p:sp>
      <p:pic>
        <p:nvPicPr>
          <p:cNvPr id="3" name="Picture 2" descr="A person opening his shirt&#10;&#10;Description automatically generated"/>
          <p:cNvPicPr>
            <a:picLocks noChangeAspect="1"/>
          </p:cNvPicPr>
          <p:nvPr/>
        </p:nvPicPr>
        <p:blipFill>
          <a:blip r:embed="rId2"/>
          <a:stretch>
            <a:fillRect/>
          </a:stretch>
        </p:blipFill>
        <p:spPr>
          <a:xfrm>
            <a:off x="8318433" y="3216142"/>
            <a:ext cx="2371718" cy="934112"/>
          </a:xfrm>
          <a:prstGeom prst="rect">
            <a:avLst/>
          </a:prstGeom>
        </p:spPr>
      </p:pic>
      <p:pic>
        <p:nvPicPr>
          <p:cNvPr id="5" name="Picture 4" descr="A person looking up at a light bulb above his head&#10;&#10;Description automatically generated"/>
          <p:cNvPicPr>
            <a:picLocks noChangeAspect="1"/>
          </p:cNvPicPr>
          <p:nvPr/>
        </p:nvPicPr>
        <p:blipFill>
          <a:blip r:embed="rId3"/>
          <a:stretch>
            <a:fillRect/>
          </a:stretch>
        </p:blipFill>
        <p:spPr>
          <a:xfrm>
            <a:off x="5643943" y="3654089"/>
            <a:ext cx="1223706" cy="1633710"/>
          </a:xfrm>
          <a:prstGeom prst="rect">
            <a:avLst/>
          </a:prstGeom>
        </p:spPr>
      </p:pic>
    </p:spTree>
    <p:extLst>
      <p:ext uri="{BB962C8B-B14F-4D97-AF65-F5344CB8AC3E}">
        <p14:creationId xmlns:p14="http://schemas.microsoft.com/office/powerpoint/2010/main" val="3271319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58291" y="422847"/>
            <a:ext cx="8229600" cy="1143000"/>
          </a:xfrm>
        </p:spPr>
        <p:txBody>
          <a:bodyPr>
            <a:normAutofit fontScale="90000"/>
          </a:bodyPr>
          <a:lstStyle/>
          <a:p>
            <a:pPr eaLnBrk="1" hangingPunct="1"/>
            <a:r>
              <a:rPr lang="en-US" altLang="en-US" sz="3600" dirty="0">
                <a:latin typeface="Times New Roman" panose="02020603050405020304" pitchFamily="18" charset="0"/>
              </a:rPr>
              <a:t>Characteristics of Successful Entrepreneurs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26628"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6630" name="Rectangle 3">
            <a:extLst>
              <a:ext uri="{FF2B5EF4-FFF2-40B4-BE49-F238E27FC236}">
                <a16:creationId xmlns:a16="http://schemas.microsoft.com/office/drawing/2014/main" id="{E5B5C94B-8DAC-2DCF-EBA4-F2234BE5A8BD}"/>
              </a:ext>
            </a:extLst>
          </p:cNvPr>
          <p:cNvGraphicFramePr/>
          <p:nvPr/>
        </p:nvGraphicFramePr>
        <p:xfrm>
          <a:off x="374753" y="1219200"/>
          <a:ext cx="11587397"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2602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81200" y="152400"/>
            <a:ext cx="8229600" cy="1143000"/>
          </a:xfrm>
        </p:spPr>
        <p:txBody>
          <a:bodyPr/>
          <a:lstStyle/>
          <a:p>
            <a:pPr eaLnBrk="1" hangingPunct="1"/>
            <a:r>
              <a:rPr lang="en-US" altLang="en-US" sz="3600" dirty="0">
                <a:latin typeface="Times New Roman" panose="02020603050405020304" pitchFamily="18" charset="0"/>
              </a:rPr>
              <a:t>Characteristics of Successful Entrepreneurs</a:t>
            </a:r>
          </a:p>
        </p:txBody>
      </p:sp>
      <p:sp>
        <p:nvSpPr>
          <p:cNvPr id="27652"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7654" name="Rectangle 3">
            <a:extLst>
              <a:ext uri="{FF2B5EF4-FFF2-40B4-BE49-F238E27FC236}">
                <a16:creationId xmlns:a16="http://schemas.microsoft.com/office/drawing/2014/main" id="{BF69AACC-6ECF-FD49-1F71-D1D5494041FF}"/>
              </a:ext>
            </a:extLst>
          </p:cNvPr>
          <p:cNvGraphicFramePr/>
          <p:nvPr>
            <p:extLst>
              <p:ext uri="{D42A27DB-BD31-4B8C-83A1-F6EECF244321}">
                <p14:modId xmlns:p14="http://schemas.microsoft.com/office/powerpoint/2010/main" val="1891236099"/>
              </p:ext>
            </p:extLst>
          </p:nvPr>
        </p:nvGraphicFramePr>
        <p:xfrm>
          <a:off x="389744" y="1447800"/>
          <a:ext cx="11332564"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735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434341"/>
            <a:ext cx="8229600" cy="1143000"/>
          </a:xfrm>
        </p:spPr>
        <p:txBody>
          <a:bodyPr>
            <a:normAutofit fontScale="90000"/>
          </a:bodyPr>
          <a:lstStyle/>
          <a:p>
            <a:pPr algn="ctr" eaLnBrk="1" hangingPunct="1"/>
            <a:r>
              <a:rPr lang="en-US" altLang="en-US" sz="3600">
                <a:latin typeface="Times New Roman" panose="02020603050405020304" pitchFamily="18" charset="0"/>
              </a:rPr>
              <a:t>Common Myths About Entrepreneurs</a:t>
            </a:r>
            <a:br>
              <a:rPr lang="en-US" altLang="en-US" sz="3600">
                <a:latin typeface="Times New Roman" panose="02020603050405020304" pitchFamily="18" charset="0"/>
              </a:rPr>
            </a:br>
            <a:endParaRPr lang="en-US" altLang="en-US" sz="3600" dirty="0">
              <a:latin typeface="Times New Roman" panose="02020603050405020304" pitchFamily="18" charset="0"/>
            </a:endParaRPr>
          </a:p>
        </p:txBody>
      </p:sp>
      <p:sp>
        <p:nvSpPr>
          <p:cNvPr id="28675" name="Rectangle 3"/>
          <p:cNvSpPr>
            <a:spLocks noGrp="1" noChangeArrowheads="1"/>
          </p:cNvSpPr>
          <p:nvPr>
            <p:ph type="body" idx="1"/>
          </p:nvPr>
        </p:nvSpPr>
        <p:spPr>
          <a:xfrm>
            <a:off x="354767" y="1577341"/>
            <a:ext cx="11482466" cy="6442318"/>
          </a:xfrm>
        </p:spPr>
        <p:txBody>
          <a:bodyPr>
            <a:normAutofit/>
          </a:bodyPr>
          <a:lstStyle/>
          <a:p>
            <a:pPr eaLnBrk="1" hangingPunct="1"/>
            <a:r>
              <a:rPr lang="en-US" altLang="en-US" sz="2800" dirty="0">
                <a:solidFill>
                  <a:srgbClr val="FF0000"/>
                </a:solidFill>
                <a:latin typeface="Times New Roman" panose="02020603050405020304" pitchFamily="18" charset="0"/>
              </a:rPr>
              <a:t>Myth 1: Entrepreneurs Are Born Not Made  </a:t>
            </a:r>
          </a:p>
          <a:p>
            <a:pPr eaLnBrk="1" hangingPunct="1"/>
            <a:endParaRPr lang="en-US" altLang="en-US" sz="2800" dirty="0">
              <a:latin typeface="Times New Roman" panose="02020603050405020304" pitchFamily="18" charset="0"/>
            </a:endParaRPr>
          </a:p>
          <a:p>
            <a:pPr lvl="1" eaLnBrk="1" hangingPunct="1"/>
            <a:r>
              <a:rPr lang="en-US" altLang="en-US" sz="2400" dirty="0">
                <a:latin typeface="Times New Roman" panose="02020603050405020304" pitchFamily="18" charset="0"/>
              </a:rPr>
              <a:t>This myth is based on the mistaken belief that some people are genetically predisposed to be entrepreneurs.</a:t>
            </a:r>
          </a:p>
          <a:p>
            <a:pPr lvl="1" eaLnBrk="1" hangingPunct="1"/>
            <a:r>
              <a:rPr lang="en-US" altLang="en-US" sz="2400" dirty="0">
                <a:latin typeface="Times New Roman" panose="02020603050405020304" pitchFamily="18" charset="0"/>
              </a:rPr>
              <a:t>The consensus of many studies is that no one is “born” to be an entrepreneur; </a:t>
            </a:r>
            <a:r>
              <a:rPr lang="en-US" altLang="en-US" sz="2400" u="sng" dirty="0">
                <a:solidFill>
                  <a:srgbClr val="FF0000"/>
                </a:solidFill>
                <a:latin typeface="Times New Roman" panose="02020603050405020304" pitchFamily="18" charset="0"/>
              </a:rPr>
              <a:t>everyone has the potential to become one</a:t>
            </a:r>
            <a:r>
              <a:rPr lang="en-US" altLang="en-US" sz="2400" dirty="0">
                <a:solidFill>
                  <a:srgbClr val="FF0000"/>
                </a:solidFill>
                <a:latin typeface="Times New Roman" panose="02020603050405020304" pitchFamily="18" charset="0"/>
              </a:rPr>
              <a:t>. </a:t>
            </a:r>
            <a:endParaRPr lang="en-US" altLang="en-US" sz="2400" dirty="0">
              <a:latin typeface="Times New Roman" panose="02020603050405020304" pitchFamily="18" charset="0"/>
            </a:endParaRPr>
          </a:p>
          <a:p>
            <a:pPr lvl="1" algn="just" eaLnBrk="1" hangingPunct="1"/>
            <a:r>
              <a:rPr lang="en-US" altLang="en-US" sz="2400" dirty="0">
                <a:latin typeface="Times New Roman" panose="02020603050405020304" pitchFamily="18" charset="0"/>
              </a:rPr>
              <a:t>Whether someone </a:t>
            </a:r>
            <a:r>
              <a:rPr lang="en-US" altLang="en-US" sz="2400" b="1" dirty="0">
                <a:latin typeface="Times New Roman" panose="02020603050405020304" pitchFamily="18" charset="0"/>
              </a:rPr>
              <a:t>does or doesn’t</a:t>
            </a:r>
            <a:r>
              <a:rPr lang="en-US" altLang="en-US" sz="2400" dirty="0">
                <a:latin typeface="Times New Roman" panose="02020603050405020304" pitchFamily="18" charset="0"/>
              </a:rPr>
              <a:t> become an entrepreneur, is a function of the environment, life experiences, and personal choices.</a:t>
            </a:r>
          </a:p>
          <a:p>
            <a:pPr lvl="1" algn="just"/>
            <a:r>
              <a:rPr lang="en-US" altLang="en-US" sz="2400" dirty="0">
                <a:latin typeface="Times New Roman" panose="02020603050405020304" pitchFamily="18" charset="0"/>
              </a:rPr>
              <a:t>Although no one is “born” to be an entrepreneur, </a:t>
            </a:r>
            <a:r>
              <a:rPr lang="en-US" altLang="en-US" sz="2400" u="sng" dirty="0">
                <a:solidFill>
                  <a:srgbClr val="FF0000"/>
                </a:solidFill>
                <a:latin typeface="Times New Roman" panose="02020603050405020304" pitchFamily="18" charset="0"/>
              </a:rPr>
              <a:t>there are common personality traits and characteristics</a:t>
            </a:r>
            <a:r>
              <a:rPr lang="en-US" altLang="en-US" sz="2400" dirty="0">
                <a:solidFill>
                  <a:srgbClr val="FF0000"/>
                </a:solidFill>
                <a:latin typeface="Times New Roman" panose="02020603050405020304" pitchFamily="18" charset="0"/>
              </a:rPr>
              <a:t> </a:t>
            </a:r>
            <a:r>
              <a:rPr lang="en-US" altLang="en-US" sz="2400" dirty="0">
                <a:latin typeface="Times New Roman" panose="02020603050405020304" pitchFamily="18" charset="0"/>
              </a:rPr>
              <a:t>of successful entrepreneurs.</a:t>
            </a:r>
          </a:p>
          <a:p>
            <a:pPr lvl="1" algn="just" eaLnBrk="1" hangingPunct="1"/>
            <a:endParaRPr lang="en-US" altLang="en-US" sz="2400" dirty="0">
              <a:latin typeface="Times New Roman" panose="02020603050405020304" pitchFamily="18" charset="0"/>
            </a:endParaRPr>
          </a:p>
        </p:txBody>
      </p:sp>
      <p:sp>
        <p:nvSpPr>
          <p:cNvPr id="28676"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r>
              <a:rPr lang="en-US"/>
              <a:t> </a:t>
            </a:r>
            <a:endParaRPr lang="en-US" dirty="0"/>
          </a:p>
        </p:txBody>
      </p:sp>
    </p:spTree>
    <p:extLst>
      <p:ext uri="{BB962C8B-B14F-4D97-AF65-F5344CB8AC3E}">
        <p14:creationId xmlns:p14="http://schemas.microsoft.com/office/powerpoint/2010/main" val="3578654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981200" y="434341"/>
            <a:ext cx="8229600" cy="1143000"/>
          </a:xfrm>
        </p:spPr>
        <p:txBody>
          <a:bodyPr>
            <a:normAutofit fontScale="90000"/>
          </a:bodyPr>
          <a:lstStyle/>
          <a:p>
            <a:pPr algn="ctr" eaLnBrk="1" hangingPunct="1"/>
            <a:r>
              <a:rPr lang="en-US" altLang="en-US" sz="3600" dirty="0">
                <a:latin typeface="Times New Roman" panose="02020603050405020304" pitchFamily="18" charset="0"/>
              </a:rPr>
              <a:t>Common Myths About Entrepreneurs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30723" name="Rectangle 3"/>
          <p:cNvSpPr>
            <a:spLocks noGrp="1" noChangeArrowheads="1"/>
          </p:cNvSpPr>
          <p:nvPr>
            <p:ph type="body" idx="1"/>
          </p:nvPr>
        </p:nvSpPr>
        <p:spPr>
          <a:xfrm>
            <a:off x="284813" y="1447800"/>
            <a:ext cx="11482466" cy="4876800"/>
          </a:xfrm>
        </p:spPr>
        <p:txBody>
          <a:bodyPr>
            <a:normAutofit/>
          </a:bodyPr>
          <a:lstStyle/>
          <a:p>
            <a:pPr eaLnBrk="1" hangingPunct="1"/>
            <a:r>
              <a:rPr lang="en-US" altLang="en-US" sz="2800" dirty="0">
                <a:solidFill>
                  <a:srgbClr val="FF0000"/>
                </a:solidFill>
                <a:latin typeface="Times New Roman" panose="02020603050405020304" pitchFamily="18" charset="0"/>
              </a:rPr>
              <a:t>Myth 2: Entrepreneurs Are Gamblers</a:t>
            </a:r>
          </a:p>
          <a:p>
            <a:pPr eaLnBrk="1" hangingPunct="1"/>
            <a:endParaRPr lang="en-US" altLang="en-US" sz="2800" dirty="0">
              <a:latin typeface="Times New Roman" panose="02020603050405020304" pitchFamily="18" charset="0"/>
            </a:endParaRPr>
          </a:p>
          <a:p>
            <a:pPr lvl="1" eaLnBrk="1" hangingPunct="1"/>
            <a:r>
              <a:rPr lang="en-US" altLang="en-US" sz="2400" dirty="0">
                <a:latin typeface="Times New Roman" panose="02020603050405020304" pitchFamily="18" charset="0"/>
              </a:rPr>
              <a:t>A second myth about entrepreneurs is that t</a:t>
            </a:r>
            <a:r>
              <a:rPr lang="en-US" altLang="en-US" sz="2400" u="sng" dirty="0">
                <a:latin typeface="Times New Roman" panose="02020603050405020304" pitchFamily="18" charset="0"/>
              </a:rPr>
              <a:t>hey are gamblers and take big risks</a:t>
            </a:r>
            <a:r>
              <a:rPr lang="en-US" altLang="en-US" sz="2400" dirty="0">
                <a:latin typeface="Times New Roman" panose="02020603050405020304" pitchFamily="18" charset="0"/>
              </a:rPr>
              <a:t>. The truth is, most entrepreneurs are moderate risk-takers.</a:t>
            </a:r>
          </a:p>
          <a:p>
            <a:pPr lvl="1" eaLnBrk="1" hangingPunct="1"/>
            <a:r>
              <a:rPr lang="en-US" altLang="en-US" sz="2400" dirty="0">
                <a:latin typeface="Times New Roman" panose="02020603050405020304" pitchFamily="18" charset="0"/>
              </a:rPr>
              <a:t>The idea that entrepreneurs are gamblers originates from two sources:</a:t>
            </a:r>
          </a:p>
          <a:p>
            <a:pPr marL="800100" lvl="2" indent="-342900" eaLnBrk="1" hangingPunct="1">
              <a:buFont typeface="Arial" panose="020B0604020202020204" pitchFamily="34" charset="0"/>
              <a:buChar char="•"/>
            </a:pPr>
            <a:r>
              <a:rPr lang="en-US" altLang="en-US" sz="2400" dirty="0">
                <a:latin typeface="Times New Roman" panose="02020603050405020304" pitchFamily="18" charset="0"/>
              </a:rPr>
              <a:t>Entrepreneurs typically have less structured jobs, and so they face a more uncertain set of possibilities than people in traditional jobs.</a:t>
            </a:r>
          </a:p>
          <a:p>
            <a:pPr marL="800100" lvl="2" indent="-342900" eaLnBrk="1" hangingPunct="1">
              <a:buFont typeface="Arial" panose="020B0604020202020204" pitchFamily="34" charset="0"/>
              <a:buChar char="•"/>
            </a:pPr>
            <a:r>
              <a:rPr lang="en-US" altLang="en-US" sz="2400" dirty="0">
                <a:latin typeface="Times New Roman" panose="02020603050405020304" pitchFamily="18" charset="0"/>
              </a:rPr>
              <a:t>Many entrepreneurs have a strong need to achieve and set challenging goals, a behavior that is often equated with risk-taking.</a:t>
            </a:r>
          </a:p>
        </p:txBody>
      </p:sp>
      <p:sp>
        <p:nvSpPr>
          <p:cNvPr id="30724"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80441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1-</a:t>
            </a:r>
            <a:fld id="{031AD954-C4F6-405F-A5CD-E8F03D90C799}" type="slidenum">
              <a:rPr lang="en-US" altLang="en-US" sz="1400"/>
              <a:pPr>
                <a:spcBef>
                  <a:spcPct val="0"/>
                </a:spcBef>
                <a:buFontTx/>
                <a:buNone/>
              </a:pPr>
              <a:t>18</a:t>
            </a:fld>
            <a:endParaRPr lang="en-US" altLang="en-US" sz="1400"/>
          </a:p>
        </p:txBody>
      </p:sp>
      <p:sp>
        <p:nvSpPr>
          <p:cNvPr id="31746" name="Rectangle 2"/>
          <p:cNvSpPr>
            <a:spLocks noGrp="1" noChangeArrowheads="1"/>
          </p:cNvSpPr>
          <p:nvPr>
            <p:ph type="title"/>
          </p:nvPr>
        </p:nvSpPr>
        <p:spPr>
          <a:xfrm>
            <a:off x="1981200" y="434341"/>
            <a:ext cx="8229600" cy="1143000"/>
          </a:xfrm>
        </p:spPr>
        <p:txBody>
          <a:bodyPr>
            <a:normAutofit fontScale="90000"/>
          </a:bodyPr>
          <a:lstStyle/>
          <a:p>
            <a:pPr algn="ctr" eaLnBrk="1" hangingPunct="1"/>
            <a:r>
              <a:rPr lang="en-US" altLang="en-US" sz="3600" dirty="0">
                <a:latin typeface="Times New Roman" panose="02020603050405020304" pitchFamily="18" charset="0"/>
              </a:rPr>
              <a:t>Common Myths About Entrepreneurs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31747" name="Rectangle 3"/>
          <p:cNvSpPr>
            <a:spLocks noGrp="1" noChangeArrowheads="1"/>
          </p:cNvSpPr>
          <p:nvPr>
            <p:ph type="body" idx="1"/>
          </p:nvPr>
        </p:nvSpPr>
        <p:spPr>
          <a:xfrm>
            <a:off x="284813" y="2004060"/>
            <a:ext cx="11632367" cy="3261789"/>
          </a:xfrm>
        </p:spPr>
        <p:txBody>
          <a:bodyPr/>
          <a:lstStyle/>
          <a:p>
            <a:pPr eaLnBrk="1" hangingPunct="1"/>
            <a:r>
              <a:rPr lang="en-US" altLang="en-US" sz="2800" dirty="0">
                <a:solidFill>
                  <a:srgbClr val="FF0000"/>
                </a:solidFill>
                <a:latin typeface="Times New Roman" panose="02020603050405020304" pitchFamily="18" charset="0"/>
              </a:rPr>
              <a:t>Myth 3: Entrepreneurs Are Motivated Primarily by Money.</a:t>
            </a:r>
          </a:p>
          <a:p>
            <a:pPr eaLnBrk="1" hangingPunct="1"/>
            <a:endParaRPr lang="en-US" altLang="en-US" sz="2800" dirty="0">
              <a:latin typeface="Times New Roman" panose="02020603050405020304" pitchFamily="18" charset="0"/>
            </a:endParaRPr>
          </a:p>
          <a:p>
            <a:pPr lvl="1" algn="just" eaLnBrk="1" hangingPunct="1"/>
            <a:r>
              <a:rPr lang="en-US" altLang="en-US" sz="2400" dirty="0">
                <a:latin typeface="Times New Roman" panose="02020603050405020304" pitchFamily="18" charset="0"/>
              </a:rPr>
              <a:t>While it is naïve to think that entrepreneurs don’t seek financial rewards, </a:t>
            </a:r>
            <a:r>
              <a:rPr lang="en-US" altLang="en-US" sz="2400" u="sng" dirty="0">
                <a:latin typeface="Times New Roman" panose="02020603050405020304" pitchFamily="18" charset="0"/>
              </a:rPr>
              <a:t>money is rarely the reason </a:t>
            </a:r>
            <a:r>
              <a:rPr lang="en-US" altLang="en-US" sz="2400" dirty="0">
                <a:latin typeface="Times New Roman" panose="02020603050405020304" pitchFamily="18" charset="0"/>
              </a:rPr>
              <a:t>entrepreneurs start new firms.</a:t>
            </a:r>
          </a:p>
          <a:p>
            <a:pPr lvl="1" eaLnBrk="1" hangingPunct="1"/>
            <a:endParaRPr lang="en-US" altLang="en-US" sz="2400" dirty="0">
              <a:latin typeface="Times New Roman" panose="02020603050405020304" pitchFamily="18" charset="0"/>
            </a:endParaRPr>
          </a:p>
          <a:p>
            <a:pPr lvl="1" eaLnBrk="1" hangingPunct="1"/>
            <a:r>
              <a:rPr lang="en-US" altLang="en-US" sz="2400" dirty="0">
                <a:latin typeface="Times New Roman" panose="02020603050405020304" pitchFamily="18" charset="0"/>
              </a:rPr>
              <a:t>Some entrepreneurs warn that the pursuit of money can be distracting.</a:t>
            </a:r>
          </a:p>
          <a:p>
            <a:pPr lvl="1" eaLnBrk="1" hangingPunct="1"/>
            <a:endParaRPr lang="en-US" altLang="en-US" sz="2400" dirty="0">
              <a:latin typeface="Times New Roman" panose="02020603050405020304" pitchFamily="18" charset="0"/>
            </a:endParaRPr>
          </a:p>
        </p:txBody>
      </p:sp>
      <p:sp>
        <p:nvSpPr>
          <p:cNvPr id="31748"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75439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981200" y="304800"/>
            <a:ext cx="8229600" cy="1143000"/>
          </a:xfrm>
        </p:spPr>
        <p:txBody>
          <a:bodyPr>
            <a:normAutofit fontScale="90000"/>
          </a:bodyPr>
          <a:lstStyle/>
          <a:p>
            <a:pPr algn="ctr" eaLnBrk="1" hangingPunct="1"/>
            <a:r>
              <a:rPr lang="en-US" altLang="en-US" sz="3600" dirty="0">
                <a:latin typeface="Times New Roman" panose="02020603050405020304" pitchFamily="18" charset="0"/>
              </a:rPr>
              <a:t>Common Myths About Entrepreneurs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32771" name="Rectangle 3"/>
          <p:cNvSpPr>
            <a:spLocks noGrp="1" noChangeArrowheads="1"/>
          </p:cNvSpPr>
          <p:nvPr>
            <p:ph type="body" idx="1"/>
          </p:nvPr>
        </p:nvSpPr>
        <p:spPr>
          <a:xfrm>
            <a:off x="164892" y="1863777"/>
            <a:ext cx="11692327" cy="5638800"/>
          </a:xfrm>
        </p:spPr>
        <p:txBody>
          <a:bodyPr>
            <a:normAutofit/>
          </a:bodyPr>
          <a:lstStyle/>
          <a:p>
            <a:pPr algn="just" eaLnBrk="1" hangingPunct="1"/>
            <a:r>
              <a:rPr lang="en-US" altLang="en-US" sz="2800" dirty="0">
                <a:solidFill>
                  <a:srgbClr val="FF0000"/>
                </a:solidFill>
                <a:latin typeface="Times New Roman" panose="02020603050405020304" pitchFamily="18" charset="0"/>
              </a:rPr>
              <a:t>Myth 4: Entrepreneurs Should Be Young And Energetic.</a:t>
            </a:r>
          </a:p>
          <a:p>
            <a:pPr eaLnBrk="1" hangingPunct="1"/>
            <a:endParaRPr lang="en-US" altLang="en-US" sz="2800" dirty="0">
              <a:latin typeface="Times New Roman" panose="02020603050405020304" pitchFamily="18" charset="0"/>
            </a:endParaRPr>
          </a:p>
          <a:p>
            <a:pPr lvl="1" eaLnBrk="1" hangingPunct="1"/>
            <a:r>
              <a:rPr lang="en-US" altLang="en-US" sz="2400" dirty="0">
                <a:latin typeface="Times New Roman" panose="02020603050405020304" pitchFamily="18" charset="0"/>
              </a:rPr>
              <a:t>The average entrepreneur is 35 to 45 years old and has 10 or more years of experience in a large firm.</a:t>
            </a:r>
          </a:p>
          <a:p>
            <a:pPr lvl="1" algn="just" eaLnBrk="1" hangingPunct="1"/>
            <a:r>
              <a:rPr lang="en-US" altLang="en-US" sz="2400" dirty="0">
                <a:latin typeface="Times New Roman" panose="02020603050405020304" pitchFamily="18" charset="0"/>
              </a:rPr>
              <a:t>While it is important to be energetic, investors often cite the strength of the entrepreneur as their most important criterion in </a:t>
            </a:r>
            <a:r>
              <a:rPr lang="en-US" altLang="en-US" sz="2400" dirty="0">
                <a:solidFill>
                  <a:srgbClr val="FF0000"/>
                </a:solidFill>
                <a:latin typeface="Times New Roman" panose="02020603050405020304" pitchFamily="18" charset="0"/>
              </a:rPr>
              <a:t>making investment decisions</a:t>
            </a:r>
            <a:r>
              <a:rPr lang="en-US" altLang="en-US" sz="2400" dirty="0">
                <a:latin typeface="Times New Roman" panose="02020603050405020304" pitchFamily="18" charset="0"/>
              </a:rPr>
              <a:t>.</a:t>
            </a:r>
          </a:p>
          <a:p>
            <a:pPr lvl="1"/>
            <a:r>
              <a:rPr lang="en-US" altLang="en-US" sz="2400" dirty="0">
                <a:latin typeface="Times New Roman" panose="02020603050405020304" pitchFamily="18" charset="0"/>
              </a:rPr>
              <a:t>What makes an entrepreneur “strong” in the eyes of an investor is experience, maturity, a solid reputation, and a track record of success.</a:t>
            </a:r>
          </a:p>
          <a:p>
            <a:pPr lvl="1"/>
            <a:r>
              <a:rPr lang="en-US" altLang="en-US" sz="2400" dirty="0">
                <a:latin typeface="Times New Roman" panose="02020603050405020304" pitchFamily="18" charset="0"/>
              </a:rPr>
              <a:t>These criteria often favor older rather than younger entrepreneurs. </a:t>
            </a:r>
          </a:p>
        </p:txBody>
      </p:sp>
      <p:sp>
        <p:nvSpPr>
          <p:cNvPr id="32772"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687699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995055" y="533400"/>
            <a:ext cx="8229600" cy="1143000"/>
          </a:xfrm>
        </p:spPr>
        <p:txBody>
          <a:bodyPr>
            <a:normAutofit fontScale="90000"/>
          </a:bodyPr>
          <a:lstStyle/>
          <a:p>
            <a:pPr algn="ctr" eaLnBrk="1" hangingPunct="1"/>
            <a:r>
              <a:rPr lang="en-US" altLang="en-US" sz="3600" dirty="0">
                <a:latin typeface="Times New Roman" panose="02020603050405020304" pitchFamily="18" charset="0"/>
              </a:rPr>
              <a:t>Economic Impact of Entrepreneurial Firms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33796"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33798" name="Rectangle 3">
            <a:extLst>
              <a:ext uri="{FF2B5EF4-FFF2-40B4-BE49-F238E27FC236}">
                <a16:creationId xmlns:a16="http://schemas.microsoft.com/office/drawing/2014/main" id="{1D41B0FD-DB87-6E35-B284-C4E492D13800}"/>
              </a:ext>
            </a:extLst>
          </p:cNvPr>
          <p:cNvGraphicFramePr/>
          <p:nvPr>
            <p:extLst>
              <p:ext uri="{D42A27DB-BD31-4B8C-83A1-F6EECF244321}">
                <p14:modId xmlns:p14="http://schemas.microsoft.com/office/powerpoint/2010/main" val="2896333304"/>
              </p:ext>
            </p:extLst>
          </p:nvPr>
        </p:nvGraphicFramePr>
        <p:xfrm>
          <a:off x="1981200" y="1524001"/>
          <a:ext cx="8229600" cy="5197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928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1-</a:t>
            </a:r>
            <a:fld id="{A2125D1C-3EBB-4332-A187-E8D5AB49127D}" type="slidenum">
              <a:rPr lang="en-US" altLang="en-US" sz="1400"/>
              <a:pPr>
                <a:spcBef>
                  <a:spcPct val="0"/>
                </a:spcBef>
                <a:buFontTx/>
                <a:buNone/>
              </a:pPr>
              <a:t>21</a:t>
            </a:fld>
            <a:endParaRPr lang="en-US" altLang="en-US" sz="1400"/>
          </a:p>
        </p:txBody>
      </p:sp>
      <p:sp>
        <p:nvSpPr>
          <p:cNvPr id="34818" name="Rectangle 2"/>
          <p:cNvSpPr>
            <a:spLocks noGrp="1" noChangeArrowheads="1"/>
          </p:cNvSpPr>
          <p:nvPr>
            <p:ph type="title"/>
          </p:nvPr>
        </p:nvSpPr>
        <p:spPr>
          <a:xfrm>
            <a:off x="2057400" y="646113"/>
            <a:ext cx="8229600" cy="1143000"/>
          </a:xfrm>
        </p:spPr>
        <p:txBody>
          <a:bodyPr>
            <a:normAutofit fontScale="90000"/>
          </a:bodyPr>
          <a:lstStyle/>
          <a:p>
            <a:pPr algn="ctr" eaLnBrk="1" hangingPunct="1"/>
            <a:r>
              <a:rPr lang="en-US" altLang="en-US" sz="3600" dirty="0">
                <a:latin typeface="Times New Roman" panose="02020603050405020304" pitchFamily="18" charset="0"/>
              </a:rPr>
              <a:t>Economic Impact of Entrepreneurial Firms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34819" name="Rectangle 3"/>
          <p:cNvSpPr>
            <a:spLocks noGrp="1" noChangeArrowheads="1"/>
          </p:cNvSpPr>
          <p:nvPr>
            <p:ph type="body" idx="1"/>
          </p:nvPr>
        </p:nvSpPr>
        <p:spPr>
          <a:xfrm>
            <a:off x="449705" y="1524001"/>
            <a:ext cx="11152682" cy="5197475"/>
          </a:xfrm>
        </p:spPr>
        <p:txBody>
          <a:bodyPr>
            <a:normAutofit/>
          </a:bodyPr>
          <a:lstStyle/>
          <a:p>
            <a:pPr eaLnBrk="1" hangingPunct="1"/>
            <a:r>
              <a:rPr lang="en-US" altLang="en-US" sz="2800" dirty="0">
                <a:latin typeface="Times New Roman" panose="02020603050405020304" pitchFamily="18" charset="0"/>
              </a:rPr>
              <a:t>Globalization</a:t>
            </a:r>
          </a:p>
          <a:p>
            <a:pPr eaLnBrk="1" hangingPunct="1"/>
            <a:endParaRPr lang="en-US" altLang="en-US" sz="2800" dirty="0">
              <a:latin typeface="Times New Roman" panose="02020603050405020304" pitchFamily="18" charset="0"/>
            </a:endParaRPr>
          </a:p>
          <a:p>
            <a:pPr lvl="1" eaLnBrk="1" hangingPunct="1"/>
            <a:r>
              <a:rPr lang="en-US" altLang="en-US" sz="2400" dirty="0">
                <a:latin typeface="Times New Roman" panose="02020603050405020304" pitchFamily="18" charset="0"/>
                <a:cs typeface="Times New Roman" panose="02020603050405020304" pitchFamily="18" charset="0"/>
              </a:rPr>
              <a:t>Today, over 97% of all U.S. exporters are small businesses with fewer than 500 employees.</a:t>
            </a:r>
          </a:p>
          <a:p>
            <a:pPr lvl="1"/>
            <a:r>
              <a:rPr lang="en-US" dirty="0">
                <a:latin typeface="Times New Roman" panose="02020603050405020304" pitchFamily="18" charset="0"/>
                <a:cs typeface="Times New Roman" panose="02020603050405020304" pitchFamily="18" charset="0"/>
              </a:rPr>
              <a:t>According to the World Bank Enterprise Survey, exports represent about 6.2 and 11 percent of total sales of small and medium-scale enterprises, respectively in the manufacturing sector compared with 23 percent for large firms.</a:t>
            </a:r>
            <a:endParaRPr lang="en-US" alt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The SME sector in Sri Lanka accounts for 52 percent of the GDP, and 45 percent of the total employment, whilst making up more than 75 percent of the total number of enterprises in the country.</a:t>
            </a:r>
          </a:p>
          <a:p>
            <a:pPr lvl="1"/>
            <a:r>
              <a:rPr lang="en-US" dirty="0">
                <a:latin typeface="Times New Roman" panose="02020603050405020304" pitchFamily="18" charset="0"/>
                <a:cs typeface="Times New Roman" panose="02020603050405020304" pitchFamily="18" charset="0"/>
              </a:rPr>
              <a:t>In Sri Lanka, there are 3,027 SMEs registered as exporters. However, they contribute to less than 5 percent of Sri Lanka’s exports.</a:t>
            </a:r>
          </a:p>
          <a:p>
            <a:pPr lvl="1"/>
            <a:endParaRPr lang="en-US" altLang="en-US" sz="2400" dirty="0">
              <a:latin typeface="Times New Roman" panose="02020603050405020304" pitchFamily="18" charset="0"/>
              <a:cs typeface="Times New Roman" panose="02020603050405020304" pitchFamily="18" charset="0"/>
            </a:endParaRPr>
          </a:p>
        </p:txBody>
      </p:sp>
      <p:sp>
        <p:nvSpPr>
          <p:cNvPr id="34820"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16269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6"/>
          <p:cNvSpPr>
            <a:spLocks noGrp="1" noChangeArrowheads="1"/>
          </p:cNvSpPr>
          <p:nvPr>
            <p:ph type="title"/>
          </p:nvPr>
        </p:nvSpPr>
        <p:spPr>
          <a:xfrm>
            <a:off x="1411574" y="437213"/>
            <a:ext cx="9950970" cy="1143000"/>
          </a:xfrm>
        </p:spPr>
        <p:txBody>
          <a:bodyPr>
            <a:normAutofit fontScale="90000"/>
          </a:bodyPr>
          <a:lstStyle/>
          <a:p>
            <a:pPr eaLnBrk="1" hangingPunct="1"/>
            <a:r>
              <a:rPr lang="en-US" altLang="en-US" sz="3600" dirty="0">
                <a:latin typeface="Times New Roman" panose="02020603050405020304" pitchFamily="18" charset="0"/>
              </a:rPr>
              <a:t>Entrepreneurial Firms’ Impact on Society and Larger Firms</a:t>
            </a:r>
          </a:p>
        </p:txBody>
      </p:sp>
      <p:sp>
        <p:nvSpPr>
          <p:cNvPr id="35844" name="Line 1028"/>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35846" name="Rectangle 1027">
            <a:extLst>
              <a:ext uri="{FF2B5EF4-FFF2-40B4-BE49-F238E27FC236}">
                <a16:creationId xmlns:a16="http://schemas.microsoft.com/office/drawing/2014/main" id="{A64D0E07-78A1-5394-88A3-9351D95CB77F}"/>
              </a:ext>
            </a:extLst>
          </p:cNvPr>
          <p:cNvGraphicFramePr/>
          <p:nvPr>
            <p:extLst>
              <p:ext uri="{D42A27DB-BD31-4B8C-83A1-F6EECF244321}">
                <p14:modId xmlns:p14="http://schemas.microsoft.com/office/powerpoint/2010/main" val="788907744"/>
              </p:ext>
            </p:extLst>
          </p:nvPr>
        </p:nvGraphicFramePr>
        <p:xfrm>
          <a:off x="1600200" y="1447800"/>
          <a:ext cx="90678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1994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981200" y="609600"/>
            <a:ext cx="8229600" cy="1143000"/>
          </a:xfrm>
        </p:spPr>
        <p:txBody>
          <a:bodyPr>
            <a:normAutofit fontScale="90000"/>
          </a:bodyPr>
          <a:lstStyle/>
          <a:p>
            <a:pPr algn="ctr" eaLnBrk="1" hangingPunct="1"/>
            <a:r>
              <a:rPr lang="en-US" altLang="en-US" sz="3600" dirty="0">
                <a:latin typeface="Times New Roman" panose="02020603050405020304" pitchFamily="18" charset="0"/>
              </a:rPr>
              <a:t>The Entrepreneurial Process</a:t>
            </a:r>
            <a:br>
              <a:rPr lang="en-US" altLang="en-US" sz="3600" dirty="0">
                <a:latin typeface="Times New Roman" panose="02020603050405020304" pitchFamily="18" charset="0"/>
              </a:rPr>
            </a:br>
            <a:endParaRPr lang="en-US" altLang="en-US" sz="3600" dirty="0">
              <a:latin typeface="Times New Roman" panose="02020603050405020304" pitchFamily="18" charset="0"/>
            </a:endParaRPr>
          </a:p>
        </p:txBody>
      </p:sp>
      <p:sp>
        <p:nvSpPr>
          <p:cNvPr id="36867" name="Line 3"/>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Content Placeholder 2">
            <a:extLst>
              <a:ext uri="{FF2B5EF4-FFF2-40B4-BE49-F238E27FC236}">
                <a16:creationId xmlns:a16="http://schemas.microsoft.com/office/drawing/2014/main" id="{5C90BB8C-9839-EFA2-1AEB-F11BE797F566}"/>
              </a:ext>
            </a:extLst>
          </p:cNvPr>
          <p:cNvSpPr txBox="1">
            <a:spLocks/>
          </p:cNvSpPr>
          <p:nvPr/>
        </p:nvSpPr>
        <p:spPr>
          <a:xfrm>
            <a:off x="1524001" y="1937355"/>
            <a:ext cx="9730154" cy="3549045"/>
          </a:xfrm>
          <a:prstGeom prst="rect">
            <a:avLst/>
          </a:prstGeom>
          <a:solidFill>
            <a:schemeClr val="accent3">
              <a:lumMod val="60000"/>
              <a:lumOff val="40000"/>
            </a:schemeClr>
          </a:solidFill>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LK" dirty="0"/>
              <a:t>Ideation</a:t>
            </a:r>
          </a:p>
          <a:p>
            <a:pPr marL="457200" indent="-457200">
              <a:buFont typeface="+mj-lt"/>
              <a:buAutoNum type="arabicPeriod"/>
            </a:pPr>
            <a:r>
              <a:rPr lang="en-LK" dirty="0"/>
              <a:t>Planning/foundation</a:t>
            </a:r>
          </a:p>
          <a:p>
            <a:pPr marL="457200" indent="-457200">
              <a:buFont typeface="+mj-lt"/>
              <a:buAutoNum type="arabicPeriod"/>
            </a:pPr>
            <a:r>
              <a:rPr lang="en-LK" dirty="0"/>
              <a:t>Launching and initial growth</a:t>
            </a:r>
          </a:p>
          <a:p>
            <a:pPr marL="457200" indent="-457200">
              <a:buFont typeface="+mj-lt"/>
              <a:buAutoNum type="arabicPeriod"/>
            </a:pPr>
            <a:r>
              <a:rPr lang="en-LK" dirty="0"/>
              <a:t>Accelerating</a:t>
            </a:r>
          </a:p>
          <a:p>
            <a:pPr marL="457200" indent="-457200">
              <a:buFont typeface="+mj-lt"/>
              <a:buAutoNum type="arabicPeriod"/>
            </a:pPr>
            <a:r>
              <a:rPr lang="en-LK" dirty="0"/>
              <a:t>Scaling and Upscaling </a:t>
            </a:r>
          </a:p>
          <a:p>
            <a:pPr marL="457200" indent="-457200">
              <a:buFont typeface="+mj-lt"/>
              <a:buAutoNum type="arabicPeriod"/>
            </a:pPr>
            <a:r>
              <a:rPr lang="en-LK" dirty="0"/>
              <a:t>Consolidation and Sustainability</a:t>
            </a:r>
          </a:p>
          <a:p>
            <a:pPr marL="457200" indent="-457200">
              <a:buFont typeface="+mj-lt"/>
              <a:buAutoNum type="arabicPeriod"/>
            </a:pPr>
            <a:r>
              <a:rPr lang="en-GB" dirty="0"/>
              <a:t>E</a:t>
            </a:r>
            <a:r>
              <a:rPr lang="en-LK" dirty="0"/>
              <a:t>xit / Long-term Growth</a:t>
            </a:r>
          </a:p>
        </p:txBody>
      </p:sp>
    </p:spTree>
    <p:extLst>
      <p:ext uri="{BB962C8B-B14F-4D97-AF65-F5344CB8AC3E}">
        <p14:creationId xmlns:p14="http://schemas.microsoft.com/office/powerpoint/2010/main" val="546477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67000"/>
            <a:ext cx="8229600" cy="1143000"/>
          </a:xfrm>
        </p:spPr>
        <p:txBody>
          <a:bodyPr/>
          <a:lstStyle/>
          <a:p>
            <a:pPr algn="ctr"/>
            <a:r>
              <a:rPr lang="en-US" dirty="0"/>
              <a:t>The End</a:t>
            </a:r>
          </a:p>
        </p:txBody>
      </p:sp>
    </p:spTree>
    <p:extLst>
      <p:ext uri="{BB962C8B-B14F-4D97-AF65-F5344CB8AC3E}">
        <p14:creationId xmlns:p14="http://schemas.microsoft.com/office/powerpoint/2010/main" val="1371535960"/>
      </p:ext>
    </p:extLst>
  </p:cSld>
  <p:clrMapOvr>
    <a:masterClrMapping/>
  </p:clrMapOvr>
</p:sld>
</file>

<file path=ppt/theme/theme1.xml><?xml version="1.0" encoding="utf-8"?>
<a:theme xmlns:a="http://schemas.openxmlformats.org/drawingml/2006/main" name="BevelVTI">
  <a:themeElements>
    <a:clrScheme name="AnalogousFromLightSeedLeftStep">
      <a:dk1>
        <a:srgbClr val="000000"/>
      </a:dk1>
      <a:lt1>
        <a:srgbClr val="FFFFFF"/>
      </a:lt1>
      <a:dk2>
        <a:srgbClr val="413124"/>
      </a:dk2>
      <a:lt2>
        <a:srgbClr val="E2E5E8"/>
      </a:lt2>
      <a:accent1>
        <a:srgbClr val="B99C7E"/>
      </a:accent1>
      <a:accent2>
        <a:srgbClr val="BA847F"/>
      </a:accent2>
      <a:accent3>
        <a:srgbClr val="C595A5"/>
      </a:accent3>
      <a:accent4>
        <a:srgbClr val="BA7FAB"/>
      </a:accent4>
      <a:accent5>
        <a:srgbClr val="BD94C5"/>
      </a:accent5>
      <a:accent6>
        <a:srgbClr val="987FBA"/>
      </a:accent6>
      <a:hlink>
        <a:srgbClr val="6084A9"/>
      </a:hlink>
      <a:folHlink>
        <a:srgbClr val="7F7F7F"/>
      </a:folHlink>
    </a:clrScheme>
    <a:fontScheme name="Custom 53">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VTI" id="{C9E5F598-602B-46C1-AA16-073CEB959654}" vid="{2AE1FD39-65AD-4D34-93E9-C7019D0ECB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190</TotalTime>
  <Words>1493</Words>
  <Application>Microsoft Macintosh PowerPoint</Application>
  <PresentationFormat>Widescreen</PresentationFormat>
  <Paragraphs>156</Paragraphs>
  <Slides>24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Bierstadt</vt:lpstr>
      <vt:lpstr>Calibri</vt:lpstr>
      <vt:lpstr>Times New Roman</vt:lpstr>
      <vt:lpstr>Wingdings 2</vt:lpstr>
      <vt:lpstr>Wingdings 3</vt:lpstr>
      <vt:lpstr>BevelVTI</vt:lpstr>
      <vt:lpstr>Entrepreneurship Development  By: Dr Kalpana Ambepitiya</vt:lpstr>
      <vt:lpstr> Introduction  </vt:lpstr>
      <vt:lpstr>Chapter Objectives </vt:lpstr>
      <vt:lpstr>The Evolution of Entrepreneurship</vt:lpstr>
      <vt:lpstr>What is Entrepreneurship?</vt:lpstr>
      <vt:lpstr>What is Entrepreneurship? </vt:lpstr>
      <vt:lpstr>What is Entrepreneurship? </vt:lpstr>
      <vt:lpstr>Entrepreneurs: Challenging the Unknown</vt:lpstr>
      <vt:lpstr>Entrepreneurship: A Mindset</vt:lpstr>
      <vt:lpstr>An Integrative Model of Entrepreneurial  Inputs and Outcomes </vt:lpstr>
      <vt:lpstr>Difference Between an Inventor and an Entrepreneur</vt:lpstr>
      <vt:lpstr>PowerPoint Presentation</vt:lpstr>
      <vt:lpstr>Why Become an Entrepreneur?</vt:lpstr>
      <vt:lpstr>Characteristics of Successful Entrepreneurs </vt:lpstr>
      <vt:lpstr>Characteristics of Successful Entrepreneurs</vt:lpstr>
      <vt:lpstr>Common Myths About Entrepreneurs </vt:lpstr>
      <vt:lpstr>Common Myths About Entrepreneurs </vt:lpstr>
      <vt:lpstr>Common Myths About Entrepreneurs </vt:lpstr>
      <vt:lpstr>Common Myths About Entrepreneurs </vt:lpstr>
      <vt:lpstr>Economic Impact of Entrepreneurial Firms </vt:lpstr>
      <vt:lpstr>Economic Impact of Entrepreneurial Firms </vt:lpstr>
      <vt:lpstr>Entrepreneurial Firms’ Impact on Society and Larger Firms</vt:lpstr>
      <vt:lpstr>The Entrepreneurial Process </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Development  Chapter 01 Session 01</dc:title>
  <dc:creator>Kalpana</dc:creator>
  <cp:lastModifiedBy>kalpana ambepitiya</cp:lastModifiedBy>
  <cp:revision>21</cp:revision>
  <dcterms:created xsi:type="dcterms:W3CDTF">2024-01-04T04:19:11Z</dcterms:created>
  <dcterms:modified xsi:type="dcterms:W3CDTF">2025-10-07T07:01:47Z</dcterms:modified>
</cp:coreProperties>
</file>