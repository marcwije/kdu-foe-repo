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759FCFD-C6BC-407A-BC52-3440A43AC4B4}" type="datetimeFigureOut">
              <a:rPr lang="en-US" smtClean="0"/>
              <a:t>3/3/2024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DD7101-4FD0-4BBC-9C17-F7522D60C2A9}" type="slidenum">
              <a:rPr lang="en-US" smtClean="0"/>
              <a:t>‹#›</a:t>
            </a:fld>
            <a:endParaRPr lang="en-US"/>
          </a:p>
        </p:txBody>
      </p:sp>
    </p:spTree>
    <p:extLst>
      <p:ext uri="{BB962C8B-B14F-4D97-AF65-F5344CB8AC3E}">
        <p14:creationId xmlns:p14="http://schemas.microsoft.com/office/powerpoint/2010/main" val="1554347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759FCFD-C6BC-407A-BC52-3440A43AC4B4}" type="datetimeFigureOut">
              <a:rPr lang="en-US" smtClean="0"/>
              <a:t>3/3/2024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DD7101-4FD0-4BBC-9C17-F7522D60C2A9}" type="slidenum">
              <a:rPr lang="en-US" smtClean="0"/>
              <a:t>‹#›</a:t>
            </a:fld>
            <a:endParaRPr lang="en-US"/>
          </a:p>
        </p:txBody>
      </p:sp>
    </p:spTree>
    <p:extLst>
      <p:ext uri="{BB962C8B-B14F-4D97-AF65-F5344CB8AC3E}">
        <p14:creationId xmlns:p14="http://schemas.microsoft.com/office/powerpoint/2010/main" val="1514329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59FCFD-C6BC-407A-BC52-3440A43AC4B4}" type="datetimeFigureOut">
              <a:rPr lang="en-US" smtClean="0"/>
              <a:t>3/3/2024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DD7101-4FD0-4BBC-9C17-F7522D60C2A9}" type="slidenum">
              <a:rPr lang="en-US" smtClean="0"/>
              <a:t>‹#›</a:t>
            </a:fld>
            <a:endParaRPr lang="en-US"/>
          </a:p>
        </p:txBody>
      </p:sp>
    </p:spTree>
    <p:extLst>
      <p:ext uri="{BB962C8B-B14F-4D97-AF65-F5344CB8AC3E}">
        <p14:creationId xmlns:p14="http://schemas.microsoft.com/office/powerpoint/2010/main" val="7130692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759FCFD-C6BC-407A-BC52-3440A43AC4B4}" type="datetimeFigureOut">
              <a:rPr lang="en-US" smtClean="0"/>
              <a:t>3/3/2024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DD7101-4FD0-4BBC-9C17-F7522D60C2A9}" type="slidenum">
              <a:rPr lang="en-US" smtClean="0"/>
              <a:t>‹#›</a:t>
            </a:fld>
            <a:endParaRPr lang="en-US"/>
          </a:p>
        </p:txBody>
      </p:sp>
    </p:spTree>
    <p:extLst>
      <p:ext uri="{BB962C8B-B14F-4D97-AF65-F5344CB8AC3E}">
        <p14:creationId xmlns:p14="http://schemas.microsoft.com/office/powerpoint/2010/main" val="1922867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759FCFD-C6BC-407A-BC52-3440A43AC4B4}" type="datetimeFigureOut">
              <a:rPr lang="en-US" smtClean="0"/>
              <a:t>3/3/2024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8DD7101-4FD0-4BBC-9C17-F7522D60C2A9}" type="slidenum">
              <a:rPr lang="en-US" smtClean="0"/>
              <a:t>‹#›</a:t>
            </a:fld>
            <a:endParaRPr lang="en-US"/>
          </a:p>
        </p:txBody>
      </p:sp>
    </p:spTree>
    <p:extLst>
      <p:ext uri="{BB962C8B-B14F-4D97-AF65-F5344CB8AC3E}">
        <p14:creationId xmlns:p14="http://schemas.microsoft.com/office/powerpoint/2010/main" val="2793713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759FCFD-C6BC-407A-BC52-3440A43AC4B4}" type="datetimeFigureOut">
              <a:rPr lang="en-US" smtClean="0"/>
              <a:t>3/3/2024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8DD7101-4FD0-4BBC-9C17-F7522D60C2A9}" type="slidenum">
              <a:rPr lang="en-US" smtClean="0"/>
              <a:t>‹#›</a:t>
            </a:fld>
            <a:endParaRPr lang="en-US"/>
          </a:p>
        </p:txBody>
      </p:sp>
    </p:spTree>
    <p:extLst>
      <p:ext uri="{BB962C8B-B14F-4D97-AF65-F5344CB8AC3E}">
        <p14:creationId xmlns:p14="http://schemas.microsoft.com/office/powerpoint/2010/main" val="412446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59FCFD-C6BC-407A-BC52-3440A43AC4B4}" type="datetimeFigureOut">
              <a:rPr lang="en-US" smtClean="0"/>
              <a:t>3/3/2024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8DD7101-4FD0-4BBC-9C17-F7522D60C2A9}" type="slidenum">
              <a:rPr lang="en-US" smtClean="0"/>
              <a:t>‹#›</a:t>
            </a:fld>
            <a:endParaRPr lang="en-US"/>
          </a:p>
        </p:txBody>
      </p:sp>
    </p:spTree>
    <p:extLst>
      <p:ext uri="{BB962C8B-B14F-4D97-AF65-F5344CB8AC3E}">
        <p14:creationId xmlns:p14="http://schemas.microsoft.com/office/powerpoint/2010/main" val="31770418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759FCFD-C6BC-407A-BC52-3440A43AC4B4}" type="datetimeFigureOut">
              <a:rPr lang="en-US" smtClean="0"/>
              <a:t>3/3/2024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DD7101-4FD0-4BBC-9C17-F7522D60C2A9}" type="slidenum">
              <a:rPr lang="en-US" smtClean="0"/>
              <a:t>‹#›</a:t>
            </a:fld>
            <a:endParaRPr lang="en-US"/>
          </a:p>
        </p:txBody>
      </p:sp>
    </p:spTree>
    <p:extLst>
      <p:ext uri="{BB962C8B-B14F-4D97-AF65-F5344CB8AC3E}">
        <p14:creationId xmlns:p14="http://schemas.microsoft.com/office/powerpoint/2010/main" val="3481704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759FCFD-C6BC-407A-BC52-3440A43AC4B4}" type="datetimeFigureOut">
              <a:rPr lang="en-US" smtClean="0"/>
              <a:t>3/3/2024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DD7101-4FD0-4BBC-9C17-F7522D60C2A9}" type="slidenum">
              <a:rPr lang="en-US" smtClean="0"/>
              <a:t>‹#›</a:t>
            </a:fld>
            <a:endParaRPr lang="en-US"/>
          </a:p>
        </p:txBody>
      </p:sp>
    </p:spTree>
    <p:extLst>
      <p:ext uri="{BB962C8B-B14F-4D97-AF65-F5344CB8AC3E}">
        <p14:creationId xmlns:p14="http://schemas.microsoft.com/office/powerpoint/2010/main" val="4263020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759FCFD-C6BC-407A-BC52-3440A43AC4B4}" type="datetimeFigureOut">
              <a:rPr lang="en-US" smtClean="0"/>
              <a:t>3/3/2024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DD7101-4FD0-4BBC-9C17-F7522D60C2A9}" type="slidenum">
              <a:rPr lang="en-US" smtClean="0"/>
              <a:t>‹#›</a:t>
            </a:fld>
            <a:endParaRPr lang="en-US"/>
          </a:p>
        </p:txBody>
      </p:sp>
    </p:spTree>
    <p:extLst>
      <p:ext uri="{BB962C8B-B14F-4D97-AF65-F5344CB8AC3E}">
        <p14:creationId xmlns:p14="http://schemas.microsoft.com/office/powerpoint/2010/main" val="1155587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759FCFD-C6BC-407A-BC52-3440A43AC4B4}" type="datetimeFigureOut">
              <a:rPr lang="en-US" smtClean="0"/>
              <a:t>3/3/2024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DD7101-4FD0-4BBC-9C17-F7522D60C2A9}" type="slidenum">
              <a:rPr lang="en-US" smtClean="0"/>
              <a:t>‹#›</a:t>
            </a:fld>
            <a:endParaRPr lang="en-US"/>
          </a:p>
        </p:txBody>
      </p:sp>
    </p:spTree>
    <p:extLst>
      <p:ext uri="{BB962C8B-B14F-4D97-AF65-F5344CB8AC3E}">
        <p14:creationId xmlns:p14="http://schemas.microsoft.com/office/powerpoint/2010/main" val="3290567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59FCFD-C6BC-407A-BC52-3440A43AC4B4}" type="datetimeFigureOut">
              <a:rPr lang="en-US" smtClean="0"/>
              <a:t>3/3/2024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DD7101-4FD0-4BBC-9C17-F7522D60C2A9}" type="slidenum">
              <a:rPr lang="en-US" smtClean="0"/>
              <a:t>‹#›</a:t>
            </a:fld>
            <a:endParaRPr lang="en-US"/>
          </a:p>
        </p:txBody>
      </p:sp>
    </p:spTree>
    <p:extLst>
      <p:ext uri="{BB962C8B-B14F-4D97-AF65-F5344CB8AC3E}">
        <p14:creationId xmlns:p14="http://schemas.microsoft.com/office/powerpoint/2010/main" val="37485829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ceprofs.civil.tamu.edu/rjames/ENGR%20482/LeMessurier%20and%20Citicorp%20Center.pdf" TargetMode="External"/><Relationship Id="rId2" Type="http://schemas.openxmlformats.org/officeDocument/2006/relationships/hyperlink" Target="https://www.theaiatrust.com/whitepapers/ethics/study.php"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28188" y="1122363"/>
            <a:ext cx="6739812" cy="3619500"/>
          </a:xfrm>
        </p:spPr>
        <p:txBody>
          <a:bodyPr>
            <a:normAutofit/>
          </a:bodyPr>
          <a:lstStyle/>
          <a:p>
            <a:r>
              <a:rPr lang="en-US" b="1" dirty="0">
                <a:solidFill>
                  <a:schemeClr val="accent6">
                    <a:lumMod val="75000"/>
                  </a:schemeClr>
                </a:solidFill>
              </a:rPr>
              <a:t>CITICORP CENTRE BUILDING CASE STUDY</a:t>
            </a:r>
          </a:p>
        </p:txBody>
      </p:sp>
      <p:pic>
        <p:nvPicPr>
          <p:cNvPr id="4" name="Picture 3">
            <a:extLst>
              <a:ext uri="{FF2B5EF4-FFF2-40B4-BE49-F238E27FC236}">
                <a16:creationId xmlns:a16="http://schemas.microsoft.com/office/drawing/2014/main" id="{ED6A816F-028A-40AF-ADFB-50F4389FF390}"/>
              </a:ext>
            </a:extLst>
          </p:cNvPr>
          <p:cNvPicPr>
            <a:picLocks noChangeAspect="1"/>
          </p:cNvPicPr>
          <p:nvPr/>
        </p:nvPicPr>
        <p:blipFill>
          <a:blip r:embed="rId2"/>
          <a:stretch>
            <a:fillRect/>
          </a:stretch>
        </p:blipFill>
        <p:spPr>
          <a:xfrm>
            <a:off x="638855" y="1122363"/>
            <a:ext cx="2832133" cy="3619500"/>
          </a:xfrm>
          <a:prstGeom prst="rect">
            <a:avLst/>
          </a:prstGeom>
        </p:spPr>
      </p:pic>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40049125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13883"/>
            <a:ext cx="10515600" cy="677863"/>
          </a:xfrm>
        </p:spPr>
        <p:txBody>
          <a:bodyPr>
            <a:normAutofit fontScale="90000"/>
          </a:bodyPr>
          <a:lstStyle/>
          <a:p>
            <a:r>
              <a:rPr lang="en-US" dirty="0"/>
              <a:t>BACKGROUND</a:t>
            </a:r>
          </a:p>
        </p:txBody>
      </p:sp>
      <p:pic>
        <p:nvPicPr>
          <p:cNvPr id="5" name="Content Placeholder 4"/>
          <p:cNvPicPr>
            <a:picLocks noGrp="1" noChangeAspect="1"/>
          </p:cNvPicPr>
          <p:nvPr>
            <p:ph idx="1"/>
          </p:nvPr>
        </p:nvPicPr>
        <p:blipFill>
          <a:blip r:embed="rId2"/>
          <a:stretch>
            <a:fillRect/>
          </a:stretch>
        </p:blipFill>
        <p:spPr>
          <a:xfrm>
            <a:off x="8229601" y="3757614"/>
            <a:ext cx="3757302" cy="2828924"/>
          </a:xfrm>
          <a:prstGeom prst="rect">
            <a:avLst/>
          </a:prstGeom>
        </p:spPr>
      </p:pic>
      <p:pic>
        <p:nvPicPr>
          <p:cNvPr id="6" name="Picture 5"/>
          <p:cNvPicPr>
            <a:picLocks noChangeAspect="1"/>
          </p:cNvPicPr>
          <p:nvPr/>
        </p:nvPicPr>
        <p:blipFill>
          <a:blip r:embed="rId3"/>
          <a:stretch>
            <a:fillRect/>
          </a:stretch>
        </p:blipFill>
        <p:spPr>
          <a:xfrm>
            <a:off x="8229601" y="283369"/>
            <a:ext cx="3757302" cy="3274220"/>
          </a:xfrm>
          <a:prstGeom prst="rect">
            <a:avLst/>
          </a:prstGeom>
        </p:spPr>
      </p:pic>
      <p:sp>
        <p:nvSpPr>
          <p:cNvPr id="7" name="Rectangle 6"/>
          <p:cNvSpPr/>
          <p:nvPr/>
        </p:nvSpPr>
        <p:spPr>
          <a:xfrm>
            <a:off x="838199" y="954227"/>
            <a:ext cx="6634164" cy="5632311"/>
          </a:xfrm>
          <a:prstGeom prst="rect">
            <a:avLst/>
          </a:prstGeom>
        </p:spPr>
        <p:txBody>
          <a:bodyPr wrap="square">
            <a:spAutoFit/>
          </a:bodyPr>
          <a:lstStyle/>
          <a:p>
            <a:pPr marL="342900" indent="-342900">
              <a:buFont typeface="Wingdings" panose="05000000000000000000" pitchFamily="2" charset="2"/>
              <a:buChar char="§"/>
            </a:pPr>
            <a:r>
              <a:rPr lang="en-US" sz="2400" dirty="0"/>
              <a:t>The Citicorp Center was completed in 1977, and is one of the most recognizable features of the New York City skyline. </a:t>
            </a:r>
          </a:p>
          <a:p>
            <a:endParaRPr lang="en-US" sz="2400" dirty="0"/>
          </a:p>
          <a:p>
            <a:pPr marL="342900" indent="-342900">
              <a:buFont typeface="Wingdings" panose="05000000000000000000" pitchFamily="2" charset="2"/>
              <a:buChar char="§"/>
            </a:pPr>
            <a:r>
              <a:rPr lang="en-US" sz="2400" dirty="0"/>
              <a:t>The distinctive 45° angled top rises 915 feet into the air.</a:t>
            </a:r>
          </a:p>
          <a:p>
            <a:pPr marL="342900" indent="-342900">
              <a:buFont typeface="Wingdings" panose="05000000000000000000" pitchFamily="2" charset="2"/>
              <a:buChar char="§"/>
            </a:pPr>
            <a:endParaRPr lang="en-US" sz="2400" dirty="0"/>
          </a:p>
          <a:p>
            <a:pPr marL="342900" indent="-342900">
              <a:buFont typeface="Wingdings" panose="05000000000000000000" pitchFamily="2" charset="2"/>
              <a:buChar char="§"/>
            </a:pPr>
            <a:r>
              <a:rPr lang="en-US" sz="2400" dirty="0"/>
              <a:t>The base of the building, which is even more  distinct, sits 114 feet in the air, supported by four giant columns centered, not on the building’s corners, but on each of its sides. </a:t>
            </a:r>
          </a:p>
          <a:p>
            <a:pPr marL="342900" indent="-342900">
              <a:buFont typeface="Wingdings" panose="05000000000000000000" pitchFamily="2" charset="2"/>
              <a:buChar char="§"/>
            </a:pPr>
            <a:endParaRPr lang="en-US" sz="2400" dirty="0"/>
          </a:p>
          <a:p>
            <a:pPr marL="342900" indent="-342900">
              <a:buFont typeface="Wingdings" panose="05000000000000000000" pitchFamily="2" charset="2"/>
              <a:buChar char="§"/>
            </a:pPr>
            <a:r>
              <a:rPr lang="en-US" sz="2400" dirty="0"/>
              <a:t>Hugh Stubbins was the Architect and William </a:t>
            </a:r>
            <a:r>
              <a:rPr lang="en-US" sz="2400" dirty="0" err="1"/>
              <a:t>LeMessurier</a:t>
            </a:r>
            <a:r>
              <a:rPr lang="en-US" sz="2400" dirty="0"/>
              <a:t>, the Structural Engineer </a:t>
            </a:r>
          </a:p>
          <a:p>
            <a:pPr marL="342900" indent="-342900">
              <a:buFont typeface="Wingdings" panose="05000000000000000000" pitchFamily="2" charset="2"/>
              <a:buChar char="§"/>
            </a:pPr>
            <a:endParaRPr lang="en-US" sz="2400" dirty="0"/>
          </a:p>
        </p:txBody>
      </p:sp>
    </p:spTree>
    <p:extLst>
      <p:ext uri="{BB962C8B-B14F-4D97-AF65-F5344CB8AC3E}">
        <p14:creationId xmlns:p14="http://schemas.microsoft.com/office/powerpoint/2010/main" val="2926106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5750"/>
            <a:ext cx="10515600" cy="542926"/>
          </a:xfrm>
        </p:spPr>
        <p:txBody>
          <a:bodyPr>
            <a:normAutofit fontScale="90000"/>
          </a:bodyPr>
          <a:lstStyle/>
          <a:p>
            <a:r>
              <a:rPr lang="en-US" dirty="0"/>
              <a:t>THE DESIGN</a:t>
            </a:r>
          </a:p>
        </p:txBody>
      </p:sp>
      <p:sp>
        <p:nvSpPr>
          <p:cNvPr id="3" name="Content Placeholder 2"/>
          <p:cNvSpPr>
            <a:spLocks noGrp="1"/>
          </p:cNvSpPr>
          <p:nvPr>
            <p:ph idx="1"/>
          </p:nvPr>
        </p:nvSpPr>
        <p:spPr>
          <a:xfrm>
            <a:off x="838200" y="1171575"/>
            <a:ext cx="10515600" cy="5005388"/>
          </a:xfrm>
        </p:spPr>
        <p:txBody>
          <a:bodyPr/>
          <a:lstStyle/>
          <a:p>
            <a:r>
              <a:rPr lang="en-US" dirty="0"/>
              <a:t>The building had a steel superstructure of 25,000 tons, which was lighter than those of similar skyscrapers</a:t>
            </a:r>
          </a:p>
          <a:p>
            <a:r>
              <a:rPr lang="en-US" dirty="0"/>
              <a:t>Due to the relatively light weight, building sway was a serious concern, and </a:t>
            </a:r>
            <a:r>
              <a:rPr lang="en-US" dirty="0" err="1"/>
              <a:t>LeMessurier</a:t>
            </a:r>
            <a:r>
              <a:rPr lang="en-US" dirty="0"/>
              <a:t> designed and installed a “tuned mass damper” in the angled top, the first  of its kind implemented in the United States. </a:t>
            </a:r>
          </a:p>
          <a:p>
            <a:r>
              <a:rPr lang="en-US" dirty="0"/>
              <a:t>This was a 400-ton block of concrete, which floats on a film of oil, is computer controlled to absorb the energy of the swaying structure and to reduce the building’s wind-induced movement by as much as 50%. </a:t>
            </a:r>
          </a:p>
        </p:txBody>
      </p:sp>
    </p:spTree>
    <p:extLst>
      <p:ext uri="{BB962C8B-B14F-4D97-AF65-F5344CB8AC3E}">
        <p14:creationId xmlns:p14="http://schemas.microsoft.com/office/powerpoint/2010/main" val="2726626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0826"/>
            <a:ext cx="10515600" cy="577850"/>
          </a:xfrm>
        </p:spPr>
        <p:txBody>
          <a:bodyPr>
            <a:normAutofit fontScale="90000"/>
          </a:bodyPr>
          <a:lstStyle/>
          <a:p>
            <a:r>
              <a:rPr lang="en-US" sz="4000" dirty="0"/>
              <a:t>THE DESIGN</a:t>
            </a:r>
          </a:p>
        </p:txBody>
      </p:sp>
      <p:sp>
        <p:nvSpPr>
          <p:cNvPr id="3" name="Content Placeholder 2"/>
          <p:cNvSpPr>
            <a:spLocks noGrp="1"/>
          </p:cNvSpPr>
          <p:nvPr>
            <p:ph idx="1"/>
          </p:nvPr>
        </p:nvSpPr>
        <p:spPr>
          <a:xfrm>
            <a:off x="838200" y="1028700"/>
            <a:ext cx="10515600" cy="5148263"/>
          </a:xfrm>
        </p:spPr>
        <p:txBody>
          <a:bodyPr/>
          <a:lstStyle/>
          <a:p>
            <a:r>
              <a:rPr lang="en-US" dirty="0"/>
              <a:t>Wind-loading was taken a being perpendicular to the face of the building, i.e. wind hitting one face of the building</a:t>
            </a:r>
          </a:p>
          <a:p>
            <a:r>
              <a:rPr lang="en-US" dirty="0"/>
              <a:t>Welded joints were provided for in the steel superstructure</a:t>
            </a:r>
          </a:p>
          <a:p>
            <a:r>
              <a:rPr lang="en-US" dirty="0"/>
              <a:t>The steel contractor proposed using bolted joints, which would still meet design requirements and would also be cheaper.</a:t>
            </a:r>
          </a:p>
          <a:p>
            <a:r>
              <a:rPr lang="en-US" dirty="0" err="1"/>
              <a:t>LeMessurier’s</a:t>
            </a:r>
            <a:r>
              <a:rPr lang="en-US" dirty="0"/>
              <a:t> design team accepted this and the construction was changed to incorporate bolted joints instead of welding joints </a:t>
            </a:r>
          </a:p>
        </p:txBody>
      </p:sp>
    </p:spTree>
    <p:extLst>
      <p:ext uri="{BB962C8B-B14F-4D97-AF65-F5344CB8AC3E}">
        <p14:creationId xmlns:p14="http://schemas.microsoft.com/office/powerpoint/2010/main" val="1950754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28613"/>
            <a:ext cx="10515600" cy="728662"/>
          </a:xfrm>
        </p:spPr>
        <p:txBody>
          <a:bodyPr>
            <a:normAutofit/>
          </a:bodyPr>
          <a:lstStyle/>
          <a:p>
            <a:r>
              <a:rPr lang="en-US" sz="4000" dirty="0"/>
              <a:t>A STUDENT’S INQUIRY</a:t>
            </a:r>
          </a:p>
        </p:txBody>
      </p:sp>
      <p:sp>
        <p:nvSpPr>
          <p:cNvPr id="3" name="Content Placeholder 2"/>
          <p:cNvSpPr>
            <a:spLocks noGrp="1"/>
          </p:cNvSpPr>
          <p:nvPr>
            <p:ph idx="1"/>
          </p:nvPr>
        </p:nvSpPr>
        <p:spPr>
          <a:xfrm>
            <a:off x="838200" y="1157288"/>
            <a:ext cx="10515600" cy="5019675"/>
          </a:xfrm>
        </p:spPr>
        <p:txBody>
          <a:bodyPr/>
          <a:lstStyle/>
          <a:p>
            <a:r>
              <a:rPr lang="en-US" dirty="0"/>
              <a:t>An university student using the Citicorp building for her under-graduate project, doing her own calculations found that quartering winds produced significantly higher stresses than those produced by winds hitting just one face of the building. </a:t>
            </a:r>
          </a:p>
          <a:p>
            <a:r>
              <a:rPr lang="en-US" dirty="0"/>
              <a:t>This structural behavior was different from a conventional building with columns placed at the four corners, where wind perpendicular to one face presents the worst loading case.</a:t>
            </a:r>
          </a:p>
          <a:p>
            <a:r>
              <a:rPr lang="en-US" dirty="0" err="1"/>
              <a:t>LeMessurier</a:t>
            </a:r>
            <a:r>
              <a:rPr lang="en-US" dirty="0"/>
              <a:t> revisiting the original design, realized that the quartering wind effect was much more significant than earlier considered, with the bolted joints being inadequate, and given hurricane conditions, collapse of the building was a possibility</a:t>
            </a:r>
          </a:p>
          <a:p>
            <a:endParaRPr lang="en-US" dirty="0"/>
          </a:p>
          <a:p>
            <a:endParaRPr lang="en-US" dirty="0"/>
          </a:p>
        </p:txBody>
      </p:sp>
    </p:spTree>
    <p:extLst>
      <p:ext uri="{BB962C8B-B14F-4D97-AF65-F5344CB8AC3E}">
        <p14:creationId xmlns:p14="http://schemas.microsoft.com/office/powerpoint/2010/main" val="165988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375" y="136527"/>
            <a:ext cx="10515600" cy="635000"/>
          </a:xfrm>
        </p:spPr>
        <p:txBody>
          <a:bodyPr>
            <a:normAutofit fontScale="90000"/>
          </a:bodyPr>
          <a:lstStyle/>
          <a:p>
            <a:r>
              <a:rPr lang="en-US" dirty="0" err="1"/>
              <a:t>LeMessurier’s</a:t>
            </a:r>
            <a:r>
              <a:rPr lang="en-US" dirty="0"/>
              <a:t> corrective action </a:t>
            </a:r>
          </a:p>
        </p:txBody>
      </p:sp>
      <p:sp>
        <p:nvSpPr>
          <p:cNvPr id="3" name="Content Placeholder 2"/>
          <p:cNvSpPr>
            <a:spLocks noGrp="1"/>
          </p:cNvSpPr>
          <p:nvPr>
            <p:ph idx="1"/>
          </p:nvPr>
        </p:nvSpPr>
        <p:spPr>
          <a:xfrm>
            <a:off x="738188" y="771527"/>
            <a:ext cx="10515600" cy="5900736"/>
          </a:xfrm>
        </p:spPr>
        <p:txBody>
          <a:bodyPr>
            <a:normAutofit lnSpcReduction="10000"/>
          </a:bodyPr>
          <a:lstStyle/>
          <a:p>
            <a:r>
              <a:rPr lang="en-US" dirty="0"/>
              <a:t> Advised his architect, client’s lawyer and client’s insurance company </a:t>
            </a:r>
          </a:p>
          <a:p>
            <a:r>
              <a:rPr lang="en-US" dirty="0"/>
              <a:t> Advised Citicorp, the building owner</a:t>
            </a:r>
          </a:p>
          <a:p>
            <a:r>
              <a:rPr lang="en-US" dirty="0"/>
              <a:t>Advised the city authorities </a:t>
            </a:r>
          </a:p>
          <a:p>
            <a:r>
              <a:rPr lang="en-US" dirty="0"/>
              <a:t>Installed back-up generators for the tuned mass dampers </a:t>
            </a:r>
          </a:p>
          <a:p>
            <a:r>
              <a:rPr lang="en-US" dirty="0"/>
              <a:t>Retained a team of meteorological experts to determine the risk of damaging windstorms</a:t>
            </a:r>
          </a:p>
          <a:p>
            <a:r>
              <a:rPr lang="en-US" dirty="0"/>
              <a:t> Initiated a repair plan whereby the bolted diagonal splices would be reinforced with welded plates to increase their capacity </a:t>
            </a:r>
          </a:p>
          <a:p>
            <a:r>
              <a:rPr lang="en-US" dirty="0"/>
              <a:t>Developed an emergency evacuation plan for the area within a 5-block radius of the structure, involving 2000 Red Cross volunteer workers</a:t>
            </a:r>
          </a:p>
          <a:p>
            <a:r>
              <a:rPr lang="en-US" dirty="0"/>
              <a:t>Created a cover story to provide for the press, to explain the night-time welding operations in progress as an upgrade to reflect a recent change in the NYC building codes.</a:t>
            </a:r>
          </a:p>
          <a:p>
            <a:endParaRPr lang="en-US" dirty="0"/>
          </a:p>
          <a:p>
            <a:endParaRPr lang="en-US" dirty="0"/>
          </a:p>
        </p:txBody>
      </p:sp>
    </p:spTree>
    <p:extLst>
      <p:ext uri="{BB962C8B-B14F-4D97-AF65-F5344CB8AC3E}">
        <p14:creationId xmlns:p14="http://schemas.microsoft.com/office/powerpoint/2010/main" val="2932348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5101"/>
            <a:ext cx="10515600" cy="649288"/>
          </a:xfrm>
        </p:spPr>
        <p:txBody>
          <a:bodyPr>
            <a:normAutofit fontScale="90000"/>
          </a:bodyPr>
          <a:lstStyle/>
          <a:p>
            <a:r>
              <a:rPr lang="en-US" dirty="0"/>
              <a:t>ETHICAL ISSUES</a:t>
            </a:r>
          </a:p>
        </p:txBody>
      </p:sp>
      <p:sp>
        <p:nvSpPr>
          <p:cNvPr id="3" name="Content Placeholder 2"/>
          <p:cNvSpPr>
            <a:spLocks noGrp="1"/>
          </p:cNvSpPr>
          <p:nvPr>
            <p:ph idx="1"/>
          </p:nvPr>
        </p:nvSpPr>
        <p:spPr>
          <a:xfrm>
            <a:off x="838200" y="1014414"/>
            <a:ext cx="10515600" cy="5372099"/>
          </a:xfrm>
        </p:spPr>
        <p:txBody>
          <a:bodyPr>
            <a:normAutofit lnSpcReduction="10000"/>
          </a:bodyPr>
          <a:lstStyle/>
          <a:p>
            <a:r>
              <a:rPr lang="en-US" dirty="0" err="1"/>
              <a:t>LeMessurier</a:t>
            </a:r>
            <a:r>
              <a:rPr lang="en-US" dirty="0"/>
              <a:t> “whistle blew” on himself: he did not try to hide his error, but came out in the open and took the full responsibility for flawed design</a:t>
            </a:r>
          </a:p>
          <a:p>
            <a:r>
              <a:rPr lang="en-US" dirty="0"/>
              <a:t>The Code of Ethics for Engineers expects them to “</a:t>
            </a:r>
            <a:r>
              <a:rPr lang="en-US" dirty="0">
                <a:solidFill>
                  <a:srgbClr val="FF0000"/>
                </a:solidFill>
              </a:rPr>
              <a:t>Hold paramount the safety, health and welfare of the public</a:t>
            </a:r>
            <a:r>
              <a:rPr lang="en-US" dirty="0"/>
              <a:t>”, and in taking necessary corrective action, the loss of life and injury to the public was avoided. </a:t>
            </a:r>
          </a:p>
          <a:p>
            <a:r>
              <a:rPr lang="en-US" dirty="0"/>
              <a:t>By paying attention to the comments of an undergraduate student, and having the humility to re-evaluate his design, </a:t>
            </a:r>
            <a:r>
              <a:rPr lang="en-US" dirty="0" err="1"/>
              <a:t>LeMessurier</a:t>
            </a:r>
            <a:r>
              <a:rPr lang="en-US" dirty="0"/>
              <a:t> ensured that  the </a:t>
            </a:r>
            <a:r>
              <a:rPr lang="en-US" dirty="0" err="1"/>
              <a:t>CitiCorp</a:t>
            </a:r>
            <a:r>
              <a:rPr lang="en-US" dirty="0"/>
              <a:t> building was saved.</a:t>
            </a:r>
          </a:p>
          <a:p>
            <a:r>
              <a:rPr lang="en-US" dirty="0" err="1"/>
              <a:t>LeMessurier’s</a:t>
            </a:r>
            <a:r>
              <a:rPr lang="en-US" dirty="0"/>
              <a:t> acts highlight the importance associated with constantly questioning and re-examining past decisions in light of new information or ideas. Design professionals must be open to other ideas, perspectives and criticisms while avoiding a “stubborn attachment to existing beliefs.” </a:t>
            </a:r>
          </a:p>
        </p:txBody>
      </p:sp>
    </p:spTree>
    <p:extLst>
      <p:ext uri="{BB962C8B-B14F-4D97-AF65-F5344CB8AC3E}">
        <p14:creationId xmlns:p14="http://schemas.microsoft.com/office/powerpoint/2010/main" val="1471542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663575"/>
          </a:xfrm>
        </p:spPr>
        <p:txBody>
          <a:bodyPr>
            <a:normAutofit fontScale="90000"/>
          </a:bodyPr>
          <a:lstStyle/>
          <a:p>
            <a:r>
              <a:rPr lang="en-US" dirty="0"/>
              <a:t>ETHICAL ISSUES</a:t>
            </a:r>
          </a:p>
        </p:txBody>
      </p:sp>
      <p:sp>
        <p:nvSpPr>
          <p:cNvPr id="3" name="Content Placeholder 2"/>
          <p:cNvSpPr>
            <a:spLocks noGrp="1"/>
          </p:cNvSpPr>
          <p:nvPr>
            <p:ph idx="1"/>
          </p:nvPr>
        </p:nvSpPr>
        <p:spPr>
          <a:xfrm>
            <a:off x="952500" y="800099"/>
            <a:ext cx="10515600" cy="6141027"/>
          </a:xfrm>
        </p:spPr>
        <p:txBody>
          <a:bodyPr>
            <a:normAutofit fontScale="55000" lnSpcReduction="20000"/>
          </a:bodyPr>
          <a:lstStyle/>
          <a:p>
            <a:r>
              <a:rPr lang="en-US" sz="4000" dirty="0"/>
              <a:t>Engineering Codes of Ethics, require that an engineer must “</a:t>
            </a:r>
            <a:r>
              <a:rPr lang="en-US" sz="4000" dirty="0">
                <a:solidFill>
                  <a:srgbClr val="FF0000"/>
                </a:solidFill>
              </a:rPr>
              <a:t>issue public statements only in an objective and truthful manner</a:t>
            </a:r>
            <a:r>
              <a:rPr lang="en-US" sz="4000" dirty="0"/>
              <a:t>”. </a:t>
            </a:r>
            <a:r>
              <a:rPr lang="en-US" sz="4000" dirty="0" err="1"/>
              <a:t>LeMessurier</a:t>
            </a:r>
            <a:r>
              <a:rPr lang="en-US" sz="4000" dirty="0"/>
              <a:t> could have remained silent, but chose to be truthful about the error he made and objectively worked out and implemented the required corrective action </a:t>
            </a:r>
          </a:p>
          <a:p>
            <a:pPr marL="0" indent="0">
              <a:buNone/>
            </a:pPr>
            <a:endParaRPr lang="en-US" sz="2100" dirty="0"/>
          </a:p>
          <a:p>
            <a:r>
              <a:rPr lang="en-US" sz="4000" dirty="0"/>
              <a:t>The Building Code of the City of New York did not call for analysis of so-called quartering winds. Like many other laws and regulations safeguarding public safety, building codes specify minimum standards and they do not necessarily reflect the state of the art or the prevailing standard of care. </a:t>
            </a:r>
          </a:p>
          <a:p>
            <a:endParaRPr lang="en-US" sz="2100" dirty="0"/>
          </a:p>
          <a:p>
            <a:r>
              <a:rPr lang="en-US" sz="4000" dirty="0"/>
              <a:t>Indeed, although during the early 1970s the New York Building Code made no mention of wind loads other than those produced by winds acting at right angles to building faces, many other tall structures in New York and elsewhere had been designed considering the effects of quartering winds. Until adoption of a new code in late 1968, New York had required that all structures be designed “to resist, in the structural frame, horizontal wind pressure from any direction.”</a:t>
            </a:r>
          </a:p>
          <a:p>
            <a:endParaRPr lang="en-US" sz="1800" dirty="0"/>
          </a:p>
          <a:p>
            <a:r>
              <a:rPr lang="en-US" sz="4000" dirty="0"/>
              <a:t> The distinguished engineer Matthys Levy, Executive Vice President and Director, Structural Division of the National Academy of Engineering and author of “Why Buildings Fall Down”  observes, </a:t>
            </a:r>
          </a:p>
          <a:p>
            <a:pPr marL="0" indent="0">
              <a:buNone/>
            </a:pPr>
            <a:r>
              <a:rPr lang="en-US" sz="4000" dirty="0"/>
              <a:t>“</a:t>
            </a:r>
            <a:r>
              <a:rPr lang="en-US" sz="4000" dirty="0">
                <a:solidFill>
                  <a:srgbClr val="3333CC"/>
                </a:solidFill>
              </a:rPr>
              <a:t>From the code point of view, it is implicit that wind from any direction should be considered, even if not stated explicitly.”</a:t>
            </a:r>
          </a:p>
          <a:p>
            <a:endParaRPr lang="en-US" sz="4000" dirty="0">
              <a:solidFill>
                <a:srgbClr val="FF0000"/>
              </a:solidFill>
            </a:endParaRPr>
          </a:p>
          <a:p>
            <a:endParaRPr lang="en-US" sz="4000" dirty="0">
              <a:solidFill>
                <a:srgbClr val="FF0000"/>
              </a:solidFill>
            </a:endParaRPr>
          </a:p>
          <a:p>
            <a:endParaRPr lang="en-US" sz="3400" dirty="0">
              <a:solidFill>
                <a:srgbClr val="FF0000"/>
              </a:solidFill>
            </a:endParaRPr>
          </a:p>
          <a:p>
            <a:endParaRPr lang="en-US" dirty="0"/>
          </a:p>
        </p:txBody>
      </p:sp>
    </p:spTree>
    <p:extLst>
      <p:ext uri="{BB962C8B-B14F-4D97-AF65-F5344CB8AC3E}">
        <p14:creationId xmlns:p14="http://schemas.microsoft.com/office/powerpoint/2010/main" val="2040191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1000"/>
                                        <p:tgtEl>
                                          <p:spTgt spid="3">
                                            <p:txEl>
                                              <p:pRg st="6" end="6"/>
                                            </p:txEl>
                                          </p:spTgt>
                                        </p:tgtEl>
                                      </p:cBhvr>
                                    </p:animEffect>
                                    <p:anim calcmode="lin" valueType="num">
                                      <p:cBhvr>
                                        <p:cTn id="2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6" end="6"/>
                                            </p:txEl>
                                          </p:spTgt>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1000"/>
                                        <p:tgtEl>
                                          <p:spTgt spid="3">
                                            <p:txEl>
                                              <p:pRg st="7" end="7"/>
                                            </p:txEl>
                                          </p:spTgt>
                                        </p:tgtEl>
                                      </p:cBhvr>
                                    </p:animEffect>
                                    <p:anim calcmode="lin" valueType="num">
                                      <p:cBhvr>
                                        <p:cTn id="31"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2"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19261-70CE-C732-BCCD-6837A14BD894}"/>
              </a:ext>
            </a:extLst>
          </p:cNvPr>
          <p:cNvSpPr>
            <a:spLocks noGrp="1"/>
          </p:cNvSpPr>
          <p:nvPr>
            <p:ph type="title"/>
          </p:nvPr>
        </p:nvSpPr>
        <p:spPr>
          <a:xfrm>
            <a:off x="838200" y="365126"/>
            <a:ext cx="10515600" cy="809048"/>
          </a:xfrm>
        </p:spPr>
        <p:txBody>
          <a:bodyPr/>
          <a:lstStyle/>
          <a:p>
            <a:r>
              <a:rPr lang="en-US" dirty="0"/>
              <a:t>ETHICAL ISSUES</a:t>
            </a:r>
          </a:p>
        </p:txBody>
      </p:sp>
      <p:sp>
        <p:nvSpPr>
          <p:cNvPr id="3" name="Content Placeholder 2">
            <a:extLst>
              <a:ext uri="{FF2B5EF4-FFF2-40B4-BE49-F238E27FC236}">
                <a16:creationId xmlns:a16="http://schemas.microsoft.com/office/drawing/2014/main" id="{2D6136D9-EA6A-4F07-61B2-7E5AC4824B4C}"/>
              </a:ext>
            </a:extLst>
          </p:cNvPr>
          <p:cNvSpPr>
            <a:spLocks noGrp="1"/>
          </p:cNvSpPr>
          <p:nvPr>
            <p:ph idx="1"/>
          </p:nvPr>
        </p:nvSpPr>
        <p:spPr>
          <a:xfrm>
            <a:off x="838200" y="1444336"/>
            <a:ext cx="10515600" cy="4732627"/>
          </a:xfrm>
        </p:spPr>
        <p:txBody>
          <a:bodyPr/>
          <a:lstStyle/>
          <a:p>
            <a:pPr marL="0" indent="0">
              <a:buNone/>
            </a:pPr>
            <a:r>
              <a:rPr lang="en-US" sz="2800" dirty="0"/>
              <a:t>In the words of William </a:t>
            </a:r>
            <a:r>
              <a:rPr lang="en-US" sz="2800" dirty="0" err="1"/>
              <a:t>LeMessurier</a:t>
            </a:r>
            <a:r>
              <a:rPr lang="en-US" sz="2800" dirty="0"/>
              <a:t> to his students at Harvard: </a:t>
            </a:r>
          </a:p>
          <a:p>
            <a:pPr marL="0" indent="0">
              <a:buNone/>
            </a:pPr>
            <a:r>
              <a:rPr lang="en-US" sz="2800" dirty="0">
                <a:solidFill>
                  <a:srgbClr val="3333CC"/>
                </a:solidFill>
              </a:rPr>
              <a:t>“You have a social obligation. In return for getting a license and being regarded with respect, you’re supposed to be self-sacrificing and look beyond the interests of yourself and your client to society as a whole. And the most wonderful part of my story is that when I did it, nothing bad happened”</a:t>
            </a:r>
          </a:p>
          <a:p>
            <a:pPr marL="0" indent="0">
              <a:buNone/>
            </a:pPr>
            <a:endParaRPr lang="en-US" dirty="0">
              <a:solidFill>
                <a:srgbClr val="3333CC"/>
              </a:solidFill>
            </a:endParaRPr>
          </a:p>
          <a:p>
            <a:pPr marL="0" indent="0">
              <a:buNone/>
            </a:pPr>
            <a:endParaRPr lang="en-US" sz="2800" dirty="0">
              <a:solidFill>
                <a:srgbClr val="3333CC"/>
              </a:solidFill>
            </a:endParaRPr>
          </a:p>
          <a:p>
            <a:endParaRPr lang="en-US" dirty="0"/>
          </a:p>
        </p:txBody>
      </p:sp>
      <p:pic>
        <p:nvPicPr>
          <p:cNvPr id="9" name="Picture 8">
            <a:extLst>
              <a:ext uri="{FF2B5EF4-FFF2-40B4-BE49-F238E27FC236}">
                <a16:creationId xmlns:a16="http://schemas.microsoft.com/office/drawing/2014/main" id="{00138B88-00D7-F1CD-7A66-1B4CA0590888}"/>
              </a:ext>
            </a:extLst>
          </p:cNvPr>
          <p:cNvPicPr>
            <a:picLocks noChangeAspect="1"/>
          </p:cNvPicPr>
          <p:nvPr/>
        </p:nvPicPr>
        <p:blipFill>
          <a:blip r:embed="rId2"/>
          <a:stretch>
            <a:fillRect/>
          </a:stretch>
        </p:blipFill>
        <p:spPr>
          <a:xfrm>
            <a:off x="3418609" y="3822411"/>
            <a:ext cx="4114800" cy="2670463"/>
          </a:xfrm>
          <a:prstGeom prst="rect">
            <a:avLst/>
          </a:prstGeom>
        </p:spPr>
      </p:pic>
    </p:spTree>
    <p:extLst>
      <p:ext uri="{BB962C8B-B14F-4D97-AF65-F5344CB8AC3E}">
        <p14:creationId xmlns:p14="http://schemas.microsoft.com/office/powerpoint/2010/main" val="36464623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06450"/>
          </a:xfrm>
        </p:spPr>
        <p:txBody>
          <a:bodyPr/>
          <a:lstStyle/>
          <a:p>
            <a:r>
              <a:rPr lang="en-US" dirty="0"/>
              <a:t>Acknowledgements:</a:t>
            </a:r>
          </a:p>
        </p:txBody>
      </p:sp>
      <p:sp>
        <p:nvSpPr>
          <p:cNvPr id="3" name="Content Placeholder 2"/>
          <p:cNvSpPr>
            <a:spLocks noGrp="1"/>
          </p:cNvSpPr>
          <p:nvPr>
            <p:ph idx="1"/>
          </p:nvPr>
        </p:nvSpPr>
        <p:spPr>
          <a:xfrm>
            <a:off x="685800" y="1171576"/>
            <a:ext cx="10515600" cy="5540951"/>
          </a:xfrm>
        </p:spPr>
        <p:txBody>
          <a:bodyPr>
            <a:normAutofit/>
          </a:bodyPr>
          <a:lstStyle/>
          <a:p>
            <a:r>
              <a:rPr lang="en-US" dirty="0"/>
              <a:t>Charles Harris, Michael Pritchard, Michael </a:t>
            </a:r>
            <a:r>
              <a:rPr lang="en-US" dirty="0" err="1"/>
              <a:t>Rabins</a:t>
            </a:r>
            <a:r>
              <a:rPr lang="en-US" dirty="0"/>
              <a:t> : Engineering Ethics – Concepts and Cases;  Wadsworth Cengage Learning, 4</a:t>
            </a:r>
            <a:r>
              <a:rPr lang="en-US" baseline="30000" dirty="0"/>
              <a:t>th</a:t>
            </a:r>
            <a:r>
              <a:rPr lang="en-US" dirty="0"/>
              <a:t> Edition</a:t>
            </a:r>
          </a:p>
          <a:p>
            <a:r>
              <a:rPr lang="en-US" dirty="0" err="1"/>
              <a:t>LeMessurier</a:t>
            </a:r>
            <a:r>
              <a:rPr lang="en-US" dirty="0"/>
              <a:t> Stands Tall – A case study in Professional Ethics </a:t>
            </a:r>
            <a:r>
              <a:rPr lang="en-US" dirty="0">
                <a:hlinkClick r:id="rId2"/>
              </a:rPr>
              <a:t>–</a:t>
            </a:r>
            <a:r>
              <a:rPr lang="en-US" dirty="0"/>
              <a:t> Michael J. </a:t>
            </a:r>
            <a:r>
              <a:rPr lang="en-US" dirty="0" err="1"/>
              <a:t>Vardaro</a:t>
            </a:r>
            <a:r>
              <a:rPr lang="en-US" dirty="0"/>
              <a:t>: </a:t>
            </a:r>
            <a:r>
              <a:rPr lang="en-US" u="sng" dirty="0">
                <a:hlinkClick r:id="rId2"/>
              </a:rPr>
              <a:t>https://www.theaiatrust.com › whitepapers › ethics › study</a:t>
            </a:r>
          </a:p>
          <a:p>
            <a:r>
              <a:rPr lang="en-US" dirty="0" err="1"/>
              <a:t>LeMessurier</a:t>
            </a:r>
            <a:r>
              <a:rPr lang="en-US" dirty="0"/>
              <a:t> and </a:t>
            </a:r>
            <a:r>
              <a:rPr lang="en-US" dirty="0" err="1"/>
              <a:t>CityCorp</a:t>
            </a:r>
            <a:r>
              <a:rPr lang="en-US" dirty="0"/>
              <a:t> Centre: </a:t>
            </a:r>
            <a:r>
              <a:rPr lang="en-US" u="sng" dirty="0">
                <a:hlinkClick r:id="rId3"/>
              </a:rPr>
              <a:t>ENGR/PHIL 482 Engineering &amp; Ethics – </a:t>
            </a:r>
            <a:r>
              <a:rPr lang="en-US" u="sng" dirty="0" err="1">
                <a:hlinkClick r:id="rId3"/>
              </a:rPr>
              <a:t>CEProfs</a:t>
            </a:r>
            <a:r>
              <a:rPr lang="en-US" u="sng" dirty="0">
                <a:hlinkClick r:id="rId3"/>
              </a:rPr>
              <a:t>; https://ceprofs.civil.tamu.edu › </a:t>
            </a:r>
            <a:r>
              <a:rPr lang="en-US" u="sng" dirty="0" err="1">
                <a:hlinkClick r:id="rId3"/>
              </a:rPr>
              <a:t>rjames</a:t>
            </a:r>
            <a:r>
              <a:rPr lang="en-US" u="sng" dirty="0">
                <a:hlinkClick r:id="rId3"/>
              </a:rPr>
              <a:t> › </a:t>
            </a:r>
            <a:endParaRPr lang="en-US" dirty="0"/>
          </a:p>
          <a:p>
            <a:r>
              <a:rPr lang="en-US" u="sng" dirty="0"/>
              <a:t>The Citicorp Center Tower: how failure was averted – Sean Brady www.engineersjournal.ie › 2015/12/08 › </a:t>
            </a:r>
            <a:r>
              <a:rPr lang="en-US" u="sng" dirty="0" err="1"/>
              <a:t>citicorp</a:t>
            </a:r>
            <a:r>
              <a:rPr lang="en-US" u="sng" dirty="0"/>
              <a:t>-</a:t>
            </a:r>
            <a:r>
              <a:rPr lang="en-US" u="sng" dirty="0" err="1"/>
              <a:t>centre</a:t>
            </a:r>
            <a:r>
              <a:rPr lang="en-US" u="sng" dirty="0"/>
              <a:t>-tower-failure-averted</a:t>
            </a:r>
          </a:p>
          <a:p>
            <a:r>
              <a:rPr lang="en-US" i="0" dirty="0">
                <a:solidFill>
                  <a:srgbClr val="000000"/>
                </a:solidFill>
                <a:effectLst/>
              </a:rPr>
              <a:t>(RE)EXAMINING THE CITICORP CASE: Ethical Paragon or Chimera</a:t>
            </a:r>
          </a:p>
          <a:p>
            <a:pPr marL="0" indent="0">
              <a:buNone/>
            </a:pPr>
            <a:r>
              <a:rPr lang="en-US" dirty="0"/>
              <a:t>   - Eugene Kremer  -  http://crosscurrents.org/kremer2002.htm</a:t>
            </a:r>
          </a:p>
        </p:txBody>
      </p:sp>
      <p:sp>
        <p:nvSpPr>
          <p:cNvPr id="6" name="Rectangle 4"/>
          <p:cNvSpPr>
            <a:spLocks noChangeArrowheads="1"/>
          </p:cNvSpPr>
          <p:nvPr/>
        </p:nvSpPr>
        <p:spPr bwMode="auto">
          <a:xfrm>
            <a:off x="0" y="-153610"/>
            <a:ext cx="65" cy="61201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9522" rIns="0" bIns="17457"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222222"/>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222222"/>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5"/>
          <p:cNvSpPr>
            <a:spLocks noChangeArrowheads="1"/>
          </p:cNvSpPr>
          <p:nvPr/>
        </p:nvSpPr>
        <p:spPr bwMode="auto">
          <a:xfrm>
            <a:off x="0" y="29290"/>
            <a:ext cx="255198"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545454"/>
                </a:solidFill>
                <a:effectLst/>
                <a:latin typeface="Arial" panose="020B0604020202020204" pitchFamily="34" charset="0"/>
                <a:cs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48189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1485</TotalTime>
  <Words>1088</Words>
  <Application>Microsoft Office PowerPoint</Application>
  <PresentationFormat>Widescreen</PresentationFormat>
  <Paragraphs>60</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Wingdings</vt:lpstr>
      <vt:lpstr>Office Theme</vt:lpstr>
      <vt:lpstr>CITICORP CENTRE BUILDING CASE STUDY</vt:lpstr>
      <vt:lpstr>BACKGROUND</vt:lpstr>
      <vt:lpstr>THE DESIGN</vt:lpstr>
      <vt:lpstr>THE DESIGN</vt:lpstr>
      <vt:lpstr>A STUDENT’S INQUIRY</vt:lpstr>
      <vt:lpstr>LeMessurier’s corrective action </vt:lpstr>
      <vt:lpstr>ETHICAL ISSUES</vt:lpstr>
      <vt:lpstr>ETHICAL ISSUES</vt:lpstr>
      <vt:lpstr>ETHICAL ISSUES</vt:lpstr>
      <vt:lpstr>Acknowledgements:</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CITICORP CENTRE BUILDING CASE STUDY</dc:title>
  <dc:creator>User</dc:creator>
  <cp:lastModifiedBy>DNT Karunarathne</cp:lastModifiedBy>
  <cp:revision>35</cp:revision>
  <dcterms:created xsi:type="dcterms:W3CDTF">2019-12-23T16:11:15Z</dcterms:created>
  <dcterms:modified xsi:type="dcterms:W3CDTF">2024-03-03T09:15:49Z</dcterms:modified>
</cp:coreProperties>
</file>