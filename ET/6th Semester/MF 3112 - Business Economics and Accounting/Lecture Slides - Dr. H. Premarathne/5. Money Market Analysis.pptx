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83" r:id="rId19"/>
    <p:sldId id="284" r:id="rId20"/>
    <p:sldId id="285" r:id="rId21"/>
    <p:sldId id="286" r:id="rId22"/>
    <p:sldId id="28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09"/>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709CB0-64EB-49FB-B2B3-498E39C856D1}" type="datetimeFigureOut">
              <a:rPr lang="en-GB" smtClean="0"/>
              <a:t>15/10/2023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40FE7D-61F4-4567-944C-815D86A01859}" type="slidenum">
              <a:rPr lang="en-GB" smtClean="0"/>
              <a:t>‹#›</a:t>
            </a:fld>
            <a:endParaRPr lang="en-GB"/>
          </a:p>
        </p:txBody>
      </p:sp>
    </p:spTree>
    <p:extLst>
      <p:ext uri="{BB962C8B-B14F-4D97-AF65-F5344CB8AC3E}">
        <p14:creationId xmlns:p14="http://schemas.microsoft.com/office/powerpoint/2010/main" val="3207811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p:spPr>
        <p:txBody>
          <a:bodyPr/>
          <a:lstStyle/>
          <a:p>
            <a:endParaRPr lang="en-US"/>
          </a:p>
        </p:txBody>
      </p:sp>
      <p:sp>
        <p:nvSpPr>
          <p:cNvPr id="71684" name="Slide Number Placeholder 3"/>
          <p:cNvSpPr>
            <a:spLocks noGrp="1"/>
          </p:cNvSpPr>
          <p:nvPr>
            <p:ph type="sldNum" sz="quarter" idx="5"/>
          </p:nvPr>
        </p:nvSpPr>
        <p:spPr>
          <a:noFill/>
        </p:spPr>
        <p:txBody>
          <a:bodyPr/>
          <a:lstStyle/>
          <a:p>
            <a:fld id="{494388C8-0F38-40F7-B122-EFB4DF060840}" type="slidenum">
              <a:rPr lang="en-US" smtClean="0"/>
              <a:pPr/>
              <a:t>1</a:t>
            </a:fld>
            <a:endParaRPr lang="en-US"/>
          </a:p>
        </p:txBody>
      </p:sp>
    </p:spTree>
    <p:extLst>
      <p:ext uri="{BB962C8B-B14F-4D97-AF65-F5344CB8AC3E}">
        <p14:creationId xmlns:p14="http://schemas.microsoft.com/office/powerpoint/2010/main" val="2822826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BA4B00C-F462-D540-B510-F725E854B690}" type="datetime1">
              <a:rPr lang="en-US" smtClean="0"/>
              <a:t>10/15/2023</a:t>
            </a:fld>
            <a:endParaRPr lang="en-GB"/>
          </a:p>
        </p:txBody>
      </p:sp>
      <p:sp>
        <p:nvSpPr>
          <p:cNvPr id="5" name="Footer Placeholder 4"/>
          <p:cNvSpPr>
            <a:spLocks noGrp="1"/>
          </p:cNvSpPr>
          <p:nvPr>
            <p:ph type="ftr" sz="quarter" idx="11"/>
          </p:nvPr>
        </p:nvSpPr>
        <p:spPr/>
        <p:txBody>
          <a:bodyPr/>
          <a:lstStyle/>
          <a:p>
            <a:r>
              <a:rPr lang="en-GB"/>
              <a:t>BSc in Mgt / Macro/ 2022</a:t>
            </a:r>
          </a:p>
        </p:txBody>
      </p:sp>
      <p:sp>
        <p:nvSpPr>
          <p:cNvPr id="6" name="Slide Number Placeholder 5"/>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1021676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295211-FFF2-C84B-9471-BAF5279C9026}" type="datetime1">
              <a:rPr lang="en-US" smtClean="0"/>
              <a:t>10/15/2023</a:t>
            </a:fld>
            <a:endParaRPr lang="en-GB"/>
          </a:p>
        </p:txBody>
      </p:sp>
      <p:sp>
        <p:nvSpPr>
          <p:cNvPr id="5" name="Footer Placeholder 4"/>
          <p:cNvSpPr>
            <a:spLocks noGrp="1"/>
          </p:cNvSpPr>
          <p:nvPr>
            <p:ph type="ftr" sz="quarter" idx="11"/>
          </p:nvPr>
        </p:nvSpPr>
        <p:spPr/>
        <p:txBody>
          <a:bodyPr/>
          <a:lstStyle/>
          <a:p>
            <a:r>
              <a:rPr lang="en-GB"/>
              <a:t>BSc in Mgt / Macro/ 2022</a:t>
            </a:r>
          </a:p>
        </p:txBody>
      </p:sp>
      <p:sp>
        <p:nvSpPr>
          <p:cNvPr id="6" name="Slide Number Placeholder 5"/>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80586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DA2C95-62F9-D149-A4A1-35B3DB935A7A}" type="datetime1">
              <a:rPr lang="en-US" smtClean="0"/>
              <a:t>10/15/2023</a:t>
            </a:fld>
            <a:endParaRPr lang="en-GB"/>
          </a:p>
        </p:txBody>
      </p:sp>
      <p:sp>
        <p:nvSpPr>
          <p:cNvPr id="5" name="Footer Placeholder 4"/>
          <p:cNvSpPr>
            <a:spLocks noGrp="1"/>
          </p:cNvSpPr>
          <p:nvPr>
            <p:ph type="ftr" sz="quarter" idx="11"/>
          </p:nvPr>
        </p:nvSpPr>
        <p:spPr/>
        <p:txBody>
          <a:bodyPr/>
          <a:lstStyle/>
          <a:p>
            <a:r>
              <a:rPr lang="en-GB"/>
              <a:t>BSc in Mgt / Macro/ 2022</a:t>
            </a:r>
          </a:p>
        </p:txBody>
      </p:sp>
      <p:sp>
        <p:nvSpPr>
          <p:cNvPr id="6" name="Slide Number Placeholder 5"/>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691955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7854EA8-4405-8E42-A4A2-8AD6A3A42923}" type="datetime1">
              <a:rPr lang="en-US" smtClean="0"/>
              <a:t>10/15/2023</a:t>
            </a:fld>
            <a:endParaRPr lang="en-GB"/>
          </a:p>
        </p:txBody>
      </p:sp>
      <p:sp>
        <p:nvSpPr>
          <p:cNvPr id="6" name="Footer Placeholder 5"/>
          <p:cNvSpPr>
            <a:spLocks noGrp="1"/>
          </p:cNvSpPr>
          <p:nvPr>
            <p:ph type="ftr" sz="quarter" idx="11"/>
          </p:nvPr>
        </p:nvSpPr>
        <p:spPr/>
        <p:txBody>
          <a:bodyPr/>
          <a:lstStyle/>
          <a:p>
            <a:r>
              <a:rPr lang="en-GB"/>
              <a:t>BSc in Mgt / Macro/ 2022</a:t>
            </a:r>
          </a:p>
        </p:txBody>
      </p:sp>
      <p:sp>
        <p:nvSpPr>
          <p:cNvPr id="7" name="Slide Number Placeholder 6"/>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1689876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AE38EF9-E355-7345-9763-04550437C2AA}" type="datetime1">
              <a:rPr lang="en-US" smtClean="0"/>
              <a:t>10/15/2023</a:t>
            </a:fld>
            <a:endParaRPr lang="en-GB"/>
          </a:p>
        </p:txBody>
      </p:sp>
      <p:sp>
        <p:nvSpPr>
          <p:cNvPr id="8" name="Footer Placeholder 7"/>
          <p:cNvSpPr>
            <a:spLocks noGrp="1"/>
          </p:cNvSpPr>
          <p:nvPr>
            <p:ph type="ftr" sz="quarter" idx="11"/>
          </p:nvPr>
        </p:nvSpPr>
        <p:spPr/>
        <p:txBody>
          <a:bodyPr/>
          <a:lstStyle/>
          <a:p>
            <a:r>
              <a:rPr lang="en-GB"/>
              <a:t>BSc in Mgt / Macro/ 2022</a:t>
            </a:r>
          </a:p>
        </p:txBody>
      </p:sp>
      <p:sp>
        <p:nvSpPr>
          <p:cNvPr id="9" name="Slide Number Placeholder 8"/>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249397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3951A66-1C67-264A-AB4E-E6DE12043A31}" type="datetime1">
              <a:rPr lang="en-US" smtClean="0"/>
              <a:t>10/15/2023</a:t>
            </a:fld>
            <a:endParaRPr lang="en-GB"/>
          </a:p>
        </p:txBody>
      </p:sp>
      <p:sp>
        <p:nvSpPr>
          <p:cNvPr id="4" name="Footer Placeholder 3"/>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2161387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0E037B-CF89-934D-8EFD-B072D1922B68}" type="datetime1">
              <a:rPr lang="en-US" smtClean="0"/>
              <a:t>10/15/2023</a:t>
            </a:fld>
            <a:endParaRPr lang="en-GB"/>
          </a:p>
        </p:txBody>
      </p:sp>
      <p:sp>
        <p:nvSpPr>
          <p:cNvPr id="3" name="Footer Placeholder 2"/>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2264099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E3BDB3-3CC9-E94E-8B9C-E13F56489D70}" type="datetime1">
              <a:rPr lang="en-US" smtClean="0"/>
              <a:t>10/15/2023</a:t>
            </a:fld>
            <a:endParaRPr lang="en-GB"/>
          </a:p>
        </p:txBody>
      </p:sp>
      <p:sp>
        <p:nvSpPr>
          <p:cNvPr id="6" name="Footer Placeholder 5"/>
          <p:cNvSpPr>
            <a:spLocks noGrp="1"/>
          </p:cNvSpPr>
          <p:nvPr>
            <p:ph type="ftr" sz="quarter" idx="11"/>
          </p:nvPr>
        </p:nvSpPr>
        <p:spPr/>
        <p:txBody>
          <a:bodyPr/>
          <a:lstStyle/>
          <a:p>
            <a:r>
              <a:rPr lang="en-GB"/>
              <a:t>BSc in Mgt / Macro/ 2022</a:t>
            </a:r>
          </a:p>
        </p:txBody>
      </p:sp>
      <p:sp>
        <p:nvSpPr>
          <p:cNvPr id="7" name="Slide Number Placeholder 6"/>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402295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69EC7-7623-5B4F-835D-ACC965D8AAE0}" type="datetime1">
              <a:rPr lang="en-US" smtClean="0"/>
              <a:t>10/15/2023</a:t>
            </a:fld>
            <a:endParaRPr lang="en-GB"/>
          </a:p>
        </p:txBody>
      </p:sp>
      <p:sp>
        <p:nvSpPr>
          <p:cNvPr id="6" name="Footer Placeholder 5"/>
          <p:cNvSpPr>
            <a:spLocks noGrp="1"/>
          </p:cNvSpPr>
          <p:nvPr>
            <p:ph type="ftr" sz="quarter" idx="11"/>
          </p:nvPr>
        </p:nvSpPr>
        <p:spPr/>
        <p:txBody>
          <a:bodyPr/>
          <a:lstStyle/>
          <a:p>
            <a:r>
              <a:rPr lang="en-GB"/>
              <a:t>BSc in Mgt / Macro/ 2022</a:t>
            </a:r>
          </a:p>
        </p:txBody>
      </p:sp>
      <p:sp>
        <p:nvSpPr>
          <p:cNvPr id="7" name="Slide Number Placeholder 6"/>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1010030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9C1DD04-28E8-8A4E-A7B7-4D3ECFB48AE3}" type="datetime1">
              <a:rPr lang="en-US" smtClean="0"/>
              <a:t>10/15/2023</a:t>
            </a:fld>
            <a:endParaRPr lang="en-GB"/>
          </a:p>
        </p:txBody>
      </p:sp>
      <p:sp>
        <p:nvSpPr>
          <p:cNvPr id="5" name="Footer Placeholder 4"/>
          <p:cNvSpPr>
            <a:spLocks noGrp="1"/>
          </p:cNvSpPr>
          <p:nvPr>
            <p:ph type="ftr" sz="quarter" idx="11"/>
          </p:nvPr>
        </p:nvSpPr>
        <p:spPr/>
        <p:txBody>
          <a:bodyPr/>
          <a:lstStyle/>
          <a:p>
            <a:r>
              <a:rPr lang="en-GB"/>
              <a:t>BSc in Mgt / Macro/ 2022</a:t>
            </a:r>
          </a:p>
        </p:txBody>
      </p:sp>
      <p:sp>
        <p:nvSpPr>
          <p:cNvPr id="6" name="Slide Number Placeholder 5"/>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1183014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D899D9-2B5C-B641-8B82-FC0583099A18}" type="datetime1">
              <a:rPr lang="en-US" smtClean="0"/>
              <a:t>10/15/2023</a:t>
            </a:fld>
            <a:endParaRPr lang="en-GB"/>
          </a:p>
        </p:txBody>
      </p:sp>
      <p:sp>
        <p:nvSpPr>
          <p:cNvPr id="5" name="Footer Placeholder 4"/>
          <p:cNvSpPr>
            <a:spLocks noGrp="1"/>
          </p:cNvSpPr>
          <p:nvPr>
            <p:ph type="ftr" sz="quarter" idx="11"/>
          </p:nvPr>
        </p:nvSpPr>
        <p:spPr/>
        <p:txBody>
          <a:bodyPr/>
          <a:lstStyle/>
          <a:p>
            <a:r>
              <a:rPr lang="en-GB"/>
              <a:t>BSc in Mgt / Macro/ 2022</a:t>
            </a:r>
          </a:p>
        </p:txBody>
      </p:sp>
      <p:sp>
        <p:nvSpPr>
          <p:cNvPr id="6" name="Slide Number Placeholder 5"/>
          <p:cNvSpPr>
            <a:spLocks noGrp="1"/>
          </p:cNvSpPr>
          <p:nvPr>
            <p:ph type="sldNum" sz="quarter" idx="12"/>
          </p:nvPr>
        </p:nvSpPr>
        <p:spPr/>
        <p:txBody>
          <a:bodyPr/>
          <a:lstStyle/>
          <a:p>
            <a:fld id="{BBCDBD91-893E-4CED-A716-151F56A42A5A}" type="slidenum">
              <a:rPr lang="en-GB" smtClean="0"/>
              <a:t>‹#›</a:t>
            </a:fld>
            <a:endParaRPr lang="en-GB"/>
          </a:p>
        </p:txBody>
      </p:sp>
    </p:spTree>
    <p:extLst>
      <p:ext uri="{BB962C8B-B14F-4D97-AF65-F5344CB8AC3E}">
        <p14:creationId xmlns:p14="http://schemas.microsoft.com/office/powerpoint/2010/main" val="387143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03BB1F-8D41-BD49-8793-D3A63A0A4679}" type="datetime1">
              <a:rPr lang="en-US" smtClean="0"/>
              <a:t>10/15/2023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BSc in Mgt / Macro/ 2022</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DBD91-893E-4CED-A716-151F56A42A5A}" type="slidenum">
              <a:rPr lang="en-GB" smtClean="0"/>
              <a:t>‹#›</a:t>
            </a:fld>
            <a:endParaRPr lang="en-GB"/>
          </a:p>
        </p:txBody>
      </p:sp>
    </p:spTree>
    <p:extLst>
      <p:ext uri="{BB962C8B-B14F-4D97-AF65-F5344CB8AC3E}">
        <p14:creationId xmlns:p14="http://schemas.microsoft.com/office/powerpoint/2010/main" val="3317474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p:txBody>
          <a:bodyPr/>
          <a:lstStyle/>
          <a:p>
            <a:pPr>
              <a:defRPr/>
            </a:pPr>
            <a:r>
              <a:rPr lang="fr-FR"/>
              <a:t>BSc in Mgt / Macro/ 2022</a:t>
            </a:r>
            <a:endParaRPr lang="en-US" dirty="0"/>
          </a:p>
        </p:txBody>
      </p:sp>
      <p:sp>
        <p:nvSpPr>
          <p:cNvPr id="38920" name="AutoShape 8" descr="data:image/jpeg;base64,/9j/4AAQSkZJRgABAQAAAQABAAD/2wCEAAkGBxQTEhUUExQWFhQXGBsbGRgYGR4ZHxgdGBgcGBgYGhoaHighGBolHxwYITEiJSorLi4uGCAzODMsNygtLisBCgoKDg0OGhAQGiwkHyQsLCwsLCwsLCwsLCwsLCwsLCwsLCwsLCwsLCwsLCwsLCwsLCwsLCwsLCwsLCwsLCwsLP/AABEIAO8A0wMBIgACEQEDEQH/xAAbAAABBQEBAAAAAAAAAAAAAAACAAEDBAUGB//EAD0QAAEDAgMGBAUDAwMDBQEAAAECESEAMQNBUQQSYXGB8AUikaEGMrHB0RPh8UJSYgcjghRykhYkQ6LiFf/EABgBAQEBAQEAAAAAAAAAAAAAAAABAgME/8QAHhEBAQEBAAIDAQEAAAAAAAAAAAERAiExAxJBURP/2gAMAwEAAhEDEQA/AOVWGUweBDvmk2ptwtIIJL5z2WoAoWg5kkaDIu5z7ajWsSQZNrerPvVxdULHJi7C5fPi7URQdGZ3vfpPCpMLDDFwGA9ZiArV5P0pggMwJsSxAyl7x7/SgbEeWl3lzqCelrn7UX6YYljoBxh+Dfkc6HHHzFsyAYtNmLAcqclpFmz4jUk8bUDbpPH768H5U6gXBZiou866+nrQm4zJIMfYgv3yqRKnsxNhEl+DuaBypiVaO3P/AJdcvrUaUwAQX+z8ZrofCvhfFxSBuOGiAHlmLSBaeDXYHs9n+AAkkQzOApi+bFgWzF86zepFx5gtJL2DmxJ1vJcZzw4wx2QyN02ln4sdWjua9Nwvg9ClAO2QG4QBAd+M/tqWN8L7iVbmIRhgtvLl9QHUPrppWf8ASGPKv0lWHmeAzn+DU3/RK3mAYh3d2BYmXmvQF+AIfyqXALAOATrIAe4uTxqHE2JaFbigIF92wYnzBRF2hjxar9zHCYmyrTJS+8Pq2r1Ep7MWF8g/SdRXar2UFfyyIBU4B3okEsdIFVNv8FUcM7zAlclvlc5w92yDOAcjVnRjj0h315xRLOioHFpabXrUV4R5lMrd3flzBORe0xWbtOCUMFCTPMGxnv0rcqI0mOfH6N3elvSGLAcaSS5fQD+OGdMymdjPt9u+FVE2+7lQeNeD5dPegIOSpz6jP39+NMUMRqOdxb3++dETBUAS1jMacMhaoFhv8xDgfj3y7agLSfRyfx29GnFYBjclyxuzX65CHzyBZ0kcf57agLehuWejsZjU9aZpa3U+r39BQKGZBHb87fUU6Qeh55cqoJXP6RFpLxSo0rADFJfpSoJN4uSzOI9C9qMq4ghOR9NPvrTlfmJdgBAI0gAgHy5yXaljIUzbr5uJv1YW7asqjTheUAuC7/4kZPYa0JXDwYbSdQNXnnT/AKpCXDhzHLm/0GVOkl3ZmBmb83eHeKB8RfmAcgB297R9BRkODIm8SQA+ls8rB8qjKnMAeac+MXc59vUjBlXFtfoDa9/2oFhQ5ci0DQasPv8At1Pwb4AcYlamKQWDDzAg6WN7k5VzIRvKAHmZmDKPDduwDsMzI416T8MrXhpGHh4aipRJITZIcCVEs5Exr0rHdyNR12w4mDghQSR5RKgzkjINRbT4iwnyk3Z2HMs75/iqPh/hmJmjdCmlSp8pJAjV/blWqnwognzJId5SemccWvXHKbIycLxdKQd12FjA4OB/VzOVAnxUK+UgAyMyWzkRrFWdr8JQFPipAH94fLIpa15fnWZtPhAw3AbzOUtxvulr28sXzo14H4ioKneVuKDApYE63dxWLt/h2H5VpWp2ICSXS1gRZQc/Sp9jSpJIKgQxZeYVdnMPxgH1FWwlBQp8IqaS67OMhbparuDmtuxf1PITlLsqBxjTKo8faQ03SAEhiWe851JtuACVHeV5SW8jXaBd7aZdKq4ZxELIgpKXbMtYtcXuP52hbVghYAASJn/IO5kNNtJrP2rZU4gcukpDBwOAL669RrW0R/UTvOAHSLf2qIIFjGktAtm7RsxIQ6gpi7SFH10irKjmdq2FQXu+UqzYce5qmSH0HFjl+wrqEJ307+6LszjnvbsXYfSsDbMIhnbzDeYRDPOddJWbFZKoMByL6dikWgBxz9qJABzZhq2fJ/4oUqm/fo9aRJh23oM6h7Hrl7jUVGQBqD0+tEltWbnneGe3c0ylEuXfn/FA5Lw+jWl/egJn+PekAGOveg5d2JjAfpf7MKBhjHUeg/FKpsPaCA3560qA0K1kXItrcn7U6ikpzBfUfyY0p0Ak5OYd9Xlz9qP9Qi5cJa78M2eOlhwrKmLA5FrWD8Wufb1odnRMQZe1v+3k+bdKU2JZzLEwOQFLDxDJu8TbhFj1+lwWIm58suIbjk8RrRoKQN1sn/pM5XLamz0CcVmZ4cs5vk0MDbWpDiEgOXdoeYgNDBr/APINnQWfB8HfxsJJSC6kmwsC8iXDO4Ayr3jwLY04eElISAM/3427FeQ/AGzvj75GiRzOmZIjtq9p8PR5ePtyHCuXfnrFvpaApzSqPE9HitXxHNT8YUP0l8va8caxsHEC8HAe7EuCHKkPF/MQAY96m8U2xwyWZjPfHuGNDwzA3tnCGG+FFSWYMQwD6OCRc1w3XaTIo7Wpw6VB1HKfmAY8Bzu/qG04qkhKThi8xwgictH5VoDCUD50DeAUJgEKNy1mk6Xqnj4DvvAFTF3NsiAbG0Z8nqxphbchW+GLBiwAgkxeM2tVsbKgByHUIdIh2IJKmgEA63ez1LiKBSylb4ZiRG68Ewc08CYqRWHvIEgkuTkwB+Zm0SnjJetajKCQxSSokBLFMNuuGDyEkZWjlWeMRSfJiApd92IBaQfMWhjH9wrf2jZN7fQC6XcQwDBwDlY8vvlrT/uJK1QNTLkqc8dLlt31sqMjatn3FYY3SQzkEzeGFUPEE4bqICwYIV0YC+tbXiBSEuR5206HXhWPtXmPlLISJyDuokWz4iWNbiVjM1mIILuDEE2GbB7+1R4kKEM149mu34q14hhhLk2JIEaPMcW7iqCxZi/Qda6RipEFgYdzMfVo096BUBu+/wA06Tnk+g/js6UIVf8AFUSIctm3NrmD6n1puLGD+aZQgQ3T0nqfakA5AB9W1qCwgQPO3/l9hSoErDWHofzSoqXZ1HeiGGYMxIYSXmixcQ2IA5A5agHtqgVhsZGQJbL0p1LeRwDNZhHOoCQLsYcQxyY8qZJJVPHU60Skf3JLDMWPWHGfI1GhN2Dk/eza+l2qh1CBZiePfpRgiWMsAL39H4VGlnzHDuWv61Khz5Qly2Tk55A68chUG3sXjqtkw8PdSCVBwX4uSfb0qxs3xp4hjKIw1GY3UA+UG1vrReM+CJwsLZhjf7alJnfNg7sHzA+tdj8LfC2zKQMXZsZSVsxZQWC39wLh5yaDXO3n20ofCXxtjYOKrD8QWd3dcKIsQzl8wxr0Y7aCN4Skh0kS/cV5z4olSyrZ9oThpxAfIpFlgRD2VY8xUvwhta0KGGqySQC+SSGHJmE6Vjq7D6tzxNcEhgGdjc7rz9bcZrQ2HZydnjyhW6QwmPmB1MVn+JpO5vN5eAu4AYxGVvR6n+HvEQvBKVApOCd0lVlDJjmcqx+NVZVjFKBeAypGfV+g1FUcbGRP6qcRJlimQ1wXD/Z3zo/E/n/qAcAgF4Ey89jnQYpxCd1KkLADgKgjUOW9qKxjjpIZJIdn3kkNkkIBQDpMjnQbbjuP0wD+ordQS5YAM5JkOWESfdpkAYnlBLSGkiXdiS4EZ686rr23CA3QHUCHP+W7AguAOlq0i8FPhsCyW+Zm+VmDkwZfhVLa/DQtOf8AtsXiylAFy2TTyHKrGCpZ8ydQC4gEmYJeQ/rQYilqWt2UXdTxx1nIxwpBieIbOSQUsTC0u7iDEzmOprn9uw81D5/MSRaIkQSY7Iro8NG+SlaSCWD70uGgG7M8mL1keMoTvuI3H8qgwUweOjT/AJa1vmpWJtuCQAHJ3WgwA4yccj61k8fS1a2MslKd4SQd0820uQ3vWUrIP317gV15Yp0EsLc445nr7aCmF8u+NJI6d9+1ICO+/wCK0ggWD8tOOd8u82SzMbv2+ZobnTvhR4Yu1vTvTrQTJCAJBJ6D701AEcPcUqgmwkkhxOWRz9BkOtCsgkZNeBy4DvnUz2ew/jPnUS0GZ7t3yqKlw8IsCA86As2TmM/cZUkJAUbgzlrBYmTHcwJSM4a2Wns/tRIQWZnD5CWzgTp29AwB3kgpfOUv65kWvXef6Y/Df6mJ/wBXiD/bwyQlLfMpmtm31Y1yvwt4R/1W0owk2J83BI+c+hzr3BeGjDQMLCAShICUhoghjF7etY76zwsjH+PvDkbVsaizrQd5AaSTG6H1rk/hD4e3dlGMjExcLHKiPK4cCPMgwRe/rXe4uMLKAaWnUkl+EC3tWV4Zs6VLLlRYwlZMgC7GP4rl9rmNTlOfAlY+GFYpTiYibKSncU4zSp2f2gVb8B8Iw0IBcKWHc7oBsxChq1beyEFIIDBo5VMelJNjN6/GZtOygJAZ294YMNa57wvZ/wD3IALIJUFjUkApMZQS/Gt3xjat0AktN3y4HXJq5/wfB/V2hKkwApyQASWBYPo/Gsxv8bW2OoFwkpQrdZQzcMS4lLZ5fTldowlJcYSlbyMQfp3CmV8yd4Flht3tq67bAnfIUsAOIU6QM7iLPeh3MEYZxEspCP8AkzQWe1PRrg8XFKv1AN4fqHys4CS3zMYEO55capsP1VB07wSTvM5WQzboAkMC/M5O/beKYmAnd/Tw8IKKt0pIDX8p3f6S4fKHqHxLZkYSUqxEllncUkF91z5VoOQ+YxWtHN7R4speGyUAl5UXAO7optHzap/DNl/Uw5Kf6t9Lb8OZdwHgHWBW54hhYOGlP6ilFaUsC7uEkEKm58yT0PGuFPjBGKlWFjMAsq3U/KUkJB3hkYUW0HKrPPoWNrwThr3rYbCQbSCSnQw2fs1Y3iuHvboPzwxJ3t4DMO5aeoBrU2jxRKkrCjurWCd02ZUK8sbsId7h6zMLa9/C3zcOC2kEE6B+9dzWapYuERG64SzQf6vqeWc1kYoZ3v6fat3EWEmCEkyd52Jhr265jSsfacQkvmWYg6cvvW+Warkte319qYHvu9TBZZ9434vm3DWoX962gsubZ/bv3FJIy4/xSNmHPX19aQL3Gf8ANBP+qBDnoaVRgaqbhNKirAENJJaOD8Q/fCgK+EwxjhNn/mnSRmMstXuwvpSKMoJIe/WQPWdayJEK4A9BwbXvWnwWcmX5Bs/XMzo1R4i3D5l3kG7aQIj0qTCDhIcEAniRHpx6cqK9Q/0h8JAwsTaIK1EoSzeUC7tqdchXcY2yi6y1pF34Ca8G8G8fx9l3v0MXc3zILERzseVXUfEO3bXjJQjEIWoMBDGHLltHsK59cb5I9D8Z8Tw0YqQFFKSoJmXcs4iD+9dXsWy4W6FJSLM7admvKP8A0VtanUvESsJkBL/M169K+FMZ8HdV8ySxByyrGTV69NhRZgKixFkT37USy1+VV1E2uBc92rPVZkZO3YP6kPBllTA+ghprP8NIwsZCmAEhRtukxbj966BnFmLZ+vpGeb1yvxTvbpVhuCCLjMN78PS9ZjoufEuOMQ4uGDKcPejX+kvGYUIyPGuP+Hto2kYGIjFCkoUd5MOfLoP7STm3DOuhxjh7QMJSj5lI3gAJXkqUvNwDUmw+B4WKd1SlQXSlSpWEn+1RhI5X41qXBzmH4vuf7gYgKJnUeUfNzLcgM4zfHPileNuJdgFO9mCflCWuLnm2ldnj/AKFbx3EkkKYOpLWaxI09Kq7J8D4eI6FsDhlyhTOARwnd4w7VqWe01wviPiWNiqRfSDcAbrc2YVmpxtwlJh8gDxLOCHby+pNer7L8KowlpRiglKlEYZFgWJZsn65Vl+NeGI2fHw0lAZSwN/SJc/3EbxB561qdT0jz7FKlOEo3lK4FwBcB/lF9avq2bcAwwyQUhSnIlllJnmXbQPlXpO2+GBUfqbqgOBgh0wzqYggz1rjPGk4SCCCCZTiBJEndyAycTnSdaYyVKdJB82QI4f1AG0sOuj1i46GUwOZgvLFpHd8q1kpJThqDFT72QsxmGAE30rN2xJJKiDe7XkZGwYiunKVWCI5G8/xYPTIRecu+FOnVzfMet/+PqaSk6jrr1rTIVCOMU6U2056TTbxd7xf6n1p0KZy5Byb882PTlQWP1mhv/sv80qjGyqNkLI/7TlFNVVPhqLAb0ZiYnMg+vIdEpUEueg48+3oEg3Z2At+bamixDAbIB3zlgX69zWQRBLOd5p+nubdBTYbs7kG0h21vTrVCiZm4l2aXOV6PZ8Qg5MDm8ywye54Z60EUuHLtfi12rpPgbw8q21CnYYYClFUfN5bnnnpWAkWj5i7zn0cmav+B7IrHxhhJUEJUCFFv7Zdsy5jnU69LHvG1bUnDAmGc8sy+dBsuIkkLQAyoJE9a4vZvhE4aDh//wBDEAYshkqiQ7Xj81p/DfhWJsStzfOJhKkEhlDIbw7vavPc/q468marrE5yJb3JojiuOffrUGCfMog+ut2vLfY1LdSRPuxlAgMH7/auS+KUBhkOM65HnnE5NXVrgOYefufv0rkviXHBdIYmWJDSTlkT80c6jXLn/CkIVgBLupKi6d4pISS6WjJyARYtxeHwfBJ2tO0KK0pwS2+SACzgBxBSQZa71zm0bZiIxCvDO+DdswCzekvkTT4vxGtaNxRAALxBvqX3jHub11+t/DXp+0/G2Hh4cJdZeOQEnPMc3isDD+MUYe0jGUCWwCFhwC5UCArVW8SzWBNcFi4wclKVbyvlL+jubhuHpVc4iUuEqDFned4z7B61OEer43x0hakhOHvJBSoqyEQ3vXLfFPxf+qkAoCT+pvAmWY5xLO0feuLTt5CGClA3gZ/t0uai2jaXgKJD3J7zmrPj8prrsT4kWrDSSoHeBSq43UhiyTq7FvrWRibanFW07ylb3mtybW9Yuz4pBcFjrmeHelXNiwilYUkEgXN8u4q/WQ3WltpQUpKfmJbMM0MWfUGsvGQIAzSCXa8Q7Au/16m0rGZQclgYDsw10as/GWd4k5jlpVhTKALwzG788iO2pB4sTl65e/v1YKIgkcbcY1eT6im04Xt9H++VaRGtuvf80YIBAETfvSkjiBy52gd+tMnhf7cu70QQKM0q6K/alSGGMzPSnqg0NZm46ueP2pyTmBl3rTgSZEsL++Z/mmUScwIFj/J0rKpAkO1ufQc6BKZYpnn9hSSjIEHe9ubcs9abCkliAzmc24aXPSgNJzDPaZ+sD96lw8QoUhvKQZIJ1Y2tP2qHDEC2vKH6fxUuAB+ogkuN4BiXjebMc8sjUV7t8KeHhGElZHmIdyGLN75VqbWXBYPz48DWf4Z4mlWGkJPBmkdOQpbd4phhw4c5Ozxfm8a15quXdTYOMAYt3d+5qdKQkgQ1ybM3GuSPiCU+Yq4EF7k5mxmBrIqwjxVlut3IsJcszgd+t5jVje2zbkpSpYOgYw9xcd3rznx7alYrgWLOCfNnukqOUBsnfWtjxnbFYgLKISwYNYl5kCLX5Z0Hhfg6sUuhMgfMUwCWsXlJ/trXJmKWw+GJCN5QCQ9jLqNgJjlb1qwn4UTtG8fKjCEKXujKWSHDm0/Wu32HwRCADiMopJI/tD8OHGue+LPj7Z8FCkYBRjYkhh5kpIs7QZyGnrv69M3qeo53xzwjZtnw94JSjMBxvlLQSouWdNozrgtu2hwUhIAJgh3LNq+g9X4Utt8SXiqUrEJUSbPaYYWGlrGqiE3LNE8IuNTHt1rpzzntLVUhxwoSlqmUgtz9pz0n60CkgZmujJkma3NiUWUBGaQZ3mhhDPfX2rDUn3rY8Mxy2rJUNZJAJZ9Oj61npYtbjDdIEqLhnyYAPzaOBrJXKixgGPW336VrKIlwxA3BcKEkgzcwzfzWPtKfMcyTLSOBHtepFot5nNnmOcO3WOFOoswDO1/2tUKY4j94HDOiS5G9prz/AHqoTA8LcX0fo1OlN9B11+wagWqJY8adGlnP8v7VQCicgaVGU8O/WlVB8DGvrdgOV/xRsWYMScr58KEKjI6+okkC1u2pt4pOjCCzc/vWVPiLd5s/4aIs3pR4DhoBd9D7mKjLkSBcy3AHTuaHBVN5dn7Hb0RJhqzeTHZblapMUixsA/8AOf8ANRYaCWEQJa/806QeE5Z3taOT6UVe2fxTGw2/TxCMy0E8C0m1WcTxL9UytSVzBLcjdnrLZ5MMLiPtz9KbZsArO6BvCbZdBfK1TIa1k7XiJACySl5M2NzPU9OFb3w9jrxsQDAwcRYcupmEN/V/TlyIrB8GQk4v6eOFp3zCX4iJmzjSvY/BSnAwgFbuGgAlgGYAsd492Ncu8jSp4Z8MrUoKxykJFkJku7kqVZj/AGy2tbHi3juzbGn/AHFpSckAjeOQj7mK4X4r/wBRS5wtiaf/AJGuxkp9GrzvaMZWIpWKtalKLgqLl82HBQJgtY1rmMXz7dB8W/G+0bVvJBOFhW/SBnmtTAnQi1cgEmAOn1HoXHWrBwy7GUgGbQQC46MrS9SI2e7uCoZgSIKi2jFKgQ8Anl0gpps/Szx1zb6USEgAHvN8u96rY2dyE65fMBcAEgu7uluI4GkrAD+ViSzAPwaLmCketNFUJvBHTJtDmfLL51CMJ7wSZ4fi9WAsgyN0Z5Fmn2nmBVkJ8pcgOTkPViWD+a39opoyl+2VPs+OUmORzq3tOHuwQQTzF+Da/SqmIjrWvaNTGWNxJcEuFDUAg305XqgcyLfns1Jh724WiQP5AtcTy1oFgOACeuU86yoQIk9PX9/WpALNlf1moCpi95qXDVxYnMw3v29UEkBns3549xSSTLi/837vUazZ+vrU+FBObcH0ye2XpQJOGNTSp1kOfx/+qVQ8IUwLW9vtmKUtd/t1o0sGOXP9r0Kljv62oERJyy053m/1p0Bix168YvSAtb2/D/wKY5FwSTbsNpQFgFmbO4b7dbmjxSN4FrAHsWigwjYnIBmAPQv99KHEIFp9Oenb0A4q2AzH5y71r1H4Y2PCwtgw8RCPOsFSiWcqdg39yRw0515MTXpfhG+dhwlJfyoUGRdXmh87SGZnfOsfJPC8uV8W23e2vexDAIBIjkRGV+nStLx7xz9ZKUYayEtIA+cw7nM55SWrF8RwiPmTuvH8B+cHMCao7Fj7q0gk7sgsbPY52LG2VX66akxkFy5uWewctdwIMGWsamwUKgJMwxs0wxufMClg92qwvDUVBJSFO3leVF2YH+pTkgfNCho9HiABJUBNtWYScwHT/wBpdGoq6KwTchwXYWG6qTusALjeTla1qk/TYx5khjIeAN4AkCCRvByBAu1Ns7lQGaZB+izexl5+YyKsIDBiB5jPUmCXuhUwTCgWvQANnZ7EqBdyG/tMlxfcMKsrQ1NtSBhn/A3YwxkGd4QCoaujUVNjCLgpSwLuI3QRG6boJDlIfdGhqmvaEhPmZktG981gfKoq0U0CVA2qexHiJV8xLq5Zhypglxuwr1GVVwQzGLAgZtmGj+/KPWljeKOBugg5zchmswbyjKs9eKTy+1akTV3Fxkw8mxYDO8Bv8vUCqGIvhSUB/NCWrUiCSsi3X9qJeMSSTc3qNJo1BjF6BngVJgq1715xUb1Ki0nvO1z+KBbsP36CpUswDmXcfteo8QBy2k9iKJ3v+f4moqVSiCz24ClTJwnDs/r+KVBXBaR0o2ty4zn+1CuKTOPbsUDqPC/Ps/tTvw042796FhOn76PFJKXz19BQFhqgd5Zd51HjKJOnb0eGLHv1qJKXOV+3ogsPAKiyQSe9K93+CfBxhbIMPeVLKJUIUSPlSkuyfecq85/048PKscLcgMoRm4Znbr+K9fw8I4OGtZACyYG8WSCYH3gTXH5OtuNSeHl3+o/h6ME+XMkf8jNvbK9orz4KIIIMhjyYxXW/G3iP/UY+7hqCghy6YSS87r35/wCNcpiiw/MO01v4/R02U4yVodkhyAxyZ2Iu8MHL2ECixsEnzyxzAkn5ipAu39UMB5g1Z3hOIArzEpDS2eabSWUx6XF618JScy2bCZ4md4TPz+VZ0pfAgCQzM7XTYAzvIUWg7oVk/kTMVIra2dZiN0yTvEgJVLuzbqncgkWyptvx0oDKSxBYS5bIFpBDJaU2VE1h4mMpZYQNBADOerOdasmlq1tnim8kJSkADO9y44Q5AYCDVMjekmePWKbDHfOpRhtn23o03rXpkP6J75PUq8AjOOY1FTYaS5IspwP/ACSNPcTRLxASbOcpkeYgk9U56VNVAgJlxJa8av8AaoF4U2bO7R161aUtvLoSeEAC1sjNVsVXffKrConA79aW/wAadpoDWkEIM1LuB4nPSoDU+Fi5H5R7P9uFSkHiNYu+bx0pIEQKFYn865+9HhwH+w+pqKM4gFgfWlTJt8vuaVBCke7fXOiUrKCB1/mono9PrQEQMh7+gym9OghiSOXUFvz040K1Xk8D0YD0HtUZXoaCT9QBiCXz/DvSwU7ygLcuVRJFavw9hb2OgQxOdtQ82Bb0pfEJ5eu/BvhCcNGGgkqJSVKy3UmwUWeYjh0rI/1F+L/Mdnwsh5lTFwwbPP05VoeKeJq2bZf9uAthvOAR/S0y9eS7csrWSrOSXvfP0rz8Tb5bvhAcVmIg7zuOFvvUQAmXZmtMiKMfTLvoPxUTCNIfLn3wr0MUAEhi32OVamH4gyFPyLG975m7TDOKzV4cOJAzao1F6uam4Nat4vA9h+1SJRHPTp+9HgJbUAX93BkGwIZ6nSgEHNr53jQ6k361NEKUgqCbSJcNbiwubx0qdbFThiSYzHUf+Nn60GEkMDG8+fKNcyPTKjJBsIHQHnJfLM3qKdMKG69oYGb7vHVVhaliks8RAI6F7sX8oiYkUK8VnYw7ezAW0BFgz0SElfmUTJFpuoyrMyDHGoqHDSZHmkaa/Vw9ApGR0B6dgVNgh3NmTEX3VO4YT1otpglJYst8hCw7AadWqiocNvppNvx0qIo699+lWFYQ8pBu2dnKh9hUZGj9v96usoSKW9REZa0xTWkSpXHEa/W1SR32arAVKPxUqpt/sn96VR7o0p6YqHSjJiTUb0QqILaSze/edQ3p1qpJVNWAgmWFdv8ACmCj9VKiA2GkqVBFwQJADKcxrPCuK2cebWuo+HMQYYxlHF3XDJLODfh0GhIiufyemuUnxJ4mVqLHyZZ6uX1b61ziWNoU+rZxy9rUW0EAxDGc+Jvf2ocNXrq7Fzo2cmkmQpK8rDO4Od49pqEhyJuZ7OgolmCXvF9fswpLgyTF8i+Y+3StRDYzFyIZoiRGjc+3psPAz19s9L2oUYzPmTzDcRVjZksQphkQDw82jsW986oPDDFnYJOcc4DmwtxqVBO7xJN87I1/yJs9LfcEKDKZphiSBmSzTAAahRiPdgkO081a5ndy9M8qEKl4cNa8CNWLkXTlUSlADQRxvfPRsxUy8ZzEBzBa3zAMzNNwkCquPhM76/V/URViBSCZt9mH8VNiK3nd5CmhpBLkioi5AZ25cJD8qnxcQAM1kM54kHMcT3FUDiAOwsFDMG6ZEXEZUO9E3ZBeYaKbELepsYgD1pmyJgnR23ROfGoG34Idx+C/S5/FOzW1PCys6SMIwDDtcf3Z+1ERoTOh/wAsx0f0qiBdBRm3fedARVSkRwqTCEHhQCiQW60Em6KVSJtY01RVdI1pU1ImqgVURAYMZl+FMqmqon2FAKhvOxMtWxte2buH+mPlN4aE2g6TL35Vj7Itp07zp8fGKmf3J9JrFm1uejpNg9+/txpKU5jPudL1ATQKVVxNWFY7BmBu5IfMWhxaoAl6cJqbDDgxPWfTqavpAjBjqRwy/NWgg/1RZ8h5raBmFAghzoHuz6i3IVJugGC5ZhpbdcM2ZPpWbVOr+5JkzmGa05XGdVyuZcaF3s3rbWjcu54O/O2uXtQKTn7Z5fmkCSsvlppk3ChxLMD2By4mmQPNeHvQ4pl276VRJvBs3l/TnTFXEZccxpSIgZ/wM9aFSp71oD3njgWHXKiVZzqqC+nOou/enecs/pQOVMM38psBYHvjQpX9rdTQDLpSeriHUe+gpqamJoCQJowZehp3egnIed2lQJPAev70qKhpjTmlRAmhBo6FqqDw6T0DtTqMUxTKpJFM1PvRRDqFShTgOe7fSoUi1SO3fSpViRKgBrAyfNzRb5EdxwPE6VGkj799KIaZvbpB9znUUlKiYDQwbrx50naKdWfpUYAhzQMS5psVU0qNrcu2qofeYNcS3oNRQqPfWnUi3H+KZ++lRTp59vSUczxok4Jk8CfQBRqNZ75mgA39Kc01ICtIJ6alSeohCiTxphRUU6T3NKmCaVB//9k="/>
          <p:cNvSpPr>
            <a:spLocks noChangeAspect="1" noChangeArrowheads="1"/>
          </p:cNvSpPr>
          <p:nvPr/>
        </p:nvSpPr>
        <p:spPr bwMode="auto">
          <a:xfrm>
            <a:off x="4214813" y="-1714500"/>
            <a:ext cx="3143250" cy="35718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8922" name="AutoShape 10" descr="Image result for definition of economics by adam smith"/>
          <p:cNvSpPr>
            <a:spLocks noChangeAspect="1" noChangeArrowheads="1"/>
          </p:cNvSpPr>
          <p:nvPr/>
        </p:nvSpPr>
        <p:spPr bwMode="auto">
          <a:xfrm>
            <a:off x="4541838" y="-3349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TextBox 14"/>
          <p:cNvSpPr txBox="1"/>
          <p:nvPr/>
        </p:nvSpPr>
        <p:spPr>
          <a:xfrm>
            <a:off x="2164080" y="5416621"/>
            <a:ext cx="5181600" cy="461665"/>
          </a:xfrm>
          <a:prstGeom prst="rect">
            <a:avLst/>
          </a:prstGeom>
          <a:noFill/>
        </p:spPr>
        <p:txBody>
          <a:bodyPr wrap="square" rtlCol="0">
            <a:spAutoFit/>
          </a:bodyPr>
          <a:lstStyle/>
          <a:p>
            <a:pPr algn="ctr"/>
            <a:r>
              <a:rPr lang="en-US" sz="2400" dirty="0">
                <a:solidFill>
                  <a:schemeClr val="tx1"/>
                </a:solidFill>
                <a:cs typeface="Times New Roman" pitchFamily="18" charset="0"/>
              </a:rPr>
              <a:t>Dr. </a:t>
            </a:r>
            <a:r>
              <a:rPr lang="en-US" sz="2400" dirty="0" err="1">
                <a:solidFill>
                  <a:schemeClr val="tx1"/>
                </a:solidFill>
                <a:cs typeface="Times New Roman" pitchFamily="18" charset="0"/>
              </a:rPr>
              <a:t>Hemantha</a:t>
            </a:r>
            <a:r>
              <a:rPr lang="en-US" sz="2400" dirty="0">
                <a:solidFill>
                  <a:schemeClr val="tx1"/>
                </a:solidFill>
                <a:cs typeface="Times New Roman" pitchFamily="18" charset="0"/>
              </a:rPr>
              <a:t> </a:t>
            </a:r>
            <a:r>
              <a:rPr lang="en-US" sz="2400" dirty="0" err="1">
                <a:solidFill>
                  <a:schemeClr val="tx1"/>
                </a:solidFill>
                <a:cs typeface="Times New Roman" pitchFamily="18" charset="0"/>
              </a:rPr>
              <a:t>Premarathne</a:t>
            </a:r>
            <a:endParaRPr lang="en-US" sz="2400" dirty="0">
              <a:solidFill>
                <a:schemeClr val="tx1"/>
              </a:solidFill>
              <a:cs typeface="Times New Roman" pitchFamily="18" charset="0"/>
            </a:endParaRPr>
          </a:p>
        </p:txBody>
      </p:sp>
      <p:sp>
        <p:nvSpPr>
          <p:cNvPr id="16" name="TextBox 15"/>
          <p:cNvSpPr txBox="1"/>
          <p:nvPr/>
        </p:nvSpPr>
        <p:spPr>
          <a:xfrm>
            <a:off x="2209800" y="5862240"/>
            <a:ext cx="5497286" cy="307777"/>
          </a:xfrm>
          <a:prstGeom prst="rect">
            <a:avLst/>
          </a:prstGeom>
          <a:noFill/>
        </p:spPr>
        <p:txBody>
          <a:bodyPr wrap="square" rtlCol="0">
            <a:spAutoFit/>
          </a:bodyPr>
          <a:lstStyle/>
          <a:p>
            <a:r>
              <a:rPr lang="en-US" sz="1400" i="1" dirty="0">
                <a:solidFill>
                  <a:schemeClr val="tx1"/>
                </a:solidFill>
                <a:latin typeface="Arial" pitchFamily="34" charset="0"/>
                <a:cs typeface="Arial" pitchFamily="34" charset="0"/>
              </a:rPr>
              <a:t>B.A. Econ &amp; Stat (</a:t>
            </a:r>
            <a:r>
              <a:rPr lang="en-US" sz="1400" i="1" dirty="0" err="1">
                <a:solidFill>
                  <a:schemeClr val="tx1"/>
                </a:solidFill>
                <a:latin typeface="Arial" pitchFamily="34" charset="0"/>
                <a:cs typeface="Arial" pitchFamily="34" charset="0"/>
              </a:rPr>
              <a:t>Hons</a:t>
            </a:r>
            <a:r>
              <a:rPr lang="en-US" sz="1400" i="1" dirty="0">
                <a:solidFill>
                  <a:schemeClr val="tx1"/>
                </a:solidFill>
                <a:latin typeface="Arial" pitchFamily="34" charset="0"/>
                <a:cs typeface="Arial" pitchFamily="34" charset="0"/>
              </a:rPr>
              <a:t>) </a:t>
            </a:r>
            <a:r>
              <a:rPr lang="en-US" sz="1400" i="1" dirty="0" err="1">
                <a:solidFill>
                  <a:schemeClr val="tx1"/>
                </a:solidFill>
                <a:latin typeface="Arial" pitchFamily="34" charset="0"/>
                <a:cs typeface="Arial" pitchFamily="34" charset="0"/>
              </a:rPr>
              <a:t>Pera</a:t>
            </a:r>
            <a:r>
              <a:rPr lang="en-US" sz="1400" i="1" dirty="0">
                <a:solidFill>
                  <a:schemeClr val="tx1"/>
                </a:solidFill>
                <a:latin typeface="Arial" pitchFamily="34" charset="0"/>
                <a:cs typeface="Arial" pitchFamily="34" charset="0"/>
              </a:rPr>
              <a:t>, M.A. &amp; Ph.D. (Saga, Japan) </a:t>
            </a:r>
          </a:p>
        </p:txBody>
      </p:sp>
      <p:sp>
        <p:nvSpPr>
          <p:cNvPr id="17" name="Rectangle 16"/>
          <p:cNvSpPr/>
          <p:nvPr/>
        </p:nvSpPr>
        <p:spPr>
          <a:xfrm>
            <a:off x="323528" y="116632"/>
            <a:ext cx="8631393" cy="2492990"/>
          </a:xfrm>
          <a:prstGeom prst="rect">
            <a:avLst/>
          </a:prstGeom>
          <a:noFill/>
        </p:spPr>
        <p:txBody>
          <a:bodyPr wrap="square" lIns="91440" tIns="45720" rIns="91440" bIns="45720">
            <a:spAutoFit/>
          </a:bodyPr>
          <a:lstStyle/>
          <a:p>
            <a:pPr algn="ctr"/>
            <a:r>
              <a:rPr lang="en-US" sz="4800" b="1" cap="all"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MaCROECONOMICS</a:t>
            </a:r>
            <a:endParaRPr lang="en-US" sz="4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a:p>
            <a:pPr algn="ctr"/>
            <a:endParaRPr lang="en-US"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a:p>
            <a:pPr algn="ctr"/>
            <a:r>
              <a:rPr lang="en-US" sz="2400"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LECTURE 05</a:t>
            </a:r>
          </a:p>
          <a:p>
            <a:pPr algn="ctr"/>
            <a:endParaRPr lang="en-US" sz="2400"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a:p>
            <a:pPr lvl="0" algn="ctr"/>
            <a:r>
              <a:rPr lang="en-US" sz="1800"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en-GB" sz="2400" b="1" dirty="0">
                <a:solidFill>
                  <a:srgbClr val="0070C0"/>
                </a:solidFill>
                <a:latin typeface="Times New Roman" pitchFamily="18" charset="0"/>
                <a:cs typeface="Times New Roman" pitchFamily="18" charset="0"/>
              </a:rPr>
              <a:t>Money Market Analysis: Theory of Money and Interest</a:t>
            </a:r>
            <a:endParaRPr lang="en-GB" sz="2400" dirty="0">
              <a:solidFill>
                <a:srgbClr val="0070C0"/>
              </a:solidFill>
              <a:latin typeface="Times New Roman" pitchFamily="18" charset="0"/>
              <a:cs typeface="Times New Roman" pitchFamily="18" charset="0"/>
            </a:endParaRPr>
          </a:p>
          <a:p>
            <a:pPr algn="ctr"/>
            <a:endParaRPr lang="en-US" sz="1800" b="1" cap="all" dirty="0">
              <a:ln w="9000" cmpd="sng">
                <a:solidFill>
                  <a:schemeClr val="accent4">
                    <a:shade val="50000"/>
                    <a:satMod val="120000"/>
                  </a:schemeClr>
                </a:solidFill>
                <a:prstDash val="solid"/>
              </a:ln>
              <a:solidFill>
                <a:srgbClr val="002060"/>
              </a:solidFill>
              <a:effectLst>
                <a:reflection blurRad="12700" stA="28000" endPos="45000" dist="1000" dir="5400000" sy="-100000" algn="bl" rotWithShape="0"/>
              </a:effectLst>
            </a:endParaRPr>
          </a:p>
        </p:txBody>
      </p:sp>
      <p:pic>
        <p:nvPicPr>
          <p:cNvPr id="2" name="Picture 2" descr="http://static.diffen.com/uploadz/8/81/savings--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052" y="2780928"/>
            <a:ext cx="6668344" cy="222278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BCDBD91-893E-4CED-A716-151F56A42A5A}" type="slidenum">
              <a:rPr lang="en-GB" smtClean="0"/>
              <a:t>1</a:t>
            </a:fld>
            <a:endParaRPr lang="en-GB"/>
          </a:p>
        </p:txBody>
      </p:sp>
    </p:spTree>
    <p:extLst>
      <p:ext uri="{BB962C8B-B14F-4D97-AF65-F5344CB8AC3E}">
        <p14:creationId xmlns:p14="http://schemas.microsoft.com/office/powerpoint/2010/main" val="1482580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3028" y="616048"/>
            <a:ext cx="4886380" cy="461665"/>
          </a:xfrm>
          <a:prstGeom prst="rect">
            <a:avLst/>
          </a:prstGeom>
          <a:noFill/>
        </p:spPr>
        <p:txBody>
          <a:bodyPr wrap="square" rtlCol="0">
            <a:spAutoFit/>
          </a:bodyPr>
          <a:lstStyle/>
          <a:p>
            <a:r>
              <a:rPr lang="en-US" sz="2400" dirty="0">
                <a:solidFill>
                  <a:srgbClr val="1F497D"/>
                </a:solidFill>
                <a:latin typeface="Arial" pitchFamily="34" charset="0"/>
                <a:cs typeface="Arial" pitchFamily="34" charset="0"/>
              </a:rPr>
              <a:t>Layout of the Lecture………</a:t>
            </a:r>
          </a:p>
        </p:txBody>
      </p:sp>
      <p:sp>
        <p:nvSpPr>
          <p:cNvPr id="4" name="TextBox 3"/>
          <p:cNvSpPr txBox="1"/>
          <p:nvPr/>
        </p:nvSpPr>
        <p:spPr>
          <a:xfrm>
            <a:off x="384733" y="1385151"/>
            <a:ext cx="6534700" cy="400110"/>
          </a:xfrm>
          <a:prstGeom prst="rect">
            <a:avLst/>
          </a:prstGeom>
          <a:noFill/>
        </p:spPr>
        <p:txBody>
          <a:bodyPr wrap="square" rtlCol="0">
            <a:spAutoFit/>
          </a:bodyPr>
          <a:lstStyle/>
          <a:p>
            <a:r>
              <a:rPr lang="en-US" sz="2000" dirty="0">
                <a:solidFill>
                  <a:prstClr val="black"/>
                </a:solidFill>
                <a:latin typeface="Arial" pitchFamily="34" charset="0"/>
                <a:cs typeface="Arial" pitchFamily="34" charset="0"/>
              </a:rPr>
              <a:t>5.1  Introduction </a:t>
            </a:r>
          </a:p>
        </p:txBody>
      </p:sp>
      <p:sp>
        <p:nvSpPr>
          <p:cNvPr id="9" name="Footer Placeholder 3"/>
          <p:cNvSpPr>
            <a:spLocks noGrp="1"/>
          </p:cNvSpPr>
          <p:nvPr>
            <p:ph type="ftr" sz="quarter" idx="11"/>
          </p:nvPr>
        </p:nvSpPr>
        <p:spPr>
          <a:xfrm>
            <a:off x="3124200" y="6473917"/>
            <a:ext cx="2895600" cy="365125"/>
          </a:xfrm>
        </p:spPr>
        <p:txBody>
          <a:bodyPr/>
          <a:lstStyle/>
          <a:p>
            <a:pPr>
              <a:defRPr/>
            </a:pPr>
            <a:r>
              <a:rPr lang="fr-FR">
                <a:solidFill>
                  <a:prstClr val="black">
                    <a:tint val="75000"/>
                  </a:prstClr>
                </a:solidFill>
              </a:rPr>
              <a:t>BSc in Mgt / Macro/ 2022</a:t>
            </a:r>
            <a:endParaRPr lang="en-US" dirty="0">
              <a:solidFill>
                <a:prstClr val="black">
                  <a:tint val="75000"/>
                </a:prstClr>
              </a:solidFill>
            </a:endParaRPr>
          </a:p>
        </p:txBody>
      </p:sp>
      <p:sp>
        <p:nvSpPr>
          <p:cNvPr id="16" name="TextBox 15"/>
          <p:cNvSpPr txBox="1"/>
          <p:nvPr/>
        </p:nvSpPr>
        <p:spPr>
          <a:xfrm>
            <a:off x="402543" y="2740858"/>
            <a:ext cx="6534700" cy="400110"/>
          </a:xfrm>
          <a:prstGeom prst="rect">
            <a:avLst/>
          </a:prstGeom>
          <a:noFill/>
        </p:spPr>
        <p:txBody>
          <a:bodyPr wrap="square" rtlCol="0">
            <a:spAutoFit/>
          </a:bodyPr>
          <a:lstStyle/>
          <a:p>
            <a:r>
              <a:rPr lang="en-US" sz="2000" dirty="0">
                <a:solidFill>
                  <a:prstClr val="black"/>
                </a:solidFill>
                <a:latin typeface="Arial" pitchFamily="34" charset="0"/>
                <a:cs typeface="Arial" pitchFamily="34" charset="0"/>
              </a:rPr>
              <a:t>5.4  The Classical Theory of Money and Interest </a:t>
            </a:r>
          </a:p>
        </p:txBody>
      </p:sp>
      <p:sp>
        <p:nvSpPr>
          <p:cNvPr id="8" name="TextBox 7"/>
          <p:cNvSpPr txBox="1"/>
          <p:nvPr/>
        </p:nvSpPr>
        <p:spPr>
          <a:xfrm>
            <a:off x="395536" y="3244914"/>
            <a:ext cx="6534700" cy="400110"/>
          </a:xfrm>
          <a:prstGeom prst="rect">
            <a:avLst/>
          </a:prstGeom>
          <a:noFill/>
        </p:spPr>
        <p:txBody>
          <a:bodyPr wrap="square" rtlCol="0">
            <a:spAutoFit/>
          </a:bodyPr>
          <a:lstStyle/>
          <a:p>
            <a:r>
              <a:rPr lang="en-US" sz="2000" dirty="0">
                <a:solidFill>
                  <a:prstClr val="black"/>
                </a:solidFill>
                <a:latin typeface="Arial" pitchFamily="34" charset="0"/>
                <a:cs typeface="Arial" pitchFamily="34" charset="0"/>
              </a:rPr>
              <a:t>5.5  The Keynesian Theory of Money and Interest </a:t>
            </a:r>
          </a:p>
        </p:txBody>
      </p:sp>
      <p:sp>
        <p:nvSpPr>
          <p:cNvPr id="7" name="TextBox 6"/>
          <p:cNvSpPr txBox="1"/>
          <p:nvPr/>
        </p:nvSpPr>
        <p:spPr>
          <a:xfrm>
            <a:off x="395536" y="1876762"/>
            <a:ext cx="6534700" cy="400110"/>
          </a:xfrm>
          <a:prstGeom prst="rect">
            <a:avLst/>
          </a:prstGeom>
          <a:noFill/>
        </p:spPr>
        <p:txBody>
          <a:bodyPr wrap="square" rtlCol="0">
            <a:spAutoFit/>
          </a:bodyPr>
          <a:lstStyle/>
          <a:p>
            <a:r>
              <a:rPr lang="en-US" sz="2000" dirty="0">
                <a:solidFill>
                  <a:prstClr val="black"/>
                </a:solidFill>
                <a:latin typeface="Arial" pitchFamily="34" charset="0"/>
                <a:cs typeface="Arial" pitchFamily="34" charset="0"/>
              </a:rPr>
              <a:t>5.2  The Functions of Money </a:t>
            </a:r>
          </a:p>
        </p:txBody>
      </p:sp>
      <p:sp>
        <p:nvSpPr>
          <p:cNvPr id="10" name="TextBox 9"/>
          <p:cNvSpPr txBox="1"/>
          <p:nvPr/>
        </p:nvSpPr>
        <p:spPr>
          <a:xfrm>
            <a:off x="395536" y="2308810"/>
            <a:ext cx="6534700" cy="400110"/>
          </a:xfrm>
          <a:prstGeom prst="rect">
            <a:avLst/>
          </a:prstGeom>
          <a:noFill/>
        </p:spPr>
        <p:txBody>
          <a:bodyPr wrap="square" rtlCol="0">
            <a:spAutoFit/>
          </a:bodyPr>
          <a:lstStyle/>
          <a:p>
            <a:r>
              <a:rPr lang="en-US" sz="2000" dirty="0">
                <a:solidFill>
                  <a:prstClr val="black"/>
                </a:solidFill>
                <a:latin typeface="Arial" pitchFamily="34" charset="0"/>
                <a:cs typeface="Arial" pitchFamily="34" charset="0"/>
              </a:rPr>
              <a:t>5.3  The Theory of Money Supply </a:t>
            </a:r>
          </a:p>
        </p:txBody>
      </p:sp>
      <p:sp>
        <p:nvSpPr>
          <p:cNvPr id="2" name="Slide Number Placeholder 1"/>
          <p:cNvSpPr>
            <a:spLocks noGrp="1"/>
          </p:cNvSpPr>
          <p:nvPr>
            <p:ph type="sldNum" sz="quarter" idx="12"/>
          </p:nvPr>
        </p:nvSpPr>
        <p:spPr/>
        <p:txBody>
          <a:bodyPr/>
          <a:lstStyle/>
          <a:p>
            <a:fld id="{BBCDBD91-893E-4CED-A716-151F56A42A5A}" type="slidenum">
              <a:rPr lang="en-GB" smtClean="0"/>
              <a:t>2</a:t>
            </a:fld>
            <a:endParaRPr lang="en-GB"/>
          </a:p>
        </p:txBody>
      </p:sp>
    </p:spTree>
    <p:extLst>
      <p:ext uri="{BB962C8B-B14F-4D97-AF65-F5344CB8AC3E}">
        <p14:creationId xmlns:p14="http://schemas.microsoft.com/office/powerpoint/2010/main" val="228357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to="" calcmode="lin" valueType="num">
                                      <p:cBhvr>
                                        <p:cTn id="17" dur="1" fill="hold"/>
                                        <p:tgtEl>
                                          <p:spTgt spid="7"/>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to="" calcmode="lin" valueType="num">
                                      <p:cBhvr>
                                        <p:cTn id="22" dur="1" fill="hold"/>
                                        <p:tgtEl>
                                          <p:spTgt spid="10"/>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to="" calcmode="lin" valueType="num">
                                      <p:cBhvr>
                                        <p:cTn id="27" dur="1" fill="hold"/>
                                        <p:tgtEl>
                                          <p:spTgt spid="16"/>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to="" calcmode="lin" valueType="num">
                                      <p:cBhvr>
                                        <p:cTn id="32"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6" grpId="0"/>
      <p:bldP spid="8" grpId="0"/>
      <p:bldP spid="7"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296601"/>
            <a:ext cx="8639974" cy="523220"/>
          </a:xfrm>
          <a:prstGeom prst="rect">
            <a:avLst/>
          </a:prstGeom>
          <a:noFill/>
        </p:spPr>
        <p:txBody>
          <a:bodyPr wrap="square" rtlCol="0">
            <a:spAutoFit/>
          </a:bodyPr>
          <a:lstStyle/>
          <a:p>
            <a:r>
              <a:rPr lang="en-US" sz="2800" b="1" dirty="0">
                <a:solidFill>
                  <a:prstClr val="black"/>
                </a:solidFill>
                <a:latin typeface="Arial" pitchFamily="34" charset="0"/>
                <a:cs typeface="Arial" pitchFamily="34" charset="0"/>
              </a:rPr>
              <a:t>5.1  Introduction </a:t>
            </a:r>
          </a:p>
        </p:txBody>
      </p:sp>
      <p:sp>
        <p:nvSpPr>
          <p:cNvPr id="4" name="TextBox 3"/>
          <p:cNvSpPr txBox="1"/>
          <p:nvPr/>
        </p:nvSpPr>
        <p:spPr>
          <a:xfrm>
            <a:off x="377025" y="1724615"/>
            <a:ext cx="8443447" cy="1200329"/>
          </a:xfrm>
          <a:prstGeom prst="rect">
            <a:avLst/>
          </a:prstGeom>
          <a:noFill/>
        </p:spPr>
        <p:txBody>
          <a:bodyPr wrap="square" rtlCol="0">
            <a:spAutoFit/>
          </a:bodyPr>
          <a:lstStyle/>
          <a:p>
            <a:pPr marL="457200" indent="-457200" algn="just">
              <a:buFont typeface="Wingdings" pitchFamily="2" charset="2"/>
              <a:buChar char="Ø"/>
            </a:pPr>
            <a:r>
              <a:rPr lang="en-US" sz="2400" dirty="0">
                <a:solidFill>
                  <a:schemeClr val="tx2"/>
                </a:solidFill>
                <a:latin typeface="Arial" pitchFamily="34" charset="0"/>
                <a:cs typeface="Arial" pitchFamily="34" charset="0"/>
              </a:rPr>
              <a:t>Conceptually, money can be defined as any commodity that is generally accepted as a medium of exchange and a measure of value.</a:t>
            </a:r>
            <a:r>
              <a:rPr lang="en-US" sz="2400" b="0" dirty="0">
                <a:solidFill>
                  <a:schemeClr val="tx2"/>
                </a:solidFill>
                <a:latin typeface="Arial" pitchFamily="34" charset="0"/>
                <a:cs typeface="Arial" pitchFamily="34" charset="0"/>
              </a:rPr>
              <a:t> </a:t>
            </a:r>
            <a:endParaRPr lang="en-US" sz="2400" b="0" u="sng" dirty="0">
              <a:solidFill>
                <a:schemeClr val="tx2"/>
              </a:solidFill>
              <a:latin typeface="Arial" pitchFamily="34" charset="0"/>
              <a:cs typeface="Arial" pitchFamily="34" charset="0"/>
            </a:endParaRPr>
          </a:p>
        </p:txBody>
      </p:sp>
      <p:sp>
        <p:nvSpPr>
          <p:cNvPr id="7" name="TextBox 6"/>
          <p:cNvSpPr txBox="1"/>
          <p:nvPr/>
        </p:nvSpPr>
        <p:spPr>
          <a:xfrm>
            <a:off x="529426" y="1029561"/>
            <a:ext cx="3578117"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2.1.1 Definition of Money  </a:t>
            </a:r>
          </a:p>
        </p:txBody>
      </p:sp>
      <p:sp>
        <p:nvSpPr>
          <p:cNvPr id="9" name="TextBox 8"/>
          <p:cNvSpPr txBox="1"/>
          <p:nvPr/>
        </p:nvSpPr>
        <p:spPr>
          <a:xfrm>
            <a:off x="395536" y="3164775"/>
            <a:ext cx="8443447" cy="1200329"/>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Historically, many commodities have performed these functions of money, and forms of money have been changing from cattle to credit cards.</a:t>
            </a:r>
            <a:r>
              <a:rPr lang="en-US" sz="2400" b="0" i="1" dirty="0">
                <a:solidFill>
                  <a:schemeClr val="tx2"/>
                </a:solidFill>
                <a:latin typeface="Arial" pitchFamily="34" charset="0"/>
                <a:cs typeface="Arial" pitchFamily="34" charset="0"/>
              </a:rPr>
              <a:t> </a:t>
            </a:r>
            <a:endParaRPr lang="en-US" sz="2400" b="0" i="1" u="sng" dirty="0">
              <a:solidFill>
                <a:schemeClr val="tx2"/>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3</a:t>
            </a:fld>
            <a:endParaRPr lang="en-GB"/>
          </a:p>
        </p:txBody>
      </p:sp>
    </p:spTree>
    <p:extLst>
      <p:ext uri="{BB962C8B-B14F-4D97-AF65-F5344CB8AC3E}">
        <p14:creationId xmlns:p14="http://schemas.microsoft.com/office/powerpoint/2010/main" val="368760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to="" calcmode="lin" valueType="num">
                                      <p:cBhvr>
                                        <p:cTn id="17" dur="1" fill="hold"/>
                                        <p:tgtEl>
                                          <p:spTgt spid="4"/>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44624"/>
            <a:ext cx="8639974" cy="523220"/>
          </a:xfrm>
          <a:prstGeom prst="rect">
            <a:avLst/>
          </a:prstGeom>
          <a:noFill/>
        </p:spPr>
        <p:txBody>
          <a:bodyPr wrap="square" rtlCol="0">
            <a:spAutoFit/>
          </a:bodyPr>
          <a:lstStyle/>
          <a:p>
            <a:r>
              <a:rPr lang="en-US" sz="2800" b="1" i="1" dirty="0" err="1">
                <a:solidFill>
                  <a:prstClr val="black"/>
                </a:solidFill>
                <a:latin typeface="Arial" pitchFamily="34" charset="0"/>
                <a:cs typeface="Arial" pitchFamily="34" charset="0"/>
              </a:rPr>
              <a:t>Cont</a:t>
            </a:r>
            <a:r>
              <a:rPr lang="en-US" sz="2800" b="1" i="1" dirty="0">
                <a:solidFill>
                  <a:prstClr val="black"/>
                </a:solidFill>
                <a:latin typeface="Arial" pitchFamily="34" charset="0"/>
                <a:cs typeface="Arial" pitchFamily="34" charset="0"/>
              </a:rPr>
              <a:t>…</a:t>
            </a:r>
          </a:p>
        </p:txBody>
      </p:sp>
      <p:sp>
        <p:nvSpPr>
          <p:cNvPr id="4" name="TextBox 3"/>
          <p:cNvSpPr txBox="1"/>
          <p:nvPr/>
        </p:nvSpPr>
        <p:spPr>
          <a:xfrm>
            <a:off x="377025" y="1196752"/>
            <a:ext cx="8443447" cy="461665"/>
          </a:xfrm>
          <a:prstGeom prst="rect">
            <a:avLst/>
          </a:prstGeom>
          <a:noFill/>
        </p:spPr>
        <p:txBody>
          <a:bodyPr wrap="square" rtlCol="0">
            <a:spAutoFit/>
          </a:bodyPr>
          <a:lstStyle/>
          <a:p>
            <a:pPr algn="just"/>
            <a:r>
              <a:rPr lang="en-US" sz="2400" dirty="0">
                <a:solidFill>
                  <a:schemeClr val="tx2"/>
                </a:solidFill>
                <a:latin typeface="Arial" pitchFamily="34" charset="0"/>
                <a:cs typeface="Arial" pitchFamily="34" charset="0"/>
              </a:rPr>
              <a:t>1. </a:t>
            </a:r>
            <a:r>
              <a:rPr lang="en-US" sz="2000" b="1" i="1" u="sng" dirty="0">
                <a:solidFill>
                  <a:schemeClr val="tx2"/>
                </a:solidFill>
                <a:latin typeface="Arial" pitchFamily="34" charset="0"/>
                <a:cs typeface="Arial" pitchFamily="34" charset="0"/>
              </a:rPr>
              <a:t>Paper Money:  </a:t>
            </a:r>
            <a:endParaRPr lang="en-US" sz="2400" b="1" i="1" u="sng" dirty="0">
              <a:solidFill>
                <a:schemeClr val="tx2"/>
              </a:solidFill>
              <a:latin typeface="Arial" pitchFamily="34" charset="0"/>
              <a:cs typeface="Arial" pitchFamily="34" charset="0"/>
            </a:endParaRPr>
          </a:p>
        </p:txBody>
      </p:sp>
      <p:sp>
        <p:nvSpPr>
          <p:cNvPr id="7" name="TextBox 6"/>
          <p:cNvSpPr txBox="1"/>
          <p:nvPr/>
        </p:nvSpPr>
        <p:spPr>
          <a:xfrm>
            <a:off x="529426" y="620688"/>
            <a:ext cx="5194702"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2.1.2 The Kinds of Money  </a:t>
            </a:r>
          </a:p>
        </p:txBody>
      </p:sp>
      <p:sp>
        <p:nvSpPr>
          <p:cNvPr id="9" name="TextBox 8"/>
          <p:cNvSpPr txBox="1"/>
          <p:nvPr/>
        </p:nvSpPr>
        <p:spPr>
          <a:xfrm>
            <a:off x="521041" y="1765265"/>
            <a:ext cx="8083407" cy="1323439"/>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The paper money consist of the currency notes printed, authenticated and  issued by the government and the central bank of the country. Paper money makes the largest part of the total money supply in any country today.</a:t>
            </a:r>
            <a:endParaRPr lang="en-US" sz="2000" b="0" i="1" u="sng" dirty="0">
              <a:solidFill>
                <a:schemeClr val="tx2"/>
              </a:solidFill>
              <a:latin typeface="Arial" pitchFamily="34" charset="0"/>
              <a:cs typeface="Arial" pitchFamily="34" charset="0"/>
            </a:endParaRPr>
          </a:p>
        </p:txBody>
      </p:sp>
      <p:sp>
        <p:nvSpPr>
          <p:cNvPr id="6" name="TextBox 5"/>
          <p:cNvSpPr txBox="1"/>
          <p:nvPr/>
        </p:nvSpPr>
        <p:spPr>
          <a:xfrm>
            <a:off x="395536" y="3183359"/>
            <a:ext cx="8443447" cy="461665"/>
          </a:xfrm>
          <a:prstGeom prst="rect">
            <a:avLst/>
          </a:prstGeom>
          <a:noFill/>
        </p:spPr>
        <p:txBody>
          <a:bodyPr wrap="square" rtlCol="0">
            <a:spAutoFit/>
          </a:bodyPr>
          <a:lstStyle/>
          <a:p>
            <a:pPr algn="just"/>
            <a:r>
              <a:rPr lang="en-US" sz="2400" dirty="0">
                <a:solidFill>
                  <a:schemeClr val="tx2"/>
                </a:solidFill>
                <a:latin typeface="Arial" pitchFamily="34" charset="0"/>
                <a:cs typeface="Arial" pitchFamily="34" charset="0"/>
              </a:rPr>
              <a:t>2. </a:t>
            </a:r>
            <a:r>
              <a:rPr lang="en-US" sz="2000" b="1" i="1" u="sng" dirty="0">
                <a:solidFill>
                  <a:schemeClr val="tx2"/>
                </a:solidFill>
                <a:latin typeface="Arial" pitchFamily="34" charset="0"/>
                <a:cs typeface="Arial" pitchFamily="34" charset="0"/>
              </a:rPr>
              <a:t>Metallic Coins:  </a:t>
            </a:r>
            <a:endParaRPr lang="en-US" sz="2400" b="1" i="1" u="sng" dirty="0">
              <a:solidFill>
                <a:schemeClr val="tx2"/>
              </a:solidFill>
              <a:latin typeface="Arial" pitchFamily="34" charset="0"/>
              <a:cs typeface="Arial" pitchFamily="34" charset="0"/>
            </a:endParaRPr>
          </a:p>
        </p:txBody>
      </p:sp>
      <p:sp>
        <p:nvSpPr>
          <p:cNvPr id="8" name="TextBox 7"/>
          <p:cNvSpPr txBox="1"/>
          <p:nvPr/>
        </p:nvSpPr>
        <p:spPr>
          <a:xfrm>
            <a:off x="539552" y="3717032"/>
            <a:ext cx="8083407" cy="1015663"/>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Metallic coins made of iron, copper, silver and gold – and now made of alloys and aluminum- are the second most import form of money in circulation today – first being the paper money.</a:t>
            </a:r>
            <a:endParaRPr lang="en-US" sz="2000" b="0" i="1" u="sng" dirty="0">
              <a:solidFill>
                <a:schemeClr val="tx2"/>
              </a:solidFill>
              <a:latin typeface="Arial" pitchFamily="34" charset="0"/>
              <a:cs typeface="Arial" pitchFamily="34" charset="0"/>
            </a:endParaRPr>
          </a:p>
        </p:txBody>
      </p:sp>
      <p:sp>
        <p:nvSpPr>
          <p:cNvPr id="10" name="TextBox 9"/>
          <p:cNvSpPr txBox="1"/>
          <p:nvPr/>
        </p:nvSpPr>
        <p:spPr>
          <a:xfrm>
            <a:off x="395536" y="4911551"/>
            <a:ext cx="8443447" cy="461665"/>
          </a:xfrm>
          <a:prstGeom prst="rect">
            <a:avLst/>
          </a:prstGeom>
          <a:noFill/>
        </p:spPr>
        <p:txBody>
          <a:bodyPr wrap="square" rtlCol="0">
            <a:spAutoFit/>
          </a:bodyPr>
          <a:lstStyle/>
          <a:p>
            <a:pPr algn="just"/>
            <a:r>
              <a:rPr lang="en-US" sz="2400" dirty="0">
                <a:solidFill>
                  <a:schemeClr val="tx2"/>
                </a:solidFill>
                <a:latin typeface="Arial" pitchFamily="34" charset="0"/>
                <a:cs typeface="Arial" pitchFamily="34" charset="0"/>
              </a:rPr>
              <a:t>3. </a:t>
            </a:r>
            <a:r>
              <a:rPr lang="en-US" sz="2000" b="1" i="1" u="sng" dirty="0">
                <a:solidFill>
                  <a:schemeClr val="tx2"/>
                </a:solidFill>
                <a:latin typeface="Arial" pitchFamily="34" charset="0"/>
                <a:cs typeface="Arial" pitchFamily="34" charset="0"/>
              </a:rPr>
              <a:t>Bank Deposits:  </a:t>
            </a:r>
            <a:endParaRPr lang="en-US" sz="2400" b="1" i="1" u="sng" dirty="0">
              <a:solidFill>
                <a:schemeClr val="tx2"/>
              </a:solidFill>
              <a:latin typeface="Arial" pitchFamily="34" charset="0"/>
              <a:cs typeface="Arial" pitchFamily="34" charset="0"/>
            </a:endParaRPr>
          </a:p>
        </p:txBody>
      </p:sp>
      <p:sp>
        <p:nvSpPr>
          <p:cNvPr id="11" name="TextBox 10"/>
          <p:cNvSpPr txBox="1"/>
          <p:nvPr/>
        </p:nvSpPr>
        <p:spPr>
          <a:xfrm>
            <a:off x="539552" y="5373216"/>
            <a:ext cx="8083407" cy="70788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Bank deposits include three kinds of deposits: current account deposits, saving bank deposits and time deposits.</a:t>
            </a:r>
            <a:endParaRPr lang="en-US" sz="2000" i="1" u="sng" dirty="0">
              <a:solidFill>
                <a:schemeClr val="tx2"/>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4</a:t>
            </a:fld>
            <a:endParaRPr lang="en-GB"/>
          </a:p>
        </p:txBody>
      </p:sp>
    </p:spTree>
    <p:extLst>
      <p:ext uri="{BB962C8B-B14F-4D97-AF65-F5344CB8AC3E}">
        <p14:creationId xmlns:p14="http://schemas.microsoft.com/office/powerpoint/2010/main" val="146622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to="" calcmode="lin" valueType="num">
                                      <p:cBhvr>
                                        <p:cTn id="17" dur="1" fill="hold"/>
                                        <p:tgtEl>
                                          <p:spTgt spid="4"/>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to="" calcmode="lin" valueType="num">
                                      <p:cBhvr>
                                        <p:cTn id="27" dur="1" fill="hold"/>
                                        <p:tgtEl>
                                          <p:spTgt spid="6"/>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to="" calcmode="lin" valueType="num">
                                      <p:cBhvr>
                                        <p:cTn id="32" dur="1" fill="hold"/>
                                        <p:tgtEl>
                                          <p:spTgt spid="8"/>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to="" calcmode="lin" valueType="num">
                                      <p:cBhvr>
                                        <p:cTn id="37" dur="1" fill="hold"/>
                                        <p:tgtEl>
                                          <p:spTgt spid="10"/>
                                        </p:tgtEl>
                                        <p:attrNameLst>
                                          <p:attrName/>
                                        </p:attrNameLst>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to="" calcmode="lin" valueType="num">
                                      <p:cBhvr>
                                        <p:cTn id="42" dur="1" fill="hold"/>
                                        <p:tgtEl>
                                          <p:spTgt spid="1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P spid="6"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dirty="0">
                <a:solidFill>
                  <a:prstClr val="black"/>
                </a:solidFill>
                <a:latin typeface="Arial" pitchFamily="34" charset="0"/>
                <a:cs typeface="Arial" pitchFamily="34" charset="0"/>
              </a:rPr>
              <a:t>5.2  The Functions of Money </a:t>
            </a:r>
          </a:p>
        </p:txBody>
      </p:sp>
      <p:sp>
        <p:nvSpPr>
          <p:cNvPr id="4" name="TextBox 3"/>
          <p:cNvSpPr txBox="1"/>
          <p:nvPr/>
        </p:nvSpPr>
        <p:spPr>
          <a:xfrm>
            <a:off x="395536" y="620688"/>
            <a:ext cx="8443447" cy="461665"/>
          </a:xfrm>
          <a:prstGeom prst="rect">
            <a:avLst/>
          </a:prstGeom>
          <a:noFill/>
        </p:spPr>
        <p:txBody>
          <a:bodyPr wrap="square" rtlCol="0">
            <a:spAutoFit/>
          </a:bodyPr>
          <a:lstStyle/>
          <a:p>
            <a:pPr marL="457200" indent="-457200" algn="just">
              <a:buFont typeface="Wingdings" pitchFamily="2" charset="2"/>
              <a:buChar char="Ø"/>
            </a:pPr>
            <a:r>
              <a:rPr lang="en-US" sz="2400" dirty="0">
                <a:solidFill>
                  <a:schemeClr val="tx2"/>
                </a:solidFill>
                <a:latin typeface="Arial" pitchFamily="34" charset="0"/>
                <a:cs typeface="Arial" pitchFamily="34" charset="0"/>
              </a:rPr>
              <a:t>Money perform four major functions:</a:t>
            </a:r>
            <a:r>
              <a:rPr lang="en-US" sz="2400" b="0" dirty="0">
                <a:solidFill>
                  <a:schemeClr val="tx2"/>
                </a:solidFill>
                <a:latin typeface="Arial" pitchFamily="34" charset="0"/>
                <a:cs typeface="Arial" pitchFamily="34" charset="0"/>
              </a:rPr>
              <a:t> </a:t>
            </a:r>
            <a:endParaRPr lang="en-US" sz="2400" b="0" u="sng" dirty="0">
              <a:solidFill>
                <a:schemeClr val="tx2"/>
              </a:solidFill>
              <a:latin typeface="Arial" pitchFamily="34" charset="0"/>
              <a:cs typeface="Arial" pitchFamily="34" charset="0"/>
            </a:endParaRPr>
          </a:p>
        </p:txBody>
      </p:sp>
      <p:sp>
        <p:nvSpPr>
          <p:cNvPr id="7" name="TextBox 6"/>
          <p:cNvSpPr txBox="1"/>
          <p:nvPr/>
        </p:nvSpPr>
        <p:spPr>
          <a:xfrm>
            <a:off x="539552" y="1196752"/>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(i) Money as a Medium of Exchange  </a:t>
            </a:r>
          </a:p>
        </p:txBody>
      </p:sp>
      <p:sp>
        <p:nvSpPr>
          <p:cNvPr id="9" name="TextBox 8"/>
          <p:cNvSpPr txBox="1"/>
          <p:nvPr/>
        </p:nvSpPr>
        <p:spPr>
          <a:xfrm>
            <a:off x="395536" y="1700808"/>
            <a:ext cx="8443447" cy="2308324"/>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Money functions as a medium of exchange between any two goods. This is important mainly because it has solved one of the biggest problems of the barter system. In the barter system, for exchange to take place, there must be “ double coincidence of wants”. Until this condition is fulfilled, exchange can not take place.</a:t>
            </a:r>
            <a:r>
              <a:rPr lang="en-US" sz="2400" b="0" i="1" dirty="0">
                <a:solidFill>
                  <a:schemeClr val="tx2"/>
                </a:solidFill>
                <a:latin typeface="Arial" pitchFamily="34" charset="0"/>
                <a:cs typeface="Arial" pitchFamily="34" charset="0"/>
              </a:rPr>
              <a:t> </a:t>
            </a:r>
            <a:endParaRPr lang="en-US" sz="2400" b="0" i="1" u="sng" dirty="0">
              <a:solidFill>
                <a:schemeClr val="tx2"/>
              </a:solidFill>
              <a:latin typeface="Arial" pitchFamily="34" charset="0"/>
              <a:cs typeface="Arial" pitchFamily="34" charset="0"/>
            </a:endParaRPr>
          </a:p>
        </p:txBody>
      </p:sp>
      <p:sp>
        <p:nvSpPr>
          <p:cNvPr id="6" name="TextBox 5"/>
          <p:cNvSpPr txBox="1"/>
          <p:nvPr/>
        </p:nvSpPr>
        <p:spPr>
          <a:xfrm>
            <a:off x="395536" y="4038163"/>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The uniqueness of the medium-of-exchange function of money comes from certain unique merits of money.</a:t>
            </a:r>
            <a:endParaRPr lang="en-US" sz="2400" b="0" i="1" u="sng" dirty="0">
              <a:solidFill>
                <a:schemeClr val="tx2"/>
              </a:solidFill>
              <a:latin typeface="Arial" pitchFamily="34" charset="0"/>
              <a:cs typeface="Arial" pitchFamily="34" charset="0"/>
            </a:endParaRPr>
          </a:p>
        </p:txBody>
      </p:sp>
      <p:sp>
        <p:nvSpPr>
          <p:cNvPr id="8" name="TextBox 7"/>
          <p:cNvSpPr txBox="1"/>
          <p:nvPr/>
        </p:nvSpPr>
        <p:spPr>
          <a:xfrm>
            <a:off x="827584" y="4912247"/>
            <a:ext cx="8105504" cy="461665"/>
          </a:xfrm>
          <a:prstGeom prst="rect">
            <a:avLst/>
          </a:prstGeom>
          <a:noFill/>
        </p:spPr>
        <p:txBody>
          <a:bodyPr wrap="square" rtlCol="0">
            <a:spAutoFit/>
          </a:bodyPr>
          <a:lstStyle/>
          <a:p>
            <a:pPr marL="457200" indent="-457200" algn="just">
              <a:buFont typeface="+mj-lt"/>
              <a:buAutoNum type="alphaLcParenR"/>
            </a:pPr>
            <a:r>
              <a:rPr lang="en-US" sz="2400" i="1" dirty="0">
                <a:solidFill>
                  <a:schemeClr val="tx2"/>
                </a:solidFill>
                <a:latin typeface="Arial" pitchFamily="34" charset="0"/>
                <a:cs typeface="Arial" pitchFamily="34" charset="0"/>
              </a:rPr>
              <a:t>General acceptability </a:t>
            </a:r>
            <a:endParaRPr lang="en-US" sz="2400" b="0" i="1" u="sng" dirty="0">
              <a:solidFill>
                <a:schemeClr val="tx2"/>
              </a:solidFill>
              <a:latin typeface="Arial" pitchFamily="34" charset="0"/>
              <a:cs typeface="Arial" pitchFamily="34" charset="0"/>
            </a:endParaRPr>
          </a:p>
        </p:txBody>
      </p:sp>
      <p:sp>
        <p:nvSpPr>
          <p:cNvPr id="10" name="TextBox 9"/>
          <p:cNvSpPr txBox="1"/>
          <p:nvPr/>
        </p:nvSpPr>
        <p:spPr>
          <a:xfrm>
            <a:off x="827584" y="5343599"/>
            <a:ext cx="8105504" cy="461665"/>
          </a:xfrm>
          <a:prstGeom prst="rect">
            <a:avLst/>
          </a:prstGeom>
          <a:noFill/>
        </p:spPr>
        <p:txBody>
          <a:bodyPr wrap="square" rtlCol="0">
            <a:spAutoFit/>
          </a:bodyPr>
          <a:lstStyle/>
          <a:p>
            <a:pPr algn="just"/>
            <a:r>
              <a:rPr lang="en-US" sz="2400" i="1" dirty="0">
                <a:solidFill>
                  <a:schemeClr val="tx2"/>
                </a:solidFill>
                <a:latin typeface="Arial" pitchFamily="34" charset="0"/>
                <a:cs typeface="Arial" pitchFamily="34" charset="0"/>
              </a:rPr>
              <a:t>b)  Easy portability </a:t>
            </a:r>
            <a:endParaRPr lang="en-US" sz="2400" b="0" i="1" u="sng" dirty="0">
              <a:solidFill>
                <a:schemeClr val="tx2"/>
              </a:solidFill>
              <a:latin typeface="Arial" pitchFamily="34" charset="0"/>
              <a:cs typeface="Arial" pitchFamily="34" charset="0"/>
            </a:endParaRPr>
          </a:p>
        </p:txBody>
      </p:sp>
      <p:sp>
        <p:nvSpPr>
          <p:cNvPr id="11" name="TextBox 10"/>
          <p:cNvSpPr txBox="1"/>
          <p:nvPr/>
        </p:nvSpPr>
        <p:spPr>
          <a:xfrm>
            <a:off x="827584" y="5775647"/>
            <a:ext cx="8105504" cy="461665"/>
          </a:xfrm>
          <a:prstGeom prst="rect">
            <a:avLst/>
          </a:prstGeom>
          <a:noFill/>
        </p:spPr>
        <p:txBody>
          <a:bodyPr wrap="square" rtlCol="0">
            <a:spAutoFit/>
          </a:bodyPr>
          <a:lstStyle/>
          <a:p>
            <a:pPr algn="just"/>
            <a:r>
              <a:rPr lang="en-US" sz="2400" i="1" dirty="0">
                <a:solidFill>
                  <a:schemeClr val="tx2"/>
                </a:solidFill>
                <a:latin typeface="Arial" pitchFamily="34" charset="0"/>
                <a:cs typeface="Arial" pitchFamily="34" charset="0"/>
              </a:rPr>
              <a:t>c)  divisibility </a:t>
            </a:r>
            <a:endParaRPr lang="en-US" sz="2400" b="0" i="1" u="sng" dirty="0">
              <a:solidFill>
                <a:schemeClr val="tx2"/>
              </a:solidFill>
              <a:latin typeface="Arial" pitchFamily="34" charset="0"/>
              <a:cs typeface="Arial" pitchFamily="34" charset="0"/>
            </a:endParaRPr>
          </a:p>
        </p:txBody>
      </p:sp>
      <p:sp>
        <p:nvSpPr>
          <p:cNvPr id="12" name="TextBox 11"/>
          <p:cNvSpPr txBox="1"/>
          <p:nvPr/>
        </p:nvSpPr>
        <p:spPr>
          <a:xfrm>
            <a:off x="805487" y="6237312"/>
            <a:ext cx="8105504" cy="461665"/>
          </a:xfrm>
          <a:prstGeom prst="rect">
            <a:avLst/>
          </a:prstGeom>
          <a:noFill/>
        </p:spPr>
        <p:txBody>
          <a:bodyPr wrap="square" rtlCol="0">
            <a:spAutoFit/>
          </a:bodyPr>
          <a:lstStyle/>
          <a:p>
            <a:pPr algn="just"/>
            <a:r>
              <a:rPr lang="en-US" sz="2400" i="1" dirty="0">
                <a:solidFill>
                  <a:schemeClr val="tx2"/>
                </a:solidFill>
                <a:latin typeface="Arial" pitchFamily="34" charset="0"/>
                <a:cs typeface="Arial" pitchFamily="34" charset="0"/>
              </a:rPr>
              <a:t>d)  Value guaranteed by the government. </a:t>
            </a:r>
            <a:endParaRPr lang="en-US" sz="2400" b="0" i="1" u="sng" dirty="0">
              <a:solidFill>
                <a:schemeClr val="tx2"/>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5</a:t>
            </a:fld>
            <a:endParaRPr lang="en-GB"/>
          </a:p>
        </p:txBody>
      </p:sp>
    </p:spTree>
    <p:extLst>
      <p:ext uri="{BB962C8B-B14F-4D97-AF65-F5344CB8AC3E}">
        <p14:creationId xmlns:p14="http://schemas.microsoft.com/office/powerpoint/2010/main" val="425456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to="" calcmode="lin" valueType="num">
                                      <p:cBhvr>
                                        <p:cTn id="17" dur="1" fill="hold"/>
                                        <p:tgtEl>
                                          <p:spTgt spid="7"/>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to="" calcmode="lin" valueType="num">
                                      <p:cBhvr>
                                        <p:cTn id="27" dur="1" fill="hold"/>
                                        <p:tgtEl>
                                          <p:spTgt spid="6"/>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to="" calcmode="lin" valueType="num">
                                      <p:cBhvr>
                                        <p:cTn id="32" dur="1" fill="hold"/>
                                        <p:tgtEl>
                                          <p:spTgt spid="8"/>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to="" calcmode="lin" valueType="num">
                                      <p:cBhvr>
                                        <p:cTn id="37" dur="1" fill="hold"/>
                                        <p:tgtEl>
                                          <p:spTgt spid="10"/>
                                        </p:tgtEl>
                                        <p:attrNameLst>
                                          <p:attrName/>
                                        </p:attrNameLst>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to="" calcmode="lin" valueType="num">
                                      <p:cBhvr>
                                        <p:cTn id="42" dur="1" fill="hold"/>
                                        <p:tgtEl>
                                          <p:spTgt spid="11"/>
                                        </p:tgtEl>
                                        <p:attrNameLst>
                                          <p:attrName/>
                                        </p:attrNameLst>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to="" calcmode="lin" valueType="num">
                                      <p:cBhvr>
                                        <p:cTn id="47" dur="1" fill="hold"/>
                                        <p:tgtEl>
                                          <p:spTgt spid="1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P spid="6" grpId="0"/>
      <p:bldP spid="8"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err="1">
                <a:solidFill>
                  <a:prstClr val="black"/>
                </a:solidFill>
                <a:latin typeface="Arial" pitchFamily="34" charset="0"/>
                <a:cs typeface="Arial" pitchFamily="34" charset="0"/>
              </a:rPr>
              <a:t>Cont</a:t>
            </a:r>
            <a:r>
              <a:rPr lang="en-US" sz="2800" b="1" i="1" dirty="0">
                <a:solidFill>
                  <a:prstClr val="black"/>
                </a:solidFill>
                <a:latin typeface="Arial" pitchFamily="34" charset="0"/>
                <a:cs typeface="Arial" pitchFamily="34" charset="0"/>
              </a:rPr>
              <a:t>….</a:t>
            </a:r>
          </a:p>
        </p:txBody>
      </p:sp>
      <p:sp>
        <p:nvSpPr>
          <p:cNvPr id="7" name="TextBox 6"/>
          <p:cNvSpPr txBox="1"/>
          <p:nvPr/>
        </p:nvSpPr>
        <p:spPr>
          <a:xfrm>
            <a:off x="539552" y="764704"/>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(ii) Money as a Measure of Value  </a:t>
            </a:r>
          </a:p>
        </p:txBody>
      </p:sp>
      <p:sp>
        <p:nvSpPr>
          <p:cNvPr id="9" name="TextBox 8"/>
          <p:cNvSpPr txBox="1"/>
          <p:nvPr/>
        </p:nvSpPr>
        <p:spPr>
          <a:xfrm>
            <a:off x="395536" y="1340768"/>
            <a:ext cx="8443447" cy="1938992"/>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All values are measured in terms of money. As a measure of value, money works as a common denominator, as a unit of account. Today, unlike barter system, the value of all the goods and services is expressed in terms of money.</a:t>
            </a:r>
            <a:r>
              <a:rPr lang="en-US" sz="2400" b="0" i="1" dirty="0">
                <a:solidFill>
                  <a:schemeClr val="tx2"/>
                </a:solidFill>
                <a:latin typeface="Arial" pitchFamily="34" charset="0"/>
                <a:cs typeface="Arial" pitchFamily="34" charset="0"/>
              </a:rPr>
              <a:t> </a:t>
            </a:r>
            <a:endParaRPr lang="en-US" sz="2400" b="0" i="1" u="sng" dirty="0">
              <a:solidFill>
                <a:schemeClr val="tx2"/>
              </a:solidFill>
              <a:latin typeface="Arial" pitchFamily="34" charset="0"/>
              <a:cs typeface="Arial" pitchFamily="34" charset="0"/>
            </a:endParaRPr>
          </a:p>
        </p:txBody>
      </p:sp>
      <p:sp>
        <p:nvSpPr>
          <p:cNvPr id="6" name="TextBox 5"/>
          <p:cNvSpPr txBox="1"/>
          <p:nvPr/>
        </p:nvSpPr>
        <p:spPr>
          <a:xfrm>
            <a:off x="350276" y="3429000"/>
            <a:ext cx="8443447" cy="1200329"/>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In fact, money makes computation of national income possible. In the absence money, measuring value would be an extremely difficult in the modern economy.</a:t>
            </a:r>
            <a:endParaRPr lang="en-US" sz="2400" b="0" i="1" u="sng" dirty="0">
              <a:solidFill>
                <a:schemeClr val="tx2"/>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6</a:t>
            </a:fld>
            <a:endParaRPr lang="en-GB"/>
          </a:p>
        </p:txBody>
      </p:sp>
    </p:spTree>
    <p:extLst>
      <p:ext uri="{BB962C8B-B14F-4D97-AF65-F5344CB8AC3E}">
        <p14:creationId xmlns:p14="http://schemas.microsoft.com/office/powerpoint/2010/main" val="63550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err="1">
                <a:solidFill>
                  <a:prstClr val="black"/>
                </a:solidFill>
                <a:latin typeface="Arial" pitchFamily="34" charset="0"/>
                <a:cs typeface="Arial" pitchFamily="34" charset="0"/>
              </a:rPr>
              <a:t>Cont</a:t>
            </a:r>
            <a:r>
              <a:rPr lang="en-US" sz="2800" b="1" i="1" dirty="0">
                <a:solidFill>
                  <a:prstClr val="black"/>
                </a:solidFill>
                <a:latin typeface="Arial" pitchFamily="34" charset="0"/>
                <a:cs typeface="Arial" pitchFamily="34" charset="0"/>
              </a:rPr>
              <a:t>….</a:t>
            </a:r>
          </a:p>
        </p:txBody>
      </p:sp>
      <p:sp>
        <p:nvSpPr>
          <p:cNvPr id="7" name="TextBox 6"/>
          <p:cNvSpPr txBox="1"/>
          <p:nvPr/>
        </p:nvSpPr>
        <p:spPr>
          <a:xfrm>
            <a:off x="539552" y="764704"/>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(iii) Money as a Store of Value  </a:t>
            </a:r>
          </a:p>
        </p:txBody>
      </p:sp>
      <p:sp>
        <p:nvSpPr>
          <p:cNvPr id="9" name="TextBox 8"/>
          <p:cNvSpPr txBox="1"/>
          <p:nvPr/>
        </p:nvSpPr>
        <p:spPr>
          <a:xfrm>
            <a:off x="395536" y="1340768"/>
            <a:ext cx="8443447" cy="2677656"/>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Money serves the purpose of storing value for future use. The need to store value must have arisen for such reasons as;</a:t>
            </a:r>
          </a:p>
          <a:p>
            <a:pPr marL="514350" indent="-514350" algn="just">
              <a:buAutoNum type="romanLcParenR"/>
            </a:pPr>
            <a:r>
              <a:rPr lang="en-US" sz="2400" i="1" dirty="0">
                <a:solidFill>
                  <a:schemeClr val="tx2"/>
                </a:solidFill>
                <a:latin typeface="Arial" pitchFamily="34" charset="0"/>
                <a:cs typeface="Arial" pitchFamily="34" charset="0"/>
              </a:rPr>
              <a:t>Need for storing surplus produce</a:t>
            </a:r>
          </a:p>
          <a:p>
            <a:pPr marL="514350" indent="-514350" algn="just">
              <a:buAutoNum type="romanLcParenR"/>
            </a:pPr>
            <a:r>
              <a:rPr lang="en-US" sz="2400" b="0" i="1" dirty="0">
                <a:solidFill>
                  <a:schemeClr val="tx2"/>
                </a:solidFill>
                <a:latin typeface="Arial" pitchFamily="34" charset="0"/>
                <a:cs typeface="Arial" pitchFamily="34" charset="0"/>
              </a:rPr>
              <a:t>Need for storing value for future use arises due to uncertainties of life</a:t>
            </a:r>
          </a:p>
          <a:p>
            <a:pPr marL="514350" indent="-514350" algn="just">
              <a:buAutoNum type="romanLcParenR"/>
            </a:pPr>
            <a:r>
              <a:rPr lang="en-US" sz="2400" i="1" dirty="0">
                <a:solidFill>
                  <a:schemeClr val="tx2"/>
                </a:solidFill>
                <a:latin typeface="Arial" pitchFamily="34" charset="0"/>
                <a:cs typeface="Arial" pitchFamily="34" charset="0"/>
              </a:rPr>
              <a:t>Accumulative nature of the people</a:t>
            </a:r>
            <a:r>
              <a:rPr lang="en-US" sz="2400" b="0" i="1" dirty="0">
                <a:solidFill>
                  <a:schemeClr val="tx2"/>
                </a:solidFill>
                <a:latin typeface="Arial" pitchFamily="34" charset="0"/>
                <a:cs typeface="Arial" pitchFamily="34" charset="0"/>
              </a:rPr>
              <a:t> </a:t>
            </a:r>
            <a:endParaRPr lang="en-US" sz="2400" b="0" i="1" u="sng" dirty="0">
              <a:solidFill>
                <a:schemeClr val="tx2"/>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7</a:t>
            </a:fld>
            <a:endParaRPr lang="en-GB"/>
          </a:p>
        </p:txBody>
      </p:sp>
    </p:spTree>
    <p:extLst>
      <p:ext uri="{BB962C8B-B14F-4D97-AF65-F5344CB8AC3E}">
        <p14:creationId xmlns:p14="http://schemas.microsoft.com/office/powerpoint/2010/main" val="87843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err="1">
                <a:solidFill>
                  <a:prstClr val="black"/>
                </a:solidFill>
                <a:latin typeface="Arial" pitchFamily="34" charset="0"/>
                <a:cs typeface="Arial" pitchFamily="34" charset="0"/>
              </a:rPr>
              <a:t>Cont</a:t>
            </a:r>
            <a:r>
              <a:rPr lang="en-US" sz="2800" b="1" i="1" dirty="0">
                <a:solidFill>
                  <a:prstClr val="black"/>
                </a:solidFill>
                <a:latin typeface="Arial" pitchFamily="34" charset="0"/>
                <a:cs typeface="Arial" pitchFamily="34" charset="0"/>
              </a:rPr>
              <a:t>….</a:t>
            </a:r>
          </a:p>
        </p:txBody>
      </p:sp>
      <p:sp>
        <p:nvSpPr>
          <p:cNvPr id="7" name="TextBox 6"/>
          <p:cNvSpPr txBox="1"/>
          <p:nvPr/>
        </p:nvSpPr>
        <p:spPr>
          <a:xfrm>
            <a:off x="539552" y="764704"/>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(iv) Money as a Standard of </a:t>
            </a:r>
            <a:r>
              <a:rPr lang="en-US" sz="2400" i="1" u="sng" dirty="0" err="1">
                <a:solidFill>
                  <a:srgbClr val="FF0000"/>
                </a:solidFill>
                <a:latin typeface="Arial" pitchFamily="34" charset="0"/>
                <a:cs typeface="Arial" pitchFamily="34" charset="0"/>
              </a:rPr>
              <a:t>Deffered</a:t>
            </a:r>
            <a:r>
              <a:rPr lang="en-US" sz="2400" i="1" u="sng" dirty="0">
                <a:solidFill>
                  <a:srgbClr val="FF0000"/>
                </a:solidFill>
                <a:latin typeface="Arial" pitchFamily="34" charset="0"/>
                <a:cs typeface="Arial" pitchFamily="34" charset="0"/>
              </a:rPr>
              <a:t> Payments  </a:t>
            </a:r>
          </a:p>
        </p:txBody>
      </p:sp>
      <p:sp>
        <p:nvSpPr>
          <p:cNvPr id="9" name="TextBox 8"/>
          <p:cNvSpPr txBox="1"/>
          <p:nvPr/>
        </p:nvSpPr>
        <p:spPr>
          <a:xfrm>
            <a:off x="395536" y="1340768"/>
            <a:ext cx="8443447" cy="1200329"/>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Borrow today and repay tomorrow or buy today and pay later has been an old practice. This is a deferred payment system.</a:t>
            </a:r>
            <a:r>
              <a:rPr lang="en-US" sz="2400" b="0" i="1" dirty="0">
                <a:solidFill>
                  <a:schemeClr val="tx2"/>
                </a:solidFill>
                <a:latin typeface="Arial" pitchFamily="34" charset="0"/>
                <a:cs typeface="Arial" pitchFamily="34" charset="0"/>
              </a:rPr>
              <a:t> </a:t>
            </a:r>
            <a:endParaRPr lang="en-US" sz="2400" b="0" i="1" u="sng" dirty="0">
              <a:solidFill>
                <a:schemeClr val="tx2"/>
              </a:solidFill>
              <a:latin typeface="Arial" pitchFamily="34" charset="0"/>
              <a:cs typeface="Arial" pitchFamily="34" charset="0"/>
            </a:endParaRPr>
          </a:p>
        </p:txBody>
      </p:sp>
      <p:sp>
        <p:nvSpPr>
          <p:cNvPr id="6" name="TextBox 5"/>
          <p:cNvSpPr txBox="1"/>
          <p:nvPr/>
        </p:nvSpPr>
        <p:spPr>
          <a:xfrm>
            <a:off x="395536" y="2636912"/>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 One necessary condition of deferred payment is that the value returned after a time gap must be the same. </a:t>
            </a:r>
            <a:endParaRPr lang="en-US" sz="2400" b="0" i="1" u="sng" dirty="0">
              <a:solidFill>
                <a:schemeClr val="tx2"/>
              </a:solidFill>
              <a:latin typeface="Arial" pitchFamily="34" charset="0"/>
              <a:cs typeface="Arial" pitchFamily="34" charset="0"/>
            </a:endParaRPr>
          </a:p>
        </p:txBody>
      </p:sp>
      <p:sp>
        <p:nvSpPr>
          <p:cNvPr id="8" name="TextBox 7"/>
          <p:cNvSpPr txBox="1"/>
          <p:nvPr/>
        </p:nvSpPr>
        <p:spPr>
          <a:xfrm>
            <a:off x="395536" y="3678123"/>
            <a:ext cx="8443447" cy="1200329"/>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 In barter system, it might be a difficult problem to judge whether the value returned after a lapse of time was the same. </a:t>
            </a:r>
            <a:endParaRPr lang="en-US" sz="2400" b="0" i="1" u="sng" dirty="0">
              <a:solidFill>
                <a:schemeClr val="tx2"/>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8</a:t>
            </a:fld>
            <a:endParaRPr lang="en-GB"/>
          </a:p>
        </p:txBody>
      </p:sp>
    </p:spTree>
    <p:extLst>
      <p:ext uri="{BB962C8B-B14F-4D97-AF65-F5344CB8AC3E}">
        <p14:creationId xmlns:p14="http://schemas.microsoft.com/office/powerpoint/2010/main" val="988188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31640" y="199093"/>
            <a:ext cx="8639974" cy="523220"/>
          </a:xfrm>
          <a:prstGeom prst="rect">
            <a:avLst/>
          </a:prstGeom>
          <a:noFill/>
        </p:spPr>
        <p:txBody>
          <a:bodyPr wrap="square" rtlCol="0">
            <a:spAutoFit/>
          </a:bodyPr>
          <a:lstStyle/>
          <a:p>
            <a:r>
              <a:rPr lang="en-US" sz="2800" b="1" dirty="0">
                <a:solidFill>
                  <a:prstClr val="black"/>
                </a:solidFill>
                <a:latin typeface="Arial" pitchFamily="34" charset="0"/>
                <a:cs typeface="Arial" pitchFamily="34" charset="0"/>
              </a:rPr>
              <a:t>5.3  The Theory of Money Supply </a:t>
            </a:r>
          </a:p>
        </p:txBody>
      </p:sp>
      <p:sp>
        <p:nvSpPr>
          <p:cNvPr id="7" name="TextBox 6"/>
          <p:cNvSpPr txBox="1"/>
          <p:nvPr/>
        </p:nvSpPr>
        <p:spPr>
          <a:xfrm>
            <a:off x="539552" y="980728"/>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5.3.1 The Sources of Money Supply  </a:t>
            </a:r>
          </a:p>
        </p:txBody>
      </p:sp>
      <p:sp>
        <p:nvSpPr>
          <p:cNvPr id="9" name="TextBox 8"/>
          <p:cNvSpPr txBox="1"/>
          <p:nvPr/>
        </p:nvSpPr>
        <p:spPr>
          <a:xfrm>
            <a:off x="395536" y="1700808"/>
            <a:ext cx="8443447" cy="1200329"/>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The Central Bank of a country is the main source of money supply in the country. The money supplied by the CB is known as </a:t>
            </a:r>
            <a:r>
              <a:rPr lang="en-US" sz="2400" i="1" dirty="0">
                <a:solidFill>
                  <a:srgbClr val="7030A0"/>
                </a:solidFill>
                <a:latin typeface="Arial" pitchFamily="34" charset="0"/>
                <a:cs typeface="Arial" pitchFamily="34" charset="0"/>
              </a:rPr>
              <a:t>“high power money”.</a:t>
            </a:r>
            <a:endParaRPr lang="en-US" sz="2400" b="0" i="1" u="sng" dirty="0">
              <a:solidFill>
                <a:srgbClr val="7030A0"/>
              </a:solidFill>
              <a:latin typeface="Arial" pitchFamily="34" charset="0"/>
              <a:cs typeface="Arial" pitchFamily="34" charset="0"/>
            </a:endParaRPr>
          </a:p>
        </p:txBody>
      </p:sp>
      <p:sp>
        <p:nvSpPr>
          <p:cNvPr id="13" name="TextBox 12"/>
          <p:cNvSpPr txBox="1"/>
          <p:nvPr/>
        </p:nvSpPr>
        <p:spPr>
          <a:xfrm>
            <a:off x="395536" y="3020759"/>
            <a:ext cx="8443447" cy="1938992"/>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The second major source of money supply is the banking system of the country. Banks create money supply in the process of borrowing and lending transactions with public. Money created by the commercial banks is called </a:t>
            </a:r>
            <a:r>
              <a:rPr lang="en-US" sz="2400" i="1" dirty="0">
                <a:solidFill>
                  <a:srgbClr val="7030A0"/>
                </a:solidFill>
                <a:latin typeface="Arial" pitchFamily="34" charset="0"/>
                <a:cs typeface="Arial" pitchFamily="34" charset="0"/>
              </a:rPr>
              <a:t>“credit money”.</a:t>
            </a:r>
            <a:endParaRPr lang="en-US" sz="2400" b="0" i="1" u="sng" dirty="0">
              <a:solidFill>
                <a:srgbClr val="7030A0"/>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9</a:t>
            </a:fld>
            <a:endParaRPr lang="en-GB"/>
          </a:p>
        </p:txBody>
      </p:sp>
    </p:spTree>
    <p:extLst>
      <p:ext uri="{BB962C8B-B14F-4D97-AF65-F5344CB8AC3E}">
        <p14:creationId xmlns:p14="http://schemas.microsoft.com/office/powerpoint/2010/main" val="47055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1" fill="hold"/>
                                        <p:tgtEl>
                                          <p:spTgt spid="1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7" name="TextBox 6"/>
          <p:cNvSpPr txBox="1"/>
          <p:nvPr/>
        </p:nvSpPr>
        <p:spPr>
          <a:xfrm>
            <a:off x="539552" y="879103"/>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5.3.2 The Measure of High Power Money Supply (HPMS)  </a:t>
            </a:r>
          </a:p>
        </p:txBody>
      </p:sp>
      <p:sp>
        <p:nvSpPr>
          <p:cNvPr id="9" name="TextBox 8"/>
          <p:cNvSpPr txBox="1"/>
          <p:nvPr/>
        </p:nvSpPr>
        <p:spPr>
          <a:xfrm>
            <a:off x="395536" y="1700808"/>
            <a:ext cx="8443447" cy="461665"/>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HPMS is measured as;</a:t>
            </a:r>
            <a:endParaRPr lang="en-US" sz="2400" b="0" i="1" u="sng" dirty="0">
              <a:solidFill>
                <a:srgbClr val="7030A0"/>
              </a:solidFill>
              <a:latin typeface="Arial" pitchFamily="34" charset="0"/>
              <a:cs typeface="Arial" pitchFamily="34" charset="0"/>
            </a:endParaRPr>
          </a:p>
        </p:txBody>
      </p:sp>
      <p:sp>
        <p:nvSpPr>
          <p:cNvPr id="6" name="TextBox 5"/>
          <p:cNvSpPr txBox="1"/>
          <p:nvPr/>
        </p:nvSpPr>
        <p:spPr>
          <a:xfrm>
            <a:off x="2888317" y="2492896"/>
            <a:ext cx="1838207" cy="523220"/>
          </a:xfrm>
          <a:prstGeom prst="rect">
            <a:avLst/>
          </a:prstGeom>
          <a:noFill/>
        </p:spPr>
        <p:txBody>
          <a:bodyPr wrap="square" rtlCol="0">
            <a:spAutoFit/>
          </a:bodyPr>
          <a:lstStyle/>
          <a:p>
            <a:pPr algn="just"/>
            <a:r>
              <a:rPr lang="en-US" sz="2800" b="1" i="1" dirty="0">
                <a:solidFill>
                  <a:srgbClr val="7030A0"/>
                </a:solidFill>
                <a:latin typeface="Arial" pitchFamily="34" charset="0"/>
                <a:cs typeface="Arial" pitchFamily="34" charset="0"/>
              </a:rPr>
              <a:t>H = C + R</a:t>
            </a:r>
          </a:p>
        </p:txBody>
      </p:sp>
      <p:sp>
        <p:nvSpPr>
          <p:cNvPr id="8" name="TextBox 7"/>
          <p:cNvSpPr txBox="1"/>
          <p:nvPr/>
        </p:nvSpPr>
        <p:spPr>
          <a:xfrm>
            <a:off x="467544" y="3212976"/>
            <a:ext cx="8443447" cy="461665"/>
          </a:xfrm>
          <a:prstGeom prst="rect">
            <a:avLst/>
          </a:prstGeom>
          <a:noFill/>
        </p:spPr>
        <p:txBody>
          <a:bodyPr wrap="square" rtlCol="0">
            <a:spAutoFit/>
          </a:bodyPr>
          <a:lstStyle/>
          <a:p>
            <a:pPr algn="just"/>
            <a:r>
              <a:rPr lang="en-US" sz="2400" i="1" dirty="0">
                <a:solidFill>
                  <a:schemeClr val="tx2"/>
                </a:solidFill>
                <a:latin typeface="Arial" pitchFamily="34" charset="0"/>
                <a:cs typeface="Arial" pitchFamily="34" charset="0"/>
              </a:rPr>
              <a:t>      C = currency held by the public</a:t>
            </a:r>
            <a:endParaRPr lang="en-US" sz="2400" b="0" i="1" u="sng" dirty="0">
              <a:solidFill>
                <a:srgbClr val="7030A0"/>
              </a:solidFill>
              <a:latin typeface="Arial" pitchFamily="34" charset="0"/>
              <a:cs typeface="Arial" pitchFamily="34" charset="0"/>
            </a:endParaRPr>
          </a:p>
        </p:txBody>
      </p:sp>
      <p:sp>
        <p:nvSpPr>
          <p:cNvPr id="10" name="TextBox 9"/>
          <p:cNvSpPr txBox="1"/>
          <p:nvPr/>
        </p:nvSpPr>
        <p:spPr>
          <a:xfrm>
            <a:off x="467544" y="3687415"/>
            <a:ext cx="8443447" cy="461665"/>
          </a:xfrm>
          <a:prstGeom prst="rect">
            <a:avLst/>
          </a:prstGeom>
          <a:noFill/>
        </p:spPr>
        <p:txBody>
          <a:bodyPr wrap="square" rtlCol="0">
            <a:spAutoFit/>
          </a:bodyPr>
          <a:lstStyle/>
          <a:p>
            <a:pPr algn="just"/>
            <a:r>
              <a:rPr lang="en-US" sz="2400" i="1" dirty="0">
                <a:solidFill>
                  <a:schemeClr val="tx2"/>
                </a:solidFill>
                <a:latin typeface="Arial" pitchFamily="34" charset="0"/>
                <a:cs typeface="Arial" pitchFamily="34" charset="0"/>
              </a:rPr>
              <a:t>      R = cash reserves of the commercial banks</a:t>
            </a:r>
            <a:endParaRPr lang="en-US" sz="2400" b="0" i="1" u="sng" dirty="0">
              <a:solidFill>
                <a:srgbClr val="7030A0"/>
              </a:solidFill>
              <a:latin typeface="Arial" pitchFamily="34" charset="0"/>
              <a:cs typeface="Arial" pitchFamily="34" charset="0"/>
            </a:endParaRPr>
          </a:p>
        </p:txBody>
      </p:sp>
      <p:sp>
        <p:nvSpPr>
          <p:cNvPr id="11" name="TextBox 10"/>
          <p:cNvSpPr txBox="1"/>
          <p:nvPr/>
        </p:nvSpPr>
        <p:spPr>
          <a:xfrm>
            <a:off x="449033" y="4481825"/>
            <a:ext cx="8443447" cy="1323439"/>
          </a:xfrm>
          <a:prstGeom prst="rect">
            <a:avLst/>
          </a:prstGeom>
          <a:noFill/>
        </p:spPr>
        <p:txBody>
          <a:bodyPr wrap="square" rtlCol="0">
            <a:spAutoFit/>
          </a:bodyPr>
          <a:lstStyle/>
          <a:p>
            <a:pPr marL="457200" indent="-457200" algn="just">
              <a:buFont typeface="Wingdings" pitchFamily="2" charset="2"/>
              <a:buChar char="Ø"/>
            </a:pPr>
            <a:r>
              <a:rPr lang="en-US" sz="2000" b="1" i="1" dirty="0">
                <a:solidFill>
                  <a:srgbClr val="0070C0"/>
                </a:solidFill>
                <a:latin typeface="Arial" pitchFamily="34" charset="0"/>
                <a:cs typeface="Arial" pitchFamily="34" charset="0"/>
              </a:rPr>
              <a:t>The cash reserves (R) with the commercial banks forms the basis of money supplied by the banks. The money supplied by the banks increases money supply and hence it is useful to look at the process of money creation by the banks.</a:t>
            </a:r>
            <a:endParaRPr lang="en-US" sz="2000" b="1" i="1" u="sng" dirty="0">
              <a:solidFill>
                <a:srgbClr val="0070C0"/>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10</a:t>
            </a:fld>
            <a:endParaRPr lang="en-GB"/>
          </a:p>
        </p:txBody>
      </p:sp>
    </p:spTree>
    <p:extLst>
      <p:ext uri="{BB962C8B-B14F-4D97-AF65-F5344CB8AC3E}">
        <p14:creationId xmlns:p14="http://schemas.microsoft.com/office/powerpoint/2010/main" val="268098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1" fill="hold"/>
                                        <p:tgtEl>
                                          <p:spTgt spid="8"/>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to="" calcmode="lin" valueType="num">
                                      <p:cBhvr>
                                        <p:cTn id="32" dur="1" fill="hold"/>
                                        <p:tgtEl>
                                          <p:spTgt spid="10"/>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to="" calcmode="lin" valueType="num">
                                      <p:cBhvr>
                                        <p:cTn id="37" dur="1" fill="hold"/>
                                        <p:tgtEl>
                                          <p:spTgt spid="1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6" grpId="0"/>
      <p:bldP spid="8"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7" name="TextBox 6"/>
          <p:cNvSpPr txBox="1"/>
          <p:nvPr/>
        </p:nvSpPr>
        <p:spPr>
          <a:xfrm>
            <a:off x="539552" y="879103"/>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5.3.3 Money Creation by the Commercial Banks  </a:t>
            </a:r>
          </a:p>
        </p:txBody>
      </p:sp>
      <p:sp>
        <p:nvSpPr>
          <p:cNvPr id="9" name="TextBox 8"/>
          <p:cNvSpPr txBox="1"/>
          <p:nvPr/>
        </p:nvSpPr>
        <p:spPr>
          <a:xfrm>
            <a:off x="395536" y="1700808"/>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Commercial banks receive deposits from the public which are called </a:t>
            </a:r>
            <a:r>
              <a:rPr lang="en-US" sz="2400" b="1" i="1" dirty="0">
                <a:solidFill>
                  <a:schemeClr val="tx2"/>
                </a:solidFill>
                <a:latin typeface="Arial" pitchFamily="34" charset="0"/>
                <a:cs typeface="Arial" pitchFamily="34" charset="0"/>
              </a:rPr>
              <a:t>“ primary deposits”. </a:t>
            </a:r>
            <a:endParaRPr lang="en-US" sz="2400" b="1" i="1" u="sng" dirty="0">
              <a:solidFill>
                <a:srgbClr val="7030A0"/>
              </a:solidFill>
              <a:latin typeface="Arial" pitchFamily="34" charset="0"/>
              <a:cs typeface="Arial" pitchFamily="34" charset="0"/>
            </a:endParaRPr>
          </a:p>
        </p:txBody>
      </p:sp>
      <p:sp>
        <p:nvSpPr>
          <p:cNvPr id="12" name="TextBox 11"/>
          <p:cNvSpPr txBox="1"/>
          <p:nvPr/>
        </p:nvSpPr>
        <p:spPr>
          <a:xfrm>
            <a:off x="449033" y="2598003"/>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On the basis of primary deposits, banks create </a:t>
            </a:r>
            <a:r>
              <a:rPr lang="en-US" sz="2400" b="1" i="1" dirty="0">
                <a:solidFill>
                  <a:schemeClr val="tx2"/>
                </a:solidFill>
                <a:latin typeface="Arial" pitchFamily="34" charset="0"/>
                <a:cs typeface="Arial" pitchFamily="34" charset="0"/>
              </a:rPr>
              <a:t>“secondary deposits / credit creation”. </a:t>
            </a:r>
            <a:endParaRPr lang="en-US" sz="2400" b="1" i="1" u="sng" dirty="0">
              <a:solidFill>
                <a:srgbClr val="7030A0"/>
              </a:solidFill>
              <a:latin typeface="Arial" pitchFamily="34" charset="0"/>
              <a:cs typeface="Arial" pitchFamily="34" charset="0"/>
            </a:endParaRPr>
          </a:p>
        </p:txBody>
      </p:sp>
      <p:sp>
        <p:nvSpPr>
          <p:cNvPr id="13" name="TextBox 12"/>
          <p:cNvSpPr txBox="1"/>
          <p:nvPr/>
        </p:nvSpPr>
        <p:spPr>
          <a:xfrm>
            <a:off x="467544" y="3534107"/>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The process of credit creation begins with banks lending money out of primary deposits. </a:t>
            </a:r>
            <a:endParaRPr lang="en-US" sz="2400" b="1" i="1" u="sng" dirty="0">
              <a:solidFill>
                <a:srgbClr val="7030A0"/>
              </a:solidFill>
              <a:latin typeface="Arial" pitchFamily="34" charset="0"/>
              <a:cs typeface="Arial" pitchFamily="34" charset="0"/>
            </a:endParaRPr>
          </a:p>
        </p:txBody>
      </p:sp>
      <p:sp>
        <p:nvSpPr>
          <p:cNvPr id="14" name="TextBox 13"/>
          <p:cNvSpPr txBox="1"/>
          <p:nvPr/>
        </p:nvSpPr>
        <p:spPr>
          <a:xfrm>
            <a:off x="521041" y="4460919"/>
            <a:ext cx="8443447" cy="1200329"/>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Note that banks cannot loan out the entire primary deposits as they are required to keep some money as cash reserves.</a:t>
            </a:r>
            <a:endParaRPr lang="en-US" sz="2400" b="1" i="1" u="sng" dirty="0">
              <a:solidFill>
                <a:srgbClr val="7030A0"/>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11</a:t>
            </a:fld>
            <a:endParaRPr lang="en-GB"/>
          </a:p>
        </p:txBody>
      </p:sp>
    </p:spTree>
    <p:extLst>
      <p:ext uri="{BB962C8B-B14F-4D97-AF65-F5344CB8AC3E}">
        <p14:creationId xmlns:p14="http://schemas.microsoft.com/office/powerpoint/2010/main" val="122443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to="" calcmode="lin" valueType="num">
                                      <p:cBhvr>
                                        <p:cTn id="22" dur="1" fill="hold"/>
                                        <p:tgtEl>
                                          <p:spTgt spid="12"/>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to="" calcmode="lin" valueType="num">
                                      <p:cBhvr>
                                        <p:cTn id="27" dur="1" fill="hold"/>
                                        <p:tgtEl>
                                          <p:spTgt spid="13"/>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to="" calcmode="lin" valueType="num">
                                      <p:cBhvr>
                                        <p:cTn id="32" dur="1" fill="hold"/>
                                        <p:tgtEl>
                                          <p:spTgt spid="1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9" name="TextBox 8"/>
          <p:cNvSpPr txBox="1"/>
          <p:nvPr/>
        </p:nvSpPr>
        <p:spPr>
          <a:xfrm>
            <a:off x="395536" y="980728"/>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The banks are required to maintain two kinds of cash reserves.</a:t>
            </a:r>
            <a:r>
              <a:rPr lang="en-US" sz="2400" b="1" i="1" dirty="0">
                <a:solidFill>
                  <a:schemeClr val="tx2"/>
                </a:solidFill>
                <a:latin typeface="Arial" pitchFamily="34" charset="0"/>
                <a:cs typeface="Arial" pitchFamily="34" charset="0"/>
              </a:rPr>
              <a:t> </a:t>
            </a:r>
            <a:endParaRPr lang="en-US" sz="2400" b="1" i="1" u="sng" dirty="0">
              <a:solidFill>
                <a:srgbClr val="7030A0"/>
              </a:solidFill>
              <a:latin typeface="Arial" pitchFamily="34" charset="0"/>
              <a:cs typeface="Arial" pitchFamily="34" charset="0"/>
            </a:endParaRPr>
          </a:p>
        </p:txBody>
      </p:sp>
      <p:sp>
        <p:nvSpPr>
          <p:cNvPr id="12" name="TextBox 11"/>
          <p:cNvSpPr txBox="1"/>
          <p:nvPr/>
        </p:nvSpPr>
        <p:spPr>
          <a:xfrm>
            <a:off x="1187624" y="1916832"/>
            <a:ext cx="7704856" cy="400110"/>
          </a:xfrm>
          <a:prstGeom prst="rect">
            <a:avLst/>
          </a:prstGeom>
          <a:noFill/>
        </p:spPr>
        <p:txBody>
          <a:bodyPr wrap="square" rtlCol="0">
            <a:spAutoFit/>
          </a:bodyPr>
          <a:lstStyle/>
          <a:p>
            <a:pPr algn="just"/>
            <a:r>
              <a:rPr lang="en-US" sz="2000" i="1" dirty="0">
                <a:solidFill>
                  <a:schemeClr val="tx2"/>
                </a:solidFill>
                <a:latin typeface="Arial" pitchFamily="34" charset="0"/>
                <a:cs typeface="Arial" pitchFamily="34" charset="0"/>
              </a:rPr>
              <a:t>1.  Mandatory cash reserve required by the Central Bank</a:t>
            </a:r>
            <a:endParaRPr lang="en-US" sz="2000" b="1" i="1" u="sng" dirty="0">
              <a:solidFill>
                <a:srgbClr val="7030A0"/>
              </a:solidFill>
              <a:latin typeface="Arial" pitchFamily="34" charset="0"/>
              <a:cs typeface="Arial" pitchFamily="34" charset="0"/>
            </a:endParaRPr>
          </a:p>
        </p:txBody>
      </p:sp>
      <p:sp>
        <p:nvSpPr>
          <p:cNvPr id="13" name="TextBox 12"/>
          <p:cNvSpPr txBox="1"/>
          <p:nvPr/>
        </p:nvSpPr>
        <p:spPr>
          <a:xfrm>
            <a:off x="449033" y="3368834"/>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After maintaining the above required cash reserves, the bank can loan out the balance of the primary deposits. </a:t>
            </a:r>
            <a:endParaRPr lang="en-US" sz="2400" b="1" i="1" u="sng" dirty="0">
              <a:solidFill>
                <a:srgbClr val="7030A0"/>
              </a:solidFill>
              <a:latin typeface="Arial" pitchFamily="34" charset="0"/>
              <a:cs typeface="Arial" pitchFamily="34" charset="0"/>
            </a:endParaRPr>
          </a:p>
        </p:txBody>
      </p:sp>
      <p:sp>
        <p:nvSpPr>
          <p:cNvPr id="14" name="TextBox 13"/>
          <p:cNvSpPr txBox="1"/>
          <p:nvPr/>
        </p:nvSpPr>
        <p:spPr>
          <a:xfrm>
            <a:off x="471006" y="4479961"/>
            <a:ext cx="8443447" cy="1508105"/>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The process of credit creation by the banks can be explained assuming two kinds of the banking systems.</a:t>
            </a:r>
          </a:p>
          <a:p>
            <a:pPr algn="just"/>
            <a:r>
              <a:rPr lang="en-US" sz="2400" b="1" i="1" dirty="0">
                <a:solidFill>
                  <a:schemeClr val="tx2"/>
                </a:solidFill>
                <a:latin typeface="Arial" pitchFamily="34" charset="0"/>
                <a:cs typeface="Arial" pitchFamily="34" charset="0"/>
              </a:rPr>
              <a:t>      </a:t>
            </a:r>
            <a:r>
              <a:rPr lang="en-US" sz="2000" i="1" dirty="0">
                <a:solidFill>
                  <a:schemeClr val="tx2"/>
                </a:solidFill>
                <a:latin typeface="Arial" pitchFamily="34" charset="0"/>
                <a:cs typeface="Arial" pitchFamily="34" charset="0"/>
              </a:rPr>
              <a:t>a). Single bank model</a:t>
            </a:r>
          </a:p>
          <a:p>
            <a:pPr algn="just"/>
            <a:r>
              <a:rPr lang="en-US" sz="2000" i="1" dirty="0">
                <a:solidFill>
                  <a:schemeClr val="tx2"/>
                </a:solidFill>
                <a:latin typeface="Arial" pitchFamily="34" charset="0"/>
                <a:cs typeface="Arial" pitchFamily="34" charset="0"/>
              </a:rPr>
              <a:t>       b).  Multiple bank model</a:t>
            </a:r>
            <a:endParaRPr lang="en-US" sz="2000" i="1" dirty="0">
              <a:solidFill>
                <a:srgbClr val="7030A0"/>
              </a:solidFill>
              <a:latin typeface="Arial" pitchFamily="34" charset="0"/>
              <a:cs typeface="Arial" pitchFamily="34" charset="0"/>
            </a:endParaRPr>
          </a:p>
        </p:txBody>
      </p:sp>
      <p:sp>
        <p:nvSpPr>
          <p:cNvPr id="8" name="TextBox 7"/>
          <p:cNvSpPr txBox="1"/>
          <p:nvPr/>
        </p:nvSpPr>
        <p:spPr>
          <a:xfrm>
            <a:off x="1187624" y="2380818"/>
            <a:ext cx="7704856" cy="707886"/>
          </a:xfrm>
          <a:prstGeom prst="rect">
            <a:avLst/>
          </a:prstGeom>
          <a:noFill/>
        </p:spPr>
        <p:txBody>
          <a:bodyPr wrap="square" rtlCol="0">
            <a:spAutoFit/>
          </a:bodyPr>
          <a:lstStyle/>
          <a:p>
            <a:pPr algn="just"/>
            <a:r>
              <a:rPr lang="en-US" sz="2000" i="1" dirty="0">
                <a:solidFill>
                  <a:schemeClr val="tx2"/>
                </a:solidFill>
                <a:latin typeface="Arial" pitchFamily="34" charset="0"/>
                <a:cs typeface="Arial" pitchFamily="34" charset="0"/>
              </a:rPr>
              <a:t>2.  In addition, bank’s “excess reserve” to meet the cash demand by the depositors</a:t>
            </a:r>
            <a:endParaRPr lang="en-US" sz="2000" b="1" i="1" u="sng" dirty="0">
              <a:solidFill>
                <a:srgbClr val="7030A0"/>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12</a:t>
            </a:fld>
            <a:endParaRPr lang="en-GB"/>
          </a:p>
        </p:txBody>
      </p:sp>
    </p:spTree>
    <p:extLst>
      <p:ext uri="{BB962C8B-B14F-4D97-AF65-F5344CB8AC3E}">
        <p14:creationId xmlns:p14="http://schemas.microsoft.com/office/powerpoint/2010/main" val="239281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to="" calcmode="lin" valueType="num">
                                      <p:cBhvr>
                                        <p:cTn id="12" dur="1" fill="hold"/>
                                        <p:tgtEl>
                                          <p:spTgt spid="9"/>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to="" calcmode="lin" valueType="num">
                                      <p:cBhvr>
                                        <p:cTn id="17" dur="1" fill="hold"/>
                                        <p:tgtEl>
                                          <p:spTgt spid="12"/>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to="" calcmode="lin" valueType="num">
                                      <p:cBhvr>
                                        <p:cTn id="22" dur="1" fill="hold"/>
                                        <p:tgtEl>
                                          <p:spTgt spid="8"/>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to="" calcmode="lin" valueType="num">
                                      <p:cBhvr>
                                        <p:cTn id="27" dur="1" fill="hold"/>
                                        <p:tgtEl>
                                          <p:spTgt spid="13"/>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to="" calcmode="lin" valueType="num">
                                      <p:cBhvr>
                                        <p:cTn id="32" dur="1" fill="hold"/>
                                        <p:tgtEl>
                                          <p:spTgt spid="1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2" grpId="0"/>
      <p:bldP spid="13" grpId="0"/>
      <p:bldP spid="1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7" name="TextBox 6"/>
          <p:cNvSpPr txBox="1"/>
          <p:nvPr/>
        </p:nvSpPr>
        <p:spPr>
          <a:xfrm>
            <a:off x="539552" y="879103"/>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Deposit Creation in a Single Bank Model  </a:t>
            </a:r>
          </a:p>
        </p:txBody>
      </p:sp>
      <p:sp>
        <p:nvSpPr>
          <p:cNvPr id="9" name="TextBox 8"/>
          <p:cNvSpPr txBox="1"/>
          <p:nvPr/>
        </p:nvSpPr>
        <p:spPr>
          <a:xfrm>
            <a:off x="395536" y="1556792"/>
            <a:ext cx="8443447" cy="461665"/>
          </a:xfrm>
          <a:prstGeom prst="rect">
            <a:avLst/>
          </a:prstGeom>
          <a:noFill/>
        </p:spPr>
        <p:txBody>
          <a:bodyPr wrap="square" rtlCol="0">
            <a:spAutoFit/>
          </a:bodyPr>
          <a:lstStyle/>
          <a:p>
            <a:pPr marL="457200" indent="-457200" algn="just">
              <a:buFont typeface="Wingdings" pitchFamily="2" charset="2"/>
              <a:buChar char="Ø"/>
            </a:pPr>
            <a:r>
              <a:rPr lang="en-US" sz="2400" b="1" i="1" dirty="0">
                <a:solidFill>
                  <a:schemeClr val="tx2"/>
                </a:solidFill>
                <a:latin typeface="Arial" pitchFamily="34" charset="0"/>
                <a:cs typeface="Arial" pitchFamily="34" charset="0"/>
              </a:rPr>
              <a:t>Assumptions of the Model</a:t>
            </a:r>
            <a:endParaRPr lang="en-US" sz="2400" b="1" i="1" u="sng" dirty="0">
              <a:solidFill>
                <a:srgbClr val="7030A0"/>
              </a:solidFill>
              <a:latin typeface="Arial" pitchFamily="34" charset="0"/>
              <a:cs typeface="Arial" pitchFamily="34" charset="0"/>
            </a:endParaRPr>
          </a:p>
        </p:txBody>
      </p:sp>
      <p:sp>
        <p:nvSpPr>
          <p:cNvPr id="13" name="TextBox 12"/>
          <p:cNvSpPr txBox="1"/>
          <p:nvPr/>
        </p:nvSpPr>
        <p:spPr>
          <a:xfrm>
            <a:off x="881081" y="2132856"/>
            <a:ext cx="8443447" cy="461665"/>
          </a:xfrm>
          <a:prstGeom prst="rect">
            <a:avLst/>
          </a:prstGeom>
          <a:noFill/>
        </p:spPr>
        <p:txBody>
          <a:bodyPr wrap="square" rtlCol="0">
            <a:spAutoFit/>
          </a:bodyPr>
          <a:lstStyle/>
          <a:p>
            <a:pPr marL="342900" indent="-342900" algn="just">
              <a:buFont typeface="Wingdings" pitchFamily="2" charset="2"/>
              <a:buChar char="ü"/>
            </a:pPr>
            <a:r>
              <a:rPr lang="en-US" sz="2400" i="1" dirty="0">
                <a:solidFill>
                  <a:schemeClr val="tx2"/>
                </a:solidFill>
                <a:latin typeface="Arial" pitchFamily="34" charset="0"/>
                <a:cs typeface="Arial" pitchFamily="34" charset="0"/>
              </a:rPr>
              <a:t> there is a single bank </a:t>
            </a:r>
            <a:endParaRPr lang="en-US" sz="2400" b="1" i="1" u="sng" dirty="0">
              <a:solidFill>
                <a:srgbClr val="7030A0"/>
              </a:solidFill>
              <a:latin typeface="Arial" pitchFamily="34" charset="0"/>
              <a:cs typeface="Arial" pitchFamily="34" charset="0"/>
            </a:endParaRPr>
          </a:p>
        </p:txBody>
      </p:sp>
      <p:sp>
        <p:nvSpPr>
          <p:cNvPr id="8" name="TextBox 7"/>
          <p:cNvSpPr txBox="1"/>
          <p:nvPr/>
        </p:nvSpPr>
        <p:spPr>
          <a:xfrm>
            <a:off x="899592" y="2607295"/>
            <a:ext cx="8443447" cy="461665"/>
          </a:xfrm>
          <a:prstGeom prst="rect">
            <a:avLst/>
          </a:prstGeom>
          <a:noFill/>
        </p:spPr>
        <p:txBody>
          <a:bodyPr wrap="square" rtlCol="0">
            <a:spAutoFit/>
          </a:bodyPr>
          <a:lstStyle/>
          <a:p>
            <a:pPr marL="342900" indent="-342900" algn="just">
              <a:buFont typeface="Wingdings" pitchFamily="2" charset="2"/>
              <a:buChar char="ü"/>
            </a:pPr>
            <a:r>
              <a:rPr lang="en-US" sz="2400" i="1" dirty="0">
                <a:solidFill>
                  <a:schemeClr val="tx2"/>
                </a:solidFill>
                <a:latin typeface="Arial" pitchFamily="34" charset="0"/>
                <a:cs typeface="Arial" pitchFamily="34" charset="0"/>
              </a:rPr>
              <a:t> the bank accepts only demand deposits </a:t>
            </a:r>
            <a:endParaRPr lang="en-US" sz="2400" b="1" i="1" u="sng" dirty="0">
              <a:solidFill>
                <a:srgbClr val="7030A0"/>
              </a:solidFill>
              <a:latin typeface="Arial" pitchFamily="34" charset="0"/>
              <a:cs typeface="Arial" pitchFamily="34" charset="0"/>
            </a:endParaRPr>
          </a:p>
        </p:txBody>
      </p:sp>
      <p:sp>
        <p:nvSpPr>
          <p:cNvPr id="10" name="TextBox 9"/>
          <p:cNvSpPr txBox="1"/>
          <p:nvPr/>
        </p:nvSpPr>
        <p:spPr>
          <a:xfrm>
            <a:off x="899592" y="3068960"/>
            <a:ext cx="8443447" cy="461665"/>
          </a:xfrm>
          <a:prstGeom prst="rect">
            <a:avLst/>
          </a:prstGeom>
          <a:noFill/>
        </p:spPr>
        <p:txBody>
          <a:bodyPr wrap="square" rtlCol="0">
            <a:spAutoFit/>
          </a:bodyPr>
          <a:lstStyle/>
          <a:p>
            <a:pPr marL="342900" indent="-342900" algn="just">
              <a:buFont typeface="Wingdings" pitchFamily="2" charset="2"/>
              <a:buChar char="ü"/>
            </a:pPr>
            <a:r>
              <a:rPr lang="en-US" sz="2400" i="1" dirty="0">
                <a:solidFill>
                  <a:schemeClr val="tx2"/>
                </a:solidFill>
                <a:latin typeface="Arial" pitchFamily="34" charset="0"/>
                <a:cs typeface="Arial" pitchFamily="34" charset="0"/>
              </a:rPr>
              <a:t> total cash reserve requirement is 20%.  </a:t>
            </a:r>
            <a:endParaRPr lang="en-US" sz="2400" b="1" i="1" u="sng" dirty="0">
              <a:solidFill>
                <a:srgbClr val="7030A0"/>
              </a:solidFill>
              <a:latin typeface="Arial" pitchFamily="34" charset="0"/>
              <a:cs typeface="Arial" pitchFamily="34" charset="0"/>
            </a:endParaRPr>
          </a:p>
        </p:txBody>
      </p:sp>
      <p:sp>
        <p:nvSpPr>
          <p:cNvPr id="11" name="TextBox 10"/>
          <p:cNvSpPr txBox="1"/>
          <p:nvPr/>
        </p:nvSpPr>
        <p:spPr>
          <a:xfrm>
            <a:off x="899593" y="3543399"/>
            <a:ext cx="8117408" cy="830997"/>
          </a:xfrm>
          <a:prstGeom prst="rect">
            <a:avLst/>
          </a:prstGeom>
          <a:noFill/>
        </p:spPr>
        <p:txBody>
          <a:bodyPr wrap="square" rtlCol="0">
            <a:spAutoFit/>
          </a:bodyPr>
          <a:lstStyle/>
          <a:p>
            <a:pPr marL="342900" indent="-342900" algn="just">
              <a:buFont typeface="Wingdings" pitchFamily="2" charset="2"/>
              <a:buChar char="ü"/>
            </a:pPr>
            <a:r>
              <a:rPr lang="en-US" sz="2400" i="1" dirty="0">
                <a:solidFill>
                  <a:schemeClr val="tx2"/>
                </a:solidFill>
                <a:latin typeface="Arial" pitchFamily="34" charset="0"/>
                <a:cs typeface="Arial" pitchFamily="34" charset="0"/>
              </a:rPr>
              <a:t> the bank holds its assets only in the form of case reserves, loans and advances. </a:t>
            </a:r>
            <a:endParaRPr lang="en-US" sz="2400" b="1" i="1" u="sng" dirty="0">
              <a:solidFill>
                <a:srgbClr val="7030A0"/>
              </a:solidFill>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13</a:t>
            </a:fld>
            <a:endParaRPr lang="en-GB"/>
          </a:p>
        </p:txBody>
      </p:sp>
    </p:spTree>
    <p:extLst>
      <p:ext uri="{BB962C8B-B14F-4D97-AF65-F5344CB8AC3E}">
        <p14:creationId xmlns:p14="http://schemas.microsoft.com/office/powerpoint/2010/main" val="183638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1" fill="hold"/>
                                        <p:tgtEl>
                                          <p:spTgt spid="13"/>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1" fill="hold"/>
                                        <p:tgtEl>
                                          <p:spTgt spid="8"/>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to="" calcmode="lin" valueType="num">
                                      <p:cBhvr>
                                        <p:cTn id="32" dur="1" fill="hold"/>
                                        <p:tgtEl>
                                          <p:spTgt spid="10"/>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to="" calcmode="lin" valueType="num">
                                      <p:cBhvr>
                                        <p:cTn id="37" dur="1" fill="hold"/>
                                        <p:tgtEl>
                                          <p:spTgt spid="1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3" grpId="0"/>
      <p:bldP spid="8"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13" name="TextBox 12"/>
          <p:cNvSpPr txBox="1"/>
          <p:nvPr/>
        </p:nvSpPr>
        <p:spPr>
          <a:xfrm>
            <a:off x="475289" y="764704"/>
            <a:ext cx="8443447" cy="1200329"/>
          </a:xfrm>
          <a:prstGeom prst="rect">
            <a:avLst/>
          </a:prstGeom>
          <a:noFill/>
        </p:spPr>
        <p:txBody>
          <a:bodyPr wrap="square" rtlCol="0">
            <a:spAutoFit/>
          </a:bodyPr>
          <a:lstStyle/>
          <a:p>
            <a:pPr marL="342900" indent="-342900" algn="just">
              <a:buFont typeface="Wingdings" pitchFamily="2" charset="2"/>
              <a:buChar char="ü"/>
            </a:pPr>
            <a:r>
              <a:rPr lang="en-US" sz="2400" i="1" dirty="0">
                <a:latin typeface="Arial" pitchFamily="34" charset="0"/>
                <a:cs typeface="Arial" pitchFamily="34" charset="0"/>
              </a:rPr>
              <a:t> Assume that an individual A deposits </a:t>
            </a:r>
            <a:r>
              <a:rPr lang="en-US" sz="2400" i="1" dirty="0" err="1">
                <a:latin typeface="Arial" pitchFamily="34" charset="0"/>
                <a:cs typeface="Arial" pitchFamily="34" charset="0"/>
              </a:rPr>
              <a:t>Rs</a:t>
            </a:r>
            <a:r>
              <a:rPr lang="en-US" sz="2400" i="1" dirty="0">
                <a:latin typeface="Arial" pitchFamily="34" charset="0"/>
                <a:cs typeface="Arial" pitchFamily="34" charset="0"/>
              </a:rPr>
              <a:t> 100 thousand with the bank and the balance sheet of the monopoly bank is as follows. </a:t>
            </a:r>
            <a:endParaRPr lang="en-US" sz="2400" b="1" i="1" u="sng" dirty="0">
              <a:latin typeface="Arial" pitchFamily="34" charset="0"/>
              <a:cs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279656830"/>
              </p:ext>
            </p:extLst>
          </p:nvPr>
        </p:nvGraphicFramePr>
        <p:xfrm>
          <a:off x="182498" y="2276872"/>
          <a:ext cx="8765480" cy="1381760"/>
        </p:xfrm>
        <a:graphic>
          <a:graphicData uri="http://schemas.openxmlformats.org/drawingml/2006/table">
            <a:tbl>
              <a:tblPr firstRow="1" bandRow="1">
                <a:tableStyleId>{EB344D84-9AFB-497E-A393-DC336BA19D2E}</a:tableStyleId>
              </a:tblPr>
              <a:tblGrid>
                <a:gridCol w="2191370">
                  <a:extLst>
                    <a:ext uri="{9D8B030D-6E8A-4147-A177-3AD203B41FA5}">
                      <a16:colId xmlns:a16="http://schemas.microsoft.com/office/drawing/2014/main" val="20000"/>
                    </a:ext>
                  </a:extLst>
                </a:gridCol>
                <a:gridCol w="2191370">
                  <a:extLst>
                    <a:ext uri="{9D8B030D-6E8A-4147-A177-3AD203B41FA5}">
                      <a16:colId xmlns:a16="http://schemas.microsoft.com/office/drawing/2014/main" val="20001"/>
                    </a:ext>
                  </a:extLst>
                </a:gridCol>
                <a:gridCol w="2191370">
                  <a:extLst>
                    <a:ext uri="{9D8B030D-6E8A-4147-A177-3AD203B41FA5}">
                      <a16:colId xmlns:a16="http://schemas.microsoft.com/office/drawing/2014/main" val="20002"/>
                    </a:ext>
                  </a:extLst>
                </a:gridCol>
                <a:gridCol w="2191370">
                  <a:extLst>
                    <a:ext uri="{9D8B030D-6E8A-4147-A177-3AD203B41FA5}">
                      <a16:colId xmlns:a16="http://schemas.microsoft.com/office/drawing/2014/main" val="20003"/>
                    </a:ext>
                  </a:extLst>
                </a:gridCol>
              </a:tblGrid>
              <a:tr h="370840">
                <a:tc>
                  <a:txBody>
                    <a:bodyPr/>
                    <a:lstStyle/>
                    <a:p>
                      <a:r>
                        <a:rPr lang="en-US" dirty="0"/>
                        <a:t>Liabilities</a:t>
                      </a:r>
                      <a:endParaRPr lang="en-GB" dirty="0"/>
                    </a:p>
                  </a:txBody>
                  <a:tcPr/>
                </a:tc>
                <a:tc>
                  <a:txBody>
                    <a:bodyPr/>
                    <a:lstStyle/>
                    <a:p>
                      <a:r>
                        <a:rPr lang="en-US" dirty="0"/>
                        <a:t>Amount</a:t>
                      </a:r>
                      <a:endParaRPr lang="en-GB" dirty="0"/>
                    </a:p>
                  </a:txBody>
                  <a:tcPr/>
                </a:tc>
                <a:tc>
                  <a:txBody>
                    <a:bodyPr/>
                    <a:lstStyle/>
                    <a:p>
                      <a:r>
                        <a:rPr lang="en-US" dirty="0"/>
                        <a:t>Assets</a:t>
                      </a:r>
                      <a:endParaRPr lang="en-GB" dirty="0"/>
                    </a:p>
                  </a:txBody>
                  <a:tcPr/>
                </a:tc>
                <a:tc>
                  <a:txBody>
                    <a:bodyPr/>
                    <a:lstStyle/>
                    <a:p>
                      <a:r>
                        <a:rPr lang="en-US" dirty="0"/>
                        <a:t>Amount</a:t>
                      </a:r>
                      <a:endParaRPr lang="en-GB" dirty="0"/>
                    </a:p>
                  </a:txBody>
                  <a:tcPr/>
                </a:tc>
                <a:extLst>
                  <a:ext uri="{0D108BD9-81ED-4DB2-BD59-A6C34878D82A}">
                    <a16:rowId xmlns:a16="http://schemas.microsoft.com/office/drawing/2014/main" val="10000"/>
                  </a:ext>
                </a:extLst>
              </a:tr>
              <a:tr h="370840">
                <a:tc>
                  <a:txBody>
                    <a:bodyPr/>
                    <a:lstStyle/>
                    <a:p>
                      <a:r>
                        <a:rPr lang="en-US" dirty="0"/>
                        <a:t>A’s deposit</a:t>
                      </a:r>
                      <a:endParaRPr lang="en-GB" dirty="0"/>
                    </a:p>
                  </a:txBody>
                  <a:tcPr/>
                </a:tc>
                <a:tc>
                  <a:txBody>
                    <a:bodyPr/>
                    <a:lstStyle/>
                    <a:p>
                      <a:pPr algn="r"/>
                      <a:r>
                        <a:rPr lang="en-US" dirty="0"/>
                        <a:t>100.00</a:t>
                      </a:r>
                      <a:endParaRPr lang="en-GB" dirty="0"/>
                    </a:p>
                  </a:txBody>
                  <a:tcPr/>
                </a:tc>
                <a:tc>
                  <a:txBody>
                    <a:bodyPr/>
                    <a:lstStyle/>
                    <a:p>
                      <a:r>
                        <a:rPr lang="en-US" dirty="0"/>
                        <a:t>Cash reserves (CR)</a:t>
                      </a:r>
                      <a:br>
                        <a:rPr lang="en-US" dirty="0"/>
                      </a:br>
                      <a:r>
                        <a:rPr lang="en-US" dirty="0"/>
                        <a:t>Excess reserves</a:t>
                      </a:r>
                      <a:endParaRPr lang="en-GB" dirty="0"/>
                    </a:p>
                  </a:txBody>
                  <a:tcPr/>
                </a:tc>
                <a:tc>
                  <a:txBody>
                    <a:bodyPr/>
                    <a:lstStyle/>
                    <a:p>
                      <a:pPr algn="r"/>
                      <a:r>
                        <a:rPr lang="en-US" dirty="0"/>
                        <a:t>20.00</a:t>
                      </a:r>
                    </a:p>
                    <a:p>
                      <a:pPr algn="r"/>
                      <a:r>
                        <a:rPr lang="en-US" dirty="0"/>
                        <a:t>80.00</a:t>
                      </a:r>
                      <a:endParaRPr lang="en-GB" dirty="0"/>
                    </a:p>
                  </a:txBody>
                  <a:tcPr/>
                </a:tc>
                <a:extLst>
                  <a:ext uri="{0D108BD9-81ED-4DB2-BD59-A6C34878D82A}">
                    <a16:rowId xmlns:a16="http://schemas.microsoft.com/office/drawing/2014/main" val="10001"/>
                  </a:ext>
                </a:extLst>
              </a:tr>
              <a:tr h="370840">
                <a:tc>
                  <a:txBody>
                    <a:bodyPr/>
                    <a:lstStyle/>
                    <a:p>
                      <a:r>
                        <a:rPr lang="en-US" dirty="0"/>
                        <a:t>Total</a:t>
                      </a:r>
                      <a:endParaRPr lang="en-GB" dirty="0"/>
                    </a:p>
                  </a:txBody>
                  <a:tcPr/>
                </a:tc>
                <a:tc>
                  <a:txBody>
                    <a:bodyPr/>
                    <a:lstStyle/>
                    <a:p>
                      <a:pPr algn="r"/>
                      <a:r>
                        <a:rPr lang="en-US" dirty="0"/>
                        <a:t>100.00</a:t>
                      </a:r>
                      <a:endParaRPr lang="en-GB" dirty="0"/>
                    </a:p>
                  </a:txBody>
                  <a:tcPr/>
                </a:tc>
                <a:tc>
                  <a:txBody>
                    <a:bodyPr/>
                    <a:lstStyle/>
                    <a:p>
                      <a:r>
                        <a:rPr lang="en-US" dirty="0"/>
                        <a:t>Total</a:t>
                      </a:r>
                      <a:endParaRPr lang="en-GB" dirty="0"/>
                    </a:p>
                  </a:txBody>
                  <a:tcPr/>
                </a:tc>
                <a:tc>
                  <a:txBody>
                    <a:bodyPr/>
                    <a:lstStyle/>
                    <a:p>
                      <a:pPr algn="r"/>
                      <a:r>
                        <a:rPr lang="en-US" dirty="0"/>
                        <a:t>100.00</a:t>
                      </a:r>
                      <a:endParaRPr lang="en-GB" dirty="0"/>
                    </a:p>
                  </a:txBody>
                  <a:tcPr/>
                </a:tc>
                <a:extLst>
                  <a:ext uri="{0D108BD9-81ED-4DB2-BD59-A6C34878D82A}">
                    <a16:rowId xmlns:a16="http://schemas.microsoft.com/office/drawing/2014/main" val="10002"/>
                  </a:ext>
                </a:extLst>
              </a:tr>
            </a:tbl>
          </a:graphicData>
        </a:graphic>
      </p:graphicFrame>
      <p:sp>
        <p:nvSpPr>
          <p:cNvPr id="12" name="TextBox 11"/>
          <p:cNvSpPr txBox="1"/>
          <p:nvPr/>
        </p:nvSpPr>
        <p:spPr>
          <a:xfrm>
            <a:off x="539552" y="3933056"/>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Note that the bank has an excess reserve of </a:t>
            </a:r>
            <a:r>
              <a:rPr lang="en-US" sz="2000" i="1" dirty="0" err="1">
                <a:latin typeface="Arial" pitchFamily="34" charset="0"/>
                <a:cs typeface="Arial" pitchFamily="34" charset="0"/>
              </a:rPr>
              <a:t>Rs</a:t>
            </a:r>
            <a:r>
              <a:rPr lang="en-US" sz="2000" i="1" dirty="0">
                <a:latin typeface="Arial" pitchFamily="34" charset="0"/>
                <a:cs typeface="Arial" pitchFamily="34" charset="0"/>
              </a:rPr>
              <a:t> 80 thousand which it can lend. Suppose an individual B borrows </a:t>
            </a:r>
            <a:r>
              <a:rPr lang="en-US" sz="2000" i="1" dirty="0" err="1">
                <a:latin typeface="Arial" pitchFamily="34" charset="0"/>
                <a:cs typeface="Arial" pitchFamily="34" charset="0"/>
              </a:rPr>
              <a:t>Rs</a:t>
            </a:r>
            <a:r>
              <a:rPr lang="en-US" sz="2000" i="1" dirty="0">
                <a:latin typeface="Arial" pitchFamily="34" charset="0"/>
                <a:cs typeface="Arial" pitchFamily="34" charset="0"/>
              </a:rPr>
              <a:t> 80 thousand. </a:t>
            </a:r>
            <a:endParaRPr lang="en-US" sz="2000" b="1" i="1" u="sng" dirty="0">
              <a:latin typeface="Arial" pitchFamily="34" charset="0"/>
              <a:cs typeface="Arial" pitchFamily="34" charset="0"/>
            </a:endParaRPr>
          </a:p>
        </p:txBody>
      </p:sp>
      <p:sp>
        <p:nvSpPr>
          <p:cNvPr id="14" name="TextBox 13"/>
          <p:cNvSpPr txBox="1"/>
          <p:nvPr/>
        </p:nvSpPr>
        <p:spPr>
          <a:xfrm>
            <a:off x="539552" y="4725144"/>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Suppose that the bank opens an account in B’s name and credits the amount to her account.</a:t>
            </a:r>
            <a:endParaRPr lang="en-US" sz="2000" b="1" i="1" u="sng" dirty="0">
              <a:latin typeface="Arial" pitchFamily="34" charset="0"/>
              <a:cs typeface="Arial" pitchFamily="34" charset="0"/>
            </a:endParaRPr>
          </a:p>
        </p:txBody>
      </p:sp>
      <p:sp>
        <p:nvSpPr>
          <p:cNvPr id="15" name="TextBox 14"/>
          <p:cNvSpPr txBox="1"/>
          <p:nvPr/>
        </p:nvSpPr>
        <p:spPr>
          <a:xfrm>
            <a:off x="467544" y="5457418"/>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Now bank’s deposits increase by Rs.80 thousand and its CR by Rs 16 thousand. This completes the first round of credit creation. </a:t>
            </a:r>
            <a:endParaRPr lang="en-US" sz="2000" b="1" i="1" u="sng"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14</a:t>
            </a:fld>
            <a:endParaRPr lang="en-GB"/>
          </a:p>
        </p:txBody>
      </p:sp>
    </p:spTree>
    <p:extLst>
      <p:ext uri="{BB962C8B-B14F-4D97-AF65-F5344CB8AC3E}">
        <p14:creationId xmlns:p14="http://schemas.microsoft.com/office/powerpoint/2010/main" val="305961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to="" calcmode="lin" valueType="num">
                                      <p:cBhvr>
                                        <p:cTn id="12" dur="1" fill="hold"/>
                                        <p:tgtEl>
                                          <p:spTgt spid="13"/>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ircle(in)">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to="" calcmode="lin" valueType="num">
                                      <p:cBhvr>
                                        <p:cTn id="22" dur="1" fill="hold"/>
                                        <p:tgtEl>
                                          <p:spTgt spid="12"/>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to="" calcmode="lin" valueType="num">
                                      <p:cBhvr>
                                        <p:cTn id="27" dur="1" fill="hold"/>
                                        <p:tgtEl>
                                          <p:spTgt spid="14"/>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 to="" calcmode="lin" valueType="num">
                                      <p:cBhvr>
                                        <p:cTn id="32" dur="1" fill="hold"/>
                                        <p:tgtEl>
                                          <p:spTgt spid="1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2"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13" name="TextBox 12"/>
          <p:cNvSpPr txBox="1"/>
          <p:nvPr/>
        </p:nvSpPr>
        <p:spPr>
          <a:xfrm>
            <a:off x="475289" y="764704"/>
            <a:ext cx="8443447" cy="461665"/>
          </a:xfrm>
          <a:prstGeom prst="rect">
            <a:avLst/>
          </a:prstGeom>
          <a:noFill/>
        </p:spPr>
        <p:txBody>
          <a:bodyPr wrap="square" rtlCol="0">
            <a:spAutoFit/>
          </a:bodyPr>
          <a:lstStyle/>
          <a:p>
            <a:pPr algn="just"/>
            <a:r>
              <a:rPr lang="en-US" sz="2400" i="1" dirty="0">
                <a:latin typeface="Arial" pitchFamily="34" charset="0"/>
                <a:cs typeface="Arial" pitchFamily="34" charset="0"/>
              </a:rPr>
              <a:t>Bank balance sheet after the first round. </a:t>
            </a:r>
            <a:endParaRPr lang="en-US" sz="2400" b="1" i="1" u="sng" dirty="0">
              <a:latin typeface="Arial" pitchFamily="34" charset="0"/>
              <a:cs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56837457"/>
              </p:ext>
            </p:extLst>
          </p:nvPr>
        </p:nvGraphicFramePr>
        <p:xfrm>
          <a:off x="306527" y="1484784"/>
          <a:ext cx="8765480" cy="1656080"/>
        </p:xfrm>
        <a:graphic>
          <a:graphicData uri="http://schemas.openxmlformats.org/drawingml/2006/table">
            <a:tbl>
              <a:tblPr firstRow="1" bandRow="1">
                <a:tableStyleId>{EB344D84-9AFB-497E-A393-DC336BA19D2E}</a:tableStyleId>
              </a:tblPr>
              <a:tblGrid>
                <a:gridCol w="2191370">
                  <a:extLst>
                    <a:ext uri="{9D8B030D-6E8A-4147-A177-3AD203B41FA5}">
                      <a16:colId xmlns:a16="http://schemas.microsoft.com/office/drawing/2014/main" val="20000"/>
                    </a:ext>
                  </a:extLst>
                </a:gridCol>
                <a:gridCol w="1570047">
                  <a:extLst>
                    <a:ext uri="{9D8B030D-6E8A-4147-A177-3AD203B41FA5}">
                      <a16:colId xmlns:a16="http://schemas.microsoft.com/office/drawing/2014/main" val="20001"/>
                    </a:ext>
                  </a:extLst>
                </a:gridCol>
                <a:gridCol w="2812693">
                  <a:extLst>
                    <a:ext uri="{9D8B030D-6E8A-4147-A177-3AD203B41FA5}">
                      <a16:colId xmlns:a16="http://schemas.microsoft.com/office/drawing/2014/main" val="20002"/>
                    </a:ext>
                  </a:extLst>
                </a:gridCol>
                <a:gridCol w="2191370">
                  <a:extLst>
                    <a:ext uri="{9D8B030D-6E8A-4147-A177-3AD203B41FA5}">
                      <a16:colId xmlns:a16="http://schemas.microsoft.com/office/drawing/2014/main" val="20003"/>
                    </a:ext>
                  </a:extLst>
                </a:gridCol>
              </a:tblGrid>
              <a:tr h="370840">
                <a:tc>
                  <a:txBody>
                    <a:bodyPr/>
                    <a:lstStyle/>
                    <a:p>
                      <a:r>
                        <a:rPr lang="en-US" dirty="0"/>
                        <a:t>Liabilities</a:t>
                      </a:r>
                      <a:endParaRPr lang="en-GB" dirty="0"/>
                    </a:p>
                  </a:txBody>
                  <a:tcPr/>
                </a:tc>
                <a:tc>
                  <a:txBody>
                    <a:bodyPr/>
                    <a:lstStyle/>
                    <a:p>
                      <a:r>
                        <a:rPr lang="en-US" dirty="0"/>
                        <a:t>Amount</a:t>
                      </a:r>
                      <a:endParaRPr lang="en-GB" dirty="0"/>
                    </a:p>
                  </a:txBody>
                  <a:tcPr/>
                </a:tc>
                <a:tc>
                  <a:txBody>
                    <a:bodyPr/>
                    <a:lstStyle/>
                    <a:p>
                      <a:r>
                        <a:rPr lang="en-US" dirty="0"/>
                        <a:t>Assets</a:t>
                      </a:r>
                      <a:endParaRPr lang="en-GB" dirty="0"/>
                    </a:p>
                  </a:txBody>
                  <a:tcPr/>
                </a:tc>
                <a:tc>
                  <a:txBody>
                    <a:bodyPr/>
                    <a:lstStyle/>
                    <a:p>
                      <a:r>
                        <a:rPr lang="en-US" dirty="0"/>
                        <a:t>Amount</a:t>
                      </a:r>
                      <a:endParaRPr lang="en-GB" dirty="0"/>
                    </a:p>
                  </a:txBody>
                  <a:tcPr/>
                </a:tc>
                <a:extLst>
                  <a:ext uri="{0D108BD9-81ED-4DB2-BD59-A6C34878D82A}">
                    <a16:rowId xmlns:a16="http://schemas.microsoft.com/office/drawing/2014/main" val="10000"/>
                  </a:ext>
                </a:extLst>
              </a:tr>
              <a:tr h="370840">
                <a:tc>
                  <a:txBody>
                    <a:bodyPr/>
                    <a:lstStyle/>
                    <a:p>
                      <a:r>
                        <a:rPr lang="en-US" dirty="0"/>
                        <a:t>A’s deposit</a:t>
                      </a:r>
                    </a:p>
                    <a:p>
                      <a:r>
                        <a:rPr lang="en-US" dirty="0"/>
                        <a:t>B’s deposit</a:t>
                      </a:r>
                      <a:endParaRPr lang="en-GB" dirty="0"/>
                    </a:p>
                  </a:txBody>
                  <a:tcPr/>
                </a:tc>
                <a:tc>
                  <a:txBody>
                    <a:bodyPr/>
                    <a:lstStyle/>
                    <a:p>
                      <a:pPr algn="r"/>
                      <a:r>
                        <a:rPr lang="en-US" dirty="0"/>
                        <a:t>100.00</a:t>
                      </a:r>
                    </a:p>
                    <a:p>
                      <a:pPr algn="r"/>
                      <a:r>
                        <a:rPr lang="en-US" dirty="0"/>
                        <a:t>80.00</a:t>
                      </a:r>
                      <a:endParaRPr lang="en-GB" dirty="0"/>
                    </a:p>
                  </a:txBody>
                  <a:tcPr/>
                </a:tc>
                <a:tc>
                  <a:txBody>
                    <a:bodyPr/>
                    <a:lstStyle/>
                    <a:p>
                      <a:r>
                        <a:rPr lang="en-US" dirty="0"/>
                        <a:t>Cash reserves (20+16)</a:t>
                      </a:r>
                      <a:br>
                        <a:rPr lang="en-US" dirty="0"/>
                      </a:br>
                      <a:r>
                        <a:rPr lang="en-US" dirty="0"/>
                        <a:t>Loan to B</a:t>
                      </a:r>
                    </a:p>
                    <a:p>
                      <a:r>
                        <a:rPr lang="en-US" dirty="0"/>
                        <a:t>Excess reserves</a:t>
                      </a:r>
                      <a:endParaRPr lang="en-GB" dirty="0"/>
                    </a:p>
                  </a:txBody>
                  <a:tcPr/>
                </a:tc>
                <a:tc>
                  <a:txBody>
                    <a:bodyPr/>
                    <a:lstStyle/>
                    <a:p>
                      <a:pPr algn="r"/>
                      <a:r>
                        <a:rPr lang="en-US" dirty="0"/>
                        <a:t>36.00</a:t>
                      </a:r>
                    </a:p>
                    <a:p>
                      <a:pPr algn="r"/>
                      <a:r>
                        <a:rPr lang="en-US" dirty="0"/>
                        <a:t>80.00</a:t>
                      </a:r>
                    </a:p>
                    <a:p>
                      <a:pPr algn="r"/>
                      <a:r>
                        <a:rPr lang="en-US" dirty="0"/>
                        <a:t>64.00</a:t>
                      </a:r>
                      <a:endParaRPr lang="en-GB" dirty="0"/>
                    </a:p>
                  </a:txBody>
                  <a:tcPr/>
                </a:tc>
                <a:extLst>
                  <a:ext uri="{0D108BD9-81ED-4DB2-BD59-A6C34878D82A}">
                    <a16:rowId xmlns:a16="http://schemas.microsoft.com/office/drawing/2014/main" val="10001"/>
                  </a:ext>
                </a:extLst>
              </a:tr>
              <a:tr h="370840">
                <a:tc>
                  <a:txBody>
                    <a:bodyPr/>
                    <a:lstStyle/>
                    <a:p>
                      <a:r>
                        <a:rPr lang="en-US" dirty="0"/>
                        <a:t>Total</a:t>
                      </a:r>
                      <a:endParaRPr lang="en-GB" dirty="0"/>
                    </a:p>
                  </a:txBody>
                  <a:tcPr/>
                </a:tc>
                <a:tc>
                  <a:txBody>
                    <a:bodyPr/>
                    <a:lstStyle/>
                    <a:p>
                      <a:pPr algn="r"/>
                      <a:r>
                        <a:rPr lang="en-US" dirty="0"/>
                        <a:t>180.00</a:t>
                      </a:r>
                      <a:endParaRPr lang="en-GB" dirty="0"/>
                    </a:p>
                  </a:txBody>
                  <a:tcPr/>
                </a:tc>
                <a:tc>
                  <a:txBody>
                    <a:bodyPr/>
                    <a:lstStyle/>
                    <a:p>
                      <a:r>
                        <a:rPr lang="en-US" dirty="0"/>
                        <a:t>Total</a:t>
                      </a:r>
                      <a:endParaRPr lang="en-GB" dirty="0"/>
                    </a:p>
                  </a:txBody>
                  <a:tcPr/>
                </a:tc>
                <a:tc>
                  <a:txBody>
                    <a:bodyPr/>
                    <a:lstStyle/>
                    <a:p>
                      <a:pPr algn="r"/>
                      <a:r>
                        <a:rPr lang="en-US" dirty="0"/>
                        <a:t>180.00</a:t>
                      </a:r>
                      <a:endParaRPr lang="en-GB" dirty="0"/>
                    </a:p>
                  </a:txBody>
                  <a:tcPr/>
                </a:tc>
                <a:extLst>
                  <a:ext uri="{0D108BD9-81ED-4DB2-BD59-A6C34878D82A}">
                    <a16:rowId xmlns:a16="http://schemas.microsoft.com/office/drawing/2014/main" val="10002"/>
                  </a:ext>
                </a:extLst>
              </a:tr>
            </a:tbl>
          </a:graphicData>
        </a:graphic>
      </p:graphicFrame>
      <p:sp>
        <p:nvSpPr>
          <p:cNvPr id="12" name="TextBox 11"/>
          <p:cNvSpPr txBox="1"/>
          <p:nvPr/>
        </p:nvSpPr>
        <p:spPr>
          <a:xfrm>
            <a:off x="507265" y="3441194"/>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Note that now the bank has an excess reserve of </a:t>
            </a:r>
            <a:r>
              <a:rPr lang="en-US" sz="2000" i="1" dirty="0" err="1">
                <a:latin typeface="Arial" pitchFamily="34" charset="0"/>
                <a:cs typeface="Arial" pitchFamily="34" charset="0"/>
              </a:rPr>
              <a:t>Rs</a:t>
            </a:r>
            <a:r>
              <a:rPr lang="en-US" sz="2000" i="1" dirty="0">
                <a:latin typeface="Arial" pitchFamily="34" charset="0"/>
                <a:cs typeface="Arial" pitchFamily="34" charset="0"/>
              </a:rPr>
              <a:t> 64 thousand which it can lend. Suppose an individual C borrows </a:t>
            </a:r>
            <a:r>
              <a:rPr lang="en-US" sz="2000" i="1" dirty="0" err="1">
                <a:latin typeface="Arial" pitchFamily="34" charset="0"/>
                <a:cs typeface="Arial" pitchFamily="34" charset="0"/>
              </a:rPr>
              <a:t>Rs</a:t>
            </a:r>
            <a:r>
              <a:rPr lang="en-US" sz="2000" i="1" dirty="0">
                <a:latin typeface="Arial" pitchFamily="34" charset="0"/>
                <a:cs typeface="Arial" pitchFamily="34" charset="0"/>
              </a:rPr>
              <a:t> 64 thousand. </a:t>
            </a:r>
            <a:endParaRPr lang="en-US" sz="2000" b="1" i="1" u="sng" dirty="0">
              <a:latin typeface="Arial" pitchFamily="34" charset="0"/>
              <a:cs typeface="Arial" pitchFamily="34" charset="0"/>
            </a:endParaRPr>
          </a:p>
        </p:txBody>
      </p:sp>
      <p:sp>
        <p:nvSpPr>
          <p:cNvPr id="14" name="TextBox 13"/>
          <p:cNvSpPr txBox="1"/>
          <p:nvPr/>
        </p:nvSpPr>
        <p:spPr>
          <a:xfrm>
            <a:off x="573553" y="4233282"/>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Suppose that the bank opens an account in C’s name and credits the amount to her account.</a:t>
            </a:r>
            <a:endParaRPr lang="en-US" sz="2000" b="1" i="1" u="sng" dirty="0">
              <a:latin typeface="Arial" pitchFamily="34" charset="0"/>
              <a:cs typeface="Arial" pitchFamily="34" charset="0"/>
            </a:endParaRPr>
          </a:p>
        </p:txBody>
      </p:sp>
      <p:sp>
        <p:nvSpPr>
          <p:cNvPr id="15" name="TextBox 14"/>
          <p:cNvSpPr txBox="1"/>
          <p:nvPr/>
        </p:nvSpPr>
        <p:spPr>
          <a:xfrm>
            <a:off x="467544" y="5085184"/>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Now bank’s deposits increase by Rs.64 thousand and its CR by Rs 12.80 thousand. This completes the first round of credit creation. </a:t>
            </a:r>
            <a:endParaRPr lang="en-US" sz="2000" b="1" i="1" u="sng"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15</a:t>
            </a:fld>
            <a:endParaRPr lang="en-GB"/>
          </a:p>
        </p:txBody>
      </p:sp>
    </p:spTree>
    <p:extLst>
      <p:ext uri="{BB962C8B-B14F-4D97-AF65-F5344CB8AC3E}">
        <p14:creationId xmlns:p14="http://schemas.microsoft.com/office/powerpoint/2010/main" val="1577499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to="" calcmode="lin" valueType="num">
                                      <p:cBhvr>
                                        <p:cTn id="12" dur="1" fill="hold"/>
                                        <p:tgtEl>
                                          <p:spTgt spid="13"/>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4"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to="" calcmode="lin" valueType="num">
                                      <p:cBhvr>
                                        <p:cTn id="24" dur="1" fill="hold"/>
                                        <p:tgtEl>
                                          <p:spTgt spid="12"/>
                                        </p:tgtEl>
                                        <p:attrNameLst>
                                          <p:attrName/>
                                        </p:attrNameLst>
                                      </p:cBhvr>
                                    </p:anim>
                                  </p:childTnLst>
                                </p:cTn>
                              </p:par>
                            </p:childTnLst>
                          </p:cTn>
                        </p:par>
                      </p:childTnLst>
                    </p:cTn>
                  </p:par>
                  <p:par>
                    <p:cTn id="25" fill="hold">
                      <p:stCondLst>
                        <p:cond delay="indefinite"/>
                      </p:stCondLst>
                      <p:childTnLst>
                        <p:par>
                          <p:cTn id="26" fill="hold">
                            <p:stCondLst>
                              <p:cond delay="0"/>
                            </p:stCondLst>
                            <p:childTnLst>
                              <p:par>
                                <p:cTn id="27" presetID="24"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to="" calcmode="lin" valueType="num">
                                      <p:cBhvr>
                                        <p:cTn id="29" dur="1" fill="hold"/>
                                        <p:tgtEl>
                                          <p:spTgt spid="14"/>
                                        </p:tgtEl>
                                        <p:attrNameLst>
                                          <p:attrName/>
                                        </p:attrNameLst>
                                      </p:cBhvr>
                                    </p:anim>
                                  </p:childTnLst>
                                </p:cTn>
                              </p:par>
                            </p:childTnLst>
                          </p:cTn>
                        </p:par>
                      </p:childTnLst>
                    </p:cTn>
                  </p:par>
                  <p:par>
                    <p:cTn id="30" fill="hold">
                      <p:stCondLst>
                        <p:cond delay="indefinite"/>
                      </p:stCondLst>
                      <p:childTnLst>
                        <p:par>
                          <p:cTn id="31" fill="hold">
                            <p:stCondLst>
                              <p:cond delay="0"/>
                            </p:stCondLst>
                            <p:childTnLst>
                              <p:par>
                                <p:cTn id="32" presetID="24"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 to="" calcmode="lin" valueType="num">
                                      <p:cBhvr>
                                        <p:cTn id="34" dur="1" fill="hold"/>
                                        <p:tgtEl>
                                          <p:spTgt spid="1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2"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13" name="TextBox 12"/>
          <p:cNvSpPr txBox="1"/>
          <p:nvPr/>
        </p:nvSpPr>
        <p:spPr>
          <a:xfrm>
            <a:off x="475289" y="764704"/>
            <a:ext cx="8443447" cy="461665"/>
          </a:xfrm>
          <a:prstGeom prst="rect">
            <a:avLst/>
          </a:prstGeom>
          <a:noFill/>
        </p:spPr>
        <p:txBody>
          <a:bodyPr wrap="square" rtlCol="0">
            <a:spAutoFit/>
          </a:bodyPr>
          <a:lstStyle/>
          <a:p>
            <a:pPr algn="just"/>
            <a:r>
              <a:rPr lang="en-US" sz="2400" i="1" dirty="0">
                <a:latin typeface="Arial" pitchFamily="34" charset="0"/>
                <a:cs typeface="Arial" pitchFamily="34" charset="0"/>
              </a:rPr>
              <a:t>Bank balance sheet after the 2</a:t>
            </a:r>
            <a:r>
              <a:rPr lang="en-US" sz="2400" i="1" baseline="30000" dirty="0">
                <a:latin typeface="Arial" pitchFamily="34" charset="0"/>
                <a:cs typeface="Arial" pitchFamily="34" charset="0"/>
              </a:rPr>
              <a:t>nd</a:t>
            </a:r>
            <a:r>
              <a:rPr lang="en-US" sz="2400" i="1" dirty="0">
                <a:latin typeface="Arial" pitchFamily="34" charset="0"/>
                <a:cs typeface="Arial" pitchFamily="34" charset="0"/>
              </a:rPr>
              <a:t> round. </a:t>
            </a:r>
            <a:endParaRPr lang="en-US" sz="2400" b="1" i="1" u="sng" dirty="0">
              <a:latin typeface="Arial" pitchFamily="34" charset="0"/>
              <a:cs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084474162"/>
              </p:ext>
            </p:extLst>
          </p:nvPr>
        </p:nvGraphicFramePr>
        <p:xfrm>
          <a:off x="306527" y="1484784"/>
          <a:ext cx="8765480" cy="1930400"/>
        </p:xfrm>
        <a:graphic>
          <a:graphicData uri="http://schemas.openxmlformats.org/drawingml/2006/table">
            <a:tbl>
              <a:tblPr firstRow="1" bandRow="1">
                <a:tableStyleId>{EB344D84-9AFB-497E-A393-DC336BA19D2E}</a:tableStyleId>
              </a:tblPr>
              <a:tblGrid>
                <a:gridCol w="2191370">
                  <a:extLst>
                    <a:ext uri="{9D8B030D-6E8A-4147-A177-3AD203B41FA5}">
                      <a16:colId xmlns:a16="http://schemas.microsoft.com/office/drawing/2014/main" val="20000"/>
                    </a:ext>
                  </a:extLst>
                </a:gridCol>
                <a:gridCol w="1570047">
                  <a:extLst>
                    <a:ext uri="{9D8B030D-6E8A-4147-A177-3AD203B41FA5}">
                      <a16:colId xmlns:a16="http://schemas.microsoft.com/office/drawing/2014/main" val="20001"/>
                    </a:ext>
                  </a:extLst>
                </a:gridCol>
                <a:gridCol w="3168352">
                  <a:extLst>
                    <a:ext uri="{9D8B030D-6E8A-4147-A177-3AD203B41FA5}">
                      <a16:colId xmlns:a16="http://schemas.microsoft.com/office/drawing/2014/main" val="20002"/>
                    </a:ext>
                  </a:extLst>
                </a:gridCol>
                <a:gridCol w="1835711">
                  <a:extLst>
                    <a:ext uri="{9D8B030D-6E8A-4147-A177-3AD203B41FA5}">
                      <a16:colId xmlns:a16="http://schemas.microsoft.com/office/drawing/2014/main" val="20003"/>
                    </a:ext>
                  </a:extLst>
                </a:gridCol>
              </a:tblGrid>
              <a:tr h="370840">
                <a:tc>
                  <a:txBody>
                    <a:bodyPr/>
                    <a:lstStyle/>
                    <a:p>
                      <a:r>
                        <a:rPr lang="en-US" dirty="0"/>
                        <a:t>Liabilities</a:t>
                      </a:r>
                      <a:endParaRPr lang="en-GB" dirty="0"/>
                    </a:p>
                  </a:txBody>
                  <a:tcPr/>
                </a:tc>
                <a:tc>
                  <a:txBody>
                    <a:bodyPr/>
                    <a:lstStyle/>
                    <a:p>
                      <a:r>
                        <a:rPr lang="en-US" dirty="0"/>
                        <a:t>Amount</a:t>
                      </a:r>
                      <a:endParaRPr lang="en-GB" dirty="0"/>
                    </a:p>
                  </a:txBody>
                  <a:tcPr/>
                </a:tc>
                <a:tc>
                  <a:txBody>
                    <a:bodyPr/>
                    <a:lstStyle/>
                    <a:p>
                      <a:r>
                        <a:rPr lang="en-US" dirty="0"/>
                        <a:t>Assets</a:t>
                      </a:r>
                      <a:endParaRPr lang="en-GB" dirty="0"/>
                    </a:p>
                  </a:txBody>
                  <a:tcPr/>
                </a:tc>
                <a:tc>
                  <a:txBody>
                    <a:bodyPr/>
                    <a:lstStyle/>
                    <a:p>
                      <a:r>
                        <a:rPr lang="en-US" dirty="0"/>
                        <a:t>Amount</a:t>
                      </a:r>
                      <a:endParaRPr lang="en-GB" dirty="0"/>
                    </a:p>
                  </a:txBody>
                  <a:tcPr/>
                </a:tc>
                <a:extLst>
                  <a:ext uri="{0D108BD9-81ED-4DB2-BD59-A6C34878D82A}">
                    <a16:rowId xmlns:a16="http://schemas.microsoft.com/office/drawing/2014/main" val="10000"/>
                  </a:ext>
                </a:extLst>
              </a:tr>
              <a:tr h="370840">
                <a:tc>
                  <a:txBody>
                    <a:bodyPr/>
                    <a:lstStyle/>
                    <a:p>
                      <a:r>
                        <a:rPr lang="en-US" dirty="0"/>
                        <a:t>A’s deposit</a:t>
                      </a:r>
                    </a:p>
                    <a:p>
                      <a:r>
                        <a:rPr lang="en-US" dirty="0"/>
                        <a:t>B’s deposit</a:t>
                      </a:r>
                    </a:p>
                    <a:p>
                      <a:r>
                        <a:rPr lang="en-US" dirty="0"/>
                        <a:t>C’s deposit</a:t>
                      </a:r>
                      <a:endParaRPr lang="en-GB" dirty="0"/>
                    </a:p>
                  </a:txBody>
                  <a:tcPr/>
                </a:tc>
                <a:tc>
                  <a:txBody>
                    <a:bodyPr/>
                    <a:lstStyle/>
                    <a:p>
                      <a:pPr algn="r"/>
                      <a:r>
                        <a:rPr lang="en-US" dirty="0"/>
                        <a:t>100.00</a:t>
                      </a:r>
                    </a:p>
                    <a:p>
                      <a:pPr algn="r"/>
                      <a:r>
                        <a:rPr lang="en-US" dirty="0"/>
                        <a:t>80.00</a:t>
                      </a:r>
                    </a:p>
                    <a:p>
                      <a:pPr algn="r"/>
                      <a:r>
                        <a:rPr lang="en-US" dirty="0"/>
                        <a:t>64.00</a:t>
                      </a:r>
                      <a:endParaRPr lang="en-GB" dirty="0"/>
                    </a:p>
                  </a:txBody>
                  <a:tcPr/>
                </a:tc>
                <a:tc>
                  <a:txBody>
                    <a:bodyPr/>
                    <a:lstStyle/>
                    <a:p>
                      <a:r>
                        <a:rPr lang="en-US" dirty="0"/>
                        <a:t>Cash reserves (20+16+12.80)</a:t>
                      </a:r>
                      <a:br>
                        <a:rPr lang="en-US" dirty="0"/>
                      </a:br>
                      <a:r>
                        <a:rPr lang="en-US" dirty="0"/>
                        <a:t>Loan to B</a:t>
                      </a:r>
                    </a:p>
                    <a:p>
                      <a:r>
                        <a:rPr lang="en-US" dirty="0"/>
                        <a:t>Loan to C</a:t>
                      </a:r>
                    </a:p>
                    <a:p>
                      <a:r>
                        <a:rPr lang="en-US" dirty="0"/>
                        <a:t>Excess reserves</a:t>
                      </a:r>
                      <a:endParaRPr lang="en-GB" dirty="0"/>
                    </a:p>
                  </a:txBody>
                  <a:tcPr/>
                </a:tc>
                <a:tc>
                  <a:txBody>
                    <a:bodyPr/>
                    <a:lstStyle/>
                    <a:p>
                      <a:pPr algn="r"/>
                      <a:r>
                        <a:rPr lang="en-US" dirty="0"/>
                        <a:t>48.80</a:t>
                      </a:r>
                    </a:p>
                    <a:p>
                      <a:pPr algn="r"/>
                      <a:r>
                        <a:rPr lang="en-US" dirty="0"/>
                        <a:t>80.00</a:t>
                      </a:r>
                    </a:p>
                    <a:p>
                      <a:pPr algn="r"/>
                      <a:r>
                        <a:rPr lang="en-US" dirty="0"/>
                        <a:t>64.00</a:t>
                      </a:r>
                    </a:p>
                    <a:p>
                      <a:pPr algn="r"/>
                      <a:r>
                        <a:rPr lang="en-US" dirty="0"/>
                        <a:t>51.20</a:t>
                      </a:r>
                      <a:endParaRPr lang="en-GB" dirty="0"/>
                    </a:p>
                  </a:txBody>
                  <a:tcPr/>
                </a:tc>
                <a:extLst>
                  <a:ext uri="{0D108BD9-81ED-4DB2-BD59-A6C34878D82A}">
                    <a16:rowId xmlns:a16="http://schemas.microsoft.com/office/drawing/2014/main" val="10001"/>
                  </a:ext>
                </a:extLst>
              </a:tr>
              <a:tr h="370840">
                <a:tc>
                  <a:txBody>
                    <a:bodyPr/>
                    <a:lstStyle/>
                    <a:p>
                      <a:r>
                        <a:rPr lang="en-US" dirty="0"/>
                        <a:t>Total</a:t>
                      </a:r>
                      <a:endParaRPr lang="en-GB" dirty="0"/>
                    </a:p>
                  </a:txBody>
                  <a:tcPr/>
                </a:tc>
                <a:tc>
                  <a:txBody>
                    <a:bodyPr/>
                    <a:lstStyle/>
                    <a:p>
                      <a:pPr algn="r"/>
                      <a:r>
                        <a:rPr lang="en-US" dirty="0"/>
                        <a:t>244.00</a:t>
                      </a:r>
                      <a:endParaRPr lang="en-GB" dirty="0"/>
                    </a:p>
                  </a:txBody>
                  <a:tcPr/>
                </a:tc>
                <a:tc>
                  <a:txBody>
                    <a:bodyPr/>
                    <a:lstStyle/>
                    <a:p>
                      <a:r>
                        <a:rPr lang="en-US" dirty="0"/>
                        <a:t>Total</a:t>
                      </a:r>
                      <a:endParaRPr lang="en-GB" dirty="0"/>
                    </a:p>
                  </a:txBody>
                  <a:tcPr/>
                </a:tc>
                <a:tc>
                  <a:txBody>
                    <a:bodyPr/>
                    <a:lstStyle/>
                    <a:p>
                      <a:pPr algn="r"/>
                      <a:r>
                        <a:rPr lang="en-US" dirty="0"/>
                        <a:t>244.00</a:t>
                      </a:r>
                      <a:endParaRPr lang="en-GB" dirty="0"/>
                    </a:p>
                  </a:txBody>
                  <a:tcPr/>
                </a:tc>
                <a:extLst>
                  <a:ext uri="{0D108BD9-81ED-4DB2-BD59-A6C34878D82A}">
                    <a16:rowId xmlns:a16="http://schemas.microsoft.com/office/drawing/2014/main" val="10002"/>
                  </a:ext>
                </a:extLst>
              </a:tr>
            </a:tbl>
          </a:graphicData>
        </a:graphic>
      </p:graphicFrame>
      <p:sp>
        <p:nvSpPr>
          <p:cNvPr id="12" name="TextBox 11"/>
          <p:cNvSpPr txBox="1"/>
          <p:nvPr/>
        </p:nvSpPr>
        <p:spPr>
          <a:xfrm>
            <a:off x="507265" y="3441194"/>
            <a:ext cx="8443447" cy="1015663"/>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Note that now the bank has an excess reserve of Rs 51.20 thousand which it can lend. Suppose an individual D borrows Rs 51.20 thousand. </a:t>
            </a:r>
            <a:endParaRPr lang="en-US" sz="2000" b="1" i="1" u="sng" dirty="0">
              <a:latin typeface="Arial" pitchFamily="34" charset="0"/>
              <a:cs typeface="Arial" pitchFamily="34" charset="0"/>
            </a:endParaRPr>
          </a:p>
        </p:txBody>
      </p:sp>
      <p:sp>
        <p:nvSpPr>
          <p:cNvPr id="14" name="TextBox 13"/>
          <p:cNvSpPr txBox="1"/>
          <p:nvPr/>
        </p:nvSpPr>
        <p:spPr>
          <a:xfrm>
            <a:off x="495465" y="4362826"/>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Suppose that the bank opens an account in D’s name and credits the amount to her account.</a:t>
            </a:r>
            <a:endParaRPr lang="en-US" sz="2000" b="1" i="1" u="sng" dirty="0">
              <a:latin typeface="Arial" pitchFamily="34" charset="0"/>
              <a:cs typeface="Arial" pitchFamily="34" charset="0"/>
            </a:endParaRPr>
          </a:p>
        </p:txBody>
      </p:sp>
      <p:sp>
        <p:nvSpPr>
          <p:cNvPr id="15" name="TextBox 14"/>
          <p:cNvSpPr txBox="1"/>
          <p:nvPr/>
        </p:nvSpPr>
        <p:spPr>
          <a:xfrm>
            <a:off x="467544" y="5085184"/>
            <a:ext cx="8443447" cy="707886"/>
          </a:xfrm>
          <a:prstGeom prst="rect">
            <a:avLst/>
          </a:prstGeom>
          <a:noFill/>
        </p:spPr>
        <p:txBody>
          <a:bodyPr wrap="square" rtlCol="0">
            <a:spAutoFit/>
          </a:bodyPr>
          <a:lstStyle/>
          <a:p>
            <a:pPr marL="342900" indent="-342900" algn="just">
              <a:buFont typeface="Wingdings" pitchFamily="2" charset="2"/>
              <a:buChar char="ü"/>
            </a:pPr>
            <a:r>
              <a:rPr lang="en-US" sz="2000" i="1" dirty="0">
                <a:latin typeface="Arial" pitchFamily="34" charset="0"/>
                <a:cs typeface="Arial" pitchFamily="34" charset="0"/>
              </a:rPr>
              <a:t> Now bank’s deposits increase by Rs.51.20 thousand and its CR by Rs 10.24 thousand. This completes the first round of credit creation. </a:t>
            </a:r>
            <a:endParaRPr lang="en-US" sz="2000" b="1" i="1" u="sng"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16</a:t>
            </a:fld>
            <a:endParaRPr lang="en-GB"/>
          </a:p>
        </p:txBody>
      </p:sp>
    </p:spTree>
    <p:extLst>
      <p:ext uri="{BB962C8B-B14F-4D97-AF65-F5344CB8AC3E}">
        <p14:creationId xmlns:p14="http://schemas.microsoft.com/office/powerpoint/2010/main" val="333265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to="" calcmode="lin" valueType="num">
                                      <p:cBhvr>
                                        <p:cTn id="12" dur="1" fill="hold"/>
                                        <p:tgtEl>
                                          <p:spTgt spid="13"/>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to="" calcmode="lin" valueType="num">
                                      <p:cBhvr>
                                        <p:cTn id="23" dur="1" fill="hold"/>
                                        <p:tgtEl>
                                          <p:spTgt spid="12"/>
                                        </p:tgtEl>
                                        <p:attrNameLst>
                                          <p:attrName/>
                                        </p:attrNameLst>
                                      </p:cBhvr>
                                    </p:anim>
                                  </p:childTnLst>
                                </p:cTn>
                              </p:par>
                            </p:childTnLst>
                          </p:cTn>
                        </p:par>
                      </p:childTnLst>
                    </p:cTn>
                  </p:par>
                  <p:par>
                    <p:cTn id="24" fill="hold">
                      <p:stCondLst>
                        <p:cond delay="indefinite"/>
                      </p:stCondLst>
                      <p:childTnLst>
                        <p:par>
                          <p:cTn id="25" fill="hold">
                            <p:stCondLst>
                              <p:cond delay="0"/>
                            </p:stCondLst>
                            <p:childTnLst>
                              <p:par>
                                <p:cTn id="26" presetID="24"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to="" calcmode="lin" valueType="num">
                                      <p:cBhvr>
                                        <p:cTn id="28" dur="1" fill="hold"/>
                                        <p:tgtEl>
                                          <p:spTgt spid="14"/>
                                        </p:tgtEl>
                                        <p:attrNameLst>
                                          <p:attrName/>
                                        </p:attrNameLst>
                                      </p:cBhvr>
                                    </p:anim>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 to="" calcmode="lin" valueType="num">
                                      <p:cBhvr>
                                        <p:cTn id="33" dur="1" fill="hold"/>
                                        <p:tgtEl>
                                          <p:spTgt spid="1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2"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13" name="TextBox 12"/>
          <p:cNvSpPr txBox="1"/>
          <p:nvPr/>
        </p:nvSpPr>
        <p:spPr>
          <a:xfrm>
            <a:off x="475289" y="764704"/>
            <a:ext cx="8443447" cy="461665"/>
          </a:xfrm>
          <a:prstGeom prst="rect">
            <a:avLst/>
          </a:prstGeom>
          <a:noFill/>
        </p:spPr>
        <p:txBody>
          <a:bodyPr wrap="square" rtlCol="0">
            <a:spAutoFit/>
          </a:bodyPr>
          <a:lstStyle/>
          <a:p>
            <a:pPr algn="just"/>
            <a:r>
              <a:rPr lang="en-US" sz="2400" i="1" dirty="0">
                <a:latin typeface="Arial" pitchFamily="34" charset="0"/>
                <a:cs typeface="Arial" pitchFamily="34" charset="0"/>
              </a:rPr>
              <a:t>Bank balance sheet at the end of the final round. </a:t>
            </a:r>
            <a:endParaRPr lang="en-US" sz="2400" b="1" i="1" u="sng" dirty="0">
              <a:latin typeface="Arial" pitchFamily="34" charset="0"/>
              <a:cs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055852324"/>
              </p:ext>
            </p:extLst>
          </p:nvPr>
        </p:nvGraphicFramePr>
        <p:xfrm>
          <a:off x="306527" y="1484784"/>
          <a:ext cx="8765480" cy="2753360"/>
        </p:xfrm>
        <a:graphic>
          <a:graphicData uri="http://schemas.openxmlformats.org/drawingml/2006/table">
            <a:tbl>
              <a:tblPr firstRow="1" bandRow="1">
                <a:tableStyleId>{EB344D84-9AFB-497E-A393-DC336BA19D2E}</a:tableStyleId>
              </a:tblPr>
              <a:tblGrid>
                <a:gridCol w="2191370">
                  <a:extLst>
                    <a:ext uri="{9D8B030D-6E8A-4147-A177-3AD203B41FA5}">
                      <a16:colId xmlns:a16="http://schemas.microsoft.com/office/drawing/2014/main" val="20000"/>
                    </a:ext>
                  </a:extLst>
                </a:gridCol>
                <a:gridCol w="1570047">
                  <a:extLst>
                    <a:ext uri="{9D8B030D-6E8A-4147-A177-3AD203B41FA5}">
                      <a16:colId xmlns:a16="http://schemas.microsoft.com/office/drawing/2014/main" val="20001"/>
                    </a:ext>
                  </a:extLst>
                </a:gridCol>
                <a:gridCol w="3168352">
                  <a:extLst>
                    <a:ext uri="{9D8B030D-6E8A-4147-A177-3AD203B41FA5}">
                      <a16:colId xmlns:a16="http://schemas.microsoft.com/office/drawing/2014/main" val="20002"/>
                    </a:ext>
                  </a:extLst>
                </a:gridCol>
                <a:gridCol w="1835711">
                  <a:extLst>
                    <a:ext uri="{9D8B030D-6E8A-4147-A177-3AD203B41FA5}">
                      <a16:colId xmlns:a16="http://schemas.microsoft.com/office/drawing/2014/main" val="20003"/>
                    </a:ext>
                  </a:extLst>
                </a:gridCol>
              </a:tblGrid>
              <a:tr h="370840">
                <a:tc>
                  <a:txBody>
                    <a:bodyPr/>
                    <a:lstStyle/>
                    <a:p>
                      <a:r>
                        <a:rPr lang="en-US" dirty="0"/>
                        <a:t>Liabilities</a:t>
                      </a:r>
                      <a:endParaRPr lang="en-GB" dirty="0"/>
                    </a:p>
                  </a:txBody>
                  <a:tcPr/>
                </a:tc>
                <a:tc>
                  <a:txBody>
                    <a:bodyPr/>
                    <a:lstStyle/>
                    <a:p>
                      <a:r>
                        <a:rPr lang="en-US" dirty="0"/>
                        <a:t>Amount</a:t>
                      </a:r>
                      <a:endParaRPr lang="en-GB" dirty="0"/>
                    </a:p>
                  </a:txBody>
                  <a:tcPr/>
                </a:tc>
                <a:tc>
                  <a:txBody>
                    <a:bodyPr/>
                    <a:lstStyle/>
                    <a:p>
                      <a:r>
                        <a:rPr lang="en-US" dirty="0"/>
                        <a:t>Assets</a:t>
                      </a:r>
                      <a:endParaRPr lang="en-GB" dirty="0"/>
                    </a:p>
                  </a:txBody>
                  <a:tcPr/>
                </a:tc>
                <a:tc>
                  <a:txBody>
                    <a:bodyPr/>
                    <a:lstStyle/>
                    <a:p>
                      <a:r>
                        <a:rPr lang="en-US" dirty="0"/>
                        <a:t>Amount</a:t>
                      </a:r>
                      <a:endParaRPr lang="en-GB" dirty="0"/>
                    </a:p>
                  </a:txBody>
                  <a:tcPr/>
                </a:tc>
                <a:extLst>
                  <a:ext uri="{0D108BD9-81ED-4DB2-BD59-A6C34878D82A}">
                    <a16:rowId xmlns:a16="http://schemas.microsoft.com/office/drawing/2014/main" val="10000"/>
                  </a:ext>
                </a:extLst>
              </a:tr>
              <a:tr h="370840">
                <a:tc>
                  <a:txBody>
                    <a:bodyPr/>
                    <a:lstStyle/>
                    <a:p>
                      <a:r>
                        <a:rPr lang="en-US" dirty="0"/>
                        <a:t>A’s deposit</a:t>
                      </a:r>
                    </a:p>
                    <a:p>
                      <a:r>
                        <a:rPr lang="en-US" dirty="0"/>
                        <a:t>B’s deposit</a:t>
                      </a:r>
                    </a:p>
                    <a:p>
                      <a:r>
                        <a:rPr lang="en-US" dirty="0"/>
                        <a:t>C’s deposit</a:t>
                      </a:r>
                    </a:p>
                    <a:p>
                      <a:r>
                        <a:rPr lang="en-US" dirty="0"/>
                        <a:t>……………………</a:t>
                      </a:r>
                    </a:p>
                    <a:p>
                      <a:r>
                        <a:rPr lang="en-US" dirty="0"/>
                        <a:t>……………………</a:t>
                      </a:r>
                    </a:p>
                    <a:p>
                      <a:r>
                        <a:rPr lang="en-US" dirty="0"/>
                        <a:t>…………………..</a:t>
                      </a:r>
                    </a:p>
                    <a:p>
                      <a:r>
                        <a:rPr lang="en-US" dirty="0"/>
                        <a:t>Nth deposit</a:t>
                      </a:r>
                      <a:endParaRPr lang="en-GB" dirty="0"/>
                    </a:p>
                  </a:txBody>
                  <a:tcPr/>
                </a:tc>
                <a:tc>
                  <a:txBody>
                    <a:bodyPr/>
                    <a:lstStyle/>
                    <a:p>
                      <a:pPr algn="r"/>
                      <a:r>
                        <a:rPr lang="en-US" dirty="0"/>
                        <a:t>100.00</a:t>
                      </a:r>
                    </a:p>
                    <a:p>
                      <a:pPr algn="r"/>
                      <a:r>
                        <a:rPr lang="en-US" dirty="0"/>
                        <a:t>80.00</a:t>
                      </a:r>
                    </a:p>
                    <a:p>
                      <a:pPr algn="r"/>
                      <a:r>
                        <a:rPr lang="en-US" dirty="0"/>
                        <a:t>64.00</a:t>
                      </a:r>
                    </a:p>
                    <a:p>
                      <a:pPr algn="r"/>
                      <a:r>
                        <a:rPr lang="en-US" dirty="0"/>
                        <a:t>………</a:t>
                      </a:r>
                    </a:p>
                    <a:p>
                      <a:pPr algn="r"/>
                      <a:r>
                        <a:rPr lang="en-US" dirty="0"/>
                        <a:t>………</a:t>
                      </a:r>
                    </a:p>
                    <a:p>
                      <a:pPr algn="r"/>
                      <a:r>
                        <a:rPr lang="en-US" dirty="0"/>
                        <a:t>……….</a:t>
                      </a:r>
                    </a:p>
                    <a:p>
                      <a:pPr algn="r"/>
                      <a:r>
                        <a:rPr lang="en-US" dirty="0"/>
                        <a:t>00.00</a:t>
                      </a:r>
                      <a:endParaRPr lang="en-GB" dirty="0"/>
                    </a:p>
                  </a:txBody>
                  <a:tcPr/>
                </a:tc>
                <a:tc>
                  <a:txBody>
                    <a:bodyPr/>
                    <a:lstStyle/>
                    <a:p>
                      <a:r>
                        <a:rPr lang="en-US" dirty="0"/>
                        <a:t>Cash reserves (20+16+12.80)</a:t>
                      </a:r>
                      <a:br>
                        <a:rPr lang="en-US" dirty="0"/>
                      </a:br>
                      <a:r>
                        <a:rPr lang="en-US" dirty="0"/>
                        <a:t>Loan to B</a:t>
                      </a:r>
                    </a:p>
                    <a:p>
                      <a:r>
                        <a:rPr lang="en-US" dirty="0"/>
                        <a:t>Loan to C</a:t>
                      </a:r>
                    </a:p>
                    <a:p>
                      <a:r>
                        <a:rPr lang="en-US" dirty="0"/>
                        <a:t>……………</a:t>
                      </a:r>
                    </a:p>
                    <a:p>
                      <a:r>
                        <a:rPr lang="en-US" dirty="0"/>
                        <a:t>……………</a:t>
                      </a:r>
                    </a:p>
                    <a:p>
                      <a:r>
                        <a:rPr lang="en-US" dirty="0"/>
                        <a:t>……………</a:t>
                      </a:r>
                    </a:p>
                    <a:p>
                      <a:r>
                        <a:rPr lang="en-US" dirty="0"/>
                        <a:t>Excess reserves</a:t>
                      </a:r>
                      <a:endParaRPr lang="en-GB" dirty="0"/>
                    </a:p>
                  </a:txBody>
                  <a:tcPr/>
                </a:tc>
                <a:tc>
                  <a:txBody>
                    <a:bodyPr/>
                    <a:lstStyle/>
                    <a:p>
                      <a:pPr algn="r"/>
                      <a:r>
                        <a:rPr lang="en-US" dirty="0"/>
                        <a:t>36.00</a:t>
                      </a:r>
                    </a:p>
                    <a:p>
                      <a:pPr algn="r"/>
                      <a:r>
                        <a:rPr lang="en-US" dirty="0"/>
                        <a:t>80.00</a:t>
                      </a:r>
                    </a:p>
                    <a:p>
                      <a:pPr algn="r"/>
                      <a:r>
                        <a:rPr lang="en-US" dirty="0"/>
                        <a:t>64.00</a:t>
                      </a:r>
                    </a:p>
                    <a:p>
                      <a:pPr algn="r"/>
                      <a:endParaRPr lang="en-US" dirty="0"/>
                    </a:p>
                    <a:p>
                      <a:pPr algn="r"/>
                      <a:endParaRPr lang="en-US" dirty="0"/>
                    </a:p>
                    <a:p>
                      <a:pPr algn="r"/>
                      <a:endParaRPr lang="en-US" dirty="0"/>
                    </a:p>
                    <a:p>
                      <a:pPr algn="r"/>
                      <a:r>
                        <a:rPr lang="en-US" dirty="0"/>
                        <a:t>00.000</a:t>
                      </a:r>
                      <a:endParaRPr lang="en-GB" dirty="0"/>
                    </a:p>
                  </a:txBody>
                  <a:tcPr/>
                </a:tc>
                <a:extLst>
                  <a:ext uri="{0D108BD9-81ED-4DB2-BD59-A6C34878D82A}">
                    <a16:rowId xmlns:a16="http://schemas.microsoft.com/office/drawing/2014/main" val="10001"/>
                  </a:ext>
                </a:extLst>
              </a:tr>
              <a:tr h="370840">
                <a:tc>
                  <a:txBody>
                    <a:bodyPr/>
                    <a:lstStyle/>
                    <a:p>
                      <a:r>
                        <a:rPr lang="en-US" dirty="0"/>
                        <a:t>Total</a:t>
                      </a:r>
                      <a:endParaRPr lang="en-GB" dirty="0"/>
                    </a:p>
                  </a:txBody>
                  <a:tcPr/>
                </a:tc>
                <a:tc>
                  <a:txBody>
                    <a:bodyPr/>
                    <a:lstStyle/>
                    <a:p>
                      <a:pPr algn="r"/>
                      <a:r>
                        <a:rPr lang="en-US" dirty="0"/>
                        <a:t>500.00</a:t>
                      </a:r>
                      <a:endParaRPr lang="en-GB" dirty="0"/>
                    </a:p>
                  </a:txBody>
                  <a:tcPr/>
                </a:tc>
                <a:tc>
                  <a:txBody>
                    <a:bodyPr/>
                    <a:lstStyle/>
                    <a:p>
                      <a:r>
                        <a:rPr lang="en-US" dirty="0"/>
                        <a:t>Total</a:t>
                      </a:r>
                      <a:endParaRPr lang="en-GB" dirty="0"/>
                    </a:p>
                  </a:txBody>
                  <a:tcPr/>
                </a:tc>
                <a:tc>
                  <a:txBody>
                    <a:bodyPr/>
                    <a:lstStyle/>
                    <a:p>
                      <a:pPr algn="r"/>
                      <a:r>
                        <a:rPr lang="en-US" dirty="0"/>
                        <a:t>500.00</a:t>
                      </a:r>
                      <a:endParaRPr lang="en-GB" dirty="0"/>
                    </a:p>
                  </a:txBody>
                  <a:tcPr/>
                </a:tc>
                <a:extLst>
                  <a:ext uri="{0D108BD9-81ED-4DB2-BD59-A6C34878D82A}">
                    <a16:rowId xmlns:a16="http://schemas.microsoft.com/office/drawing/2014/main" val="10002"/>
                  </a:ext>
                </a:extLst>
              </a:tr>
            </a:tbl>
          </a:graphicData>
        </a:graphic>
      </p:graphicFrame>
      <p:sp>
        <p:nvSpPr>
          <p:cNvPr id="4" name="Footer Placeholder 3"/>
          <p:cNvSpPr>
            <a:spLocks noGrp="1"/>
          </p:cNvSpPr>
          <p:nvPr>
            <p:ph type="ftr" sz="quarter" idx="11"/>
          </p:nvPr>
        </p:nvSpPr>
        <p:spPr/>
        <p:txBody>
          <a:bodyPr/>
          <a:lstStyle/>
          <a:p>
            <a:r>
              <a:rPr lang="en-GB"/>
              <a:t>BSc in Mgt / Macro/ 2022</a:t>
            </a:r>
          </a:p>
        </p:txBody>
      </p:sp>
      <p:sp>
        <p:nvSpPr>
          <p:cNvPr id="5" name="Slide Number Placeholder 4"/>
          <p:cNvSpPr>
            <a:spLocks noGrp="1"/>
          </p:cNvSpPr>
          <p:nvPr>
            <p:ph type="sldNum" sz="quarter" idx="12"/>
          </p:nvPr>
        </p:nvSpPr>
        <p:spPr/>
        <p:txBody>
          <a:bodyPr/>
          <a:lstStyle/>
          <a:p>
            <a:fld id="{BBCDBD91-893E-4CED-A716-151F56A42A5A}" type="slidenum">
              <a:rPr lang="en-GB" smtClean="0"/>
              <a:t>17</a:t>
            </a:fld>
            <a:endParaRPr lang="en-GB"/>
          </a:p>
        </p:txBody>
      </p:sp>
    </p:spTree>
    <p:extLst>
      <p:ext uri="{BB962C8B-B14F-4D97-AF65-F5344CB8AC3E}">
        <p14:creationId xmlns:p14="http://schemas.microsoft.com/office/powerpoint/2010/main" val="15314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to="" calcmode="lin" valueType="num">
                                      <p:cBhvr>
                                        <p:cTn id="12" dur="1" fill="hold"/>
                                        <p:tgtEl>
                                          <p:spTgt spid="13"/>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026" y="116632"/>
            <a:ext cx="8639974" cy="523220"/>
          </a:xfrm>
          <a:prstGeom prst="rect">
            <a:avLst/>
          </a:prstGeom>
          <a:noFill/>
        </p:spPr>
        <p:txBody>
          <a:bodyPr wrap="square" rtlCol="0">
            <a:spAutoFit/>
          </a:bodyPr>
          <a:lstStyle/>
          <a:p>
            <a:r>
              <a:rPr lang="en-US" sz="2800" b="1" dirty="0">
                <a:solidFill>
                  <a:prstClr val="black"/>
                </a:solidFill>
                <a:latin typeface="Arial" pitchFamily="34" charset="0"/>
                <a:cs typeface="Arial" pitchFamily="34" charset="0"/>
              </a:rPr>
              <a:t>5.5  The Keynesian Theory of Money &amp; Interest </a:t>
            </a:r>
          </a:p>
        </p:txBody>
      </p:sp>
      <p:sp>
        <p:nvSpPr>
          <p:cNvPr id="7" name="TextBox 6"/>
          <p:cNvSpPr txBox="1"/>
          <p:nvPr/>
        </p:nvSpPr>
        <p:spPr>
          <a:xfrm>
            <a:off x="539552" y="836712"/>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The Keynesian Theory of Demand for Money  </a:t>
            </a:r>
          </a:p>
        </p:txBody>
      </p:sp>
      <p:sp>
        <p:nvSpPr>
          <p:cNvPr id="9" name="TextBox 8"/>
          <p:cNvSpPr txBox="1"/>
          <p:nvPr/>
        </p:nvSpPr>
        <p:spPr>
          <a:xfrm>
            <a:off x="395536" y="1383159"/>
            <a:ext cx="8443447" cy="830997"/>
          </a:xfrm>
          <a:prstGeom prst="rect">
            <a:avLst/>
          </a:prstGeom>
          <a:noFill/>
        </p:spPr>
        <p:txBody>
          <a:bodyPr wrap="square" rtlCol="0">
            <a:spAutoFit/>
          </a:bodyPr>
          <a:lstStyle/>
          <a:p>
            <a:pPr marL="457200" indent="-457200" algn="just">
              <a:buFont typeface="Wingdings" pitchFamily="2" charset="2"/>
              <a:buChar char="Ø"/>
            </a:pPr>
            <a:r>
              <a:rPr lang="en-US" sz="2400" i="1" dirty="0">
                <a:solidFill>
                  <a:schemeClr val="tx2"/>
                </a:solidFill>
                <a:latin typeface="Arial" pitchFamily="34" charset="0"/>
                <a:cs typeface="Arial" pitchFamily="34" charset="0"/>
              </a:rPr>
              <a:t>According to Keynes, money is demanded for three motives</a:t>
            </a:r>
            <a:r>
              <a:rPr lang="en-US" sz="2400" i="1" dirty="0">
                <a:solidFill>
                  <a:srgbClr val="7030A0"/>
                </a:solidFill>
                <a:latin typeface="Arial" pitchFamily="34" charset="0"/>
                <a:cs typeface="Arial" pitchFamily="34" charset="0"/>
              </a:rPr>
              <a:t>.</a:t>
            </a:r>
            <a:endParaRPr lang="en-US" sz="2400" b="0" i="1" u="sng" dirty="0">
              <a:solidFill>
                <a:srgbClr val="7030A0"/>
              </a:solidFill>
              <a:latin typeface="Arial" pitchFamily="34" charset="0"/>
              <a:cs typeface="Arial" pitchFamily="34" charset="0"/>
            </a:endParaRPr>
          </a:p>
        </p:txBody>
      </p:sp>
      <p:sp>
        <p:nvSpPr>
          <p:cNvPr id="10" name="TextBox 9"/>
          <p:cNvSpPr txBox="1"/>
          <p:nvPr/>
        </p:nvSpPr>
        <p:spPr>
          <a:xfrm>
            <a:off x="547936" y="2309971"/>
            <a:ext cx="8443447" cy="1685846"/>
          </a:xfrm>
          <a:prstGeom prst="rect">
            <a:avLst/>
          </a:prstGeom>
          <a:noFill/>
        </p:spPr>
        <p:txBody>
          <a:bodyPr wrap="square" rtlCol="0">
            <a:spAutoFit/>
          </a:bodyPr>
          <a:lstStyle/>
          <a:p>
            <a:pPr marL="457200" indent="-457200" algn="just">
              <a:lnSpc>
                <a:spcPct val="150000"/>
              </a:lnSpc>
              <a:buFont typeface="+mj-lt"/>
              <a:buAutoNum type="arabicParenR"/>
            </a:pPr>
            <a:r>
              <a:rPr lang="en-US" sz="2400" i="1" dirty="0">
                <a:latin typeface="Arial" pitchFamily="34" charset="0"/>
                <a:cs typeface="Arial" pitchFamily="34" charset="0"/>
              </a:rPr>
              <a:t> Transaction motive</a:t>
            </a:r>
          </a:p>
          <a:p>
            <a:pPr marL="457200" indent="-457200" algn="just">
              <a:lnSpc>
                <a:spcPct val="150000"/>
              </a:lnSpc>
              <a:buFont typeface="+mj-lt"/>
              <a:buAutoNum type="arabicParenR"/>
            </a:pPr>
            <a:r>
              <a:rPr lang="en-US" sz="2400" i="1" dirty="0">
                <a:latin typeface="Arial" pitchFamily="34" charset="0"/>
                <a:cs typeface="Arial" pitchFamily="34" charset="0"/>
              </a:rPr>
              <a:t> Precautionary motive</a:t>
            </a:r>
          </a:p>
          <a:p>
            <a:pPr marL="457200" indent="-457200" algn="just">
              <a:lnSpc>
                <a:spcPct val="150000"/>
              </a:lnSpc>
              <a:buFont typeface="+mj-lt"/>
              <a:buAutoNum type="arabicParenR"/>
            </a:pPr>
            <a:r>
              <a:rPr lang="en-US" sz="2400" b="0" i="1" dirty="0">
                <a:latin typeface="Arial" pitchFamily="34" charset="0"/>
                <a:cs typeface="Arial" pitchFamily="34" charset="0"/>
              </a:rPr>
              <a:t> Speculative motive</a:t>
            </a:r>
          </a:p>
        </p:txBody>
      </p:sp>
      <p:sp>
        <p:nvSpPr>
          <p:cNvPr id="2" name="Footer Placeholder 1"/>
          <p:cNvSpPr>
            <a:spLocks noGrp="1"/>
          </p:cNvSpPr>
          <p:nvPr>
            <p:ph type="ftr" sz="quarter" idx="11"/>
          </p:nvPr>
        </p:nvSpPr>
        <p:spPr/>
        <p:txBody>
          <a:bodyPr/>
          <a:lstStyle/>
          <a:p>
            <a:r>
              <a:rPr lang="en-GB"/>
              <a:t>BSc in Mgt / Macro/ 2022</a:t>
            </a:r>
          </a:p>
        </p:txBody>
      </p:sp>
      <p:sp>
        <p:nvSpPr>
          <p:cNvPr id="4" name="Slide Number Placeholder 3"/>
          <p:cNvSpPr>
            <a:spLocks noGrp="1"/>
          </p:cNvSpPr>
          <p:nvPr>
            <p:ph type="sldNum" sz="quarter" idx="12"/>
          </p:nvPr>
        </p:nvSpPr>
        <p:spPr/>
        <p:txBody>
          <a:bodyPr/>
          <a:lstStyle/>
          <a:p>
            <a:fld id="{BBCDBD91-893E-4CED-A716-151F56A42A5A}" type="slidenum">
              <a:rPr lang="en-GB" smtClean="0"/>
              <a:t>18</a:t>
            </a:fld>
            <a:endParaRPr lang="en-GB"/>
          </a:p>
        </p:txBody>
      </p:sp>
    </p:spTree>
    <p:extLst>
      <p:ext uri="{BB962C8B-B14F-4D97-AF65-F5344CB8AC3E}">
        <p14:creationId xmlns:p14="http://schemas.microsoft.com/office/powerpoint/2010/main" val="293529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to="" calcmode="lin" valueType="num">
                                      <p:cBhvr>
                                        <p:cTn id="22"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908720"/>
            <a:ext cx="8443447" cy="70788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The need for holding money arises because their is a time gap between the receipt of income and expenditure.</a:t>
            </a:r>
            <a:endParaRPr lang="en-US" sz="2000" b="0" i="1" u="sng" dirty="0">
              <a:solidFill>
                <a:srgbClr val="7030A0"/>
              </a:solidFill>
              <a:latin typeface="Arial" pitchFamily="34" charset="0"/>
              <a:cs typeface="Arial" pitchFamily="34" charset="0"/>
            </a:endParaRPr>
          </a:p>
        </p:txBody>
      </p:sp>
      <p:sp>
        <p:nvSpPr>
          <p:cNvPr id="6" name="TextBox 5"/>
          <p:cNvSpPr txBox="1"/>
          <p:nvPr/>
        </p:nvSpPr>
        <p:spPr>
          <a:xfrm>
            <a:off x="584811" y="404664"/>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1. The Transaction Demand for Money</a:t>
            </a:r>
          </a:p>
        </p:txBody>
      </p:sp>
      <p:sp>
        <p:nvSpPr>
          <p:cNvPr id="10" name="TextBox 9"/>
          <p:cNvSpPr txBox="1"/>
          <p:nvPr/>
        </p:nvSpPr>
        <p:spPr>
          <a:xfrm>
            <a:off x="395536" y="-46548"/>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15" name="TextBox 14"/>
          <p:cNvSpPr txBox="1"/>
          <p:nvPr/>
        </p:nvSpPr>
        <p:spPr>
          <a:xfrm>
            <a:off x="1547663" y="1556792"/>
            <a:ext cx="7291319" cy="1015663"/>
          </a:xfrm>
          <a:prstGeom prst="rect">
            <a:avLst/>
          </a:prstGeom>
          <a:noFill/>
        </p:spPr>
        <p:txBody>
          <a:bodyPr wrap="square" rtlCol="0">
            <a:spAutoFit/>
          </a:bodyPr>
          <a:lstStyle/>
          <a:p>
            <a:pPr algn="just"/>
            <a:r>
              <a:rPr lang="en-US" sz="2000" i="1" dirty="0">
                <a:solidFill>
                  <a:srgbClr val="0070C0"/>
                </a:solidFill>
                <a:latin typeface="Arial" pitchFamily="34" charset="0"/>
                <a:cs typeface="Arial" pitchFamily="34" charset="0"/>
              </a:rPr>
              <a:t>Ex.. Individuals getting their salary on monthly basis do not spend the entire income on the first day of the month. They hold some money for telephone and electricity bills etc..</a:t>
            </a:r>
          </a:p>
        </p:txBody>
      </p:sp>
      <p:sp>
        <p:nvSpPr>
          <p:cNvPr id="7" name="TextBox 6"/>
          <p:cNvSpPr txBox="1"/>
          <p:nvPr/>
        </p:nvSpPr>
        <p:spPr>
          <a:xfrm>
            <a:off x="467544" y="2564904"/>
            <a:ext cx="8443447" cy="1015663"/>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The transaction demand for money is positively related to the level of income. (the higher the level of income, the higher the demand for money).</a:t>
            </a:r>
            <a:endParaRPr lang="en-US" sz="2000" b="0" i="1" u="sng" dirty="0">
              <a:solidFill>
                <a:srgbClr val="7030A0"/>
              </a:solidFill>
              <a:latin typeface="Arial" pitchFamily="34" charset="0"/>
              <a:cs typeface="Arial" pitchFamily="34" charset="0"/>
            </a:endParaRPr>
          </a:p>
        </p:txBody>
      </p:sp>
      <p:sp>
        <p:nvSpPr>
          <p:cNvPr id="8" name="TextBox 7"/>
          <p:cNvSpPr txBox="1"/>
          <p:nvPr/>
        </p:nvSpPr>
        <p:spPr>
          <a:xfrm>
            <a:off x="467544" y="3645024"/>
            <a:ext cx="8443447" cy="1015663"/>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The transaction demand for money is positively related to the level of income. (the higher the level of income, the higher the demand for money).</a:t>
            </a:r>
            <a:endParaRPr lang="en-US" sz="2000" b="0" i="1" u="sng" dirty="0">
              <a:solidFill>
                <a:srgbClr val="7030A0"/>
              </a:solidFill>
              <a:latin typeface="Arial" pitchFamily="34" charset="0"/>
              <a:cs typeface="Arial" pitchFamily="34" charset="0"/>
            </a:endParaRPr>
          </a:p>
        </p:txBody>
      </p:sp>
      <p:sp>
        <p:nvSpPr>
          <p:cNvPr id="11" name="TextBox 10"/>
          <p:cNvSpPr txBox="1"/>
          <p:nvPr/>
        </p:nvSpPr>
        <p:spPr>
          <a:xfrm>
            <a:off x="467544" y="4737338"/>
            <a:ext cx="8443447" cy="70788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According to Keynes, the aggregate transaction demand for money (Mt)is a positive function of the national income (Y).</a:t>
            </a:r>
            <a:endParaRPr lang="en-US" sz="2000" b="0" i="1" u="sng" dirty="0">
              <a:solidFill>
                <a:srgbClr val="7030A0"/>
              </a:solidFill>
              <a:latin typeface="Arial" pitchFamily="34" charset="0"/>
              <a:cs typeface="Arial" pitchFamily="34" charset="0"/>
            </a:endParaRPr>
          </a:p>
        </p:txBody>
      </p:sp>
      <p:sp>
        <p:nvSpPr>
          <p:cNvPr id="12" name="TextBox 11"/>
          <p:cNvSpPr txBox="1"/>
          <p:nvPr/>
        </p:nvSpPr>
        <p:spPr>
          <a:xfrm>
            <a:off x="2996208" y="5517232"/>
            <a:ext cx="3384376" cy="523220"/>
          </a:xfrm>
          <a:prstGeom prst="rect">
            <a:avLst/>
          </a:prstGeom>
          <a:noFill/>
        </p:spPr>
        <p:txBody>
          <a:bodyPr wrap="square" rtlCol="0">
            <a:spAutoFit/>
          </a:bodyPr>
          <a:lstStyle/>
          <a:p>
            <a:pPr algn="just"/>
            <a:r>
              <a:rPr lang="en-US" sz="2800" b="1" i="1" dirty="0">
                <a:latin typeface="Arial" pitchFamily="34" charset="0"/>
                <a:cs typeface="Arial" pitchFamily="34" charset="0"/>
              </a:rPr>
              <a:t>Mt = f(Y) = </a:t>
            </a:r>
            <a:r>
              <a:rPr lang="en-US" sz="2800" b="1" i="1" dirty="0" err="1">
                <a:latin typeface="Arial" pitchFamily="34" charset="0"/>
                <a:cs typeface="Arial" pitchFamily="34" charset="0"/>
              </a:rPr>
              <a:t>kY</a:t>
            </a:r>
            <a:endParaRPr lang="en-US" sz="2800" b="1" i="1" u="sng" dirty="0">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3" name="Slide Number Placeholder 2"/>
          <p:cNvSpPr>
            <a:spLocks noGrp="1"/>
          </p:cNvSpPr>
          <p:nvPr>
            <p:ph type="sldNum" sz="quarter" idx="12"/>
          </p:nvPr>
        </p:nvSpPr>
        <p:spPr/>
        <p:txBody>
          <a:bodyPr/>
          <a:lstStyle/>
          <a:p>
            <a:fld id="{BBCDBD91-893E-4CED-A716-151F56A42A5A}" type="slidenum">
              <a:rPr lang="en-GB" smtClean="0"/>
              <a:t>19</a:t>
            </a:fld>
            <a:endParaRPr lang="en-GB"/>
          </a:p>
        </p:txBody>
      </p:sp>
    </p:spTree>
    <p:extLst>
      <p:ext uri="{BB962C8B-B14F-4D97-AF65-F5344CB8AC3E}">
        <p14:creationId xmlns:p14="http://schemas.microsoft.com/office/powerpoint/2010/main" val="56691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to="" calcmode="lin" valueType="num">
                                      <p:cBhvr>
                                        <p:cTn id="22" dur="1" fill="hold"/>
                                        <p:tgtEl>
                                          <p:spTgt spid="15"/>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to="" calcmode="lin" valueType="num">
                                      <p:cBhvr>
                                        <p:cTn id="27" dur="1" fill="hold"/>
                                        <p:tgtEl>
                                          <p:spTgt spid="7"/>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to="" calcmode="lin" valueType="num">
                                      <p:cBhvr>
                                        <p:cTn id="32" dur="1" fill="hold"/>
                                        <p:tgtEl>
                                          <p:spTgt spid="8"/>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to="" calcmode="lin" valueType="num">
                                      <p:cBhvr>
                                        <p:cTn id="37" dur="1" fill="hold"/>
                                        <p:tgtEl>
                                          <p:spTgt spid="11"/>
                                        </p:tgtEl>
                                        <p:attrNameLst>
                                          <p:attrName/>
                                        </p:attrNameLst>
                                      </p:cBhvr>
                                    </p:anim>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heel(1)">
                                      <p:cBhvr>
                                        <p:cTn id="4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0" grpId="0"/>
      <p:bldP spid="15" grpId="0"/>
      <p:bldP spid="7" grpId="0"/>
      <p:bldP spid="8"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908720"/>
            <a:ext cx="8443447" cy="1323439"/>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Keynes argued that both households and business firms hold some money  in excess of their transaction demand to provide for unpredictable events like fire, theft, sickness, loss of job, accidents, etc.</a:t>
            </a:r>
            <a:endParaRPr lang="en-US" sz="2000" b="0" i="1" u="sng" dirty="0">
              <a:solidFill>
                <a:srgbClr val="7030A0"/>
              </a:solidFill>
              <a:latin typeface="Arial" pitchFamily="34" charset="0"/>
              <a:cs typeface="Arial" pitchFamily="34" charset="0"/>
            </a:endParaRPr>
          </a:p>
        </p:txBody>
      </p:sp>
      <p:sp>
        <p:nvSpPr>
          <p:cNvPr id="6" name="TextBox 5"/>
          <p:cNvSpPr txBox="1"/>
          <p:nvPr/>
        </p:nvSpPr>
        <p:spPr>
          <a:xfrm>
            <a:off x="584811" y="404664"/>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2. The Precautionary Demand for Money</a:t>
            </a:r>
          </a:p>
        </p:txBody>
      </p:sp>
      <p:sp>
        <p:nvSpPr>
          <p:cNvPr id="10" name="TextBox 9"/>
          <p:cNvSpPr txBox="1"/>
          <p:nvPr/>
        </p:nvSpPr>
        <p:spPr>
          <a:xfrm>
            <a:off x="395536" y="-46548"/>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7" name="TextBox 6"/>
          <p:cNvSpPr txBox="1"/>
          <p:nvPr/>
        </p:nvSpPr>
        <p:spPr>
          <a:xfrm>
            <a:off x="467544" y="2289066"/>
            <a:ext cx="8443447" cy="70788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The precautionary demand for money (</a:t>
            </a:r>
            <a:r>
              <a:rPr lang="en-US" sz="2000" i="1" dirty="0" err="1">
                <a:solidFill>
                  <a:schemeClr val="tx2"/>
                </a:solidFill>
                <a:latin typeface="Arial" pitchFamily="34" charset="0"/>
                <a:cs typeface="Arial" pitchFamily="34" charset="0"/>
              </a:rPr>
              <a:t>Mp</a:t>
            </a:r>
            <a:r>
              <a:rPr lang="en-US" sz="2000" i="1" dirty="0">
                <a:solidFill>
                  <a:schemeClr val="tx2"/>
                </a:solidFill>
                <a:latin typeface="Arial" pitchFamily="34" charset="0"/>
                <a:cs typeface="Arial" pitchFamily="34" charset="0"/>
              </a:rPr>
              <a:t>) is also positively related to the level of income (Y). </a:t>
            </a:r>
            <a:endParaRPr lang="en-US" sz="2000" b="0" i="1" u="sng" dirty="0">
              <a:solidFill>
                <a:srgbClr val="7030A0"/>
              </a:solidFill>
              <a:latin typeface="Arial" pitchFamily="34" charset="0"/>
              <a:cs typeface="Arial" pitchFamily="34" charset="0"/>
            </a:endParaRPr>
          </a:p>
        </p:txBody>
      </p:sp>
      <p:sp>
        <p:nvSpPr>
          <p:cNvPr id="11" name="TextBox 10"/>
          <p:cNvSpPr txBox="1"/>
          <p:nvPr/>
        </p:nvSpPr>
        <p:spPr>
          <a:xfrm>
            <a:off x="573897" y="3781489"/>
            <a:ext cx="8443447" cy="1015663"/>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Since both transaction and precautionary demand for money are a function of the income, the Keynesian total transaction demand for money  (Mt + </a:t>
            </a:r>
            <a:r>
              <a:rPr lang="en-US" sz="2000" i="1" dirty="0" err="1">
                <a:solidFill>
                  <a:schemeClr val="tx2"/>
                </a:solidFill>
                <a:latin typeface="Arial" pitchFamily="34" charset="0"/>
                <a:cs typeface="Arial" pitchFamily="34" charset="0"/>
              </a:rPr>
              <a:t>Mp</a:t>
            </a:r>
            <a:r>
              <a:rPr lang="en-US" sz="2000" i="1" dirty="0">
                <a:solidFill>
                  <a:schemeClr val="tx2"/>
                </a:solidFill>
                <a:latin typeface="Arial" pitchFamily="34" charset="0"/>
                <a:cs typeface="Arial" pitchFamily="34" charset="0"/>
              </a:rPr>
              <a:t> = M</a:t>
            </a:r>
            <a:r>
              <a:rPr lang="en-US" sz="1200" i="1" dirty="0">
                <a:solidFill>
                  <a:schemeClr val="tx2"/>
                </a:solidFill>
                <a:latin typeface="Arial" pitchFamily="34" charset="0"/>
                <a:cs typeface="Arial" pitchFamily="34" charset="0"/>
              </a:rPr>
              <a:t>T</a:t>
            </a:r>
            <a:r>
              <a:rPr lang="en-US" sz="2000" i="1" dirty="0">
                <a:solidFill>
                  <a:schemeClr val="tx2"/>
                </a:solidFill>
                <a:latin typeface="Arial" pitchFamily="34" charset="0"/>
                <a:cs typeface="Arial" pitchFamily="34" charset="0"/>
              </a:rPr>
              <a:t>) can be expressed as ,</a:t>
            </a:r>
            <a:endParaRPr lang="en-US" sz="2000" b="0" i="1" u="sng" dirty="0">
              <a:solidFill>
                <a:srgbClr val="7030A0"/>
              </a:solidFill>
              <a:latin typeface="Arial" pitchFamily="34" charset="0"/>
              <a:cs typeface="Arial" pitchFamily="34" charset="0"/>
            </a:endParaRPr>
          </a:p>
        </p:txBody>
      </p:sp>
      <p:sp>
        <p:nvSpPr>
          <p:cNvPr id="12" name="TextBox 11"/>
          <p:cNvSpPr txBox="1"/>
          <p:nvPr/>
        </p:nvSpPr>
        <p:spPr>
          <a:xfrm>
            <a:off x="2925071" y="3140968"/>
            <a:ext cx="3384376" cy="523220"/>
          </a:xfrm>
          <a:prstGeom prst="rect">
            <a:avLst/>
          </a:prstGeom>
          <a:noFill/>
        </p:spPr>
        <p:txBody>
          <a:bodyPr wrap="square" rtlCol="0">
            <a:spAutoFit/>
          </a:bodyPr>
          <a:lstStyle/>
          <a:p>
            <a:pPr algn="just"/>
            <a:r>
              <a:rPr lang="en-US" sz="2800" b="1" i="1" dirty="0" err="1">
                <a:latin typeface="Arial" pitchFamily="34" charset="0"/>
                <a:cs typeface="Arial" pitchFamily="34" charset="0"/>
              </a:rPr>
              <a:t>Mp</a:t>
            </a:r>
            <a:r>
              <a:rPr lang="en-US" sz="2800" b="1" i="1" dirty="0">
                <a:latin typeface="Arial" pitchFamily="34" charset="0"/>
                <a:cs typeface="Arial" pitchFamily="34" charset="0"/>
              </a:rPr>
              <a:t> = f(Y)</a:t>
            </a:r>
            <a:endParaRPr lang="en-US" sz="2800" b="1" i="1" u="sng" dirty="0">
              <a:latin typeface="Arial" pitchFamily="34" charset="0"/>
              <a:cs typeface="Arial" pitchFamily="34" charset="0"/>
            </a:endParaRPr>
          </a:p>
        </p:txBody>
      </p:sp>
      <p:sp>
        <p:nvSpPr>
          <p:cNvPr id="13" name="TextBox 12"/>
          <p:cNvSpPr txBox="1"/>
          <p:nvPr/>
        </p:nvSpPr>
        <p:spPr>
          <a:xfrm>
            <a:off x="2843808" y="4922004"/>
            <a:ext cx="3384376" cy="523220"/>
          </a:xfrm>
          <a:prstGeom prst="rect">
            <a:avLst/>
          </a:prstGeom>
          <a:noFill/>
        </p:spPr>
        <p:txBody>
          <a:bodyPr wrap="square" rtlCol="0">
            <a:spAutoFit/>
          </a:bodyPr>
          <a:lstStyle/>
          <a:p>
            <a:pPr algn="just"/>
            <a:r>
              <a:rPr lang="en-US" sz="2800" b="1" i="1" dirty="0">
                <a:latin typeface="Arial" pitchFamily="34" charset="0"/>
                <a:cs typeface="Arial" pitchFamily="34" charset="0"/>
              </a:rPr>
              <a:t>M</a:t>
            </a:r>
            <a:r>
              <a:rPr lang="en-US" sz="1600" b="1" i="1" dirty="0">
                <a:latin typeface="Arial" pitchFamily="34" charset="0"/>
                <a:cs typeface="Arial" pitchFamily="34" charset="0"/>
              </a:rPr>
              <a:t>T</a:t>
            </a:r>
            <a:r>
              <a:rPr lang="en-US" sz="2800" b="1" i="1" dirty="0">
                <a:latin typeface="Arial" pitchFamily="34" charset="0"/>
                <a:cs typeface="Arial" pitchFamily="34" charset="0"/>
              </a:rPr>
              <a:t> = f(Y) = </a:t>
            </a:r>
            <a:r>
              <a:rPr lang="en-US" sz="2800" b="1" i="1" dirty="0" err="1">
                <a:latin typeface="Arial" pitchFamily="34" charset="0"/>
                <a:cs typeface="Arial" pitchFamily="34" charset="0"/>
              </a:rPr>
              <a:t>kY</a:t>
            </a:r>
            <a:endParaRPr lang="en-US" sz="2800" b="1" i="1" u="sng" dirty="0">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3" name="Slide Number Placeholder 2"/>
          <p:cNvSpPr>
            <a:spLocks noGrp="1"/>
          </p:cNvSpPr>
          <p:nvPr>
            <p:ph type="sldNum" sz="quarter" idx="12"/>
          </p:nvPr>
        </p:nvSpPr>
        <p:spPr/>
        <p:txBody>
          <a:bodyPr/>
          <a:lstStyle/>
          <a:p>
            <a:fld id="{BBCDBD91-893E-4CED-A716-151F56A42A5A}" type="slidenum">
              <a:rPr lang="en-GB" smtClean="0"/>
              <a:t>20</a:t>
            </a:fld>
            <a:endParaRPr lang="en-GB"/>
          </a:p>
        </p:txBody>
      </p:sp>
    </p:spTree>
    <p:extLst>
      <p:ext uri="{BB962C8B-B14F-4D97-AF65-F5344CB8AC3E}">
        <p14:creationId xmlns:p14="http://schemas.microsoft.com/office/powerpoint/2010/main" val="274169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to="" calcmode="lin" valueType="num">
                                      <p:cBhvr>
                                        <p:cTn id="22" dur="1" fill="hold"/>
                                        <p:tgtEl>
                                          <p:spTgt spid="7"/>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heel(1)">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 to="" calcmode="lin" valueType="num">
                                      <p:cBhvr>
                                        <p:cTn id="32" dur="1" fill="hold"/>
                                        <p:tgtEl>
                                          <p:spTgt spid="11"/>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heel(1)">
                                      <p:cBhvr>
                                        <p:cTn id="3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0" grpId="0"/>
      <p:bldP spid="7" grpId="0"/>
      <p:bldP spid="11" grpId="0"/>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908720"/>
            <a:ext cx="8443447" cy="70788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According to Keynes, people hold a part of their income also in the form of cash balance for speculative purpose.</a:t>
            </a:r>
            <a:endParaRPr lang="en-US" sz="2000" b="0" i="1" u="sng" dirty="0">
              <a:solidFill>
                <a:srgbClr val="7030A0"/>
              </a:solidFill>
              <a:latin typeface="Arial" pitchFamily="34" charset="0"/>
              <a:cs typeface="Arial" pitchFamily="34" charset="0"/>
            </a:endParaRPr>
          </a:p>
        </p:txBody>
      </p:sp>
      <p:sp>
        <p:nvSpPr>
          <p:cNvPr id="6" name="TextBox 5"/>
          <p:cNvSpPr txBox="1"/>
          <p:nvPr/>
        </p:nvSpPr>
        <p:spPr>
          <a:xfrm>
            <a:off x="584811" y="404664"/>
            <a:ext cx="8064896" cy="461665"/>
          </a:xfrm>
          <a:prstGeom prst="rect">
            <a:avLst/>
          </a:prstGeom>
          <a:noFill/>
        </p:spPr>
        <p:txBody>
          <a:bodyPr wrap="square" rtlCol="0">
            <a:spAutoFit/>
          </a:bodyPr>
          <a:lstStyle/>
          <a:p>
            <a:r>
              <a:rPr lang="en-US" sz="2400" i="1" u="sng" dirty="0">
                <a:solidFill>
                  <a:srgbClr val="FF0000"/>
                </a:solidFill>
                <a:latin typeface="Arial" pitchFamily="34" charset="0"/>
                <a:cs typeface="Arial" pitchFamily="34" charset="0"/>
              </a:rPr>
              <a:t>3. The Speculative Demand for Money</a:t>
            </a:r>
          </a:p>
        </p:txBody>
      </p:sp>
      <p:sp>
        <p:nvSpPr>
          <p:cNvPr id="10" name="TextBox 9"/>
          <p:cNvSpPr txBox="1"/>
          <p:nvPr/>
        </p:nvSpPr>
        <p:spPr>
          <a:xfrm>
            <a:off x="395536" y="-46548"/>
            <a:ext cx="8639974" cy="523220"/>
          </a:xfrm>
          <a:prstGeom prst="rect">
            <a:avLst/>
          </a:prstGeom>
          <a:noFill/>
        </p:spPr>
        <p:txBody>
          <a:bodyPr wrap="square" rtlCol="0">
            <a:spAutoFit/>
          </a:bodyPr>
          <a:lstStyle/>
          <a:p>
            <a:r>
              <a:rPr lang="en-US" sz="2800" b="1" i="1" dirty="0">
                <a:solidFill>
                  <a:prstClr val="black"/>
                </a:solidFill>
                <a:latin typeface="Arial" pitchFamily="34" charset="0"/>
                <a:cs typeface="Arial" pitchFamily="34" charset="0"/>
              </a:rPr>
              <a:t>Cont..</a:t>
            </a:r>
          </a:p>
        </p:txBody>
      </p:sp>
      <p:sp>
        <p:nvSpPr>
          <p:cNvPr id="7" name="TextBox 6"/>
          <p:cNvSpPr txBox="1"/>
          <p:nvPr/>
        </p:nvSpPr>
        <p:spPr>
          <a:xfrm>
            <a:off x="395536" y="1713002"/>
            <a:ext cx="8443447" cy="163121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In Keynes’ view, it is rational to hold cash balance instead of  holding a bond if the rate of interest is expected to rise in future. If the interest rate does increase in future, the bond prices go down. Then the person who holds the cash can buy the bond at a lower price and make a capital gain.</a:t>
            </a:r>
            <a:endParaRPr lang="en-US" sz="2000" b="0" i="1" u="sng" dirty="0">
              <a:solidFill>
                <a:srgbClr val="7030A0"/>
              </a:solidFill>
              <a:latin typeface="Arial" pitchFamily="34" charset="0"/>
              <a:cs typeface="Arial" pitchFamily="34" charset="0"/>
            </a:endParaRPr>
          </a:p>
        </p:txBody>
      </p:sp>
      <p:sp>
        <p:nvSpPr>
          <p:cNvPr id="11" name="TextBox 10"/>
          <p:cNvSpPr txBox="1"/>
          <p:nvPr/>
        </p:nvSpPr>
        <p:spPr>
          <a:xfrm>
            <a:off x="395536" y="3453968"/>
            <a:ext cx="8443447" cy="1631216"/>
          </a:xfrm>
          <a:prstGeom prst="rect">
            <a:avLst/>
          </a:prstGeom>
          <a:noFill/>
        </p:spPr>
        <p:txBody>
          <a:bodyPr wrap="square" rtlCol="0">
            <a:spAutoFit/>
          </a:bodyPr>
          <a:lstStyle/>
          <a:p>
            <a:pPr marL="457200" indent="-457200" algn="just">
              <a:buFont typeface="Wingdings" pitchFamily="2" charset="2"/>
              <a:buChar char="Ø"/>
            </a:pPr>
            <a:r>
              <a:rPr lang="en-US" sz="2000" i="1" dirty="0">
                <a:solidFill>
                  <a:schemeClr val="tx2"/>
                </a:solidFill>
                <a:latin typeface="Arial" pitchFamily="34" charset="0"/>
                <a:cs typeface="Arial" pitchFamily="34" charset="0"/>
              </a:rPr>
              <a:t>The market value of bonds and the market rate of interest are inversely related. A rise in the market rate of interest leads to an increase in the market value of the bond, and vice versa. This means that the speculative demand for money (</a:t>
            </a:r>
            <a:r>
              <a:rPr lang="en-US" sz="2000" i="1" dirty="0" err="1">
                <a:solidFill>
                  <a:schemeClr val="tx2"/>
                </a:solidFill>
                <a:latin typeface="Arial" pitchFamily="34" charset="0"/>
                <a:cs typeface="Arial" pitchFamily="34" charset="0"/>
              </a:rPr>
              <a:t>Msp</a:t>
            </a:r>
            <a:r>
              <a:rPr lang="en-US" sz="2000" i="1" dirty="0">
                <a:solidFill>
                  <a:schemeClr val="tx2"/>
                </a:solidFill>
                <a:latin typeface="Arial" pitchFamily="34" charset="0"/>
                <a:cs typeface="Arial" pitchFamily="34" charset="0"/>
              </a:rPr>
              <a:t>) and interest rate (i) are inversely related.</a:t>
            </a:r>
            <a:endParaRPr lang="en-US" sz="2000" b="0" i="1" u="sng" dirty="0">
              <a:solidFill>
                <a:srgbClr val="7030A0"/>
              </a:solidFill>
              <a:latin typeface="Arial" pitchFamily="34" charset="0"/>
              <a:cs typeface="Arial" pitchFamily="34" charset="0"/>
            </a:endParaRPr>
          </a:p>
        </p:txBody>
      </p:sp>
      <p:sp>
        <p:nvSpPr>
          <p:cNvPr id="13" name="TextBox 12"/>
          <p:cNvSpPr txBox="1"/>
          <p:nvPr/>
        </p:nvSpPr>
        <p:spPr>
          <a:xfrm>
            <a:off x="2843808" y="5354052"/>
            <a:ext cx="3384376" cy="523220"/>
          </a:xfrm>
          <a:prstGeom prst="rect">
            <a:avLst/>
          </a:prstGeom>
          <a:noFill/>
        </p:spPr>
        <p:txBody>
          <a:bodyPr wrap="square" rtlCol="0">
            <a:spAutoFit/>
          </a:bodyPr>
          <a:lstStyle/>
          <a:p>
            <a:pPr algn="just"/>
            <a:r>
              <a:rPr lang="en-US" sz="2800" b="1" i="1" dirty="0" err="1">
                <a:latin typeface="Arial" pitchFamily="34" charset="0"/>
                <a:cs typeface="Arial" pitchFamily="34" charset="0"/>
              </a:rPr>
              <a:t>M</a:t>
            </a:r>
            <a:r>
              <a:rPr lang="en-US" sz="1600" b="1" i="1" dirty="0" err="1">
                <a:latin typeface="Arial" pitchFamily="34" charset="0"/>
                <a:cs typeface="Arial" pitchFamily="34" charset="0"/>
              </a:rPr>
              <a:t>sp</a:t>
            </a:r>
            <a:r>
              <a:rPr lang="en-US" sz="2800" b="1" i="1" dirty="0">
                <a:latin typeface="Arial" pitchFamily="34" charset="0"/>
                <a:cs typeface="Arial" pitchFamily="34" charset="0"/>
              </a:rPr>
              <a:t> = f(i)</a:t>
            </a:r>
            <a:endParaRPr lang="en-US" sz="2800" b="1" i="1" u="sng" dirty="0">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GB"/>
              <a:t>BSc in Mgt / Macro/ 2022</a:t>
            </a:r>
          </a:p>
        </p:txBody>
      </p:sp>
      <p:sp>
        <p:nvSpPr>
          <p:cNvPr id="3" name="Slide Number Placeholder 2"/>
          <p:cNvSpPr>
            <a:spLocks noGrp="1"/>
          </p:cNvSpPr>
          <p:nvPr>
            <p:ph type="sldNum" sz="quarter" idx="12"/>
          </p:nvPr>
        </p:nvSpPr>
        <p:spPr/>
        <p:txBody>
          <a:bodyPr/>
          <a:lstStyle/>
          <a:p>
            <a:fld id="{BBCDBD91-893E-4CED-A716-151F56A42A5A}" type="slidenum">
              <a:rPr lang="en-GB" smtClean="0"/>
              <a:t>21</a:t>
            </a:fld>
            <a:endParaRPr lang="en-GB"/>
          </a:p>
        </p:txBody>
      </p:sp>
    </p:spTree>
    <p:extLst>
      <p:ext uri="{BB962C8B-B14F-4D97-AF65-F5344CB8AC3E}">
        <p14:creationId xmlns:p14="http://schemas.microsoft.com/office/powerpoint/2010/main" val="167657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to="" calcmode="lin" valueType="num">
                                      <p:cBhvr>
                                        <p:cTn id="22" dur="1" fill="hold"/>
                                        <p:tgtEl>
                                          <p:spTgt spid="7"/>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to="" calcmode="lin" valueType="num">
                                      <p:cBhvr>
                                        <p:cTn id="27" dur="1" fill="hold"/>
                                        <p:tgtEl>
                                          <p:spTgt spid="11"/>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0" grpId="0"/>
      <p:bldP spid="7"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2CCEFD-A7DC-BE1D-C3C7-C4D479D031EF}"/>
              </a:ext>
            </a:extLst>
          </p:cNvPr>
          <p:cNvSpPr>
            <a:spLocks noGrp="1"/>
          </p:cNvSpPr>
          <p:nvPr>
            <p:ph type="ftr" sz="quarter" idx="11"/>
          </p:nvPr>
        </p:nvSpPr>
        <p:spPr/>
        <p:txBody>
          <a:bodyPr/>
          <a:lstStyle/>
          <a:p>
            <a:r>
              <a:rPr lang="en-GB"/>
              <a:t>BSc in Mgt / Macro/ 2022</a:t>
            </a:r>
          </a:p>
        </p:txBody>
      </p:sp>
      <p:sp>
        <p:nvSpPr>
          <p:cNvPr id="3" name="Slide Number Placeholder 2">
            <a:extLst>
              <a:ext uri="{FF2B5EF4-FFF2-40B4-BE49-F238E27FC236}">
                <a16:creationId xmlns:a16="http://schemas.microsoft.com/office/drawing/2014/main" id="{72F3E787-9513-F3EE-E868-82A36F18B7D6}"/>
              </a:ext>
            </a:extLst>
          </p:cNvPr>
          <p:cNvSpPr>
            <a:spLocks noGrp="1"/>
          </p:cNvSpPr>
          <p:nvPr>
            <p:ph type="sldNum" sz="quarter" idx="12"/>
          </p:nvPr>
        </p:nvSpPr>
        <p:spPr/>
        <p:txBody>
          <a:bodyPr/>
          <a:lstStyle/>
          <a:p>
            <a:fld id="{BBCDBD91-893E-4CED-A716-151F56A42A5A}" type="slidenum">
              <a:rPr lang="en-GB" smtClean="0"/>
              <a:t>22</a:t>
            </a:fld>
            <a:endParaRPr lang="en-GB"/>
          </a:p>
        </p:txBody>
      </p:sp>
      <p:sp>
        <p:nvSpPr>
          <p:cNvPr id="4" name="TextBox 3"/>
          <p:cNvSpPr txBox="1"/>
          <p:nvPr/>
        </p:nvSpPr>
        <p:spPr>
          <a:xfrm>
            <a:off x="3779912" y="3284984"/>
            <a:ext cx="942887" cy="369332"/>
          </a:xfrm>
          <a:prstGeom prst="rect">
            <a:avLst/>
          </a:prstGeom>
          <a:noFill/>
        </p:spPr>
        <p:txBody>
          <a:bodyPr wrap="none" rtlCol="0">
            <a:spAutoFit/>
          </a:bodyPr>
          <a:lstStyle/>
          <a:p>
            <a:r>
              <a:rPr lang="en-US" dirty="0" smtClean="0"/>
              <a:t>The End</a:t>
            </a:r>
            <a:endParaRPr lang="en-US" dirty="0"/>
          </a:p>
        </p:txBody>
      </p:sp>
    </p:spTree>
    <p:extLst>
      <p:ext uri="{BB962C8B-B14F-4D97-AF65-F5344CB8AC3E}">
        <p14:creationId xmlns:p14="http://schemas.microsoft.com/office/powerpoint/2010/main" val="1845408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1725</TotalTime>
  <Words>1988</Words>
  <Application>Microsoft Office PowerPoint</Application>
  <PresentationFormat>On-screen Show (4:3)</PresentationFormat>
  <Paragraphs>257</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dc:creator>
  <cp:lastModifiedBy>Lahiru pera</cp:lastModifiedBy>
  <cp:revision>96</cp:revision>
  <dcterms:created xsi:type="dcterms:W3CDTF">2016-01-03T05:24:19Z</dcterms:created>
  <dcterms:modified xsi:type="dcterms:W3CDTF">2023-10-15T08:55:55Z</dcterms:modified>
</cp:coreProperties>
</file>