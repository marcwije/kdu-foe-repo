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0" r:id="rId1"/>
  </p:sldMasterIdLst>
  <p:notesMasterIdLst>
    <p:notesMasterId r:id="rId34"/>
  </p:notesMasterIdLst>
  <p:sldIdLst>
    <p:sldId id="296" r:id="rId2"/>
    <p:sldId id="297" r:id="rId3"/>
    <p:sldId id="298" r:id="rId4"/>
    <p:sldId id="256" r:id="rId5"/>
    <p:sldId id="282" r:id="rId6"/>
    <p:sldId id="292" r:id="rId7"/>
    <p:sldId id="283" r:id="rId8"/>
    <p:sldId id="259" r:id="rId9"/>
    <p:sldId id="294" r:id="rId10"/>
    <p:sldId id="258" r:id="rId11"/>
    <p:sldId id="260" r:id="rId12"/>
    <p:sldId id="295" r:id="rId13"/>
    <p:sldId id="284" r:id="rId14"/>
    <p:sldId id="287" r:id="rId15"/>
    <p:sldId id="261" r:id="rId16"/>
    <p:sldId id="285" r:id="rId17"/>
    <p:sldId id="281" r:id="rId18"/>
    <p:sldId id="286" r:id="rId19"/>
    <p:sldId id="276" r:id="rId20"/>
    <p:sldId id="262" r:id="rId21"/>
    <p:sldId id="257" r:id="rId22"/>
    <p:sldId id="288" r:id="rId23"/>
    <p:sldId id="263" r:id="rId24"/>
    <p:sldId id="264" r:id="rId25"/>
    <p:sldId id="265" r:id="rId26"/>
    <p:sldId id="273" r:id="rId27"/>
    <p:sldId id="289" r:id="rId28"/>
    <p:sldId id="291" r:id="rId29"/>
    <p:sldId id="290" r:id="rId30"/>
    <p:sldId id="293" r:id="rId31"/>
    <p:sldId id="266" r:id="rId32"/>
    <p:sldId id="278" r:id="rId3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80008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70" d="100"/>
          <a:sy n="70" d="100"/>
        </p:scale>
        <p:origin x="1027" y="-46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slide" Target="slides/slide17.xml" /><Relationship Id="rId26" Type="http://schemas.openxmlformats.org/officeDocument/2006/relationships/slide" Target="slides/slide25.xml" /><Relationship Id="rId3" Type="http://schemas.openxmlformats.org/officeDocument/2006/relationships/slide" Target="slides/slide2.xml" /><Relationship Id="rId21" Type="http://schemas.openxmlformats.org/officeDocument/2006/relationships/slide" Target="slides/slide20.xml" /><Relationship Id="rId34" Type="http://schemas.openxmlformats.org/officeDocument/2006/relationships/notesMaster" Target="notesMasters/notesMaster1.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slide" Target="slides/slide16.xml" /><Relationship Id="rId25" Type="http://schemas.openxmlformats.org/officeDocument/2006/relationships/slide" Target="slides/slide24.xml" /><Relationship Id="rId33" Type="http://schemas.openxmlformats.org/officeDocument/2006/relationships/slide" Target="slides/slide32.xml" /><Relationship Id="rId38" Type="http://schemas.openxmlformats.org/officeDocument/2006/relationships/tableStyles" Target="tableStyles.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slide" Target="slides/slide19.xml" /><Relationship Id="rId29" Type="http://schemas.openxmlformats.org/officeDocument/2006/relationships/slide" Target="slides/slide28.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24" Type="http://schemas.openxmlformats.org/officeDocument/2006/relationships/slide" Target="slides/slide23.xml" /><Relationship Id="rId32" Type="http://schemas.openxmlformats.org/officeDocument/2006/relationships/slide" Target="slides/slide31.xml" /><Relationship Id="rId37" Type="http://schemas.openxmlformats.org/officeDocument/2006/relationships/theme" Target="theme/theme1.xml" /><Relationship Id="rId5" Type="http://schemas.openxmlformats.org/officeDocument/2006/relationships/slide" Target="slides/slide4.xml" /><Relationship Id="rId15" Type="http://schemas.openxmlformats.org/officeDocument/2006/relationships/slide" Target="slides/slide14.xml" /><Relationship Id="rId23" Type="http://schemas.openxmlformats.org/officeDocument/2006/relationships/slide" Target="slides/slide22.xml" /><Relationship Id="rId28" Type="http://schemas.openxmlformats.org/officeDocument/2006/relationships/slide" Target="slides/slide27.xml" /><Relationship Id="rId36" Type="http://schemas.openxmlformats.org/officeDocument/2006/relationships/viewProps" Target="viewProps.xml" /><Relationship Id="rId10" Type="http://schemas.openxmlformats.org/officeDocument/2006/relationships/slide" Target="slides/slide9.xml" /><Relationship Id="rId19" Type="http://schemas.openxmlformats.org/officeDocument/2006/relationships/slide" Target="slides/slide18.xml" /><Relationship Id="rId31" Type="http://schemas.openxmlformats.org/officeDocument/2006/relationships/slide" Target="slides/slide30.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slide" Target="slides/slide21.xml" /><Relationship Id="rId27" Type="http://schemas.openxmlformats.org/officeDocument/2006/relationships/slide" Target="slides/slide26.xml" /><Relationship Id="rId30" Type="http://schemas.openxmlformats.org/officeDocument/2006/relationships/slide" Target="slides/slide29.xml" /><Relationship Id="rId35" Type="http://schemas.openxmlformats.org/officeDocument/2006/relationships/presProps" Target="presProps.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7992248-1EB4-482C-9584-ECFECC848348}" type="datetimeFigureOut">
              <a:rPr lang="en-US" smtClean="0"/>
              <a:pPr/>
              <a:t>1/19/2024</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66E5D39-AC92-4DED-B2EE-B0990C104C69}" type="slidenum">
              <a:rPr lang="en-US" smtClean="0"/>
              <a:pPr/>
              <a:t>‹#›</a:t>
            </a:fld>
            <a:endParaRPr lang="en-US"/>
          </a:p>
        </p:txBody>
      </p:sp>
    </p:spTree>
    <p:extLst>
      <p:ext uri="{BB962C8B-B14F-4D97-AF65-F5344CB8AC3E}">
        <p14:creationId xmlns:p14="http://schemas.microsoft.com/office/powerpoint/2010/main" val="37996163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66E5D39-AC92-4DED-B2EE-B0990C104C69}" type="slidenum">
              <a:rPr lang="en-US" smtClean="0"/>
              <a:pPr/>
              <a:t>3</a:t>
            </a:fld>
            <a:endParaRPr lang="en-US"/>
          </a:p>
        </p:txBody>
      </p:sp>
    </p:spTree>
    <p:extLst>
      <p:ext uri="{BB962C8B-B14F-4D97-AF65-F5344CB8AC3E}">
        <p14:creationId xmlns:p14="http://schemas.microsoft.com/office/powerpoint/2010/main" val="39633642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66E5D39-AC92-4DED-B2EE-B0990C104C69}" type="slidenum">
              <a:rPr lang="en-US" smtClean="0"/>
              <a:pPr/>
              <a:t>8</a:t>
            </a:fld>
            <a:endParaRPr lang="en-US"/>
          </a:p>
        </p:txBody>
      </p:sp>
    </p:spTree>
    <p:extLst>
      <p:ext uri="{BB962C8B-B14F-4D97-AF65-F5344CB8AC3E}">
        <p14:creationId xmlns:p14="http://schemas.microsoft.com/office/powerpoint/2010/main" val="8981016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66E5D39-AC92-4DED-B2EE-B0990C104C69}" type="slidenum">
              <a:rPr lang="en-US" smtClean="0"/>
              <a:pPr/>
              <a:t>13</a:t>
            </a:fld>
            <a:endParaRPr lang="en-US"/>
          </a:p>
        </p:txBody>
      </p:sp>
    </p:spTree>
    <p:extLst>
      <p:ext uri="{BB962C8B-B14F-4D97-AF65-F5344CB8AC3E}">
        <p14:creationId xmlns:p14="http://schemas.microsoft.com/office/powerpoint/2010/main" val="36564050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8466" y="-8468"/>
            <a:ext cx="9171316" cy="6874935"/>
            <a:chOff x="-8466" y="-8468"/>
            <a:chExt cx="9171316" cy="6874935"/>
          </a:xfrm>
        </p:grpSpPr>
        <p:cxnSp>
          <p:nvCxnSpPr>
            <p:cNvPr id="28" name="Straight Connector 27"/>
            <p:cNvCxnSpPr/>
            <p:nvPr/>
          </p:nvCxnSpPr>
          <p:spPr>
            <a:xfrm flipV="1">
              <a:off x="5130830" y="4175605"/>
              <a:ext cx="4022475" cy="2682396"/>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9" name="Straight Connector 28"/>
            <p:cNvCxnSpPr/>
            <p:nvPr/>
          </p:nvCxnSpPr>
          <p:spPr>
            <a:xfrm>
              <a:off x="7042707"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30" name="Freeform 29"/>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Freeform 30"/>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2" name="Freeform 31"/>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33" name="Freeform 32"/>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4" name="Freeform 33"/>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5" name="Freeform 34"/>
            <p:cNvSpPr/>
            <p:nvPr/>
          </p:nvSpPr>
          <p:spPr>
            <a:xfrm>
              <a:off x="8094165"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2">
                <a:lumMod val="75000"/>
                <a:alpha val="82000"/>
              </a:schemeClr>
            </a:solidFill>
            <a:ln>
              <a:noFill/>
            </a:ln>
            <a:effectLst/>
          </p:spPr>
          <p:style>
            <a:lnRef idx="1">
              <a:schemeClr val="accent1"/>
            </a:lnRef>
            <a:fillRef idx="3">
              <a:schemeClr val="accent1"/>
            </a:fillRef>
            <a:effectRef idx="2">
              <a:schemeClr val="accent1"/>
            </a:effectRef>
            <a:fontRef idx="minor">
              <a:schemeClr val="lt1"/>
            </a:fontRef>
          </p:style>
        </p:sp>
        <p:sp>
          <p:nvSpPr>
            <p:cNvPr id="36" name="Freeform 35"/>
            <p:cNvSpPr/>
            <p:nvPr/>
          </p:nvSpPr>
          <p:spPr>
            <a:xfrm>
              <a:off x="8068764"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17"/>
            <p:cNvSpPr/>
            <p:nvPr/>
          </p:nvSpPr>
          <p:spPr>
            <a:xfrm>
              <a:off x="-8466" y="-8468"/>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130595" y="2404534"/>
            <a:ext cx="5826719"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130595" y="4050834"/>
            <a:ext cx="5826719"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050F656-077C-4B55-BBA5-6C3434A3A8CD}" type="datetime1">
              <a:rPr lang="en-US" smtClean="0"/>
              <a:t>1/19/2024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0512086-A52C-44F0-970D-28E8CB23C1FA}" type="slidenum">
              <a:rPr lang="en-US" smtClean="0"/>
              <a:pPr/>
              <a:t>‹#›</a:t>
            </a:fld>
            <a:endParaRPr lang="en-US"/>
          </a:p>
        </p:txBody>
      </p:sp>
    </p:spTree>
    <p:extLst>
      <p:ext uri="{BB962C8B-B14F-4D97-AF65-F5344CB8AC3E}">
        <p14:creationId xmlns:p14="http://schemas.microsoft.com/office/powerpoint/2010/main" val="38331376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D7D4723-4387-4690-B085-CA980F0F715F}" type="datetime1">
              <a:rPr lang="en-US" smtClean="0"/>
              <a:t>1/19/2024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0512086-A52C-44F0-970D-28E8CB23C1FA}" type="slidenum">
              <a:rPr lang="en-US" smtClean="0"/>
              <a:pPr/>
              <a:t>‹#›</a:t>
            </a:fld>
            <a:endParaRPr lang="en-US"/>
          </a:p>
        </p:txBody>
      </p:sp>
    </p:spTree>
    <p:extLst>
      <p:ext uri="{BB962C8B-B14F-4D97-AF65-F5344CB8AC3E}">
        <p14:creationId xmlns:p14="http://schemas.microsoft.com/office/powerpoint/2010/main" val="34536153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9598" y="2700868"/>
            <a:ext cx="6347715"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40D1810-DC77-4106-B41E-1E0163AA03D9}" type="datetime1">
              <a:rPr lang="en-US" smtClean="0"/>
              <a:t>1/19/2024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0512086-A52C-44F0-970D-28E8CB23C1FA}" type="slidenum">
              <a:rPr lang="en-US" smtClean="0"/>
              <a:pPr/>
              <a:t>‹#›</a:t>
            </a:fld>
            <a:endParaRPr lang="en-US"/>
          </a:p>
        </p:txBody>
      </p:sp>
    </p:spTree>
    <p:extLst>
      <p:ext uri="{BB962C8B-B14F-4D97-AF65-F5344CB8AC3E}">
        <p14:creationId xmlns:p14="http://schemas.microsoft.com/office/powerpoint/2010/main" val="16288039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1320800"/>
          </a:xfrm>
        </p:spPr>
        <p:txBody>
          <a:bodyPr/>
          <a:lstStyle/>
          <a:p>
            <a:r>
              <a:rPr lang="en-US"/>
              <a:t>Click to edit Master title style</a:t>
            </a:r>
            <a:endParaRPr lang="en-US" dirty="0"/>
          </a:p>
        </p:txBody>
      </p:sp>
      <p:sp>
        <p:nvSpPr>
          <p:cNvPr id="3" name="Content Placeholder 2"/>
          <p:cNvSpPr>
            <a:spLocks noGrp="1"/>
          </p:cNvSpPr>
          <p:nvPr>
            <p:ph sz="half" idx="1"/>
          </p:nvPr>
        </p:nvSpPr>
        <p:spPr>
          <a:xfrm>
            <a:off x="609600" y="2160589"/>
            <a:ext cx="3088109" cy="3880772"/>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869204" y="2160590"/>
            <a:ext cx="3088110" cy="388077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19ED2D8-4281-45CF-8BC2-3EABBCD1F4EF}" type="datetime1">
              <a:rPr lang="en-US" smtClean="0"/>
              <a:t>1/19/2024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0512086-A52C-44F0-970D-28E8CB23C1FA}" type="slidenum">
              <a:rPr lang="en-US" smtClean="0"/>
              <a:pPr/>
              <a:t>‹#›</a:t>
            </a:fld>
            <a:endParaRPr lang="en-US"/>
          </a:p>
        </p:txBody>
      </p:sp>
    </p:spTree>
    <p:extLst>
      <p:ext uri="{BB962C8B-B14F-4D97-AF65-F5344CB8AC3E}">
        <p14:creationId xmlns:p14="http://schemas.microsoft.com/office/powerpoint/2010/main" val="17264577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3" cy="132080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09599"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599" y="2737246"/>
            <a:ext cx="3090672"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866640"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3866640" y="2737246"/>
            <a:ext cx="3090672"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C11C11F-D055-46FF-A9FB-E2C65BFE31E3}" type="datetime1">
              <a:rPr lang="en-US" smtClean="0"/>
              <a:t>1/19/2024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0512086-A52C-44F0-970D-28E8CB23C1FA}" type="slidenum">
              <a:rPr lang="en-US" smtClean="0"/>
              <a:pPr/>
              <a:t>‹#›</a:t>
            </a:fld>
            <a:endParaRPr lang="en-US"/>
          </a:p>
        </p:txBody>
      </p:sp>
    </p:spTree>
    <p:extLst>
      <p:ext uri="{BB962C8B-B14F-4D97-AF65-F5344CB8AC3E}">
        <p14:creationId xmlns:p14="http://schemas.microsoft.com/office/powerpoint/2010/main" val="19174388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4"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507E33B-FF6B-497B-B5C8-382FE17D9137}" type="datetime1">
              <a:rPr lang="en-US" smtClean="0"/>
              <a:t>1/19/2024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0512086-A52C-44F0-970D-28E8CB23C1FA}" type="slidenum">
              <a:rPr lang="en-US" smtClean="0"/>
              <a:pPr/>
              <a:t>‹#›</a:t>
            </a:fld>
            <a:endParaRPr lang="en-US"/>
          </a:p>
        </p:txBody>
      </p:sp>
    </p:spTree>
    <p:extLst>
      <p:ext uri="{BB962C8B-B14F-4D97-AF65-F5344CB8AC3E}">
        <p14:creationId xmlns:p14="http://schemas.microsoft.com/office/powerpoint/2010/main" val="3703141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00A5043-0150-4B2A-B1CB-147A13A60746}" type="datetime1">
              <a:rPr lang="en-US" smtClean="0"/>
              <a:t>1/19/2024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0512086-A52C-44F0-970D-28E8CB23C1FA}" type="slidenum">
              <a:rPr lang="en-US" smtClean="0"/>
              <a:pPr/>
              <a:t>‹#›</a:t>
            </a:fld>
            <a:endParaRPr lang="en-US"/>
          </a:p>
        </p:txBody>
      </p:sp>
    </p:spTree>
    <p:extLst>
      <p:ext uri="{BB962C8B-B14F-4D97-AF65-F5344CB8AC3E}">
        <p14:creationId xmlns:p14="http://schemas.microsoft.com/office/powerpoint/2010/main" val="16562083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1498604"/>
            <a:ext cx="2790182"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3571275" y="514925"/>
            <a:ext cx="3386037"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09599" y="2777069"/>
            <a:ext cx="2790182" cy="2584449"/>
          </a:xfrm>
        </p:spPr>
        <p:txBody>
          <a:bodyPr>
            <a:normAutofit/>
          </a:bodyPr>
          <a:lstStyle>
            <a:lvl1pPr marL="0" indent="0">
              <a:buNone/>
              <a:defRPr sz="14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C87998BA-D8C1-469B-B283-6CBD6C029AE7}" type="datetime1">
              <a:rPr lang="en-US" smtClean="0"/>
              <a:t>1/19/2024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0512086-A52C-44F0-970D-28E8CB23C1FA}" type="slidenum">
              <a:rPr lang="en-US" smtClean="0"/>
              <a:pPr/>
              <a:t>‹#›</a:t>
            </a:fld>
            <a:endParaRPr lang="en-US"/>
          </a:p>
        </p:txBody>
      </p:sp>
    </p:spTree>
    <p:extLst>
      <p:ext uri="{BB962C8B-B14F-4D97-AF65-F5344CB8AC3E}">
        <p14:creationId xmlns:p14="http://schemas.microsoft.com/office/powerpoint/2010/main" val="28221396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4800600"/>
            <a:ext cx="6347714"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 y="609600"/>
            <a:ext cx="6347714"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09599" y="5367338"/>
            <a:ext cx="6347714"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4EFA6E4-9470-4683-BCF7-6F9BE6E74B78}" type="datetime1">
              <a:rPr lang="en-US" smtClean="0"/>
              <a:t>1/19/2024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0512086-A52C-44F0-970D-28E8CB23C1FA}" type="slidenum">
              <a:rPr lang="en-US" smtClean="0"/>
              <a:pPr/>
              <a:t>‹#›</a:t>
            </a:fld>
            <a:endParaRPr lang="en-US"/>
          </a:p>
        </p:txBody>
      </p:sp>
    </p:spTree>
    <p:extLst>
      <p:ext uri="{BB962C8B-B14F-4D97-AF65-F5344CB8AC3E}">
        <p14:creationId xmlns:p14="http://schemas.microsoft.com/office/powerpoint/2010/main" val="31473384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600" y="4470400"/>
            <a:ext cx="6347714"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E876B01-EC5C-445D-B697-F4CFBBAB857D}" type="datetime1">
              <a:rPr lang="en-US" smtClean="0"/>
              <a:t>1/19/2024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0512086-A52C-44F0-970D-28E8CB23C1FA}" type="slidenum">
              <a:rPr lang="en-US" smtClean="0"/>
              <a:pPr/>
              <a:t>‹#›</a:t>
            </a:fld>
            <a:endParaRPr lang="en-US"/>
          </a:p>
        </p:txBody>
      </p:sp>
    </p:spTree>
    <p:extLst>
      <p:ext uri="{BB962C8B-B14F-4D97-AF65-F5344CB8AC3E}">
        <p14:creationId xmlns:p14="http://schemas.microsoft.com/office/powerpoint/2010/main" val="34042085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101074" y="3632200"/>
            <a:ext cx="541980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470400"/>
            <a:ext cx="6347715"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09BFB77-901A-4D9C-83CF-0320E07F1422}" type="datetime1">
              <a:rPr lang="en-US" smtClean="0"/>
              <a:t>1/19/2024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0512086-A52C-44F0-970D-28E8CB23C1FA}" type="slidenum">
              <a:rPr lang="en-US" smtClean="0"/>
              <a:pPr/>
              <a:t>‹#›</a:t>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60243651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09598" y="1931988"/>
            <a:ext cx="6347715"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4588982-FDB9-42D0-A67C-8472EC961E24}" type="datetime1">
              <a:rPr lang="en-US" smtClean="0"/>
              <a:t>1/19/2024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0512086-A52C-44F0-970D-28E8CB23C1FA}" type="slidenum">
              <a:rPr lang="en-US" smtClean="0"/>
              <a:pPr/>
              <a:t>‹#›</a:t>
            </a:fld>
            <a:endParaRPr lang="en-US"/>
          </a:p>
        </p:txBody>
      </p:sp>
    </p:spTree>
    <p:extLst>
      <p:ext uri="{BB962C8B-B14F-4D97-AF65-F5344CB8AC3E}">
        <p14:creationId xmlns:p14="http://schemas.microsoft.com/office/powerpoint/2010/main" val="118901914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AEB28AD-CEF7-49E4-9044-69DAC8805F16}" type="datetime1">
              <a:rPr lang="en-US" smtClean="0"/>
              <a:t>1/19/2024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0512086-A52C-44F0-970D-28E8CB23C1FA}" type="slidenum">
              <a:rPr lang="en-US" smtClean="0"/>
              <a:pPr/>
              <a:t>‹#›</a:t>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65104438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15848" y="609600"/>
            <a:ext cx="6341465"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DE958AC-B0FB-4E1F-808B-88BB586184C5}" type="datetime1">
              <a:rPr lang="en-US" smtClean="0"/>
              <a:t>1/19/2024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0512086-A52C-44F0-970D-28E8CB23C1FA}" type="slidenum">
              <a:rPr lang="en-US" smtClean="0"/>
              <a:pPr/>
              <a:t>‹#›</a:t>
            </a:fld>
            <a:endParaRPr lang="en-US"/>
          </a:p>
        </p:txBody>
      </p:sp>
    </p:spTree>
    <p:extLst>
      <p:ext uri="{BB962C8B-B14F-4D97-AF65-F5344CB8AC3E}">
        <p14:creationId xmlns:p14="http://schemas.microsoft.com/office/powerpoint/2010/main" val="97952893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F367EEC-AA15-4D53-BEA7-FBCE4C7EABC8}" type="datetime1">
              <a:rPr lang="en-US" smtClean="0"/>
              <a:t>1/19/2024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0512086-A52C-44F0-970D-28E8CB23C1FA}" type="slidenum">
              <a:rPr lang="en-US" smtClean="0"/>
              <a:pPr/>
              <a:t>‹#›</a:t>
            </a:fld>
            <a:endParaRPr lang="en-US"/>
          </a:p>
        </p:txBody>
      </p:sp>
    </p:spTree>
    <p:extLst>
      <p:ext uri="{BB962C8B-B14F-4D97-AF65-F5344CB8AC3E}">
        <p14:creationId xmlns:p14="http://schemas.microsoft.com/office/powerpoint/2010/main" val="79236589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77312" y="609600"/>
            <a:ext cx="978812"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09599" y="609600"/>
            <a:ext cx="5195026" cy="525145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EF49BAE-6965-49AD-B515-DDA17345DB4E}" type="datetime1">
              <a:rPr lang="en-US" smtClean="0"/>
              <a:t>1/19/2024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0512086-A52C-44F0-970D-28E8CB23C1FA}" type="slidenum">
              <a:rPr lang="en-US" smtClean="0"/>
              <a:pPr/>
              <a:t>‹#›</a:t>
            </a:fld>
            <a:endParaRPr lang="en-US"/>
          </a:p>
        </p:txBody>
      </p:sp>
    </p:spTree>
    <p:extLst>
      <p:ext uri="{BB962C8B-B14F-4D97-AF65-F5344CB8AC3E}">
        <p14:creationId xmlns:p14="http://schemas.microsoft.com/office/powerpoint/2010/main" val="34017304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13" Type="http://schemas.openxmlformats.org/officeDocument/2006/relationships/slideLayout" Target="../slideLayouts/slideLayout13.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slideLayout" Target="../slideLayouts/slideLayout12.xml" /><Relationship Id="rId17" Type="http://schemas.openxmlformats.org/officeDocument/2006/relationships/theme" Target="../theme/theme1.xml" /><Relationship Id="rId2" Type="http://schemas.openxmlformats.org/officeDocument/2006/relationships/slideLayout" Target="../slideLayouts/slideLayout2.xml" /><Relationship Id="rId16" Type="http://schemas.openxmlformats.org/officeDocument/2006/relationships/slideLayout" Target="../slideLayouts/slideLayout16.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5" Type="http://schemas.openxmlformats.org/officeDocument/2006/relationships/slideLayout" Target="../slideLayouts/slideLayout1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 Id="rId14" Type="http://schemas.openxmlformats.org/officeDocument/2006/relationships/slideLayout" Target="../slideLayouts/slideLayout14.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7" name="Group 16"/>
          <p:cNvGrpSpPr/>
          <p:nvPr/>
        </p:nvGrpSpPr>
        <p:grpSpPr>
          <a:xfrm>
            <a:off x="-8467" y="-8468"/>
            <a:ext cx="9171317" cy="6874935"/>
            <a:chOff x="-8467" y="-8468"/>
            <a:chExt cx="9171317" cy="6874935"/>
          </a:xfrm>
        </p:grpSpPr>
        <p:sp>
          <p:nvSpPr>
            <p:cNvPr id="7" name="Freeform 6"/>
            <p:cNvSpPr/>
            <p:nvPr/>
          </p:nvSpPr>
          <p:spPr>
            <a:xfrm>
              <a:off x="-8467" y="4013200"/>
              <a:ext cx="457200" cy="2853267"/>
            </a:xfrm>
            <a:custGeom>
              <a:avLst/>
              <a:gdLst/>
              <a:ahLst/>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8" name="Straight Connector 7"/>
            <p:cNvCxnSpPr/>
            <p:nvPr/>
          </p:nvCxnSpPr>
          <p:spPr>
            <a:xfrm flipV="1">
              <a:off x="5130830" y="4175605"/>
              <a:ext cx="4022475" cy="2682396"/>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a:off x="7042707"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10" name="Freeform 9"/>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Freeform 12"/>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Freeform 13"/>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Freeform 14"/>
            <p:cNvSpPr/>
            <p:nvPr/>
          </p:nvSpPr>
          <p:spPr>
            <a:xfrm>
              <a:off x="8094165"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2">
                <a:lumMod val="75000"/>
                <a:alpha val="8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Freeform 15"/>
            <p:cNvSpPr/>
            <p:nvPr/>
          </p:nvSpPr>
          <p:spPr>
            <a:xfrm>
              <a:off x="8068764"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09599" y="609600"/>
            <a:ext cx="6347713"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09599" y="2160590"/>
            <a:ext cx="6347714"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405258" y="6041363"/>
            <a:ext cx="684132"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5098F5B7-6243-4AD9-9286-27783F49CDC5}" type="datetime1">
              <a:rPr lang="en-US" smtClean="0"/>
              <a:t>1/19/2024</a:t>
            </a:fld>
            <a:endParaRPr lang="en-US"/>
          </a:p>
        </p:txBody>
      </p:sp>
      <p:sp>
        <p:nvSpPr>
          <p:cNvPr id="5" name="Footer Placeholder 4"/>
          <p:cNvSpPr>
            <a:spLocks noGrp="1"/>
          </p:cNvSpPr>
          <p:nvPr>
            <p:ph type="ftr" sz="quarter" idx="3"/>
          </p:nvPr>
        </p:nvSpPr>
        <p:spPr>
          <a:xfrm>
            <a:off x="609599" y="6041363"/>
            <a:ext cx="4622973"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44676" y="6041363"/>
            <a:ext cx="512638" cy="365125"/>
          </a:xfrm>
          <a:prstGeom prst="rect">
            <a:avLst/>
          </a:prstGeom>
        </p:spPr>
        <p:txBody>
          <a:bodyPr vert="horz" lIns="91440" tIns="45720" rIns="91440" bIns="45720" rtlCol="0" anchor="ctr"/>
          <a:lstStyle>
            <a:lvl1pPr algn="r">
              <a:defRPr sz="900">
                <a:solidFill>
                  <a:schemeClr val="accent1"/>
                </a:solidFill>
              </a:defRPr>
            </a:lvl1pPr>
          </a:lstStyle>
          <a:p>
            <a:fld id="{E0512086-A52C-44F0-970D-28E8CB23C1FA}" type="slidenum">
              <a:rPr lang="en-US" smtClean="0"/>
              <a:pPr/>
              <a:t>‹#›</a:t>
            </a:fld>
            <a:endParaRPr lang="en-US"/>
          </a:p>
        </p:txBody>
      </p:sp>
    </p:spTree>
    <p:extLst>
      <p:ext uri="{BB962C8B-B14F-4D97-AF65-F5344CB8AC3E}">
        <p14:creationId xmlns:p14="http://schemas.microsoft.com/office/powerpoint/2010/main" val="2486377340"/>
      </p:ext>
    </p:extLst>
  </p:cSld>
  <p:clrMap bg1="lt1" tx1="dk1" bg2="lt2" tx2="dk2" accent1="accent1" accent2="accent2" accent3="accent3" accent4="accent4" accent5="accent5" accent6="accent6" hlink="hlink" folHlink="folHlink"/>
  <p:sldLayoutIdLst>
    <p:sldLayoutId id="2147483741" r:id="rId1"/>
    <p:sldLayoutId id="2147483742" r:id="rId2"/>
    <p:sldLayoutId id="2147483743" r:id="rId3"/>
    <p:sldLayoutId id="2147483744" r:id="rId4"/>
    <p:sldLayoutId id="2147483745" r:id="rId5"/>
    <p:sldLayoutId id="2147483746" r:id="rId6"/>
    <p:sldLayoutId id="2147483747" r:id="rId7"/>
    <p:sldLayoutId id="2147483748" r:id="rId8"/>
    <p:sldLayoutId id="2147483749" r:id="rId9"/>
    <p:sldLayoutId id="2147483750" r:id="rId10"/>
    <p:sldLayoutId id="2147483751" r:id="rId11"/>
    <p:sldLayoutId id="2147483752" r:id="rId12"/>
    <p:sldLayoutId id="2147483753" r:id="rId13"/>
    <p:sldLayoutId id="2147483754" r:id="rId14"/>
    <p:sldLayoutId id="2147483755" r:id="rId15"/>
    <p:sldLayoutId id="2147483756" r:id="rId16"/>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 /><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 /><Relationship Id="rId1" Type="http://schemas.openxmlformats.org/officeDocument/2006/relationships/slideLayout" Target="../slideLayouts/slideLayout4.xml" /></Relationships>
</file>

<file path=ppt/slides/_rels/slide9.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Layout" Target="../slideLayouts/slideLayout2.xml" /></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 /></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3.xml" /><Relationship Id="rId1" Type="http://schemas.openxmlformats.org/officeDocument/2006/relationships/slideLayout" Target="../slideLayouts/slideLayout2.xml" /></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Layout" Target="../slideLayouts/slideLayout2.xml" /></Relationships>
</file>

<file path=ppt/slides/_rels/slide17.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Layout" Target="../slideLayouts/slideLayout2.xml" /></Relationships>
</file>

<file path=ppt/slides/_rels/slide18.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Layout" Target="../slideLayouts/slideLayout7.xml" /></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2.xml.rels><?xml version="1.0" encoding="UTF-8" standalone="yes"?>
<Relationships xmlns="http://schemas.openxmlformats.org/package/2006/relationships"><Relationship Id="rId2" Type="http://schemas.openxmlformats.org/officeDocument/2006/relationships/image" Target="../media/image5.jpeg" /><Relationship Id="rId1" Type="http://schemas.openxmlformats.org/officeDocument/2006/relationships/slideLayout" Target="../slideLayouts/slideLayout2.xml" /></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0.xml.rels><?xml version="1.0" encoding="UTF-8" standalone="yes"?>
<Relationships xmlns="http://schemas.openxmlformats.org/package/2006/relationships"><Relationship Id="rId2" Type="http://schemas.openxmlformats.org/officeDocument/2006/relationships/hyperlink" Target="https://iedunote.com/values" TargetMode="External" /><Relationship Id="rId1" Type="http://schemas.openxmlformats.org/officeDocument/2006/relationships/slideLayout" Target="../slideLayouts/slideLayout2.xml" /></Relationships>
</file>

<file path=ppt/slides/_rels/slide31.xml.rels><?xml version="1.0" encoding="UTF-8" standalone="yes"?>
<Relationships xmlns="http://schemas.openxmlformats.org/package/2006/relationships"><Relationship Id="rId2" Type="http://schemas.openxmlformats.org/officeDocument/2006/relationships/image" Target="../media/image6.jpeg" /><Relationship Id="rId1" Type="http://schemas.openxmlformats.org/officeDocument/2006/relationships/slideLayout" Target="../slideLayouts/slideLayout7.xml" /></Relationships>
</file>

<file path=ppt/slides/_rels/slide32.xml.rels><?xml version="1.0" encoding="UTF-8" standalone="yes"?>
<Relationships xmlns="http://schemas.openxmlformats.org/package/2006/relationships"><Relationship Id="rId2" Type="http://schemas.openxmlformats.org/officeDocument/2006/relationships/image" Target="../media/image7.png" /><Relationship Id="rId1" Type="http://schemas.openxmlformats.org/officeDocument/2006/relationships/slideLayout" Target="../slideLayouts/slideLayout1.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568AB7-5D6E-152F-C6C3-61C0613E33A2}"/>
              </a:ext>
            </a:extLst>
          </p:cNvPr>
          <p:cNvSpPr>
            <a:spLocks noGrp="1"/>
          </p:cNvSpPr>
          <p:nvPr>
            <p:ph type="title"/>
          </p:nvPr>
        </p:nvSpPr>
        <p:spPr>
          <a:xfrm>
            <a:off x="609599" y="609600"/>
            <a:ext cx="7467602" cy="2667000"/>
          </a:xfrm>
        </p:spPr>
        <p:txBody>
          <a:bodyPr/>
          <a:lstStyle/>
          <a:p>
            <a:endParaRPr lang="en-US" dirty="0"/>
          </a:p>
        </p:txBody>
      </p:sp>
      <p:sp>
        <p:nvSpPr>
          <p:cNvPr id="3" name="Content Placeholder 2">
            <a:extLst>
              <a:ext uri="{FF2B5EF4-FFF2-40B4-BE49-F238E27FC236}">
                <a16:creationId xmlns:a16="http://schemas.microsoft.com/office/drawing/2014/main" id="{1972E483-7C33-4308-00DE-3B5D270BC3D9}"/>
              </a:ext>
            </a:extLst>
          </p:cNvPr>
          <p:cNvSpPr>
            <a:spLocks noGrp="1"/>
          </p:cNvSpPr>
          <p:nvPr>
            <p:ph idx="1"/>
          </p:nvPr>
        </p:nvSpPr>
        <p:spPr>
          <a:xfrm>
            <a:off x="0" y="4191000"/>
            <a:ext cx="8077201" cy="1850363"/>
          </a:xfrm>
        </p:spPr>
        <p:txBody>
          <a:bodyPr/>
          <a:lstStyle/>
          <a:p>
            <a:pPr algn="ctr"/>
            <a:r>
              <a:rPr lang="en-US" sz="3200" b="1" dirty="0"/>
              <a:t>Faculty of Engineering, </a:t>
            </a:r>
          </a:p>
          <a:p>
            <a:pPr algn="ctr"/>
            <a:r>
              <a:rPr lang="en-US" sz="3200" b="1" dirty="0"/>
              <a:t>General Sir John Kotelawala </a:t>
            </a:r>
            <a:r>
              <a:rPr lang="en-US" sz="3200" b="1" dirty="0" err="1"/>
              <a:t>Defence</a:t>
            </a:r>
            <a:r>
              <a:rPr lang="en-US" sz="3200" b="1" dirty="0"/>
              <a:t> University 2024</a:t>
            </a:r>
          </a:p>
          <a:p>
            <a:pPr algn="ctr"/>
            <a:endParaRPr lang="en-US" sz="3200" b="1" dirty="0"/>
          </a:p>
          <a:p>
            <a:pPr algn="ctr"/>
            <a:endParaRPr lang="en-US" sz="3200" b="1" dirty="0"/>
          </a:p>
          <a:p>
            <a:pPr algn="ctr"/>
            <a:endParaRPr lang="en-US" sz="1200" b="1" dirty="0"/>
          </a:p>
          <a:p>
            <a:endParaRPr lang="en-US" dirty="0"/>
          </a:p>
        </p:txBody>
      </p:sp>
      <p:sp>
        <p:nvSpPr>
          <p:cNvPr id="4" name="Slide Number Placeholder 3">
            <a:extLst>
              <a:ext uri="{FF2B5EF4-FFF2-40B4-BE49-F238E27FC236}">
                <a16:creationId xmlns:a16="http://schemas.microsoft.com/office/drawing/2014/main" id="{A4EB333A-A5DD-E88F-F671-2A85E8CBC2DB}"/>
              </a:ext>
            </a:extLst>
          </p:cNvPr>
          <p:cNvSpPr>
            <a:spLocks noGrp="1"/>
          </p:cNvSpPr>
          <p:nvPr>
            <p:ph type="sldNum" sz="quarter" idx="12"/>
          </p:nvPr>
        </p:nvSpPr>
        <p:spPr/>
        <p:txBody>
          <a:bodyPr/>
          <a:lstStyle/>
          <a:p>
            <a:fld id="{E0512086-A52C-44F0-970D-28E8CB23C1FA}" type="slidenum">
              <a:rPr lang="en-US" smtClean="0"/>
              <a:pPr/>
              <a:t>1</a:t>
            </a:fld>
            <a:endParaRPr lang="en-US" dirty="0"/>
          </a:p>
        </p:txBody>
      </p:sp>
      <p:sp>
        <p:nvSpPr>
          <p:cNvPr id="6" name="TextBox 5">
            <a:extLst>
              <a:ext uri="{FF2B5EF4-FFF2-40B4-BE49-F238E27FC236}">
                <a16:creationId xmlns:a16="http://schemas.microsoft.com/office/drawing/2014/main" id="{A367B639-48E2-7AE6-A8EC-08E525352E03}"/>
              </a:ext>
            </a:extLst>
          </p:cNvPr>
          <p:cNvSpPr txBox="1"/>
          <p:nvPr/>
        </p:nvSpPr>
        <p:spPr>
          <a:xfrm>
            <a:off x="381000" y="851609"/>
            <a:ext cx="7696201" cy="1938992"/>
          </a:xfrm>
          <a:prstGeom prst="rect">
            <a:avLst/>
          </a:prstGeom>
          <a:noFill/>
        </p:spPr>
        <p:txBody>
          <a:bodyPr wrap="square">
            <a:spAutoFit/>
          </a:bodyPr>
          <a:lstStyle/>
          <a:p>
            <a:r>
              <a:rPr lang="en-US" sz="4000" b="1" dirty="0">
                <a:solidFill>
                  <a:schemeClr val="accent1">
                    <a:lumMod val="50000"/>
                  </a:schemeClr>
                </a:solidFill>
              </a:rPr>
              <a:t>PROFESSIONAL ETHICS CE 3142 </a:t>
            </a:r>
          </a:p>
          <a:p>
            <a:endParaRPr lang="en-US" sz="4000" b="1" dirty="0">
              <a:solidFill>
                <a:schemeClr val="accent1">
                  <a:lumMod val="50000"/>
                </a:schemeClr>
              </a:solidFill>
            </a:endParaRPr>
          </a:p>
          <a:p>
            <a:pPr algn="ctr"/>
            <a:r>
              <a:rPr lang="en-US" sz="4000" b="1" dirty="0">
                <a:solidFill>
                  <a:schemeClr val="accent1">
                    <a:lumMod val="50000"/>
                  </a:schemeClr>
                </a:solidFill>
              </a:rPr>
              <a:t>COURSE MODULE</a:t>
            </a:r>
            <a:endParaRPr lang="en-US" sz="4000" dirty="0"/>
          </a:p>
        </p:txBody>
      </p:sp>
    </p:spTree>
    <p:extLst>
      <p:ext uri="{BB962C8B-B14F-4D97-AF65-F5344CB8AC3E}">
        <p14:creationId xmlns:p14="http://schemas.microsoft.com/office/powerpoint/2010/main" val="33364307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DC1759-831F-E4B4-F7F3-B76556C5007E}"/>
              </a:ext>
            </a:extLst>
          </p:cNvPr>
          <p:cNvSpPr>
            <a:spLocks noGrp="1"/>
          </p:cNvSpPr>
          <p:nvPr>
            <p:ph type="title"/>
          </p:nvPr>
        </p:nvSpPr>
        <p:spPr>
          <a:xfrm>
            <a:off x="609599" y="357334"/>
            <a:ext cx="6347713" cy="709466"/>
          </a:xfrm>
        </p:spPr>
        <p:txBody>
          <a:bodyPr>
            <a:normAutofit/>
          </a:bodyPr>
          <a:lstStyle/>
          <a:p>
            <a:pPr algn="ctr"/>
            <a:r>
              <a:rPr lang="en-US" sz="4000" dirty="0">
                <a:solidFill>
                  <a:schemeClr val="accent2">
                    <a:lumMod val="75000"/>
                  </a:schemeClr>
                </a:solidFill>
              </a:rPr>
              <a:t>MODULE CONTENT</a:t>
            </a:r>
          </a:p>
        </p:txBody>
      </p:sp>
      <p:sp>
        <p:nvSpPr>
          <p:cNvPr id="3" name="Content Placeholder 2">
            <a:extLst>
              <a:ext uri="{FF2B5EF4-FFF2-40B4-BE49-F238E27FC236}">
                <a16:creationId xmlns:a16="http://schemas.microsoft.com/office/drawing/2014/main" id="{D74B7A62-E408-076E-7A04-A981454C541B}"/>
              </a:ext>
            </a:extLst>
          </p:cNvPr>
          <p:cNvSpPr>
            <a:spLocks noGrp="1"/>
          </p:cNvSpPr>
          <p:nvPr>
            <p:ph idx="1"/>
          </p:nvPr>
        </p:nvSpPr>
        <p:spPr>
          <a:xfrm>
            <a:off x="609598" y="1143000"/>
            <a:ext cx="8001002" cy="5638800"/>
          </a:xfrm>
        </p:spPr>
        <p:txBody>
          <a:bodyPr/>
          <a:lstStyle/>
          <a:p>
            <a:r>
              <a:rPr lang="en-US" dirty="0"/>
              <a:t>1.	</a:t>
            </a:r>
            <a:r>
              <a:rPr lang="en-US" sz="1800" b="1" dirty="0">
                <a:solidFill>
                  <a:schemeClr val="accent2">
                    <a:lumMod val="75000"/>
                  </a:schemeClr>
                </a:solidFill>
              </a:rPr>
              <a:t> FUNDERMENTAL CONCEPTS</a:t>
            </a:r>
          </a:p>
          <a:p>
            <a:r>
              <a:rPr lang="en-US" b="1" dirty="0">
                <a:solidFill>
                  <a:schemeClr val="accent2">
                    <a:lumMod val="75000"/>
                  </a:schemeClr>
                </a:solidFill>
              </a:rPr>
              <a:t>2.	</a:t>
            </a:r>
            <a:r>
              <a:rPr lang="en-US" sz="1800" b="1" dirty="0">
                <a:solidFill>
                  <a:srgbClr val="0000FF"/>
                </a:solidFill>
              </a:rPr>
              <a:t> INTRODUCTION TO PROFESSIONAL ETHICS AND ITS IMPORTANCE</a:t>
            </a:r>
          </a:p>
          <a:p>
            <a:r>
              <a:rPr lang="en-US" b="1" dirty="0">
                <a:solidFill>
                  <a:schemeClr val="accent1">
                    <a:lumMod val="50000"/>
                  </a:schemeClr>
                </a:solidFill>
              </a:rPr>
              <a:t>3.	</a:t>
            </a:r>
            <a:r>
              <a:rPr lang="en-US" sz="1800" b="1" dirty="0">
                <a:cs typeface="Calibri" panose="020F0502020204030204" pitchFamily="34" charset="0"/>
              </a:rPr>
              <a:t> THE PROFESSIONAL</a:t>
            </a:r>
            <a:endParaRPr lang="en-US" b="1" dirty="0">
              <a:solidFill>
                <a:schemeClr val="accent1">
                  <a:lumMod val="50000"/>
                </a:schemeClr>
              </a:solidFill>
              <a:cs typeface="Calibri" panose="020F0502020204030204" pitchFamily="34" charset="0"/>
            </a:endParaRPr>
          </a:p>
          <a:p>
            <a:r>
              <a:rPr lang="en-US" b="1" dirty="0">
                <a:solidFill>
                  <a:schemeClr val="accent1">
                    <a:lumMod val="50000"/>
                  </a:schemeClr>
                </a:solidFill>
                <a:cs typeface="Calibri" panose="020F0502020204030204" pitchFamily="34" charset="0"/>
              </a:rPr>
              <a:t>4.	</a:t>
            </a:r>
            <a:r>
              <a:rPr lang="en-US" sz="1800" b="1" dirty="0">
                <a:solidFill>
                  <a:schemeClr val="tx2">
                    <a:lumMod val="75000"/>
                  </a:schemeClr>
                </a:solidFill>
              </a:rPr>
              <a:t> </a:t>
            </a:r>
            <a:r>
              <a:rPr lang="en-US" sz="1800" b="1" dirty="0">
                <a:solidFill>
                  <a:schemeClr val="accent2">
                    <a:lumMod val="75000"/>
                  </a:schemeClr>
                </a:solidFill>
              </a:rPr>
              <a:t>INSTITUTION OF ENGINEERS, SRI LANKA CODE OF ETHICS</a:t>
            </a:r>
          </a:p>
          <a:p>
            <a:r>
              <a:rPr lang="en-US" b="1" dirty="0">
                <a:solidFill>
                  <a:schemeClr val="tx2">
                    <a:lumMod val="75000"/>
                  </a:schemeClr>
                </a:solidFill>
              </a:rPr>
              <a:t>5.	</a:t>
            </a:r>
            <a:r>
              <a:rPr lang="en-US" b="1" dirty="0">
                <a:solidFill>
                  <a:srgbClr val="0000FF"/>
                </a:solidFill>
              </a:rPr>
              <a:t>CASE STUDIES – A</a:t>
            </a:r>
          </a:p>
          <a:p>
            <a:r>
              <a:rPr lang="en-US" b="1" dirty="0">
                <a:solidFill>
                  <a:schemeClr val="tx2">
                    <a:lumMod val="75000"/>
                  </a:schemeClr>
                </a:solidFill>
              </a:rPr>
              <a:t>6.	</a:t>
            </a:r>
            <a:r>
              <a:rPr lang="en-US" b="1" dirty="0">
                <a:solidFill>
                  <a:schemeClr val="accent2">
                    <a:lumMod val="75000"/>
                  </a:schemeClr>
                </a:solidFill>
              </a:rPr>
              <a:t> </a:t>
            </a:r>
            <a:r>
              <a:rPr lang="en-US" b="1" dirty="0">
                <a:solidFill>
                  <a:schemeClr val="tx1"/>
                </a:solidFill>
              </a:rPr>
              <a:t>SOCIAL RESPONSIBILITY OF THE PROFESSION / ORGANIZATION</a:t>
            </a:r>
          </a:p>
          <a:p>
            <a:r>
              <a:rPr lang="en-US" b="1" dirty="0">
                <a:solidFill>
                  <a:schemeClr val="accent2">
                    <a:lumMod val="75000"/>
                  </a:schemeClr>
                </a:solidFill>
              </a:rPr>
              <a:t>7.	</a:t>
            </a:r>
            <a:r>
              <a:rPr lang="en-US" b="1" dirty="0">
                <a:cs typeface="Calibri" panose="020F0502020204030204" pitchFamily="34" charset="0"/>
              </a:rPr>
              <a:t> </a:t>
            </a:r>
            <a:r>
              <a:rPr lang="en-US" b="1" dirty="0">
                <a:solidFill>
                  <a:schemeClr val="accent2">
                    <a:lumMod val="75000"/>
                  </a:schemeClr>
                </a:solidFill>
                <a:cs typeface="Calibri" panose="020F0502020204030204" pitchFamily="34" charset="0"/>
              </a:rPr>
              <a:t>RESPONSIBILITIES OF THE PROFESSIONAL</a:t>
            </a:r>
          </a:p>
          <a:p>
            <a:r>
              <a:rPr lang="en-US" b="1" dirty="0">
                <a:solidFill>
                  <a:schemeClr val="accent2">
                    <a:lumMod val="75000"/>
                  </a:schemeClr>
                </a:solidFill>
                <a:cs typeface="Calibri" panose="020F0502020204030204" pitchFamily="34" charset="0"/>
              </a:rPr>
              <a:t>8.</a:t>
            </a:r>
            <a:r>
              <a:rPr lang="en-US" b="1" dirty="0">
                <a:solidFill>
                  <a:srgbClr val="0000FF"/>
                </a:solidFill>
                <a:cs typeface="Calibri" panose="020F0502020204030204" pitchFamily="34" charset="0"/>
              </a:rPr>
              <a:t>	</a:t>
            </a:r>
            <a:r>
              <a:rPr lang="en-US" b="1" dirty="0">
                <a:solidFill>
                  <a:srgbClr val="0000FF"/>
                </a:solidFill>
                <a:cs typeface="Arial" panose="020B0604020202020204" pitchFamily="34" charset="0"/>
              </a:rPr>
              <a:t> ETHICAL WORKPLACE RESPONSIBILITIES </a:t>
            </a:r>
          </a:p>
          <a:p>
            <a:r>
              <a:rPr lang="en-US" b="1" dirty="0">
                <a:cs typeface="Arial" panose="020B0604020202020204" pitchFamily="34" charset="0"/>
              </a:rPr>
              <a:t>9.	</a:t>
            </a:r>
            <a:r>
              <a:rPr lang="en-US" dirty="0">
                <a:solidFill>
                  <a:schemeClr val="tx1"/>
                </a:solidFill>
              </a:rPr>
              <a:t> ENGINEERS AND THE ENVIRONMENT</a:t>
            </a:r>
            <a:endParaRPr lang="en-US" b="1" dirty="0">
              <a:solidFill>
                <a:schemeClr val="tx1"/>
              </a:solidFill>
              <a:cs typeface="Arial" panose="020B0604020202020204" pitchFamily="34" charset="0"/>
            </a:endParaRPr>
          </a:p>
          <a:p>
            <a:r>
              <a:rPr lang="en-US" b="1" dirty="0">
                <a:cs typeface="Arial" panose="020B0604020202020204" pitchFamily="34" charset="0"/>
              </a:rPr>
              <a:t>10.	</a:t>
            </a:r>
            <a:r>
              <a:rPr lang="en-US" b="1" dirty="0">
                <a:solidFill>
                  <a:schemeClr val="accent2">
                    <a:lumMod val="75000"/>
                  </a:schemeClr>
                </a:solidFill>
                <a:cs typeface="Arial" panose="020B0604020202020204" pitchFamily="34" charset="0"/>
              </a:rPr>
              <a:t>CASE STUDIES - B</a:t>
            </a:r>
            <a:endParaRPr lang="en-US" dirty="0">
              <a:solidFill>
                <a:schemeClr val="accent2">
                  <a:lumMod val="75000"/>
                </a:schemeClr>
              </a:solidFill>
            </a:endParaRPr>
          </a:p>
        </p:txBody>
      </p:sp>
      <p:sp>
        <p:nvSpPr>
          <p:cNvPr id="4" name="Slide Number Placeholder 3">
            <a:extLst>
              <a:ext uri="{FF2B5EF4-FFF2-40B4-BE49-F238E27FC236}">
                <a16:creationId xmlns:a16="http://schemas.microsoft.com/office/drawing/2014/main" id="{1C3A582E-DC02-75DC-DBEF-ED8F276C6F35}"/>
              </a:ext>
            </a:extLst>
          </p:cNvPr>
          <p:cNvSpPr>
            <a:spLocks noGrp="1"/>
          </p:cNvSpPr>
          <p:nvPr>
            <p:ph type="sldNum" sz="quarter" idx="12"/>
          </p:nvPr>
        </p:nvSpPr>
        <p:spPr/>
        <p:txBody>
          <a:bodyPr/>
          <a:lstStyle/>
          <a:p>
            <a:fld id="{E0512086-A52C-44F0-970D-28E8CB23C1FA}" type="slidenum">
              <a:rPr lang="en-US" smtClean="0"/>
              <a:pPr/>
              <a:t>2</a:t>
            </a:fld>
            <a:endParaRPr lang="en-US" dirty="0"/>
          </a:p>
        </p:txBody>
      </p:sp>
    </p:spTree>
    <p:extLst>
      <p:ext uri="{BB962C8B-B14F-4D97-AF65-F5344CB8AC3E}">
        <p14:creationId xmlns:p14="http://schemas.microsoft.com/office/powerpoint/2010/main" val="1906152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828E44-2F84-B6D7-B2F9-10BAC3E295E1}"/>
              </a:ext>
            </a:extLst>
          </p:cNvPr>
          <p:cNvSpPr>
            <a:spLocks noGrp="1"/>
          </p:cNvSpPr>
          <p:nvPr>
            <p:ph type="title"/>
          </p:nvPr>
        </p:nvSpPr>
        <p:spPr>
          <a:xfrm>
            <a:off x="609599" y="609600"/>
            <a:ext cx="6347713" cy="762000"/>
          </a:xfrm>
        </p:spPr>
        <p:txBody>
          <a:bodyPr/>
          <a:lstStyle/>
          <a:p>
            <a:r>
              <a:rPr lang="en-US" sz="3600" dirty="0">
                <a:solidFill>
                  <a:schemeClr val="accent2">
                    <a:lumMod val="75000"/>
                  </a:schemeClr>
                </a:solidFill>
              </a:rPr>
              <a:t>MODULE CONTENT</a:t>
            </a:r>
            <a:endParaRPr lang="en-US" dirty="0"/>
          </a:p>
        </p:txBody>
      </p:sp>
      <p:sp>
        <p:nvSpPr>
          <p:cNvPr id="3" name="Content Placeholder 2">
            <a:extLst>
              <a:ext uri="{FF2B5EF4-FFF2-40B4-BE49-F238E27FC236}">
                <a16:creationId xmlns:a16="http://schemas.microsoft.com/office/drawing/2014/main" id="{57DC22B3-C8AD-5D78-BE94-449A36DFF2FF}"/>
              </a:ext>
            </a:extLst>
          </p:cNvPr>
          <p:cNvSpPr>
            <a:spLocks noGrp="1"/>
          </p:cNvSpPr>
          <p:nvPr>
            <p:ph idx="1"/>
          </p:nvPr>
        </p:nvSpPr>
        <p:spPr>
          <a:xfrm>
            <a:off x="609599" y="1488613"/>
            <a:ext cx="6347714" cy="3880773"/>
          </a:xfrm>
        </p:spPr>
        <p:txBody>
          <a:bodyPr/>
          <a:lstStyle/>
          <a:p>
            <a:r>
              <a:rPr lang="en-US" dirty="0">
                <a:solidFill>
                  <a:schemeClr val="accent2">
                    <a:lumMod val="75000"/>
                  </a:schemeClr>
                </a:solidFill>
              </a:rPr>
              <a:t>11.	</a:t>
            </a:r>
            <a:r>
              <a:rPr lang="en-US" sz="1800" b="1" dirty="0">
                <a:solidFill>
                  <a:schemeClr val="accent2">
                    <a:lumMod val="75000"/>
                  </a:schemeClr>
                </a:solidFill>
              </a:rPr>
              <a:t> ENGINEERS COMMITMENT TO SAFETY</a:t>
            </a:r>
          </a:p>
          <a:p>
            <a:r>
              <a:rPr lang="en-US" b="1" dirty="0">
                <a:solidFill>
                  <a:srgbClr val="0000FF"/>
                </a:solidFill>
              </a:rPr>
              <a:t>12.	</a:t>
            </a:r>
            <a:r>
              <a:rPr lang="en-US" sz="1800" b="1" dirty="0">
                <a:solidFill>
                  <a:srgbClr val="0000FF"/>
                </a:solidFill>
              </a:rPr>
              <a:t> COMPUTER ETHICS</a:t>
            </a:r>
            <a:endParaRPr lang="en-US" b="1" dirty="0">
              <a:solidFill>
                <a:srgbClr val="0000FF"/>
              </a:solidFill>
            </a:endParaRPr>
          </a:p>
          <a:p>
            <a:r>
              <a:rPr lang="en-US" b="1" dirty="0"/>
              <a:t>13.	 EMERGING ETHICAL ISSUES IN THE FIELD OF 			 ENGINEERING</a:t>
            </a:r>
          </a:p>
          <a:p>
            <a:r>
              <a:rPr lang="en-US" b="1" dirty="0">
                <a:solidFill>
                  <a:schemeClr val="accent2">
                    <a:lumMod val="75000"/>
                  </a:schemeClr>
                </a:solidFill>
              </a:rPr>
              <a:t>14.	</a:t>
            </a:r>
            <a:r>
              <a:rPr lang="en-US" sz="1800" b="1" dirty="0">
                <a:solidFill>
                  <a:schemeClr val="accent2">
                    <a:lumMod val="75000"/>
                  </a:schemeClr>
                </a:solidFill>
              </a:rPr>
              <a:t> CODE OF ETHICS OF OTHER  PROFESSIONAL 		  </a:t>
            </a:r>
            <a:r>
              <a:rPr lang="en-US" b="1" dirty="0">
                <a:solidFill>
                  <a:schemeClr val="accent2">
                    <a:lumMod val="75000"/>
                  </a:schemeClr>
                </a:solidFill>
              </a:rPr>
              <a:t>	 </a:t>
            </a:r>
            <a:r>
              <a:rPr lang="en-US" sz="1800" b="1" dirty="0">
                <a:solidFill>
                  <a:schemeClr val="accent2">
                    <a:lumMod val="75000"/>
                  </a:schemeClr>
                </a:solidFill>
              </a:rPr>
              <a:t>NSTITUTIONS</a:t>
            </a:r>
          </a:p>
          <a:p>
            <a:r>
              <a:rPr lang="en-US" b="1" dirty="0">
                <a:solidFill>
                  <a:srgbClr val="0000FF"/>
                </a:solidFill>
              </a:rPr>
              <a:t>15.	CASE STUDIES - C</a:t>
            </a:r>
            <a:endParaRPr lang="en-US" dirty="0">
              <a:solidFill>
                <a:srgbClr val="0000FF"/>
              </a:solidFill>
            </a:endParaRPr>
          </a:p>
        </p:txBody>
      </p:sp>
      <p:sp>
        <p:nvSpPr>
          <p:cNvPr id="4" name="Slide Number Placeholder 3">
            <a:extLst>
              <a:ext uri="{FF2B5EF4-FFF2-40B4-BE49-F238E27FC236}">
                <a16:creationId xmlns:a16="http://schemas.microsoft.com/office/drawing/2014/main" id="{BBAA04EF-EB99-247B-20A9-5527DA92A910}"/>
              </a:ext>
            </a:extLst>
          </p:cNvPr>
          <p:cNvSpPr>
            <a:spLocks noGrp="1"/>
          </p:cNvSpPr>
          <p:nvPr>
            <p:ph type="sldNum" sz="quarter" idx="12"/>
          </p:nvPr>
        </p:nvSpPr>
        <p:spPr/>
        <p:txBody>
          <a:bodyPr/>
          <a:lstStyle/>
          <a:p>
            <a:fld id="{E0512086-A52C-44F0-970D-28E8CB23C1FA}" type="slidenum">
              <a:rPr lang="en-US" smtClean="0"/>
              <a:pPr/>
              <a:t>3</a:t>
            </a:fld>
            <a:endParaRPr lang="en-US" dirty="0"/>
          </a:p>
        </p:txBody>
      </p:sp>
    </p:spTree>
    <p:extLst>
      <p:ext uri="{BB962C8B-B14F-4D97-AF65-F5344CB8AC3E}">
        <p14:creationId xmlns:p14="http://schemas.microsoft.com/office/powerpoint/2010/main" val="18867353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42900" y="685800"/>
            <a:ext cx="7772400" cy="2819400"/>
          </a:xfrm>
        </p:spPr>
        <p:txBody>
          <a:bodyPr>
            <a:normAutofit/>
          </a:bodyPr>
          <a:lstStyle/>
          <a:p>
            <a:pPr algn="ctr"/>
            <a:r>
              <a:rPr lang="en-US" sz="4000" b="1" dirty="0">
                <a:solidFill>
                  <a:schemeClr val="accent1">
                    <a:lumMod val="50000"/>
                  </a:schemeClr>
                </a:solidFill>
              </a:rPr>
              <a:t>PROFESSIONAL ETHICS CE 3142</a:t>
            </a:r>
            <a:br>
              <a:rPr lang="en-US" sz="4000" b="1" dirty="0">
                <a:solidFill>
                  <a:schemeClr val="accent1">
                    <a:lumMod val="50000"/>
                  </a:schemeClr>
                </a:solidFill>
              </a:rPr>
            </a:br>
            <a:r>
              <a:rPr lang="en-US" sz="2700" b="1" dirty="0">
                <a:solidFill>
                  <a:schemeClr val="accent2">
                    <a:lumMod val="75000"/>
                  </a:schemeClr>
                </a:solidFill>
              </a:rPr>
              <a:t> </a:t>
            </a:r>
            <a:br>
              <a:rPr lang="en-US" sz="2700" b="1" dirty="0">
                <a:solidFill>
                  <a:schemeClr val="accent2">
                    <a:lumMod val="75000"/>
                  </a:schemeClr>
                </a:solidFill>
              </a:rPr>
            </a:br>
            <a:r>
              <a:rPr lang="en-US" sz="2700" b="1" dirty="0">
                <a:solidFill>
                  <a:schemeClr val="accent2">
                    <a:lumMod val="75000"/>
                  </a:schemeClr>
                </a:solidFill>
              </a:rPr>
              <a:t>FUNDERMENTAL CONCEPTS</a:t>
            </a:r>
          </a:p>
        </p:txBody>
      </p:sp>
      <p:sp>
        <p:nvSpPr>
          <p:cNvPr id="3" name="Subtitle 2"/>
          <p:cNvSpPr>
            <a:spLocks noGrp="1"/>
          </p:cNvSpPr>
          <p:nvPr>
            <p:ph type="subTitle" idx="1"/>
          </p:nvPr>
        </p:nvSpPr>
        <p:spPr>
          <a:xfrm>
            <a:off x="0" y="4419600"/>
            <a:ext cx="8458200" cy="1905000"/>
          </a:xfrm>
        </p:spPr>
        <p:txBody>
          <a:bodyPr>
            <a:normAutofit fontScale="77500" lnSpcReduction="20000"/>
          </a:bodyPr>
          <a:lstStyle/>
          <a:p>
            <a:pPr algn="ctr"/>
            <a:r>
              <a:rPr lang="en-US" sz="3800" b="1" dirty="0"/>
              <a:t>Faculty of Engineering, </a:t>
            </a:r>
          </a:p>
          <a:p>
            <a:pPr algn="ctr"/>
            <a:r>
              <a:rPr lang="en-US" sz="3800" b="1" dirty="0"/>
              <a:t>General Sir John Kotelawala </a:t>
            </a:r>
            <a:r>
              <a:rPr lang="en-US" sz="3800" b="1" dirty="0" err="1"/>
              <a:t>Defence</a:t>
            </a:r>
            <a:r>
              <a:rPr lang="en-US" sz="3800" b="1" dirty="0"/>
              <a:t> University </a:t>
            </a:r>
          </a:p>
          <a:p>
            <a:pPr algn="ctr"/>
            <a:endParaRPr lang="en-US" sz="2800" b="1" dirty="0"/>
          </a:p>
          <a:p>
            <a:pPr algn="ctr"/>
            <a:r>
              <a:rPr lang="en-US" sz="2800" b="1" dirty="0"/>
              <a:t>12</a:t>
            </a:r>
            <a:r>
              <a:rPr lang="en-US" sz="2800" b="1" baseline="30000" dirty="0"/>
              <a:t>th</a:t>
            </a:r>
            <a:r>
              <a:rPr lang="en-US" sz="2800" b="1" dirty="0"/>
              <a:t> January 2024</a:t>
            </a:r>
          </a:p>
          <a:p>
            <a:pPr algn="ctr"/>
            <a:endParaRPr lang="en-US" dirty="0"/>
          </a:p>
        </p:txBody>
      </p:sp>
      <p:sp>
        <p:nvSpPr>
          <p:cNvPr id="4" name="Slide Number Placeholder 3">
            <a:extLst>
              <a:ext uri="{FF2B5EF4-FFF2-40B4-BE49-F238E27FC236}">
                <a16:creationId xmlns:a16="http://schemas.microsoft.com/office/drawing/2014/main" id="{502168CC-0A8A-BC4A-8CB5-82394DD4B044}"/>
              </a:ext>
            </a:extLst>
          </p:cNvPr>
          <p:cNvSpPr>
            <a:spLocks noGrp="1"/>
          </p:cNvSpPr>
          <p:nvPr>
            <p:ph type="sldNum" sz="quarter" idx="12"/>
          </p:nvPr>
        </p:nvSpPr>
        <p:spPr/>
        <p:txBody>
          <a:bodyPr/>
          <a:lstStyle/>
          <a:p>
            <a:fld id="{E0512086-A52C-44F0-970D-28E8CB23C1FA}" type="slidenum">
              <a:rPr lang="en-US" smtClean="0"/>
              <a:pPr/>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228600"/>
            <a:ext cx="6347713" cy="609600"/>
          </a:xfrm>
        </p:spPr>
        <p:txBody>
          <a:bodyPr>
            <a:normAutofit fontScale="90000"/>
          </a:bodyPr>
          <a:lstStyle/>
          <a:p>
            <a:r>
              <a:rPr lang="en-US" sz="4400" b="1" dirty="0"/>
              <a:t>TOPICS</a:t>
            </a:r>
          </a:p>
        </p:txBody>
      </p:sp>
      <p:sp>
        <p:nvSpPr>
          <p:cNvPr id="3" name="Content Placeholder 2"/>
          <p:cNvSpPr>
            <a:spLocks noGrp="1"/>
          </p:cNvSpPr>
          <p:nvPr>
            <p:ph idx="1"/>
          </p:nvPr>
        </p:nvSpPr>
        <p:spPr>
          <a:xfrm>
            <a:off x="609598" y="1066800"/>
            <a:ext cx="7010401" cy="4974563"/>
          </a:xfrm>
        </p:spPr>
        <p:txBody>
          <a:bodyPr>
            <a:noAutofit/>
          </a:bodyPr>
          <a:lstStyle/>
          <a:p>
            <a:r>
              <a:rPr lang="en-US" sz="3600" dirty="0"/>
              <a:t>Values</a:t>
            </a:r>
          </a:p>
          <a:p>
            <a:r>
              <a:rPr lang="en-US" sz="3600" dirty="0"/>
              <a:t>Ethics</a:t>
            </a:r>
          </a:p>
          <a:p>
            <a:r>
              <a:rPr lang="en-US" sz="3600" dirty="0"/>
              <a:t>Importance of Ethics</a:t>
            </a:r>
          </a:p>
          <a:p>
            <a:pPr lvl="1"/>
            <a:r>
              <a:rPr lang="en-US" sz="3400" dirty="0">
                <a:solidFill>
                  <a:schemeClr val="accent2">
                    <a:lumMod val="75000"/>
                  </a:schemeClr>
                </a:solidFill>
              </a:rPr>
              <a:t>Organizational ethical decision making – role of ethical culture and leadership</a:t>
            </a:r>
            <a:br>
              <a:rPr lang="en-US" sz="3400" b="1" dirty="0">
                <a:solidFill>
                  <a:schemeClr val="accent2">
                    <a:lumMod val="75000"/>
                  </a:schemeClr>
                </a:solidFill>
              </a:rPr>
            </a:br>
            <a:endParaRPr lang="en-US" sz="3400" dirty="0"/>
          </a:p>
          <a:p>
            <a:endParaRPr lang="en-US" sz="3600" dirty="0"/>
          </a:p>
        </p:txBody>
      </p:sp>
      <p:sp>
        <p:nvSpPr>
          <p:cNvPr id="4" name="Slide Number Placeholder 3">
            <a:extLst>
              <a:ext uri="{FF2B5EF4-FFF2-40B4-BE49-F238E27FC236}">
                <a16:creationId xmlns:a16="http://schemas.microsoft.com/office/drawing/2014/main" id="{01054FEF-1D41-2774-0CF0-0CD2C1D064A9}"/>
              </a:ext>
            </a:extLst>
          </p:cNvPr>
          <p:cNvSpPr>
            <a:spLocks noGrp="1"/>
          </p:cNvSpPr>
          <p:nvPr>
            <p:ph type="sldNum" sz="quarter" idx="12"/>
          </p:nvPr>
        </p:nvSpPr>
        <p:spPr/>
        <p:txBody>
          <a:bodyPr/>
          <a:lstStyle/>
          <a:p>
            <a:fld id="{E0512086-A52C-44F0-970D-28E8CB23C1FA}" type="slidenum">
              <a:rPr lang="en-US" smtClean="0"/>
              <a:pPr/>
              <a:t>5</a:t>
            </a:fld>
            <a:endParaRPr lang="en-US"/>
          </a:p>
        </p:txBody>
      </p:sp>
    </p:spTree>
    <p:extLst>
      <p:ext uri="{BB962C8B-B14F-4D97-AF65-F5344CB8AC3E}">
        <p14:creationId xmlns:p14="http://schemas.microsoft.com/office/powerpoint/2010/main" val="7397843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304800"/>
            <a:ext cx="6347713" cy="609600"/>
          </a:xfrm>
        </p:spPr>
        <p:txBody>
          <a:bodyPr>
            <a:normAutofit fontScale="90000"/>
          </a:bodyPr>
          <a:lstStyle/>
          <a:p>
            <a:r>
              <a:rPr lang="en-US" b="1" dirty="0"/>
              <a:t>Introduction to Values</a:t>
            </a:r>
            <a:endParaRPr lang="en-US" dirty="0"/>
          </a:p>
        </p:txBody>
      </p:sp>
      <p:sp>
        <p:nvSpPr>
          <p:cNvPr id="3" name="Content Placeholder 2"/>
          <p:cNvSpPr>
            <a:spLocks noGrp="1"/>
          </p:cNvSpPr>
          <p:nvPr>
            <p:ph idx="1"/>
          </p:nvPr>
        </p:nvSpPr>
        <p:spPr>
          <a:xfrm>
            <a:off x="381000" y="1143000"/>
            <a:ext cx="7490714" cy="5486400"/>
          </a:xfrm>
        </p:spPr>
        <p:txBody>
          <a:bodyPr>
            <a:normAutofit/>
          </a:bodyPr>
          <a:lstStyle/>
          <a:p>
            <a:r>
              <a:rPr lang="en-US" sz="2000" dirty="0"/>
              <a:t>A Value is a belief, a mission, or a philosophy that is meaningful. Whether we are consciously aware of them or not, every individual has a core set of personal values. Values can range from the commonplace, such as the belief in hard work and punctuality, to the more psychological, such as self-reliance, concern for others, and harmony of purpose. </a:t>
            </a:r>
          </a:p>
          <a:p>
            <a:r>
              <a:rPr lang="en-US" sz="2000" dirty="0"/>
              <a:t>Values are </a:t>
            </a:r>
            <a:r>
              <a:rPr lang="en-US" sz="2000" i="1" dirty="0"/>
              <a:t>psychological</a:t>
            </a:r>
            <a:r>
              <a:rPr lang="en-US" sz="2000" dirty="0"/>
              <a:t> objects.</a:t>
            </a:r>
            <a:r>
              <a:rPr lang="en-US" sz="2000" i="1" dirty="0"/>
              <a:t> </a:t>
            </a:r>
            <a:r>
              <a:rPr lang="en-US" sz="2000" dirty="0"/>
              <a:t>Although we cannot see or touch them, they are every bit as real as any physical object. People may dedicate their entire lives or even give up their lives to pursue their values, as so many loyal patriots have done fighting for values of freedom, equality and human rights during the past two centuries. </a:t>
            </a:r>
          </a:p>
          <a:p>
            <a:r>
              <a:rPr lang="en-US" sz="2000" b="1" i="1" dirty="0"/>
              <a:t>Values</a:t>
            </a:r>
            <a:r>
              <a:rPr lang="en-US" sz="2000" b="1" dirty="0"/>
              <a:t> </a:t>
            </a:r>
            <a:r>
              <a:rPr lang="en-US" sz="2000" dirty="0"/>
              <a:t>are idealized conceptions that are endorsed by the personality.</a:t>
            </a:r>
          </a:p>
          <a:p>
            <a:endParaRPr lang="en-US" sz="2000" dirty="0"/>
          </a:p>
        </p:txBody>
      </p:sp>
      <p:sp>
        <p:nvSpPr>
          <p:cNvPr id="4" name="Slide Number Placeholder 3">
            <a:extLst>
              <a:ext uri="{FF2B5EF4-FFF2-40B4-BE49-F238E27FC236}">
                <a16:creationId xmlns:a16="http://schemas.microsoft.com/office/drawing/2014/main" id="{FA22863C-2000-C511-137E-CA7F7C54A719}"/>
              </a:ext>
            </a:extLst>
          </p:cNvPr>
          <p:cNvSpPr>
            <a:spLocks noGrp="1"/>
          </p:cNvSpPr>
          <p:nvPr>
            <p:ph type="sldNum" sz="quarter" idx="12"/>
          </p:nvPr>
        </p:nvSpPr>
        <p:spPr/>
        <p:txBody>
          <a:bodyPr/>
          <a:lstStyle/>
          <a:p>
            <a:fld id="{E0512086-A52C-44F0-970D-28E8CB23C1FA}" type="slidenum">
              <a:rPr lang="en-US" smtClean="0"/>
              <a:pPr/>
              <a:t>6</a:t>
            </a:fld>
            <a:endParaRPr lang="en-US"/>
          </a:p>
        </p:txBody>
      </p:sp>
    </p:spTree>
    <p:extLst>
      <p:ext uri="{BB962C8B-B14F-4D97-AF65-F5344CB8AC3E}">
        <p14:creationId xmlns:p14="http://schemas.microsoft.com/office/powerpoint/2010/main" val="24247079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4689"/>
            <a:ext cx="6347713" cy="681111"/>
          </a:xfrm>
        </p:spPr>
        <p:txBody>
          <a:bodyPr/>
          <a:lstStyle/>
          <a:p>
            <a:r>
              <a:rPr lang="en-US" dirty="0"/>
              <a:t>VALUE – the definition</a:t>
            </a:r>
          </a:p>
        </p:txBody>
      </p:sp>
      <p:sp>
        <p:nvSpPr>
          <p:cNvPr id="3" name="Content Placeholder 2"/>
          <p:cNvSpPr>
            <a:spLocks noGrp="1"/>
          </p:cNvSpPr>
          <p:nvPr>
            <p:ph idx="1"/>
          </p:nvPr>
        </p:nvSpPr>
        <p:spPr>
          <a:xfrm>
            <a:off x="609598" y="762000"/>
            <a:ext cx="7620001" cy="5867400"/>
          </a:xfrm>
        </p:spPr>
        <p:txBody>
          <a:bodyPr>
            <a:normAutofit fontScale="92500" lnSpcReduction="20000"/>
          </a:bodyPr>
          <a:lstStyle/>
          <a:p>
            <a:pPr>
              <a:buNone/>
            </a:pPr>
            <a:r>
              <a:rPr lang="en-GB" sz="1600" b="1" dirty="0"/>
              <a:t>1. </a:t>
            </a:r>
            <a:r>
              <a:rPr lang="en-GB" dirty="0"/>
              <a:t>relative worth, merit, or importance: </a:t>
            </a:r>
            <a:r>
              <a:rPr lang="en-GB" i="1" dirty="0">
                <a:solidFill>
                  <a:srgbClr val="002060"/>
                </a:solidFill>
              </a:rPr>
              <a:t>the value of an university education. </a:t>
            </a:r>
            <a:endParaRPr lang="en-US" dirty="0">
              <a:solidFill>
                <a:srgbClr val="002060"/>
              </a:solidFill>
            </a:endParaRPr>
          </a:p>
          <a:p>
            <a:pPr>
              <a:buNone/>
            </a:pPr>
            <a:r>
              <a:rPr lang="en-GB" b="1" dirty="0"/>
              <a:t>2. </a:t>
            </a:r>
            <a:r>
              <a:rPr lang="en-GB" dirty="0"/>
              <a:t>monetary or material worth, as in commerce or trade: </a:t>
            </a:r>
            <a:r>
              <a:rPr lang="en-GB" i="1" dirty="0">
                <a:solidFill>
                  <a:srgbClr val="002060"/>
                </a:solidFill>
              </a:rPr>
              <a:t>This piece of land has greatly increased in value. </a:t>
            </a:r>
            <a:endParaRPr lang="en-US" dirty="0">
              <a:solidFill>
                <a:srgbClr val="002060"/>
              </a:solidFill>
            </a:endParaRPr>
          </a:p>
          <a:p>
            <a:pPr>
              <a:buNone/>
            </a:pPr>
            <a:r>
              <a:rPr lang="en-GB" b="1" dirty="0"/>
              <a:t>3. </a:t>
            </a:r>
            <a:r>
              <a:rPr lang="en-GB" dirty="0"/>
              <a:t>the worth of something in terms of the amount of other things for which it can be exchanged or in terms of some medium of exchange. </a:t>
            </a:r>
            <a:endParaRPr lang="en-US" dirty="0"/>
          </a:p>
          <a:p>
            <a:pPr>
              <a:buNone/>
            </a:pPr>
            <a:r>
              <a:rPr lang="en-GB" b="1" dirty="0"/>
              <a:t>4. </a:t>
            </a:r>
            <a:r>
              <a:rPr lang="en-GB" dirty="0"/>
              <a:t>equivalent worth or return in money, material, services, etc.: </a:t>
            </a:r>
            <a:r>
              <a:rPr lang="en-GB" i="1" dirty="0">
                <a:solidFill>
                  <a:srgbClr val="002060"/>
                </a:solidFill>
              </a:rPr>
              <a:t>to give value for value received. </a:t>
            </a:r>
            <a:endParaRPr lang="en-US" dirty="0">
              <a:solidFill>
                <a:srgbClr val="002060"/>
              </a:solidFill>
            </a:endParaRPr>
          </a:p>
          <a:p>
            <a:pPr>
              <a:buNone/>
            </a:pPr>
            <a:r>
              <a:rPr lang="en-GB" b="1" dirty="0"/>
              <a:t>5. </a:t>
            </a:r>
            <a:r>
              <a:rPr lang="en-GB" dirty="0"/>
              <a:t>estimated or assigned worth; valuation: </a:t>
            </a:r>
            <a:r>
              <a:rPr lang="en-GB" i="1" dirty="0">
                <a:solidFill>
                  <a:srgbClr val="002060"/>
                </a:solidFill>
              </a:rPr>
              <a:t>a house with a current value of  Rs.12.5M. </a:t>
            </a:r>
            <a:endParaRPr lang="en-US" dirty="0">
              <a:solidFill>
                <a:srgbClr val="002060"/>
              </a:solidFill>
            </a:endParaRPr>
          </a:p>
          <a:p>
            <a:pPr>
              <a:buNone/>
            </a:pPr>
            <a:r>
              <a:rPr lang="en-GB" b="1" dirty="0"/>
              <a:t>6. </a:t>
            </a:r>
            <a:r>
              <a:rPr lang="en-GB" dirty="0"/>
              <a:t>denomination, as of a monetary issue or a postage stamp. </a:t>
            </a:r>
            <a:endParaRPr lang="en-US" dirty="0"/>
          </a:p>
          <a:p>
            <a:pPr>
              <a:buNone/>
            </a:pPr>
            <a:r>
              <a:rPr lang="en-GB" b="1" dirty="0"/>
              <a:t>7. </a:t>
            </a:r>
            <a:r>
              <a:rPr lang="en-GB" i="1" dirty="0"/>
              <a:t>Mathematics : </a:t>
            </a:r>
            <a:r>
              <a:rPr lang="en-GB" b="1" dirty="0"/>
              <a:t> </a:t>
            </a:r>
            <a:r>
              <a:rPr lang="en-GB" dirty="0"/>
              <a:t>magnitude; quantity; number represented by a figure, symbol, or the like: </a:t>
            </a:r>
            <a:r>
              <a:rPr lang="en-GB" i="1" dirty="0">
                <a:solidFill>
                  <a:srgbClr val="002060"/>
                </a:solidFill>
              </a:rPr>
              <a:t>the value of an angle; the value of </a:t>
            </a:r>
            <a:r>
              <a:rPr lang="en-GB" dirty="0">
                <a:solidFill>
                  <a:srgbClr val="002060"/>
                </a:solidFill>
              </a:rPr>
              <a:t>x; </a:t>
            </a:r>
            <a:r>
              <a:rPr lang="en-GB" i="1" dirty="0">
                <a:solidFill>
                  <a:srgbClr val="002060"/>
                </a:solidFill>
              </a:rPr>
              <a:t> the value of a sum. </a:t>
            </a:r>
            <a:endParaRPr lang="en-US" dirty="0">
              <a:solidFill>
                <a:srgbClr val="002060"/>
              </a:solidFill>
            </a:endParaRPr>
          </a:p>
          <a:p>
            <a:pPr>
              <a:buNone/>
            </a:pPr>
            <a:r>
              <a:rPr lang="en-GB" b="1" dirty="0"/>
              <a:t>8. </a:t>
            </a:r>
            <a:r>
              <a:rPr lang="en-GB" dirty="0"/>
              <a:t>import or meaning; significance: </a:t>
            </a:r>
            <a:r>
              <a:rPr lang="en-GB" i="1" dirty="0">
                <a:solidFill>
                  <a:srgbClr val="002060"/>
                </a:solidFill>
              </a:rPr>
              <a:t>the value of a word</a:t>
            </a:r>
          </a:p>
          <a:p>
            <a:pPr>
              <a:buNone/>
            </a:pPr>
            <a:r>
              <a:rPr lang="en-GB" b="1" dirty="0"/>
              <a:t>9. </a:t>
            </a:r>
            <a:r>
              <a:rPr lang="en-GB" dirty="0"/>
              <a:t>liking or affection; favourable regard; </a:t>
            </a:r>
            <a:r>
              <a:rPr lang="en-GB" i="1" dirty="0">
                <a:solidFill>
                  <a:srgbClr val="002060"/>
                </a:solidFill>
              </a:rPr>
              <a:t>he values her friendship</a:t>
            </a:r>
            <a:endParaRPr lang="en-US" i="1" dirty="0">
              <a:solidFill>
                <a:srgbClr val="002060"/>
              </a:solidFill>
            </a:endParaRPr>
          </a:p>
          <a:p>
            <a:pPr>
              <a:buNone/>
            </a:pPr>
            <a:r>
              <a:rPr lang="en-GB" b="1" dirty="0"/>
              <a:t>10. values, </a:t>
            </a:r>
            <a:r>
              <a:rPr lang="en-GB" i="1" dirty="0"/>
              <a:t>Sociology </a:t>
            </a:r>
            <a:r>
              <a:rPr lang="en-GB" dirty="0"/>
              <a:t>. the ideals, customs, institutions, etc., of a society toward which the people of the group have an affective regard. These values may be positive, as cleanliness, freedom, or education, or negative, as cruelty, crime, or blasphemy. </a:t>
            </a:r>
            <a:endParaRPr lang="en-US" dirty="0"/>
          </a:p>
        </p:txBody>
      </p:sp>
      <p:sp>
        <p:nvSpPr>
          <p:cNvPr id="4" name="Slide Number Placeholder 3">
            <a:extLst>
              <a:ext uri="{FF2B5EF4-FFF2-40B4-BE49-F238E27FC236}">
                <a16:creationId xmlns:a16="http://schemas.microsoft.com/office/drawing/2014/main" id="{C9D55A3A-BCD1-028E-7AFF-A8046A188957}"/>
              </a:ext>
            </a:extLst>
          </p:cNvPr>
          <p:cNvSpPr>
            <a:spLocks noGrp="1"/>
          </p:cNvSpPr>
          <p:nvPr>
            <p:ph type="sldNum" sz="quarter" idx="12"/>
          </p:nvPr>
        </p:nvSpPr>
        <p:spPr/>
        <p:txBody>
          <a:bodyPr/>
          <a:lstStyle/>
          <a:p>
            <a:fld id="{E0512086-A52C-44F0-970D-28E8CB23C1FA}" type="slidenum">
              <a:rPr lang="en-US" smtClean="0"/>
              <a:pPr/>
              <a:t>7</a:t>
            </a:fld>
            <a:endParaRPr lang="en-US"/>
          </a:p>
        </p:txBody>
      </p:sp>
    </p:spTree>
    <p:extLst>
      <p:ext uri="{BB962C8B-B14F-4D97-AF65-F5344CB8AC3E}">
        <p14:creationId xmlns:p14="http://schemas.microsoft.com/office/powerpoint/2010/main" val="15478803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additive="base">
                                        <p:cTn id="4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3">
                                            <p:txEl>
                                              <p:pRg st="8" end="8"/>
                                            </p:txEl>
                                          </p:spTgt>
                                        </p:tgtEl>
                                        <p:attrNameLst>
                                          <p:attrName>style.visibility</p:attrName>
                                        </p:attrNameLst>
                                      </p:cBhvr>
                                      <p:to>
                                        <p:strVal val="visible"/>
                                      </p:to>
                                    </p:set>
                                    <p:anim calcmode="lin" valueType="num">
                                      <p:cBhvr additive="base">
                                        <p:cTn id="5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nodeType="clickEffect">
                                  <p:stCondLst>
                                    <p:cond delay="0"/>
                                  </p:stCondLst>
                                  <p:childTnLst>
                                    <p:set>
                                      <p:cBhvr>
                                        <p:cTn id="60" dur="1" fill="hold">
                                          <p:stCondLst>
                                            <p:cond delay="0"/>
                                          </p:stCondLst>
                                        </p:cTn>
                                        <p:tgtEl>
                                          <p:spTgt spid="3">
                                            <p:txEl>
                                              <p:pRg st="9" end="9"/>
                                            </p:txEl>
                                          </p:spTgt>
                                        </p:tgtEl>
                                        <p:attrNameLst>
                                          <p:attrName>style.visibility</p:attrName>
                                        </p:attrNameLst>
                                      </p:cBhvr>
                                      <p:to>
                                        <p:strVal val="visible"/>
                                      </p:to>
                                    </p:set>
                                    <p:anim calcmode="lin" valueType="num">
                                      <p:cBhvr additive="base">
                                        <p:cTn id="61"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LISTS OF VALUES</a:t>
            </a:r>
          </a:p>
        </p:txBody>
      </p:sp>
      <p:sp>
        <p:nvSpPr>
          <p:cNvPr id="5" name="Rectangle 4"/>
          <p:cNvSpPr/>
          <p:nvPr/>
        </p:nvSpPr>
        <p:spPr>
          <a:xfrm>
            <a:off x="5771271" y="762000"/>
            <a:ext cx="2362200" cy="5632311"/>
          </a:xfrm>
          <a:prstGeom prst="rect">
            <a:avLst/>
          </a:prstGeom>
        </p:spPr>
        <p:txBody>
          <a:bodyPr wrap="square">
            <a:spAutoFit/>
          </a:bodyPr>
          <a:lstStyle/>
          <a:p>
            <a:pPr marL="461963" lvl="0" indent="-461963">
              <a:buFont typeface="Wingdings" panose="05000000000000000000" pitchFamily="2" charset="2"/>
              <a:buChar char="Ø"/>
            </a:pPr>
            <a:r>
              <a:rPr lang="en-GB" sz="1800" dirty="0"/>
              <a:t>Rationality</a:t>
            </a:r>
            <a:endParaRPr lang="en-US" sz="1800" dirty="0"/>
          </a:p>
          <a:p>
            <a:pPr marL="461963" lvl="0" indent="-461963">
              <a:buFont typeface="Wingdings" panose="05000000000000000000" pitchFamily="2" charset="2"/>
              <a:buChar char="Ø"/>
            </a:pPr>
            <a:r>
              <a:rPr lang="en-GB" sz="1800" dirty="0"/>
              <a:t>Reason</a:t>
            </a:r>
            <a:endParaRPr lang="en-US" sz="1800" dirty="0"/>
          </a:p>
          <a:p>
            <a:pPr marL="461963" lvl="0" indent="-461963">
              <a:buFont typeface="Wingdings" panose="05000000000000000000" pitchFamily="2" charset="2"/>
              <a:buChar char="Ø"/>
            </a:pPr>
            <a:r>
              <a:rPr lang="en-GB" sz="1800" dirty="0">
                <a:solidFill>
                  <a:srgbClr val="FF0000"/>
                </a:solidFill>
              </a:rPr>
              <a:t>Recognition</a:t>
            </a:r>
            <a:endParaRPr lang="en-US" sz="1800" dirty="0">
              <a:solidFill>
                <a:srgbClr val="FF0000"/>
              </a:solidFill>
            </a:endParaRPr>
          </a:p>
          <a:p>
            <a:pPr marL="461963" lvl="0" indent="-461963">
              <a:buFont typeface="Wingdings" panose="05000000000000000000" pitchFamily="2" charset="2"/>
              <a:buChar char="Ø"/>
            </a:pPr>
            <a:r>
              <a:rPr lang="en-GB" sz="1800" dirty="0">
                <a:solidFill>
                  <a:srgbClr val="FF0000"/>
                </a:solidFill>
              </a:rPr>
              <a:t>Reputation</a:t>
            </a:r>
            <a:endParaRPr lang="en-US" sz="1800" dirty="0">
              <a:solidFill>
                <a:srgbClr val="FF0000"/>
              </a:solidFill>
            </a:endParaRPr>
          </a:p>
          <a:p>
            <a:pPr marL="463550" lvl="1" indent="-463550">
              <a:buFont typeface="Wingdings" panose="05000000000000000000" pitchFamily="2" charset="2"/>
              <a:buChar char="Ø"/>
            </a:pPr>
            <a:r>
              <a:rPr lang="en-GB" dirty="0"/>
              <a:t>Resourcefulness</a:t>
            </a:r>
          </a:p>
          <a:p>
            <a:pPr marL="463550" lvl="1" indent="-463550">
              <a:buFont typeface="Wingdings" panose="05000000000000000000" pitchFamily="2" charset="2"/>
              <a:buChar char="Ø"/>
            </a:pPr>
            <a:r>
              <a:rPr lang="en-GB" dirty="0">
                <a:solidFill>
                  <a:srgbClr val="FF0000"/>
                </a:solidFill>
              </a:rPr>
              <a:t>Responsibility</a:t>
            </a:r>
          </a:p>
          <a:p>
            <a:pPr marL="463550" lvl="1" indent="-463550">
              <a:buFont typeface="Wingdings" panose="05000000000000000000" pitchFamily="2" charset="2"/>
              <a:buChar char="Ø"/>
            </a:pPr>
            <a:r>
              <a:rPr lang="en-GB" dirty="0">
                <a:solidFill>
                  <a:srgbClr val="FF0000"/>
                </a:solidFill>
              </a:rPr>
              <a:t>Self-respect</a:t>
            </a:r>
            <a:endParaRPr lang="en-US" dirty="0">
              <a:solidFill>
                <a:srgbClr val="FF0000"/>
              </a:solidFill>
            </a:endParaRPr>
          </a:p>
          <a:p>
            <a:pPr marL="463550" lvl="1" indent="-463550">
              <a:buFont typeface="Wingdings" panose="05000000000000000000" pitchFamily="2" charset="2"/>
              <a:buChar char="Ø"/>
            </a:pPr>
            <a:r>
              <a:rPr lang="en-GB" dirty="0">
                <a:solidFill>
                  <a:srgbClr val="FF0000"/>
                </a:solidFill>
              </a:rPr>
              <a:t>Sincerity</a:t>
            </a:r>
            <a:endParaRPr lang="en-US" dirty="0">
              <a:solidFill>
                <a:srgbClr val="FF0000"/>
              </a:solidFill>
            </a:endParaRPr>
          </a:p>
          <a:p>
            <a:pPr marL="465138" lvl="0" indent="-465138">
              <a:buFont typeface="Wingdings" panose="05000000000000000000" pitchFamily="2" charset="2"/>
              <a:buChar char="Ø"/>
            </a:pPr>
            <a:r>
              <a:rPr lang="en-GB" dirty="0"/>
              <a:t>Stability</a:t>
            </a:r>
            <a:endParaRPr lang="en-US" dirty="0"/>
          </a:p>
          <a:p>
            <a:pPr marL="465138" lvl="0" indent="-465138">
              <a:buFont typeface="Wingdings" panose="05000000000000000000" pitchFamily="2" charset="2"/>
              <a:buChar char="Ø"/>
            </a:pPr>
            <a:r>
              <a:rPr lang="en-GB" dirty="0"/>
              <a:t>Structure</a:t>
            </a:r>
            <a:endParaRPr lang="en-US" dirty="0"/>
          </a:p>
          <a:p>
            <a:pPr marL="465138" lvl="0" indent="-465138">
              <a:buFont typeface="Wingdings" panose="05000000000000000000" pitchFamily="2" charset="2"/>
              <a:buChar char="Ø"/>
            </a:pPr>
            <a:r>
              <a:rPr lang="en-GB" dirty="0"/>
              <a:t>Success</a:t>
            </a:r>
            <a:endParaRPr lang="en-US" dirty="0"/>
          </a:p>
          <a:p>
            <a:pPr marL="465138" lvl="0" indent="-465138">
              <a:buFont typeface="Wingdings" panose="05000000000000000000" pitchFamily="2" charset="2"/>
              <a:buChar char="Ø"/>
            </a:pPr>
            <a:r>
              <a:rPr lang="en-GB" dirty="0"/>
              <a:t>Synergy</a:t>
            </a:r>
            <a:endParaRPr lang="en-US" dirty="0"/>
          </a:p>
          <a:p>
            <a:pPr marL="465138" lvl="0" indent="-465138">
              <a:buFont typeface="Wingdings" panose="05000000000000000000" pitchFamily="2" charset="2"/>
              <a:buChar char="Ø"/>
            </a:pPr>
            <a:r>
              <a:rPr lang="en-GB" dirty="0"/>
              <a:t>Teamwork</a:t>
            </a:r>
            <a:endParaRPr lang="en-US" dirty="0"/>
          </a:p>
          <a:p>
            <a:pPr marL="465138" lvl="0" indent="-465138">
              <a:buFont typeface="Wingdings" panose="05000000000000000000" pitchFamily="2" charset="2"/>
              <a:buChar char="Ø"/>
            </a:pPr>
            <a:r>
              <a:rPr lang="en-GB" dirty="0">
                <a:solidFill>
                  <a:srgbClr val="FF0000"/>
                </a:solidFill>
              </a:rPr>
              <a:t>Trustworthiness</a:t>
            </a:r>
            <a:endParaRPr lang="en-US" dirty="0">
              <a:solidFill>
                <a:srgbClr val="FF0000"/>
              </a:solidFill>
            </a:endParaRPr>
          </a:p>
          <a:p>
            <a:pPr marL="465138" lvl="0" indent="-465138">
              <a:buFont typeface="Wingdings" panose="05000000000000000000" pitchFamily="2" charset="2"/>
              <a:buChar char="Ø"/>
            </a:pPr>
            <a:r>
              <a:rPr lang="en-GB" dirty="0">
                <a:solidFill>
                  <a:srgbClr val="FF0000"/>
                </a:solidFill>
              </a:rPr>
              <a:t>Truth</a:t>
            </a:r>
            <a:endParaRPr lang="en-US" dirty="0">
              <a:solidFill>
                <a:srgbClr val="FF0000"/>
              </a:solidFill>
            </a:endParaRPr>
          </a:p>
          <a:p>
            <a:pPr marL="465138" lvl="0" indent="-465138">
              <a:buFont typeface="Wingdings" panose="05000000000000000000" pitchFamily="2" charset="2"/>
              <a:buChar char="Ø"/>
            </a:pPr>
            <a:r>
              <a:rPr lang="en-GB" dirty="0"/>
              <a:t>Vision</a:t>
            </a:r>
            <a:endParaRPr lang="en-US" dirty="0"/>
          </a:p>
          <a:p>
            <a:pPr marL="465138" lvl="0" indent="-465138">
              <a:buFont typeface="Wingdings" panose="05000000000000000000" pitchFamily="2" charset="2"/>
              <a:buChar char="Ø"/>
            </a:pPr>
            <a:r>
              <a:rPr lang="en-GB" dirty="0"/>
              <a:t>Wisdom</a:t>
            </a:r>
            <a:endParaRPr lang="en-US" dirty="0"/>
          </a:p>
          <a:p>
            <a:pPr marL="465138" lvl="0" indent="-465138">
              <a:buFont typeface="Wingdings" panose="05000000000000000000" pitchFamily="2" charset="2"/>
              <a:buChar char="Ø"/>
            </a:pPr>
            <a:r>
              <a:rPr lang="en-GB" dirty="0"/>
              <a:t>Worthiness</a:t>
            </a:r>
            <a:endParaRPr lang="en-US" dirty="0"/>
          </a:p>
          <a:p>
            <a:pPr marL="465138" lvl="0" indent="-465138">
              <a:buFont typeface="Wingdings" panose="05000000000000000000" pitchFamily="2" charset="2"/>
              <a:buChar char="Ø"/>
            </a:pPr>
            <a:r>
              <a:rPr lang="en-GB" dirty="0"/>
              <a:t>Zeal</a:t>
            </a:r>
            <a:endParaRPr lang="en-US" dirty="0"/>
          </a:p>
          <a:p>
            <a:pPr marL="285750" indent="-285750">
              <a:buFont typeface="Wingdings" panose="05000000000000000000" pitchFamily="2" charset="2"/>
              <a:buChar char="Ø"/>
            </a:pPr>
            <a:endParaRPr lang="en-US" dirty="0"/>
          </a:p>
        </p:txBody>
      </p:sp>
      <p:sp>
        <p:nvSpPr>
          <p:cNvPr id="6" name="TextBox 5"/>
          <p:cNvSpPr txBox="1"/>
          <p:nvPr/>
        </p:nvSpPr>
        <p:spPr>
          <a:xfrm>
            <a:off x="5562600" y="6019800"/>
            <a:ext cx="3200400" cy="400110"/>
          </a:xfrm>
          <a:prstGeom prst="rect">
            <a:avLst/>
          </a:prstGeom>
          <a:noFill/>
        </p:spPr>
        <p:txBody>
          <a:bodyPr wrap="square" rtlCol="0">
            <a:spAutoFit/>
          </a:bodyPr>
          <a:lstStyle/>
          <a:p>
            <a:r>
              <a:rPr lang="en-US" sz="2000" b="1" dirty="0">
                <a:solidFill>
                  <a:schemeClr val="accent2">
                    <a:lumMod val="50000"/>
                  </a:schemeClr>
                </a:solidFill>
              </a:rPr>
              <a:t>and many, many more !!!</a:t>
            </a:r>
          </a:p>
        </p:txBody>
      </p:sp>
      <p:sp>
        <p:nvSpPr>
          <p:cNvPr id="11" name="Content Placeholder 10">
            <a:extLst>
              <a:ext uri="{FF2B5EF4-FFF2-40B4-BE49-F238E27FC236}">
                <a16:creationId xmlns:a16="http://schemas.microsoft.com/office/drawing/2014/main" id="{B3327DC9-2603-C5F8-419E-C6F7CF063BE5}"/>
              </a:ext>
            </a:extLst>
          </p:cNvPr>
          <p:cNvSpPr>
            <a:spLocks noGrp="1"/>
          </p:cNvSpPr>
          <p:nvPr>
            <p:ph sz="half" idx="1"/>
          </p:nvPr>
        </p:nvSpPr>
        <p:spPr>
          <a:xfrm>
            <a:off x="609601" y="2160589"/>
            <a:ext cx="2362200" cy="3880772"/>
          </a:xfrm>
        </p:spPr>
        <p:txBody>
          <a:bodyPr>
            <a:normAutofit fontScale="25000" lnSpcReduction="20000"/>
          </a:bodyPr>
          <a:lstStyle/>
          <a:p>
            <a:endParaRPr lang="en-US" dirty="0"/>
          </a:p>
        </p:txBody>
      </p:sp>
      <p:sp>
        <p:nvSpPr>
          <p:cNvPr id="13" name="TextBox 12">
            <a:extLst>
              <a:ext uri="{FF2B5EF4-FFF2-40B4-BE49-F238E27FC236}">
                <a16:creationId xmlns:a16="http://schemas.microsoft.com/office/drawing/2014/main" id="{D9B49979-03FA-C2E1-2EA5-ECD43AB72A30}"/>
              </a:ext>
            </a:extLst>
          </p:cNvPr>
          <p:cNvSpPr txBox="1"/>
          <p:nvPr/>
        </p:nvSpPr>
        <p:spPr>
          <a:xfrm>
            <a:off x="505596" y="1571685"/>
            <a:ext cx="2618604" cy="4801314"/>
          </a:xfrm>
          <a:prstGeom prst="rect">
            <a:avLst/>
          </a:prstGeom>
          <a:noFill/>
        </p:spPr>
        <p:txBody>
          <a:bodyPr wrap="square">
            <a:spAutoFit/>
          </a:bodyPr>
          <a:lstStyle/>
          <a:p>
            <a:r>
              <a:rPr lang="en-US" dirty="0">
                <a:solidFill>
                  <a:srgbClr val="FF0000"/>
                </a:solidFill>
              </a:rPr>
              <a:t>Accountability</a:t>
            </a:r>
          </a:p>
          <a:p>
            <a:r>
              <a:rPr lang="en-US" dirty="0">
                <a:solidFill>
                  <a:srgbClr val="FF0000"/>
                </a:solidFill>
              </a:rPr>
              <a:t>Accuracy</a:t>
            </a:r>
          </a:p>
          <a:p>
            <a:r>
              <a:rPr lang="en-US" dirty="0">
                <a:solidFill>
                  <a:srgbClr val="FF0000"/>
                </a:solidFill>
              </a:rPr>
              <a:t>Achievement</a:t>
            </a:r>
          </a:p>
          <a:p>
            <a:r>
              <a:rPr lang="en-US" dirty="0">
                <a:solidFill>
                  <a:srgbClr val="FF0000"/>
                </a:solidFill>
              </a:rPr>
              <a:t>Acknowledgement</a:t>
            </a:r>
          </a:p>
          <a:p>
            <a:r>
              <a:rPr lang="en-US" dirty="0"/>
              <a:t>Activeness</a:t>
            </a:r>
          </a:p>
          <a:p>
            <a:r>
              <a:rPr lang="en-US" dirty="0"/>
              <a:t>Calmness</a:t>
            </a:r>
          </a:p>
          <a:p>
            <a:r>
              <a:rPr lang="en-US" dirty="0"/>
              <a:t>Capability</a:t>
            </a:r>
          </a:p>
          <a:p>
            <a:r>
              <a:rPr lang="en-US" dirty="0">
                <a:solidFill>
                  <a:srgbClr val="FF0000"/>
                </a:solidFill>
              </a:rPr>
              <a:t>Care</a:t>
            </a:r>
          </a:p>
          <a:p>
            <a:r>
              <a:rPr lang="en-US" dirty="0">
                <a:solidFill>
                  <a:srgbClr val="FF0000"/>
                </a:solidFill>
              </a:rPr>
              <a:t>Community</a:t>
            </a:r>
          </a:p>
          <a:p>
            <a:r>
              <a:rPr lang="en-US" dirty="0"/>
              <a:t>Compassion</a:t>
            </a:r>
          </a:p>
          <a:p>
            <a:r>
              <a:rPr lang="en-US" dirty="0"/>
              <a:t>Duty</a:t>
            </a:r>
          </a:p>
          <a:p>
            <a:r>
              <a:rPr lang="en-US" dirty="0"/>
              <a:t>Dynamism</a:t>
            </a:r>
          </a:p>
          <a:p>
            <a:r>
              <a:rPr lang="en-US" dirty="0"/>
              <a:t>Economy</a:t>
            </a:r>
          </a:p>
          <a:p>
            <a:r>
              <a:rPr lang="en-US" dirty="0">
                <a:solidFill>
                  <a:srgbClr val="FF0000"/>
                </a:solidFill>
              </a:rPr>
              <a:t>Education</a:t>
            </a:r>
          </a:p>
          <a:p>
            <a:r>
              <a:rPr lang="en-US" dirty="0">
                <a:solidFill>
                  <a:srgbClr val="FF0000"/>
                </a:solidFill>
              </a:rPr>
              <a:t>Efficiency</a:t>
            </a:r>
          </a:p>
          <a:p>
            <a:r>
              <a:rPr lang="en-US" dirty="0">
                <a:solidFill>
                  <a:srgbClr val="FF0000"/>
                </a:solidFill>
              </a:rPr>
              <a:t>Environmentalism</a:t>
            </a:r>
          </a:p>
          <a:p>
            <a:r>
              <a:rPr lang="en-US" dirty="0">
                <a:solidFill>
                  <a:srgbClr val="FF0000"/>
                </a:solidFill>
              </a:rPr>
              <a:t>Excellence</a:t>
            </a:r>
          </a:p>
        </p:txBody>
      </p:sp>
      <p:sp>
        <p:nvSpPr>
          <p:cNvPr id="15" name="Content Placeholder 14">
            <a:extLst>
              <a:ext uri="{FF2B5EF4-FFF2-40B4-BE49-F238E27FC236}">
                <a16:creationId xmlns:a16="http://schemas.microsoft.com/office/drawing/2014/main" id="{A3183D5F-CC9D-D353-E815-981A5D167BD7}"/>
              </a:ext>
            </a:extLst>
          </p:cNvPr>
          <p:cNvSpPr>
            <a:spLocks noGrp="1"/>
          </p:cNvSpPr>
          <p:nvPr>
            <p:ph sz="half" idx="2"/>
          </p:nvPr>
        </p:nvSpPr>
        <p:spPr>
          <a:xfrm>
            <a:off x="3455418" y="1571685"/>
            <a:ext cx="2107182" cy="3880773"/>
          </a:xfrm>
        </p:spPr>
        <p:txBody>
          <a:bodyPr>
            <a:normAutofit fontScale="25000" lnSpcReduction="20000"/>
          </a:bodyPr>
          <a:lstStyle/>
          <a:p>
            <a:r>
              <a:rPr lang="en-GB" sz="7200" dirty="0"/>
              <a:t>Guidance</a:t>
            </a:r>
            <a:endParaRPr lang="en-US" sz="7200" dirty="0"/>
          </a:p>
          <a:p>
            <a:pPr lvl="0"/>
            <a:r>
              <a:rPr lang="en-GB" sz="7200" dirty="0"/>
              <a:t>Honesty</a:t>
            </a:r>
            <a:endParaRPr lang="en-US" sz="7200" dirty="0"/>
          </a:p>
          <a:p>
            <a:pPr lvl="0"/>
            <a:r>
              <a:rPr lang="en-GB" sz="7200" dirty="0">
                <a:solidFill>
                  <a:srgbClr val="FF0000"/>
                </a:solidFill>
              </a:rPr>
              <a:t>Honour</a:t>
            </a:r>
            <a:endParaRPr lang="en-US" sz="7200" dirty="0">
              <a:solidFill>
                <a:srgbClr val="FF0000"/>
              </a:solidFill>
            </a:endParaRPr>
          </a:p>
          <a:p>
            <a:pPr lvl="0"/>
            <a:r>
              <a:rPr lang="en-GB" sz="7200" dirty="0">
                <a:solidFill>
                  <a:srgbClr val="FF0000"/>
                </a:solidFill>
              </a:rPr>
              <a:t>Integrity</a:t>
            </a:r>
            <a:endParaRPr lang="en-US" sz="7200" dirty="0">
              <a:solidFill>
                <a:srgbClr val="FF0000"/>
              </a:solidFill>
            </a:endParaRPr>
          </a:p>
          <a:p>
            <a:r>
              <a:rPr lang="en-GB" sz="7200" dirty="0">
                <a:solidFill>
                  <a:srgbClr val="FF0000"/>
                </a:solidFill>
              </a:rPr>
              <a:t>Humility</a:t>
            </a:r>
            <a:endParaRPr lang="en-US" sz="7200" dirty="0">
              <a:solidFill>
                <a:srgbClr val="FF0000"/>
              </a:solidFill>
            </a:endParaRPr>
          </a:p>
          <a:p>
            <a:pPr lvl="0"/>
            <a:r>
              <a:rPr lang="en-GB" sz="7200" dirty="0"/>
              <a:t>Inventiveness</a:t>
            </a:r>
            <a:endParaRPr lang="en-US" sz="7200" dirty="0"/>
          </a:p>
          <a:p>
            <a:pPr lvl="0"/>
            <a:r>
              <a:rPr lang="en-GB" sz="7200" dirty="0">
                <a:solidFill>
                  <a:srgbClr val="FF0000"/>
                </a:solidFill>
              </a:rPr>
              <a:t>Knowledge</a:t>
            </a:r>
            <a:endParaRPr lang="en-US" sz="7200" dirty="0">
              <a:solidFill>
                <a:srgbClr val="FF0000"/>
              </a:solidFill>
            </a:endParaRPr>
          </a:p>
          <a:p>
            <a:pPr lvl="0"/>
            <a:r>
              <a:rPr lang="en-GB" sz="7200" dirty="0">
                <a:solidFill>
                  <a:srgbClr val="FF0000"/>
                </a:solidFill>
              </a:rPr>
              <a:t>Leadership</a:t>
            </a:r>
            <a:endParaRPr lang="en-US" sz="7200" dirty="0">
              <a:solidFill>
                <a:srgbClr val="FF0000"/>
              </a:solidFill>
            </a:endParaRPr>
          </a:p>
          <a:p>
            <a:pPr lvl="0"/>
            <a:r>
              <a:rPr lang="en-GB" sz="7200" dirty="0"/>
              <a:t>Learning</a:t>
            </a:r>
            <a:endParaRPr lang="en-US" sz="7200" dirty="0"/>
          </a:p>
          <a:p>
            <a:pPr lvl="0"/>
            <a:r>
              <a:rPr lang="en-GB" sz="7200" dirty="0">
                <a:solidFill>
                  <a:srgbClr val="FF0000"/>
                </a:solidFill>
              </a:rPr>
              <a:t>Loyalty</a:t>
            </a:r>
            <a:endParaRPr lang="en-US" sz="7200" dirty="0">
              <a:solidFill>
                <a:srgbClr val="FF0000"/>
              </a:solidFill>
            </a:endParaRPr>
          </a:p>
          <a:p>
            <a:pPr lvl="0"/>
            <a:r>
              <a:rPr lang="en-GB" sz="7200" dirty="0"/>
              <a:t>Preparedness</a:t>
            </a:r>
            <a:endParaRPr lang="en-US" sz="7200" dirty="0"/>
          </a:p>
          <a:p>
            <a:pPr lvl="0"/>
            <a:r>
              <a:rPr lang="en-GB" sz="7200" dirty="0">
                <a:solidFill>
                  <a:srgbClr val="FF0000"/>
                </a:solidFill>
              </a:rPr>
              <a:t>Professionalism</a:t>
            </a:r>
            <a:endParaRPr lang="en-US" sz="7200" dirty="0">
              <a:solidFill>
                <a:srgbClr val="FF0000"/>
              </a:solidFill>
            </a:endParaRPr>
          </a:p>
          <a:p>
            <a:pPr lvl="0"/>
            <a:r>
              <a:rPr lang="en-GB" sz="7200" dirty="0"/>
              <a:t>Punctuality</a:t>
            </a:r>
            <a:endParaRPr lang="en-US" sz="7200" dirty="0"/>
          </a:p>
          <a:p>
            <a:endParaRPr lang="en-US" dirty="0"/>
          </a:p>
        </p:txBody>
      </p:sp>
      <p:sp>
        <p:nvSpPr>
          <p:cNvPr id="3" name="Slide Number Placeholder 2">
            <a:extLst>
              <a:ext uri="{FF2B5EF4-FFF2-40B4-BE49-F238E27FC236}">
                <a16:creationId xmlns:a16="http://schemas.microsoft.com/office/drawing/2014/main" id="{6ACBBD50-A634-1473-106C-1C95D9E07592}"/>
              </a:ext>
            </a:extLst>
          </p:cNvPr>
          <p:cNvSpPr>
            <a:spLocks noGrp="1"/>
          </p:cNvSpPr>
          <p:nvPr>
            <p:ph type="sldNum" sz="quarter" idx="12"/>
          </p:nvPr>
        </p:nvSpPr>
        <p:spPr/>
        <p:txBody>
          <a:bodyPr/>
          <a:lstStyle/>
          <a:p>
            <a:fld id="{E0512086-A52C-44F0-970D-28E8CB23C1FA}" type="slidenum">
              <a:rPr lang="en-US" smtClean="0"/>
              <a:pPr/>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609600" y="152400"/>
            <a:ext cx="6347713" cy="609600"/>
          </a:xfrm>
        </p:spPr>
        <p:txBody>
          <a:bodyPr>
            <a:normAutofit fontScale="90000"/>
          </a:bodyPr>
          <a:lstStyle/>
          <a:p>
            <a:r>
              <a:rPr lang="en-US" b="1" dirty="0"/>
              <a:t>Characteristics of Value</a:t>
            </a:r>
            <a:br>
              <a:rPr lang="en-US" b="1" dirty="0"/>
            </a:br>
            <a:endParaRPr lang="en-US" dirty="0"/>
          </a:p>
        </p:txBody>
      </p:sp>
      <p:pic>
        <p:nvPicPr>
          <p:cNvPr id="1026" name="Picture 2" descr="Characteristics of Value"/>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33400" y="26963"/>
            <a:ext cx="6096000" cy="2895600"/>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p:cNvSpPr/>
          <p:nvPr/>
        </p:nvSpPr>
        <p:spPr>
          <a:xfrm>
            <a:off x="685800" y="3276600"/>
            <a:ext cx="7924800" cy="3139321"/>
          </a:xfrm>
          <a:prstGeom prst="rect">
            <a:avLst/>
          </a:prstGeom>
        </p:spPr>
        <p:txBody>
          <a:bodyPr wrap="square">
            <a:spAutoFit/>
          </a:bodyPr>
          <a:lstStyle/>
          <a:p>
            <a:pPr>
              <a:buFont typeface="Arial" panose="020B0604020202020204" pitchFamily="34" charset="0"/>
              <a:buChar char="•"/>
            </a:pPr>
            <a:r>
              <a:rPr lang="en-US" sz="2200" dirty="0">
                <a:solidFill>
                  <a:srgbClr val="151515"/>
                </a:solidFill>
                <a:latin typeface="Merriweather"/>
              </a:rPr>
              <a:t>These are extremely practical, and valuation requires not     just techniques but also an understanding of the strategic context.</a:t>
            </a:r>
          </a:p>
          <a:p>
            <a:pPr>
              <a:buFont typeface="Arial" panose="020B0604020202020204" pitchFamily="34" charset="0"/>
              <a:buChar char="•"/>
            </a:pPr>
            <a:r>
              <a:rPr lang="en-US" sz="2200" dirty="0">
                <a:solidFill>
                  <a:srgbClr val="151515"/>
                </a:solidFill>
                <a:latin typeface="Merriweather"/>
              </a:rPr>
              <a:t>These can provide standards of competence and morality.</a:t>
            </a:r>
          </a:p>
          <a:p>
            <a:pPr>
              <a:buFont typeface="Arial" panose="020B0604020202020204" pitchFamily="34" charset="0"/>
              <a:buChar char="•"/>
            </a:pPr>
            <a:r>
              <a:rPr lang="en-US" sz="2200" dirty="0">
                <a:solidFill>
                  <a:srgbClr val="151515"/>
                </a:solidFill>
                <a:latin typeface="Merriweather"/>
              </a:rPr>
              <a:t>These can go beyond specific situations or persons.</a:t>
            </a:r>
          </a:p>
          <a:p>
            <a:pPr>
              <a:buFont typeface="Arial" panose="020B0604020202020204" pitchFamily="34" charset="0"/>
              <a:buChar char="•"/>
            </a:pPr>
            <a:r>
              <a:rPr lang="en-US" sz="2200" dirty="0">
                <a:solidFill>
                  <a:srgbClr val="151515"/>
                </a:solidFill>
                <a:latin typeface="Merriweather"/>
              </a:rPr>
              <a:t>Personal values can be influenced by culture, tradition, and a combination of internal and external factors.</a:t>
            </a:r>
          </a:p>
          <a:p>
            <a:pPr>
              <a:buFont typeface="Arial" panose="020B0604020202020204" pitchFamily="34" charset="0"/>
              <a:buChar char="•"/>
            </a:pPr>
            <a:r>
              <a:rPr lang="en-US" sz="2200" dirty="0">
                <a:solidFill>
                  <a:srgbClr val="151515"/>
                </a:solidFill>
                <a:latin typeface="Merriweather"/>
              </a:rPr>
              <a:t>These are relatively permanent.</a:t>
            </a:r>
          </a:p>
          <a:p>
            <a:pPr>
              <a:buFont typeface="Arial" panose="020B0604020202020204" pitchFamily="34" charset="0"/>
              <a:buChar char="•"/>
            </a:pPr>
            <a:r>
              <a:rPr lang="en-US" sz="2200" dirty="0">
                <a:solidFill>
                  <a:srgbClr val="151515"/>
                </a:solidFill>
                <a:latin typeface="Merriweather"/>
              </a:rPr>
              <a:t>These are more central to the core of a person.</a:t>
            </a:r>
            <a:endParaRPr lang="en-US" sz="2200" b="0" i="0" dirty="0">
              <a:solidFill>
                <a:srgbClr val="151515"/>
              </a:solidFill>
              <a:effectLst/>
              <a:latin typeface="Merriweather"/>
            </a:endParaRPr>
          </a:p>
        </p:txBody>
      </p:sp>
      <p:sp>
        <p:nvSpPr>
          <p:cNvPr id="2" name="Slide Number Placeholder 1">
            <a:extLst>
              <a:ext uri="{FF2B5EF4-FFF2-40B4-BE49-F238E27FC236}">
                <a16:creationId xmlns:a16="http://schemas.microsoft.com/office/drawing/2014/main" id="{854C33EA-57E0-9548-4477-DC13DBD4CCEC}"/>
              </a:ext>
            </a:extLst>
          </p:cNvPr>
          <p:cNvSpPr>
            <a:spLocks noGrp="1"/>
          </p:cNvSpPr>
          <p:nvPr>
            <p:ph type="sldNum" sz="quarter" idx="12"/>
          </p:nvPr>
        </p:nvSpPr>
        <p:spPr/>
        <p:txBody>
          <a:bodyPr/>
          <a:lstStyle/>
          <a:p>
            <a:fld id="{E0512086-A52C-44F0-970D-28E8CB23C1FA}" type="slidenum">
              <a:rPr lang="en-US" smtClean="0"/>
              <a:pPr/>
              <a:t>9</a:t>
            </a:fld>
            <a:endParaRPr lang="en-US"/>
          </a:p>
        </p:txBody>
      </p:sp>
    </p:spTree>
    <p:extLst>
      <p:ext uri="{BB962C8B-B14F-4D97-AF65-F5344CB8AC3E}">
        <p14:creationId xmlns:p14="http://schemas.microsoft.com/office/powerpoint/2010/main" val="1038392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
                                            <p:txEl>
                                              <p:pRg st="1" end="1"/>
                                            </p:txEl>
                                          </p:spTgt>
                                        </p:tgtEl>
                                        <p:attrNameLst>
                                          <p:attrName>style.visibility</p:attrName>
                                        </p:attrNameLst>
                                      </p:cBhvr>
                                      <p:to>
                                        <p:strVal val="visible"/>
                                      </p:to>
                                    </p:set>
                                    <p:anim calcmode="lin" valueType="num">
                                      <p:cBhvr additive="base">
                                        <p:cTn id="13" dur="500" fill="hold"/>
                                        <p:tgtEl>
                                          <p:spTgt spid="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7">
                                            <p:txEl>
                                              <p:pRg st="2" end="2"/>
                                            </p:txEl>
                                          </p:spTgt>
                                        </p:tgtEl>
                                        <p:attrNameLst>
                                          <p:attrName>style.visibility</p:attrName>
                                        </p:attrNameLst>
                                      </p:cBhvr>
                                      <p:to>
                                        <p:strVal val="visible"/>
                                      </p:to>
                                    </p:set>
                                    <p:anim calcmode="lin" valueType="num">
                                      <p:cBhvr additive="base">
                                        <p:cTn id="19" dur="500" fill="hold"/>
                                        <p:tgtEl>
                                          <p:spTgt spid="7">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7">
                                            <p:txEl>
                                              <p:pRg st="3" end="3"/>
                                            </p:txEl>
                                          </p:spTgt>
                                        </p:tgtEl>
                                        <p:attrNameLst>
                                          <p:attrName>style.visibility</p:attrName>
                                        </p:attrNameLst>
                                      </p:cBhvr>
                                      <p:to>
                                        <p:strVal val="visible"/>
                                      </p:to>
                                    </p:set>
                                    <p:anim calcmode="lin" valueType="num">
                                      <p:cBhvr additive="base">
                                        <p:cTn id="25" dur="500" fill="hold"/>
                                        <p:tgtEl>
                                          <p:spTgt spid="7">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7">
                                            <p:txEl>
                                              <p:pRg st="4" end="4"/>
                                            </p:txEl>
                                          </p:spTgt>
                                        </p:tgtEl>
                                        <p:attrNameLst>
                                          <p:attrName>style.visibility</p:attrName>
                                        </p:attrNameLst>
                                      </p:cBhvr>
                                      <p:to>
                                        <p:strVal val="visible"/>
                                      </p:to>
                                    </p:set>
                                    <p:anim calcmode="lin" valueType="num">
                                      <p:cBhvr additive="base">
                                        <p:cTn id="31" dur="500" fill="hold"/>
                                        <p:tgtEl>
                                          <p:spTgt spid="7">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7">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7">
                                            <p:txEl>
                                              <p:pRg st="5" end="5"/>
                                            </p:txEl>
                                          </p:spTgt>
                                        </p:tgtEl>
                                        <p:attrNameLst>
                                          <p:attrName>style.visibility</p:attrName>
                                        </p:attrNameLst>
                                      </p:cBhvr>
                                      <p:to>
                                        <p:strVal val="visible"/>
                                      </p:to>
                                    </p:set>
                                    <p:anim calcmode="lin" valueType="num">
                                      <p:cBhvr additive="base">
                                        <p:cTn id="37" dur="500" fill="hold"/>
                                        <p:tgtEl>
                                          <p:spTgt spid="7">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7">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lstStyle/>
          <a:p>
            <a:r>
              <a:rPr lang="en-US" b="1" dirty="0"/>
              <a:t>PERSONNAL VALUES !!</a:t>
            </a:r>
          </a:p>
        </p:txBody>
      </p:sp>
      <p:sp>
        <p:nvSpPr>
          <p:cNvPr id="3" name="Content Placeholder 2"/>
          <p:cNvSpPr>
            <a:spLocks noGrp="1"/>
          </p:cNvSpPr>
          <p:nvPr>
            <p:ph idx="1"/>
          </p:nvPr>
        </p:nvSpPr>
        <p:spPr>
          <a:xfrm>
            <a:off x="457200" y="1219200"/>
            <a:ext cx="8229600" cy="5486400"/>
          </a:xfrm>
        </p:spPr>
        <p:txBody>
          <a:bodyPr>
            <a:normAutofit lnSpcReduction="10000"/>
          </a:bodyPr>
          <a:lstStyle/>
          <a:p>
            <a:r>
              <a:rPr lang="en-US" sz="2400" dirty="0"/>
              <a:t>Values can be defined as broad preferences concerning  appropriate courses of action or outcomes. </a:t>
            </a:r>
          </a:p>
          <a:p>
            <a:r>
              <a:rPr lang="en-US" sz="2400" dirty="0"/>
              <a:t>As such, values reflect a person’s sense of right and wrong or what “ought” to be. </a:t>
            </a:r>
          </a:p>
          <a:p>
            <a:pPr>
              <a:buNone/>
            </a:pPr>
            <a:endParaRPr lang="en-US" sz="2400" dirty="0"/>
          </a:p>
          <a:p>
            <a:r>
              <a:rPr lang="en-US" sz="2400" dirty="0"/>
              <a:t>Values are obtained in many different ways. </a:t>
            </a:r>
          </a:p>
          <a:p>
            <a:pPr lvl="1"/>
            <a:r>
              <a:rPr lang="en-US" sz="2400" b="1" dirty="0">
                <a:solidFill>
                  <a:srgbClr val="0000FF"/>
                </a:solidFill>
              </a:rPr>
              <a:t>Person's family </a:t>
            </a:r>
            <a:r>
              <a:rPr lang="en-US" sz="2400" dirty="0"/>
              <a:t>– the family is responsible for teaching children what is right and wrong long before there are other influences.. </a:t>
            </a:r>
          </a:p>
          <a:p>
            <a:pPr lvl="1"/>
            <a:r>
              <a:rPr lang="en-US" sz="2400" b="1" dirty="0">
                <a:solidFill>
                  <a:srgbClr val="0000FF"/>
                </a:solidFill>
              </a:rPr>
              <a:t>School </a:t>
            </a:r>
            <a:r>
              <a:rPr lang="en-US" sz="2400" dirty="0">
                <a:solidFill>
                  <a:srgbClr val="0000FF"/>
                </a:solidFill>
              </a:rPr>
              <a:t>-</a:t>
            </a:r>
            <a:r>
              <a:rPr lang="en-US" sz="2400" dirty="0"/>
              <a:t>  school helps some to shape the values of children. </a:t>
            </a:r>
          </a:p>
          <a:p>
            <a:pPr lvl="1"/>
            <a:r>
              <a:rPr lang="en-US" sz="2400" b="1" dirty="0">
                <a:solidFill>
                  <a:srgbClr val="0000FF"/>
                </a:solidFill>
              </a:rPr>
              <a:t>Religion</a:t>
            </a:r>
            <a:r>
              <a:rPr lang="en-US" sz="2400" dirty="0"/>
              <a:t> -  that the family introduces to a child, plays a role in teaching the right and wrong behaviors</a:t>
            </a:r>
            <a:r>
              <a:rPr lang="en-US" sz="2000" dirty="0"/>
              <a:t>.</a:t>
            </a:r>
          </a:p>
          <a:p>
            <a:endParaRPr lang="en-US" dirty="0"/>
          </a:p>
        </p:txBody>
      </p:sp>
      <p:sp>
        <p:nvSpPr>
          <p:cNvPr id="4" name="Slide Number Placeholder 3">
            <a:extLst>
              <a:ext uri="{FF2B5EF4-FFF2-40B4-BE49-F238E27FC236}">
                <a16:creationId xmlns:a16="http://schemas.microsoft.com/office/drawing/2014/main" id="{F6F84977-5320-8D43-C1E4-D52ED0AA168D}"/>
              </a:ext>
            </a:extLst>
          </p:cNvPr>
          <p:cNvSpPr>
            <a:spLocks noGrp="1"/>
          </p:cNvSpPr>
          <p:nvPr>
            <p:ph type="sldNum" sz="quarter" idx="12"/>
          </p:nvPr>
        </p:nvSpPr>
        <p:spPr/>
        <p:txBody>
          <a:bodyPr/>
          <a:lstStyle/>
          <a:p>
            <a:fld id="{E0512086-A52C-44F0-970D-28E8CB23C1FA}" type="slidenum">
              <a:rPr lang="en-US" smtClean="0"/>
              <a:pPr/>
              <a:t>10</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 calcmode="lin" valueType="num">
                                      <p:cBhvr additive="base">
                                        <p:cTn id="2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 calcmode="lin" valueType="num">
                                      <p:cBhvr additive="base">
                                        <p:cTn id="2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5" end="5"/>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 calcmode="lin" valueType="num">
                                      <p:cBhvr additive="base">
                                        <p:cTn id="31"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lstStyle/>
          <a:p>
            <a:r>
              <a:rPr lang="en-US" b="1" dirty="0"/>
              <a:t>CORE VALUES</a:t>
            </a:r>
            <a:endParaRPr lang="en-US" dirty="0"/>
          </a:p>
        </p:txBody>
      </p:sp>
      <p:sp>
        <p:nvSpPr>
          <p:cNvPr id="5" name="Content Placeholder 4"/>
          <p:cNvSpPr>
            <a:spLocks noGrp="1"/>
          </p:cNvSpPr>
          <p:nvPr>
            <p:ph idx="1"/>
          </p:nvPr>
        </p:nvSpPr>
        <p:spPr>
          <a:xfrm>
            <a:off x="457200" y="1143000"/>
            <a:ext cx="8229600" cy="5410200"/>
          </a:xfrm>
        </p:spPr>
        <p:txBody>
          <a:bodyPr>
            <a:normAutofit fontScale="85000" lnSpcReduction="20000"/>
          </a:bodyPr>
          <a:lstStyle/>
          <a:p>
            <a:r>
              <a:rPr lang="en-US" sz="2800" dirty="0"/>
              <a:t>Core values are the fundamental beliefs of a person or organization. </a:t>
            </a:r>
          </a:p>
          <a:p>
            <a:r>
              <a:rPr lang="en-US" sz="2800" dirty="0"/>
              <a:t>The core values are the guiding principles that dictate behavior and action. </a:t>
            </a:r>
          </a:p>
          <a:p>
            <a:r>
              <a:rPr lang="en-US" sz="2800" dirty="0"/>
              <a:t>Core values can help people to know what is right from wrong; they can help companies to determine if they are on the right path and fulfilling their business goals; and they create an unwavering and unchanging guide. </a:t>
            </a:r>
          </a:p>
          <a:p>
            <a:r>
              <a:rPr lang="en-US" sz="2800" dirty="0"/>
              <a:t>There are many different types of core values and many different examples of core values depending upon the context</a:t>
            </a:r>
          </a:p>
          <a:p>
            <a:r>
              <a:rPr lang="en-US" sz="2800" dirty="0"/>
              <a:t>Core values don't always have to be positive. Some people may be driven by self-interest or greed, and these are core values too if they dictate the way the people live their lives. </a:t>
            </a:r>
          </a:p>
          <a:p>
            <a:endParaRPr lang="en-US" dirty="0"/>
          </a:p>
        </p:txBody>
      </p:sp>
      <p:sp>
        <p:nvSpPr>
          <p:cNvPr id="3" name="Slide Number Placeholder 2">
            <a:extLst>
              <a:ext uri="{FF2B5EF4-FFF2-40B4-BE49-F238E27FC236}">
                <a16:creationId xmlns:a16="http://schemas.microsoft.com/office/drawing/2014/main" id="{39FDDF41-7143-E3E3-F42A-9C41EAEC93D6}"/>
              </a:ext>
            </a:extLst>
          </p:cNvPr>
          <p:cNvSpPr>
            <a:spLocks noGrp="1"/>
          </p:cNvSpPr>
          <p:nvPr>
            <p:ph type="sldNum" sz="quarter" idx="12"/>
          </p:nvPr>
        </p:nvSpPr>
        <p:spPr/>
        <p:txBody>
          <a:bodyPr/>
          <a:lstStyle/>
          <a:p>
            <a:fld id="{E0512086-A52C-44F0-970D-28E8CB23C1FA}" type="slidenum">
              <a:rPr lang="en-US" smtClean="0"/>
              <a:pPr/>
              <a:t>11</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anim calcmode="lin" valueType="num">
                                      <p:cBhvr additive="base">
                                        <p:cTn id="13"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anim calcmode="lin" valueType="num">
                                      <p:cBhvr additive="base">
                                        <p:cTn id="19"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5">
                                            <p:txEl>
                                              <p:pRg st="3" end="3"/>
                                            </p:txEl>
                                          </p:spTgt>
                                        </p:tgtEl>
                                        <p:attrNameLst>
                                          <p:attrName>style.visibility</p:attrName>
                                        </p:attrNameLst>
                                      </p:cBhvr>
                                      <p:to>
                                        <p:strVal val="visible"/>
                                      </p:to>
                                    </p:set>
                                    <p:anim calcmode="lin" valueType="num">
                                      <p:cBhvr additive="base">
                                        <p:cTn id="25"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5">
                                            <p:txEl>
                                              <p:pRg st="4" end="4"/>
                                            </p:txEl>
                                          </p:spTgt>
                                        </p:tgtEl>
                                        <p:attrNameLst>
                                          <p:attrName>style.visibility</p:attrName>
                                        </p:attrNameLst>
                                      </p:cBhvr>
                                      <p:to>
                                        <p:strVal val="visible"/>
                                      </p:to>
                                    </p:set>
                                    <p:anim calcmode="lin" valueType="num">
                                      <p:cBhvr additive="base">
                                        <p:cTn id="31"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58AFF-0B68-F6C5-729B-DFF88663C2D9}"/>
              </a:ext>
            </a:extLst>
          </p:cNvPr>
          <p:cNvSpPr>
            <a:spLocks noGrp="1"/>
          </p:cNvSpPr>
          <p:nvPr>
            <p:ph type="title"/>
          </p:nvPr>
        </p:nvSpPr>
        <p:spPr>
          <a:xfrm>
            <a:off x="609600" y="609600"/>
            <a:ext cx="6347714" cy="762000"/>
          </a:xfrm>
        </p:spPr>
        <p:txBody>
          <a:bodyPr/>
          <a:lstStyle/>
          <a:p>
            <a:r>
              <a:rPr lang="en-US" dirty="0"/>
              <a:t>CORE VALUES</a:t>
            </a:r>
          </a:p>
        </p:txBody>
      </p:sp>
      <p:sp>
        <p:nvSpPr>
          <p:cNvPr id="3" name="Content Placeholder 2">
            <a:extLst>
              <a:ext uri="{FF2B5EF4-FFF2-40B4-BE49-F238E27FC236}">
                <a16:creationId xmlns:a16="http://schemas.microsoft.com/office/drawing/2014/main" id="{E712DE5D-4D4F-25AA-056C-418C0768494A}"/>
              </a:ext>
            </a:extLst>
          </p:cNvPr>
          <p:cNvSpPr>
            <a:spLocks noGrp="1"/>
          </p:cNvSpPr>
          <p:nvPr>
            <p:ph sz="half" idx="1"/>
          </p:nvPr>
        </p:nvSpPr>
        <p:spPr>
          <a:xfrm>
            <a:off x="647307" y="1411157"/>
            <a:ext cx="3088109" cy="3880772"/>
          </a:xfrm>
        </p:spPr>
        <p:txBody>
          <a:bodyPr>
            <a:normAutofit/>
          </a:bodyPr>
          <a:lstStyle/>
          <a:p>
            <a:r>
              <a:rPr lang="en-US" sz="2000" b="1" dirty="0">
                <a:solidFill>
                  <a:srgbClr val="C00000"/>
                </a:solidFill>
              </a:rPr>
              <a:t>FOR LIFE</a:t>
            </a:r>
          </a:p>
          <a:p>
            <a:r>
              <a:rPr lang="en-US" sz="2000" dirty="0">
                <a:solidFill>
                  <a:srgbClr val="800080"/>
                </a:solidFill>
              </a:rPr>
              <a:t>Integrity</a:t>
            </a:r>
          </a:p>
          <a:p>
            <a:r>
              <a:rPr lang="en-US" sz="2000" dirty="0">
                <a:solidFill>
                  <a:srgbClr val="800080"/>
                </a:solidFill>
              </a:rPr>
              <a:t>Compassion</a:t>
            </a:r>
          </a:p>
          <a:p>
            <a:r>
              <a:rPr lang="en-US" sz="2000" dirty="0">
                <a:solidFill>
                  <a:srgbClr val="800080"/>
                </a:solidFill>
              </a:rPr>
              <a:t>Responsibility</a:t>
            </a:r>
          </a:p>
          <a:p>
            <a:r>
              <a:rPr lang="en-GB" sz="2000" dirty="0">
                <a:solidFill>
                  <a:srgbClr val="800080"/>
                </a:solidFill>
              </a:rPr>
              <a:t>Truth</a:t>
            </a:r>
          </a:p>
          <a:p>
            <a:r>
              <a:rPr lang="en-US" sz="2000" dirty="0">
                <a:solidFill>
                  <a:srgbClr val="800080"/>
                </a:solidFill>
              </a:rPr>
              <a:t>Preparedness</a:t>
            </a:r>
          </a:p>
          <a:p>
            <a:endParaRPr lang="en-US" sz="2000" dirty="0">
              <a:solidFill>
                <a:srgbClr val="FF0000"/>
              </a:solidFill>
            </a:endParaRPr>
          </a:p>
          <a:p>
            <a:endParaRPr lang="en-US" sz="2000" b="1" dirty="0">
              <a:solidFill>
                <a:srgbClr val="C00000"/>
              </a:solidFill>
            </a:endParaRPr>
          </a:p>
        </p:txBody>
      </p:sp>
      <p:sp>
        <p:nvSpPr>
          <p:cNvPr id="4" name="Content Placeholder 3">
            <a:extLst>
              <a:ext uri="{FF2B5EF4-FFF2-40B4-BE49-F238E27FC236}">
                <a16:creationId xmlns:a16="http://schemas.microsoft.com/office/drawing/2014/main" id="{19BABD42-AA76-D42C-F62A-22BEB750CA2D}"/>
              </a:ext>
            </a:extLst>
          </p:cNvPr>
          <p:cNvSpPr>
            <a:spLocks noGrp="1"/>
          </p:cNvSpPr>
          <p:nvPr>
            <p:ph sz="half" idx="2"/>
          </p:nvPr>
        </p:nvSpPr>
        <p:spPr>
          <a:xfrm>
            <a:off x="3962400" y="1365315"/>
            <a:ext cx="3088110" cy="3880773"/>
          </a:xfrm>
        </p:spPr>
        <p:txBody>
          <a:bodyPr/>
          <a:lstStyle/>
          <a:p>
            <a:r>
              <a:rPr lang="en-US" sz="2000" b="1" dirty="0">
                <a:solidFill>
                  <a:srgbClr val="C00000"/>
                </a:solidFill>
              </a:rPr>
              <a:t>FOR CAREER</a:t>
            </a:r>
          </a:p>
          <a:p>
            <a:r>
              <a:rPr lang="en-GB" sz="2000" b="1" dirty="0">
                <a:solidFill>
                  <a:srgbClr val="0000FF"/>
                </a:solidFill>
              </a:rPr>
              <a:t>Knowledge</a:t>
            </a:r>
            <a:endParaRPr lang="en-US" sz="2000" b="1" dirty="0">
              <a:solidFill>
                <a:srgbClr val="0000FF"/>
              </a:solidFill>
            </a:endParaRPr>
          </a:p>
          <a:p>
            <a:r>
              <a:rPr lang="en-US" sz="2000" b="1" dirty="0">
                <a:solidFill>
                  <a:srgbClr val="0000FF"/>
                </a:solidFill>
              </a:rPr>
              <a:t>Accountability</a:t>
            </a:r>
          </a:p>
          <a:p>
            <a:r>
              <a:rPr lang="en-US" sz="2000" b="1" dirty="0">
                <a:solidFill>
                  <a:srgbClr val="0000FF"/>
                </a:solidFill>
              </a:rPr>
              <a:t>Accuracy</a:t>
            </a:r>
          </a:p>
          <a:p>
            <a:r>
              <a:rPr lang="en-GB" sz="2000" b="1" dirty="0">
                <a:solidFill>
                  <a:srgbClr val="0000FF"/>
                </a:solidFill>
              </a:rPr>
              <a:t>Leadership</a:t>
            </a:r>
            <a:endParaRPr lang="en-US" sz="2000" b="1" dirty="0">
              <a:solidFill>
                <a:srgbClr val="0000FF"/>
              </a:solidFill>
            </a:endParaRPr>
          </a:p>
          <a:p>
            <a:endParaRPr lang="en-US" b="1" dirty="0">
              <a:solidFill>
                <a:srgbClr val="C00000"/>
              </a:solidFill>
            </a:endParaRPr>
          </a:p>
        </p:txBody>
      </p:sp>
      <p:sp>
        <p:nvSpPr>
          <p:cNvPr id="5" name="Slide Number Placeholder 4">
            <a:extLst>
              <a:ext uri="{FF2B5EF4-FFF2-40B4-BE49-F238E27FC236}">
                <a16:creationId xmlns:a16="http://schemas.microsoft.com/office/drawing/2014/main" id="{3EAD1E79-ABBD-FFEC-C430-32D02FEF1FDC}"/>
              </a:ext>
            </a:extLst>
          </p:cNvPr>
          <p:cNvSpPr>
            <a:spLocks noGrp="1"/>
          </p:cNvSpPr>
          <p:nvPr>
            <p:ph type="sldNum" sz="quarter" idx="12"/>
          </p:nvPr>
        </p:nvSpPr>
        <p:spPr/>
        <p:txBody>
          <a:bodyPr/>
          <a:lstStyle/>
          <a:p>
            <a:fld id="{E0512086-A52C-44F0-970D-28E8CB23C1FA}" type="slidenum">
              <a:rPr lang="en-US" smtClean="0"/>
              <a:pPr/>
              <a:t>12</a:t>
            </a:fld>
            <a:endParaRPr lang="en-US"/>
          </a:p>
        </p:txBody>
      </p:sp>
    </p:spTree>
    <p:extLst>
      <p:ext uri="{BB962C8B-B14F-4D97-AF65-F5344CB8AC3E}">
        <p14:creationId xmlns:p14="http://schemas.microsoft.com/office/powerpoint/2010/main" val="42289923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52400"/>
            <a:ext cx="6347713" cy="838200"/>
          </a:xfrm>
        </p:spPr>
        <p:txBody>
          <a:bodyPr>
            <a:noAutofit/>
          </a:bodyPr>
          <a:lstStyle/>
          <a:p>
            <a:r>
              <a:rPr lang="en-US" b="1" dirty="0"/>
              <a:t>CORPORATE CORE VALUES</a:t>
            </a:r>
            <a:br>
              <a:rPr lang="en-US" b="1" dirty="0"/>
            </a:br>
            <a:endParaRPr lang="en-US" b="1" dirty="0"/>
          </a:p>
        </p:txBody>
      </p:sp>
      <p:sp>
        <p:nvSpPr>
          <p:cNvPr id="3" name="Content Placeholder 2"/>
          <p:cNvSpPr>
            <a:spLocks noGrp="1"/>
          </p:cNvSpPr>
          <p:nvPr>
            <p:ph idx="1"/>
          </p:nvPr>
        </p:nvSpPr>
        <p:spPr>
          <a:xfrm>
            <a:off x="609598" y="990600"/>
            <a:ext cx="7848602" cy="5791200"/>
          </a:xfrm>
        </p:spPr>
        <p:txBody>
          <a:bodyPr>
            <a:noAutofit/>
          </a:bodyPr>
          <a:lstStyle/>
          <a:p>
            <a:pPr marL="0" indent="0">
              <a:buNone/>
            </a:pPr>
            <a:r>
              <a:rPr lang="en-US" sz="2000" dirty="0"/>
              <a:t>Practically all business organizations have Core Values around which they develop their operating principles. They can be defined as </a:t>
            </a:r>
            <a:r>
              <a:rPr lang="en-GB" sz="2000" dirty="0"/>
              <a:t> </a:t>
            </a:r>
            <a:r>
              <a:rPr lang="en-GB" sz="2000" b="1" dirty="0"/>
              <a:t>“</a:t>
            </a:r>
            <a:r>
              <a:rPr lang="en-GB" sz="2000" b="1" i="1" dirty="0"/>
              <a:t>the values that are most important to the direction of the organization and the decision-making within it</a:t>
            </a:r>
            <a:r>
              <a:rPr lang="en-GB" sz="2000" b="1" dirty="0"/>
              <a:t>.”</a:t>
            </a:r>
            <a:r>
              <a:rPr lang="en-GB" sz="2000" dirty="0"/>
              <a:t> </a:t>
            </a:r>
            <a:endParaRPr lang="en-US" sz="2000" dirty="0"/>
          </a:p>
          <a:p>
            <a:pPr marL="0" indent="0">
              <a:buNone/>
            </a:pPr>
            <a:r>
              <a:rPr lang="en-US" sz="2000" dirty="0"/>
              <a:t>They are usually expressed in the “</a:t>
            </a:r>
            <a:r>
              <a:rPr lang="en-US" sz="2000" b="1" dirty="0"/>
              <a:t>MISSION STATEMENT”</a:t>
            </a:r>
            <a:endParaRPr lang="en-US" sz="2000" b="1" u="sng" dirty="0"/>
          </a:p>
          <a:p>
            <a:pPr indent="4763">
              <a:buNone/>
            </a:pPr>
            <a:endParaRPr lang="en-US" sz="2000" b="1" dirty="0"/>
          </a:p>
          <a:p>
            <a:pPr indent="4763">
              <a:buNone/>
            </a:pPr>
            <a:r>
              <a:rPr lang="en-US" sz="2000" b="1" dirty="0"/>
              <a:t>S</a:t>
            </a:r>
            <a:r>
              <a:rPr lang="en-US" sz="2000" dirty="0"/>
              <a:t>ome examples of core values for a company might include:</a:t>
            </a:r>
          </a:p>
          <a:p>
            <a:pPr lvl="0"/>
            <a:r>
              <a:rPr lang="en-US" sz="2000" dirty="0"/>
              <a:t>A commitment to sustainability and to acting in an environmentally friendly way. Companies like </a:t>
            </a:r>
            <a:r>
              <a:rPr lang="en-US" sz="2000" dirty="0">
                <a:solidFill>
                  <a:srgbClr val="0070C0"/>
                </a:solidFill>
              </a:rPr>
              <a:t>Dipped Products Ltd</a:t>
            </a:r>
            <a:r>
              <a:rPr lang="en-US" sz="2000" dirty="0"/>
              <a:t> have environmental sustainability as a core value. </a:t>
            </a:r>
          </a:p>
          <a:p>
            <a:pPr lvl="0"/>
            <a:r>
              <a:rPr lang="en-US" sz="2000" dirty="0"/>
              <a:t>A commitment to excellence and superior performance, achieved with corporate responsibility and sustainability, as practiced by </a:t>
            </a:r>
            <a:r>
              <a:rPr lang="en-US" sz="2000" dirty="0">
                <a:solidFill>
                  <a:srgbClr val="0070C0"/>
                </a:solidFill>
              </a:rPr>
              <a:t>Colombo Dockyards Ltd. </a:t>
            </a:r>
            <a:r>
              <a:rPr lang="en-US" sz="2000" dirty="0"/>
              <a:t> </a:t>
            </a:r>
          </a:p>
          <a:p>
            <a:pPr lvl="0"/>
            <a:r>
              <a:rPr lang="en-US" sz="2000" dirty="0"/>
              <a:t>A commitment to doing good for the whole. </a:t>
            </a:r>
            <a:r>
              <a:rPr lang="en-US" sz="2000" dirty="0">
                <a:solidFill>
                  <a:srgbClr val="0070C0"/>
                </a:solidFill>
              </a:rPr>
              <a:t>John </a:t>
            </a:r>
            <a:r>
              <a:rPr lang="en-US" sz="2000" dirty="0" err="1">
                <a:solidFill>
                  <a:srgbClr val="0070C0"/>
                </a:solidFill>
              </a:rPr>
              <a:t>Keells</a:t>
            </a:r>
            <a:r>
              <a:rPr lang="en-US" sz="2000" dirty="0"/>
              <a:t>, for example, believes in  building a great company, doing things correctly and constantly improving.. </a:t>
            </a:r>
          </a:p>
          <a:p>
            <a:pPr lvl="0"/>
            <a:endParaRPr lang="en-US" sz="2000" dirty="0"/>
          </a:p>
          <a:p>
            <a:endParaRPr lang="en-US" sz="2000" dirty="0"/>
          </a:p>
        </p:txBody>
      </p:sp>
      <p:sp>
        <p:nvSpPr>
          <p:cNvPr id="4" name="Slide Number Placeholder 3">
            <a:extLst>
              <a:ext uri="{FF2B5EF4-FFF2-40B4-BE49-F238E27FC236}">
                <a16:creationId xmlns:a16="http://schemas.microsoft.com/office/drawing/2014/main" id="{B8169752-8D53-0ACC-EE57-80FB8F39CCD7}"/>
              </a:ext>
            </a:extLst>
          </p:cNvPr>
          <p:cNvSpPr>
            <a:spLocks noGrp="1"/>
          </p:cNvSpPr>
          <p:nvPr>
            <p:ph type="sldNum" sz="quarter" idx="12"/>
          </p:nvPr>
        </p:nvSpPr>
        <p:spPr/>
        <p:txBody>
          <a:bodyPr/>
          <a:lstStyle/>
          <a:p>
            <a:fld id="{E0512086-A52C-44F0-970D-28E8CB23C1FA}" type="slidenum">
              <a:rPr lang="en-US" smtClean="0"/>
              <a:pPr/>
              <a:t>13</a:t>
            </a:fld>
            <a:endParaRPr lang="en-US"/>
          </a:p>
        </p:txBody>
      </p:sp>
    </p:spTree>
    <p:extLst>
      <p:ext uri="{BB962C8B-B14F-4D97-AF65-F5344CB8AC3E}">
        <p14:creationId xmlns:p14="http://schemas.microsoft.com/office/powerpoint/2010/main" val="11042547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 calcmode="lin" valueType="num">
                                      <p:cBhvr additive="base">
                                        <p:cTn id="2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 calcmode="lin" valueType="num">
                                      <p:cBhvr additive="base">
                                        <p:cTn id="2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 calcmode="lin" valueType="num">
                                      <p:cBhvr additive="base">
                                        <p:cTn id="3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599" y="304800"/>
            <a:ext cx="6347713" cy="762000"/>
          </a:xfrm>
        </p:spPr>
        <p:txBody>
          <a:bodyPr/>
          <a:lstStyle/>
          <a:p>
            <a:r>
              <a:rPr lang="en-US" b="1" dirty="0"/>
              <a:t>CORPORATE CORE VALUES</a:t>
            </a:r>
            <a:endParaRPr lang="en-US" dirty="0"/>
          </a:p>
        </p:txBody>
      </p:sp>
      <p:sp>
        <p:nvSpPr>
          <p:cNvPr id="3" name="Content Placeholder 2"/>
          <p:cNvSpPr>
            <a:spLocks noGrp="1"/>
          </p:cNvSpPr>
          <p:nvPr>
            <p:ph idx="1"/>
          </p:nvPr>
        </p:nvSpPr>
        <p:spPr>
          <a:xfrm>
            <a:off x="685800" y="1066800"/>
            <a:ext cx="7010400" cy="5334000"/>
          </a:xfrm>
        </p:spPr>
        <p:txBody>
          <a:bodyPr>
            <a:normAutofit fontScale="92500" lnSpcReduction="20000"/>
          </a:bodyPr>
          <a:lstStyle/>
          <a:p>
            <a:pPr marL="0" lvl="0" indent="0">
              <a:buNone/>
            </a:pPr>
            <a:endParaRPr lang="en-US" dirty="0"/>
          </a:p>
          <a:p>
            <a:r>
              <a:rPr lang="en-US" sz="2200" dirty="0" err="1">
                <a:solidFill>
                  <a:srgbClr val="0070C0"/>
                </a:solidFill>
              </a:rPr>
              <a:t>Durdans</a:t>
            </a:r>
            <a:r>
              <a:rPr lang="en-US" sz="2200" dirty="0">
                <a:solidFill>
                  <a:srgbClr val="0070C0"/>
                </a:solidFill>
              </a:rPr>
              <a:t> Hospital </a:t>
            </a:r>
            <a:r>
              <a:rPr lang="en-US" sz="2200" dirty="0" err="1">
                <a:solidFill>
                  <a:srgbClr val="0070C0"/>
                </a:solidFill>
              </a:rPr>
              <a:t>plc</a:t>
            </a:r>
            <a:r>
              <a:rPr lang="en-US" sz="2200" dirty="0">
                <a:solidFill>
                  <a:srgbClr val="0070C0"/>
                </a:solidFill>
              </a:rPr>
              <a:t>  </a:t>
            </a:r>
            <a:r>
              <a:rPr lang="en-US" sz="2200" dirty="0"/>
              <a:t>aim to lead the Sri Lankan healthcare sector, providing preventive and compassionate patient care. </a:t>
            </a:r>
          </a:p>
          <a:p>
            <a:r>
              <a:rPr lang="en-US" sz="2200" dirty="0">
                <a:solidFill>
                  <a:srgbClr val="0070C0"/>
                </a:solidFill>
              </a:rPr>
              <a:t>MAGA</a:t>
            </a:r>
            <a:r>
              <a:rPr lang="en-US" sz="2200" dirty="0"/>
              <a:t> maintain uncompromising standards to ensure that their projects are carried out with the utmost speed, care and accuracy</a:t>
            </a:r>
          </a:p>
          <a:p>
            <a:endParaRPr lang="en-US" sz="2200" dirty="0"/>
          </a:p>
          <a:p>
            <a:pPr marL="0" indent="0">
              <a:buNone/>
            </a:pPr>
            <a:r>
              <a:rPr lang="en-US" sz="2200" dirty="0"/>
              <a:t>Many of the core values that companies have are similar to those that individuals might choose as their guiding principles as well.</a:t>
            </a:r>
          </a:p>
          <a:p>
            <a:pPr marL="0" lvl="0" indent="0">
              <a:buNone/>
            </a:pPr>
            <a:endParaRPr lang="en-US" sz="2200" dirty="0"/>
          </a:p>
          <a:p>
            <a:pPr marL="0" indent="0">
              <a:buNone/>
            </a:pPr>
            <a:r>
              <a:rPr lang="en-US" sz="2200" dirty="0"/>
              <a:t>Companies may also have negative core values as well. Companies that are solely motivated by profit, such as tobacco companies who lied to their customers about the dangers of smoking, may have been driven by core values of self-interest and an overly strong profit motive. </a:t>
            </a:r>
          </a:p>
        </p:txBody>
      </p:sp>
      <p:sp>
        <p:nvSpPr>
          <p:cNvPr id="4" name="Slide Number Placeholder 3">
            <a:extLst>
              <a:ext uri="{FF2B5EF4-FFF2-40B4-BE49-F238E27FC236}">
                <a16:creationId xmlns:a16="http://schemas.microsoft.com/office/drawing/2014/main" id="{6D7D3C1B-E00A-775E-F291-29D306786E5A}"/>
              </a:ext>
            </a:extLst>
          </p:cNvPr>
          <p:cNvSpPr>
            <a:spLocks noGrp="1"/>
          </p:cNvSpPr>
          <p:nvPr>
            <p:ph type="sldNum" sz="quarter" idx="12"/>
          </p:nvPr>
        </p:nvSpPr>
        <p:spPr/>
        <p:txBody>
          <a:bodyPr/>
          <a:lstStyle/>
          <a:p>
            <a:fld id="{E0512086-A52C-44F0-970D-28E8CB23C1FA}" type="slidenum">
              <a:rPr lang="en-US" smtClean="0"/>
              <a:pPr/>
              <a:t>14</a:t>
            </a:fld>
            <a:endParaRPr lang="en-US"/>
          </a:p>
        </p:txBody>
      </p:sp>
    </p:spTree>
    <p:extLst>
      <p:ext uri="{BB962C8B-B14F-4D97-AF65-F5344CB8AC3E}">
        <p14:creationId xmlns:p14="http://schemas.microsoft.com/office/powerpoint/2010/main" val="6124214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animEffect transition="in" filter="fade">
                                      <p:cBhvr>
                                        <p:cTn id="25" dur="1000"/>
                                        <p:tgtEl>
                                          <p:spTgt spid="3">
                                            <p:txEl>
                                              <p:pRg st="6" end="6"/>
                                            </p:txEl>
                                          </p:spTgt>
                                        </p:tgtEl>
                                      </p:cBhvr>
                                    </p:animEffect>
                                    <p:anim calcmode="lin" valueType="num">
                                      <p:cBhvr>
                                        <p:cTn id="26"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27"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solidFill>
                  <a:srgbClr val="0000FF"/>
                </a:solidFill>
              </a:rPr>
              <a:t>Core Values: John </a:t>
            </a:r>
            <a:r>
              <a:rPr lang="en-US" dirty="0" err="1">
                <a:solidFill>
                  <a:srgbClr val="0000FF"/>
                </a:solidFill>
              </a:rPr>
              <a:t>Keells</a:t>
            </a:r>
            <a:r>
              <a:rPr lang="en-US" dirty="0">
                <a:solidFill>
                  <a:srgbClr val="0000FF"/>
                </a:solidFill>
              </a:rPr>
              <a:t> Holdings PLC </a:t>
            </a:r>
            <a:endParaRPr lang="en-US" dirty="0"/>
          </a:p>
        </p:txBody>
      </p:sp>
      <p:sp>
        <p:nvSpPr>
          <p:cNvPr id="3" name="Content Placeholder 2"/>
          <p:cNvSpPr>
            <a:spLocks noGrp="1"/>
          </p:cNvSpPr>
          <p:nvPr>
            <p:ph idx="1"/>
          </p:nvPr>
        </p:nvSpPr>
        <p:spPr>
          <a:xfrm>
            <a:off x="583808" y="1939778"/>
            <a:ext cx="6347714" cy="4697410"/>
          </a:xfrm>
        </p:spPr>
        <p:txBody>
          <a:bodyPr>
            <a:noAutofit/>
          </a:bodyPr>
          <a:lstStyle/>
          <a:p>
            <a:pPr>
              <a:buNone/>
            </a:pPr>
            <a:r>
              <a:rPr lang="en-US" sz="2000" b="1" dirty="0"/>
              <a:t>Our values</a:t>
            </a:r>
            <a:endParaRPr lang="en-US" sz="2000" dirty="0"/>
          </a:p>
          <a:p>
            <a:pPr>
              <a:buNone/>
            </a:pPr>
            <a:r>
              <a:rPr lang="en-US" sz="2000" dirty="0"/>
              <a:t> </a:t>
            </a:r>
          </a:p>
          <a:p>
            <a:pPr>
              <a:buNone/>
            </a:pPr>
            <a:r>
              <a:rPr lang="en-US" sz="2000" dirty="0"/>
              <a:t>“We are passionate about -</a:t>
            </a:r>
          </a:p>
          <a:p>
            <a:pPr>
              <a:buNone/>
            </a:pPr>
            <a:r>
              <a:rPr lang="en-US" sz="2000" dirty="0"/>
              <a:t> </a:t>
            </a:r>
          </a:p>
          <a:p>
            <a:pPr>
              <a:buNone/>
            </a:pPr>
            <a:r>
              <a:rPr lang="en-US" sz="2000" dirty="0"/>
              <a:t>• Changing constantly, re-inventing and evolving</a:t>
            </a:r>
          </a:p>
          <a:p>
            <a:pPr>
              <a:buNone/>
            </a:pPr>
            <a:r>
              <a:rPr lang="en-US" sz="2000" dirty="0"/>
              <a:t>• Striving to get things right the first time</a:t>
            </a:r>
          </a:p>
          <a:p>
            <a:pPr>
              <a:buNone/>
            </a:pPr>
            <a:r>
              <a:rPr lang="en-US" sz="2000" dirty="0"/>
              <a:t>• Doing the right things always</a:t>
            </a:r>
          </a:p>
          <a:p>
            <a:pPr>
              <a:buNone/>
            </a:pPr>
            <a:r>
              <a:rPr lang="en-US" sz="2000" dirty="0"/>
              <a:t>• Constantly raising the bar</a:t>
            </a:r>
          </a:p>
          <a:p>
            <a:pPr>
              <a:buNone/>
            </a:pPr>
            <a:r>
              <a:rPr lang="en-US" sz="2000" dirty="0"/>
              <a:t>• Fostering a great place to work</a:t>
            </a:r>
          </a:p>
          <a:p>
            <a:pPr>
              <a:buNone/>
            </a:pPr>
            <a:r>
              <a:rPr lang="en-US" sz="2000" dirty="0"/>
              <a:t>• Building strong relationships based on openness and trust”</a:t>
            </a:r>
          </a:p>
          <a:p>
            <a:endParaRPr lang="en-US" sz="2000" dirty="0"/>
          </a:p>
        </p:txBody>
      </p:sp>
      <p:sp>
        <p:nvSpPr>
          <p:cNvPr id="4" name="Slide Number Placeholder 3">
            <a:extLst>
              <a:ext uri="{FF2B5EF4-FFF2-40B4-BE49-F238E27FC236}">
                <a16:creationId xmlns:a16="http://schemas.microsoft.com/office/drawing/2014/main" id="{D84BDBF7-A73F-5CAA-276E-F1D0AB802EA4}"/>
              </a:ext>
            </a:extLst>
          </p:cNvPr>
          <p:cNvSpPr>
            <a:spLocks noGrp="1"/>
          </p:cNvSpPr>
          <p:nvPr>
            <p:ph type="sldNum" sz="quarter" idx="12"/>
          </p:nvPr>
        </p:nvSpPr>
        <p:spPr/>
        <p:txBody>
          <a:bodyPr/>
          <a:lstStyle/>
          <a:p>
            <a:fld id="{E0512086-A52C-44F0-970D-28E8CB23C1FA}" type="slidenum">
              <a:rPr lang="en-US" smtClean="0"/>
              <a:pPr/>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49425" y="876300"/>
            <a:ext cx="6347713" cy="1320800"/>
          </a:xfrm>
        </p:spPr>
        <p:txBody>
          <a:bodyPr/>
          <a:lstStyle/>
          <a:p>
            <a:endParaRPr lang="en-US" dirty="0"/>
          </a:p>
        </p:txBody>
      </p:sp>
      <p:sp>
        <p:nvSpPr>
          <p:cNvPr id="3" name="Content Placeholder 2"/>
          <p:cNvSpPr>
            <a:spLocks noGrp="1"/>
          </p:cNvSpPr>
          <p:nvPr>
            <p:ph idx="1"/>
          </p:nvPr>
        </p:nvSpPr>
        <p:spPr>
          <a:xfrm>
            <a:off x="609600" y="1371600"/>
            <a:ext cx="7772400" cy="5334000"/>
          </a:xfrm>
        </p:spPr>
        <p:txBody>
          <a:bodyPr>
            <a:normAutofit lnSpcReduction="10000"/>
          </a:bodyPr>
          <a:lstStyle/>
          <a:p>
            <a:endParaRPr lang="en-US" dirty="0"/>
          </a:p>
          <a:p>
            <a:endParaRPr lang="en-US" dirty="0"/>
          </a:p>
          <a:p>
            <a:endParaRPr lang="en-US" dirty="0"/>
          </a:p>
          <a:p>
            <a:endParaRPr lang="en-US" dirty="0"/>
          </a:p>
          <a:p>
            <a:pPr marL="0" indent="0">
              <a:buNone/>
            </a:pPr>
            <a:r>
              <a:rPr lang="en-US" sz="2800" b="1" dirty="0">
                <a:solidFill>
                  <a:srgbClr val="C00000"/>
                </a:solidFill>
              </a:rPr>
              <a:t>   Mission:</a:t>
            </a:r>
            <a:r>
              <a:rPr lang="en-US" sz="2800" b="1" dirty="0"/>
              <a:t> </a:t>
            </a:r>
            <a:r>
              <a:rPr lang="en-US" sz="2400" dirty="0"/>
              <a:t>We strive,  </a:t>
            </a:r>
          </a:p>
          <a:p>
            <a:pPr>
              <a:buFont typeface="Wingdings" panose="05000000000000000000" pitchFamily="2" charset="2"/>
              <a:buChar char="§"/>
            </a:pPr>
            <a:r>
              <a:rPr lang="en-US" sz="2400" dirty="0"/>
              <a:t>To be the most competitive and viable business entity in the South in Shipbuilding, Ship-repairs, Heavy Engineering and allied activities: </a:t>
            </a:r>
          </a:p>
          <a:p>
            <a:pPr>
              <a:buFont typeface="Wingdings" panose="05000000000000000000" pitchFamily="2" charset="2"/>
              <a:buChar char="§"/>
            </a:pPr>
            <a:r>
              <a:rPr lang="en-US" sz="2400" dirty="0"/>
              <a:t>To efficiently and effectively manage all our resources: </a:t>
            </a:r>
          </a:p>
          <a:p>
            <a:pPr>
              <a:buFont typeface="Wingdings" panose="05000000000000000000" pitchFamily="2" charset="2"/>
              <a:buChar char="§"/>
            </a:pPr>
            <a:r>
              <a:rPr lang="en-US" sz="2400" dirty="0"/>
              <a:t>To achieve sustainable growth: </a:t>
            </a:r>
          </a:p>
          <a:p>
            <a:pPr>
              <a:buFont typeface="Wingdings" panose="05000000000000000000" pitchFamily="2" charset="2"/>
              <a:buChar char="§"/>
            </a:pPr>
            <a:r>
              <a:rPr lang="en-US" sz="2400" dirty="0"/>
              <a:t>To enhance the interests of our Stakeholders, and thereby contribute to the pursuit of our vision:</a:t>
            </a:r>
          </a:p>
        </p:txBody>
      </p:sp>
      <p:sp>
        <p:nvSpPr>
          <p:cNvPr id="4" name="Rectangle 3"/>
          <p:cNvSpPr/>
          <p:nvPr/>
        </p:nvSpPr>
        <p:spPr>
          <a:xfrm>
            <a:off x="762000" y="1143000"/>
            <a:ext cx="7772400" cy="1631216"/>
          </a:xfrm>
          <a:prstGeom prst="rect">
            <a:avLst/>
          </a:prstGeom>
        </p:spPr>
        <p:txBody>
          <a:bodyPr wrap="square">
            <a:spAutoFit/>
          </a:bodyPr>
          <a:lstStyle/>
          <a:p>
            <a:r>
              <a:rPr lang="en-US" sz="2800" b="1" dirty="0">
                <a:solidFill>
                  <a:srgbClr val="C00000"/>
                </a:solidFill>
              </a:rPr>
              <a:t>Vision</a:t>
            </a:r>
            <a:r>
              <a:rPr lang="en-US" dirty="0"/>
              <a:t> :</a:t>
            </a:r>
          </a:p>
          <a:p>
            <a:r>
              <a:rPr lang="en-US" sz="2400" dirty="0"/>
              <a:t>We pursue excellence and superior performance in all what we do to enhance the long-term interests of all our stakeholders in a socially responsible manner</a:t>
            </a:r>
          </a:p>
        </p:txBody>
      </p:sp>
      <p:pic>
        <p:nvPicPr>
          <p:cNvPr id="1026" name="Picture 2" descr="Colombo Dockyard PLC"/>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9200" y="152400"/>
            <a:ext cx="5410200" cy="942975"/>
          </a:xfrm>
          <a:prstGeom prst="rect">
            <a:avLst/>
          </a:prstGeom>
          <a:noFill/>
          <a:extLst>
            <a:ext uri="{909E8E84-426E-40DD-AFC4-6F175D3DCCD1}">
              <a14:hiddenFill xmlns:a14="http://schemas.microsoft.com/office/drawing/2010/main">
                <a:solidFill>
                  <a:srgbClr val="FFFFFF"/>
                </a:solidFill>
              </a14:hiddenFill>
            </a:ext>
          </a:extLst>
        </p:spPr>
      </p:pic>
      <p:sp>
        <p:nvSpPr>
          <p:cNvPr id="5" name="Slide Number Placeholder 4">
            <a:extLst>
              <a:ext uri="{FF2B5EF4-FFF2-40B4-BE49-F238E27FC236}">
                <a16:creationId xmlns:a16="http://schemas.microsoft.com/office/drawing/2014/main" id="{4588E45B-A40B-84F8-1511-32E582D54306}"/>
              </a:ext>
            </a:extLst>
          </p:cNvPr>
          <p:cNvSpPr>
            <a:spLocks noGrp="1"/>
          </p:cNvSpPr>
          <p:nvPr>
            <p:ph type="sldNum" sz="quarter" idx="12"/>
          </p:nvPr>
        </p:nvSpPr>
        <p:spPr/>
        <p:txBody>
          <a:bodyPr/>
          <a:lstStyle/>
          <a:p>
            <a:fld id="{E0512086-A52C-44F0-970D-28E8CB23C1FA}" type="slidenum">
              <a:rPr lang="en-US" smtClean="0"/>
              <a:pPr/>
              <a:t>16</a:t>
            </a:fld>
            <a:endParaRPr lang="en-US"/>
          </a:p>
        </p:txBody>
      </p:sp>
    </p:spTree>
    <p:extLst>
      <p:ext uri="{BB962C8B-B14F-4D97-AF65-F5344CB8AC3E}">
        <p14:creationId xmlns:p14="http://schemas.microsoft.com/office/powerpoint/2010/main" val="41418154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1752600"/>
            <a:ext cx="6347713" cy="685800"/>
          </a:xfrm>
        </p:spPr>
        <p:txBody>
          <a:bodyPr>
            <a:normAutofit fontScale="90000"/>
          </a:bodyPr>
          <a:lstStyle/>
          <a:p>
            <a:r>
              <a:rPr lang="en-US" b="1" dirty="0"/>
              <a:t>Core Values</a:t>
            </a:r>
            <a:br>
              <a:rPr lang="en-US" b="1" dirty="0"/>
            </a:br>
            <a:endParaRPr lang="en-US" dirty="0"/>
          </a:p>
        </p:txBody>
      </p:sp>
      <p:sp>
        <p:nvSpPr>
          <p:cNvPr id="3" name="Content Placeholder 2"/>
          <p:cNvSpPr>
            <a:spLocks noGrp="1"/>
          </p:cNvSpPr>
          <p:nvPr>
            <p:ph idx="1"/>
          </p:nvPr>
        </p:nvSpPr>
        <p:spPr>
          <a:xfrm>
            <a:off x="685800" y="2514600"/>
            <a:ext cx="7086600" cy="3880773"/>
          </a:xfrm>
        </p:spPr>
        <p:txBody>
          <a:bodyPr>
            <a:normAutofit lnSpcReduction="10000"/>
          </a:bodyPr>
          <a:lstStyle/>
          <a:p>
            <a:r>
              <a:rPr lang="en-US" sz="2000" b="1" dirty="0"/>
              <a:t>Our Values</a:t>
            </a:r>
            <a:endParaRPr lang="en-US" sz="2000" dirty="0"/>
          </a:p>
          <a:p>
            <a:r>
              <a:rPr lang="en-US" sz="2400" dirty="0"/>
              <a:t>We passionately believe in what we do, and we do it with the utmost </a:t>
            </a:r>
            <a:r>
              <a:rPr lang="en-US" sz="2400" b="1" dirty="0">
                <a:solidFill>
                  <a:srgbClr val="FF0000"/>
                </a:solidFill>
              </a:rPr>
              <a:t>care</a:t>
            </a:r>
            <a:r>
              <a:rPr lang="en-US" sz="2400" dirty="0"/>
              <a:t>, </a:t>
            </a:r>
            <a:r>
              <a:rPr lang="en-US" sz="2400" b="1" dirty="0">
                <a:solidFill>
                  <a:srgbClr val="FF0000"/>
                </a:solidFill>
              </a:rPr>
              <a:t>speed</a:t>
            </a:r>
            <a:r>
              <a:rPr lang="en-US" sz="2400" dirty="0"/>
              <a:t> and </a:t>
            </a:r>
            <a:r>
              <a:rPr lang="en-US" sz="2400" b="1" dirty="0">
                <a:solidFill>
                  <a:srgbClr val="FF0000"/>
                </a:solidFill>
              </a:rPr>
              <a:t>accuracy</a:t>
            </a:r>
            <a:r>
              <a:rPr lang="en-US" sz="2400" dirty="0"/>
              <a:t> to the best of our ability. Our standards and values are of supreme priority and are not to be compromised. We ensure that our clients, members of our team and society at large are well cared for. We believe in being ethical in everything we do and consider it the primary road to our personal and organizational success.</a:t>
            </a:r>
          </a:p>
        </p:txBody>
      </p:sp>
      <p:pic>
        <p:nvPicPr>
          <p:cNvPr id="1026" name="Picture 2" descr="Maga Engineering (Pvt) Ltd. Sri Lank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0" y="304800"/>
            <a:ext cx="1524000" cy="1066800"/>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403F19AF-5AA3-5027-E13F-03479D66FC85}"/>
              </a:ext>
            </a:extLst>
          </p:cNvPr>
          <p:cNvSpPr>
            <a:spLocks noGrp="1"/>
          </p:cNvSpPr>
          <p:nvPr>
            <p:ph type="sldNum" sz="quarter" idx="12"/>
          </p:nvPr>
        </p:nvSpPr>
        <p:spPr/>
        <p:txBody>
          <a:bodyPr/>
          <a:lstStyle/>
          <a:p>
            <a:fld id="{E0512086-A52C-44F0-970D-28E8CB23C1FA}" type="slidenum">
              <a:rPr lang="en-US" smtClean="0"/>
              <a:pPr/>
              <a:t>17</a:t>
            </a:fld>
            <a:endParaRPr lang="en-US"/>
          </a:p>
        </p:txBody>
      </p:sp>
    </p:spTree>
    <p:extLst>
      <p:ext uri="{BB962C8B-B14F-4D97-AF65-F5344CB8AC3E}">
        <p14:creationId xmlns:p14="http://schemas.microsoft.com/office/powerpoint/2010/main" val="15046863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http://www.dplgroup.com/images/dpl_logo.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457200"/>
            <a:ext cx="4267200" cy="1057276"/>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685800" y="2209800"/>
            <a:ext cx="7010400" cy="3785652"/>
          </a:xfrm>
          <a:prstGeom prst="rect">
            <a:avLst/>
          </a:prstGeom>
        </p:spPr>
        <p:txBody>
          <a:bodyPr wrap="square">
            <a:spAutoFit/>
          </a:bodyPr>
          <a:lstStyle/>
          <a:p>
            <a:r>
              <a:rPr lang="en-US" sz="2400" dirty="0">
                <a:solidFill>
                  <a:srgbClr val="666666"/>
                </a:solidFill>
                <a:latin typeface="Arial Black" panose="020B0A04020102020204" pitchFamily="34" charset="0"/>
              </a:rPr>
              <a:t>DPL strives to be the preferred global hand protection provider. We are committed to the continual improvement of our business processes and systems.</a:t>
            </a:r>
            <a:br>
              <a:rPr lang="en-US" sz="2400" dirty="0">
                <a:latin typeface="Arial Black" panose="020B0A04020102020204" pitchFamily="34" charset="0"/>
              </a:rPr>
            </a:br>
            <a:br>
              <a:rPr lang="en-US" sz="2400" dirty="0">
                <a:latin typeface="Arial Black" panose="020B0A04020102020204" pitchFamily="34" charset="0"/>
              </a:rPr>
            </a:br>
            <a:r>
              <a:rPr lang="en-US" sz="2400" dirty="0">
                <a:solidFill>
                  <a:srgbClr val="666666"/>
                </a:solidFill>
                <a:latin typeface="Arial Black" panose="020B0A04020102020204" pitchFamily="34" charset="0"/>
              </a:rPr>
              <a:t>We shall comply with environmental and social obligations, meet the aspirations of our employees, suppliers and shareholders and build relationships of trust</a:t>
            </a:r>
            <a:endParaRPr lang="en-US" sz="2400" dirty="0">
              <a:latin typeface="Arial Black" panose="020B0A04020102020204" pitchFamily="34" charset="0"/>
            </a:endParaRPr>
          </a:p>
        </p:txBody>
      </p:sp>
      <p:sp>
        <p:nvSpPr>
          <p:cNvPr id="2" name="Slide Number Placeholder 1">
            <a:extLst>
              <a:ext uri="{FF2B5EF4-FFF2-40B4-BE49-F238E27FC236}">
                <a16:creationId xmlns:a16="http://schemas.microsoft.com/office/drawing/2014/main" id="{93061A2C-E812-D9AC-80D5-F60D7E152A3E}"/>
              </a:ext>
            </a:extLst>
          </p:cNvPr>
          <p:cNvSpPr>
            <a:spLocks noGrp="1"/>
          </p:cNvSpPr>
          <p:nvPr>
            <p:ph type="sldNum" sz="quarter" idx="12"/>
          </p:nvPr>
        </p:nvSpPr>
        <p:spPr/>
        <p:txBody>
          <a:bodyPr/>
          <a:lstStyle/>
          <a:p>
            <a:fld id="{E0512086-A52C-44F0-970D-28E8CB23C1FA}" type="slidenum">
              <a:rPr lang="en-US" smtClean="0"/>
              <a:pPr/>
              <a:t>18</a:t>
            </a:fld>
            <a:endParaRPr lang="en-US"/>
          </a:p>
        </p:txBody>
      </p:sp>
    </p:spTree>
    <p:extLst>
      <p:ext uri="{BB962C8B-B14F-4D97-AF65-F5344CB8AC3E}">
        <p14:creationId xmlns:p14="http://schemas.microsoft.com/office/powerpoint/2010/main" val="26204921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3" cy="762000"/>
          </a:xfrm>
        </p:spPr>
        <p:txBody>
          <a:bodyPr>
            <a:normAutofit/>
          </a:bodyPr>
          <a:lstStyle/>
          <a:p>
            <a:r>
              <a:rPr lang="en-US" b="1" dirty="0">
                <a:solidFill>
                  <a:srgbClr val="7030A0"/>
                </a:solidFill>
              </a:rPr>
              <a:t>DURDANS HOSPITALS</a:t>
            </a:r>
            <a:endParaRPr lang="en-US" dirty="0">
              <a:solidFill>
                <a:srgbClr val="7030A0"/>
              </a:solidFill>
            </a:endParaRPr>
          </a:p>
        </p:txBody>
      </p:sp>
      <p:sp>
        <p:nvSpPr>
          <p:cNvPr id="3" name="Content Placeholder 2"/>
          <p:cNvSpPr>
            <a:spLocks noGrp="1"/>
          </p:cNvSpPr>
          <p:nvPr>
            <p:ph idx="1"/>
          </p:nvPr>
        </p:nvSpPr>
        <p:spPr>
          <a:xfrm>
            <a:off x="762000" y="1219200"/>
            <a:ext cx="7162802" cy="5623957"/>
          </a:xfrm>
        </p:spPr>
        <p:txBody>
          <a:bodyPr>
            <a:normAutofit fontScale="92500" lnSpcReduction="20000"/>
          </a:bodyPr>
          <a:lstStyle/>
          <a:p>
            <a:r>
              <a:rPr lang="en-US" sz="2000" b="1" dirty="0">
                <a:solidFill>
                  <a:srgbClr val="C00000"/>
                </a:solidFill>
              </a:rPr>
              <a:t>VISION</a:t>
            </a:r>
          </a:p>
          <a:p>
            <a:r>
              <a:rPr lang="en-US" sz="2000" dirty="0"/>
              <a:t>At the forefront of medical excellence, defining the future of Sri Lankan healthcare.</a:t>
            </a:r>
          </a:p>
          <a:p>
            <a:r>
              <a:rPr lang="en-US" sz="2000" b="1" dirty="0">
                <a:solidFill>
                  <a:srgbClr val="C00000"/>
                </a:solidFill>
              </a:rPr>
              <a:t>MISSION</a:t>
            </a:r>
          </a:p>
          <a:p>
            <a:r>
              <a:rPr lang="en-US" sz="2000" dirty="0"/>
              <a:t>To enhance the lives of our community at large, by unfolding a paradigm shift in all service tiers and excelling in</a:t>
            </a:r>
            <a:br>
              <a:rPr lang="en-US" sz="2000" dirty="0"/>
            </a:br>
            <a:r>
              <a:rPr lang="en-US" sz="2000" dirty="0"/>
              <a:t>preventative and compassionate patient care</a:t>
            </a:r>
          </a:p>
          <a:p>
            <a:endParaRPr lang="en-US" sz="2000" b="1" dirty="0">
              <a:solidFill>
                <a:schemeClr val="accent5">
                  <a:lumMod val="75000"/>
                </a:schemeClr>
              </a:solidFill>
            </a:endParaRPr>
          </a:p>
          <a:p>
            <a:r>
              <a:rPr lang="en-US" sz="2000" b="1" dirty="0">
                <a:solidFill>
                  <a:srgbClr val="C00000"/>
                </a:solidFill>
              </a:rPr>
              <a:t>VALUES</a:t>
            </a:r>
          </a:p>
          <a:p>
            <a:r>
              <a:rPr lang="en-US" sz="2000" b="1" dirty="0">
                <a:solidFill>
                  <a:schemeClr val="accent5">
                    <a:lumMod val="75000"/>
                  </a:schemeClr>
                </a:solidFill>
              </a:rPr>
              <a:t>EMPOWERING PRIDE</a:t>
            </a:r>
          </a:p>
          <a:p>
            <a:pPr lvl="1"/>
            <a:r>
              <a:rPr lang="en-US" sz="1800" dirty="0"/>
              <a:t>We attract, inspire and motivate passionate individuals</a:t>
            </a:r>
          </a:p>
          <a:p>
            <a:r>
              <a:rPr lang="en-US" sz="2000" b="1" dirty="0">
                <a:solidFill>
                  <a:schemeClr val="accent5">
                    <a:lumMod val="75000"/>
                  </a:schemeClr>
                </a:solidFill>
              </a:rPr>
              <a:t>DEDICATED COMPASSION</a:t>
            </a:r>
          </a:p>
          <a:p>
            <a:pPr lvl="1"/>
            <a:r>
              <a:rPr lang="en-US" sz="1800" dirty="0"/>
              <a:t>We create heartfelt, customer-</a:t>
            </a:r>
            <a:r>
              <a:rPr lang="en-US" sz="1800" dirty="0" err="1"/>
              <a:t>centred</a:t>
            </a:r>
            <a:r>
              <a:rPr lang="en-US" sz="1800" dirty="0"/>
              <a:t> experiences</a:t>
            </a:r>
          </a:p>
          <a:p>
            <a:r>
              <a:rPr lang="en-US" sz="2000" b="1" dirty="0">
                <a:solidFill>
                  <a:schemeClr val="accent5">
                    <a:lumMod val="75000"/>
                  </a:schemeClr>
                </a:solidFill>
              </a:rPr>
              <a:t>ADVANCING MEDICAL EXCELLENCE</a:t>
            </a:r>
          </a:p>
          <a:p>
            <a:pPr lvl="1"/>
            <a:r>
              <a:rPr lang="en-US" sz="1800" dirty="0"/>
              <a:t>We drive the medical industry towards greater heights</a:t>
            </a:r>
          </a:p>
          <a:p>
            <a:r>
              <a:rPr lang="en-US" sz="2000" b="1" dirty="0">
                <a:solidFill>
                  <a:schemeClr val="accent5">
                    <a:lumMod val="75000"/>
                  </a:schemeClr>
                </a:solidFill>
              </a:rPr>
              <a:t>PRESTIGE BEYOND OUR BORDERS</a:t>
            </a:r>
          </a:p>
          <a:p>
            <a:pPr lvl="1"/>
            <a:r>
              <a:rPr lang="en-US" sz="1800" dirty="0"/>
              <a:t>Enhancing our reputation beyond Sri Lanka</a:t>
            </a:r>
          </a:p>
          <a:p>
            <a:endParaRPr lang="en-US" dirty="0"/>
          </a:p>
        </p:txBody>
      </p:sp>
      <p:sp>
        <p:nvSpPr>
          <p:cNvPr id="4" name="Slide Number Placeholder 3">
            <a:extLst>
              <a:ext uri="{FF2B5EF4-FFF2-40B4-BE49-F238E27FC236}">
                <a16:creationId xmlns:a16="http://schemas.microsoft.com/office/drawing/2014/main" id="{11786390-24DD-BCC3-D4BA-F2EBE0297C5A}"/>
              </a:ext>
            </a:extLst>
          </p:cNvPr>
          <p:cNvSpPr>
            <a:spLocks noGrp="1"/>
          </p:cNvSpPr>
          <p:nvPr>
            <p:ph type="sldNum" sz="quarter" idx="12"/>
          </p:nvPr>
        </p:nvSpPr>
        <p:spPr/>
        <p:txBody>
          <a:bodyPr/>
          <a:lstStyle/>
          <a:p>
            <a:fld id="{E0512086-A52C-44F0-970D-28E8CB23C1FA}" type="slidenum">
              <a:rPr lang="en-US" smtClean="0"/>
              <a:pPr/>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Values            Ethics</a:t>
            </a:r>
            <a:endParaRPr lang="en-US" dirty="0"/>
          </a:p>
        </p:txBody>
      </p:sp>
      <p:sp>
        <p:nvSpPr>
          <p:cNvPr id="3" name="Content Placeholder 2"/>
          <p:cNvSpPr>
            <a:spLocks noGrp="1"/>
          </p:cNvSpPr>
          <p:nvPr>
            <p:ph idx="1"/>
          </p:nvPr>
        </p:nvSpPr>
        <p:spPr>
          <a:xfrm>
            <a:off x="457200" y="1371600"/>
            <a:ext cx="8229600" cy="5029200"/>
          </a:xfrm>
        </p:spPr>
        <p:txBody>
          <a:bodyPr>
            <a:normAutofit/>
          </a:bodyPr>
          <a:lstStyle/>
          <a:p>
            <a:r>
              <a:rPr lang="en-US" sz="2000" b="1" i="1" dirty="0"/>
              <a:t>Ethics of an individual or an organization are based on “values”, which are perceived to be </a:t>
            </a:r>
            <a:r>
              <a:rPr lang="en-GB" sz="2000" b="1" i="1" dirty="0"/>
              <a:t>most important to the direction of the organization and the decision-making within it.</a:t>
            </a:r>
          </a:p>
          <a:p>
            <a:r>
              <a:rPr lang="en-US" sz="2000" b="1" i="1" dirty="0"/>
              <a:t>These are essentially the “core values”</a:t>
            </a:r>
          </a:p>
          <a:p>
            <a:r>
              <a:rPr lang="en-US" sz="2000" b="1" i="1" dirty="0"/>
              <a:t>They can be put together in a structured form to make-up a set of essential principles, which will ensure that </a:t>
            </a:r>
            <a:r>
              <a:rPr lang="en-US" sz="2000" b="1" i="1" dirty="0" err="1"/>
              <a:t>organisations</a:t>
            </a:r>
            <a:r>
              <a:rPr lang="en-US" sz="2000" b="1" i="1" dirty="0"/>
              <a:t> act in a correct and acceptable manner</a:t>
            </a:r>
          </a:p>
          <a:p>
            <a:r>
              <a:rPr lang="en-US" sz="2000" b="1" i="1" dirty="0"/>
              <a:t>This is called a</a:t>
            </a:r>
            <a:r>
              <a:rPr lang="en-US" b="1" i="1" dirty="0"/>
              <a:t> </a:t>
            </a:r>
            <a:r>
              <a:rPr lang="en-US" sz="4000" b="1" i="1" dirty="0">
                <a:solidFill>
                  <a:srgbClr val="FF0000"/>
                </a:solidFill>
              </a:rPr>
              <a:t>“Code of Ethics”</a:t>
            </a:r>
          </a:p>
          <a:p>
            <a:endParaRPr lang="en-US" dirty="0"/>
          </a:p>
        </p:txBody>
      </p:sp>
      <p:sp>
        <p:nvSpPr>
          <p:cNvPr id="4" name="Notched Right Arrow 3"/>
          <p:cNvSpPr/>
          <p:nvPr/>
        </p:nvSpPr>
        <p:spPr>
          <a:xfrm>
            <a:off x="2438400" y="685800"/>
            <a:ext cx="609600" cy="457200"/>
          </a:xfrm>
          <a:prstGeom prst="notch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Slide Number Placeholder 4">
            <a:extLst>
              <a:ext uri="{FF2B5EF4-FFF2-40B4-BE49-F238E27FC236}">
                <a16:creationId xmlns:a16="http://schemas.microsoft.com/office/drawing/2014/main" id="{5A007AFA-7E29-3DBF-88DC-FE5F888A07E0}"/>
              </a:ext>
            </a:extLst>
          </p:cNvPr>
          <p:cNvSpPr>
            <a:spLocks noGrp="1"/>
          </p:cNvSpPr>
          <p:nvPr>
            <p:ph type="sldNum" sz="quarter" idx="12"/>
          </p:nvPr>
        </p:nvSpPr>
        <p:spPr/>
        <p:txBody>
          <a:bodyPr/>
          <a:lstStyle/>
          <a:p>
            <a:fld id="{E0512086-A52C-44F0-970D-28E8CB23C1FA}" type="slidenum">
              <a:rPr lang="en-US" smtClean="0"/>
              <a:pPr/>
              <a:t>20</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down)">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down)">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WHAT IS ETHICS ???</a:t>
            </a:r>
          </a:p>
        </p:txBody>
      </p:sp>
      <p:sp>
        <p:nvSpPr>
          <p:cNvPr id="3" name="Content Placeholder 2"/>
          <p:cNvSpPr>
            <a:spLocks noGrp="1"/>
          </p:cNvSpPr>
          <p:nvPr>
            <p:ph idx="1"/>
          </p:nvPr>
        </p:nvSpPr>
        <p:spPr>
          <a:xfrm>
            <a:off x="457200" y="1600200"/>
            <a:ext cx="8229600" cy="4953000"/>
          </a:xfrm>
        </p:spPr>
        <p:txBody>
          <a:bodyPr>
            <a:normAutofit/>
          </a:bodyPr>
          <a:lstStyle/>
          <a:p>
            <a:r>
              <a:rPr lang="en-GB" sz="2800" dirty="0">
                <a:effectLst>
                  <a:outerShdw blurRad="38100" dist="38100" dir="2700000" algn="tl">
                    <a:srgbClr val="000000"/>
                  </a:outerShdw>
                </a:effectLst>
              </a:rPr>
              <a:t>The discipline dealing with what is good and bad, and with moral duty and obligation</a:t>
            </a:r>
          </a:p>
          <a:p>
            <a:endParaRPr lang="en-GB" sz="2800" dirty="0">
              <a:effectLst>
                <a:outerShdw blurRad="38100" dist="38100" dir="2700000" algn="tl">
                  <a:srgbClr val="000000"/>
                </a:outerShdw>
              </a:effectLst>
            </a:endParaRPr>
          </a:p>
          <a:p>
            <a:r>
              <a:rPr lang="en-GB" sz="2800" dirty="0">
                <a:effectLst>
                  <a:outerShdw blurRad="38100" dist="38100" dir="2700000" algn="tl">
                    <a:srgbClr val="000000"/>
                  </a:outerShdw>
                </a:effectLst>
              </a:rPr>
              <a:t>The principles of conduct governing an individual or group (professionals)</a:t>
            </a:r>
          </a:p>
          <a:p>
            <a:pPr>
              <a:buNone/>
            </a:pPr>
            <a:endParaRPr lang="en-GB" sz="2400" dirty="0">
              <a:effectLst>
                <a:outerShdw blurRad="38100" dist="38100" dir="2700000" algn="tl">
                  <a:srgbClr val="000000"/>
                </a:outerShdw>
              </a:effectLst>
            </a:endParaRPr>
          </a:p>
        </p:txBody>
      </p:sp>
      <p:sp>
        <p:nvSpPr>
          <p:cNvPr id="4" name="Slide Number Placeholder 3">
            <a:extLst>
              <a:ext uri="{FF2B5EF4-FFF2-40B4-BE49-F238E27FC236}">
                <a16:creationId xmlns:a16="http://schemas.microsoft.com/office/drawing/2014/main" id="{6FA889EF-ED6F-AEB3-D387-92A464B4E6EB}"/>
              </a:ext>
            </a:extLst>
          </p:cNvPr>
          <p:cNvSpPr>
            <a:spLocks noGrp="1"/>
          </p:cNvSpPr>
          <p:nvPr>
            <p:ph type="sldNum" sz="quarter" idx="12"/>
          </p:nvPr>
        </p:nvSpPr>
        <p:spPr/>
        <p:txBody>
          <a:bodyPr/>
          <a:lstStyle/>
          <a:p>
            <a:fld id="{E0512086-A52C-44F0-970D-28E8CB23C1FA}" type="slidenum">
              <a:rPr lang="en-US" smtClean="0"/>
              <a:pPr/>
              <a:t>21</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wipe(down)">
                                      <p:cBhvr>
                                        <p:cTn id="1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219200"/>
            <a:ext cx="8153400" cy="1320800"/>
          </a:xfrm>
        </p:spPr>
        <p:txBody>
          <a:bodyPr>
            <a:noAutofit/>
          </a:bodyPr>
          <a:lstStyle/>
          <a:p>
            <a:pPr>
              <a:lnSpc>
                <a:spcPct val="90000"/>
              </a:lnSpc>
              <a:defRPr/>
            </a:pPr>
            <a:r>
              <a:rPr lang="en-GB" sz="2800" dirty="0">
                <a:solidFill>
                  <a:schemeClr val="accent2">
                    <a:lumMod val="75000"/>
                  </a:schemeClr>
                </a:solidFill>
                <a:effectLst>
                  <a:outerShdw blurRad="38100" dist="38100" dir="2700000" algn="tl">
                    <a:srgbClr val="000000">
                      <a:alpha val="43137"/>
                    </a:srgbClr>
                  </a:outerShdw>
                </a:effectLst>
              </a:rPr>
              <a:t>The </a:t>
            </a:r>
            <a:r>
              <a:rPr lang="en-GB" sz="2800" b="1" dirty="0">
                <a:solidFill>
                  <a:schemeClr val="accent5">
                    <a:lumMod val="75000"/>
                  </a:schemeClr>
                </a:solidFill>
                <a:effectLst>
                  <a:outerShdw blurRad="38100" dist="38100" dir="2700000" algn="tl">
                    <a:srgbClr val="000000">
                      <a:alpha val="43137"/>
                    </a:srgbClr>
                  </a:outerShdw>
                </a:effectLst>
              </a:rPr>
              <a:t>value structure </a:t>
            </a:r>
            <a:r>
              <a:rPr lang="en-GB" sz="2800" dirty="0">
                <a:solidFill>
                  <a:schemeClr val="accent2">
                    <a:lumMod val="75000"/>
                  </a:schemeClr>
                </a:solidFill>
                <a:effectLst>
                  <a:outerShdw blurRad="38100" dist="38100" dir="2700000" algn="tl">
                    <a:srgbClr val="000000">
                      <a:alpha val="43137"/>
                    </a:srgbClr>
                  </a:outerShdw>
                </a:effectLst>
              </a:rPr>
              <a:t>that guides the actions of a person, whether individual or corporate, in his/her/their dealings with any other person, or with society in general.</a:t>
            </a:r>
          </a:p>
        </p:txBody>
      </p:sp>
      <p:pic>
        <p:nvPicPr>
          <p:cNvPr id="4" name="Picture 2" descr="core values - words in 3d silver grey metal gear wheels, business cultural riches concept Stock Photo - 29377120"/>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219200" y="2947255"/>
            <a:ext cx="5167593" cy="3881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p:cNvSpPr/>
          <p:nvPr/>
        </p:nvSpPr>
        <p:spPr>
          <a:xfrm>
            <a:off x="1676400" y="228600"/>
            <a:ext cx="5867400" cy="646331"/>
          </a:xfrm>
          <a:prstGeom prst="rect">
            <a:avLst/>
          </a:prstGeom>
        </p:spPr>
        <p:txBody>
          <a:bodyPr wrap="square">
            <a:spAutoFit/>
          </a:bodyPr>
          <a:lstStyle/>
          <a:p>
            <a:pPr>
              <a:defRPr/>
            </a:pPr>
            <a:r>
              <a:rPr lang="en-GB" sz="3600" b="1" dirty="0">
                <a:solidFill>
                  <a:schemeClr val="tx2">
                    <a:lumMod val="60000"/>
                    <a:lumOff val="40000"/>
                  </a:schemeClr>
                </a:solidFill>
                <a:effectLst>
                  <a:outerShdw blurRad="38100" dist="38100" dir="2700000" algn="tl">
                    <a:srgbClr val="000000"/>
                  </a:outerShdw>
                </a:effectLst>
              </a:rPr>
              <a:t>WHAT IS ETHICS ???</a:t>
            </a:r>
            <a:endParaRPr lang="en-US" sz="3600" b="1" dirty="0">
              <a:solidFill>
                <a:schemeClr val="tx2">
                  <a:lumMod val="60000"/>
                  <a:lumOff val="40000"/>
                </a:schemeClr>
              </a:solidFill>
            </a:endParaRPr>
          </a:p>
        </p:txBody>
      </p:sp>
      <p:sp>
        <p:nvSpPr>
          <p:cNvPr id="3" name="Slide Number Placeholder 2">
            <a:extLst>
              <a:ext uri="{FF2B5EF4-FFF2-40B4-BE49-F238E27FC236}">
                <a16:creationId xmlns:a16="http://schemas.microsoft.com/office/drawing/2014/main" id="{CF6A26D0-6160-4A6F-2FA7-288717D4E965}"/>
              </a:ext>
            </a:extLst>
          </p:cNvPr>
          <p:cNvSpPr>
            <a:spLocks noGrp="1"/>
          </p:cNvSpPr>
          <p:nvPr>
            <p:ph type="sldNum" sz="quarter" idx="12"/>
          </p:nvPr>
        </p:nvSpPr>
        <p:spPr/>
        <p:txBody>
          <a:bodyPr/>
          <a:lstStyle/>
          <a:p>
            <a:fld id="{E0512086-A52C-44F0-970D-28E8CB23C1FA}" type="slidenum">
              <a:rPr lang="en-US" smtClean="0"/>
              <a:pPr/>
              <a:t>22</a:t>
            </a:fld>
            <a:endParaRPr lang="en-US"/>
          </a:p>
        </p:txBody>
      </p:sp>
    </p:spTree>
    <p:extLst>
      <p:ext uri="{BB962C8B-B14F-4D97-AF65-F5344CB8AC3E}">
        <p14:creationId xmlns:p14="http://schemas.microsoft.com/office/powerpoint/2010/main" val="282060274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lstStyle/>
          <a:p>
            <a:r>
              <a:rPr lang="en-US" b="1" dirty="0"/>
              <a:t>Values        Ethics</a:t>
            </a:r>
            <a:endParaRPr lang="en-US" dirty="0"/>
          </a:p>
        </p:txBody>
      </p:sp>
      <p:sp>
        <p:nvSpPr>
          <p:cNvPr id="3" name="Content Placeholder 2"/>
          <p:cNvSpPr>
            <a:spLocks noGrp="1"/>
          </p:cNvSpPr>
          <p:nvPr>
            <p:ph idx="1"/>
          </p:nvPr>
        </p:nvSpPr>
        <p:spPr>
          <a:xfrm>
            <a:off x="457200" y="1371600"/>
            <a:ext cx="8229600" cy="5257800"/>
          </a:xfrm>
        </p:spPr>
        <p:txBody>
          <a:bodyPr>
            <a:normAutofit/>
          </a:bodyPr>
          <a:lstStyle/>
          <a:p>
            <a:r>
              <a:rPr lang="en-US" sz="2400" dirty="0"/>
              <a:t>The </a:t>
            </a:r>
            <a:r>
              <a:rPr lang="en-US" sz="2400" i="1" dirty="0">
                <a:solidFill>
                  <a:srgbClr val="C00000"/>
                </a:solidFill>
              </a:rPr>
              <a:t>Code </a:t>
            </a:r>
            <a:r>
              <a:rPr lang="en-US" sz="2400" dirty="0"/>
              <a:t>offers a set of values, principles, and standards to guide decision making and conduct when ethical issues arise. </a:t>
            </a:r>
          </a:p>
          <a:p>
            <a:endParaRPr lang="en-US" sz="2400" dirty="0"/>
          </a:p>
          <a:p>
            <a:r>
              <a:rPr lang="en-US" sz="2400" dirty="0"/>
              <a:t>Specific applications of the</a:t>
            </a:r>
            <a:r>
              <a:rPr lang="en-US" sz="2400" dirty="0">
                <a:solidFill>
                  <a:srgbClr val="C00000"/>
                </a:solidFill>
              </a:rPr>
              <a:t> </a:t>
            </a:r>
            <a:r>
              <a:rPr lang="en-US" sz="2400" i="1" dirty="0">
                <a:solidFill>
                  <a:srgbClr val="C00000"/>
                </a:solidFill>
              </a:rPr>
              <a:t>Code </a:t>
            </a:r>
            <a:r>
              <a:rPr lang="en-US" sz="2400" dirty="0"/>
              <a:t>must take into account the context in which it is being considered and the possibility of conflicts among the </a:t>
            </a:r>
            <a:r>
              <a:rPr lang="en-US" sz="2400" i="1" dirty="0">
                <a:solidFill>
                  <a:srgbClr val="C00000"/>
                </a:solidFill>
              </a:rPr>
              <a:t>Code‘s</a:t>
            </a:r>
            <a:r>
              <a:rPr lang="en-US" sz="2400" i="1" dirty="0"/>
              <a:t> </a:t>
            </a:r>
            <a:r>
              <a:rPr lang="en-US" sz="2400" dirty="0"/>
              <a:t>values, principles, and standards. </a:t>
            </a:r>
          </a:p>
          <a:p>
            <a:endParaRPr lang="en-US" sz="2400" dirty="0"/>
          </a:p>
          <a:p>
            <a:r>
              <a:rPr lang="en-US" sz="2400" dirty="0"/>
              <a:t>Ethical responsibilities flow from all human relationships, from the personal and family to the social and professional.</a:t>
            </a:r>
          </a:p>
          <a:p>
            <a:endParaRPr lang="en-US" sz="2400" dirty="0"/>
          </a:p>
        </p:txBody>
      </p:sp>
      <p:sp>
        <p:nvSpPr>
          <p:cNvPr id="4" name="Notched Right Arrow 3"/>
          <p:cNvSpPr/>
          <p:nvPr/>
        </p:nvSpPr>
        <p:spPr>
          <a:xfrm>
            <a:off x="2209800" y="381000"/>
            <a:ext cx="609600" cy="457200"/>
          </a:xfrm>
          <a:prstGeom prst="notch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Slide Number Placeholder 4">
            <a:extLst>
              <a:ext uri="{FF2B5EF4-FFF2-40B4-BE49-F238E27FC236}">
                <a16:creationId xmlns:a16="http://schemas.microsoft.com/office/drawing/2014/main" id="{AC5C6027-5555-EE5D-B9B3-6B74EC1FAA8B}"/>
              </a:ext>
            </a:extLst>
          </p:cNvPr>
          <p:cNvSpPr>
            <a:spLocks noGrp="1"/>
          </p:cNvSpPr>
          <p:nvPr>
            <p:ph type="sldNum" sz="quarter" idx="12"/>
          </p:nvPr>
        </p:nvSpPr>
        <p:spPr/>
        <p:txBody>
          <a:bodyPr/>
          <a:lstStyle/>
          <a:p>
            <a:fld id="{E0512086-A52C-44F0-970D-28E8CB23C1FA}" type="slidenum">
              <a:rPr lang="en-US" smtClean="0"/>
              <a:pPr/>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85800"/>
            <a:ext cx="6934200" cy="914400"/>
          </a:xfrm>
        </p:spPr>
        <p:txBody>
          <a:bodyPr>
            <a:normAutofit fontScale="90000"/>
          </a:bodyPr>
          <a:lstStyle/>
          <a:p>
            <a:r>
              <a:rPr lang="en-US" b="1" dirty="0">
                <a:solidFill>
                  <a:srgbClr val="0070C0"/>
                </a:solidFill>
              </a:rPr>
              <a:t>The Importance of a Code of Ethics</a:t>
            </a:r>
            <a:endParaRPr lang="en-US" dirty="0">
              <a:solidFill>
                <a:srgbClr val="0070C0"/>
              </a:solidFill>
            </a:endParaRPr>
          </a:p>
        </p:txBody>
      </p:sp>
      <p:sp>
        <p:nvSpPr>
          <p:cNvPr id="3" name="Content Placeholder 2"/>
          <p:cNvSpPr>
            <a:spLocks noGrp="1"/>
          </p:cNvSpPr>
          <p:nvPr>
            <p:ph idx="1"/>
          </p:nvPr>
        </p:nvSpPr>
        <p:spPr>
          <a:xfrm>
            <a:off x="457200" y="2057400"/>
            <a:ext cx="7239001" cy="4414173"/>
          </a:xfrm>
        </p:spPr>
        <p:txBody>
          <a:bodyPr>
            <a:normAutofit/>
          </a:bodyPr>
          <a:lstStyle/>
          <a:p>
            <a:r>
              <a:rPr lang="en-US" sz="2800" dirty="0"/>
              <a:t>Ethical codes are often adopted by management, not to promote a particular moral theory, but rather because they are seen as </a:t>
            </a:r>
            <a:r>
              <a:rPr lang="en-US" sz="2800" b="1" dirty="0">
                <a:solidFill>
                  <a:srgbClr val="C00000"/>
                </a:solidFill>
              </a:rPr>
              <a:t>pragmatic necessities for running an organization / institution </a:t>
            </a:r>
            <a:r>
              <a:rPr lang="en-US" sz="2800" dirty="0"/>
              <a:t>in a complex society in which moral concepts play an important part.</a:t>
            </a:r>
          </a:p>
          <a:p>
            <a:endParaRPr lang="en-US" sz="2800" dirty="0"/>
          </a:p>
        </p:txBody>
      </p:sp>
      <p:sp>
        <p:nvSpPr>
          <p:cNvPr id="4" name="Slide Number Placeholder 3">
            <a:extLst>
              <a:ext uri="{FF2B5EF4-FFF2-40B4-BE49-F238E27FC236}">
                <a16:creationId xmlns:a16="http://schemas.microsoft.com/office/drawing/2014/main" id="{6E7248AB-17B0-3428-EA92-DED218124BDC}"/>
              </a:ext>
            </a:extLst>
          </p:cNvPr>
          <p:cNvSpPr>
            <a:spLocks noGrp="1"/>
          </p:cNvSpPr>
          <p:nvPr>
            <p:ph type="sldNum" sz="quarter" idx="12"/>
          </p:nvPr>
        </p:nvSpPr>
        <p:spPr/>
        <p:txBody>
          <a:bodyPr/>
          <a:lstStyle/>
          <a:p>
            <a:fld id="{E0512086-A52C-44F0-970D-28E8CB23C1FA}" type="slidenum">
              <a:rPr lang="en-US" smtClean="0"/>
              <a:pPr/>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9529" y="609600"/>
            <a:ext cx="6347713" cy="1320800"/>
          </a:xfrm>
        </p:spPr>
        <p:txBody>
          <a:bodyPr/>
          <a:lstStyle/>
          <a:p>
            <a:r>
              <a:rPr lang="en-GB" b="1" dirty="0">
                <a:effectLst>
                  <a:outerShdw blurRad="38100" dist="38100" dir="2700000" algn="tl">
                    <a:srgbClr val="000000"/>
                  </a:outerShdw>
                </a:effectLst>
              </a:rPr>
              <a:t>Why have a Code of Ethics?</a:t>
            </a:r>
            <a:endParaRPr lang="en-US" dirty="0"/>
          </a:p>
        </p:txBody>
      </p:sp>
      <p:sp>
        <p:nvSpPr>
          <p:cNvPr id="3" name="Content Placeholder 2"/>
          <p:cNvSpPr>
            <a:spLocks noGrp="1"/>
          </p:cNvSpPr>
          <p:nvPr>
            <p:ph idx="1"/>
          </p:nvPr>
        </p:nvSpPr>
        <p:spPr>
          <a:xfrm>
            <a:off x="609598" y="1676400"/>
            <a:ext cx="7010401" cy="4364963"/>
          </a:xfrm>
        </p:spPr>
        <p:txBody>
          <a:bodyPr>
            <a:normAutofit/>
          </a:bodyPr>
          <a:lstStyle/>
          <a:p>
            <a:pPr>
              <a:defRPr/>
            </a:pPr>
            <a:r>
              <a:rPr lang="en-GB" sz="2400" dirty="0"/>
              <a:t>to define accepted/acceptable behaviours; </a:t>
            </a:r>
          </a:p>
          <a:p>
            <a:pPr>
              <a:defRPr/>
            </a:pPr>
            <a:r>
              <a:rPr lang="en-GB" sz="2400" dirty="0"/>
              <a:t>to promote high standards of practice; </a:t>
            </a:r>
          </a:p>
          <a:p>
            <a:pPr>
              <a:defRPr/>
            </a:pPr>
            <a:r>
              <a:rPr lang="en-GB" sz="2400" dirty="0"/>
              <a:t>to provide a benchmark for members to use for self evaluation; </a:t>
            </a:r>
          </a:p>
          <a:p>
            <a:pPr>
              <a:defRPr/>
            </a:pPr>
            <a:r>
              <a:rPr lang="en-GB" sz="2400" dirty="0"/>
              <a:t>to establish a framework for professional behaviour and responsibilities; </a:t>
            </a:r>
          </a:p>
          <a:p>
            <a:pPr>
              <a:defRPr/>
            </a:pPr>
            <a:r>
              <a:rPr lang="en-GB" sz="2400" dirty="0"/>
              <a:t>as a vehicle for occupational identity; </a:t>
            </a:r>
          </a:p>
          <a:p>
            <a:pPr>
              <a:defRPr/>
            </a:pPr>
            <a:r>
              <a:rPr lang="en-GB" sz="2400" dirty="0"/>
              <a:t>as a mark of occupational maturity</a:t>
            </a:r>
            <a:r>
              <a:rPr lang="en-GB" sz="2400" dirty="0">
                <a:effectLst>
                  <a:outerShdw blurRad="38100" dist="38100" dir="2700000" algn="tl">
                    <a:srgbClr val="000000"/>
                  </a:outerShdw>
                </a:effectLst>
              </a:rPr>
              <a:t>.</a:t>
            </a:r>
          </a:p>
          <a:p>
            <a:endParaRPr lang="en-US" sz="2400" dirty="0"/>
          </a:p>
        </p:txBody>
      </p:sp>
      <p:sp>
        <p:nvSpPr>
          <p:cNvPr id="4" name="Slide Number Placeholder 3">
            <a:extLst>
              <a:ext uri="{FF2B5EF4-FFF2-40B4-BE49-F238E27FC236}">
                <a16:creationId xmlns:a16="http://schemas.microsoft.com/office/drawing/2014/main" id="{2E549223-3E29-6702-6046-E29E2EE11DB2}"/>
              </a:ext>
            </a:extLst>
          </p:cNvPr>
          <p:cNvSpPr>
            <a:spLocks noGrp="1"/>
          </p:cNvSpPr>
          <p:nvPr>
            <p:ph type="sldNum" sz="quarter" idx="12"/>
          </p:nvPr>
        </p:nvSpPr>
        <p:spPr/>
        <p:txBody>
          <a:bodyPr/>
          <a:lstStyle/>
          <a:p>
            <a:fld id="{E0512086-A52C-44F0-970D-28E8CB23C1FA}" type="slidenum">
              <a:rPr lang="en-US" smtClean="0"/>
              <a:pPr/>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0"/>
            <a:ext cx="8229600" cy="1143000"/>
          </a:xfrm>
        </p:spPr>
        <p:txBody>
          <a:bodyPr>
            <a:normAutofit fontScale="90000"/>
          </a:bodyPr>
          <a:lstStyle/>
          <a:p>
            <a:r>
              <a:rPr lang="en-US" b="1" dirty="0">
                <a:solidFill>
                  <a:srgbClr val="0070C0"/>
                </a:solidFill>
              </a:rPr>
              <a:t>The Importance of Ethics in an </a:t>
            </a:r>
            <a:r>
              <a:rPr lang="en-US" b="1" dirty="0" err="1">
                <a:solidFill>
                  <a:srgbClr val="0070C0"/>
                </a:solidFill>
              </a:rPr>
              <a:t>Organisation</a:t>
            </a:r>
            <a:endParaRPr lang="en-US" dirty="0"/>
          </a:p>
        </p:txBody>
      </p:sp>
      <p:sp>
        <p:nvSpPr>
          <p:cNvPr id="3" name="Content Placeholder 2"/>
          <p:cNvSpPr>
            <a:spLocks noGrp="1"/>
          </p:cNvSpPr>
          <p:nvPr>
            <p:ph idx="1"/>
          </p:nvPr>
        </p:nvSpPr>
        <p:spPr>
          <a:xfrm>
            <a:off x="228600" y="1143000"/>
            <a:ext cx="8229600" cy="5516563"/>
          </a:xfrm>
        </p:spPr>
        <p:txBody>
          <a:bodyPr>
            <a:normAutofit/>
          </a:bodyPr>
          <a:lstStyle/>
          <a:p>
            <a:r>
              <a:rPr lang="en-US" sz="2800" dirty="0">
                <a:solidFill>
                  <a:srgbClr val="0070C0"/>
                </a:solidFill>
              </a:rPr>
              <a:t>Leadership Ethics</a:t>
            </a:r>
          </a:p>
          <a:p>
            <a:r>
              <a:rPr lang="en-US" sz="2200" dirty="0"/>
              <a:t>The ethical standards that the Head of an organization chooses to use in managing his/her employees may impact on the morale and loyalty of the workers. </a:t>
            </a:r>
          </a:p>
          <a:p>
            <a:r>
              <a:rPr lang="en-US" sz="2200" dirty="0"/>
              <a:t>When the Leaders have high ethical standards, </a:t>
            </a:r>
          </a:p>
          <a:p>
            <a:pPr lvl="1"/>
            <a:r>
              <a:rPr lang="en-US" sz="2000" dirty="0"/>
              <a:t>Integrity, Honesty, not Corrupt</a:t>
            </a:r>
          </a:p>
          <a:p>
            <a:pPr lvl="1"/>
            <a:r>
              <a:rPr lang="en-US" sz="2000" dirty="0"/>
              <a:t>Treat employees with respect</a:t>
            </a:r>
          </a:p>
          <a:p>
            <a:pPr>
              <a:buNone/>
            </a:pPr>
            <a:r>
              <a:rPr lang="en-US" sz="2200" dirty="0"/>
              <a:t>	it encourages workers in the organization to strive to meet that same level. </a:t>
            </a:r>
          </a:p>
          <a:p>
            <a:r>
              <a:rPr lang="en-US" sz="2200" dirty="0"/>
              <a:t>Ethical leadership also enhances the company’s reputation in the industry and the community. </a:t>
            </a:r>
          </a:p>
          <a:p>
            <a:endParaRPr lang="en-US" dirty="0"/>
          </a:p>
        </p:txBody>
      </p:sp>
      <p:sp>
        <p:nvSpPr>
          <p:cNvPr id="4" name="Slide Number Placeholder 3">
            <a:extLst>
              <a:ext uri="{FF2B5EF4-FFF2-40B4-BE49-F238E27FC236}">
                <a16:creationId xmlns:a16="http://schemas.microsoft.com/office/drawing/2014/main" id="{22A66845-9F46-8097-8F8C-41B3FE6809FA}"/>
              </a:ext>
            </a:extLst>
          </p:cNvPr>
          <p:cNvSpPr>
            <a:spLocks noGrp="1"/>
          </p:cNvSpPr>
          <p:nvPr>
            <p:ph type="sldNum" sz="quarter" idx="12"/>
          </p:nvPr>
        </p:nvSpPr>
        <p:spPr/>
        <p:txBody>
          <a:bodyPr/>
          <a:lstStyle/>
          <a:p>
            <a:fld id="{E0512086-A52C-44F0-970D-28E8CB23C1FA}" type="slidenum">
              <a:rPr lang="en-US" smtClean="0"/>
              <a:pPr/>
              <a:t>26</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 calcmode="lin" valueType="num">
                                      <p:cBhvr additive="base">
                                        <p:cTn id="3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6347713" cy="1320800"/>
          </a:xfrm>
        </p:spPr>
        <p:txBody>
          <a:bodyPr/>
          <a:lstStyle/>
          <a:p>
            <a:r>
              <a:rPr lang="en-US" b="1" dirty="0">
                <a:solidFill>
                  <a:srgbClr val="0070C0"/>
                </a:solidFill>
              </a:rPr>
              <a:t>The Importance of Ethics in an </a:t>
            </a:r>
            <a:r>
              <a:rPr lang="en-US" b="1" dirty="0" err="1">
                <a:solidFill>
                  <a:srgbClr val="0070C0"/>
                </a:solidFill>
              </a:rPr>
              <a:t>Organisation</a:t>
            </a:r>
            <a:endParaRPr lang="en-US" dirty="0"/>
          </a:p>
        </p:txBody>
      </p:sp>
      <p:sp>
        <p:nvSpPr>
          <p:cNvPr id="3" name="Content Placeholder 2"/>
          <p:cNvSpPr>
            <a:spLocks noGrp="1"/>
          </p:cNvSpPr>
          <p:nvPr>
            <p:ph idx="1"/>
          </p:nvPr>
        </p:nvSpPr>
        <p:spPr>
          <a:xfrm>
            <a:off x="685800" y="1371600"/>
            <a:ext cx="7391400" cy="4392610"/>
          </a:xfrm>
        </p:spPr>
        <p:txBody>
          <a:bodyPr>
            <a:normAutofit lnSpcReduction="10000"/>
          </a:bodyPr>
          <a:lstStyle/>
          <a:p>
            <a:r>
              <a:rPr lang="en-US" sz="2400" dirty="0">
                <a:solidFill>
                  <a:srgbClr val="0070C0"/>
                </a:solidFill>
              </a:rPr>
              <a:t>Employee Ethics</a:t>
            </a:r>
          </a:p>
          <a:p>
            <a:endParaRPr lang="en-US" dirty="0"/>
          </a:p>
          <a:p>
            <a:r>
              <a:rPr lang="en-US" sz="2400" dirty="0"/>
              <a:t>Ethical behavior among workers in an organization ensures that employees complete work with honesty and integrity. </a:t>
            </a:r>
          </a:p>
          <a:p>
            <a:r>
              <a:rPr lang="en-US" sz="2400" dirty="0"/>
              <a:t>Employees who use ethics to guide their behavior adhere to employee policies and rules while striving to meet the goals of the organization. </a:t>
            </a:r>
          </a:p>
          <a:p>
            <a:r>
              <a:rPr lang="en-US" sz="2400" dirty="0"/>
              <a:t>Ethical employees also meet standards for quality in their work, which can enhance the company’s reputation for quality products and service.</a:t>
            </a:r>
          </a:p>
        </p:txBody>
      </p:sp>
      <p:sp>
        <p:nvSpPr>
          <p:cNvPr id="4" name="Slide Number Placeholder 3">
            <a:extLst>
              <a:ext uri="{FF2B5EF4-FFF2-40B4-BE49-F238E27FC236}">
                <a16:creationId xmlns:a16="http://schemas.microsoft.com/office/drawing/2014/main" id="{68335552-76BA-7C8F-E3C9-D4F501C104FF}"/>
              </a:ext>
            </a:extLst>
          </p:cNvPr>
          <p:cNvSpPr>
            <a:spLocks noGrp="1"/>
          </p:cNvSpPr>
          <p:nvPr>
            <p:ph type="sldNum" sz="quarter" idx="12"/>
          </p:nvPr>
        </p:nvSpPr>
        <p:spPr/>
        <p:txBody>
          <a:bodyPr/>
          <a:lstStyle/>
          <a:p>
            <a:fld id="{E0512086-A52C-44F0-970D-28E8CB23C1FA}" type="slidenum">
              <a:rPr lang="en-US" smtClean="0"/>
              <a:pPr/>
              <a:t>27</a:t>
            </a:fld>
            <a:endParaRPr lang="en-US"/>
          </a:p>
        </p:txBody>
      </p:sp>
    </p:spTree>
    <p:extLst>
      <p:ext uri="{BB962C8B-B14F-4D97-AF65-F5344CB8AC3E}">
        <p14:creationId xmlns:p14="http://schemas.microsoft.com/office/powerpoint/2010/main" val="5024188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anim calcmode="lin" valueType="num">
                                      <p:cBhvr>
                                        <p:cTn id="8"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9" dur="5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3" end="3"/>
                                            </p:txEl>
                                          </p:spTgt>
                                        </p:tgtEl>
                                        <p:attrNameLst>
                                          <p:attrName>style.visibility</p:attrName>
                                        </p:attrNameLst>
                                      </p:cBhvr>
                                      <p:to>
                                        <p:strVal val="visible"/>
                                      </p:to>
                                    </p:set>
                                    <p:animEffect transition="in" filter="fade">
                                      <p:cBhvr>
                                        <p:cTn id="14" dur="500"/>
                                        <p:tgtEl>
                                          <p:spTgt spid="3">
                                            <p:txEl>
                                              <p:pRg st="3" end="3"/>
                                            </p:txEl>
                                          </p:spTgt>
                                        </p:tgtEl>
                                      </p:cBhvr>
                                    </p:animEffect>
                                    <p:anim calcmode="lin" valueType="num">
                                      <p:cBhvr>
                                        <p:cTn id="1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16" dur="5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500"/>
                                        <p:tgtEl>
                                          <p:spTgt spid="3">
                                            <p:txEl>
                                              <p:pRg st="4" end="4"/>
                                            </p:txEl>
                                          </p:spTgt>
                                        </p:tgtEl>
                                      </p:cBhvr>
                                    </p:animEffect>
                                    <p:anim calcmode="lin" valueType="num">
                                      <p:cBhvr>
                                        <p:cTn id="22"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3" dur="5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70C0"/>
                </a:solidFill>
              </a:rPr>
              <a:t>The Importance of Ethics in an </a:t>
            </a:r>
            <a:r>
              <a:rPr lang="en-US" b="1" dirty="0" err="1">
                <a:solidFill>
                  <a:srgbClr val="0070C0"/>
                </a:solidFill>
              </a:rPr>
              <a:t>Organisation</a:t>
            </a:r>
            <a:endParaRPr lang="en-US" dirty="0"/>
          </a:p>
        </p:txBody>
      </p:sp>
      <p:sp>
        <p:nvSpPr>
          <p:cNvPr id="3" name="Content Placeholder 2"/>
          <p:cNvSpPr>
            <a:spLocks noGrp="1"/>
          </p:cNvSpPr>
          <p:nvPr>
            <p:ph idx="1"/>
          </p:nvPr>
        </p:nvSpPr>
        <p:spPr>
          <a:xfrm>
            <a:off x="609598" y="2160590"/>
            <a:ext cx="6858001" cy="4240210"/>
          </a:xfrm>
        </p:spPr>
        <p:txBody>
          <a:bodyPr>
            <a:normAutofit fontScale="92500" lnSpcReduction="10000"/>
          </a:bodyPr>
          <a:lstStyle/>
          <a:p>
            <a:pPr fontAlgn="base"/>
            <a:r>
              <a:rPr lang="en-US" sz="2600" dirty="0">
                <a:solidFill>
                  <a:srgbClr val="0070C0"/>
                </a:solidFill>
              </a:rPr>
              <a:t>Ethical Organizational Culture</a:t>
            </a:r>
          </a:p>
          <a:p>
            <a:pPr fontAlgn="base"/>
            <a:r>
              <a:rPr lang="en-US" sz="2400" dirty="0"/>
              <a:t>Leaders and employees adhering to a code of ethics create an ethical organizational culture. </a:t>
            </a:r>
          </a:p>
          <a:p>
            <a:pPr fontAlgn="base"/>
            <a:r>
              <a:rPr lang="en-US" sz="2400" dirty="0"/>
              <a:t>The leaders of a business may create an ethical culture by behaving in an ethical manner and inspiring their employees to behave in a similar fashion. </a:t>
            </a:r>
          </a:p>
          <a:p>
            <a:pPr fontAlgn="base"/>
            <a:r>
              <a:rPr lang="en-US" sz="2400" dirty="0"/>
              <a:t>The organization can encourage ethical behavior by </a:t>
            </a:r>
            <a:r>
              <a:rPr lang="en-US" sz="2400" dirty="0">
                <a:solidFill>
                  <a:srgbClr val="FF0000"/>
                </a:solidFill>
              </a:rPr>
              <a:t>rewarding</a:t>
            </a:r>
            <a:r>
              <a:rPr lang="en-US" sz="2400" dirty="0"/>
              <a:t> employees who exhibit the values and integrity that coincides with the company code of ethics and disciplining those who do not act accordingly. </a:t>
            </a:r>
            <a:endParaRPr lang="en-US" sz="2400" dirty="0">
              <a:solidFill>
                <a:srgbClr val="0070C0"/>
              </a:solidFill>
            </a:endParaRPr>
          </a:p>
        </p:txBody>
      </p:sp>
      <p:sp>
        <p:nvSpPr>
          <p:cNvPr id="4" name="Slide Number Placeholder 3">
            <a:extLst>
              <a:ext uri="{FF2B5EF4-FFF2-40B4-BE49-F238E27FC236}">
                <a16:creationId xmlns:a16="http://schemas.microsoft.com/office/drawing/2014/main" id="{FB792F3C-686D-D4F7-91BF-389CE422ED78}"/>
              </a:ext>
            </a:extLst>
          </p:cNvPr>
          <p:cNvSpPr>
            <a:spLocks noGrp="1"/>
          </p:cNvSpPr>
          <p:nvPr>
            <p:ph type="sldNum" sz="quarter" idx="12"/>
          </p:nvPr>
        </p:nvSpPr>
        <p:spPr/>
        <p:txBody>
          <a:bodyPr/>
          <a:lstStyle/>
          <a:p>
            <a:fld id="{E0512086-A52C-44F0-970D-28E8CB23C1FA}" type="slidenum">
              <a:rPr lang="en-US" smtClean="0"/>
              <a:pPr/>
              <a:t>28</a:t>
            </a:fld>
            <a:endParaRPr lang="en-US"/>
          </a:p>
        </p:txBody>
      </p:sp>
    </p:spTree>
    <p:extLst>
      <p:ext uri="{BB962C8B-B14F-4D97-AF65-F5344CB8AC3E}">
        <p14:creationId xmlns:p14="http://schemas.microsoft.com/office/powerpoint/2010/main" val="28416749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0"/>
            <a:ext cx="6347713" cy="1320800"/>
          </a:xfrm>
        </p:spPr>
        <p:txBody>
          <a:bodyPr/>
          <a:lstStyle/>
          <a:p>
            <a:r>
              <a:rPr lang="en-US" b="1" dirty="0">
                <a:solidFill>
                  <a:srgbClr val="0070C0"/>
                </a:solidFill>
              </a:rPr>
              <a:t>The Importance of Ethics in an </a:t>
            </a:r>
            <a:r>
              <a:rPr lang="en-US" b="1" dirty="0" err="1">
                <a:solidFill>
                  <a:srgbClr val="0070C0"/>
                </a:solidFill>
              </a:rPr>
              <a:t>Organisation</a:t>
            </a:r>
            <a:endParaRPr lang="en-US" dirty="0"/>
          </a:p>
        </p:txBody>
      </p:sp>
      <p:sp>
        <p:nvSpPr>
          <p:cNvPr id="3" name="Content Placeholder 2"/>
          <p:cNvSpPr>
            <a:spLocks noGrp="1"/>
          </p:cNvSpPr>
          <p:nvPr>
            <p:ph idx="1"/>
          </p:nvPr>
        </p:nvSpPr>
        <p:spPr>
          <a:xfrm>
            <a:off x="609600" y="1524000"/>
            <a:ext cx="6858000" cy="4876800"/>
          </a:xfrm>
        </p:spPr>
        <p:txBody>
          <a:bodyPr>
            <a:normAutofit lnSpcReduction="10000"/>
          </a:bodyPr>
          <a:lstStyle/>
          <a:p>
            <a:pPr fontAlgn="base"/>
            <a:r>
              <a:rPr lang="en-US" sz="2400" dirty="0">
                <a:solidFill>
                  <a:srgbClr val="0070C0"/>
                </a:solidFill>
              </a:rPr>
              <a:t>Benefits to the Organization</a:t>
            </a:r>
          </a:p>
          <a:p>
            <a:pPr fontAlgn="base"/>
            <a:r>
              <a:rPr lang="en-US" sz="2200" dirty="0"/>
              <a:t>A positive and healthy corporate culture improves the morale among workers in the organization, which may increase productivity and employee retention</a:t>
            </a:r>
          </a:p>
          <a:p>
            <a:pPr fontAlgn="base"/>
            <a:r>
              <a:rPr lang="en-US" sz="2200" dirty="0"/>
              <a:t>Correspondingly this has financial benefits for the organization. </a:t>
            </a:r>
          </a:p>
          <a:p>
            <a:pPr fontAlgn="base"/>
            <a:r>
              <a:rPr lang="en-US" sz="2200" dirty="0"/>
              <a:t>Higher levels of productivity improve the efficiency in the company, while increasing employee retention reduces the cost of replacing employees.</a:t>
            </a:r>
          </a:p>
          <a:p>
            <a:pPr fontAlgn="base"/>
            <a:r>
              <a:rPr lang="en-US" sz="2200" dirty="0"/>
              <a:t>A good reputation for ethics and integrity in the community will improve the company’s business</a:t>
            </a:r>
          </a:p>
        </p:txBody>
      </p:sp>
      <p:sp>
        <p:nvSpPr>
          <p:cNvPr id="4" name="Slide Number Placeholder 3">
            <a:extLst>
              <a:ext uri="{FF2B5EF4-FFF2-40B4-BE49-F238E27FC236}">
                <a16:creationId xmlns:a16="http://schemas.microsoft.com/office/drawing/2014/main" id="{CE30C861-5830-C7D8-0806-3FDF46206B98}"/>
              </a:ext>
            </a:extLst>
          </p:cNvPr>
          <p:cNvSpPr>
            <a:spLocks noGrp="1"/>
          </p:cNvSpPr>
          <p:nvPr>
            <p:ph type="sldNum" sz="quarter" idx="12"/>
          </p:nvPr>
        </p:nvSpPr>
        <p:spPr/>
        <p:txBody>
          <a:bodyPr/>
          <a:lstStyle/>
          <a:p>
            <a:fld id="{E0512086-A52C-44F0-970D-28E8CB23C1FA}" type="slidenum">
              <a:rPr lang="en-US" smtClean="0"/>
              <a:pPr/>
              <a:t>29</a:t>
            </a:fld>
            <a:endParaRPr lang="en-US"/>
          </a:p>
        </p:txBody>
      </p:sp>
    </p:spTree>
    <p:extLst>
      <p:ext uri="{BB962C8B-B14F-4D97-AF65-F5344CB8AC3E}">
        <p14:creationId xmlns:p14="http://schemas.microsoft.com/office/powerpoint/2010/main" val="11505222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anim calcmode="lin" valueType="num">
                                      <p:cBhvr>
                                        <p:cTn id="8"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9" dur="5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2" end="2"/>
                                            </p:txEl>
                                          </p:spTgt>
                                        </p:tgtEl>
                                        <p:attrNameLst>
                                          <p:attrName>style.visibility</p:attrName>
                                        </p:attrNameLst>
                                      </p:cBhvr>
                                      <p:to>
                                        <p:strVal val="visible"/>
                                      </p:to>
                                    </p:set>
                                    <p:animEffect transition="in" filter="fade">
                                      <p:cBhvr>
                                        <p:cTn id="14" dur="500"/>
                                        <p:tgtEl>
                                          <p:spTgt spid="3">
                                            <p:txEl>
                                              <p:pRg st="2" end="2"/>
                                            </p:txEl>
                                          </p:spTgt>
                                        </p:tgtEl>
                                      </p:cBhvr>
                                    </p:animEffect>
                                    <p:anim calcmode="lin" valueType="num">
                                      <p:cBhvr>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6" dur="5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fade">
                                      <p:cBhvr>
                                        <p:cTn id="21" dur="500"/>
                                        <p:tgtEl>
                                          <p:spTgt spid="3">
                                            <p:txEl>
                                              <p:pRg st="3" end="3"/>
                                            </p:txEl>
                                          </p:spTgt>
                                        </p:tgtEl>
                                      </p:cBhvr>
                                    </p:animEffect>
                                    <p:anim calcmode="lin" valueType="num">
                                      <p:cBhvr>
                                        <p:cTn id="22"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3" dur="5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4" end="4"/>
                                            </p:txEl>
                                          </p:spTgt>
                                        </p:tgtEl>
                                        <p:attrNameLst>
                                          <p:attrName>style.visibility</p:attrName>
                                        </p:attrNameLst>
                                      </p:cBhvr>
                                      <p:to>
                                        <p:strVal val="visible"/>
                                      </p:to>
                                    </p:set>
                                    <p:animEffect transition="in" filter="fade">
                                      <p:cBhvr>
                                        <p:cTn id="28" dur="500"/>
                                        <p:tgtEl>
                                          <p:spTgt spid="3">
                                            <p:txEl>
                                              <p:pRg st="4" end="4"/>
                                            </p:txEl>
                                          </p:spTgt>
                                        </p:tgtEl>
                                      </p:cBhvr>
                                    </p:animEffect>
                                    <p:anim calcmode="lin" valueType="num">
                                      <p:cBhvr>
                                        <p:cTn id="2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0" dur="5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3" cy="609600"/>
          </a:xfrm>
        </p:spPr>
        <p:txBody>
          <a:bodyPr>
            <a:normAutofit fontScale="90000"/>
          </a:bodyPr>
          <a:lstStyle/>
          <a:p>
            <a:r>
              <a:rPr lang="en-US" dirty="0"/>
              <a:t>ACKNOWLEDGEMENT:</a:t>
            </a:r>
          </a:p>
        </p:txBody>
      </p:sp>
      <p:sp>
        <p:nvSpPr>
          <p:cNvPr id="3" name="Content Placeholder 2"/>
          <p:cNvSpPr>
            <a:spLocks noGrp="1"/>
          </p:cNvSpPr>
          <p:nvPr>
            <p:ph idx="1"/>
          </p:nvPr>
        </p:nvSpPr>
        <p:spPr>
          <a:xfrm>
            <a:off x="609598" y="1295400"/>
            <a:ext cx="6781801" cy="4745963"/>
          </a:xfrm>
        </p:spPr>
        <p:txBody>
          <a:bodyPr/>
          <a:lstStyle/>
          <a:p>
            <a:pPr fontAlgn="ctr"/>
            <a:r>
              <a:rPr lang="en-US" dirty="0"/>
              <a:t>www.dictionary.com/browse/values</a:t>
            </a:r>
          </a:p>
          <a:p>
            <a:r>
              <a:rPr lang="en-US" dirty="0">
                <a:solidFill>
                  <a:schemeClr val="tx1"/>
                </a:solidFill>
                <a:hlinkClick r:id="rId2"/>
              </a:rPr>
              <a:t>https://iedunote.com/values</a:t>
            </a:r>
            <a:r>
              <a:rPr lang="en-US" dirty="0">
                <a:solidFill>
                  <a:schemeClr val="tx1"/>
                </a:solidFill>
              </a:rPr>
              <a:t> - Values: Definition, Characteristics, Importance, Types in Organizational </a:t>
            </a:r>
            <a:r>
              <a:rPr lang="en-US" dirty="0" err="1">
                <a:solidFill>
                  <a:schemeClr val="tx1"/>
                </a:solidFill>
              </a:rPr>
              <a:t>Behaviour</a:t>
            </a:r>
            <a:endParaRPr lang="en-US" dirty="0">
              <a:solidFill>
                <a:schemeClr val="tx1"/>
              </a:solidFill>
            </a:endParaRPr>
          </a:p>
          <a:p>
            <a:r>
              <a:rPr lang="en-US" dirty="0">
                <a:solidFill>
                  <a:schemeClr val="tx1"/>
                </a:solidFill>
              </a:rPr>
              <a:t>W</a:t>
            </a:r>
            <a:r>
              <a:rPr lang="en-US" dirty="0"/>
              <a:t>ebsite of Dipped Products </a:t>
            </a:r>
            <a:r>
              <a:rPr lang="en-US" dirty="0" err="1"/>
              <a:t>plc</a:t>
            </a:r>
            <a:endParaRPr lang="en-US" dirty="0"/>
          </a:p>
          <a:p>
            <a:pPr fontAlgn="base"/>
            <a:r>
              <a:rPr lang="en-US" dirty="0"/>
              <a:t>Website of John </a:t>
            </a:r>
            <a:r>
              <a:rPr lang="en-US" dirty="0" err="1"/>
              <a:t>Keells</a:t>
            </a:r>
            <a:r>
              <a:rPr lang="en-US" dirty="0"/>
              <a:t> Holdings </a:t>
            </a:r>
            <a:r>
              <a:rPr lang="en-US" dirty="0" err="1"/>
              <a:t>plc</a:t>
            </a:r>
            <a:endParaRPr lang="en-US" dirty="0"/>
          </a:p>
          <a:p>
            <a:pPr fontAlgn="base"/>
            <a:r>
              <a:rPr lang="en-US" dirty="0"/>
              <a:t>Website of </a:t>
            </a:r>
            <a:r>
              <a:rPr lang="en-US"/>
              <a:t>Colombo Dockyards </a:t>
            </a:r>
            <a:r>
              <a:rPr lang="en-US" dirty="0"/>
              <a:t>plc</a:t>
            </a:r>
          </a:p>
          <a:p>
            <a:pPr fontAlgn="base"/>
            <a:r>
              <a:rPr lang="en-US" dirty="0"/>
              <a:t>Website of </a:t>
            </a:r>
            <a:r>
              <a:rPr lang="en-US" dirty="0" err="1"/>
              <a:t>Durdans</a:t>
            </a:r>
            <a:r>
              <a:rPr lang="en-US" dirty="0"/>
              <a:t> Hospital</a:t>
            </a:r>
          </a:p>
          <a:p>
            <a:pPr fontAlgn="base"/>
            <a:r>
              <a:rPr lang="en-US" dirty="0"/>
              <a:t>Website of MAGA</a:t>
            </a:r>
          </a:p>
          <a:p>
            <a:pPr fontAlgn="base"/>
            <a:r>
              <a:rPr lang="en-US" dirty="0"/>
              <a:t>Chron.com : Luanne </a:t>
            </a:r>
            <a:r>
              <a:rPr lang="en-US" dirty="0" err="1"/>
              <a:t>Kelchner</a:t>
            </a:r>
            <a:r>
              <a:rPr lang="en-US" dirty="0"/>
              <a:t> - The Importance of Ethics in Organizations</a:t>
            </a:r>
          </a:p>
        </p:txBody>
      </p:sp>
      <p:sp>
        <p:nvSpPr>
          <p:cNvPr id="4" name="Slide Number Placeholder 3">
            <a:extLst>
              <a:ext uri="{FF2B5EF4-FFF2-40B4-BE49-F238E27FC236}">
                <a16:creationId xmlns:a16="http://schemas.microsoft.com/office/drawing/2014/main" id="{B42A6F3F-5E2E-3566-C869-B463F37EA150}"/>
              </a:ext>
            </a:extLst>
          </p:cNvPr>
          <p:cNvSpPr>
            <a:spLocks noGrp="1"/>
          </p:cNvSpPr>
          <p:nvPr>
            <p:ph type="sldNum" sz="quarter" idx="12"/>
          </p:nvPr>
        </p:nvSpPr>
        <p:spPr/>
        <p:txBody>
          <a:bodyPr/>
          <a:lstStyle/>
          <a:p>
            <a:fld id="{E0512086-A52C-44F0-970D-28E8CB23C1FA}" type="slidenum">
              <a:rPr lang="en-US" smtClean="0"/>
              <a:pPr/>
              <a:t>30</a:t>
            </a:fld>
            <a:endParaRPr lang="en-US"/>
          </a:p>
        </p:txBody>
      </p:sp>
    </p:spTree>
    <p:extLst>
      <p:ext uri="{BB962C8B-B14F-4D97-AF65-F5344CB8AC3E}">
        <p14:creationId xmlns:p14="http://schemas.microsoft.com/office/powerpoint/2010/main" val="309274994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rg_hi" descr="ANd9GcSCEbhc8eiukQMEptnyy2IB7p7daAmMc7k9DoGTzyTB-VN1rLvk"/>
          <p:cNvPicPr>
            <a:picLocks noChangeAspect="1" noChangeArrowheads="1"/>
          </p:cNvPicPr>
          <p:nvPr/>
        </p:nvPicPr>
        <p:blipFill>
          <a:blip r:embed="rId2"/>
          <a:srcRect/>
          <a:stretch>
            <a:fillRect/>
          </a:stretch>
        </p:blipFill>
        <p:spPr bwMode="auto">
          <a:xfrm>
            <a:off x="1676400" y="609600"/>
            <a:ext cx="5419725" cy="5181600"/>
          </a:xfrm>
          <a:prstGeom prst="rect">
            <a:avLst/>
          </a:prstGeom>
          <a:noFill/>
          <a:ln w="9525">
            <a:noFill/>
            <a:miter lim="800000"/>
            <a:headEnd/>
            <a:tailEnd/>
          </a:ln>
        </p:spPr>
      </p:pic>
      <p:sp>
        <p:nvSpPr>
          <p:cNvPr id="2" name="Slide Number Placeholder 1">
            <a:extLst>
              <a:ext uri="{FF2B5EF4-FFF2-40B4-BE49-F238E27FC236}">
                <a16:creationId xmlns:a16="http://schemas.microsoft.com/office/drawing/2014/main" id="{3F2CB5E2-30EE-3AFA-7AF6-0323C4D277BD}"/>
              </a:ext>
            </a:extLst>
          </p:cNvPr>
          <p:cNvSpPr>
            <a:spLocks noGrp="1"/>
          </p:cNvSpPr>
          <p:nvPr>
            <p:ph type="sldNum" sz="quarter" idx="12"/>
          </p:nvPr>
        </p:nvSpPr>
        <p:spPr/>
        <p:txBody>
          <a:bodyPr/>
          <a:lstStyle/>
          <a:p>
            <a:fld id="{E0512086-A52C-44F0-970D-28E8CB23C1FA}" type="slidenum">
              <a:rPr lang="en-US" smtClean="0"/>
              <a:pPr/>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1524000" y="4577623"/>
            <a:ext cx="5826719" cy="1646302"/>
          </a:xfrm>
        </p:spPr>
        <p:txBody>
          <a:bodyPr/>
          <a:lstStyle/>
          <a:p>
            <a:endParaRPr lang="en-US" dirty="0"/>
          </a:p>
        </p:txBody>
      </p:sp>
      <p:sp>
        <p:nvSpPr>
          <p:cNvPr id="5" name="Subtitle 4"/>
          <p:cNvSpPr>
            <a:spLocks noGrp="1"/>
          </p:cNvSpPr>
          <p:nvPr>
            <p:ph type="subTitle" idx="1"/>
          </p:nvPr>
        </p:nvSpPr>
        <p:spPr>
          <a:xfrm>
            <a:off x="533400" y="2667000"/>
            <a:ext cx="8458200" cy="914400"/>
          </a:xfrm>
        </p:spPr>
        <p:txBody>
          <a:bodyPr>
            <a:noAutofit/>
          </a:bodyPr>
          <a:lstStyle/>
          <a:p>
            <a:pPr algn="ctr"/>
            <a:r>
              <a:rPr lang="en-US" sz="6600" b="1" dirty="0"/>
              <a:t>THANK YOU !!!</a:t>
            </a:r>
          </a:p>
        </p:txBody>
      </p:sp>
      <p:sp>
        <p:nvSpPr>
          <p:cNvPr id="2" name="Slide Number Placeholder 1">
            <a:extLst>
              <a:ext uri="{FF2B5EF4-FFF2-40B4-BE49-F238E27FC236}">
                <a16:creationId xmlns:a16="http://schemas.microsoft.com/office/drawing/2014/main" id="{07542178-AAB5-AC19-D9E1-A3EAAB31B9AF}"/>
              </a:ext>
            </a:extLst>
          </p:cNvPr>
          <p:cNvSpPr>
            <a:spLocks noGrp="1"/>
          </p:cNvSpPr>
          <p:nvPr>
            <p:ph type="sldNum" sz="quarter" idx="12"/>
          </p:nvPr>
        </p:nvSpPr>
        <p:spPr/>
        <p:txBody>
          <a:bodyPr/>
          <a:lstStyle/>
          <a:p>
            <a:fld id="{E0512086-A52C-44F0-970D-28E8CB23C1FA}" type="slidenum">
              <a:rPr lang="en-US" smtClean="0"/>
              <a:pPr/>
              <a:t>32</a:t>
            </a:fld>
            <a:endParaRPr lang="en-US"/>
          </a:p>
        </p:txBody>
      </p:sp>
      <p:pic>
        <p:nvPicPr>
          <p:cNvPr id="6" name="Picture 5">
            <a:extLst>
              <a:ext uri="{FF2B5EF4-FFF2-40B4-BE49-F238E27FC236}">
                <a16:creationId xmlns:a16="http://schemas.microsoft.com/office/drawing/2014/main" id="{88A99A4D-59A3-43CF-5C32-7B83CB239B5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28558" y="4395060"/>
            <a:ext cx="4417601" cy="1480124"/>
          </a:xfrm>
          <a:prstGeom prst="rect">
            <a:avLst/>
          </a:prstGeom>
        </p:spPr>
      </p:pic>
    </p:spTree>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1571</TotalTime>
  <Words>2360</Words>
  <Application>Microsoft Office PowerPoint</Application>
  <PresentationFormat>On-screen Show (4:3)</PresentationFormat>
  <Paragraphs>286</Paragraphs>
  <Slides>32</Slides>
  <Notes>3</Notes>
  <HiddenSlides>0</HiddenSlides>
  <MMClips>0</MMClips>
  <ScaleCrop>false</ScaleCrop>
  <HeadingPairs>
    <vt:vector size="4" baseType="variant">
      <vt:variant>
        <vt:lpstr>Theme</vt:lpstr>
      </vt:variant>
      <vt:variant>
        <vt:i4>1</vt:i4>
      </vt:variant>
      <vt:variant>
        <vt:lpstr>Slide Titles</vt:lpstr>
      </vt:variant>
      <vt:variant>
        <vt:i4>32</vt:i4>
      </vt:variant>
    </vt:vector>
  </HeadingPairs>
  <TitlesOfParts>
    <vt:vector size="33" baseType="lpstr">
      <vt:lpstr>Facet</vt:lpstr>
      <vt:lpstr>PowerPoint Presentation</vt:lpstr>
      <vt:lpstr>MODULE CONTENT</vt:lpstr>
      <vt:lpstr>MODULE CONTENT</vt:lpstr>
      <vt:lpstr>PROFESSIONAL ETHICS CE 3142   FUNDERMENTAL CONCEPTS</vt:lpstr>
      <vt:lpstr>TOPICS</vt:lpstr>
      <vt:lpstr>Introduction to Values</vt:lpstr>
      <vt:lpstr>VALUE – the definition</vt:lpstr>
      <vt:lpstr>LISTS OF VALUES</vt:lpstr>
      <vt:lpstr>Characteristics of Value </vt:lpstr>
      <vt:lpstr>PERSONNAL VALUES !!</vt:lpstr>
      <vt:lpstr>CORE VALUES</vt:lpstr>
      <vt:lpstr>CORE VALUES</vt:lpstr>
      <vt:lpstr>CORPORATE CORE VALUES </vt:lpstr>
      <vt:lpstr>CORPORATE CORE VALUES</vt:lpstr>
      <vt:lpstr>Core Values: John Keells Holdings PLC </vt:lpstr>
      <vt:lpstr>PowerPoint Presentation</vt:lpstr>
      <vt:lpstr>Core Values </vt:lpstr>
      <vt:lpstr>PowerPoint Presentation</vt:lpstr>
      <vt:lpstr>DURDANS HOSPITALS</vt:lpstr>
      <vt:lpstr>Values            Ethics</vt:lpstr>
      <vt:lpstr>WHAT IS ETHICS ???</vt:lpstr>
      <vt:lpstr>The value structure that guides the actions of a person, whether individual or corporate, in his/her/their dealings with any other person, or with society in general.</vt:lpstr>
      <vt:lpstr>Values        Ethics</vt:lpstr>
      <vt:lpstr>The Importance of a Code of Ethics</vt:lpstr>
      <vt:lpstr>Why have a Code of Ethics?</vt:lpstr>
      <vt:lpstr>The Importance of Ethics in an Organisation</vt:lpstr>
      <vt:lpstr>The Importance of Ethics in an Organisation</vt:lpstr>
      <vt:lpstr>The Importance of Ethics in an Organisation</vt:lpstr>
      <vt:lpstr>The Importance of Ethics in an Organisation</vt:lpstr>
      <vt:lpstr>ACKNOWLEDGEMENT:</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ETHICS FOR UPCOMING ENGINEERS</dc:title>
  <dc:creator>DE ZILWA</dc:creator>
  <cp:lastModifiedBy>Mrs. LY Hitige</cp:lastModifiedBy>
  <cp:revision>106</cp:revision>
  <dcterms:created xsi:type="dcterms:W3CDTF">2015-10-13T16:05:40Z</dcterms:created>
  <dcterms:modified xsi:type="dcterms:W3CDTF">2024-01-19T02:09:04Z</dcterms:modified>
</cp:coreProperties>
</file>