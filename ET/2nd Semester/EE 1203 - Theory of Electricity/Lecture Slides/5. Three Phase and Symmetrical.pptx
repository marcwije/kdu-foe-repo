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0"/>
  </p:notesMasterIdLst>
  <p:sldIdLst>
    <p:sldId id="301" r:id="rId3"/>
    <p:sldId id="413" r:id="rId4"/>
    <p:sldId id="457" r:id="rId5"/>
    <p:sldId id="458" r:id="rId6"/>
    <p:sldId id="459" r:id="rId7"/>
    <p:sldId id="460" r:id="rId8"/>
    <p:sldId id="461" r:id="rId9"/>
    <p:sldId id="462" r:id="rId10"/>
    <p:sldId id="463" r:id="rId11"/>
    <p:sldId id="464" r:id="rId12"/>
    <p:sldId id="465" r:id="rId13"/>
    <p:sldId id="466" r:id="rId14"/>
    <p:sldId id="467" r:id="rId15"/>
    <p:sldId id="468" r:id="rId16"/>
    <p:sldId id="469" r:id="rId17"/>
    <p:sldId id="470" r:id="rId18"/>
    <p:sldId id="471" r:id="rId19"/>
    <p:sldId id="472" r:id="rId20"/>
    <p:sldId id="473" r:id="rId21"/>
    <p:sldId id="474" r:id="rId22"/>
    <p:sldId id="475" r:id="rId23"/>
    <p:sldId id="476" r:id="rId24"/>
    <p:sldId id="477" r:id="rId25"/>
    <p:sldId id="478" r:id="rId26"/>
    <p:sldId id="479" r:id="rId27"/>
    <p:sldId id="480" r:id="rId28"/>
    <p:sldId id="481" r:id="rId29"/>
    <p:sldId id="482" r:id="rId30"/>
    <p:sldId id="483" r:id="rId31"/>
    <p:sldId id="484" r:id="rId32"/>
    <p:sldId id="485" r:id="rId33"/>
    <p:sldId id="486" r:id="rId34"/>
    <p:sldId id="487" r:id="rId35"/>
    <p:sldId id="488" r:id="rId36"/>
    <p:sldId id="489" r:id="rId37"/>
    <p:sldId id="490" r:id="rId38"/>
    <p:sldId id="491" r:id="rId39"/>
    <p:sldId id="492" r:id="rId40"/>
    <p:sldId id="493" r:id="rId41"/>
    <p:sldId id="494" r:id="rId42"/>
    <p:sldId id="495" r:id="rId43"/>
    <p:sldId id="496" r:id="rId44"/>
    <p:sldId id="497" r:id="rId45"/>
    <p:sldId id="498" r:id="rId46"/>
    <p:sldId id="499" r:id="rId47"/>
    <p:sldId id="501" r:id="rId48"/>
    <p:sldId id="502" r:id="rId49"/>
    <p:sldId id="503" r:id="rId50"/>
    <p:sldId id="504" r:id="rId51"/>
    <p:sldId id="505" r:id="rId52"/>
    <p:sldId id="506" r:id="rId53"/>
    <p:sldId id="507" r:id="rId54"/>
    <p:sldId id="508" r:id="rId55"/>
    <p:sldId id="509" r:id="rId56"/>
    <p:sldId id="510" r:id="rId57"/>
    <p:sldId id="511" r:id="rId58"/>
    <p:sldId id="456"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cas" initials="J R" lastIdx="1" clrIdx="0">
    <p:extLst>
      <p:ext uri="{19B8F6BF-5375-455C-9EA6-DF929625EA0E}">
        <p15:presenceInfo xmlns:p15="http://schemas.microsoft.com/office/powerpoint/2012/main" userId="Luc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E6AF00"/>
    <a:srgbClr val="00FF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77" autoAdjust="0"/>
    <p:restoredTop sz="90093" autoAdjust="0"/>
  </p:normalViewPr>
  <p:slideViewPr>
    <p:cSldViewPr snapToGrid="0">
      <p:cViewPr varScale="1">
        <p:scale>
          <a:sx n="73" d="100"/>
          <a:sy n="73" d="100"/>
        </p:scale>
        <p:origin x="402" y="5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4"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413385-33B6-432C-BCB5-D28242722B6F}" type="datetimeFigureOut">
              <a:rPr lang="en-GB" smtClean="0"/>
              <a:t>14/10/2020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C4AAFD-141F-4056-A367-1845A08BF131}" type="slidenum">
              <a:rPr lang="en-GB" smtClean="0"/>
              <a:t>‹#›</a:t>
            </a:fld>
            <a:endParaRPr lang="en-GB"/>
          </a:p>
        </p:txBody>
      </p:sp>
    </p:spTree>
    <p:extLst>
      <p:ext uri="{BB962C8B-B14F-4D97-AF65-F5344CB8AC3E}">
        <p14:creationId xmlns:p14="http://schemas.microsoft.com/office/powerpoint/2010/main" val="258324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tx1"/>
                </a:solidFill>
              </a:rPr>
              <a:t>Dear students. In the next set of lessons, we will be studying the application of balanced and unbalanced three phase theory to circuits.  Will then learn how unbalanced voltages and currents may be broken up into 3 sequence components.</a:t>
            </a:r>
            <a:endParaRPr lang="en-GB" dirty="0">
              <a:solidFill>
                <a:schemeClr val="tx1"/>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E7AF17-32A2-4BCF-8664-2B97A4DCC40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434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learning outcomes of this set of lessons is to be able to perform calculations in three phase circuits including unbalanced waveforms and sequence components.</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a:t>
            </a:fld>
            <a:endParaRPr lang="en-GB"/>
          </a:p>
        </p:txBody>
      </p:sp>
    </p:spTree>
    <p:extLst>
      <p:ext uri="{BB962C8B-B14F-4D97-AF65-F5344CB8AC3E}">
        <p14:creationId xmlns:p14="http://schemas.microsoft.com/office/powerpoint/2010/main" val="2776332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section we are going to learn is symmetrical components.  Before I start on that let me ask you a simple question. If you had 2 forces to add you would probably use the parallelogram law or the triangular law to do the addition.  However, if you had many 3 </a:t>
            </a:r>
            <a:r>
              <a:rPr lang="en-US" dirty="0" err="1"/>
              <a:t>dimentional</a:t>
            </a:r>
            <a:r>
              <a:rPr lang="en-US" dirty="0"/>
              <a:t> forces to add, you would probably resolve them into 3 perpendicular directions, and do the addition axis-wise and then combine.  The three axis on which you resolve need to be perpendicular to each other as each of the components should not have a component in the other direction.</a:t>
            </a:r>
          </a:p>
          <a:p>
            <a:r>
              <a:rPr lang="en-US" dirty="0"/>
              <a:t>The same is true with unbalanced three-phase voltages and currents. We need to resolve them into symmetrical components, or sequence components.</a:t>
            </a:r>
          </a:p>
          <a:p>
            <a:r>
              <a:rPr lang="en-US" dirty="0"/>
              <a:t>To do that we need to first understand Phase sequence. </a:t>
            </a:r>
            <a:r>
              <a:rPr lang="en-GB" sz="1200" dirty="0">
                <a:solidFill>
                  <a:srgbClr val="002060"/>
                </a:solidFill>
                <a:latin typeface="Times New Roman" panose="02020603050405020304" pitchFamily="18" charset="0"/>
                <a:ea typeface="Times New Roman" panose="02020603050405020304" pitchFamily="18" charset="0"/>
              </a:rPr>
              <a:t>Phase sequence is the sequence, or order, in which the three phases, namely voltages or currents, reach a particular position, for example peak value or zero.  In the balanced 3 phase waveforms shown, if we start with “A”, then if we consider the peak values, the peak of “B” occurs after that of “A” and the peak of “C” occurs after that of “B”.  The peak of “A” again occurs after that.  Thus the phase sequence is said to be “A-B-C”, or “A-B-C-A-B-C-A” etc.  The phase sequence A-B-C is the same as the phase sequence B-C-A is the same as the phase sequence C-A-B.  It is occurring cyclically.  However, the phase sequence A-C-B or C-B-A or B-A-C are opposite to that of A-B-C.  Instead of looking at the positive peak values, we could have looked at the negative peak values, or even the up-going zeros, or even the down-going zeros, all of which would have given the same result. </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29</a:t>
            </a:fld>
            <a:endParaRPr lang="en-GB"/>
          </a:p>
        </p:txBody>
      </p:sp>
    </p:spTree>
    <p:extLst>
      <p:ext uri="{BB962C8B-B14F-4D97-AF65-F5344CB8AC3E}">
        <p14:creationId xmlns:p14="http://schemas.microsoft.com/office/powerpoint/2010/main" val="963643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 us now consider the decomposition of unbalanced three-phase phasor A-B-C shown on the left, with phase sequence A-B-C into three balanced sets of phasors as formulated by Fortescue in 1918.</a:t>
            </a:r>
          </a:p>
          <a:p>
            <a:r>
              <a:rPr lang="en-US" dirty="0"/>
              <a:t>The normal balanced system of voltages (or currents) will only have the natural sequence, and no other components present, like a line in the x-direction cannot have y or z components.</a:t>
            </a:r>
          </a:p>
          <a:p>
            <a:r>
              <a:rPr lang="en-US" dirty="0"/>
              <a:t>The three sets of balanced components defined in sequence components are: first, a balanced three phase system A1-B1-C1 having the same phase sequence as the original A-B-C and called the positive sequence; second, a balanced three phase system A2-C2-B2 having the opposite phase sequence to the original A-B-C and called negative sequence; and third, a set of 3 equal phasors A0-B0-C0 moving together and having no sequence, and called zero sequence.</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30</a:t>
            </a:fld>
            <a:endParaRPr lang="en-GB"/>
          </a:p>
        </p:txBody>
      </p:sp>
    </p:spTree>
    <p:extLst>
      <p:ext uri="{BB962C8B-B14F-4D97-AF65-F5344CB8AC3E}">
        <p14:creationId xmlns:p14="http://schemas.microsoft.com/office/powerpoint/2010/main" val="991827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13335" algn="just">
              <a:lnSpc>
                <a:spcPct val="114000"/>
              </a:lnSpc>
              <a:spcAft>
                <a:spcPts val="900"/>
              </a:spcAft>
            </a:pPr>
            <a:r>
              <a:rPr lang="en-US" dirty="0"/>
              <a:t>That is, an </a:t>
            </a:r>
            <a:r>
              <a:rPr lang="en-GB" sz="1200" dirty="0">
                <a:solidFill>
                  <a:srgbClr val="002060"/>
                </a:solidFill>
                <a:latin typeface="Times New Roman" panose="02020603050405020304" pitchFamily="18" charset="0"/>
              </a:rPr>
              <a:t>Unbalanced three phase system, can be split up into  </a:t>
            </a:r>
            <a:endParaRPr lang="en-GB" sz="1200" b="1" dirty="0">
              <a:latin typeface="Times New Roman" panose="02020603050405020304" pitchFamily="18" charset="0"/>
            </a:endParaRPr>
          </a:p>
          <a:p>
            <a:pPr marL="342900" marR="0" lvl="0" indent="-342900" algn="just">
              <a:lnSpc>
                <a:spcPct val="114000"/>
              </a:lnSpc>
              <a:spcBef>
                <a:spcPts val="0"/>
              </a:spcBef>
              <a:spcAft>
                <a:spcPts val="900"/>
              </a:spcAft>
              <a:buFont typeface="+mj-lt"/>
              <a:buAutoNum type="romanLcParenBoth"/>
              <a:tabLst>
                <a:tab pos="685800" algn="l"/>
              </a:tabLst>
            </a:pPr>
            <a:r>
              <a:rPr lang="en-GB" sz="1200" dirty="0">
                <a:solidFill>
                  <a:srgbClr val="002060"/>
                </a:solidFill>
                <a:latin typeface="Times New Roman" panose="02020603050405020304" pitchFamily="18" charset="0"/>
              </a:rPr>
              <a:t>a balanced system having same phase sequence as the unbalanced system, </a:t>
            </a:r>
            <a:r>
              <a:rPr lang="en-GB" sz="1200" dirty="0">
                <a:solidFill>
                  <a:srgbClr val="C00000"/>
                </a:solidFill>
                <a:latin typeface="Times New Roman" panose="02020603050405020304" pitchFamily="18" charset="0"/>
              </a:rPr>
              <a:t>[Positive Sequence]</a:t>
            </a:r>
            <a:endParaRPr lang="en-GB" sz="1200" b="1" dirty="0">
              <a:latin typeface="Times New Roman" panose="02020603050405020304" pitchFamily="18" charset="0"/>
            </a:endParaRPr>
          </a:p>
          <a:p>
            <a:pPr marL="342900" marR="0" lvl="0" indent="-342900" algn="just">
              <a:lnSpc>
                <a:spcPct val="114000"/>
              </a:lnSpc>
              <a:spcBef>
                <a:spcPts val="0"/>
              </a:spcBef>
              <a:spcAft>
                <a:spcPts val="900"/>
              </a:spcAft>
              <a:buFont typeface="+mj-lt"/>
              <a:buAutoNum type="romanLcParenBoth"/>
              <a:tabLst>
                <a:tab pos="685800" algn="l"/>
                <a:tab pos="742950" algn="l"/>
              </a:tabLst>
            </a:pPr>
            <a:r>
              <a:rPr lang="en-GB" sz="1200" dirty="0">
                <a:solidFill>
                  <a:srgbClr val="002060"/>
                </a:solidFill>
                <a:latin typeface="Times New Roman" panose="02020603050405020304" pitchFamily="18" charset="0"/>
              </a:rPr>
              <a:t>a balanced system having the opposite phase sequence to the unbalanced system (rotation of phasors is always anticlockwise whether they are in  same sequence or opposite), </a:t>
            </a:r>
            <a:r>
              <a:rPr lang="en-GB" sz="1200" dirty="0">
                <a:solidFill>
                  <a:srgbClr val="C00000"/>
                </a:solidFill>
                <a:latin typeface="Times New Roman" panose="02020603050405020304" pitchFamily="18" charset="0"/>
              </a:rPr>
              <a:t>[Negative Sequence] </a:t>
            </a:r>
            <a:r>
              <a:rPr lang="en-GB" sz="1200" dirty="0">
                <a:solidFill>
                  <a:srgbClr val="002060"/>
                </a:solidFill>
                <a:latin typeface="Times New Roman" panose="02020603050405020304" pitchFamily="18" charset="0"/>
              </a:rPr>
              <a:t>and </a:t>
            </a:r>
          </a:p>
          <a:p>
            <a:pPr marL="342900" marR="0" lvl="0" indent="-342900" algn="just">
              <a:lnSpc>
                <a:spcPct val="114000"/>
              </a:lnSpc>
              <a:spcBef>
                <a:spcPts val="0"/>
              </a:spcBef>
              <a:spcAft>
                <a:spcPts val="900"/>
              </a:spcAft>
              <a:buFont typeface="+mj-lt"/>
              <a:buAutoNum type="romanLcParenBoth"/>
              <a:tabLst>
                <a:tab pos="685800" algn="l"/>
                <a:tab pos="742950" algn="l"/>
              </a:tabLst>
            </a:pPr>
            <a:r>
              <a:rPr lang="en-GB" sz="1200" dirty="0">
                <a:solidFill>
                  <a:srgbClr val="002060"/>
                </a:solidFill>
                <a:latin typeface="Times New Roman" panose="02020603050405020304" pitchFamily="18" charset="0"/>
                <a:ea typeface="Times New Roman" panose="02020603050405020304" pitchFamily="18" charset="0"/>
              </a:rPr>
              <a:t>a balanced system of </a:t>
            </a:r>
            <a:r>
              <a:rPr lang="en-GB" sz="1200" dirty="0" err="1">
                <a:solidFill>
                  <a:srgbClr val="002060"/>
                </a:solidFill>
                <a:latin typeface="Times New Roman" panose="02020603050405020304" pitchFamily="18" charset="0"/>
                <a:ea typeface="Times New Roman" panose="02020603050405020304" pitchFamily="18" charset="0"/>
              </a:rPr>
              <a:t>inphase</a:t>
            </a:r>
            <a:r>
              <a:rPr lang="en-GB" sz="1200" dirty="0">
                <a:solidFill>
                  <a:srgbClr val="002060"/>
                </a:solidFill>
                <a:latin typeface="Times New Roman" panose="02020603050405020304" pitchFamily="18" charset="0"/>
                <a:ea typeface="Times New Roman" panose="02020603050405020304" pitchFamily="18" charset="0"/>
              </a:rPr>
              <a:t> quantities </a:t>
            </a:r>
            <a:r>
              <a:rPr lang="en-GB" sz="1200" dirty="0">
                <a:solidFill>
                  <a:srgbClr val="C00000"/>
                </a:solidFill>
                <a:latin typeface="Times New Roman" panose="02020603050405020304" pitchFamily="18" charset="0"/>
                <a:ea typeface="Times New Roman" panose="02020603050405020304" pitchFamily="18" charset="0"/>
              </a:rPr>
              <a:t>[Zero Sequence]</a:t>
            </a:r>
            <a:r>
              <a:rPr lang="en-GB" sz="1200" dirty="0">
                <a:solidFill>
                  <a:srgbClr val="002060"/>
                </a:solidFill>
                <a:latin typeface="Times New Roman" panose="02020603050405020304" pitchFamily="18" charset="0"/>
                <a:ea typeface="Times New Roman" panose="02020603050405020304" pitchFamily="18" charset="0"/>
              </a:rPr>
              <a:t>.</a:t>
            </a:r>
            <a:endParaRPr lang="en-GB" sz="1200" dirty="0"/>
          </a:p>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31</a:t>
            </a:fld>
            <a:endParaRPr lang="en-GB"/>
          </a:p>
        </p:txBody>
      </p:sp>
    </p:spTree>
    <p:extLst>
      <p:ext uri="{BB962C8B-B14F-4D97-AF65-F5344CB8AC3E}">
        <p14:creationId xmlns:p14="http://schemas.microsoft.com/office/powerpoint/2010/main" val="644329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how these sequence components may be determined, let us first look at it from the other way round.  The addition of the components of any particular phase, for example A0, A1 and A2 will give A, similarly B0, B1 and B2 will give B, and Co, C1 and C2 will give C as shown.</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32</a:t>
            </a:fld>
            <a:endParaRPr lang="en-GB"/>
          </a:p>
        </p:txBody>
      </p:sp>
    </p:spTree>
    <p:extLst>
      <p:ext uri="{BB962C8B-B14F-4D97-AF65-F5344CB8AC3E}">
        <p14:creationId xmlns:p14="http://schemas.microsoft.com/office/powerpoint/2010/main" val="517138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compare the original system and the balanced components.</a:t>
            </a:r>
          </a:p>
          <a:p>
            <a:pPr algn="just"/>
            <a:r>
              <a:rPr lang="en-GB" sz="1200" dirty="0">
                <a:solidFill>
                  <a:srgbClr val="002060"/>
                </a:solidFill>
                <a:latin typeface="Times New Roman" panose="02020603050405020304" pitchFamily="18" charset="0"/>
                <a:ea typeface="Times New Roman" panose="02020603050405020304" pitchFamily="18" charset="0"/>
              </a:rPr>
              <a:t>The Original unbalanced system has 3 complex unknown quantities</a:t>
            </a:r>
            <a:r>
              <a:rPr lang="en-GB" sz="1200" b="1" dirty="0">
                <a:solidFill>
                  <a:srgbClr val="002060"/>
                </a:solidFill>
                <a:latin typeface="Times New Roman" panose="02020603050405020304" pitchFamily="18" charset="0"/>
                <a:ea typeface="Times New Roman" panose="02020603050405020304" pitchFamily="18" charset="0"/>
              </a:rPr>
              <a:t> A</a:t>
            </a:r>
            <a:r>
              <a:rPr lang="en-GB" sz="1200" dirty="0">
                <a:solidFill>
                  <a:srgbClr val="002060"/>
                </a:solidFill>
                <a:latin typeface="Times New Roman" panose="02020603050405020304" pitchFamily="18" charset="0"/>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B</a:t>
            </a:r>
            <a:r>
              <a:rPr lang="en-GB" sz="1200" dirty="0">
                <a:solidFill>
                  <a:srgbClr val="002060"/>
                </a:solidFill>
                <a:latin typeface="Times New Roman" panose="02020603050405020304" pitchFamily="18" charset="0"/>
                <a:ea typeface="Times New Roman" panose="02020603050405020304" pitchFamily="18" charset="0"/>
              </a:rPr>
              <a:t> and </a:t>
            </a:r>
            <a:r>
              <a:rPr lang="en-GB" sz="1200" b="1" dirty="0">
                <a:solidFill>
                  <a:srgbClr val="002060"/>
                </a:solidFill>
                <a:latin typeface="Times New Roman" panose="02020603050405020304" pitchFamily="18" charset="0"/>
                <a:ea typeface="Times New Roman" panose="02020603050405020304" pitchFamily="18" charset="0"/>
              </a:rPr>
              <a:t>C,</a:t>
            </a:r>
            <a:r>
              <a:rPr lang="en-GB" sz="1200" b="0" dirty="0">
                <a:solidFill>
                  <a:srgbClr val="002060"/>
                </a:solidFill>
                <a:latin typeface="Times New Roman" panose="02020603050405020304" pitchFamily="18" charset="0"/>
                <a:ea typeface="Times New Roman" panose="02020603050405020304" pitchFamily="18" charset="0"/>
              </a:rPr>
              <a:t> with </a:t>
            </a:r>
            <a:r>
              <a:rPr lang="en-GB" sz="1200" dirty="0">
                <a:solidFill>
                  <a:srgbClr val="002060"/>
                </a:solidFill>
                <a:latin typeface="Times New Roman" panose="02020603050405020304" pitchFamily="18" charset="0"/>
                <a:ea typeface="Times New Roman" panose="02020603050405020304" pitchFamily="18" charset="0"/>
              </a:rPr>
              <a:t>magnitude and phase angle of each being independent, or 3 independent complex quantities.</a:t>
            </a:r>
            <a:endParaRPr lang="en-GB" sz="1200" dirty="0">
              <a:latin typeface="Times New Roman" panose="02020603050405020304" pitchFamily="18" charset="0"/>
              <a:ea typeface="Times New Roman" panose="02020603050405020304" pitchFamily="18" charset="0"/>
            </a:endParaRPr>
          </a:p>
          <a:p>
            <a:pPr algn="just"/>
            <a:r>
              <a:rPr lang="en-GB" sz="1200" dirty="0">
                <a:solidFill>
                  <a:srgbClr val="002060"/>
                </a:solidFill>
                <a:latin typeface="Times New Roman" panose="02020603050405020304" pitchFamily="18" charset="0"/>
                <a:ea typeface="Times New Roman" panose="02020603050405020304" pitchFamily="18" charset="0"/>
              </a:rPr>
              <a:t>The balanced components on the other hand have only one independent complex unknown each, again effectively 3 complex unknown quantities.  </a:t>
            </a:r>
            <a:endParaRPr lang="en-GB" sz="1200" dirty="0">
              <a:latin typeface="Times New Roman" panose="02020603050405020304" pitchFamily="18" charset="0"/>
              <a:ea typeface="Times New Roman" panose="02020603050405020304" pitchFamily="18" charset="0"/>
            </a:endParaRPr>
          </a:p>
          <a:p>
            <a:pPr marL="0" marR="0" lvl="0" indent="0" algn="just">
              <a:spcBef>
                <a:spcPts val="0"/>
              </a:spcBef>
              <a:spcAft>
                <a:spcPts val="0"/>
              </a:spcAft>
              <a:buFont typeface="Symbol" panose="05050102010706020507" pitchFamily="18" charset="2"/>
              <a:buNone/>
            </a:pPr>
            <a:r>
              <a:rPr lang="en-GB" sz="1200" dirty="0">
                <a:solidFill>
                  <a:srgbClr val="002060"/>
                </a:solidFill>
                <a:latin typeface="Times New Roman" panose="02020603050405020304" pitchFamily="18" charset="0"/>
                <a:ea typeface="Times New Roman" panose="02020603050405020304" pitchFamily="18" charset="0"/>
              </a:rPr>
              <a:t>It is usual to select these independent quantities as the components of the first phase </a:t>
            </a:r>
            <a:r>
              <a:rPr lang="en-GB" sz="1200" b="1" dirty="0">
                <a:solidFill>
                  <a:srgbClr val="002060"/>
                </a:solidFill>
                <a:latin typeface="Times New Roman" panose="02020603050405020304" pitchFamily="18" charset="0"/>
                <a:ea typeface="Times New Roman" panose="02020603050405020304" pitchFamily="18" charset="0"/>
              </a:rPr>
              <a:t>A </a:t>
            </a:r>
            <a:r>
              <a:rPr lang="en-GB" sz="1200" dirty="0">
                <a:solidFill>
                  <a:srgbClr val="002060"/>
                </a:solidFill>
                <a:latin typeface="Times New Roman" panose="02020603050405020304" pitchFamily="18" charset="0"/>
                <a:ea typeface="Times New Roman" panose="02020603050405020304" pitchFamily="18" charset="0"/>
              </a:rPr>
              <a:t>(i.e. </a:t>
            </a:r>
            <a:r>
              <a:rPr lang="en-GB" sz="1200" b="1" dirty="0">
                <a:solidFill>
                  <a:srgbClr val="002060"/>
                </a:solidFill>
                <a:latin typeface="Times New Roman" panose="02020603050405020304" pitchFamily="18" charset="0"/>
                <a:ea typeface="Times New Roman" panose="02020603050405020304" pitchFamily="18" charset="0"/>
              </a:rPr>
              <a:t>A</a:t>
            </a:r>
            <a:r>
              <a:rPr lang="en-GB" sz="1200" b="1" baseline="-25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A</a:t>
            </a:r>
            <a:r>
              <a:rPr lang="en-GB" sz="1200" b="1" baseline="-25000" dirty="0">
                <a:solidFill>
                  <a:srgbClr val="002060"/>
                </a:solidFill>
                <a:latin typeface="Times New Roman" panose="02020603050405020304" pitchFamily="18" charset="0"/>
                <a:ea typeface="Times New Roman" panose="02020603050405020304" pitchFamily="18" charset="0"/>
              </a:rPr>
              <a:t>1</a:t>
            </a:r>
            <a:r>
              <a:rPr lang="en-GB" sz="1200" dirty="0">
                <a:solidFill>
                  <a:srgbClr val="002060"/>
                </a:solidFill>
                <a:latin typeface="Times New Roman" panose="02020603050405020304" pitchFamily="18" charset="0"/>
                <a:ea typeface="Times New Roman" panose="02020603050405020304" pitchFamily="18" charset="0"/>
              </a:rPr>
              <a:t> and </a:t>
            </a:r>
            <a:r>
              <a:rPr lang="en-GB" sz="1200" b="1" dirty="0">
                <a:solidFill>
                  <a:srgbClr val="002060"/>
                </a:solidFill>
                <a:latin typeface="Times New Roman" panose="02020603050405020304" pitchFamily="18" charset="0"/>
                <a:ea typeface="Times New Roman" panose="02020603050405020304" pitchFamily="18" charset="0"/>
              </a:rPr>
              <a:t>A</a:t>
            </a:r>
            <a:r>
              <a:rPr lang="en-GB" sz="1200" b="1" baseline="-25000" dirty="0">
                <a:solidFill>
                  <a:srgbClr val="002060"/>
                </a:solidFill>
                <a:latin typeface="Times New Roman" panose="02020603050405020304" pitchFamily="18" charset="0"/>
                <a:ea typeface="Times New Roman" panose="02020603050405020304" pitchFamily="18" charset="0"/>
              </a:rPr>
              <a:t>2</a:t>
            </a:r>
            <a:r>
              <a:rPr lang="en-GB" sz="1200" dirty="0">
                <a:solidFill>
                  <a:srgbClr val="002060"/>
                </a:solidFill>
                <a:latin typeface="Times New Roman" panose="02020603050405020304" pitchFamily="18" charset="0"/>
                <a:ea typeface="Times New Roman" panose="02020603050405020304" pitchFamily="18" charset="0"/>
              </a:rPr>
              <a:t>) . </a:t>
            </a:r>
          </a:p>
          <a:p>
            <a:pPr marL="0" marR="0" lvl="0" indent="0" algn="just">
              <a:spcBef>
                <a:spcPts val="0"/>
              </a:spcBef>
              <a:spcAft>
                <a:spcPts val="0"/>
              </a:spcAft>
              <a:buFont typeface="Symbol" panose="05050102010706020507" pitchFamily="18" charset="2"/>
              <a:buNone/>
            </a:pPr>
            <a:r>
              <a:rPr lang="en-GB" sz="1200" dirty="0">
                <a:solidFill>
                  <a:srgbClr val="002060"/>
                </a:solidFill>
                <a:latin typeface="Times New Roman" panose="02020603050405020304" pitchFamily="18" charset="0"/>
                <a:ea typeface="Times New Roman" panose="02020603050405020304" pitchFamily="18" charset="0"/>
              </a:rPr>
              <a:t>As is obvious, each phase component is made up of its own three components. Thus </a:t>
            </a:r>
            <a:r>
              <a:rPr lang="en-GB" sz="1200" b="1" dirty="0">
                <a:solidFill>
                  <a:srgbClr val="002060"/>
                </a:solidFill>
                <a:latin typeface="Times New Roman" panose="02020603050405020304" pitchFamily="18" charset="0"/>
                <a:ea typeface="Times New Roman" panose="02020603050405020304" pitchFamily="18" charset="0"/>
              </a:rPr>
              <a:t>A </a:t>
            </a:r>
            <a:r>
              <a:rPr lang="en-GB" sz="1200" dirty="0">
                <a:solidFill>
                  <a:srgbClr val="002060"/>
                </a:solidFill>
                <a:latin typeface="Times New Roman" panose="02020603050405020304" pitchFamily="18" charset="0"/>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A</a:t>
            </a:r>
            <a:r>
              <a:rPr lang="en-GB" sz="1200" b="1" baseline="-25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a:t>
            </a:r>
            <a:r>
              <a:rPr lang="en-GB" sz="1200" b="1" dirty="0">
                <a:solidFill>
                  <a:srgbClr val="002060"/>
                </a:solidFill>
                <a:latin typeface="Times New Roman" panose="02020603050405020304" pitchFamily="18" charset="0"/>
                <a:ea typeface="Times New Roman" panose="02020603050405020304" pitchFamily="18" charset="0"/>
              </a:rPr>
              <a:t>A</a:t>
            </a:r>
            <a:r>
              <a:rPr lang="en-GB" sz="1200" b="1" baseline="-25000" dirty="0">
                <a:solidFill>
                  <a:srgbClr val="002060"/>
                </a:solidFill>
                <a:latin typeface="Times New Roman" panose="02020603050405020304" pitchFamily="18" charset="0"/>
                <a:ea typeface="Times New Roman" panose="02020603050405020304" pitchFamily="18" charset="0"/>
              </a:rPr>
              <a:t>1</a:t>
            </a:r>
            <a:r>
              <a:rPr lang="en-GB" sz="1200" dirty="0">
                <a:solidFill>
                  <a:srgbClr val="002060"/>
                </a:solidFill>
                <a:latin typeface="Times New Roman" panose="02020603050405020304" pitchFamily="18" charset="0"/>
                <a:ea typeface="Times New Roman" panose="02020603050405020304" pitchFamily="18" charset="0"/>
              </a:rPr>
              <a:t>+</a:t>
            </a:r>
            <a:r>
              <a:rPr lang="en-GB" sz="1200" b="1" dirty="0">
                <a:solidFill>
                  <a:srgbClr val="002060"/>
                </a:solidFill>
                <a:latin typeface="Times New Roman" panose="02020603050405020304" pitchFamily="18" charset="0"/>
                <a:ea typeface="Times New Roman" panose="02020603050405020304" pitchFamily="18" charset="0"/>
              </a:rPr>
              <a:t>A</a:t>
            </a:r>
            <a:r>
              <a:rPr lang="en-GB" sz="1200" b="1" baseline="-25000" dirty="0">
                <a:solidFill>
                  <a:srgbClr val="002060"/>
                </a:solidFill>
                <a:latin typeface="Times New Roman" panose="02020603050405020304" pitchFamily="18" charset="0"/>
                <a:ea typeface="Times New Roman" panose="02020603050405020304" pitchFamily="18" charset="0"/>
              </a:rPr>
              <a:t>2</a:t>
            </a:r>
            <a:r>
              <a:rPr lang="en-GB" sz="1200" b="1" baseline="0" dirty="0">
                <a:solidFill>
                  <a:srgbClr val="002060"/>
                </a:solidFill>
                <a:latin typeface="Times New Roman" panose="02020603050405020304" pitchFamily="18" charset="0"/>
                <a:ea typeface="Times New Roman" panose="02020603050405020304" pitchFamily="18" charset="0"/>
              </a:rPr>
              <a:t> , </a:t>
            </a:r>
            <a:r>
              <a:rPr lang="en-GB" sz="1200" b="1" dirty="0">
                <a:solidFill>
                  <a:srgbClr val="002060"/>
                </a:solidFill>
                <a:latin typeface="Times New Roman" panose="02020603050405020304" pitchFamily="18" charset="0"/>
                <a:ea typeface="Times New Roman" panose="02020603050405020304" pitchFamily="18" charset="0"/>
              </a:rPr>
              <a:t>B </a:t>
            </a:r>
            <a:r>
              <a:rPr lang="en-GB" sz="1200" dirty="0">
                <a:solidFill>
                  <a:srgbClr val="002060"/>
                </a:solidFill>
                <a:latin typeface="Times New Roman" panose="02020603050405020304" pitchFamily="18" charset="0"/>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B</a:t>
            </a:r>
            <a:r>
              <a:rPr lang="en-GB" sz="1200" b="1" baseline="-25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a:t>
            </a:r>
            <a:r>
              <a:rPr lang="en-GB" sz="1200" b="1" dirty="0">
                <a:solidFill>
                  <a:srgbClr val="002060"/>
                </a:solidFill>
                <a:latin typeface="Times New Roman" panose="02020603050405020304" pitchFamily="18" charset="0"/>
                <a:ea typeface="Times New Roman" panose="02020603050405020304" pitchFamily="18" charset="0"/>
              </a:rPr>
              <a:t>B</a:t>
            </a:r>
            <a:r>
              <a:rPr lang="en-GB" sz="1200" b="1" baseline="-25000" dirty="0">
                <a:solidFill>
                  <a:srgbClr val="002060"/>
                </a:solidFill>
                <a:latin typeface="Times New Roman" panose="02020603050405020304" pitchFamily="18" charset="0"/>
                <a:ea typeface="Times New Roman" panose="02020603050405020304" pitchFamily="18" charset="0"/>
              </a:rPr>
              <a:t>1</a:t>
            </a:r>
            <a:r>
              <a:rPr lang="en-GB" sz="1200" dirty="0">
                <a:solidFill>
                  <a:srgbClr val="002060"/>
                </a:solidFill>
                <a:latin typeface="Times New Roman" panose="02020603050405020304" pitchFamily="18" charset="0"/>
                <a:ea typeface="Times New Roman" panose="02020603050405020304" pitchFamily="18" charset="0"/>
              </a:rPr>
              <a:t>+</a:t>
            </a:r>
            <a:r>
              <a:rPr lang="en-GB" sz="1200" b="1" dirty="0">
                <a:solidFill>
                  <a:srgbClr val="002060"/>
                </a:solidFill>
                <a:latin typeface="Times New Roman" panose="02020603050405020304" pitchFamily="18" charset="0"/>
                <a:ea typeface="Times New Roman" panose="02020603050405020304" pitchFamily="18" charset="0"/>
              </a:rPr>
              <a:t>B</a:t>
            </a:r>
            <a:r>
              <a:rPr lang="en-GB" sz="1200" b="1" baseline="-25000" dirty="0">
                <a:solidFill>
                  <a:srgbClr val="002060"/>
                </a:solidFill>
                <a:latin typeface="Times New Roman" panose="02020603050405020304" pitchFamily="18" charset="0"/>
                <a:ea typeface="Times New Roman" panose="02020603050405020304" pitchFamily="18" charset="0"/>
              </a:rPr>
              <a:t>2</a:t>
            </a:r>
            <a:r>
              <a:rPr lang="en-GB" sz="1200" b="1" baseline="0" dirty="0">
                <a:solidFill>
                  <a:srgbClr val="002060"/>
                </a:solidFill>
                <a:latin typeface="Times New Roman" panose="02020603050405020304" pitchFamily="18" charset="0"/>
                <a:ea typeface="Times New Roman" panose="02020603050405020304" pitchFamily="18" charset="0"/>
              </a:rPr>
              <a:t> </a:t>
            </a:r>
            <a:r>
              <a:rPr lang="en-GB" sz="1200" b="0" baseline="0" dirty="0">
                <a:solidFill>
                  <a:srgbClr val="002060"/>
                </a:solidFill>
                <a:latin typeface="Times New Roman" panose="02020603050405020304" pitchFamily="18" charset="0"/>
                <a:ea typeface="Times New Roman" panose="02020603050405020304" pitchFamily="18" charset="0"/>
              </a:rPr>
              <a:t>, and</a:t>
            </a:r>
            <a:r>
              <a:rPr lang="en-GB" sz="1200" b="1" baseline="0" dirty="0">
                <a:solidFill>
                  <a:srgbClr val="002060"/>
                </a:solidFill>
                <a:latin typeface="Times New Roman" panose="02020603050405020304" pitchFamily="18" charset="0"/>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C </a:t>
            </a:r>
            <a:r>
              <a:rPr lang="en-GB" sz="1200" dirty="0">
                <a:solidFill>
                  <a:srgbClr val="002060"/>
                </a:solidFill>
                <a:latin typeface="Times New Roman" panose="02020603050405020304" pitchFamily="18" charset="0"/>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C</a:t>
            </a:r>
            <a:r>
              <a:rPr lang="en-GB" sz="1200" b="1" baseline="-25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a:t>
            </a:r>
            <a:r>
              <a:rPr lang="en-GB" sz="1200" b="1" dirty="0">
                <a:solidFill>
                  <a:srgbClr val="002060"/>
                </a:solidFill>
                <a:latin typeface="Times New Roman" panose="02020603050405020304" pitchFamily="18" charset="0"/>
                <a:ea typeface="Times New Roman" panose="02020603050405020304" pitchFamily="18" charset="0"/>
              </a:rPr>
              <a:t>C</a:t>
            </a:r>
            <a:r>
              <a:rPr lang="en-GB" sz="1200" b="1" baseline="-25000" dirty="0">
                <a:solidFill>
                  <a:srgbClr val="002060"/>
                </a:solidFill>
                <a:latin typeface="Times New Roman" panose="02020603050405020304" pitchFamily="18" charset="0"/>
                <a:ea typeface="Times New Roman" panose="02020603050405020304" pitchFamily="18" charset="0"/>
              </a:rPr>
              <a:t>1</a:t>
            </a:r>
            <a:r>
              <a:rPr lang="en-GB" sz="1200" dirty="0">
                <a:solidFill>
                  <a:srgbClr val="002060"/>
                </a:solidFill>
                <a:latin typeface="Times New Roman" panose="02020603050405020304" pitchFamily="18" charset="0"/>
                <a:ea typeface="Times New Roman" panose="02020603050405020304" pitchFamily="18" charset="0"/>
              </a:rPr>
              <a:t>+</a:t>
            </a:r>
            <a:r>
              <a:rPr lang="en-GB" sz="1200" b="1" dirty="0">
                <a:solidFill>
                  <a:srgbClr val="002060"/>
                </a:solidFill>
                <a:latin typeface="Times New Roman" panose="02020603050405020304" pitchFamily="18" charset="0"/>
                <a:ea typeface="Times New Roman" panose="02020603050405020304" pitchFamily="18" charset="0"/>
              </a:rPr>
              <a:t>C</a:t>
            </a:r>
            <a:r>
              <a:rPr lang="en-GB" sz="1200" b="1" baseline="-25000" dirty="0">
                <a:solidFill>
                  <a:srgbClr val="002060"/>
                </a:solidFill>
                <a:latin typeface="Times New Roman" panose="02020603050405020304" pitchFamily="18" charset="0"/>
                <a:ea typeface="Times New Roman" panose="02020603050405020304" pitchFamily="18" charset="0"/>
              </a:rPr>
              <a:t>2</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33</a:t>
            </a:fld>
            <a:endParaRPr lang="en-GB"/>
          </a:p>
        </p:txBody>
      </p:sp>
    </p:spTree>
    <p:extLst>
      <p:ext uri="{BB962C8B-B14F-4D97-AF65-F5344CB8AC3E}">
        <p14:creationId xmlns:p14="http://schemas.microsoft.com/office/powerpoint/2010/main" val="1503699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solidFill>
                  <a:srgbClr val="002060"/>
                </a:solidFill>
                <a:latin typeface="Times New Roman" panose="02020603050405020304" pitchFamily="18" charset="0"/>
                <a:ea typeface="Times New Roman" panose="02020603050405020304" pitchFamily="18" charset="0"/>
              </a:rPr>
              <a:t>The most frequently occurring angle in the symmetrical components is 120</a:t>
            </a:r>
            <a:r>
              <a:rPr lang="en-GB" sz="1200" baseline="30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a:t>
            </a:r>
            <a:endParaRPr lang="en-GB" sz="1200" dirty="0">
              <a:latin typeface="Times New Roman" panose="02020603050405020304" pitchFamily="18" charset="0"/>
              <a:ea typeface="Times New Roman" panose="02020603050405020304" pitchFamily="18" charset="0"/>
            </a:endParaRPr>
          </a:p>
          <a:p>
            <a:r>
              <a:rPr lang="en-GB" sz="1200" dirty="0">
                <a:solidFill>
                  <a:srgbClr val="002060"/>
                </a:solidFill>
                <a:latin typeface="Times New Roman" panose="02020603050405020304" pitchFamily="18" charset="0"/>
                <a:ea typeface="Times New Roman" panose="02020603050405020304" pitchFamily="18" charset="0"/>
              </a:rPr>
              <a:t>In complex number theory, we define j as anti-clockwise by 90</a:t>
            </a:r>
            <a:r>
              <a:rPr lang="en-GB" sz="1200" baseline="30000" dirty="0">
                <a:solidFill>
                  <a:srgbClr val="002060"/>
                </a:solidFill>
                <a:latin typeface="Times New Roman" panose="02020603050405020304" pitchFamily="18" charset="0"/>
                <a:ea typeface="Times New Roman" panose="02020603050405020304" pitchFamily="18" charset="0"/>
              </a:rPr>
              <a:t>0</a:t>
            </a:r>
            <a:r>
              <a:rPr lang="en-GB" sz="1200" baseline="0" dirty="0">
                <a:solidFill>
                  <a:srgbClr val="002060"/>
                </a:solidFill>
                <a:latin typeface="Times New Roman" panose="02020603050405020304" pitchFamily="18" charset="0"/>
                <a:ea typeface="Times New Roman" panose="02020603050405020304" pitchFamily="18" charset="0"/>
              </a:rPr>
              <a:t> so that </a:t>
            </a:r>
            <a:r>
              <a:rPr lang="en-GB" sz="1200" dirty="0">
                <a:solidFill>
                  <a:srgbClr val="002060"/>
                </a:solidFill>
                <a:latin typeface="Times New Roman" panose="02020603050405020304" pitchFamily="18" charset="0"/>
                <a:ea typeface="Times New Roman" panose="02020603050405020304" pitchFamily="18" charset="0"/>
              </a:rPr>
              <a:t> j  equals 1 </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90</a:t>
            </a:r>
            <a:r>
              <a:rPr lang="en-GB" sz="1200" baseline="30000" dirty="0">
                <a:solidFill>
                  <a:srgbClr val="002060"/>
                </a:solidFill>
                <a:latin typeface="Times New Roman" panose="02020603050405020304" pitchFamily="18" charset="0"/>
                <a:ea typeface="Times New Roman" panose="02020603050405020304" pitchFamily="18" charset="0"/>
              </a:rPr>
              <a:t>0 </a:t>
            </a:r>
            <a:r>
              <a:rPr lang="en-GB" sz="1200" dirty="0">
                <a:solidFill>
                  <a:srgbClr val="002060"/>
                </a:solidFill>
                <a:latin typeface="Times New Roman" panose="02020603050405020304" pitchFamily="18" charset="0"/>
                <a:ea typeface="Times New Roman" panose="02020603050405020304" pitchFamily="18" charset="0"/>
              </a:rPr>
              <a:t>or </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-1  </a:t>
            </a:r>
            <a:endParaRPr lang="en-GB" sz="1200" dirty="0">
              <a:latin typeface="Times New Roman" panose="02020603050405020304" pitchFamily="18" charset="0"/>
              <a:ea typeface="Times New Roman" panose="02020603050405020304" pitchFamily="18" charset="0"/>
            </a:endParaRPr>
          </a:p>
          <a:p>
            <a:pPr>
              <a:spcBef>
                <a:spcPts val="1200"/>
              </a:spcBef>
            </a:pPr>
            <a:r>
              <a:rPr lang="en-GB" sz="1200" dirty="0">
                <a:solidFill>
                  <a:srgbClr val="002060"/>
                </a:solidFill>
                <a:latin typeface="Times New Roman" panose="02020603050405020304" pitchFamily="18" charset="0"/>
                <a:ea typeface="Times New Roman" panose="02020603050405020304" pitchFamily="18" charset="0"/>
              </a:rPr>
              <a:t>Likewise, for Symmetrical component analysis we define a new complex operator </a:t>
            </a:r>
            <a:r>
              <a:rPr lang="en-GB" sz="1200" b="1" i="1"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b="1" i="1" dirty="0">
                <a:solidFill>
                  <a:srgbClr val="002060"/>
                </a:solidFill>
                <a:latin typeface="Symbol" panose="05050102010706020507" pitchFamily="18" charset="2"/>
                <a:ea typeface="Times New Roman" panose="02020603050405020304" pitchFamily="18" charset="0"/>
              </a:rPr>
              <a:t>  </a:t>
            </a:r>
            <a:r>
              <a:rPr lang="en-GB" sz="1200" dirty="0">
                <a:solidFill>
                  <a:srgbClr val="002060"/>
                </a:solidFill>
                <a:latin typeface="Times New Roman" panose="02020603050405020304" pitchFamily="18" charset="0"/>
                <a:ea typeface="Times New Roman" panose="02020603050405020304" pitchFamily="18" charset="0"/>
              </a:rPr>
              <a:t>which</a:t>
            </a:r>
            <a:r>
              <a:rPr lang="en-GB" sz="1200" dirty="0">
                <a:solidFill>
                  <a:schemeClr val="tx1"/>
                </a:solidFill>
                <a:latin typeface="Times New Roman" panose="02020603050405020304" pitchFamily="18" charset="0"/>
                <a:ea typeface="Times New Roman" panose="02020603050405020304" pitchFamily="18" charset="0"/>
              </a:rPr>
              <a:t> </a:t>
            </a:r>
            <a:r>
              <a:rPr lang="en-GB" sz="1200" dirty="0">
                <a:solidFill>
                  <a:srgbClr val="002060"/>
                </a:solidFill>
                <a:latin typeface="Times New Roman" panose="02020603050405020304" pitchFamily="18" charset="0"/>
                <a:ea typeface="Times New Roman" panose="02020603050405020304" pitchFamily="18" charset="0"/>
              </a:rPr>
              <a:t>has a magnitude of unity</a:t>
            </a:r>
            <a:r>
              <a:rPr lang="en-GB" sz="1200" dirty="0">
                <a:solidFill>
                  <a:schemeClr val="tx1"/>
                </a:solidFill>
                <a:latin typeface="Times New Roman" panose="02020603050405020304" pitchFamily="18" charset="0"/>
                <a:ea typeface="Times New Roman" panose="02020603050405020304" pitchFamily="18" charset="0"/>
              </a:rPr>
              <a:t> and </a:t>
            </a:r>
            <a:r>
              <a:rPr lang="en-GB" sz="1200" dirty="0">
                <a:solidFill>
                  <a:srgbClr val="002060"/>
                </a:solidFill>
                <a:latin typeface="Times New Roman" panose="02020603050405020304" pitchFamily="18" charset="0"/>
                <a:ea typeface="Times New Roman" panose="02020603050405020304" pitchFamily="18" charset="0"/>
              </a:rPr>
              <a:t>rotates any complex number anti-clockwise by 120</a:t>
            </a:r>
            <a:r>
              <a:rPr lang="en-GB" sz="1200" baseline="30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  Thus </a:t>
            </a:r>
            <a:r>
              <a:rPr lang="en-GB" sz="1200"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  equals  1 </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120</a:t>
            </a:r>
            <a:r>
              <a:rPr lang="en-GB" sz="1200" baseline="30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  or  – 0.500 + j 0.866</a:t>
            </a:r>
            <a:endParaRPr lang="en-GB" sz="1200" dirty="0">
              <a:latin typeface="Times New Roman" panose="02020603050405020304" pitchFamily="18" charset="0"/>
              <a:ea typeface="Times New Roman" panose="02020603050405020304" pitchFamily="18" charset="0"/>
            </a:endParaRPr>
          </a:p>
          <a:p>
            <a:r>
              <a:rPr lang="en-GB" sz="1200" dirty="0">
                <a:solidFill>
                  <a:srgbClr val="002060"/>
                </a:solidFill>
                <a:latin typeface="Times New Roman" panose="02020603050405020304" pitchFamily="18" charset="0"/>
                <a:ea typeface="Times New Roman" panose="02020603050405020304" pitchFamily="18" charset="0"/>
              </a:rPr>
              <a:t>Let us again examine the sequence components of the unbalanced quantity by expressing B phase and C phase in terms of A phase and operator </a:t>
            </a:r>
            <a:r>
              <a:rPr lang="en-GB" sz="1200"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dirty="0">
                <a:solidFill>
                  <a:srgbClr val="002060"/>
                </a:solidFill>
                <a:latin typeface="Symbol" panose="05050102010706020507" pitchFamily="18" charset="2"/>
                <a:ea typeface="Times New Roman" panose="02020603050405020304" pitchFamily="18" charset="0"/>
              </a:rPr>
              <a:t>.</a:t>
            </a:r>
            <a:endParaRPr lang="en-GB" sz="12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2FC4AAFD-141F-4056-A367-1845A08BF131}" type="slidenum">
              <a:rPr lang="en-GB" smtClean="0"/>
              <a:t>34</a:t>
            </a:fld>
            <a:endParaRPr lang="en-GB"/>
          </a:p>
        </p:txBody>
      </p:sp>
    </p:spTree>
    <p:extLst>
      <p:ext uri="{BB962C8B-B14F-4D97-AF65-F5344CB8AC3E}">
        <p14:creationId xmlns:p14="http://schemas.microsoft.com/office/powerpoint/2010/main" val="580774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GB" sz="1200" dirty="0">
                <a:solidFill>
                  <a:srgbClr val="002060"/>
                </a:solidFill>
                <a:latin typeface="Times New Roman" panose="02020603050405020304" pitchFamily="18" charset="0"/>
                <a:ea typeface="Times New Roman" panose="02020603050405020304" pitchFamily="18" charset="0"/>
              </a:rPr>
              <a:t>Let us now express all sequence components in terms of the symmetrical components for </a:t>
            </a:r>
            <a:r>
              <a:rPr lang="en-GB" sz="1200" b="1" dirty="0">
                <a:solidFill>
                  <a:srgbClr val="002060"/>
                </a:solidFill>
                <a:latin typeface="Times New Roman" panose="02020603050405020304" pitchFamily="18" charset="0"/>
                <a:ea typeface="Times New Roman" panose="02020603050405020304" pitchFamily="18" charset="0"/>
              </a:rPr>
              <a:t>A</a:t>
            </a:r>
            <a:r>
              <a:rPr lang="en-GB" sz="1200" dirty="0">
                <a:solidFill>
                  <a:srgbClr val="002060"/>
                </a:solidFill>
                <a:latin typeface="Times New Roman" panose="02020603050405020304" pitchFamily="18" charset="0"/>
                <a:ea typeface="Times New Roman" panose="02020603050405020304" pitchFamily="18" charset="0"/>
              </a:rPr>
              <a:t> phase using properties of rotation of 0</a:t>
            </a:r>
            <a:r>
              <a:rPr lang="en-GB" sz="1200" baseline="30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 120</a:t>
            </a:r>
            <a:r>
              <a:rPr lang="en-GB" sz="1200" baseline="30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 or 240</a:t>
            </a:r>
            <a:r>
              <a:rPr lang="en-GB" sz="1200" baseline="30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 as 1, alpha and alpha squared.  Thus </a:t>
            </a:r>
            <a:r>
              <a:rPr lang="en-GB" sz="1400" b="1" dirty="0">
                <a:solidFill>
                  <a:srgbClr val="002060"/>
                </a:solidFill>
                <a:latin typeface="Times New Roman" panose="02020603050405020304" pitchFamily="18" charset="0"/>
                <a:ea typeface="Times New Roman" panose="02020603050405020304" pitchFamily="18" charset="0"/>
              </a:rPr>
              <a:t>A </a:t>
            </a:r>
            <a:r>
              <a:rPr lang="en-GB" sz="1400" dirty="0">
                <a:solidFill>
                  <a:srgbClr val="002060"/>
                </a:solidFill>
                <a:latin typeface="Times New Roman" panose="02020603050405020304" pitchFamily="18" charset="0"/>
                <a:ea typeface="Times New Roman" panose="02020603050405020304" pitchFamily="18" charset="0"/>
              </a:rPr>
              <a:t>= </a:t>
            </a:r>
            <a:r>
              <a:rPr lang="en-GB" sz="1400" b="1" dirty="0">
                <a:solidFill>
                  <a:srgbClr val="002060"/>
                </a:solidFill>
                <a:latin typeface="Times New Roman" panose="02020603050405020304" pitchFamily="18" charset="0"/>
                <a:ea typeface="Times New Roman" panose="02020603050405020304" pitchFamily="18" charset="0"/>
              </a:rPr>
              <a:t>A</a:t>
            </a:r>
            <a:r>
              <a:rPr lang="en-GB" sz="1400" b="1" baseline="-25000" dirty="0">
                <a:solidFill>
                  <a:srgbClr val="002060"/>
                </a:solidFill>
                <a:latin typeface="Times New Roman" panose="02020603050405020304" pitchFamily="18" charset="0"/>
                <a:ea typeface="Times New Roman" panose="02020603050405020304" pitchFamily="18" charset="0"/>
              </a:rPr>
              <a:t>0</a:t>
            </a:r>
            <a:r>
              <a:rPr lang="en-GB" sz="1400" dirty="0">
                <a:solidFill>
                  <a:srgbClr val="002060"/>
                </a:solidFill>
                <a:latin typeface="Times New Roman" panose="02020603050405020304" pitchFamily="18" charset="0"/>
                <a:ea typeface="Times New Roman" panose="02020603050405020304" pitchFamily="18" charset="0"/>
              </a:rPr>
              <a:t> + </a:t>
            </a:r>
            <a:r>
              <a:rPr lang="en-GB" sz="1400" b="1" dirty="0">
                <a:solidFill>
                  <a:srgbClr val="002060"/>
                </a:solidFill>
                <a:latin typeface="Times New Roman" panose="02020603050405020304" pitchFamily="18" charset="0"/>
                <a:ea typeface="Times New Roman" panose="02020603050405020304" pitchFamily="18" charset="0"/>
              </a:rPr>
              <a:t>A</a:t>
            </a:r>
            <a:r>
              <a:rPr lang="en-GB" sz="1400" b="1" baseline="-25000" dirty="0">
                <a:solidFill>
                  <a:srgbClr val="002060"/>
                </a:solidFill>
                <a:latin typeface="Times New Roman" panose="02020603050405020304" pitchFamily="18" charset="0"/>
                <a:ea typeface="Times New Roman" panose="02020603050405020304" pitchFamily="18" charset="0"/>
              </a:rPr>
              <a:t>1</a:t>
            </a:r>
            <a:r>
              <a:rPr lang="en-GB" sz="1400" dirty="0">
                <a:solidFill>
                  <a:srgbClr val="002060"/>
                </a:solidFill>
                <a:latin typeface="Times New Roman" panose="02020603050405020304" pitchFamily="18" charset="0"/>
                <a:ea typeface="Times New Roman" panose="02020603050405020304" pitchFamily="18" charset="0"/>
              </a:rPr>
              <a:t>+ </a:t>
            </a:r>
            <a:r>
              <a:rPr lang="en-GB" sz="1400" b="1" dirty="0">
                <a:solidFill>
                  <a:srgbClr val="002060"/>
                </a:solidFill>
                <a:latin typeface="Times New Roman" panose="02020603050405020304" pitchFamily="18" charset="0"/>
                <a:ea typeface="Times New Roman" panose="02020603050405020304" pitchFamily="18" charset="0"/>
              </a:rPr>
              <a:t>A</a:t>
            </a:r>
            <a:r>
              <a:rPr lang="en-GB" sz="1400" b="1" baseline="-25000" dirty="0">
                <a:solidFill>
                  <a:srgbClr val="002060"/>
                </a:solidFill>
                <a:latin typeface="Times New Roman" panose="02020603050405020304" pitchFamily="18" charset="0"/>
                <a:ea typeface="Times New Roman" panose="02020603050405020304" pitchFamily="18" charset="0"/>
              </a:rPr>
              <a:t>2</a:t>
            </a:r>
            <a:r>
              <a:rPr lang="en-GB" sz="1400" b="0" baseline="0" dirty="0">
                <a:solidFill>
                  <a:srgbClr val="002060"/>
                </a:solidFill>
                <a:latin typeface="Times New Roman" panose="02020603050405020304" pitchFamily="18" charset="0"/>
                <a:ea typeface="Times New Roman" panose="02020603050405020304" pitchFamily="18" charset="0"/>
              </a:rPr>
              <a:t>,  </a:t>
            </a:r>
            <a:r>
              <a:rPr lang="en-GB" sz="1400" b="1" dirty="0">
                <a:solidFill>
                  <a:srgbClr val="002060"/>
                </a:solidFill>
                <a:latin typeface="Times New Roman" panose="02020603050405020304" pitchFamily="18" charset="0"/>
                <a:ea typeface="Times New Roman" panose="02020603050405020304" pitchFamily="18" charset="0"/>
              </a:rPr>
              <a:t>B </a:t>
            </a:r>
            <a:r>
              <a:rPr lang="en-GB" sz="1400" dirty="0">
                <a:solidFill>
                  <a:srgbClr val="002060"/>
                </a:solidFill>
                <a:latin typeface="Times New Roman" panose="02020603050405020304" pitchFamily="18" charset="0"/>
                <a:ea typeface="Times New Roman" panose="02020603050405020304" pitchFamily="18" charset="0"/>
              </a:rPr>
              <a:t>= </a:t>
            </a:r>
            <a:r>
              <a:rPr lang="en-GB" sz="1400" b="1" dirty="0">
                <a:solidFill>
                  <a:srgbClr val="002060"/>
                </a:solidFill>
                <a:latin typeface="Times New Roman" panose="02020603050405020304" pitchFamily="18" charset="0"/>
                <a:ea typeface="Times New Roman" panose="02020603050405020304" pitchFamily="18" charset="0"/>
              </a:rPr>
              <a:t>A</a:t>
            </a:r>
            <a:r>
              <a:rPr lang="en-GB" sz="1400" b="1" baseline="-25000" dirty="0">
                <a:solidFill>
                  <a:srgbClr val="002060"/>
                </a:solidFill>
                <a:latin typeface="Times New Roman" panose="02020603050405020304" pitchFamily="18" charset="0"/>
                <a:ea typeface="Times New Roman" panose="02020603050405020304" pitchFamily="18" charset="0"/>
              </a:rPr>
              <a:t>0</a:t>
            </a:r>
            <a:r>
              <a:rPr lang="en-GB" sz="1400" dirty="0">
                <a:solidFill>
                  <a:srgbClr val="002060"/>
                </a:solidFill>
                <a:latin typeface="Times New Roman" panose="02020603050405020304" pitchFamily="18" charset="0"/>
                <a:ea typeface="Times New Roman" panose="02020603050405020304" pitchFamily="18" charset="0"/>
              </a:rPr>
              <a:t> + </a:t>
            </a:r>
            <a:r>
              <a:rPr lang="en-GB" sz="1400"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400" baseline="30000" dirty="0">
                <a:solidFill>
                  <a:srgbClr val="002060"/>
                </a:solidFill>
                <a:latin typeface="Symbol" panose="05050102010706020507" pitchFamily="18" charset="2"/>
                <a:ea typeface="Times New Roman" panose="02020603050405020304" pitchFamily="18" charset="0"/>
              </a:rPr>
              <a:t>2</a:t>
            </a:r>
            <a:r>
              <a:rPr lang="en-GB" sz="1400" dirty="0">
                <a:solidFill>
                  <a:srgbClr val="002060"/>
                </a:solidFill>
                <a:latin typeface="Times New Roman" panose="02020603050405020304" pitchFamily="18" charset="0"/>
                <a:ea typeface="Times New Roman" panose="02020603050405020304" pitchFamily="18" charset="0"/>
              </a:rPr>
              <a:t> </a:t>
            </a:r>
            <a:r>
              <a:rPr lang="en-GB" sz="1400" b="1" dirty="0">
                <a:solidFill>
                  <a:srgbClr val="002060"/>
                </a:solidFill>
                <a:latin typeface="Times New Roman" panose="02020603050405020304" pitchFamily="18" charset="0"/>
                <a:ea typeface="Times New Roman" panose="02020603050405020304" pitchFamily="18" charset="0"/>
              </a:rPr>
              <a:t>A</a:t>
            </a:r>
            <a:r>
              <a:rPr lang="en-GB" sz="1400" b="1" baseline="-25000" dirty="0">
                <a:solidFill>
                  <a:srgbClr val="002060"/>
                </a:solidFill>
                <a:latin typeface="Times New Roman" panose="02020603050405020304" pitchFamily="18" charset="0"/>
                <a:ea typeface="Times New Roman" panose="02020603050405020304" pitchFamily="18" charset="0"/>
              </a:rPr>
              <a:t>1</a:t>
            </a:r>
            <a:r>
              <a:rPr lang="en-GB" sz="1400" dirty="0">
                <a:solidFill>
                  <a:srgbClr val="002060"/>
                </a:solidFill>
                <a:latin typeface="Times New Roman" panose="02020603050405020304" pitchFamily="18" charset="0"/>
                <a:ea typeface="Times New Roman" panose="02020603050405020304" pitchFamily="18" charset="0"/>
              </a:rPr>
              <a:t> + </a:t>
            </a:r>
            <a:r>
              <a:rPr lang="en-GB" sz="1400"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400" baseline="30000" dirty="0">
                <a:solidFill>
                  <a:srgbClr val="002060"/>
                </a:solidFill>
                <a:latin typeface="Symbol" panose="05050102010706020507" pitchFamily="18" charset="2"/>
                <a:ea typeface="Times New Roman" panose="02020603050405020304" pitchFamily="18" charset="0"/>
              </a:rPr>
              <a:t> </a:t>
            </a:r>
            <a:r>
              <a:rPr lang="en-GB" sz="1400" b="1" dirty="0">
                <a:solidFill>
                  <a:srgbClr val="002060"/>
                </a:solidFill>
                <a:latin typeface="Times New Roman" panose="02020603050405020304" pitchFamily="18" charset="0"/>
                <a:ea typeface="Times New Roman" panose="02020603050405020304" pitchFamily="18" charset="0"/>
              </a:rPr>
              <a:t>A</a:t>
            </a:r>
            <a:r>
              <a:rPr lang="en-GB" sz="1400" b="1" baseline="-25000" dirty="0">
                <a:solidFill>
                  <a:srgbClr val="002060"/>
                </a:solidFill>
                <a:latin typeface="Times New Roman" panose="02020603050405020304" pitchFamily="18" charset="0"/>
                <a:ea typeface="Times New Roman" panose="02020603050405020304" pitchFamily="18" charset="0"/>
              </a:rPr>
              <a:t>2</a:t>
            </a:r>
            <a:r>
              <a:rPr lang="en-GB" sz="1400" b="1" baseline="0" dirty="0">
                <a:solidFill>
                  <a:srgbClr val="002060"/>
                </a:solidFill>
                <a:latin typeface="Times New Roman" panose="02020603050405020304" pitchFamily="18" charset="0"/>
                <a:ea typeface="Times New Roman" panose="02020603050405020304" pitchFamily="18" charset="0"/>
              </a:rPr>
              <a:t>, </a:t>
            </a:r>
            <a:r>
              <a:rPr lang="en-GB" sz="1400" b="0" baseline="0" dirty="0">
                <a:solidFill>
                  <a:srgbClr val="002060"/>
                </a:solidFill>
                <a:latin typeface="Times New Roman" panose="02020603050405020304" pitchFamily="18" charset="0"/>
                <a:ea typeface="Times New Roman" panose="02020603050405020304" pitchFamily="18" charset="0"/>
              </a:rPr>
              <a:t>and  </a:t>
            </a:r>
            <a:r>
              <a:rPr lang="en-GB" sz="1400" b="1" dirty="0">
                <a:solidFill>
                  <a:srgbClr val="002060"/>
                </a:solidFill>
                <a:latin typeface="Times New Roman" panose="02020603050405020304" pitchFamily="18" charset="0"/>
                <a:ea typeface="Times New Roman" panose="02020603050405020304" pitchFamily="18" charset="0"/>
              </a:rPr>
              <a:t>C </a:t>
            </a:r>
            <a:r>
              <a:rPr lang="en-GB" sz="1400" dirty="0">
                <a:solidFill>
                  <a:srgbClr val="002060"/>
                </a:solidFill>
                <a:latin typeface="Times New Roman" panose="02020603050405020304" pitchFamily="18" charset="0"/>
                <a:ea typeface="Times New Roman" panose="02020603050405020304" pitchFamily="18" charset="0"/>
              </a:rPr>
              <a:t>=	</a:t>
            </a:r>
            <a:r>
              <a:rPr lang="en-GB" sz="1400" b="1" dirty="0">
                <a:solidFill>
                  <a:srgbClr val="002060"/>
                </a:solidFill>
                <a:latin typeface="Times New Roman" panose="02020603050405020304" pitchFamily="18" charset="0"/>
                <a:ea typeface="Times New Roman" panose="02020603050405020304" pitchFamily="18" charset="0"/>
              </a:rPr>
              <a:t>A</a:t>
            </a:r>
            <a:r>
              <a:rPr lang="en-GB" sz="1400" b="1" baseline="-25000" dirty="0">
                <a:solidFill>
                  <a:srgbClr val="002060"/>
                </a:solidFill>
                <a:latin typeface="Times New Roman" panose="02020603050405020304" pitchFamily="18" charset="0"/>
                <a:ea typeface="Times New Roman" panose="02020603050405020304" pitchFamily="18" charset="0"/>
              </a:rPr>
              <a:t>0</a:t>
            </a:r>
            <a:r>
              <a:rPr lang="en-GB" sz="1400" dirty="0">
                <a:solidFill>
                  <a:srgbClr val="002060"/>
                </a:solidFill>
                <a:latin typeface="Times New Roman" panose="02020603050405020304" pitchFamily="18" charset="0"/>
                <a:ea typeface="Times New Roman" panose="02020603050405020304" pitchFamily="18" charset="0"/>
              </a:rPr>
              <a:t>+ </a:t>
            </a:r>
            <a:r>
              <a:rPr lang="en-GB" sz="1400"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400" b="1" dirty="0">
                <a:solidFill>
                  <a:srgbClr val="002060"/>
                </a:solidFill>
                <a:latin typeface="Times New Roman" panose="02020603050405020304" pitchFamily="18" charset="0"/>
                <a:ea typeface="Times New Roman" panose="02020603050405020304" pitchFamily="18" charset="0"/>
              </a:rPr>
              <a:t> A</a:t>
            </a:r>
            <a:r>
              <a:rPr lang="en-GB" sz="1400" b="1" baseline="-25000" dirty="0">
                <a:solidFill>
                  <a:srgbClr val="002060"/>
                </a:solidFill>
                <a:latin typeface="Times New Roman" panose="02020603050405020304" pitchFamily="18" charset="0"/>
                <a:ea typeface="Times New Roman" panose="02020603050405020304" pitchFamily="18" charset="0"/>
              </a:rPr>
              <a:t>1</a:t>
            </a:r>
            <a:r>
              <a:rPr lang="en-GB" sz="1400" dirty="0">
                <a:solidFill>
                  <a:srgbClr val="002060"/>
                </a:solidFill>
                <a:latin typeface="Times New Roman" panose="02020603050405020304" pitchFamily="18" charset="0"/>
                <a:ea typeface="Times New Roman" panose="02020603050405020304" pitchFamily="18" charset="0"/>
              </a:rPr>
              <a:t> + </a:t>
            </a:r>
            <a:r>
              <a:rPr lang="en-GB" sz="1400"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400" baseline="30000" dirty="0">
                <a:solidFill>
                  <a:srgbClr val="002060"/>
                </a:solidFill>
                <a:latin typeface="Symbol" panose="05050102010706020507" pitchFamily="18" charset="2"/>
                <a:ea typeface="Times New Roman" panose="02020603050405020304" pitchFamily="18" charset="0"/>
              </a:rPr>
              <a:t>2 </a:t>
            </a:r>
            <a:r>
              <a:rPr lang="en-GB" sz="1400" b="1" dirty="0">
                <a:solidFill>
                  <a:srgbClr val="002060"/>
                </a:solidFill>
                <a:latin typeface="Times New Roman" panose="02020603050405020304" pitchFamily="18" charset="0"/>
                <a:ea typeface="Times New Roman" panose="02020603050405020304" pitchFamily="18" charset="0"/>
              </a:rPr>
              <a:t>A</a:t>
            </a:r>
            <a:r>
              <a:rPr lang="en-GB" sz="1400" b="1" baseline="-25000" dirty="0">
                <a:solidFill>
                  <a:srgbClr val="002060"/>
                </a:solidFill>
                <a:latin typeface="Times New Roman" panose="02020603050405020304" pitchFamily="18" charset="0"/>
                <a:ea typeface="Times New Roman" panose="02020603050405020304" pitchFamily="18" charset="0"/>
              </a:rPr>
              <a:t>2</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35</a:t>
            </a:fld>
            <a:endParaRPr lang="en-GB"/>
          </a:p>
        </p:txBody>
      </p:sp>
    </p:spTree>
    <p:extLst>
      <p:ext uri="{BB962C8B-B14F-4D97-AF65-F5344CB8AC3E}">
        <p14:creationId xmlns:p14="http://schemas.microsoft.com/office/powerpoint/2010/main" val="30282872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This relationship between phase components </a:t>
            </a:r>
            <a:r>
              <a:rPr kumimoji="0" lang="en-GB" altLang="en-US" sz="1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A,B,C</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and symmetrical components A0, A1, A2 can be written in matrix form as shown with  “</a:t>
            </a:r>
            <a:r>
              <a:rPr kumimoji="0" lang="en-US"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Ph” being the phase component vector, “Sy” being the symmetrical component vector, and matrix </a:t>
            </a:r>
            <a:r>
              <a:rPr kumimoji="0" lang="en-US" altLang="en-US" sz="1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lamda</a:t>
            </a:r>
            <a:r>
              <a:rPr kumimoji="0" lang="en-US"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being the symmetrical component matrix.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Since the matrix is a 3 by 3 matrix, it is possible to invert it and express  Sy  in terms of   Ph.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Let us now look at some properties of  </a:t>
            </a:r>
            <a:r>
              <a:rPr kumimoji="0" lang="en-US"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sym typeface="Symbol" panose="05050102010706020507" pitchFamily="18" charset="2"/>
              </a:rPr>
              <a:t></a:t>
            </a:r>
            <a:r>
              <a:rPr kumimoji="0" lang="en-US"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endParaRPr kumimoji="0" lang="en-GB" altLang="en-US" sz="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2FC4AAFD-141F-4056-A367-1845A08BF131}" type="slidenum">
              <a:rPr lang="en-GB" smtClean="0"/>
              <a:t>36</a:t>
            </a:fld>
            <a:endParaRPr lang="en-GB"/>
          </a:p>
        </p:txBody>
      </p:sp>
    </p:spTree>
    <p:extLst>
      <p:ext uri="{BB962C8B-B14F-4D97-AF65-F5344CB8AC3E}">
        <p14:creationId xmlns:p14="http://schemas.microsoft.com/office/powerpoint/2010/main" val="1266748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tabLst>
                <a:tab pos="571500" algn="l"/>
                <a:tab pos="914400" algn="l"/>
                <a:tab pos="1771650" algn="l"/>
              </a:tabLst>
            </a:pPr>
            <a:r>
              <a:rPr lang="en-GB" sz="1200" b="0" dirty="0">
                <a:solidFill>
                  <a:srgbClr val="002060"/>
                </a:solidFill>
                <a:latin typeface="Symbol" panose="05050102010706020507" pitchFamily="18" charset="2"/>
                <a:ea typeface="Times New Roman" panose="02020603050405020304" pitchFamily="18" charset="0"/>
                <a:sym typeface="Symbol" panose="05050102010706020507" pitchFamily="18" charset="2"/>
              </a:rPr>
              <a:t>Now we know that</a:t>
            </a:r>
            <a:r>
              <a:rPr lang="en-GB" sz="1200" b="1" dirty="0">
                <a:solidFill>
                  <a:srgbClr val="002060"/>
                </a:solidFill>
                <a:latin typeface="Symbol" panose="05050102010706020507" pitchFamily="18" charset="2"/>
                <a:ea typeface="Times New Roman" panose="02020603050405020304" pitchFamily="18" charset="0"/>
                <a:sym typeface="Symbol" panose="05050102010706020507" pitchFamily="18" charset="2"/>
              </a:rPr>
              <a:t> </a:t>
            </a:r>
            <a:r>
              <a:rPr lang="en-GB" sz="1200" dirty="0">
                <a:solidFill>
                  <a:srgbClr val="002060"/>
                </a:solidFill>
                <a:latin typeface="Symbol" panose="05050102010706020507" pitchFamily="18" charset="2"/>
                <a:ea typeface="Times New Roman" panose="02020603050405020304" pitchFamily="18" charset="0"/>
              </a:rPr>
              <a:t> </a:t>
            </a:r>
            <a:r>
              <a:rPr lang="en-GB" sz="1200" dirty="0">
                <a:solidFill>
                  <a:srgbClr val="002060"/>
                </a:solidFill>
                <a:latin typeface="Times New Roman" panose="02020603050405020304" pitchFamily="18" charset="0"/>
                <a:ea typeface="Times New Roman" panose="02020603050405020304" pitchFamily="18" charset="0"/>
              </a:rPr>
              <a:t>=  1</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2</a:t>
            </a:r>
            <a:r>
              <a:rPr lang="en-GB" sz="1200"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/3  or  1</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120</a:t>
            </a:r>
            <a:r>
              <a:rPr lang="en-GB" sz="1200" baseline="30000" dirty="0">
                <a:solidFill>
                  <a:srgbClr val="002060"/>
                </a:solidFill>
                <a:latin typeface="Times New Roman" panose="02020603050405020304" pitchFamily="18" charset="0"/>
                <a:ea typeface="Times New Roman" panose="02020603050405020304" pitchFamily="18" charset="0"/>
              </a:rPr>
              <a:t>0</a:t>
            </a:r>
            <a:r>
              <a:rPr lang="en-GB" sz="1200" baseline="0" dirty="0">
                <a:solidFill>
                  <a:srgbClr val="002060"/>
                </a:solidFill>
                <a:latin typeface="Times New Roman" panose="02020603050405020304" pitchFamily="18" charset="0"/>
                <a:ea typeface="Times New Roman" panose="02020603050405020304" pitchFamily="18" charset="0"/>
              </a:rPr>
              <a:t> so that </a:t>
            </a:r>
            <a:r>
              <a:rPr lang="en-GB" sz="1200" b="1"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b="1" baseline="30000" dirty="0">
                <a:solidFill>
                  <a:srgbClr val="002060"/>
                </a:solidFill>
                <a:latin typeface="Symbol" panose="05050102010706020507" pitchFamily="18" charset="2"/>
                <a:ea typeface="Times New Roman" panose="02020603050405020304" pitchFamily="18" charset="0"/>
              </a:rPr>
              <a:t>2</a:t>
            </a:r>
            <a:r>
              <a:rPr lang="en-GB" sz="1200" dirty="0">
                <a:solidFill>
                  <a:srgbClr val="002060"/>
                </a:solidFill>
                <a:latin typeface="Symbol" panose="05050102010706020507" pitchFamily="18" charset="2"/>
                <a:ea typeface="Times New Roman" panose="02020603050405020304" pitchFamily="18" charset="0"/>
              </a:rPr>
              <a:t> </a:t>
            </a:r>
            <a:r>
              <a:rPr lang="en-GB" sz="1200" dirty="0">
                <a:solidFill>
                  <a:srgbClr val="002060"/>
                </a:solidFill>
                <a:latin typeface="Times New Roman" panose="02020603050405020304" pitchFamily="18" charset="0"/>
                <a:ea typeface="Times New Roman" panose="02020603050405020304" pitchFamily="18" charset="0"/>
              </a:rPr>
              <a:t>=  1</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4</a:t>
            </a:r>
            <a:r>
              <a:rPr lang="en-GB" sz="1200"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/3  or  1</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240</a:t>
            </a:r>
            <a:r>
              <a:rPr lang="en-GB" sz="1200" baseline="30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  or  1</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-120</a:t>
            </a:r>
            <a:r>
              <a:rPr lang="en-GB" sz="1200" baseline="30000" dirty="0">
                <a:solidFill>
                  <a:srgbClr val="002060"/>
                </a:solidFill>
                <a:latin typeface="Times New Roman" panose="02020603050405020304" pitchFamily="18" charset="0"/>
                <a:ea typeface="Times New Roman" panose="02020603050405020304" pitchFamily="18" charset="0"/>
              </a:rPr>
              <a:t>0</a:t>
            </a:r>
            <a:r>
              <a:rPr lang="en-GB" sz="1200" baseline="0" dirty="0">
                <a:solidFill>
                  <a:srgbClr val="002060"/>
                </a:solidFill>
                <a:latin typeface="Times New Roman" panose="02020603050405020304" pitchFamily="18" charset="0"/>
                <a:ea typeface="Times New Roman" panose="02020603050405020304" pitchFamily="18" charset="0"/>
              </a:rPr>
              <a:t>, </a:t>
            </a:r>
            <a:r>
              <a:rPr lang="en-GB" sz="1200" b="1"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b="1" baseline="30000" dirty="0">
                <a:solidFill>
                  <a:srgbClr val="002060"/>
                </a:solidFill>
                <a:latin typeface="Symbol" panose="05050102010706020507" pitchFamily="18" charset="2"/>
                <a:ea typeface="Times New Roman" panose="02020603050405020304" pitchFamily="18" charset="0"/>
              </a:rPr>
              <a:t>3</a:t>
            </a:r>
            <a:r>
              <a:rPr lang="en-GB" sz="1200" dirty="0">
                <a:solidFill>
                  <a:srgbClr val="002060"/>
                </a:solidFill>
                <a:latin typeface="Symbol" panose="05050102010706020507" pitchFamily="18" charset="2"/>
                <a:ea typeface="Times New Roman" panose="02020603050405020304" pitchFamily="18" charset="0"/>
              </a:rPr>
              <a:t> </a:t>
            </a:r>
            <a:r>
              <a:rPr lang="en-GB" sz="1200" dirty="0">
                <a:solidFill>
                  <a:srgbClr val="002060"/>
                </a:solidFill>
                <a:latin typeface="Times New Roman" panose="02020603050405020304" pitchFamily="18" charset="0"/>
                <a:ea typeface="Times New Roman" panose="02020603050405020304" pitchFamily="18" charset="0"/>
              </a:rPr>
              <a:t>=  1</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2</a:t>
            </a:r>
            <a:r>
              <a:rPr lang="en-GB" sz="1200"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  or  1</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360</a:t>
            </a:r>
            <a:r>
              <a:rPr lang="en-GB" sz="1200" baseline="30000" dirty="0">
                <a:solidFill>
                  <a:srgbClr val="002060"/>
                </a:solidFill>
                <a:latin typeface="Times New Roman" panose="02020603050405020304" pitchFamily="18" charset="0"/>
                <a:ea typeface="Times New Roman" panose="02020603050405020304" pitchFamily="18" charset="0"/>
              </a:rPr>
              <a:t>0</a:t>
            </a:r>
            <a:r>
              <a:rPr lang="en-GB" sz="1200" dirty="0">
                <a:solidFill>
                  <a:srgbClr val="002060"/>
                </a:solidFill>
                <a:latin typeface="Times New Roman" panose="02020603050405020304" pitchFamily="18" charset="0"/>
                <a:ea typeface="Times New Roman" panose="02020603050405020304" pitchFamily="18" charset="0"/>
              </a:rPr>
              <a:t>  or  1.</a:t>
            </a:r>
          </a:p>
          <a:p>
            <a:pPr algn="just">
              <a:tabLst>
                <a:tab pos="571500" algn="l"/>
                <a:tab pos="914400" algn="l"/>
                <a:tab pos="1771650" algn="l"/>
              </a:tabLst>
            </a:pPr>
            <a:r>
              <a:rPr lang="en-GB" sz="1200" dirty="0">
                <a:solidFill>
                  <a:srgbClr val="002060"/>
                </a:solidFill>
                <a:latin typeface="Times New Roman" panose="02020603050405020304" pitchFamily="18" charset="0"/>
                <a:ea typeface="Times New Roman" panose="02020603050405020304" pitchFamily="18" charset="0"/>
              </a:rPr>
              <a:t>Since alpha cube equals one, 	</a:t>
            </a:r>
            <a:r>
              <a:rPr lang="en-GB" sz="1200" b="1"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b="1" baseline="30000" dirty="0">
                <a:solidFill>
                  <a:srgbClr val="002060"/>
                </a:solidFill>
                <a:latin typeface="Symbol" panose="05050102010706020507" pitchFamily="18" charset="2"/>
                <a:ea typeface="Times New Roman" panose="02020603050405020304" pitchFamily="18" charset="0"/>
              </a:rPr>
              <a:t>3 </a:t>
            </a:r>
            <a:r>
              <a:rPr lang="en-GB" sz="1200" b="1" dirty="0">
                <a:solidFill>
                  <a:srgbClr val="002060"/>
                </a:solidFill>
                <a:latin typeface="Times New Roman" panose="02020603050405020304" pitchFamily="18" charset="0"/>
                <a:ea typeface="Times New Roman" panose="02020603050405020304" pitchFamily="18" charset="0"/>
              </a:rPr>
              <a:t>– 1 = 0, </a:t>
            </a:r>
            <a:r>
              <a:rPr lang="en-GB" sz="1200" b="0" dirty="0">
                <a:solidFill>
                  <a:srgbClr val="002060"/>
                </a:solidFill>
                <a:latin typeface="Times New Roman" panose="02020603050405020304" pitchFamily="18" charset="0"/>
                <a:ea typeface="Times New Roman" panose="02020603050405020304" pitchFamily="18" charset="0"/>
              </a:rPr>
              <a:t>which may be factorized as</a:t>
            </a:r>
            <a:r>
              <a:rPr lang="en-GB" sz="1200" b="1" dirty="0">
                <a:solidFill>
                  <a:srgbClr val="002060"/>
                </a:solidFill>
                <a:latin typeface="Times New Roman" panose="02020603050405020304" pitchFamily="18" charset="0"/>
                <a:ea typeface="Times New Roman" panose="02020603050405020304" pitchFamily="18" charset="0"/>
              </a:rPr>
              <a:t> (</a:t>
            </a:r>
            <a:r>
              <a:rPr lang="en-GB" sz="1200" b="1"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b="1" dirty="0">
                <a:solidFill>
                  <a:srgbClr val="002060"/>
                </a:solidFill>
                <a:latin typeface="Times New Roman" panose="02020603050405020304" pitchFamily="18" charset="0"/>
                <a:ea typeface="Times New Roman" panose="02020603050405020304" pitchFamily="18" charset="0"/>
              </a:rPr>
              <a:t> - 1)(</a:t>
            </a:r>
            <a:r>
              <a:rPr lang="en-GB" sz="1200" b="1"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b="1" baseline="30000" dirty="0">
                <a:solidFill>
                  <a:srgbClr val="002060"/>
                </a:solidFill>
                <a:latin typeface="Symbol" panose="05050102010706020507" pitchFamily="18" charset="2"/>
                <a:ea typeface="Times New Roman" panose="02020603050405020304" pitchFamily="18" charset="0"/>
              </a:rPr>
              <a:t>2</a:t>
            </a:r>
            <a:r>
              <a:rPr lang="en-GB" sz="1200" b="1" dirty="0">
                <a:solidFill>
                  <a:srgbClr val="002060"/>
                </a:solidFill>
                <a:latin typeface="Symbol" panose="05050102010706020507" pitchFamily="18" charset="2"/>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a:t>
            </a:r>
            <a:r>
              <a:rPr lang="en-GB" sz="1200" b="1" dirty="0">
                <a:solidFill>
                  <a:srgbClr val="002060"/>
                </a:solidFill>
                <a:latin typeface="Symbol" panose="05050102010706020507" pitchFamily="18" charset="2"/>
                <a:ea typeface="Times New Roman" panose="02020603050405020304" pitchFamily="18" charset="0"/>
              </a:rPr>
              <a:t> </a:t>
            </a:r>
            <a:r>
              <a:rPr lang="en-GB" sz="1200" b="1"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b="1" dirty="0">
                <a:solidFill>
                  <a:srgbClr val="002060"/>
                </a:solidFill>
                <a:latin typeface="Symbol" panose="05050102010706020507" pitchFamily="18" charset="2"/>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+ 1)  =  0</a:t>
            </a:r>
            <a:endParaRPr lang="en-GB" sz="1200" dirty="0">
              <a:latin typeface="Times New Roman" panose="02020603050405020304" pitchFamily="18" charset="0"/>
              <a:ea typeface="Times New Roman" panose="02020603050405020304" pitchFamily="18" charset="0"/>
            </a:endParaRPr>
          </a:p>
          <a:p>
            <a:pPr algn="just"/>
            <a:r>
              <a:rPr lang="en-GB" sz="1200" dirty="0">
                <a:solidFill>
                  <a:srgbClr val="002060"/>
                </a:solidFill>
                <a:latin typeface="Times New Roman" panose="02020603050405020304" pitchFamily="18" charset="0"/>
                <a:ea typeface="Times New Roman" panose="02020603050405020304" pitchFamily="18" charset="0"/>
              </a:rPr>
              <a:t>Since </a:t>
            </a:r>
            <a:r>
              <a:rPr lang="en-GB" sz="1200" b="1"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 is complex and not equal to 1, </a:t>
            </a:r>
            <a:r>
              <a:rPr lang="en-GB" sz="1200" b="1"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b="1" dirty="0">
                <a:solidFill>
                  <a:srgbClr val="002060"/>
                </a:solidFill>
                <a:latin typeface="Times New Roman" panose="02020603050405020304" pitchFamily="18" charset="0"/>
                <a:ea typeface="Times New Roman" panose="02020603050405020304" pitchFamily="18" charset="0"/>
              </a:rPr>
              <a:t> - 1</a:t>
            </a:r>
            <a:r>
              <a:rPr lang="en-GB" sz="1200" dirty="0">
                <a:solidFill>
                  <a:srgbClr val="002060"/>
                </a:solidFill>
                <a:latin typeface="Times New Roman" panose="02020603050405020304" pitchFamily="18" charset="0"/>
                <a:ea typeface="Times New Roman" panose="02020603050405020304" pitchFamily="18" charset="0"/>
              </a:rPr>
              <a:t> cannot be zero. Therefore </a:t>
            </a:r>
            <a:r>
              <a:rPr lang="en-GB" sz="1200" b="1"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b="1" baseline="30000" dirty="0">
                <a:solidFill>
                  <a:srgbClr val="002060"/>
                </a:solidFill>
                <a:latin typeface="Symbol" panose="05050102010706020507" pitchFamily="18" charset="2"/>
                <a:ea typeface="Times New Roman" panose="02020603050405020304" pitchFamily="18" charset="0"/>
              </a:rPr>
              <a:t>2</a:t>
            </a:r>
            <a:r>
              <a:rPr lang="en-GB" sz="1200" b="1" dirty="0">
                <a:solidFill>
                  <a:srgbClr val="002060"/>
                </a:solidFill>
                <a:latin typeface="Symbol" panose="05050102010706020507" pitchFamily="18" charset="2"/>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a:t>
            </a:r>
            <a:r>
              <a:rPr lang="en-GB" sz="1200" b="1" dirty="0">
                <a:solidFill>
                  <a:srgbClr val="002060"/>
                </a:solidFill>
                <a:latin typeface="Symbol" panose="05050102010706020507" pitchFamily="18" charset="2"/>
                <a:ea typeface="Times New Roman" panose="02020603050405020304" pitchFamily="18" charset="0"/>
              </a:rPr>
              <a:t> </a:t>
            </a:r>
            <a:r>
              <a:rPr lang="en-GB" sz="1200" b="1"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1200" b="1" dirty="0">
                <a:solidFill>
                  <a:srgbClr val="002060"/>
                </a:solidFill>
                <a:latin typeface="Symbol" panose="05050102010706020507" pitchFamily="18" charset="2"/>
                <a:ea typeface="Times New Roman" panose="02020603050405020304" pitchFamily="18" charset="0"/>
              </a:rPr>
              <a:t> </a:t>
            </a:r>
            <a:r>
              <a:rPr lang="en-GB" sz="1200" b="1" dirty="0">
                <a:solidFill>
                  <a:srgbClr val="002060"/>
                </a:solidFill>
                <a:latin typeface="Times New Roman" panose="02020603050405020304" pitchFamily="18" charset="0"/>
                <a:ea typeface="Times New Roman" panose="02020603050405020304" pitchFamily="18" charset="0"/>
              </a:rPr>
              <a:t>+ 1  = 0</a:t>
            </a:r>
            <a:endParaRPr lang="en-GB" sz="1200" dirty="0">
              <a:latin typeface="Times New Roman" panose="02020603050405020304" pitchFamily="18" charset="0"/>
              <a:ea typeface="Times New Roman" panose="02020603050405020304" pitchFamily="18" charset="0"/>
            </a:endParaRPr>
          </a:p>
          <a:p>
            <a:pPr marR="29210" algn="just">
              <a:spcBef>
                <a:spcPts val="1200"/>
              </a:spcBef>
              <a:spcAft>
                <a:spcPts val="600"/>
              </a:spcAft>
            </a:pPr>
            <a:r>
              <a:rPr lang="en-GB" sz="1200" dirty="0">
                <a:solidFill>
                  <a:srgbClr val="002060"/>
                </a:solidFill>
                <a:latin typeface="Times New Roman" panose="02020603050405020304" pitchFamily="18" charset="0"/>
                <a:ea typeface="Times New Roman" panose="02020603050405020304" pitchFamily="18" charset="0"/>
              </a:rPr>
              <a:t>This statement also has the physical meaning that the three sides of an equilateral triangles must close.</a:t>
            </a:r>
            <a:endParaRPr lang="en-GB" sz="1200" dirty="0">
              <a:latin typeface="Times New Roman" panose="02020603050405020304" pitchFamily="18" charset="0"/>
              <a:ea typeface="Times New Roman" panose="02020603050405020304" pitchFamily="18" charset="0"/>
            </a:endParaRPr>
          </a:p>
          <a:p>
            <a:r>
              <a:rPr lang="en-GB" sz="1200" dirty="0">
                <a:solidFill>
                  <a:srgbClr val="002060"/>
                </a:solidFill>
                <a:latin typeface="Times New Roman" panose="02020603050405020304" pitchFamily="18" charset="0"/>
                <a:ea typeface="Times New Roman" panose="02020603050405020304" pitchFamily="18" charset="0"/>
              </a:rPr>
              <a:t>Also some more important properties of alpha are alpha inverse equals alpha squared and alpha to the minus 2 equals alpha.</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37</a:t>
            </a:fld>
            <a:endParaRPr lang="en-GB"/>
          </a:p>
        </p:txBody>
      </p:sp>
    </p:spTree>
    <p:extLst>
      <p:ext uri="{BB962C8B-B14F-4D97-AF65-F5344CB8AC3E}">
        <p14:creationId xmlns:p14="http://schemas.microsoft.com/office/powerpoint/2010/main" val="3467589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see how the inverse of the symmetrical component matrix lambda could be obtained.</a:t>
            </a:r>
          </a:p>
          <a:p>
            <a:r>
              <a:rPr lang="en-US" dirty="0"/>
              <a:t>As is normal, the inverse of the matrix is obtained by taking the transpose of the co-factor determinant and dividing it by the discriminant.  </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38</a:t>
            </a:fld>
            <a:endParaRPr lang="en-GB"/>
          </a:p>
        </p:txBody>
      </p:sp>
    </p:spTree>
    <p:extLst>
      <p:ext uri="{BB962C8B-B14F-4D97-AF65-F5344CB8AC3E}">
        <p14:creationId xmlns:p14="http://schemas.microsoft.com/office/powerpoint/2010/main" val="1409592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obtaining the inverse, it is seen that the matrix thus obtained can be factorized, with 1 minus alpha being a common factor.</a:t>
            </a:r>
          </a:p>
          <a:p>
            <a:r>
              <a:rPr lang="en-US" dirty="0"/>
              <a:t>The discriminant of the matrix can be obtained as 3 times alpha minus alpha squared  which again has the factor one minus alpha.</a:t>
            </a:r>
          </a:p>
          <a:p>
            <a:r>
              <a:rPr lang="en-US" dirty="0"/>
              <a:t>Eliminating this common factor 1 minus alpha which appears both in the numerator in all terms and in the denominator of the discriminant gives the matrix shown.  Using the properties derived from 1 plus alpha plus alpha squared equals zero, the matrix can be further simplified.</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39</a:t>
            </a:fld>
            <a:endParaRPr lang="en-GB"/>
          </a:p>
        </p:txBody>
      </p:sp>
    </p:spTree>
    <p:extLst>
      <p:ext uri="{BB962C8B-B14F-4D97-AF65-F5344CB8AC3E}">
        <p14:creationId xmlns:p14="http://schemas.microsoft.com/office/powerpoint/2010/main" val="2156609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inverse of the matrix lambda is obtained as shown.</a:t>
            </a:r>
          </a:p>
          <a:p>
            <a:r>
              <a:rPr lang="en-US" dirty="0"/>
              <a:t>It is to be noted that </a:t>
            </a:r>
            <a:r>
              <a:rPr lang="en-US" dirty="0">
                <a:sym typeface="Symbol" panose="05050102010706020507" pitchFamily="18" charset="2"/>
              </a:rPr>
              <a:t></a:t>
            </a:r>
            <a:r>
              <a:rPr lang="en-US" dirty="0"/>
              <a:t>  is the complex conjugate of </a:t>
            </a:r>
            <a:r>
              <a:rPr lang="en-US" dirty="0">
                <a:sym typeface="Symbol" panose="05050102010706020507" pitchFamily="18" charset="2"/>
              </a:rPr>
              <a:t> </a:t>
            </a:r>
            <a:r>
              <a:rPr lang="en-US" dirty="0"/>
              <a:t>squared, and </a:t>
            </a:r>
            <a:r>
              <a:rPr lang="en-US" dirty="0">
                <a:sym typeface="Symbol" panose="05050102010706020507" pitchFamily="18" charset="2"/>
              </a:rPr>
              <a:t> squared is the complex</a:t>
            </a:r>
            <a:r>
              <a:rPr lang="en-US" dirty="0"/>
              <a:t> conjugate of </a:t>
            </a:r>
            <a:r>
              <a:rPr lang="en-US" dirty="0">
                <a:sym typeface="Symbol" panose="05050102010706020507" pitchFamily="18" charset="2"/>
              </a:rPr>
              <a:t></a:t>
            </a:r>
            <a:r>
              <a:rPr lang="en-US" dirty="0"/>
              <a:t>.</a:t>
            </a:r>
          </a:p>
          <a:p>
            <a:r>
              <a:rPr lang="en-US" dirty="0"/>
              <a:t>Finally, it is seen that the matrix lambda inverse is one-third of complex conjugate of the matrix lambda.</a:t>
            </a:r>
          </a:p>
        </p:txBody>
      </p:sp>
      <p:sp>
        <p:nvSpPr>
          <p:cNvPr id="4" name="Slide Number Placeholder 3"/>
          <p:cNvSpPr>
            <a:spLocks noGrp="1"/>
          </p:cNvSpPr>
          <p:nvPr>
            <p:ph type="sldNum" sz="quarter" idx="5"/>
          </p:nvPr>
        </p:nvSpPr>
        <p:spPr/>
        <p:txBody>
          <a:bodyPr/>
          <a:lstStyle/>
          <a:p>
            <a:fld id="{2FC4AAFD-141F-4056-A367-1845A08BF131}" type="slidenum">
              <a:rPr lang="en-GB" smtClean="0"/>
              <a:t>40</a:t>
            </a:fld>
            <a:endParaRPr lang="en-GB"/>
          </a:p>
        </p:txBody>
      </p:sp>
    </p:spTree>
    <p:extLst>
      <p:ext uri="{BB962C8B-B14F-4D97-AF65-F5344CB8AC3E}">
        <p14:creationId xmlns:p14="http://schemas.microsoft.com/office/powerpoint/2010/main" val="40936062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the symmetric component vector A0, A1, A2 can now be written in the expanded form as one-third the matrix lambda conjugate multiplied by the phase component vector.</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41</a:t>
            </a:fld>
            <a:endParaRPr lang="en-GB"/>
          </a:p>
        </p:txBody>
      </p:sp>
    </p:spTree>
    <p:extLst>
      <p:ext uri="{BB962C8B-B14F-4D97-AF65-F5344CB8AC3E}">
        <p14:creationId xmlns:p14="http://schemas.microsoft.com/office/powerpoint/2010/main" val="118391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consider an example to see how the sequence components can be determined.  In this example, I have defined the phase components as VR, </a:t>
            </a:r>
            <a:r>
              <a:rPr lang="en-US" dirty="0" err="1"/>
              <a:t>VY</a:t>
            </a:r>
            <a:r>
              <a:rPr lang="en-US" dirty="0"/>
              <a:t> and VB according to an earlier system.  However, the analysis is the same if they are labelled VA, VB and VC.</a:t>
            </a:r>
          </a:p>
          <a:p>
            <a:r>
              <a:rPr lang="en-GB" dirty="0"/>
              <a:t>From the diagram it is seen that VR is 1 angle 0degree volt, </a:t>
            </a:r>
            <a:r>
              <a:rPr lang="en-GB" dirty="0" err="1"/>
              <a:t>VY</a:t>
            </a:r>
            <a:r>
              <a:rPr lang="en-GB" dirty="0"/>
              <a:t> is root 3 angle minus 120 degree volt, and VB is 2 angle 90 degree volt.</a:t>
            </a:r>
          </a:p>
          <a:p>
            <a:r>
              <a:rPr lang="en-GB" dirty="0"/>
              <a:t>These values are put to the matrix equation is shown.</a:t>
            </a:r>
          </a:p>
        </p:txBody>
      </p:sp>
      <p:sp>
        <p:nvSpPr>
          <p:cNvPr id="4" name="Slide Number Placeholder 3"/>
          <p:cNvSpPr>
            <a:spLocks noGrp="1"/>
          </p:cNvSpPr>
          <p:nvPr>
            <p:ph type="sldNum" sz="quarter" idx="5"/>
          </p:nvPr>
        </p:nvSpPr>
        <p:spPr/>
        <p:txBody>
          <a:bodyPr/>
          <a:lstStyle/>
          <a:p>
            <a:fld id="{2FC4AAFD-141F-4056-A367-1845A08BF131}" type="slidenum">
              <a:rPr lang="en-GB" smtClean="0"/>
              <a:t>42</a:t>
            </a:fld>
            <a:endParaRPr lang="en-GB"/>
          </a:p>
        </p:txBody>
      </p:sp>
    </p:spTree>
    <p:extLst>
      <p:ext uri="{BB962C8B-B14F-4D97-AF65-F5344CB8AC3E}">
        <p14:creationId xmlns:p14="http://schemas.microsoft.com/office/powerpoint/2010/main" val="519854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solidFill>
                  <a:srgbClr val="002060"/>
                </a:solidFill>
                <a:latin typeface="Times New Roman" panose="02020603050405020304" pitchFamily="18" charset="0"/>
                <a:ea typeface="Times New Roman" panose="02020603050405020304" pitchFamily="18" charset="0"/>
              </a:rPr>
              <a:t>Expansion of the symmetrical component matrix equation is shown.</a:t>
            </a:r>
          </a:p>
          <a:p>
            <a:r>
              <a:rPr lang="en-GB" sz="1200" dirty="0">
                <a:solidFill>
                  <a:srgbClr val="002060"/>
                </a:solidFill>
                <a:latin typeface="Times New Roman" panose="02020603050405020304" pitchFamily="18" charset="0"/>
              </a:rPr>
              <a:t>These give the values of the sequence components of phase R as VR0 equals 0.173 angle 75.0 degree volt, 1.525 angle minus 12.6 degree volt, and 0.558 angle 162.6 degree volt.</a:t>
            </a:r>
          </a:p>
          <a:p>
            <a:r>
              <a:rPr lang="en-GB" sz="1200" dirty="0">
                <a:solidFill>
                  <a:srgbClr val="002060"/>
                </a:solidFill>
                <a:latin typeface="Times New Roman" panose="02020603050405020304" pitchFamily="18" charset="0"/>
              </a:rPr>
              <a:t>It is pertinent to note that VR1 has the largest magnitude of the 3 components, as is usual.</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43</a:t>
            </a:fld>
            <a:endParaRPr lang="en-GB"/>
          </a:p>
        </p:txBody>
      </p:sp>
    </p:spTree>
    <p:extLst>
      <p:ext uri="{BB962C8B-B14F-4D97-AF65-F5344CB8AC3E}">
        <p14:creationId xmlns:p14="http://schemas.microsoft.com/office/powerpoint/2010/main" val="33374731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Symmetrical component analysis can not only be done using complex numbers, but can also be done in the graphical form by sketching the phasor addition as will be shown.  The same example is considered.</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44</a:t>
            </a:fld>
            <a:endParaRPr lang="en-GB"/>
          </a:p>
        </p:txBody>
      </p:sp>
    </p:spTree>
    <p:extLst>
      <p:ext uri="{BB962C8B-B14F-4D97-AF65-F5344CB8AC3E}">
        <p14:creationId xmlns:p14="http://schemas.microsoft.com/office/powerpoint/2010/main" val="2471015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 us determine the zero sequence component VA0 (or VR0 in the earlier problem).  In fact, it is easier to determine 3 VA0 rather than VA0 and is a common practice to simply calculations.  </a:t>
            </a:r>
          </a:p>
          <a:p>
            <a:r>
              <a:rPr lang="en-US" dirty="0"/>
              <a:t>As 3VA0 equals the addition of VA, VB and VC, graphical addition of the corresponding phasors gives the result 3 VA0.</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200" dirty="0">
                <a:solidFill>
                  <a:srgbClr val="002060"/>
                </a:solidFill>
                <a:latin typeface="Arial" panose="020B0604020202020204" pitchFamily="34" charset="0"/>
                <a:ea typeface="Times New Roman" panose="02020603050405020304" pitchFamily="18" charset="0"/>
              </a:rPr>
              <a:t>Compare result with that of the analytical method where the value for 3 V</a:t>
            </a:r>
            <a:r>
              <a:rPr lang="en-GB" altLang="en-US" sz="1200" baseline="-30000" dirty="0">
                <a:solidFill>
                  <a:srgbClr val="002060"/>
                </a:solidFill>
                <a:latin typeface="Arial" panose="020B0604020202020204" pitchFamily="34" charset="0"/>
                <a:ea typeface="Times New Roman" panose="02020603050405020304" pitchFamily="18" charset="0"/>
              </a:rPr>
              <a:t>A0</a:t>
            </a:r>
            <a:r>
              <a:rPr lang="en-GB" altLang="en-US" sz="1200" dirty="0">
                <a:solidFill>
                  <a:srgbClr val="002060"/>
                </a:solidFill>
                <a:latin typeface="Arial" panose="020B0604020202020204" pitchFamily="34" charset="0"/>
                <a:ea typeface="Times New Roman" panose="02020603050405020304" pitchFamily="18" charset="0"/>
              </a:rPr>
              <a:t> should be 3</a:t>
            </a:r>
            <a:r>
              <a:rPr lang="en-GB" altLang="en-US"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altLang="en-US" sz="1200" dirty="0">
                <a:solidFill>
                  <a:srgbClr val="002060"/>
                </a:solidFill>
                <a:ea typeface="Times New Roman" panose="02020603050405020304" pitchFamily="18" charset="0"/>
              </a:rPr>
              <a:t>0.173</a:t>
            </a:r>
            <a:r>
              <a:rPr lang="en-GB" altLang="en-US"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altLang="en-US" sz="1200" dirty="0">
                <a:solidFill>
                  <a:srgbClr val="002060"/>
                </a:solidFill>
                <a:ea typeface="Times New Roman" panose="02020603050405020304" pitchFamily="18" charset="0"/>
              </a:rPr>
              <a:t>75.0</a:t>
            </a:r>
            <a:r>
              <a:rPr lang="en-GB" altLang="en-US" sz="1200" baseline="300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0</a:t>
            </a:r>
            <a:r>
              <a:rPr lang="en-GB" altLang="en-US"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 V agreeing with the observation.</a:t>
            </a:r>
            <a:endParaRPr lang="en-GB" sz="1200" dirty="0"/>
          </a:p>
        </p:txBody>
      </p:sp>
      <p:sp>
        <p:nvSpPr>
          <p:cNvPr id="4" name="Slide Number Placeholder 3"/>
          <p:cNvSpPr>
            <a:spLocks noGrp="1"/>
          </p:cNvSpPr>
          <p:nvPr>
            <p:ph type="sldNum" sz="quarter" idx="5"/>
          </p:nvPr>
        </p:nvSpPr>
        <p:spPr/>
        <p:txBody>
          <a:bodyPr/>
          <a:lstStyle/>
          <a:p>
            <a:fld id="{2FC4AAFD-141F-4056-A367-1845A08BF131}" type="slidenum">
              <a:rPr lang="en-GB" smtClean="0"/>
              <a:t>45</a:t>
            </a:fld>
            <a:endParaRPr lang="en-GB"/>
          </a:p>
        </p:txBody>
      </p:sp>
    </p:spTree>
    <p:extLst>
      <p:ext uri="{BB962C8B-B14F-4D97-AF65-F5344CB8AC3E}">
        <p14:creationId xmlns:p14="http://schemas.microsoft.com/office/powerpoint/2010/main" val="40365656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the positive sequence voltage VA1 can be obtained as 3VA1 as the addition of VA, alpha times VB and alpha squared times VC.</a:t>
            </a:r>
          </a:p>
          <a:p>
            <a:r>
              <a:rPr lang="en-US" dirty="0"/>
              <a:t>This means that when phasor addition is done, VA is drawn, then VB is drawn and rotated anticlockwise by 120 degrees, and then VC is drawn and rotated by 240 degrees and added to give 3 times the required positive sequence value.</a:t>
            </a:r>
          </a:p>
          <a:p>
            <a:pPr marL="0" marR="0" lvl="0" indent="0" algn="l" defTabSz="914400" rtl="0" eaLnBrk="0" fontAlgn="base" latinLnBrk="0" hangingPunct="0">
              <a:lnSpc>
                <a:spcPct val="100000"/>
              </a:lnSpc>
              <a:spcBef>
                <a:spcPct val="0"/>
              </a:spcBef>
              <a:spcAft>
                <a:spcPct val="0"/>
              </a:spcAft>
              <a:buClrTx/>
              <a:buSzTx/>
              <a:buFontTx/>
              <a:buNone/>
              <a:tabLst>
                <a:tab pos="2425700" algn="l"/>
              </a:tabLst>
            </a:pPr>
            <a:r>
              <a:rPr kumimoji="0" lang="en-GB" altLang="en-US" sz="1200" b="0" i="0" u="none" strike="noStrike" cap="none" normalizeH="0" baseline="0" dirty="0">
                <a:ln>
                  <a:noFill/>
                </a:ln>
                <a:solidFill>
                  <a:srgbClr val="002060"/>
                </a:solidFill>
                <a:effectLst/>
                <a:ea typeface="Times New Roman" panose="02020603050405020304" pitchFamily="18" charset="0"/>
              </a:rPr>
              <a:t>When this result is compared with the result with that of  analytical method in example 1, taking 3V</a:t>
            </a:r>
            <a:r>
              <a:rPr kumimoji="0" lang="en-GB" altLang="en-US" sz="1200" b="0" i="0" u="none" strike="noStrike" cap="none" normalizeH="0" baseline="-30000" dirty="0">
                <a:ln>
                  <a:noFill/>
                </a:ln>
                <a:solidFill>
                  <a:srgbClr val="002060"/>
                </a:solidFill>
                <a:effectLst/>
                <a:ea typeface="Times New Roman" panose="02020603050405020304" pitchFamily="18" charset="0"/>
              </a:rPr>
              <a:t>A1</a:t>
            </a:r>
            <a:r>
              <a:rPr kumimoji="0" lang="en-GB" altLang="en-US" sz="1200" b="0" i="0" u="none" strike="noStrike" cap="none" normalizeH="0" baseline="0" dirty="0">
                <a:ln>
                  <a:noFill/>
                </a:ln>
                <a:solidFill>
                  <a:srgbClr val="002060"/>
                </a:solidFill>
                <a:effectLst/>
                <a:ea typeface="Times New Roman" panose="02020603050405020304" pitchFamily="18" charset="0"/>
              </a:rPr>
              <a:t> equal to 3</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1200" b="0" i="0" u="none" strike="noStrike" cap="none" normalizeH="0" baseline="0" dirty="0">
                <a:ln>
                  <a:noFill/>
                </a:ln>
                <a:solidFill>
                  <a:srgbClr val="002060"/>
                </a:solidFill>
                <a:effectLst/>
                <a:ea typeface="Times New Roman" panose="02020603050405020304" pitchFamily="18" charset="0"/>
              </a:rPr>
              <a:t>1.525</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1200" b="0" i="0" u="none" strike="noStrike" cap="none" normalizeH="0" baseline="0" dirty="0">
                <a:ln>
                  <a:noFill/>
                </a:ln>
                <a:solidFill>
                  <a:srgbClr val="002060"/>
                </a:solidFill>
                <a:effectLst/>
                <a:ea typeface="Times New Roman" panose="02020603050405020304" pitchFamily="18" charset="0"/>
              </a:rPr>
              <a:t>-12.6</a:t>
            </a:r>
            <a:r>
              <a:rPr kumimoji="0" lang="en-GB" altLang="en-US" sz="1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1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V agreeing with the observation from the graphical method.</a:t>
            </a:r>
          </a:p>
          <a:p>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46</a:t>
            </a:fld>
            <a:endParaRPr lang="en-GB"/>
          </a:p>
        </p:txBody>
      </p:sp>
    </p:spTree>
    <p:extLst>
      <p:ext uri="{BB962C8B-B14F-4D97-AF65-F5344CB8AC3E}">
        <p14:creationId xmlns:p14="http://schemas.microsoft.com/office/powerpoint/2010/main" val="42419969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3VA2 is similarly obtained by the addition of VA, VB rotated anticlockwise by 240 degrees and </a:t>
            </a:r>
            <a:r>
              <a:rPr lang="en-US" dirty="0" err="1"/>
              <a:t>Vc</a:t>
            </a:r>
            <a:r>
              <a:rPr lang="en-US" dirty="0"/>
              <a:t> rotated anticlockwise by 120 degrees.  Answers obtained are seen to agree with the theoretical value of the earlier example to visual accuracy.</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47</a:t>
            </a:fld>
            <a:endParaRPr lang="en-GB"/>
          </a:p>
        </p:txBody>
      </p:sp>
    </p:spTree>
    <p:extLst>
      <p:ext uri="{BB962C8B-B14F-4D97-AF65-F5344CB8AC3E}">
        <p14:creationId xmlns:p14="http://schemas.microsoft.com/office/powerpoint/2010/main" val="39878322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a:t>
            </a:r>
            <a:r>
              <a:rPr lang="en-US" dirty="0" err="1"/>
              <a:t>summarise</a:t>
            </a:r>
            <a:r>
              <a:rPr lang="en-US" dirty="0"/>
              <a:t> the finding so far.</a:t>
            </a:r>
          </a:p>
          <a:p>
            <a:r>
              <a:rPr lang="en-US" dirty="0"/>
              <a:t>The symmetrical component analysis is actually applied to either voltages or currents, and not as just ‘Sy” and “</a:t>
            </a:r>
            <a:r>
              <a:rPr lang="en-US" dirty="0" err="1"/>
              <a:t>ph</a:t>
            </a:r>
            <a:r>
              <a:rPr lang="en-US" dirty="0"/>
              <a:t>”.</a:t>
            </a:r>
          </a:p>
          <a:p>
            <a:r>
              <a:rPr lang="en-US" dirty="0"/>
              <a:t>Thus phase voltage vector </a:t>
            </a:r>
            <a:r>
              <a:rPr lang="en-US" dirty="0" err="1"/>
              <a:t>Vp</a:t>
            </a:r>
            <a:r>
              <a:rPr lang="en-US" dirty="0"/>
              <a:t> equals lambda matrix times symmetrical component voltage vector Vs</a:t>
            </a:r>
            <a:r>
              <a:rPr lang="en-US" baseline="0" dirty="0"/>
              <a:t>, Ip equals lambda Is, Vs equals one-third lambda conjugate </a:t>
            </a:r>
            <a:r>
              <a:rPr lang="en-US" baseline="0" dirty="0" err="1"/>
              <a:t>Vp</a:t>
            </a:r>
            <a:r>
              <a:rPr lang="en-US" baseline="0" dirty="0"/>
              <a:t>, and Is equals one-third lambda conjugate Ip.</a:t>
            </a:r>
          </a:p>
          <a:p>
            <a:r>
              <a:rPr lang="en-US" baseline="0" dirty="0"/>
              <a:t>The Lambda matrix and the lambda inverse matrix have values as shown. It should also be noted that the lambda inverse matrix is in fact equal to one-third the conjugate of the symmetrical component lambda matrix.</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48</a:t>
            </a:fld>
            <a:endParaRPr lang="en-GB"/>
          </a:p>
        </p:txBody>
      </p:sp>
    </p:spTree>
    <p:extLst>
      <p:ext uri="{BB962C8B-B14F-4D97-AF65-F5344CB8AC3E}">
        <p14:creationId xmlns:p14="http://schemas.microsoft.com/office/powerpoint/2010/main" val="16963722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any type of analysis, in addition to the voltages and currents, their ratio, namely impedance, and their product, namely power need to be evaluated.</a:t>
            </a:r>
          </a:p>
          <a:p>
            <a:pPr>
              <a:lnSpc>
                <a:spcPct val="110000"/>
              </a:lnSpc>
              <a:spcAft>
                <a:spcPts val="600"/>
              </a:spcAft>
            </a:pPr>
            <a:r>
              <a:rPr lang="en-GB" sz="1200" dirty="0">
                <a:solidFill>
                  <a:srgbClr val="002060"/>
                </a:solidFill>
                <a:latin typeface="Times New Roman" panose="02020603050405020304" pitchFamily="18" charset="0"/>
                <a:ea typeface="Times New Roman" panose="02020603050405020304" pitchFamily="18" charset="0"/>
              </a:rPr>
              <a:t>How does impedance appear in sequence components ?  </a:t>
            </a:r>
            <a:endParaRPr lang="en-GB" sz="1200" dirty="0">
              <a:latin typeface="Times New Roman" panose="02020603050405020304" pitchFamily="18" charset="0"/>
              <a:ea typeface="Times New Roman" panose="02020603050405020304" pitchFamily="18" charset="0"/>
            </a:endParaRPr>
          </a:p>
          <a:p>
            <a:pPr>
              <a:lnSpc>
                <a:spcPct val="110000"/>
              </a:lnSpc>
              <a:spcAft>
                <a:spcPts val="600"/>
              </a:spcAft>
              <a:tabLst>
                <a:tab pos="1194435" algn="l"/>
                <a:tab pos="1447800" algn="l"/>
              </a:tabLst>
            </a:pPr>
            <a:r>
              <a:rPr lang="en-GB" sz="1200" u="none" dirty="0">
                <a:solidFill>
                  <a:srgbClr val="002060"/>
                </a:solidFill>
                <a:latin typeface="Times New Roman" panose="02020603050405020304" pitchFamily="18" charset="0"/>
                <a:ea typeface="Times New Roman" panose="02020603050405020304" pitchFamily="18" charset="0"/>
              </a:rPr>
              <a:t>The phase voltage vector </a:t>
            </a:r>
            <a:r>
              <a:rPr lang="en-GB" sz="1200" u="sng" dirty="0" err="1">
                <a:solidFill>
                  <a:srgbClr val="002060"/>
                </a:solidFill>
                <a:latin typeface="Times New Roman" panose="02020603050405020304" pitchFamily="18" charset="0"/>
                <a:ea typeface="Times New Roman" panose="02020603050405020304" pitchFamily="18" charset="0"/>
              </a:rPr>
              <a:t>Vp</a:t>
            </a:r>
            <a:r>
              <a:rPr lang="en-GB" sz="1200" dirty="0">
                <a:solidFill>
                  <a:srgbClr val="002060"/>
                </a:solidFill>
                <a:latin typeface="Times New Roman" panose="02020603050405020304" pitchFamily="18" charset="0"/>
                <a:ea typeface="Times New Roman" panose="02020603050405020304" pitchFamily="18" charset="0"/>
              </a:rPr>
              <a:t> 	is related to the phase current vector Ip by the phase impedance matrix </a:t>
            </a:r>
            <a:r>
              <a:rPr lang="en-GB" sz="1200" dirty="0" err="1">
                <a:solidFill>
                  <a:srgbClr val="002060"/>
                </a:solidFill>
                <a:latin typeface="Times New Roman" panose="02020603050405020304" pitchFamily="18" charset="0"/>
                <a:ea typeface="Times New Roman" panose="02020603050405020304" pitchFamily="18" charset="0"/>
              </a:rPr>
              <a:t>Zp</a:t>
            </a:r>
            <a:r>
              <a:rPr lang="en-GB" sz="1200" dirty="0">
                <a:solidFill>
                  <a:srgbClr val="002060"/>
                </a:solidFill>
                <a:latin typeface="Times New Roman" panose="02020603050405020304" pitchFamily="18" charset="0"/>
                <a:ea typeface="Times New Roman" panose="02020603050405020304" pitchFamily="18" charset="0"/>
              </a:rPr>
              <a:t>.</a:t>
            </a:r>
            <a:endParaRPr lang="en-GB" sz="1200" dirty="0">
              <a:latin typeface="Times New Roman" panose="02020603050405020304" pitchFamily="18" charset="0"/>
              <a:ea typeface="Times New Roman" panose="02020603050405020304" pitchFamily="18" charset="0"/>
            </a:endParaRPr>
          </a:p>
          <a:p>
            <a:pPr algn="just">
              <a:lnSpc>
                <a:spcPct val="110000"/>
              </a:lnSpc>
              <a:tabLst>
                <a:tab pos="542925" algn="l"/>
                <a:tab pos="1194435" algn="l"/>
                <a:tab pos="1447800" algn="l"/>
              </a:tabLst>
            </a:pPr>
            <a:r>
              <a:rPr lang="en-GB" sz="1200" dirty="0">
                <a:solidFill>
                  <a:srgbClr val="002060"/>
                </a:solidFill>
                <a:latin typeface="Times New Roman" panose="02020603050405020304" pitchFamily="18" charset="0"/>
                <a:ea typeface="Times New Roman" panose="02020603050405020304" pitchFamily="18" charset="0"/>
              </a:rPr>
              <a:t>Substitution for </a:t>
            </a:r>
            <a:r>
              <a:rPr lang="en-GB" sz="1200" dirty="0" err="1">
                <a:solidFill>
                  <a:srgbClr val="002060"/>
                </a:solidFill>
                <a:latin typeface="Times New Roman" panose="02020603050405020304" pitchFamily="18" charset="0"/>
                <a:ea typeface="Times New Roman" panose="02020603050405020304" pitchFamily="18" charset="0"/>
              </a:rPr>
              <a:t>Vp</a:t>
            </a:r>
            <a:r>
              <a:rPr lang="en-GB" sz="1200" dirty="0">
                <a:solidFill>
                  <a:srgbClr val="002060"/>
                </a:solidFill>
                <a:latin typeface="Times New Roman" panose="02020603050405020304" pitchFamily="18" charset="0"/>
                <a:ea typeface="Times New Roman" panose="02020603050405020304" pitchFamily="18" charset="0"/>
              </a:rPr>
              <a:t> and Ip in terms of symmetrical component vectors Vs and Is gives lambda Vs equals </a:t>
            </a:r>
            <a:r>
              <a:rPr lang="en-GB" sz="1200" dirty="0" err="1">
                <a:solidFill>
                  <a:srgbClr val="002060"/>
                </a:solidFill>
                <a:latin typeface="Times New Roman" panose="02020603050405020304" pitchFamily="18" charset="0"/>
                <a:ea typeface="Times New Roman" panose="02020603050405020304" pitchFamily="18" charset="0"/>
              </a:rPr>
              <a:t>Zp</a:t>
            </a:r>
            <a:r>
              <a:rPr lang="en-GB" sz="1200" dirty="0">
                <a:solidFill>
                  <a:srgbClr val="002060"/>
                </a:solidFill>
                <a:latin typeface="Times New Roman" panose="02020603050405020304" pitchFamily="18" charset="0"/>
                <a:ea typeface="Times New Roman" panose="02020603050405020304" pitchFamily="18" charset="0"/>
              </a:rPr>
              <a:t> lambda Is</a:t>
            </a:r>
          </a:p>
          <a:p>
            <a:pPr algn="just">
              <a:lnSpc>
                <a:spcPct val="110000"/>
              </a:lnSpc>
              <a:spcAft>
                <a:spcPts val="600"/>
              </a:spcAft>
              <a:tabLst>
                <a:tab pos="542925" algn="l"/>
                <a:tab pos="1194435" algn="l"/>
                <a:tab pos="1447800" algn="l"/>
              </a:tabLst>
            </a:pPr>
            <a:r>
              <a:rPr lang="en-GB" sz="1200" dirty="0">
                <a:solidFill>
                  <a:srgbClr val="002060"/>
                </a:solidFill>
                <a:latin typeface="Times New Roman" panose="02020603050405020304" pitchFamily="18" charset="0"/>
                <a:ea typeface="Times New Roman" panose="02020603050405020304" pitchFamily="18" charset="0"/>
              </a:rPr>
              <a:t>pre-multiplying equation by lambda inverse gives Vs equals lambda inverse </a:t>
            </a:r>
            <a:r>
              <a:rPr lang="en-GB" sz="1200" dirty="0" err="1">
                <a:solidFill>
                  <a:srgbClr val="002060"/>
                </a:solidFill>
                <a:latin typeface="Times New Roman" panose="02020603050405020304" pitchFamily="18" charset="0"/>
                <a:ea typeface="Times New Roman" panose="02020603050405020304" pitchFamily="18" charset="0"/>
              </a:rPr>
              <a:t>Zp</a:t>
            </a:r>
            <a:r>
              <a:rPr lang="en-GB" sz="1200" dirty="0">
                <a:solidFill>
                  <a:srgbClr val="002060"/>
                </a:solidFill>
                <a:latin typeface="Times New Roman" panose="02020603050405020304" pitchFamily="18" charset="0"/>
                <a:ea typeface="Times New Roman" panose="02020603050405020304" pitchFamily="18" charset="0"/>
              </a:rPr>
              <a:t> lambda times Is.</a:t>
            </a:r>
          </a:p>
          <a:p>
            <a:pPr algn="just">
              <a:lnSpc>
                <a:spcPct val="110000"/>
              </a:lnSpc>
              <a:spcAft>
                <a:spcPts val="600"/>
              </a:spcAft>
              <a:tabLst>
                <a:tab pos="542925" algn="l"/>
                <a:tab pos="1194435" algn="l"/>
                <a:tab pos="1447800" algn="l"/>
              </a:tabLst>
            </a:pPr>
            <a:r>
              <a:rPr lang="en-GB" sz="1200" dirty="0">
                <a:solidFill>
                  <a:srgbClr val="002060"/>
                </a:solidFill>
                <a:latin typeface="Times New Roman" panose="02020603050405020304" pitchFamily="18" charset="0"/>
                <a:ea typeface="Times New Roman" panose="02020603050405020304" pitchFamily="18" charset="0"/>
              </a:rPr>
              <a:t>Meaningful grouping gives Vs = </a:t>
            </a:r>
            <a:r>
              <a:rPr lang="en-GB" sz="1200" dirty="0" err="1">
                <a:solidFill>
                  <a:srgbClr val="002060"/>
                </a:solidFill>
                <a:latin typeface="Times New Roman" panose="02020603050405020304" pitchFamily="18" charset="0"/>
                <a:ea typeface="Times New Roman" panose="02020603050405020304" pitchFamily="18" charset="0"/>
              </a:rPr>
              <a:t>Zs</a:t>
            </a:r>
            <a:r>
              <a:rPr lang="en-GB" sz="1200" dirty="0">
                <a:solidFill>
                  <a:srgbClr val="002060"/>
                </a:solidFill>
                <a:latin typeface="Times New Roman" panose="02020603050405020304" pitchFamily="18" charset="0"/>
                <a:ea typeface="Times New Roman" panose="02020603050405020304" pitchFamily="18" charset="0"/>
              </a:rPr>
              <a:t> time Is, where </a:t>
            </a:r>
            <a:r>
              <a:rPr lang="en-GB" sz="1200" dirty="0" err="1">
                <a:solidFill>
                  <a:srgbClr val="002060"/>
                </a:solidFill>
                <a:latin typeface="Times New Roman" panose="02020603050405020304" pitchFamily="18" charset="0"/>
                <a:ea typeface="Times New Roman" panose="02020603050405020304" pitchFamily="18" charset="0"/>
              </a:rPr>
              <a:t>Zs</a:t>
            </a:r>
            <a:r>
              <a:rPr lang="en-GB" sz="1200" dirty="0">
                <a:solidFill>
                  <a:srgbClr val="002060"/>
                </a:solidFill>
                <a:latin typeface="Times New Roman" panose="02020603050405020304" pitchFamily="18" charset="0"/>
                <a:ea typeface="Times New Roman" panose="02020603050405020304" pitchFamily="18" charset="0"/>
              </a:rPr>
              <a:t> equals lambda inverse </a:t>
            </a:r>
            <a:r>
              <a:rPr lang="en-GB" sz="1200" dirty="0" err="1">
                <a:solidFill>
                  <a:srgbClr val="002060"/>
                </a:solidFill>
                <a:latin typeface="Times New Roman" panose="02020603050405020304" pitchFamily="18" charset="0"/>
                <a:ea typeface="Times New Roman" panose="02020603050405020304" pitchFamily="18" charset="0"/>
              </a:rPr>
              <a:t>Zp</a:t>
            </a:r>
            <a:r>
              <a:rPr lang="en-GB" sz="1200" dirty="0">
                <a:solidFill>
                  <a:srgbClr val="002060"/>
                </a:solidFill>
                <a:latin typeface="Times New Roman" panose="02020603050405020304" pitchFamily="18" charset="0"/>
                <a:ea typeface="Times New Roman" panose="02020603050405020304" pitchFamily="18" charset="0"/>
              </a:rPr>
              <a:t> lambda</a:t>
            </a:r>
            <a:endParaRPr lang="en-GB" sz="1200" dirty="0">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2FC4AAFD-141F-4056-A367-1845A08BF131}" type="slidenum">
              <a:rPr lang="en-GB" smtClean="0"/>
              <a:t>49</a:t>
            </a:fld>
            <a:endParaRPr lang="en-GB"/>
          </a:p>
        </p:txBody>
      </p:sp>
    </p:spTree>
    <p:extLst>
      <p:ext uri="{BB962C8B-B14F-4D97-AF65-F5344CB8AC3E}">
        <p14:creationId xmlns:p14="http://schemas.microsoft.com/office/powerpoint/2010/main" val="5831062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replace one-third lambda conjugate for lambda invers, we get matrix </a:t>
            </a:r>
            <a:r>
              <a:rPr lang="en-US" dirty="0" err="1"/>
              <a:t>Zs</a:t>
            </a:r>
            <a:r>
              <a:rPr lang="en-US" dirty="0"/>
              <a:t> equals one-third lambda conjugate times </a:t>
            </a:r>
            <a:r>
              <a:rPr lang="en-US" dirty="0" err="1"/>
              <a:t>Zp</a:t>
            </a:r>
            <a:r>
              <a:rPr lang="en-US" dirty="0"/>
              <a:t> times lambda.</a:t>
            </a:r>
          </a:p>
          <a:p>
            <a:r>
              <a:rPr lang="en-GB" dirty="0"/>
              <a:t>In a similar manner, </a:t>
            </a:r>
            <a:r>
              <a:rPr lang="en-GB" dirty="0" err="1"/>
              <a:t>Zp</a:t>
            </a:r>
            <a:r>
              <a:rPr lang="en-GB" dirty="0"/>
              <a:t> can be </a:t>
            </a:r>
            <a:r>
              <a:rPr lang="en-GB" dirty="0" err="1"/>
              <a:t>caculated</a:t>
            </a:r>
            <a:r>
              <a:rPr lang="en-GB" dirty="0"/>
              <a:t> from one-third lambda times </a:t>
            </a:r>
            <a:r>
              <a:rPr lang="en-GB" dirty="0" err="1"/>
              <a:t>Zs</a:t>
            </a:r>
            <a:r>
              <a:rPr lang="en-GB" dirty="0"/>
              <a:t> times lambda conjugate</a:t>
            </a:r>
          </a:p>
          <a:p>
            <a:r>
              <a:rPr lang="en-GB" dirty="0"/>
              <a:t>Symmetrical component impedance can be shown to take the form of a diagonal matrix for symmetrical practical problems like the transmission line.</a:t>
            </a:r>
          </a:p>
          <a:p>
            <a:r>
              <a:rPr lang="en-GB" dirty="0"/>
              <a:t>In a transmission line, we can usually take the resistance of each phase to be the same, and to a great extent even the inductance of each phase can be taken to be the same.  Also, the three mutual inductances can be considered to be the same.</a:t>
            </a:r>
          </a:p>
        </p:txBody>
      </p:sp>
      <p:sp>
        <p:nvSpPr>
          <p:cNvPr id="4" name="Slide Number Placeholder 3"/>
          <p:cNvSpPr>
            <a:spLocks noGrp="1"/>
          </p:cNvSpPr>
          <p:nvPr>
            <p:ph type="sldNum" sz="quarter" idx="5"/>
          </p:nvPr>
        </p:nvSpPr>
        <p:spPr/>
        <p:txBody>
          <a:bodyPr/>
          <a:lstStyle/>
          <a:p>
            <a:fld id="{2FC4AAFD-141F-4056-A367-1845A08BF131}" type="slidenum">
              <a:rPr lang="en-GB" smtClean="0"/>
              <a:t>50</a:t>
            </a:fld>
            <a:endParaRPr lang="en-GB"/>
          </a:p>
        </p:txBody>
      </p:sp>
    </p:spTree>
    <p:extLst>
      <p:ext uri="{BB962C8B-B14F-4D97-AF65-F5344CB8AC3E}">
        <p14:creationId xmlns:p14="http://schemas.microsoft.com/office/powerpoint/2010/main" val="969638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Symmetrical component impedance can be shown to take the form of a diagonal matrix for symmetrical practical problems like the transmission line.</a:t>
            </a:r>
          </a:p>
          <a:p>
            <a:r>
              <a:rPr lang="en-GB" dirty="0"/>
              <a:t>In a transmission line, we can usually take the resistance of each phase to be the same, and to a great extent even the inductance of each phase can be taken to be the same.  Also, the three mutual inductances can be considered to be the same giving rise to a symmetrical, but full impedance matrix in phase components.</a:t>
            </a:r>
          </a:p>
        </p:txBody>
      </p:sp>
      <p:sp>
        <p:nvSpPr>
          <p:cNvPr id="4" name="Slide Number Placeholder 3"/>
          <p:cNvSpPr>
            <a:spLocks noGrp="1"/>
          </p:cNvSpPr>
          <p:nvPr>
            <p:ph type="sldNum" sz="quarter" idx="5"/>
          </p:nvPr>
        </p:nvSpPr>
        <p:spPr/>
        <p:txBody>
          <a:bodyPr/>
          <a:lstStyle/>
          <a:p>
            <a:fld id="{2FC4AAFD-141F-4056-A367-1845A08BF131}" type="slidenum">
              <a:rPr lang="en-GB" smtClean="0"/>
              <a:t>51</a:t>
            </a:fld>
            <a:endParaRPr lang="en-GB"/>
          </a:p>
        </p:txBody>
      </p:sp>
    </p:spTree>
    <p:extLst>
      <p:ext uri="{BB962C8B-B14F-4D97-AF65-F5344CB8AC3E}">
        <p14:creationId xmlns:p14="http://schemas.microsoft.com/office/powerpoint/2010/main" val="42799805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perfectly symmetrical phase component impedance matrix with diagonal terms (self term) equal to </a:t>
            </a:r>
            <a:r>
              <a:rPr lang="en-US" dirty="0" err="1"/>
              <a:t>Zs</a:t>
            </a:r>
            <a:r>
              <a:rPr lang="en-US" dirty="0"/>
              <a:t> and off diagonal terms (mutual terms) </a:t>
            </a:r>
            <a:r>
              <a:rPr lang="en-US" dirty="0" err="1"/>
              <a:t>Zm</a:t>
            </a:r>
            <a:r>
              <a:rPr lang="en-US" dirty="0"/>
              <a:t>, the symmetrical component matrix can be calculated as shown.</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52</a:t>
            </a:fld>
            <a:endParaRPr lang="en-GB"/>
          </a:p>
        </p:txBody>
      </p:sp>
    </p:spTree>
    <p:extLst>
      <p:ext uri="{BB962C8B-B14F-4D97-AF65-F5344CB8AC3E}">
        <p14:creationId xmlns:p14="http://schemas.microsoft.com/office/powerpoint/2010/main" val="4742807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properties of 1 plus alpha plus alpha squared equal to zero, the symmetrical component matrix for the transmission line works out to a diagonal matrix with diagonal terms Z0, Z1 and Z2.</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53</a:t>
            </a:fld>
            <a:endParaRPr lang="en-GB"/>
          </a:p>
        </p:txBody>
      </p:sp>
    </p:spTree>
    <p:extLst>
      <p:ext uri="{BB962C8B-B14F-4D97-AF65-F5344CB8AC3E}">
        <p14:creationId xmlns:p14="http://schemas.microsoft.com/office/powerpoint/2010/main" val="29299650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set of simultaneous equations are shown to illustrate that it is much easier to solve when the matrix becomes diagonal.</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54</a:t>
            </a:fld>
            <a:endParaRPr lang="en-GB"/>
          </a:p>
        </p:txBody>
      </p:sp>
    </p:spTree>
    <p:extLst>
      <p:ext uri="{BB962C8B-B14F-4D97-AF65-F5344CB8AC3E}">
        <p14:creationId xmlns:p14="http://schemas.microsoft.com/office/powerpoint/2010/main" val="33131292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consider the  Power associated with Sequence Components</a:t>
            </a: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With phase components, for single phase ac, </a:t>
            </a:r>
            <a:r>
              <a:rPr lang="en-GB" sz="1200" dirty="0" err="1">
                <a:solidFill>
                  <a:srgbClr val="002060"/>
                </a:solidFill>
                <a:latin typeface="Times New Roman" panose="02020603050405020304" pitchFamily="18" charset="0"/>
                <a:ea typeface="Times New Roman" panose="02020603050405020304" pitchFamily="18" charset="0"/>
              </a:rPr>
              <a:t>P</a:t>
            </a:r>
            <a:r>
              <a:rPr lang="en-GB" sz="1200" baseline="-25000" dirty="0" err="1">
                <a:solidFill>
                  <a:srgbClr val="002060"/>
                </a:solidFill>
                <a:latin typeface="Times New Roman" panose="02020603050405020304" pitchFamily="18" charset="0"/>
                <a:ea typeface="Times New Roman" panose="02020603050405020304" pitchFamily="18" charset="0"/>
              </a:rPr>
              <a:t>phase</a:t>
            </a:r>
            <a:r>
              <a:rPr lang="en-GB" sz="1200" dirty="0">
                <a:solidFill>
                  <a:srgbClr val="002060"/>
                </a:solidFill>
                <a:latin typeface="Times New Roman" panose="02020603050405020304" pitchFamily="18" charset="0"/>
                <a:ea typeface="Times New Roman" panose="02020603050405020304" pitchFamily="18" charset="0"/>
              </a:rPr>
              <a:t> = V I cos </a:t>
            </a:r>
            <a:r>
              <a:rPr lang="en-GB" sz="1200" dirty="0">
                <a:solidFill>
                  <a:srgbClr val="002060"/>
                </a:solidFill>
                <a:latin typeface="Symbol" panose="05050102010706020507" pitchFamily="18" charset="2"/>
                <a:ea typeface="Times New Roman" panose="02020603050405020304" pitchFamily="18" charset="0"/>
              </a:rPr>
              <a:t>phi  </a:t>
            </a:r>
            <a:r>
              <a:rPr lang="en-GB" sz="1200" dirty="0">
                <a:solidFill>
                  <a:srgbClr val="002060"/>
                </a:solidFill>
                <a:latin typeface="Times New Roman" panose="02020603050405020304" pitchFamily="18" charset="0"/>
                <a:ea typeface="Times New Roman" panose="02020603050405020304" pitchFamily="18" charset="0"/>
              </a:rPr>
              <a:t>   or     </a:t>
            </a:r>
            <a:r>
              <a:rPr lang="en-GB" sz="1200" dirty="0" err="1">
                <a:solidFill>
                  <a:srgbClr val="002060"/>
                </a:solidFill>
                <a:latin typeface="Times New Roman" panose="02020603050405020304" pitchFamily="18" charset="0"/>
                <a:ea typeface="Times New Roman" panose="02020603050405020304" pitchFamily="18" charset="0"/>
              </a:rPr>
              <a:t>S</a:t>
            </a:r>
            <a:r>
              <a:rPr lang="en-GB" sz="1200" baseline="-25000" dirty="0" err="1">
                <a:solidFill>
                  <a:srgbClr val="002060"/>
                </a:solidFill>
                <a:latin typeface="Times New Roman" panose="02020603050405020304" pitchFamily="18" charset="0"/>
                <a:ea typeface="Times New Roman" panose="02020603050405020304" pitchFamily="18" charset="0"/>
              </a:rPr>
              <a:t>phase</a:t>
            </a:r>
            <a:r>
              <a:rPr lang="en-GB" sz="1200" dirty="0">
                <a:solidFill>
                  <a:srgbClr val="002060"/>
                </a:solidFill>
                <a:latin typeface="Times New Roman" panose="02020603050405020304" pitchFamily="18" charset="0"/>
                <a:ea typeface="Times New Roman" panose="02020603050405020304" pitchFamily="18" charset="0"/>
              </a:rPr>
              <a:t> = </a:t>
            </a:r>
            <a:r>
              <a:rPr lang="en-GB" sz="1200" dirty="0" err="1">
                <a:solidFill>
                  <a:srgbClr val="002060"/>
                </a:solidFill>
                <a:latin typeface="Times New Roman" panose="02020603050405020304" pitchFamily="18" charset="0"/>
                <a:ea typeface="Times New Roman" panose="02020603050405020304" pitchFamily="18" charset="0"/>
              </a:rPr>
              <a:t>V</a:t>
            </a:r>
            <a:r>
              <a:rPr lang="en-GB" sz="1200" baseline="-25000" dirty="0" err="1">
                <a:solidFill>
                  <a:srgbClr val="002060"/>
                </a:solidFill>
                <a:latin typeface="Times New Roman" panose="02020603050405020304" pitchFamily="18" charset="0"/>
                <a:ea typeface="Times New Roman" panose="02020603050405020304" pitchFamily="18" charset="0"/>
              </a:rPr>
              <a:t>phase</a:t>
            </a:r>
            <a:r>
              <a:rPr lang="en-GB" sz="1200" dirty="0">
                <a:solidFill>
                  <a:srgbClr val="002060"/>
                </a:solidFill>
                <a:latin typeface="Times New Roman" panose="02020603050405020304" pitchFamily="18" charset="0"/>
                <a:ea typeface="Times New Roman" panose="02020603050405020304" pitchFamily="18" charset="0"/>
              </a:rPr>
              <a:t> I</a:t>
            </a:r>
            <a:r>
              <a:rPr lang="en-GB" sz="1200" baseline="30000" dirty="0">
                <a:solidFill>
                  <a:srgbClr val="002060"/>
                </a:solidFill>
                <a:latin typeface="Times New Roman" panose="02020603050405020304" pitchFamily="18" charset="0"/>
                <a:ea typeface="Times New Roman" panose="02020603050405020304" pitchFamily="18" charset="0"/>
              </a:rPr>
              <a:t>*</a:t>
            </a:r>
            <a:r>
              <a:rPr lang="en-GB" sz="1200" baseline="-25000" dirty="0">
                <a:solidFill>
                  <a:srgbClr val="002060"/>
                </a:solidFill>
                <a:latin typeface="Times New Roman" panose="02020603050405020304" pitchFamily="18" charset="0"/>
                <a:ea typeface="Times New Roman" panose="02020603050405020304" pitchFamily="18" charset="0"/>
              </a:rPr>
              <a:t>phase.</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And for a three phase balanced system </a:t>
            </a:r>
            <a:r>
              <a:rPr lang="en-GB" sz="1200" dirty="0">
                <a:solidFill>
                  <a:schemeClr val="tx1"/>
                </a:solidFill>
                <a:latin typeface="Times New Roman" panose="02020603050405020304" pitchFamily="18" charset="0"/>
                <a:ea typeface="Times New Roman" panose="02020603050405020304" pitchFamily="18" charset="0"/>
              </a:rPr>
              <a:t> </a:t>
            </a:r>
            <a:r>
              <a:rPr lang="en-GB" sz="1200" dirty="0">
                <a:solidFill>
                  <a:srgbClr val="002060"/>
                </a:solidFill>
                <a:latin typeface="Times New Roman" panose="02020603050405020304" pitchFamily="18" charset="0"/>
                <a:ea typeface="Times New Roman" panose="02020603050405020304" pitchFamily="18" charset="0"/>
              </a:rPr>
              <a:t>P = </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1200" dirty="0">
                <a:solidFill>
                  <a:srgbClr val="002060"/>
                </a:solidFill>
                <a:latin typeface="Times New Roman" panose="02020603050405020304" pitchFamily="18" charset="0"/>
                <a:ea typeface="Times New Roman" panose="02020603050405020304" pitchFamily="18" charset="0"/>
              </a:rPr>
              <a:t>3 </a:t>
            </a:r>
            <a:r>
              <a:rPr lang="en-GB" sz="1200" dirty="0" err="1">
                <a:solidFill>
                  <a:srgbClr val="002060"/>
                </a:solidFill>
                <a:latin typeface="Times New Roman" panose="02020603050405020304" pitchFamily="18" charset="0"/>
                <a:ea typeface="Times New Roman" panose="02020603050405020304" pitchFamily="18" charset="0"/>
              </a:rPr>
              <a:t>V</a:t>
            </a:r>
            <a:r>
              <a:rPr lang="en-GB" sz="1200" baseline="-25000" dirty="0" err="1">
                <a:solidFill>
                  <a:srgbClr val="002060"/>
                </a:solidFill>
                <a:latin typeface="Times New Roman" panose="02020603050405020304" pitchFamily="18" charset="0"/>
                <a:ea typeface="Times New Roman" panose="02020603050405020304" pitchFamily="18" charset="0"/>
              </a:rPr>
              <a:t>L</a:t>
            </a:r>
            <a:r>
              <a:rPr lang="en-GB" sz="1200" dirty="0">
                <a:solidFill>
                  <a:srgbClr val="002060"/>
                </a:solidFill>
                <a:latin typeface="Times New Roman" panose="02020603050405020304" pitchFamily="18" charset="0"/>
                <a:ea typeface="Times New Roman" panose="02020603050405020304" pitchFamily="18" charset="0"/>
              </a:rPr>
              <a:t> I</a:t>
            </a:r>
            <a:r>
              <a:rPr lang="en-GB" sz="1200" baseline="-25000" dirty="0">
                <a:solidFill>
                  <a:srgbClr val="002060"/>
                </a:solidFill>
                <a:latin typeface="Times New Roman" panose="02020603050405020304" pitchFamily="18" charset="0"/>
                <a:ea typeface="Times New Roman" panose="02020603050405020304" pitchFamily="18" charset="0"/>
              </a:rPr>
              <a:t>L</a:t>
            </a:r>
            <a:r>
              <a:rPr lang="en-GB" sz="1200" dirty="0">
                <a:solidFill>
                  <a:srgbClr val="002060"/>
                </a:solidFill>
                <a:latin typeface="Times New Roman" panose="02020603050405020304" pitchFamily="18" charset="0"/>
                <a:ea typeface="Times New Roman" panose="02020603050405020304" pitchFamily="18" charset="0"/>
              </a:rPr>
              <a:t> cos </a:t>
            </a:r>
            <a:r>
              <a:rPr lang="en-GB" sz="1200" dirty="0">
                <a:solidFill>
                  <a:srgbClr val="002060"/>
                </a:solidFill>
                <a:latin typeface="Symbol" panose="05050102010706020507" pitchFamily="18" charset="2"/>
                <a:ea typeface="Times New Roman" panose="02020603050405020304" pitchFamily="18" charset="0"/>
              </a:rPr>
              <a:t>phi</a:t>
            </a:r>
            <a:r>
              <a:rPr lang="en-GB" sz="1200" dirty="0">
                <a:solidFill>
                  <a:srgbClr val="002060"/>
                </a:solidFill>
                <a:latin typeface="Times New Roman" panose="02020603050405020304" pitchFamily="18" charset="0"/>
                <a:ea typeface="Times New Roman" panose="02020603050405020304" pitchFamily="18" charset="0"/>
              </a:rPr>
              <a:t>  = 3 </a:t>
            </a:r>
            <a:r>
              <a:rPr lang="en-GB" sz="1200" dirty="0" err="1">
                <a:solidFill>
                  <a:srgbClr val="002060"/>
                </a:solidFill>
                <a:latin typeface="Times New Roman" panose="02020603050405020304" pitchFamily="18" charset="0"/>
                <a:ea typeface="Times New Roman" panose="02020603050405020304" pitchFamily="18" charset="0"/>
              </a:rPr>
              <a:t>V</a:t>
            </a:r>
            <a:r>
              <a:rPr lang="en-GB" sz="1200" baseline="-25000" dirty="0" err="1">
                <a:solidFill>
                  <a:srgbClr val="002060"/>
                </a:solidFill>
                <a:latin typeface="Times New Roman" panose="02020603050405020304" pitchFamily="18" charset="0"/>
                <a:ea typeface="Times New Roman" panose="02020603050405020304" pitchFamily="18" charset="0"/>
              </a:rPr>
              <a:t>p</a:t>
            </a:r>
            <a:r>
              <a:rPr lang="en-GB" sz="1200" dirty="0">
                <a:solidFill>
                  <a:srgbClr val="002060"/>
                </a:solidFill>
                <a:latin typeface="Times New Roman" panose="02020603050405020304" pitchFamily="18" charset="0"/>
                <a:ea typeface="Times New Roman" panose="02020603050405020304" pitchFamily="18" charset="0"/>
              </a:rPr>
              <a:t> I</a:t>
            </a:r>
            <a:r>
              <a:rPr lang="en-GB" sz="1200" baseline="-25000" dirty="0">
                <a:solidFill>
                  <a:srgbClr val="002060"/>
                </a:solidFill>
                <a:latin typeface="Times New Roman" panose="02020603050405020304" pitchFamily="18" charset="0"/>
                <a:ea typeface="Times New Roman" panose="02020603050405020304" pitchFamily="18" charset="0"/>
              </a:rPr>
              <a:t>p</a:t>
            </a:r>
            <a:r>
              <a:rPr lang="en-GB" sz="1200" dirty="0">
                <a:solidFill>
                  <a:srgbClr val="002060"/>
                </a:solidFill>
                <a:latin typeface="Times New Roman" panose="02020603050405020304" pitchFamily="18" charset="0"/>
                <a:ea typeface="Times New Roman" panose="02020603050405020304" pitchFamily="18" charset="0"/>
              </a:rPr>
              <a:t> cos </a:t>
            </a:r>
            <a:r>
              <a:rPr lang="en-GB" sz="1200" dirty="0">
                <a:solidFill>
                  <a:srgbClr val="002060"/>
                </a:solidFill>
                <a:latin typeface="Symbol" panose="05050102010706020507" pitchFamily="18" charset="2"/>
                <a:ea typeface="Times New Roman" panose="02020603050405020304" pitchFamily="18" charset="0"/>
              </a:rPr>
              <a:t>phi</a:t>
            </a:r>
            <a:r>
              <a:rPr lang="en-GB" sz="1200" dirty="0">
                <a:solidFill>
                  <a:srgbClr val="002060"/>
                </a:solidFill>
                <a:latin typeface="Times New Roman" panose="02020603050405020304" pitchFamily="18" charset="0"/>
                <a:ea typeface="Times New Roman" panose="02020603050405020304" pitchFamily="18" charset="0"/>
              </a:rPr>
              <a:t> </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However, for an unbalanced three phase system S = </a:t>
            </a:r>
            <a:r>
              <a:rPr lang="en-GB" sz="1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sigma</a:t>
            </a:r>
            <a:r>
              <a:rPr lang="en-GB" sz="1200" dirty="0">
                <a:solidFill>
                  <a:srgbClr val="002060"/>
                </a:solidFill>
                <a:latin typeface="Times New Roman" panose="02020603050405020304" pitchFamily="18" charset="0"/>
                <a:ea typeface="Times New Roman" panose="02020603050405020304" pitchFamily="18" charset="0"/>
              </a:rPr>
              <a:t> </a:t>
            </a:r>
            <a:r>
              <a:rPr lang="en-GB" sz="1200" dirty="0" err="1">
                <a:solidFill>
                  <a:srgbClr val="002060"/>
                </a:solidFill>
                <a:latin typeface="Times New Roman" panose="02020603050405020304" pitchFamily="18" charset="0"/>
                <a:ea typeface="Times New Roman" panose="02020603050405020304" pitchFamily="18" charset="0"/>
              </a:rPr>
              <a:t>V</a:t>
            </a:r>
            <a:r>
              <a:rPr lang="en-GB" sz="1200" baseline="-25000" dirty="0" err="1">
                <a:solidFill>
                  <a:srgbClr val="002060"/>
                </a:solidFill>
                <a:latin typeface="Times New Roman" panose="02020603050405020304" pitchFamily="18" charset="0"/>
                <a:ea typeface="Times New Roman" panose="02020603050405020304" pitchFamily="18" charset="0"/>
              </a:rPr>
              <a:t>phase</a:t>
            </a:r>
            <a:r>
              <a:rPr lang="en-GB" sz="1200" dirty="0">
                <a:solidFill>
                  <a:srgbClr val="002060"/>
                </a:solidFill>
                <a:latin typeface="Times New Roman" panose="02020603050405020304" pitchFamily="18" charset="0"/>
                <a:ea typeface="Times New Roman" panose="02020603050405020304" pitchFamily="18" charset="0"/>
              </a:rPr>
              <a:t> I</a:t>
            </a:r>
            <a:r>
              <a:rPr lang="en-GB" sz="1200" baseline="30000" dirty="0">
                <a:solidFill>
                  <a:srgbClr val="002060"/>
                </a:solidFill>
                <a:latin typeface="Times New Roman" panose="02020603050405020304" pitchFamily="18" charset="0"/>
                <a:ea typeface="Times New Roman" panose="02020603050405020304" pitchFamily="18" charset="0"/>
              </a:rPr>
              <a:t>*</a:t>
            </a:r>
            <a:r>
              <a:rPr lang="en-GB" sz="1200" baseline="-25000" dirty="0">
                <a:solidFill>
                  <a:srgbClr val="002060"/>
                </a:solidFill>
                <a:latin typeface="Times New Roman" panose="02020603050405020304" pitchFamily="18" charset="0"/>
                <a:ea typeface="Times New Roman" panose="02020603050405020304" pitchFamily="18" charset="0"/>
              </a:rPr>
              <a:t>phase</a:t>
            </a:r>
            <a:r>
              <a:rPr lang="en-GB" sz="1200" baseline="0" dirty="0">
                <a:solidFill>
                  <a:srgbClr val="002060"/>
                </a:solidFill>
                <a:latin typeface="Times New Roman" panose="02020603050405020304" pitchFamily="18" charset="0"/>
                <a:ea typeface="Times New Roman" panose="02020603050405020304" pitchFamily="18" charset="0"/>
              </a:rPr>
              <a:t> giving</a:t>
            </a:r>
            <a:endParaRPr lang="en-GB" sz="1200" baseline="0" dirty="0">
              <a:solidFill>
                <a:schemeClr val="tx1"/>
              </a:solidFill>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S = </a:t>
            </a:r>
            <a:r>
              <a:rPr lang="en-GB" sz="1200" dirty="0" err="1">
                <a:solidFill>
                  <a:srgbClr val="002060"/>
                </a:solidFill>
                <a:latin typeface="Times New Roman" panose="02020603050405020304" pitchFamily="18" charset="0"/>
                <a:ea typeface="Times New Roman" panose="02020603050405020304" pitchFamily="18" charset="0"/>
              </a:rPr>
              <a:t>V</a:t>
            </a:r>
            <a:r>
              <a:rPr lang="en-GB" sz="1200" baseline="-25000" dirty="0" err="1">
                <a:solidFill>
                  <a:srgbClr val="002060"/>
                </a:solidFill>
                <a:latin typeface="Times New Roman" panose="02020603050405020304" pitchFamily="18" charset="0"/>
                <a:ea typeface="Times New Roman" panose="02020603050405020304" pitchFamily="18" charset="0"/>
              </a:rPr>
              <a:t>a</a:t>
            </a:r>
            <a:r>
              <a:rPr lang="en-GB" sz="1200" dirty="0">
                <a:solidFill>
                  <a:srgbClr val="002060"/>
                </a:solidFill>
                <a:latin typeface="Times New Roman" panose="02020603050405020304" pitchFamily="18" charset="0"/>
                <a:ea typeface="Times New Roman" panose="02020603050405020304" pitchFamily="18" charset="0"/>
              </a:rPr>
              <a:t> </a:t>
            </a:r>
            <a:r>
              <a:rPr lang="en-GB" sz="1200" dirty="0" err="1">
                <a:solidFill>
                  <a:srgbClr val="002060"/>
                </a:solidFill>
                <a:latin typeface="Times New Roman" panose="02020603050405020304" pitchFamily="18" charset="0"/>
                <a:ea typeface="Times New Roman" panose="02020603050405020304" pitchFamily="18" charset="0"/>
              </a:rPr>
              <a:t>I</a:t>
            </a:r>
            <a:r>
              <a:rPr lang="en-GB" sz="1200" baseline="-25000" dirty="0" err="1">
                <a:solidFill>
                  <a:srgbClr val="002060"/>
                </a:solidFill>
                <a:latin typeface="Times New Roman" panose="02020603050405020304" pitchFamily="18" charset="0"/>
                <a:ea typeface="Times New Roman" panose="02020603050405020304" pitchFamily="18" charset="0"/>
              </a:rPr>
              <a:t>a</a:t>
            </a:r>
            <a:r>
              <a:rPr lang="en-GB" sz="1200" baseline="30000" dirty="0">
                <a:solidFill>
                  <a:srgbClr val="002060"/>
                </a:solidFill>
                <a:latin typeface="Times New Roman" panose="02020603050405020304" pitchFamily="18" charset="0"/>
                <a:ea typeface="Times New Roman" panose="02020603050405020304" pitchFamily="18" charset="0"/>
              </a:rPr>
              <a:t>*</a:t>
            </a:r>
            <a:r>
              <a:rPr lang="en-GB" sz="1200" dirty="0">
                <a:solidFill>
                  <a:srgbClr val="002060"/>
                </a:solidFill>
                <a:latin typeface="Times New Roman" panose="02020603050405020304" pitchFamily="18" charset="0"/>
                <a:ea typeface="Times New Roman" panose="02020603050405020304" pitchFamily="18" charset="0"/>
              </a:rPr>
              <a:t> + </a:t>
            </a:r>
            <a:r>
              <a:rPr lang="en-GB" sz="1200" dirty="0" err="1">
                <a:solidFill>
                  <a:srgbClr val="002060"/>
                </a:solidFill>
                <a:latin typeface="Times New Roman" panose="02020603050405020304" pitchFamily="18" charset="0"/>
                <a:ea typeface="Times New Roman" panose="02020603050405020304" pitchFamily="18" charset="0"/>
              </a:rPr>
              <a:t>V</a:t>
            </a:r>
            <a:r>
              <a:rPr lang="en-GB" sz="1200" baseline="-25000" dirty="0" err="1">
                <a:solidFill>
                  <a:srgbClr val="002060"/>
                </a:solidFill>
                <a:latin typeface="Times New Roman" panose="02020603050405020304" pitchFamily="18" charset="0"/>
                <a:ea typeface="Times New Roman" panose="02020603050405020304" pitchFamily="18" charset="0"/>
              </a:rPr>
              <a:t>b</a:t>
            </a:r>
            <a:r>
              <a:rPr lang="en-GB" sz="1200" dirty="0">
                <a:solidFill>
                  <a:srgbClr val="002060"/>
                </a:solidFill>
                <a:latin typeface="Times New Roman" panose="02020603050405020304" pitchFamily="18" charset="0"/>
                <a:ea typeface="Times New Roman" panose="02020603050405020304" pitchFamily="18" charset="0"/>
              </a:rPr>
              <a:t> </a:t>
            </a:r>
            <a:r>
              <a:rPr lang="en-GB" sz="1200" dirty="0" err="1">
                <a:solidFill>
                  <a:srgbClr val="002060"/>
                </a:solidFill>
                <a:latin typeface="Times New Roman" panose="02020603050405020304" pitchFamily="18" charset="0"/>
                <a:ea typeface="Times New Roman" panose="02020603050405020304" pitchFamily="18" charset="0"/>
              </a:rPr>
              <a:t>I</a:t>
            </a:r>
            <a:r>
              <a:rPr lang="en-GB" sz="1200" baseline="-25000" dirty="0" err="1">
                <a:solidFill>
                  <a:srgbClr val="002060"/>
                </a:solidFill>
                <a:latin typeface="Times New Roman" panose="02020603050405020304" pitchFamily="18" charset="0"/>
                <a:ea typeface="Times New Roman" panose="02020603050405020304" pitchFamily="18" charset="0"/>
              </a:rPr>
              <a:t>b</a:t>
            </a:r>
            <a:r>
              <a:rPr lang="en-GB" sz="1200" baseline="30000" dirty="0">
                <a:solidFill>
                  <a:srgbClr val="002060"/>
                </a:solidFill>
                <a:latin typeface="Times New Roman" panose="02020603050405020304" pitchFamily="18" charset="0"/>
                <a:ea typeface="Times New Roman" panose="02020603050405020304" pitchFamily="18" charset="0"/>
              </a:rPr>
              <a:t>*</a:t>
            </a:r>
            <a:r>
              <a:rPr lang="en-GB" sz="1200" dirty="0">
                <a:solidFill>
                  <a:srgbClr val="002060"/>
                </a:solidFill>
                <a:latin typeface="Times New Roman" panose="02020603050405020304" pitchFamily="18" charset="0"/>
                <a:ea typeface="Times New Roman" panose="02020603050405020304" pitchFamily="18" charset="0"/>
              </a:rPr>
              <a:t> + </a:t>
            </a:r>
            <a:r>
              <a:rPr lang="en-GB" sz="1200" dirty="0" err="1">
                <a:solidFill>
                  <a:srgbClr val="002060"/>
                </a:solidFill>
                <a:latin typeface="Times New Roman" panose="02020603050405020304" pitchFamily="18" charset="0"/>
                <a:ea typeface="Times New Roman" panose="02020603050405020304" pitchFamily="18" charset="0"/>
              </a:rPr>
              <a:t>V</a:t>
            </a:r>
            <a:r>
              <a:rPr lang="en-GB" sz="1200" baseline="-25000" dirty="0" err="1">
                <a:solidFill>
                  <a:srgbClr val="002060"/>
                </a:solidFill>
                <a:latin typeface="Times New Roman" panose="02020603050405020304" pitchFamily="18" charset="0"/>
                <a:ea typeface="Times New Roman" panose="02020603050405020304" pitchFamily="18" charset="0"/>
              </a:rPr>
              <a:t>c</a:t>
            </a:r>
            <a:r>
              <a:rPr lang="en-GB" sz="1200" dirty="0">
                <a:solidFill>
                  <a:srgbClr val="002060"/>
                </a:solidFill>
                <a:latin typeface="Times New Roman" panose="02020603050405020304" pitchFamily="18" charset="0"/>
                <a:ea typeface="Times New Roman" panose="02020603050405020304" pitchFamily="18" charset="0"/>
              </a:rPr>
              <a:t> </a:t>
            </a:r>
            <a:r>
              <a:rPr lang="en-GB" sz="1200" dirty="0" err="1">
                <a:solidFill>
                  <a:srgbClr val="002060"/>
                </a:solidFill>
                <a:latin typeface="Times New Roman" panose="02020603050405020304" pitchFamily="18" charset="0"/>
                <a:ea typeface="Times New Roman" panose="02020603050405020304" pitchFamily="18" charset="0"/>
              </a:rPr>
              <a:t>I</a:t>
            </a:r>
            <a:r>
              <a:rPr lang="en-GB" sz="1200" baseline="-25000" dirty="0" err="1">
                <a:solidFill>
                  <a:srgbClr val="002060"/>
                </a:solidFill>
                <a:latin typeface="Times New Roman" panose="02020603050405020304" pitchFamily="18" charset="0"/>
                <a:ea typeface="Times New Roman" panose="02020603050405020304" pitchFamily="18" charset="0"/>
              </a:rPr>
              <a:t>c</a:t>
            </a:r>
            <a:r>
              <a:rPr lang="en-GB" sz="1200" baseline="30000" dirty="0">
                <a:solidFill>
                  <a:srgbClr val="002060"/>
                </a:solidFill>
                <a:latin typeface="Times New Roman" panose="02020603050405020304" pitchFamily="18" charset="0"/>
                <a:ea typeface="Times New Roman" panose="02020603050405020304" pitchFamily="18" charset="0"/>
              </a:rPr>
              <a:t>*</a:t>
            </a:r>
            <a:r>
              <a:rPr lang="en-GB" sz="1200" dirty="0">
                <a:solidFill>
                  <a:srgbClr val="002060"/>
                </a:solidFill>
                <a:latin typeface="Times New Roman" panose="02020603050405020304" pitchFamily="18" charset="0"/>
                <a:ea typeface="Times New Roman" panose="02020603050405020304" pitchFamily="18" charset="0"/>
              </a:rPr>
              <a:t> </a:t>
            </a:r>
            <a:endParaRPr lang="en-GB" sz="1200" dirty="0">
              <a:latin typeface="Times New Roman" panose="02020603050405020304" pitchFamily="18" charset="0"/>
              <a:ea typeface="Times New Roman" panose="02020603050405020304" pitchFamily="18" charset="0"/>
            </a:endParaRPr>
          </a:p>
          <a:p>
            <a:pPr algn="just">
              <a:spcAft>
                <a:spcPts val="600"/>
              </a:spcAft>
            </a:pPr>
            <a:r>
              <a:rPr lang="en-GB" sz="1200" dirty="0">
                <a:solidFill>
                  <a:srgbClr val="002060"/>
                </a:solidFill>
                <a:latin typeface="Times New Roman" panose="02020603050405020304" pitchFamily="18" charset="0"/>
                <a:ea typeface="Times New Roman" panose="02020603050405020304" pitchFamily="18" charset="0"/>
              </a:rPr>
              <a:t>Active power P is obtained as the Real part of the complex variable S.</a:t>
            </a:r>
            <a:endParaRPr lang="en-GB" sz="12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2FC4AAFD-141F-4056-A367-1845A08BF131}" type="slidenum">
              <a:rPr lang="en-GB" smtClean="0"/>
              <a:t>55</a:t>
            </a:fld>
            <a:endParaRPr lang="en-GB"/>
          </a:p>
        </p:txBody>
      </p:sp>
    </p:spTree>
    <p:extLst>
      <p:ext uri="{BB962C8B-B14F-4D97-AF65-F5344CB8AC3E}">
        <p14:creationId xmlns:p14="http://schemas.microsoft.com/office/powerpoint/2010/main" val="38136468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0" fontAlgn="base" latinLnBrk="0" hangingPunct="0">
              <a:lnSpc>
                <a:spcPct val="110000"/>
              </a:lnSpc>
              <a:spcBef>
                <a:spcPct val="0"/>
              </a:spcBef>
              <a:spcAft>
                <a:spcPct val="0"/>
              </a:spcAft>
              <a:buClrTx/>
              <a:buSzTx/>
              <a:buFontTx/>
              <a:buNone/>
              <a:tabLst/>
            </a:pPr>
            <a:r>
              <a:rPr lang="en-US" dirty="0"/>
              <a:t>Mathematical manipulation yields the result </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  = 3 (V</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a1</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a1</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a2</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a2</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endParaRPr kumimoji="0" lang="en-GB" altLang="en-US" sz="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Result is as expected, as there are 3 phases in each of sequence components taking the same power. </a:t>
            </a:r>
            <a:endParaRPr kumimoji="0" lang="en-GB" altLang="en-US" sz="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11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 = 3(V</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cos </a:t>
            </a:r>
            <a:r>
              <a:rPr kumimoji="0" lang="en-GB" altLang="en-US" sz="1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phi</a:t>
            </a:r>
            <a:r>
              <a:rPr kumimoji="0" lang="en-GB" altLang="en-US" sz="1200" b="0" i="0" u="none" strike="noStrike" cap="none" normalizeH="0" baseline="-30000" dirty="0">
                <a:ln>
                  <a:noFill/>
                </a:ln>
                <a:solidFill>
                  <a:srgbClr val="002060"/>
                </a:solidFill>
                <a:effectLst/>
                <a:ea typeface="Times New Roman" panose="02020603050405020304" pitchFamily="18" charset="0"/>
              </a:rPr>
              <a:t>0</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a1</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a1</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cos </a:t>
            </a:r>
            <a:r>
              <a:rPr kumimoji="0" lang="en-GB" altLang="en-US" sz="1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phi</a:t>
            </a:r>
            <a:r>
              <a:rPr kumimoji="0" lang="en-GB" altLang="en-US" sz="1200" b="0" i="0" u="none" strike="noStrike" cap="none" normalizeH="0" baseline="-30000" dirty="0">
                <a:ln>
                  <a:noFill/>
                </a:ln>
                <a:solidFill>
                  <a:srgbClr val="002060"/>
                </a:solidFill>
                <a:effectLst/>
                <a:ea typeface="Times New Roman" panose="02020603050405020304" pitchFamily="18" charset="0"/>
              </a:rPr>
              <a:t>1</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1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a2</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1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cos </a:t>
            </a:r>
            <a:r>
              <a:rPr kumimoji="0" lang="en-GB" altLang="en-US" sz="1200" b="0" i="0" u="none" strike="noStrike" cap="none" normalizeH="0" baseline="0">
                <a:ln>
                  <a:noFill/>
                </a:ln>
                <a:solidFill>
                  <a:srgbClr val="002060"/>
                </a:solidFill>
                <a:effectLst/>
                <a:latin typeface="Symbol" panose="05050102010706020507" pitchFamily="18" charset="2"/>
                <a:ea typeface="Times New Roman" panose="02020603050405020304" pitchFamily="18" charset="0"/>
              </a:rPr>
              <a:t>phi</a:t>
            </a:r>
            <a:r>
              <a:rPr kumimoji="0" lang="en-GB" altLang="en-US" sz="1200" b="0" i="0" u="none" strike="noStrike" cap="none" normalizeH="0" baseline="-30000">
                <a:ln>
                  <a:noFill/>
                </a:ln>
                <a:solidFill>
                  <a:srgbClr val="002060"/>
                </a:solidFill>
                <a:effectLst/>
                <a:ea typeface="Times New Roman" panose="02020603050405020304" pitchFamily="18" charset="0"/>
              </a:rPr>
              <a:t>2</a:t>
            </a:r>
            <a:r>
              <a:rPr kumimoji="0" lang="en-GB" altLang="en-US" sz="1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endParaRPr lang="en-GB" dirty="0"/>
          </a:p>
        </p:txBody>
      </p:sp>
      <p:sp>
        <p:nvSpPr>
          <p:cNvPr id="4" name="Slide Number Placeholder 3"/>
          <p:cNvSpPr>
            <a:spLocks noGrp="1"/>
          </p:cNvSpPr>
          <p:nvPr>
            <p:ph type="sldNum" sz="quarter" idx="5"/>
          </p:nvPr>
        </p:nvSpPr>
        <p:spPr/>
        <p:txBody>
          <a:bodyPr/>
          <a:lstStyle/>
          <a:p>
            <a:fld id="{2FC4AAFD-141F-4056-A367-1845A08BF131}" type="slidenum">
              <a:rPr lang="en-GB" smtClean="0"/>
              <a:t>56</a:t>
            </a:fld>
            <a:endParaRPr lang="en-GB"/>
          </a:p>
        </p:txBody>
      </p:sp>
    </p:spTree>
    <p:extLst>
      <p:ext uri="{BB962C8B-B14F-4D97-AF65-F5344CB8AC3E}">
        <p14:creationId xmlns:p14="http://schemas.microsoft.com/office/powerpoint/2010/main" val="3505578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88DE-CD73-4994-BB42-9A633DA0AB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D8D3E0B-20EC-4D0C-BDEC-5F64CC445C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30574F8-A3DB-48D2-9728-3D6E3664C354}"/>
              </a:ext>
            </a:extLst>
          </p:cNvPr>
          <p:cNvSpPr>
            <a:spLocks noGrp="1"/>
          </p:cNvSpPr>
          <p:nvPr>
            <p:ph type="dt" sz="half" idx="10"/>
          </p:nvPr>
        </p:nvSpPr>
        <p:spPr/>
        <p:txBody>
          <a:bodyPr/>
          <a:lstStyle/>
          <a:p>
            <a:fld id="{63DC8808-64BE-459B-935E-D1C096534883}" type="datetimeFigureOut">
              <a:rPr lang="en-GB" smtClean="0"/>
              <a:t>14/10/2020</a:t>
            </a:fld>
            <a:endParaRPr lang="en-GB"/>
          </a:p>
        </p:txBody>
      </p:sp>
      <p:sp>
        <p:nvSpPr>
          <p:cNvPr id="5" name="Footer Placeholder 4">
            <a:extLst>
              <a:ext uri="{FF2B5EF4-FFF2-40B4-BE49-F238E27FC236}">
                <a16:creationId xmlns:a16="http://schemas.microsoft.com/office/drawing/2014/main" id="{93EC6304-CDC6-49A6-B285-393CB01859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CA9079-5455-4256-A07C-9493AC33F466}"/>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606975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F90CB-4690-4A91-8AF9-083DC561B09F}"/>
              </a:ext>
            </a:extLst>
          </p:cNvPr>
          <p:cNvSpPr>
            <a:spLocks noGrp="1"/>
          </p:cNvSpPr>
          <p:nvPr>
            <p:ph type="title"/>
          </p:nvPr>
        </p:nvSpPr>
        <p:spPr>
          <a:xfrm>
            <a:off x="429715" y="634543"/>
            <a:ext cx="10924085" cy="482745"/>
          </a:xfrm>
        </p:spPr>
        <p:txBody>
          <a:bodyPr>
            <a:normAutofit/>
          </a:bodyPr>
          <a:lstStyle>
            <a:lvl1pPr algn="ctr">
              <a:defRPr sz="3200" b="1">
                <a:solidFill>
                  <a:srgbClr val="C00000"/>
                </a:solidFill>
                <a:latin typeface="Times New Roman" panose="02020603050405020304" pitchFamily="18" charset="0"/>
                <a:cs typeface="Times New Roman" panose="02020603050405020304" pitchFamily="18"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40584F62-959D-4731-9C9B-E08757CDB6EE}"/>
              </a:ext>
            </a:extLst>
          </p:cNvPr>
          <p:cNvSpPr>
            <a:spLocks noGrp="1"/>
          </p:cNvSpPr>
          <p:nvPr>
            <p:ph idx="1"/>
          </p:nvPr>
        </p:nvSpPr>
        <p:spPr>
          <a:xfrm>
            <a:off x="429715" y="1208323"/>
            <a:ext cx="11360503" cy="4024078"/>
          </a:xfrm>
        </p:spPr>
        <p:txBody>
          <a:bodyPr>
            <a:normAutofit/>
          </a:bodyPr>
          <a:lstStyle>
            <a:lvl1pPr>
              <a:defRPr sz="3600">
                <a:solidFill>
                  <a:srgbClr val="002060"/>
                </a:solidFill>
              </a:defRPr>
            </a:lvl1pPr>
            <a:lvl2pPr>
              <a:defRPr sz="3200">
                <a:solidFill>
                  <a:srgbClr val="002060"/>
                </a:solidFill>
              </a:defRPr>
            </a:lvl2pPr>
            <a:lvl3pPr>
              <a:defRPr sz="2800">
                <a:solidFill>
                  <a:srgbClr val="002060"/>
                </a:solidFill>
              </a:defRPr>
            </a:lvl3pPr>
            <a:lvl4pPr>
              <a:defRPr sz="2400">
                <a:solidFill>
                  <a:srgbClr val="002060"/>
                </a:solidFill>
              </a:defRPr>
            </a:lvl4pPr>
            <a:lvl5pPr>
              <a:defRPr sz="2400">
                <a:solidFill>
                  <a:srgbClr val="002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object 2">
            <a:extLst>
              <a:ext uri="{FF2B5EF4-FFF2-40B4-BE49-F238E27FC236}">
                <a16:creationId xmlns:a16="http://schemas.microsoft.com/office/drawing/2014/main" id="{B1DDA2E2-A596-4428-8BCB-4DAC8028B274}"/>
              </a:ext>
            </a:extLst>
          </p:cNvPr>
          <p:cNvSpPr txBox="1"/>
          <p:nvPr userDrawn="1"/>
        </p:nvSpPr>
        <p:spPr>
          <a:xfrm>
            <a:off x="566702" y="313267"/>
            <a:ext cx="8989252" cy="230242"/>
          </a:xfrm>
          <a:prstGeom prst="rect">
            <a:avLst/>
          </a:prstGeom>
        </p:spPr>
        <p:txBody>
          <a:bodyPr vert="horz" wrap="square" lIns="0" tIns="11289" rIns="0" bIns="0" rtlCol="0">
            <a:spAutoFit/>
          </a:bodyPr>
          <a:lstStyle/>
          <a:p>
            <a:pPr marL="11289" marR="0" lvl="0" indent="0" algn="l" defTabSz="914400" rtl="0" eaLnBrk="1" fontAlgn="auto" latinLnBrk="0" hangingPunct="1">
              <a:lnSpc>
                <a:spcPct val="100000"/>
              </a:lnSpc>
              <a:spcBef>
                <a:spcPts val="89"/>
              </a:spcBef>
              <a:spcAft>
                <a:spcPts val="0"/>
              </a:spcAft>
              <a:buClrTx/>
              <a:buSzTx/>
              <a:buFontTx/>
              <a:buNone/>
              <a:tabLst>
                <a:tab pos="4765664" algn="l"/>
              </a:tabLst>
              <a:defRPr/>
            </a:pPr>
            <a:r>
              <a:rPr kumimoji="0" sz="1422" b="0" i="0" u="none" strike="noStrike" kern="1200" cap="none" spc="-4" normalizeH="0" baseline="0" noProof="0" dirty="0">
                <a:ln>
                  <a:noFill/>
                </a:ln>
                <a:solidFill>
                  <a:prstClr val="black"/>
                </a:solidFill>
                <a:effectLst/>
                <a:uLnTx/>
                <a:uFillTx/>
                <a:latin typeface="Arial"/>
                <a:ea typeface="+mn-ea"/>
                <a:cs typeface="Arial"/>
              </a:rPr>
              <a:t>EE </a:t>
            </a:r>
            <a:r>
              <a:rPr kumimoji="0" sz="1422" b="0" i="0" u="none" strike="noStrike" kern="1200" cap="none" spc="-9" normalizeH="0" baseline="0" noProof="0" dirty="0">
                <a:ln>
                  <a:noFill/>
                </a:ln>
                <a:solidFill>
                  <a:prstClr val="black"/>
                </a:solidFill>
                <a:effectLst/>
                <a:uLnTx/>
                <a:uFillTx/>
                <a:latin typeface="Arial"/>
                <a:ea typeface="+mn-ea"/>
                <a:cs typeface="Arial"/>
              </a:rPr>
              <a:t>1</a:t>
            </a:r>
            <a:r>
              <a:rPr kumimoji="0" lang="en-US" sz="1422" b="0" i="0" u="none" strike="noStrike" kern="1200" cap="none" spc="-9" normalizeH="0" baseline="0" noProof="0" dirty="0">
                <a:ln>
                  <a:noFill/>
                </a:ln>
                <a:solidFill>
                  <a:prstClr val="black"/>
                </a:solidFill>
                <a:effectLst/>
                <a:uLnTx/>
                <a:uFillTx/>
                <a:latin typeface="Arial"/>
                <a:ea typeface="+mn-ea"/>
                <a:cs typeface="Arial"/>
              </a:rPr>
              <a:t>203Theory of Electricity</a:t>
            </a:r>
            <a:r>
              <a:rPr kumimoji="0" sz="1422" b="0" i="0" u="none" strike="noStrike" kern="1200" cap="none" spc="-13" normalizeH="0" baseline="0" noProof="0" dirty="0">
                <a:ln>
                  <a:noFill/>
                </a:ln>
                <a:solidFill>
                  <a:prstClr val="black"/>
                </a:solidFill>
                <a:effectLst/>
                <a:uLnTx/>
                <a:uFillTx/>
                <a:latin typeface="Arial"/>
                <a:ea typeface="+mn-ea"/>
                <a:cs typeface="Arial"/>
              </a:rPr>
              <a:t>	</a:t>
            </a:r>
            <a:r>
              <a:rPr kumimoji="0" lang="en-US" sz="1422" b="0" i="0" u="none" strike="noStrike" kern="1200" cap="none" spc="-4" normalizeH="0" baseline="0" noProof="0" dirty="0">
                <a:ln>
                  <a:noFill/>
                </a:ln>
                <a:solidFill>
                  <a:prstClr val="black"/>
                </a:solidFill>
                <a:effectLst/>
                <a:uLnTx/>
                <a:uFillTx/>
                <a:latin typeface="Arial"/>
                <a:ea typeface="+mn-ea"/>
                <a:cs typeface="Arial"/>
              </a:rPr>
              <a:t>Three Phase and Symmetrical Components</a:t>
            </a:r>
            <a:endParaRPr kumimoji="0" sz="1422" b="0" i="0" u="none" strike="noStrike" kern="1200" cap="none" spc="0" normalizeH="0" baseline="0" noProof="0" dirty="0">
              <a:ln>
                <a:noFill/>
              </a:ln>
              <a:solidFill>
                <a:prstClr val="black"/>
              </a:solidFill>
              <a:effectLst/>
              <a:uLnTx/>
              <a:uFillTx/>
              <a:latin typeface="Arial"/>
              <a:ea typeface="+mn-ea"/>
              <a:cs typeface="Arial"/>
            </a:endParaRPr>
          </a:p>
        </p:txBody>
      </p:sp>
      <p:sp>
        <p:nvSpPr>
          <p:cNvPr id="8" name="object 17">
            <a:extLst>
              <a:ext uri="{FF2B5EF4-FFF2-40B4-BE49-F238E27FC236}">
                <a16:creationId xmlns:a16="http://schemas.microsoft.com/office/drawing/2014/main" id="{D9290862-A2B6-4690-8DD9-3E247011FE75}"/>
              </a:ext>
            </a:extLst>
          </p:cNvPr>
          <p:cNvSpPr txBox="1">
            <a:spLocks/>
          </p:cNvSpPr>
          <p:nvPr userDrawn="1"/>
        </p:nvSpPr>
        <p:spPr>
          <a:xfrm>
            <a:off x="429714" y="6630501"/>
            <a:ext cx="3340181" cy="169277"/>
          </a:xfrm>
          <a:prstGeom prst="rect">
            <a:avLst/>
          </a:prstGeom>
        </p:spPr>
        <p:txBody>
          <a:bodyPr vert="horz" wrap="square" lIns="0" tIns="0" rIns="0" bIns="0" rtlCol="0" anchor="ctr">
            <a:spAutoFit/>
          </a:bodyPr>
          <a:lstStyle>
            <a:defPPr>
              <a:defRPr lang="en-US"/>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89">
              <a:spcBef>
                <a:spcPts val="22"/>
              </a:spcBef>
            </a:pPr>
            <a:r>
              <a:rPr lang="en-US" sz="1100" spc="-5" dirty="0" err="1">
                <a:solidFill>
                  <a:prstClr val="black"/>
                </a:solidFill>
              </a:rPr>
              <a:t>KDU</a:t>
            </a:r>
            <a:r>
              <a:rPr lang="en-US" sz="1100" spc="-5" dirty="0">
                <a:solidFill>
                  <a:prstClr val="black"/>
                </a:solidFill>
              </a:rPr>
              <a:t> </a:t>
            </a:r>
            <a:r>
              <a:rPr lang="en-US" sz="1100" dirty="0">
                <a:solidFill>
                  <a:prstClr val="black"/>
                </a:solidFill>
              </a:rPr>
              <a:t>– </a:t>
            </a:r>
            <a:r>
              <a:rPr lang="en-US" sz="1100" spc="-10" dirty="0">
                <a:solidFill>
                  <a:prstClr val="black"/>
                </a:solidFill>
              </a:rPr>
              <a:t>Prepared </a:t>
            </a:r>
            <a:r>
              <a:rPr lang="en-US" sz="1100" spc="-5" dirty="0">
                <a:solidFill>
                  <a:prstClr val="black"/>
                </a:solidFill>
              </a:rPr>
              <a:t>by Prof </a:t>
            </a:r>
            <a:r>
              <a:rPr lang="en-US" sz="1100" dirty="0">
                <a:solidFill>
                  <a:prstClr val="black"/>
                </a:solidFill>
              </a:rPr>
              <a:t>J R</a:t>
            </a:r>
            <a:r>
              <a:rPr lang="en-US" sz="1100" spc="-155" dirty="0">
                <a:solidFill>
                  <a:prstClr val="black"/>
                </a:solidFill>
              </a:rPr>
              <a:t> </a:t>
            </a:r>
            <a:r>
              <a:rPr lang="en-US" sz="1100" spc="-10" dirty="0">
                <a:solidFill>
                  <a:prstClr val="black"/>
                </a:solidFill>
              </a:rPr>
              <a:t>Lucas/September2020</a:t>
            </a:r>
            <a:endParaRPr lang="en-US" sz="3600" spc="-9" dirty="0">
              <a:solidFill>
                <a:prstClr val="black"/>
              </a:solidFill>
            </a:endParaRPr>
          </a:p>
        </p:txBody>
      </p:sp>
      <p:pic>
        <p:nvPicPr>
          <p:cNvPr id="9" name="Picture 8" descr="A close up of a logo&#10;&#10;Description automatically generated">
            <a:extLst>
              <a:ext uri="{FF2B5EF4-FFF2-40B4-BE49-F238E27FC236}">
                <a16:creationId xmlns:a16="http://schemas.microsoft.com/office/drawing/2014/main" id="{BFB1319B-F2FE-4D02-B2A1-51D353FC80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04309" y="138184"/>
            <a:ext cx="1051611" cy="795982"/>
          </a:xfrm>
          <a:prstGeom prst="rect">
            <a:avLst/>
          </a:prstGeom>
        </p:spPr>
      </p:pic>
      <p:sp>
        <p:nvSpPr>
          <p:cNvPr id="10" name="Slide Number Placeholder 3">
            <a:extLst>
              <a:ext uri="{FF2B5EF4-FFF2-40B4-BE49-F238E27FC236}">
                <a16:creationId xmlns:a16="http://schemas.microsoft.com/office/drawing/2014/main" id="{E3A613AA-8F10-44E5-AAA9-2159C98886DB}"/>
              </a:ext>
            </a:extLst>
          </p:cNvPr>
          <p:cNvSpPr txBox="1">
            <a:spLocks/>
          </p:cNvSpPr>
          <p:nvPr userDrawn="1"/>
        </p:nvSpPr>
        <p:spPr>
          <a:xfrm>
            <a:off x="11637817" y="110691"/>
            <a:ext cx="512853" cy="30776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7F8B81-7D3C-44E4-9993-3F1024D0C961}" type="slidenum">
              <a:rPr lang="en-GB" sz="1400" smtClean="0"/>
              <a:pPr/>
              <a:t>‹#›</a:t>
            </a:fld>
            <a:endParaRPr lang="en-GB" sz="1400" dirty="0"/>
          </a:p>
        </p:txBody>
      </p:sp>
      <p:pic>
        <p:nvPicPr>
          <p:cNvPr id="11" name="Picture 10">
            <a:extLst>
              <a:ext uri="{FF2B5EF4-FFF2-40B4-BE49-F238E27FC236}">
                <a16:creationId xmlns:a16="http://schemas.microsoft.com/office/drawing/2014/main" id="{86902206-91A7-4F27-8D6F-DA5FC0BA6DA7}"/>
              </a:ext>
            </a:extLst>
          </p:cNvPr>
          <p:cNvPicPr>
            <a:picLocks noChangeAspect="1"/>
          </p:cNvPicPr>
          <p:nvPr userDrawn="1"/>
        </p:nvPicPr>
        <p:blipFill>
          <a:blip r:embed="rId3"/>
          <a:stretch>
            <a:fillRect/>
          </a:stretch>
        </p:blipFill>
        <p:spPr>
          <a:xfrm>
            <a:off x="10019169" y="5232400"/>
            <a:ext cx="2172831" cy="1625600"/>
          </a:xfrm>
          <a:prstGeom prst="rect">
            <a:avLst/>
          </a:prstGeom>
        </p:spPr>
      </p:pic>
    </p:spTree>
    <p:extLst>
      <p:ext uri="{BB962C8B-B14F-4D97-AF65-F5344CB8AC3E}">
        <p14:creationId xmlns:p14="http://schemas.microsoft.com/office/powerpoint/2010/main" val="1860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5FC7-0220-494A-9380-3FBEF410EB0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71E399F-8B54-4C68-AA8A-F518B4A436A8}"/>
              </a:ext>
            </a:extLst>
          </p:cNvPr>
          <p:cNvSpPr>
            <a:spLocks noGrp="1"/>
          </p:cNvSpPr>
          <p:nvPr>
            <p:ph type="dt" sz="half" idx="10"/>
          </p:nvPr>
        </p:nvSpPr>
        <p:spPr/>
        <p:txBody>
          <a:bodyPr/>
          <a:lstStyle/>
          <a:p>
            <a:fld id="{63DC8808-64BE-459B-935E-D1C096534883}" type="datetimeFigureOut">
              <a:rPr lang="en-GB" smtClean="0"/>
              <a:t>14/10/2020</a:t>
            </a:fld>
            <a:endParaRPr lang="en-GB"/>
          </a:p>
        </p:txBody>
      </p:sp>
      <p:sp>
        <p:nvSpPr>
          <p:cNvPr id="4" name="Footer Placeholder 3">
            <a:extLst>
              <a:ext uri="{FF2B5EF4-FFF2-40B4-BE49-F238E27FC236}">
                <a16:creationId xmlns:a16="http://schemas.microsoft.com/office/drawing/2014/main" id="{D6E1D7DB-7938-42F5-8AC4-1A18F581501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50C3806-1652-46C9-A784-4DC2410C107A}"/>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780831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33952-F54C-43E4-819D-E16478102B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4774AF4-CC19-45AD-BA31-BED4748D7D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C6F291-4585-4782-8547-310F87E4A927}"/>
              </a:ext>
            </a:extLst>
          </p:cNvPr>
          <p:cNvSpPr>
            <a:spLocks noGrp="1"/>
          </p:cNvSpPr>
          <p:nvPr>
            <p:ph type="dt" sz="half" idx="10"/>
          </p:nvPr>
        </p:nvSpPr>
        <p:spPr/>
        <p:txBody>
          <a:bodyPr/>
          <a:lstStyle/>
          <a:p>
            <a:fld id="{63DC8808-64BE-459B-935E-D1C096534883}" type="datetimeFigureOut">
              <a:rPr lang="en-GB" smtClean="0"/>
              <a:t>14/10/2020</a:t>
            </a:fld>
            <a:endParaRPr lang="en-GB"/>
          </a:p>
        </p:txBody>
      </p:sp>
      <p:sp>
        <p:nvSpPr>
          <p:cNvPr id="5" name="Footer Placeholder 4">
            <a:extLst>
              <a:ext uri="{FF2B5EF4-FFF2-40B4-BE49-F238E27FC236}">
                <a16:creationId xmlns:a16="http://schemas.microsoft.com/office/drawing/2014/main" id="{BA2327DE-B30C-42C9-B7F5-4107AFDD02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B1C9D24-28C4-4CDF-82AB-BFFA36B7DE53}"/>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4043218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80785-4E88-4CA2-86E1-86F019D306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105146F-9A20-4634-9640-DB923FED5F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F7E1E9F-3BB5-44DD-A7F5-F54E36A6A1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130C717-C07F-4031-A0F0-BAE1EEFCA19E}"/>
              </a:ext>
            </a:extLst>
          </p:cNvPr>
          <p:cNvSpPr>
            <a:spLocks noGrp="1"/>
          </p:cNvSpPr>
          <p:nvPr>
            <p:ph type="dt" sz="half" idx="10"/>
          </p:nvPr>
        </p:nvSpPr>
        <p:spPr/>
        <p:txBody>
          <a:bodyPr/>
          <a:lstStyle/>
          <a:p>
            <a:fld id="{63DC8808-64BE-459B-935E-D1C096534883}" type="datetimeFigureOut">
              <a:rPr lang="en-GB" smtClean="0"/>
              <a:t>14/10/2020</a:t>
            </a:fld>
            <a:endParaRPr lang="en-GB"/>
          </a:p>
        </p:txBody>
      </p:sp>
      <p:sp>
        <p:nvSpPr>
          <p:cNvPr id="6" name="Footer Placeholder 5">
            <a:extLst>
              <a:ext uri="{FF2B5EF4-FFF2-40B4-BE49-F238E27FC236}">
                <a16:creationId xmlns:a16="http://schemas.microsoft.com/office/drawing/2014/main" id="{DF3FA273-9C20-4607-AD9E-99C9F5690F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807630-0514-4117-81AB-6B4018D24186}"/>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457340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C5A7-54A7-4DDC-BB19-624450B5FC2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E2D6B91-9629-487B-AA04-CDED3F814C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71CE11-EE39-4B9B-925C-25BE906A88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ACF800F-415A-4BE4-9485-23101109D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2BBA2A-D453-44D5-90E0-47E5362B07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7280A6E-D560-419B-A121-807D0C7518D4}"/>
              </a:ext>
            </a:extLst>
          </p:cNvPr>
          <p:cNvSpPr>
            <a:spLocks noGrp="1"/>
          </p:cNvSpPr>
          <p:nvPr>
            <p:ph type="dt" sz="half" idx="10"/>
          </p:nvPr>
        </p:nvSpPr>
        <p:spPr/>
        <p:txBody>
          <a:bodyPr/>
          <a:lstStyle/>
          <a:p>
            <a:fld id="{63DC8808-64BE-459B-935E-D1C096534883}" type="datetimeFigureOut">
              <a:rPr lang="en-GB" smtClean="0"/>
              <a:t>14/10/2020</a:t>
            </a:fld>
            <a:endParaRPr lang="en-GB"/>
          </a:p>
        </p:txBody>
      </p:sp>
      <p:sp>
        <p:nvSpPr>
          <p:cNvPr id="8" name="Footer Placeholder 7">
            <a:extLst>
              <a:ext uri="{FF2B5EF4-FFF2-40B4-BE49-F238E27FC236}">
                <a16:creationId xmlns:a16="http://schemas.microsoft.com/office/drawing/2014/main" id="{8109A7F8-AD71-4A41-A741-E440CD2CEF9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50BB6CE-2807-4B5B-B8BB-E21F862A1A51}"/>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240378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D43D5-1AD2-44DC-A040-294715C3334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98D243E-AF43-4039-89E5-CF4D885269C5}"/>
              </a:ext>
            </a:extLst>
          </p:cNvPr>
          <p:cNvSpPr>
            <a:spLocks noGrp="1"/>
          </p:cNvSpPr>
          <p:nvPr>
            <p:ph type="dt" sz="half" idx="10"/>
          </p:nvPr>
        </p:nvSpPr>
        <p:spPr/>
        <p:txBody>
          <a:bodyPr/>
          <a:lstStyle/>
          <a:p>
            <a:fld id="{63DC8808-64BE-459B-935E-D1C096534883}" type="datetimeFigureOut">
              <a:rPr lang="en-GB" smtClean="0"/>
              <a:t>14/10/2020</a:t>
            </a:fld>
            <a:endParaRPr lang="en-GB"/>
          </a:p>
        </p:txBody>
      </p:sp>
      <p:sp>
        <p:nvSpPr>
          <p:cNvPr id="4" name="Footer Placeholder 3">
            <a:extLst>
              <a:ext uri="{FF2B5EF4-FFF2-40B4-BE49-F238E27FC236}">
                <a16:creationId xmlns:a16="http://schemas.microsoft.com/office/drawing/2014/main" id="{A717C297-C40C-44D3-8032-A4875A955BC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81CF6B9-3852-4AB0-9E24-47771C0EECFA}"/>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2347102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C6DF0A-F9D7-4518-84D5-290CE4454CBF}"/>
              </a:ext>
            </a:extLst>
          </p:cNvPr>
          <p:cNvSpPr>
            <a:spLocks noGrp="1"/>
          </p:cNvSpPr>
          <p:nvPr>
            <p:ph type="dt" sz="half" idx="10"/>
          </p:nvPr>
        </p:nvSpPr>
        <p:spPr/>
        <p:txBody>
          <a:bodyPr/>
          <a:lstStyle/>
          <a:p>
            <a:fld id="{63DC8808-64BE-459B-935E-D1C096534883}" type="datetimeFigureOut">
              <a:rPr lang="en-GB" smtClean="0"/>
              <a:t>14/10/2020</a:t>
            </a:fld>
            <a:endParaRPr lang="en-GB"/>
          </a:p>
        </p:txBody>
      </p:sp>
      <p:sp>
        <p:nvSpPr>
          <p:cNvPr id="3" name="Footer Placeholder 2">
            <a:extLst>
              <a:ext uri="{FF2B5EF4-FFF2-40B4-BE49-F238E27FC236}">
                <a16:creationId xmlns:a16="http://schemas.microsoft.com/office/drawing/2014/main" id="{42CD8973-3D6F-42B1-A1AA-89176276B61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B6E5179-0F07-4B63-A286-490693193B56}"/>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3404538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BBA1F-9150-473A-8179-BB707ACC0D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417237B-6B76-456F-A365-74A8010A5A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7CD164E-D222-4FEB-B058-997535A22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1AD164-BB85-4771-B7C0-3CEEC9A35222}"/>
              </a:ext>
            </a:extLst>
          </p:cNvPr>
          <p:cNvSpPr>
            <a:spLocks noGrp="1"/>
          </p:cNvSpPr>
          <p:nvPr>
            <p:ph type="dt" sz="half" idx="10"/>
          </p:nvPr>
        </p:nvSpPr>
        <p:spPr/>
        <p:txBody>
          <a:bodyPr/>
          <a:lstStyle/>
          <a:p>
            <a:fld id="{63DC8808-64BE-459B-935E-D1C096534883}" type="datetimeFigureOut">
              <a:rPr lang="en-GB" smtClean="0"/>
              <a:t>14/10/2020</a:t>
            </a:fld>
            <a:endParaRPr lang="en-GB"/>
          </a:p>
        </p:txBody>
      </p:sp>
      <p:sp>
        <p:nvSpPr>
          <p:cNvPr id="6" name="Footer Placeholder 5">
            <a:extLst>
              <a:ext uri="{FF2B5EF4-FFF2-40B4-BE49-F238E27FC236}">
                <a16:creationId xmlns:a16="http://schemas.microsoft.com/office/drawing/2014/main" id="{F91253B4-F02B-474A-B457-522B68AB95D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D8DA2B-F10B-4BE0-A4CB-E0D3DF97A64F}"/>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058168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E355D-14D5-4CE8-BB15-D9137835D5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50DCF38-A697-4AC3-AFA1-21F44E5ECA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8F2E1C3-C4B0-4713-BDD3-7F6ADF946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B44945-6CC2-49CB-9F2B-64AF3DFF25BB}"/>
              </a:ext>
            </a:extLst>
          </p:cNvPr>
          <p:cNvSpPr>
            <a:spLocks noGrp="1"/>
          </p:cNvSpPr>
          <p:nvPr>
            <p:ph type="dt" sz="half" idx="10"/>
          </p:nvPr>
        </p:nvSpPr>
        <p:spPr/>
        <p:txBody>
          <a:bodyPr/>
          <a:lstStyle/>
          <a:p>
            <a:fld id="{63DC8808-64BE-459B-935E-D1C096534883}" type="datetimeFigureOut">
              <a:rPr lang="en-GB" smtClean="0"/>
              <a:t>14/10/2020</a:t>
            </a:fld>
            <a:endParaRPr lang="en-GB"/>
          </a:p>
        </p:txBody>
      </p:sp>
      <p:sp>
        <p:nvSpPr>
          <p:cNvPr id="6" name="Footer Placeholder 5">
            <a:extLst>
              <a:ext uri="{FF2B5EF4-FFF2-40B4-BE49-F238E27FC236}">
                <a16:creationId xmlns:a16="http://schemas.microsoft.com/office/drawing/2014/main" id="{DA813277-DD44-44D3-956A-3948B0CF70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139D035-B381-4A65-98B9-23F2454C6F35}"/>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226167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6D4A1-573C-456E-BAEE-0617E37674F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CA35CBB-1999-49D0-BC17-D62602C06D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A771CE-65C1-49EF-9BB0-45D9315044A7}"/>
              </a:ext>
            </a:extLst>
          </p:cNvPr>
          <p:cNvSpPr>
            <a:spLocks noGrp="1"/>
          </p:cNvSpPr>
          <p:nvPr>
            <p:ph type="dt" sz="half" idx="10"/>
          </p:nvPr>
        </p:nvSpPr>
        <p:spPr/>
        <p:txBody>
          <a:bodyPr/>
          <a:lstStyle/>
          <a:p>
            <a:fld id="{63DC8808-64BE-459B-935E-D1C096534883}" type="datetimeFigureOut">
              <a:rPr lang="en-GB" smtClean="0"/>
              <a:t>14/10/2020</a:t>
            </a:fld>
            <a:endParaRPr lang="en-GB"/>
          </a:p>
        </p:txBody>
      </p:sp>
      <p:sp>
        <p:nvSpPr>
          <p:cNvPr id="5" name="Footer Placeholder 4">
            <a:extLst>
              <a:ext uri="{FF2B5EF4-FFF2-40B4-BE49-F238E27FC236}">
                <a16:creationId xmlns:a16="http://schemas.microsoft.com/office/drawing/2014/main" id="{DC07AAD9-C744-4ED3-9B87-A10F28CC6F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01EE95-F3AB-4292-B883-9FAD20BD7E9D}"/>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108174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7A9D67-6881-40C8-BAAE-17422572D0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B0F3D56-53A9-471F-A0FB-A30BC215A6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4532E34-4E88-42F4-8442-4C31BEEA8360}"/>
              </a:ext>
            </a:extLst>
          </p:cNvPr>
          <p:cNvSpPr>
            <a:spLocks noGrp="1"/>
          </p:cNvSpPr>
          <p:nvPr>
            <p:ph type="dt" sz="half" idx="10"/>
          </p:nvPr>
        </p:nvSpPr>
        <p:spPr/>
        <p:txBody>
          <a:bodyPr/>
          <a:lstStyle/>
          <a:p>
            <a:fld id="{63DC8808-64BE-459B-935E-D1C096534883}" type="datetimeFigureOut">
              <a:rPr lang="en-GB" smtClean="0"/>
              <a:t>14/10/2020</a:t>
            </a:fld>
            <a:endParaRPr lang="en-GB"/>
          </a:p>
        </p:txBody>
      </p:sp>
      <p:sp>
        <p:nvSpPr>
          <p:cNvPr id="5" name="Footer Placeholder 4">
            <a:extLst>
              <a:ext uri="{FF2B5EF4-FFF2-40B4-BE49-F238E27FC236}">
                <a16:creationId xmlns:a16="http://schemas.microsoft.com/office/drawing/2014/main" id="{046EDB72-6935-4C96-80FE-AF9B3EA3B8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53DF53-2727-4665-9B73-B2DDACA06035}"/>
              </a:ext>
            </a:extLst>
          </p:cNvPr>
          <p:cNvSpPr>
            <a:spLocks noGrp="1"/>
          </p:cNvSpPr>
          <p:nvPr>
            <p:ph type="sldNum" sz="quarter" idx="12"/>
          </p:nvPr>
        </p:nvSpPr>
        <p:spPr/>
        <p:txBody>
          <a:bodyPr/>
          <a:lstStyle/>
          <a:p>
            <a:fld id="{BB053112-0FCF-4FF3-97FD-CEA299B20DF3}" type="slidenum">
              <a:rPr lang="en-GB" smtClean="0"/>
              <a:t>‹#›</a:t>
            </a:fld>
            <a:endParaRPr lang="en-GB"/>
          </a:p>
        </p:txBody>
      </p:sp>
    </p:spTree>
    <p:extLst>
      <p:ext uri="{BB962C8B-B14F-4D97-AF65-F5344CB8AC3E}">
        <p14:creationId xmlns:p14="http://schemas.microsoft.com/office/powerpoint/2010/main" val="1279699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A2A1-591B-4525-9A26-A18AED4DC7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35E6A4F-729B-4436-8F5E-55DFD4A144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8E25BD1-818C-4266-A714-74055694B6C3}"/>
              </a:ext>
            </a:extLst>
          </p:cNvPr>
          <p:cNvSpPr>
            <a:spLocks noGrp="1"/>
          </p:cNvSpPr>
          <p:nvPr>
            <p:ph type="dt" sz="half" idx="10"/>
          </p:nvPr>
        </p:nvSpPr>
        <p:spPr/>
        <p:txBody>
          <a:bodyPr/>
          <a:lstStyle/>
          <a:p>
            <a:fld id="{C6BFAEEA-68D7-4B77-8C31-8040F6854DA5}" type="datetimeFigureOut">
              <a:rPr lang="en-GB" smtClean="0"/>
              <a:t>14/10/2020</a:t>
            </a:fld>
            <a:endParaRPr lang="en-GB"/>
          </a:p>
        </p:txBody>
      </p:sp>
      <p:sp>
        <p:nvSpPr>
          <p:cNvPr id="5" name="Footer Placeholder 4">
            <a:extLst>
              <a:ext uri="{FF2B5EF4-FFF2-40B4-BE49-F238E27FC236}">
                <a16:creationId xmlns:a16="http://schemas.microsoft.com/office/drawing/2014/main" id="{AC2A9F59-2071-42B4-974A-410C755148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A12B14-469F-42C5-9784-59A4F89FC374}"/>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3679843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651A8-FDF3-4778-B628-0633EA827A64}"/>
              </a:ext>
            </a:extLst>
          </p:cNvPr>
          <p:cNvSpPr>
            <a:spLocks noGrp="1"/>
          </p:cNvSpPr>
          <p:nvPr>
            <p:ph type="title"/>
          </p:nvPr>
        </p:nvSpPr>
        <p:spPr>
          <a:xfrm>
            <a:off x="838200" y="365125"/>
            <a:ext cx="10515600" cy="720725"/>
          </a:xfrm>
        </p:spPr>
        <p:txBody>
          <a:bodyPr>
            <a:normAutofit/>
          </a:bodyPr>
          <a:lstStyle>
            <a:lvl1pPr algn="ctr">
              <a:defRPr lang="en-GB" sz="3600" b="1" kern="1200" dirty="0">
                <a:solidFill>
                  <a:srgbClr val="C00000"/>
                </a:solidFill>
                <a:latin typeface="+mj-lt"/>
                <a:ea typeface="+mj-ea"/>
                <a:cs typeface="+mj-cs"/>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65599F8-A323-410E-962C-BADABB09809F}"/>
              </a:ext>
            </a:extLst>
          </p:cNvPr>
          <p:cNvSpPr>
            <a:spLocks noGrp="1"/>
          </p:cNvSpPr>
          <p:nvPr>
            <p:ph idx="1"/>
          </p:nvPr>
        </p:nvSpPr>
        <p:spPr>
          <a:xfrm>
            <a:off x="353291" y="1257300"/>
            <a:ext cx="11514859" cy="4919663"/>
          </a:xfrm>
        </p:spPr>
        <p:txBody>
          <a:bodyPr>
            <a:normAutofit/>
          </a:bodyPr>
          <a:lstStyle>
            <a:lvl1pPr>
              <a:defRPr sz="3200">
                <a:solidFill>
                  <a:srgbClr val="002060"/>
                </a:solidFill>
              </a:defRPr>
            </a:lvl1pPr>
            <a:lvl2pPr>
              <a:defRPr sz="2800">
                <a:solidFill>
                  <a:srgbClr val="002060"/>
                </a:solidFill>
              </a:defRPr>
            </a:lvl2pPr>
            <a:lvl3pPr>
              <a:defRPr sz="2400">
                <a:solidFill>
                  <a:srgbClr val="002060"/>
                </a:solidFill>
              </a:defRPr>
            </a:lvl3pPr>
            <a:lvl4pPr>
              <a:defRPr sz="2000">
                <a:solidFill>
                  <a:srgbClr val="002060"/>
                </a:solidFill>
              </a:defRPr>
            </a:lvl4pPr>
            <a:lvl5pPr>
              <a:defRPr sz="2000">
                <a:solidFill>
                  <a:srgbClr val="002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8088C8AB-55D8-450E-B38C-9B132FC0F197}"/>
              </a:ext>
            </a:extLst>
          </p:cNvPr>
          <p:cNvSpPr>
            <a:spLocks noGrp="1"/>
          </p:cNvSpPr>
          <p:nvPr>
            <p:ph type="ftr" sz="quarter" idx="11"/>
          </p:nvPr>
        </p:nvSpPr>
        <p:spPr/>
        <p:txBody>
          <a:bodyPr/>
          <a:lstStyle/>
          <a:p>
            <a:endParaRPr lang="en-GB"/>
          </a:p>
        </p:txBody>
      </p:sp>
      <p:sp>
        <p:nvSpPr>
          <p:cNvPr id="8" name="TextBox 7">
            <a:extLst>
              <a:ext uri="{FF2B5EF4-FFF2-40B4-BE49-F238E27FC236}">
                <a16:creationId xmlns:a16="http://schemas.microsoft.com/office/drawing/2014/main" id="{BF0894F9-5A70-4F72-9BD0-F1E7EEE0F927}"/>
              </a:ext>
            </a:extLst>
          </p:cNvPr>
          <p:cNvSpPr txBox="1"/>
          <p:nvPr userDrawn="1"/>
        </p:nvSpPr>
        <p:spPr>
          <a:xfrm>
            <a:off x="143740" y="6480729"/>
            <a:ext cx="2648097" cy="338554"/>
          </a:xfrm>
          <a:prstGeom prst="rect">
            <a:avLst/>
          </a:prstGeom>
          <a:noFill/>
        </p:spPr>
        <p:txBody>
          <a:bodyPr wrap="none" rtlCol="0">
            <a:spAutoFit/>
          </a:bodyPr>
          <a:lstStyle/>
          <a:p>
            <a:r>
              <a:rPr lang="en-US" sz="1600" dirty="0"/>
              <a:t>Prof J Rohan Lucas/April 2020</a:t>
            </a:r>
            <a:endParaRPr lang="en-GB" sz="1600" dirty="0"/>
          </a:p>
        </p:txBody>
      </p:sp>
      <p:pic>
        <p:nvPicPr>
          <p:cNvPr id="9" name="Picture 8">
            <a:extLst>
              <a:ext uri="{FF2B5EF4-FFF2-40B4-BE49-F238E27FC236}">
                <a16:creationId xmlns:a16="http://schemas.microsoft.com/office/drawing/2014/main" id="{0C812622-06DF-4C31-A9A3-DB231A498E7F}"/>
              </a:ext>
            </a:extLst>
          </p:cNvPr>
          <p:cNvPicPr>
            <a:picLocks noChangeAspect="1"/>
          </p:cNvPicPr>
          <p:nvPr userDrawn="1"/>
        </p:nvPicPr>
        <p:blipFill>
          <a:blip r:embed="rId2"/>
          <a:stretch>
            <a:fillRect/>
          </a:stretch>
        </p:blipFill>
        <p:spPr>
          <a:xfrm>
            <a:off x="109150" y="0"/>
            <a:ext cx="723810" cy="552381"/>
          </a:xfrm>
          <a:prstGeom prst="rect">
            <a:avLst/>
          </a:prstGeom>
        </p:spPr>
      </p:pic>
      <p:sp>
        <p:nvSpPr>
          <p:cNvPr id="10" name="TextBox 9">
            <a:extLst>
              <a:ext uri="{FF2B5EF4-FFF2-40B4-BE49-F238E27FC236}">
                <a16:creationId xmlns:a16="http://schemas.microsoft.com/office/drawing/2014/main" id="{17854FF0-A8F4-4774-BAD1-37B4DF796C39}"/>
              </a:ext>
            </a:extLst>
          </p:cNvPr>
          <p:cNvSpPr txBox="1"/>
          <p:nvPr userDrawn="1"/>
        </p:nvSpPr>
        <p:spPr>
          <a:xfrm>
            <a:off x="554182" y="53395"/>
            <a:ext cx="11000509" cy="369332"/>
          </a:xfrm>
          <a:prstGeom prst="rect">
            <a:avLst/>
          </a:prstGeom>
          <a:noFill/>
        </p:spPr>
        <p:txBody>
          <a:bodyPr wrap="square" rtlCol="0">
            <a:spAutoFit/>
          </a:bodyPr>
          <a:lstStyle/>
          <a:p>
            <a:pPr marL="504825" indent="0">
              <a:tabLst>
                <a:tab pos="5029200" algn="ctr"/>
                <a:tab pos="10683875" algn="r"/>
              </a:tabLst>
            </a:pPr>
            <a:r>
              <a:rPr lang="en-US" sz="1600" dirty="0"/>
              <a:t>High Voltage Engineering 1	</a:t>
            </a:r>
            <a:r>
              <a:rPr lang="en-GB" sz="1800" b="1" kern="1200" dirty="0">
                <a:solidFill>
                  <a:schemeClr val="tx1"/>
                </a:solidFill>
                <a:effectLst/>
                <a:latin typeface="+mn-lt"/>
                <a:ea typeface="+mn-ea"/>
                <a:cs typeface="+mn-cs"/>
              </a:rPr>
              <a:t>High Voltage Cables	</a:t>
            </a:r>
            <a:endParaRPr lang="en-GB" sz="1600" b="0" dirty="0"/>
          </a:p>
        </p:txBody>
      </p:sp>
      <p:sp>
        <p:nvSpPr>
          <p:cNvPr id="11" name="Slide Number Placeholder 3">
            <a:extLst>
              <a:ext uri="{FF2B5EF4-FFF2-40B4-BE49-F238E27FC236}">
                <a16:creationId xmlns:a16="http://schemas.microsoft.com/office/drawing/2014/main" id="{92F4B8B1-3073-4763-B6CE-A6611013B9DE}"/>
              </a:ext>
            </a:extLst>
          </p:cNvPr>
          <p:cNvSpPr txBox="1">
            <a:spLocks/>
          </p:cNvSpPr>
          <p:nvPr userDrawn="1"/>
        </p:nvSpPr>
        <p:spPr>
          <a:xfrm>
            <a:off x="11637818" y="110690"/>
            <a:ext cx="432304" cy="31203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7F8B81-7D3C-44E4-9993-3F1024D0C961}" type="slidenum">
              <a:rPr lang="en-GB" sz="1400" smtClean="0"/>
              <a:pPr/>
              <a:t>‹#›</a:t>
            </a:fld>
            <a:endParaRPr lang="en-GB" sz="1400" dirty="0"/>
          </a:p>
        </p:txBody>
      </p:sp>
      <p:pic>
        <p:nvPicPr>
          <p:cNvPr id="12" name="Picture 11">
            <a:extLst>
              <a:ext uri="{FF2B5EF4-FFF2-40B4-BE49-F238E27FC236}">
                <a16:creationId xmlns:a16="http://schemas.microsoft.com/office/drawing/2014/main" id="{76687116-A6FA-4EC4-948A-D5634ECDB42A}"/>
              </a:ext>
            </a:extLst>
          </p:cNvPr>
          <p:cNvPicPr>
            <a:picLocks noChangeAspect="1"/>
          </p:cNvPicPr>
          <p:nvPr userDrawn="1"/>
        </p:nvPicPr>
        <p:blipFill>
          <a:blip r:embed="rId3"/>
          <a:stretch>
            <a:fillRect/>
          </a:stretch>
        </p:blipFill>
        <p:spPr>
          <a:xfrm>
            <a:off x="10019169" y="5232400"/>
            <a:ext cx="2172831" cy="1625600"/>
          </a:xfrm>
          <a:prstGeom prst="rect">
            <a:avLst/>
          </a:prstGeom>
        </p:spPr>
      </p:pic>
    </p:spTree>
    <p:extLst>
      <p:ext uri="{BB962C8B-B14F-4D97-AF65-F5344CB8AC3E}">
        <p14:creationId xmlns:p14="http://schemas.microsoft.com/office/powerpoint/2010/main" val="2327122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74FA-E26A-46D6-B929-7C613C0256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62B014E-7DE2-42F2-8765-04FB4315EC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5DD7B5-4E82-4D07-B029-61A00ECC1354}"/>
              </a:ext>
            </a:extLst>
          </p:cNvPr>
          <p:cNvSpPr>
            <a:spLocks noGrp="1"/>
          </p:cNvSpPr>
          <p:nvPr>
            <p:ph type="dt" sz="half" idx="10"/>
          </p:nvPr>
        </p:nvSpPr>
        <p:spPr/>
        <p:txBody>
          <a:bodyPr/>
          <a:lstStyle/>
          <a:p>
            <a:fld id="{C6BFAEEA-68D7-4B77-8C31-8040F6854DA5}" type="datetimeFigureOut">
              <a:rPr lang="en-GB" smtClean="0"/>
              <a:t>14/10/2020</a:t>
            </a:fld>
            <a:endParaRPr lang="en-GB"/>
          </a:p>
        </p:txBody>
      </p:sp>
      <p:sp>
        <p:nvSpPr>
          <p:cNvPr id="5" name="Footer Placeholder 4">
            <a:extLst>
              <a:ext uri="{FF2B5EF4-FFF2-40B4-BE49-F238E27FC236}">
                <a16:creationId xmlns:a16="http://schemas.microsoft.com/office/drawing/2014/main" id="{C547D658-8E41-4E37-939A-0B2CA6CDC70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3FF8D6-07DA-48D8-AD18-D0A4207FD3B3}"/>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4202736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A24BB-E08A-475F-A889-2C85385F824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DDC726D-4738-401F-83C1-3D2FC8A65B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B3B8BD1-B507-4610-8F81-599055BEA1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B97EE15-D73D-47C9-A475-65326FE6B592}"/>
              </a:ext>
            </a:extLst>
          </p:cNvPr>
          <p:cNvSpPr>
            <a:spLocks noGrp="1"/>
          </p:cNvSpPr>
          <p:nvPr>
            <p:ph type="dt" sz="half" idx="10"/>
          </p:nvPr>
        </p:nvSpPr>
        <p:spPr/>
        <p:txBody>
          <a:bodyPr/>
          <a:lstStyle/>
          <a:p>
            <a:fld id="{C6BFAEEA-68D7-4B77-8C31-8040F6854DA5}" type="datetimeFigureOut">
              <a:rPr lang="en-GB" smtClean="0"/>
              <a:t>14/10/2020</a:t>
            </a:fld>
            <a:endParaRPr lang="en-GB"/>
          </a:p>
        </p:txBody>
      </p:sp>
      <p:sp>
        <p:nvSpPr>
          <p:cNvPr id="6" name="Footer Placeholder 5">
            <a:extLst>
              <a:ext uri="{FF2B5EF4-FFF2-40B4-BE49-F238E27FC236}">
                <a16:creationId xmlns:a16="http://schemas.microsoft.com/office/drawing/2014/main" id="{FBF6A158-340E-492B-96F4-52E6D7714F0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8308F35-AA19-42B6-BCF9-412E2808556A}"/>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973087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4EA92-B2E9-48AC-B4F8-BC4E24D30FD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2DE20C0-AE32-4E35-9EBB-0FF6C92304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816D27-7723-45F1-836F-7E8EFC3AF2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8635F67-EE6A-4834-9E32-DA60C54247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73E882-BBD2-46E6-8452-EE99AF7A85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B52560D-52A9-4A51-A6D3-19198DF972AA}"/>
              </a:ext>
            </a:extLst>
          </p:cNvPr>
          <p:cNvSpPr>
            <a:spLocks noGrp="1"/>
          </p:cNvSpPr>
          <p:nvPr>
            <p:ph type="dt" sz="half" idx="10"/>
          </p:nvPr>
        </p:nvSpPr>
        <p:spPr/>
        <p:txBody>
          <a:bodyPr/>
          <a:lstStyle/>
          <a:p>
            <a:fld id="{C6BFAEEA-68D7-4B77-8C31-8040F6854DA5}" type="datetimeFigureOut">
              <a:rPr lang="en-GB" smtClean="0"/>
              <a:t>14/10/2020</a:t>
            </a:fld>
            <a:endParaRPr lang="en-GB"/>
          </a:p>
        </p:txBody>
      </p:sp>
      <p:sp>
        <p:nvSpPr>
          <p:cNvPr id="8" name="Footer Placeholder 7">
            <a:extLst>
              <a:ext uri="{FF2B5EF4-FFF2-40B4-BE49-F238E27FC236}">
                <a16:creationId xmlns:a16="http://schemas.microsoft.com/office/drawing/2014/main" id="{7E7E41DA-510B-4EDC-9016-B9BE55085E4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2655B01-722C-46E7-9A92-3198895995A4}"/>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38789301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6D5DD-50BE-4538-9755-1B5CE79B9BB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1216EF5-F518-4D8F-ACAA-1C6F0912A6AC}"/>
              </a:ext>
            </a:extLst>
          </p:cNvPr>
          <p:cNvSpPr>
            <a:spLocks noGrp="1"/>
          </p:cNvSpPr>
          <p:nvPr>
            <p:ph type="dt" sz="half" idx="10"/>
          </p:nvPr>
        </p:nvSpPr>
        <p:spPr/>
        <p:txBody>
          <a:bodyPr/>
          <a:lstStyle/>
          <a:p>
            <a:fld id="{C6BFAEEA-68D7-4B77-8C31-8040F6854DA5}" type="datetimeFigureOut">
              <a:rPr lang="en-GB" smtClean="0"/>
              <a:t>14/10/2020</a:t>
            </a:fld>
            <a:endParaRPr lang="en-GB"/>
          </a:p>
        </p:txBody>
      </p:sp>
      <p:sp>
        <p:nvSpPr>
          <p:cNvPr id="4" name="Footer Placeholder 3">
            <a:extLst>
              <a:ext uri="{FF2B5EF4-FFF2-40B4-BE49-F238E27FC236}">
                <a16:creationId xmlns:a16="http://schemas.microsoft.com/office/drawing/2014/main" id="{8B1DA837-E573-4AFA-9AC2-49D70718430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B97314E-E4DE-4A9B-9CFB-F543408919BB}"/>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7561049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9A4D9F-3842-4C3A-AEFC-01B03C3B315F}"/>
              </a:ext>
            </a:extLst>
          </p:cNvPr>
          <p:cNvSpPr>
            <a:spLocks noGrp="1"/>
          </p:cNvSpPr>
          <p:nvPr>
            <p:ph type="dt" sz="half" idx="10"/>
          </p:nvPr>
        </p:nvSpPr>
        <p:spPr/>
        <p:txBody>
          <a:bodyPr/>
          <a:lstStyle/>
          <a:p>
            <a:fld id="{C6BFAEEA-68D7-4B77-8C31-8040F6854DA5}" type="datetimeFigureOut">
              <a:rPr lang="en-GB" smtClean="0"/>
              <a:t>14/10/2020</a:t>
            </a:fld>
            <a:endParaRPr lang="en-GB"/>
          </a:p>
        </p:txBody>
      </p:sp>
      <p:sp>
        <p:nvSpPr>
          <p:cNvPr id="3" name="Footer Placeholder 2">
            <a:extLst>
              <a:ext uri="{FF2B5EF4-FFF2-40B4-BE49-F238E27FC236}">
                <a16:creationId xmlns:a16="http://schemas.microsoft.com/office/drawing/2014/main" id="{09BC0069-0AF0-4465-96F0-D7270CE9920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2B8CEB6-044C-4FC9-ADBC-1D11BE21D6CA}"/>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20729340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51AEB-D33F-4EAD-8CA0-87B8E8F47B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7A63AE9-01D9-48D7-B5CB-57ED1822A8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630CEF0-5868-43E6-BEB2-097B0E4AD6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C5C560-2623-4603-A6A1-8614FDE98452}"/>
              </a:ext>
            </a:extLst>
          </p:cNvPr>
          <p:cNvSpPr>
            <a:spLocks noGrp="1"/>
          </p:cNvSpPr>
          <p:nvPr>
            <p:ph type="dt" sz="half" idx="10"/>
          </p:nvPr>
        </p:nvSpPr>
        <p:spPr/>
        <p:txBody>
          <a:bodyPr/>
          <a:lstStyle/>
          <a:p>
            <a:fld id="{C6BFAEEA-68D7-4B77-8C31-8040F6854DA5}" type="datetimeFigureOut">
              <a:rPr lang="en-GB" smtClean="0"/>
              <a:t>14/10/2020</a:t>
            </a:fld>
            <a:endParaRPr lang="en-GB"/>
          </a:p>
        </p:txBody>
      </p:sp>
      <p:sp>
        <p:nvSpPr>
          <p:cNvPr id="6" name="Footer Placeholder 5">
            <a:extLst>
              <a:ext uri="{FF2B5EF4-FFF2-40B4-BE49-F238E27FC236}">
                <a16:creationId xmlns:a16="http://schemas.microsoft.com/office/drawing/2014/main" id="{BC7C8641-D0C0-40F8-BE2B-B72395C45A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12D1BC4-C0F9-491C-ADCF-A858A0ED253C}"/>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5744914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8E6EF-6F8D-487C-AF39-D8AAB5B5F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8493A3A-E94A-4380-8589-4570807DB4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4802534-C727-408D-ABD2-825C1D286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CD1941-7764-49DA-B982-7D13931B2E00}"/>
              </a:ext>
            </a:extLst>
          </p:cNvPr>
          <p:cNvSpPr>
            <a:spLocks noGrp="1"/>
          </p:cNvSpPr>
          <p:nvPr>
            <p:ph type="dt" sz="half" idx="10"/>
          </p:nvPr>
        </p:nvSpPr>
        <p:spPr/>
        <p:txBody>
          <a:bodyPr/>
          <a:lstStyle/>
          <a:p>
            <a:fld id="{C6BFAEEA-68D7-4B77-8C31-8040F6854DA5}" type="datetimeFigureOut">
              <a:rPr lang="en-GB" smtClean="0"/>
              <a:t>14/10/2020</a:t>
            </a:fld>
            <a:endParaRPr lang="en-GB"/>
          </a:p>
        </p:txBody>
      </p:sp>
      <p:sp>
        <p:nvSpPr>
          <p:cNvPr id="6" name="Footer Placeholder 5">
            <a:extLst>
              <a:ext uri="{FF2B5EF4-FFF2-40B4-BE49-F238E27FC236}">
                <a16:creationId xmlns:a16="http://schemas.microsoft.com/office/drawing/2014/main" id="{735E193D-2426-4637-866B-85A4B78264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CC56C82-5DCB-4DBE-9E04-DE8850D2DCC8}"/>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40791069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16FCA-C8A0-450D-8598-11900CCBC64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82FAAD8-BD77-45BD-81A6-3AEDC1F817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DABCCD-B3E7-40A3-8FA2-5E4D883BC4CF}"/>
              </a:ext>
            </a:extLst>
          </p:cNvPr>
          <p:cNvSpPr>
            <a:spLocks noGrp="1"/>
          </p:cNvSpPr>
          <p:nvPr>
            <p:ph type="dt" sz="half" idx="10"/>
          </p:nvPr>
        </p:nvSpPr>
        <p:spPr/>
        <p:txBody>
          <a:bodyPr/>
          <a:lstStyle/>
          <a:p>
            <a:fld id="{C6BFAEEA-68D7-4B77-8C31-8040F6854DA5}" type="datetimeFigureOut">
              <a:rPr lang="en-GB" smtClean="0"/>
              <a:t>14/10/2020</a:t>
            </a:fld>
            <a:endParaRPr lang="en-GB"/>
          </a:p>
        </p:txBody>
      </p:sp>
      <p:sp>
        <p:nvSpPr>
          <p:cNvPr id="5" name="Footer Placeholder 4">
            <a:extLst>
              <a:ext uri="{FF2B5EF4-FFF2-40B4-BE49-F238E27FC236}">
                <a16:creationId xmlns:a16="http://schemas.microsoft.com/office/drawing/2014/main" id="{9AEF2CD6-9931-4769-8A66-6D1326D6558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CE8A456-274C-4878-8F46-E30F7F8452F4}"/>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203680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FBC83E-2BBC-4268-931E-5E665CB5E1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76460F5-020D-4420-AD3A-13BE41E223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88F72C6-35B3-489D-97CB-3E931F42F9A0}"/>
              </a:ext>
            </a:extLst>
          </p:cNvPr>
          <p:cNvSpPr>
            <a:spLocks noGrp="1"/>
          </p:cNvSpPr>
          <p:nvPr>
            <p:ph type="dt" sz="half" idx="10"/>
          </p:nvPr>
        </p:nvSpPr>
        <p:spPr/>
        <p:txBody>
          <a:bodyPr/>
          <a:lstStyle/>
          <a:p>
            <a:fld id="{C6BFAEEA-68D7-4B77-8C31-8040F6854DA5}" type="datetimeFigureOut">
              <a:rPr lang="en-GB" smtClean="0"/>
              <a:t>14/10/2020</a:t>
            </a:fld>
            <a:endParaRPr lang="en-GB"/>
          </a:p>
        </p:txBody>
      </p:sp>
      <p:sp>
        <p:nvSpPr>
          <p:cNvPr id="5" name="Footer Placeholder 4">
            <a:extLst>
              <a:ext uri="{FF2B5EF4-FFF2-40B4-BE49-F238E27FC236}">
                <a16:creationId xmlns:a16="http://schemas.microsoft.com/office/drawing/2014/main" id="{8282E2DE-5E4B-4C7A-9BD0-33CE19732F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FB8065-7935-4361-B392-4F7C09199016}"/>
              </a:ext>
            </a:extLst>
          </p:cNvPr>
          <p:cNvSpPr>
            <a:spLocks noGrp="1"/>
          </p:cNvSpPr>
          <p:nvPr>
            <p:ph type="sldNum" sz="quarter" idx="12"/>
          </p:nvPr>
        </p:nvSpPr>
        <p:spPr/>
        <p:txBody>
          <a:bodyPr/>
          <a:lstStyle/>
          <a:p>
            <a:fld id="{63135758-0501-428A-A833-B23CBD0F728F}" type="slidenum">
              <a:rPr lang="en-GB" smtClean="0"/>
              <a:t>‹#›</a:t>
            </a:fld>
            <a:endParaRPr lang="en-GB"/>
          </a:p>
        </p:txBody>
      </p:sp>
    </p:spTree>
    <p:extLst>
      <p:ext uri="{BB962C8B-B14F-4D97-AF65-F5344CB8AC3E}">
        <p14:creationId xmlns:p14="http://schemas.microsoft.com/office/powerpoint/2010/main" val="3441102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5A80AE-56DA-4AB7-9F2F-CAF70E8B64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46876FA-7FD7-48E2-9162-474962FFEC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A2D6BE8-40DB-4B93-B86D-D09A1134D3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DC8808-64BE-459B-935E-D1C096534883}" type="datetimeFigureOut">
              <a:rPr lang="en-GB" smtClean="0"/>
              <a:t>14/10/2020</a:t>
            </a:fld>
            <a:endParaRPr lang="en-GB"/>
          </a:p>
        </p:txBody>
      </p:sp>
      <p:sp>
        <p:nvSpPr>
          <p:cNvPr id="5" name="Footer Placeholder 4">
            <a:extLst>
              <a:ext uri="{FF2B5EF4-FFF2-40B4-BE49-F238E27FC236}">
                <a16:creationId xmlns:a16="http://schemas.microsoft.com/office/drawing/2014/main" id="{B0C6C5ED-8273-4F75-992D-3AE99237DC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781DED9-22D4-402C-BD05-2B367BB21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053112-0FCF-4FF3-97FD-CEA299B20DF3}" type="slidenum">
              <a:rPr lang="en-GB" smtClean="0"/>
              <a:t>‹#›</a:t>
            </a:fld>
            <a:endParaRPr lang="en-GB"/>
          </a:p>
        </p:txBody>
      </p:sp>
    </p:spTree>
    <p:extLst>
      <p:ext uri="{BB962C8B-B14F-4D97-AF65-F5344CB8AC3E}">
        <p14:creationId xmlns:p14="http://schemas.microsoft.com/office/powerpoint/2010/main" val="477723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2"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D0B399-2484-4E11-AB1D-336B7A94CB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8832A8F-ABED-4C45-AB22-31F9BCA258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F5EFC3-8B1C-4A71-B826-F69E2780CE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FAEEA-68D7-4B77-8C31-8040F6854DA5}" type="datetimeFigureOut">
              <a:rPr lang="en-GB" smtClean="0"/>
              <a:t>14/10/2020</a:t>
            </a:fld>
            <a:endParaRPr lang="en-GB"/>
          </a:p>
        </p:txBody>
      </p:sp>
      <p:sp>
        <p:nvSpPr>
          <p:cNvPr id="5" name="Footer Placeholder 4">
            <a:extLst>
              <a:ext uri="{FF2B5EF4-FFF2-40B4-BE49-F238E27FC236}">
                <a16:creationId xmlns:a16="http://schemas.microsoft.com/office/drawing/2014/main" id="{59B3293F-9F6A-49A9-B93F-35FDCF5825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5C94848-02A4-4E8A-8941-4F7E81352B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135758-0501-428A-A833-B23CBD0F728F}" type="slidenum">
              <a:rPr lang="en-GB" smtClean="0"/>
              <a:t>‹#›</a:t>
            </a:fld>
            <a:endParaRPr lang="en-GB"/>
          </a:p>
        </p:txBody>
      </p:sp>
    </p:spTree>
    <p:extLst>
      <p:ext uri="{BB962C8B-B14F-4D97-AF65-F5344CB8AC3E}">
        <p14:creationId xmlns:p14="http://schemas.microsoft.com/office/powerpoint/2010/main" val="11302200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9.wmf"/><Relationship Id="rId5" Type="http://schemas.openxmlformats.org/officeDocument/2006/relationships/oleObject" Target="../embeddings/oleObject5.bin"/><Relationship Id="rId4" Type="http://schemas.openxmlformats.org/officeDocument/2006/relationships/image" Target="../media/image8.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1.wmf"/><Relationship Id="rId5" Type="http://schemas.openxmlformats.org/officeDocument/2006/relationships/oleObject" Target="../embeddings/oleObject7.bin"/><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9.bin"/></Relationships>
</file>

<file path=ppt/slides/_rels/slide25.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5.wmf"/><Relationship Id="rId5" Type="http://schemas.openxmlformats.org/officeDocument/2006/relationships/oleObject" Target="../embeddings/oleObject11.bin"/><Relationship Id="rId4" Type="http://schemas.openxmlformats.org/officeDocument/2006/relationships/image" Target="../media/image14.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9.wmf"/><Relationship Id="rId4" Type="http://schemas.openxmlformats.org/officeDocument/2006/relationships/oleObject" Target="../embeddings/oleObject13.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0.wmf"/><Relationship Id="rId4" Type="http://schemas.openxmlformats.org/officeDocument/2006/relationships/oleObject" Target="../embeddings/oleObject14.bin"/></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notesSlide" Target="../notesSlides/notesSlide12.xml"/><Relationship Id="rId7" Type="http://schemas.openxmlformats.org/officeDocument/2006/relationships/image" Target="../media/image23.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6.bin"/><Relationship Id="rId11" Type="http://schemas.openxmlformats.org/officeDocument/2006/relationships/image" Target="../media/image25.wmf"/><Relationship Id="rId5" Type="http://schemas.openxmlformats.org/officeDocument/2006/relationships/image" Target="../media/image22.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4.wmf"/></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27.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20.bin"/><Relationship Id="rId5" Type="http://schemas.openxmlformats.org/officeDocument/2006/relationships/image" Target="../media/image26.wmf"/><Relationship Id="rId4" Type="http://schemas.openxmlformats.org/officeDocument/2006/relationships/oleObject" Target="../embeddings/oleObject19.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29.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2.bin"/><Relationship Id="rId5" Type="http://schemas.openxmlformats.org/officeDocument/2006/relationships/image" Target="../media/image28.wmf"/><Relationship Id="rId4" Type="http://schemas.openxmlformats.org/officeDocument/2006/relationships/oleObject" Target="../embeddings/oleObject21.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30.wmf"/><Relationship Id="rId4" Type="http://schemas.openxmlformats.org/officeDocument/2006/relationships/oleObject" Target="../embeddings/oleObject23.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1.wmf"/><Relationship Id="rId5" Type="http://schemas.openxmlformats.org/officeDocument/2006/relationships/oleObject" Target="../embeddings/oleObject24.bin"/><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oleObject" Target="../embeddings/oleObject33.bin"/><Relationship Id="rId3" Type="http://schemas.openxmlformats.org/officeDocument/2006/relationships/notesSlide" Target="../notesSlides/notesSlide17.xml"/><Relationship Id="rId7" Type="http://schemas.openxmlformats.org/officeDocument/2006/relationships/oleObject" Target="../embeddings/oleObject27.bin"/><Relationship Id="rId12"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26.bin"/><Relationship Id="rId11" Type="http://schemas.openxmlformats.org/officeDocument/2006/relationships/oleObject" Target="../embeddings/oleObject31.bin"/><Relationship Id="rId5" Type="http://schemas.openxmlformats.org/officeDocument/2006/relationships/image" Target="../media/image33.wmf"/><Relationship Id="rId10" Type="http://schemas.openxmlformats.org/officeDocument/2006/relationships/oleObject" Target="../embeddings/oleObject30.bin"/><Relationship Id="rId4" Type="http://schemas.openxmlformats.org/officeDocument/2006/relationships/oleObject" Target="../embeddings/oleObject25.bin"/><Relationship Id="rId9" Type="http://schemas.openxmlformats.org/officeDocument/2006/relationships/oleObject" Target="../embeddings/oleObject29.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notesSlide" Target="../notesSlides/notesSlide19.xml"/><Relationship Id="rId7"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4.wmf"/><Relationship Id="rId5" Type="http://schemas.openxmlformats.org/officeDocument/2006/relationships/oleObject" Target="../embeddings/oleObject34.bin"/><Relationship Id="rId10" Type="http://schemas.openxmlformats.org/officeDocument/2006/relationships/image" Target="../media/image36.wmf"/><Relationship Id="rId4" Type="http://schemas.openxmlformats.org/officeDocument/2006/relationships/image" Target="../media/image37.png"/><Relationship Id="rId9" Type="http://schemas.openxmlformats.org/officeDocument/2006/relationships/oleObject" Target="../embeddings/oleObject36.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39.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38.bin"/><Relationship Id="rId5" Type="http://schemas.openxmlformats.org/officeDocument/2006/relationships/image" Target="../media/image38.wmf"/><Relationship Id="rId4" Type="http://schemas.openxmlformats.org/officeDocument/2006/relationships/oleObject" Target="../embeddings/oleObject37.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41.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40.bin"/><Relationship Id="rId5" Type="http://schemas.openxmlformats.org/officeDocument/2006/relationships/image" Target="../media/image40.wmf"/><Relationship Id="rId4" Type="http://schemas.openxmlformats.org/officeDocument/2006/relationships/oleObject" Target="../embeddings/oleObject39.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notesSlide" Target="../notesSlides/notesSlide22.xml"/><Relationship Id="rId7" Type="http://schemas.openxmlformats.org/officeDocument/2006/relationships/image" Target="../media/image43.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42.bin"/><Relationship Id="rId5" Type="http://schemas.openxmlformats.org/officeDocument/2006/relationships/image" Target="../media/image42.wmf"/><Relationship Id="rId10" Type="http://schemas.openxmlformats.org/officeDocument/2006/relationships/image" Target="../media/image45.png"/><Relationship Id="rId4" Type="http://schemas.openxmlformats.org/officeDocument/2006/relationships/oleObject" Target="../embeddings/oleObject41.bin"/><Relationship Id="rId9" Type="http://schemas.openxmlformats.org/officeDocument/2006/relationships/image" Target="../media/image44.w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45.bin"/><Relationship Id="rId5" Type="http://schemas.openxmlformats.org/officeDocument/2006/relationships/image" Target="../media/image29.wmf"/><Relationship Id="rId4" Type="http://schemas.openxmlformats.org/officeDocument/2006/relationships/oleObject" Target="../embeddings/oleObject44.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45.wmf"/><Relationship Id="rId4" Type="http://schemas.openxmlformats.org/officeDocument/2006/relationships/oleObject" Target="../embeddings/oleObject46.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47.w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48.bin"/><Relationship Id="rId5" Type="http://schemas.openxmlformats.org/officeDocument/2006/relationships/image" Target="../media/image46.wmf"/><Relationship Id="rId4" Type="http://schemas.openxmlformats.org/officeDocument/2006/relationships/oleObject" Target="../embeddings/oleObject47.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notesSlide" Target="../notesSlides/notesSlide27.xml"/><Relationship Id="rId7" Type="http://schemas.openxmlformats.org/officeDocument/2006/relationships/image" Target="../media/image49.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50.bin"/><Relationship Id="rId5" Type="http://schemas.openxmlformats.org/officeDocument/2006/relationships/image" Target="../media/image48.wmf"/><Relationship Id="rId4" Type="http://schemas.openxmlformats.org/officeDocument/2006/relationships/oleObject" Target="../embeddings/oleObject49.bin"/><Relationship Id="rId9" Type="http://schemas.openxmlformats.org/officeDocument/2006/relationships/image" Target="../media/image50.w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notesSlide" Target="../notesSlides/notesSlide30.xml"/><Relationship Id="rId7" Type="http://schemas.openxmlformats.org/officeDocument/2006/relationships/image" Target="../media/image52.w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53.bin"/><Relationship Id="rId5" Type="http://schemas.openxmlformats.org/officeDocument/2006/relationships/image" Target="../media/image51.wmf"/><Relationship Id="rId4" Type="http://schemas.openxmlformats.org/officeDocument/2006/relationships/oleObject" Target="../embeddings/oleObject52.bin"/><Relationship Id="rId9" Type="http://schemas.openxmlformats.org/officeDocument/2006/relationships/image" Target="../media/image53.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2DD01-B154-455A-B4D9-DFF01AC0C3C1}"/>
              </a:ext>
            </a:extLst>
          </p:cNvPr>
          <p:cNvSpPr>
            <a:spLocks noGrp="1"/>
          </p:cNvSpPr>
          <p:nvPr>
            <p:ph type="title"/>
          </p:nvPr>
        </p:nvSpPr>
        <p:spPr>
          <a:xfrm>
            <a:off x="2190485" y="1926373"/>
            <a:ext cx="7169821" cy="1315844"/>
          </a:xfrm>
        </p:spPr>
        <p:txBody>
          <a:bodyPr>
            <a:normAutofit fontScale="90000"/>
          </a:bodyPr>
          <a:lstStyle/>
          <a:p>
            <a:pPr>
              <a:lnSpc>
                <a:spcPct val="120000"/>
              </a:lnSpc>
            </a:pPr>
            <a:r>
              <a:rPr lang="en-GB" sz="4000" b="1" dirty="0">
                <a:latin typeface="Times New Roman" panose="02020603050405020304" pitchFamily="18" charset="0"/>
                <a:cs typeface="Times New Roman" panose="02020603050405020304" pitchFamily="18" charset="0"/>
              </a:rPr>
              <a:t>5.0 </a:t>
            </a:r>
            <a:r>
              <a:rPr lang="en-US" sz="4000" spc="-4" dirty="0"/>
              <a:t>Three Phase Theory               and Symmetrical Components </a:t>
            </a:r>
            <a:endParaRPr lang="en-GB"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22518F5-E001-45B5-84BF-6CF8CE6D0467}"/>
              </a:ext>
            </a:extLst>
          </p:cNvPr>
          <p:cNvSpPr>
            <a:spLocks noGrp="1"/>
          </p:cNvSpPr>
          <p:nvPr>
            <p:ph type="body" idx="1"/>
          </p:nvPr>
        </p:nvSpPr>
        <p:spPr>
          <a:xfrm>
            <a:off x="948267" y="790703"/>
            <a:ext cx="9654258" cy="656590"/>
          </a:xfrm>
        </p:spPr>
        <p:txBody>
          <a:bodyPr>
            <a:normAutofit/>
          </a:bodyPr>
          <a:lstStyle/>
          <a:p>
            <a:pPr marL="0" indent="0" algn="ctr">
              <a:buNone/>
            </a:pPr>
            <a:r>
              <a:rPr lang="en-US" b="1" dirty="0">
                <a:solidFill>
                  <a:srgbClr val="C00000"/>
                </a:solidFill>
                <a:latin typeface="Times New Roman" panose="02020603050405020304" pitchFamily="18" charset="0"/>
                <a:cs typeface="Times New Roman" panose="02020603050405020304" pitchFamily="18" charset="0"/>
              </a:rPr>
              <a:t>EE1203 – Theory of Electricity</a:t>
            </a:r>
            <a:endParaRPr lang="en-GB" b="1" dirty="0">
              <a:solidFill>
                <a:srgbClr val="C00000"/>
              </a:solidFill>
              <a:latin typeface="Times New Roman" panose="02020603050405020304" pitchFamily="18" charset="0"/>
              <a:cs typeface="Times New Roman" panose="02020603050405020304" pitchFamily="18" charset="0"/>
            </a:endParaRPr>
          </a:p>
        </p:txBody>
      </p:sp>
      <p:sp>
        <p:nvSpPr>
          <p:cNvPr id="5" name="Text Placeholder 2">
            <a:extLst>
              <a:ext uri="{FF2B5EF4-FFF2-40B4-BE49-F238E27FC236}">
                <a16:creationId xmlns:a16="http://schemas.microsoft.com/office/drawing/2014/main" id="{AC65E412-7FA8-4B5C-8E61-D0C3D1CE11B4}"/>
              </a:ext>
            </a:extLst>
          </p:cNvPr>
          <p:cNvSpPr txBox="1">
            <a:spLocks/>
          </p:cNvSpPr>
          <p:nvPr/>
        </p:nvSpPr>
        <p:spPr>
          <a:xfrm>
            <a:off x="1447123" y="3721298"/>
            <a:ext cx="8197380" cy="2865656"/>
          </a:xfrm>
          <a:prstGeom prst="rect">
            <a:avLst/>
          </a:prstGeom>
        </p:spPr>
        <p:txBody>
          <a:bodyPr wrap="square" lIns="0" tIns="0" rIns="0" bIns="0">
            <a:spAutoFit/>
          </a:bodyPr>
          <a:lstStyle>
            <a:lvl1pPr marL="0">
              <a:defRPr sz="3200" b="0"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56" b="1" i="0" u="none" strike="noStrike" kern="0" cap="none" spc="0" normalizeH="0" baseline="0" noProof="0" dirty="0">
                <a:ln>
                  <a:noFill/>
                </a:ln>
                <a:solidFill>
                  <a:srgbClr val="C00000"/>
                </a:solidFill>
                <a:effectLst/>
                <a:uLnTx/>
                <a:uFillTx/>
                <a:latin typeface="Times New Roman"/>
                <a:ea typeface="+mn-ea"/>
                <a:cs typeface="Times New Roman"/>
              </a:rPr>
              <a:t>      Prof J. Rohan Lucas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i="1" u="none" strike="noStrike" kern="0" cap="none" spc="0" normalizeH="0" baseline="0" noProof="0" dirty="0">
                <a:ln>
                  <a:noFill/>
                </a:ln>
                <a:solidFill>
                  <a:srgbClr val="C00000"/>
                </a:solidFill>
                <a:effectLst/>
                <a:uLnTx/>
                <a:uFillTx/>
                <a:latin typeface="Times New Roman"/>
                <a:ea typeface="+mn-ea"/>
                <a:cs typeface="Times New Roman"/>
              </a:rPr>
              <a:t>lucas@kdu.ac.lk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C00000"/>
              </a:solidFill>
              <a:effectLst/>
              <a:uLnTx/>
              <a:uFillTx/>
              <a:latin typeface="Times New Roman"/>
              <a:ea typeface="+mn-ea"/>
              <a:cs typeface="Times New Roman"/>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556" b="1" i="0" u="none" strike="noStrike" kern="0" cap="none" spc="0" normalizeH="0" baseline="0" noProof="0" dirty="0">
              <a:ln>
                <a:noFill/>
              </a:ln>
              <a:solidFill>
                <a:srgbClr val="C00000"/>
              </a:solidFill>
              <a:effectLst/>
              <a:uLnTx/>
              <a:uFillTx/>
              <a:latin typeface="Times New Roman"/>
              <a:ea typeface="+mn-ea"/>
              <a:cs typeface="Times New Roman"/>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prstClr val="black"/>
                </a:solidFill>
                <a:effectLst/>
                <a:uLnTx/>
                <a:uFillTx/>
                <a:latin typeface="Times New Roman"/>
                <a:ea typeface="+mn-ea"/>
                <a:cs typeface="Times New Roman"/>
              </a:rPr>
              <a:t>Department of Electrical, Electronic &amp; Telecommunication Engineering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44" b="0" i="0" u="none" strike="noStrike" kern="0" cap="none" spc="0" normalizeH="0" baseline="0" noProof="0" dirty="0">
                <a:ln>
                  <a:noFill/>
                </a:ln>
                <a:solidFill>
                  <a:prstClr val="black"/>
                </a:solidFill>
                <a:effectLst/>
                <a:uLnTx/>
                <a:uFillTx/>
                <a:latin typeface="Times New Roman"/>
                <a:ea typeface="+mn-ea"/>
                <a:cs typeface="Times New Roman"/>
              </a:rPr>
              <a:t>General Sir John Kotelawala </a:t>
            </a:r>
            <a:r>
              <a:rPr kumimoji="0" lang="en-US" sz="2844" b="0" i="0" u="none" strike="noStrike" kern="0" cap="none" spc="0" normalizeH="0" baseline="0" noProof="0" dirty="0" err="1">
                <a:ln>
                  <a:noFill/>
                </a:ln>
                <a:solidFill>
                  <a:prstClr val="black"/>
                </a:solidFill>
                <a:effectLst/>
                <a:uLnTx/>
                <a:uFillTx/>
                <a:latin typeface="Times New Roman"/>
                <a:ea typeface="+mn-ea"/>
                <a:cs typeface="Times New Roman"/>
              </a:rPr>
              <a:t>Defence</a:t>
            </a:r>
            <a:r>
              <a:rPr kumimoji="0" lang="en-US" sz="2844" b="0" i="0" u="none" strike="noStrike" kern="0" cap="none" spc="0" normalizeH="0" baseline="0" noProof="0" dirty="0">
                <a:ln>
                  <a:noFill/>
                </a:ln>
                <a:solidFill>
                  <a:prstClr val="black"/>
                </a:solidFill>
                <a:effectLst/>
                <a:uLnTx/>
                <a:uFillTx/>
                <a:latin typeface="Times New Roman"/>
                <a:ea typeface="+mn-ea"/>
                <a:cs typeface="Times New Roman"/>
              </a:rPr>
              <a:t> University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0" cap="none" spc="0" normalizeH="0" baseline="0" noProof="0" dirty="0">
                <a:ln>
                  <a:noFill/>
                </a:ln>
                <a:solidFill>
                  <a:prstClr val="black"/>
                </a:solidFill>
                <a:effectLst/>
                <a:uLnTx/>
                <a:uFillTx/>
                <a:latin typeface="Times New Roman"/>
                <a:ea typeface="+mn-ea"/>
                <a:cs typeface="Times New Roman"/>
              </a:rPr>
              <a:t>September 2020</a:t>
            </a:r>
            <a:endParaRPr kumimoji="0" lang="en-GB" sz="2133" b="0" i="0" u="none" strike="noStrike" kern="0" cap="none" spc="0" normalizeH="0" baseline="0" noProof="0" dirty="0">
              <a:ln>
                <a:noFill/>
              </a:ln>
              <a:solidFill>
                <a:prstClr val="black"/>
              </a:solidFill>
              <a:effectLst/>
              <a:uLnTx/>
              <a:uFillTx/>
              <a:latin typeface="Times New Roman"/>
              <a:ea typeface="+mn-ea"/>
              <a:cs typeface="Times New Roman"/>
            </a:endParaRPr>
          </a:p>
        </p:txBody>
      </p:sp>
      <p:sp>
        <p:nvSpPr>
          <p:cNvPr id="6" name="Text Box 30">
            <a:extLst>
              <a:ext uri="{FF2B5EF4-FFF2-40B4-BE49-F238E27FC236}">
                <a16:creationId xmlns:a16="http://schemas.microsoft.com/office/drawing/2014/main" id="{DD381730-9E11-4955-9AAD-17D69E2E1FFC}"/>
              </a:ext>
            </a:extLst>
          </p:cNvPr>
          <p:cNvSpPr txBox="1">
            <a:spLocks noChangeArrowheads="1"/>
          </p:cNvSpPr>
          <p:nvPr/>
        </p:nvSpPr>
        <p:spPr bwMode="auto">
          <a:xfrm>
            <a:off x="10315440" y="1080408"/>
            <a:ext cx="1662112" cy="60642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1" i="1" u="none" strike="noStrike" cap="none" normalizeH="0" baseline="0">
                <a:ln>
                  <a:noFill/>
                </a:ln>
                <a:solidFill>
                  <a:srgbClr val="FF0000"/>
                </a:solidFill>
                <a:effectLst/>
                <a:latin typeface="Coronet" panose="03030502040406070605" pitchFamily="66" charset="0"/>
                <a:ea typeface="Times New Roman" panose="02020603050405020304" pitchFamily="18" charset="0"/>
              </a:rPr>
              <a:t>Lecture 9</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62176860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403D9-5BBE-47E4-8F66-CC176CE69F43}"/>
              </a:ext>
            </a:extLst>
          </p:cNvPr>
          <p:cNvSpPr>
            <a:spLocks noGrp="1"/>
          </p:cNvSpPr>
          <p:nvPr>
            <p:ph type="title"/>
          </p:nvPr>
        </p:nvSpPr>
        <p:spPr>
          <a:xfrm>
            <a:off x="429715" y="582715"/>
            <a:ext cx="10924085" cy="482745"/>
          </a:xfrm>
        </p:spPr>
        <p:txBody>
          <a:bodyPr>
            <a:noAutofit/>
          </a:bodyPr>
          <a:lstStyle/>
          <a:p>
            <a:pPr algn="ctr"/>
            <a:r>
              <a:rPr lang="en-GB" dirty="0">
                <a:latin typeface="Times New Roman" panose="02020603050405020304" pitchFamily="18" charset="0"/>
                <a:cs typeface="Times New Roman" panose="02020603050405020304" pitchFamily="18" charset="0"/>
              </a:rPr>
              <a:t>Learning Outcomes</a:t>
            </a:r>
          </a:p>
        </p:txBody>
      </p:sp>
      <p:sp>
        <p:nvSpPr>
          <p:cNvPr id="19" name="Text Box 2347">
            <a:extLst>
              <a:ext uri="{FF2B5EF4-FFF2-40B4-BE49-F238E27FC236}">
                <a16:creationId xmlns:a16="http://schemas.microsoft.com/office/drawing/2014/main" id="{E9381B68-0349-40D5-BA33-56730954E056}"/>
              </a:ext>
            </a:extLst>
          </p:cNvPr>
          <p:cNvSpPr txBox="1">
            <a:spLocks noChangeArrowheads="1"/>
          </p:cNvSpPr>
          <p:nvPr/>
        </p:nvSpPr>
        <p:spPr bwMode="auto">
          <a:xfrm>
            <a:off x="9218266" y="2607656"/>
            <a:ext cx="442844" cy="36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ot="0" vert="horz" wrap="square" lIns="91440" tIns="45720" rIns="91440" bIns="45720" anchor="t" anchorCtr="0" upright="1">
            <a:noAutofit/>
          </a:bodyPr>
          <a:lstStyle/>
          <a:p>
            <a:pPr marL="0" marR="0">
              <a:spcBef>
                <a:spcPts val="0"/>
              </a:spcBef>
              <a:spcAft>
                <a:spcPts val="0"/>
              </a:spcAft>
            </a:pPr>
            <a:r>
              <a:rPr lang="en-GB" sz="2400">
                <a:solidFill>
                  <a:srgbClr val="FFFFFF"/>
                </a:solidFill>
                <a:effectLst/>
                <a:latin typeface="Times New Roman" panose="02020603050405020304" pitchFamily="18" charset="0"/>
                <a:ea typeface="Times New Roman" panose="02020603050405020304" pitchFamily="18" charset="0"/>
              </a:rPr>
              <a:t>t</a:t>
            </a:r>
            <a:endParaRPr lang="en-GB" sz="800">
              <a:effectLst/>
              <a:latin typeface="Times New Roman" panose="02020603050405020304" pitchFamily="18" charset="0"/>
              <a:ea typeface="Times New Roman" panose="02020603050405020304" pitchFamily="18" charset="0"/>
            </a:endParaRPr>
          </a:p>
        </p:txBody>
      </p:sp>
      <p:sp>
        <p:nvSpPr>
          <p:cNvPr id="3" name="Rectangle 2">
            <a:extLst>
              <a:ext uri="{FF2B5EF4-FFF2-40B4-BE49-F238E27FC236}">
                <a16:creationId xmlns:a16="http://schemas.microsoft.com/office/drawing/2014/main" id="{1F9D7BD7-3FA6-4E36-8065-73CFE61DD22E}"/>
              </a:ext>
            </a:extLst>
          </p:cNvPr>
          <p:cNvSpPr/>
          <p:nvPr/>
        </p:nvSpPr>
        <p:spPr>
          <a:xfrm>
            <a:off x="280860" y="944402"/>
            <a:ext cx="11409359" cy="5785879"/>
          </a:xfrm>
          <a:prstGeom prst="rect">
            <a:avLst/>
          </a:prstGeom>
        </p:spPr>
        <p:txBody>
          <a:bodyPr wrap="square">
            <a:spAutoFit/>
          </a:bodyPr>
          <a:lstStyle/>
          <a:p>
            <a:pPr marL="1151255" indent="-1151255">
              <a:lnSpc>
                <a:spcPct val="115000"/>
              </a:lnSpc>
            </a:pPr>
            <a:r>
              <a:rPr lang="en-GB" sz="3600" dirty="0">
                <a:solidFill>
                  <a:srgbClr val="002060"/>
                </a:solidFill>
                <a:latin typeface="Times New Roman" panose="02020603050405020304" pitchFamily="18" charset="0"/>
                <a:ea typeface="Calibri" panose="020F0502020204030204" pitchFamily="34" charset="0"/>
                <a:cs typeface="Latha" panose="02000400000000000000" pitchFamily="2"/>
              </a:rPr>
              <a:t>On completion of module, student will be able to </a:t>
            </a:r>
            <a:endParaRPr lang="en-GB" sz="1200" dirty="0">
              <a:solidFill>
                <a:srgbClr val="002060"/>
              </a:solidFill>
              <a:latin typeface="Calibri" panose="020F0502020204030204" pitchFamily="34" charset="0"/>
              <a:ea typeface="Calibri" panose="020F0502020204030204" pitchFamily="34" charset="0"/>
              <a:cs typeface="Latha" panose="02000400000000000000" pitchFamily="2"/>
            </a:endParaRPr>
          </a:p>
          <a:p>
            <a:pPr marL="1151255" indent="-1151255">
              <a:lnSpc>
                <a:spcPct val="115000"/>
              </a:lnSpc>
            </a:pP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LO1</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Analyse</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the performances of AC circuits</a:t>
            </a:r>
            <a:r>
              <a:rPr lang="en-GB" sz="36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p>
          <a:p>
            <a:pPr marL="1151255" indent="-1151255">
              <a:lnSpc>
                <a:spcPct val="115000"/>
              </a:lnSpc>
            </a:pPr>
            <a:r>
              <a:rPr lang="en-GB" dirty="0">
                <a:solidFill>
                  <a:schemeClr val="dk1"/>
                </a:solidFill>
              </a:rPr>
              <a:t>	</a:t>
            </a:r>
            <a:r>
              <a:rPr lang="en-GB" sz="3600" dirty="0">
                <a:solidFill>
                  <a:srgbClr val="002060"/>
                </a:solidFill>
                <a:latin typeface="Times New Roman" panose="02020603050405020304" pitchFamily="18" charset="0"/>
                <a:cs typeface="Latha" panose="02000400000000000000" pitchFamily="2"/>
              </a:rPr>
              <a:t>Analyse circuits</a:t>
            </a:r>
            <a:r>
              <a:rPr lang="en-GB" dirty="0">
                <a:solidFill>
                  <a:srgbClr val="002060"/>
                </a:solidFill>
              </a:rPr>
              <a:t> </a:t>
            </a:r>
            <a:r>
              <a:rPr lang="en-GB" sz="3600" dirty="0">
                <a:solidFill>
                  <a:srgbClr val="002060"/>
                </a:solidFill>
                <a:latin typeface="Times New Roman" panose="02020603050405020304" pitchFamily="18" charset="0"/>
                <a:cs typeface="Latha" panose="02000400000000000000" pitchFamily="2"/>
              </a:rPr>
              <a:t>using nodal and mesh theory</a:t>
            </a:r>
          </a:p>
          <a:p>
            <a:pPr marL="1151255" indent="-1151255">
              <a:lnSpc>
                <a:spcPct val="115000"/>
              </a:lnSpc>
            </a:pPr>
            <a:r>
              <a:rPr lang="en-GB" sz="3600" b="1" dirty="0">
                <a:solidFill>
                  <a:srgbClr val="002060"/>
                </a:solidFill>
                <a:latin typeface="Times New Roman" panose="02020603050405020304" pitchFamily="18" charset="0"/>
                <a:ea typeface="Calibri" panose="020F0502020204030204" pitchFamily="34" charset="0"/>
                <a:cs typeface="Latha" panose="02000400000000000000" pitchFamily="2"/>
              </a:rPr>
              <a:t>LO2</a:t>
            </a:r>
            <a:r>
              <a:rPr lang="en-GB" sz="3600" dirty="0">
                <a:solidFill>
                  <a:srgbClr val="002060"/>
                </a:solidFill>
                <a:latin typeface="Times New Roman" panose="02020603050405020304" pitchFamily="18" charset="0"/>
                <a:ea typeface="Calibri" panose="020F0502020204030204" pitchFamily="34" charset="0"/>
                <a:cs typeface="Latha" panose="02000400000000000000" pitchFamily="2"/>
              </a:rPr>
              <a:t>: </a:t>
            </a:r>
            <a:r>
              <a:rPr lang="en-GB" sz="3600" b="1" dirty="0">
                <a:solidFill>
                  <a:srgbClr val="002060"/>
                </a:solidFill>
                <a:latin typeface="Times New Roman" panose="02020603050405020304" pitchFamily="18" charset="0"/>
                <a:ea typeface="Calibri" panose="020F0502020204030204" pitchFamily="34" charset="0"/>
                <a:cs typeface="Latha" panose="02000400000000000000" pitchFamily="2"/>
              </a:rPr>
              <a:t>Analyse</a:t>
            </a:r>
            <a:r>
              <a:rPr lang="en-GB" sz="3600" dirty="0">
                <a:solidFill>
                  <a:srgbClr val="002060"/>
                </a:solidFill>
                <a:latin typeface="Times New Roman" panose="02020603050405020304" pitchFamily="18" charset="0"/>
                <a:ea typeface="Calibri" panose="020F0502020204030204" pitchFamily="34" charset="0"/>
                <a:cs typeface="Latha" panose="02000400000000000000" pitchFamily="2"/>
              </a:rPr>
              <a:t> two port networks using different models. </a:t>
            </a:r>
            <a:endParaRPr lang="en-GB" sz="1200" dirty="0">
              <a:solidFill>
                <a:srgbClr val="002060"/>
              </a:solidFill>
              <a:latin typeface="Calibri" panose="020F0502020204030204" pitchFamily="34" charset="0"/>
              <a:ea typeface="Calibri" panose="020F0502020204030204" pitchFamily="34" charset="0"/>
              <a:cs typeface="Latha" panose="02000400000000000000" pitchFamily="2"/>
            </a:endParaRPr>
          </a:p>
          <a:p>
            <a:pPr marL="1151255" indent="-1151255">
              <a:lnSpc>
                <a:spcPct val="115000"/>
              </a:lnSpc>
            </a:pP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LO3</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Analyse</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transfer functions of </a:t>
            </a:r>
            <a:r>
              <a:rPr lang="en-GB" sz="3600" dirty="0" err="1">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RLC</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networks for transients. </a:t>
            </a:r>
            <a:endParaRPr lang="en-GB" sz="1200" dirty="0">
              <a:solidFill>
                <a:srgbClr val="002060"/>
              </a:solidFill>
              <a:latin typeface="Calibri" panose="020F0502020204030204" pitchFamily="34" charset="0"/>
              <a:ea typeface="Times New Roman" panose="02020603050405020304" pitchFamily="18" charset="0"/>
              <a:cs typeface="Times New Roman" panose="02020603050405020304" pitchFamily="18" charset="0"/>
            </a:endParaRPr>
          </a:p>
          <a:p>
            <a:pPr marL="1151255" indent="-1151255">
              <a:lnSpc>
                <a:spcPct val="115000"/>
              </a:lnSpc>
            </a:pP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LO4</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GB"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Analyse</a:t>
            </a:r>
            <a:r>
              <a:rPr lang="en-GB" sz="36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waveforms for its harmonics.</a:t>
            </a:r>
          </a:p>
          <a:p>
            <a:pPr marL="1151255" indent="-1151255">
              <a:lnSpc>
                <a:spcPct val="115000"/>
              </a:lnSpc>
            </a:pPr>
            <a:r>
              <a:rPr lang="en-US" sz="36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LO5: </a:t>
            </a:r>
            <a:r>
              <a:rPr lang="en-US" sz="36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Perform calculations in three phase circuits    including unbalanced waveforms.</a:t>
            </a:r>
            <a:endParaRPr lang="en-GB" sz="3600" b="1" dirty="0">
              <a:solidFill>
                <a:srgbClr val="C00000"/>
              </a:solidFill>
            </a:endParaRPr>
          </a:p>
        </p:txBody>
      </p:sp>
    </p:spTree>
    <p:custDataLst>
      <p:tags r:id="rId1"/>
    </p:custDataLst>
    <p:extLst>
      <p:ext uri="{BB962C8B-B14F-4D97-AF65-F5344CB8AC3E}">
        <p14:creationId xmlns:p14="http://schemas.microsoft.com/office/powerpoint/2010/main" val="3939636668"/>
      </p:ext>
    </p:extLst>
  </p:cSld>
  <p:clrMapOvr>
    <a:masterClrMapping/>
  </p:clrMapOvr>
  <mc:AlternateContent xmlns:mc="http://schemas.openxmlformats.org/markup-compatibility/2006" xmlns:p14="http://schemas.microsoft.com/office/powerpoint/2010/main">
    <mc:Choice Requires="p14">
      <p:transition spd="slow" p14:dur="2000" advTm="149574"/>
    </mc:Choice>
    <mc:Fallback xmlns="">
      <p:transition spd="slow" advTm="14957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GB" dirty="0"/>
              <a:t>Three Phase Theory and Symmetrical Components </a:t>
            </a:r>
          </a:p>
        </p:txBody>
      </p:sp>
      <p:grpSp>
        <p:nvGrpSpPr>
          <p:cNvPr id="4" name="Group 1">
            <a:extLst>
              <a:ext uri="{FF2B5EF4-FFF2-40B4-BE49-F238E27FC236}">
                <a16:creationId xmlns:a16="http://schemas.microsoft.com/office/drawing/2014/main" id="{9C4B1AD9-1B67-447A-82DE-392321253F97}"/>
              </a:ext>
            </a:extLst>
          </p:cNvPr>
          <p:cNvGrpSpPr>
            <a:grpSpLocks noChangeAspect="1"/>
          </p:cNvGrpSpPr>
          <p:nvPr/>
        </p:nvGrpSpPr>
        <p:grpSpPr bwMode="auto">
          <a:xfrm>
            <a:off x="748690" y="3419129"/>
            <a:ext cx="9418320" cy="3139035"/>
            <a:chOff x="2199" y="3585"/>
            <a:chExt cx="5040" cy="2683"/>
          </a:xfrm>
        </p:grpSpPr>
        <p:grpSp>
          <p:nvGrpSpPr>
            <p:cNvPr id="5" name="Group 7">
              <a:extLst>
                <a:ext uri="{FF2B5EF4-FFF2-40B4-BE49-F238E27FC236}">
                  <a16:creationId xmlns:a16="http://schemas.microsoft.com/office/drawing/2014/main" id="{C2303FB3-7BC8-43D0-864E-FE90292BB54A}"/>
                </a:ext>
              </a:extLst>
            </p:cNvPr>
            <p:cNvGrpSpPr>
              <a:grpSpLocks/>
            </p:cNvGrpSpPr>
            <p:nvPr/>
          </p:nvGrpSpPr>
          <p:grpSpPr bwMode="auto">
            <a:xfrm>
              <a:off x="2199" y="3595"/>
              <a:ext cx="5040" cy="2160"/>
              <a:chOff x="8460" y="3960"/>
              <a:chExt cx="5040" cy="2160"/>
            </a:xfrm>
          </p:grpSpPr>
          <p:sp>
            <p:nvSpPr>
              <p:cNvPr id="11" name="Freeform 29">
                <a:extLst>
                  <a:ext uri="{FF2B5EF4-FFF2-40B4-BE49-F238E27FC236}">
                    <a16:creationId xmlns:a16="http://schemas.microsoft.com/office/drawing/2014/main" id="{B58A5F08-235F-4629-8F37-0543487139F7}"/>
                  </a:ext>
                </a:extLst>
              </p:cNvPr>
              <p:cNvSpPr>
                <a:spLocks/>
              </p:cNvSpPr>
              <p:nvPr/>
            </p:nvSpPr>
            <p:spPr bwMode="auto">
              <a:xfrm>
                <a:off x="9060" y="396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FFCC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 name="Freeform 28">
                <a:extLst>
                  <a:ext uri="{FF2B5EF4-FFF2-40B4-BE49-F238E27FC236}">
                    <a16:creationId xmlns:a16="http://schemas.microsoft.com/office/drawing/2014/main" id="{5CB9754C-34AB-433E-8B0C-B703D80F7F98}"/>
                  </a:ext>
                </a:extLst>
              </p:cNvPr>
              <p:cNvSpPr>
                <a:spLocks/>
              </p:cNvSpPr>
              <p:nvPr/>
            </p:nvSpPr>
            <p:spPr bwMode="auto">
              <a:xfrm flipV="1">
                <a:off x="9780" y="504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FFCC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 name="Freeform 27">
                <a:extLst>
                  <a:ext uri="{FF2B5EF4-FFF2-40B4-BE49-F238E27FC236}">
                    <a16:creationId xmlns:a16="http://schemas.microsoft.com/office/drawing/2014/main" id="{D5661240-22AC-42EC-9CA3-E74F19D098C5}"/>
                  </a:ext>
                </a:extLst>
              </p:cNvPr>
              <p:cNvSpPr>
                <a:spLocks/>
              </p:cNvSpPr>
              <p:nvPr/>
            </p:nvSpPr>
            <p:spPr bwMode="auto">
              <a:xfrm>
                <a:off x="10500" y="396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FFCC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 name="Freeform 26">
                <a:extLst>
                  <a:ext uri="{FF2B5EF4-FFF2-40B4-BE49-F238E27FC236}">
                    <a16:creationId xmlns:a16="http://schemas.microsoft.com/office/drawing/2014/main" id="{F95273D5-D27F-4AB1-9F5A-8CD8DC6D9BB5}"/>
                  </a:ext>
                </a:extLst>
              </p:cNvPr>
              <p:cNvSpPr>
                <a:spLocks/>
              </p:cNvSpPr>
              <p:nvPr/>
            </p:nvSpPr>
            <p:spPr bwMode="auto">
              <a:xfrm flipV="1">
                <a:off x="11220" y="504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FFCC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 name="Freeform 25">
                <a:extLst>
                  <a:ext uri="{FF2B5EF4-FFF2-40B4-BE49-F238E27FC236}">
                    <a16:creationId xmlns:a16="http://schemas.microsoft.com/office/drawing/2014/main" id="{09370075-C607-4E1C-912F-CDDC88F7C399}"/>
                  </a:ext>
                </a:extLst>
              </p:cNvPr>
              <p:cNvSpPr>
                <a:spLocks/>
              </p:cNvSpPr>
              <p:nvPr/>
            </p:nvSpPr>
            <p:spPr bwMode="auto">
              <a:xfrm>
                <a:off x="11940" y="396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FFCC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 name="Freeform 24">
                <a:extLst>
                  <a:ext uri="{FF2B5EF4-FFF2-40B4-BE49-F238E27FC236}">
                    <a16:creationId xmlns:a16="http://schemas.microsoft.com/office/drawing/2014/main" id="{5FB4FF1B-192B-4F34-83C9-155E31F655F4}"/>
                  </a:ext>
                </a:extLst>
              </p:cNvPr>
              <p:cNvSpPr>
                <a:spLocks/>
              </p:cNvSpPr>
              <p:nvPr/>
            </p:nvSpPr>
            <p:spPr bwMode="auto">
              <a:xfrm flipV="1">
                <a:off x="12660" y="504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FFCC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17" name="Group 21">
                <a:extLst>
                  <a:ext uri="{FF2B5EF4-FFF2-40B4-BE49-F238E27FC236}">
                    <a16:creationId xmlns:a16="http://schemas.microsoft.com/office/drawing/2014/main" id="{2E1DD733-8024-4590-A160-AD2C203464D2}"/>
                  </a:ext>
                </a:extLst>
              </p:cNvPr>
              <p:cNvGrpSpPr>
                <a:grpSpLocks/>
              </p:cNvGrpSpPr>
              <p:nvPr/>
            </p:nvGrpSpPr>
            <p:grpSpPr bwMode="auto">
              <a:xfrm>
                <a:off x="8595" y="3960"/>
                <a:ext cx="1440" cy="2160"/>
                <a:chOff x="9000" y="3960"/>
                <a:chExt cx="1440" cy="2160"/>
              </a:xfrm>
            </p:grpSpPr>
            <p:sp>
              <p:nvSpPr>
                <p:cNvPr id="31" name="Freeform 23">
                  <a:extLst>
                    <a:ext uri="{FF2B5EF4-FFF2-40B4-BE49-F238E27FC236}">
                      <a16:creationId xmlns:a16="http://schemas.microsoft.com/office/drawing/2014/main" id="{AF7998F6-1C45-4589-8BC0-7A55B7329E09}"/>
                    </a:ext>
                  </a:extLst>
                </p:cNvPr>
                <p:cNvSpPr>
                  <a:spLocks/>
                </p:cNvSpPr>
                <p:nvPr/>
              </p:nvSpPr>
              <p:spPr bwMode="auto">
                <a:xfrm>
                  <a:off x="9000" y="396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C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 name="Freeform 22">
                  <a:extLst>
                    <a:ext uri="{FF2B5EF4-FFF2-40B4-BE49-F238E27FC236}">
                      <a16:creationId xmlns:a16="http://schemas.microsoft.com/office/drawing/2014/main" id="{6D18CDCF-0017-4B3F-B6F5-E8007915037E}"/>
                    </a:ext>
                  </a:extLst>
                </p:cNvPr>
                <p:cNvSpPr>
                  <a:spLocks/>
                </p:cNvSpPr>
                <p:nvPr/>
              </p:nvSpPr>
              <p:spPr bwMode="auto">
                <a:xfrm flipV="1">
                  <a:off x="9720" y="504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C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8" name="Group 18">
                <a:extLst>
                  <a:ext uri="{FF2B5EF4-FFF2-40B4-BE49-F238E27FC236}">
                    <a16:creationId xmlns:a16="http://schemas.microsoft.com/office/drawing/2014/main" id="{14AB9B09-F838-4AA1-9E1E-E44AA295ADCB}"/>
                  </a:ext>
                </a:extLst>
              </p:cNvPr>
              <p:cNvGrpSpPr>
                <a:grpSpLocks/>
              </p:cNvGrpSpPr>
              <p:nvPr/>
            </p:nvGrpSpPr>
            <p:grpSpPr bwMode="auto">
              <a:xfrm>
                <a:off x="10035" y="3960"/>
                <a:ext cx="1440" cy="2160"/>
                <a:chOff x="9000" y="3960"/>
                <a:chExt cx="1440" cy="2160"/>
              </a:xfrm>
            </p:grpSpPr>
            <p:sp>
              <p:nvSpPr>
                <p:cNvPr id="29" name="Freeform 20">
                  <a:extLst>
                    <a:ext uri="{FF2B5EF4-FFF2-40B4-BE49-F238E27FC236}">
                      <a16:creationId xmlns:a16="http://schemas.microsoft.com/office/drawing/2014/main" id="{A4064E08-2CCF-423A-AEBB-01D93973CF4E}"/>
                    </a:ext>
                  </a:extLst>
                </p:cNvPr>
                <p:cNvSpPr>
                  <a:spLocks/>
                </p:cNvSpPr>
                <p:nvPr/>
              </p:nvSpPr>
              <p:spPr bwMode="auto">
                <a:xfrm>
                  <a:off x="9000" y="396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C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 name="Freeform 19">
                  <a:extLst>
                    <a:ext uri="{FF2B5EF4-FFF2-40B4-BE49-F238E27FC236}">
                      <a16:creationId xmlns:a16="http://schemas.microsoft.com/office/drawing/2014/main" id="{E940EA22-2889-4AE8-94BE-BB6C1831DCBF}"/>
                    </a:ext>
                  </a:extLst>
                </p:cNvPr>
                <p:cNvSpPr>
                  <a:spLocks/>
                </p:cNvSpPr>
                <p:nvPr/>
              </p:nvSpPr>
              <p:spPr bwMode="auto">
                <a:xfrm flipV="1">
                  <a:off x="9720" y="504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C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9" name="Group 15">
                <a:extLst>
                  <a:ext uri="{FF2B5EF4-FFF2-40B4-BE49-F238E27FC236}">
                    <a16:creationId xmlns:a16="http://schemas.microsoft.com/office/drawing/2014/main" id="{836A93CE-BE63-4D79-ADB0-0ED56A896733}"/>
                  </a:ext>
                </a:extLst>
              </p:cNvPr>
              <p:cNvGrpSpPr>
                <a:grpSpLocks/>
              </p:cNvGrpSpPr>
              <p:nvPr/>
            </p:nvGrpSpPr>
            <p:grpSpPr bwMode="auto">
              <a:xfrm>
                <a:off x="11475" y="3960"/>
                <a:ext cx="1440" cy="2160"/>
                <a:chOff x="9000" y="3960"/>
                <a:chExt cx="1440" cy="2160"/>
              </a:xfrm>
            </p:grpSpPr>
            <p:sp>
              <p:nvSpPr>
                <p:cNvPr id="27" name="Freeform 17">
                  <a:extLst>
                    <a:ext uri="{FF2B5EF4-FFF2-40B4-BE49-F238E27FC236}">
                      <a16:creationId xmlns:a16="http://schemas.microsoft.com/office/drawing/2014/main" id="{72B6F0D2-1778-49F3-91B3-F744409D064C}"/>
                    </a:ext>
                  </a:extLst>
                </p:cNvPr>
                <p:cNvSpPr>
                  <a:spLocks/>
                </p:cNvSpPr>
                <p:nvPr/>
              </p:nvSpPr>
              <p:spPr bwMode="auto">
                <a:xfrm>
                  <a:off x="9000" y="396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C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 name="Freeform 16">
                  <a:extLst>
                    <a:ext uri="{FF2B5EF4-FFF2-40B4-BE49-F238E27FC236}">
                      <a16:creationId xmlns:a16="http://schemas.microsoft.com/office/drawing/2014/main" id="{3854025D-1E4F-4AB7-B56D-BF4ACEF6AD97}"/>
                    </a:ext>
                  </a:extLst>
                </p:cNvPr>
                <p:cNvSpPr>
                  <a:spLocks/>
                </p:cNvSpPr>
                <p:nvPr/>
              </p:nvSpPr>
              <p:spPr bwMode="auto">
                <a:xfrm flipV="1">
                  <a:off x="9720" y="504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C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20" name="Freeform 14">
                <a:extLst>
                  <a:ext uri="{FF2B5EF4-FFF2-40B4-BE49-F238E27FC236}">
                    <a16:creationId xmlns:a16="http://schemas.microsoft.com/office/drawing/2014/main" id="{F3E41B8E-EBFB-43DD-9EFE-9C4DAAD273A6}"/>
                  </a:ext>
                </a:extLst>
              </p:cNvPr>
              <p:cNvSpPr>
                <a:spLocks/>
              </p:cNvSpPr>
              <p:nvPr/>
            </p:nvSpPr>
            <p:spPr bwMode="auto">
              <a:xfrm>
                <a:off x="12420" y="396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00B0F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 name="Freeform 13">
                <a:extLst>
                  <a:ext uri="{FF2B5EF4-FFF2-40B4-BE49-F238E27FC236}">
                    <a16:creationId xmlns:a16="http://schemas.microsoft.com/office/drawing/2014/main" id="{07A2883A-18F6-444C-B27B-BF0F46E84F43}"/>
                  </a:ext>
                </a:extLst>
              </p:cNvPr>
              <p:cNvSpPr>
                <a:spLocks/>
              </p:cNvSpPr>
              <p:nvPr/>
            </p:nvSpPr>
            <p:spPr bwMode="auto">
              <a:xfrm flipV="1">
                <a:off x="8820" y="504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00B0F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 name="Freeform 12">
                <a:extLst>
                  <a:ext uri="{FF2B5EF4-FFF2-40B4-BE49-F238E27FC236}">
                    <a16:creationId xmlns:a16="http://schemas.microsoft.com/office/drawing/2014/main" id="{183D3C56-2F86-4DE0-A20C-51A3350DC68B}"/>
                  </a:ext>
                </a:extLst>
              </p:cNvPr>
              <p:cNvSpPr>
                <a:spLocks/>
              </p:cNvSpPr>
              <p:nvPr/>
            </p:nvSpPr>
            <p:spPr bwMode="auto">
              <a:xfrm>
                <a:off x="9540" y="396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00B0F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 name="Freeform 11">
                <a:extLst>
                  <a:ext uri="{FF2B5EF4-FFF2-40B4-BE49-F238E27FC236}">
                    <a16:creationId xmlns:a16="http://schemas.microsoft.com/office/drawing/2014/main" id="{D15C5D4C-20D8-48F1-972D-C5CBD42AE3E9}"/>
                  </a:ext>
                </a:extLst>
              </p:cNvPr>
              <p:cNvSpPr>
                <a:spLocks/>
              </p:cNvSpPr>
              <p:nvPr/>
            </p:nvSpPr>
            <p:spPr bwMode="auto">
              <a:xfrm flipV="1">
                <a:off x="10260" y="504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00B0F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 name="Freeform 10">
                <a:extLst>
                  <a:ext uri="{FF2B5EF4-FFF2-40B4-BE49-F238E27FC236}">
                    <a16:creationId xmlns:a16="http://schemas.microsoft.com/office/drawing/2014/main" id="{D634399C-5201-4EE2-8E56-2F85AAA3F9D5}"/>
                  </a:ext>
                </a:extLst>
              </p:cNvPr>
              <p:cNvSpPr>
                <a:spLocks/>
              </p:cNvSpPr>
              <p:nvPr/>
            </p:nvSpPr>
            <p:spPr bwMode="auto">
              <a:xfrm>
                <a:off x="10980" y="396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00B0F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 name="Freeform 9">
                <a:extLst>
                  <a:ext uri="{FF2B5EF4-FFF2-40B4-BE49-F238E27FC236}">
                    <a16:creationId xmlns:a16="http://schemas.microsoft.com/office/drawing/2014/main" id="{5D488C0B-3C53-4AE3-97C0-5912A81B1116}"/>
                  </a:ext>
                </a:extLst>
              </p:cNvPr>
              <p:cNvSpPr>
                <a:spLocks/>
              </p:cNvSpPr>
              <p:nvPr/>
            </p:nvSpPr>
            <p:spPr bwMode="auto">
              <a:xfrm flipV="1">
                <a:off x="11700" y="5040"/>
                <a:ext cx="720" cy="1080"/>
              </a:xfrm>
              <a:custGeom>
                <a:avLst/>
                <a:gdLst>
                  <a:gd name="T0" fmla="*/ 0 w 720"/>
                  <a:gd name="T1" fmla="*/ 1080 h 1080"/>
                  <a:gd name="T2" fmla="*/ 360 w 720"/>
                  <a:gd name="T3" fmla="*/ 0 h 1080"/>
                  <a:gd name="T4" fmla="*/ 720 w 720"/>
                  <a:gd name="T5" fmla="*/ 1080 h 1080"/>
                </a:gdLst>
                <a:ahLst/>
                <a:cxnLst>
                  <a:cxn ang="0">
                    <a:pos x="T0" y="T1"/>
                  </a:cxn>
                  <a:cxn ang="0">
                    <a:pos x="T2" y="T3"/>
                  </a:cxn>
                  <a:cxn ang="0">
                    <a:pos x="T4" y="T5"/>
                  </a:cxn>
                </a:cxnLst>
                <a:rect l="0" t="0" r="r" b="b"/>
                <a:pathLst>
                  <a:path w="720" h="1080">
                    <a:moveTo>
                      <a:pt x="0" y="1080"/>
                    </a:moveTo>
                    <a:cubicBezTo>
                      <a:pt x="120" y="540"/>
                      <a:pt x="240" y="0"/>
                      <a:pt x="360" y="0"/>
                    </a:cubicBezTo>
                    <a:cubicBezTo>
                      <a:pt x="480" y="0"/>
                      <a:pt x="660" y="840"/>
                      <a:pt x="720" y="1080"/>
                    </a:cubicBezTo>
                  </a:path>
                </a:pathLst>
              </a:custGeom>
              <a:noFill/>
              <a:ln w="57150">
                <a:solidFill>
                  <a:srgbClr val="00B0F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 name="Line 8">
                <a:extLst>
                  <a:ext uri="{FF2B5EF4-FFF2-40B4-BE49-F238E27FC236}">
                    <a16:creationId xmlns:a16="http://schemas.microsoft.com/office/drawing/2014/main" id="{C94B0F6D-2300-421D-8151-4D18ED639FB6}"/>
                  </a:ext>
                </a:extLst>
              </p:cNvPr>
              <p:cNvSpPr>
                <a:spLocks noChangeShapeType="1"/>
              </p:cNvSpPr>
              <p:nvPr/>
            </p:nvSpPr>
            <p:spPr bwMode="auto">
              <a:xfrm>
                <a:off x="8460" y="5040"/>
                <a:ext cx="504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6" name="Text Box 6">
              <a:extLst>
                <a:ext uri="{FF2B5EF4-FFF2-40B4-BE49-F238E27FC236}">
                  <a16:creationId xmlns:a16="http://schemas.microsoft.com/office/drawing/2014/main" id="{3A1517A4-81BD-41E2-B548-B6156A9A7380}"/>
                </a:ext>
              </a:extLst>
            </p:cNvPr>
            <p:cNvSpPr txBox="1">
              <a:spLocks noChangeArrowheads="1"/>
            </p:cNvSpPr>
            <p:nvPr/>
          </p:nvSpPr>
          <p:spPr bwMode="auto">
            <a:xfrm>
              <a:off x="2940" y="5926"/>
              <a:ext cx="3933"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vert="horz" wrap="square" lIns="18000" tIns="0" rIns="1800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Figure 1(a) – Three phase waveforms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Freeform 5">
              <a:extLst>
                <a:ext uri="{FF2B5EF4-FFF2-40B4-BE49-F238E27FC236}">
                  <a16:creationId xmlns:a16="http://schemas.microsoft.com/office/drawing/2014/main" id="{0B23408C-79F7-4B72-ABAA-C611AFBCF97A}"/>
                </a:ext>
              </a:extLst>
            </p:cNvPr>
            <p:cNvSpPr>
              <a:spLocks/>
            </p:cNvSpPr>
            <p:nvPr/>
          </p:nvSpPr>
          <p:spPr bwMode="auto">
            <a:xfrm>
              <a:off x="2313" y="3817"/>
              <a:ext cx="245" cy="855"/>
            </a:xfrm>
            <a:custGeom>
              <a:avLst/>
              <a:gdLst>
                <a:gd name="T0" fmla="*/ 285 w 285"/>
                <a:gd name="T1" fmla="*/ 855 h 855"/>
                <a:gd name="T2" fmla="*/ 114 w 285"/>
                <a:gd name="T3" fmla="*/ 285 h 855"/>
                <a:gd name="T4" fmla="*/ 0 w 285"/>
                <a:gd name="T5" fmla="*/ 0 h 855"/>
              </a:gdLst>
              <a:ahLst/>
              <a:cxnLst>
                <a:cxn ang="0">
                  <a:pos x="T0" y="T1"/>
                </a:cxn>
                <a:cxn ang="0">
                  <a:pos x="T2" y="T3"/>
                </a:cxn>
                <a:cxn ang="0">
                  <a:pos x="T4" y="T5"/>
                </a:cxn>
              </a:cxnLst>
              <a:rect l="0" t="0" r="r" b="b"/>
              <a:pathLst>
                <a:path w="285" h="855">
                  <a:moveTo>
                    <a:pt x="285" y="855"/>
                  </a:moveTo>
                  <a:cubicBezTo>
                    <a:pt x="223" y="641"/>
                    <a:pt x="161" y="427"/>
                    <a:pt x="114" y="285"/>
                  </a:cubicBezTo>
                  <a:cubicBezTo>
                    <a:pt x="67" y="143"/>
                    <a:pt x="33" y="71"/>
                    <a:pt x="0" y="0"/>
                  </a:cubicBezTo>
                </a:path>
              </a:pathLst>
            </a:custGeom>
            <a:noFill/>
            <a:ln w="57150">
              <a:solidFill>
                <a:srgbClr val="00B0F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Freeform 4">
              <a:extLst>
                <a:ext uri="{FF2B5EF4-FFF2-40B4-BE49-F238E27FC236}">
                  <a16:creationId xmlns:a16="http://schemas.microsoft.com/office/drawing/2014/main" id="{CDB6CE23-2EEE-45A5-B689-573685330494}"/>
                </a:ext>
              </a:extLst>
            </p:cNvPr>
            <p:cNvSpPr>
              <a:spLocks/>
            </p:cNvSpPr>
            <p:nvPr/>
          </p:nvSpPr>
          <p:spPr bwMode="auto">
            <a:xfrm flipH="1" flipV="1">
              <a:off x="6873" y="4672"/>
              <a:ext cx="245" cy="855"/>
            </a:xfrm>
            <a:custGeom>
              <a:avLst/>
              <a:gdLst>
                <a:gd name="T0" fmla="*/ 285 w 285"/>
                <a:gd name="T1" fmla="*/ 855 h 855"/>
                <a:gd name="T2" fmla="*/ 114 w 285"/>
                <a:gd name="T3" fmla="*/ 285 h 855"/>
                <a:gd name="T4" fmla="*/ 0 w 285"/>
                <a:gd name="T5" fmla="*/ 0 h 855"/>
              </a:gdLst>
              <a:ahLst/>
              <a:cxnLst>
                <a:cxn ang="0">
                  <a:pos x="T0" y="T1"/>
                </a:cxn>
                <a:cxn ang="0">
                  <a:pos x="T2" y="T3"/>
                </a:cxn>
                <a:cxn ang="0">
                  <a:pos x="T4" y="T5"/>
                </a:cxn>
              </a:cxnLst>
              <a:rect l="0" t="0" r="r" b="b"/>
              <a:pathLst>
                <a:path w="285" h="855">
                  <a:moveTo>
                    <a:pt x="285" y="855"/>
                  </a:moveTo>
                  <a:cubicBezTo>
                    <a:pt x="223" y="641"/>
                    <a:pt x="161" y="427"/>
                    <a:pt x="114" y="285"/>
                  </a:cubicBezTo>
                  <a:cubicBezTo>
                    <a:pt x="67" y="143"/>
                    <a:pt x="33" y="71"/>
                    <a:pt x="0" y="0"/>
                  </a:cubicBezTo>
                </a:path>
              </a:pathLst>
            </a:custGeom>
            <a:noFill/>
            <a:ln w="57150">
              <a:solidFill>
                <a:srgbClr val="00B0F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Freeform 3">
              <a:extLst>
                <a:ext uri="{FF2B5EF4-FFF2-40B4-BE49-F238E27FC236}">
                  <a16:creationId xmlns:a16="http://schemas.microsoft.com/office/drawing/2014/main" id="{546DF166-3649-4576-9DB4-7DEEC57BA8FA}"/>
                </a:ext>
              </a:extLst>
            </p:cNvPr>
            <p:cNvSpPr>
              <a:spLocks/>
            </p:cNvSpPr>
            <p:nvPr/>
          </p:nvSpPr>
          <p:spPr bwMode="auto">
            <a:xfrm>
              <a:off x="2260" y="4672"/>
              <a:ext cx="557" cy="1080"/>
            </a:xfrm>
            <a:custGeom>
              <a:avLst/>
              <a:gdLst>
                <a:gd name="T0" fmla="*/ 557 w 557"/>
                <a:gd name="T1" fmla="*/ 0 h 1080"/>
                <a:gd name="T2" fmla="*/ 386 w 557"/>
                <a:gd name="T3" fmla="*/ 741 h 1080"/>
                <a:gd name="T4" fmla="*/ 224 w 557"/>
                <a:gd name="T5" fmla="*/ 1021 h 1080"/>
                <a:gd name="T6" fmla="*/ 90 w 557"/>
                <a:gd name="T7" fmla="*/ 1038 h 1080"/>
                <a:gd name="T8" fmla="*/ 0 w 557"/>
                <a:gd name="T9" fmla="*/ 770 h 1080"/>
              </a:gdLst>
              <a:ahLst/>
              <a:cxnLst>
                <a:cxn ang="0">
                  <a:pos x="T0" y="T1"/>
                </a:cxn>
                <a:cxn ang="0">
                  <a:pos x="T2" y="T3"/>
                </a:cxn>
                <a:cxn ang="0">
                  <a:pos x="T4" y="T5"/>
                </a:cxn>
                <a:cxn ang="0">
                  <a:pos x="T6" y="T7"/>
                </a:cxn>
                <a:cxn ang="0">
                  <a:pos x="T8" y="T9"/>
                </a:cxn>
              </a:cxnLst>
              <a:rect l="0" t="0" r="r" b="b"/>
              <a:pathLst>
                <a:path w="557" h="1080">
                  <a:moveTo>
                    <a:pt x="557" y="0"/>
                  </a:moveTo>
                  <a:cubicBezTo>
                    <a:pt x="500" y="280"/>
                    <a:pt x="441" y="571"/>
                    <a:pt x="386" y="741"/>
                  </a:cubicBezTo>
                  <a:cubicBezTo>
                    <a:pt x="331" y="911"/>
                    <a:pt x="273" y="972"/>
                    <a:pt x="224" y="1021"/>
                  </a:cubicBezTo>
                  <a:cubicBezTo>
                    <a:pt x="175" y="1070"/>
                    <a:pt x="127" y="1080"/>
                    <a:pt x="90" y="1038"/>
                  </a:cubicBezTo>
                  <a:cubicBezTo>
                    <a:pt x="53" y="996"/>
                    <a:pt x="19" y="826"/>
                    <a:pt x="0" y="770"/>
                  </a:cubicBezTo>
                </a:path>
              </a:pathLst>
            </a:custGeom>
            <a:noFill/>
            <a:ln w="57150">
              <a:solidFill>
                <a:srgbClr val="FFCC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 name="Freeform 2">
              <a:extLst>
                <a:ext uri="{FF2B5EF4-FFF2-40B4-BE49-F238E27FC236}">
                  <a16:creationId xmlns:a16="http://schemas.microsoft.com/office/drawing/2014/main" id="{D3561E49-79D6-4887-B5CD-8B8954FB54B7}"/>
                </a:ext>
              </a:extLst>
            </p:cNvPr>
            <p:cNvSpPr>
              <a:spLocks/>
            </p:cNvSpPr>
            <p:nvPr/>
          </p:nvSpPr>
          <p:spPr bwMode="auto">
            <a:xfrm>
              <a:off x="6654" y="3585"/>
              <a:ext cx="546" cy="1088"/>
            </a:xfrm>
            <a:custGeom>
              <a:avLst/>
              <a:gdLst>
                <a:gd name="T0" fmla="*/ 0 w 546"/>
                <a:gd name="T1" fmla="*/ 1088 h 1088"/>
                <a:gd name="T2" fmla="*/ 171 w 546"/>
                <a:gd name="T3" fmla="*/ 347 h 1088"/>
                <a:gd name="T4" fmla="*/ 333 w 546"/>
                <a:gd name="T5" fmla="*/ 67 h 1088"/>
                <a:gd name="T6" fmla="*/ 467 w 546"/>
                <a:gd name="T7" fmla="*/ 50 h 1088"/>
                <a:gd name="T8" fmla="*/ 546 w 546"/>
                <a:gd name="T9" fmla="*/ 367 h 1088"/>
              </a:gdLst>
              <a:ahLst/>
              <a:cxnLst>
                <a:cxn ang="0">
                  <a:pos x="T0" y="T1"/>
                </a:cxn>
                <a:cxn ang="0">
                  <a:pos x="T2" y="T3"/>
                </a:cxn>
                <a:cxn ang="0">
                  <a:pos x="T4" y="T5"/>
                </a:cxn>
                <a:cxn ang="0">
                  <a:pos x="T6" y="T7"/>
                </a:cxn>
                <a:cxn ang="0">
                  <a:pos x="T8" y="T9"/>
                </a:cxn>
              </a:cxnLst>
              <a:rect l="0" t="0" r="r" b="b"/>
              <a:pathLst>
                <a:path w="546" h="1088">
                  <a:moveTo>
                    <a:pt x="0" y="1088"/>
                  </a:moveTo>
                  <a:cubicBezTo>
                    <a:pt x="57" y="808"/>
                    <a:pt x="116" y="517"/>
                    <a:pt x="171" y="347"/>
                  </a:cubicBezTo>
                  <a:cubicBezTo>
                    <a:pt x="226" y="177"/>
                    <a:pt x="284" y="116"/>
                    <a:pt x="333" y="67"/>
                  </a:cubicBezTo>
                  <a:cubicBezTo>
                    <a:pt x="382" y="18"/>
                    <a:pt x="432" y="0"/>
                    <a:pt x="467" y="50"/>
                  </a:cubicBezTo>
                  <a:cubicBezTo>
                    <a:pt x="502" y="100"/>
                    <a:pt x="530" y="301"/>
                    <a:pt x="546" y="367"/>
                  </a:cubicBezTo>
                </a:path>
              </a:pathLst>
            </a:custGeom>
            <a:noFill/>
            <a:ln w="57150">
              <a:solidFill>
                <a:srgbClr val="C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34" name="Rectangle 31">
            <a:extLst>
              <a:ext uri="{FF2B5EF4-FFF2-40B4-BE49-F238E27FC236}">
                <a16:creationId xmlns:a16="http://schemas.microsoft.com/office/drawing/2014/main" id="{645AFB25-79F8-4558-8AAF-D3E5A76F3C70}"/>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5" name="Rectangle 32">
            <a:extLst>
              <a:ext uri="{FF2B5EF4-FFF2-40B4-BE49-F238E27FC236}">
                <a16:creationId xmlns:a16="http://schemas.microsoft.com/office/drawing/2014/main" id="{8603CB25-8853-4AC7-815D-92EF145CB339}"/>
              </a:ext>
            </a:extLst>
          </p:cNvPr>
          <p:cNvSpPr>
            <a:spLocks noChangeArrowheads="1"/>
          </p:cNvSpPr>
          <p:nvPr/>
        </p:nvSpPr>
        <p:spPr bwMode="auto">
          <a:xfrm>
            <a:off x="439264" y="1159852"/>
            <a:ext cx="11887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rPr>
              <a:t>Single phase </a:t>
            </a:r>
            <a:r>
              <a:rPr kumimoji="0" lang="en-GB" altLang="en-US" sz="3200" b="0" i="0" u="none" strike="noStrike" cap="none" normalizeH="0" baseline="0" dirty="0" err="1">
                <a:ln>
                  <a:noFill/>
                </a:ln>
                <a:solidFill>
                  <a:srgbClr val="002060"/>
                </a:solidFill>
                <a:effectLst/>
                <a:latin typeface="Arial" panose="020B0604020202020204" pitchFamily="34" charset="0"/>
              </a:rPr>
              <a:t>a.c</a:t>
            </a:r>
            <a:r>
              <a:rPr kumimoji="0" lang="en-GB" altLang="en-US" sz="3200" b="0" i="0" u="none" strike="noStrike" cap="none" normalizeH="0" baseline="0" dirty="0">
                <a:ln>
                  <a:noFill/>
                </a:ln>
                <a:solidFill>
                  <a:srgbClr val="002060"/>
                </a:solidFill>
                <a:effectLst/>
                <a:latin typeface="Arial" panose="020B0604020202020204" pitchFamily="34" charset="0"/>
              </a:rPr>
              <a:t>. – 2 wires (live and neutral) required.</a:t>
            </a:r>
            <a:endParaRPr kumimoji="0" lang="en-GB"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Distribution lines usually have 4 wires (3 phase wires, and neutral).</a:t>
            </a:r>
            <a:endParaRPr kumimoji="0" lang="en-GB"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sp>
        <p:nvSpPr>
          <p:cNvPr id="36" name="Rectangle 34">
            <a:extLst>
              <a:ext uri="{FF2B5EF4-FFF2-40B4-BE49-F238E27FC236}">
                <a16:creationId xmlns:a16="http://schemas.microsoft.com/office/drawing/2014/main" id="{A09A2F7E-77D9-42F0-8FAA-03F8E0353388}"/>
              </a:ext>
            </a:extLst>
          </p:cNvPr>
          <p:cNvSpPr>
            <a:spLocks noChangeArrowheads="1"/>
          </p:cNvSpPr>
          <p:nvPr/>
        </p:nvSpPr>
        <p:spPr bwMode="auto">
          <a:xfrm>
            <a:off x="433260" y="2707516"/>
            <a:ext cx="1160988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Phases are usually designated A, B, C (earlier red, yellow, blue)</a:t>
            </a:r>
            <a:r>
              <a:rPr kumimoji="0" lang="en-GB" altLang="en-US" sz="1100" b="0" i="0" u="none" strike="noStrike" cap="none" normalizeH="0" baseline="0" dirty="0">
                <a:ln>
                  <a:noFill/>
                </a:ln>
                <a:solidFill>
                  <a:schemeClr val="tx1"/>
                </a:solidFill>
                <a:effectLst/>
                <a:latin typeface="Arial" panose="020B0604020202020204" pitchFamily="34"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37" name="Rectangle 36">
            <a:extLst>
              <a:ext uri="{FF2B5EF4-FFF2-40B4-BE49-F238E27FC236}">
                <a16:creationId xmlns:a16="http://schemas.microsoft.com/office/drawing/2014/main" id="{2F63B7F0-3ED1-46D4-A6E0-07313D3DDDE5}"/>
              </a:ext>
            </a:extLst>
          </p:cNvPr>
          <p:cNvSpPr/>
          <p:nvPr/>
        </p:nvSpPr>
        <p:spPr>
          <a:xfrm>
            <a:off x="1419366" y="3464544"/>
            <a:ext cx="492443" cy="646331"/>
          </a:xfrm>
          <a:prstGeom prst="rect">
            <a:avLst/>
          </a:prstGeom>
        </p:spPr>
        <p:txBody>
          <a:bodyPr wrap="none">
            <a:spAutoFit/>
          </a:bodyPr>
          <a:lstStyle/>
          <a:p>
            <a:r>
              <a:rPr lang="en-GB" altLang="en-US" sz="3600" dirty="0">
                <a:solidFill>
                  <a:srgbClr val="002060"/>
                </a:solidFill>
                <a:latin typeface="Arial" panose="020B0604020202020204" pitchFamily="34" charset="0"/>
                <a:ea typeface="Times New Roman" panose="02020603050405020304" pitchFamily="18" charset="0"/>
              </a:rPr>
              <a:t>A</a:t>
            </a:r>
            <a:endParaRPr lang="en-GB" sz="3600" dirty="0"/>
          </a:p>
        </p:txBody>
      </p:sp>
      <p:sp>
        <p:nvSpPr>
          <p:cNvPr id="38" name="Rectangle 37">
            <a:extLst>
              <a:ext uri="{FF2B5EF4-FFF2-40B4-BE49-F238E27FC236}">
                <a16:creationId xmlns:a16="http://schemas.microsoft.com/office/drawing/2014/main" id="{6F73AA29-ED98-4F4C-8551-6BDAB37898A8}"/>
              </a:ext>
            </a:extLst>
          </p:cNvPr>
          <p:cNvSpPr/>
          <p:nvPr/>
        </p:nvSpPr>
        <p:spPr>
          <a:xfrm>
            <a:off x="2274457" y="3436704"/>
            <a:ext cx="492443" cy="646331"/>
          </a:xfrm>
          <a:prstGeom prst="rect">
            <a:avLst/>
          </a:prstGeom>
        </p:spPr>
        <p:txBody>
          <a:bodyPr wrap="none">
            <a:spAutoFit/>
          </a:bodyPr>
          <a:lstStyle/>
          <a:p>
            <a:r>
              <a:rPr lang="en-GB" altLang="en-US" sz="3600" dirty="0">
                <a:solidFill>
                  <a:srgbClr val="002060"/>
                </a:solidFill>
                <a:latin typeface="Arial" panose="020B0604020202020204" pitchFamily="34" charset="0"/>
                <a:ea typeface="Times New Roman" panose="02020603050405020304" pitchFamily="18" charset="0"/>
              </a:rPr>
              <a:t>B</a:t>
            </a:r>
            <a:endParaRPr lang="en-GB" sz="3600" dirty="0"/>
          </a:p>
        </p:txBody>
      </p:sp>
      <p:sp>
        <p:nvSpPr>
          <p:cNvPr id="39" name="Rectangle 38">
            <a:extLst>
              <a:ext uri="{FF2B5EF4-FFF2-40B4-BE49-F238E27FC236}">
                <a16:creationId xmlns:a16="http://schemas.microsoft.com/office/drawing/2014/main" id="{88B528B6-D4F2-488F-9B54-055A87D7FDA1}"/>
              </a:ext>
            </a:extLst>
          </p:cNvPr>
          <p:cNvSpPr/>
          <p:nvPr/>
        </p:nvSpPr>
        <p:spPr>
          <a:xfrm>
            <a:off x="3187360" y="3485772"/>
            <a:ext cx="518091" cy="646331"/>
          </a:xfrm>
          <a:prstGeom prst="rect">
            <a:avLst/>
          </a:prstGeom>
        </p:spPr>
        <p:txBody>
          <a:bodyPr wrap="none">
            <a:spAutoFit/>
          </a:bodyPr>
          <a:lstStyle/>
          <a:p>
            <a:r>
              <a:rPr lang="en-GB" altLang="en-US" sz="3600" dirty="0">
                <a:solidFill>
                  <a:srgbClr val="002060"/>
                </a:solidFill>
                <a:latin typeface="Arial" panose="020B0604020202020204" pitchFamily="34" charset="0"/>
                <a:ea typeface="Times New Roman" panose="02020603050405020304" pitchFamily="18" charset="0"/>
              </a:rPr>
              <a:t>C</a:t>
            </a:r>
            <a:endParaRPr lang="en-GB" sz="3600" dirty="0"/>
          </a:p>
        </p:txBody>
      </p:sp>
    </p:spTree>
    <p:extLst>
      <p:ext uri="{BB962C8B-B14F-4D97-AF65-F5344CB8AC3E}">
        <p14:creationId xmlns:p14="http://schemas.microsoft.com/office/powerpoint/2010/main" val="1621556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506953"/>
            <a:ext cx="10924085" cy="482745"/>
          </a:xfrm>
        </p:spPr>
        <p:txBody>
          <a:bodyPr>
            <a:normAutofit fontScale="90000"/>
          </a:bodyPr>
          <a:lstStyle/>
          <a:p>
            <a:r>
              <a:rPr lang="en-US" dirty="0"/>
              <a:t>Balanced three phase</a:t>
            </a:r>
            <a:endParaRPr lang="en-GB" dirty="0"/>
          </a:p>
        </p:txBody>
      </p:sp>
      <p:sp>
        <p:nvSpPr>
          <p:cNvPr id="3" name="Rectangle 10">
            <a:extLst>
              <a:ext uri="{FF2B5EF4-FFF2-40B4-BE49-F238E27FC236}">
                <a16:creationId xmlns:a16="http://schemas.microsoft.com/office/drawing/2014/main" id="{FF45BD64-C9CC-4FA5-9B9F-4B51D7DB2EA3}"/>
              </a:ext>
            </a:extLst>
          </p:cNvPr>
          <p:cNvSpPr>
            <a:spLocks noChangeArrowheads="1"/>
          </p:cNvSpPr>
          <p:nvPr/>
        </p:nvSpPr>
        <p:spPr bwMode="auto">
          <a:xfrm>
            <a:off x="602720" y="1003690"/>
            <a:ext cx="984574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Three phases are usually 120</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o</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out of phase</a:t>
            </a:r>
            <a:endParaRPr kumimoji="0" lang="en-GB"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Phasor addition zero if supply is balanced.</a:t>
            </a:r>
            <a:endParaRPr kumimoji="0" lang="en-GB"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grpSp>
        <p:nvGrpSpPr>
          <p:cNvPr id="4" name="Group 1">
            <a:extLst>
              <a:ext uri="{FF2B5EF4-FFF2-40B4-BE49-F238E27FC236}">
                <a16:creationId xmlns:a16="http://schemas.microsoft.com/office/drawing/2014/main" id="{C76D6E1A-0DE3-4F3D-8F50-EC3EF3E6DC33}"/>
              </a:ext>
            </a:extLst>
          </p:cNvPr>
          <p:cNvGrpSpPr>
            <a:grpSpLocks noChangeAspect="1"/>
          </p:cNvGrpSpPr>
          <p:nvPr/>
        </p:nvGrpSpPr>
        <p:grpSpPr bwMode="auto">
          <a:xfrm>
            <a:off x="8435306" y="1031938"/>
            <a:ext cx="3580110" cy="3447445"/>
            <a:chOff x="9900" y="1498"/>
            <a:chExt cx="6747" cy="5342"/>
          </a:xfrm>
        </p:grpSpPr>
        <p:sp>
          <p:nvSpPr>
            <p:cNvPr id="5" name="Text Box 9">
              <a:extLst>
                <a:ext uri="{FF2B5EF4-FFF2-40B4-BE49-F238E27FC236}">
                  <a16:creationId xmlns:a16="http://schemas.microsoft.com/office/drawing/2014/main" id="{B74F499F-6BEB-4E07-B3C6-FC329F6CDD4C}"/>
                </a:ext>
              </a:extLst>
            </p:cNvPr>
            <p:cNvSpPr txBox="1">
              <a:spLocks noChangeAspect="1" noChangeArrowheads="1"/>
            </p:cNvSpPr>
            <p:nvPr/>
          </p:nvSpPr>
          <p:spPr bwMode="auto">
            <a:xfrm>
              <a:off x="9978" y="6006"/>
              <a:ext cx="6669" cy="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Figure 1(b)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Phasor Diagram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6" name="Text Box 8">
              <a:extLst>
                <a:ext uri="{FF2B5EF4-FFF2-40B4-BE49-F238E27FC236}">
                  <a16:creationId xmlns:a16="http://schemas.microsoft.com/office/drawing/2014/main" id="{B7910231-B2C3-4B7B-8712-61315722A9FE}"/>
                </a:ext>
              </a:extLst>
            </p:cNvPr>
            <p:cNvSpPr txBox="1">
              <a:spLocks noChangeArrowheads="1"/>
            </p:cNvSpPr>
            <p:nvPr/>
          </p:nvSpPr>
          <p:spPr bwMode="auto">
            <a:xfrm>
              <a:off x="13151" y="3768"/>
              <a:ext cx="1038" cy="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N</a:t>
              </a:r>
              <a:endParaRPr kumimoji="0" lang="en-US" altLang="en-US" sz="1600" b="0" i="0" u="none" strike="noStrike" cap="none" normalizeH="0" baseline="0">
                <a:ln>
                  <a:noFill/>
                </a:ln>
                <a:solidFill>
                  <a:schemeClr val="tx1"/>
                </a:solidFill>
                <a:effectLst/>
                <a:latin typeface="Arial" panose="020B0604020202020204" pitchFamily="34" charset="0"/>
              </a:endParaRPr>
            </a:p>
          </p:txBody>
        </p:sp>
        <p:sp>
          <p:nvSpPr>
            <p:cNvPr id="7" name="Line 7">
              <a:extLst>
                <a:ext uri="{FF2B5EF4-FFF2-40B4-BE49-F238E27FC236}">
                  <a16:creationId xmlns:a16="http://schemas.microsoft.com/office/drawing/2014/main" id="{B09AF9B6-9DC7-4F68-9693-A4A11DBED2E8}"/>
                </a:ext>
              </a:extLst>
            </p:cNvPr>
            <p:cNvSpPr>
              <a:spLocks noChangeAspect="1" noChangeShapeType="1"/>
            </p:cNvSpPr>
            <p:nvPr/>
          </p:nvSpPr>
          <p:spPr bwMode="auto">
            <a:xfrm flipV="1">
              <a:off x="13000" y="1783"/>
              <a:ext cx="0" cy="2633"/>
            </a:xfrm>
            <a:prstGeom prst="line">
              <a:avLst/>
            </a:prstGeom>
            <a:noFill/>
            <a:ln w="57150">
              <a:solidFill>
                <a:srgbClr val="C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8" name="Line 6">
              <a:extLst>
                <a:ext uri="{FF2B5EF4-FFF2-40B4-BE49-F238E27FC236}">
                  <a16:creationId xmlns:a16="http://schemas.microsoft.com/office/drawing/2014/main" id="{7662E4F5-2351-4242-BA6A-9793D0702863}"/>
                </a:ext>
              </a:extLst>
            </p:cNvPr>
            <p:cNvSpPr>
              <a:spLocks noChangeAspect="1" noChangeShapeType="1"/>
            </p:cNvSpPr>
            <p:nvPr/>
          </p:nvSpPr>
          <p:spPr bwMode="auto">
            <a:xfrm rot="7200000" flipV="1">
              <a:off x="14192" y="3732"/>
              <a:ext cx="3" cy="2688"/>
            </a:xfrm>
            <a:prstGeom prst="line">
              <a:avLst/>
            </a:prstGeom>
            <a:noFill/>
            <a:ln w="57150">
              <a:solidFill>
                <a:srgbClr val="FFCC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9" name="Line 5">
              <a:extLst>
                <a:ext uri="{FF2B5EF4-FFF2-40B4-BE49-F238E27FC236}">
                  <a16:creationId xmlns:a16="http://schemas.microsoft.com/office/drawing/2014/main" id="{4D853B63-1C7E-43A4-9081-340939026C6B}"/>
                </a:ext>
              </a:extLst>
            </p:cNvPr>
            <p:cNvSpPr>
              <a:spLocks noChangeAspect="1" noChangeShapeType="1"/>
            </p:cNvSpPr>
            <p:nvPr/>
          </p:nvSpPr>
          <p:spPr bwMode="auto">
            <a:xfrm rot="14400000" flipV="1">
              <a:off x="11841" y="3694"/>
              <a:ext cx="2" cy="2689"/>
            </a:xfrm>
            <a:prstGeom prst="line">
              <a:avLst/>
            </a:prstGeom>
            <a:noFill/>
            <a:ln w="57150">
              <a:solidFill>
                <a:srgbClr val="00B0F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sz="1600"/>
            </a:p>
          </p:txBody>
        </p:sp>
        <p:sp>
          <p:nvSpPr>
            <p:cNvPr id="10" name="Text Box 4">
              <a:extLst>
                <a:ext uri="{FF2B5EF4-FFF2-40B4-BE49-F238E27FC236}">
                  <a16:creationId xmlns:a16="http://schemas.microsoft.com/office/drawing/2014/main" id="{A604F38A-6088-414C-938F-C18294142A3A}"/>
                </a:ext>
              </a:extLst>
            </p:cNvPr>
            <p:cNvSpPr txBox="1">
              <a:spLocks noChangeAspect="1" noChangeArrowheads="1"/>
            </p:cNvSpPr>
            <p:nvPr/>
          </p:nvSpPr>
          <p:spPr bwMode="auto">
            <a:xfrm>
              <a:off x="13260" y="1498"/>
              <a:ext cx="1038" cy="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a:ln>
                    <a:noFill/>
                  </a:ln>
                  <a:solidFill>
                    <a:srgbClr val="C00000"/>
                  </a:solidFill>
                  <a:effectLst/>
                  <a:latin typeface="Arial" panose="020B0604020202020204" pitchFamily="34" charset="0"/>
                  <a:ea typeface="Times New Roman" panose="02020603050405020304" pitchFamily="18" charset="0"/>
                </a:rPr>
                <a:t>V</a:t>
              </a:r>
              <a:r>
                <a:rPr kumimoji="0" lang="en-US" altLang="en-US" sz="3200" b="1" i="0" u="none" strike="noStrike" cap="none" normalizeH="0" baseline="-30000">
                  <a:ln>
                    <a:noFill/>
                  </a:ln>
                  <a:solidFill>
                    <a:srgbClr val="C00000"/>
                  </a:solidFill>
                  <a:effectLst/>
                  <a:latin typeface="Arial" panose="020B0604020202020204" pitchFamily="34" charset="0"/>
                  <a:ea typeface="Times New Roman" panose="02020603050405020304" pitchFamily="18" charset="0"/>
                </a:rPr>
                <a:t>A</a:t>
              </a:r>
              <a:endParaRPr kumimoji="0" lang="en-US" altLang="en-US" sz="1600" b="0" i="0" u="none" strike="noStrike" cap="none" normalizeH="0" baseline="0">
                <a:ln>
                  <a:noFill/>
                </a:ln>
                <a:solidFill>
                  <a:schemeClr val="tx1"/>
                </a:solidFill>
                <a:effectLst/>
                <a:latin typeface="Arial" panose="020B0604020202020204" pitchFamily="34" charset="0"/>
              </a:endParaRPr>
            </a:p>
          </p:txBody>
        </p:sp>
        <p:sp>
          <p:nvSpPr>
            <p:cNvPr id="11" name="Text Box 3">
              <a:extLst>
                <a:ext uri="{FF2B5EF4-FFF2-40B4-BE49-F238E27FC236}">
                  <a16:creationId xmlns:a16="http://schemas.microsoft.com/office/drawing/2014/main" id="{3C67091D-036A-411B-AE96-88AB1DDE9478}"/>
                </a:ext>
              </a:extLst>
            </p:cNvPr>
            <p:cNvSpPr txBox="1">
              <a:spLocks noChangeAspect="1" noChangeArrowheads="1"/>
            </p:cNvSpPr>
            <p:nvPr/>
          </p:nvSpPr>
          <p:spPr bwMode="auto">
            <a:xfrm>
              <a:off x="15538" y="5220"/>
              <a:ext cx="1031" cy="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a:ln>
                    <a:noFill/>
                  </a:ln>
                  <a:solidFill>
                    <a:srgbClr val="FFCC00"/>
                  </a:solidFill>
                  <a:effectLst/>
                  <a:latin typeface="Arial" panose="020B0604020202020204" pitchFamily="34" charset="0"/>
                  <a:ea typeface="Times New Roman" panose="02020603050405020304" pitchFamily="18" charset="0"/>
                </a:rPr>
                <a:t>V</a:t>
              </a:r>
              <a:r>
                <a:rPr kumimoji="0" lang="en-US" altLang="en-US" sz="3200" b="1" i="0" u="none" strike="noStrike" cap="none" normalizeH="0" baseline="-30000">
                  <a:ln>
                    <a:noFill/>
                  </a:ln>
                  <a:solidFill>
                    <a:srgbClr val="FFCC00"/>
                  </a:solidFill>
                  <a:effectLst/>
                  <a:latin typeface="Arial" panose="020B0604020202020204" pitchFamily="34" charset="0"/>
                  <a:ea typeface="Times New Roman" panose="02020603050405020304" pitchFamily="18" charset="0"/>
                </a:rPr>
                <a:t>B</a:t>
              </a:r>
              <a:endParaRPr kumimoji="0" lang="en-US" altLang="en-US" sz="1600" b="0" i="0" u="none" strike="noStrike" cap="none" normalizeH="0" baseline="0">
                <a:ln>
                  <a:noFill/>
                </a:ln>
                <a:solidFill>
                  <a:schemeClr val="tx1"/>
                </a:solidFill>
                <a:effectLst/>
                <a:latin typeface="Arial" panose="020B0604020202020204" pitchFamily="34" charset="0"/>
              </a:endParaRPr>
            </a:p>
          </p:txBody>
        </p:sp>
        <p:sp>
          <p:nvSpPr>
            <p:cNvPr id="12" name="Text Box 2">
              <a:extLst>
                <a:ext uri="{FF2B5EF4-FFF2-40B4-BE49-F238E27FC236}">
                  <a16:creationId xmlns:a16="http://schemas.microsoft.com/office/drawing/2014/main" id="{C196E1F9-D682-4D3A-A549-E480C05A0F76}"/>
                </a:ext>
              </a:extLst>
            </p:cNvPr>
            <p:cNvSpPr txBox="1">
              <a:spLocks noChangeAspect="1" noChangeArrowheads="1"/>
            </p:cNvSpPr>
            <p:nvPr/>
          </p:nvSpPr>
          <p:spPr bwMode="auto">
            <a:xfrm>
              <a:off x="9900" y="5184"/>
              <a:ext cx="1026" cy="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a:ln>
                    <a:noFill/>
                  </a:ln>
                  <a:solidFill>
                    <a:srgbClr val="00B0F0"/>
                  </a:solidFill>
                  <a:effectLst/>
                  <a:latin typeface="Arial" panose="020B0604020202020204" pitchFamily="34" charset="0"/>
                  <a:ea typeface="Times New Roman" panose="02020603050405020304" pitchFamily="18" charset="0"/>
                </a:rPr>
                <a:t>V</a:t>
              </a:r>
              <a:r>
                <a:rPr kumimoji="0" lang="en-US" altLang="en-US" sz="3200" b="1" i="0" u="none" strike="noStrike" cap="none" normalizeH="0" baseline="-30000">
                  <a:ln>
                    <a:noFill/>
                  </a:ln>
                  <a:solidFill>
                    <a:srgbClr val="00B0F0"/>
                  </a:solidFill>
                  <a:effectLst/>
                  <a:latin typeface="Arial" panose="020B0604020202020204" pitchFamily="34" charset="0"/>
                  <a:ea typeface="Times New Roman" panose="02020603050405020304" pitchFamily="18" charset="0"/>
                </a:rPr>
                <a:t>C</a:t>
              </a:r>
              <a:endParaRPr kumimoji="0" lang="en-US" altLang="en-US" sz="1600" b="0" i="0" u="none" strike="noStrike" cap="none" normalizeH="0" baseline="0">
                <a:ln>
                  <a:noFill/>
                </a:ln>
                <a:solidFill>
                  <a:schemeClr val="tx1"/>
                </a:solidFill>
                <a:effectLst/>
                <a:latin typeface="Arial" panose="020B0604020202020204" pitchFamily="34" charset="0"/>
              </a:endParaRPr>
            </a:p>
          </p:txBody>
        </p:sp>
      </p:grpSp>
      <p:sp>
        <p:nvSpPr>
          <p:cNvPr id="13" name="Rectangle 16">
            <a:extLst>
              <a:ext uri="{FF2B5EF4-FFF2-40B4-BE49-F238E27FC236}">
                <a16:creationId xmlns:a16="http://schemas.microsoft.com/office/drawing/2014/main" id="{B1EE9227-8913-45CF-8830-69B295ABA1E7}"/>
              </a:ext>
            </a:extLst>
          </p:cNvPr>
          <p:cNvSpPr>
            <a:spLocks noChangeArrowheads="1"/>
          </p:cNvSpPr>
          <p:nvPr/>
        </p:nvSpPr>
        <p:spPr bwMode="auto">
          <a:xfrm>
            <a:off x="624235" y="2056295"/>
            <a:ext cx="7980403" cy="4139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14000"/>
              </a:lnSpc>
              <a:spcBef>
                <a:spcPct val="0"/>
              </a:spcBef>
              <a:spcAft>
                <a:spcPct val="0"/>
              </a:spcAft>
              <a:buClrTx/>
              <a:buSzTx/>
              <a:buFontTx/>
              <a:buNone/>
              <a:tabLst/>
            </a:pPr>
            <a:r>
              <a:rPr kumimoji="0" lang="en-GB" altLang="en-US" sz="3200" b="1"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phase voltage</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V</a:t>
            </a:r>
            <a:r>
              <a:rPr kumimoji="0" lang="en-GB" altLang="en-US" sz="32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p</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voltage between any one phase and  neutral, phase-to-neutral voltage.</a:t>
            </a:r>
            <a:endParaRPr kumimoji="0" lang="en-GB"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14000"/>
              </a:lnSpc>
              <a:spcBef>
                <a:spcPct val="0"/>
              </a:spcBef>
              <a:spcAft>
                <a:spcPct val="0"/>
              </a:spcAft>
              <a:buClrTx/>
              <a:buSzTx/>
              <a:buFontTx/>
              <a:buNone/>
              <a:tabLst/>
            </a:pPr>
            <a:r>
              <a:rPr kumimoji="0" lang="en-GB" altLang="en-US" sz="3200" b="1" i="1"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line voltage</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V</a:t>
            </a:r>
            <a:r>
              <a:rPr kumimoji="0" lang="en-GB" altLang="en-US" sz="32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L</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voltage between any two lines, line-to-line voltage.</a:t>
            </a:r>
            <a:endParaRPr kumimoji="0" lang="en-GB"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14000"/>
              </a:lnSpc>
              <a:spcBef>
                <a:spcPts val="120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If A-phase voltage V</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p</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0, </a:t>
            </a:r>
            <a:endParaRPr kumimoji="0" lang="en-GB" altLang="en-US" sz="11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14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then V</a:t>
            </a:r>
            <a:r>
              <a:rPr kumimoji="0" lang="en-GB" altLang="en-US" sz="3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B</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a:t>
            </a:r>
            <a:r>
              <a:rPr kumimoji="0" lang="en-GB" altLang="en-US" sz="3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V</a:t>
            </a:r>
            <a:r>
              <a:rPr kumimoji="0" lang="en-GB" altLang="en-US" sz="3200" b="0" i="0"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p</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-2</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p</a:t>
            </a:r>
            <a:r>
              <a:rPr kumimoji="0" lang="en-GB" altLang="en-US" sz="32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/3</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and  V</a:t>
            </a:r>
            <a:r>
              <a:rPr kumimoji="0" lang="en-GB" altLang="en-US" sz="3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C</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a:t>
            </a:r>
            <a:r>
              <a:rPr kumimoji="0" lang="en-GB" altLang="en-US" sz="3200" b="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V</a:t>
            </a:r>
            <a:r>
              <a:rPr kumimoji="0" lang="en-GB" altLang="en-US" sz="3200" b="0" i="0"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p</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-4</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sym typeface="Symbol" panose="05050102010706020507" pitchFamily="18" charset="2"/>
              </a:rPr>
              <a:t>p</a:t>
            </a:r>
            <a:r>
              <a:rPr kumimoji="0" lang="en-GB" altLang="en-US" sz="3200" b="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/3.</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p>
        </p:txBody>
      </p:sp>
    </p:spTree>
    <p:extLst>
      <p:ext uri="{BB962C8B-B14F-4D97-AF65-F5344CB8AC3E}">
        <p14:creationId xmlns:p14="http://schemas.microsoft.com/office/powerpoint/2010/main" val="995538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GB" dirty="0"/>
              <a:t>Balanced Three Phase Supply</a:t>
            </a:r>
          </a:p>
        </p:txBody>
      </p:sp>
      <p:grpSp>
        <p:nvGrpSpPr>
          <p:cNvPr id="187" name="Group 186">
            <a:extLst>
              <a:ext uri="{FF2B5EF4-FFF2-40B4-BE49-F238E27FC236}">
                <a16:creationId xmlns:a16="http://schemas.microsoft.com/office/drawing/2014/main" id="{93EB1B52-7880-40C9-B5D6-F96B8FFAC84C}"/>
              </a:ext>
            </a:extLst>
          </p:cNvPr>
          <p:cNvGrpSpPr>
            <a:grpSpLocks noChangeAspect="1"/>
          </p:cNvGrpSpPr>
          <p:nvPr/>
        </p:nvGrpSpPr>
        <p:grpSpPr>
          <a:xfrm>
            <a:off x="1203928" y="1290908"/>
            <a:ext cx="9641843" cy="4389120"/>
            <a:chOff x="1877694" y="1736090"/>
            <a:chExt cx="8436611" cy="3795061"/>
          </a:xfrm>
        </p:grpSpPr>
        <p:grpSp>
          <p:nvGrpSpPr>
            <p:cNvPr id="119" name="Group 118">
              <a:extLst>
                <a:ext uri="{FF2B5EF4-FFF2-40B4-BE49-F238E27FC236}">
                  <a16:creationId xmlns:a16="http://schemas.microsoft.com/office/drawing/2014/main" id="{E7BF83A3-F72A-4D2D-BC43-A6262697F222}"/>
                </a:ext>
              </a:extLst>
            </p:cNvPr>
            <p:cNvGrpSpPr/>
            <p:nvPr/>
          </p:nvGrpSpPr>
          <p:grpSpPr>
            <a:xfrm>
              <a:off x="1877694" y="1736090"/>
              <a:ext cx="8436611" cy="3795061"/>
              <a:chOff x="0" y="0"/>
              <a:chExt cx="8437196" cy="3795061"/>
            </a:xfrm>
          </p:grpSpPr>
          <p:grpSp>
            <p:nvGrpSpPr>
              <p:cNvPr id="120" name="Group 119">
                <a:extLst>
                  <a:ext uri="{FF2B5EF4-FFF2-40B4-BE49-F238E27FC236}">
                    <a16:creationId xmlns:a16="http://schemas.microsoft.com/office/drawing/2014/main" id="{C0AE567A-E599-4A3A-8B93-CB6BD540E675}"/>
                  </a:ext>
                </a:extLst>
              </p:cNvPr>
              <p:cNvGrpSpPr/>
              <p:nvPr/>
            </p:nvGrpSpPr>
            <p:grpSpPr>
              <a:xfrm>
                <a:off x="6120305" y="57150"/>
                <a:ext cx="2144659" cy="163717"/>
                <a:chOff x="0" y="0"/>
                <a:chExt cx="2144659" cy="163717"/>
              </a:xfrm>
            </p:grpSpPr>
            <p:cxnSp>
              <p:nvCxnSpPr>
                <p:cNvPr id="182" name="Line 22">
                  <a:extLst>
                    <a:ext uri="{FF2B5EF4-FFF2-40B4-BE49-F238E27FC236}">
                      <a16:creationId xmlns:a16="http://schemas.microsoft.com/office/drawing/2014/main" id="{4E809279-82A6-42B7-B303-8EFF2B30852E}"/>
                    </a:ext>
                  </a:extLst>
                </p:cNvPr>
                <p:cNvCxnSpPr>
                  <a:cxnSpLocks noChangeShapeType="1"/>
                </p:cNvCxnSpPr>
                <p:nvPr/>
              </p:nvCxnSpPr>
              <p:spPr bwMode="auto">
                <a:xfrm flipV="1">
                  <a:off x="3285" y="0"/>
                  <a:ext cx="0" cy="16371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83" name="Line 23">
                  <a:extLst>
                    <a:ext uri="{FF2B5EF4-FFF2-40B4-BE49-F238E27FC236}">
                      <a16:creationId xmlns:a16="http://schemas.microsoft.com/office/drawing/2014/main" id="{3A3CDC70-962F-48AE-965F-DE60202E39D4}"/>
                    </a:ext>
                  </a:extLst>
                </p:cNvPr>
                <p:cNvCxnSpPr>
                  <a:cxnSpLocks noChangeShapeType="1"/>
                </p:cNvCxnSpPr>
                <p:nvPr/>
              </p:nvCxnSpPr>
              <p:spPr bwMode="auto">
                <a:xfrm>
                  <a:off x="0" y="0"/>
                  <a:ext cx="2144659"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84" name="Line 34">
                  <a:extLst>
                    <a:ext uri="{FF2B5EF4-FFF2-40B4-BE49-F238E27FC236}">
                      <a16:creationId xmlns:a16="http://schemas.microsoft.com/office/drawing/2014/main" id="{CBE56ACA-6604-4497-BAE5-6514C9225A03}"/>
                    </a:ext>
                  </a:extLst>
                </p:cNvPr>
                <p:cNvCxnSpPr>
                  <a:cxnSpLocks noChangeShapeType="1"/>
                </p:cNvCxnSpPr>
                <p:nvPr/>
              </p:nvCxnSpPr>
              <p:spPr bwMode="auto">
                <a:xfrm>
                  <a:off x="930166" y="9065"/>
                  <a:ext cx="416947" cy="0"/>
                </a:xfrm>
                <a:prstGeom prst="line">
                  <a:avLst/>
                </a:prstGeom>
                <a:noFill/>
                <a:ln w="38100">
                  <a:solidFill>
                    <a:srgbClr val="002060"/>
                  </a:solidFill>
                  <a:round/>
                  <a:headEnd/>
                  <a:tailEnd type="arrow" w="lg" len="lg"/>
                </a:ln>
                <a:extLst>
                  <a:ext uri="{909E8E84-426E-40DD-AFC4-6F175D3DCCD1}">
                    <a14:hiddenFill xmlns:a14="http://schemas.microsoft.com/office/drawing/2010/main">
                      <a:noFill/>
                    </a14:hiddenFill>
                  </a:ext>
                </a:extLst>
              </p:spPr>
            </p:cxnSp>
          </p:grpSp>
          <p:grpSp>
            <p:nvGrpSpPr>
              <p:cNvPr id="121" name="Group 120">
                <a:extLst>
                  <a:ext uri="{FF2B5EF4-FFF2-40B4-BE49-F238E27FC236}">
                    <a16:creationId xmlns:a16="http://schemas.microsoft.com/office/drawing/2014/main" id="{E62AAD8F-DFFE-4159-9EAC-8CA46E2D7934}"/>
                  </a:ext>
                </a:extLst>
              </p:cNvPr>
              <p:cNvGrpSpPr/>
              <p:nvPr/>
            </p:nvGrpSpPr>
            <p:grpSpPr>
              <a:xfrm>
                <a:off x="0" y="0"/>
                <a:ext cx="8437196" cy="3795061"/>
                <a:chOff x="0" y="0"/>
                <a:chExt cx="8437196" cy="3795061"/>
              </a:xfrm>
            </p:grpSpPr>
            <p:cxnSp>
              <p:nvCxnSpPr>
                <p:cNvPr id="122" name="Line 29">
                  <a:extLst>
                    <a:ext uri="{FF2B5EF4-FFF2-40B4-BE49-F238E27FC236}">
                      <a16:creationId xmlns:a16="http://schemas.microsoft.com/office/drawing/2014/main" id="{FDE8CAD3-36B3-4548-A43B-817207D782C9}"/>
                    </a:ext>
                  </a:extLst>
                </p:cNvPr>
                <p:cNvCxnSpPr>
                  <a:cxnSpLocks noChangeShapeType="1"/>
                </p:cNvCxnSpPr>
                <p:nvPr/>
              </p:nvCxnSpPr>
              <p:spPr bwMode="auto">
                <a:xfrm flipH="1">
                  <a:off x="5745218" y="1914197"/>
                  <a:ext cx="595638"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23" name="Line 63">
                  <a:extLst>
                    <a:ext uri="{FF2B5EF4-FFF2-40B4-BE49-F238E27FC236}">
                      <a16:creationId xmlns:a16="http://schemas.microsoft.com/office/drawing/2014/main" id="{B2453163-3CE2-46E4-9081-0F7580453AFC}"/>
                    </a:ext>
                  </a:extLst>
                </p:cNvPr>
                <p:cNvCxnSpPr>
                  <a:cxnSpLocks noChangeShapeType="1"/>
                </p:cNvCxnSpPr>
                <p:nvPr/>
              </p:nvCxnSpPr>
              <p:spPr bwMode="auto">
                <a:xfrm>
                  <a:off x="1949012" y="746892"/>
                  <a:ext cx="0" cy="491501"/>
                </a:xfrm>
                <a:prstGeom prst="line">
                  <a:avLst/>
                </a:prstGeom>
                <a:noFill/>
                <a:ln w="38100">
                  <a:solidFill>
                    <a:srgbClr val="002060"/>
                  </a:solidFill>
                  <a:round/>
                  <a:headEnd type="arrow" w="med" len="med"/>
                  <a:tailEnd/>
                </a:ln>
                <a:extLst>
                  <a:ext uri="{909E8E84-426E-40DD-AFC4-6F175D3DCCD1}">
                    <a14:hiddenFill xmlns:a14="http://schemas.microsoft.com/office/drawing/2010/main">
                      <a:noFill/>
                    </a14:hiddenFill>
                  </a:ext>
                </a:extLst>
              </p:spPr>
            </p:cxnSp>
            <p:grpSp>
              <p:nvGrpSpPr>
                <p:cNvPr id="124" name="Group 123">
                  <a:extLst>
                    <a:ext uri="{FF2B5EF4-FFF2-40B4-BE49-F238E27FC236}">
                      <a16:creationId xmlns:a16="http://schemas.microsoft.com/office/drawing/2014/main" id="{E6EB7E9E-5E19-4C41-B8A6-B45568D50D9A}"/>
                    </a:ext>
                  </a:extLst>
                </p:cNvPr>
                <p:cNvGrpSpPr/>
                <p:nvPr/>
              </p:nvGrpSpPr>
              <p:grpSpPr>
                <a:xfrm>
                  <a:off x="0" y="0"/>
                  <a:ext cx="8437196" cy="3795061"/>
                  <a:chOff x="0" y="0"/>
                  <a:chExt cx="8437196" cy="3795061"/>
                </a:xfrm>
              </p:grpSpPr>
              <p:cxnSp>
                <p:nvCxnSpPr>
                  <p:cNvPr id="125" name="Line 38">
                    <a:extLst>
                      <a:ext uri="{FF2B5EF4-FFF2-40B4-BE49-F238E27FC236}">
                        <a16:creationId xmlns:a16="http://schemas.microsoft.com/office/drawing/2014/main" id="{86E9C342-BD1E-4F64-827C-D4614082548F}"/>
                      </a:ext>
                    </a:extLst>
                  </p:cNvPr>
                  <p:cNvCxnSpPr>
                    <a:cxnSpLocks noChangeAspect="1" noChangeShapeType="1"/>
                  </p:cNvCxnSpPr>
                  <p:nvPr/>
                </p:nvCxnSpPr>
                <p:spPr bwMode="auto">
                  <a:xfrm flipV="1">
                    <a:off x="1539109" y="21054"/>
                    <a:ext cx="0" cy="1569967"/>
                  </a:xfrm>
                  <a:prstGeom prst="line">
                    <a:avLst/>
                  </a:prstGeom>
                  <a:noFill/>
                  <a:ln w="38100">
                    <a:solidFill>
                      <a:srgbClr val="FF0000"/>
                    </a:solidFill>
                    <a:round/>
                    <a:headEnd/>
                    <a:tailEnd type="triangle" w="lg" len="lg"/>
                  </a:ln>
                  <a:extLst>
                    <a:ext uri="{909E8E84-426E-40DD-AFC4-6F175D3DCCD1}">
                      <a14:hiddenFill xmlns:a14="http://schemas.microsoft.com/office/drawing/2010/main">
                        <a:noFill/>
                      </a14:hiddenFill>
                    </a:ext>
                  </a:extLst>
                </p:spPr>
              </p:cxnSp>
              <p:cxnSp>
                <p:nvCxnSpPr>
                  <p:cNvPr id="127" name="Line 66">
                    <a:extLst>
                      <a:ext uri="{FF2B5EF4-FFF2-40B4-BE49-F238E27FC236}">
                        <a16:creationId xmlns:a16="http://schemas.microsoft.com/office/drawing/2014/main" id="{ABC09DF9-ECCE-4FA8-AF94-61D97436FFD2}"/>
                      </a:ext>
                    </a:extLst>
                  </p:cNvPr>
                  <p:cNvCxnSpPr>
                    <a:cxnSpLocks noChangeShapeType="1"/>
                  </p:cNvCxnSpPr>
                  <p:nvPr/>
                </p:nvCxnSpPr>
                <p:spPr bwMode="auto">
                  <a:xfrm>
                    <a:off x="3620157" y="84740"/>
                    <a:ext cx="0" cy="2401348"/>
                  </a:xfrm>
                  <a:prstGeom prst="line">
                    <a:avLst/>
                  </a:prstGeom>
                  <a:noFill/>
                  <a:ln w="38100">
                    <a:solidFill>
                      <a:srgbClr val="002060"/>
                    </a:solidFill>
                    <a:round/>
                    <a:headEnd type="arrow" w="med" len="med"/>
                    <a:tailEnd type="arrow" w="med" len="med"/>
                  </a:ln>
                  <a:extLst>
                    <a:ext uri="{909E8E84-426E-40DD-AFC4-6F175D3DCCD1}">
                      <a14:hiddenFill xmlns:a14="http://schemas.microsoft.com/office/drawing/2010/main">
                        <a:noFill/>
                      </a14:hiddenFill>
                    </a:ext>
                  </a:extLst>
                </p:spPr>
              </p:cxnSp>
              <p:grpSp>
                <p:nvGrpSpPr>
                  <p:cNvPr id="128" name="Group 127">
                    <a:extLst>
                      <a:ext uri="{FF2B5EF4-FFF2-40B4-BE49-F238E27FC236}">
                        <a16:creationId xmlns:a16="http://schemas.microsoft.com/office/drawing/2014/main" id="{7EE25785-D80D-4AE4-AD64-9DF7CE042D1B}"/>
                      </a:ext>
                    </a:extLst>
                  </p:cNvPr>
                  <p:cNvGrpSpPr/>
                  <p:nvPr/>
                </p:nvGrpSpPr>
                <p:grpSpPr>
                  <a:xfrm>
                    <a:off x="0" y="0"/>
                    <a:ext cx="8437196" cy="3795061"/>
                    <a:chOff x="0" y="0"/>
                    <a:chExt cx="8437196" cy="3795061"/>
                  </a:xfrm>
                </p:grpSpPr>
                <p:cxnSp>
                  <p:nvCxnSpPr>
                    <p:cNvPr id="129" name="Line 25">
                      <a:extLst>
                        <a:ext uri="{FF2B5EF4-FFF2-40B4-BE49-F238E27FC236}">
                          <a16:creationId xmlns:a16="http://schemas.microsoft.com/office/drawing/2014/main" id="{75B11F99-3960-4C5A-B851-4B8331C77D54}"/>
                        </a:ext>
                      </a:extLst>
                    </p:cNvPr>
                    <p:cNvCxnSpPr>
                      <a:cxnSpLocks noChangeShapeType="1"/>
                    </p:cNvCxnSpPr>
                    <p:nvPr/>
                  </p:nvCxnSpPr>
                  <p:spPr bwMode="auto">
                    <a:xfrm>
                      <a:off x="7472855" y="2557299"/>
                      <a:ext cx="7744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30" name="Line 26">
                      <a:extLst>
                        <a:ext uri="{FF2B5EF4-FFF2-40B4-BE49-F238E27FC236}">
                          <a16:creationId xmlns:a16="http://schemas.microsoft.com/office/drawing/2014/main" id="{C56742BE-5058-4B2A-B8F0-7B77B1D1BB69}"/>
                        </a:ext>
                      </a:extLst>
                    </p:cNvPr>
                    <p:cNvCxnSpPr>
                      <a:cxnSpLocks noChangeShapeType="1"/>
                    </p:cNvCxnSpPr>
                    <p:nvPr/>
                  </p:nvCxnSpPr>
                  <p:spPr bwMode="auto">
                    <a:xfrm>
                      <a:off x="4796002" y="2300934"/>
                      <a:ext cx="0" cy="545723"/>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31" name="Line 27">
                      <a:extLst>
                        <a:ext uri="{FF2B5EF4-FFF2-40B4-BE49-F238E27FC236}">
                          <a16:creationId xmlns:a16="http://schemas.microsoft.com/office/drawing/2014/main" id="{C54AE5C1-E40C-4ABD-8FC5-5F204F4DC361}"/>
                        </a:ext>
                      </a:extLst>
                    </p:cNvPr>
                    <p:cNvCxnSpPr>
                      <a:cxnSpLocks noChangeShapeType="1"/>
                    </p:cNvCxnSpPr>
                    <p:nvPr/>
                  </p:nvCxnSpPr>
                  <p:spPr bwMode="auto">
                    <a:xfrm>
                      <a:off x="4792718" y="2840246"/>
                      <a:ext cx="3455284"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32" name="Line 57">
                      <a:extLst>
                        <a:ext uri="{FF2B5EF4-FFF2-40B4-BE49-F238E27FC236}">
                          <a16:creationId xmlns:a16="http://schemas.microsoft.com/office/drawing/2014/main" id="{2E4260C7-688B-4190-8AC4-DF1C85CAB284}"/>
                        </a:ext>
                      </a:extLst>
                    </p:cNvPr>
                    <p:cNvCxnSpPr>
                      <a:cxnSpLocks noChangeShapeType="1"/>
                    </p:cNvCxnSpPr>
                    <p:nvPr/>
                  </p:nvCxnSpPr>
                  <p:spPr bwMode="auto">
                    <a:xfrm>
                      <a:off x="1545021" y="34816"/>
                      <a:ext cx="2244737"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33" name="Line 58">
                      <a:extLst>
                        <a:ext uri="{FF2B5EF4-FFF2-40B4-BE49-F238E27FC236}">
                          <a16:creationId xmlns:a16="http://schemas.microsoft.com/office/drawing/2014/main" id="{44EC7709-41C4-4918-82A2-809165DB4494}"/>
                        </a:ext>
                      </a:extLst>
                    </p:cNvPr>
                    <p:cNvCxnSpPr>
                      <a:cxnSpLocks noChangeShapeType="1"/>
                    </p:cNvCxnSpPr>
                    <p:nvPr/>
                  </p:nvCxnSpPr>
                  <p:spPr bwMode="auto">
                    <a:xfrm>
                      <a:off x="2970935" y="2357361"/>
                      <a:ext cx="0" cy="218742"/>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34" name="Line 59">
                      <a:extLst>
                        <a:ext uri="{FF2B5EF4-FFF2-40B4-BE49-F238E27FC236}">
                          <a16:creationId xmlns:a16="http://schemas.microsoft.com/office/drawing/2014/main" id="{DE5A5C96-E237-40E7-91D3-7E60DCC8DDF3}"/>
                        </a:ext>
                      </a:extLst>
                    </p:cNvPr>
                    <p:cNvCxnSpPr>
                      <a:cxnSpLocks noChangeShapeType="1"/>
                    </p:cNvCxnSpPr>
                    <p:nvPr/>
                  </p:nvCxnSpPr>
                  <p:spPr bwMode="auto">
                    <a:xfrm>
                      <a:off x="2967650" y="2565597"/>
                      <a:ext cx="810535"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35" name="Line 60">
                      <a:extLst>
                        <a:ext uri="{FF2B5EF4-FFF2-40B4-BE49-F238E27FC236}">
                          <a16:creationId xmlns:a16="http://schemas.microsoft.com/office/drawing/2014/main" id="{211A8F2B-B5B9-4D6E-B4A9-2D14E5833A70}"/>
                        </a:ext>
                      </a:extLst>
                    </p:cNvPr>
                    <p:cNvCxnSpPr>
                      <a:cxnSpLocks noChangeShapeType="1"/>
                    </p:cNvCxnSpPr>
                    <p:nvPr/>
                  </p:nvCxnSpPr>
                  <p:spPr bwMode="auto">
                    <a:xfrm>
                      <a:off x="152640" y="2333297"/>
                      <a:ext cx="0" cy="546053"/>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36" name="Line 61">
                      <a:extLst>
                        <a:ext uri="{FF2B5EF4-FFF2-40B4-BE49-F238E27FC236}">
                          <a16:creationId xmlns:a16="http://schemas.microsoft.com/office/drawing/2014/main" id="{5D4CBF05-FB0F-4590-89C1-0C45845D6363}"/>
                        </a:ext>
                      </a:extLst>
                    </p:cNvPr>
                    <p:cNvCxnSpPr>
                      <a:cxnSpLocks noChangeShapeType="1"/>
                    </p:cNvCxnSpPr>
                    <p:nvPr/>
                  </p:nvCxnSpPr>
                  <p:spPr bwMode="auto">
                    <a:xfrm>
                      <a:off x="149355" y="2872609"/>
                      <a:ext cx="3616456"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37" name="Line 67">
                      <a:extLst>
                        <a:ext uri="{FF2B5EF4-FFF2-40B4-BE49-F238E27FC236}">
                          <a16:creationId xmlns:a16="http://schemas.microsoft.com/office/drawing/2014/main" id="{3731926F-3FB8-41CC-AAA7-7578589DF576}"/>
                        </a:ext>
                      </a:extLst>
                    </p:cNvPr>
                    <p:cNvCxnSpPr>
                      <a:cxnSpLocks noChangeShapeType="1"/>
                    </p:cNvCxnSpPr>
                    <p:nvPr/>
                  </p:nvCxnSpPr>
                  <p:spPr bwMode="auto">
                    <a:xfrm>
                      <a:off x="2427890" y="40595"/>
                      <a:ext cx="436801"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grpSp>
                  <p:nvGrpSpPr>
                    <p:cNvPr id="138" name="Group 137">
                      <a:extLst>
                        <a:ext uri="{FF2B5EF4-FFF2-40B4-BE49-F238E27FC236}">
                          <a16:creationId xmlns:a16="http://schemas.microsoft.com/office/drawing/2014/main" id="{ED767DEB-3B73-4692-84A4-B0B1FECA2ADF}"/>
                        </a:ext>
                      </a:extLst>
                    </p:cNvPr>
                    <p:cNvGrpSpPr/>
                    <p:nvPr/>
                  </p:nvGrpSpPr>
                  <p:grpSpPr>
                    <a:xfrm>
                      <a:off x="0" y="0"/>
                      <a:ext cx="8437196" cy="3795061"/>
                      <a:chOff x="0" y="0"/>
                      <a:chExt cx="8437196" cy="3795061"/>
                    </a:xfrm>
                  </p:grpSpPr>
                  <p:cxnSp>
                    <p:nvCxnSpPr>
                      <p:cNvPr id="139" name="Line 3">
                        <a:extLst>
                          <a:ext uri="{FF2B5EF4-FFF2-40B4-BE49-F238E27FC236}">
                            <a16:creationId xmlns:a16="http://schemas.microsoft.com/office/drawing/2014/main" id="{11ABC28A-C7E9-4BAB-97E0-416D23B330BC}"/>
                          </a:ext>
                        </a:extLst>
                      </p:cNvPr>
                      <p:cNvCxnSpPr>
                        <a:cxnSpLocks noChangeAspect="1" noChangeShapeType="1"/>
                      </p:cNvCxnSpPr>
                      <p:nvPr/>
                    </p:nvCxnSpPr>
                    <p:spPr bwMode="auto">
                      <a:xfrm rot="19800000" flipV="1">
                        <a:off x="6780914" y="0"/>
                        <a:ext cx="2336" cy="2507243"/>
                      </a:xfrm>
                      <a:prstGeom prst="line">
                        <a:avLst/>
                      </a:prstGeom>
                      <a:noFill/>
                      <a:ln w="38100">
                        <a:solidFill>
                          <a:srgbClr val="FF6600"/>
                        </a:solidFill>
                        <a:round/>
                        <a:headEnd/>
                        <a:tailEnd type="triangle" w="lg" len="lg"/>
                      </a:ln>
                      <a:extLst>
                        <a:ext uri="{909E8E84-426E-40DD-AFC4-6F175D3DCCD1}">
                          <a14:hiddenFill xmlns:a14="http://schemas.microsoft.com/office/drawing/2010/main">
                            <a:noFill/>
                          </a14:hiddenFill>
                        </a:ext>
                      </a:extLst>
                    </p:spPr>
                  </p:cxnSp>
                  <p:sp>
                    <p:nvSpPr>
                      <p:cNvPr id="140" name="Oval 139">
                        <a:extLst>
                          <a:ext uri="{FF2B5EF4-FFF2-40B4-BE49-F238E27FC236}">
                            <a16:creationId xmlns:a16="http://schemas.microsoft.com/office/drawing/2014/main" id="{6B9B940B-8DEA-4C42-A3E2-808C874A545D}"/>
                          </a:ext>
                        </a:extLst>
                      </p:cNvPr>
                      <p:cNvSpPr>
                        <a:spLocks noChangeArrowheads="1"/>
                      </p:cNvSpPr>
                      <p:nvPr/>
                    </p:nvSpPr>
                    <p:spPr bwMode="auto">
                      <a:xfrm>
                        <a:off x="6468297" y="980747"/>
                        <a:ext cx="626588" cy="574398"/>
                      </a:xfrm>
                      <a:prstGeom prst="ellipse">
                        <a:avLst/>
                      </a:prstGeom>
                      <a:solidFill>
                        <a:srgbClr val="FFFFFF"/>
                      </a:solidFill>
                      <a:ln w="38100">
                        <a:solidFill>
                          <a:srgbClr val="000000"/>
                        </a:solidFill>
                        <a:round/>
                        <a:headEnd/>
                        <a:tailEnd/>
                      </a:ln>
                    </p:spPr>
                    <p:txBody>
                      <a:bodyPr rot="0" vert="horz" wrap="square" lIns="91440" tIns="45720" rIns="91440" bIns="45720" anchor="t" anchorCtr="0" upright="1">
                        <a:noAutofit/>
                      </a:bodyPr>
                      <a:lstStyle/>
                      <a:p>
                        <a:endParaRPr lang="en-GB"/>
                      </a:p>
                    </p:txBody>
                  </p:sp>
                  <p:cxnSp>
                    <p:nvCxnSpPr>
                      <p:cNvPr id="141" name="Line 5">
                        <a:extLst>
                          <a:ext uri="{FF2B5EF4-FFF2-40B4-BE49-F238E27FC236}">
                            <a16:creationId xmlns:a16="http://schemas.microsoft.com/office/drawing/2014/main" id="{60A22420-09B6-41D2-92C7-7D9496435DA9}"/>
                          </a:ext>
                        </a:extLst>
                      </p:cNvPr>
                      <p:cNvCxnSpPr>
                        <a:cxnSpLocks noChangeAspect="1" noChangeShapeType="1"/>
                      </p:cNvCxnSpPr>
                      <p:nvPr/>
                    </p:nvCxnSpPr>
                    <p:spPr bwMode="auto">
                      <a:xfrm rot="5400000" flipV="1">
                        <a:off x="6101693" y="941432"/>
                        <a:ext cx="2674" cy="2737599"/>
                      </a:xfrm>
                      <a:prstGeom prst="line">
                        <a:avLst/>
                      </a:prstGeom>
                      <a:noFill/>
                      <a:ln w="38100">
                        <a:solidFill>
                          <a:srgbClr val="008000"/>
                        </a:solidFill>
                        <a:round/>
                        <a:headEnd/>
                        <a:tailEnd type="triangle" w="lg" len="lg"/>
                      </a:ln>
                      <a:extLst>
                        <a:ext uri="{909E8E84-426E-40DD-AFC4-6F175D3DCCD1}">
                          <a14:hiddenFill xmlns:a14="http://schemas.microsoft.com/office/drawing/2010/main">
                            <a:noFill/>
                          </a14:hiddenFill>
                        </a:ext>
                      </a:extLst>
                    </p:spPr>
                  </p:cxnSp>
                  <p:cxnSp>
                    <p:nvCxnSpPr>
                      <p:cNvPr id="142" name="Line 6">
                        <a:extLst>
                          <a:ext uri="{FF2B5EF4-FFF2-40B4-BE49-F238E27FC236}">
                            <a16:creationId xmlns:a16="http://schemas.microsoft.com/office/drawing/2014/main" id="{BF1AEF9F-DEAF-4468-BFC1-E5DEA6B7AFAB}"/>
                          </a:ext>
                        </a:extLst>
                      </p:cNvPr>
                      <p:cNvCxnSpPr>
                        <a:cxnSpLocks noChangeAspect="1" noChangeShapeType="1"/>
                      </p:cNvCxnSpPr>
                      <p:nvPr/>
                    </p:nvCxnSpPr>
                    <p:spPr bwMode="auto">
                      <a:xfrm rot="120000" flipH="1">
                        <a:off x="4811089" y="165016"/>
                        <a:ext cx="1254983" cy="2173544"/>
                      </a:xfrm>
                      <a:prstGeom prst="line">
                        <a:avLst/>
                      </a:prstGeom>
                      <a:noFill/>
                      <a:ln w="38100">
                        <a:solidFill>
                          <a:srgbClr val="002060"/>
                        </a:solidFill>
                        <a:round/>
                        <a:headEnd/>
                        <a:tailEnd type="triangle" w="lg" len="lg"/>
                      </a:ln>
                      <a:extLst>
                        <a:ext uri="{909E8E84-426E-40DD-AFC4-6F175D3DCCD1}">
                          <a14:hiddenFill xmlns:a14="http://schemas.microsoft.com/office/drawing/2010/main">
                            <a:noFill/>
                          </a14:hiddenFill>
                        </a:ext>
                      </a:extLst>
                    </p:spPr>
                  </p:cxnSp>
                  <p:sp>
                    <p:nvSpPr>
                      <p:cNvPr id="143" name="Text Box 7">
                        <a:extLst>
                          <a:ext uri="{FF2B5EF4-FFF2-40B4-BE49-F238E27FC236}">
                            <a16:creationId xmlns:a16="http://schemas.microsoft.com/office/drawing/2014/main" id="{DC8806C7-DC3D-4E00-9C29-272D99109631}"/>
                          </a:ext>
                        </a:extLst>
                      </p:cNvPr>
                      <p:cNvSpPr txBox="1">
                        <a:spLocks noChangeArrowheads="1"/>
                      </p:cNvSpPr>
                      <p:nvPr/>
                    </p:nvSpPr>
                    <p:spPr bwMode="auto">
                      <a:xfrm>
                        <a:off x="6275826" y="126124"/>
                        <a:ext cx="502205" cy="34442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400" b="1">
                            <a:solidFill>
                              <a:srgbClr val="FF660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baseline="-25000">
                            <a:solidFill>
                              <a:srgbClr val="FF6600"/>
                            </a:solidFill>
                            <a:effectLst/>
                            <a:latin typeface="Calibri" panose="020F0502020204030204" pitchFamily="34" charset="0"/>
                            <a:ea typeface="Calibri" panose="020F0502020204030204" pitchFamily="34" charset="0"/>
                            <a:cs typeface="Times New Roman" panose="02020603050405020304" pitchFamily="18" charset="0"/>
                          </a:rPr>
                          <a:t>AB</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4" name="Text Box 8">
                        <a:extLst>
                          <a:ext uri="{FF2B5EF4-FFF2-40B4-BE49-F238E27FC236}">
                            <a16:creationId xmlns:a16="http://schemas.microsoft.com/office/drawing/2014/main" id="{571F57C4-D4CC-4D5D-A12D-2293CC81B8FE}"/>
                          </a:ext>
                        </a:extLst>
                      </p:cNvPr>
                      <p:cNvSpPr txBox="1">
                        <a:spLocks noChangeArrowheads="1"/>
                      </p:cNvSpPr>
                      <p:nvPr/>
                    </p:nvSpPr>
                    <p:spPr bwMode="auto">
                      <a:xfrm>
                        <a:off x="7001040" y="2317531"/>
                        <a:ext cx="502205" cy="34442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400" b="1" dirty="0" err="1">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baseline="-25000" dirty="0" err="1">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BC</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5" name="Text Box 9">
                        <a:extLst>
                          <a:ext uri="{FF2B5EF4-FFF2-40B4-BE49-F238E27FC236}">
                            <a16:creationId xmlns:a16="http://schemas.microsoft.com/office/drawing/2014/main" id="{93F7BAC9-1518-42A8-B957-C667CE9B67D9}"/>
                          </a:ext>
                        </a:extLst>
                      </p:cNvPr>
                      <p:cNvSpPr txBox="1">
                        <a:spLocks noChangeArrowheads="1"/>
                      </p:cNvSpPr>
                      <p:nvPr/>
                    </p:nvSpPr>
                    <p:spPr bwMode="auto">
                      <a:xfrm>
                        <a:off x="4352433" y="1923393"/>
                        <a:ext cx="501621" cy="34442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400" b="1">
                            <a:solidFill>
                              <a:srgbClr val="80008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baseline="-25000">
                            <a:solidFill>
                              <a:srgbClr val="800080"/>
                            </a:solidFill>
                            <a:effectLst/>
                            <a:latin typeface="Calibri" panose="020F0502020204030204" pitchFamily="34" charset="0"/>
                            <a:ea typeface="Calibri" panose="020F0502020204030204" pitchFamily="34" charset="0"/>
                            <a:cs typeface="Times New Roman" panose="02020603050405020304" pitchFamily="18" charset="0"/>
                          </a:rPr>
                          <a:t>CA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6" name="Arc 11">
                        <a:extLst>
                          <a:ext uri="{FF2B5EF4-FFF2-40B4-BE49-F238E27FC236}">
                            <a16:creationId xmlns:a16="http://schemas.microsoft.com/office/drawing/2014/main" id="{D042C663-0078-493F-AB9D-02A3352314A5}"/>
                          </a:ext>
                        </a:extLst>
                      </p:cNvPr>
                      <p:cNvSpPr>
                        <a:spLocks noChangeAspect="1"/>
                      </p:cNvSpPr>
                      <p:nvPr/>
                    </p:nvSpPr>
                    <p:spPr bwMode="auto">
                      <a:xfrm flipH="1">
                        <a:off x="6594421" y="1122637"/>
                        <a:ext cx="189655" cy="130229"/>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FFFFFF"/>
                      </a:solidFill>
                      <a:ln w="38100">
                        <a:solidFill>
                          <a:srgbClr val="FF6600"/>
                        </a:solidFill>
                        <a:round/>
                        <a:headEnd/>
                        <a:tailEnd/>
                      </a:ln>
                    </p:spPr>
                    <p:txBody>
                      <a:bodyPr rot="0" vert="horz" wrap="square" lIns="91440" tIns="45720" rIns="91440" bIns="45720" anchor="t" anchorCtr="0" upright="1">
                        <a:noAutofit/>
                      </a:bodyPr>
                      <a:lstStyle/>
                      <a:p>
                        <a:endParaRPr lang="en-GB"/>
                      </a:p>
                    </p:txBody>
                  </p:sp>
                  <p:sp>
                    <p:nvSpPr>
                      <p:cNvPr id="147" name="Arc 12">
                        <a:extLst>
                          <a:ext uri="{FF2B5EF4-FFF2-40B4-BE49-F238E27FC236}">
                            <a16:creationId xmlns:a16="http://schemas.microsoft.com/office/drawing/2014/main" id="{0F68011B-846F-41A5-B4F2-760040565F9C}"/>
                          </a:ext>
                        </a:extLst>
                      </p:cNvPr>
                      <p:cNvSpPr>
                        <a:spLocks noChangeAspect="1"/>
                      </p:cNvSpPr>
                      <p:nvPr/>
                    </p:nvSpPr>
                    <p:spPr bwMode="auto">
                      <a:xfrm flipH="1" flipV="1">
                        <a:off x="6783607" y="1245476"/>
                        <a:ext cx="189655" cy="130229"/>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FFFFFF"/>
                      </a:solidFill>
                      <a:ln w="38100">
                        <a:solidFill>
                          <a:srgbClr val="FF6600"/>
                        </a:solidFill>
                        <a:round/>
                        <a:headEnd/>
                        <a:tailEnd/>
                      </a:ln>
                    </p:spPr>
                    <p:txBody>
                      <a:bodyPr rot="0" vert="horz" wrap="square" lIns="91440" tIns="45720" rIns="91440" bIns="45720" anchor="t" anchorCtr="0" upright="1">
                        <a:noAutofit/>
                      </a:bodyPr>
                      <a:lstStyle/>
                      <a:p>
                        <a:endParaRPr lang="en-GB"/>
                      </a:p>
                    </p:txBody>
                  </p:sp>
                  <p:sp>
                    <p:nvSpPr>
                      <p:cNvPr id="148" name="Oval 147">
                        <a:extLst>
                          <a:ext uri="{FF2B5EF4-FFF2-40B4-BE49-F238E27FC236}">
                            <a16:creationId xmlns:a16="http://schemas.microsoft.com/office/drawing/2014/main" id="{A2B82F09-35EE-416D-965B-660F05DD0F13}"/>
                          </a:ext>
                        </a:extLst>
                      </p:cNvPr>
                      <p:cNvSpPr>
                        <a:spLocks noChangeArrowheads="1"/>
                      </p:cNvSpPr>
                      <p:nvPr/>
                    </p:nvSpPr>
                    <p:spPr bwMode="auto">
                      <a:xfrm>
                        <a:off x="5128228" y="980747"/>
                        <a:ext cx="626588" cy="574398"/>
                      </a:xfrm>
                      <a:prstGeom prst="ellipse">
                        <a:avLst/>
                      </a:prstGeom>
                      <a:solidFill>
                        <a:srgbClr val="FFFFFF"/>
                      </a:solidFill>
                      <a:ln w="38100">
                        <a:solidFill>
                          <a:srgbClr val="000000"/>
                        </a:solidFill>
                        <a:round/>
                        <a:headEnd/>
                        <a:tailEnd/>
                      </a:ln>
                    </p:spPr>
                    <p:txBody>
                      <a:bodyPr rot="0" vert="horz" wrap="square" lIns="91440" tIns="45720" rIns="91440" bIns="45720" anchor="t" anchorCtr="0" upright="1">
                        <a:noAutofit/>
                      </a:bodyPr>
                      <a:lstStyle/>
                      <a:p>
                        <a:endParaRPr lang="en-GB"/>
                      </a:p>
                    </p:txBody>
                  </p:sp>
                  <p:sp>
                    <p:nvSpPr>
                      <p:cNvPr id="149" name="Oval 148">
                        <a:extLst>
                          <a:ext uri="{FF2B5EF4-FFF2-40B4-BE49-F238E27FC236}">
                            <a16:creationId xmlns:a16="http://schemas.microsoft.com/office/drawing/2014/main" id="{92714E1A-36B6-4906-8966-C72A5667608C}"/>
                          </a:ext>
                        </a:extLst>
                      </p:cNvPr>
                      <p:cNvSpPr>
                        <a:spLocks noChangeArrowheads="1"/>
                      </p:cNvSpPr>
                      <p:nvPr/>
                    </p:nvSpPr>
                    <p:spPr bwMode="auto">
                      <a:xfrm>
                        <a:off x="5711552" y="2021271"/>
                        <a:ext cx="627172" cy="574398"/>
                      </a:xfrm>
                      <a:prstGeom prst="ellipse">
                        <a:avLst/>
                      </a:prstGeom>
                      <a:solidFill>
                        <a:srgbClr val="FFFFFF"/>
                      </a:solidFill>
                      <a:ln w="38100">
                        <a:solidFill>
                          <a:srgbClr val="000000"/>
                        </a:solidFill>
                        <a:round/>
                        <a:headEnd/>
                        <a:tailEnd/>
                      </a:ln>
                    </p:spPr>
                    <p:txBody>
                      <a:bodyPr rot="0" vert="horz" wrap="square" lIns="91440" tIns="45720" rIns="91440" bIns="45720" anchor="t" anchorCtr="0" upright="1">
                        <a:noAutofit/>
                      </a:bodyPr>
                      <a:lstStyle/>
                      <a:p>
                        <a:endParaRPr lang="en-GB"/>
                      </a:p>
                    </p:txBody>
                  </p:sp>
                  <p:sp>
                    <p:nvSpPr>
                      <p:cNvPr id="150" name="Arc 16">
                        <a:extLst>
                          <a:ext uri="{FF2B5EF4-FFF2-40B4-BE49-F238E27FC236}">
                            <a16:creationId xmlns:a16="http://schemas.microsoft.com/office/drawing/2014/main" id="{76941AE4-4511-4382-BF4D-7715EAC30E9F}"/>
                          </a:ext>
                        </a:extLst>
                      </p:cNvPr>
                      <p:cNvSpPr>
                        <a:spLocks noChangeAspect="1"/>
                      </p:cNvSpPr>
                      <p:nvPr/>
                    </p:nvSpPr>
                    <p:spPr bwMode="auto">
                      <a:xfrm flipH="1">
                        <a:off x="5238587" y="1154168"/>
                        <a:ext cx="189655" cy="130229"/>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38100">
                        <a:solidFill>
                          <a:srgbClr val="80008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51" name="Arc 17">
                        <a:extLst>
                          <a:ext uri="{FF2B5EF4-FFF2-40B4-BE49-F238E27FC236}">
                            <a16:creationId xmlns:a16="http://schemas.microsoft.com/office/drawing/2014/main" id="{82C88342-E5D3-4936-832D-9AECB216BB22}"/>
                          </a:ext>
                        </a:extLst>
                      </p:cNvPr>
                      <p:cNvSpPr>
                        <a:spLocks noChangeAspect="1"/>
                      </p:cNvSpPr>
                      <p:nvPr/>
                    </p:nvSpPr>
                    <p:spPr bwMode="auto">
                      <a:xfrm flipH="1" flipV="1">
                        <a:off x="5427773" y="1277007"/>
                        <a:ext cx="189655" cy="130229"/>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38100">
                        <a:solidFill>
                          <a:srgbClr val="80008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52" name="Arc 19">
                        <a:extLst>
                          <a:ext uri="{FF2B5EF4-FFF2-40B4-BE49-F238E27FC236}">
                            <a16:creationId xmlns:a16="http://schemas.microsoft.com/office/drawing/2014/main" id="{50E2B940-FFC7-4E41-8A4A-F6DA35144FE2}"/>
                          </a:ext>
                        </a:extLst>
                      </p:cNvPr>
                      <p:cNvSpPr>
                        <a:spLocks noChangeAspect="1"/>
                      </p:cNvSpPr>
                      <p:nvPr/>
                    </p:nvSpPr>
                    <p:spPr bwMode="auto">
                      <a:xfrm flipH="1">
                        <a:off x="5837676" y="2194692"/>
                        <a:ext cx="189363" cy="129962"/>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FFFFFF"/>
                      </a:solidFill>
                      <a:ln w="38100">
                        <a:solidFill>
                          <a:srgbClr val="008000"/>
                        </a:solidFill>
                        <a:round/>
                        <a:headEnd/>
                        <a:tailEnd/>
                      </a:ln>
                    </p:spPr>
                    <p:txBody>
                      <a:bodyPr rot="0" vert="horz" wrap="square" lIns="91440" tIns="45720" rIns="91440" bIns="45720" anchor="t" anchorCtr="0" upright="1">
                        <a:noAutofit/>
                      </a:bodyPr>
                      <a:lstStyle/>
                      <a:p>
                        <a:endParaRPr lang="en-GB"/>
                      </a:p>
                    </p:txBody>
                  </p:sp>
                  <p:sp>
                    <p:nvSpPr>
                      <p:cNvPr id="153" name="Arc 20">
                        <a:extLst>
                          <a:ext uri="{FF2B5EF4-FFF2-40B4-BE49-F238E27FC236}">
                            <a16:creationId xmlns:a16="http://schemas.microsoft.com/office/drawing/2014/main" id="{F536B419-D2D9-48F3-A21C-57C79F9310EA}"/>
                          </a:ext>
                        </a:extLst>
                      </p:cNvPr>
                      <p:cNvSpPr>
                        <a:spLocks noChangeAspect="1"/>
                      </p:cNvSpPr>
                      <p:nvPr/>
                    </p:nvSpPr>
                    <p:spPr bwMode="auto">
                      <a:xfrm flipH="1" flipV="1">
                        <a:off x="6026862" y="2317531"/>
                        <a:ext cx="189363" cy="129962"/>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FFFFFF"/>
                      </a:solidFill>
                      <a:ln w="38100">
                        <a:solidFill>
                          <a:srgbClr val="008000"/>
                        </a:solidFill>
                        <a:round/>
                        <a:headEnd/>
                        <a:tailEnd/>
                      </a:ln>
                    </p:spPr>
                    <p:txBody>
                      <a:bodyPr rot="0" vert="horz" wrap="square" lIns="91440" tIns="45720" rIns="91440" bIns="45720" anchor="t" anchorCtr="0" upright="1">
                        <a:noAutofit/>
                      </a:bodyPr>
                      <a:lstStyle/>
                      <a:p>
                        <a:endParaRPr lang="en-GB"/>
                      </a:p>
                    </p:txBody>
                  </p:sp>
                  <p:sp>
                    <p:nvSpPr>
                      <p:cNvPr id="154" name="Text Box 28">
                        <a:extLst>
                          <a:ext uri="{FF2B5EF4-FFF2-40B4-BE49-F238E27FC236}">
                            <a16:creationId xmlns:a16="http://schemas.microsoft.com/office/drawing/2014/main" id="{06531DF2-1490-459C-AC04-4AC105672CCB}"/>
                          </a:ext>
                        </a:extLst>
                      </p:cNvPr>
                      <p:cNvSpPr txBox="1">
                        <a:spLocks noChangeArrowheads="1"/>
                      </p:cNvSpPr>
                      <p:nvPr/>
                    </p:nvSpPr>
                    <p:spPr bwMode="auto">
                      <a:xfrm>
                        <a:off x="4683509" y="3058511"/>
                        <a:ext cx="3753687" cy="73655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gn="ctr">
                          <a:lnSpc>
                            <a:spcPct val="107000"/>
                          </a:lnSpc>
                          <a:spcBef>
                            <a:spcPts val="0"/>
                          </a:spcBef>
                          <a:spcAft>
                            <a:spcPts val="800"/>
                          </a:spcAft>
                        </a:pPr>
                        <a:r>
                          <a:rPr lang="en-GB" sz="2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2(b) Delta-connected supply</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55" name="Line 30">
                        <a:extLst>
                          <a:ext uri="{FF2B5EF4-FFF2-40B4-BE49-F238E27FC236}">
                            <a16:creationId xmlns:a16="http://schemas.microsoft.com/office/drawing/2014/main" id="{93D392A0-6A54-4BDD-8061-695BF38C38B2}"/>
                          </a:ext>
                        </a:extLst>
                      </p:cNvPr>
                      <p:cNvCxnSpPr>
                        <a:cxnSpLocks noChangeShapeType="1"/>
                      </p:cNvCxnSpPr>
                      <p:nvPr/>
                    </p:nvCxnSpPr>
                    <p:spPr bwMode="auto">
                      <a:xfrm flipV="1">
                        <a:off x="4923276" y="826376"/>
                        <a:ext cx="416947" cy="546053"/>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56" name="Line 31">
                        <a:extLst>
                          <a:ext uri="{FF2B5EF4-FFF2-40B4-BE49-F238E27FC236}">
                            <a16:creationId xmlns:a16="http://schemas.microsoft.com/office/drawing/2014/main" id="{6EC43BB5-59B9-4FE5-A252-C97DC2B127FB}"/>
                          </a:ext>
                        </a:extLst>
                      </p:cNvPr>
                      <p:cNvCxnSpPr>
                        <a:cxnSpLocks noChangeShapeType="1"/>
                      </p:cNvCxnSpPr>
                      <p:nvPr/>
                    </p:nvCxnSpPr>
                    <p:spPr bwMode="auto">
                      <a:xfrm>
                        <a:off x="6941262" y="870388"/>
                        <a:ext cx="417530" cy="545518"/>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57" name="Line 32">
                        <a:extLst>
                          <a:ext uri="{FF2B5EF4-FFF2-40B4-BE49-F238E27FC236}">
                            <a16:creationId xmlns:a16="http://schemas.microsoft.com/office/drawing/2014/main" id="{913F904A-52E8-48B9-8A9A-41F23113C8B9}"/>
                          </a:ext>
                        </a:extLst>
                      </p:cNvPr>
                      <p:cNvCxnSpPr>
                        <a:cxnSpLocks noChangeShapeType="1"/>
                      </p:cNvCxnSpPr>
                      <p:nvPr/>
                    </p:nvCxnSpPr>
                    <p:spPr bwMode="auto">
                      <a:xfrm>
                        <a:off x="6342559" y="496132"/>
                        <a:ext cx="59564" cy="109104"/>
                      </a:xfrm>
                      <a:prstGeom prst="line">
                        <a:avLst/>
                      </a:prstGeom>
                      <a:noFill/>
                      <a:ln w="38100">
                        <a:solidFill>
                          <a:srgbClr val="FF6600"/>
                        </a:solidFill>
                        <a:round/>
                        <a:headEnd type="arrow" w="lg" len="lg"/>
                        <a:tailEnd w="lg" len="lg"/>
                      </a:ln>
                      <a:extLst>
                        <a:ext uri="{909E8E84-426E-40DD-AFC4-6F175D3DCCD1}">
                          <a14:hiddenFill xmlns:a14="http://schemas.microsoft.com/office/drawing/2010/main">
                            <a:noFill/>
                          </a14:hiddenFill>
                        </a:ext>
                      </a:extLst>
                    </p:spPr>
                  </p:cxnSp>
                  <p:sp>
                    <p:nvSpPr>
                      <p:cNvPr id="158" name="Text Box 33">
                        <a:extLst>
                          <a:ext uri="{FF2B5EF4-FFF2-40B4-BE49-F238E27FC236}">
                            <a16:creationId xmlns:a16="http://schemas.microsoft.com/office/drawing/2014/main" id="{87FBD2C7-2114-4BDF-B3C3-213436CC3CB2}"/>
                          </a:ext>
                        </a:extLst>
                      </p:cNvPr>
                      <p:cNvSpPr txBox="1">
                        <a:spLocks noChangeArrowheads="1"/>
                      </p:cNvSpPr>
                      <p:nvPr/>
                    </p:nvSpPr>
                    <p:spPr bwMode="auto">
                      <a:xfrm>
                        <a:off x="6170231" y="647682"/>
                        <a:ext cx="282052" cy="34496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9" name="Text Box 35">
                        <a:extLst>
                          <a:ext uri="{FF2B5EF4-FFF2-40B4-BE49-F238E27FC236}">
                            <a16:creationId xmlns:a16="http://schemas.microsoft.com/office/drawing/2014/main" id="{503018E6-63C7-497E-9D88-B4711BDB45BB}"/>
                          </a:ext>
                        </a:extLst>
                      </p:cNvPr>
                      <p:cNvSpPr txBox="1">
                        <a:spLocks noChangeArrowheads="1"/>
                      </p:cNvSpPr>
                      <p:nvPr/>
                    </p:nvSpPr>
                    <p:spPr bwMode="auto">
                      <a:xfrm>
                        <a:off x="7347881" y="94593"/>
                        <a:ext cx="376653" cy="34442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0" name="Text Box 36">
                        <a:extLst>
                          <a:ext uri="{FF2B5EF4-FFF2-40B4-BE49-F238E27FC236}">
                            <a16:creationId xmlns:a16="http://schemas.microsoft.com/office/drawing/2014/main" id="{8B5A8E0A-2FBD-496B-B01A-8AE841102387}"/>
                          </a:ext>
                        </a:extLst>
                      </p:cNvPr>
                      <p:cNvSpPr txBox="1">
                        <a:spLocks noChangeArrowheads="1"/>
                      </p:cNvSpPr>
                      <p:nvPr/>
                    </p:nvSpPr>
                    <p:spPr bwMode="auto">
                      <a:xfrm>
                        <a:off x="7221757" y="867104"/>
                        <a:ext cx="1025432" cy="398977"/>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6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GB" sz="26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600" b="1"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r>
                          <a:rPr lang="en-GB" sz="26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endParaRPr lang="en-GB" sz="11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1" name="Oval 160">
                        <a:extLst>
                          <a:ext uri="{FF2B5EF4-FFF2-40B4-BE49-F238E27FC236}">
                            <a16:creationId xmlns:a16="http://schemas.microsoft.com/office/drawing/2014/main" id="{293546A2-DA21-4221-9B11-40D5FB7B09A7}"/>
                          </a:ext>
                        </a:extLst>
                      </p:cNvPr>
                      <p:cNvSpPr>
                        <a:spLocks noChangeArrowheads="1"/>
                      </p:cNvSpPr>
                      <p:nvPr/>
                    </p:nvSpPr>
                    <p:spPr bwMode="auto">
                      <a:xfrm>
                        <a:off x="1186849" y="696968"/>
                        <a:ext cx="656382" cy="574517"/>
                      </a:xfrm>
                      <a:prstGeom prst="ellipse">
                        <a:avLst/>
                      </a:prstGeom>
                      <a:solidFill>
                        <a:srgbClr val="FFFFFF"/>
                      </a:solidFill>
                      <a:ln w="38100">
                        <a:solidFill>
                          <a:srgbClr val="000000"/>
                        </a:solidFill>
                        <a:round/>
                        <a:headEnd/>
                        <a:tailEnd/>
                      </a:ln>
                    </p:spPr>
                    <p:txBody>
                      <a:bodyPr rot="0" vert="horz" wrap="square" lIns="91440" tIns="45720" rIns="91440" bIns="45720" anchor="t" anchorCtr="0" upright="1">
                        <a:noAutofit/>
                      </a:bodyPr>
                      <a:lstStyle/>
                      <a:p>
                        <a:endParaRPr lang="en-GB"/>
                      </a:p>
                    </p:txBody>
                  </p:sp>
                  <p:cxnSp>
                    <p:nvCxnSpPr>
                      <p:cNvPr id="162" name="Line 40">
                        <a:extLst>
                          <a:ext uri="{FF2B5EF4-FFF2-40B4-BE49-F238E27FC236}">
                            <a16:creationId xmlns:a16="http://schemas.microsoft.com/office/drawing/2014/main" id="{2B5FB5F9-DD2E-4223-8744-ADA6A6C13784}"/>
                          </a:ext>
                        </a:extLst>
                      </p:cNvPr>
                      <p:cNvCxnSpPr>
                        <a:cxnSpLocks noChangeAspect="1" noChangeShapeType="1"/>
                      </p:cNvCxnSpPr>
                      <p:nvPr/>
                    </p:nvCxnSpPr>
                    <p:spPr bwMode="auto">
                      <a:xfrm rot="7200000" flipV="1">
                        <a:off x="2276991" y="1161459"/>
                        <a:ext cx="958" cy="1654083"/>
                      </a:xfrm>
                      <a:prstGeom prst="line">
                        <a:avLst/>
                      </a:prstGeom>
                      <a:noFill/>
                      <a:ln w="38100">
                        <a:solidFill>
                          <a:srgbClr val="FFC000"/>
                        </a:solidFill>
                        <a:round/>
                        <a:headEnd/>
                        <a:tailEnd type="triangle" w="lg" len="lg"/>
                      </a:ln>
                      <a:extLst>
                        <a:ext uri="{909E8E84-426E-40DD-AFC4-6F175D3DCCD1}">
                          <a14:hiddenFill xmlns:a14="http://schemas.microsoft.com/office/drawing/2010/main">
                            <a:noFill/>
                          </a14:hiddenFill>
                        </a:ext>
                      </a:extLst>
                    </p:spPr>
                  </p:cxnSp>
                  <p:cxnSp>
                    <p:nvCxnSpPr>
                      <p:cNvPr id="163" name="Line 41">
                        <a:extLst>
                          <a:ext uri="{FF2B5EF4-FFF2-40B4-BE49-F238E27FC236}">
                            <a16:creationId xmlns:a16="http://schemas.microsoft.com/office/drawing/2014/main" id="{448F4D7F-7FFD-4641-8488-796FA0CB99D1}"/>
                          </a:ext>
                        </a:extLst>
                      </p:cNvPr>
                      <p:cNvCxnSpPr>
                        <a:cxnSpLocks noChangeAspect="1" noChangeShapeType="1"/>
                      </p:cNvCxnSpPr>
                      <p:nvPr/>
                    </p:nvCxnSpPr>
                    <p:spPr bwMode="auto">
                      <a:xfrm rot="14400000" flipV="1">
                        <a:off x="826563" y="1145693"/>
                        <a:ext cx="958" cy="1654083"/>
                      </a:xfrm>
                      <a:prstGeom prst="line">
                        <a:avLst/>
                      </a:prstGeom>
                      <a:noFill/>
                      <a:ln w="38100">
                        <a:solidFill>
                          <a:srgbClr val="00B0F0"/>
                        </a:solidFill>
                        <a:round/>
                        <a:headEnd/>
                        <a:tailEnd type="triangle" w="lg" len="lg"/>
                      </a:ln>
                      <a:extLst>
                        <a:ext uri="{909E8E84-426E-40DD-AFC4-6F175D3DCCD1}">
                          <a14:hiddenFill xmlns:a14="http://schemas.microsoft.com/office/drawing/2010/main">
                            <a:noFill/>
                          </a14:hiddenFill>
                        </a:ext>
                      </a:extLst>
                    </p:spPr>
                  </p:cxnSp>
                  <p:sp>
                    <p:nvSpPr>
                      <p:cNvPr id="164" name="Text Box 42">
                        <a:extLst>
                          <a:ext uri="{FF2B5EF4-FFF2-40B4-BE49-F238E27FC236}">
                            <a16:creationId xmlns:a16="http://schemas.microsoft.com/office/drawing/2014/main" id="{C97068BA-95BE-43B7-BEBF-96F786023588}"/>
                          </a:ext>
                        </a:extLst>
                      </p:cNvPr>
                      <p:cNvSpPr txBox="1">
                        <a:spLocks noChangeArrowheads="1"/>
                      </p:cNvSpPr>
                      <p:nvPr/>
                    </p:nvSpPr>
                    <p:spPr bwMode="auto">
                      <a:xfrm>
                        <a:off x="915550" y="63062"/>
                        <a:ext cx="393829" cy="3447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400" b="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baseline="-250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5" name="Text Box 43">
                        <a:extLst>
                          <a:ext uri="{FF2B5EF4-FFF2-40B4-BE49-F238E27FC236}">
                            <a16:creationId xmlns:a16="http://schemas.microsoft.com/office/drawing/2014/main" id="{AF83705C-3E2A-4FDC-A745-5E0FAB052F04}"/>
                          </a:ext>
                        </a:extLst>
                      </p:cNvPr>
                      <p:cNvSpPr txBox="1">
                        <a:spLocks noChangeArrowheads="1"/>
                      </p:cNvSpPr>
                      <p:nvPr/>
                    </p:nvSpPr>
                    <p:spPr bwMode="auto">
                      <a:xfrm>
                        <a:off x="2239854" y="2301766"/>
                        <a:ext cx="393829" cy="3447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400" b="1">
                            <a:solidFill>
                              <a:srgbClr val="FFCC0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baseline="-25000">
                            <a:solidFill>
                              <a:srgbClr val="FFCC00"/>
                            </a:solidFill>
                            <a:effectLst/>
                            <a:latin typeface="Calibri" panose="020F0502020204030204" pitchFamily="34" charset="0"/>
                            <a:ea typeface="Calibri" panose="020F0502020204030204" pitchFamily="34" charset="0"/>
                            <a:cs typeface="Times New Roman" panose="02020603050405020304" pitchFamily="18" charset="0"/>
                          </a:rPr>
                          <a:t>B</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6" name="Text Box 44">
                        <a:extLst>
                          <a:ext uri="{FF2B5EF4-FFF2-40B4-BE49-F238E27FC236}">
                            <a16:creationId xmlns:a16="http://schemas.microsoft.com/office/drawing/2014/main" id="{18DA7FD3-5015-4CED-A77F-56FD6937FA3D}"/>
                          </a:ext>
                        </a:extLst>
                      </p:cNvPr>
                      <p:cNvSpPr txBox="1">
                        <a:spLocks noChangeArrowheads="1"/>
                      </p:cNvSpPr>
                      <p:nvPr/>
                    </p:nvSpPr>
                    <p:spPr bwMode="auto">
                      <a:xfrm>
                        <a:off x="395288" y="2301766"/>
                        <a:ext cx="393829" cy="344710"/>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400" b="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V</a:t>
                        </a:r>
                        <a:r>
                          <a:rPr lang="en-GB" sz="2400" b="1" baseline="-250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7" name="Arc 46">
                        <a:extLst>
                          <a:ext uri="{FF2B5EF4-FFF2-40B4-BE49-F238E27FC236}">
                            <a16:creationId xmlns:a16="http://schemas.microsoft.com/office/drawing/2014/main" id="{AC30BEF7-0994-402E-951B-EDDA09A733E6}"/>
                          </a:ext>
                        </a:extLst>
                      </p:cNvPr>
                      <p:cNvSpPr>
                        <a:spLocks noChangeAspect="1"/>
                      </p:cNvSpPr>
                      <p:nvPr/>
                    </p:nvSpPr>
                    <p:spPr bwMode="auto">
                      <a:xfrm flipH="1">
                        <a:off x="1312973" y="838857"/>
                        <a:ext cx="198418" cy="130224"/>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FFFFFF"/>
                      </a:solidFill>
                      <a:ln w="38100">
                        <a:solidFill>
                          <a:srgbClr val="FF0000"/>
                        </a:solidFill>
                        <a:round/>
                        <a:headEnd/>
                        <a:tailEnd/>
                      </a:ln>
                    </p:spPr>
                    <p:txBody>
                      <a:bodyPr rot="0" vert="horz" wrap="square" lIns="91440" tIns="45720" rIns="91440" bIns="45720" anchor="t" anchorCtr="0" upright="1">
                        <a:noAutofit/>
                      </a:bodyPr>
                      <a:lstStyle/>
                      <a:p>
                        <a:endParaRPr lang="en-GB"/>
                      </a:p>
                    </p:txBody>
                  </p:sp>
                  <p:sp>
                    <p:nvSpPr>
                      <p:cNvPr id="168" name="Arc 47">
                        <a:extLst>
                          <a:ext uri="{FF2B5EF4-FFF2-40B4-BE49-F238E27FC236}">
                            <a16:creationId xmlns:a16="http://schemas.microsoft.com/office/drawing/2014/main" id="{824A4BA7-89CE-45FB-90B0-8B4DAAD14D28}"/>
                          </a:ext>
                        </a:extLst>
                      </p:cNvPr>
                      <p:cNvSpPr>
                        <a:spLocks noChangeAspect="1"/>
                      </p:cNvSpPr>
                      <p:nvPr/>
                    </p:nvSpPr>
                    <p:spPr bwMode="auto">
                      <a:xfrm flipH="1" flipV="1">
                        <a:off x="1517924" y="961697"/>
                        <a:ext cx="198418" cy="130224"/>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FFFFFF"/>
                      </a:solidFill>
                      <a:ln w="38100">
                        <a:solidFill>
                          <a:srgbClr val="FF0000"/>
                        </a:solidFill>
                        <a:round/>
                        <a:headEnd/>
                        <a:tailEnd/>
                      </a:ln>
                    </p:spPr>
                    <p:txBody>
                      <a:bodyPr rot="0" vert="horz" wrap="square" lIns="91440" tIns="45720" rIns="91440" bIns="45720" anchor="t" anchorCtr="0" upright="1">
                        <a:noAutofit/>
                      </a:bodyPr>
                      <a:lstStyle/>
                      <a:p>
                        <a:endParaRPr lang="en-GB"/>
                      </a:p>
                    </p:txBody>
                  </p:sp>
                  <p:sp>
                    <p:nvSpPr>
                      <p:cNvPr id="169" name="Oval 168">
                        <a:extLst>
                          <a:ext uri="{FF2B5EF4-FFF2-40B4-BE49-F238E27FC236}">
                            <a16:creationId xmlns:a16="http://schemas.microsoft.com/office/drawing/2014/main" id="{8284D099-EC74-4268-9081-E02FF69BE8D2}"/>
                          </a:ext>
                        </a:extLst>
                      </p:cNvPr>
                      <p:cNvSpPr>
                        <a:spLocks noChangeArrowheads="1"/>
                      </p:cNvSpPr>
                      <p:nvPr/>
                    </p:nvSpPr>
                    <p:spPr bwMode="auto">
                      <a:xfrm>
                        <a:off x="1770173" y="1595602"/>
                        <a:ext cx="656382" cy="574517"/>
                      </a:xfrm>
                      <a:prstGeom prst="ellipse">
                        <a:avLst/>
                      </a:prstGeom>
                      <a:solidFill>
                        <a:srgbClr val="FFFFFF"/>
                      </a:solidFill>
                      <a:ln w="38100">
                        <a:solidFill>
                          <a:srgbClr val="000000"/>
                        </a:solidFill>
                        <a:round/>
                        <a:headEnd/>
                        <a:tailEnd/>
                      </a:ln>
                    </p:spPr>
                    <p:txBody>
                      <a:bodyPr rot="0" vert="horz" wrap="square" lIns="91440" tIns="45720" rIns="91440" bIns="45720" anchor="t" anchorCtr="0" upright="1">
                        <a:noAutofit/>
                      </a:bodyPr>
                      <a:lstStyle/>
                      <a:p>
                        <a:endParaRPr lang="en-GB"/>
                      </a:p>
                    </p:txBody>
                  </p:sp>
                  <p:sp>
                    <p:nvSpPr>
                      <p:cNvPr id="170" name="Oval 169">
                        <a:extLst>
                          <a:ext uri="{FF2B5EF4-FFF2-40B4-BE49-F238E27FC236}">
                            <a16:creationId xmlns:a16="http://schemas.microsoft.com/office/drawing/2014/main" id="{F0542651-DDD2-42F9-8B2D-0E00AC678F16}"/>
                          </a:ext>
                        </a:extLst>
                      </p:cNvPr>
                      <p:cNvSpPr>
                        <a:spLocks noChangeArrowheads="1"/>
                      </p:cNvSpPr>
                      <p:nvPr/>
                    </p:nvSpPr>
                    <p:spPr bwMode="auto">
                      <a:xfrm>
                        <a:off x="650821" y="1595602"/>
                        <a:ext cx="656382" cy="574517"/>
                      </a:xfrm>
                      <a:prstGeom prst="ellipse">
                        <a:avLst/>
                      </a:prstGeom>
                      <a:solidFill>
                        <a:srgbClr val="FFFFFF"/>
                      </a:solidFill>
                      <a:ln w="38100">
                        <a:solidFill>
                          <a:srgbClr val="000000"/>
                        </a:solidFill>
                        <a:round/>
                        <a:headEnd/>
                        <a:tailEnd/>
                      </a:ln>
                    </p:spPr>
                    <p:txBody>
                      <a:bodyPr rot="0" vert="horz" wrap="square" lIns="91440" tIns="45720" rIns="91440" bIns="45720" anchor="t" anchorCtr="0" upright="1">
                        <a:noAutofit/>
                      </a:bodyPr>
                      <a:lstStyle/>
                      <a:p>
                        <a:endParaRPr lang="en-GB"/>
                      </a:p>
                    </p:txBody>
                  </p:sp>
                  <p:sp>
                    <p:nvSpPr>
                      <p:cNvPr id="171" name="Arc 51">
                        <a:extLst>
                          <a:ext uri="{FF2B5EF4-FFF2-40B4-BE49-F238E27FC236}">
                            <a16:creationId xmlns:a16="http://schemas.microsoft.com/office/drawing/2014/main" id="{3A49D493-639F-4A77-A676-B770A88D7C93}"/>
                          </a:ext>
                        </a:extLst>
                      </p:cNvPr>
                      <p:cNvSpPr>
                        <a:spLocks noChangeAspect="1"/>
                      </p:cNvSpPr>
                      <p:nvPr/>
                    </p:nvSpPr>
                    <p:spPr bwMode="auto">
                      <a:xfrm flipH="1">
                        <a:off x="1896297" y="1753257"/>
                        <a:ext cx="198418" cy="130224"/>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FFFFFF"/>
                      </a:solidFill>
                      <a:ln w="38100">
                        <a:solidFill>
                          <a:srgbClr val="FF9900"/>
                        </a:solidFill>
                        <a:round/>
                        <a:headEnd/>
                        <a:tailEnd/>
                      </a:ln>
                    </p:spPr>
                    <p:txBody>
                      <a:bodyPr rot="0" vert="horz" wrap="square" lIns="91440" tIns="45720" rIns="91440" bIns="45720" anchor="t" anchorCtr="0" upright="1">
                        <a:noAutofit/>
                      </a:bodyPr>
                      <a:lstStyle/>
                      <a:p>
                        <a:endParaRPr lang="en-GB"/>
                      </a:p>
                    </p:txBody>
                  </p:sp>
                  <p:sp>
                    <p:nvSpPr>
                      <p:cNvPr id="172" name="Arc 52">
                        <a:extLst>
                          <a:ext uri="{FF2B5EF4-FFF2-40B4-BE49-F238E27FC236}">
                            <a16:creationId xmlns:a16="http://schemas.microsoft.com/office/drawing/2014/main" id="{EC31EA4E-1B11-4633-888A-486674DFADFF}"/>
                          </a:ext>
                        </a:extLst>
                      </p:cNvPr>
                      <p:cNvSpPr>
                        <a:spLocks noChangeAspect="1"/>
                      </p:cNvSpPr>
                      <p:nvPr/>
                    </p:nvSpPr>
                    <p:spPr bwMode="auto">
                      <a:xfrm flipH="1" flipV="1">
                        <a:off x="2101249" y="1876097"/>
                        <a:ext cx="198418" cy="130224"/>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FFFFFF"/>
                      </a:solidFill>
                      <a:ln w="38100">
                        <a:solidFill>
                          <a:srgbClr val="FF9900"/>
                        </a:solidFill>
                        <a:round/>
                        <a:headEnd/>
                        <a:tailEnd/>
                      </a:ln>
                    </p:spPr>
                    <p:txBody>
                      <a:bodyPr rot="0" vert="horz" wrap="square" lIns="91440" tIns="45720" rIns="91440" bIns="45720" anchor="t" anchorCtr="0" upright="1">
                        <a:noAutofit/>
                      </a:bodyPr>
                      <a:lstStyle/>
                      <a:p>
                        <a:endParaRPr lang="en-GB"/>
                      </a:p>
                    </p:txBody>
                  </p:sp>
                  <p:sp>
                    <p:nvSpPr>
                      <p:cNvPr id="173" name="Arc 54">
                        <a:extLst>
                          <a:ext uri="{FF2B5EF4-FFF2-40B4-BE49-F238E27FC236}">
                            <a16:creationId xmlns:a16="http://schemas.microsoft.com/office/drawing/2014/main" id="{5DE5ED7B-5028-4A0F-A33D-7B82AD35CF91}"/>
                          </a:ext>
                        </a:extLst>
                      </p:cNvPr>
                      <p:cNvSpPr>
                        <a:spLocks noChangeAspect="1"/>
                      </p:cNvSpPr>
                      <p:nvPr/>
                    </p:nvSpPr>
                    <p:spPr bwMode="auto">
                      <a:xfrm flipH="1">
                        <a:off x="792711" y="1769023"/>
                        <a:ext cx="198418" cy="130224"/>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FFFFFF"/>
                      </a:solidFill>
                      <a:ln w="38100">
                        <a:solidFill>
                          <a:srgbClr val="003366"/>
                        </a:solidFill>
                        <a:round/>
                        <a:headEnd/>
                        <a:tailEnd/>
                      </a:ln>
                    </p:spPr>
                    <p:txBody>
                      <a:bodyPr rot="0" vert="horz" wrap="square" lIns="91440" tIns="45720" rIns="91440" bIns="45720" anchor="t" anchorCtr="0" upright="1">
                        <a:noAutofit/>
                      </a:bodyPr>
                      <a:lstStyle/>
                      <a:p>
                        <a:endParaRPr lang="en-GB"/>
                      </a:p>
                    </p:txBody>
                  </p:sp>
                  <p:sp>
                    <p:nvSpPr>
                      <p:cNvPr id="174" name="Arc 55">
                        <a:extLst>
                          <a:ext uri="{FF2B5EF4-FFF2-40B4-BE49-F238E27FC236}">
                            <a16:creationId xmlns:a16="http://schemas.microsoft.com/office/drawing/2014/main" id="{DB67ADB1-6B1A-4EC0-8081-61D3DB61ABFA}"/>
                          </a:ext>
                        </a:extLst>
                      </p:cNvPr>
                      <p:cNvSpPr>
                        <a:spLocks noChangeAspect="1"/>
                      </p:cNvSpPr>
                      <p:nvPr/>
                    </p:nvSpPr>
                    <p:spPr bwMode="auto">
                      <a:xfrm flipH="1" flipV="1">
                        <a:off x="997662" y="1891862"/>
                        <a:ext cx="198418" cy="130224"/>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FFFFFF"/>
                      </a:solidFill>
                      <a:ln w="38100">
                        <a:solidFill>
                          <a:srgbClr val="003366"/>
                        </a:solidFill>
                        <a:round/>
                        <a:headEnd/>
                        <a:tailEnd/>
                      </a:ln>
                    </p:spPr>
                    <p:txBody>
                      <a:bodyPr rot="0" vert="horz" wrap="square" lIns="91440" tIns="45720" rIns="91440" bIns="45720" anchor="t" anchorCtr="0" upright="1">
                        <a:noAutofit/>
                      </a:bodyPr>
                      <a:lstStyle/>
                      <a:p>
                        <a:endParaRPr lang="en-GB"/>
                      </a:p>
                    </p:txBody>
                  </p:sp>
                  <p:sp>
                    <p:nvSpPr>
                      <p:cNvPr id="175" name="Text Box 62">
                        <a:extLst>
                          <a:ext uri="{FF2B5EF4-FFF2-40B4-BE49-F238E27FC236}">
                            <a16:creationId xmlns:a16="http://schemas.microsoft.com/office/drawing/2014/main" id="{808B0C12-1381-4C03-BB8E-83A5E5241CE2}"/>
                          </a:ext>
                        </a:extLst>
                      </p:cNvPr>
                      <p:cNvSpPr txBox="1">
                        <a:spLocks noChangeArrowheads="1"/>
                      </p:cNvSpPr>
                      <p:nvPr/>
                    </p:nvSpPr>
                    <p:spPr bwMode="auto">
                      <a:xfrm>
                        <a:off x="190337" y="3042745"/>
                        <a:ext cx="3678940" cy="728498"/>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gn="ctr">
                          <a:lnSpc>
                            <a:spcPct val="107000"/>
                          </a:lnSpc>
                          <a:spcBef>
                            <a:spcPts val="0"/>
                          </a:spcBef>
                          <a:spcAft>
                            <a:spcPts val="800"/>
                          </a:spcAft>
                        </a:pPr>
                        <a:r>
                          <a:rPr lang="en-GB" sz="2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2(a) Star-connected supply</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76" name="Line 64">
                        <a:extLst>
                          <a:ext uri="{FF2B5EF4-FFF2-40B4-BE49-F238E27FC236}">
                            <a16:creationId xmlns:a16="http://schemas.microsoft.com/office/drawing/2014/main" id="{6F6A2C93-7A1E-4418-A2EA-A739175BB529}"/>
                          </a:ext>
                        </a:extLst>
                      </p:cNvPr>
                      <p:cNvCxnSpPr>
                        <a:cxnSpLocks noChangeShapeType="1"/>
                      </p:cNvCxnSpPr>
                      <p:nvPr/>
                    </p:nvCxnSpPr>
                    <p:spPr bwMode="auto">
                      <a:xfrm>
                        <a:off x="2243138" y="1453712"/>
                        <a:ext cx="498701" cy="327311"/>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77" name="Line 65">
                        <a:extLst>
                          <a:ext uri="{FF2B5EF4-FFF2-40B4-BE49-F238E27FC236}">
                            <a16:creationId xmlns:a16="http://schemas.microsoft.com/office/drawing/2014/main" id="{86F518BF-3E55-472E-B8F5-25E91BE7EC0B}"/>
                          </a:ext>
                        </a:extLst>
                      </p:cNvPr>
                      <p:cNvCxnSpPr>
                        <a:cxnSpLocks noChangeShapeType="1"/>
                      </p:cNvCxnSpPr>
                      <p:nvPr/>
                    </p:nvCxnSpPr>
                    <p:spPr bwMode="auto">
                      <a:xfrm flipH="1">
                        <a:off x="370326" y="1453712"/>
                        <a:ext cx="498701" cy="327311"/>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sp>
                    <p:nvSpPr>
                      <p:cNvPr id="178" name="Text Box 68">
                        <a:extLst>
                          <a:ext uri="{FF2B5EF4-FFF2-40B4-BE49-F238E27FC236}">
                            <a16:creationId xmlns:a16="http://schemas.microsoft.com/office/drawing/2014/main" id="{EE6BA14A-7F4F-455E-A9F4-A6BDC8DDE2E6}"/>
                          </a:ext>
                        </a:extLst>
                      </p:cNvPr>
                      <p:cNvSpPr txBox="1">
                        <a:spLocks noChangeArrowheads="1"/>
                      </p:cNvSpPr>
                      <p:nvPr/>
                    </p:nvSpPr>
                    <p:spPr bwMode="auto">
                      <a:xfrm>
                        <a:off x="2760116" y="78828"/>
                        <a:ext cx="393588" cy="34442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9" name="Text Box 69">
                        <a:extLst>
                          <a:ext uri="{FF2B5EF4-FFF2-40B4-BE49-F238E27FC236}">
                            <a16:creationId xmlns:a16="http://schemas.microsoft.com/office/drawing/2014/main" id="{35332D23-9606-429F-8627-6B5F87D80594}"/>
                          </a:ext>
                        </a:extLst>
                      </p:cNvPr>
                      <p:cNvSpPr txBox="1">
                        <a:spLocks noChangeArrowheads="1"/>
                      </p:cNvSpPr>
                      <p:nvPr/>
                    </p:nvSpPr>
                    <p:spPr bwMode="auto">
                      <a:xfrm>
                        <a:off x="1656530" y="31531"/>
                        <a:ext cx="393588" cy="344425"/>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0" name="Text Box 70">
                        <a:extLst>
                          <a:ext uri="{FF2B5EF4-FFF2-40B4-BE49-F238E27FC236}">
                            <a16:creationId xmlns:a16="http://schemas.microsoft.com/office/drawing/2014/main" id="{DA89414C-A128-41C1-9980-463AD0245560}"/>
                          </a:ext>
                        </a:extLst>
                      </p:cNvPr>
                      <p:cNvSpPr txBox="1">
                        <a:spLocks noChangeArrowheads="1"/>
                      </p:cNvSpPr>
                      <p:nvPr/>
                    </p:nvSpPr>
                    <p:spPr bwMode="auto">
                      <a:xfrm>
                        <a:off x="2082201" y="788276"/>
                        <a:ext cx="767906" cy="399512"/>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6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GB" sz="26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600" b="1"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en-GB" sz="26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endParaRPr lang="en-GB" sz="11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1" name="Text Box 71">
                        <a:extLst>
                          <a:ext uri="{FF2B5EF4-FFF2-40B4-BE49-F238E27FC236}">
                            <a16:creationId xmlns:a16="http://schemas.microsoft.com/office/drawing/2014/main" id="{3BBD749F-5722-4BAB-8416-47E6E9648953}"/>
                          </a:ext>
                        </a:extLst>
                      </p:cNvPr>
                      <p:cNvSpPr txBox="1">
                        <a:spLocks noChangeArrowheads="1"/>
                      </p:cNvSpPr>
                      <p:nvPr/>
                    </p:nvSpPr>
                    <p:spPr bwMode="auto">
                      <a:xfrm>
                        <a:off x="2933537" y="1008993"/>
                        <a:ext cx="814038" cy="398977"/>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6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r>
                          <a:rPr lang="en-GB" sz="2600" b="1"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600" b="1"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r>
                          <a:rPr lang="en-GB" sz="26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sym typeface="Symbol" panose="05050102010706020507" pitchFamily="18" charset="2"/>
                          </a:rPr>
                          <a:t></a:t>
                        </a:r>
                        <a:endParaRPr lang="en-GB" sz="1100" b="1" dirty="0">
                          <a:effectLst/>
                          <a:latin typeface="Calibri" panose="020F0502020204030204" pitchFamily="34" charset="0"/>
                          <a:ea typeface="Calibri" panose="020F0502020204030204" pitchFamily="34" charset="0"/>
                          <a:cs typeface="Times New Roman" panose="02020603050405020304" pitchFamily="18" charset="0"/>
                        </a:endParaRPr>
                      </a:p>
                    </p:txBody>
                  </p:sp>
                </p:grpSp>
              </p:grpSp>
            </p:grpSp>
          </p:grpSp>
        </p:grpSp>
        <p:cxnSp>
          <p:nvCxnSpPr>
            <p:cNvPr id="186" name="Line 58">
              <a:extLst>
                <a:ext uri="{FF2B5EF4-FFF2-40B4-BE49-F238E27FC236}">
                  <a16:creationId xmlns:a16="http://schemas.microsoft.com/office/drawing/2014/main" id="{2EB61FDD-443F-441F-975A-2BB26C562FF6}"/>
                </a:ext>
              </a:extLst>
            </p:cNvPr>
            <p:cNvCxnSpPr>
              <a:cxnSpLocks noChangeShapeType="1"/>
            </p:cNvCxnSpPr>
            <p:nvPr/>
          </p:nvCxnSpPr>
          <p:spPr bwMode="auto">
            <a:xfrm>
              <a:off x="9328249" y="4053621"/>
              <a:ext cx="0" cy="218742"/>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grpSp>
      <p:sp>
        <p:nvSpPr>
          <p:cNvPr id="189" name="Rectangle 188">
            <a:extLst>
              <a:ext uri="{FF2B5EF4-FFF2-40B4-BE49-F238E27FC236}">
                <a16:creationId xmlns:a16="http://schemas.microsoft.com/office/drawing/2014/main" id="{B3556C1F-5B1D-492C-836B-1C8B8785EA71}"/>
              </a:ext>
            </a:extLst>
          </p:cNvPr>
          <p:cNvSpPr/>
          <p:nvPr/>
        </p:nvSpPr>
        <p:spPr>
          <a:xfrm>
            <a:off x="317231" y="5647374"/>
            <a:ext cx="7197804" cy="584775"/>
          </a:xfrm>
          <a:prstGeom prst="rect">
            <a:avLst/>
          </a:prstGeom>
        </p:spPr>
        <p:txBody>
          <a:bodyPr wrap="none">
            <a:spAutoFit/>
          </a:bodyPr>
          <a:lstStyle/>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Can be connected either in </a:t>
            </a:r>
            <a:r>
              <a:rPr lang="en-GB" sz="3200" b="1" i="1" dirty="0">
                <a:solidFill>
                  <a:srgbClr val="002060"/>
                </a:solidFill>
                <a:latin typeface="Times New Roman" panose="02020603050405020304" pitchFamily="18" charset="0"/>
                <a:ea typeface="Times New Roman" panose="02020603050405020304" pitchFamily="18" charset="0"/>
              </a:rPr>
              <a:t>star</a:t>
            </a:r>
            <a:r>
              <a:rPr lang="en-GB" sz="3200" dirty="0">
                <a:solidFill>
                  <a:srgbClr val="002060"/>
                </a:solidFill>
                <a:latin typeface="Times New Roman" panose="02020603050405020304" pitchFamily="18" charset="0"/>
                <a:ea typeface="Times New Roman" panose="02020603050405020304" pitchFamily="18" charset="0"/>
              </a:rPr>
              <a:t> or in </a:t>
            </a:r>
            <a:r>
              <a:rPr lang="en-GB" sz="3200" b="1" i="1" dirty="0">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a:t>
            </a:r>
            <a:endParaRPr lang="en-GB" sz="11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52923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1">
            <a:extLst>
              <a:ext uri="{FF2B5EF4-FFF2-40B4-BE49-F238E27FC236}">
                <a16:creationId xmlns:a16="http://schemas.microsoft.com/office/drawing/2014/main" id="{2F0FEB63-25F5-48FD-8ECF-031246E92F16}"/>
              </a:ext>
            </a:extLst>
          </p:cNvPr>
          <p:cNvSpPr>
            <a:spLocks noChangeArrowheads="1"/>
          </p:cNvSpPr>
          <p:nvPr/>
        </p:nvSpPr>
        <p:spPr bwMode="auto">
          <a:xfrm>
            <a:off x="467832" y="410384"/>
            <a:ext cx="1118545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In a balanced three phase system, knowledge of one of the phases gives the other two phases directly.  </a:t>
            </a:r>
            <a:endParaRPr kumimoji="0" lang="en-GB" altLang="en-US" sz="3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0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V</a:t>
            </a:r>
            <a:r>
              <a:rPr kumimoji="0" lang="en-GB" altLang="en-US" sz="30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RY</a:t>
            </a: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30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R</a:t>
            </a: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30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V</a:t>
            </a:r>
            <a:r>
              <a:rPr kumimoji="0" lang="en-GB" altLang="en-US" sz="30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Y</a:t>
            </a: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0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V</a:t>
            </a:r>
            <a:r>
              <a:rPr kumimoji="0" lang="en-GB" altLang="en-US" sz="30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YB</a:t>
            </a: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30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V</a:t>
            </a:r>
            <a:r>
              <a:rPr kumimoji="0" lang="en-GB" altLang="en-US" sz="30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Y</a:t>
            </a: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30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B</a:t>
            </a: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and      </a:t>
            </a:r>
            <a:r>
              <a:rPr kumimoji="0" lang="en-GB" altLang="en-US" sz="30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V</a:t>
            </a:r>
            <a:r>
              <a:rPr kumimoji="0" lang="en-GB" altLang="en-US" sz="30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BR</a:t>
            </a: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30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B</a:t>
            </a: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30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R</a:t>
            </a:r>
            <a:r>
              <a:rPr kumimoji="0" lang="en-GB" altLang="en-US" sz="3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3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grpSp>
        <p:nvGrpSpPr>
          <p:cNvPr id="4" name="Group 1">
            <a:extLst>
              <a:ext uri="{FF2B5EF4-FFF2-40B4-BE49-F238E27FC236}">
                <a16:creationId xmlns:a16="http://schemas.microsoft.com/office/drawing/2014/main" id="{DF9861E5-E570-4E49-B5F8-C0E5893C03DE}"/>
              </a:ext>
            </a:extLst>
          </p:cNvPr>
          <p:cNvGrpSpPr>
            <a:grpSpLocks noChangeAspect="1"/>
          </p:cNvGrpSpPr>
          <p:nvPr/>
        </p:nvGrpSpPr>
        <p:grpSpPr bwMode="auto">
          <a:xfrm>
            <a:off x="294279" y="2082238"/>
            <a:ext cx="9594000" cy="4572000"/>
            <a:chOff x="1038" y="2319"/>
            <a:chExt cx="7773" cy="4207"/>
          </a:xfrm>
        </p:grpSpPr>
        <p:grpSp>
          <p:nvGrpSpPr>
            <p:cNvPr id="5" name="Group 4">
              <a:extLst>
                <a:ext uri="{FF2B5EF4-FFF2-40B4-BE49-F238E27FC236}">
                  <a16:creationId xmlns:a16="http://schemas.microsoft.com/office/drawing/2014/main" id="{E40BA0AD-7B08-49AE-A0CB-DE2457EB4E39}"/>
                </a:ext>
              </a:extLst>
            </p:cNvPr>
            <p:cNvGrpSpPr>
              <a:grpSpLocks/>
            </p:cNvGrpSpPr>
            <p:nvPr/>
          </p:nvGrpSpPr>
          <p:grpSpPr bwMode="auto">
            <a:xfrm>
              <a:off x="1038" y="2319"/>
              <a:ext cx="7590" cy="3600"/>
              <a:chOff x="1268" y="6638"/>
              <a:chExt cx="7590" cy="3600"/>
            </a:xfrm>
          </p:grpSpPr>
          <p:sp>
            <p:nvSpPr>
              <p:cNvPr id="8" name="Line 40">
                <a:extLst>
                  <a:ext uri="{FF2B5EF4-FFF2-40B4-BE49-F238E27FC236}">
                    <a16:creationId xmlns:a16="http://schemas.microsoft.com/office/drawing/2014/main" id="{A866B268-D0DB-4D9E-9209-815B3CB5E3A8}"/>
                  </a:ext>
                </a:extLst>
              </p:cNvPr>
              <p:cNvSpPr>
                <a:spLocks noChangeShapeType="1"/>
              </p:cNvSpPr>
              <p:nvPr/>
            </p:nvSpPr>
            <p:spPr bwMode="auto">
              <a:xfrm flipV="1">
                <a:off x="3458" y="8078"/>
                <a:ext cx="120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Line 39">
                <a:extLst>
                  <a:ext uri="{FF2B5EF4-FFF2-40B4-BE49-F238E27FC236}">
                    <a16:creationId xmlns:a16="http://schemas.microsoft.com/office/drawing/2014/main" id="{5DB12189-8D4B-450C-865E-E8615E0A6EB6}"/>
                  </a:ext>
                </a:extLst>
              </p:cNvPr>
              <p:cNvSpPr>
                <a:spLocks noChangeShapeType="1"/>
              </p:cNvSpPr>
              <p:nvPr/>
            </p:nvSpPr>
            <p:spPr bwMode="auto">
              <a:xfrm rot="7200000" flipV="1">
                <a:off x="2558" y="8603"/>
                <a:ext cx="120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 name="Line 38">
                <a:extLst>
                  <a:ext uri="{FF2B5EF4-FFF2-40B4-BE49-F238E27FC236}">
                    <a16:creationId xmlns:a16="http://schemas.microsoft.com/office/drawing/2014/main" id="{1FAB692E-FD9B-429E-8AEC-07F7F5AAB70B}"/>
                  </a:ext>
                </a:extLst>
              </p:cNvPr>
              <p:cNvSpPr>
                <a:spLocks noChangeShapeType="1"/>
              </p:cNvSpPr>
              <p:nvPr/>
            </p:nvSpPr>
            <p:spPr bwMode="auto">
              <a:xfrm rot="-7200000">
                <a:off x="2573" y="7568"/>
                <a:ext cx="120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 name="Line 37">
                <a:extLst>
                  <a:ext uri="{FF2B5EF4-FFF2-40B4-BE49-F238E27FC236}">
                    <a16:creationId xmlns:a16="http://schemas.microsoft.com/office/drawing/2014/main" id="{0FB0AD01-F1EE-4F24-893C-2988C438B33A}"/>
                  </a:ext>
                </a:extLst>
              </p:cNvPr>
              <p:cNvSpPr>
                <a:spLocks noChangeShapeType="1"/>
              </p:cNvSpPr>
              <p:nvPr/>
            </p:nvSpPr>
            <p:spPr bwMode="auto">
              <a:xfrm flipH="1" flipV="1">
                <a:off x="2258" y="8078"/>
                <a:ext cx="1200" cy="0"/>
              </a:xfrm>
              <a:prstGeom prst="line">
                <a:avLst/>
              </a:prstGeom>
              <a:noFill/>
              <a:ln w="28575">
                <a:solidFill>
                  <a:srgbClr val="002060"/>
                </a:solidFill>
                <a:prstDash val="dash"/>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 name="Line 36">
                <a:extLst>
                  <a:ext uri="{FF2B5EF4-FFF2-40B4-BE49-F238E27FC236}">
                    <a16:creationId xmlns:a16="http://schemas.microsoft.com/office/drawing/2014/main" id="{181032B6-7FF6-4A3B-9260-66688372827B}"/>
                  </a:ext>
                </a:extLst>
              </p:cNvPr>
              <p:cNvSpPr>
                <a:spLocks noChangeShapeType="1"/>
              </p:cNvSpPr>
              <p:nvPr/>
            </p:nvSpPr>
            <p:spPr bwMode="auto">
              <a:xfrm rot="-7200000" flipH="1" flipV="1">
                <a:off x="3188" y="8603"/>
                <a:ext cx="1200" cy="0"/>
              </a:xfrm>
              <a:prstGeom prst="line">
                <a:avLst/>
              </a:prstGeom>
              <a:noFill/>
              <a:ln w="28575">
                <a:solidFill>
                  <a:srgbClr val="002060"/>
                </a:solidFill>
                <a:prstDash val="dash"/>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 name="Line 35">
                <a:extLst>
                  <a:ext uri="{FF2B5EF4-FFF2-40B4-BE49-F238E27FC236}">
                    <a16:creationId xmlns:a16="http://schemas.microsoft.com/office/drawing/2014/main" id="{C366F53F-399E-4087-A068-82E4EEAE40F0}"/>
                  </a:ext>
                </a:extLst>
              </p:cNvPr>
              <p:cNvSpPr>
                <a:spLocks noChangeShapeType="1"/>
              </p:cNvSpPr>
              <p:nvPr/>
            </p:nvSpPr>
            <p:spPr bwMode="auto">
              <a:xfrm rot="7200000" flipH="1">
                <a:off x="3173" y="7568"/>
                <a:ext cx="1200" cy="0"/>
              </a:xfrm>
              <a:prstGeom prst="line">
                <a:avLst/>
              </a:prstGeom>
              <a:noFill/>
              <a:ln w="28575">
                <a:solidFill>
                  <a:srgbClr val="002060"/>
                </a:solidFill>
                <a:prstDash val="dash"/>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 name="Line 34">
                <a:extLst>
                  <a:ext uri="{FF2B5EF4-FFF2-40B4-BE49-F238E27FC236}">
                    <a16:creationId xmlns:a16="http://schemas.microsoft.com/office/drawing/2014/main" id="{BF1A2963-5D6A-4238-9B3A-E9B54EA8C6C5}"/>
                  </a:ext>
                </a:extLst>
              </p:cNvPr>
              <p:cNvSpPr>
                <a:spLocks noChangeShapeType="1"/>
              </p:cNvSpPr>
              <p:nvPr/>
            </p:nvSpPr>
            <p:spPr bwMode="auto">
              <a:xfrm flipV="1">
                <a:off x="7238" y="8108"/>
                <a:ext cx="120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 name="Line 33">
                <a:extLst>
                  <a:ext uri="{FF2B5EF4-FFF2-40B4-BE49-F238E27FC236}">
                    <a16:creationId xmlns:a16="http://schemas.microsoft.com/office/drawing/2014/main" id="{565D49E6-42B6-4334-B952-141B98A4D41A}"/>
                  </a:ext>
                </a:extLst>
              </p:cNvPr>
              <p:cNvSpPr>
                <a:spLocks noChangeShapeType="1"/>
              </p:cNvSpPr>
              <p:nvPr/>
            </p:nvSpPr>
            <p:spPr bwMode="auto">
              <a:xfrm rot="7200000" flipV="1">
                <a:off x="6338" y="8633"/>
                <a:ext cx="120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 name="Line 32">
                <a:extLst>
                  <a:ext uri="{FF2B5EF4-FFF2-40B4-BE49-F238E27FC236}">
                    <a16:creationId xmlns:a16="http://schemas.microsoft.com/office/drawing/2014/main" id="{4A59311B-73F7-46EB-84AF-07307FA4C48B}"/>
                  </a:ext>
                </a:extLst>
              </p:cNvPr>
              <p:cNvSpPr>
                <a:spLocks noChangeShapeType="1"/>
              </p:cNvSpPr>
              <p:nvPr/>
            </p:nvSpPr>
            <p:spPr bwMode="auto">
              <a:xfrm rot="-7200000">
                <a:off x="6353" y="7598"/>
                <a:ext cx="1200" cy="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 name="Text Box 31">
                <a:extLst>
                  <a:ext uri="{FF2B5EF4-FFF2-40B4-BE49-F238E27FC236}">
                    <a16:creationId xmlns:a16="http://schemas.microsoft.com/office/drawing/2014/main" id="{E8E32D15-31E0-4D6B-AE3E-DB4814F69F2C}"/>
                  </a:ext>
                </a:extLst>
              </p:cNvPr>
              <p:cNvSpPr txBox="1">
                <a:spLocks noChangeArrowheads="1"/>
              </p:cNvSpPr>
              <p:nvPr/>
            </p:nvSpPr>
            <p:spPr bwMode="auto">
              <a:xfrm>
                <a:off x="4688" y="789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 name="Text Box 30">
                <a:extLst>
                  <a:ext uri="{FF2B5EF4-FFF2-40B4-BE49-F238E27FC236}">
                    <a16:creationId xmlns:a16="http://schemas.microsoft.com/office/drawing/2014/main" id="{3075F77C-EB36-4E22-BE5E-A3F9472CF378}"/>
                  </a:ext>
                </a:extLst>
              </p:cNvPr>
              <p:cNvSpPr txBox="1">
                <a:spLocks noChangeArrowheads="1"/>
              </p:cNvSpPr>
              <p:nvPr/>
            </p:nvSpPr>
            <p:spPr bwMode="auto">
              <a:xfrm>
                <a:off x="2738" y="915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Text Box 29">
                <a:extLst>
                  <a:ext uri="{FF2B5EF4-FFF2-40B4-BE49-F238E27FC236}">
                    <a16:creationId xmlns:a16="http://schemas.microsoft.com/office/drawing/2014/main" id="{13ED0925-B8BB-4994-A1EE-C188C27CF14C}"/>
                  </a:ext>
                </a:extLst>
              </p:cNvPr>
              <p:cNvSpPr txBox="1">
                <a:spLocks noChangeArrowheads="1"/>
              </p:cNvSpPr>
              <p:nvPr/>
            </p:nvSpPr>
            <p:spPr bwMode="auto">
              <a:xfrm>
                <a:off x="2738" y="663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Text Box 28">
                <a:extLst>
                  <a:ext uri="{FF2B5EF4-FFF2-40B4-BE49-F238E27FC236}">
                    <a16:creationId xmlns:a16="http://schemas.microsoft.com/office/drawing/2014/main" id="{8F300D79-FCA7-43CD-AD88-E9635A866790}"/>
                  </a:ext>
                </a:extLst>
              </p:cNvPr>
              <p:cNvSpPr txBox="1">
                <a:spLocks noChangeArrowheads="1"/>
              </p:cNvSpPr>
              <p:nvPr/>
            </p:nvSpPr>
            <p:spPr bwMode="auto">
              <a:xfrm>
                <a:off x="1778" y="789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Text Box 27">
                <a:extLst>
                  <a:ext uri="{FF2B5EF4-FFF2-40B4-BE49-F238E27FC236}">
                    <a16:creationId xmlns:a16="http://schemas.microsoft.com/office/drawing/2014/main" id="{9CDBE84E-7D0C-4C3C-B3A8-FC385AED5B2F}"/>
                  </a:ext>
                </a:extLst>
              </p:cNvPr>
              <p:cNvSpPr txBox="1">
                <a:spLocks noChangeArrowheads="1"/>
              </p:cNvSpPr>
              <p:nvPr/>
            </p:nvSpPr>
            <p:spPr bwMode="auto">
              <a:xfrm>
                <a:off x="3908" y="9158"/>
                <a:ext cx="5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Text Box 26">
                <a:extLst>
                  <a:ext uri="{FF2B5EF4-FFF2-40B4-BE49-F238E27FC236}">
                    <a16:creationId xmlns:a16="http://schemas.microsoft.com/office/drawing/2014/main" id="{E88C00EC-6A22-41DC-B4F6-A7453F5F72C4}"/>
                  </a:ext>
                </a:extLst>
              </p:cNvPr>
              <p:cNvSpPr txBox="1">
                <a:spLocks noChangeArrowheads="1"/>
              </p:cNvSpPr>
              <p:nvPr/>
            </p:nvSpPr>
            <p:spPr bwMode="auto">
              <a:xfrm>
                <a:off x="3908" y="6638"/>
                <a:ext cx="5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Text Box 25">
                <a:extLst>
                  <a:ext uri="{FF2B5EF4-FFF2-40B4-BE49-F238E27FC236}">
                    <a16:creationId xmlns:a16="http://schemas.microsoft.com/office/drawing/2014/main" id="{534B0FCC-08F4-4EBE-A85E-65C40987AA97}"/>
                  </a:ext>
                </a:extLst>
              </p:cNvPr>
              <p:cNvSpPr txBox="1">
                <a:spLocks noChangeArrowheads="1"/>
              </p:cNvSpPr>
              <p:nvPr/>
            </p:nvSpPr>
            <p:spPr bwMode="auto">
              <a:xfrm>
                <a:off x="8498" y="789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Text Box 24">
                <a:extLst>
                  <a:ext uri="{FF2B5EF4-FFF2-40B4-BE49-F238E27FC236}">
                    <a16:creationId xmlns:a16="http://schemas.microsoft.com/office/drawing/2014/main" id="{F494EE60-07A1-49D7-8FC5-767B24754631}"/>
                  </a:ext>
                </a:extLst>
              </p:cNvPr>
              <p:cNvSpPr txBox="1">
                <a:spLocks noChangeArrowheads="1"/>
              </p:cNvSpPr>
              <p:nvPr/>
            </p:nvSpPr>
            <p:spPr bwMode="auto">
              <a:xfrm>
                <a:off x="6548" y="915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Text Box 23">
                <a:extLst>
                  <a:ext uri="{FF2B5EF4-FFF2-40B4-BE49-F238E27FC236}">
                    <a16:creationId xmlns:a16="http://schemas.microsoft.com/office/drawing/2014/main" id="{04184E2C-370C-4883-A143-3CF66FEE9480}"/>
                  </a:ext>
                </a:extLst>
              </p:cNvPr>
              <p:cNvSpPr txBox="1">
                <a:spLocks noChangeArrowheads="1"/>
              </p:cNvSpPr>
              <p:nvPr/>
            </p:nvSpPr>
            <p:spPr bwMode="auto">
              <a:xfrm>
                <a:off x="6548" y="663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Line 22">
                <a:extLst>
                  <a:ext uri="{FF2B5EF4-FFF2-40B4-BE49-F238E27FC236}">
                    <a16:creationId xmlns:a16="http://schemas.microsoft.com/office/drawing/2014/main" id="{800B2C11-5A63-4E76-BB96-BCB3BC4F6586}"/>
                  </a:ext>
                </a:extLst>
              </p:cNvPr>
              <p:cNvSpPr>
                <a:spLocks noChangeShapeType="1"/>
              </p:cNvSpPr>
              <p:nvPr/>
            </p:nvSpPr>
            <p:spPr bwMode="auto">
              <a:xfrm flipV="1">
                <a:off x="1688" y="7043"/>
                <a:ext cx="1200" cy="0"/>
              </a:xfrm>
              <a:prstGeom prst="line">
                <a:avLst/>
              </a:prstGeom>
              <a:noFill/>
              <a:ln w="28575">
                <a:solidFill>
                  <a:srgbClr val="00206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 name="Line 21">
                <a:extLst>
                  <a:ext uri="{FF2B5EF4-FFF2-40B4-BE49-F238E27FC236}">
                    <a16:creationId xmlns:a16="http://schemas.microsoft.com/office/drawing/2014/main" id="{55D7BC95-CB20-4F8F-9DB5-C140B096CF54}"/>
                  </a:ext>
                </a:extLst>
              </p:cNvPr>
              <p:cNvSpPr>
                <a:spLocks noChangeShapeType="1"/>
              </p:cNvSpPr>
              <p:nvPr/>
            </p:nvSpPr>
            <p:spPr bwMode="auto">
              <a:xfrm rot="7200000" flipV="1">
                <a:off x="3203" y="9623"/>
                <a:ext cx="1200" cy="0"/>
              </a:xfrm>
              <a:prstGeom prst="line">
                <a:avLst/>
              </a:prstGeom>
              <a:noFill/>
              <a:ln w="28575">
                <a:solidFill>
                  <a:srgbClr val="00206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 name="Line 20">
                <a:extLst>
                  <a:ext uri="{FF2B5EF4-FFF2-40B4-BE49-F238E27FC236}">
                    <a16:creationId xmlns:a16="http://schemas.microsoft.com/office/drawing/2014/main" id="{E63D4F11-3036-41D6-817C-1407C93276A1}"/>
                  </a:ext>
                </a:extLst>
              </p:cNvPr>
              <p:cNvSpPr>
                <a:spLocks noChangeShapeType="1"/>
              </p:cNvSpPr>
              <p:nvPr/>
            </p:nvSpPr>
            <p:spPr bwMode="auto">
              <a:xfrm rot="-7200000">
                <a:off x="1388" y="7568"/>
                <a:ext cx="1200" cy="0"/>
              </a:xfrm>
              <a:prstGeom prst="line">
                <a:avLst/>
              </a:prstGeom>
              <a:noFill/>
              <a:ln w="28575">
                <a:solidFill>
                  <a:srgbClr val="00206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 name="Line 19">
                <a:extLst>
                  <a:ext uri="{FF2B5EF4-FFF2-40B4-BE49-F238E27FC236}">
                    <a16:creationId xmlns:a16="http://schemas.microsoft.com/office/drawing/2014/main" id="{21C8BEB5-AF10-4D72-A718-D2BDE0EA297C}"/>
                  </a:ext>
                </a:extLst>
              </p:cNvPr>
              <p:cNvSpPr>
                <a:spLocks noChangeShapeType="1"/>
              </p:cNvSpPr>
              <p:nvPr/>
            </p:nvSpPr>
            <p:spPr bwMode="auto">
              <a:xfrm flipV="1">
                <a:off x="4103" y="7028"/>
                <a:ext cx="1200" cy="0"/>
              </a:xfrm>
              <a:prstGeom prst="line">
                <a:avLst/>
              </a:prstGeom>
              <a:noFill/>
              <a:ln w="28575">
                <a:solidFill>
                  <a:srgbClr val="00206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 name="Line 18">
                <a:extLst>
                  <a:ext uri="{FF2B5EF4-FFF2-40B4-BE49-F238E27FC236}">
                    <a16:creationId xmlns:a16="http://schemas.microsoft.com/office/drawing/2014/main" id="{A90BE4D5-44B6-4791-A929-AEF3509D3BAD}"/>
                  </a:ext>
                </a:extLst>
              </p:cNvPr>
              <p:cNvSpPr>
                <a:spLocks noChangeShapeType="1"/>
              </p:cNvSpPr>
              <p:nvPr/>
            </p:nvSpPr>
            <p:spPr bwMode="auto">
              <a:xfrm rot="7200000" flipV="1">
                <a:off x="4373" y="7583"/>
                <a:ext cx="1200" cy="0"/>
              </a:xfrm>
              <a:prstGeom prst="line">
                <a:avLst/>
              </a:prstGeom>
              <a:noFill/>
              <a:ln w="28575">
                <a:solidFill>
                  <a:srgbClr val="00206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 name="Line 17">
                <a:extLst>
                  <a:ext uri="{FF2B5EF4-FFF2-40B4-BE49-F238E27FC236}">
                    <a16:creationId xmlns:a16="http://schemas.microsoft.com/office/drawing/2014/main" id="{33F47BD1-822D-4CEA-A0F3-27DD861DEF60}"/>
                  </a:ext>
                </a:extLst>
              </p:cNvPr>
              <p:cNvSpPr>
                <a:spLocks noChangeShapeType="1"/>
              </p:cNvSpPr>
              <p:nvPr/>
            </p:nvSpPr>
            <p:spPr bwMode="auto">
              <a:xfrm rot="-7200000">
                <a:off x="2573" y="9623"/>
                <a:ext cx="1200" cy="0"/>
              </a:xfrm>
              <a:prstGeom prst="line">
                <a:avLst/>
              </a:prstGeom>
              <a:noFill/>
              <a:ln w="28575">
                <a:solidFill>
                  <a:srgbClr val="00206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 name="Line 16">
                <a:extLst>
                  <a:ext uri="{FF2B5EF4-FFF2-40B4-BE49-F238E27FC236}">
                    <a16:creationId xmlns:a16="http://schemas.microsoft.com/office/drawing/2014/main" id="{A0E746A3-59A1-4300-9DD4-3E4D53E3CAD3}"/>
                  </a:ext>
                </a:extLst>
              </p:cNvPr>
              <p:cNvSpPr>
                <a:spLocks noChangeAspect="1" noChangeShapeType="1"/>
              </p:cNvSpPr>
              <p:nvPr/>
            </p:nvSpPr>
            <p:spPr bwMode="auto">
              <a:xfrm flipV="1">
                <a:off x="3458" y="7044"/>
                <a:ext cx="1831" cy="1058"/>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 name="Line 15">
                <a:extLst>
                  <a:ext uri="{FF2B5EF4-FFF2-40B4-BE49-F238E27FC236}">
                    <a16:creationId xmlns:a16="http://schemas.microsoft.com/office/drawing/2014/main" id="{BD4E4E89-1C0D-4A3F-9F04-17BFF67F568C}"/>
                  </a:ext>
                </a:extLst>
              </p:cNvPr>
              <p:cNvSpPr>
                <a:spLocks noChangeAspect="1" noChangeShapeType="1"/>
              </p:cNvSpPr>
              <p:nvPr/>
            </p:nvSpPr>
            <p:spPr bwMode="auto">
              <a:xfrm rot="7200000" flipV="1">
                <a:off x="2596" y="8602"/>
                <a:ext cx="1791" cy="1035"/>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 name="Line 14">
                <a:extLst>
                  <a:ext uri="{FF2B5EF4-FFF2-40B4-BE49-F238E27FC236}">
                    <a16:creationId xmlns:a16="http://schemas.microsoft.com/office/drawing/2014/main" id="{48CE3C9F-FB07-478E-B383-78BE30BD756F}"/>
                  </a:ext>
                </a:extLst>
              </p:cNvPr>
              <p:cNvSpPr>
                <a:spLocks noChangeAspect="1" noChangeShapeType="1"/>
              </p:cNvSpPr>
              <p:nvPr/>
            </p:nvSpPr>
            <p:spPr bwMode="auto">
              <a:xfrm flipH="1" flipV="1">
                <a:off x="1658" y="7028"/>
                <a:ext cx="1831" cy="1058"/>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 name="Text Box 13">
                <a:extLst>
                  <a:ext uri="{FF2B5EF4-FFF2-40B4-BE49-F238E27FC236}">
                    <a16:creationId xmlns:a16="http://schemas.microsoft.com/office/drawing/2014/main" id="{9931D3F8-400D-4FA9-8343-2B5F91BFF267}"/>
                  </a:ext>
                </a:extLst>
              </p:cNvPr>
              <p:cNvSpPr txBox="1">
                <a:spLocks noChangeArrowheads="1"/>
              </p:cNvSpPr>
              <p:nvPr/>
            </p:nvSpPr>
            <p:spPr bwMode="auto">
              <a:xfrm>
                <a:off x="7117" y="699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BR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 name="Text Box 12">
                <a:extLst>
                  <a:ext uri="{FF2B5EF4-FFF2-40B4-BE49-F238E27FC236}">
                    <a16:creationId xmlns:a16="http://schemas.microsoft.com/office/drawing/2014/main" id="{D394631E-C2E2-4B80-89B0-C0F75F22559F}"/>
                  </a:ext>
                </a:extLst>
              </p:cNvPr>
              <p:cNvSpPr txBox="1">
                <a:spLocks noChangeArrowheads="1"/>
              </p:cNvSpPr>
              <p:nvPr/>
            </p:nvSpPr>
            <p:spPr bwMode="auto">
              <a:xfrm>
                <a:off x="3698" y="987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YB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Text Box 11">
                <a:extLst>
                  <a:ext uri="{FF2B5EF4-FFF2-40B4-BE49-F238E27FC236}">
                    <a16:creationId xmlns:a16="http://schemas.microsoft.com/office/drawing/2014/main" id="{D5874720-1DD0-4D51-A99B-024E05A9AEFE}"/>
                  </a:ext>
                </a:extLst>
              </p:cNvPr>
              <p:cNvSpPr txBox="1">
                <a:spLocks noChangeArrowheads="1"/>
              </p:cNvSpPr>
              <p:nvPr/>
            </p:nvSpPr>
            <p:spPr bwMode="auto">
              <a:xfrm>
                <a:off x="1268" y="699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BR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Line 10">
                <a:extLst>
                  <a:ext uri="{FF2B5EF4-FFF2-40B4-BE49-F238E27FC236}">
                    <a16:creationId xmlns:a16="http://schemas.microsoft.com/office/drawing/2014/main" id="{FCBC490C-D2FD-4FE1-9805-15A2D7A38010}"/>
                  </a:ext>
                </a:extLst>
              </p:cNvPr>
              <p:cNvSpPr>
                <a:spLocks noChangeAspect="1" noChangeShapeType="1"/>
              </p:cNvSpPr>
              <p:nvPr/>
            </p:nvSpPr>
            <p:spPr bwMode="auto">
              <a:xfrm flipV="1">
                <a:off x="6623" y="8100"/>
                <a:ext cx="1831" cy="1058"/>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 name="Line 9">
                <a:extLst>
                  <a:ext uri="{FF2B5EF4-FFF2-40B4-BE49-F238E27FC236}">
                    <a16:creationId xmlns:a16="http://schemas.microsoft.com/office/drawing/2014/main" id="{7CE0065B-60A1-4B01-8C8E-FDD606CD3372}"/>
                  </a:ext>
                </a:extLst>
              </p:cNvPr>
              <p:cNvSpPr>
                <a:spLocks noChangeAspect="1" noChangeShapeType="1"/>
              </p:cNvSpPr>
              <p:nvPr/>
            </p:nvSpPr>
            <p:spPr bwMode="auto">
              <a:xfrm rot="7200000" flipV="1">
                <a:off x="5746" y="7616"/>
                <a:ext cx="1791" cy="1035"/>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 name="Line 8">
                <a:extLst>
                  <a:ext uri="{FF2B5EF4-FFF2-40B4-BE49-F238E27FC236}">
                    <a16:creationId xmlns:a16="http://schemas.microsoft.com/office/drawing/2014/main" id="{335429A1-D1A7-4FDA-89CF-A182079E4E41}"/>
                  </a:ext>
                </a:extLst>
              </p:cNvPr>
              <p:cNvSpPr>
                <a:spLocks noChangeAspect="1" noChangeShapeType="1"/>
              </p:cNvSpPr>
              <p:nvPr/>
            </p:nvSpPr>
            <p:spPr bwMode="auto">
              <a:xfrm flipH="1" flipV="1">
                <a:off x="6622" y="7065"/>
                <a:ext cx="1831" cy="1058"/>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 name="Text Box 7">
                <a:extLst>
                  <a:ext uri="{FF2B5EF4-FFF2-40B4-BE49-F238E27FC236}">
                    <a16:creationId xmlns:a16="http://schemas.microsoft.com/office/drawing/2014/main" id="{67D5CD31-D51D-4FBE-95B4-E2F7D83F3710}"/>
                  </a:ext>
                </a:extLst>
              </p:cNvPr>
              <p:cNvSpPr txBox="1">
                <a:spLocks noChangeArrowheads="1"/>
              </p:cNvSpPr>
              <p:nvPr/>
            </p:nvSpPr>
            <p:spPr bwMode="auto">
              <a:xfrm>
                <a:off x="8138" y="825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RY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Text Box 6">
                <a:extLst>
                  <a:ext uri="{FF2B5EF4-FFF2-40B4-BE49-F238E27FC236}">
                    <a16:creationId xmlns:a16="http://schemas.microsoft.com/office/drawing/2014/main" id="{DFF9019C-855E-460D-94B8-5ED74D83A42C}"/>
                  </a:ext>
                </a:extLst>
              </p:cNvPr>
              <p:cNvSpPr txBox="1">
                <a:spLocks noChangeArrowheads="1"/>
              </p:cNvSpPr>
              <p:nvPr/>
            </p:nvSpPr>
            <p:spPr bwMode="auto">
              <a:xfrm>
                <a:off x="6128" y="861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YB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Text Box 5">
                <a:extLst>
                  <a:ext uri="{FF2B5EF4-FFF2-40B4-BE49-F238E27FC236}">
                    <a16:creationId xmlns:a16="http://schemas.microsoft.com/office/drawing/2014/main" id="{574A1A10-3396-45D2-B9D3-5994914FF575}"/>
                  </a:ext>
                </a:extLst>
              </p:cNvPr>
              <p:cNvSpPr txBox="1">
                <a:spLocks noChangeArrowheads="1"/>
              </p:cNvSpPr>
              <p:nvPr/>
            </p:nvSpPr>
            <p:spPr bwMode="auto">
              <a:xfrm>
                <a:off x="4418" y="723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V</a:t>
                </a:r>
                <a:r>
                  <a:rPr kumimoji="0" lang="en-US" altLang="en-US" sz="22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RY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6" name="Text Box 3">
              <a:extLst>
                <a:ext uri="{FF2B5EF4-FFF2-40B4-BE49-F238E27FC236}">
                  <a16:creationId xmlns:a16="http://schemas.microsoft.com/office/drawing/2014/main" id="{0E29B230-5467-45CB-AE88-6A522DEEDE26}"/>
                </a:ext>
              </a:extLst>
            </p:cNvPr>
            <p:cNvSpPr txBox="1">
              <a:spLocks noChangeArrowheads="1"/>
            </p:cNvSpPr>
            <p:nvPr/>
          </p:nvSpPr>
          <p:spPr bwMode="auto">
            <a:xfrm>
              <a:off x="5448" y="6127"/>
              <a:ext cx="3363"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Figure 3(b) Triangular addition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2">
              <a:extLst>
                <a:ext uri="{FF2B5EF4-FFF2-40B4-BE49-F238E27FC236}">
                  <a16:creationId xmlns:a16="http://schemas.microsoft.com/office/drawing/2014/main" id="{95A9C879-7070-475A-A93F-67C580A20F2B}"/>
                </a:ext>
              </a:extLst>
            </p:cNvPr>
            <p:cNvSpPr txBox="1">
              <a:spLocks noChangeArrowheads="1"/>
            </p:cNvSpPr>
            <p:nvPr/>
          </p:nvSpPr>
          <p:spPr bwMode="auto">
            <a:xfrm>
              <a:off x="1038" y="6127"/>
              <a:ext cx="3780"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Figure 3(a) Parallelogram addition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
        <p:nvSpPr>
          <p:cNvPr id="44" name="Rectangle 59">
            <a:extLst>
              <a:ext uri="{FF2B5EF4-FFF2-40B4-BE49-F238E27FC236}">
                <a16:creationId xmlns:a16="http://schemas.microsoft.com/office/drawing/2014/main" id="{A4D65014-1B36-431C-8D04-3079D20FC7BC}"/>
              </a:ext>
            </a:extLst>
          </p:cNvPr>
          <p:cNvSpPr>
            <a:spLocks noChangeArrowheads="1"/>
          </p:cNvSpPr>
          <p:nvPr/>
        </p:nvSpPr>
        <p:spPr bwMode="auto">
          <a:xfrm>
            <a:off x="0" y="118021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141234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0003767-D75F-44DD-AD4F-C82BA45AB20F}"/>
              </a:ext>
            </a:extLst>
          </p:cNvPr>
          <p:cNvSpPr/>
          <p:nvPr/>
        </p:nvSpPr>
        <p:spPr>
          <a:xfrm>
            <a:off x="255181" y="728767"/>
            <a:ext cx="11270512" cy="7253011"/>
          </a:xfrm>
          <a:prstGeom prst="rect">
            <a:avLst/>
          </a:prstGeom>
        </p:spPr>
        <p:txBody>
          <a:bodyPr wrap="square">
            <a:spAutoFit/>
          </a:bodyPr>
          <a:lstStyle/>
          <a:p>
            <a:pPr algn="just">
              <a:lnSpc>
                <a:spcPct val="114000"/>
              </a:lnSpc>
            </a:pPr>
            <a:r>
              <a:rPr lang="en-GB" sz="3200" dirty="0">
                <a:solidFill>
                  <a:srgbClr val="002060"/>
                </a:solidFill>
                <a:latin typeface="Times New Roman" panose="02020603050405020304" pitchFamily="18" charset="0"/>
                <a:ea typeface="Times New Roman" panose="02020603050405020304" pitchFamily="18" charset="0"/>
              </a:rPr>
              <a:t>For a balanced star system, the angles between the phases is 120</a:t>
            </a:r>
            <a:r>
              <a:rPr lang="en-GB" sz="3200" baseline="30000" dirty="0">
                <a:solidFill>
                  <a:srgbClr val="002060"/>
                </a:solidFill>
                <a:latin typeface="Times New Roman" panose="02020603050405020304" pitchFamily="18" charset="0"/>
                <a:ea typeface="Times New Roman" panose="02020603050405020304" pitchFamily="18" charset="0"/>
              </a:rPr>
              <a:t>o</a:t>
            </a:r>
            <a:r>
              <a:rPr lang="en-GB" sz="3200" dirty="0">
                <a:solidFill>
                  <a:srgbClr val="002060"/>
                </a:solidFill>
                <a:latin typeface="Times New Roman" panose="02020603050405020304" pitchFamily="18" charset="0"/>
                <a:ea typeface="Times New Roman" panose="02020603050405020304" pitchFamily="18" charset="0"/>
              </a:rPr>
              <a:t> and the magnitudes are all equal.  </a:t>
            </a:r>
            <a:endParaRPr lang="en-GB" sz="3200" dirty="0">
              <a:latin typeface="Times New Roman" panose="02020603050405020304" pitchFamily="18" charset="0"/>
              <a:ea typeface="Times New Roman" panose="02020603050405020304" pitchFamily="18" charset="0"/>
            </a:endParaRPr>
          </a:p>
          <a:p>
            <a:pPr algn="just">
              <a:lnSpc>
                <a:spcPct val="114000"/>
              </a:lnSpc>
            </a:pPr>
            <a:r>
              <a:rPr lang="en-GB" sz="3200" dirty="0">
                <a:solidFill>
                  <a:srgbClr val="002060"/>
                </a:solidFill>
                <a:latin typeface="Times New Roman" panose="02020603050405020304" pitchFamily="18" charset="0"/>
                <a:ea typeface="Times New Roman" panose="02020603050405020304" pitchFamily="18" charset="0"/>
              </a:rPr>
              <a:t>Line voltages would lead by 30</a:t>
            </a:r>
            <a:r>
              <a:rPr lang="en-GB" sz="3200" baseline="30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the nearest phase voltage.  </a:t>
            </a:r>
            <a:endParaRPr lang="en-GB" sz="3200" dirty="0">
              <a:latin typeface="Times New Roman" panose="02020603050405020304" pitchFamily="18" charset="0"/>
              <a:ea typeface="Times New Roman" panose="02020603050405020304" pitchFamily="18" charset="0"/>
            </a:endParaRPr>
          </a:p>
          <a:p>
            <a:pPr algn="just">
              <a:lnSpc>
                <a:spcPct val="114000"/>
              </a:lnSpc>
            </a:pPr>
            <a:r>
              <a:rPr lang="en-GB" sz="3200" dirty="0">
                <a:solidFill>
                  <a:srgbClr val="002060"/>
                </a:solidFill>
                <a:latin typeface="Times New Roman" panose="02020603050405020304" pitchFamily="18" charset="0"/>
                <a:ea typeface="Times New Roman" panose="02020603050405020304" pitchFamily="18" charset="0"/>
              </a:rPr>
              <a:t>     I</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 I</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3</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V</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endParaRPr lang="en-GB" sz="3200" dirty="0">
              <a:latin typeface="Times New Roman" panose="02020603050405020304" pitchFamily="18" charset="0"/>
              <a:ea typeface="Times New Roman" panose="02020603050405020304" pitchFamily="18" charset="0"/>
            </a:endParaRPr>
          </a:p>
          <a:p>
            <a:pPr>
              <a:lnSpc>
                <a:spcPct val="114000"/>
              </a:lnSpc>
            </a:pPr>
            <a:r>
              <a:rPr lang="en-GB" sz="3200" dirty="0">
                <a:solidFill>
                  <a:srgbClr val="002060"/>
                </a:solidFill>
                <a:latin typeface="Times New Roman" panose="02020603050405020304" pitchFamily="18" charset="0"/>
                <a:ea typeface="Times New Roman" panose="02020603050405020304" pitchFamily="18" charset="0"/>
              </a:rPr>
              <a:t>Similarly with a delta connected supply, the current        </a:t>
            </a:r>
            <a:endParaRPr lang="en-GB" sz="3200" dirty="0">
              <a:latin typeface="Times New Roman" panose="02020603050405020304" pitchFamily="18" charset="0"/>
              <a:ea typeface="Times New Roman" panose="02020603050405020304" pitchFamily="18" charset="0"/>
            </a:endParaRPr>
          </a:p>
          <a:p>
            <a:pPr>
              <a:lnSpc>
                <a:spcPct val="114000"/>
              </a:lnSpc>
            </a:pP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I</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3</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I</a:t>
            </a:r>
            <a:r>
              <a:rPr lang="en-GB" sz="3200" baseline="-25000" dirty="0">
                <a:solidFill>
                  <a:srgbClr val="002060"/>
                </a:solidFill>
                <a:latin typeface="Times New Roman" panose="02020603050405020304" pitchFamily="18" charset="0"/>
                <a:ea typeface="Times New Roman" panose="02020603050405020304" pitchFamily="18" charset="0"/>
              </a:rPr>
              <a:t>d</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d</a:t>
            </a:r>
            <a:endParaRPr lang="en-GB" sz="3200" dirty="0">
              <a:latin typeface="Times New Roman" panose="02020603050405020304" pitchFamily="18" charset="0"/>
              <a:ea typeface="Times New Roman" panose="02020603050405020304" pitchFamily="18" charset="0"/>
            </a:endParaRPr>
          </a:p>
          <a:p>
            <a:pPr algn="just">
              <a:lnSpc>
                <a:spcPct val="114000"/>
              </a:lnSpc>
            </a:pPr>
            <a:r>
              <a:rPr lang="en-GB" sz="3200" dirty="0">
                <a:solidFill>
                  <a:srgbClr val="002060"/>
                </a:solidFill>
                <a:latin typeface="Times New Roman" panose="02020603050405020304" pitchFamily="18" charset="0"/>
                <a:ea typeface="Times New Roman" panose="02020603050405020304" pitchFamily="18" charset="0"/>
              </a:rPr>
              <a:t>Line voltages must be specified in a sequential manner.  </a:t>
            </a:r>
            <a:endParaRPr lang="en-GB" sz="3200" dirty="0">
              <a:latin typeface="Times New Roman" panose="02020603050405020304" pitchFamily="18" charset="0"/>
              <a:ea typeface="Times New Roman" panose="02020603050405020304" pitchFamily="18" charset="0"/>
            </a:endParaRPr>
          </a:p>
          <a:p>
            <a:pPr algn="just">
              <a:lnSpc>
                <a:spcPct val="114000"/>
              </a:lnSpc>
            </a:pPr>
            <a:r>
              <a:rPr lang="en-GB" sz="3200" dirty="0">
                <a:solidFill>
                  <a:srgbClr val="002060"/>
                </a:solidFill>
                <a:latin typeface="Times New Roman" panose="02020603050405020304" pitchFamily="18" charset="0"/>
                <a:ea typeface="Times New Roman" panose="02020603050405020304" pitchFamily="18" charset="0"/>
              </a:rPr>
              <a:t>i.e.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RY</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YB</a:t>
            </a:r>
            <a:r>
              <a:rPr lang="en-GB" sz="3200" dirty="0">
                <a:solidFill>
                  <a:srgbClr val="002060"/>
                </a:solidFill>
                <a:latin typeface="Times New Roman" panose="02020603050405020304" pitchFamily="18" charset="0"/>
                <a:ea typeface="Times New Roman" panose="02020603050405020304" pitchFamily="18" charset="0"/>
              </a:rPr>
              <a:t> and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BR</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r>
              <a:rPr lang="en-GB" sz="3000" dirty="0">
                <a:solidFill>
                  <a:srgbClr val="002060"/>
                </a:solidFill>
                <a:latin typeface="Times New Roman" panose="02020603050405020304" pitchFamily="18" charset="0"/>
                <a:ea typeface="Times New Roman" panose="02020603050405020304" pitchFamily="18" charset="0"/>
              </a:rPr>
              <a:t>[Note: </a:t>
            </a:r>
            <a:r>
              <a:rPr lang="en-GB" sz="3000" dirty="0" err="1">
                <a:solidFill>
                  <a:srgbClr val="002060"/>
                </a:solidFill>
                <a:latin typeface="Times New Roman" panose="02020603050405020304" pitchFamily="18" charset="0"/>
                <a:ea typeface="Times New Roman" panose="02020603050405020304" pitchFamily="18" charset="0"/>
              </a:rPr>
              <a:t>V</a:t>
            </a:r>
            <a:r>
              <a:rPr lang="en-GB" sz="3000" baseline="-25000" dirty="0" err="1">
                <a:solidFill>
                  <a:srgbClr val="002060"/>
                </a:solidFill>
                <a:latin typeface="Times New Roman" panose="02020603050405020304" pitchFamily="18" charset="0"/>
                <a:ea typeface="Times New Roman" panose="02020603050405020304" pitchFamily="18" charset="0"/>
              </a:rPr>
              <a:t>BY</a:t>
            </a:r>
            <a:r>
              <a:rPr lang="en-GB" sz="3000" dirty="0">
                <a:solidFill>
                  <a:srgbClr val="002060"/>
                </a:solidFill>
                <a:latin typeface="Times New Roman" panose="02020603050405020304" pitchFamily="18" charset="0"/>
                <a:ea typeface="Times New Roman" panose="02020603050405020304" pitchFamily="18" charset="0"/>
              </a:rPr>
              <a:t> is 180</a:t>
            </a:r>
            <a:r>
              <a:rPr lang="en-GB" sz="3000" baseline="30000" dirty="0">
                <a:solidFill>
                  <a:srgbClr val="002060"/>
                </a:solidFill>
                <a:latin typeface="Times New Roman" panose="02020603050405020304" pitchFamily="18" charset="0"/>
                <a:ea typeface="Times New Roman" panose="02020603050405020304" pitchFamily="18" charset="0"/>
              </a:rPr>
              <a:t>0</a:t>
            </a:r>
            <a:r>
              <a:rPr lang="en-GB" sz="3000" dirty="0">
                <a:solidFill>
                  <a:srgbClr val="002060"/>
                </a:solidFill>
                <a:latin typeface="Times New Roman" panose="02020603050405020304" pitchFamily="18" charset="0"/>
                <a:ea typeface="Times New Roman" panose="02020603050405020304" pitchFamily="18" charset="0"/>
              </a:rPr>
              <a:t> out of phase with </a:t>
            </a:r>
            <a:r>
              <a:rPr lang="en-GB" sz="3000" dirty="0" err="1">
                <a:solidFill>
                  <a:srgbClr val="002060"/>
                </a:solidFill>
                <a:latin typeface="Times New Roman" panose="02020603050405020304" pitchFamily="18" charset="0"/>
                <a:ea typeface="Times New Roman" panose="02020603050405020304" pitchFamily="18" charset="0"/>
              </a:rPr>
              <a:t>V</a:t>
            </a:r>
            <a:r>
              <a:rPr lang="en-GB" sz="3000" baseline="-25000" dirty="0" err="1">
                <a:solidFill>
                  <a:srgbClr val="002060"/>
                </a:solidFill>
                <a:latin typeface="Times New Roman" panose="02020603050405020304" pitchFamily="18" charset="0"/>
                <a:ea typeface="Times New Roman" panose="02020603050405020304" pitchFamily="18" charset="0"/>
              </a:rPr>
              <a:t>YB</a:t>
            </a:r>
            <a:r>
              <a:rPr lang="en-GB" sz="3000" dirty="0">
                <a:solidFill>
                  <a:srgbClr val="002060"/>
                </a:solidFill>
                <a:latin typeface="Times New Roman" panose="02020603050405020304" pitchFamily="18" charset="0"/>
                <a:ea typeface="Times New Roman" panose="02020603050405020304" pitchFamily="18" charset="0"/>
              </a:rPr>
              <a:t> so that the           corresponding angles if this is chosen may appear to be 60</a:t>
            </a:r>
            <a:r>
              <a:rPr lang="en-GB" sz="3000" baseline="30000" dirty="0">
                <a:solidFill>
                  <a:srgbClr val="002060"/>
                </a:solidFill>
                <a:latin typeface="Times New Roman" panose="02020603050405020304" pitchFamily="18" charset="0"/>
                <a:ea typeface="Times New Roman" panose="02020603050405020304" pitchFamily="18" charset="0"/>
              </a:rPr>
              <a:t>0</a:t>
            </a:r>
            <a:r>
              <a:rPr lang="en-GB" sz="3000" dirty="0">
                <a:solidFill>
                  <a:srgbClr val="002060"/>
                </a:solidFill>
                <a:latin typeface="Times New Roman" panose="02020603050405020304" pitchFamily="18" charset="0"/>
                <a:ea typeface="Times New Roman" panose="02020603050405020304" pitchFamily="18" charset="0"/>
              </a:rPr>
              <a:t>              rather than 120</a:t>
            </a:r>
            <a:r>
              <a:rPr lang="en-GB" sz="3000" baseline="30000" dirty="0">
                <a:solidFill>
                  <a:srgbClr val="002060"/>
                </a:solidFill>
                <a:latin typeface="Times New Roman" panose="02020603050405020304" pitchFamily="18" charset="0"/>
                <a:ea typeface="Times New Roman" panose="02020603050405020304" pitchFamily="18" charset="0"/>
              </a:rPr>
              <a:t>0</a:t>
            </a:r>
            <a:r>
              <a:rPr lang="en-GB" sz="3000" dirty="0">
                <a:solidFill>
                  <a:srgbClr val="002060"/>
                </a:solidFill>
                <a:latin typeface="Times New Roman" panose="02020603050405020304" pitchFamily="18" charset="0"/>
                <a:ea typeface="Times New Roman" panose="02020603050405020304" pitchFamily="18" charset="0"/>
              </a:rPr>
              <a:t>]. </a:t>
            </a:r>
            <a:endParaRPr lang="en-GB" sz="3000" dirty="0">
              <a:latin typeface="Times New Roman" panose="02020603050405020304" pitchFamily="18" charset="0"/>
              <a:ea typeface="Times New Roman" panose="02020603050405020304" pitchFamily="18" charset="0"/>
            </a:endParaRPr>
          </a:p>
          <a:p>
            <a:pPr>
              <a:lnSpc>
                <a:spcPct val="114000"/>
              </a:lnSpc>
            </a:pPr>
            <a:br>
              <a:rPr lang="en-GB" sz="3200" dirty="0">
                <a:solidFill>
                  <a:srgbClr val="002060"/>
                </a:solidFill>
                <a:latin typeface="Times New Roman" panose="02020603050405020304" pitchFamily="18" charset="0"/>
                <a:ea typeface="Times New Roman" panose="02020603050405020304" pitchFamily="18" charset="0"/>
              </a:rPr>
            </a:br>
            <a:endParaRPr lang="en-GB" sz="3200" dirty="0"/>
          </a:p>
        </p:txBody>
      </p:sp>
    </p:spTree>
    <p:extLst>
      <p:ext uri="{BB962C8B-B14F-4D97-AF65-F5344CB8AC3E}">
        <p14:creationId xmlns:p14="http://schemas.microsoft.com/office/powerpoint/2010/main" val="993810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0858E664-5B7A-4E29-A9CE-799DED0FF00D}"/>
              </a:ext>
            </a:extLst>
          </p:cNvPr>
          <p:cNvGrpSpPr>
            <a:grpSpLocks/>
          </p:cNvGrpSpPr>
          <p:nvPr/>
        </p:nvGrpSpPr>
        <p:grpSpPr bwMode="auto">
          <a:xfrm>
            <a:off x="6565932" y="1392869"/>
            <a:ext cx="5385695" cy="3982300"/>
            <a:chOff x="0" y="-215"/>
            <a:chExt cx="4364" cy="4274"/>
          </a:xfrm>
        </p:grpSpPr>
        <p:sp>
          <p:nvSpPr>
            <p:cNvPr id="29" name="Line 40">
              <a:extLst>
                <a:ext uri="{FF2B5EF4-FFF2-40B4-BE49-F238E27FC236}">
                  <a16:creationId xmlns:a16="http://schemas.microsoft.com/office/drawing/2014/main" id="{1A663F98-8359-49FF-9A02-EE450B909D05}"/>
                </a:ext>
              </a:extLst>
            </p:cNvPr>
            <p:cNvSpPr>
              <a:spLocks noChangeShapeType="1"/>
            </p:cNvSpPr>
            <p:nvPr/>
          </p:nvSpPr>
          <p:spPr bwMode="auto">
            <a:xfrm flipV="1">
              <a:off x="2190" y="1440"/>
              <a:ext cx="1111" cy="0"/>
            </a:xfrm>
            <a:prstGeom prst="line">
              <a:avLst/>
            </a:prstGeom>
            <a:noFill/>
            <a:ln w="57150">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dirty="0"/>
            </a:p>
          </p:txBody>
        </p:sp>
        <p:sp>
          <p:nvSpPr>
            <p:cNvPr id="30" name="Line 39">
              <a:extLst>
                <a:ext uri="{FF2B5EF4-FFF2-40B4-BE49-F238E27FC236}">
                  <a16:creationId xmlns:a16="http://schemas.microsoft.com/office/drawing/2014/main" id="{A6F39DBE-6A51-4FE2-97EF-128486E6A28C}"/>
                </a:ext>
              </a:extLst>
            </p:cNvPr>
            <p:cNvSpPr>
              <a:spLocks noChangeShapeType="1"/>
            </p:cNvSpPr>
            <p:nvPr/>
          </p:nvSpPr>
          <p:spPr bwMode="auto">
            <a:xfrm rot="7200000" flipV="1">
              <a:off x="1167" y="2112"/>
              <a:ext cx="1472" cy="0"/>
            </a:xfrm>
            <a:prstGeom prst="line">
              <a:avLst/>
            </a:prstGeom>
            <a:noFill/>
            <a:ln w="57150">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 name="Line 38">
              <a:extLst>
                <a:ext uri="{FF2B5EF4-FFF2-40B4-BE49-F238E27FC236}">
                  <a16:creationId xmlns:a16="http://schemas.microsoft.com/office/drawing/2014/main" id="{48CC1C3B-CCA6-4567-A4EB-CD6CE7A39396}"/>
                </a:ext>
              </a:extLst>
            </p:cNvPr>
            <p:cNvSpPr>
              <a:spLocks noChangeShapeType="1"/>
            </p:cNvSpPr>
            <p:nvPr/>
          </p:nvSpPr>
          <p:spPr bwMode="auto">
            <a:xfrm rot="14400000">
              <a:off x="1166" y="793"/>
              <a:ext cx="1472" cy="0"/>
            </a:xfrm>
            <a:prstGeom prst="line">
              <a:avLst/>
            </a:prstGeom>
            <a:noFill/>
            <a:ln w="57150">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dirty="0"/>
            </a:p>
          </p:txBody>
        </p:sp>
        <p:sp>
          <p:nvSpPr>
            <p:cNvPr id="32" name="Line 37">
              <a:extLst>
                <a:ext uri="{FF2B5EF4-FFF2-40B4-BE49-F238E27FC236}">
                  <a16:creationId xmlns:a16="http://schemas.microsoft.com/office/drawing/2014/main" id="{A54AD2BB-5A54-4A99-968F-E14280B3B48D}"/>
                </a:ext>
              </a:extLst>
            </p:cNvPr>
            <p:cNvSpPr>
              <a:spLocks noChangeShapeType="1"/>
            </p:cNvSpPr>
            <p:nvPr/>
          </p:nvSpPr>
          <p:spPr bwMode="auto">
            <a:xfrm flipH="1" flipV="1">
              <a:off x="1030" y="1440"/>
              <a:ext cx="1111" cy="0"/>
            </a:xfrm>
            <a:prstGeom prst="line">
              <a:avLst/>
            </a:prstGeom>
            <a:noFill/>
            <a:ln w="28575">
              <a:solidFill>
                <a:srgbClr val="0070C0"/>
              </a:solidFill>
              <a:prstDash val="dash"/>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 name="Line 36">
              <a:extLst>
                <a:ext uri="{FF2B5EF4-FFF2-40B4-BE49-F238E27FC236}">
                  <a16:creationId xmlns:a16="http://schemas.microsoft.com/office/drawing/2014/main" id="{9A8146A2-37D9-481A-991C-E91B37C9F816}"/>
                </a:ext>
              </a:extLst>
            </p:cNvPr>
            <p:cNvSpPr>
              <a:spLocks noChangeShapeType="1"/>
            </p:cNvSpPr>
            <p:nvPr/>
          </p:nvSpPr>
          <p:spPr bwMode="auto">
            <a:xfrm rot="14400000" flipH="1" flipV="1">
              <a:off x="1733" y="2063"/>
              <a:ext cx="1472" cy="0"/>
            </a:xfrm>
            <a:prstGeom prst="line">
              <a:avLst/>
            </a:prstGeom>
            <a:noFill/>
            <a:ln w="28575">
              <a:solidFill>
                <a:srgbClr val="0070C0"/>
              </a:solidFill>
              <a:prstDash val="dash"/>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 name="Line 35">
              <a:extLst>
                <a:ext uri="{FF2B5EF4-FFF2-40B4-BE49-F238E27FC236}">
                  <a16:creationId xmlns:a16="http://schemas.microsoft.com/office/drawing/2014/main" id="{70735D9E-3BD2-4A8E-8FCD-E563ECBA4817}"/>
                </a:ext>
              </a:extLst>
            </p:cNvPr>
            <p:cNvSpPr>
              <a:spLocks noChangeShapeType="1"/>
            </p:cNvSpPr>
            <p:nvPr/>
          </p:nvSpPr>
          <p:spPr bwMode="auto">
            <a:xfrm rot="7200000" flipH="1">
              <a:off x="1766" y="752"/>
              <a:ext cx="1472" cy="0"/>
            </a:xfrm>
            <a:prstGeom prst="line">
              <a:avLst/>
            </a:prstGeom>
            <a:noFill/>
            <a:ln w="28575">
              <a:solidFill>
                <a:srgbClr val="0070C0"/>
              </a:solidFill>
              <a:prstDash val="dash"/>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 name="Text Box 31">
              <a:extLst>
                <a:ext uri="{FF2B5EF4-FFF2-40B4-BE49-F238E27FC236}">
                  <a16:creationId xmlns:a16="http://schemas.microsoft.com/office/drawing/2014/main" id="{AA908681-97C5-4834-ACF0-77F080A09E44}"/>
                </a:ext>
              </a:extLst>
            </p:cNvPr>
            <p:cNvSpPr txBox="1">
              <a:spLocks noChangeArrowheads="1"/>
            </p:cNvSpPr>
            <p:nvPr/>
          </p:nvSpPr>
          <p:spPr bwMode="auto">
            <a:xfrm>
              <a:off x="3398" y="1270"/>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eaLnBrk="0" fontAlgn="base" hangingPunct="0">
                <a:lnSpc>
                  <a:spcPct val="107000"/>
                </a:lnSpc>
                <a:spcBef>
                  <a:spcPts val="0"/>
                </a:spcBef>
                <a:spcAft>
                  <a:spcPts val="800"/>
                </a:spcAft>
              </a:pPr>
              <a:r>
                <a:rPr lang="en-US" sz="2200" kern="120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V</a:t>
              </a:r>
              <a:r>
                <a:rPr lang="en-US" sz="2200" kern="1200" baseline="-2500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6" name="Text Box 30">
              <a:extLst>
                <a:ext uri="{FF2B5EF4-FFF2-40B4-BE49-F238E27FC236}">
                  <a16:creationId xmlns:a16="http://schemas.microsoft.com/office/drawing/2014/main" id="{9FF048B3-5980-49FE-8D11-9FCB532D30A0}"/>
                </a:ext>
              </a:extLst>
            </p:cNvPr>
            <p:cNvSpPr txBox="1">
              <a:spLocks noChangeArrowheads="1"/>
            </p:cNvSpPr>
            <p:nvPr/>
          </p:nvSpPr>
          <p:spPr bwMode="auto">
            <a:xfrm>
              <a:off x="1402" y="2617"/>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eaLnBrk="0" fontAlgn="base" hangingPunct="0">
                <a:lnSpc>
                  <a:spcPct val="107000"/>
                </a:lnSpc>
                <a:spcBef>
                  <a:spcPts val="0"/>
                </a:spcBef>
                <a:spcAft>
                  <a:spcPts val="800"/>
                </a:spcAft>
              </a:pPr>
              <a:r>
                <a:rPr lang="en-US" sz="2200" kern="1200" dirty="0" err="1">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V</a:t>
              </a:r>
              <a:r>
                <a:rPr lang="en-US" sz="2200" kern="1200" baseline="-25000" dirty="0" err="1">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Y</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29">
              <a:extLst>
                <a:ext uri="{FF2B5EF4-FFF2-40B4-BE49-F238E27FC236}">
                  <a16:creationId xmlns:a16="http://schemas.microsoft.com/office/drawing/2014/main" id="{7CF3BE2C-1DDE-40D1-BA81-81213B8FA62D}"/>
                </a:ext>
              </a:extLst>
            </p:cNvPr>
            <p:cNvSpPr txBox="1">
              <a:spLocks noChangeArrowheads="1"/>
            </p:cNvSpPr>
            <p:nvPr/>
          </p:nvSpPr>
          <p:spPr bwMode="auto">
            <a:xfrm>
              <a:off x="1470" y="-215"/>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eaLnBrk="0" fontAlgn="base" hangingPunct="0">
                <a:lnSpc>
                  <a:spcPct val="107000"/>
                </a:lnSpc>
                <a:spcBef>
                  <a:spcPts val="0"/>
                </a:spcBef>
                <a:spcAft>
                  <a:spcPts val="800"/>
                </a:spcAft>
              </a:pPr>
              <a:r>
                <a:rPr lang="en-US" sz="2200" kern="1200" dirty="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V</a:t>
              </a:r>
              <a:r>
                <a:rPr lang="en-US" sz="2200" kern="1200" baseline="-25000" dirty="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B</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 Box 28">
              <a:extLst>
                <a:ext uri="{FF2B5EF4-FFF2-40B4-BE49-F238E27FC236}">
                  <a16:creationId xmlns:a16="http://schemas.microsoft.com/office/drawing/2014/main" id="{B8E6D5CF-2CBB-476B-B63B-29799A919FAF}"/>
                </a:ext>
              </a:extLst>
            </p:cNvPr>
            <p:cNvSpPr txBox="1">
              <a:spLocks noChangeArrowheads="1"/>
            </p:cNvSpPr>
            <p:nvPr/>
          </p:nvSpPr>
          <p:spPr bwMode="auto">
            <a:xfrm>
              <a:off x="510" y="1260"/>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eaLnBrk="0" fontAlgn="base" hangingPunct="0">
                <a:lnSpc>
                  <a:spcPct val="107000"/>
                </a:lnSpc>
                <a:spcBef>
                  <a:spcPts val="0"/>
                </a:spcBef>
                <a:spcAft>
                  <a:spcPts val="800"/>
                </a:spcAft>
              </a:pPr>
              <a:r>
                <a:rPr lang="en-US" sz="2200" kern="120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-V</a:t>
              </a:r>
              <a:r>
                <a:rPr lang="en-US" sz="2200" kern="1200" baseline="-2500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 name="Text Box 27">
              <a:extLst>
                <a:ext uri="{FF2B5EF4-FFF2-40B4-BE49-F238E27FC236}">
                  <a16:creationId xmlns:a16="http://schemas.microsoft.com/office/drawing/2014/main" id="{FB919BD9-194F-4C8F-95AE-71C211786929}"/>
                </a:ext>
              </a:extLst>
            </p:cNvPr>
            <p:cNvSpPr txBox="1">
              <a:spLocks noChangeArrowheads="1"/>
            </p:cNvSpPr>
            <p:nvPr/>
          </p:nvSpPr>
          <p:spPr bwMode="auto">
            <a:xfrm>
              <a:off x="2640" y="2520"/>
              <a:ext cx="5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eaLnBrk="0" fontAlgn="base" hangingPunct="0">
                <a:lnSpc>
                  <a:spcPct val="107000"/>
                </a:lnSpc>
                <a:spcBef>
                  <a:spcPts val="0"/>
                </a:spcBef>
                <a:spcAft>
                  <a:spcPts val="800"/>
                </a:spcAft>
              </a:pPr>
              <a:r>
                <a:rPr lang="en-US" sz="2200" kern="120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-V</a:t>
              </a:r>
              <a:r>
                <a:rPr lang="en-US" sz="2200" kern="1200" baseline="-2500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B</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0" name="Text Box 26">
              <a:extLst>
                <a:ext uri="{FF2B5EF4-FFF2-40B4-BE49-F238E27FC236}">
                  <a16:creationId xmlns:a16="http://schemas.microsoft.com/office/drawing/2014/main" id="{A0DE7D26-0780-4C30-BDB8-E531EE3FECA1}"/>
                </a:ext>
              </a:extLst>
            </p:cNvPr>
            <p:cNvSpPr txBox="1">
              <a:spLocks noChangeArrowheads="1"/>
            </p:cNvSpPr>
            <p:nvPr/>
          </p:nvSpPr>
          <p:spPr bwMode="auto">
            <a:xfrm>
              <a:off x="2417" y="-2"/>
              <a:ext cx="51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eaLnBrk="0" fontAlgn="base" hangingPunct="0">
                <a:lnSpc>
                  <a:spcPct val="107000"/>
                </a:lnSpc>
                <a:spcBef>
                  <a:spcPts val="0"/>
                </a:spcBef>
                <a:spcAft>
                  <a:spcPts val="800"/>
                </a:spcAft>
              </a:pPr>
              <a:r>
                <a:rPr lang="en-US" sz="2200" kern="1200" dirty="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a:t>
              </a:r>
              <a:r>
                <a:rPr lang="en-US" sz="2200" kern="1200" dirty="0" err="1">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V</a:t>
              </a:r>
              <a:r>
                <a:rPr lang="en-US" sz="2200" kern="1200" baseline="-25000" dirty="0" err="1">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Y</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1" name="Line 22">
              <a:extLst>
                <a:ext uri="{FF2B5EF4-FFF2-40B4-BE49-F238E27FC236}">
                  <a16:creationId xmlns:a16="http://schemas.microsoft.com/office/drawing/2014/main" id="{5EF3E19A-101E-4F12-A9AA-D680B09D31A5}"/>
                </a:ext>
              </a:extLst>
            </p:cNvPr>
            <p:cNvSpPr>
              <a:spLocks noChangeShapeType="1"/>
            </p:cNvSpPr>
            <p:nvPr/>
          </p:nvSpPr>
          <p:spPr bwMode="auto">
            <a:xfrm flipV="1">
              <a:off x="539" y="145"/>
              <a:ext cx="1111" cy="0"/>
            </a:xfrm>
            <a:prstGeom prst="line">
              <a:avLst/>
            </a:prstGeom>
            <a:noFill/>
            <a:ln w="28575">
              <a:solidFill>
                <a:srgbClr val="0070C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 name="Line 21">
              <a:extLst>
                <a:ext uri="{FF2B5EF4-FFF2-40B4-BE49-F238E27FC236}">
                  <a16:creationId xmlns:a16="http://schemas.microsoft.com/office/drawing/2014/main" id="{E116EE30-CDF4-414F-A590-7DD66FDE8BE8}"/>
                </a:ext>
              </a:extLst>
            </p:cNvPr>
            <p:cNvSpPr>
              <a:spLocks noChangeShapeType="1"/>
            </p:cNvSpPr>
            <p:nvPr/>
          </p:nvSpPr>
          <p:spPr bwMode="auto">
            <a:xfrm rot="7200000" flipV="1">
              <a:off x="1784" y="3240"/>
              <a:ext cx="1472" cy="0"/>
            </a:xfrm>
            <a:prstGeom prst="line">
              <a:avLst/>
            </a:prstGeom>
            <a:noFill/>
            <a:ln w="28575">
              <a:solidFill>
                <a:srgbClr val="0070C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 name="Line 20">
              <a:extLst>
                <a:ext uri="{FF2B5EF4-FFF2-40B4-BE49-F238E27FC236}">
                  <a16:creationId xmlns:a16="http://schemas.microsoft.com/office/drawing/2014/main" id="{BCBDBD6D-C16F-4938-BB59-8CB89D7DFE8B}"/>
                </a:ext>
              </a:extLst>
            </p:cNvPr>
            <p:cNvSpPr>
              <a:spLocks noChangeShapeType="1"/>
            </p:cNvSpPr>
            <p:nvPr/>
          </p:nvSpPr>
          <p:spPr bwMode="auto">
            <a:xfrm rot="14400000">
              <a:off x="70" y="823"/>
              <a:ext cx="1472" cy="0"/>
            </a:xfrm>
            <a:prstGeom prst="line">
              <a:avLst/>
            </a:prstGeom>
            <a:noFill/>
            <a:ln w="28575">
              <a:solidFill>
                <a:srgbClr val="0070C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 name="Line 19">
              <a:extLst>
                <a:ext uri="{FF2B5EF4-FFF2-40B4-BE49-F238E27FC236}">
                  <a16:creationId xmlns:a16="http://schemas.microsoft.com/office/drawing/2014/main" id="{1B00CB7E-5981-468E-ACEF-1DDF663553A9}"/>
                </a:ext>
              </a:extLst>
            </p:cNvPr>
            <p:cNvSpPr>
              <a:spLocks noChangeShapeType="1"/>
            </p:cNvSpPr>
            <p:nvPr/>
          </p:nvSpPr>
          <p:spPr bwMode="auto">
            <a:xfrm flipV="1">
              <a:off x="2731" y="115"/>
              <a:ext cx="1111" cy="0"/>
            </a:xfrm>
            <a:prstGeom prst="line">
              <a:avLst/>
            </a:prstGeom>
            <a:noFill/>
            <a:ln w="28575">
              <a:solidFill>
                <a:srgbClr val="0070C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 name="Line 18">
              <a:extLst>
                <a:ext uri="{FF2B5EF4-FFF2-40B4-BE49-F238E27FC236}">
                  <a16:creationId xmlns:a16="http://schemas.microsoft.com/office/drawing/2014/main" id="{694580F1-52DA-417B-BF95-4E4C663E1F8D}"/>
                </a:ext>
              </a:extLst>
            </p:cNvPr>
            <p:cNvSpPr>
              <a:spLocks noChangeShapeType="1"/>
            </p:cNvSpPr>
            <p:nvPr/>
          </p:nvSpPr>
          <p:spPr bwMode="auto">
            <a:xfrm rot="7200000" flipV="1">
              <a:off x="2846" y="829"/>
              <a:ext cx="1472" cy="0"/>
            </a:xfrm>
            <a:prstGeom prst="line">
              <a:avLst/>
            </a:prstGeom>
            <a:noFill/>
            <a:ln w="28575">
              <a:solidFill>
                <a:srgbClr val="0070C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 name="Line 17">
              <a:extLst>
                <a:ext uri="{FF2B5EF4-FFF2-40B4-BE49-F238E27FC236}">
                  <a16:creationId xmlns:a16="http://schemas.microsoft.com/office/drawing/2014/main" id="{00B12699-5AA6-4502-AEEE-2A39975F14D9}"/>
                </a:ext>
              </a:extLst>
            </p:cNvPr>
            <p:cNvSpPr>
              <a:spLocks noChangeShapeType="1"/>
            </p:cNvSpPr>
            <p:nvPr/>
          </p:nvSpPr>
          <p:spPr bwMode="auto">
            <a:xfrm rot="14400000">
              <a:off x="1164" y="3323"/>
              <a:ext cx="1472" cy="0"/>
            </a:xfrm>
            <a:prstGeom prst="line">
              <a:avLst/>
            </a:prstGeom>
            <a:noFill/>
            <a:ln w="28575">
              <a:solidFill>
                <a:srgbClr val="0070C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 name="Line 16">
              <a:extLst>
                <a:ext uri="{FF2B5EF4-FFF2-40B4-BE49-F238E27FC236}">
                  <a16:creationId xmlns:a16="http://schemas.microsoft.com/office/drawing/2014/main" id="{6E057721-4585-4CB8-8170-F9A7486F168A}"/>
                </a:ext>
              </a:extLst>
            </p:cNvPr>
            <p:cNvSpPr>
              <a:spLocks noChangeShapeType="1"/>
            </p:cNvSpPr>
            <p:nvPr/>
          </p:nvSpPr>
          <p:spPr bwMode="auto">
            <a:xfrm rot="19800000" flipV="1">
              <a:off x="2078" y="794"/>
              <a:ext cx="1926" cy="0"/>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dirty="0"/>
            </a:p>
          </p:txBody>
        </p:sp>
        <p:sp>
          <p:nvSpPr>
            <p:cNvPr id="48" name="Line 15">
              <a:extLst>
                <a:ext uri="{FF2B5EF4-FFF2-40B4-BE49-F238E27FC236}">
                  <a16:creationId xmlns:a16="http://schemas.microsoft.com/office/drawing/2014/main" id="{7B3CB094-F777-4177-87C0-947C583910CE}"/>
                </a:ext>
              </a:extLst>
            </p:cNvPr>
            <p:cNvSpPr>
              <a:spLocks noChangeShapeType="1"/>
            </p:cNvSpPr>
            <p:nvPr/>
          </p:nvSpPr>
          <p:spPr bwMode="auto">
            <a:xfrm rot="5400000" flipV="1">
              <a:off x="910" y="2700"/>
              <a:ext cx="2552" cy="0"/>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 name="Line 14">
              <a:extLst>
                <a:ext uri="{FF2B5EF4-FFF2-40B4-BE49-F238E27FC236}">
                  <a16:creationId xmlns:a16="http://schemas.microsoft.com/office/drawing/2014/main" id="{EFD232EF-A178-4713-80C8-CF5A35124909}"/>
                </a:ext>
              </a:extLst>
            </p:cNvPr>
            <p:cNvSpPr>
              <a:spLocks noChangeShapeType="1"/>
            </p:cNvSpPr>
            <p:nvPr/>
          </p:nvSpPr>
          <p:spPr bwMode="auto">
            <a:xfrm rot="1800000" flipH="1" flipV="1">
              <a:off x="390" y="800"/>
              <a:ext cx="1926" cy="0"/>
            </a:xfrm>
            <a:prstGeom prst="line">
              <a:avLst/>
            </a:prstGeom>
            <a:noFill/>
            <a:ln w="28575">
              <a:solidFill>
                <a:srgbClr val="002060"/>
              </a:solidFill>
              <a:round/>
              <a:headEn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 name="Text Box 12">
              <a:extLst>
                <a:ext uri="{FF2B5EF4-FFF2-40B4-BE49-F238E27FC236}">
                  <a16:creationId xmlns:a16="http://schemas.microsoft.com/office/drawing/2014/main" id="{C0E114DD-7F15-4F92-A647-D92AB155CBA4}"/>
                </a:ext>
              </a:extLst>
            </p:cNvPr>
            <p:cNvSpPr txBox="1">
              <a:spLocks noChangeArrowheads="1"/>
            </p:cNvSpPr>
            <p:nvPr/>
          </p:nvSpPr>
          <p:spPr bwMode="auto">
            <a:xfrm>
              <a:off x="2430" y="3240"/>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eaLnBrk="0" fontAlgn="base" hangingPunct="0">
                <a:lnSpc>
                  <a:spcPct val="107000"/>
                </a:lnSpc>
                <a:spcBef>
                  <a:spcPts val="0"/>
                </a:spcBef>
                <a:spcAft>
                  <a:spcPts val="800"/>
                </a:spcAft>
              </a:pPr>
              <a:r>
                <a:rPr lang="en-US" sz="2200" kern="120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V</a:t>
              </a:r>
              <a:r>
                <a:rPr lang="en-US" sz="2200" kern="1200" baseline="-2500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YB</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1" name="Text Box 11">
              <a:extLst>
                <a:ext uri="{FF2B5EF4-FFF2-40B4-BE49-F238E27FC236}">
                  <a16:creationId xmlns:a16="http://schemas.microsoft.com/office/drawing/2014/main" id="{7A58B8C3-3DAD-4862-B87F-8718E94DAF49}"/>
                </a:ext>
              </a:extLst>
            </p:cNvPr>
            <p:cNvSpPr txBox="1">
              <a:spLocks noChangeArrowheads="1"/>
            </p:cNvSpPr>
            <p:nvPr/>
          </p:nvSpPr>
          <p:spPr bwMode="auto">
            <a:xfrm>
              <a:off x="0" y="360"/>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eaLnBrk="0" fontAlgn="base" hangingPunct="0">
                <a:lnSpc>
                  <a:spcPct val="107000"/>
                </a:lnSpc>
                <a:spcBef>
                  <a:spcPts val="0"/>
                </a:spcBef>
                <a:spcAft>
                  <a:spcPts val="800"/>
                </a:spcAft>
              </a:pPr>
              <a:r>
                <a:rPr lang="en-US" sz="2200" kern="120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V</a:t>
              </a:r>
              <a:r>
                <a:rPr lang="en-US" sz="2200" kern="1200" baseline="-25000">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BR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2" name="Text Box 5">
              <a:extLst>
                <a:ext uri="{FF2B5EF4-FFF2-40B4-BE49-F238E27FC236}">
                  <a16:creationId xmlns:a16="http://schemas.microsoft.com/office/drawing/2014/main" id="{54FC73E6-44FA-43D0-AB4B-670F2ABD6307}"/>
                </a:ext>
              </a:extLst>
            </p:cNvPr>
            <p:cNvSpPr txBox="1">
              <a:spLocks noChangeArrowheads="1"/>
            </p:cNvSpPr>
            <p:nvPr/>
          </p:nvSpPr>
          <p:spPr bwMode="auto">
            <a:xfrm>
              <a:off x="3884" y="-10"/>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eaLnBrk="0" fontAlgn="base" hangingPunct="0">
                <a:lnSpc>
                  <a:spcPct val="107000"/>
                </a:lnSpc>
                <a:spcBef>
                  <a:spcPts val="0"/>
                </a:spcBef>
                <a:spcAft>
                  <a:spcPts val="800"/>
                </a:spcAft>
              </a:pPr>
              <a:r>
                <a:rPr lang="en-US" sz="2200" kern="1200" dirty="0" err="1">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V</a:t>
              </a:r>
              <a:r>
                <a:rPr lang="en-US" sz="2200" kern="1200" baseline="-25000" dirty="0" err="1">
                  <a:solidFill>
                    <a:srgbClr val="002060"/>
                  </a:solidFill>
                  <a:effectLst/>
                  <a:latin typeface="Arial" panose="020B0604020202020204" pitchFamily="34" charset="0"/>
                  <a:ea typeface="Times New Roman" panose="02020603050405020304" pitchFamily="18" charset="0"/>
                  <a:cs typeface="Times New Roman" panose="02020603050405020304" pitchFamily="18" charset="0"/>
                </a:rPr>
                <a:t>RY</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53" name="Rectangle 52">
            <a:extLst>
              <a:ext uri="{FF2B5EF4-FFF2-40B4-BE49-F238E27FC236}">
                <a16:creationId xmlns:a16="http://schemas.microsoft.com/office/drawing/2014/main" id="{709C620C-7F49-4E05-80D8-2771C085C067}"/>
              </a:ext>
            </a:extLst>
          </p:cNvPr>
          <p:cNvSpPr/>
          <p:nvPr/>
        </p:nvSpPr>
        <p:spPr>
          <a:xfrm>
            <a:off x="330840" y="1173170"/>
            <a:ext cx="6575285" cy="4878259"/>
          </a:xfrm>
          <a:prstGeom prst="rect">
            <a:avLst/>
          </a:prstGeom>
        </p:spPr>
        <p:txBody>
          <a:bodyPr wrap="square">
            <a:spAutoFit/>
          </a:bodyPr>
          <a:lstStyle/>
          <a:p>
            <a:pPr>
              <a:spcAft>
                <a:spcPts val="600"/>
              </a:spcAft>
            </a:pPr>
            <a:r>
              <a:rPr lang="en-GB" sz="3200" dirty="0">
                <a:solidFill>
                  <a:srgbClr val="002060"/>
                </a:solidFill>
                <a:latin typeface="Times New Roman" panose="02020603050405020304" pitchFamily="18" charset="0"/>
                <a:ea typeface="Times New Roman" panose="02020603050405020304" pitchFamily="18" charset="0"/>
              </a:rPr>
              <a:t>If the direction of V</a:t>
            </a:r>
            <a:r>
              <a:rPr lang="en-GB" sz="3200" baseline="-25000" dirty="0">
                <a:solidFill>
                  <a:srgbClr val="002060"/>
                </a:solidFill>
                <a:latin typeface="Times New Roman" panose="02020603050405020304" pitchFamily="18" charset="0"/>
                <a:ea typeface="Times New Roman" panose="02020603050405020304" pitchFamily="18" charset="0"/>
              </a:rPr>
              <a:t>R</a:t>
            </a:r>
            <a:r>
              <a:rPr lang="en-GB" sz="3200" dirty="0">
                <a:solidFill>
                  <a:srgbClr val="002060"/>
                </a:solidFill>
                <a:latin typeface="Times New Roman" panose="02020603050405020304" pitchFamily="18" charset="0"/>
                <a:ea typeface="Times New Roman" panose="02020603050405020304" pitchFamily="18" charset="0"/>
              </a:rPr>
              <a:t> is selected as reference, then</a:t>
            </a:r>
            <a:endParaRPr lang="en-GB" sz="3200" dirty="0">
              <a:latin typeface="Times New Roman" panose="02020603050405020304" pitchFamily="18" charset="0"/>
              <a:ea typeface="Times New Roman" panose="02020603050405020304" pitchFamily="18" charset="0"/>
            </a:endParaRPr>
          </a:p>
          <a:p>
            <a:pPr indent="457200">
              <a:spcAft>
                <a:spcPts val="1200"/>
              </a:spcAft>
              <a:tabLst>
                <a:tab pos="1250950" algn="l"/>
                <a:tab pos="3705225" algn="l"/>
              </a:tabLst>
            </a:pPr>
            <a:r>
              <a:rPr lang="en-GB" sz="3200" dirty="0">
                <a:solidFill>
                  <a:srgbClr val="002060"/>
                </a:solidFill>
                <a:latin typeface="Times New Roman" panose="02020603050405020304" pitchFamily="18" charset="0"/>
                <a:ea typeface="Times New Roman" panose="02020603050405020304" pitchFamily="18" charset="0"/>
              </a:rPr>
              <a:t>V</a:t>
            </a:r>
            <a:r>
              <a:rPr lang="en-GB" sz="3200" baseline="-25000" dirty="0">
                <a:solidFill>
                  <a:srgbClr val="002060"/>
                </a:solidFill>
                <a:latin typeface="Times New Roman" panose="02020603050405020304" pitchFamily="18" charset="0"/>
                <a:ea typeface="Times New Roman" panose="02020603050405020304" pitchFamily="18" charset="0"/>
              </a:rPr>
              <a:t>R</a:t>
            </a:r>
            <a:r>
              <a:rPr lang="en-GB" sz="3200" dirty="0">
                <a:solidFill>
                  <a:srgbClr val="002060"/>
                </a:solidFill>
                <a:latin typeface="Times New Roman" panose="02020603050405020304" pitchFamily="18" charset="0"/>
                <a:ea typeface="Times New Roman" panose="02020603050405020304" pitchFamily="18" charset="0"/>
              </a:rPr>
              <a:t> 	=    V</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0 	= V</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0</a:t>
            </a:r>
            <a:r>
              <a:rPr lang="en-GB" sz="3200" baseline="30000" dirty="0">
                <a:solidFill>
                  <a:srgbClr val="002060"/>
                </a:solidFill>
                <a:latin typeface="Times New Roman" panose="02020603050405020304" pitchFamily="18" charset="0"/>
                <a:ea typeface="Times New Roman" panose="02020603050405020304" pitchFamily="18" charset="0"/>
              </a:rPr>
              <a:t>o</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indent="457200">
              <a:spcAft>
                <a:spcPts val="1200"/>
              </a:spcAft>
              <a:tabLst>
                <a:tab pos="1250950" algn="l"/>
                <a:tab pos="3705225" algn="l"/>
              </a:tabLst>
            </a:pP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Y</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-2</a:t>
            </a:r>
            <a:r>
              <a:rPr lang="en-GB" sz="3200" dirty="0">
                <a:solidFill>
                  <a:srgbClr val="002060"/>
                </a:solidFill>
                <a:latin typeface="Symbol" panose="05050102010706020507" pitchFamily="18" charset="2"/>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/3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-120</a:t>
            </a:r>
            <a:r>
              <a:rPr lang="en-GB" sz="3200" baseline="30000" dirty="0">
                <a:solidFill>
                  <a:srgbClr val="002060"/>
                </a:solidFill>
                <a:latin typeface="Times New Roman" panose="02020603050405020304" pitchFamily="18" charset="0"/>
                <a:ea typeface="Times New Roman" panose="02020603050405020304" pitchFamily="18" charset="0"/>
              </a:rPr>
              <a:t>o</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indent="457200">
              <a:spcAft>
                <a:spcPts val="1200"/>
              </a:spcAft>
              <a:tabLst>
                <a:tab pos="1250950" algn="l"/>
                <a:tab pos="3705225" algn="l"/>
              </a:tabLst>
            </a:pPr>
            <a:r>
              <a:rPr lang="en-GB" sz="3200" dirty="0">
                <a:solidFill>
                  <a:srgbClr val="002060"/>
                </a:solidFill>
                <a:latin typeface="Times New Roman" panose="02020603050405020304" pitchFamily="18" charset="0"/>
                <a:ea typeface="Times New Roman" panose="02020603050405020304" pitchFamily="18" charset="0"/>
              </a:rPr>
              <a:t>V</a:t>
            </a:r>
            <a:r>
              <a:rPr lang="en-GB" sz="3200" baseline="-25000" dirty="0">
                <a:solidFill>
                  <a:srgbClr val="002060"/>
                </a:solidFill>
                <a:latin typeface="Times New Roman" panose="02020603050405020304" pitchFamily="18" charset="0"/>
                <a:ea typeface="Times New Roman" panose="02020603050405020304" pitchFamily="18" charset="0"/>
              </a:rPr>
              <a:t>B</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-4</a:t>
            </a:r>
            <a:r>
              <a:rPr lang="en-GB" sz="3200" dirty="0">
                <a:solidFill>
                  <a:srgbClr val="002060"/>
                </a:solidFill>
                <a:latin typeface="Symbol" panose="05050102010706020507" pitchFamily="18" charset="2"/>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/3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-240</a:t>
            </a:r>
            <a:r>
              <a:rPr lang="en-GB" sz="3200" baseline="30000" dirty="0">
                <a:solidFill>
                  <a:srgbClr val="002060"/>
                </a:solidFill>
                <a:latin typeface="Times New Roman" panose="02020603050405020304" pitchFamily="18" charset="0"/>
                <a:ea typeface="Times New Roman" panose="02020603050405020304" pitchFamily="18" charset="0"/>
              </a:rPr>
              <a:t>o</a:t>
            </a:r>
            <a:endParaRPr lang="en-GB" sz="3200" dirty="0">
              <a:latin typeface="Times New Roman" panose="02020603050405020304" pitchFamily="18" charset="0"/>
              <a:ea typeface="Times New Roman" panose="02020603050405020304" pitchFamily="18" charset="0"/>
            </a:endParaRPr>
          </a:p>
          <a:p>
            <a:pPr indent="457200">
              <a:spcAft>
                <a:spcPts val="1200"/>
              </a:spcAft>
              <a:tabLst>
                <a:tab pos="1250950" algn="l"/>
                <a:tab pos="3705225" algn="l"/>
              </a:tabLst>
            </a:pP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RY</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Symbol" panose="05050102010706020507" pitchFamily="18" charset="2"/>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/6 	=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30</a:t>
            </a:r>
            <a:r>
              <a:rPr lang="en-GB" sz="3200" baseline="30000" dirty="0">
                <a:solidFill>
                  <a:srgbClr val="002060"/>
                </a:solidFill>
                <a:latin typeface="Times New Roman" panose="02020603050405020304" pitchFamily="18" charset="0"/>
                <a:ea typeface="Times New Roman" panose="02020603050405020304" pitchFamily="18" charset="0"/>
              </a:rPr>
              <a:t>o</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indent="457200">
              <a:spcAft>
                <a:spcPts val="1200"/>
              </a:spcAft>
              <a:tabLst>
                <a:tab pos="1250950" algn="l"/>
                <a:tab pos="3705225" algn="l"/>
              </a:tabLst>
            </a:pP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YB</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a:t>
            </a:r>
            <a:r>
              <a:rPr lang="en-GB" sz="3200" dirty="0">
                <a:solidFill>
                  <a:srgbClr val="002060"/>
                </a:solidFill>
                <a:latin typeface="Symbol" panose="05050102010706020507" pitchFamily="18" charset="2"/>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/2 	=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-90</a:t>
            </a:r>
            <a:r>
              <a:rPr lang="en-GB" sz="3200" baseline="30000" dirty="0">
                <a:solidFill>
                  <a:srgbClr val="002060"/>
                </a:solidFill>
                <a:latin typeface="Times New Roman" panose="02020603050405020304" pitchFamily="18" charset="0"/>
                <a:ea typeface="Times New Roman" panose="02020603050405020304" pitchFamily="18" charset="0"/>
              </a:rPr>
              <a:t>o</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indent="457200">
              <a:spcAft>
                <a:spcPts val="1200"/>
              </a:spcAft>
              <a:tabLst>
                <a:tab pos="1250950" algn="l"/>
                <a:tab pos="3705225" algn="l"/>
              </a:tabLst>
            </a:pP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BR</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-7</a:t>
            </a:r>
            <a:r>
              <a:rPr lang="en-GB" sz="3200" dirty="0">
                <a:solidFill>
                  <a:srgbClr val="002060"/>
                </a:solidFill>
                <a:latin typeface="Symbol" panose="05050102010706020507" pitchFamily="18" charset="2"/>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/6	=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-210</a:t>
            </a:r>
            <a:r>
              <a:rPr lang="en-GB" sz="3200" baseline="30000" dirty="0">
                <a:solidFill>
                  <a:srgbClr val="002060"/>
                </a:solidFill>
                <a:latin typeface="Times New Roman" panose="02020603050405020304" pitchFamily="18" charset="0"/>
                <a:ea typeface="Times New Roman" panose="02020603050405020304" pitchFamily="18" charset="0"/>
              </a:rPr>
              <a:t>o</a:t>
            </a:r>
            <a:endParaRPr lang="en-GB"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26803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GB" dirty="0"/>
              <a:t>Balanced Load</a:t>
            </a:r>
          </a:p>
        </p:txBody>
      </p:sp>
      <p:grpSp>
        <p:nvGrpSpPr>
          <p:cNvPr id="5" name="Group 4">
            <a:extLst>
              <a:ext uri="{FF2B5EF4-FFF2-40B4-BE49-F238E27FC236}">
                <a16:creationId xmlns:a16="http://schemas.microsoft.com/office/drawing/2014/main" id="{57B884A9-5E1E-4B9D-9A91-C5D4BAC645C0}"/>
              </a:ext>
            </a:extLst>
          </p:cNvPr>
          <p:cNvGrpSpPr>
            <a:grpSpLocks noChangeAspect="1"/>
          </p:cNvGrpSpPr>
          <p:nvPr/>
        </p:nvGrpSpPr>
        <p:grpSpPr bwMode="auto">
          <a:xfrm>
            <a:off x="8764350" y="1330926"/>
            <a:ext cx="3046647" cy="3239429"/>
            <a:chOff x="2389" y="3207"/>
            <a:chExt cx="2084" cy="3832"/>
          </a:xfrm>
        </p:grpSpPr>
        <p:cxnSp>
          <p:nvCxnSpPr>
            <p:cNvPr id="7" name="Line 74">
              <a:extLst>
                <a:ext uri="{FF2B5EF4-FFF2-40B4-BE49-F238E27FC236}">
                  <a16:creationId xmlns:a16="http://schemas.microsoft.com/office/drawing/2014/main" id="{08DA588D-1C8A-457D-A8E7-38971A36DF91}"/>
                </a:ext>
              </a:extLst>
            </p:cNvPr>
            <p:cNvCxnSpPr>
              <a:cxnSpLocks noChangeAspect="1" noChangeShapeType="1"/>
            </p:cNvCxnSpPr>
            <p:nvPr/>
          </p:nvCxnSpPr>
          <p:spPr bwMode="auto">
            <a:xfrm flipV="1">
              <a:off x="3197" y="5116"/>
              <a:ext cx="1188" cy="0"/>
            </a:xfrm>
            <a:prstGeom prst="line">
              <a:avLst/>
            </a:prstGeom>
            <a:noFill/>
            <a:ln w="57150">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8" name="Line 75">
              <a:extLst>
                <a:ext uri="{FF2B5EF4-FFF2-40B4-BE49-F238E27FC236}">
                  <a16:creationId xmlns:a16="http://schemas.microsoft.com/office/drawing/2014/main" id="{34175EBE-DA4D-479B-A3E1-4528657D8942}"/>
                </a:ext>
              </a:extLst>
            </p:cNvPr>
            <p:cNvCxnSpPr>
              <a:cxnSpLocks noChangeAspect="1" noChangeShapeType="1"/>
            </p:cNvCxnSpPr>
            <p:nvPr/>
          </p:nvCxnSpPr>
          <p:spPr bwMode="auto">
            <a:xfrm rot="7200000" flipV="1">
              <a:off x="1856" y="6012"/>
              <a:ext cx="2055" cy="0"/>
            </a:xfrm>
            <a:prstGeom prst="line">
              <a:avLst/>
            </a:prstGeom>
            <a:noFill/>
            <a:ln w="57150">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9" name="Line 76">
              <a:extLst>
                <a:ext uri="{FF2B5EF4-FFF2-40B4-BE49-F238E27FC236}">
                  <a16:creationId xmlns:a16="http://schemas.microsoft.com/office/drawing/2014/main" id="{244B4F6A-FAC1-46AD-B24F-CD02D02F0B69}"/>
                </a:ext>
              </a:extLst>
            </p:cNvPr>
            <p:cNvCxnSpPr>
              <a:cxnSpLocks noChangeAspect="1" noChangeShapeType="1"/>
            </p:cNvCxnSpPr>
            <p:nvPr/>
          </p:nvCxnSpPr>
          <p:spPr bwMode="auto">
            <a:xfrm rot="14400000">
              <a:off x="1872" y="4235"/>
              <a:ext cx="2055" cy="0"/>
            </a:xfrm>
            <a:prstGeom prst="line">
              <a:avLst/>
            </a:prstGeom>
            <a:noFill/>
            <a:ln w="57150">
              <a:solidFill>
                <a:srgbClr val="C00000"/>
              </a:solidFill>
              <a:round/>
              <a:headEnd/>
              <a:tailEnd type="arrow" w="med" len="med"/>
            </a:ln>
            <a:extLst>
              <a:ext uri="{909E8E84-426E-40DD-AFC4-6F175D3DCCD1}">
                <a14:hiddenFill xmlns:a14="http://schemas.microsoft.com/office/drawing/2010/main">
                  <a:noFill/>
                </a14:hiddenFill>
              </a:ext>
            </a:extLst>
          </p:spPr>
        </p:cxnSp>
        <p:sp>
          <p:nvSpPr>
            <p:cNvPr id="10" name="Text Box 77">
              <a:extLst>
                <a:ext uri="{FF2B5EF4-FFF2-40B4-BE49-F238E27FC236}">
                  <a16:creationId xmlns:a16="http://schemas.microsoft.com/office/drawing/2014/main" id="{FEB4B7F3-43D7-4C95-BD3D-456140EF6AF9}"/>
                </a:ext>
              </a:extLst>
            </p:cNvPr>
            <p:cNvSpPr txBox="1">
              <a:spLocks noChangeAspect="1" noChangeArrowheads="1"/>
            </p:cNvSpPr>
            <p:nvPr/>
          </p:nvSpPr>
          <p:spPr bwMode="auto">
            <a:xfrm>
              <a:off x="4113" y="4402"/>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3200"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78">
              <a:extLst>
                <a:ext uri="{FF2B5EF4-FFF2-40B4-BE49-F238E27FC236}">
                  <a16:creationId xmlns:a16="http://schemas.microsoft.com/office/drawing/2014/main" id="{6CB2CD13-9A00-4585-BC12-CF8D4B5B7154}"/>
                </a:ext>
              </a:extLst>
            </p:cNvPr>
            <p:cNvSpPr txBox="1">
              <a:spLocks noChangeAspect="1" noChangeArrowheads="1"/>
            </p:cNvSpPr>
            <p:nvPr/>
          </p:nvSpPr>
          <p:spPr bwMode="auto">
            <a:xfrm>
              <a:off x="2780" y="6390"/>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32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Y</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 Box 79">
              <a:extLst>
                <a:ext uri="{FF2B5EF4-FFF2-40B4-BE49-F238E27FC236}">
                  <a16:creationId xmlns:a16="http://schemas.microsoft.com/office/drawing/2014/main" id="{69314CC3-DA3F-4BE6-AD9B-7DC8B85368EF}"/>
                </a:ext>
              </a:extLst>
            </p:cNvPr>
            <p:cNvSpPr txBox="1">
              <a:spLocks noChangeAspect="1" noChangeArrowheads="1"/>
            </p:cNvSpPr>
            <p:nvPr/>
          </p:nvSpPr>
          <p:spPr bwMode="auto">
            <a:xfrm>
              <a:off x="2475" y="3646"/>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3200"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 Box 80">
              <a:extLst>
                <a:ext uri="{FF2B5EF4-FFF2-40B4-BE49-F238E27FC236}">
                  <a16:creationId xmlns:a16="http://schemas.microsoft.com/office/drawing/2014/main" id="{571E8110-4760-4391-9734-05CA7D2913EC}"/>
                </a:ext>
              </a:extLst>
            </p:cNvPr>
            <p:cNvSpPr txBox="1">
              <a:spLocks noChangeAspect="1" noChangeArrowheads="1"/>
            </p:cNvSpPr>
            <p:nvPr/>
          </p:nvSpPr>
          <p:spPr bwMode="auto">
            <a:xfrm>
              <a:off x="3060" y="341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Box 81">
              <a:extLst>
                <a:ext uri="{FF2B5EF4-FFF2-40B4-BE49-F238E27FC236}">
                  <a16:creationId xmlns:a16="http://schemas.microsoft.com/office/drawing/2014/main" id="{D624AFDD-B6CF-4430-9CF6-1A1F066B4773}"/>
                </a:ext>
              </a:extLst>
            </p:cNvPr>
            <p:cNvSpPr txBox="1">
              <a:spLocks noChangeAspect="1" noChangeArrowheads="1"/>
            </p:cNvSpPr>
            <p:nvPr/>
          </p:nvSpPr>
          <p:spPr bwMode="auto">
            <a:xfrm>
              <a:off x="3863" y="5365"/>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3200"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 Box 82">
              <a:extLst>
                <a:ext uri="{FF2B5EF4-FFF2-40B4-BE49-F238E27FC236}">
                  <a16:creationId xmlns:a16="http://schemas.microsoft.com/office/drawing/2014/main" id="{412AFE81-F855-4A4C-B77D-5ECE618C9A56}"/>
                </a:ext>
              </a:extLst>
            </p:cNvPr>
            <p:cNvSpPr txBox="1">
              <a:spLocks noChangeAspect="1" noChangeArrowheads="1"/>
            </p:cNvSpPr>
            <p:nvPr/>
          </p:nvSpPr>
          <p:spPr bwMode="auto">
            <a:xfrm>
              <a:off x="2389" y="5525"/>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Y</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6" name="Group 15">
              <a:extLst>
                <a:ext uri="{FF2B5EF4-FFF2-40B4-BE49-F238E27FC236}">
                  <a16:creationId xmlns:a16="http://schemas.microsoft.com/office/drawing/2014/main" id="{75AFDD0C-6727-4006-A276-39645022BA89}"/>
                </a:ext>
              </a:extLst>
            </p:cNvPr>
            <p:cNvGrpSpPr>
              <a:grpSpLocks noChangeAspect="1"/>
            </p:cNvGrpSpPr>
            <p:nvPr/>
          </p:nvGrpSpPr>
          <p:grpSpPr bwMode="auto">
            <a:xfrm rot="1200000">
              <a:off x="2964" y="4119"/>
              <a:ext cx="911" cy="2333"/>
              <a:chOff x="6963" y="3967"/>
              <a:chExt cx="1511" cy="2333"/>
            </a:xfrm>
          </p:grpSpPr>
          <p:cxnSp>
            <p:nvCxnSpPr>
              <p:cNvPr id="17" name="Line 84">
                <a:extLst>
                  <a:ext uri="{FF2B5EF4-FFF2-40B4-BE49-F238E27FC236}">
                    <a16:creationId xmlns:a16="http://schemas.microsoft.com/office/drawing/2014/main" id="{B7F9CA9D-6EB7-414F-8390-D71136B7B07C}"/>
                  </a:ext>
                </a:extLst>
              </p:cNvPr>
              <p:cNvCxnSpPr>
                <a:cxnSpLocks noChangeAspect="1" noChangeShapeType="1"/>
              </p:cNvCxnSpPr>
              <p:nvPr/>
            </p:nvCxnSpPr>
            <p:spPr bwMode="auto">
              <a:xfrm flipV="1">
                <a:off x="7274" y="5126"/>
                <a:ext cx="1200" cy="0"/>
              </a:xfrm>
              <a:prstGeom prst="line">
                <a:avLst/>
              </a:prstGeom>
              <a:noFill/>
              <a:ln w="57150">
                <a:solidFill>
                  <a:srgbClr val="00B050"/>
                </a:solidFill>
                <a:round/>
                <a:headEnd/>
                <a:tailEnd type="arrow" w="med" len="med"/>
              </a:ln>
              <a:extLst>
                <a:ext uri="{909E8E84-426E-40DD-AFC4-6F175D3DCCD1}">
                  <a14:hiddenFill xmlns:a14="http://schemas.microsoft.com/office/drawing/2010/main">
                    <a:noFill/>
                  </a14:hiddenFill>
                </a:ext>
              </a:extLst>
            </p:spPr>
          </p:cxnSp>
          <p:cxnSp>
            <p:nvCxnSpPr>
              <p:cNvPr id="18" name="Line 85">
                <a:extLst>
                  <a:ext uri="{FF2B5EF4-FFF2-40B4-BE49-F238E27FC236}">
                    <a16:creationId xmlns:a16="http://schemas.microsoft.com/office/drawing/2014/main" id="{A6AB2310-10FC-46C9-9A75-22C2A16629E6}"/>
                  </a:ext>
                </a:extLst>
              </p:cNvPr>
              <p:cNvCxnSpPr>
                <a:cxnSpLocks noChangeAspect="1" noChangeShapeType="1"/>
              </p:cNvCxnSpPr>
              <p:nvPr/>
            </p:nvCxnSpPr>
            <p:spPr bwMode="auto">
              <a:xfrm rot="7200000" flipV="1">
                <a:off x="6363" y="5700"/>
                <a:ext cx="1200" cy="0"/>
              </a:xfrm>
              <a:prstGeom prst="line">
                <a:avLst/>
              </a:prstGeom>
              <a:noFill/>
              <a:ln w="57150">
                <a:solidFill>
                  <a:srgbClr val="00B050"/>
                </a:solidFill>
                <a:round/>
                <a:headEnd/>
                <a:tailEnd type="arrow" w="med" len="med"/>
              </a:ln>
              <a:extLst>
                <a:ext uri="{909E8E84-426E-40DD-AFC4-6F175D3DCCD1}">
                  <a14:hiddenFill xmlns:a14="http://schemas.microsoft.com/office/drawing/2010/main">
                    <a:noFill/>
                  </a14:hiddenFill>
                </a:ext>
              </a:extLst>
            </p:spPr>
          </p:cxnSp>
          <p:cxnSp>
            <p:nvCxnSpPr>
              <p:cNvPr id="19" name="Line 86">
                <a:extLst>
                  <a:ext uri="{FF2B5EF4-FFF2-40B4-BE49-F238E27FC236}">
                    <a16:creationId xmlns:a16="http://schemas.microsoft.com/office/drawing/2014/main" id="{2C04C515-7029-4798-BB65-7444FADF16E0}"/>
                  </a:ext>
                </a:extLst>
              </p:cNvPr>
              <p:cNvCxnSpPr>
                <a:cxnSpLocks noChangeAspect="1" noChangeShapeType="1"/>
              </p:cNvCxnSpPr>
              <p:nvPr/>
            </p:nvCxnSpPr>
            <p:spPr bwMode="auto">
              <a:xfrm rot="14400000">
                <a:off x="6454" y="4567"/>
                <a:ext cx="1200" cy="0"/>
              </a:xfrm>
              <a:prstGeom prst="line">
                <a:avLst/>
              </a:prstGeom>
              <a:noFill/>
              <a:ln w="57150">
                <a:solidFill>
                  <a:srgbClr val="00B050"/>
                </a:solidFill>
                <a:round/>
                <a:headEnd/>
                <a:tailEnd type="arrow" w="med" len="med"/>
              </a:ln>
              <a:extLst>
                <a:ext uri="{909E8E84-426E-40DD-AFC4-6F175D3DCCD1}">
                  <a14:hiddenFill xmlns:a14="http://schemas.microsoft.com/office/drawing/2010/main">
                    <a:noFill/>
                  </a14:hiddenFill>
                </a:ext>
              </a:extLst>
            </p:spPr>
          </p:cxnSp>
        </p:grpSp>
      </p:grpSp>
      <p:sp>
        <p:nvSpPr>
          <p:cNvPr id="20" name="Text Box 87">
            <a:extLst>
              <a:ext uri="{FF2B5EF4-FFF2-40B4-BE49-F238E27FC236}">
                <a16:creationId xmlns:a16="http://schemas.microsoft.com/office/drawing/2014/main" id="{923610F9-D7ED-4402-86F7-83E11444A569}"/>
              </a:ext>
            </a:extLst>
          </p:cNvPr>
          <p:cNvSpPr txBox="1">
            <a:spLocks noChangeAspect="1" noChangeArrowheads="1"/>
          </p:cNvSpPr>
          <p:nvPr/>
        </p:nvSpPr>
        <p:spPr bwMode="auto">
          <a:xfrm>
            <a:off x="7791428" y="4720426"/>
            <a:ext cx="4192025" cy="441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4(a) Phasor Diagram</a:t>
            </a:r>
            <a:endParaRPr lang="en-GB" sz="105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Rectangle 20">
            <a:extLst>
              <a:ext uri="{FF2B5EF4-FFF2-40B4-BE49-F238E27FC236}">
                <a16:creationId xmlns:a16="http://schemas.microsoft.com/office/drawing/2014/main" id="{CA210A65-3344-4486-A5DE-0E9225360333}"/>
              </a:ext>
            </a:extLst>
          </p:cNvPr>
          <p:cNvSpPr/>
          <p:nvPr/>
        </p:nvSpPr>
        <p:spPr>
          <a:xfrm>
            <a:off x="381003" y="1200637"/>
            <a:ext cx="7979546" cy="4937827"/>
          </a:xfrm>
          <a:prstGeom prst="rect">
            <a:avLst/>
          </a:prstGeom>
        </p:spPr>
        <p:txBody>
          <a:bodyPr wrap="square">
            <a:spAutoFit/>
          </a:bodyPr>
          <a:lstStyle/>
          <a:p>
            <a:pPr algn="just">
              <a:lnSpc>
                <a:spcPct val="110000"/>
              </a:lnSpc>
            </a:pPr>
            <a:r>
              <a:rPr lang="en-GB" sz="3200">
                <a:solidFill>
                  <a:srgbClr val="002060"/>
                </a:solidFill>
                <a:latin typeface="Times New Roman" panose="02020603050405020304" pitchFamily="18" charset="0"/>
                <a:ea typeface="Times New Roman" panose="02020603050405020304" pitchFamily="18" charset="0"/>
              </a:rPr>
              <a:t>A balanced load would have impedances of the three phases equal in magnitude and in phase.</a:t>
            </a:r>
            <a:endParaRPr lang="en-GB" sz="3200">
              <a:latin typeface="Times New Roman" panose="02020603050405020304" pitchFamily="18" charset="0"/>
              <a:ea typeface="Times New Roman" panose="02020603050405020304" pitchFamily="18" charset="0"/>
            </a:endParaRPr>
          </a:p>
          <a:p>
            <a:pPr algn="just">
              <a:lnSpc>
                <a:spcPct val="110000"/>
              </a:lnSpc>
            </a:pPr>
            <a:r>
              <a:rPr lang="en-GB" sz="3200" dirty="0">
                <a:solidFill>
                  <a:srgbClr val="002060"/>
                </a:solidFill>
                <a:latin typeface="Times New Roman" panose="02020603050405020304" pitchFamily="18" charset="0"/>
                <a:ea typeface="Times New Roman" panose="02020603050405020304" pitchFamily="18" charset="0"/>
              </a:rPr>
              <a:t>With balanced supply (Figure 4(a))</a:t>
            </a:r>
            <a:endParaRPr lang="en-GB" sz="3200" dirty="0">
              <a:latin typeface="Times New Roman" panose="02020603050405020304" pitchFamily="18" charset="0"/>
              <a:ea typeface="Times New Roman" panose="02020603050405020304" pitchFamily="18" charset="0"/>
            </a:endParaRPr>
          </a:p>
          <a:p>
            <a:pPr marL="342900" marR="0" lvl="0" indent="-342900" algn="just">
              <a:lnSpc>
                <a:spcPct val="110000"/>
              </a:lnSpc>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phase voltages differ by 120</a:t>
            </a:r>
            <a:r>
              <a:rPr lang="en-GB" sz="3200" baseline="30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marL="342900" marR="0" lvl="0" indent="-342900" algn="just">
              <a:lnSpc>
                <a:spcPct val="110000"/>
              </a:lnSpc>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phase currents differ by 120</a:t>
            </a:r>
            <a:r>
              <a:rPr lang="en-GB" sz="3200" baseline="30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marL="342900" marR="0" lvl="0" indent="-342900" algn="just">
              <a:lnSpc>
                <a:spcPct val="110000"/>
              </a:lnSpc>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loads have same phase angle </a:t>
            </a:r>
            <a:endParaRPr lang="en-GB" sz="3200" dirty="0">
              <a:latin typeface="Times New Roman" panose="02020603050405020304" pitchFamily="18" charset="0"/>
              <a:ea typeface="Times New Roman" panose="02020603050405020304" pitchFamily="18" charset="0"/>
            </a:endParaRPr>
          </a:p>
          <a:p>
            <a:pPr marL="57150" marR="0" algn="just">
              <a:lnSpc>
                <a:spcPct val="110000"/>
              </a:lnSpc>
              <a:spcBef>
                <a:spcPts val="0"/>
              </a:spcBef>
              <a:spcAft>
                <a:spcPts val="0"/>
              </a:spcAft>
            </a:pPr>
            <a:r>
              <a:rPr lang="en-GB" sz="3200" dirty="0">
                <a:solidFill>
                  <a:srgbClr val="002060"/>
                </a:solidFill>
                <a:latin typeface="Times New Roman" panose="02020603050405020304" pitchFamily="18" charset="0"/>
                <a:ea typeface="Times New Roman" panose="02020603050405020304" pitchFamily="18" charset="0"/>
              </a:rPr>
              <a:t>Two configurations: </a:t>
            </a:r>
            <a:endParaRPr lang="en-GB" sz="3200" dirty="0">
              <a:latin typeface="Times New Roman" panose="02020603050405020304" pitchFamily="18" charset="0"/>
              <a:ea typeface="Times New Roman" panose="02020603050405020304" pitchFamily="18" charset="0"/>
            </a:endParaRPr>
          </a:p>
          <a:p>
            <a:pPr marL="342900" marR="0" lvl="0" indent="-342900" algn="just">
              <a:lnSpc>
                <a:spcPct val="110000"/>
              </a:lnSpc>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star connection</a:t>
            </a:r>
            <a:endParaRPr lang="en-GB" sz="3200" dirty="0">
              <a:latin typeface="Times New Roman" panose="02020603050405020304" pitchFamily="18" charset="0"/>
              <a:ea typeface="Times New Roman" panose="02020603050405020304" pitchFamily="18" charset="0"/>
            </a:endParaRPr>
          </a:p>
          <a:p>
            <a:pPr>
              <a:lnSpc>
                <a:spcPct val="110000"/>
              </a:lnSpc>
            </a:pPr>
            <a:r>
              <a:rPr lang="en-GB" sz="3200" dirty="0">
                <a:solidFill>
                  <a:srgbClr val="002060"/>
                </a:solidFill>
                <a:latin typeface="Times New Roman" panose="02020603050405020304" pitchFamily="18" charset="0"/>
                <a:ea typeface="Times New Roman" panose="02020603050405020304" pitchFamily="18" charset="0"/>
              </a:rPr>
              <a:t>delta connection. </a:t>
            </a:r>
            <a:endParaRPr lang="en-GB" sz="3200" dirty="0"/>
          </a:p>
        </p:txBody>
      </p:sp>
    </p:spTree>
    <p:extLst>
      <p:ext uri="{BB962C8B-B14F-4D97-AF65-F5344CB8AC3E}">
        <p14:creationId xmlns:p14="http://schemas.microsoft.com/office/powerpoint/2010/main" val="1249571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GB" dirty="0"/>
              <a:t>For same balanced load</a:t>
            </a:r>
          </a:p>
        </p:txBody>
      </p:sp>
      <p:sp>
        <p:nvSpPr>
          <p:cNvPr id="3" name="Rectangle 2">
            <a:extLst>
              <a:ext uri="{FF2B5EF4-FFF2-40B4-BE49-F238E27FC236}">
                <a16:creationId xmlns:a16="http://schemas.microsoft.com/office/drawing/2014/main" id="{BB525899-3CF5-41D1-B5DD-694E9DB8FDB9}"/>
              </a:ext>
            </a:extLst>
          </p:cNvPr>
          <p:cNvSpPr/>
          <p:nvPr/>
        </p:nvSpPr>
        <p:spPr>
          <a:xfrm>
            <a:off x="285336" y="1069162"/>
            <a:ext cx="6476411" cy="5632311"/>
          </a:xfrm>
          <a:prstGeom prst="rect">
            <a:avLst/>
          </a:prstGeom>
        </p:spPr>
        <p:txBody>
          <a:bodyPr wrap="square">
            <a:spAutoFit/>
          </a:bodyPr>
          <a:lstStyle/>
          <a:p>
            <a:pPr marL="342900" marR="0" lvl="0" indent="-342900">
              <a:spcBef>
                <a:spcPts val="0"/>
              </a:spcBef>
              <a:spcAft>
                <a:spcPts val="0"/>
              </a:spcAft>
              <a:buFont typeface="Symbol" panose="05050102010706020507" pitchFamily="18" charset="2"/>
              <a:buChar char=""/>
            </a:pPr>
            <a:r>
              <a:rPr lang="en-GB" sz="3000" dirty="0">
                <a:solidFill>
                  <a:srgbClr val="002060"/>
                </a:solidFill>
                <a:latin typeface="Times New Roman" panose="02020603050405020304" pitchFamily="18" charset="0"/>
                <a:ea typeface="Times New Roman" panose="02020603050405020304" pitchFamily="18" charset="0"/>
              </a:rPr>
              <a:t>each phase will have  same impedance </a:t>
            </a:r>
            <a:endParaRPr lang="en-GB" sz="30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GB" sz="3000" dirty="0">
                <a:solidFill>
                  <a:srgbClr val="002060"/>
                </a:solidFill>
                <a:latin typeface="Times New Roman" panose="02020603050405020304" pitchFamily="18" charset="0"/>
                <a:ea typeface="Times New Roman" panose="02020603050405020304" pitchFamily="18" charset="0"/>
              </a:rPr>
              <a:t>star impedance and delta impedance will be different.  </a:t>
            </a:r>
            <a:endParaRPr lang="en-GB" sz="3000" dirty="0">
              <a:latin typeface="Times New Roman" panose="02020603050405020304" pitchFamily="18" charset="0"/>
              <a:ea typeface="Times New Roman" panose="02020603050405020304" pitchFamily="18" charset="0"/>
            </a:endParaRPr>
          </a:p>
          <a:p>
            <a:pPr algn="just">
              <a:tabLst>
                <a:tab pos="857250" algn="l"/>
              </a:tabLst>
            </a:pPr>
            <a:r>
              <a:rPr lang="en-GB" sz="3000" dirty="0">
                <a:solidFill>
                  <a:srgbClr val="002060"/>
                </a:solidFill>
                <a:latin typeface="Times New Roman" panose="02020603050405020304" pitchFamily="18" charset="0"/>
                <a:ea typeface="Times New Roman" panose="02020603050405020304" pitchFamily="18" charset="0"/>
              </a:rPr>
              <a:t>  	</a:t>
            </a:r>
            <a:r>
              <a:rPr lang="en-GB" sz="3000" dirty="0" err="1">
                <a:solidFill>
                  <a:srgbClr val="002060"/>
                </a:solidFill>
                <a:latin typeface="Times New Roman" panose="02020603050405020304" pitchFamily="18" charset="0"/>
                <a:ea typeface="Times New Roman" panose="02020603050405020304" pitchFamily="18" charset="0"/>
              </a:rPr>
              <a:t>Z</a:t>
            </a:r>
            <a:r>
              <a:rPr lang="en-GB" sz="3000" baseline="-25000" dirty="0" err="1">
                <a:solidFill>
                  <a:srgbClr val="002060"/>
                </a:solidFill>
                <a:latin typeface="Times New Roman" panose="02020603050405020304" pitchFamily="18" charset="0"/>
                <a:ea typeface="Times New Roman" panose="02020603050405020304" pitchFamily="18" charset="0"/>
              </a:rPr>
              <a:t>D</a:t>
            </a:r>
            <a:r>
              <a:rPr lang="en-GB" sz="3000" dirty="0">
                <a:solidFill>
                  <a:srgbClr val="002060"/>
                </a:solidFill>
                <a:latin typeface="Times New Roman" panose="02020603050405020304" pitchFamily="18" charset="0"/>
                <a:ea typeface="Times New Roman" panose="02020603050405020304" pitchFamily="18" charset="0"/>
              </a:rPr>
              <a:t> = 3 </a:t>
            </a:r>
            <a:r>
              <a:rPr lang="en-GB" sz="3000" dirty="0" err="1">
                <a:solidFill>
                  <a:srgbClr val="002060"/>
                </a:solidFill>
                <a:latin typeface="Times New Roman" panose="02020603050405020304" pitchFamily="18" charset="0"/>
                <a:ea typeface="Times New Roman" panose="02020603050405020304" pitchFamily="18" charset="0"/>
              </a:rPr>
              <a:t>Z</a:t>
            </a:r>
            <a:r>
              <a:rPr lang="en-GB" sz="3000" baseline="-25000" dirty="0" err="1">
                <a:solidFill>
                  <a:srgbClr val="002060"/>
                </a:solidFill>
                <a:latin typeface="Times New Roman" panose="02020603050405020304" pitchFamily="18" charset="0"/>
                <a:ea typeface="Times New Roman" panose="02020603050405020304" pitchFamily="18" charset="0"/>
              </a:rPr>
              <a:t>s</a:t>
            </a:r>
            <a:endParaRPr lang="en-GB" sz="30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GB" sz="3000" dirty="0">
                <a:solidFill>
                  <a:srgbClr val="002060"/>
                </a:solidFill>
                <a:latin typeface="Times New Roman" panose="02020603050405020304" pitchFamily="18" charset="0"/>
                <a:ea typeface="Times New Roman" panose="02020603050405020304" pitchFamily="18" charset="0"/>
              </a:rPr>
              <a:t>phase angle of impedance, of star and of delta, is the same.</a:t>
            </a:r>
            <a:endParaRPr lang="en-GB" sz="3000" dirty="0">
              <a:latin typeface="Times New Roman" panose="02020603050405020304" pitchFamily="18" charset="0"/>
              <a:ea typeface="Times New Roman" panose="02020603050405020304" pitchFamily="18" charset="0"/>
            </a:endParaRPr>
          </a:p>
          <a:p>
            <a:r>
              <a:rPr lang="en-GB" sz="3000" dirty="0">
                <a:solidFill>
                  <a:srgbClr val="002060"/>
                </a:solidFill>
                <a:latin typeface="Times New Roman" panose="02020603050405020304" pitchFamily="18" charset="0"/>
                <a:ea typeface="Times New Roman" panose="02020603050405020304" pitchFamily="18" charset="0"/>
              </a:rPr>
              <a:t>Note: In the delta, the voltage is </a:t>
            </a:r>
            <a:r>
              <a:rPr lang="en-GB" sz="30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000" dirty="0">
                <a:solidFill>
                  <a:srgbClr val="002060"/>
                </a:solidFill>
                <a:latin typeface="Times New Roman" panose="02020603050405020304" pitchFamily="18" charset="0"/>
                <a:ea typeface="Times New Roman" panose="02020603050405020304" pitchFamily="18" charset="0"/>
              </a:rPr>
              <a:t>3 times larger and the current </a:t>
            </a:r>
            <a:r>
              <a:rPr lang="en-GB" sz="30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000" dirty="0">
                <a:solidFill>
                  <a:srgbClr val="002060"/>
                </a:solidFill>
                <a:latin typeface="Times New Roman" panose="02020603050405020304" pitchFamily="18" charset="0"/>
                <a:ea typeface="Times New Roman" panose="02020603050405020304" pitchFamily="18" charset="0"/>
              </a:rPr>
              <a:t>3 times smaller, giving the impedance 3 times larger.  </a:t>
            </a:r>
            <a:endParaRPr lang="en-GB" sz="3000" dirty="0">
              <a:latin typeface="Times New Roman" panose="02020603050405020304" pitchFamily="18" charset="0"/>
              <a:ea typeface="Times New Roman" panose="02020603050405020304" pitchFamily="18" charset="0"/>
            </a:endParaRPr>
          </a:p>
          <a:p>
            <a:r>
              <a:rPr lang="en-GB" sz="3000" dirty="0">
                <a:solidFill>
                  <a:srgbClr val="002060"/>
                </a:solidFill>
                <a:latin typeface="Times New Roman" panose="02020603050405020304" pitchFamily="18" charset="0"/>
                <a:ea typeface="Times New Roman" panose="02020603050405020304" pitchFamily="18" charset="0"/>
              </a:rPr>
              <a:t>The equivalent power is unaffected by transformation.</a:t>
            </a:r>
            <a:endParaRPr lang="en-GB" sz="3000" dirty="0">
              <a:effectLst/>
              <a:latin typeface="Times New Roman" panose="02020603050405020304" pitchFamily="18" charset="0"/>
              <a:ea typeface="Times New Roman" panose="02020603050405020304" pitchFamily="18" charset="0"/>
            </a:endParaRPr>
          </a:p>
        </p:txBody>
      </p:sp>
      <p:grpSp>
        <p:nvGrpSpPr>
          <p:cNvPr id="42" name="Group 41">
            <a:extLst>
              <a:ext uri="{FF2B5EF4-FFF2-40B4-BE49-F238E27FC236}">
                <a16:creationId xmlns:a16="http://schemas.microsoft.com/office/drawing/2014/main" id="{D6E4054D-6943-47E6-9656-6165343356D3}"/>
              </a:ext>
            </a:extLst>
          </p:cNvPr>
          <p:cNvGrpSpPr/>
          <p:nvPr/>
        </p:nvGrpSpPr>
        <p:grpSpPr>
          <a:xfrm>
            <a:off x="6387622" y="1479650"/>
            <a:ext cx="5522651" cy="3540934"/>
            <a:chOff x="6387622" y="1479650"/>
            <a:chExt cx="5522651" cy="3540934"/>
          </a:xfrm>
        </p:grpSpPr>
        <p:grpSp>
          <p:nvGrpSpPr>
            <p:cNvPr id="6" name="Group 5">
              <a:extLst>
                <a:ext uri="{FF2B5EF4-FFF2-40B4-BE49-F238E27FC236}">
                  <a16:creationId xmlns:a16="http://schemas.microsoft.com/office/drawing/2014/main" id="{38999158-C364-494B-ADA8-375F02A4914F}"/>
                </a:ext>
              </a:extLst>
            </p:cNvPr>
            <p:cNvGrpSpPr>
              <a:grpSpLocks noChangeAspect="1"/>
            </p:cNvGrpSpPr>
            <p:nvPr/>
          </p:nvGrpSpPr>
          <p:grpSpPr>
            <a:xfrm>
              <a:off x="7165499" y="1479650"/>
              <a:ext cx="4741165" cy="2434107"/>
              <a:chOff x="0" y="0"/>
              <a:chExt cx="5926923" cy="3042725"/>
            </a:xfrm>
          </p:grpSpPr>
          <p:grpSp>
            <p:nvGrpSpPr>
              <p:cNvPr id="7" name="Group 6">
                <a:extLst>
                  <a:ext uri="{FF2B5EF4-FFF2-40B4-BE49-F238E27FC236}">
                    <a16:creationId xmlns:a16="http://schemas.microsoft.com/office/drawing/2014/main" id="{D5A1396C-8DC0-44ED-BC7A-BF2B2B20B43B}"/>
                  </a:ext>
                </a:extLst>
              </p:cNvPr>
              <p:cNvGrpSpPr>
                <a:grpSpLocks noChangeAspect="1"/>
              </p:cNvGrpSpPr>
              <p:nvPr/>
            </p:nvGrpSpPr>
            <p:grpSpPr bwMode="auto">
              <a:xfrm>
                <a:off x="335145" y="70923"/>
                <a:ext cx="2131695" cy="2971802"/>
                <a:chOff x="7779" y="1072"/>
                <a:chExt cx="1680" cy="2342"/>
              </a:xfrm>
            </p:grpSpPr>
            <p:grpSp>
              <p:nvGrpSpPr>
                <p:cNvPr id="27" name="Group 26">
                  <a:extLst>
                    <a:ext uri="{FF2B5EF4-FFF2-40B4-BE49-F238E27FC236}">
                      <a16:creationId xmlns:a16="http://schemas.microsoft.com/office/drawing/2014/main" id="{52B2053E-2DD3-4B68-A67D-ABC687A06141}"/>
                    </a:ext>
                  </a:extLst>
                </p:cNvPr>
                <p:cNvGrpSpPr>
                  <a:grpSpLocks noChangeAspect="1"/>
                </p:cNvGrpSpPr>
                <p:nvPr/>
              </p:nvGrpSpPr>
              <p:grpSpPr bwMode="auto">
                <a:xfrm rot="5400000">
                  <a:off x="8719" y="1615"/>
                  <a:ext cx="215" cy="1264"/>
                  <a:chOff x="9878" y="1418"/>
                  <a:chExt cx="360" cy="1800"/>
                </a:xfrm>
              </p:grpSpPr>
              <p:sp>
                <p:nvSpPr>
                  <p:cNvPr id="36" name="Rectangle 35">
                    <a:extLst>
                      <a:ext uri="{FF2B5EF4-FFF2-40B4-BE49-F238E27FC236}">
                        <a16:creationId xmlns:a16="http://schemas.microsoft.com/office/drawing/2014/main" id="{5D3A261D-5AE1-4CA0-9C13-37F240B6C873}"/>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37" name="Line 108">
                    <a:extLst>
                      <a:ext uri="{FF2B5EF4-FFF2-40B4-BE49-F238E27FC236}">
                        <a16:creationId xmlns:a16="http://schemas.microsoft.com/office/drawing/2014/main" id="{E33C997B-AFAC-4EAF-B4F1-B1D430D97EEE}"/>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8" name="Line 109">
                    <a:extLst>
                      <a:ext uri="{FF2B5EF4-FFF2-40B4-BE49-F238E27FC236}">
                        <a16:creationId xmlns:a16="http://schemas.microsoft.com/office/drawing/2014/main" id="{2E694702-9810-4E42-BA71-1CBE116A9936}"/>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28" name="Group 27">
                  <a:extLst>
                    <a:ext uri="{FF2B5EF4-FFF2-40B4-BE49-F238E27FC236}">
                      <a16:creationId xmlns:a16="http://schemas.microsoft.com/office/drawing/2014/main" id="{498E9429-DA77-4387-BE78-DBFB925D412F}"/>
                    </a:ext>
                  </a:extLst>
                </p:cNvPr>
                <p:cNvGrpSpPr>
                  <a:grpSpLocks noChangeAspect="1"/>
                </p:cNvGrpSpPr>
                <p:nvPr/>
              </p:nvGrpSpPr>
              <p:grpSpPr bwMode="auto">
                <a:xfrm rot="19800000">
                  <a:off x="7779" y="1072"/>
                  <a:ext cx="215" cy="1264"/>
                  <a:chOff x="9878" y="1418"/>
                  <a:chExt cx="360" cy="1800"/>
                </a:xfrm>
              </p:grpSpPr>
              <p:sp>
                <p:nvSpPr>
                  <p:cNvPr id="33" name="Rectangle 32">
                    <a:extLst>
                      <a:ext uri="{FF2B5EF4-FFF2-40B4-BE49-F238E27FC236}">
                        <a16:creationId xmlns:a16="http://schemas.microsoft.com/office/drawing/2014/main" id="{122B4C1C-1E38-462A-86ED-CB3138F5812D}"/>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34" name="Line 112">
                    <a:extLst>
                      <a:ext uri="{FF2B5EF4-FFF2-40B4-BE49-F238E27FC236}">
                        <a16:creationId xmlns:a16="http://schemas.microsoft.com/office/drawing/2014/main" id="{25AA5E09-1F6B-4660-8B0E-ECDEB1D62691}"/>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5" name="Line 113">
                    <a:extLst>
                      <a:ext uri="{FF2B5EF4-FFF2-40B4-BE49-F238E27FC236}">
                        <a16:creationId xmlns:a16="http://schemas.microsoft.com/office/drawing/2014/main" id="{8AFF8303-BEF9-467A-994B-846C0AE88AD5}"/>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29" name="Group 28">
                  <a:extLst>
                    <a:ext uri="{FF2B5EF4-FFF2-40B4-BE49-F238E27FC236}">
                      <a16:creationId xmlns:a16="http://schemas.microsoft.com/office/drawing/2014/main" id="{C2456529-7E51-4583-9DD7-E4FAB71D5F9F}"/>
                    </a:ext>
                  </a:extLst>
                </p:cNvPr>
                <p:cNvGrpSpPr>
                  <a:grpSpLocks noChangeAspect="1"/>
                </p:cNvGrpSpPr>
                <p:nvPr/>
              </p:nvGrpSpPr>
              <p:grpSpPr bwMode="auto">
                <a:xfrm rot="1800000" flipV="1">
                  <a:off x="7779" y="2150"/>
                  <a:ext cx="215" cy="1264"/>
                  <a:chOff x="9878" y="1418"/>
                  <a:chExt cx="360" cy="1800"/>
                </a:xfrm>
              </p:grpSpPr>
              <p:sp>
                <p:nvSpPr>
                  <p:cNvPr id="30" name="Rectangle 29">
                    <a:extLst>
                      <a:ext uri="{FF2B5EF4-FFF2-40B4-BE49-F238E27FC236}">
                        <a16:creationId xmlns:a16="http://schemas.microsoft.com/office/drawing/2014/main" id="{8CCD2688-8723-4837-B84B-3D3CAB331CF0}"/>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31" name="Line 116">
                    <a:extLst>
                      <a:ext uri="{FF2B5EF4-FFF2-40B4-BE49-F238E27FC236}">
                        <a16:creationId xmlns:a16="http://schemas.microsoft.com/office/drawing/2014/main" id="{6825289B-1D41-48F0-8D75-583507DAAC11}"/>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2" name="Line 117">
                    <a:extLst>
                      <a:ext uri="{FF2B5EF4-FFF2-40B4-BE49-F238E27FC236}">
                        <a16:creationId xmlns:a16="http://schemas.microsoft.com/office/drawing/2014/main" id="{34BE45C8-8341-4611-AED6-16DC36E0D380}"/>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grpSp>
            <p:nvGrpSpPr>
              <p:cNvPr id="8" name="Group 7">
                <a:extLst>
                  <a:ext uri="{FF2B5EF4-FFF2-40B4-BE49-F238E27FC236}">
                    <a16:creationId xmlns:a16="http://schemas.microsoft.com/office/drawing/2014/main" id="{12C85302-87B1-4B1A-9EE8-51B84102FBE4}"/>
                  </a:ext>
                </a:extLst>
              </p:cNvPr>
              <p:cNvGrpSpPr>
                <a:grpSpLocks noChangeAspect="1"/>
              </p:cNvGrpSpPr>
              <p:nvPr/>
            </p:nvGrpSpPr>
            <p:grpSpPr bwMode="auto">
              <a:xfrm rot="5400000">
                <a:off x="4273465" y="1224999"/>
                <a:ext cx="276225" cy="2776856"/>
                <a:chOff x="9878" y="1418"/>
                <a:chExt cx="360" cy="1800"/>
              </a:xfrm>
            </p:grpSpPr>
            <p:sp>
              <p:nvSpPr>
                <p:cNvPr id="24" name="Rectangle 23">
                  <a:extLst>
                    <a:ext uri="{FF2B5EF4-FFF2-40B4-BE49-F238E27FC236}">
                      <a16:creationId xmlns:a16="http://schemas.microsoft.com/office/drawing/2014/main" id="{8F595FDD-3FF0-478F-AB37-767CBB272669}"/>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25" name="Line 120">
                  <a:extLst>
                    <a:ext uri="{FF2B5EF4-FFF2-40B4-BE49-F238E27FC236}">
                      <a16:creationId xmlns:a16="http://schemas.microsoft.com/office/drawing/2014/main" id="{B0BFFEE3-35E3-42F4-834E-9CF841862AB8}"/>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6" name="Line 121">
                  <a:extLst>
                    <a:ext uri="{FF2B5EF4-FFF2-40B4-BE49-F238E27FC236}">
                      <a16:creationId xmlns:a16="http://schemas.microsoft.com/office/drawing/2014/main" id="{2A16EDB8-6522-47FC-AB1F-6512830FDACA}"/>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9" name="Group 8">
                <a:extLst>
                  <a:ext uri="{FF2B5EF4-FFF2-40B4-BE49-F238E27FC236}">
                    <a16:creationId xmlns:a16="http://schemas.microsoft.com/office/drawing/2014/main" id="{98C6B7AF-44E4-492C-8420-4585DD677A59}"/>
                  </a:ext>
                </a:extLst>
              </p:cNvPr>
              <p:cNvGrpSpPr>
                <a:grpSpLocks noChangeAspect="1"/>
              </p:cNvGrpSpPr>
              <p:nvPr/>
            </p:nvGrpSpPr>
            <p:grpSpPr bwMode="auto">
              <a:xfrm rot="19800000">
                <a:off x="4975059" y="0"/>
                <a:ext cx="276225" cy="2776220"/>
                <a:chOff x="9878" y="1418"/>
                <a:chExt cx="360" cy="1800"/>
              </a:xfrm>
            </p:grpSpPr>
            <p:sp>
              <p:nvSpPr>
                <p:cNvPr id="21" name="Rectangle 20">
                  <a:extLst>
                    <a:ext uri="{FF2B5EF4-FFF2-40B4-BE49-F238E27FC236}">
                      <a16:creationId xmlns:a16="http://schemas.microsoft.com/office/drawing/2014/main" id="{47AB0BE4-9B33-43EE-81E8-70CD0F7A388C}"/>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22" name="Line 124">
                  <a:extLst>
                    <a:ext uri="{FF2B5EF4-FFF2-40B4-BE49-F238E27FC236}">
                      <a16:creationId xmlns:a16="http://schemas.microsoft.com/office/drawing/2014/main" id="{260A8C49-9AEA-45D5-B96B-ED1B3950F5D3}"/>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3" name="Line 125">
                  <a:extLst>
                    <a:ext uri="{FF2B5EF4-FFF2-40B4-BE49-F238E27FC236}">
                      <a16:creationId xmlns:a16="http://schemas.microsoft.com/office/drawing/2014/main" id="{031C58B6-A1D8-4DBA-94F2-011FF3A873FB}"/>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10" name="Group 9">
                <a:extLst>
                  <a:ext uri="{FF2B5EF4-FFF2-40B4-BE49-F238E27FC236}">
                    <a16:creationId xmlns:a16="http://schemas.microsoft.com/office/drawing/2014/main" id="{5FBE6458-F3BE-4691-BAE3-AAEBEE9DCEE9}"/>
                  </a:ext>
                </a:extLst>
              </p:cNvPr>
              <p:cNvGrpSpPr>
                <a:grpSpLocks noChangeAspect="1"/>
              </p:cNvGrpSpPr>
              <p:nvPr/>
            </p:nvGrpSpPr>
            <p:grpSpPr bwMode="auto">
              <a:xfrm rot="1800000" flipH="1">
                <a:off x="3555331" y="0"/>
                <a:ext cx="276225" cy="2776220"/>
                <a:chOff x="9878" y="1418"/>
                <a:chExt cx="360" cy="1800"/>
              </a:xfrm>
            </p:grpSpPr>
            <p:sp>
              <p:nvSpPr>
                <p:cNvPr id="18" name="Rectangle 17">
                  <a:extLst>
                    <a:ext uri="{FF2B5EF4-FFF2-40B4-BE49-F238E27FC236}">
                      <a16:creationId xmlns:a16="http://schemas.microsoft.com/office/drawing/2014/main" id="{47B6F6E4-D260-45BB-8AFA-0BECD6D5A26B}"/>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9" name="Line 128">
                  <a:extLst>
                    <a:ext uri="{FF2B5EF4-FFF2-40B4-BE49-F238E27FC236}">
                      <a16:creationId xmlns:a16="http://schemas.microsoft.com/office/drawing/2014/main" id="{E5A13E46-DFE7-4B60-AA9F-243D99D02784}"/>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0" name="Line 129">
                  <a:extLst>
                    <a:ext uri="{FF2B5EF4-FFF2-40B4-BE49-F238E27FC236}">
                      <a16:creationId xmlns:a16="http://schemas.microsoft.com/office/drawing/2014/main" id="{4C35A054-0789-4967-849F-CBE5F8331D1F}"/>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sp>
            <p:nvSpPr>
              <p:cNvPr id="11" name="Text Box 132">
                <a:extLst>
                  <a:ext uri="{FF2B5EF4-FFF2-40B4-BE49-F238E27FC236}">
                    <a16:creationId xmlns:a16="http://schemas.microsoft.com/office/drawing/2014/main" id="{DBA7EB99-6755-4BBF-AA49-82DB78C963D6}"/>
                  </a:ext>
                </a:extLst>
              </p:cNvPr>
              <p:cNvSpPr txBox="1">
                <a:spLocks noChangeAspect="1" noChangeArrowheads="1"/>
              </p:cNvSpPr>
              <p:nvPr/>
            </p:nvSpPr>
            <p:spPr bwMode="auto">
              <a:xfrm>
                <a:off x="0" y="916542"/>
                <a:ext cx="516523" cy="603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 Box 133">
                <a:extLst>
                  <a:ext uri="{FF2B5EF4-FFF2-40B4-BE49-F238E27FC236}">
                    <a16:creationId xmlns:a16="http://schemas.microsoft.com/office/drawing/2014/main" id="{589CB3B4-46D1-4A4D-BD5A-7E7730C081D5}"/>
                  </a:ext>
                </a:extLst>
              </p:cNvPr>
              <p:cNvSpPr txBox="1">
                <a:spLocks noChangeAspect="1" noChangeArrowheads="1"/>
              </p:cNvSpPr>
              <p:nvPr/>
            </p:nvSpPr>
            <p:spPr bwMode="auto">
              <a:xfrm>
                <a:off x="1515979" y="655715"/>
                <a:ext cx="667713" cy="756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 Box 134">
                <a:extLst>
                  <a:ext uri="{FF2B5EF4-FFF2-40B4-BE49-F238E27FC236}">
                    <a16:creationId xmlns:a16="http://schemas.microsoft.com/office/drawing/2014/main" id="{90A9399E-B430-49E5-B0CD-D427BB30F429}"/>
                  </a:ext>
                </a:extLst>
              </p:cNvPr>
              <p:cNvSpPr txBox="1">
                <a:spLocks noChangeAspect="1" noChangeArrowheads="1"/>
              </p:cNvSpPr>
              <p:nvPr/>
            </p:nvSpPr>
            <p:spPr bwMode="auto">
              <a:xfrm>
                <a:off x="673768" y="2069431"/>
                <a:ext cx="669745" cy="8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Box 135">
                <a:extLst>
                  <a:ext uri="{FF2B5EF4-FFF2-40B4-BE49-F238E27FC236}">
                    <a16:creationId xmlns:a16="http://schemas.microsoft.com/office/drawing/2014/main" id="{BFA5C803-3CF7-4F38-81F0-AC46A180F867}"/>
                  </a:ext>
                </a:extLst>
              </p:cNvPr>
              <p:cNvSpPr txBox="1">
                <a:spLocks noChangeAspect="1" noChangeArrowheads="1"/>
              </p:cNvSpPr>
              <p:nvPr/>
            </p:nvSpPr>
            <p:spPr bwMode="auto">
              <a:xfrm>
                <a:off x="2941714" y="764002"/>
                <a:ext cx="657861" cy="55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D</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 Box 136">
                <a:extLst>
                  <a:ext uri="{FF2B5EF4-FFF2-40B4-BE49-F238E27FC236}">
                    <a16:creationId xmlns:a16="http://schemas.microsoft.com/office/drawing/2014/main" id="{9996675F-81EC-4B55-900E-8E128C721286}"/>
                  </a:ext>
                </a:extLst>
              </p:cNvPr>
              <p:cNvSpPr txBox="1">
                <a:spLocks noChangeAspect="1" noChangeArrowheads="1"/>
              </p:cNvSpPr>
              <p:nvPr/>
            </p:nvSpPr>
            <p:spPr bwMode="auto">
              <a:xfrm>
                <a:off x="5317958" y="938463"/>
                <a:ext cx="608965"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 Box 137">
                <a:extLst>
                  <a:ext uri="{FF2B5EF4-FFF2-40B4-BE49-F238E27FC236}">
                    <a16:creationId xmlns:a16="http://schemas.microsoft.com/office/drawing/2014/main" id="{9D16F51F-0567-4FCA-9C5D-7BB4885ABA43}"/>
                  </a:ext>
                </a:extLst>
              </p:cNvPr>
              <p:cNvSpPr txBox="1">
                <a:spLocks noChangeAspect="1" noChangeArrowheads="1"/>
              </p:cNvSpPr>
              <p:nvPr/>
            </p:nvSpPr>
            <p:spPr bwMode="auto">
              <a:xfrm>
                <a:off x="4162926" y="1876927"/>
                <a:ext cx="591820" cy="591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39" name="Rectangle 38">
              <a:extLst>
                <a:ext uri="{FF2B5EF4-FFF2-40B4-BE49-F238E27FC236}">
                  <a16:creationId xmlns:a16="http://schemas.microsoft.com/office/drawing/2014/main" id="{960CFE4C-92B9-4979-844E-5E177B7D1857}"/>
                </a:ext>
              </a:extLst>
            </p:cNvPr>
            <p:cNvSpPr/>
            <p:nvPr/>
          </p:nvSpPr>
          <p:spPr>
            <a:xfrm>
              <a:off x="6387622" y="4016407"/>
              <a:ext cx="2541080" cy="461665"/>
            </a:xfrm>
            <a:prstGeom prst="rect">
              <a:avLst/>
            </a:prstGeom>
          </p:spPr>
          <p:txBody>
            <a:bodyPr wrap="none">
              <a:spAutoFit/>
            </a:bodyPr>
            <a:lstStyle/>
            <a:p>
              <a:r>
                <a:rPr lang="en-GB" sz="2400" dirty="0">
                  <a:solidFill>
                    <a:srgbClr val="002060"/>
                  </a:solidFill>
                  <a:latin typeface="Times New Roman" panose="02020603050405020304" pitchFamily="18" charset="0"/>
                  <a:ea typeface="Times New Roman" panose="02020603050405020304" pitchFamily="18" charset="0"/>
                </a:rPr>
                <a:t>(b) Star connection</a:t>
              </a:r>
              <a:endParaRPr lang="en-GB" sz="2400" dirty="0">
                <a:effectLst/>
                <a:latin typeface="Times New Roman" panose="02020603050405020304" pitchFamily="18" charset="0"/>
                <a:ea typeface="Times New Roman" panose="02020603050405020304" pitchFamily="18" charset="0"/>
              </a:endParaRPr>
            </a:p>
          </p:txBody>
        </p:sp>
        <p:sp>
          <p:nvSpPr>
            <p:cNvPr id="40" name="Rectangle 39">
              <a:extLst>
                <a:ext uri="{FF2B5EF4-FFF2-40B4-BE49-F238E27FC236}">
                  <a16:creationId xmlns:a16="http://schemas.microsoft.com/office/drawing/2014/main" id="{205F17E7-7538-473D-AC04-5D8720B28EC0}"/>
                </a:ext>
              </a:extLst>
            </p:cNvPr>
            <p:cNvSpPr/>
            <p:nvPr/>
          </p:nvSpPr>
          <p:spPr>
            <a:xfrm>
              <a:off x="9216907" y="3980951"/>
              <a:ext cx="2693366" cy="461665"/>
            </a:xfrm>
            <a:prstGeom prst="rect">
              <a:avLst/>
            </a:prstGeom>
          </p:spPr>
          <p:txBody>
            <a:bodyPr wrap="none">
              <a:spAutoFit/>
            </a:bodyPr>
            <a:lstStyle/>
            <a:p>
              <a:r>
                <a:rPr lang="en-GB" sz="2400" dirty="0">
                  <a:solidFill>
                    <a:srgbClr val="002060"/>
                  </a:solidFill>
                  <a:latin typeface="Times New Roman" panose="02020603050405020304" pitchFamily="18" charset="0"/>
                  <a:ea typeface="Times New Roman" panose="02020603050405020304" pitchFamily="18" charset="0"/>
                </a:rPr>
                <a:t>(c) Delta connection</a:t>
              </a:r>
              <a:endParaRPr lang="en-GB" sz="1100" dirty="0">
                <a:effectLst/>
                <a:latin typeface="Times New Roman" panose="02020603050405020304" pitchFamily="18" charset="0"/>
                <a:ea typeface="Times New Roman" panose="02020603050405020304" pitchFamily="18" charset="0"/>
              </a:endParaRPr>
            </a:p>
          </p:txBody>
        </p:sp>
        <p:sp>
          <p:nvSpPr>
            <p:cNvPr id="41" name="Rectangle 40">
              <a:extLst>
                <a:ext uri="{FF2B5EF4-FFF2-40B4-BE49-F238E27FC236}">
                  <a16:creationId xmlns:a16="http://schemas.microsoft.com/office/drawing/2014/main" id="{19EC3B13-B9E2-481B-9DE0-F210432B9214}"/>
                </a:ext>
              </a:extLst>
            </p:cNvPr>
            <p:cNvSpPr/>
            <p:nvPr/>
          </p:nvSpPr>
          <p:spPr>
            <a:xfrm>
              <a:off x="8645251" y="4497364"/>
              <a:ext cx="1481496" cy="523220"/>
            </a:xfrm>
            <a:prstGeom prst="rect">
              <a:avLst/>
            </a:prstGeom>
          </p:spPr>
          <p:txBody>
            <a:bodyPr wrap="none">
              <a:spAutoFit/>
            </a:bodyPr>
            <a:lstStyle/>
            <a:p>
              <a:r>
                <a:rPr lang="en-GB" sz="2800" dirty="0">
                  <a:solidFill>
                    <a:srgbClr val="002060"/>
                  </a:solidFill>
                  <a:latin typeface="Times New Roman" panose="02020603050405020304" pitchFamily="18" charset="0"/>
                  <a:ea typeface="Times New Roman" panose="02020603050405020304" pitchFamily="18" charset="0"/>
                </a:rPr>
                <a:t>Figure 4 </a:t>
              </a:r>
              <a:endParaRPr lang="en-GB" sz="2800" dirty="0"/>
            </a:p>
          </p:txBody>
        </p:sp>
      </p:grpSp>
    </p:spTree>
    <p:extLst>
      <p:ext uri="{BB962C8B-B14F-4D97-AF65-F5344CB8AC3E}">
        <p14:creationId xmlns:p14="http://schemas.microsoft.com/office/powerpoint/2010/main" val="660487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GB" dirty="0"/>
              <a:t>Three Phase Power</a:t>
            </a:r>
          </a:p>
        </p:txBody>
      </p:sp>
      <p:sp>
        <p:nvSpPr>
          <p:cNvPr id="3" name="Rectangle 2">
            <a:extLst>
              <a:ext uri="{FF2B5EF4-FFF2-40B4-BE49-F238E27FC236}">
                <a16:creationId xmlns:a16="http://schemas.microsoft.com/office/drawing/2014/main" id="{BC4B9B0C-B22C-40D5-8427-EDA456C2E653}"/>
              </a:ext>
            </a:extLst>
          </p:cNvPr>
          <p:cNvSpPr/>
          <p:nvPr/>
        </p:nvSpPr>
        <p:spPr>
          <a:xfrm>
            <a:off x="429715" y="1086384"/>
            <a:ext cx="11385296" cy="5468420"/>
          </a:xfrm>
          <a:prstGeom prst="rect">
            <a:avLst/>
          </a:prstGeom>
        </p:spPr>
        <p:txBody>
          <a:bodyPr wrap="square">
            <a:spAutoFit/>
          </a:bodyPr>
          <a:lstStyle/>
          <a:p>
            <a:pPr algn="just">
              <a:lnSpc>
                <a:spcPct val="110000"/>
              </a:lnSpc>
            </a:pPr>
            <a:r>
              <a:rPr lang="en-GB" sz="3200" dirty="0">
                <a:solidFill>
                  <a:srgbClr val="002060"/>
                </a:solidFill>
                <a:latin typeface="Times New Roman" panose="02020603050405020304" pitchFamily="18" charset="0"/>
                <a:ea typeface="Times New Roman" panose="02020603050405020304" pitchFamily="18" charset="0"/>
              </a:rPr>
              <a:t>With single phase,	P  =  V I cos </a:t>
            </a:r>
            <a:r>
              <a:rPr lang="en-GB" sz="3200" dirty="0">
                <a:solidFill>
                  <a:srgbClr val="002060"/>
                </a:solidFill>
                <a:latin typeface="Symbol" panose="05050102010706020507" pitchFamily="18" charset="2"/>
                <a:ea typeface="Times New Roman" panose="02020603050405020304" pitchFamily="18" charset="0"/>
              </a:rPr>
              <a:t>f</a:t>
            </a:r>
            <a:endParaRPr lang="en-GB" sz="3200" dirty="0">
              <a:latin typeface="Times New Roman" panose="02020603050405020304" pitchFamily="18" charset="0"/>
              <a:ea typeface="Times New Roman" panose="02020603050405020304" pitchFamily="18" charset="0"/>
            </a:endParaRPr>
          </a:p>
          <a:p>
            <a:pPr algn="just">
              <a:lnSpc>
                <a:spcPct val="110000"/>
              </a:lnSpc>
            </a:pPr>
            <a:r>
              <a:rPr lang="en-GB" sz="3200" dirty="0">
                <a:solidFill>
                  <a:srgbClr val="002060"/>
                </a:solidFill>
                <a:latin typeface="Times New Roman" panose="02020603050405020304" pitchFamily="18" charset="0"/>
                <a:ea typeface="Times New Roman" panose="02020603050405020304" pitchFamily="18" charset="0"/>
              </a:rPr>
              <a:t>With three phase, 	P = 3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 I</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 cos </a:t>
            </a:r>
            <a:r>
              <a:rPr lang="en-GB" sz="3200" dirty="0">
                <a:solidFill>
                  <a:srgbClr val="002060"/>
                </a:solidFill>
                <a:latin typeface="Symbol" panose="05050102010706020507" pitchFamily="18" charset="2"/>
                <a:ea typeface="Times New Roman" panose="02020603050405020304" pitchFamily="18" charset="0"/>
              </a:rPr>
              <a:t>f</a:t>
            </a:r>
            <a:endParaRPr lang="en-GB" sz="3200" dirty="0">
              <a:latin typeface="Times New Roman" panose="02020603050405020304" pitchFamily="18" charset="0"/>
              <a:ea typeface="Times New Roman" panose="02020603050405020304" pitchFamily="18" charset="0"/>
            </a:endParaRPr>
          </a:p>
          <a:p>
            <a:pPr algn="just">
              <a:lnSpc>
                <a:spcPct val="110000"/>
              </a:lnSpc>
            </a:pPr>
            <a:r>
              <a:rPr lang="en-GB" sz="3200" dirty="0">
                <a:solidFill>
                  <a:srgbClr val="002060"/>
                </a:solidFill>
                <a:latin typeface="Times New Roman" panose="02020603050405020304" pitchFamily="18" charset="0"/>
                <a:ea typeface="Times New Roman" panose="02020603050405020304" pitchFamily="18" charset="0"/>
              </a:rPr>
              <a:t>Neutral not always available to measure phase voltage.</a:t>
            </a:r>
            <a:endParaRPr lang="en-GB" sz="3200" dirty="0">
              <a:latin typeface="Times New Roman" panose="02020603050405020304" pitchFamily="18" charset="0"/>
              <a:ea typeface="Times New Roman" panose="02020603050405020304" pitchFamily="18" charset="0"/>
            </a:endParaRPr>
          </a:p>
          <a:p>
            <a:pPr algn="just">
              <a:lnSpc>
                <a:spcPct val="110000"/>
              </a:lnSpc>
            </a:pPr>
            <a:r>
              <a:rPr lang="en-GB" sz="3200" dirty="0">
                <a:solidFill>
                  <a:srgbClr val="002060"/>
                </a:solidFill>
                <a:latin typeface="Times New Roman" panose="02020603050405020304" pitchFamily="18" charset="0"/>
                <a:ea typeface="Times New Roman" panose="02020603050405020304" pitchFamily="18" charset="0"/>
              </a:rPr>
              <a:t>Also current inside delta not be directly available.</a:t>
            </a:r>
            <a:endParaRPr lang="en-GB" sz="3200" dirty="0">
              <a:latin typeface="Times New Roman" panose="02020603050405020304" pitchFamily="18" charset="0"/>
              <a:ea typeface="Times New Roman" panose="02020603050405020304" pitchFamily="18" charset="0"/>
            </a:endParaRPr>
          </a:p>
          <a:p>
            <a:pPr algn="just">
              <a:lnSpc>
                <a:spcPct val="110000"/>
              </a:lnSpc>
            </a:pPr>
            <a:r>
              <a:rPr lang="en-GB" sz="3200" dirty="0">
                <a:solidFill>
                  <a:srgbClr val="002060"/>
                </a:solidFill>
                <a:latin typeface="Times New Roman" panose="02020603050405020304" pitchFamily="18" charset="0"/>
                <a:ea typeface="Times New Roman" panose="02020603050405020304" pitchFamily="18" charset="0"/>
              </a:rPr>
              <a:t>Usual to express power associated in terms of line voltage </a:t>
            </a:r>
            <a:r>
              <a:rPr lang="en-GB" sz="3200" b="1" dirty="0" err="1">
                <a:solidFill>
                  <a:srgbClr val="002060"/>
                </a:solidFill>
                <a:latin typeface="Times New Roman" panose="02020603050405020304" pitchFamily="18" charset="0"/>
                <a:ea typeface="Times New Roman" panose="02020603050405020304" pitchFamily="18" charset="0"/>
              </a:rPr>
              <a:t>V</a:t>
            </a:r>
            <a:r>
              <a:rPr lang="en-GB" sz="3200" b="1" baseline="-25000" dirty="0" err="1">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and line current </a:t>
            </a:r>
            <a:r>
              <a:rPr lang="en-GB" sz="3200" b="1" dirty="0">
                <a:solidFill>
                  <a:srgbClr val="002060"/>
                </a:solidFill>
                <a:latin typeface="Times New Roman" panose="02020603050405020304" pitchFamily="18" charset="0"/>
                <a:ea typeface="Times New Roman" panose="02020603050405020304" pitchFamily="18" charset="0"/>
              </a:rPr>
              <a:t>I</a:t>
            </a:r>
            <a:r>
              <a:rPr lang="en-GB" sz="3200" b="1"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a:lnSpc>
                <a:spcPct val="110000"/>
              </a:lnSpc>
            </a:pPr>
            <a:r>
              <a:rPr lang="en-GB" sz="3200" dirty="0">
                <a:solidFill>
                  <a:srgbClr val="002060"/>
                </a:solidFill>
                <a:latin typeface="Times New Roman" panose="02020603050405020304" pitchFamily="18" charset="0"/>
                <a:ea typeface="Times New Roman" panose="02020603050405020304" pitchFamily="18" charset="0"/>
              </a:rPr>
              <a:t>For balanced </a:t>
            </a:r>
            <a:r>
              <a:rPr lang="en-GB" sz="3200" b="1" dirty="0">
                <a:solidFill>
                  <a:srgbClr val="002060"/>
                </a:solidFill>
                <a:latin typeface="Times New Roman" panose="02020603050405020304" pitchFamily="18" charset="0"/>
                <a:ea typeface="Times New Roman" panose="02020603050405020304" pitchFamily="18" charset="0"/>
              </a:rPr>
              <a:t>star</a:t>
            </a:r>
            <a:r>
              <a:rPr lang="en-GB" sz="3200" dirty="0">
                <a:solidFill>
                  <a:srgbClr val="002060"/>
                </a:solidFill>
                <a:latin typeface="Times New Roman" panose="02020603050405020304" pitchFamily="18" charset="0"/>
                <a:ea typeface="Times New Roman" panose="02020603050405020304" pitchFamily="18" charset="0"/>
              </a:rPr>
              <a:t> connected load,</a:t>
            </a:r>
            <a:endParaRPr lang="en-GB" sz="3200" dirty="0">
              <a:latin typeface="Times New Roman" panose="02020603050405020304" pitchFamily="18" charset="0"/>
              <a:ea typeface="Times New Roman" panose="02020603050405020304" pitchFamily="18" charset="0"/>
            </a:endParaRPr>
          </a:p>
          <a:p>
            <a:pPr marL="457200" marR="0">
              <a:lnSpc>
                <a:spcPct val="110000"/>
              </a:lnSpc>
              <a:spcBef>
                <a:spcPts val="0"/>
              </a:spcBef>
              <a:spcAft>
                <a:spcPts val="0"/>
              </a:spcAft>
            </a:pP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star</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a:solidFill>
                  <a:srgbClr val="002060"/>
                </a:solidFill>
                <a:latin typeface="Symbol" panose="05050102010706020507" pitchFamily="18" charset="2"/>
                <a:ea typeface="Times New Roman" panose="02020603050405020304" pitchFamily="18" charset="0"/>
              </a:rPr>
              <a:t>Ö</a:t>
            </a:r>
            <a:r>
              <a:rPr lang="en-GB" sz="3200" dirty="0">
                <a:solidFill>
                  <a:srgbClr val="002060"/>
                </a:solidFill>
                <a:latin typeface="Times New Roman" panose="02020603050405020304" pitchFamily="18" charset="0"/>
                <a:ea typeface="Times New Roman" panose="02020603050405020304" pitchFamily="18" charset="0"/>
              </a:rPr>
              <a:t>3,    </a:t>
            </a:r>
            <a:r>
              <a:rPr lang="en-GB" sz="3200" dirty="0" err="1">
                <a:solidFill>
                  <a:srgbClr val="002060"/>
                </a:solidFill>
                <a:latin typeface="Times New Roman" panose="02020603050405020304" pitchFamily="18" charset="0"/>
                <a:ea typeface="Times New Roman" panose="02020603050405020304" pitchFamily="18" charset="0"/>
              </a:rPr>
              <a:t>I</a:t>
            </a:r>
            <a:r>
              <a:rPr lang="en-GB" sz="3200" baseline="-25000" dirty="0" err="1">
                <a:solidFill>
                  <a:srgbClr val="002060"/>
                </a:solidFill>
                <a:latin typeface="Times New Roman" panose="02020603050405020304" pitchFamily="18" charset="0"/>
                <a:ea typeface="Times New Roman" panose="02020603050405020304" pitchFamily="18" charset="0"/>
              </a:rPr>
              <a:t>star</a:t>
            </a:r>
            <a:r>
              <a:rPr lang="en-GB" sz="3200" dirty="0">
                <a:solidFill>
                  <a:srgbClr val="002060"/>
                </a:solidFill>
                <a:latin typeface="Times New Roman" panose="02020603050405020304" pitchFamily="18" charset="0"/>
                <a:ea typeface="Times New Roman" panose="02020603050405020304" pitchFamily="18" charset="0"/>
              </a:rPr>
              <a:t> = I</a:t>
            </a:r>
            <a:r>
              <a:rPr lang="en-GB" sz="3200" baseline="-25000" dirty="0">
                <a:solidFill>
                  <a:srgbClr val="002060"/>
                </a:solidFill>
                <a:latin typeface="Times New Roman" panose="02020603050405020304" pitchFamily="18" charset="0"/>
                <a:ea typeface="Times New Roman" panose="02020603050405020304" pitchFamily="18" charset="0"/>
              </a:rPr>
              <a:t>L</a:t>
            </a:r>
            <a:endParaRPr lang="en-GB" sz="3200" dirty="0">
              <a:latin typeface="Times New Roman" panose="02020603050405020304" pitchFamily="18" charset="0"/>
              <a:ea typeface="Times New Roman" panose="02020603050405020304" pitchFamily="18" charset="0"/>
            </a:endParaRPr>
          </a:p>
          <a:p>
            <a:pPr marL="457200" marR="0">
              <a:lnSpc>
                <a:spcPct val="110000"/>
              </a:lnSpc>
              <a:spcBef>
                <a:spcPts val="0"/>
              </a:spcBef>
              <a:spcAft>
                <a:spcPts val="0"/>
              </a:spcAft>
            </a:pPr>
            <a:r>
              <a:rPr lang="en-GB" sz="3200" dirty="0" err="1">
                <a:solidFill>
                  <a:srgbClr val="002060"/>
                </a:solidFill>
                <a:latin typeface="Times New Roman" panose="02020603050405020304" pitchFamily="18" charset="0"/>
                <a:ea typeface="Times New Roman" panose="02020603050405020304" pitchFamily="18" charset="0"/>
              </a:rPr>
              <a:t>Z</a:t>
            </a:r>
            <a:r>
              <a:rPr lang="en-GB" sz="3200" baseline="-25000" dirty="0" err="1">
                <a:solidFill>
                  <a:srgbClr val="002060"/>
                </a:solidFill>
                <a:latin typeface="Times New Roman" panose="02020603050405020304" pitchFamily="18" charset="0"/>
                <a:ea typeface="Times New Roman" panose="02020603050405020304" pitchFamily="18" charset="0"/>
              </a:rPr>
              <a:t>star</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star</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I</a:t>
            </a:r>
            <a:r>
              <a:rPr lang="en-GB" sz="3200" baseline="-25000" dirty="0" err="1">
                <a:solidFill>
                  <a:srgbClr val="002060"/>
                </a:solidFill>
                <a:latin typeface="Times New Roman" panose="02020603050405020304" pitchFamily="18" charset="0"/>
                <a:ea typeface="Times New Roman" panose="02020603050405020304" pitchFamily="18" charset="0"/>
              </a:rPr>
              <a:t>star</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a:solidFill>
                  <a:srgbClr val="002060"/>
                </a:solidFill>
                <a:latin typeface="Symbol" panose="05050102010706020507" pitchFamily="18" charset="2"/>
                <a:ea typeface="Times New Roman" panose="02020603050405020304" pitchFamily="18" charset="0"/>
              </a:rPr>
              <a:t>Ö</a:t>
            </a:r>
            <a:r>
              <a:rPr lang="en-GB" sz="3200" dirty="0">
                <a:solidFill>
                  <a:srgbClr val="002060"/>
                </a:solidFill>
                <a:latin typeface="Times New Roman" panose="02020603050405020304" pitchFamily="18" charset="0"/>
                <a:ea typeface="Times New Roman" panose="02020603050405020304" pitchFamily="18" charset="0"/>
              </a:rPr>
              <a:t>3I</a:t>
            </a:r>
            <a:r>
              <a:rPr lang="en-GB" sz="3200" baseline="-25000" dirty="0">
                <a:solidFill>
                  <a:srgbClr val="002060"/>
                </a:solidFill>
                <a:latin typeface="Times New Roman" panose="02020603050405020304" pitchFamily="18" charset="0"/>
                <a:ea typeface="Times New Roman" panose="02020603050405020304" pitchFamily="18" charset="0"/>
              </a:rPr>
              <a:t>L</a:t>
            </a:r>
            <a:endParaRPr lang="en-GB" sz="3200" dirty="0">
              <a:latin typeface="Times New Roman" panose="02020603050405020304" pitchFamily="18" charset="0"/>
              <a:ea typeface="Times New Roman" panose="02020603050405020304" pitchFamily="18" charset="0"/>
            </a:endParaRPr>
          </a:p>
          <a:p>
            <a:pPr marL="457200" marR="0">
              <a:lnSpc>
                <a:spcPct val="110000"/>
              </a:lnSpc>
              <a:spcBef>
                <a:spcPts val="0"/>
              </a:spcBef>
              <a:spcAft>
                <a:spcPts val="0"/>
              </a:spcAft>
            </a:pPr>
            <a:r>
              <a:rPr lang="en-GB" sz="3200" dirty="0" err="1">
                <a:solidFill>
                  <a:srgbClr val="002060"/>
                </a:solidFill>
                <a:latin typeface="Times New Roman" panose="02020603050405020304" pitchFamily="18" charset="0"/>
                <a:ea typeface="Times New Roman" panose="02020603050405020304" pitchFamily="18" charset="0"/>
              </a:rPr>
              <a:t>S</a:t>
            </a:r>
            <a:r>
              <a:rPr lang="en-GB" sz="3200" baseline="-25000" dirty="0" err="1">
                <a:solidFill>
                  <a:srgbClr val="002060"/>
                </a:solidFill>
                <a:latin typeface="Times New Roman" panose="02020603050405020304" pitchFamily="18" charset="0"/>
                <a:ea typeface="Times New Roman" panose="02020603050405020304" pitchFamily="18" charset="0"/>
              </a:rPr>
              <a:t>star</a:t>
            </a:r>
            <a:r>
              <a:rPr lang="en-GB" sz="3200" dirty="0">
                <a:solidFill>
                  <a:srgbClr val="002060"/>
                </a:solidFill>
                <a:latin typeface="Times New Roman" panose="02020603050405020304" pitchFamily="18" charset="0"/>
                <a:ea typeface="Times New Roman" panose="02020603050405020304" pitchFamily="18" charset="0"/>
              </a:rPr>
              <a:t> = 3V</a:t>
            </a:r>
            <a:r>
              <a:rPr lang="en-GB" sz="3200" baseline="-25000" dirty="0">
                <a:solidFill>
                  <a:srgbClr val="002060"/>
                </a:solidFill>
                <a:latin typeface="Times New Roman" panose="02020603050405020304" pitchFamily="18" charset="0"/>
                <a:ea typeface="Times New Roman" panose="02020603050405020304" pitchFamily="18" charset="0"/>
              </a:rPr>
              <a:t>star</a:t>
            </a:r>
            <a:r>
              <a:rPr lang="en-GB" sz="3200" dirty="0">
                <a:solidFill>
                  <a:srgbClr val="002060"/>
                </a:solidFill>
                <a:latin typeface="Times New Roman" panose="02020603050405020304" pitchFamily="18" charset="0"/>
                <a:ea typeface="Times New Roman" panose="02020603050405020304" pitchFamily="18" charset="0"/>
              </a:rPr>
              <a:t>I</a:t>
            </a:r>
            <a:r>
              <a:rPr lang="en-GB" sz="3200" baseline="-25000" dirty="0">
                <a:solidFill>
                  <a:srgbClr val="002060"/>
                </a:solidFill>
                <a:latin typeface="Times New Roman" panose="02020603050405020304" pitchFamily="18" charset="0"/>
                <a:ea typeface="Times New Roman" panose="02020603050405020304" pitchFamily="18" charset="0"/>
              </a:rPr>
              <a:t>star</a:t>
            </a:r>
            <a:r>
              <a:rPr lang="en-GB" sz="3200" baseline="30000" dirty="0">
                <a:solidFill>
                  <a:srgbClr val="002060"/>
                </a:solidFill>
                <a:latin typeface="Times New Roman" panose="02020603050405020304" pitchFamily="18" charset="0"/>
                <a:ea typeface="Times New Roman" panose="02020603050405020304" pitchFamily="18" charset="0"/>
              </a:rPr>
              <a:t>*</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Symbol" panose="05050102010706020507" pitchFamily="18" charset="2"/>
                <a:ea typeface="Times New Roman" panose="02020603050405020304" pitchFamily="18" charset="0"/>
              </a:rPr>
              <a:t>Ö</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I</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baseline="30000" dirty="0">
                <a:solidFill>
                  <a:srgbClr val="002060"/>
                </a:solidFill>
                <a:latin typeface="Times New Roman" panose="02020603050405020304" pitchFamily="18" charset="0"/>
                <a:ea typeface="Times New Roman" panose="02020603050405020304" pitchFamily="18" charset="0"/>
              </a:rPr>
              <a:t>*</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58655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9385B40-D164-44E7-BA53-04FE06AB93A0}"/>
              </a:ext>
            </a:extLst>
          </p:cNvPr>
          <p:cNvSpPr/>
          <p:nvPr/>
        </p:nvSpPr>
        <p:spPr>
          <a:xfrm>
            <a:off x="401053" y="463677"/>
            <a:ext cx="11125200" cy="6010107"/>
          </a:xfrm>
          <a:prstGeom prst="rect">
            <a:avLst/>
          </a:prstGeom>
        </p:spPr>
        <p:txBody>
          <a:bodyPr wrap="square">
            <a:spAutoFit/>
          </a:bodyPr>
          <a:lstStyle/>
          <a:p>
            <a:pPr>
              <a:lnSpc>
                <a:spcPct val="110000"/>
              </a:lnSpc>
            </a:pPr>
            <a:r>
              <a:rPr lang="en-GB" sz="3200" dirty="0">
                <a:solidFill>
                  <a:srgbClr val="002060"/>
                </a:solidFill>
                <a:latin typeface="Times New Roman" panose="02020603050405020304" pitchFamily="18" charset="0"/>
                <a:ea typeface="Times New Roman" panose="02020603050405020304" pitchFamily="18" charset="0"/>
              </a:rPr>
              <a:t>Thus	</a:t>
            </a:r>
            <a:r>
              <a:rPr lang="en-GB" sz="3200" dirty="0" err="1">
                <a:solidFill>
                  <a:srgbClr val="002060"/>
                </a:solidFill>
                <a:latin typeface="Times New Roman" panose="02020603050405020304" pitchFamily="18" charset="0"/>
                <a:ea typeface="Times New Roman" panose="02020603050405020304" pitchFamily="18" charset="0"/>
              </a:rPr>
              <a:t>P</a:t>
            </a:r>
            <a:r>
              <a:rPr lang="en-GB" sz="3200" baseline="-25000" dirty="0" err="1">
                <a:solidFill>
                  <a:srgbClr val="002060"/>
                </a:solidFill>
                <a:latin typeface="Times New Roman" panose="02020603050405020304" pitchFamily="18" charset="0"/>
                <a:ea typeface="Times New Roman" panose="02020603050405020304" pitchFamily="18" charset="0"/>
              </a:rPr>
              <a:t>star</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Symbol" panose="05050102010706020507" pitchFamily="18" charset="2"/>
                <a:ea typeface="Times New Roman" panose="02020603050405020304" pitchFamily="18" charset="0"/>
              </a:rPr>
              <a:t>Ö</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I</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cos </a:t>
            </a:r>
            <a:r>
              <a:rPr lang="en-GB" sz="3200" dirty="0">
                <a:solidFill>
                  <a:srgbClr val="002060"/>
                </a:solidFill>
                <a:latin typeface="Symbol" panose="05050102010706020507" pitchFamily="18" charset="2"/>
                <a:ea typeface="Times New Roman" panose="02020603050405020304" pitchFamily="18" charset="0"/>
              </a:rPr>
              <a:t>f</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marL="914400" marR="0" indent="457200">
              <a:lnSpc>
                <a:spcPct val="110000"/>
              </a:lnSpc>
              <a:spcBef>
                <a:spcPts val="0"/>
              </a:spcBef>
              <a:spcAft>
                <a:spcPts val="0"/>
              </a:spcAft>
            </a:pPr>
            <a:r>
              <a:rPr lang="en-GB" sz="3200" dirty="0" err="1">
                <a:solidFill>
                  <a:srgbClr val="002060"/>
                </a:solidFill>
                <a:latin typeface="Times New Roman" panose="02020603050405020304" pitchFamily="18" charset="0"/>
                <a:ea typeface="Times New Roman" panose="02020603050405020304" pitchFamily="18" charset="0"/>
              </a:rPr>
              <a:t>Q</a:t>
            </a:r>
            <a:r>
              <a:rPr lang="en-GB" sz="3200" baseline="-25000" dirty="0" err="1">
                <a:solidFill>
                  <a:srgbClr val="002060"/>
                </a:solidFill>
                <a:latin typeface="Times New Roman" panose="02020603050405020304" pitchFamily="18" charset="0"/>
                <a:ea typeface="Times New Roman" panose="02020603050405020304" pitchFamily="18" charset="0"/>
              </a:rPr>
              <a:t>star</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Symbol" panose="05050102010706020507" pitchFamily="18" charset="2"/>
                <a:ea typeface="Times New Roman" panose="02020603050405020304" pitchFamily="18" charset="0"/>
              </a:rPr>
              <a:t>Ö</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I</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sin </a:t>
            </a:r>
            <a:r>
              <a:rPr lang="en-GB" sz="3200" dirty="0">
                <a:solidFill>
                  <a:srgbClr val="002060"/>
                </a:solidFill>
                <a:latin typeface="Symbol" panose="05050102010706020507" pitchFamily="18" charset="2"/>
                <a:ea typeface="Times New Roman" panose="02020603050405020304" pitchFamily="18" charset="0"/>
              </a:rPr>
              <a:t>f</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a:lnSpc>
                <a:spcPct val="110000"/>
              </a:lnSpc>
            </a:pPr>
            <a:r>
              <a:rPr lang="en-GB" sz="3200" dirty="0">
                <a:solidFill>
                  <a:srgbClr val="002060"/>
                </a:solidFill>
                <a:latin typeface="Times New Roman" panose="02020603050405020304" pitchFamily="18" charset="0"/>
                <a:ea typeface="Times New Roman" panose="02020603050405020304" pitchFamily="18" charset="0"/>
              </a:rPr>
              <a:t>For a balanced </a:t>
            </a:r>
            <a:r>
              <a:rPr lang="en-GB" sz="3200" b="1" dirty="0">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 connected load,</a:t>
            </a:r>
            <a:endParaRPr lang="en-GB" sz="3200" dirty="0">
              <a:latin typeface="Times New Roman" panose="02020603050405020304" pitchFamily="18" charset="0"/>
              <a:ea typeface="Times New Roman" panose="02020603050405020304" pitchFamily="18" charset="0"/>
            </a:endParaRPr>
          </a:p>
          <a:p>
            <a:pPr marL="457200" marR="0">
              <a:lnSpc>
                <a:spcPct val="110000"/>
              </a:lnSpc>
              <a:spcBef>
                <a:spcPts val="0"/>
              </a:spcBef>
              <a:spcAft>
                <a:spcPts val="0"/>
              </a:spcAft>
            </a:pP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err="1">
                <a:solidFill>
                  <a:srgbClr val="002060"/>
                </a:solidFill>
                <a:latin typeface="Times New Roman" panose="02020603050405020304" pitchFamily="18" charset="0"/>
                <a:ea typeface="Times New Roman" panose="02020603050405020304" pitchFamily="18" charset="0"/>
              </a:rPr>
              <a:t>I</a:t>
            </a:r>
            <a:r>
              <a:rPr lang="en-GB" sz="3200" baseline="-25000" dirty="0" err="1">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 = I</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a:solidFill>
                  <a:srgbClr val="002060"/>
                </a:solidFill>
                <a:latin typeface="Symbol" panose="05050102010706020507" pitchFamily="18" charset="2"/>
                <a:ea typeface="Times New Roman" panose="02020603050405020304" pitchFamily="18" charset="0"/>
              </a:rPr>
              <a:t>Ö</a:t>
            </a:r>
            <a:r>
              <a:rPr lang="en-GB" sz="3200" dirty="0">
                <a:solidFill>
                  <a:srgbClr val="002060"/>
                </a:solidFill>
                <a:latin typeface="Times New Roman" panose="02020603050405020304" pitchFamily="18" charset="0"/>
                <a:ea typeface="Times New Roman" panose="02020603050405020304" pitchFamily="18" charset="0"/>
              </a:rPr>
              <a:t>3</a:t>
            </a:r>
            <a:endParaRPr lang="en-GB" sz="3200" dirty="0">
              <a:latin typeface="Times New Roman" panose="02020603050405020304" pitchFamily="18" charset="0"/>
              <a:ea typeface="Times New Roman" panose="02020603050405020304" pitchFamily="18" charset="0"/>
            </a:endParaRPr>
          </a:p>
          <a:p>
            <a:pPr marL="457200" marR="0">
              <a:lnSpc>
                <a:spcPct val="110000"/>
              </a:lnSpc>
              <a:spcBef>
                <a:spcPts val="0"/>
              </a:spcBef>
              <a:spcAft>
                <a:spcPts val="0"/>
              </a:spcAft>
            </a:pPr>
            <a:r>
              <a:rPr lang="en-GB" sz="3200" dirty="0" err="1">
                <a:solidFill>
                  <a:srgbClr val="002060"/>
                </a:solidFill>
                <a:latin typeface="Times New Roman" panose="02020603050405020304" pitchFamily="18" charset="0"/>
                <a:ea typeface="Times New Roman" panose="02020603050405020304" pitchFamily="18" charset="0"/>
              </a:rPr>
              <a:t>Z</a:t>
            </a:r>
            <a:r>
              <a:rPr lang="en-GB" sz="3200" baseline="-25000" dirty="0" err="1">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I</a:t>
            </a:r>
            <a:r>
              <a:rPr lang="en-GB" sz="3200" baseline="-25000" dirty="0" err="1">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Symbol" panose="05050102010706020507" pitchFamily="18" charset="2"/>
                <a:ea typeface="Times New Roman" panose="02020603050405020304" pitchFamily="18" charset="0"/>
              </a:rPr>
              <a:t>Ö</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 I</a:t>
            </a:r>
            <a:r>
              <a:rPr lang="en-GB" sz="3200" baseline="-25000" dirty="0">
                <a:solidFill>
                  <a:srgbClr val="002060"/>
                </a:solidFill>
                <a:latin typeface="Times New Roman" panose="02020603050405020304" pitchFamily="18" charset="0"/>
                <a:ea typeface="Times New Roman" panose="02020603050405020304" pitchFamily="18" charset="0"/>
              </a:rPr>
              <a:t>L</a:t>
            </a:r>
            <a:endParaRPr lang="en-GB" sz="3200" dirty="0">
              <a:latin typeface="Times New Roman" panose="02020603050405020304" pitchFamily="18" charset="0"/>
              <a:ea typeface="Times New Roman" panose="02020603050405020304" pitchFamily="18" charset="0"/>
            </a:endParaRPr>
          </a:p>
          <a:p>
            <a:pPr marL="457200" marR="0">
              <a:lnSpc>
                <a:spcPct val="110000"/>
              </a:lnSpc>
              <a:spcBef>
                <a:spcPts val="0"/>
              </a:spcBef>
              <a:spcAft>
                <a:spcPts val="0"/>
              </a:spcAft>
            </a:pPr>
            <a:r>
              <a:rPr lang="en-GB" sz="3200" dirty="0" err="1">
                <a:solidFill>
                  <a:srgbClr val="002060"/>
                </a:solidFill>
                <a:latin typeface="Times New Roman" panose="02020603050405020304" pitchFamily="18" charset="0"/>
                <a:ea typeface="Times New Roman" panose="02020603050405020304" pitchFamily="18" charset="0"/>
              </a:rPr>
              <a:t>S</a:t>
            </a:r>
            <a:r>
              <a:rPr lang="en-GB" sz="3200" baseline="-25000" dirty="0" err="1">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 = 3V</a:t>
            </a:r>
            <a:r>
              <a:rPr lang="en-GB" sz="3200" baseline="-25000" dirty="0">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I</a:t>
            </a:r>
            <a:r>
              <a:rPr lang="en-GB" sz="3200" baseline="-25000" dirty="0">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Symbol" panose="05050102010706020507" pitchFamily="18" charset="2"/>
                <a:ea typeface="Times New Roman" panose="02020603050405020304" pitchFamily="18" charset="0"/>
              </a:rPr>
              <a:t>Ö</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I</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a:lnSpc>
                <a:spcPct val="110000"/>
              </a:lnSpc>
            </a:pPr>
            <a:r>
              <a:rPr lang="en-GB" sz="3200" dirty="0">
                <a:solidFill>
                  <a:srgbClr val="002060"/>
                </a:solidFill>
                <a:latin typeface="Times New Roman" panose="02020603050405020304" pitchFamily="18" charset="0"/>
                <a:ea typeface="Times New Roman" panose="02020603050405020304" pitchFamily="18" charset="0"/>
              </a:rPr>
              <a:t>Thus	</a:t>
            </a:r>
            <a:r>
              <a:rPr lang="en-GB" sz="3200" dirty="0" err="1">
                <a:solidFill>
                  <a:srgbClr val="002060"/>
                </a:solidFill>
                <a:latin typeface="Times New Roman" panose="02020603050405020304" pitchFamily="18" charset="0"/>
                <a:ea typeface="Times New Roman" panose="02020603050405020304" pitchFamily="18" charset="0"/>
              </a:rPr>
              <a:t>P</a:t>
            </a:r>
            <a:r>
              <a:rPr lang="en-GB" sz="3200" baseline="-25000" dirty="0" err="1">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Symbol" panose="05050102010706020507" pitchFamily="18" charset="2"/>
                <a:ea typeface="Times New Roman" panose="02020603050405020304" pitchFamily="18" charset="0"/>
              </a:rPr>
              <a:t>Ö</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I</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cos </a:t>
            </a:r>
            <a:r>
              <a:rPr lang="en-GB" sz="3200" dirty="0">
                <a:solidFill>
                  <a:srgbClr val="002060"/>
                </a:solidFill>
                <a:latin typeface="Symbol" panose="05050102010706020507" pitchFamily="18" charset="2"/>
                <a:ea typeface="Times New Roman" panose="02020603050405020304" pitchFamily="18" charset="0"/>
              </a:rPr>
              <a:t>f</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err="1">
                <a:solidFill>
                  <a:srgbClr val="002060"/>
                </a:solidFill>
                <a:latin typeface="Times New Roman" panose="02020603050405020304" pitchFamily="18" charset="0"/>
                <a:ea typeface="Times New Roman" panose="02020603050405020304" pitchFamily="18" charset="0"/>
              </a:rPr>
              <a:t>Q</a:t>
            </a:r>
            <a:r>
              <a:rPr lang="en-GB" sz="3200" baseline="-25000" dirty="0" err="1">
                <a:solidFill>
                  <a:srgbClr val="002060"/>
                </a:solidFill>
                <a:latin typeface="Times New Roman" panose="02020603050405020304" pitchFamily="18" charset="0"/>
                <a:ea typeface="Times New Roman" panose="02020603050405020304" pitchFamily="18" charset="0"/>
              </a:rPr>
              <a:t>delta</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Symbol" panose="05050102010706020507" pitchFamily="18" charset="2"/>
                <a:ea typeface="Times New Roman" panose="02020603050405020304" pitchFamily="18" charset="0"/>
              </a:rPr>
              <a:t>Ö</a:t>
            </a:r>
            <a:r>
              <a:rPr lang="en-GB" sz="3200" dirty="0">
                <a:solidFill>
                  <a:srgbClr val="002060"/>
                </a:solidFill>
                <a:latin typeface="Times New Roman" panose="02020603050405020304" pitchFamily="18" charset="0"/>
                <a:ea typeface="Times New Roman" panose="02020603050405020304" pitchFamily="18" charset="0"/>
              </a:rPr>
              <a:t>3V</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I</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sin </a:t>
            </a:r>
            <a:r>
              <a:rPr lang="en-GB" sz="3200" dirty="0">
                <a:solidFill>
                  <a:srgbClr val="002060"/>
                </a:solidFill>
                <a:latin typeface="Symbol" panose="05050102010706020507" pitchFamily="18" charset="2"/>
                <a:ea typeface="Times New Roman" panose="02020603050405020304" pitchFamily="18" charset="0"/>
              </a:rPr>
              <a:t>f</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algn="just">
              <a:lnSpc>
                <a:spcPct val="110000"/>
              </a:lnSpc>
            </a:pPr>
            <a:r>
              <a:rPr lang="en-GB" sz="3200" dirty="0">
                <a:solidFill>
                  <a:srgbClr val="002060"/>
                </a:solidFill>
                <a:latin typeface="Times New Roman" panose="02020603050405020304" pitchFamily="18" charset="0"/>
              </a:rPr>
              <a:t>For a three phase system </a:t>
            </a:r>
            <a:endParaRPr lang="en-GB" sz="3200" b="1" dirty="0">
              <a:latin typeface="Times New Roman" panose="02020603050405020304" pitchFamily="18" charset="0"/>
            </a:endParaRPr>
          </a:p>
          <a:p>
            <a:pPr algn="just">
              <a:lnSpc>
                <a:spcPct val="110000"/>
              </a:lnSpc>
            </a:pPr>
            <a:r>
              <a:rPr lang="en-GB" sz="3200" dirty="0">
                <a:solidFill>
                  <a:srgbClr val="002060"/>
                </a:solidFill>
                <a:latin typeface="Times New Roman" panose="02020603050405020304" pitchFamily="18" charset="0"/>
              </a:rPr>
              <a:t>	Apparent Power  	</a:t>
            </a:r>
            <a:r>
              <a:rPr lang="en-GB" sz="3200" b="1" dirty="0">
                <a:solidFill>
                  <a:srgbClr val="002060"/>
                </a:solidFill>
                <a:latin typeface="Times New Roman" panose="02020603050405020304" pitchFamily="18" charset="0"/>
              </a:rPr>
              <a:t>S =</a:t>
            </a:r>
            <a:r>
              <a:rPr lang="en-GB" sz="3200" dirty="0">
                <a:solidFill>
                  <a:srgbClr val="002060"/>
                </a:solidFill>
                <a:latin typeface="Times New Roman" panose="02020603050405020304" pitchFamily="18" charset="0"/>
              </a:rPr>
              <a:t> </a:t>
            </a:r>
            <a:r>
              <a:rPr lang="en-GB" sz="3200" b="1" dirty="0">
                <a:solidFill>
                  <a:srgbClr val="002060"/>
                </a:solidFill>
                <a:latin typeface="Symbol" panose="05050102010706020507" pitchFamily="18" charset="2"/>
              </a:rPr>
              <a:t>Ö</a:t>
            </a:r>
            <a:r>
              <a:rPr lang="en-GB" sz="3200" b="1" dirty="0">
                <a:solidFill>
                  <a:srgbClr val="002060"/>
                </a:solidFill>
                <a:latin typeface="Times New Roman" panose="02020603050405020304" pitchFamily="18" charset="0"/>
              </a:rPr>
              <a:t>3V</a:t>
            </a:r>
            <a:r>
              <a:rPr lang="en-GB" sz="3200" b="1" baseline="-25000" dirty="0">
                <a:solidFill>
                  <a:srgbClr val="002060"/>
                </a:solidFill>
                <a:latin typeface="Times New Roman" panose="02020603050405020304" pitchFamily="18" charset="0"/>
              </a:rPr>
              <a:t>L</a:t>
            </a:r>
            <a:r>
              <a:rPr lang="en-GB" sz="3200" b="1" dirty="0">
                <a:solidFill>
                  <a:srgbClr val="002060"/>
                </a:solidFill>
                <a:latin typeface="Times New Roman" panose="02020603050405020304" pitchFamily="18" charset="0"/>
              </a:rPr>
              <a:t>I</a:t>
            </a:r>
            <a:r>
              <a:rPr lang="en-GB" sz="3200" b="1" baseline="-25000" dirty="0">
                <a:solidFill>
                  <a:srgbClr val="002060"/>
                </a:solidFill>
                <a:latin typeface="Times New Roman" panose="02020603050405020304" pitchFamily="18" charset="0"/>
              </a:rPr>
              <a:t>L</a:t>
            </a:r>
            <a:endParaRPr lang="en-GB" sz="3200" b="1" dirty="0">
              <a:latin typeface="Times New Roman" panose="02020603050405020304" pitchFamily="18" charset="0"/>
            </a:endParaRPr>
          </a:p>
          <a:p>
            <a:pPr algn="just">
              <a:lnSpc>
                <a:spcPct val="110000"/>
              </a:lnSpc>
            </a:pPr>
            <a:r>
              <a:rPr lang="en-GB" sz="3200" dirty="0">
                <a:solidFill>
                  <a:srgbClr val="002060"/>
                </a:solidFill>
                <a:latin typeface="Times New Roman" panose="02020603050405020304" pitchFamily="18" charset="0"/>
              </a:rPr>
              <a:t>	Active Power		</a:t>
            </a:r>
            <a:r>
              <a:rPr lang="en-GB" sz="3200" b="1" dirty="0">
                <a:solidFill>
                  <a:srgbClr val="002060"/>
                </a:solidFill>
                <a:latin typeface="Times New Roman" panose="02020603050405020304" pitchFamily="18" charset="0"/>
              </a:rPr>
              <a:t>P = </a:t>
            </a:r>
            <a:r>
              <a:rPr lang="en-GB" sz="3200" b="1" dirty="0">
                <a:solidFill>
                  <a:srgbClr val="002060"/>
                </a:solidFill>
                <a:latin typeface="Symbol" panose="05050102010706020507" pitchFamily="18" charset="2"/>
              </a:rPr>
              <a:t>Ö</a:t>
            </a:r>
            <a:r>
              <a:rPr lang="en-GB" sz="3200" b="1" dirty="0">
                <a:solidFill>
                  <a:srgbClr val="002060"/>
                </a:solidFill>
                <a:latin typeface="Times New Roman" panose="02020603050405020304" pitchFamily="18" charset="0"/>
              </a:rPr>
              <a:t>3V</a:t>
            </a:r>
            <a:r>
              <a:rPr lang="en-GB" sz="3200" b="1" baseline="-25000" dirty="0">
                <a:solidFill>
                  <a:srgbClr val="002060"/>
                </a:solidFill>
                <a:latin typeface="Times New Roman" panose="02020603050405020304" pitchFamily="18" charset="0"/>
              </a:rPr>
              <a:t>L</a:t>
            </a:r>
            <a:r>
              <a:rPr lang="en-GB" sz="3200" b="1" dirty="0">
                <a:solidFill>
                  <a:srgbClr val="002060"/>
                </a:solidFill>
                <a:latin typeface="Times New Roman" panose="02020603050405020304" pitchFamily="18" charset="0"/>
              </a:rPr>
              <a:t>I</a:t>
            </a:r>
            <a:r>
              <a:rPr lang="en-GB" sz="3200" b="1" baseline="-25000" dirty="0">
                <a:solidFill>
                  <a:srgbClr val="002060"/>
                </a:solidFill>
                <a:latin typeface="Times New Roman" panose="02020603050405020304" pitchFamily="18" charset="0"/>
              </a:rPr>
              <a:t>L</a:t>
            </a:r>
            <a:r>
              <a:rPr lang="en-GB" sz="3200" b="1" dirty="0">
                <a:solidFill>
                  <a:srgbClr val="002060"/>
                </a:solidFill>
                <a:latin typeface="Times New Roman" panose="02020603050405020304" pitchFamily="18" charset="0"/>
              </a:rPr>
              <a:t> cos </a:t>
            </a:r>
            <a:r>
              <a:rPr lang="en-GB" sz="3200" b="1" dirty="0">
                <a:solidFill>
                  <a:srgbClr val="002060"/>
                </a:solidFill>
                <a:latin typeface="Symbol" panose="05050102010706020507" pitchFamily="18" charset="2"/>
              </a:rPr>
              <a:t>f</a:t>
            </a:r>
            <a:endParaRPr lang="en-GB" sz="3200" b="1" dirty="0">
              <a:latin typeface="Times New Roman" panose="02020603050405020304" pitchFamily="18" charset="0"/>
            </a:endParaRPr>
          </a:p>
          <a:p>
            <a:pPr algn="just">
              <a:lnSpc>
                <a:spcPct val="110000"/>
              </a:lnSpc>
            </a:pPr>
            <a:r>
              <a:rPr lang="en-GB" sz="3200" dirty="0">
                <a:solidFill>
                  <a:srgbClr val="002060"/>
                </a:solidFill>
                <a:latin typeface="Times New Roman" panose="02020603050405020304" pitchFamily="18" charset="0"/>
              </a:rPr>
              <a:t>	Reactive Power	</a:t>
            </a:r>
            <a:r>
              <a:rPr lang="en-GB" sz="3200" b="1" dirty="0">
                <a:solidFill>
                  <a:srgbClr val="002060"/>
                </a:solidFill>
                <a:latin typeface="Times New Roman" panose="02020603050405020304" pitchFamily="18" charset="0"/>
              </a:rPr>
              <a:t>Q = </a:t>
            </a:r>
            <a:r>
              <a:rPr lang="en-GB" sz="3200" b="1" dirty="0">
                <a:solidFill>
                  <a:srgbClr val="002060"/>
                </a:solidFill>
                <a:latin typeface="Symbol" panose="05050102010706020507" pitchFamily="18" charset="2"/>
              </a:rPr>
              <a:t>Ö</a:t>
            </a:r>
            <a:r>
              <a:rPr lang="en-GB" sz="3200" b="1" dirty="0">
                <a:solidFill>
                  <a:srgbClr val="002060"/>
                </a:solidFill>
                <a:latin typeface="Times New Roman" panose="02020603050405020304" pitchFamily="18" charset="0"/>
              </a:rPr>
              <a:t>3V</a:t>
            </a:r>
            <a:r>
              <a:rPr lang="en-GB" sz="3200" b="1" baseline="-25000" dirty="0">
                <a:solidFill>
                  <a:srgbClr val="002060"/>
                </a:solidFill>
                <a:latin typeface="Times New Roman" panose="02020603050405020304" pitchFamily="18" charset="0"/>
              </a:rPr>
              <a:t>L</a:t>
            </a:r>
            <a:r>
              <a:rPr lang="en-GB" sz="3200" b="1" dirty="0">
                <a:solidFill>
                  <a:srgbClr val="002060"/>
                </a:solidFill>
                <a:latin typeface="Times New Roman" panose="02020603050405020304" pitchFamily="18" charset="0"/>
              </a:rPr>
              <a:t>I</a:t>
            </a:r>
            <a:r>
              <a:rPr lang="en-GB" sz="3200" b="1" baseline="-25000" dirty="0">
                <a:solidFill>
                  <a:srgbClr val="002060"/>
                </a:solidFill>
                <a:latin typeface="Times New Roman" panose="02020603050405020304" pitchFamily="18" charset="0"/>
              </a:rPr>
              <a:t>L</a:t>
            </a:r>
            <a:r>
              <a:rPr lang="en-GB" sz="3200" b="1" dirty="0">
                <a:solidFill>
                  <a:srgbClr val="002060"/>
                </a:solidFill>
                <a:latin typeface="Times New Roman" panose="02020603050405020304" pitchFamily="18" charset="0"/>
              </a:rPr>
              <a:t> sin </a:t>
            </a:r>
            <a:r>
              <a:rPr lang="en-GB" sz="3200" b="1" dirty="0">
                <a:solidFill>
                  <a:srgbClr val="002060"/>
                </a:solidFill>
                <a:latin typeface="Symbol" panose="05050102010706020507" pitchFamily="18" charset="2"/>
              </a:rPr>
              <a:t>f</a:t>
            </a:r>
            <a:endParaRPr lang="en-GB" sz="3200" b="1" dirty="0">
              <a:effectLst/>
              <a:latin typeface="Times New Roman" panose="02020603050405020304" pitchFamily="18" charset="0"/>
            </a:endParaRPr>
          </a:p>
        </p:txBody>
      </p:sp>
    </p:spTree>
    <p:extLst>
      <p:ext uri="{BB962C8B-B14F-4D97-AF65-F5344CB8AC3E}">
        <p14:creationId xmlns:p14="http://schemas.microsoft.com/office/powerpoint/2010/main" val="1317928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GB" dirty="0"/>
              <a:t>Analysis of three phase balanced systems</a:t>
            </a:r>
          </a:p>
        </p:txBody>
      </p:sp>
      <p:sp>
        <p:nvSpPr>
          <p:cNvPr id="3" name="Rectangle 2">
            <a:extLst>
              <a:ext uri="{FF2B5EF4-FFF2-40B4-BE49-F238E27FC236}">
                <a16:creationId xmlns:a16="http://schemas.microsoft.com/office/drawing/2014/main" id="{039297CE-F86B-4DA1-9BD5-E37625A6450A}"/>
              </a:ext>
            </a:extLst>
          </p:cNvPr>
          <p:cNvSpPr/>
          <p:nvPr/>
        </p:nvSpPr>
        <p:spPr>
          <a:xfrm>
            <a:off x="429715" y="1008262"/>
            <a:ext cx="9766200" cy="584775"/>
          </a:xfrm>
          <a:prstGeom prst="rect">
            <a:avLst/>
          </a:prstGeom>
        </p:spPr>
        <p:txBody>
          <a:bodyPr wrap="none">
            <a:spAutoFit/>
          </a:bodyPr>
          <a:lstStyle/>
          <a:p>
            <a:r>
              <a:rPr lang="en-GB" sz="3200" dirty="0">
                <a:solidFill>
                  <a:srgbClr val="002060"/>
                </a:solidFill>
                <a:latin typeface="Times New Roman" panose="02020603050405020304" pitchFamily="18" charset="0"/>
                <a:ea typeface="Times New Roman" panose="02020603050405020304" pitchFamily="18" charset="0"/>
              </a:rPr>
              <a:t>Sufficient to calculate for just one phase (usually phase A)</a:t>
            </a:r>
            <a:endParaRPr lang="en-GB" sz="3200" dirty="0"/>
          </a:p>
        </p:txBody>
      </p:sp>
      <p:grpSp>
        <p:nvGrpSpPr>
          <p:cNvPr id="4" name="Group 3">
            <a:extLst>
              <a:ext uri="{FF2B5EF4-FFF2-40B4-BE49-F238E27FC236}">
                <a16:creationId xmlns:a16="http://schemas.microsoft.com/office/drawing/2014/main" id="{F8F40732-9315-4A2D-8A41-C8E1B282013A}"/>
              </a:ext>
            </a:extLst>
          </p:cNvPr>
          <p:cNvGrpSpPr>
            <a:grpSpLocks noChangeAspect="1"/>
          </p:cNvGrpSpPr>
          <p:nvPr/>
        </p:nvGrpSpPr>
        <p:grpSpPr bwMode="auto">
          <a:xfrm>
            <a:off x="1537373" y="1867649"/>
            <a:ext cx="9115461" cy="3949232"/>
            <a:chOff x="822" y="3364"/>
            <a:chExt cx="15247" cy="6604"/>
          </a:xfrm>
        </p:grpSpPr>
        <p:sp>
          <p:nvSpPr>
            <p:cNvPr id="5" name="Text Box 3">
              <a:extLst>
                <a:ext uri="{FF2B5EF4-FFF2-40B4-BE49-F238E27FC236}">
                  <a16:creationId xmlns:a16="http://schemas.microsoft.com/office/drawing/2014/main" id="{712B5FFB-436E-490F-84B1-D81D0EFDCC74}"/>
                </a:ext>
              </a:extLst>
            </p:cNvPr>
            <p:cNvSpPr txBox="1">
              <a:spLocks noChangeArrowheads="1"/>
            </p:cNvSpPr>
            <p:nvPr/>
          </p:nvSpPr>
          <p:spPr bwMode="auto">
            <a:xfrm>
              <a:off x="3203" y="9200"/>
              <a:ext cx="9062"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5 – Three phase system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6" name="Group 5">
              <a:extLst>
                <a:ext uri="{FF2B5EF4-FFF2-40B4-BE49-F238E27FC236}">
                  <a16:creationId xmlns:a16="http://schemas.microsoft.com/office/drawing/2014/main" id="{E4EF0675-4D50-4188-B6A4-FE4F75B3108F}"/>
                </a:ext>
              </a:extLst>
            </p:cNvPr>
            <p:cNvGrpSpPr>
              <a:grpSpLocks/>
            </p:cNvGrpSpPr>
            <p:nvPr/>
          </p:nvGrpSpPr>
          <p:grpSpPr bwMode="auto">
            <a:xfrm>
              <a:off x="822" y="3364"/>
              <a:ext cx="15247" cy="5580"/>
              <a:chOff x="2313" y="11170"/>
              <a:chExt cx="8247" cy="2923"/>
            </a:xfrm>
          </p:grpSpPr>
          <p:grpSp>
            <p:nvGrpSpPr>
              <p:cNvPr id="7" name="Group 6">
                <a:extLst>
                  <a:ext uri="{FF2B5EF4-FFF2-40B4-BE49-F238E27FC236}">
                    <a16:creationId xmlns:a16="http://schemas.microsoft.com/office/drawing/2014/main" id="{812F94A0-5FF4-4A8D-86F3-545D2342A055}"/>
                  </a:ext>
                </a:extLst>
              </p:cNvPr>
              <p:cNvGrpSpPr>
                <a:grpSpLocks/>
              </p:cNvGrpSpPr>
              <p:nvPr/>
            </p:nvGrpSpPr>
            <p:grpSpPr bwMode="auto">
              <a:xfrm>
                <a:off x="2313" y="11170"/>
                <a:ext cx="8247" cy="2923"/>
                <a:chOff x="2313" y="11170"/>
                <a:chExt cx="8247" cy="2923"/>
              </a:xfrm>
            </p:grpSpPr>
            <p:cxnSp>
              <p:nvCxnSpPr>
                <p:cNvPr id="10" name="Line 6">
                  <a:extLst>
                    <a:ext uri="{FF2B5EF4-FFF2-40B4-BE49-F238E27FC236}">
                      <a16:creationId xmlns:a16="http://schemas.microsoft.com/office/drawing/2014/main" id="{FD10CA75-475C-4507-86E5-E4013F0B6799}"/>
                    </a:ext>
                  </a:extLst>
                </p:cNvPr>
                <p:cNvCxnSpPr>
                  <a:cxnSpLocks noChangeAspect="1" noChangeShapeType="1"/>
                </p:cNvCxnSpPr>
                <p:nvPr/>
              </p:nvCxnSpPr>
              <p:spPr bwMode="auto">
                <a:xfrm flipV="1">
                  <a:off x="3720" y="11230"/>
                  <a:ext cx="0" cy="1512"/>
                </a:xfrm>
                <a:prstGeom prst="line">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cxnSp>
            <p:cxnSp>
              <p:nvCxnSpPr>
                <p:cNvPr id="11" name="Line 7">
                  <a:extLst>
                    <a:ext uri="{FF2B5EF4-FFF2-40B4-BE49-F238E27FC236}">
                      <a16:creationId xmlns:a16="http://schemas.microsoft.com/office/drawing/2014/main" id="{80EE1581-249C-4A3A-A9E3-FD860C3F9A44}"/>
                    </a:ext>
                  </a:extLst>
                </p:cNvPr>
                <p:cNvCxnSpPr>
                  <a:cxnSpLocks noChangeAspect="1" noChangeShapeType="1"/>
                </p:cNvCxnSpPr>
                <p:nvPr/>
              </p:nvCxnSpPr>
              <p:spPr bwMode="auto">
                <a:xfrm rot="7200000" flipV="1">
                  <a:off x="4391" y="12365"/>
                  <a:ext cx="1" cy="1512"/>
                </a:xfrm>
                <a:prstGeom prst="line">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cxnSp>
            <p:cxnSp>
              <p:nvCxnSpPr>
                <p:cNvPr id="12" name="Line 8">
                  <a:extLst>
                    <a:ext uri="{FF2B5EF4-FFF2-40B4-BE49-F238E27FC236}">
                      <a16:creationId xmlns:a16="http://schemas.microsoft.com/office/drawing/2014/main" id="{373ED14A-DC49-449F-AE16-1B061A7EEBC3}"/>
                    </a:ext>
                  </a:extLst>
                </p:cNvPr>
                <p:cNvCxnSpPr>
                  <a:cxnSpLocks noChangeAspect="1" noChangeShapeType="1"/>
                </p:cNvCxnSpPr>
                <p:nvPr/>
              </p:nvCxnSpPr>
              <p:spPr bwMode="auto">
                <a:xfrm rot="14400000" flipV="1">
                  <a:off x="3068" y="12344"/>
                  <a:ext cx="1" cy="1512"/>
                </a:xfrm>
                <a:prstGeom prst="line">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cxnSp>
            <p:sp>
              <p:nvSpPr>
                <p:cNvPr id="13" name="Text Box 9">
                  <a:extLst>
                    <a:ext uri="{FF2B5EF4-FFF2-40B4-BE49-F238E27FC236}">
                      <a16:creationId xmlns:a16="http://schemas.microsoft.com/office/drawing/2014/main" id="{9F7DEC6A-81CE-4187-A84B-946598E8626D}"/>
                    </a:ext>
                  </a:extLst>
                </p:cNvPr>
                <p:cNvSpPr txBox="1">
                  <a:spLocks noChangeArrowheads="1"/>
                </p:cNvSpPr>
                <p:nvPr/>
              </p:nvSpPr>
              <p:spPr bwMode="auto">
                <a:xfrm>
                  <a:off x="3033" y="12039"/>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200"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Box 10">
                  <a:extLst>
                    <a:ext uri="{FF2B5EF4-FFF2-40B4-BE49-F238E27FC236}">
                      <a16:creationId xmlns:a16="http://schemas.microsoft.com/office/drawing/2014/main" id="{164A418D-685A-456D-9B68-E14CC0A43DD0}"/>
                    </a:ext>
                  </a:extLst>
                </p:cNvPr>
                <p:cNvSpPr txBox="1">
                  <a:spLocks noChangeArrowheads="1"/>
                </p:cNvSpPr>
                <p:nvPr/>
              </p:nvSpPr>
              <p:spPr bwMode="auto">
                <a:xfrm>
                  <a:off x="3966" y="13191"/>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200"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 Box 11">
                  <a:extLst>
                    <a:ext uri="{FF2B5EF4-FFF2-40B4-BE49-F238E27FC236}">
                      <a16:creationId xmlns:a16="http://schemas.microsoft.com/office/drawing/2014/main" id="{DE0D4A69-648B-49D6-BD84-58B8711D259B}"/>
                    </a:ext>
                  </a:extLst>
                </p:cNvPr>
                <p:cNvSpPr txBox="1">
                  <a:spLocks noChangeArrowheads="1"/>
                </p:cNvSpPr>
                <p:nvPr/>
              </p:nvSpPr>
              <p:spPr bwMode="auto">
                <a:xfrm>
                  <a:off x="3294" y="13196"/>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200"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6" name="Group 15">
                  <a:extLst>
                    <a:ext uri="{FF2B5EF4-FFF2-40B4-BE49-F238E27FC236}">
                      <a16:creationId xmlns:a16="http://schemas.microsoft.com/office/drawing/2014/main" id="{15374638-1B27-4AC9-A368-C0F47A1BA4BA}"/>
                    </a:ext>
                  </a:extLst>
                </p:cNvPr>
                <p:cNvGrpSpPr>
                  <a:grpSpLocks noChangeAspect="1"/>
                </p:cNvGrpSpPr>
                <p:nvPr/>
              </p:nvGrpSpPr>
              <p:grpSpPr bwMode="auto">
                <a:xfrm>
                  <a:off x="3513" y="12190"/>
                  <a:ext cx="363" cy="363"/>
                  <a:chOff x="8858" y="9998"/>
                  <a:chExt cx="600" cy="600"/>
                </a:xfrm>
              </p:grpSpPr>
              <p:sp>
                <p:nvSpPr>
                  <p:cNvPr id="71" name="Oval 70">
                    <a:extLst>
                      <a:ext uri="{FF2B5EF4-FFF2-40B4-BE49-F238E27FC236}">
                        <a16:creationId xmlns:a16="http://schemas.microsoft.com/office/drawing/2014/main" id="{466F3DDA-DC53-441B-A23D-C3918A611E15}"/>
                      </a:ext>
                    </a:extLst>
                  </p:cNvPr>
                  <p:cNvSpPr>
                    <a:spLocks noChangeAspect="1" noChangeArrowheads="1"/>
                  </p:cNvSpPr>
                  <p:nvPr/>
                </p:nvSpPr>
                <p:spPr bwMode="auto">
                  <a:xfrm>
                    <a:off x="8858" y="9998"/>
                    <a:ext cx="600" cy="600"/>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endParaRPr lang="en-GB"/>
                  </a:p>
                </p:txBody>
              </p:sp>
              <p:grpSp>
                <p:nvGrpSpPr>
                  <p:cNvPr id="72" name="Group 71">
                    <a:extLst>
                      <a:ext uri="{FF2B5EF4-FFF2-40B4-BE49-F238E27FC236}">
                        <a16:creationId xmlns:a16="http://schemas.microsoft.com/office/drawing/2014/main" id="{25C92995-477B-4DAC-B10C-099414CEF71C}"/>
                      </a:ext>
                    </a:extLst>
                  </p:cNvPr>
                  <p:cNvGrpSpPr>
                    <a:grpSpLocks noChangeAspect="1"/>
                  </p:cNvGrpSpPr>
                  <p:nvPr/>
                </p:nvGrpSpPr>
                <p:grpSpPr bwMode="auto">
                  <a:xfrm>
                    <a:off x="8974" y="10146"/>
                    <a:ext cx="362" cy="272"/>
                    <a:chOff x="4778" y="6098"/>
                    <a:chExt cx="2880" cy="1440"/>
                  </a:xfrm>
                </p:grpSpPr>
                <p:sp>
                  <p:nvSpPr>
                    <p:cNvPr id="73" name="Arc 15">
                      <a:extLst>
                        <a:ext uri="{FF2B5EF4-FFF2-40B4-BE49-F238E27FC236}">
                          <a16:creationId xmlns:a16="http://schemas.microsoft.com/office/drawing/2014/main" id="{E7B2BAED-99FC-407C-A24B-652F2A97A0B6}"/>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74" name="Arc 16">
                      <a:extLst>
                        <a:ext uri="{FF2B5EF4-FFF2-40B4-BE49-F238E27FC236}">
                          <a16:creationId xmlns:a16="http://schemas.microsoft.com/office/drawing/2014/main" id="{FF444973-8D52-4863-8359-104DAB7FE65C}"/>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grpSp>
              <p:nvGrpSpPr>
                <p:cNvPr id="17" name="Group 16">
                  <a:extLst>
                    <a:ext uri="{FF2B5EF4-FFF2-40B4-BE49-F238E27FC236}">
                      <a16:creationId xmlns:a16="http://schemas.microsoft.com/office/drawing/2014/main" id="{5E13DBB9-9916-4198-8681-2A7CAA1E8603}"/>
                    </a:ext>
                  </a:extLst>
                </p:cNvPr>
                <p:cNvGrpSpPr>
                  <a:grpSpLocks noChangeAspect="1"/>
                </p:cNvGrpSpPr>
                <p:nvPr/>
              </p:nvGrpSpPr>
              <p:grpSpPr bwMode="auto">
                <a:xfrm>
                  <a:off x="3909" y="12762"/>
                  <a:ext cx="363" cy="363"/>
                  <a:chOff x="8858" y="9998"/>
                  <a:chExt cx="600" cy="600"/>
                </a:xfrm>
              </p:grpSpPr>
              <p:sp>
                <p:nvSpPr>
                  <p:cNvPr id="67" name="Oval 66">
                    <a:extLst>
                      <a:ext uri="{FF2B5EF4-FFF2-40B4-BE49-F238E27FC236}">
                        <a16:creationId xmlns:a16="http://schemas.microsoft.com/office/drawing/2014/main" id="{87884263-AD35-414A-A690-DF75C5154876}"/>
                      </a:ext>
                    </a:extLst>
                  </p:cNvPr>
                  <p:cNvSpPr>
                    <a:spLocks noChangeAspect="1" noChangeArrowheads="1"/>
                  </p:cNvSpPr>
                  <p:nvPr/>
                </p:nvSpPr>
                <p:spPr bwMode="auto">
                  <a:xfrm>
                    <a:off x="8858" y="9998"/>
                    <a:ext cx="600" cy="600"/>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endParaRPr lang="en-GB"/>
                  </a:p>
                </p:txBody>
              </p:sp>
              <p:grpSp>
                <p:nvGrpSpPr>
                  <p:cNvPr id="68" name="Group 67">
                    <a:extLst>
                      <a:ext uri="{FF2B5EF4-FFF2-40B4-BE49-F238E27FC236}">
                        <a16:creationId xmlns:a16="http://schemas.microsoft.com/office/drawing/2014/main" id="{B6E32A2F-18B2-4A28-9A9C-7A3877704B90}"/>
                      </a:ext>
                    </a:extLst>
                  </p:cNvPr>
                  <p:cNvGrpSpPr>
                    <a:grpSpLocks noChangeAspect="1"/>
                  </p:cNvGrpSpPr>
                  <p:nvPr/>
                </p:nvGrpSpPr>
                <p:grpSpPr bwMode="auto">
                  <a:xfrm>
                    <a:off x="8974" y="10146"/>
                    <a:ext cx="362" cy="272"/>
                    <a:chOff x="4778" y="6098"/>
                    <a:chExt cx="2880" cy="1440"/>
                  </a:xfrm>
                </p:grpSpPr>
                <p:sp>
                  <p:nvSpPr>
                    <p:cNvPr id="69" name="Arc 20">
                      <a:extLst>
                        <a:ext uri="{FF2B5EF4-FFF2-40B4-BE49-F238E27FC236}">
                          <a16:creationId xmlns:a16="http://schemas.microsoft.com/office/drawing/2014/main" id="{807F4531-7BBA-4B96-9158-4F7CDC5F99DC}"/>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70" name="Arc 21">
                      <a:extLst>
                        <a:ext uri="{FF2B5EF4-FFF2-40B4-BE49-F238E27FC236}">
                          <a16:creationId xmlns:a16="http://schemas.microsoft.com/office/drawing/2014/main" id="{EE5475FA-AD66-4481-8124-0B63FCB6E1B7}"/>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grpSp>
              <p:nvGrpSpPr>
                <p:cNvPr id="18" name="Group 17">
                  <a:extLst>
                    <a:ext uri="{FF2B5EF4-FFF2-40B4-BE49-F238E27FC236}">
                      <a16:creationId xmlns:a16="http://schemas.microsoft.com/office/drawing/2014/main" id="{C26FC8AD-C78A-473E-84C8-1FC579DA3B90}"/>
                    </a:ext>
                  </a:extLst>
                </p:cNvPr>
                <p:cNvGrpSpPr>
                  <a:grpSpLocks noChangeAspect="1"/>
                </p:cNvGrpSpPr>
                <p:nvPr/>
              </p:nvGrpSpPr>
              <p:grpSpPr bwMode="auto">
                <a:xfrm>
                  <a:off x="3174" y="12747"/>
                  <a:ext cx="363" cy="363"/>
                  <a:chOff x="8858" y="9998"/>
                  <a:chExt cx="600" cy="600"/>
                </a:xfrm>
              </p:grpSpPr>
              <p:sp>
                <p:nvSpPr>
                  <p:cNvPr id="63" name="Oval 62">
                    <a:extLst>
                      <a:ext uri="{FF2B5EF4-FFF2-40B4-BE49-F238E27FC236}">
                        <a16:creationId xmlns:a16="http://schemas.microsoft.com/office/drawing/2014/main" id="{195FD2E6-1BC3-4DA3-A1F5-7AE7AD0D4666}"/>
                      </a:ext>
                    </a:extLst>
                  </p:cNvPr>
                  <p:cNvSpPr>
                    <a:spLocks noChangeAspect="1" noChangeArrowheads="1"/>
                  </p:cNvSpPr>
                  <p:nvPr/>
                </p:nvSpPr>
                <p:spPr bwMode="auto">
                  <a:xfrm>
                    <a:off x="8858" y="9998"/>
                    <a:ext cx="600" cy="600"/>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endParaRPr lang="en-GB"/>
                  </a:p>
                </p:txBody>
              </p:sp>
              <p:grpSp>
                <p:nvGrpSpPr>
                  <p:cNvPr id="64" name="Group 63">
                    <a:extLst>
                      <a:ext uri="{FF2B5EF4-FFF2-40B4-BE49-F238E27FC236}">
                        <a16:creationId xmlns:a16="http://schemas.microsoft.com/office/drawing/2014/main" id="{929FA6E0-654D-4221-8ACE-6205882E8520}"/>
                      </a:ext>
                    </a:extLst>
                  </p:cNvPr>
                  <p:cNvGrpSpPr>
                    <a:grpSpLocks noChangeAspect="1"/>
                  </p:cNvGrpSpPr>
                  <p:nvPr/>
                </p:nvGrpSpPr>
                <p:grpSpPr bwMode="auto">
                  <a:xfrm>
                    <a:off x="8974" y="10146"/>
                    <a:ext cx="362" cy="272"/>
                    <a:chOff x="4778" y="6098"/>
                    <a:chExt cx="2880" cy="1440"/>
                  </a:xfrm>
                </p:grpSpPr>
                <p:sp>
                  <p:nvSpPr>
                    <p:cNvPr id="65" name="Arc 25">
                      <a:extLst>
                        <a:ext uri="{FF2B5EF4-FFF2-40B4-BE49-F238E27FC236}">
                          <a16:creationId xmlns:a16="http://schemas.microsoft.com/office/drawing/2014/main" id="{B1747C6C-7FB1-43E1-A310-1B03B425FCCF}"/>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66" name="Arc 26">
                      <a:extLst>
                        <a:ext uri="{FF2B5EF4-FFF2-40B4-BE49-F238E27FC236}">
                          <a16:creationId xmlns:a16="http://schemas.microsoft.com/office/drawing/2014/main" id="{3A6A0606-DBE4-4F1D-840C-CFBF8C5DA5BB}"/>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sp>
              <p:nvSpPr>
                <p:cNvPr id="19" name="Rectangle 18">
                  <a:extLst>
                    <a:ext uri="{FF2B5EF4-FFF2-40B4-BE49-F238E27FC236}">
                      <a16:creationId xmlns:a16="http://schemas.microsoft.com/office/drawing/2014/main" id="{9B926FC8-C8AC-4CD3-9702-67E376BAC08E}"/>
                    </a:ext>
                  </a:extLst>
                </p:cNvPr>
                <p:cNvSpPr>
                  <a:spLocks noChangeAspect="1" noChangeArrowheads="1"/>
                </p:cNvSpPr>
                <p:nvPr/>
              </p:nvSpPr>
              <p:spPr bwMode="auto">
                <a:xfrm rot="10800000">
                  <a:off x="3648" y="11653"/>
                  <a:ext cx="130" cy="305"/>
                </a:xfrm>
                <a:prstGeom prst="rect">
                  <a:avLst/>
                </a:prstGeom>
                <a:solidFill>
                  <a:srgbClr val="FFFFFF"/>
                </a:solidFill>
                <a:ln w="28575">
                  <a:solidFill>
                    <a:srgbClr val="002060"/>
                  </a:solidFill>
                  <a:miter lim="800000"/>
                  <a:headEnd/>
                  <a:tailEnd/>
                </a:ln>
              </p:spPr>
              <p:txBody>
                <a:bodyPr rot="0" vert="horz" wrap="square" lIns="91440" tIns="45720" rIns="91440" bIns="45720" anchor="t" anchorCtr="0" upright="1">
                  <a:noAutofit/>
                </a:bodyPr>
                <a:lstStyle/>
                <a:p>
                  <a:endParaRPr lang="en-GB"/>
                </a:p>
              </p:txBody>
            </p:sp>
            <p:sp>
              <p:nvSpPr>
                <p:cNvPr id="20" name="Rectangle 19">
                  <a:extLst>
                    <a:ext uri="{FF2B5EF4-FFF2-40B4-BE49-F238E27FC236}">
                      <a16:creationId xmlns:a16="http://schemas.microsoft.com/office/drawing/2014/main" id="{7F651A20-BAAE-4647-8003-E44FED1D2C51}"/>
                    </a:ext>
                  </a:extLst>
                </p:cNvPr>
                <p:cNvSpPr>
                  <a:spLocks noChangeAspect="1" noChangeArrowheads="1"/>
                </p:cNvSpPr>
                <p:nvPr/>
              </p:nvSpPr>
              <p:spPr bwMode="auto">
                <a:xfrm rot="25200000">
                  <a:off x="2866" y="13035"/>
                  <a:ext cx="130" cy="305"/>
                </a:xfrm>
                <a:prstGeom prst="rect">
                  <a:avLst/>
                </a:prstGeom>
                <a:solidFill>
                  <a:srgbClr val="FFFFFF"/>
                </a:solidFill>
                <a:ln w="28575">
                  <a:solidFill>
                    <a:srgbClr val="002060"/>
                  </a:solidFill>
                  <a:miter lim="800000"/>
                  <a:headEnd/>
                  <a:tailEnd/>
                </a:ln>
              </p:spPr>
              <p:txBody>
                <a:bodyPr rot="0" vert="horz" wrap="square" lIns="91440" tIns="45720" rIns="91440" bIns="45720" anchor="t" anchorCtr="0" upright="1">
                  <a:noAutofit/>
                </a:bodyPr>
                <a:lstStyle/>
                <a:p>
                  <a:endParaRPr lang="en-GB"/>
                </a:p>
              </p:txBody>
            </p:sp>
            <p:sp>
              <p:nvSpPr>
                <p:cNvPr id="21" name="Rectangle 20">
                  <a:extLst>
                    <a:ext uri="{FF2B5EF4-FFF2-40B4-BE49-F238E27FC236}">
                      <a16:creationId xmlns:a16="http://schemas.microsoft.com/office/drawing/2014/main" id="{FA4A294D-9CD1-41FC-9614-4396AAF6B2A3}"/>
                    </a:ext>
                  </a:extLst>
                </p:cNvPr>
                <p:cNvSpPr>
                  <a:spLocks noChangeAspect="1" noChangeArrowheads="1"/>
                </p:cNvSpPr>
                <p:nvPr/>
              </p:nvSpPr>
              <p:spPr bwMode="auto">
                <a:xfrm rot="7200000" flipV="1">
                  <a:off x="4471" y="13065"/>
                  <a:ext cx="130" cy="305"/>
                </a:xfrm>
                <a:prstGeom prst="rect">
                  <a:avLst/>
                </a:prstGeom>
                <a:solidFill>
                  <a:srgbClr val="FFFFFF"/>
                </a:solidFill>
                <a:ln w="28575">
                  <a:solidFill>
                    <a:srgbClr val="002060"/>
                  </a:solidFill>
                  <a:miter lim="800000"/>
                  <a:headEnd/>
                  <a:tailEnd/>
                </a:ln>
              </p:spPr>
              <p:txBody>
                <a:bodyPr rot="0" vert="horz" wrap="square" lIns="91440" tIns="45720" rIns="91440" bIns="45720" anchor="t" anchorCtr="0" upright="1">
                  <a:noAutofit/>
                </a:bodyPr>
                <a:lstStyle/>
                <a:p>
                  <a:endParaRPr lang="en-GB"/>
                </a:p>
              </p:txBody>
            </p:sp>
            <p:cxnSp>
              <p:nvCxnSpPr>
                <p:cNvPr id="22" name="Line 30">
                  <a:extLst>
                    <a:ext uri="{FF2B5EF4-FFF2-40B4-BE49-F238E27FC236}">
                      <a16:creationId xmlns:a16="http://schemas.microsoft.com/office/drawing/2014/main" id="{C1D20762-7A3C-430A-94DF-FE0935082636}"/>
                    </a:ext>
                  </a:extLst>
                </p:cNvPr>
                <p:cNvCxnSpPr>
                  <a:cxnSpLocks noChangeAspect="1" noChangeShapeType="1"/>
                </p:cNvCxnSpPr>
                <p:nvPr/>
              </p:nvCxnSpPr>
              <p:spPr bwMode="auto">
                <a:xfrm rot="10800000">
                  <a:off x="3393" y="12193"/>
                  <a:ext cx="0" cy="345"/>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23" name="Line 31">
                  <a:extLst>
                    <a:ext uri="{FF2B5EF4-FFF2-40B4-BE49-F238E27FC236}">
                      <a16:creationId xmlns:a16="http://schemas.microsoft.com/office/drawing/2014/main" id="{368B35A8-3A21-4D63-812B-547D9455B189}"/>
                    </a:ext>
                  </a:extLst>
                </p:cNvPr>
                <p:cNvCxnSpPr>
                  <a:cxnSpLocks noChangeAspect="1" noChangeShapeType="1"/>
                </p:cNvCxnSpPr>
                <p:nvPr/>
              </p:nvCxnSpPr>
              <p:spPr bwMode="auto">
                <a:xfrm rot="25200000">
                  <a:off x="3455" y="13049"/>
                  <a:ext cx="0" cy="345"/>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24" name="Line 32">
                  <a:extLst>
                    <a:ext uri="{FF2B5EF4-FFF2-40B4-BE49-F238E27FC236}">
                      <a16:creationId xmlns:a16="http://schemas.microsoft.com/office/drawing/2014/main" id="{F2BE0AEE-DDAE-4E0D-8551-59C2D7094312}"/>
                    </a:ext>
                  </a:extLst>
                </p:cNvPr>
                <p:cNvCxnSpPr>
                  <a:cxnSpLocks noChangeAspect="1" noChangeShapeType="1"/>
                </p:cNvCxnSpPr>
                <p:nvPr/>
              </p:nvCxnSpPr>
              <p:spPr bwMode="auto">
                <a:xfrm rot="7200000" flipV="1">
                  <a:off x="4025" y="13026"/>
                  <a:ext cx="0" cy="345"/>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25" name="Text Box 33">
                  <a:extLst>
                    <a:ext uri="{FF2B5EF4-FFF2-40B4-BE49-F238E27FC236}">
                      <a16:creationId xmlns:a16="http://schemas.microsoft.com/office/drawing/2014/main" id="{A01EFF95-AC4D-4BFA-B092-508A7FF6214A}"/>
                    </a:ext>
                  </a:extLst>
                </p:cNvPr>
                <p:cNvSpPr txBox="1">
                  <a:spLocks noChangeArrowheads="1"/>
                </p:cNvSpPr>
                <p:nvPr/>
              </p:nvSpPr>
              <p:spPr bwMode="auto">
                <a:xfrm>
                  <a:off x="3349" y="1153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Text Box 34">
                  <a:extLst>
                    <a:ext uri="{FF2B5EF4-FFF2-40B4-BE49-F238E27FC236}">
                      <a16:creationId xmlns:a16="http://schemas.microsoft.com/office/drawing/2014/main" id="{401DA14E-7D7E-436F-996E-49F4D681F98F}"/>
                    </a:ext>
                  </a:extLst>
                </p:cNvPr>
                <p:cNvSpPr txBox="1">
                  <a:spLocks noChangeArrowheads="1"/>
                </p:cNvSpPr>
                <p:nvPr/>
              </p:nvSpPr>
              <p:spPr bwMode="auto">
                <a:xfrm>
                  <a:off x="4563" y="12772"/>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 Box 35">
                  <a:extLst>
                    <a:ext uri="{FF2B5EF4-FFF2-40B4-BE49-F238E27FC236}">
                      <a16:creationId xmlns:a16="http://schemas.microsoft.com/office/drawing/2014/main" id="{5F801FEC-B8ED-47CB-AC17-C1408C90101D}"/>
                    </a:ext>
                  </a:extLst>
                </p:cNvPr>
                <p:cNvSpPr txBox="1">
                  <a:spLocks noChangeArrowheads="1"/>
                </p:cNvSpPr>
                <p:nvPr/>
              </p:nvSpPr>
              <p:spPr bwMode="auto">
                <a:xfrm>
                  <a:off x="2929" y="1309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28" name="Group 27">
                  <a:extLst>
                    <a:ext uri="{FF2B5EF4-FFF2-40B4-BE49-F238E27FC236}">
                      <a16:creationId xmlns:a16="http://schemas.microsoft.com/office/drawing/2014/main" id="{416A528F-0299-47A5-AF0D-E893E9E42FA3}"/>
                    </a:ext>
                  </a:extLst>
                </p:cNvPr>
                <p:cNvGrpSpPr>
                  <a:grpSpLocks/>
                </p:cNvGrpSpPr>
                <p:nvPr/>
              </p:nvGrpSpPr>
              <p:grpSpPr bwMode="auto">
                <a:xfrm>
                  <a:off x="3601" y="12732"/>
                  <a:ext cx="240" cy="360"/>
                  <a:chOff x="4701" y="3904"/>
                  <a:chExt cx="240" cy="360"/>
                </a:xfrm>
              </p:grpSpPr>
              <p:cxnSp>
                <p:nvCxnSpPr>
                  <p:cNvPr id="59" name="Line 37">
                    <a:extLst>
                      <a:ext uri="{FF2B5EF4-FFF2-40B4-BE49-F238E27FC236}">
                        <a16:creationId xmlns:a16="http://schemas.microsoft.com/office/drawing/2014/main" id="{1F8EF26D-7C1F-4052-85D1-F59C5FE09F62}"/>
                      </a:ext>
                    </a:extLst>
                  </p:cNvPr>
                  <p:cNvCxnSpPr>
                    <a:cxnSpLocks noChangeShapeType="1"/>
                  </p:cNvCxnSpPr>
                  <p:nvPr/>
                </p:nvCxnSpPr>
                <p:spPr bwMode="auto">
                  <a:xfrm>
                    <a:off x="4821" y="3904"/>
                    <a:ext cx="0" cy="2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0" name="Line 38">
                    <a:extLst>
                      <a:ext uri="{FF2B5EF4-FFF2-40B4-BE49-F238E27FC236}">
                        <a16:creationId xmlns:a16="http://schemas.microsoft.com/office/drawing/2014/main" id="{91FCBC96-4E74-4A05-ACD6-ED6A721CA439}"/>
                      </a:ext>
                    </a:extLst>
                  </p:cNvPr>
                  <p:cNvCxnSpPr>
                    <a:cxnSpLocks noChangeShapeType="1"/>
                  </p:cNvCxnSpPr>
                  <p:nvPr/>
                </p:nvCxnSpPr>
                <p:spPr bwMode="auto">
                  <a:xfrm>
                    <a:off x="4701" y="4144"/>
                    <a:ext cx="24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1" name="Line 39">
                    <a:extLst>
                      <a:ext uri="{FF2B5EF4-FFF2-40B4-BE49-F238E27FC236}">
                        <a16:creationId xmlns:a16="http://schemas.microsoft.com/office/drawing/2014/main" id="{1B5AE285-FA83-4B2B-A9B7-FC0982FBECC2}"/>
                      </a:ext>
                    </a:extLst>
                  </p:cNvPr>
                  <p:cNvCxnSpPr>
                    <a:cxnSpLocks noChangeShapeType="1"/>
                  </p:cNvCxnSpPr>
                  <p:nvPr/>
                </p:nvCxnSpPr>
                <p:spPr bwMode="auto">
                  <a:xfrm>
                    <a:off x="4746" y="4204"/>
                    <a:ext cx="142"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2" name="Line 40">
                    <a:extLst>
                      <a:ext uri="{FF2B5EF4-FFF2-40B4-BE49-F238E27FC236}">
                        <a16:creationId xmlns:a16="http://schemas.microsoft.com/office/drawing/2014/main" id="{B2B29618-F5F8-4738-A68A-8A8D9BE9844C}"/>
                      </a:ext>
                    </a:extLst>
                  </p:cNvPr>
                  <p:cNvCxnSpPr>
                    <a:cxnSpLocks noChangeShapeType="1"/>
                  </p:cNvCxnSpPr>
                  <p:nvPr/>
                </p:nvCxnSpPr>
                <p:spPr bwMode="auto">
                  <a:xfrm>
                    <a:off x="4791" y="4264"/>
                    <a:ext cx="85"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sp>
              <p:nvSpPr>
                <p:cNvPr id="29" name="Rectangle 28">
                  <a:extLst>
                    <a:ext uri="{FF2B5EF4-FFF2-40B4-BE49-F238E27FC236}">
                      <a16:creationId xmlns:a16="http://schemas.microsoft.com/office/drawing/2014/main" id="{C3F86BC9-67C4-4C52-8C41-7B7A77651487}"/>
                    </a:ext>
                  </a:extLst>
                </p:cNvPr>
                <p:cNvSpPr>
                  <a:spLocks noChangeArrowheads="1"/>
                </p:cNvSpPr>
                <p:nvPr/>
              </p:nvSpPr>
              <p:spPr bwMode="auto">
                <a:xfrm rot="5400000">
                  <a:off x="6541" y="10996"/>
                  <a:ext cx="158" cy="50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30" name="Line 42">
                  <a:extLst>
                    <a:ext uri="{FF2B5EF4-FFF2-40B4-BE49-F238E27FC236}">
                      <a16:creationId xmlns:a16="http://schemas.microsoft.com/office/drawing/2014/main" id="{32B7EF10-28F7-4A4F-AEE9-2A273A05794B}"/>
                    </a:ext>
                  </a:extLst>
                </p:cNvPr>
                <p:cNvCxnSpPr>
                  <a:cxnSpLocks noChangeShapeType="1"/>
                </p:cNvCxnSpPr>
                <p:nvPr/>
              </p:nvCxnSpPr>
              <p:spPr bwMode="auto">
                <a:xfrm rot="5400000">
                  <a:off x="8127" y="9994"/>
                  <a:ext cx="0" cy="2508"/>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1" name="Line 43">
                  <a:extLst>
                    <a:ext uri="{FF2B5EF4-FFF2-40B4-BE49-F238E27FC236}">
                      <a16:creationId xmlns:a16="http://schemas.microsoft.com/office/drawing/2014/main" id="{D2DE7A97-C661-4F27-8CC9-148D012F11C9}"/>
                    </a:ext>
                  </a:extLst>
                </p:cNvPr>
                <p:cNvCxnSpPr>
                  <a:cxnSpLocks noChangeShapeType="1"/>
                </p:cNvCxnSpPr>
                <p:nvPr/>
              </p:nvCxnSpPr>
              <p:spPr bwMode="auto">
                <a:xfrm rot="5400000">
                  <a:off x="5038" y="9925"/>
                  <a:ext cx="0" cy="2645"/>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32" name="Rectangle 31">
                  <a:extLst>
                    <a:ext uri="{FF2B5EF4-FFF2-40B4-BE49-F238E27FC236}">
                      <a16:creationId xmlns:a16="http://schemas.microsoft.com/office/drawing/2014/main" id="{B0A9701E-D2FF-4660-9272-25FE22952D8E}"/>
                    </a:ext>
                  </a:extLst>
                </p:cNvPr>
                <p:cNvSpPr>
                  <a:spLocks noChangeArrowheads="1"/>
                </p:cNvSpPr>
                <p:nvPr/>
              </p:nvSpPr>
              <p:spPr bwMode="auto">
                <a:xfrm rot="5400000">
                  <a:off x="6541" y="13232"/>
                  <a:ext cx="158" cy="50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33" name="Line 45">
                  <a:extLst>
                    <a:ext uri="{FF2B5EF4-FFF2-40B4-BE49-F238E27FC236}">
                      <a16:creationId xmlns:a16="http://schemas.microsoft.com/office/drawing/2014/main" id="{9E612973-5F7D-4CEF-AF5F-6649F8ABBD68}"/>
                    </a:ext>
                  </a:extLst>
                </p:cNvPr>
                <p:cNvCxnSpPr>
                  <a:cxnSpLocks noChangeShapeType="1"/>
                </p:cNvCxnSpPr>
                <p:nvPr/>
              </p:nvCxnSpPr>
              <p:spPr bwMode="auto">
                <a:xfrm rot="5400000">
                  <a:off x="7586" y="12771"/>
                  <a:ext cx="0" cy="1425"/>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4" name="Line 46">
                  <a:extLst>
                    <a:ext uri="{FF2B5EF4-FFF2-40B4-BE49-F238E27FC236}">
                      <a16:creationId xmlns:a16="http://schemas.microsoft.com/office/drawing/2014/main" id="{2E1CFEFC-0101-4D89-96DB-7D228483E9B4}"/>
                    </a:ext>
                  </a:extLst>
                </p:cNvPr>
                <p:cNvCxnSpPr>
                  <a:cxnSpLocks noChangeShapeType="1"/>
                </p:cNvCxnSpPr>
                <p:nvPr/>
              </p:nvCxnSpPr>
              <p:spPr bwMode="auto">
                <a:xfrm rot="5400000">
                  <a:off x="5676" y="12800"/>
                  <a:ext cx="0" cy="1368"/>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35" name="Rectangle 34">
                  <a:extLst>
                    <a:ext uri="{FF2B5EF4-FFF2-40B4-BE49-F238E27FC236}">
                      <a16:creationId xmlns:a16="http://schemas.microsoft.com/office/drawing/2014/main" id="{DE2850A0-2E0F-49E2-855F-01958E859EC9}"/>
                    </a:ext>
                  </a:extLst>
                </p:cNvPr>
                <p:cNvSpPr>
                  <a:spLocks noChangeArrowheads="1"/>
                </p:cNvSpPr>
                <p:nvPr/>
              </p:nvSpPr>
              <p:spPr bwMode="auto">
                <a:xfrm rot="5400000">
                  <a:off x="6541" y="13761"/>
                  <a:ext cx="158" cy="50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36" name="Line 48">
                  <a:extLst>
                    <a:ext uri="{FF2B5EF4-FFF2-40B4-BE49-F238E27FC236}">
                      <a16:creationId xmlns:a16="http://schemas.microsoft.com/office/drawing/2014/main" id="{3ED0D86E-E081-4409-8D6B-52A8957B32D9}"/>
                    </a:ext>
                  </a:extLst>
                </p:cNvPr>
                <p:cNvCxnSpPr>
                  <a:cxnSpLocks noChangeShapeType="1"/>
                </p:cNvCxnSpPr>
                <p:nvPr/>
              </p:nvCxnSpPr>
              <p:spPr bwMode="auto">
                <a:xfrm rot="5400000">
                  <a:off x="8669" y="12217"/>
                  <a:ext cx="0" cy="359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7" name="Line 49">
                  <a:extLst>
                    <a:ext uri="{FF2B5EF4-FFF2-40B4-BE49-F238E27FC236}">
                      <a16:creationId xmlns:a16="http://schemas.microsoft.com/office/drawing/2014/main" id="{8D36D127-B7AD-4942-9519-9E9C11856B3E}"/>
                    </a:ext>
                  </a:extLst>
                </p:cNvPr>
                <p:cNvCxnSpPr>
                  <a:cxnSpLocks noChangeShapeType="1"/>
                </p:cNvCxnSpPr>
                <p:nvPr/>
              </p:nvCxnSpPr>
              <p:spPr bwMode="auto">
                <a:xfrm rot="5400000">
                  <a:off x="4394" y="12046"/>
                  <a:ext cx="0" cy="3933"/>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8" name="Line 50">
                  <a:extLst>
                    <a:ext uri="{FF2B5EF4-FFF2-40B4-BE49-F238E27FC236}">
                      <a16:creationId xmlns:a16="http://schemas.microsoft.com/office/drawing/2014/main" id="{B3B7EEB7-B212-4A9C-99D5-6210B3756FD3}"/>
                    </a:ext>
                  </a:extLst>
                </p:cNvPr>
                <p:cNvCxnSpPr>
                  <a:cxnSpLocks noChangeShapeType="1"/>
                </p:cNvCxnSpPr>
                <p:nvPr/>
              </p:nvCxnSpPr>
              <p:spPr bwMode="auto">
                <a:xfrm>
                  <a:off x="2427" y="13450"/>
                  <a:ext cx="0" cy="56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39" name="Rectangle 38">
                  <a:extLst>
                    <a:ext uri="{FF2B5EF4-FFF2-40B4-BE49-F238E27FC236}">
                      <a16:creationId xmlns:a16="http://schemas.microsoft.com/office/drawing/2014/main" id="{2DB863B8-BF5E-4DCE-A03F-4CD00ACDD0AB}"/>
                    </a:ext>
                  </a:extLst>
                </p:cNvPr>
                <p:cNvSpPr>
                  <a:spLocks noChangeArrowheads="1"/>
                </p:cNvSpPr>
                <p:nvPr/>
              </p:nvSpPr>
              <p:spPr bwMode="auto">
                <a:xfrm rot="21600000">
                  <a:off x="9285" y="11806"/>
                  <a:ext cx="215" cy="50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40" name="Line 52">
                  <a:extLst>
                    <a:ext uri="{FF2B5EF4-FFF2-40B4-BE49-F238E27FC236}">
                      <a16:creationId xmlns:a16="http://schemas.microsoft.com/office/drawing/2014/main" id="{9C25BA5D-4559-4BCD-BCBD-60856954D803}"/>
                    </a:ext>
                  </a:extLst>
                </p:cNvPr>
                <p:cNvCxnSpPr>
                  <a:cxnSpLocks noChangeShapeType="1"/>
                </p:cNvCxnSpPr>
                <p:nvPr/>
              </p:nvCxnSpPr>
              <p:spPr bwMode="auto">
                <a:xfrm rot="21600000">
                  <a:off x="9392" y="11244"/>
                  <a:ext cx="0" cy="612"/>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41" name="Line 53">
                  <a:extLst>
                    <a:ext uri="{FF2B5EF4-FFF2-40B4-BE49-F238E27FC236}">
                      <a16:creationId xmlns:a16="http://schemas.microsoft.com/office/drawing/2014/main" id="{14605309-F490-4BD3-9EEB-36FF4EA3B3CC}"/>
                    </a:ext>
                  </a:extLst>
                </p:cNvPr>
                <p:cNvCxnSpPr>
                  <a:cxnSpLocks noChangeShapeType="1"/>
                </p:cNvCxnSpPr>
                <p:nvPr/>
              </p:nvCxnSpPr>
              <p:spPr bwMode="auto">
                <a:xfrm rot="21600000">
                  <a:off x="9392" y="12311"/>
                  <a:ext cx="0" cy="379"/>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nvGrpSpPr>
                <p:cNvPr id="42" name="Group 41">
                  <a:extLst>
                    <a:ext uri="{FF2B5EF4-FFF2-40B4-BE49-F238E27FC236}">
                      <a16:creationId xmlns:a16="http://schemas.microsoft.com/office/drawing/2014/main" id="{2268D987-9E01-48A5-B69A-C1CA88EE9E10}"/>
                    </a:ext>
                  </a:extLst>
                </p:cNvPr>
                <p:cNvGrpSpPr>
                  <a:grpSpLocks noChangeAspect="1"/>
                </p:cNvGrpSpPr>
                <p:nvPr/>
              </p:nvGrpSpPr>
              <p:grpSpPr bwMode="auto">
                <a:xfrm rot="36000000">
                  <a:off x="8744" y="12367"/>
                  <a:ext cx="215" cy="1264"/>
                  <a:chOff x="9878" y="1418"/>
                  <a:chExt cx="360" cy="1800"/>
                </a:xfrm>
              </p:grpSpPr>
              <p:sp>
                <p:nvSpPr>
                  <p:cNvPr id="56" name="Rectangle 55">
                    <a:extLst>
                      <a:ext uri="{FF2B5EF4-FFF2-40B4-BE49-F238E27FC236}">
                        <a16:creationId xmlns:a16="http://schemas.microsoft.com/office/drawing/2014/main" id="{A86FE684-0398-4CFC-950F-651D60A12015}"/>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57" name="Line 56">
                    <a:extLst>
                      <a:ext uri="{FF2B5EF4-FFF2-40B4-BE49-F238E27FC236}">
                        <a16:creationId xmlns:a16="http://schemas.microsoft.com/office/drawing/2014/main" id="{980C0792-F068-482C-905D-D9B9695AD5DC}"/>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58" name="Line 57">
                    <a:extLst>
                      <a:ext uri="{FF2B5EF4-FFF2-40B4-BE49-F238E27FC236}">
                        <a16:creationId xmlns:a16="http://schemas.microsoft.com/office/drawing/2014/main" id="{364FD853-B218-4582-9D6E-784431594772}"/>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43" name="Group 42">
                  <a:extLst>
                    <a:ext uri="{FF2B5EF4-FFF2-40B4-BE49-F238E27FC236}">
                      <a16:creationId xmlns:a16="http://schemas.microsoft.com/office/drawing/2014/main" id="{8A3E3C3D-6DB6-4367-B4F4-E6F46AEE6DDC}"/>
                    </a:ext>
                  </a:extLst>
                </p:cNvPr>
                <p:cNvGrpSpPr>
                  <a:grpSpLocks noChangeAspect="1"/>
                </p:cNvGrpSpPr>
                <p:nvPr/>
              </p:nvGrpSpPr>
              <p:grpSpPr bwMode="auto">
                <a:xfrm rot="18000000" flipV="1">
                  <a:off x="9820" y="12367"/>
                  <a:ext cx="215" cy="1264"/>
                  <a:chOff x="9878" y="1418"/>
                  <a:chExt cx="360" cy="1800"/>
                </a:xfrm>
              </p:grpSpPr>
              <p:sp>
                <p:nvSpPr>
                  <p:cNvPr id="53" name="Rectangle 52">
                    <a:extLst>
                      <a:ext uri="{FF2B5EF4-FFF2-40B4-BE49-F238E27FC236}">
                        <a16:creationId xmlns:a16="http://schemas.microsoft.com/office/drawing/2014/main" id="{E2675CFC-CB5A-434D-8881-DE1E76CA4EDA}"/>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54" name="Line 60">
                    <a:extLst>
                      <a:ext uri="{FF2B5EF4-FFF2-40B4-BE49-F238E27FC236}">
                        <a16:creationId xmlns:a16="http://schemas.microsoft.com/office/drawing/2014/main" id="{BB294587-4A2B-4869-B994-886FA262F84A}"/>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55" name="Line 61">
                    <a:extLst>
                      <a:ext uri="{FF2B5EF4-FFF2-40B4-BE49-F238E27FC236}">
                        <a16:creationId xmlns:a16="http://schemas.microsoft.com/office/drawing/2014/main" id="{3C39AE65-01DA-4535-97B1-D2A5F84F5449}"/>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cxnSp>
              <p:nvCxnSpPr>
                <p:cNvPr id="44" name="Line 62">
                  <a:extLst>
                    <a:ext uri="{FF2B5EF4-FFF2-40B4-BE49-F238E27FC236}">
                      <a16:creationId xmlns:a16="http://schemas.microsoft.com/office/drawing/2014/main" id="{E576FA23-39CD-4CC1-8596-1FC4EBC226E0}"/>
                    </a:ext>
                  </a:extLst>
                </p:cNvPr>
                <p:cNvCxnSpPr>
                  <a:cxnSpLocks noChangeShapeType="1"/>
                </p:cNvCxnSpPr>
                <p:nvPr/>
              </p:nvCxnSpPr>
              <p:spPr bwMode="auto">
                <a:xfrm>
                  <a:off x="8298" y="13336"/>
                  <a:ext cx="0" cy="17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45" name="Line 63">
                  <a:extLst>
                    <a:ext uri="{FF2B5EF4-FFF2-40B4-BE49-F238E27FC236}">
                      <a16:creationId xmlns:a16="http://schemas.microsoft.com/office/drawing/2014/main" id="{1F1F63D0-B38D-465D-8571-4045B6B607C8}"/>
                    </a:ext>
                  </a:extLst>
                </p:cNvPr>
                <p:cNvCxnSpPr>
                  <a:cxnSpLocks noChangeShapeType="1"/>
                </p:cNvCxnSpPr>
                <p:nvPr/>
              </p:nvCxnSpPr>
              <p:spPr bwMode="auto">
                <a:xfrm>
                  <a:off x="10464" y="13290"/>
                  <a:ext cx="0" cy="72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46" name="Line 64">
                  <a:extLst>
                    <a:ext uri="{FF2B5EF4-FFF2-40B4-BE49-F238E27FC236}">
                      <a16:creationId xmlns:a16="http://schemas.microsoft.com/office/drawing/2014/main" id="{E6DF2785-CB42-46FA-A077-50504FC0900B}"/>
                    </a:ext>
                  </a:extLst>
                </p:cNvPr>
                <p:cNvCxnSpPr>
                  <a:cxnSpLocks noChangeShapeType="1"/>
                </p:cNvCxnSpPr>
                <p:nvPr/>
              </p:nvCxnSpPr>
              <p:spPr bwMode="auto">
                <a:xfrm>
                  <a:off x="3704" y="12681"/>
                  <a:ext cx="5734" cy="0"/>
                </a:xfrm>
                <a:prstGeom prst="line">
                  <a:avLst/>
                </a:prstGeom>
                <a:noFill/>
                <a:ln w="28575">
                  <a:solidFill>
                    <a:srgbClr val="002060"/>
                  </a:solidFill>
                  <a:prstDash val="lgDash"/>
                  <a:round/>
                  <a:headEnd/>
                  <a:tailEnd/>
                </a:ln>
                <a:extLst>
                  <a:ext uri="{909E8E84-426E-40DD-AFC4-6F175D3DCCD1}">
                    <a14:hiddenFill xmlns:a14="http://schemas.microsoft.com/office/drawing/2010/main">
                      <a:noFill/>
                    </a14:hiddenFill>
                  </a:ext>
                </a:extLst>
              </p:spPr>
            </p:cxnSp>
            <p:sp>
              <p:nvSpPr>
                <p:cNvPr id="47" name="Text Box 65">
                  <a:extLst>
                    <a:ext uri="{FF2B5EF4-FFF2-40B4-BE49-F238E27FC236}">
                      <a16:creationId xmlns:a16="http://schemas.microsoft.com/office/drawing/2014/main" id="{428539B3-5A79-4459-AABD-59FD57373EF5}"/>
                    </a:ext>
                  </a:extLst>
                </p:cNvPr>
                <p:cNvSpPr txBox="1">
                  <a:spLocks noChangeArrowheads="1"/>
                </p:cNvSpPr>
                <p:nvPr/>
              </p:nvSpPr>
              <p:spPr bwMode="auto">
                <a:xfrm>
                  <a:off x="6272" y="11218"/>
                  <a:ext cx="562"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 name="Text Box 66">
                  <a:extLst>
                    <a:ext uri="{FF2B5EF4-FFF2-40B4-BE49-F238E27FC236}">
                      <a16:creationId xmlns:a16="http://schemas.microsoft.com/office/drawing/2014/main" id="{7FE1CB5D-085B-46F8-A195-F195BDD1DD94}"/>
                    </a:ext>
                  </a:extLst>
                </p:cNvPr>
                <p:cNvSpPr txBox="1">
                  <a:spLocks noChangeArrowheads="1"/>
                </p:cNvSpPr>
                <p:nvPr/>
              </p:nvSpPr>
              <p:spPr bwMode="auto">
                <a:xfrm>
                  <a:off x="6272" y="12936"/>
                  <a:ext cx="56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9" name="Text Box 67">
                  <a:extLst>
                    <a:ext uri="{FF2B5EF4-FFF2-40B4-BE49-F238E27FC236}">
                      <a16:creationId xmlns:a16="http://schemas.microsoft.com/office/drawing/2014/main" id="{53A7281E-C166-4F2B-A407-211767AEDF81}"/>
                    </a:ext>
                  </a:extLst>
                </p:cNvPr>
                <p:cNvSpPr txBox="1">
                  <a:spLocks noChangeArrowheads="1"/>
                </p:cNvSpPr>
                <p:nvPr/>
              </p:nvSpPr>
              <p:spPr bwMode="auto">
                <a:xfrm>
                  <a:off x="6247" y="13466"/>
                  <a:ext cx="58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0" name="Text Box 68">
                  <a:extLst>
                    <a:ext uri="{FF2B5EF4-FFF2-40B4-BE49-F238E27FC236}">
                      <a16:creationId xmlns:a16="http://schemas.microsoft.com/office/drawing/2014/main" id="{F8BF4A0B-494F-4ECF-8283-E146A8E185D1}"/>
                    </a:ext>
                  </a:extLst>
                </p:cNvPr>
                <p:cNvSpPr txBox="1">
                  <a:spLocks noChangeArrowheads="1"/>
                </p:cNvSpPr>
                <p:nvPr/>
              </p:nvSpPr>
              <p:spPr bwMode="auto">
                <a:xfrm>
                  <a:off x="9534" y="11836"/>
                  <a:ext cx="4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1" name="Text Box 69">
                  <a:extLst>
                    <a:ext uri="{FF2B5EF4-FFF2-40B4-BE49-F238E27FC236}">
                      <a16:creationId xmlns:a16="http://schemas.microsoft.com/office/drawing/2014/main" id="{4514FF9B-7511-446F-B1D6-187748F177A0}"/>
                    </a:ext>
                  </a:extLst>
                </p:cNvPr>
                <p:cNvSpPr txBox="1">
                  <a:spLocks noChangeArrowheads="1"/>
                </p:cNvSpPr>
                <p:nvPr/>
              </p:nvSpPr>
              <p:spPr bwMode="auto">
                <a:xfrm>
                  <a:off x="9931" y="12520"/>
                  <a:ext cx="4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2" name="Text Box 70">
                  <a:extLst>
                    <a:ext uri="{FF2B5EF4-FFF2-40B4-BE49-F238E27FC236}">
                      <a16:creationId xmlns:a16="http://schemas.microsoft.com/office/drawing/2014/main" id="{7A57AC63-C1C0-41DA-9508-B55ABD285414}"/>
                    </a:ext>
                  </a:extLst>
                </p:cNvPr>
                <p:cNvSpPr txBox="1">
                  <a:spLocks noChangeArrowheads="1"/>
                </p:cNvSpPr>
                <p:nvPr/>
              </p:nvSpPr>
              <p:spPr bwMode="auto">
                <a:xfrm>
                  <a:off x="8925" y="13033"/>
                  <a:ext cx="4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8" name="Text Box 71">
                <a:extLst>
                  <a:ext uri="{FF2B5EF4-FFF2-40B4-BE49-F238E27FC236}">
                    <a16:creationId xmlns:a16="http://schemas.microsoft.com/office/drawing/2014/main" id="{56CBBC28-7883-450D-B640-F18F17C76BA6}"/>
                  </a:ext>
                </a:extLst>
              </p:cNvPr>
              <p:cNvSpPr txBox="1">
                <a:spLocks noChangeArrowheads="1"/>
              </p:cNvSpPr>
              <p:nvPr/>
            </p:nvSpPr>
            <p:spPr bwMode="auto">
              <a:xfrm>
                <a:off x="3413" y="12420"/>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N</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72">
                <a:extLst>
                  <a:ext uri="{FF2B5EF4-FFF2-40B4-BE49-F238E27FC236}">
                    <a16:creationId xmlns:a16="http://schemas.microsoft.com/office/drawing/2014/main" id="{8CDE7799-8464-475F-ACD6-B842BE8771FE}"/>
                  </a:ext>
                </a:extLst>
              </p:cNvPr>
              <p:cNvSpPr txBox="1">
                <a:spLocks noChangeArrowheads="1"/>
              </p:cNvSpPr>
              <p:nvPr/>
            </p:nvSpPr>
            <p:spPr bwMode="auto">
              <a:xfrm>
                <a:off x="9473" y="12361"/>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grpSp>
    </p:spTree>
    <p:extLst>
      <p:ext uri="{BB962C8B-B14F-4D97-AF65-F5344CB8AC3E}">
        <p14:creationId xmlns:p14="http://schemas.microsoft.com/office/powerpoint/2010/main" val="2590832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US" dirty="0"/>
              <a:t>(a) Single circuit of a three phase system</a:t>
            </a:r>
            <a:endParaRPr lang="en-GB" dirty="0"/>
          </a:p>
        </p:txBody>
      </p:sp>
      <p:sp>
        <p:nvSpPr>
          <p:cNvPr id="3" name="Rectangle 2">
            <a:extLst>
              <a:ext uri="{FF2B5EF4-FFF2-40B4-BE49-F238E27FC236}">
                <a16:creationId xmlns:a16="http://schemas.microsoft.com/office/drawing/2014/main" id="{5408366F-F3E8-49EE-91DD-5651D8F5B1F9}"/>
              </a:ext>
            </a:extLst>
          </p:cNvPr>
          <p:cNvSpPr/>
          <p:nvPr/>
        </p:nvSpPr>
        <p:spPr>
          <a:xfrm>
            <a:off x="429715" y="1117288"/>
            <a:ext cx="10924085" cy="2800767"/>
          </a:xfrm>
          <a:prstGeom prst="rect">
            <a:avLst/>
          </a:prstGeom>
        </p:spPr>
        <p:txBody>
          <a:bodyPr wrap="square">
            <a:spAutoFit/>
          </a:bodyPr>
          <a:lstStyle/>
          <a:p>
            <a:pPr algn="just"/>
            <a:r>
              <a:rPr lang="en-GB" sz="3200" dirty="0">
                <a:solidFill>
                  <a:srgbClr val="002060"/>
                </a:solidFill>
                <a:latin typeface="Times New Roman" panose="02020603050405020304" pitchFamily="18" charset="0"/>
              </a:rPr>
              <a:t>For a balanced 3 phase 3 wire system (with neutral wire absent).</a:t>
            </a:r>
            <a:endParaRPr lang="en-GB" sz="3200" dirty="0">
              <a:latin typeface="Times New Roman" panose="02020603050405020304" pitchFamily="18" charset="0"/>
            </a:endParaRPr>
          </a:p>
          <a:p>
            <a:pPr marL="342900" marR="0" lvl="0" indent="-342900" algn="just">
              <a:lnSpc>
                <a:spcPct val="90000"/>
              </a:lnSpc>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rPr>
              <a:t>supply voltages E</a:t>
            </a:r>
            <a:r>
              <a:rPr lang="en-GB" sz="3200" baseline="-25000" dirty="0">
                <a:solidFill>
                  <a:srgbClr val="002060"/>
                </a:solidFill>
                <a:latin typeface="Times New Roman" panose="02020603050405020304" pitchFamily="18" charset="0"/>
              </a:rPr>
              <a:t>A</a:t>
            </a:r>
            <a:r>
              <a:rPr lang="en-GB" sz="3200" dirty="0">
                <a:solidFill>
                  <a:srgbClr val="002060"/>
                </a:solidFill>
                <a:latin typeface="Times New Roman" panose="02020603050405020304" pitchFamily="18" charset="0"/>
              </a:rPr>
              <a:t>, E</a:t>
            </a:r>
            <a:r>
              <a:rPr lang="en-GB" sz="3200" baseline="-25000" dirty="0">
                <a:solidFill>
                  <a:srgbClr val="002060"/>
                </a:solidFill>
                <a:latin typeface="Times New Roman" panose="02020603050405020304" pitchFamily="18" charset="0"/>
              </a:rPr>
              <a:t>B</a:t>
            </a:r>
            <a:r>
              <a:rPr lang="en-GB" sz="3200" dirty="0">
                <a:solidFill>
                  <a:srgbClr val="002060"/>
                </a:solidFill>
                <a:latin typeface="Times New Roman" panose="02020603050405020304" pitchFamily="18" charset="0"/>
              </a:rPr>
              <a:t> and E</a:t>
            </a:r>
            <a:r>
              <a:rPr lang="en-GB" sz="3200" baseline="-25000" dirty="0">
                <a:solidFill>
                  <a:srgbClr val="002060"/>
                </a:solidFill>
                <a:latin typeface="Times New Roman" panose="02020603050405020304" pitchFamily="18" charset="0"/>
              </a:rPr>
              <a:t>C</a:t>
            </a:r>
            <a:r>
              <a:rPr lang="en-GB" sz="3200" dirty="0">
                <a:solidFill>
                  <a:srgbClr val="002060"/>
                </a:solidFill>
                <a:latin typeface="Times New Roman" panose="02020603050405020304" pitchFamily="18" charset="0"/>
              </a:rPr>
              <a:t>, 120</a:t>
            </a:r>
            <a:r>
              <a:rPr lang="en-GB" sz="3200" baseline="30000" dirty="0">
                <a:solidFill>
                  <a:srgbClr val="002060"/>
                </a:solidFill>
                <a:latin typeface="Times New Roman" panose="02020603050405020304" pitchFamily="18" charset="0"/>
              </a:rPr>
              <a:t>0</a:t>
            </a:r>
            <a:r>
              <a:rPr lang="en-GB" sz="3200" dirty="0">
                <a:solidFill>
                  <a:srgbClr val="002060"/>
                </a:solidFill>
                <a:latin typeface="Times New Roman" panose="02020603050405020304" pitchFamily="18" charset="0"/>
              </a:rPr>
              <a:t> out of phase.</a:t>
            </a:r>
            <a:endParaRPr lang="en-GB" sz="3200" dirty="0">
              <a:latin typeface="Times New Roman" panose="02020603050405020304" pitchFamily="18" charset="0"/>
            </a:endParaRPr>
          </a:p>
          <a:p>
            <a:pPr marL="342900" marR="0" lvl="0" indent="-342900" algn="just">
              <a:lnSpc>
                <a:spcPct val="90000"/>
              </a:lnSpc>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rPr>
              <a:t>potential of star point S of load is equal to potential of  neutral N of supply.  </a:t>
            </a:r>
            <a:endParaRPr lang="en-GB" sz="3200" dirty="0">
              <a:latin typeface="Times New Roman" panose="02020603050405020304" pitchFamily="18" charset="0"/>
            </a:endParaRPr>
          </a:p>
          <a:p>
            <a:pPr marL="342900" marR="0" lvl="0" indent="-342900" algn="just">
              <a:lnSpc>
                <a:spcPct val="90000"/>
              </a:lnSpc>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whether a neutral wire is present or not, the analysis of the system becomes identical. </a:t>
            </a:r>
            <a:endParaRPr lang="en-GB" sz="3200" dirty="0"/>
          </a:p>
        </p:txBody>
      </p:sp>
      <p:grpSp>
        <p:nvGrpSpPr>
          <p:cNvPr id="37" name="Group 36">
            <a:extLst>
              <a:ext uri="{FF2B5EF4-FFF2-40B4-BE49-F238E27FC236}">
                <a16:creationId xmlns:a16="http://schemas.microsoft.com/office/drawing/2014/main" id="{65784615-4D99-4833-AD16-E8A5B2DAB134}"/>
              </a:ext>
            </a:extLst>
          </p:cNvPr>
          <p:cNvGrpSpPr/>
          <p:nvPr/>
        </p:nvGrpSpPr>
        <p:grpSpPr>
          <a:xfrm>
            <a:off x="1804736" y="3918055"/>
            <a:ext cx="7894402" cy="2486613"/>
            <a:chOff x="1804736" y="3918055"/>
            <a:chExt cx="7894402" cy="2486613"/>
          </a:xfrm>
        </p:grpSpPr>
        <p:grpSp>
          <p:nvGrpSpPr>
            <p:cNvPr id="34" name="Group 33">
              <a:extLst>
                <a:ext uri="{FF2B5EF4-FFF2-40B4-BE49-F238E27FC236}">
                  <a16:creationId xmlns:a16="http://schemas.microsoft.com/office/drawing/2014/main" id="{0DB336A4-BEF2-4399-9B5C-7A8061EDE244}"/>
                </a:ext>
              </a:extLst>
            </p:cNvPr>
            <p:cNvGrpSpPr/>
            <p:nvPr/>
          </p:nvGrpSpPr>
          <p:grpSpPr>
            <a:xfrm>
              <a:off x="1804736" y="3918055"/>
              <a:ext cx="7770934" cy="2486613"/>
              <a:chOff x="2959768" y="3822992"/>
              <a:chExt cx="7770934" cy="2486613"/>
            </a:xfrm>
          </p:grpSpPr>
          <p:cxnSp>
            <p:nvCxnSpPr>
              <p:cNvPr id="5" name="Line 74">
                <a:extLst>
                  <a:ext uri="{FF2B5EF4-FFF2-40B4-BE49-F238E27FC236}">
                    <a16:creationId xmlns:a16="http://schemas.microsoft.com/office/drawing/2014/main" id="{1A9D33C3-E778-4E1D-83E4-23C8038EE792}"/>
                  </a:ext>
                </a:extLst>
              </p:cNvPr>
              <p:cNvCxnSpPr>
                <a:cxnSpLocks noChangeAspect="1" noChangeShapeType="1"/>
              </p:cNvCxnSpPr>
              <p:nvPr/>
            </p:nvCxnSpPr>
            <p:spPr bwMode="auto">
              <a:xfrm flipV="1">
                <a:off x="3889463" y="3894147"/>
                <a:ext cx="0" cy="1796664"/>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sp>
            <p:nvSpPr>
              <p:cNvPr id="6" name="Text Box 75">
                <a:extLst>
                  <a:ext uri="{FF2B5EF4-FFF2-40B4-BE49-F238E27FC236}">
                    <a16:creationId xmlns:a16="http://schemas.microsoft.com/office/drawing/2014/main" id="{53DEE538-0866-4A8B-8A90-E660014DC798}"/>
                  </a:ext>
                </a:extLst>
              </p:cNvPr>
              <p:cNvSpPr txBox="1">
                <a:spLocks noChangeArrowheads="1"/>
              </p:cNvSpPr>
              <p:nvPr/>
            </p:nvSpPr>
            <p:spPr bwMode="auto">
              <a:xfrm>
                <a:off x="2959768" y="5038218"/>
                <a:ext cx="574195" cy="42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400"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0FF58E52-DB4E-49A9-A4B8-9CAB0A4D1930}"/>
                  </a:ext>
                </a:extLst>
              </p:cNvPr>
              <p:cNvGrpSpPr>
                <a:grpSpLocks noChangeAspect="1"/>
              </p:cNvGrpSpPr>
              <p:nvPr/>
            </p:nvGrpSpPr>
            <p:grpSpPr bwMode="auto">
              <a:xfrm>
                <a:off x="3664545" y="5034660"/>
                <a:ext cx="394536" cy="431504"/>
                <a:chOff x="8858" y="9998"/>
                <a:chExt cx="600" cy="600"/>
              </a:xfrm>
            </p:grpSpPr>
            <p:sp>
              <p:nvSpPr>
                <p:cNvPr id="29" name="Oval 28">
                  <a:extLst>
                    <a:ext uri="{FF2B5EF4-FFF2-40B4-BE49-F238E27FC236}">
                      <a16:creationId xmlns:a16="http://schemas.microsoft.com/office/drawing/2014/main" id="{7E7A81BE-EC1D-4F20-AB9F-C2DEADF6DA78}"/>
                    </a:ext>
                  </a:extLst>
                </p:cNvPr>
                <p:cNvSpPr>
                  <a:spLocks noChangeAspect="1" noChangeArrowheads="1"/>
                </p:cNvSpPr>
                <p:nvPr/>
              </p:nvSpPr>
              <p:spPr bwMode="auto">
                <a:xfrm>
                  <a:off x="8858" y="9998"/>
                  <a:ext cx="600" cy="600"/>
                </a:xfrm>
                <a:prstGeom prst="ellipse">
                  <a:avLst/>
                </a:prstGeom>
                <a:solidFill>
                  <a:srgbClr val="C6D9F1"/>
                </a:solidFill>
                <a:ln w="38100">
                  <a:solidFill>
                    <a:srgbClr val="002060"/>
                  </a:solidFill>
                  <a:round/>
                  <a:headEnd/>
                  <a:tailEnd/>
                </a:ln>
              </p:spPr>
              <p:txBody>
                <a:bodyPr rot="0" vert="horz" wrap="square" lIns="91440" tIns="45720" rIns="91440" bIns="45720" anchor="t" anchorCtr="0" upright="1">
                  <a:noAutofit/>
                </a:bodyPr>
                <a:lstStyle/>
                <a:p>
                  <a:endParaRPr lang="en-GB"/>
                </a:p>
              </p:txBody>
            </p:sp>
            <p:grpSp>
              <p:nvGrpSpPr>
                <p:cNvPr id="30" name="Group 29">
                  <a:extLst>
                    <a:ext uri="{FF2B5EF4-FFF2-40B4-BE49-F238E27FC236}">
                      <a16:creationId xmlns:a16="http://schemas.microsoft.com/office/drawing/2014/main" id="{945B358D-F14D-42A9-93F0-038BE6334D72}"/>
                    </a:ext>
                  </a:extLst>
                </p:cNvPr>
                <p:cNvGrpSpPr>
                  <a:grpSpLocks noChangeAspect="1"/>
                </p:cNvGrpSpPr>
                <p:nvPr/>
              </p:nvGrpSpPr>
              <p:grpSpPr bwMode="auto">
                <a:xfrm>
                  <a:off x="8974" y="10146"/>
                  <a:ext cx="362" cy="272"/>
                  <a:chOff x="4778" y="6098"/>
                  <a:chExt cx="2880" cy="1440"/>
                </a:xfrm>
              </p:grpSpPr>
              <p:sp>
                <p:nvSpPr>
                  <p:cNvPr id="31" name="Arc 79">
                    <a:extLst>
                      <a:ext uri="{FF2B5EF4-FFF2-40B4-BE49-F238E27FC236}">
                        <a16:creationId xmlns:a16="http://schemas.microsoft.com/office/drawing/2014/main" id="{B65843B2-330E-44C7-9F6D-84A14868E31F}"/>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2" name="Arc 80">
                    <a:extLst>
                      <a:ext uri="{FF2B5EF4-FFF2-40B4-BE49-F238E27FC236}">
                        <a16:creationId xmlns:a16="http://schemas.microsoft.com/office/drawing/2014/main" id="{F2856C09-DE82-4EB2-BE86-43D552A8CFA1}"/>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sp>
            <p:nvSpPr>
              <p:cNvPr id="8" name="Rectangle 7">
                <a:extLst>
                  <a:ext uri="{FF2B5EF4-FFF2-40B4-BE49-F238E27FC236}">
                    <a16:creationId xmlns:a16="http://schemas.microsoft.com/office/drawing/2014/main" id="{9DE1CA0B-4E48-4531-AB6F-C0AEBF965FD1}"/>
                  </a:ext>
                </a:extLst>
              </p:cNvPr>
              <p:cNvSpPr>
                <a:spLocks noChangeAspect="1" noChangeArrowheads="1"/>
              </p:cNvSpPr>
              <p:nvPr/>
            </p:nvSpPr>
            <p:spPr bwMode="auto">
              <a:xfrm rot="10800000">
                <a:off x="3811393" y="4396806"/>
                <a:ext cx="140806" cy="362382"/>
              </a:xfrm>
              <a:prstGeom prst="rect">
                <a:avLst/>
              </a:prstGeom>
              <a:solidFill>
                <a:srgbClr val="C6D9F1"/>
              </a:solidFill>
              <a:ln w="38100">
                <a:solidFill>
                  <a:srgbClr val="002060"/>
                </a:solidFill>
                <a:miter lim="800000"/>
                <a:headEnd/>
                <a:tailEnd/>
              </a:ln>
            </p:spPr>
            <p:txBody>
              <a:bodyPr rot="0" vert="horz" wrap="square" lIns="91440" tIns="45720" rIns="91440" bIns="45720" anchor="t" anchorCtr="0" upright="1">
                <a:noAutofit/>
              </a:bodyPr>
              <a:lstStyle/>
              <a:p>
                <a:endParaRPr lang="en-GB"/>
              </a:p>
            </p:txBody>
          </p:sp>
          <p:cxnSp>
            <p:nvCxnSpPr>
              <p:cNvPr id="9" name="Line 82">
                <a:extLst>
                  <a:ext uri="{FF2B5EF4-FFF2-40B4-BE49-F238E27FC236}">
                    <a16:creationId xmlns:a16="http://schemas.microsoft.com/office/drawing/2014/main" id="{B5EBFAF5-7878-4537-BF14-6CA16957C638}"/>
                  </a:ext>
                </a:extLst>
              </p:cNvPr>
              <p:cNvCxnSpPr>
                <a:cxnSpLocks noChangeAspect="1" noChangeShapeType="1"/>
              </p:cNvCxnSpPr>
              <p:nvPr/>
            </p:nvCxnSpPr>
            <p:spPr bwMode="auto">
              <a:xfrm rot="10800000">
                <a:off x="3533963" y="5038218"/>
                <a:ext cx="0" cy="410158"/>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sp>
            <p:nvSpPr>
              <p:cNvPr id="10" name="Text Box 83">
                <a:extLst>
                  <a:ext uri="{FF2B5EF4-FFF2-40B4-BE49-F238E27FC236}">
                    <a16:creationId xmlns:a16="http://schemas.microsoft.com/office/drawing/2014/main" id="{9F10CD81-100D-4207-B748-F30A668794FE}"/>
                  </a:ext>
                </a:extLst>
              </p:cNvPr>
              <p:cNvSpPr txBox="1">
                <a:spLocks noChangeArrowheads="1"/>
              </p:cNvSpPr>
              <p:nvPr/>
            </p:nvSpPr>
            <p:spPr bwMode="auto">
              <a:xfrm>
                <a:off x="3453753" y="4213357"/>
                <a:ext cx="391283" cy="42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1" name="Group 10">
                <a:extLst>
                  <a:ext uri="{FF2B5EF4-FFF2-40B4-BE49-F238E27FC236}">
                    <a16:creationId xmlns:a16="http://schemas.microsoft.com/office/drawing/2014/main" id="{896FA7A6-C56C-473D-B1C3-B152C51DEE9A}"/>
                  </a:ext>
                </a:extLst>
              </p:cNvPr>
              <p:cNvGrpSpPr>
                <a:grpSpLocks noChangeAspect="1"/>
              </p:cNvGrpSpPr>
              <p:nvPr/>
            </p:nvGrpSpPr>
            <p:grpSpPr bwMode="auto">
              <a:xfrm>
                <a:off x="3741286" y="5542188"/>
                <a:ext cx="281018" cy="492862"/>
                <a:chOff x="4701" y="3904"/>
                <a:chExt cx="240" cy="360"/>
              </a:xfrm>
            </p:grpSpPr>
            <p:cxnSp>
              <p:nvCxnSpPr>
                <p:cNvPr id="25" name="Line 85">
                  <a:extLst>
                    <a:ext uri="{FF2B5EF4-FFF2-40B4-BE49-F238E27FC236}">
                      <a16:creationId xmlns:a16="http://schemas.microsoft.com/office/drawing/2014/main" id="{2FD2DC96-AAEA-4C77-8AA1-696639B31A58}"/>
                    </a:ext>
                  </a:extLst>
                </p:cNvPr>
                <p:cNvCxnSpPr>
                  <a:cxnSpLocks noChangeShapeType="1"/>
                </p:cNvCxnSpPr>
                <p:nvPr/>
              </p:nvCxnSpPr>
              <p:spPr bwMode="auto">
                <a:xfrm>
                  <a:off x="4821" y="3904"/>
                  <a:ext cx="0" cy="24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26" name="Line 86">
                  <a:extLst>
                    <a:ext uri="{FF2B5EF4-FFF2-40B4-BE49-F238E27FC236}">
                      <a16:creationId xmlns:a16="http://schemas.microsoft.com/office/drawing/2014/main" id="{DC35DA7A-DADF-4CA1-A59E-81494696FC03}"/>
                    </a:ext>
                  </a:extLst>
                </p:cNvPr>
                <p:cNvCxnSpPr>
                  <a:cxnSpLocks noChangeShapeType="1"/>
                </p:cNvCxnSpPr>
                <p:nvPr/>
              </p:nvCxnSpPr>
              <p:spPr bwMode="auto">
                <a:xfrm>
                  <a:off x="4701" y="4144"/>
                  <a:ext cx="24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27" name="Line 87">
                  <a:extLst>
                    <a:ext uri="{FF2B5EF4-FFF2-40B4-BE49-F238E27FC236}">
                      <a16:creationId xmlns:a16="http://schemas.microsoft.com/office/drawing/2014/main" id="{FFB437DC-0C39-4EFE-9D61-85641790A000}"/>
                    </a:ext>
                  </a:extLst>
                </p:cNvPr>
                <p:cNvCxnSpPr>
                  <a:cxnSpLocks noChangeShapeType="1"/>
                </p:cNvCxnSpPr>
                <p:nvPr/>
              </p:nvCxnSpPr>
              <p:spPr bwMode="auto">
                <a:xfrm>
                  <a:off x="4746" y="4204"/>
                  <a:ext cx="142"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28" name="Line 88">
                  <a:extLst>
                    <a:ext uri="{FF2B5EF4-FFF2-40B4-BE49-F238E27FC236}">
                      <a16:creationId xmlns:a16="http://schemas.microsoft.com/office/drawing/2014/main" id="{1BBB8946-9952-41AB-8431-4A964898CA79}"/>
                    </a:ext>
                  </a:extLst>
                </p:cNvPr>
                <p:cNvCxnSpPr>
                  <a:cxnSpLocks noChangeShapeType="1"/>
                </p:cNvCxnSpPr>
                <p:nvPr/>
              </p:nvCxnSpPr>
              <p:spPr bwMode="auto">
                <a:xfrm>
                  <a:off x="4791" y="4264"/>
                  <a:ext cx="85"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grpSp>
          <p:sp>
            <p:nvSpPr>
              <p:cNvPr id="12" name="Rectangle 11">
                <a:extLst>
                  <a:ext uri="{FF2B5EF4-FFF2-40B4-BE49-F238E27FC236}">
                    <a16:creationId xmlns:a16="http://schemas.microsoft.com/office/drawing/2014/main" id="{74468164-0204-4D2F-8E39-AE464B99B50B}"/>
                  </a:ext>
                </a:extLst>
              </p:cNvPr>
              <p:cNvSpPr>
                <a:spLocks noChangeArrowheads="1"/>
              </p:cNvSpPr>
              <p:nvPr/>
            </p:nvSpPr>
            <p:spPr bwMode="auto">
              <a:xfrm rot="5400000">
                <a:off x="6945705" y="3641890"/>
                <a:ext cx="187544" cy="549748"/>
              </a:xfrm>
              <a:prstGeom prst="rect">
                <a:avLst/>
              </a:prstGeom>
              <a:noFill/>
              <a:ln w="38100">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3" name="Line 90">
                <a:extLst>
                  <a:ext uri="{FF2B5EF4-FFF2-40B4-BE49-F238E27FC236}">
                    <a16:creationId xmlns:a16="http://schemas.microsoft.com/office/drawing/2014/main" id="{5DED6FD1-1AD8-43E4-AE3B-396D9AE6D060}"/>
                  </a:ext>
                </a:extLst>
              </p:cNvPr>
              <p:cNvCxnSpPr>
                <a:cxnSpLocks noChangeShapeType="1"/>
              </p:cNvCxnSpPr>
              <p:nvPr/>
            </p:nvCxnSpPr>
            <p:spPr bwMode="auto">
              <a:xfrm rot="5400000">
                <a:off x="8676406" y="2553439"/>
                <a:ext cx="0" cy="272411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4" name="Line 91">
                <a:extLst>
                  <a:ext uri="{FF2B5EF4-FFF2-40B4-BE49-F238E27FC236}">
                    <a16:creationId xmlns:a16="http://schemas.microsoft.com/office/drawing/2014/main" id="{8C868A65-11FA-42E1-94C7-D17F060304B4}"/>
                  </a:ext>
                </a:extLst>
              </p:cNvPr>
              <p:cNvCxnSpPr>
                <a:cxnSpLocks noChangeShapeType="1"/>
              </p:cNvCxnSpPr>
              <p:nvPr/>
            </p:nvCxnSpPr>
            <p:spPr bwMode="auto">
              <a:xfrm rot="5400000">
                <a:off x="5320760" y="2478599"/>
                <a:ext cx="0" cy="2873281"/>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sp>
            <p:nvSpPr>
              <p:cNvPr id="15" name="Rectangle 14">
                <a:extLst>
                  <a:ext uri="{FF2B5EF4-FFF2-40B4-BE49-F238E27FC236}">
                    <a16:creationId xmlns:a16="http://schemas.microsoft.com/office/drawing/2014/main" id="{A7F88A8E-9EC1-46B0-BE6B-7263BD638BB0}"/>
                  </a:ext>
                </a:extLst>
              </p:cNvPr>
              <p:cNvSpPr>
                <a:spLocks noChangeArrowheads="1"/>
              </p:cNvSpPr>
              <p:nvPr/>
            </p:nvSpPr>
            <p:spPr bwMode="auto">
              <a:xfrm>
                <a:off x="9934367" y="4578760"/>
                <a:ext cx="233747" cy="600752"/>
              </a:xfrm>
              <a:prstGeom prst="rect">
                <a:avLst/>
              </a:prstGeom>
              <a:solidFill>
                <a:srgbClr val="C6D9F1"/>
              </a:solidFill>
              <a:ln w="38100">
                <a:solidFill>
                  <a:srgbClr val="002060"/>
                </a:solidFill>
                <a:miter lim="800000"/>
                <a:headEnd/>
                <a:tailEnd/>
              </a:ln>
            </p:spPr>
            <p:txBody>
              <a:bodyPr rot="0" vert="horz" wrap="square" lIns="91440" tIns="45720" rIns="91440" bIns="45720" anchor="t" anchorCtr="0" upright="1">
                <a:noAutofit/>
              </a:bodyPr>
              <a:lstStyle/>
              <a:p>
                <a:endParaRPr lang="en-GB"/>
              </a:p>
            </p:txBody>
          </p:sp>
          <p:cxnSp>
            <p:nvCxnSpPr>
              <p:cNvPr id="16" name="Line 93">
                <a:extLst>
                  <a:ext uri="{FF2B5EF4-FFF2-40B4-BE49-F238E27FC236}">
                    <a16:creationId xmlns:a16="http://schemas.microsoft.com/office/drawing/2014/main" id="{0019CD7D-46CF-432A-B32C-9331D2165272}"/>
                  </a:ext>
                </a:extLst>
              </p:cNvPr>
              <p:cNvCxnSpPr>
                <a:cxnSpLocks noChangeShapeType="1"/>
              </p:cNvCxnSpPr>
              <p:nvPr/>
            </p:nvCxnSpPr>
            <p:spPr bwMode="auto">
              <a:xfrm>
                <a:off x="10050543" y="3910919"/>
                <a:ext cx="0" cy="727306"/>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7" name="Line 94">
                <a:extLst>
                  <a:ext uri="{FF2B5EF4-FFF2-40B4-BE49-F238E27FC236}">
                    <a16:creationId xmlns:a16="http://schemas.microsoft.com/office/drawing/2014/main" id="{BE833AAF-D89D-47E6-8835-C4B20EB2E244}"/>
                  </a:ext>
                </a:extLst>
              </p:cNvPr>
              <p:cNvCxnSpPr>
                <a:cxnSpLocks noChangeShapeType="1"/>
              </p:cNvCxnSpPr>
              <p:nvPr/>
            </p:nvCxnSpPr>
            <p:spPr bwMode="auto">
              <a:xfrm>
                <a:off x="10050543" y="5178495"/>
                <a:ext cx="0" cy="45031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8" name="Line 95">
                <a:extLst>
                  <a:ext uri="{FF2B5EF4-FFF2-40B4-BE49-F238E27FC236}">
                    <a16:creationId xmlns:a16="http://schemas.microsoft.com/office/drawing/2014/main" id="{7F14E71D-8FF1-4B87-943D-DD21DC45E830}"/>
                  </a:ext>
                </a:extLst>
              </p:cNvPr>
              <p:cNvCxnSpPr>
                <a:cxnSpLocks noChangeShapeType="1"/>
              </p:cNvCxnSpPr>
              <p:nvPr/>
            </p:nvCxnSpPr>
            <p:spPr bwMode="auto">
              <a:xfrm>
                <a:off x="3871805" y="5618131"/>
                <a:ext cx="6228927" cy="0"/>
              </a:xfrm>
              <a:prstGeom prst="line">
                <a:avLst/>
              </a:prstGeom>
              <a:noFill/>
              <a:ln w="38100">
                <a:solidFill>
                  <a:srgbClr val="00B0F0"/>
                </a:solidFill>
                <a:round/>
                <a:headEnd/>
                <a:tailEnd/>
              </a:ln>
              <a:extLst>
                <a:ext uri="{909E8E84-426E-40DD-AFC4-6F175D3DCCD1}">
                  <a14:hiddenFill xmlns:a14="http://schemas.microsoft.com/office/drawing/2010/main">
                    <a:noFill/>
                  </a14:hiddenFill>
                </a:ext>
              </a:extLst>
            </p:spPr>
          </p:cxnSp>
          <p:sp>
            <p:nvSpPr>
              <p:cNvPr id="19" name="Text Box 96">
                <a:extLst>
                  <a:ext uri="{FF2B5EF4-FFF2-40B4-BE49-F238E27FC236}">
                    <a16:creationId xmlns:a16="http://schemas.microsoft.com/office/drawing/2014/main" id="{F96DA84B-9618-45E1-99FA-C85C5E6B4ED1}"/>
                  </a:ext>
                </a:extLst>
              </p:cNvPr>
              <p:cNvSpPr txBox="1">
                <a:spLocks noChangeArrowheads="1"/>
              </p:cNvSpPr>
              <p:nvPr/>
            </p:nvSpPr>
            <p:spPr bwMode="auto">
              <a:xfrm>
                <a:off x="6504834" y="3958187"/>
                <a:ext cx="767230" cy="58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 Box 97">
                <a:extLst>
                  <a:ext uri="{FF2B5EF4-FFF2-40B4-BE49-F238E27FC236}">
                    <a16:creationId xmlns:a16="http://schemas.microsoft.com/office/drawing/2014/main" id="{1260D397-77B4-41FE-B7B7-14A79A3FFBF5}"/>
                  </a:ext>
                </a:extLst>
              </p:cNvPr>
              <p:cNvSpPr txBox="1">
                <a:spLocks noChangeArrowheads="1"/>
              </p:cNvSpPr>
              <p:nvPr/>
            </p:nvSpPr>
            <p:spPr bwMode="auto">
              <a:xfrm>
                <a:off x="9399954" y="4564529"/>
                <a:ext cx="390818" cy="42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8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1" name="Line 98">
                <a:extLst>
                  <a:ext uri="{FF2B5EF4-FFF2-40B4-BE49-F238E27FC236}">
                    <a16:creationId xmlns:a16="http://schemas.microsoft.com/office/drawing/2014/main" id="{0C8D57F5-F283-40D1-8230-D660B88AC275}"/>
                  </a:ext>
                </a:extLst>
              </p:cNvPr>
              <p:cNvCxnSpPr>
                <a:cxnSpLocks noChangeAspect="1" noChangeShapeType="1"/>
              </p:cNvCxnSpPr>
              <p:nvPr/>
            </p:nvCxnSpPr>
            <p:spPr bwMode="auto">
              <a:xfrm rot="10800000">
                <a:off x="9790772" y="4496423"/>
                <a:ext cx="0" cy="681055"/>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22" name="Line 99">
                <a:extLst>
                  <a:ext uri="{FF2B5EF4-FFF2-40B4-BE49-F238E27FC236}">
                    <a16:creationId xmlns:a16="http://schemas.microsoft.com/office/drawing/2014/main" id="{D7CF2ED5-1360-4745-B1F9-FF58A3E96B65}"/>
                  </a:ext>
                </a:extLst>
              </p:cNvPr>
              <p:cNvCxnSpPr>
                <a:cxnSpLocks noChangeShapeType="1"/>
              </p:cNvCxnSpPr>
              <p:nvPr/>
            </p:nvCxnSpPr>
            <p:spPr bwMode="auto">
              <a:xfrm>
                <a:off x="8366911" y="3910919"/>
                <a:ext cx="247689"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sp>
            <p:nvSpPr>
              <p:cNvPr id="23" name="Text Box 100">
                <a:extLst>
                  <a:ext uri="{FF2B5EF4-FFF2-40B4-BE49-F238E27FC236}">
                    <a16:creationId xmlns:a16="http://schemas.microsoft.com/office/drawing/2014/main" id="{78CC6908-F100-4A0C-B1D0-043A65EB43B0}"/>
                  </a:ext>
                </a:extLst>
              </p:cNvPr>
              <p:cNvSpPr txBox="1">
                <a:spLocks noChangeArrowheads="1"/>
              </p:cNvSpPr>
              <p:nvPr/>
            </p:nvSpPr>
            <p:spPr bwMode="auto">
              <a:xfrm>
                <a:off x="8471006" y="4026292"/>
                <a:ext cx="391283" cy="42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Text Box 101">
                <a:extLst>
                  <a:ext uri="{FF2B5EF4-FFF2-40B4-BE49-F238E27FC236}">
                    <a16:creationId xmlns:a16="http://schemas.microsoft.com/office/drawing/2014/main" id="{A248A57B-B49D-4FD4-A5AF-A2A2D1407568}"/>
                  </a:ext>
                </a:extLst>
              </p:cNvPr>
              <p:cNvSpPr txBox="1">
                <a:spLocks noChangeArrowheads="1"/>
              </p:cNvSpPr>
              <p:nvPr/>
            </p:nvSpPr>
            <p:spPr bwMode="auto">
              <a:xfrm>
                <a:off x="4204363" y="5825243"/>
                <a:ext cx="6526339" cy="4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6 – One phase of Three phase system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Text Box 97">
                <a:extLst>
                  <a:ext uri="{FF2B5EF4-FFF2-40B4-BE49-F238E27FC236}">
                    <a16:creationId xmlns:a16="http://schemas.microsoft.com/office/drawing/2014/main" id="{707811DA-06C3-4DCB-8C1E-44002B930584}"/>
                  </a:ext>
                </a:extLst>
              </p:cNvPr>
              <p:cNvSpPr txBox="1">
                <a:spLocks noChangeArrowheads="1"/>
              </p:cNvSpPr>
              <p:nvPr/>
            </p:nvSpPr>
            <p:spPr bwMode="auto">
              <a:xfrm>
                <a:off x="10339884" y="4113965"/>
                <a:ext cx="390818" cy="42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r>
                  <a:rPr lang="en-GB" sz="2800" baseline="-25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pic>
          <p:nvPicPr>
            <p:cNvPr id="36" name="Picture 35" descr="A picture containing object, clock, cat&#10;&#10;Description automatically generated">
              <a:extLst>
                <a:ext uri="{FF2B5EF4-FFF2-40B4-BE49-F238E27FC236}">
                  <a16:creationId xmlns:a16="http://schemas.microsoft.com/office/drawing/2014/main" id="{00BC66E4-C54B-41CF-BA01-14E594A69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4852" y="4744147"/>
              <a:ext cx="514286" cy="542857"/>
            </a:xfrm>
            <a:prstGeom prst="rect">
              <a:avLst/>
            </a:prstGeom>
          </p:spPr>
        </p:pic>
      </p:grpSp>
    </p:spTree>
    <p:extLst>
      <p:ext uri="{BB962C8B-B14F-4D97-AF65-F5344CB8AC3E}">
        <p14:creationId xmlns:p14="http://schemas.microsoft.com/office/powerpoint/2010/main" val="1437521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1C3AFB8-BEDB-4FED-85B4-6E0E06742927}"/>
              </a:ext>
            </a:extLst>
          </p:cNvPr>
          <p:cNvSpPr/>
          <p:nvPr/>
        </p:nvSpPr>
        <p:spPr>
          <a:xfrm>
            <a:off x="284747" y="511001"/>
            <a:ext cx="11622505" cy="6124754"/>
          </a:xfrm>
          <a:prstGeom prst="rect">
            <a:avLst/>
          </a:prstGeom>
        </p:spPr>
        <p:txBody>
          <a:bodyPr wrap="square">
            <a:spAutoFit/>
          </a:bodyPr>
          <a:lstStyle/>
          <a:p>
            <a:pPr algn="just"/>
            <a:r>
              <a:rPr lang="en-GB" sz="2800" dirty="0">
                <a:solidFill>
                  <a:srgbClr val="002060"/>
                </a:solidFill>
                <a:latin typeface="Times New Roman" panose="02020603050405020304" pitchFamily="18" charset="0"/>
              </a:rPr>
              <a:t>Draw neutral wire of zero impedance between S and N.</a:t>
            </a:r>
            <a:endParaRPr lang="en-GB" sz="2800" b="1" dirty="0">
              <a:latin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GB" sz="2800" dirty="0">
                <a:solidFill>
                  <a:srgbClr val="002060"/>
                </a:solidFill>
                <a:latin typeface="Times New Roman" panose="02020603050405020304" pitchFamily="18" charset="0"/>
              </a:rPr>
              <a:t>as no potential difference exists between S and N, analyse only one single phase “A” of system as shown in figure 6.  </a:t>
            </a:r>
            <a:endParaRPr lang="en-GB" sz="2800" b="1" dirty="0">
              <a:latin typeface="Times New Roman" panose="02020603050405020304" pitchFamily="18" charset="0"/>
            </a:endParaRPr>
          </a:p>
          <a:p>
            <a:pPr algn="just"/>
            <a:r>
              <a:rPr lang="en-GB" sz="2800" dirty="0">
                <a:solidFill>
                  <a:srgbClr val="002060"/>
                </a:solidFill>
                <a:latin typeface="Times New Roman" panose="02020603050405020304" pitchFamily="18" charset="0"/>
              </a:rPr>
              <a:t> Comparing the line quantities, </a:t>
            </a:r>
            <a:endParaRPr lang="en-GB" sz="2800" b="1" dirty="0">
              <a:latin typeface="Times New Roman" panose="02020603050405020304" pitchFamily="18" charset="0"/>
            </a:endParaRPr>
          </a:p>
          <a:p>
            <a:pPr algn="just"/>
            <a:r>
              <a:rPr lang="en-GB" sz="2800" dirty="0">
                <a:solidFill>
                  <a:srgbClr val="002060"/>
                </a:solidFill>
                <a:latin typeface="Times New Roman" panose="02020603050405020304" pitchFamily="18" charset="0"/>
              </a:rPr>
              <a:t>	E</a:t>
            </a:r>
            <a:r>
              <a:rPr lang="en-GB" sz="2800" baseline="-25000" dirty="0">
                <a:solidFill>
                  <a:srgbClr val="002060"/>
                </a:solidFill>
                <a:latin typeface="Times New Roman" panose="02020603050405020304" pitchFamily="18" charset="0"/>
              </a:rPr>
              <a:t>L</a:t>
            </a:r>
            <a:r>
              <a:rPr lang="en-GB" sz="2800" dirty="0">
                <a:solidFill>
                  <a:srgbClr val="002060"/>
                </a:solidFill>
                <a:latin typeface="Times New Roman" panose="02020603050405020304" pitchFamily="18" charset="0"/>
              </a:rPr>
              <a:t> = </a:t>
            </a:r>
            <a:r>
              <a:rPr lang="en-GB" sz="2800" dirty="0">
                <a:solidFill>
                  <a:srgbClr val="002060"/>
                </a:solidFill>
                <a:latin typeface="Symbol" panose="05050102010706020507" pitchFamily="18" charset="2"/>
              </a:rPr>
              <a:t>Ö</a:t>
            </a:r>
            <a:r>
              <a:rPr lang="en-GB" sz="2800" dirty="0">
                <a:solidFill>
                  <a:srgbClr val="002060"/>
                </a:solidFill>
                <a:latin typeface="Times New Roman" panose="02020603050405020304" pitchFamily="18" charset="0"/>
              </a:rPr>
              <a:t>3 E</a:t>
            </a:r>
            <a:r>
              <a:rPr lang="en-GB" sz="2800" baseline="-25000" dirty="0">
                <a:solidFill>
                  <a:srgbClr val="002060"/>
                </a:solidFill>
                <a:latin typeface="Times New Roman" panose="02020603050405020304" pitchFamily="18" charset="0"/>
              </a:rPr>
              <a:t>p</a:t>
            </a:r>
            <a:r>
              <a:rPr lang="en-GB" sz="2800" dirty="0">
                <a:solidFill>
                  <a:srgbClr val="002060"/>
                </a:solidFill>
                <a:latin typeface="Times New Roman" panose="02020603050405020304" pitchFamily="18" charset="0"/>
              </a:rPr>
              <a:t>,         I</a:t>
            </a:r>
            <a:r>
              <a:rPr lang="en-GB" sz="2800" baseline="-25000" dirty="0">
                <a:solidFill>
                  <a:srgbClr val="002060"/>
                </a:solidFill>
                <a:latin typeface="Times New Roman" panose="02020603050405020304" pitchFamily="18" charset="0"/>
              </a:rPr>
              <a:t>L</a:t>
            </a:r>
            <a:r>
              <a:rPr lang="en-GB" sz="2800" dirty="0">
                <a:solidFill>
                  <a:srgbClr val="002060"/>
                </a:solidFill>
                <a:latin typeface="Times New Roman" panose="02020603050405020304" pitchFamily="18" charset="0"/>
              </a:rPr>
              <a:t> = </a:t>
            </a:r>
            <a:r>
              <a:rPr lang="en-GB" sz="2800" dirty="0">
                <a:solidFill>
                  <a:srgbClr val="002060"/>
                </a:solidFill>
                <a:latin typeface="Symbol" panose="05050102010706020507" pitchFamily="18" charset="2"/>
              </a:rPr>
              <a:t>I</a:t>
            </a:r>
            <a:r>
              <a:rPr lang="en-GB" sz="2800" baseline="-25000" dirty="0">
                <a:solidFill>
                  <a:srgbClr val="002060"/>
                </a:solidFill>
                <a:latin typeface="Times New Roman" panose="02020603050405020304" pitchFamily="18" charset="0"/>
              </a:rPr>
              <a:t>p</a:t>
            </a:r>
            <a:r>
              <a:rPr lang="en-GB" sz="2800" dirty="0">
                <a:solidFill>
                  <a:srgbClr val="002060"/>
                </a:solidFill>
                <a:latin typeface="Times New Roman" panose="02020603050405020304" pitchFamily="18" charset="0"/>
              </a:rPr>
              <a:t>     and    P</a:t>
            </a:r>
            <a:r>
              <a:rPr lang="en-GB" sz="2800" baseline="-25000" dirty="0">
                <a:solidFill>
                  <a:srgbClr val="002060"/>
                </a:solidFill>
                <a:latin typeface="Times New Roman" panose="02020603050405020304" pitchFamily="18" charset="0"/>
              </a:rPr>
              <a:t>p</a:t>
            </a:r>
            <a:r>
              <a:rPr lang="en-GB" sz="2800" dirty="0">
                <a:solidFill>
                  <a:srgbClr val="002060"/>
                </a:solidFill>
                <a:latin typeface="Times New Roman" panose="02020603050405020304" pitchFamily="18" charset="0"/>
              </a:rPr>
              <a:t>  = P/3</a:t>
            </a:r>
            <a:endParaRPr lang="en-GB" sz="2800" b="1" dirty="0">
              <a:latin typeface="Times New Roman" panose="02020603050405020304" pitchFamily="18" charset="0"/>
            </a:endParaRPr>
          </a:p>
          <a:p>
            <a:pPr algn="just"/>
            <a:r>
              <a:rPr lang="en-GB" sz="2800" dirty="0">
                <a:solidFill>
                  <a:srgbClr val="002060"/>
                </a:solidFill>
                <a:latin typeface="Times New Roman" panose="02020603050405020304" pitchFamily="18" charset="0"/>
              </a:rPr>
              <a:t>Usually, knowing voltage and power are more important from practical considerations, than current. </a:t>
            </a:r>
            <a:endParaRPr lang="en-GB" sz="2800" b="1" dirty="0">
              <a:latin typeface="Times New Roman" panose="02020603050405020304" pitchFamily="18" charset="0"/>
            </a:endParaRPr>
          </a:p>
          <a:p>
            <a:pPr algn="just"/>
            <a:r>
              <a:rPr lang="en-GB" sz="2800" dirty="0">
                <a:solidFill>
                  <a:srgbClr val="002060"/>
                </a:solidFill>
                <a:latin typeface="Times New Roman" panose="02020603050405020304" pitchFamily="18" charset="0"/>
              </a:rPr>
              <a:t>Thus reformulate problem to give voltage and power at the desired values, at the expense of a wrong current.   </a:t>
            </a:r>
            <a:endParaRPr lang="en-GB" sz="2800" b="1" dirty="0">
              <a:latin typeface="Times New Roman" panose="02020603050405020304" pitchFamily="18" charset="0"/>
            </a:endParaRPr>
          </a:p>
          <a:p>
            <a:pPr algn="just"/>
            <a:r>
              <a:rPr lang="en-GB" sz="2800" dirty="0">
                <a:solidFill>
                  <a:srgbClr val="002060"/>
                </a:solidFill>
                <a:latin typeface="Times New Roman" panose="02020603050405020304" pitchFamily="18" charset="0"/>
              </a:rPr>
              <a:t>Multiply source voltage E</a:t>
            </a:r>
            <a:r>
              <a:rPr lang="en-GB" sz="2800" baseline="-25000" dirty="0">
                <a:solidFill>
                  <a:srgbClr val="002060"/>
                </a:solidFill>
                <a:latin typeface="Times New Roman" panose="02020603050405020304" pitchFamily="18" charset="0"/>
              </a:rPr>
              <a:t>p</a:t>
            </a:r>
            <a:r>
              <a:rPr lang="en-GB" sz="2800" dirty="0">
                <a:solidFill>
                  <a:srgbClr val="002060"/>
                </a:solidFill>
                <a:latin typeface="Times New Roman" panose="02020603050405020304" pitchFamily="18" charset="0"/>
              </a:rPr>
              <a:t> in figure 6 by </a:t>
            </a:r>
            <a:r>
              <a:rPr lang="en-GB" sz="2800" dirty="0">
                <a:solidFill>
                  <a:srgbClr val="002060"/>
                </a:solidFill>
                <a:latin typeface="Symbol" panose="05050102010706020507" pitchFamily="18" charset="2"/>
              </a:rPr>
              <a:t>Ö</a:t>
            </a:r>
            <a:r>
              <a:rPr lang="en-GB" sz="2800" dirty="0">
                <a:solidFill>
                  <a:srgbClr val="002060"/>
                </a:solidFill>
                <a:latin typeface="Times New Roman" panose="02020603050405020304" pitchFamily="18" charset="0"/>
              </a:rPr>
              <a:t>3.</a:t>
            </a:r>
            <a:endParaRPr lang="en-GB" sz="2800" b="1" dirty="0">
              <a:latin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GB" sz="2800" dirty="0">
                <a:solidFill>
                  <a:srgbClr val="002060"/>
                </a:solidFill>
                <a:latin typeface="Times New Roman" panose="02020603050405020304" pitchFamily="18" charset="0"/>
              </a:rPr>
              <a:t>increases both current I</a:t>
            </a:r>
            <a:r>
              <a:rPr lang="en-GB" sz="2800" baseline="-25000" dirty="0">
                <a:solidFill>
                  <a:srgbClr val="002060"/>
                </a:solidFill>
                <a:latin typeface="Times New Roman" panose="02020603050405020304" pitchFamily="18" charset="0"/>
              </a:rPr>
              <a:t>p</a:t>
            </a:r>
            <a:r>
              <a:rPr lang="en-GB" sz="2800" dirty="0">
                <a:solidFill>
                  <a:srgbClr val="002060"/>
                </a:solidFill>
                <a:latin typeface="Times New Roman" panose="02020603050405020304" pitchFamily="18" charset="0"/>
              </a:rPr>
              <a:t> and voltage </a:t>
            </a:r>
            <a:r>
              <a:rPr lang="en-GB" sz="2800" dirty="0" err="1">
                <a:solidFill>
                  <a:srgbClr val="002060"/>
                </a:solidFill>
                <a:latin typeface="Times New Roman" panose="02020603050405020304" pitchFamily="18" charset="0"/>
              </a:rPr>
              <a:t>V</a:t>
            </a:r>
            <a:r>
              <a:rPr lang="en-GB" sz="2800" baseline="-25000" dirty="0" err="1">
                <a:solidFill>
                  <a:srgbClr val="002060"/>
                </a:solidFill>
                <a:latin typeface="Times New Roman" panose="02020603050405020304" pitchFamily="18" charset="0"/>
              </a:rPr>
              <a:t>p</a:t>
            </a:r>
            <a:r>
              <a:rPr lang="en-GB" sz="2800" dirty="0">
                <a:solidFill>
                  <a:srgbClr val="002060"/>
                </a:solidFill>
                <a:latin typeface="Times New Roman" panose="02020603050405020304" pitchFamily="18" charset="0"/>
              </a:rPr>
              <a:t> by </a:t>
            </a:r>
            <a:r>
              <a:rPr lang="en-GB" sz="2800" dirty="0">
                <a:solidFill>
                  <a:srgbClr val="002060"/>
                </a:solidFill>
                <a:latin typeface="Symbol" panose="05050102010706020507" pitchFamily="18" charset="2"/>
              </a:rPr>
              <a:t>Ö</a:t>
            </a:r>
            <a:r>
              <a:rPr lang="en-GB" sz="2800" dirty="0">
                <a:solidFill>
                  <a:srgbClr val="002060"/>
                </a:solidFill>
                <a:latin typeface="Times New Roman" panose="02020603050405020304" pitchFamily="18" charset="0"/>
              </a:rPr>
              <a:t>3.</a:t>
            </a:r>
            <a:endParaRPr lang="en-GB" sz="2800" b="1" dirty="0">
              <a:latin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GB" sz="2800" dirty="0">
                <a:solidFill>
                  <a:srgbClr val="002060"/>
                </a:solidFill>
                <a:latin typeface="Times New Roman" panose="02020603050405020304" pitchFamily="18" charset="0"/>
              </a:rPr>
              <a:t>Phase voltages become line voltages (</a:t>
            </a:r>
            <a:r>
              <a:rPr lang="en-GB" sz="2800" dirty="0">
                <a:solidFill>
                  <a:srgbClr val="002060"/>
                </a:solidFill>
                <a:latin typeface="Symbol" panose="05050102010706020507" pitchFamily="18" charset="2"/>
              </a:rPr>
              <a:t>Ö</a:t>
            </a:r>
            <a:r>
              <a:rPr lang="en-GB" sz="2800" dirty="0">
                <a:solidFill>
                  <a:srgbClr val="002060"/>
                </a:solidFill>
                <a:latin typeface="Times New Roman" panose="02020603050405020304" pitchFamily="18" charset="0"/>
              </a:rPr>
              <a:t>3 times)</a:t>
            </a:r>
            <a:endParaRPr lang="en-GB" sz="2800" b="1" dirty="0">
              <a:latin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GB" sz="2800" dirty="0">
                <a:solidFill>
                  <a:srgbClr val="002060"/>
                </a:solidFill>
                <a:latin typeface="Times New Roman" panose="02020603050405020304" pitchFamily="18" charset="0"/>
              </a:rPr>
              <a:t>Phase power becomes total power (</a:t>
            </a:r>
            <a:r>
              <a:rPr lang="en-GB" sz="2800" dirty="0">
                <a:solidFill>
                  <a:srgbClr val="002060"/>
                </a:solidFill>
                <a:latin typeface="Symbol" panose="05050102010706020507" pitchFamily="18" charset="2"/>
              </a:rPr>
              <a:t>Ö</a:t>
            </a:r>
            <a:r>
              <a:rPr lang="en-GB" sz="2800" dirty="0">
                <a:solidFill>
                  <a:srgbClr val="002060"/>
                </a:solidFill>
                <a:latin typeface="Times New Roman" panose="02020603050405020304" pitchFamily="18" charset="0"/>
              </a:rPr>
              <a:t>3</a:t>
            </a:r>
            <a:r>
              <a:rPr lang="en-GB" sz="2800" dirty="0">
                <a:solidFill>
                  <a:srgbClr val="002060"/>
                </a:solidFill>
                <a:latin typeface="Times New Roman" panose="02020603050405020304" pitchFamily="18" charset="0"/>
                <a:sym typeface="Symbol" panose="05050102010706020507" pitchFamily="18" charset="2"/>
              </a:rPr>
              <a:t></a:t>
            </a:r>
            <a:r>
              <a:rPr lang="en-GB" sz="2800" dirty="0">
                <a:solidFill>
                  <a:srgbClr val="002060"/>
                </a:solidFill>
                <a:latin typeface="Symbol" panose="05050102010706020507" pitchFamily="18" charset="2"/>
              </a:rPr>
              <a:t>Ö</a:t>
            </a:r>
            <a:r>
              <a:rPr lang="en-GB" sz="2800" dirty="0">
                <a:solidFill>
                  <a:srgbClr val="002060"/>
                </a:solidFill>
                <a:latin typeface="Times New Roman" panose="02020603050405020304" pitchFamily="18" charset="0"/>
              </a:rPr>
              <a:t>3 or 3 times)</a:t>
            </a:r>
            <a:endParaRPr lang="en-GB" sz="2800" b="1" dirty="0">
              <a:latin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GB" sz="2800" dirty="0">
                <a:solidFill>
                  <a:srgbClr val="002060"/>
                </a:solidFill>
                <a:latin typeface="Times New Roman" panose="02020603050405020304" pitchFamily="18" charset="0"/>
              </a:rPr>
              <a:t>Line current increases to </a:t>
            </a:r>
            <a:r>
              <a:rPr lang="en-GB" sz="2800" dirty="0">
                <a:solidFill>
                  <a:srgbClr val="002060"/>
                </a:solidFill>
                <a:latin typeface="Symbol" panose="05050102010706020507" pitchFamily="18" charset="2"/>
              </a:rPr>
              <a:t>Ö</a:t>
            </a:r>
            <a:r>
              <a:rPr lang="en-GB" sz="2800" dirty="0">
                <a:solidFill>
                  <a:srgbClr val="002060"/>
                </a:solidFill>
                <a:latin typeface="Times New Roman" panose="02020603050405020304" pitchFamily="18" charset="0"/>
              </a:rPr>
              <a:t>3 times higher (error).</a:t>
            </a:r>
            <a:endParaRPr lang="en-GB" sz="2800" b="1" dirty="0">
              <a:effectLst/>
              <a:latin typeface="Times New Roman" panose="02020603050405020304" pitchFamily="18" charset="0"/>
            </a:endParaRPr>
          </a:p>
        </p:txBody>
      </p:sp>
    </p:spTree>
    <p:extLst>
      <p:ext uri="{BB962C8B-B14F-4D97-AF65-F5344CB8AC3E}">
        <p14:creationId xmlns:p14="http://schemas.microsoft.com/office/powerpoint/2010/main" val="3053594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US" dirty="0"/>
              <a:t>(b) Equivalent circuit for 3 phase balanced system</a:t>
            </a:r>
            <a:endParaRPr lang="en-GB" dirty="0"/>
          </a:p>
        </p:txBody>
      </p:sp>
      <p:grpSp>
        <p:nvGrpSpPr>
          <p:cNvPr id="3" name="Group 2">
            <a:extLst>
              <a:ext uri="{FF2B5EF4-FFF2-40B4-BE49-F238E27FC236}">
                <a16:creationId xmlns:a16="http://schemas.microsoft.com/office/drawing/2014/main" id="{0584AEA5-82C3-480A-A572-B9781469BA72}"/>
              </a:ext>
            </a:extLst>
          </p:cNvPr>
          <p:cNvGrpSpPr>
            <a:grpSpLocks noChangeAspect="1"/>
          </p:cNvGrpSpPr>
          <p:nvPr/>
        </p:nvGrpSpPr>
        <p:grpSpPr bwMode="auto">
          <a:xfrm>
            <a:off x="601579" y="1431761"/>
            <a:ext cx="11590974" cy="3137854"/>
            <a:chOff x="2256" y="11854"/>
            <a:chExt cx="8013" cy="2067"/>
          </a:xfrm>
        </p:grpSpPr>
        <p:cxnSp>
          <p:nvCxnSpPr>
            <p:cNvPr id="4" name="Line 103">
              <a:extLst>
                <a:ext uri="{FF2B5EF4-FFF2-40B4-BE49-F238E27FC236}">
                  <a16:creationId xmlns:a16="http://schemas.microsoft.com/office/drawing/2014/main" id="{4F3A6D58-13BF-44E1-88BE-5671B4A69B8F}"/>
                </a:ext>
              </a:extLst>
            </p:cNvPr>
            <p:cNvCxnSpPr>
              <a:cxnSpLocks noChangeAspect="1" noChangeShapeType="1"/>
            </p:cNvCxnSpPr>
            <p:nvPr/>
          </p:nvCxnSpPr>
          <p:spPr bwMode="auto">
            <a:xfrm flipV="1">
              <a:off x="3663" y="11914"/>
              <a:ext cx="0" cy="1512"/>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sp>
          <p:nvSpPr>
            <p:cNvPr id="5" name="Text Box 104">
              <a:extLst>
                <a:ext uri="{FF2B5EF4-FFF2-40B4-BE49-F238E27FC236}">
                  <a16:creationId xmlns:a16="http://schemas.microsoft.com/office/drawing/2014/main" id="{C89FF410-5380-4116-9FD6-A48B8DD9C674}"/>
                </a:ext>
              </a:extLst>
            </p:cNvPr>
            <p:cNvSpPr txBox="1">
              <a:spLocks noChangeArrowheads="1"/>
            </p:cNvSpPr>
            <p:nvPr/>
          </p:nvSpPr>
          <p:spPr bwMode="auto">
            <a:xfrm>
              <a:off x="2256" y="12877"/>
              <a:ext cx="1080" cy="36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r>
                <a:rPr lang="en-GB" sz="32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=Ö</a:t>
              </a: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3 E</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6" name="Group 5">
              <a:extLst>
                <a:ext uri="{FF2B5EF4-FFF2-40B4-BE49-F238E27FC236}">
                  <a16:creationId xmlns:a16="http://schemas.microsoft.com/office/drawing/2014/main" id="{321329DB-ACC8-4FE3-9C2E-739F65B52868}"/>
                </a:ext>
              </a:extLst>
            </p:cNvPr>
            <p:cNvGrpSpPr>
              <a:grpSpLocks noChangeAspect="1"/>
            </p:cNvGrpSpPr>
            <p:nvPr/>
          </p:nvGrpSpPr>
          <p:grpSpPr bwMode="auto">
            <a:xfrm>
              <a:off x="3453" y="12874"/>
              <a:ext cx="393" cy="363"/>
              <a:chOff x="8858" y="9998"/>
              <a:chExt cx="650" cy="600"/>
            </a:xfrm>
          </p:grpSpPr>
          <p:sp>
            <p:nvSpPr>
              <p:cNvPr id="29" name="Oval 28">
                <a:extLst>
                  <a:ext uri="{FF2B5EF4-FFF2-40B4-BE49-F238E27FC236}">
                    <a16:creationId xmlns:a16="http://schemas.microsoft.com/office/drawing/2014/main" id="{0DB0BA6E-BD1A-4D12-99F6-E3CB978788EA}"/>
                  </a:ext>
                </a:extLst>
              </p:cNvPr>
              <p:cNvSpPr>
                <a:spLocks noChangeAspect="1" noChangeArrowheads="1"/>
              </p:cNvSpPr>
              <p:nvPr/>
            </p:nvSpPr>
            <p:spPr bwMode="auto">
              <a:xfrm>
                <a:off x="8858" y="9998"/>
                <a:ext cx="650" cy="600"/>
              </a:xfrm>
              <a:prstGeom prst="ellipse">
                <a:avLst/>
              </a:prstGeom>
              <a:solidFill>
                <a:srgbClr val="C6D9F1"/>
              </a:solidFill>
              <a:ln w="38100">
                <a:solidFill>
                  <a:srgbClr val="002060"/>
                </a:solidFill>
                <a:round/>
                <a:headEnd/>
                <a:tailEnd/>
              </a:ln>
            </p:spPr>
            <p:txBody>
              <a:bodyPr rot="0" vert="horz" wrap="square" lIns="91440" tIns="45720" rIns="91440" bIns="45720" anchor="t" anchorCtr="0" upright="1">
                <a:noAutofit/>
              </a:bodyPr>
              <a:lstStyle/>
              <a:p>
                <a:endParaRPr lang="en-GB" sz="3200"/>
              </a:p>
            </p:txBody>
          </p:sp>
          <p:grpSp>
            <p:nvGrpSpPr>
              <p:cNvPr id="30" name="Group 29">
                <a:extLst>
                  <a:ext uri="{FF2B5EF4-FFF2-40B4-BE49-F238E27FC236}">
                    <a16:creationId xmlns:a16="http://schemas.microsoft.com/office/drawing/2014/main" id="{8467B3F4-04CA-4E10-B641-75CF92107687}"/>
                  </a:ext>
                </a:extLst>
              </p:cNvPr>
              <p:cNvGrpSpPr>
                <a:grpSpLocks noChangeAspect="1"/>
              </p:cNvGrpSpPr>
              <p:nvPr/>
            </p:nvGrpSpPr>
            <p:grpSpPr bwMode="auto">
              <a:xfrm>
                <a:off x="8974" y="10146"/>
                <a:ext cx="362" cy="272"/>
                <a:chOff x="4778" y="6098"/>
                <a:chExt cx="2880" cy="1440"/>
              </a:xfrm>
            </p:grpSpPr>
            <p:sp>
              <p:nvSpPr>
                <p:cNvPr id="31" name="Arc 108">
                  <a:extLst>
                    <a:ext uri="{FF2B5EF4-FFF2-40B4-BE49-F238E27FC236}">
                      <a16:creationId xmlns:a16="http://schemas.microsoft.com/office/drawing/2014/main" id="{0CD8EAD5-08D2-4982-B5B5-6322953ADFE6}"/>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3200"/>
                </a:p>
              </p:txBody>
            </p:sp>
            <p:sp>
              <p:nvSpPr>
                <p:cNvPr id="32" name="Arc 109">
                  <a:extLst>
                    <a:ext uri="{FF2B5EF4-FFF2-40B4-BE49-F238E27FC236}">
                      <a16:creationId xmlns:a16="http://schemas.microsoft.com/office/drawing/2014/main" id="{40A1C2F0-AD6C-4019-BA68-A321B0ED5A4F}"/>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3200"/>
                </a:p>
              </p:txBody>
            </p:sp>
          </p:grpSp>
        </p:grpSp>
        <p:sp>
          <p:nvSpPr>
            <p:cNvPr id="7" name="Rectangle 6">
              <a:extLst>
                <a:ext uri="{FF2B5EF4-FFF2-40B4-BE49-F238E27FC236}">
                  <a16:creationId xmlns:a16="http://schemas.microsoft.com/office/drawing/2014/main" id="{61D25845-E934-4D64-A49D-59336006B8A4}"/>
                </a:ext>
              </a:extLst>
            </p:cNvPr>
            <p:cNvSpPr>
              <a:spLocks noChangeAspect="1" noChangeArrowheads="1"/>
            </p:cNvSpPr>
            <p:nvPr/>
          </p:nvSpPr>
          <p:spPr bwMode="auto">
            <a:xfrm rot="10800000">
              <a:off x="3591" y="12337"/>
              <a:ext cx="130" cy="305"/>
            </a:xfrm>
            <a:prstGeom prst="rect">
              <a:avLst/>
            </a:prstGeom>
            <a:solidFill>
              <a:schemeClr val="bg1"/>
            </a:solidFill>
            <a:ln w="38100">
              <a:solidFill>
                <a:schemeClr val="tx1"/>
              </a:solidFill>
              <a:miter lim="800000"/>
              <a:headEnd/>
              <a:tailEnd/>
            </a:ln>
          </p:spPr>
          <p:txBody>
            <a:bodyPr rot="0" vert="horz" wrap="square" lIns="91440" tIns="45720" rIns="91440" bIns="45720" anchor="t" anchorCtr="0" upright="1">
              <a:noAutofit/>
            </a:bodyPr>
            <a:lstStyle/>
            <a:p>
              <a:endParaRPr lang="en-GB" sz="3200"/>
            </a:p>
          </p:txBody>
        </p:sp>
        <p:cxnSp>
          <p:nvCxnSpPr>
            <p:cNvPr id="8" name="Line 111">
              <a:extLst>
                <a:ext uri="{FF2B5EF4-FFF2-40B4-BE49-F238E27FC236}">
                  <a16:creationId xmlns:a16="http://schemas.microsoft.com/office/drawing/2014/main" id="{24CC5463-4635-4E27-B54D-7254E8DA682A}"/>
                </a:ext>
              </a:extLst>
            </p:cNvPr>
            <p:cNvCxnSpPr>
              <a:cxnSpLocks noChangeAspect="1" noChangeShapeType="1"/>
            </p:cNvCxnSpPr>
            <p:nvPr/>
          </p:nvCxnSpPr>
          <p:spPr bwMode="auto">
            <a:xfrm rot="10800000">
              <a:off x="3336" y="12877"/>
              <a:ext cx="0" cy="345"/>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sp>
          <p:nvSpPr>
            <p:cNvPr id="9" name="Text Box 112">
              <a:extLst>
                <a:ext uri="{FF2B5EF4-FFF2-40B4-BE49-F238E27FC236}">
                  <a16:creationId xmlns:a16="http://schemas.microsoft.com/office/drawing/2014/main" id="{4E561AE2-24CB-4D99-9516-1B139CE65383}"/>
                </a:ext>
              </a:extLst>
            </p:cNvPr>
            <p:cNvSpPr txBox="1">
              <a:spLocks noChangeArrowheads="1"/>
            </p:cNvSpPr>
            <p:nvPr/>
          </p:nvSpPr>
          <p:spPr bwMode="auto">
            <a:xfrm>
              <a:off x="3264" y="12277"/>
              <a:ext cx="346" cy="36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36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0" name="Group 9">
              <a:extLst>
                <a:ext uri="{FF2B5EF4-FFF2-40B4-BE49-F238E27FC236}">
                  <a16:creationId xmlns:a16="http://schemas.microsoft.com/office/drawing/2014/main" id="{613F5347-0C36-4C72-B99E-1434E598AFC8}"/>
                </a:ext>
              </a:extLst>
            </p:cNvPr>
            <p:cNvGrpSpPr>
              <a:grpSpLocks/>
            </p:cNvGrpSpPr>
            <p:nvPr/>
          </p:nvGrpSpPr>
          <p:grpSpPr bwMode="auto">
            <a:xfrm>
              <a:off x="3544" y="13416"/>
              <a:ext cx="240" cy="360"/>
              <a:chOff x="4701" y="3904"/>
              <a:chExt cx="240" cy="360"/>
            </a:xfrm>
          </p:grpSpPr>
          <p:cxnSp>
            <p:nvCxnSpPr>
              <p:cNvPr id="25" name="Line 114">
                <a:extLst>
                  <a:ext uri="{FF2B5EF4-FFF2-40B4-BE49-F238E27FC236}">
                    <a16:creationId xmlns:a16="http://schemas.microsoft.com/office/drawing/2014/main" id="{AAD548B9-93A6-491D-83D3-A9AAE46A77A7}"/>
                  </a:ext>
                </a:extLst>
              </p:cNvPr>
              <p:cNvCxnSpPr>
                <a:cxnSpLocks noChangeShapeType="1"/>
              </p:cNvCxnSpPr>
              <p:nvPr/>
            </p:nvCxnSpPr>
            <p:spPr bwMode="auto">
              <a:xfrm>
                <a:off x="4821" y="3904"/>
                <a:ext cx="0" cy="24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26" name="Line 115">
                <a:extLst>
                  <a:ext uri="{FF2B5EF4-FFF2-40B4-BE49-F238E27FC236}">
                    <a16:creationId xmlns:a16="http://schemas.microsoft.com/office/drawing/2014/main" id="{66D8925F-5F78-4D6C-8131-4BA0EED57D5C}"/>
                  </a:ext>
                </a:extLst>
              </p:cNvPr>
              <p:cNvCxnSpPr>
                <a:cxnSpLocks noChangeShapeType="1"/>
              </p:cNvCxnSpPr>
              <p:nvPr/>
            </p:nvCxnSpPr>
            <p:spPr bwMode="auto">
              <a:xfrm>
                <a:off x="4701" y="4144"/>
                <a:ext cx="24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27" name="Line 116">
                <a:extLst>
                  <a:ext uri="{FF2B5EF4-FFF2-40B4-BE49-F238E27FC236}">
                    <a16:creationId xmlns:a16="http://schemas.microsoft.com/office/drawing/2014/main" id="{CFBE1B9D-51C3-44D3-9DCD-C25A019B8DED}"/>
                  </a:ext>
                </a:extLst>
              </p:cNvPr>
              <p:cNvCxnSpPr>
                <a:cxnSpLocks noChangeShapeType="1"/>
              </p:cNvCxnSpPr>
              <p:nvPr/>
            </p:nvCxnSpPr>
            <p:spPr bwMode="auto">
              <a:xfrm>
                <a:off x="4746" y="4204"/>
                <a:ext cx="142"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28" name="Line 117">
                <a:extLst>
                  <a:ext uri="{FF2B5EF4-FFF2-40B4-BE49-F238E27FC236}">
                    <a16:creationId xmlns:a16="http://schemas.microsoft.com/office/drawing/2014/main" id="{FBF51934-C467-4AA5-9BED-7AF026BB24C1}"/>
                  </a:ext>
                </a:extLst>
              </p:cNvPr>
              <p:cNvCxnSpPr>
                <a:cxnSpLocks noChangeShapeType="1"/>
              </p:cNvCxnSpPr>
              <p:nvPr/>
            </p:nvCxnSpPr>
            <p:spPr bwMode="auto">
              <a:xfrm>
                <a:off x="4791" y="4264"/>
                <a:ext cx="85"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grpSp>
        <p:sp>
          <p:nvSpPr>
            <p:cNvPr id="11" name="Rectangle 10">
              <a:extLst>
                <a:ext uri="{FF2B5EF4-FFF2-40B4-BE49-F238E27FC236}">
                  <a16:creationId xmlns:a16="http://schemas.microsoft.com/office/drawing/2014/main" id="{FF06D138-69C6-49E2-8EC4-2F9D0E88D35E}"/>
                </a:ext>
              </a:extLst>
            </p:cNvPr>
            <p:cNvSpPr>
              <a:spLocks noChangeArrowheads="1"/>
            </p:cNvSpPr>
            <p:nvPr/>
          </p:nvSpPr>
          <p:spPr bwMode="auto">
            <a:xfrm rot="5400000">
              <a:off x="6484" y="11680"/>
              <a:ext cx="158" cy="506"/>
            </a:xfrm>
            <a:prstGeom prst="rect">
              <a:avLst/>
            </a:prstGeom>
            <a:noFill/>
            <a:ln w="38100">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3200"/>
            </a:p>
          </p:txBody>
        </p:sp>
        <p:cxnSp>
          <p:nvCxnSpPr>
            <p:cNvPr id="12" name="Line 119">
              <a:extLst>
                <a:ext uri="{FF2B5EF4-FFF2-40B4-BE49-F238E27FC236}">
                  <a16:creationId xmlns:a16="http://schemas.microsoft.com/office/drawing/2014/main" id="{D8F96050-DC70-41A2-A328-46A0FB87F2B7}"/>
                </a:ext>
              </a:extLst>
            </p:cNvPr>
            <p:cNvCxnSpPr>
              <a:cxnSpLocks noChangeShapeType="1"/>
            </p:cNvCxnSpPr>
            <p:nvPr/>
          </p:nvCxnSpPr>
          <p:spPr bwMode="auto">
            <a:xfrm rot="5400000">
              <a:off x="8070" y="10678"/>
              <a:ext cx="0" cy="2508"/>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3" name="Line 120">
              <a:extLst>
                <a:ext uri="{FF2B5EF4-FFF2-40B4-BE49-F238E27FC236}">
                  <a16:creationId xmlns:a16="http://schemas.microsoft.com/office/drawing/2014/main" id="{DA0995F9-D353-4D1C-A273-E8D6F220FB40}"/>
                </a:ext>
              </a:extLst>
            </p:cNvPr>
            <p:cNvCxnSpPr>
              <a:cxnSpLocks noChangeShapeType="1"/>
            </p:cNvCxnSpPr>
            <p:nvPr/>
          </p:nvCxnSpPr>
          <p:spPr bwMode="auto">
            <a:xfrm rot="5400000">
              <a:off x="4981" y="10609"/>
              <a:ext cx="0" cy="2645"/>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sp>
          <p:nvSpPr>
            <p:cNvPr id="14" name="Rectangle 13">
              <a:extLst>
                <a:ext uri="{FF2B5EF4-FFF2-40B4-BE49-F238E27FC236}">
                  <a16:creationId xmlns:a16="http://schemas.microsoft.com/office/drawing/2014/main" id="{D9C84E1B-98E4-487C-A6EF-7FEBFA2B96DF}"/>
                </a:ext>
              </a:extLst>
            </p:cNvPr>
            <p:cNvSpPr>
              <a:spLocks noChangeArrowheads="1"/>
            </p:cNvSpPr>
            <p:nvPr/>
          </p:nvSpPr>
          <p:spPr bwMode="auto">
            <a:xfrm rot="21600000">
              <a:off x="9228" y="12490"/>
              <a:ext cx="215" cy="506"/>
            </a:xfrm>
            <a:prstGeom prst="rect">
              <a:avLst/>
            </a:prstGeom>
            <a:noFill/>
            <a:ln w="38100">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3200"/>
            </a:p>
          </p:txBody>
        </p:sp>
        <p:cxnSp>
          <p:nvCxnSpPr>
            <p:cNvPr id="15" name="Line 122">
              <a:extLst>
                <a:ext uri="{FF2B5EF4-FFF2-40B4-BE49-F238E27FC236}">
                  <a16:creationId xmlns:a16="http://schemas.microsoft.com/office/drawing/2014/main" id="{41554958-E6B1-4BBB-AC56-3674C8E7D91C}"/>
                </a:ext>
              </a:extLst>
            </p:cNvPr>
            <p:cNvCxnSpPr>
              <a:cxnSpLocks noChangeShapeType="1"/>
            </p:cNvCxnSpPr>
            <p:nvPr/>
          </p:nvCxnSpPr>
          <p:spPr bwMode="auto">
            <a:xfrm rot="21600000">
              <a:off x="9335" y="11928"/>
              <a:ext cx="0" cy="612"/>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6" name="Line 123">
              <a:extLst>
                <a:ext uri="{FF2B5EF4-FFF2-40B4-BE49-F238E27FC236}">
                  <a16:creationId xmlns:a16="http://schemas.microsoft.com/office/drawing/2014/main" id="{E9C7FE15-0BC9-4177-9152-A2D844FA4849}"/>
                </a:ext>
              </a:extLst>
            </p:cNvPr>
            <p:cNvCxnSpPr>
              <a:cxnSpLocks noChangeShapeType="1"/>
            </p:cNvCxnSpPr>
            <p:nvPr/>
          </p:nvCxnSpPr>
          <p:spPr bwMode="auto">
            <a:xfrm rot="21600000">
              <a:off x="9335" y="12995"/>
              <a:ext cx="0" cy="379"/>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7" name="Line 124">
              <a:extLst>
                <a:ext uri="{FF2B5EF4-FFF2-40B4-BE49-F238E27FC236}">
                  <a16:creationId xmlns:a16="http://schemas.microsoft.com/office/drawing/2014/main" id="{928B0ADD-265B-44DD-8BDB-C223E98E7CC1}"/>
                </a:ext>
              </a:extLst>
            </p:cNvPr>
            <p:cNvCxnSpPr>
              <a:cxnSpLocks noChangeShapeType="1"/>
            </p:cNvCxnSpPr>
            <p:nvPr/>
          </p:nvCxnSpPr>
          <p:spPr bwMode="auto">
            <a:xfrm>
              <a:off x="3647" y="13365"/>
              <a:ext cx="5734" cy="0"/>
            </a:xfrm>
            <a:prstGeom prst="line">
              <a:avLst/>
            </a:prstGeom>
            <a:noFill/>
            <a:ln w="38100">
              <a:solidFill>
                <a:srgbClr val="00B0F0"/>
              </a:solidFill>
              <a:round/>
              <a:headEnd/>
              <a:tailEnd/>
            </a:ln>
            <a:extLst>
              <a:ext uri="{909E8E84-426E-40DD-AFC4-6F175D3DCCD1}">
                <a14:hiddenFill xmlns:a14="http://schemas.microsoft.com/office/drawing/2010/main">
                  <a:noFill/>
                </a14:hiddenFill>
              </a:ext>
            </a:extLst>
          </p:spPr>
        </p:cxnSp>
        <p:sp>
          <p:nvSpPr>
            <p:cNvPr id="18" name="Text Box 125">
              <a:extLst>
                <a:ext uri="{FF2B5EF4-FFF2-40B4-BE49-F238E27FC236}">
                  <a16:creationId xmlns:a16="http://schemas.microsoft.com/office/drawing/2014/main" id="{D8324B12-8116-4F08-9971-2FD187CD7D43}"/>
                </a:ext>
              </a:extLst>
            </p:cNvPr>
            <p:cNvSpPr txBox="1">
              <a:spLocks noChangeArrowheads="1"/>
            </p:cNvSpPr>
            <p:nvPr/>
          </p:nvSpPr>
          <p:spPr bwMode="auto">
            <a:xfrm>
              <a:off x="6303" y="11968"/>
              <a:ext cx="474" cy="36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3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 Box 126">
              <a:extLst>
                <a:ext uri="{FF2B5EF4-FFF2-40B4-BE49-F238E27FC236}">
                  <a16:creationId xmlns:a16="http://schemas.microsoft.com/office/drawing/2014/main" id="{AA4A9F12-B9D9-4981-AAAC-D8A1CF73B2E9}"/>
                </a:ext>
              </a:extLst>
            </p:cNvPr>
            <p:cNvSpPr txBox="1">
              <a:spLocks noChangeArrowheads="1"/>
            </p:cNvSpPr>
            <p:nvPr/>
          </p:nvSpPr>
          <p:spPr bwMode="auto">
            <a:xfrm>
              <a:off x="9477" y="12520"/>
              <a:ext cx="474" cy="36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 Box 127">
              <a:extLst>
                <a:ext uri="{FF2B5EF4-FFF2-40B4-BE49-F238E27FC236}">
                  <a16:creationId xmlns:a16="http://schemas.microsoft.com/office/drawing/2014/main" id="{6CF8F38B-3229-4C3F-980D-29BB3CF97AF6}"/>
                </a:ext>
              </a:extLst>
            </p:cNvPr>
            <p:cNvSpPr txBox="1">
              <a:spLocks noChangeArrowheads="1"/>
            </p:cNvSpPr>
            <p:nvPr/>
          </p:nvSpPr>
          <p:spPr bwMode="auto">
            <a:xfrm>
              <a:off x="7956" y="12520"/>
              <a:ext cx="1197" cy="36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GB" sz="32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Ö</a:t>
              </a: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3 V</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1" name="Line 128">
              <a:extLst>
                <a:ext uri="{FF2B5EF4-FFF2-40B4-BE49-F238E27FC236}">
                  <a16:creationId xmlns:a16="http://schemas.microsoft.com/office/drawing/2014/main" id="{0828CA62-483B-4688-B77E-354FF81D15B6}"/>
                </a:ext>
              </a:extLst>
            </p:cNvPr>
            <p:cNvCxnSpPr>
              <a:cxnSpLocks noChangeAspect="1" noChangeShapeType="1"/>
            </p:cNvCxnSpPr>
            <p:nvPr/>
          </p:nvCxnSpPr>
          <p:spPr bwMode="auto">
            <a:xfrm rot="10800000">
              <a:off x="9096" y="12421"/>
              <a:ext cx="0" cy="573"/>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22" name="Line 129">
              <a:extLst>
                <a:ext uri="{FF2B5EF4-FFF2-40B4-BE49-F238E27FC236}">
                  <a16:creationId xmlns:a16="http://schemas.microsoft.com/office/drawing/2014/main" id="{3811D154-9CD4-489F-9808-F2C5D0C77F8C}"/>
                </a:ext>
              </a:extLst>
            </p:cNvPr>
            <p:cNvCxnSpPr>
              <a:cxnSpLocks noChangeShapeType="1"/>
            </p:cNvCxnSpPr>
            <p:nvPr/>
          </p:nvCxnSpPr>
          <p:spPr bwMode="auto">
            <a:xfrm>
              <a:off x="7785" y="11945"/>
              <a:ext cx="228"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sp>
          <p:nvSpPr>
            <p:cNvPr id="23" name="Text Box 130">
              <a:extLst>
                <a:ext uri="{FF2B5EF4-FFF2-40B4-BE49-F238E27FC236}">
                  <a16:creationId xmlns:a16="http://schemas.microsoft.com/office/drawing/2014/main" id="{3AF304D1-0E5E-48E0-B325-FF46BFC5486C}"/>
                </a:ext>
              </a:extLst>
            </p:cNvPr>
            <p:cNvSpPr txBox="1">
              <a:spLocks noChangeArrowheads="1"/>
            </p:cNvSpPr>
            <p:nvPr/>
          </p:nvSpPr>
          <p:spPr bwMode="auto">
            <a:xfrm>
              <a:off x="7329" y="12025"/>
              <a:ext cx="1254" cy="41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Ö</a:t>
              </a: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3I</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r>
                <a:rPr lang="en-GB" sz="32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=Ö</a:t>
              </a: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3 I</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Text Box 131">
              <a:extLst>
                <a:ext uri="{FF2B5EF4-FFF2-40B4-BE49-F238E27FC236}">
                  <a16:creationId xmlns:a16="http://schemas.microsoft.com/office/drawing/2014/main" id="{B4C5A542-C500-4E93-90DA-A047E8026B41}"/>
                </a:ext>
              </a:extLst>
            </p:cNvPr>
            <p:cNvSpPr txBox="1">
              <a:spLocks noChangeArrowheads="1"/>
            </p:cNvSpPr>
            <p:nvPr/>
          </p:nvSpPr>
          <p:spPr bwMode="auto">
            <a:xfrm>
              <a:off x="3942" y="13495"/>
              <a:ext cx="6327" cy="42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0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7 – Equivalent single phase of Three phase system</a:t>
              </a:r>
              <a:endParaRPr lang="en-GB" sz="3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35" name="Rectangle 34">
            <a:extLst>
              <a:ext uri="{FF2B5EF4-FFF2-40B4-BE49-F238E27FC236}">
                <a16:creationId xmlns:a16="http://schemas.microsoft.com/office/drawing/2014/main" id="{625E420A-799F-4B15-AF67-DE501F287230}"/>
              </a:ext>
            </a:extLst>
          </p:cNvPr>
          <p:cNvSpPr/>
          <p:nvPr/>
        </p:nvSpPr>
        <p:spPr>
          <a:xfrm>
            <a:off x="8831547" y="3099311"/>
            <a:ext cx="1555747" cy="646331"/>
          </a:xfrm>
          <a:prstGeom prst="rect">
            <a:avLst/>
          </a:prstGeom>
        </p:spPr>
        <p:txBody>
          <a:bodyPr wrap="none">
            <a:spAutoFit/>
          </a:bodyPr>
          <a:lstStyle/>
          <a:p>
            <a:r>
              <a:rPr lang="en-GB" sz="3600" dirty="0">
                <a:solidFill>
                  <a:srgbClr val="002060"/>
                </a:solidFill>
                <a:latin typeface="Times New Roman" panose="02020603050405020304" pitchFamily="18" charset="0"/>
                <a:ea typeface="Times New Roman" panose="02020603050405020304" pitchFamily="18" charset="0"/>
              </a:rPr>
              <a:t>P = 3P</a:t>
            </a:r>
            <a:r>
              <a:rPr lang="en-GB" sz="3600" baseline="-25000" dirty="0">
                <a:solidFill>
                  <a:srgbClr val="002060"/>
                </a:solidFill>
                <a:latin typeface="Times New Roman" panose="02020603050405020304" pitchFamily="18" charset="0"/>
                <a:ea typeface="Times New Roman" panose="02020603050405020304" pitchFamily="18" charset="0"/>
              </a:rPr>
              <a:t>p</a:t>
            </a:r>
            <a:endParaRPr lang="en-GB" sz="3600" dirty="0">
              <a:effectLst/>
              <a:latin typeface="Times New Roman" panose="02020603050405020304" pitchFamily="18" charset="0"/>
              <a:ea typeface="Times New Roman" panose="02020603050405020304" pitchFamily="18" charset="0"/>
            </a:endParaRPr>
          </a:p>
        </p:txBody>
      </p:sp>
      <p:sp>
        <p:nvSpPr>
          <p:cNvPr id="36" name="Rectangle 35">
            <a:extLst>
              <a:ext uri="{FF2B5EF4-FFF2-40B4-BE49-F238E27FC236}">
                <a16:creationId xmlns:a16="http://schemas.microsoft.com/office/drawing/2014/main" id="{DBFD7A0D-70DE-4283-A0CD-C1F7B0B08ED8}"/>
              </a:ext>
            </a:extLst>
          </p:cNvPr>
          <p:cNvSpPr/>
          <p:nvPr/>
        </p:nvSpPr>
        <p:spPr>
          <a:xfrm>
            <a:off x="429714" y="4467853"/>
            <a:ext cx="9323995" cy="2215991"/>
          </a:xfrm>
          <a:prstGeom prst="rect">
            <a:avLst/>
          </a:prstGeom>
        </p:spPr>
        <p:txBody>
          <a:bodyPr wrap="square">
            <a:spAutoFit/>
          </a:bodyPr>
          <a:lstStyle/>
          <a:p>
            <a:pPr algn="just"/>
            <a:r>
              <a:rPr lang="en-GB" sz="3200" dirty="0">
                <a:solidFill>
                  <a:srgbClr val="002060"/>
                </a:solidFill>
                <a:latin typeface="Times New Roman" panose="02020603050405020304" pitchFamily="18" charset="0"/>
              </a:rPr>
              <a:t>Known as equivalent single phase diagram and gives</a:t>
            </a:r>
            <a:endParaRPr lang="en-GB" sz="3200" dirty="0">
              <a:latin typeface="Times New Roman" panose="02020603050405020304" pitchFamily="18" charset="0"/>
            </a:endParaRPr>
          </a:p>
          <a:p>
            <a:pPr marL="342900" marR="0" lvl="0" indent="-342900" algn="just">
              <a:spcBef>
                <a:spcPts val="0"/>
              </a:spcBef>
              <a:spcAft>
                <a:spcPts val="600"/>
              </a:spcAft>
              <a:buFont typeface="Symbol" panose="05050102010706020507" pitchFamily="18" charset="2"/>
              <a:buChar char=""/>
            </a:pPr>
            <a:r>
              <a:rPr lang="en-GB" sz="3200" dirty="0">
                <a:solidFill>
                  <a:srgbClr val="002060"/>
                </a:solidFill>
                <a:latin typeface="Times New Roman" panose="02020603050405020304" pitchFamily="18" charset="0"/>
              </a:rPr>
              <a:t>Correct voltage as for 3 phase system</a:t>
            </a:r>
            <a:endParaRPr lang="en-GB" sz="3200" dirty="0">
              <a:latin typeface="Times New Roman" panose="02020603050405020304" pitchFamily="18" charset="0"/>
            </a:endParaRPr>
          </a:p>
          <a:p>
            <a:pPr marL="342900" marR="0" lvl="0" indent="-342900" algn="just">
              <a:spcBef>
                <a:spcPts val="0"/>
              </a:spcBef>
              <a:spcAft>
                <a:spcPts val="600"/>
              </a:spcAft>
              <a:buFont typeface="Symbol" panose="05050102010706020507" pitchFamily="18" charset="2"/>
              <a:buChar char=""/>
            </a:pPr>
            <a:r>
              <a:rPr lang="en-GB" sz="3200" dirty="0">
                <a:solidFill>
                  <a:srgbClr val="002060"/>
                </a:solidFill>
                <a:latin typeface="Times New Roman" panose="02020603050405020304" pitchFamily="18" charset="0"/>
              </a:rPr>
              <a:t>Correct power as for 3 phase system </a:t>
            </a:r>
            <a:endParaRPr lang="en-GB" sz="3200" dirty="0">
              <a:latin typeface="Times New Roman" panose="02020603050405020304" pitchFamily="18" charset="0"/>
            </a:endParaRPr>
          </a:p>
          <a:p>
            <a:pPr marL="342900" marR="0" lvl="0" indent="-342900" algn="just">
              <a:spcBef>
                <a:spcPts val="0"/>
              </a:spcBef>
              <a:spcAft>
                <a:spcPts val="600"/>
              </a:spcAft>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but with current being in error by </a:t>
            </a:r>
            <a:r>
              <a:rPr lang="en-GB" sz="3200"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Ö</a:t>
            </a:r>
            <a:r>
              <a:rPr lang="en-GB" sz="3200" dirty="0">
                <a:solidFill>
                  <a:srgbClr val="002060"/>
                </a:solidFill>
                <a:latin typeface="Times New Roman" panose="02020603050405020304" pitchFamily="18" charset="0"/>
                <a:ea typeface="Times New Roman" panose="02020603050405020304" pitchFamily="18" charset="0"/>
              </a:rPr>
              <a:t>3 times.</a:t>
            </a:r>
            <a:endParaRPr lang="en-GB" sz="3200" dirty="0"/>
          </a:p>
        </p:txBody>
      </p:sp>
    </p:spTree>
    <p:extLst>
      <p:ext uri="{BB962C8B-B14F-4D97-AF65-F5344CB8AC3E}">
        <p14:creationId xmlns:p14="http://schemas.microsoft.com/office/powerpoint/2010/main" val="389095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GB" dirty="0"/>
              <a:t>Example</a:t>
            </a:r>
          </a:p>
        </p:txBody>
      </p:sp>
      <p:sp>
        <p:nvSpPr>
          <p:cNvPr id="3" name="Rectangle 2">
            <a:extLst>
              <a:ext uri="{FF2B5EF4-FFF2-40B4-BE49-F238E27FC236}">
                <a16:creationId xmlns:a16="http://schemas.microsoft.com/office/drawing/2014/main" id="{E61520F2-021E-4EFB-A8CF-9F3EE4A96985}"/>
              </a:ext>
            </a:extLst>
          </p:cNvPr>
          <p:cNvSpPr/>
          <p:nvPr/>
        </p:nvSpPr>
        <p:spPr>
          <a:xfrm>
            <a:off x="429715" y="1117288"/>
            <a:ext cx="11332570" cy="5016758"/>
          </a:xfrm>
          <a:prstGeom prst="rect">
            <a:avLst/>
          </a:prstGeom>
        </p:spPr>
        <p:txBody>
          <a:bodyPr wrap="square">
            <a:spAutoFit/>
          </a:bodyPr>
          <a:lstStyle/>
          <a:p>
            <a:pPr algn="just"/>
            <a:r>
              <a:rPr lang="en-GB" sz="3200" dirty="0">
                <a:solidFill>
                  <a:srgbClr val="002060"/>
                </a:solidFill>
                <a:latin typeface="Times New Roman" panose="02020603050405020304" pitchFamily="18" charset="0"/>
              </a:rPr>
              <a:t>A three phase 400V, 50 Hz, balanced supply feeds a balanced load consisting of (a) three equal single phase loads of (40 + j 30) </a:t>
            </a:r>
            <a:r>
              <a:rPr lang="en-GB" sz="3200" dirty="0">
                <a:solidFill>
                  <a:srgbClr val="002060"/>
                </a:solidFill>
                <a:latin typeface="Symbol" panose="05050102010706020507" pitchFamily="18" charset="2"/>
              </a:rPr>
              <a:t>W</a:t>
            </a:r>
            <a:r>
              <a:rPr lang="en-GB" sz="3200" dirty="0">
                <a:solidFill>
                  <a:srgbClr val="002060"/>
                </a:solidFill>
                <a:latin typeface="Times New Roman" panose="02020603050405020304" pitchFamily="18" charset="0"/>
              </a:rPr>
              <a:t> connected in star, and (b) a three phase heating load (purely resistive) of 1.8 kW.</a:t>
            </a:r>
            <a:endParaRPr lang="en-GB" sz="3200" b="1" dirty="0">
              <a:latin typeface="Times New Roman" panose="02020603050405020304" pitchFamily="18" charset="0"/>
            </a:endParaRPr>
          </a:p>
          <a:p>
            <a:pPr algn="just"/>
            <a:r>
              <a:rPr lang="en-GB" sz="3200" dirty="0">
                <a:solidFill>
                  <a:srgbClr val="002060"/>
                </a:solidFill>
                <a:latin typeface="Times New Roman" panose="02020603050405020304" pitchFamily="18" charset="0"/>
              </a:rPr>
              <a:t>Determine the supply current, supply power factor, active and reactive power supplied and value of capacitances that must be connected in delta to improve overall power factor to 0.95 lag. </a:t>
            </a:r>
            <a:endParaRPr lang="en-GB" sz="3200" b="1" dirty="0">
              <a:latin typeface="Times New Roman" panose="02020603050405020304" pitchFamily="18" charset="0"/>
            </a:endParaRPr>
          </a:p>
          <a:p>
            <a:pPr algn="just"/>
            <a:r>
              <a:rPr lang="en-GB" sz="3200" dirty="0">
                <a:solidFill>
                  <a:srgbClr val="002060"/>
                </a:solidFill>
                <a:latin typeface="Times New Roman" panose="02020603050405020304" pitchFamily="18" charset="0"/>
              </a:rPr>
              <a:t>Obtain the result using </a:t>
            </a:r>
            <a:endParaRPr lang="en-GB" sz="3200" b="1" dirty="0">
              <a:latin typeface="Times New Roman" panose="02020603050405020304" pitchFamily="18" charset="0"/>
            </a:endParaRPr>
          </a:p>
          <a:p>
            <a:pPr marL="342900" marR="0" lvl="0" indent="-342900" algn="just">
              <a:spcBef>
                <a:spcPts val="0"/>
              </a:spcBef>
              <a:spcAft>
                <a:spcPts val="0"/>
              </a:spcAft>
              <a:buFont typeface="+mj-lt"/>
              <a:buAutoNum type="romanLcParenBoth"/>
            </a:pPr>
            <a:r>
              <a:rPr lang="en-GB" sz="3200" dirty="0">
                <a:solidFill>
                  <a:srgbClr val="002060"/>
                </a:solidFill>
                <a:latin typeface="Times New Roman" panose="02020603050405020304" pitchFamily="18" charset="0"/>
              </a:rPr>
              <a:t>one phase of the three phase system, and </a:t>
            </a:r>
            <a:endParaRPr lang="en-GB" sz="3200" dirty="0">
              <a:latin typeface="Times New Roman" panose="02020603050405020304" pitchFamily="18" charset="0"/>
            </a:endParaRPr>
          </a:p>
          <a:p>
            <a:pPr marL="342900" marR="0" lvl="0" indent="-342900" algn="just">
              <a:spcBef>
                <a:spcPts val="0"/>
              </a:spcBef>
              <a:spcAft>
                <a:spcPts val="0"/>
              </a:spcAft>
              <a:buFont typeface="+mj-lt"/>
              <a:buAutoNum type="romanLcParenBoth"/>
            </a:pPr>
            <a:r>
              <a:rPr lang="en-GB" sz="3200" dirty="0">
                <a:solidFill>
                  <a:srgbClr val="002060"/>
                </a:solidFill>
                <a:latin typeface="Times New Roman" panose="02020603050405020304" pitchFamily="18" charset="0"/>
                <a:ea typeface="Times New Roman" panose="02020603050405020304" pitchFamily="18" charset="0"/>
              </a:rPr>
              <a:t>the equivalent single phase circuit.</a:t>
            </a:r>
            <a:endParaRPr lang="en-GB" sz="3200" dirty="0"/>
          </a:p>
        </p:txBody>
      </p:sp>
    </p:spTree>
    <p:extLst>
      <p:ext uri="{BB962C8B-B14F-4D97-AF65-F5344CB8AC3E}">
        <p14:creationId xmlns:p14="http://schemas.microsoft.com/office/powerpoint/2010/main" val="3932064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pPr algn="l"/>
            <a:r>
              <a:rPr lang="en-US" dirty="0"/>
              <a:t>Solution</a:t>
            </a:r>
            <a:endParaRPr lang="en-GB" dirty="0"/>
          </a:p>
        </p:txBody>
      </p:sp>
      <p:grpSp>
        <p:nvGrpSpPr>
          <p:cNvPr id="50" name="Group 49">
            <a:extLst>
              <a:ext uri="{FF2B5EF4-FFF2-40B4-BE49-F238E27FC236}">
                <a16:creationId xmlns:a16="http://schemas.microsoft.com/office/drawing/2014/main" id="{BDCC55DD-ADA1-487C-9A87-B1F41187DB87}"/>
              </a:ext>
            </a:extLst>
          </p:cNvPr>
          <p:cNvGrpSpPr/>
          <p:nvPr/>
        </p:nvGrpSpPr>
        <p:grpSpPr>
          <a:xfrm>
            <a:off x="6397267" y="1015016"/>
            <a:ext cx="5586389" cy="3240162"/>
            <a:chOff x="5362555" y="1472213"/>
            <a:chExt cx="5586389" cy="3240162"/>
          </a:xfrm>
        </p:grpSpPr>
        <p:cxnSp>
          <p:nvCxnSpPr>
            <p:cNvPr id="6" name="Line 133">
              <a:extLst>
                <a:ext uri="{FF2B5EF4-FFF2-40B4-BE49-F238E27FC236}">
                  <a16:creationId xmlns:a16="http://schemas.microsoft.com/office/drawing/2014/main" id="{7EDF19CD-A5D3-4A79-A6DB-8721C705B2C6}"/>
                </a:ext>
              </a:extLst>
            </p:cNvPr>
            <p:cNvCxnSpPr>
              <a:cxnSpLocks noChangeAspect="1" noChangeShapeType="1"/>
            </p:cNvCxnSpPr>
            <p:nvPr/>
          </p:nvCxnSpPr>
          <p:spPr bwMode="auto">
            <a:xfrm flipV="1">
              <a:off x="6369881" y="1476658"/>
              <a:ext cx="0" cy="225806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sp>
          <p:nvSpPr>
            <p:cNvPr id="7" name="Text Box 134">
              <a:extLst>
                <a:ext uri="{FF2B5EF4-FFF2-40B4-BE49-F238E27FC236}">
                  <a16:creationId xmlns:a16="http://schemas.microsoft.com/office/drawing/2014/main" id="{8A32FCD0-EF2A-4A4F-8F09-0BB53371C81E}"/>
                </a:ext>
              </a:extLst>
            </p:cNvPr>
            <p:cNvSpPr txBox="1">
              <a:spLocks noChangeArrowheads="1"/>
            </p:cNvSpPr>
            <p:nvPr/>
          </p:nvSpPr>
          <p:spPr bwMode="auto">
            <a:xfrm>
              <a:off x="5362555" y="2413283"/>
              <a:ext cx="527973" cy="5372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8" name="Group 7">
              <a:extLst>
                <a:ext uri="{FF2B5EF4-FFF2-40B4-BE49-F238E27FC236}">
                  <a16:creationId xmlns:a16="http://schemas.microsoft.com/office/drawing/2014/main" id="{500ACD45-CFE1-4245-865C-B9D57325DC77}"/>
                </a:ext>
              </a:extLst>
            </p:cNvPr>
            <p:cNvGrpSpPr>
              <a:grpSpLocks noChangeAspect="1"/>
            </p:cNvGrpSpPr>
            <p:nvPr/>
          </p:nvGrpSpPr>
          <p:grpSpPr bwMode="auto">
            <a:xfrm>
              <a:off x="6066312" y="2408838"/>
              <a:ext cx="532337" cy="541655"/>
              <a:chOff x="8858" y="9998"/>
              <a:chExt cx="600" cy="600"/>
            </a:xfrm>
          </p:grpSpPr>
          <p:sp>
            <p:nvSpPr>
              <p:cNvPr id="34" name="Oval 33">
                <a:extLst>
                  <a:ext uri="{FF2B5EF4-FFF2-40B4-BE49-F238E27FC236}">
                    <a16:creationId xmlns:a16="http://schemas.microsoft.com/office/drawing/2014/main" id="{5C30555B-3492-4178-8DDA-333CDF03221D}"/>
                  </a:ext>
                </a:extLst>
              </p:cNvPr>
              <p:cNvSpPr>
                <a:spLocks noChangeAspect="1" noChangeArrowheads="1"/>
              </p:cNvSpPr>
              <p:nvPr/>
            </p:nvSpPr>
            <p:spPr bwMode="auto">
              <a:xfrm>
                <a:off x="8858" y="9998"/>
                <a:ext cx="600" cy="600"/>
              </a:xfrm>
              <a:prstGeom prst="ellipse">
                <a:avLst/>
              </a:prstGeom>
              <a:solidFill>
                <a:srgbClr val="C6D9F1"/>
              </a:solidFill>
              <a:ln w="38100">
                <a:solidFill>
                  <a:srgbClr val="002060"/>
                </a:solidFill>
                <a:round/>
                <a:headEnd/>
                <a:tailEnd/>
              </a:ln>
            </p:spPr>
            <p:txBody>
              <a:bodyPr rot="0" vert="horz" wrap="square" lIns="91440" tIns="45720" rIns="91440" bIns="45720" anchor="t" anchorCtr="0" upright="1">
                <a:noAutofit/>
              </a:bodyPr>
              <a:lstStyle/>
              <a:p>
                <a:endParaRPr lang="en-GB"/>
              </a:p>
            </p:txBody>
          </p:sp>
          <p:grpSp>
            <p:nvGrpSpPr>
              <p:cNvPr id="35" name="Group 34">
                <a:extLst>
                  <a:ext uri="{FF2B5EF4-FFF2-40B4-BE49-F238E27FC236}">
                    <a16:creationId xmlns:a16="http://schemas.microsoft.com/office/drawing/2014/main" id="{0FAD2E98-FC1D-4051-A37A-D370F00FA165}"/>
                  </a:ext>
                </a:extLst>
              </p:cNvPr>
              <p:cNvGrpSpPr>
                <a:grpSpLocks noChangeAspect="1"/>
              </p:cNvGrpSpPr>
              <p:nvPr/>
            </p:nvGrpSpPr>
            <p:grpSpPr bwMode="auto">
              <a:xfrm>
                <a:off x="8974" y="10146"/>
                <a:ext cx="362" cy="272"/>
                <a:chOff x="4778" y="6098"/>
                <a:chExt cx="2880" cy="1440"/>
              </a:xfrm>
            </p:grpSpPr>
            <p:sp>
              <p:nvSpPr>
                <p:cNvPr id="36" name="Arc 138">
                  <a:extLst>
                    <a:ext uri="{FF2B5EF4-FFF2-40B4-BE49-F238E27FC236}">
                      <a16:creationId xmlns:a16="http://schemas.microsoft.com/office/drawing/2014/main" id="{B9B3EF36-D569-4A0B-92F4-A03741233FCD}"/>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38100">
                  <a:solidFill>
                    <a:srgbClr val="002060"/>
                  </a:solidFill>
                  <a:round/>
                  <a:headEnd/>
                  <a:tailEnd/>
                </a:ln>
                <a:extLst>
                  <a:ext uri="{909E8E84-426E-40DD-AFC4-6F175D3DCCD1}">
                    <a14:hiddenFill xmlns:a14="http://schemas.microsoft.com/office/drawing/2010/main">
                      <a:solidFill>
                        <a:srgbClr val="000066"/>
                      </a:solidFill>
                    </a14:hiddenFill>
                  </a:ext>
                </a:extLst>
              </p:spPr>
              <p:txBody>
                <a:bodyPr rot="0" vert="horz" wrap="square" lIns="91440" tIns="45720" rIns="91440" bIns="45720" anchor="t" anchorCtr="0" upright="1">
                  <a:noAutofit/>
                </a:bodyPr>
                <a:lstStyle/>
                <a:p>
                  <a:endParaRPr lang="en-GB"/>
                </a:p>
              </p:txBody>
            </p:sp>
            <p:sp>
              <p:nvSpPr>
                <p:cNvPr id="37" name="Arc 139">
                  <a:extLst>
                    <a:ext uri="{FF2B5EF4-FFF2-40B4-BE49-F238E27FC236}">
                      <a16:creationId xmlns:a16="http://schemas.microsoft.com/office/drawing/2014/main" id="{A836C87D-ACFE-4F4B-8942-70109A656E3B}"/>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38100">
                  <a:solidFill>
                    <a:srgbClr val="002060"/>
                  </a:solidFill>
                  <a:round/>
                  <a:headEnd/>
                  <a:tailEnd/>
                </a:ln>
                <a:extLst>
                  <a:ext uri="{909E8E84-426E-40DD-AFC4-6F175D3DCCD1}">
                    <a14:hiddenFill xmlns:a14="http://schemas.microsoft.com/office/drawing/2010/main">
                      <a:solidFill>
                        <a:srgbClr val="000066"/>
                      </a:solidFill>
                    </a14:hiddenFill>
                  </a:ext>
                </a:extLst>
              </p:spPr>
              <p:txBody>
                <a:bodyPr rot="0" vert="horz" wrap="square" lIns="91440" tIns="45720" rIns="91440" bIns="45720" anchor="t" anchorCtr="0" upright="1">
                  <a:noAutofit/>
                </a:bodyPr>
                <a:lstStyle/>
                <a:p>
                  <a:endParaRPr lang="en-GB"/>
                </a:p>
              </p:txBody>
            </p:sp>
          </p:grpSp>
        </p:grpSp>
        <p:cxnSp>
          <p:nvCxnSpPr>
            <p:cNvPr id="9" name="Line 140">
              <a:extLst>
                <a:ext uri="{FF2B5EF4-FFF2-40B4-BE49-F238E27FC236}">
                  <a16:creationId xmlns:a16="http://schemas.microsoft.com/office/drawing/2014/main" id="{26178ECA-E26E-4513-BD07-709FD92A31DD}"/>
                </a:ext>
              </a:extLst>
            </p:cNvPr>
            <p:cNvCxnSpPr>
              <a:cxnSpLocks noChangeAspect="1" noChangeShapeType="1"/>
            </p:cNvCxnSpPr>
            <p:nvPr/>
          </p:nvCxnSpPr>
          <p:spPr bwMode="auto">
            <a:xfrm rot="10800000">
              <a:off x="5890528" y="2408838"/>
              <a:ext cx="0" cy="514985"/>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10" name="Group 9">
              <a:extLst>
                <a:ext uri="{FF2B5EF4-FFF2-40B4-BE49-F238E27FC236}">
                  <a16:creationId xmlns:a16="http://schemas.microsoft.com/office/drawing/2014/main" id="{FBA2C487-EE7E-4500-B780-DB9602BA195F}"/>
                </a:ext>
              </a:extLst>
            </p:cNvPr>
            <p:cNvGrpSpPr>
              <a:grpSpLocks noChangeAspect="1"/>
            </p:cNvGrpSpPr>
            <p:nvPr/>
          </p:nvGrpSpPr>
          <p:grpSpPr bwMode="auto">
            <a:xfrm>
              <a:off x="6249468" y="3697253"/>
              <a:ext cx="296294" cy="457200"/>
              <a:chOff x="4701" y="3904"/>
              <a:chExt cx="240" cy="360"/>
            </a:xfrm>
          </p:grpSpPr>
          <p:cxnSp>
            <p:nvCxnSpPr>
              <p:cNvPr id="30" name="Line 142">
                <a:extLst>
                  <a:ext uri="{FF2B5EF4-FFF2-40B4-BE49-F238E27FC236}">
                    <a16:creationId xmlns:a16="http://schemas.microsoft.com/office/drawing/2014/main" id="{24E1E320-5FAB-4670-8014-91EF9FEEA128}"/>
                  </a:ext>
                </a:extLst>
              </p:cNvPr>
              <p:cNvCxnSpPr>
                <a:cxnSpLocks noChangeShapeType="1"/>
              </p:cNvCxnSpPr>
              <p:nvPr/>
            </p:nvCxnSpPr>
            <p:spPr bwMode="auto">
              <a:xfrm>
                <a:off x="4821" y="3904"/>
                <a:ext cx="0" cy="24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31" name="Line 143">
                <a:extLst>
                  <a:ext uri="{FF2B5EF4-FFF2-40B4-BE49-F238E27FC236}">
                    <a16:creationId xmlns:a16="http://schemas.microsoft.com/office/drawing/2014/main" id="{F1687AD4-170D-4827-92A9-569A861B948D}"/>
                  </a:ext>
                </a:extLst>
              </p:cNvPr>
              <p:cNvCxnSpPr>
                <a:cxnSpLocks noChangeShapeType="1"/>
              </p:cNvCxnSpPr>
              <p:nvPr/>
            </p:nvCxnSpPr>
            <p:spPr bwMode="auto">
              <a:xfrm>
                <a:off x="4701" y="4144"/>
                <a:ext cx="24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32" name="Line 144">
                <a:extLst>
                  <a:ext uri="{FF2B5EF4-FFF2-40B4-BE49-F238E27FC236}">
                    <a16:creationId xmlns:a16="http://schemas.microsoft.com/office/drawing/2014/main" id="{743143A9-2880-4BDA-93C0-AE7C0928EB59}"/>
                  </a:ext>
                </a:extLst>
              </p:cNvPr>
              <p:cNvCxnSpPr>
                <a:cxnSpLocks noChangeShapeType="1"/>
              </p:cNvCxnSpPr>
              <p:nvPr/>
            </p:nvCxnSpPr>
            <p:spPr bwMode="auto">
              <a:xfrm>
                <a:off x="4746" y="4204"/>
                <a:ext cx="142"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33" name="Line 145">
                <a:extLst>
                  <a:ext uri="{FF2B5EF4-FFF2-40B4-BE49-F238E27FC236}">
                    <a16:creationId xmlns:a16="http://schemas.microsoft.com/office/drawing/2014/main" id="{DFBFBF76-87F6-4057-B2C6-3F81D8B0A829}"/>
                  </a:ext>
                </a:extLst>
              </p:cNvPr>
              <p:cNvCxnSpPr>
                <a:cxnSpLocks noChangeShapeType="1"/>
              </p:cNvCxnSpPr>
              <p:nvPr/>
            </p:nvCxnSpPr>
            <p:spPr bwMode="auto">
              <a:xfrm>
                <a:off x="4791" y="4264"/>
                <a:ext cx="85"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grpSp>
        <p:cxnSp>
          <p:nvCxnSpPr>
            <p:cNvPr id="11" name="Line 146">
              <a:extLst>
                <a:ext uri="{FF2B5EF4-FFF2-40B4-BE49-F238E27FC236}">
                  <a16:creationId xmlns:a16="http://schemas.microsoft.com/office/drawing/2014/main" id="{8C2956CD-863F-4234-9688-F309275717C6}"/>
                </a:ext>
              </a:extLst>
            </p:cNvPr>
            <p:cNvCxnSpPr>
              <a:cxnSpLocks noChangeShapeType="1"/>
            </p:cNvCxnSpPr>
            <p:nvPr/>
          </p:nvCxnSpPr>
          <p:spPr bwMode="auto">
            <a:xfrm rot="5400000">
              <a:off x="8203762" y="-334917"/>
              <a:ext cx="0" cy="367649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sp>
          <p:nvSpPr>
            <p:cNvPr id="12" name="Rectangle 11">
              <a:extLst>
                <a:ext uri="{FF2B5EF4-FFF2-40B4-BE49-F238E27FC236}">
                  <a16:creationId xmlns:a16="http://schemas.microsoft.com/office/drawing/2014/main" id="{7E46A1AF-B844-4CCC-840A-345AFDD6ACB6}"/>
                </a:ext>
              </a:extLst>
            </p:cNvPr>
            <p:cNvSpPr>
              <a:spLocks noChangeArrowheads="1"/>
            </p:cNvSpPr>
            <p:nvPr/>
          </p:nvSpPr>
          <p:spPr bwMode="auto">
            <a:xfrm>
              <a:off x="9898014" y="2260883"/>
              <a:ext cx="315413" cy="755650"/>
            </a:xfrm>
            <a:prstGeom prst="rect">
              <a:avLst/>
            </a:prstGeom>
            <a:noFill/>
            <a:ln w="38100">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3" name="Line 148">
              <a:extLst>
                <a:ext uri="{FF2B5EF4-FFF2-40B4-BE49-F238E27FC236}">
                  <a16:creationId xmlns:a16="http://schemas.microsoft.com/office/drawing/2014/main" id="{21B426D4-199E-4523-80EB-AD3BB221071A}"/>
                </a:ext>
              </a:extLst>
            </p:cNvPr>
            <p:cNvCxnSpPr>
              <a:cxnSpLocks noChangeShapeType="1"/>
            </p:cNvCxnSpPr>
            <p:nvPr/>
          </p:nvCxnSpPr>
          <p:spPr bwMode="auto">
            <a:xfrm>
              <a:off x="10042007" y="1497613"/>
              <a:ext cx="0" cy="766445"/>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4" name="Line 149">
              <a:extLst>
                <a:ext uri="{FF2B5EF4-FFF2-40B4-BE49-F238E27FC236}">
                  <a16:creationId xmlns:a16="http://schemas.microsoft.com/office/drawing/2014/main" id="{D3939BDE-ACE2-417C-8D61-90EB8E1EA601}"/>
                </a:ext>
              </a:extLst>
            </p:cNvPr>
            <p:cNvCxnSpPr>
              <a:cxnSpLocks noChangeShapeType="1"/>
            </p:cNvCxnSpPr>
            <p:nvPr/>
          </p:nvCxnSpPr>
          <p:spPr bwMode="auto">
            <a:xfrm>
              <a:off x="10030163" y="3031138"/>
              <a:ext cx="0" cy="65278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15" name="Line 150">
              <a:extLst>
                <a:ext uri="{FF2B5EF4-FFF2-40B4-BE49-F238E27FC236}">
                  <a16:creationId xmlns:a16="http://schemas.microsoft.com/office/drawing/2014/main" id="{5E861E75-E704-4DFC-9A4C-32AA1CB7258E}"/>
                </a:ext>
              </a:extLst>
            </p:cNvPr>
            <p:cNvCxnSpPr>
              <a:cxnSpLocks noChangeShapeType="1"/>
            </p:cNvCxnSpPr>
            <p:nvPr/>
          </p:nvCxnSpPr>
          <p:spPr bwMode="auto">
            <a:xfrm>
              <a:off x="6346194" y="3697253"/>
              <a:ext cx="3695813"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sp>
          <p:nvSpPr>
            <p:cNvPr id="16" name="Text Box 151">
              <a:extLst>
                <a:ext uri="{FF2B5EF4-FFF2-40B4-BE49-F238E27FC236}">
                  <a16:creationId xmlns:a16="http://schemas.microsoft.com/office/drawing/2014/main" id="{9D62DB4D-7C8F-46AF-BBCD-4D8C7DF9D659}"/>
                </a:ext>
              </a:extLst>
            </p:cNvPr>
            <p:cNvSpPr txBox="1">
              <a:spLocks noChangeArrowheads="1"/>
            </p:cNvSpPr>
            <p:nvPr/>
          </p:nvSpPr>
          <p:spPr bwMode="auto">
            <a:xfrm>
              <a:off x="9267812" y="2381533"/>
              <a:ext cx="774195" cy="53784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 Box 152">
              <a:extLst>
                <a:ext uri="{FF2B5EF4-FFF2-40B4-BE49-F238E27FC236}">
                  <a16:creationId xmlns:a16="http://schemas.microsoft.com/office/drawing/2014/main" id="{16AA9FC1-170E-4BA5-B589-4EA4FF7B7870}"/>
                </a:ext>
              </a:extLst>
            </p:cNvPr>
            <p:cNvSpPr txBox="1">
              <a:spLocks noChangeArrowheads="1"/>
            </p:cNvSpPr>
            <p:nvPr/>
          </p:nvSpPr>
          <p:spPr bwMode="auto">
            <a:xfrm>
              <a:off x="10262048" y="2319303"/>
              <a:ext cx="527350" cy="5372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8" name="Line 153">
              <a:extLst>
                <a:ext uri="{FF2B5EF4-FFF2-40B4-BE49-F238E27FC236}">
                  <a16:creationId xmlns:a16="http://schemas.microsoft.com/office/drawing/2014/main" id="{17C54B5C-CDD1-43B4-A4B7-B123BF0B8FF8}"/>
                </a:ext>
              </a:extLst>
            </p:cNvPr>
            <p:cNvCxnSpPr>
              <a:cxnSpLocks noChangeAspect="1" noChangeShapeType="1"/>
            </p:cNvCxnSpPr>
            <p:nvPr/>
          </p:nvCxnSpPr>
          <p:spPr bwMode="auto">
            <a:xfrm rot="10800000">
              <a:off x="10789398" y="2233578"/>
              <a:ext cx="0" cy="85598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19" name="Line 154">
              <a:extLst>
                <a:ext uri="{FF2B5EF4-FFF2-40B4-BE49-F238E27FC236}">
                  <a16:creationId xmlns:a16="http://schemas.microsoft.com/office/drawing/2014/main" id="{70EBEA86-0B69-4323-9420-A293F01835F4}"/>
                </a:ext>
              </a:extLst>
            </p:cNvPr>
            <p:cNvCxnSpPr>
              <a:cxnSpLocks noChangeShapeType="1"/>
            </p:cNvCxnSpPr>
            <p:nvPr/>
          </p:nvCxnSpPr>
          <p:spPr bwMode="auto">
            <a:xfrm>
              <a:off x="7733137" y="1497613"/>
              <a:ext cx="334113"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sp>
          <p:nvSpPr>
            <p:cNvPr id="20" name="Text Box 155">
              <a:extLst>
                <a:ext uri="{FF2B5EF4-FFF2-40B4-BE49-F238E27FC236}">
                  <a16:creationId xmlns:a16="http://schemas.microsoft.com/office/drawing/2014/main" id="{8C8216AE-B1C1-4A9F-858D-188E8EC6DCDC}"/>
                </a:ext>
              </a:extLst>
            </p:cNvPr>
            <p:cNvSpPr txBox="1">
              <a:spLocks noChangeArrowheads="1"/>
            </p:cNvSpPr>
            <p:nvPr/>
          </p:nvSpPr>
          <p:spPr bwMode="auto">
            <a:xfrm>
              <a:off x="7874013" y="1642393"/>
              <a:ext cx="527350" cy="53784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156">
              <a:extLst>
                <a:ext uri="{FF2B5EF4-FFF2-40B4-BE49-F238E27FC236}">
                  <a16:creationId xmlns:a16="http://schemas.microsoft.com/office/drawing/2014/main" id="{648C16F6-CFE9-4601-A7DC-9EF3BADE951D}"/>
                </a:ext>
              </a:extLst>
            </p:cNvPr>
            <p:cNvSpPr txBox="1">
              <a:spLocks noChangeArrowheads="1"/>
            </p:cNvSpPr>
            <p:nvPr/>
          </p:nvSpPr>
          <p:spPr bwMode="auto">
            <a:xfrm>
              <a:off x="6305023" y="4116745"/>
              <a:ext cx="4643921" cy="59563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8 – Single phase diagram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4FCD6876-0644-49A8-AF02-56E98F418F4D}"/>
                </a:ext>
              </a:extLst>
            </p:cNvPr>
            <p:cNvSpPr>
              <a:spLocks noChangeArrowheads="1"/>
            </p:cNvSpPr>
            <p:nvPr/>
          </p:nvSpPr>
          <p:spPr bwMode="auto">
            <a:xfrm>
              <a:off x="8886948" y="2235483"/>
              <a:ext cx="314789" cy="755650"/>
            </a:xfrm>
            <a:prstGeom prst="rect">
              <a:avLst/>
            </a:prstGeom>
            <a:noFill/>
            <a:ln w="38100">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23" name="Line 158">
              <a:extLst>
                <a:ext uri="{FF2B5EF4-FFF2-40B4-BE49-F238E27FC236}">
                  <a16:creationId xmlns:a16="http://schemas.microsoft.com/office/drawing/2014/main" id="{CDF4B628-B772-4970-9720-F1C20449EB95}"/>
                </a:ext>
              </a:extLst>
            </p:cNvPr>
            <p:cNvCxnSpPr>
              <a:cxnSpLocks noChangeShapeType="1"/>
            </p:cNvCxnSpPr>
            <p:nvPr/>
          </p:nvCxnSpPr>
          <p:spPr bwMode="auto">
            <a:xfrm>
              <a:off x="9030318" y="1472213"/>
              <a:ext cx="0" cy="766445"/>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cxnSp>
          <p:nvCxnSpPr>
            <p:cNvPr id="24" name="Line 159">
              <a:extLst>
                <a:ext uri="{FF2B5EF4-FFF2-40B4-BE49-F238E27FC236}">
                  <a16:creationId xmlns:a16="http://schemas.microsoft.com/office/drawing/2014/main" id="{F09250DB-F7B0-4D57-80D2-81939FA62473}"/>
                </a:ext>
              </a:extLst>
            </p:cNvPr>
            <p:cNvCxnSpPr>
              <a:cxnSpLocks noChangeShapeType="1"/>
            </p:cNvCxnSpPr>
            <p:nvPr/>
          </p:nvCxnSpPr>
          <p:spPr bwMode="auto">
            <a:xfrm>
              <a:off x="9018474" y="3005738"/>
              <a:ext cx="0" cy="65278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cxnSp>
        <p:sp>
          <p:nvSpPr>
            <p:cNvPr id="25" name="Text Box 160">
              <a:extLst>
                <a:ext uri="{FF2B5EF4-FFF2-40B4-BE49-F238E27FC236}">
                  <a16:creationId xmlns:a16="http://schemas.microsoft.com/office/drawing/2014/main" id="{FDF51B35-5214-4D8B-BD23-491B094E59B2}"/>
                </a:ext>
              </a:extLst>
            </p:cNvPr>
            <p:cNvSpPr txBox="1">
              <a:spLocks noChangeArrowheads="1"/>
            </p:cNvSpPr>
            <p:nvPr/>
          </p:nvSpPr>
          <p:spPr bwMode="auto">
            <a:xfrm>
              <a:off x="8255500" y="2356133"/>
              <a:ext cx="800375" cy="53784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6" name="Line 161">
              <a:extLst>
                <a:ext uri="{FF2B5EF4-FFF2-40B4-BE49-F238E27FC236}">
                  <a16:creationId xmlns:a16="http://schemas.microsoft.com/office/drawing/2014/main" id="{8EDCCF65-8BD7-4187-A0DE-34FF4EA748E0}"/>
                </a:ext>
              </a:extLst>
            </p:cNvPr>
            <p:cNvCxnSpPr>
              <a:cxnSpLocks noChangeShapeType="1"/>
            </p:cNvCxnSpPr>
            <p:nvPr/>
          </p:nvCxnSpPr>
          <p:spPr bwMode="auto">
            <a:xfrm>
              <a:off x="9033435" y="1642393"/>
              <a:ext cx="0" cy="34036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27" name="Line 162">
              <a:extLst>
                <a:ext uri="{FF2B5EF4-FFF2-40B4-BE49-F238E27FC236}">
                  <a16:creationId xmlns:a16="http://schemas.microsoft.com/office/drawing/2014/main" id="{BA115683-8D10-476D-9FE2-BE9288E1528F}"/>
                </a:ext>
              </a:extLst>
            </p:cNvPr>
            <p:cNvCxnSpPr>
              <a:cxnSpLocks noChangeShapeType="1"/>
            </p:cNvCxnSpPr>
            <p:nvPr/>
          </p:nvCxnSpPr>
          <p:spPr bwMode="auto">
            <a:xfrm>
              <a:off x="10035773" y="1727483"/>
              <a:ext cx="0" cy="34036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cxnSp>
        <p:sp>
          <p:nvSpPr>
            <p:cNvPr id="28" name="Text Box 163">
              <a:extLst>
                <a:ext uri="{FF2B5EF4-FFF2-40B4-BE49-F238E27FC236}">
                  <a16:creationId xmlns:a16="http://schemas.microsoft.com/office/drawing/2014/main" id="{23D7B686-1F8F-4A50-A9CA-E38D7FC5784A}"/>
                </a:ext>
              </a:extLst>
            </p:cNvPr>
            <p:cNvSpPr txBox="1">
              <a:spLocks noChangeArrowheads="1"/>
            </p:cNvSpPr>
            <p:nvPr/>
          </p:nvSpPr>
          <p:spPr bwMode="auto">
            <a:xfrm>
              <a:off x="8420063" y="1642393"/>
              <a:ext cx="527973" cy="53784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 Box 164">
              <a:extLst>
                <a:ext uri="{FF2B5EF4-FFF2-40B4-BE49-F238E27FC236}">
                  <a16:creationId xmlns:a16="http://schemas.microsoft.com/office/drawing/2014/main" id="{C393D61F-640A-49C8-9855-50A074095299}"/>
                </a:ext>
              </a:extLst>
            </p:cNvPr>
            <p:cNvSpPr txBox="1">
              <a:spLocks noChangeArrowheads="1"/>
            </p:cNvSpPr>
            <p:nvPr/>
          </p:nvSpPr>
          <p:spPr bwMode="auto">
            <a:xfrm>
              <a:off x="9483490" y="1529998"/>
              <a:ext cx="527350" cy="53784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51" name="Rectangle 2">
            <a:extLst>
              <a:ext uri="{FF2B5EF4-FFF2-40B4-BE49-F238E27FC236}">
                <a16:creationId xmlns:a16="http://schemas.microsoft.com/office/drawing/2014/main" id="{5A35E9ED-B3F8-4001-965F-D3AEB4A6B747}"/>
              </a:ext>
            </a:extLst>
          </p:cNvPr>
          <p:cNvSpPr>
            <a:spLocks noChangeArrowheads="1"/>
          </p:cNvSpPr>
          <p:nvPr/>
        </p:nvSpPr>
        <p:spPr bwMode="auto">
          <a:xfrm>
            <a:off x="96252" y="1060563"/>
            <a:ext cx="8908725" cy="3579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0" numCol="1" anchor="ctr" anchorCtr="0" compatLnSpc="1">
            <a:prstTxWarp prst="textNoShape">
              <a:avLst/>
            </a:prstTxWarp>
            <a:spAutoFit/>
          </a:bodyPr>
          <a:lstStyle/>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4000" b="0"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a:t>
            </a:r>
            <a:r>
              <a:rPr kumimoji="0" lang="en-GB" altLang="en-US" sz="4000" b="0" i="0" u="none" strike="noStrike" cap="none" normalizeH="0" baseline="0" dirty="0" err="1">
                <a:ln>
                  <a:noFill/>
                </a:ln>
                <a:solidFill>
                  <a:srgbClr val="C00000"/>
                </a:solidFill>
                <a:effectLst/>
                <a:latin typeface="Times New Roman" panose="02020603050405020304" pitchFamily="18" charset="0"/>
                <a:cs typeface="Times New Roman" panose="02020603050405020304" pitchFamily="18" charset="0"/>
              </a:rPr>
              <a:t>i</a:t>
            </a:r>
            <a:r>
              <a:rPr kumimoji="0" lang="en-GB" altLang="en-US" sz="4000" b="0"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 Using one-phase diagram</a:t>
            </a: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a:t>
            </a:r>
            <a:endParaRPr kumimoji="0" lang="en-GB"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tab pos="625475" algn="l"/>
              </a:tabLst>
            </a:pP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Z</a:t>
            </a:r>
            <a:r>
              <a:rPr kumimoji="0" lang="en-GB" altLang="en-US" sz="40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L1</a:t>
            </a: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40 + j 30 </a:t>
            </a:r>
            <a:r>
              <a:rPr kumimoji="0" lang="en-GB" altLang="en-US" sz="4000" b="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rPr>
              <a:t>W</a:t>
            </a:r>
            <a:endParaRPr kumimoji="0" lang="en-GB"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tab pos="625475" algn="l"/>
              </a:tabLst>
            </a:pP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E</a:t>
            </a:r>
            <a:r>
              <a:rPr kumimoji="0" lang="en-GB" altLang="en-US" sz="40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p</a:t>
            </a: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400/</a:t>
            </a:r>
            <a:r>
              <a:rPr kumimoji="0" lang="en-GB" altLang="en-US" sz="4000" b="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rPr>
              <a:t>Ö</a:t>
            </a: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3  = 230.9</a:t>
            </a: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0</a:t>
            </a:r>
            <a:endParaRPr kumimoji="0" lang="en-GB"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10000"/>
              </a:lnSpc>
              <a:spcBef>
                <a:spcPct val="0"/>
              </a:spcBef>
              <a:spcAft>
                <a:spcPts val="1200"/>
              </a:spcAft>
              <a:buClrTx/>
              <a:buSzTx/>
              <a:buFontTx/>
              <a:buNone/>
              <a:tabLst>
                <a:tab pos="625475" algn="l"/>
              </a:tabLst>
            </a:pP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P</a:t>
            </a:r>
            <a:r>
              <a:rPr kumimoji="0" lang="en-GB" altLang="en-US" sz="40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p</a:t>
            </a: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 1.8/3  = 0.6 kW  = 600 W</a:t>
            </a:r>
            <a:endParaRPr kumimoji="0" lang="en-GB"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p>
        </p:txBody>
      </p:sp>
      <p:graphicFrame>
        <p:nvGraphicFramePr>
          <p:cNvPr id="52" name="Object 51">
            <a:extLst>
              <a:ext uri="{FF2B5EF4-FFF2-40B4-BE49-F238E27FC236}">
                <a16:creationId xmlns:a16="http://schemas.microsoft.com/office/drawing/2014/main" id="{E9CE913C-1C93-49F3-9A52-CB14DCB36C18}"/>
              </a:ext>
            </a:extLst>
          </p:cNvPr>
          <p:cNvGraphicFramePr>
            <a:graphicFrameLocks noChangeAspect="1"/>
          </p:cNvGraphicFramePr>
          <p:nvPr>
            <p:extLst>
              <p:ext uri="{D42A27DB-BD31-4B8C-83A1-F6EECF244321}">
                <p14:modId xmlns:p14="http://schemas.microsoft.com/office/powerpoint/2010/main" val="1412840633"/>
              </p:ext>
            </p:extLst>
          </p:nvPr>
        </p:nvGraphicFramePr>
        <p:xfrm>
          <a:off x="495529" y="3894929"/>
          <a:ext cx="9267825" cy="1352550"/>
        </p:xfrm>
        <a:graphic>
          <a:graphicData uri="http://schemas.openxmlformats.org/presentationml/2006/ole">
            <mc:AlternateContent xmlns:mc="http://schemas.openxmlformats.org/markup-compatibility/2006">
              <mc:Choice xmlns:v="urn:schemas-microsoft-com:vml" Requires="v">
                <p:oleObj spid="_x0000_s156716" r:id="rId3" imgW="2984500" imgH="431800" progId="Equation.3">
                  <p:embed/>
                </p:oleObj>
              </mc:Choice>
              <mc:Fallback>
                <p:oleObj r:id="rId3" imgW="2984500" imgH="4318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529" y="3894929"/>
                        <a:ext cx="9267825" cy="1352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 name="Rectangle 3">
            <a:extLst>
              <a:ext uri="{FF2B5EF4-FFF2-40B4-BE49-F238E27FC236}">
                <a16:creationId xmlns:a16="http://schemas.microsoft.com/office/drawing/2014/main" id="{7A719D36-97F2-471F-A0A4-DDF23C0B5AD7}"/>
              </a:ext>
            </a:extLst>
          </p:cNvPr>
          <p:cNvSpPr>
            <a:spLocks noChangeArrowheads="1"/>
          </p:cNvSpPr>
          <p:nvPr/>
        </p:nvSpPr>
        <p:spPr bwMode="auto">
          <a:xfrm>
            <a:off x="200553" y="5188830"/>
            <a:ext cx="9852633" cy="1461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617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[Note:  Quite often, phase voltage of 3 phase 400V system is taken as 230V rather than calculated value of 230.9 V, which gives a slightly different answer.]</a:t>
            </a:r>
            <a:endParaRPr kumimoji="0" lang="en-GB"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4888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3AAC1E6-708E-45D9-A089-1590B988E0B2}"/>
              </a:ext>
            </a:extLst>
          </p:cNvPr>
          <p:cNvSpPr>
            <a:spLocks noChangeArrowheads="1"/>
          </p:cNvSpPr>
          <p:nvPr/>
        </p:nvSpPr>
        <p:spPr bwMode="auto">
          <a:xfrm>
            <a:off x="216569" y="442256"/>
            <a:ext cx="7411453" cy="1184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6176"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Using P = V I cos </a:t>
            </a:r>
            <a:r>
              <a:rPr kumimoji="0" lang="en-GB" altLang="en-US" sz="3600" b="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rPr>
              <a:t>f</a:t>
            </a: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a:t>
            </a:r>
            <a:endParaRPr kumimoji="0" lang="en-GB"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p>
        </p:txBody>
      </p:sp>
      <p:graphicFrame>
        <p:nvGraphicFramePr>
          <p:cNvPr id="4" name="Object 3">
            <a:extLst>
              <a:ext uri="{FF2B5EF4-FFF2-40B4-BE49-F238E27FC236}">
                <a16:creationId xmlns:a16="http://schemas.microsoft.com/office/drawing/2014/main" id="{D00FBC05-C850-4941-9C52-ECA390DAB974}"/>
              </a:ext>
            </a:extLst>
          </p:cNvPr>
          <p:cNvGraphicFramePr>
            <a:graphicFrameLocks noChangeAspect="1"/>
          </p:cNvGraphicFramePr>
          <p:nvPr>
            <p:extLst>
              <p:ext uri="{D42A27DB-BD31-4B8C-83A1-F6EECF244321}">
                <p14:modId xmlns:p14="http://schemas.microsoft.com/office/powerpoint/2010/main" val="467852770"/>
              </p:ext>
            </p:extLst>
          </p:nvPr>
        </p:nvGraphicFramePr>
        <p:xfrm>
          <a:off x="665747" y="866270"/>
          <a:ext cx="4210050" cy="1019175"/>
        </p:xfrm>
        <a:graphic>
          <a:graphicData uri="http://schemas.openxmlformats.org/presentationml/2006/ole">
            <mc:AlternateContent xmlns:mc="http://schemas.openxmlformats.org/markup-compatibility/2006">
              <mc:Choice xmlns:v="urn:schemas-microsoft-com:vml" Requires="v">
                <p:oleObj spid="_x0000_s161834" r:id="rId3" imgW="1637589" imgH="393529" progId="Equation.3">
                  <p:embed/>
                </p:oleObj>
              </mc:Choice>
              <mc:Fallback>
                <p:oleObj r:id="rId3" imgW="1637589" imgH="39352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747" y="866270"/>
                        <a:ext cx="4210050" cy="1019175"/>
                      </a:xfrm>
                      <a:prstGeom prst="rect">
                        <a:avLst/>
                      </a:prstGeom>
                      <a:noFill/>
                    </p:spPr>
                  </p:pic>
                </p:oleObj>
              </mc:Fallback>
            </mc:AlternateContent>
          </a:graphicData>
        </a:graphic>
      </p:graphicFrame>
      <p:sp>
        <p:nvSpPr>
          <p:cNvPr id="5" name="Rectangle 3">
            <a:extLst>
              <a:ext uri="{FF2B5EF4-FFF2-40B4-BE49-F238E27FC236}">
                <a16:creationId xmlns:a16="http://schemas.microsoft.com/office/drawing/2014/main" id="{87B49976-4390-4F23-9E43-078822E204B8}"/>
              </a:ext>
            </a:extLst>
          </p:cNvPr>
          <p:cNvSpPr>
            <a:spLocks noChangeArrowheads="1"/>
          </p:cNvSpPr>
          <p:nvPr/>
        </p:nvSpPr>
        <p:spPr bwMode="auto">
          <a:xfrm>
            <a:off x="216569" y="1789193"/>
            <a:ext cx="11309684"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[Note: angle is zero because it is purely resistive]</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Thus  I</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p</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I</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p1</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I</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p2</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4.619</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-36.87</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0</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+ 2.598 </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 6.293 – j 2.771 =  6.876</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-23.77</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0</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A</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supply current =</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6.876</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-23.77</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0</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A</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tab pos="336550" algn="l"/>
                <a:tab pos="4114800" algn="l"/>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supply power factor 	=  cos (0 – (-23.77</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0</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 0.915 lag</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tab pos="336550" algn="l"/>
                <a:tab pos="4114800" algn="l"/>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active power supplied	= </a:t>
            </a:r>
            <a:r>
              <a:rPr kumimoji="0" lang="en-GB" altLang="en-US" sz="3200" b="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sym typeface="Symbol" panose="05050102010706020507" pitchFamily="18" charset="2"/>
              </a:rPr>
              <a:t>Ö</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3V</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L</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I</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L</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cos </a:t>
            </a:r>
            <a:r>
              <a:rPr kumimoji="0" lang="en-GB" altLang="en-US" sz="3200" b="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sym typeface="Symbol" panose="05050102010706020507" pitchFamily="18" charset="2"/>
              </a:rPr>
              <a:t>f  = Ö</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3</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400</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6.876</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0.915 </a:t>
            </a:r>
          </a:p>
          <a:p>
            <a:pPr marL="0" marR="0" lvl="0" indent="0" algn="l" defTabSz="914400" rtl="0" eaLnBrk="0" fontAlgn="base" latinLnBrk="0" hangingPunct="0">
              <a:lnSpc>
                <a:spcPct val="100000"/>
              </a:lnSpc>
              <a:spcBef>
                <a:spcPct val="0"/>
              </a:spcBef>
              <a:spcAft>
                <a:spcPct val="0"/>
              </a:spcAft>
              <a:buClrTx/>
              <a:buSzTx/>
              <a:buFontTx/>
              <a:buNone/>
              <a:tabLst>
                <a:tab pos="336550" algn="l"/>
                <a:tab pos="4114800" algn="l"/>
              </a:tabLst>
            </a:pPr>
            <a:r>
              <a:rPr lang="en-GB" altLang="en-US" sz="3200" dirty="0">
                <a:solidFill>
                  <a:srgbClr val="002060"/>
                </a:solidFill>
                <a:latin typeface="Times New Roman" panose="02020603050405020304" pitchFamily="18" charset="0"/>
                <a:cs typeface="Times New Roman" panose="02020603050405020304" pitchFamily="18" charset="0"/>
              </a:rPr>
              <a:t>		</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4360 W</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tab pos="288925" algn="l"/>
              </a:tabLst>
            </a:pPr>
            <a:r>
              <a:rPr kumimoji="0" lang="en-GB" altLang="en-US" sz="3200" b="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sym typeface="Symbol" panose="05050102010706020507" pitchFamily="18" charset="2"/>
              </a:rPr>
              <a:t> </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reactive power supplied = </a:t>
            </a:r>
            <a:r>
              <a:rPr kumimoji="0" lang="en-GB" altLang="en-US" sz="3200" b="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sym typeface="Symbol" panose="05050102010706020507" pitchFamily="18" charset="2"/>
              </a:rPr>
              <a:t>Ö</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3V</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L</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I</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L</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sin </a:t>
            </a:r>
            <a:r>
              <a:rPr kumimoji="0" lang="en-GB" altLang="en-US" sz="3200" b="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sym typeface="Symbol" panose="05050102010706020507" pitchFamily="18" charset="2"/>
              </a:rPr>
              <a:t>f  </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sym typeface="Symbol" panose="05050102010706020507" pitchFamily="18" charset="2"/>
              </a:rPr>
              <a:t>		= Ö</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3 </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400 </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6.876 </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sin (-23.77) = 1920 var</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Capacitances are connected to improve power factor to 0.95.</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464533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FAE84DD0-626F-4DDC-8A64-81B1618F0B5D}"/>
              </a:ext>
            </a:extLst>
          </p:cNvPr>
          <p:cNvGraphicFramePr>
            <a:graphicFrameLocks noChangeAspect="1"/>
          </p:cNvGraphicFramePr>
          <p:nvPr>
            <p:extLst>
              <p:ext uri="{D42A27DB-BD31-4B8C-83A1-F6EECF244321}">
                <p14:modId xmlns:p14="http://schemas.microsoft.com/office/powerpoint/2010/main" val="1708694134"/>
              </p:ext>
            </p:extLst>
          </p:nvPr>
        </p:nvGraphicFramePr>
        <p:xfrm>
          <a:off x="129926" y="2397527"/>
          <a:ext cx="6944642" cy="1390650"/>
        </p:xfrm>
        <a:graphic>
          <a:graphicData uri="http://schemas.openxmlformats.org/presentationml/2006/ole">
            <mc:AlternateContent xmlns:mc="http://schemas.openxmlformats.org/markup-compatibility/2006">
              <mc:Choice xmlns:v="urn:schemas-microsoft-com:vml" Requires="v">
                <p:oleObj spid="_x0000_s162876" r:id="rId3" imgW="2235200" imgH="482600" progId="Equation.3">
                  <p:embed/>
                </p:oleObj>
              </mc:Choice>
              <mc:Fallback>
                <p:oleObj r:id="rId3" imgW="2235200" imgH="4826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926" y="2397527"/>
                        <a:ext cx="6944642" cy="1390650"/>
                      </a:xfrm>
                      <a:prstGeom prst="rect">
                        <a:avLst/>
                      </a:prstGeom>
                      <a:noFill/>
                    </p:spPr>
                  </p:pic>
                </p:oleObj>
              </mc:Fallback>
            </mc:AlternateContent>
          </a:graphicData>
        </a:graphic>
      </p:graphicFrame>
      <p:grpSp>
        <p:nvGrpSpPr>
          <p:cNvPr id="4" name="Group 2">
            <a:extLst>
              <a:ext uri="{FF2B5EF4-FFF2-40B4-BE49-F238E27FC236}">
                <a16:creationId xmlns:a16="http://schemas.microsoft.com/office/drawing/2014/main" id="{7045A90D-817B-4B53-AFA5-2264BB5E4EA3}"/>
              </a:ext>
            </a:extLst>
          </p:cNvPr>
          <p:cNvGrpSpPr>
            <a:grpSpLocks/>
          </p:cNvGrpSpPr>
          <p:nvPr/>
        </p:nvGrpSpPr>
        <p:grpSpPr bwMode="auto">
          <a:xfrm>
            <a:off x="7267074" y="175467"/>
            <a:ext cx="4948103" cy="3025775"/>
            <a:chOff x="7101" y="9214"/>
            <a:chExt cx="3420" cy="2412"/>
          </a:xfrm>
        </p:grpSpPr>
        <p:sp>
          <p:nvSpPr>
            <p:cNvPr id="5" name="Line 13">
              <a:extLst>
                <a:ext uri="{FF2B5EF4-FFF2-40B4-BE49-F238E27FC236}">
                  <a16:creationId xmlns:a16="http://schemas.microsoft.com/office/drawing/2014/main" id="{A227555B-DF9C-40AD-923B-5D82B19FE51A}"/>
                </a:ext>
              </a:extLst>
            </p:cNvPr>
            <p:cNvSpPr>
              <a:spLocks noChangeShapeType="1"/>
            </p:cNvSpPr>
            <p:nvPr/>
          </p:nvSpPr>
          <p:spPr bwMode="auto">
            <a:xfrm>
              <a:off x="7728" y="9631"/>
              <a:ext cx="1995" cy="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Line 12">
              <a:extLst>
                <a:ext uri="{FF2B5EF4-FFF2-40B4-BE49-F238E27FC236}">
                  <a16:creationId xmlns:a16="http://schemas.microsoft.com/office/drawing/2014/main" id="{0F79FC61-D597-42D8-A1BE-4A18AC798F1B}"/>
                </a:ext>
              </a:extLst>
            </p:cNvPr>
            <p:cNvSpPr>
              <a:spLocks noChangeShapeType="1"/>
            </p:cNvSpPr>
            <p:nvPr/>
          </p:nvSpPr>
          <p:spPr bwMode="auto">
            <a:xfrm>
              <a:off x="7728" y="9631"/>
              <a:ext cx="0" cy="1197"/>
            </a:xfrm>
            <a:prstGeom prst="line">
              <a:avLst/>
            </a:prstGeom>
            <a:noFill/>
            <a:ln w="38100">
              <a:solidFill>
                <a:srgbClr val="002060"/>
              </a:solidFill>
              <a:prstDash val="sys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Line 11">
              <a:extLst>
                <a:ext uri="{FF2B5EF4-FFF2-40B4-BE49-F238E27FC236}">
                  <a16:creationId xmlns:a16="http://schemas.microsoft.com/office/drawing/2014/main" id="{065CD926-770B-4776-B23D-372693E8F37E}"/>
                </a:ext>
              </a:extLst>
            </p:cNvPr>
            <p:cNvSpPr>
              <a:spLocks noChangeShapeType="1"/>
            </p:cNvSpPr>
            <p:nvPr/>
          </p:nvSpPr>
          <p:spPr bwMode="auto">
            <a:xfrm>
              <a:off x="7728" y="9631"/>
              <a:ext cx="1995" cy="1270"/>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Line 10">
              <a:extLst>
                <a:ext uri="{FF2B5EF4-FFF2-40B4-BE49-F238E27FC236}">
                  <a16:creationId xmlns:a16="http://schemas.microsoft.com/office/drawing/2014/main" id="{43234552-5F50-4060-B085-3C51286D023A}"/>
                </a:ext>
              </a:extLst>
            </p:cNvPr>
            <p:cNvSpPr>
              <a:spLocks noChangeShapeType="1"/>
            </p:cNvSpPr>
            <p:nvPr/>
          </p:nvSpPr>
          <p:spPr bwMode="auto">
            <a:xfrm>
              <a:off x="9723" y="9631"/>
              <a:ext cx="0" cy="1311"/>
            </a:xfrm>
            <a:prstGeom prst="line">
              <a:avLst/>
            </a:prstGeom>
            <a:noFill/>
            <a:ln w="38100">
              <a:solidFill>
                <a:srgbClr val="00206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Line 9">
              <a:extLst>
                <a:ext uri="{FF2B5EF4-FFF2-40B4-BE49-F238E27FC236}">
                  <a16:creationId xmlns:a16="http://schemas.microsoft.com/office/drawing/2014/main" id="{1769229A-23E4-48F1-99DA-DED056D38206}"/>
                </a:ext>
              </a:extLst>
            </p:cNvPr>
            <p:cNvSpPr>
              <a:spLocks noChangeShapeType="1"/>
            </p:cNvSpPr>
            <p:nvPr/>
          </p:nvSpPr>
          <p:spPr bwMode="auto">
            <a:xfrm>
              <a:off x="7728" y="9631"/>
              <a:ext cx="1995" cy="627"/>
            </a:xfrm>
            <a:prstGeom prst="line">
              <a:avLst/>
            </a:prstGeom>
            <a:noFill/>
            <a:ln w="28575">
              <a:solidFill>
                <a:srgbClr val="00B0F0"/>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 name="Line 8">
              <a:extLst>
                <a:ext uri="{FF2B5EF4-FFF2-40B4-BE49-F238E27FC236}">
                  <a16:creationId xmlns:a16="http://schemas.microsoft.com/office/drawing/2014/main" id="{9220C78D-BC35-45F2-96AB-B276BFC62D12}"/>
                </a:ext>
              </a:extLst>
            </p:cNvPr>
            <p:cNvSpPr>
              <a:spLocks noChangeShapeType="1"/>
            </p:cNvSpPr>
            <p:nvPr/>
          </p:nvSpPr>
          <p:spPr bwMode="auto">
            <a:xfrm flipV="1">
              <a:off x="9780" y="10258"/>
              <a:ext cx="0" cy="627"/>
            </a:xfrm>
            <a:prstGeom prst="line">
              <a:avLst/>
            </a:prstGeom>
            <a:noFill/>
            <a:ln w="28575">
              <a:solidFill>
                <a:srgbClr val="003366"/>
              </a:solidFill>
              <a:round/>
              <a:headEnd/>
              <a:tailEnd type="arrow"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 name="Text Box 7">
              <a:extLst>
                <a:ext uri="{FF2B5EF4-FFF2-40B4-BE49-F238E27FC236}">
                  <a16:creationId xmlns:a16="http://schemas.microsoft.com/office/drawing/2014/main" id="{B1746D5C-581A-487F-BB2D-6747052C4949}"/>
                </a:ext>
              </a:extLst>
            </p:cNvPr>
            <p:cNvSpPr txBox="1">
              <a:spLocks noChangeArrowheads="1"/>
            </p:cNvSpPr>
            <p:nvPr/>
          </p:nvSpPr>
          <p:spPr bwMode="auto">
            <a:xfrm>
              <a:off x="9249" y="9214"/>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1" u="none" strike="noStrike" cap="none" normalizeH="0" baseline="0">
                  <a:ln>
                    <a:noFill/>
                  </a:ln>
                  <a:solidFill>
                    <a:srgbClr val="002060"/>
                  </a:solidFill>
                  <a:effectLst/>
                  <a:latin typeface="Times New Roman" panose="02020603050405020304" pitchFamily="18" charset="0"/>
                  <a:cs typeface="Times New Roman" panose="02020603050405020304" pitchFamily="18" charset="0"/>
                </a:rPr>
                <a:t>P</a:t>
              </a:r>
              <a:endPar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Text Box 6">
              <a:extLst>
                <a:ext uri="{FF2B5EF4-FFF2-40B4-BE49-F238E27FC236}">
                  <a16:creationId xmlns:a16="http://schemas.microsoft.com/office/drawing/2014/main" id="{D876D3D7-588F-403A-B168-AAB1012B8F98}"/>
                </a:ext>
              </a:extLst>
            </p:cNvPr>
            <p:cNvSpPr txBox="1">
              <a:spLocks noChangeArrowheads="1"/>
            </p:cNvSpPr>
            <p:nvPr/>
          </p:nvSpPr>
          <p:spPr bwMode="auto">
            <a:xfrm>
              <a:off x="9780" y="10867"/>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1" u="none" strike="noStrike" cap="none" normalizeH="0" baseline="0">
                  <a:ln>
                    <a:noFill/>
                  </a:ln>
                  <a:solidFill>
                    <a:srgbClr val="002060"/>
                  </a:solidFill>
                  <a:effectLst/>
                  <a:latin typeface="Times New Roman" panose="02020603050405020304" pitchFamily="18" charset="0"/>
                  <a:cs typeface="Times New Roman" panose="02020603050405020304" pitchFamily="18" charset="0"/>
                </a:rPr>
                <a:t>Q</a:t>
              </a:r>
              <a:endParaRPr kumimoji="0" lang="en-US" altLang="en-US" sz="12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Text Box 5">
              <a:extLst>
                <a:ext uri="{FF2B5EF4-FFF2-40B4-BE49-F238E27FC236}">
                  <a16:creationId xmlns:a16="http://schemas.microsoft.com/office/drawing/2014/main" id="{0A234406-7193-4D56-8048-5AD92E4C0027}"/>
                </a:ext>
              </a:extLst>
            </p:cNvPr>
            <p:cNvSpPr txBox="1">
              <a:spLocks noChangeArrowheads="1"/>
            </p:cNvSpPr>
            <p:nvPr/>
          </p:nvSpPr>
          <p:spPr bwMode="auto">
            <a:xfrm>
              <a:off x="9780" y="10030"/>
              <a:ext cx="513"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1" u="none" strike="noStrike" cap="none" normalizeH="0" baseline="0">
                  <a:ln>
                    <a:noFill/>
                  </a:ln>
                  <a:solidFill>
                    <a:srgbClr val="002060"/>
                  </a:solidFill>
                  <a:effectLst/>
                  <a:ea typeface="Times New Roman" panose="02020603050405020304" pitchFamily="18" charset="0"/>
                </a:rPr>
                <a:t>Q</a:t>
              </a:r>
              <a:r>
                <a:rPr kumimoji="0" lang="en-US" altLang="en-US" sz="2800" b="0" i="1"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new</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Text Box 4">
              <a:extLst>
                <a:ext uri="{FF2B5EF4-FFF2-40B4-BE49-F238E27FC236}">
                  <a16:creationId xmlns:a16="http://schemas.microsoft.com/office/drawing/2014/main" id="{175FDA88-6F06-4E96-90B3-C605454F9577}"/>
                </a:ext>
              </a:extLst>
            </p:cNvPr>
            <p:cNvSpPr txBox="1">
              <a:spLocks noChangeArrowheads="1"/>
            </p:cNvSpPr>
            <p:nvPr/>
          </p:nvSpPr>
          <p:spPr bwMode="auto">
            <a:xfrm>
              <a:off x="9780" y="10429"/>
              <a:ext cx="513"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a:ln>
                    <a:noFill/>
                  </a:ln>
                  <a:solidFill>
                    <a:srgbClr val="000080"/>
                  </a:solidFill>
                  <a:effectLst/>
                  <a:latin typeface="Arial" panose="020B0604020202020204" pitchFamily="34" charset="0"/>
                  <a:ea typeface="Times New Roman" panose="02020603050405020304" pitchFamily="18" charset="0"/>
                </a:rPr>
                <a:t>Q</a:t>
              </a:r>
              <a:r>
                <a:rPr kumimoji="0" lang="en-US" altLang="en-US" sz="2400" b="0" i="1" u="none" strike="noStrike" cap="none" normalizeH="0" baseline="-30000">
                  <a:ln>
                    <a:noFill/>
                  </a:ln>
                  <a:solidFill>
                    <a:srgbClr val="000080"/>
                  </a:solidFill>
                  <a:effectLst/>
                  <a:latin typeface="Arial" panose="020B0604020202020204" pitchFamily="34" charset="0"/>
                  <a:ea typeface="Times New Roman" panose="02020603050405020304" pitchFamily="18" charset="0"/>
                </a:rPr>
                <a:t>cap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Text Box 3">
              <a:extLst>
                <a:ext uri="{FF2B5EF4-FFF2-40B4-BE49-F238E27FC236}">
                  <a16:creationId xmlns:a16="http://schemas.microsoft.com/office/drawing/2014/main" id="{4F149F76-943C-44B8-84DC-1564D18B40F9}"/>
                </a:ext>
              </a:extLst>
            </p:cNvPr>
            <p:cNvSpPr txBox="1">
              <a:spLocks noChangeArrowheads="1"/>
            </p:cNvSpPr>
            <p:nvPr/>
          </p:nvSpPr>
          <p:spPr bwMode="auto">
            <a:xfrm>
              <a:off x="7101" y="11227"/>
              <a:ext cx="3420"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Figure 9 – Power factor correction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16" name="Rectangle 14">
            <a:extLst>
              <a:ext uri="{FF2B5EF4-FFF2-40B4-BE49-F238E27FC236}">
                <a16:creationId xmlns:a16="http://schemas.microsoft.com/office/drawing/2014/main" id="{F9BC7BD3-652F-440C-BD11-A0240B00E37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GB"/>
          </a:p>
        </p:txBody>
      </p:sp>
      <p:sp>
        <p:nvSpPr>
          <p:cNvPr id="17" name="Rectangle 20">
            <a:extLst>
              <a:ext uri="{FF2B5EF4-FFF2-40B4-BE49-F238E27FC236}">
                <a16:creationId xmlns:a16="http://schemas.microsoft.com/office/drawing/2014/main" id="{9DDF84A1-7104-4754-842A-AACB6D1D62F3}"/>
              </a:ext>
            </a:extLst>
          </p:cNvPr>
          <p:cNvSpPr>
            <a:spLocks noChangeArrowheads="1"/>
          </p:cNvSpPr>
          <p:nvPr/>
        </p:nvSpPr>
        <p:spPr bwMode="auto">
          <a:xfrm>
            <a:off x="204384" y="810149"/>
            <a:ext cx="7531768" cy="1554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617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With pure capacitance, active power remains at P = 4.360 kW.  </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a:t>
            </a:r>
            <a:r>
              <a:rPr kumimoji="0" lang="en-GB" altLang="en-US" sz="3200" b="0" i="1" u="none" strike="noStrike" cap="none" normalizeH="0" baseline="-30000" dirty="0" err="1">
                <a:ln>
                  <a:noFill/>
                </a:ln>
                <a:solidFill>
                  <a:schemeClr val="tx1"/>
                </a:solidFill>
                <a:effectLst/>
                <a:latin typeface="Times New Roman" panose="02020603050405020304" pitchFamily="18" charset="0"/>
                <a:cs typeface="Times New Roman" panose="02020603050405020304" pitchFamily="18" charset="0"/>
              </a:rPr>
              <a:t>capacitance</a:t>
            </a:r>
            <a:r>
              <a:rPr kumimoji="0" lang="en-GB" altLang="en-US" sz="3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GB" altLang="en-US" sz="32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a:t>
            </a:r>
            <a:r>
              <a:rPr kumimoji="0" lang="en-GB" altLang="en-US" sz="3200" b="0" i="1" u="none" strike="noStrike" cap="none" normalizeH="0" baseline="-30000" dirty="0" err="1">
                <a:ln>
                  <a:noFill/>
                </a:ln>
                <a:solidFill>
                  <a:schemeClr val="tx1"/>
                </a:solidFill>
                <a:effectLst/>
                <a:latin typeface="Times New Roman" panose="02020603050405020304" pitchFamily="18" charset="0"/>
                <a:cs typeface="Times New Roman" panose="02020603050405020304" pitchFamily="18" charset="0"/>
              </a:rPr>
              <a:t>original</a:t>
            </a:r>
            <a:r>
              <a:rPr kumimoji="0" lang="en-GB" altLang="en-US" sz="3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GB" altLang="en-US" sz="32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a:t>
            </a:r>
            <a:r>
              <a:rPr kumimoji="0" lang="en-GB" altLang="en-US" sz="3200" b="0" i="1" u="none" strike="noStrike" cap="none" normalizeH="0" baseline="-30000" dirty="0" err="1">
                <a:ln>
                  <a:noFill/>
                </a:ln>
                <a:solidFill>
                  <a:schemeClr val="tx1"/>
                </a:solidFill>
                <a:effectLst/>
                <a:latin typeface="Times New Roman" panose="02020603050405020304" pitchFamily="18" charset="0"/>
                <a:cs typeface="Times New Roman" panose="02020603050405020304" pitchFamily="18" charset="0"/>
              </a:rPr>
              <a:t>new</a:t>
            </a:r>
            <a:r>
              <a:rPr kumimoji="0" lang="en-GB" altLang="en-US" sz="3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8" name="Rectangle 21">
            <a:extLst>
              <a:ext uri="{FF2B5EF4-FFF2-40B4-BE49-F238E27FC236}">
                <a16:creationId xmlns:a16="http://schemas.microsoft.com/office/drawing/2014/main" id="{39378A66-7B3A-4CA7-AEB8-56F212D0F1CE}"/>
              </a:ext>
            </a:extLst>
          </p:cNvPr>
          <p:cNvSpPr>
            <a:spLocks noChangeArrowheads="1"/>
          </p:cNvSpPr>
          <p:nvPr/>
        </p:nvSpPr>
        <p:spPr bwMode="auto">
          <a:xfrm>
            <a:off x="222659" y="3738639"/>
            <a:ext cx="10412597" cy="27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6176"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pPr>
            <a:r>
              <a:rPr kumimoji="0" lang="en-GB" altLang="en-US" sz="32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a:t>
            </a:r>
            <a:r>
              <a:rPr kumimoji="0" lang="en-GB" altLang="en-US" sz="3200" b="0" i="1" u="none" strike="noStrike" cap="none" normalizeH="0" baseline="-30000" dirty="0" err="1">
                <a:ln>
                  <a:noFill/>
                </a:ln>
                <a:solidFill>
                  <a:schemeClr val="tx1"/>
                </a:solidFill>
                <a:effectLst/>
                <a:latin typeface="Times New Roman" panose="02020603050405020304" pitchFamily="18" charset="0"/>
                <a:cs typeface="Times New Roman" panose="02020603050405020304" pitchFamily="18" charset="0"/>
              </a:rPr>
              <a:t>cap</a:t>
            </a:r>
            <a:r>
              <a:rPr kumimoji="0" lang="en-GB" altLang="en-US" sz="3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GB"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1.920 – 1.433</a:t>
            </a:r>
            <a:r>
              <a:rPr kumimoji="0" lang="en-GB" altLang="en-US" sz="3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GB"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0.487</a:t>
            </a:r>
            <a:r>
              <a:rPr kumimoji="0" lang="en-GB" altLang="en-US" sz="3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GB" altLang="en-US" sz="3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kvar</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Each of 3 capacitors would provide 1/3 of this reactive power.</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Q per capacitance</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 0.487/3 = 0.162 </a:t>
            </a:r>
            <a:r>
              <a:rPr kumimoji="0" lang="en-GB" altLang="en-US" sz="3200" b="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kvar</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 V</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2</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C </a:t>
            </a:r>
            <a:r>
              <a:rPr kumimoji="0" lang="en-GB" altLang="en-US" sz="3200" b="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sym typeface="Symbol" panose="05050102010706020507" pitchFamily="18" charset="2"/>
              </a:rPr>
              <a:t>w</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If capacitors are connected in delta, then line voltage would appear across each.</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191304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40FA8-22BA-441E-9F75-6F1AF1534217}"/>
              </a:ext>
            </a:extLst>
          </p:cNvPr>
          <p:cNvSpPr/>
          <p:nvPr/>
        </p:nvSpPr>
        <p:spPr>
          <a:xfrm>
            <a:off x="465221" y="795892"/>
            <a:ext cx="11261558" cy="4390946"/>
          </a:xfrm>
          <a:prstGeom prst="rect">
            <a:avLst/>
          </a:prstGeom>
        </p:spPr>
        <p:txBody>
          <a:bodyPr wrap="square">
            <a:spAutoFit/>
          </a:bodyPr>
          <a:lstStyle/>
          <a:p>
            <a:pPr marL="342900" marR="0" lvl="0" indent="-342900" algn="just">
              <a:spcBef>
                <a:spcPts val="0"/>
              </a:spcBef>
              <a:spcAft>
                <a:spcPts val="600"/>
              </a:spcAft>
              <a:buFont typeface="Symbol" panose="05050102010706020507" pitchFamily="18" charset="2"/>
              <a:buChar char=""/>
              <a:tabLst>
                <a:tab pos="457200" algn="l"/>
              </a:tabLst>
            </a:pPr>
            <a:r>
              <a:rPr lang="en-GB" sz="32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162 = 400</a:t>
            </a:r>
            <a:r>
              <a:rPr lang="en-GB" sz="3200" baseline="300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2</a:t>
            </a:r>
            <a:r>
              <a:rPr lang="en-GB" sz="32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C 100 </a:t>
            </a:r>
            <a:r>
              <a:rPr lang="en-GB" sz="3200"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GB" sz="3200" b="1" dirty="0">
              <a:latin typeface="Times New Roman" panose="02020603050405020304" pitchFamily="18" charset="0"/>
              <a:ea typeface="Times New Roman" panose="02020603050405020304" pitchFamily="18" charset="0"/>
              <a:cs typeface="Times New Roman" panose="02020603050405020304" pitchFamily="18" charset="0"/>
            </a:endParaRPr>
          </a:p>
          <a:p>
            <a:pPr marL="228600" marR="0" algn="just">
              <a:spcBef>
                <a:spcPts val="0"/>
              </a:spcBef>
              <a:spcAft>
                <a:spcPts val="600"/>
              </a:spcAft>
            </a:pPr>
            <a:r>
              <a:rPr lang="en-GB" sz="3200" dirty="0">
                <a:solidFill>
                  <a:srgbClr val="002060"/>
                </a:solidFill>
                <a:latin typeface="Times New Roman" panose="02020603050405020304" pitchFamily="18" charset="0"/>
              </a:rPr>
              <a:t>C = 3.230 </a:t>
            </a:r>
            <a:r>
              <a:rPr lang="en-GB" sz="3200" dirty="0">
                <a:solidFill>
                  <a:srgbClr val="002060"/>
                </a:solidFill>
                <a:latin typeface="Symbol" panose="05050102010706020507" pitchFamily="18" charset="2"/>
              </a:rPr>
              <a:t>m</a:t>
            </a:r>
            <a:r>
              <a:rPr lang="en-GB" sz="3200" dirty="0">
                <a:solidFill>
                  <a:srgbClr val="002060"/>
                </a:solidFill>
                <a:latin typeface="Times New Roman" panose="02020603050405020304" pitchFamily="18" charset="0"/>
              </a:rPr>
              <a:t>F each connected in delta</a:t>
            </a:r>
            <a:endParaRPr lang="en-GB" sz="3200" b="1" dirty="0">
              <a:latin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rPr>
              <a:t>If capacitors are connected in star, then phase voltage would appear across each.</a:t>
            </a:r>
            <a:endParaRPr lang="en-GB" sz="3200" b="1" dirty="0">
              <a:latin typeface="Times New Roman" panose="02020603050405020304" pitchFamily="18" charset="0"/>
            </a:endParaRPr>
          </a:p>
          <a:p>
            <a:pPr marL="342900" marR="0" lvl="0" indent="-342900" algn="just">
              <a:spcBef>
                <a:spcPts val="0"/>
              </a:spcBef>
              <a:spcAft>
                <a:spcPts val="600"/>
              </a:spcAft>
              <a:buFont typeface="Symbol" panose="05050102010706020507" pitchFamily="18" charset="2"/>
              <a:buChar char=""/>
              <a:tabLst>
                <a:tab pos="457200" algn="l"/>
              </a:tabLst>
            </a:pPr>
            <a:r>
              <a:rPr lang="en-GB" sz="32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162 = 230.9</a:t>
            </a:r>
            <a:r>
              <a:rPr lang="en-GB" sz="3200" baseline="300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2</a:t>
            </a:r>
            <a:r>
              <a:rPr lang="en-GB" sz="32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C 100 </a:t>
            </a:r>
            <a:r>
              <a:rPr lang="en-GB" sz="3200"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p</a:t>
            </a:r>
            <a:endParaRPr lang="en-GB" sz="3200" b="1"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spcBef>
                <a:spcPts val="0"/>
              </a:spcBef>
              <a:spcAft>
                <a:spcPts val="400"/>
              </a:spcAft>
              <a:buFont typeface="Symbol" panose="05050102010706020507" pitchFamily="18" charset="2"/>
              <a:buChar char=""/>
              <a:tabLst>
                <a:tab pos="457200" algn="l"/>
              </a:tabLst>
            </a:pPr>
            <a:r>
              <a:rPr lang="en-GB" sz="32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C = 9.689 </a:t>
            </a:r>
            <a:r>
              <a:rPr lang="en-GB" sz="3200"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m</a:t>
            </a:r>
            <a:r>
              <a:rPr lang="en-GB" sz="32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F each connected in star</a:t>
            </a:r>
            <a:endParaRPr lang="en-GB" sz="32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600"/>
              </a:spcAft>
              <a:tabLst>
                <a:tab pos="685800" algn="l"/>
              </a:tabLst>
            </a:pPr>
            <a:r>
              <a:rPr lang="en-GB" sz="3200" dirty="0">
                <a:solidFill>
                  <a:srgbClr val="002060"/>
                </a:solidFill>
                <a:latin typeface="Times New Roman" panose="02020603050405020304" pitchFamily="18" charset="0"/>
              </a:rPr>
              <a:t>Usual to connect capacitors in delta as the value required would be smaller.</a:t>
            </a:r>
            <a:endParaRPr lang="en-GB" sz="3200" b="1" dirty="0">
              <a:effectLst/>
              <a:latin typeface="Times New Roman" panose="02020603050405020304" pitchFamily="18" charset="0"/>
            </a:endParaRPr>
          </a:p>
        </p:txBody>
      </p:sp>
    </p:spTree>
    <p:extLst>
      <p:ext uri="{BB962C8B-B14F-4D97-AF65-F5344CB8AC3E}">
        <p14:creationId xmlns:p14="http://schemas.microsoft.com/office/powerpoint/2010/main" val="2264466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pPr algn="l"/>
            <a:r>
              <a:rPr lang="en-GB" dirty="0"/>
              <a:t>(ii)	Using equivalent 	single-phase diagram</a:t>
            </a:r>
          </a:p>
        </p:txBody>
      </p:sp>
      <p:grpSp>
        <p:nvGrpSpPr>
          <p:cNvPr id="36" name="Group 35">
            <a:extLst>
              <a:ext uri="{FF2B5EF4-FFF2-40B4-BE49-F238E27FC236}">
                <a16:creationId xmlns:a16="http://schemas.microsoft.com/office/drawing/2014/main" id="{3181AB00-D925-424F-AB60-CB3E36081756}"/>
              </a:ext>
            </a:extLst>
          </p:cNvPr>
          <p:cNvGrpSpPr/>
          <p:nvPr/>
        </p:nvGrpSpPr>
        <p:grpSpPr>
          <a:xfrm>
            <a:off x="7080885" y="1507791"/>
            <a:ext cx="5111115" cy="3168650"/>
            <a:chOff x="3540442" y="1844675"/>
            <a:chExt cx="5111115" cy="3168650"/>
          </a:xfrm>
        </p:grpSpPr>
        <p:sp>
          <p:nvSpPr>
            <p:cNvPr id="4" name="Text Box 166">
              <a:extLst>
                <a:ext uri="{FF2B5EF4-FFF2-40B4-BE49-F238E27FC236}">
                  <a16:creationId xmlns:a16="http://schemas.microsoft.com/office/drawing/2014/main" id="{4D28B53D-36CE-45D5-9C44-642122C06AF9}"/>
                </a:ext>
              </a:extLst>
            </p:cNvPr>
            <p:cNvSpPr txBox="1">
              <a:spLocks noChangeArrowheads="1"/>
            </p:cNvSpPr>
            <p:nvPr/>
          </p:nvSpPr>
          <p:spPr bwMode="auto">
            <a:xfrm>
              <a:off x="6436042" y="1999615"/>
              <a:ext cx="477520" cy="48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 Box 167">
              <a:extLst>
                <a:ext uri="{FF2B5EF4-FFF2-40B4-BE49-F238E27FC236}">
                  <a16:creationId xmlns:a16="http://schemas.microsoft.com/office/drawing/2014/main" id="{6314D065-311F-4D86-8993-78DA4782AAAA}"/>
                </a:ext>
              </a:extLst>
            </p:cNvPr>
            <p:cNvSpPr txBox="1">
              <a:spLocks noChangeArrowheads="1"/>
            </p:cNvSpPr>
            <p:nvPr/>
          </p:nvSpPr>
          <p:spPr bwMode="auto">
            <a:xfrm>
              <a:off x="3918267" y="4470400"/>
              <a:ext cx="473329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9 – Equivalent diagram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 name="Line 168">
              <a:extLst>
                <a:ext uri="{FF2B5EF4-FFF2-40B4-BE49-F238E27FC236}">
                  <a16:creationId xmlns:a16="http://schemas.microsoft.com/office/drawing/2014/main" id="{758E0F49-A7B7-45F2-9F1B-AE6553FC55F7}"/>
                </a:ext>
              </a:extLst>
            </p:cNvPr>
            <p:cNvCxnSpPr>
              <a:cxnSpLocks noChangeAspect="1" noChangeShapeType="1"/>
            </p:cNvCxnSpPr>
            <p:nvPr/>
          </p:nvCxnSpPr>
          <p:spPr bwMode="auto">
            <a:xfrm flipV="1">
              <a:off x="4451032" y="1848485"/>
              <a:ext cx="0" cy="205613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7" name="Text Box 169">
              <a:extLst>
                <a:ext uri="{FF2B5EF4-FFF2-40B4-BE49-F238E27FC236}">
                  <a16:creationId xmlns:a16="http://schemas.microsoft.com/office/drawing/2014/main" id="{6A508650-C952-4DA2-8B8E-4274C09CA569}"/>
                </a:ext>
              </a:extLst>
            </p:cNvPr>
            <p:cNvSpPr txBox="1">
              <a:spLocks noChangeArrowheads="1"/>
            </p:cNvSpPr>
            <p:nvPr/>
          </p:nvSpPr>
          <p:spPr bwMode="auto">
            <a:xfrm>
              <a:off x="3540442" y="2701290"/>
              <a:ext cx="477520" cy="48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8" name="Group 7">
              <a:extLst>
                <a:ext uri="{FF2B5EF4-FFF2-40B4-BE49-F238E27FC236}">
                  <a16:creationId xmlns:a16="http://schemas.microsoft.com/office/drawing/2014/main" id="{052B5521-EB76-4D35-9520-6F3FDF018B2C}"/>
                </a:ext>
              </a:extLst>
            </p:cNvPr>
            <p:cNvGrpSpPr>
              <a:grpSpLocks noChangeAspect="1"/>
            </p:cNvGrpSpPr>
            <p:nvPr/>
          </p:nvGrpSpPr>
          <p:grpSpPr bwMode="auto">
            <a:xfrm>
              <a:off x="4176712" y="2697480"/>
              <a:ext cx="481330" cy="493395"/>
              <a:chOff x="8858" y="9998"/>
              <a:chExt cx="600" cy="600"/>
            </a:xfrm>
          </p:grpSpPr>
          <p:sp>
            <p:nvSpPr>
              <p:cNvPr id="32" name="Oval 31">
                <a:extLst>
                  <a:ext uri="{FF2B5EF4-FFF2-40B4-BE49-F238E27FC236}">
                    <a16:creationId xmlns:a16="http://schemas.microsoft.com/office/drawing/2014/main" id="{A1E61D6D-9F97-41DF-9851-DCDADFBB6A17}"/>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grpSp>
            <p:nvGrpSpPr>
              <p:cNvPr id="33" name="Group 32">
                <a:extLst>
                  <a:ext uri="{FF2B5EF4-FFF2-40B4-BE49-F238E27FC236}">
                    <a16:creationId xmlns:a16="http://schemas.microsoft.com/office/drawing/2014/main" id="{B30F6EC8-3F4D-4692-818C-BBC8D39AB591}"/>
                  </a:ext>
                </a:extLst>
              </p:cNvPr>
              <p:cNvGrpSpPr>
                <a:grpSpLocks noChangeAspect="1"/>
              </p:cNvGrpSpPr>
              <p:nvPr/>
            </p:nvGrpSpPr>
            <p:grpSpPr bwMode="auto">
              <a:xfrm>
                <a:off x="8974" y="10146"/>
                <a:ext cx="362" cy="272"/>
                <a:chOff x="4778" y="6098"/>
                <a:chExt cx="2880" cy="1440"/>
              </a:xfrm>
            </p:grpSpPr>
            <p:sp>
              <p:nvSpPr>
                <p:cNvPr id="34" name="Arc 173">
                  <a:extLst>
                    <a:ext uri="{FF2B5EF4-FFF2-40B4-BE49-F238E27FC236}">
                      <a16:creationId xmlns:a16="http://schemas.microsoft.com/office/drawing/2014/main" id="{6FCA9374-D89A-4C4F-B0BC-5A203B71893A}"/>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952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35" name="Arc 174">
                  <a:extLst>
                    <a:ext uri="{FF2B5EF4-FFF2-40B4-BE49-F238E27FC236}">
                      <a16:creationId xmlns:a16="http://schemas.microsoft.com/office/drawing/2014/main" id="{086CA801-F174-4D9C-8A4B-F081D1979BBB}"/>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952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grpSp>
        <p:cxnSp>
          <p:nvCxnSpPr>
            <p:cNvPr id="9" name="Line 175">
              <a:extLst>
                <a:ext uri="{FF2B5EF4-FFF2-40B4-BE49-F238E27FC236}">
                  <a16:creationId xmlns:a16="http://schemas.microsoft.com/office/drawing/2014/main" id="{0D5799F0-81E5-4928-A5F2-EC290A42416F}"/>
                </a:ext>
              </a:extLst>
            </p:cNvPr>
            <p:cNvCxnSpPr>
              <a:cxnSpLocks noChangeAspect="1" noChangeShapeType="1"/>
            </p:cNvCxnSpPr>
            <p:nvPr/>
          </p:nvCxnSpPr>
          <p:spPr bwMode="auto">
            <a:xfrm rot="10800000">
              <a:off x="4017962" y="2697480"/>
              <a:ext cx="0" cy="469265"/>
            </a:xfrm>
            <a:prstGeom prst="line">
              <a:avLst/>
            </a:prstGeom>
            <a:noFill/>
            <a:ln w="28575">
              <a:solidFill>
                <a:srgbClr val="002060"/>
              </a:solidFill>
              <a:round/>
              <a:headEnd/>
              <a:tailEnd type="arrow" w="lg" len="lg"/>
            </a:ln>
            <a:extLst>
              <a:ext uri="{909E8E84-426E-40DD-AFC4-6F175D3DCCD1}">
                <a14:hiddenFill xmlns:a14="http://schemas.microsoft.com/office/drawing/2010/main">
                  <a:noFill/>
                </a14:hiddenFill>
              </a:ext>
            </a:extLst>
          </p:spPr>
        </p:cxnSp>
        <p:grpSp>
          <p:nvGrpSpPr>
            <p:cNvPr id="10" name="Group 9">
              <a:extLst>
                <a:ext uri="{FF2B5EF4-FFF2-40B4-BE49-F238E27FC236}">
                  <a16:creationId xmlns:a16="http://schemas.microsoft.com/office/drawing/2014/main" id="{E9DC7153-98EC-4BFA-A61F-9B1F428937C3}"/>
                </a:ext>
              </a:extLst>
            </p:cNvPr>
            <p:cNvGrpSpPr>
              <a:grpSpLocks noChangeAspect="1"/>
            </p:cNvGrpSpPr>
            <p:nvPr/>
          </p:nvGrpSpPr>
          <p:grpSpPr bwMode="auto">
            <a:xfrm>
              <a:off x="4309656" y="3847306"/>
              <a:ext cx="275766" cy="457200"/>
              <a:chOff x="4701" y="3904"/>
              <a:chExt cx="240" cy="360"/>
            </a:xfrm>
          </p:grpSpPr>
          <p:cxnSp>
            <p:nvCxnSpPr>
              <p:cNvPr id="28" name="Line 177">
                <a:extLst>
                  <a:ext uri="{FF2B5EF4-FFF2-40B4-BE49-F238E27FC236}">
                    <a16:creationId xmlns:a16="http://schemas.microsoft.com/office/drawing/2014/main" id="{EFC56E60-5AEA-40FC-BF69-E032E3A8B5CE}"/>
                  </a:ext>
                </a:extLst>
              </p:cNvPr>
              <p:cNvCxnSpPr>
                <a:cxnSpLocks noChangeShapeType="1"/>
              </p:cNvCxnSpPr>
              <p:nvPr/>
            </p:nvCxnSpPr>
            <p:spPr bwMode="auto">
              <a:xfrm>
                <a:off x="4821" y="3904"/>
                <a:ext cx="0" cy="2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9" name="Line 178">
                <a:extLst>
                  <a:ext uri="{FF2B5EF4-FFF2-40B4-BE49-F238E27FC236}">
                    <a16:creationId xmlns:a16="http://schemas.microsoft.com/office/drawing/2014/main" id="{47B59632-D83E-4CCF-B154-6C53A7554144}"/>
                  </a:ext>
                </a:extLst>
              </p:cNvPr>
              <p:cNvCxnSpPr>
                <a:cxnSpLocks noChangeShapeType="1"/>
              </p:cNvCxnSpPr>
              <p:nvPr/>
            </p:nvCxnSpPr>
            <p:spPr bwMode="auto">
              <a:xfrm>
                <a:off x="4701" y="4144"/>
                <a:ext cx="24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0" name="Line 179">
                <a:extLst>
                  <a:ext uri="{FF2B5EF4-FFF2-40B4-BE49-F238E27FC236}">
                    <a16:creationId xmlns:a16="http://schemas.microsoft.com/office/drawing/2014/main" id="{AB63A37E-C529-47E6-B81B-FDE5F271567E}"/>
                  </a:ext>
                </a:extLst>
              </p:cNvPr>
              <p:cNvCxnSpPr>
                <a:cxnSpLocks noChangeShapeType="1"/>
              </p:cNvCxnSpPr>
              <p:nvPr/>
            </p:nvCxnSpPr>
            <p:spPr bwMode="auto">
              <a:xfrm>
                <a:off x="4746" y="4204"/>
                <a:ext cx="142"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1" name="Line 180">
                <a:extLst>
                  <a:ext uri="{FF2B5EF4-FFF2-40B4-BE49-F238E27FC236}">
                    <a16:creationId xmlns:a16="http://schemas.microsoft.com/office/drawing/2014/main" id="{8E23CFA4-3ED0-48F3-90F9-7E203A107262}"/>
                  </a:ext>
                </a:extLst>
              </p:cNvPr>
              <p:cNvCxnSpPr>
                <a:cxnSpLocks noChangeShapeType="1"/>
              </p:cNvCxnSpPr>
              <p:nvPr/>
            </p:nvCxnSpPr>
            <p:spPr bwMode="auto">
              <a:xfrm>
                <a:off x="4791" y="4264"/>
                <a:ext cx="85"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cxnSp>
          <p:nvCxnSpPr>
            <p:cNvPr id="11" name="Line 181">
              <a:extLst>
                <a:ext uri="{FF2B5EF4-FFF2-40B4-BE49-F238E27FC236}">
                  <a16:creationId xmlns:a16="http://schemas.microsoft.com/office/drawing/2014/main" id="{287CB69B-8703-4D95-AD77-376E44586798}"/>
                </a:ext>
              </a:extLst>
            </p:cNvPr>
            <p:cNvCxnSpPr>
              <a:cxnSpLocks noChangeShapeType="1"/>
            </p:cNvCxnSpPr>
            <p:nvPr/>
          </p:nvCxnSpPr>
          <p:spPr bwMode="auto">
            <a:xfrm rot="5400000">
              <a:off x="6110287" y="210185"/>
              <a:ext cx="0" cy="3325495"/>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2" name="Rectangle 11">
              <a:extLst>
                <a:ext uri="{FF2B5EF4-FFF2-40B4-BE49-F238E27FC236}">
                  <a16:creationId xmlns:a16="http://schemas.microsoft.com/office/drawing/2014/main" id="{240CDAD1-01CF-4BFD-8453-D5A472052448}"/>
                </a:ext>
              </a:extLst>
            </p:cNvPr>
            <p:cNvSpPr>
              <a:spLocks noChangeArrowheads="1"/>
            </p:cNvSpPr>
            <p:nvPr/>
          </p:nvSpPr>
          <p:spPr bwMode="auto">
            <a:xfrm>
              <a:off x="7642542" y="2562860"/>
              <a:ext cx="285115" cy="687705"/>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3" name="Line 183">
              <a:extLst>
                <a:ext uri="{FF2B5EF4-FFF2-40B4-BE49-F238E27FC236}">
                  <a16:creationId xmlns:a16="http://schemas.microsoft.com/office/drawing/2014/main" id="{3B2DC30A-9479-43E5-AAE8-559E71E3DA2B}"/>
                </a:ext>
              </a:extLst>
            </p:cNvPr>
            <p:cNvCxnSpPr>
              <a:cxnSpLocks noChangeShapeType="1"/>
            </p:cNvCxnSpPr>
            <p:nvPr/>
          </p:nvCxnSpPr>
          <p:spPr bwMode="auto">
            <a:xfrm>
              <a:off x="7772717" y="1867535"/>
              <a:ext cx="0" cy="697865"/>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4" name="Line 184">
              <a:extLst>
                <a:ext uri="{FF2B5EF4-FFF2-40B4-BE49-F238E27FC236}">
                  <a16:creationId xmlns:a16="http://schemas.microsoft.com/office/drawing/2014/main" id="{764742FF-05D8-4404-B708-6C08A5C9098F}"/>
                </a:ext>
              </a:extLst>
            </p:cNvPr>
            <p:cNvCxnSpPr>
              <a:cxnSpLocks noChangeShapeType="1"/>
            </p:cNvCxnSpPr>
            <p:nvPr/>
          </p:nvCxnSpPr>
          <p:spPr bwMode="auto">
            <a:xfrm>
              <a:off x="7761922" y="3264535"/>
              <a:ext cx="0" cy="59436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5" name="Line 185">
              <a:extLst>
                <a:ext uri="{FF2B5EF4-FFF2-40B4-BE49-F238E27FC236}">
                  <a16:creationId xmlns:a16="http://schemas.microsoft.com/office/drawing/2014/main" id="{5C74C6D3-0885-48B6-B151-8F9A7583EF5A}"/>
                </a:ext>
              </a:extLst>
            </p:cNvPr>
            <p:cNvCxnSpPr>
              <a:cxnSpLocks noChangeShapeType="1"/>
            </p:cNvCxnSpPr>
            <p:nvPr/>
          </p:nvCxnSpPr>
          <p:spPr bwMode="auto">
            <a:xfrm>
              <a:off x="4430077" y="3870960"/>
              <a:ext cx="3342640" cy="0"/>
            </a:xfrm>
            <a:prstGeom prst="line">
              <a:avLst/>
            </a:prstGeom>
            <a:noFill/>
            <a:ln w="9525">
              <a:solidFill>
                <a:srgbClr val="002060"/>
              </a:solidFill>
              <a:round/>
              <a:headEnd/>
              <a:tailEnd/>
            </a:ln>
            <a:extLst>
              <a:ext uri="{909E8E84-426E-40DD-AFC4-6F175D3DCCD1}">
                <a14:hiddenFill xmlns:a14="http://schemas.microsoft.com/office/drawing/2010/main">
                  <a:noFill/>
                </a14:hiddenFill>
              </a:ext>
            </a:extLst>
          </p:spPr>
        </p:cxnSp>
        <p:sp>
          <p:nvSpPr>
            <p:cNvPr id="16" name="Text Box 186">
              <a:extLst>
                <a:ext uri="{FF2B5EF4-FFF2-40B4-BE49-F238E27FC236}">
                  <a16:creationId xmlns:a16="http://schemas.microsoft.com/office/drawing/2014/main" id="{D3B17DCB-95FD-4A63-8E1E-287B43E593F3}"/>
                </a:ext>
              </a:extLst>
            </p:cNvPr>
            <p:cNvSpPr txBox="1">
              <a:spLocks noChangeArrowheads="1"/>
            </p:cNvSpPr>
            <p:nvPr/>
          </p:nvSpPr>
          <p:spPr bwMode="auto">
            <a:xfrm>
              <a:off x="7072947" y="2672715"/>
              <a:ext cx="628015" cy="48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Z</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 Box 187">
              <a:extLst>
                <a:ext uri="{FF2B5EF4-FFF2-40B4-BE49-F238E27FC236}">
                  <a16:creationId xmlns:a16="http://schemas.microsoft.com/office/drawing/2014/main" id="{45333168-B4E5-4CE8-B961-0084D97A224E}"/>
                </a:ext>
              </a:extLst>
            </p:cNvPr>
            <p:cNvSpPr txBox="1">
              <a:spLocks noChangeArrowheads="1"/>
            </p:cNvSpPr>
            <p:nvPr/>
          </p:nvSpPr>
          <p:spPr bwMode="auto">
            <a:xfrm>
              <a:off x="7971472" y="2615565"/>
              <a:ext cx="477520" cy="48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8" name="Line 188">
              <a:extLst>
                <a:ext uri="{FF2B5EF4-FFF2-40B4-BE49-F238E27FC236}">
                  <a16:creationId xmlns:a16="http://schemas.microsoft.com/office/drawing/2014/main" id="{94A108F0-A5D7-4B57-A8AF-3FAF43A99390}"/>
                </a:ext>
              </a:extLst>
            </p:cNvPr>
            <p:cNvCxnSpPr>
              <a:cxnSpLocks noChangeAspect="1" noChangeShapeType="1"/>
            </p:cNvCxnSpPr>
            <p:nvPr/>
          </p:nvCxnSpPr>
          <p:spPr bwMode="auto">
            <a:xfrm rot="10800000">
              <a:off x="8448992" y="2538095"/>
              <a:ext cx="0" cy="779145"/>
            </a:xfrm>
            <a:prstGeom prst="line">
              <a:avLst/>
            </a:prstGeom>
            <a:noFill/>
            <a:ln w="28575">
              <a:solidFill>
                <a:srgbClr val="002060"/>
              </a:solidFill>
              <a:round/>
              <a:headEnd/>
              <a:tailEnd type="arrow" w="lg" len="lg"/>
            </a:ln>
            <a:extLst>
              <a:ext uri="{909E8E84-426E-40DD-AFC4-6F175D3DCCD1}">
                <a14:hiddenFill xmlns:a14="http://schemas.microsoft.com/office/drawing/2010/main">
                  <a:noFill/>
                </a14:hiddenFill>
              </a:ext>
            </a:extLst>
          </p:spPr>
        </p:cxnSp>
        <p:cxnSp>
          <p:nvCxnSpPr>
            <p:cNvPr id="19" name="Line 189">
              <a:extLst>
                <a:ext uri="{FF2B5EF4-FFF2-40B4-BE49-F238E27FC236}">
                  <a16:creationId xmlns:a16="http://schemas.microsoft.com/office/drawing/2014/main" id="{2F8CE897-AD79-40F7-9661-FB8AB0D3A2C3}"/>
                </a:ext>
              </a:extLst>
            </p:cNvPr>
            <p:cNvCxnSpPr>
              <a:cxnSpLocks noChangeShapeType="1"/>
            </p:cNvCxnSpPr>
            <p:nvPr/>
          </p:nvCxnSpPr>
          <p:spPr bwMode="auto">
            <a:xfrm>
              <a:off x="5684202" y="1866967"/>
              <a:ext cx="302260" cy="0"/>
            </a:xfrm>
            <a:prstGeom prst="line">
              <a:avLst/>
            </a:prstGeom>
            <a:noFill/>
            <a:ln w="28575">
              <a:solidFill>
                <a:srgbClr val="002060"/>
              </a:solidFill>
              <a:round/>
              <a:headEnd w="lg" len="lg"/>
              <a:tailEnd type="arrow" w="lg" len="lg"/>
            </a:ln>
            <a:extLst>
              <a:ext uri="{909E8E84-426E-40DD-AFC4-6F175D3DCCD1}">
                <a14:hiddenFill xmlns:a14="http://schemas.microsoft.com/office/drawing/2010/main">
                  <a:noFill/>
                </a14:hiddenFill>
              </a:ext>
            </a:extLst>
          </p:spPr>
        </p:cxnSp>
        <p:sp>
          <p:nvSpPr>
            <p:cNvPr id="20" name="Text Box 190">
              <a:extLst>
                <a:ext uri="{FF2B5EF4-FFF2-40B4-BE49-F238E27FC236}">
                  <a16:creationId xmlns:a16="http://schemas.microsoft.com/office/drawing/2014/main" id="{914F6BFA-B361-4989-9A19-00F33504D6A7}"/>
                </a:ext>
              </a:extLst>
            </p:cNvPr>
            <p:cNvSpPr txBox="1">
              <a:spLocks noChangeArrowheads="1"/>
            </p:cNvSpPr>
            <p:nvPr/>
          </p:nvSpPr>
          <p:spPr bwMode="auto">
            <a:xfrm>
              <a:off x="5084127" y="1999615"/>
              <a:ext cx="1205230" cy="48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 = </a:t>
              </a:r>
              <a:r>
                <a:rPr lang="en-GB" sz="2800">
                  <a:solidFill>
                    <a:srgbClr val="002060"/>
                  </a:solidFill>
                  <a:effectLst/>
                  <a:latin typeface="Symbol" panose="05050102010706020507" pitchFamily="18" charset="2"/>
                  <a:ea typeface="Calibri" panose="020F0502020204030204" pitchFamily="34" charset="0"/>
                  <a:cs typeface="Times New Roman" panose="02020603050405020304" pitchFamily="18" charset="0"/>
                </a:rPr>
                <a:t>Ö</a:t>
              </a: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3I</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Rectangle 20">
              <a:extLst>
                <a:ext uri="{FF2B5EF4-FFF2-40B4-BE49-F238E27FC236}">
                  <a16:creationId xmlns:a16="http://schemas.microsoft.com/office/drawing/2014/main" id="{B0E42A8F-4D03-4985-8EB1-2C21CB33C5E4}"/>
                </a:ext>
              </a:extLst>
            </p:cNvPr>
            <p:cNvSpPr>
              <a:spLocks noChangeArrowheads="1"/>
            </p:cNvSpPr>
            <p:nvPr/>
          </p:nvSpPr>
          <p:spPr bwMode="auto">
            <a:xfrm>
              <a:off x="6728142" y="2539365"/>
              <a:ext cx="285115" cy="68834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22" name="Line 192">
              <a:extLst>
                <a:ext uri="{FF2B5EF4-FFF2-40B4-BE49-F238E27FC236}">
                  <a16:creationId xmlns:a16="http://schemas.microsoft.com/office/drawing/2014/main" id="{67DF278F-5D7A-4A11-96C3-5979FAA2C91B}"/>
                </a:ext>
              </a:extLst>
            </p:cNvPr>
            <p:cNvCxnSpPr>
              <a:cxnSpLocks noChangeShapeType="1"/>
            </p:cNvCxnSpPr>
            <p:nvPr/>
          </p:nvCxnSpPr>
          <p:spPr bwMode="auto">
            <a:xfrm>
              <a:off x="6857682" y="1844675"/>
              <a:ext cx="0" cy="697865"/>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3" name="Line 193">
              <a:extLst>
                <a:ext uri="{FF2B5EF4-FFF2-40B4-BE49-F238E27FC236}">
                  <a16:creationId xmlns:a16="http://schemas.microsoft.com/office/drawing/2014/main" id="{9AD7FB3D-C653-4302-98E6-ECEFEF6D7666}"/>
                </a:ext>
              </a:extLst>
            </p:cNvPr>
            <p:cNvCxnSpPr>
              <a:cxnSpLocks noChangeShapeType="1"/>
            </p:cNvCxnSpPr>
            <p:nvPr/>
          </p:nvCxnSpPr>
          <p:spPr bwMode="auto">
            <a:xfrm>
              <a:off x="6847522" y="3241040"/>
              <a:ext cx="0" cy="59436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24" name="Text Box 194">
              <a:extLst>
                <a:ext uri="{FF2B5EF4-FFF2-40B4-BE49-F238E27FC236}">
                  <a16:creationId xmlns:a16="http://schemas.microsoft.com/office/drawing/2014/main" id="{551F7921-CF71-40F2-BD8A-1DC6BBF00472}"/>
                </a:ext>
              </a:extLst>
            </p:cNvPr>
            <p:cNvSpPr txBox="1">
              <a:spLocks noChangeArrowheads="1"/>
            </p:cNvSpPr>
            <p:nvPr/>
          </p:nvSpPr>
          <p:spPr bwMode="auto">
            <a:xfrm>
              <a:off x="6157912" y="2649855"/>
              <a:ext cx="628650" cy="48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Z</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5" name="Line 195">
              <a:extLst>
                <a:ext uri="{FF2B5EF4-FFF2-40B4-BE49-F238E27FC236}">
                  <a16:creationId xmlns:a16="http://schemas.microsoft.com/office/drawing/2014/main" id="{034938F6-A361-4517-A932-A789B8CE4143}"/>
                </a:ext>
              </a:extLst>
            </p:cNvPr>
            <p:cNvCxnSpPr>
              <a:cxnSpLocks noChangeShapeType="1"/>
            </p:cNvCxnSpPr>
            <p:nvPr/>
          </p:nvCxnSpPr>
          <p:spPr bwMode="auto">
            <a:xfrm>
              <a:off x="6860857" y="1999615"/>
              <a:ext cx="0" cy="309880"/>
            </a:xfrm>
            <a:prstGeom prst="line">
              <a:avLst/>
            </a:prstGeom>
            <a:noFill/>
            <a:ln w="28575">
              <a:solidFill>
                <a:srgbClr val="002060"/>
              </a:solidFill>
              <a:round/>
              <a:headEnd/>
              <a:tailEnd type="arrow" w="lg" len="lg"/>
            </a:ln>
            <a:extLst>
              <a:ext uri="{909E8E84-426E-40DD-AFC4-6F175D3DCCD1}">
                <a14:hiddenFill xmlns:a14="http://schemas.microsoft.com/office/drawing/2010/main">
                  <a:noFill/>
                </a14:hiddenFill>
              </a:ext>
            </a:extLst>
          </p:spPr>
        </p:cxnSp>
        <p:cxnSp>
          <p:nvCxnSpPr>
            <p:cNvPr id="26" name="Line 196">
              <a:extLst>
                <a:ext uri="{FF2B5EF4-FFF2-40B4-BE49-F238E27FC236}">
                  <a16:creationId xmlns:a16="http://schemas.microsoft.com/office/drawing/2014/main" id="{ECBF65E8-F0EF-4F23-8B29-67391960CA4A}"/>
                </a:ext>
              </a:extLst>
            </p:cNvPr>
            <p:cNvCxnSpPr>
              <a:cxnSpLocks noChangeShapeType="1"/>
            </p:cNvCxnSpPr>
            <p:nvPr/>
          </p:nvCxnSpPr>
          <p:spPr bwMode="auto">
            <a:xfrm>
              <a:off x="7767637" y="2077085"/>
              <a:ext cx="0" cy="309880"/>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27" name="Text Box 197">
              <a:extLst>
                <a:ext uri="{FF2B5EF4-FFF2-40B4-BE49-F238E27FC236}">
                  <a16:creationId xmlns:a16="http://schemas.microsoft.com/office/drawing/2014/main" id="{95E4A3D9-6290-4CFA-A386-2076DD655BEA}"/>
                </a:ext>
              </a:extLst>
            </p:cNvPr>
            <p:cNvSpPr txBox="1">
              <a:spLocks noChangeArrowheads="1"/>
            </p:cNvSpPr>
            <p:nvPr/>
          </p:nvSpPr>
          <p:spPr bwMode="auto">
            <a:xfrm>
              <a:off x="7267892" y="1999615"/>
              <a:ext cx="476885" cy="48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I</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graphicFrame>
        <p:nvGraphicFramePr>
          <p:cNvPr id="37" name="Object 36">
            <a:extLst>
              <a:ext uri="{FF2B5EF4-FFF2-40B4-BE49-F238E27FC236}">
                <a16:creationId xmlns:a16="http://schemas.microsoft.com/office/drawing/2014/main" id="{44906FAF-9D58-4FEB-8818-21334056BA11}"/>
              </a:ext>
            </a:extLst>
          </p:cNvPr>
          <p:cNvGraphicFramePr>
            <a:graphicFrameLocks noChangeAspect="1"/>
          </p:cNvGraphicFramePr>
          <p:nvPr>
            <p:extLst>
              <p:ext uri="{D42A27DB-BD31-4B8C-83A1-F6EECF244321}">
                <p14:modId xmlns:p14="http://schemas.microsoft.com/office/powerpoint/2010/main" val="2135003252"/>
              </p:ext>
            </p:extLst>
          </p:nvPr>
        </p:nvGraphicFramePr>
        <p:xfrm>
          <a:off x="292673" y="2334260"/>
          <a:ext cx="4086225" cy="2047875"/>
        </p:xfrm>
        <a:graphic>
          <a:graphicData uri="http://schemas.openxmlformats.org/presentationml/2006/ole">
            <mc:AlternateContent xmlns:mc="http://schemas.openxmlformats.org/markup-compatibility/2006">
              <mc:Choice xmlns:v="urn:schemas-microsoft-com:vml" Requires="v">
                <p:oleObj spid="_x0000_s163916" r:id="rId3" imgW="1739900" imgH="863600" progId="Equation.3">
                  <p:embed/>
                </p:oleObj>
              </mc:Choice>
              <mc:Fallback>
                <p:oleObj r:id="rId3" imgW="1739900" imgH="863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673" y="2334260"/>
                        <a:ext cx="4086225" cy="204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Object 37">
            <a:extLst>
              <a:ext uri="{FF2B5EF4-FFF2-40B4-BE49-F238E27FC236}">
                <a16:creationId xmlns:a16="http://schemas.microsoft.com/office/drawing/2014/main" id="{B38D06D1-4C19-41EA-B874-D8FDDF68FDF5}"/>
              </a:ext>
            </a:extLst>
          </p:cNvPr>
          <p:cNvGraphicFramePr>
            <a:graphicFrameLocks noChangeAspect="1"/>
          </p:cNvGraphicFramePr>
          <p:nvPr>
            <p:extLst>
              <p:ext uri="{D42A27DB-BD31-4B8C-83A1-F6EECF244321}">
                <p14:modId xmlns:p14="http://schemas.microsoft.com/office/powerpoint/2010/main" val="2319189757"/>
              </p:ext>
            </p:extLst>
          </p:nvPr>
        </p:nvGraphicFramePr>
        <p:xfrm>
          <a:off x="687960" y="4723895"/>
          <a:ext cx="3295650" cy="990600"/>
        </p:xfrm>
        <a:graphic>
          <a:graphicData uri="http://schemas.openxmlformats.org/presentationml/2006/ole">
            <mc:AlternateContent xmlns:mc="http://schemas.openxmlformats.org/markup-compatibility/2006">
              <mc:Choice xmlns:v="urn:schemas-microsoft-com:vml" Requires="v">
                <p:oleObj spid="_x0000_s163917" r:id="rId5" imgW="1307532" imgH="393529" progId="Equation.3">
                  <p:embed/>
                </p:oleObj>
              </mc:Choice>
              <mc:Fallback>
                <p:oleObj r:id="rId5" imgW="1307532" imgH="393529"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960" y="4723895"/>
                        <a:ext cx="329565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 name="Rectangle 3">
            <a:extLst>
              <a:ext uri="{FF2B5EF4-FFF2-40B4-BE49-F238E27FC236}">
                <a16:creationId xmlns:a16="http://schemas.microsoft.com/office/drawing/2014/main" id="{ECAE0311-B393-414E-B77E-AE36CCA64EA3}"/>
              </a:ext>
            </a:extLst>
          </p:cNvPr>
          <p:cNvSpPr>
            <a:spLocks noChangeArrowheads="1"/>
          </p:cNvSpPr>
          <p:nvPr/>
        </p:nvSpPr>
        <p:spPr bwMode="auto">
          <a:xfrm>
            <a:off x="439705" y="1098593"/>
            <a:ext cx="3408947"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Z</a:t>
            </a:r>
            <a:r>
              <a:rPr kumimoji="0" lang="en-GB" altLang="en-US" sz="280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L1</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40 + j 30 </a:t>
            </a:r>
            <a:r>
              <a:rPr kumimoji="0" lang="en-GB" altLang="en-US" sz="280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rPr>
              <a:t>W</a:t>
            </a:r>
            <a:endParaRPr kumimoji="0" lang="en-GB"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E</a:t>
            </a:r>
            <a:r>
              <a:rPr kumimoji="0" lang="en-GB" altLang="en-US" sz="280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L</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400</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0</a:t>
            </a:r>
            <a:endParaRPr kumimoji="0" lang="en-GB"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P    = 1.8 kW = 1800 W</a:t>
            </a:r>
            <a:endParaRPr kumimoji="0" lang="en-GB"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p:txBody>
      </p:sp>
      <p:sp>
        <p:nvSpPr>
          <p:cNvPr id="40" name="Rectangle 4">
            <a:extLst>
              <a:ext uri="{FF2B5EF4-FFF2-40B4-BE49-F238E27FC236}">
                <a16:creationId xmlns:a16="http://schemas.microsoft.com/office/drawing/2014/main" id="{63825473-A5A5-4DAE-9ED8-B5184DB3089E}"/>
              </a:ext>
            </a:extLst>
          </p:cNvPr>
          <p:cNvSpPr>
            <a:spLocks noChangeArrowheads="1"/>
          </p:cNvSpPr>
          <p:nvPr/>
        </p:nvSpPr>
        <p:spPr bwMode="auto">
          <a:xfrm>
            <a:off x="220484" y="4090504"/>
            <a:ext cx="7381060"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GB"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using P = </a:t>
            </a:r>
            <a:r>
              <a:rPr kumimoji="0" lang="en-GB" altLang="en-US" sz="360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rPr>
              <a:t>Ö</a:t>
            </a:r>
            <a:r>
              <a:rPr kumimoji="0" lang="en-GB" altLang="en-US" sz="36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3 </a:t>
            </a:r>
            <a:r>
              <a:rPr kumimoji="0" lang="en-GB" altLang="en-US" sz="360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rPr>
              <a:t>V</a:t>
            </a:r>
            <a:r>
              <a:rPr kumimoji="0" lang="en-GB" altLang="en-US" sz="3600" i="0" u="none" strike="noStrike" cap="none" normalizeH="0" baseline="-30000" dirty="0" err="1">
                <a:ln>
                  <a:noFill/>
                </a:ln>
                <a:solidFill>
                  <a:srgbClr val="002060"/>
                </a:solidFill>
                <a:effectLst/>
                <a:latin typeface="Times New Roman" panose="02020603050405020304" pitchFamily="18" charset="0"/>
                <a:cs typeface="Times New Roman" panose="02020603050405020304" pitchFamily="18" charset="0"/>
              </a:rPr>
              <a:t>L</a:t>
            </a:r>
            <a:r>
              <a:rPr kumimoji="0" lang="en-GB" altLang="en-US" sz="360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 </a:t>
            </a:r>
            <a:r>
              <a:rPr kumimoji="0" lang="en-GB" altLang="en-US" sz="36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I</a:t>
            </a:r>
            <a:r>
              <a:rPr kumimoji="0" lang="en-GB" altLang="en-US" sz="360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L2</a:t>
            </a:r>
            <a:r>
              <a:rPr kumimoji="0" lang="en-GB" altLang="en-US" sz="36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cos </a:t>
            </a:r>
            <a:r>
              <a:rPr kumimoji="0" lang="en-GB" altLang="en-US" sz="360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rPr>
              <a:t>f =</a:t>
            </a:r>
            <a:r>
              <a:rPr kumimoji="0" lang="en-GB" altLang="en-US" sz="36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a:t>
            </a:r>
            <a:r>
              <a:rPr kumimoji="0" lang="en-GB" altLang="en-US" sz="360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rPr>
              <a:t>V</a:t>
            </a:r>
            <a:r>
              <a:rPr kumimoji="0" lang="en-GB" altLang="en-US" sz="3600" i="0" u="none" strike="noStrike" cap="none" normalizeH="0" baseline="-30000" dirty="0" err="1">
                <a:ln>
                  <a:noFill/>
                </a:ln>
                <a:solidFill>
                  <a:srgbClr val="002060"/>
                </a:solidFill>
                <a:effectLst/>
                <a:latin typeface="Times New Roman" panose="02020603050405020304" pitchFamily="18" charset="0"/>
                <a:cs typeface="Times New Roman" panose="02020603050405020304" pitchFamily="18" charset="0"/>
              </a:rPr>
              <a:t>L</a:t>
            </a:r>
            <a:r>
              <a:rPr kumimoji="0" lang="en-GB" altLang="en-US" sz="36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I</a:t>
            </a:r>
            <a:r>
              <a:rPr kumimoji="0" lang="en-GB" altLang="en-US" sz="360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2</a:t>
            </a:r>
            <a:r>
              <a:rPr kumimoji="0" lang="en-GB" altLang="en-US" sz="36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cos </a:t>
            </a:r>
            <a:r>
              <a:rPr kumimoji="0" lang="en-GB" altLang="en-US" sz="360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rPr>
              <a:t>f</a:t>
            </a:r>
            <a:r>
              <a:rPr kumimoji="0" lang="en-GB" altLang="en-US" sz="36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a:t>
            </a:r>
            <a:endParaRPr kumimoji="0" lang="en-GB"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p>
        </p:txBody>
      </p:sp>
      <p:sp>
        <p:nvSpPr>
          <p:cNvPr id="41" name="Rectangle 5">
            <a:extLst>
              <a:ext uri="{FF2B5EF4-FFF2-40B4-BE49-F238E27FC236}">
                <a16:creationId xmlns:a16="http://schemas.microsoft.com/office/drawing/2014/main" id="{F91D603A-BBB3-4341-9E5B-9B5B42D71869}"/>
              </a:ext>
            </a:extLst>
          </p:cNvPr>
          <p:cNvSpPr>
            <a:spLocks noChangeArrowheads="1"/>
          </p:cNvSpPr>
          <p:nvPr/>
        </p:nvSpPr>
        <p:spPr bwMode="auto">
          <a:xfrm>
            <a:off x="134345" y="5720309"/>
            <a:ext cx="10111358" cy="938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7617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800" i="0" u="none" strike="noStrike" cap="none" normalizeH="0" baseline="0" dirty="0">
                <a:ln>
                  <a:noFill/>
                </a:ln>
                <a:solidFill>
                  <a:srgbClr val="002060"/>
                </a:solidFill>
                <a:effectLst/>
                <a:latin typeface="Symbol" panose="05050102010706020507" pitchFamily="18" charset="2"/>
                <a:cs typeface="Times New Roman" panose="02020603050405020304" pitchFamily="18" charset="0"/>
              </a:rPr>
              <a:t>Ö</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3I</a:t>
            </a:r>
            <a:r>
              <a:rPr kumimoji="0" lang="en-GB" altLang="en-US" sz="280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L</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I = I</a:t>
            </a:r>
            <a:r>
              <a:rPr kumimoji="0" lang="en-GB" altLang="en-US" sz="280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1</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I</a:t>
            </a:r>
            <a:r>
              <a:rPr kumimoji="0" lang="en-GB" altLang="en-US" sz="280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2</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8</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-36.87</a:t>
            </a:r>
            <a:r>
              <a:rPr kumimoji="0" lang="en-GB" altLang="en-US" sz="280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0</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+ 4.5 = 10.9 – j 4.8 = 11.910</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-23.77</a:t>
            </a:r>
            <a:r>
              <a:rPr kumimoji="0" lang="en-GB" altLang="en-US" sz="280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0</a:t>
            </a:r>
            <a:r>
              <a:rPr kumimoji="0" lang="en-GB" altLang="en-US" sz="28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A</a:t>
            </a:r>
            <a:endParaRPr kumimoji="0" lang="en-GB"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80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kumimoji="0" lang="en-GB" altLang="en-US" sz="2800" i="0" u="none" strike="noStrike" cap="none" normalizeH="0" baseline="0" dirty="0">
                <a:ln>
                  <a:noFill/>
                </a:ln>
                <a:solidFill>
                  <a:srgbClr val="002060"/>
                </a:solidFill>
                <a:effectLst/>
                <a:ea typeface="Times New Roman" panose="02020603050405020304" pitchFamily="18" charset="0"/>
              </a:rPr>
              <a:t> supply current=11.910</a:t>
            </a:r>
            <a:r>
              <a:rPr kumimoji="0" lang="en-GB" altLang="en-US" sz="280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kumimoji="0" lang="en-GB" altLang="en-US" sz="2800" i="0" u="none" strike="noStrike" cap="none" normalizeH="0" baseline="0" dirty="0">
                <a:ln>
                  <a:noFill/>
                </a:ln>
                <a:solidFill>
                  <a:srgbClr val="002060"/>
                </a:solidFill>
                <a:effectLst/>
                <a:ea typeface="Times New Roman" panose="02020603050405020304" pitchFamily="18" charset="0"/>
              </a:rPr>
              <a:t>-23.77</a:t>
            </a:r>
            <a:r>
              <a:rPr kumimoji="0" lang="en-GB" altLang="en-US" sz="280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0 </a:t>
            </a:r>
            <a:r>
              <a:rPr kumimoji="0" lang="en-GB" altLang="en-US" sz="280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/Ö</a:t>
            </a:r>
            <a:r>
              <a:rPr kumimoji="0" lang="en-GB" altLang="en-US" sz="280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3 = 6.876</a:t>
            </a:r>
            <a:r>
              <a:rPr kumimoji="0" lang="en-GB" altLang="en-US" sz="280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kumimoji="0" lang="en-GB" altLang="en-US" sz="2800" i="0" u="none" strike="noStrike" cap="none" normalizeH="0" baseline="0" dirty="0">
                <a:ln>
                  <a:noFill/>
                </a:ln>
                <a:solidFill>
                  <a:srgbClr val="002060"/>
                </a:solidFill>
                <a:effectLst/>
                <a:ea typeface="Times New Roman" panose="02020603050405020304" pitchFamily="18" charset="0"/>
              </a:rPr>
              <a:t>-23.77</a:t>
            </a:r>
            <a:r>
              <a:rPr kumimoji="0" lang="en-GB" altLang="en-US" sz="280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0</a:t>
            </a:r>
            <a:r>
              <a:rPr kumimoji="0" lang="en-GB" altLang="en-US" sz="280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 A (same)</a:t>
            </a:r>
            <a:r>
              <a:rPr kumimoji="0" lang="en-GB" altLang="en-US" sz="1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endParaRPr kumimoji="0" lang="en-GB" altLang="en-US" sz="280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endParaRPr>
          </a:p>
        </p:txBody>
      </p:sp>
      <p:sp>
        <p:nvSpPr>
          <p:cNvPr id="42" name="Rectangle 41">
            <a:extLst>
              <a:ext uri="{FF2B5EF4-FFF2-40B4-BE49-F238E27FC236}">
                <a16:creationId xmlns:a16="http://schemas.microsoft.com/office/drawing/2014/main" id="{90FC5417-7EA0-4224-BECA-BEB428FDEBB1}"/>
              </a:ext>
            </a:extLst>
          </p:cNvPr>
          <p:cNvSpPr/>
          <p:nvPr/>
        </p:nvSpPr>
        <p:spPr>
          <a:xfrm>
            <a:off x="3998995" y="4906934"/>
            <a:ext cx="6367449" cy="523220"/>
          </a:xfrm>
          <a:prstGeom prst="rect">
            <a:avLst/>
          </a:prstGeom>
        </p:spPr>
        <p:txBody>
          <a:bodyPr wrap="none">
            <a:spAutoFit/>
          </a:bodyPr>
          <a:lstStyle/>
          <a:p>
            <a:pPr lvl="0" eaLnBrk="0" fontAlgn="base" hangingPunct="0">
              <a:spcBef>
                <a:spcPct val="0"/>
              </a:spcBef>
              <a:spcAft>
                <a:spcPct val="0"/>
              </a:spcAft>
            </a:pPr>
            <a:r>
              <a:rPr lang="en-GB" altLang="en-US" sz="2800" dirty="0">
                <a:solidFill>
                  <a:srgbClr val="002060"/>
                </a:solidFill>
                <a:latin typeface="Times New Roman" panose="02020603050405020304" pitchFamily="18" charset="0"/>
                <a:cs typeface="Times New Roman" panose="02020603050405020304" pitchFamily="18" charset="0"/>
              </a:rPr>
              <a:t>[angle is zero because it is purely resistive]</a:t>
            </a:r>
            <a:endParaRPr lang="en-GB"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0669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490165"/>
            <a:ext cx="10924085" cy="482745"/>
          </a:xfrm>
        </p:spPr>
        <p:txBody>
          <a:bodyPr>
            <a:normAutofit fontScale="90000"/>
          </a:bodyPr>
          <a:lstStyle/>
          <a:p>
            <a:r>
              <a:rPr lang="en-GB" dirty="0"/>
              <a:t>Unbalanced three phase systems</a:t>
            </a:r>
          </a:p>
        </p:txBody>
      </p:sp>
      <p:sp>
        <p:nvSpPr>
          <p:cNvPr id="3" name="Rectangle 2">
            <a:extLst>
              <a:ext uri="{FF2B5EF4-FFF2-40B4-BE49-F238E27FC236}">
                <a16:creationId xmlns:a16="http://schemas.microsoft.com/office/drawing/2014/main" id="{7ED03CDA-9A05-4788-85D8-5EDE9042CA47}"/>
              </a:ext>
            </a:extLst>
          </p:cNvPr>
          <p:cNvSpPr/>
          <p:nvPr/>
        </p:nvSpPr>
        <p:spPr>
          <a:xfrm>
            <a:off x="429715" y="972910"/>
            <a:ext cx="9810250" cy="584775"/>
          </a:xfrm>
          <a:prstGeom prst="rect">
            <a:avLst/>
          </a:prstGeom>
        </p:spPr>
        <p:txBody>
          <a:bodyPr wrap="none">
            <a:spAutoFit/>
          </a:bodyPr>
          <a:lstStyle/>
          <a:p>
            <a:r>
              <a:rPr lang="en-GB" sz="3200" b="1" dirty="0">
                <a:solidFill>
                  <a:srgbClr val="C00000"/>
                </a:solidFill>
                <a:latin typeface="Times New Roman" panose="02020603050405020304" pitchFamily="18" charset="0"/>
                <a:ea typeface="Times New Roman" panose="02020603050405020304" pitchFamily="18" charset="0"/>
              </a:rPr>
              <a:t>(a) Star connected supply feeding a star connected load</a:t>
            </a:r>
            <a:endParaRPr lang="en-GB" sz="3200" dirty="0"/>
          </a:p>
        </p:txBody>
      </p:sp>
      <p:sp>
        <p:nvSpPr>
          <p:cNvPr id="77" name="Text Box 264">
            <a:extLst>
              <a:ext uri="{FF2B5EF4-FFF2-40B4-BE49-F238E27FC236}">
                <a16:creationId xmlns:a16="http://schemas.microsoft.com/office/drawing/2014/main" id="{4E0FDBD7-5F83-4398-BF16-3309619170B1}"/>
              </a:ext>
            </a:extLst>
          </p:cNvPr>
          <p:cNvSpPr txBox="1">
            <a:spLocks noChangeArrowheads="1"/>
          </p:cNvSpPr>
          <p:nvPr/>
        </p:nvSpPr>
        <p:spPr bwMode="auto">
          <a:xfrm>
            <a:off x="2334126" y="5944540"/>
            <a:ext cx="660730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10 – Unbalanced Three phase system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78" name="Group 77">
            <a:extLst>
              <a:ext uri="{FF2B5EF4-FFF2-40B4-BE49-F238E27FC236}">
                <a16:creationId xmlns:a16="http://schemas.microsoft.com/office/drawing/2014/main" id="{D7D347DE-CF6E-4E6B-9D65-D4F47C3B9248}"/>
              </a:ext>
            </a:extLst>
          </p:cNvPr>
          <p:cNvGrpSpPr>
            <a:grpSpLocks noChangeAspect="1"/>
          </p:cNvGrpSpPr>
          <p:nvPr/>
        </p:nvGrpSpPr>
        <p:grpSpPr bwMode="auto">
          <a:xfrm>
            <a:off x="429715" y="1679276"/>
            <a:ext cx="11229021" cy="3736771"/>
            <a:chOff x="2142" y="11296"/>
            <a:chExt cx="8247" cy="2913"/>
          </a:xfrm>
        </p:grpSpPr>
        <p:cxnSp>
          <p:nvCxnSpPr>
            <p:cNvPr id="79" name="Line 199">
              <a:extLst>
                <a:ext uri="{FF2B5EF4-FFF2-40B4-BE49-F238E27FC236}">
                  <a16:creationId xmlns:a16="http://schemas.microsoft.com/office/drawing/2014/main" id="{D5BBAD8B-35D6-446E-8EFC-2DC88933BE1D}"/>
                </a:ext>
              </a:extLst>
            </p:cNvPr>
            <p:cNvCxnSpPr>
              <a:cxnSpLocks noChangeAspect="1" noChangeShapeType="1"/>
            </p:cNvCxnSpPr>
            <p:nvPr/>
          </p:nvCxnSpPr>
          <p:spPr bwMode="auto">
            <a:xfrm flipV="1">
              <a:off x="3549" y="11356"/>
              <a:ext cx="0" cy="1512"/>
            </a:xfrm>
            <a:prstGeom prst="line">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cxnSp>
        <p:cxnSp>
          <p:nvCxnSpPr>
            <p:cNvPr id="80" name="Line 200">
              <a:extLst>
                <a:ext uri="{FF2B5EF4-FFF2-40B4-BE49-F238E27FC236}">
                  <a16:creationId xmlns:a16="http://schemas.microsoft.com/office/drawing/2014/main" id="{840CF315-88E7-4038-BA83-AA371C75D866}"/>
                </a:ext>
              </a:extLst>
            </p:cNvPr>
            <p:cNvCxnSpPr>
              <a:cxnSpLocks noChangeAspect="1" noChangeShapeType="1"/>
            </p:cNvCxnSpPr>
            <p:nvPr/>
          </p:nvCxnSpPr>
          <p:spPr bwMode="auto">
            <a:xfrm rot="7200000" flipV="1">
              <a:off x="4220" y="12491"/>
              <a:ext cx="1" cy="1512"/>
            </a:xfrm>
            <a:prstGeom prst="line">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cxnSp>
        <p:cxnSp>
          <p:nvCxnSpPr>
            <p:cNvPr id="81" name="Line 201">
              <a:extLst>
                <a:ext uri="{FF2B5EF4-FFF2-40B4-BE49-F238E27FC236}">
                  <a16:creationId xmlns:a16="http://schemas.microsoft.com/office/drawing/2014/main" id="{2B8F3FC9-18F1-4680-801F-8830569B3436}"/>
                </a:ext>
              </a:extLst>
            </p:cNvPr>
            <p:cNvCxnSpPr>
              <a:cxnSpLocks noChangeAspect="1" noChangeShapeType="1"/>
            </p:cNvCxnSpPr>
            <p:nvPr/>
          </p:nvCxnSpPr>
          <p:spPr bwMode="auto">
            <a:xfrm rot="14400000" flipV="1">
              <a:off x="2897" y="12470"/>
              <a:ext cx="1" cy="1512"/>
            </a:xfrm>
            <a:prstGeom prst="line">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cxnSp>
        <p:sp>
          <p:nvSpPr>
            <p:cNvPr id="82" name="Text Box 202">
              <a:extLst>
                <a:ext uri="{FF2B5EF4-FFF2-40B4-BE49-F238E27FC236}">
                  <a16:creationId xmlns:a16="http://schemas.microsoft.com/office/drawing/2014/main" id="{01808C38-2049-4E81-8EB6-8B5D29BBB4AA}"/>
                </a:ext>
              </a:extLst>
            </p:cNvPr>
            <p:cNvSpPr txBox="1">
              <a:spLocks noChangeArrowheads="1"/>
            </p:cNvSpPr>
            <p:nvPr/>
          </p:nvSpPr>
          <p:spPr bwMode="auto">
            <a:xfrm>
              <a:off x="2862" y="12319"/>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3" name="Text Box 203">
              <a:extLst>
                <a:ext uri="{FF2B5EF4-FFF2-40B4-BE49-F238E27FC236}">
                  <a16:creationId xmlns:a16="http://schemas.microsoft.com/office/drawing/2014/main" id="{B8E3CA6C-DCD4-495A-BC22-DB7B6FE356F5}"/>
                </a:ext>
              </a:extLst>
            </p:cNvPr>
            <p:cNvSpPr txBox="1">
              <a:spLocks noChangeArrowheads="1"/>
            </p:cNvSpPr>
            <p:nvPr/>
          </p:nvSpPr>
          <p:spPr bwMode="auto">
            <a:xfrm>
              <a:off x="3795" y="13405"/>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10800" rIns="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Y</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4" name="Text Box 204">
              <a:extLst>
                <a:ext uri="{FF2B5EF4-FFF2-40B4-BE49-F238E27FC236}">
                  <a16:creationId xmlns:a16="http://schemas.microsoft.com/office/drawing/2014/main" id="{3A91A116-44E2-4A06-BB82-1FD9CB3D0F14}"/>
                </a:ext>
              </a:extLst>
            </p:cNvPr>
            <p:cNvSpPr txBox="1">
              <a:spLocks noChangeArrowheads="1"/>
            </p:cNvSpPr>
            <p:nvPr/>
          </p:nvSpPr>
          <p:spPr bwMode="auto">
            <a:xfrm>
              <a:off x="3222" y="13399"/>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85" name="Group 84">
              <a:extLst>
                <a:ext uri="{FF2B5EF4-FFF2-40B4-BE49-F238E27FC236}">
                  <a16:creationId xmlns:a16="http://schemas.microsoft.com/office/drawing/2014/main" id="{D16D1FE4-1BBD-4B30-B511-526FB0364833}"/>
                </a:ext>
              </a:extLst>
            </p:cNvPr>
            <p:cNvGrpSpPr>
              <a:grpSpLocks noChangeAspect="1"/>
            </p:cNvGrpSpPr>
            <p:nvPr/>
          </p:nvGrpSpPr>
          <p:grpSpPr bwMode="auto">
            <a:xfrm>
              <a:off x="3342" y="12316"/>
              <a:ext cx="363" cy="363"/>
              <a:chOff x="8858" y="9998"/>
              <a:chExt cx="600" cy="600"/>
            </a:xfrm>
          </p:grpSpPr>
          <p:sp>
            <p:nvSpPr>
              <p:cNvPr id="146" name="Oval 145">
                <a:extLst>
                  <a:ext uri="{FF2B5EF4-FFF2-40B4-BE49-F238E27FC236}">
                    <a16:creationId xmlns:a16="http://schemas.microsoft.com/office/drawing/2014/main" id="{1F295520-1A44-42EB-8012-790FCF2BAEBE}"/>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2400"/>
              </a:p>
            </p:txBody>
          </p:sp>
          <p:grpSp>
            <p:nvGrpSpPr>
              <p:cNvPr id="147" name="Group 146">
                <a:extLst>
                  <a:ext uri="{FF2B5EF4-FFF2-40B4-BE49-F238E27FC236}">
                    <a16:creationId xmlns:a16="http://schemas.microsoft.com/office/drawing/2014/main" id="{0D0C4858-13AD-4526-B8CD-84EC03C8BCF7}"/>
                  </a:ext>
                </a:extLst>
              </p:cNvPr>
              <p:cNvGrpSpPr>
                <a:grpSpLocks noChangeAspect="1"/>
              </p:cNvGrpSpPr>
              <p:nvPr/>
            </p:nvGrpSpPr>
            <p:grpSpPr bwMode="auto">
              <a:xfrm>
                <a:off x="8974" y="10146"/>
                <a:ext cx="362" cy="272"/>
                <a:chOff x="4778" y="6098"/>
                <a:chExt cx="2880" cy="1440"/>
              </a:xfrm>
            </p:grpSpPr>
            <p:sp>
              <p:nvSpPr>
                <p:cNvPr id="148" name="Arc 208">
                  <a:extLst>
                    <a:ext uri="{FF2B5EF4-FFF2-40B4-BE49-F238E27FC236}">
                      <a16:creationId xmlns:a16="http://schemas.microsoft.com/office/drawing/2014/main" id="{3BF9A514-96BC-45BA-B7C3-563179C1B57B}"/>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9"/>
                      </a:solidFill>
                    </a14:hiddenFill>
                  </a:ext>
                </a:extLst>
              </p:spPr>
              <p:txBody>
                <a:bodyPr rot="0" vert="horz" wrap="square" lIns="91440" tIns="45720" rIns="91440" bIns="45720" anchor="t" anchorCtr="0" upright="1">
                  <a:noAutofit/>
                </a:bodyPr>
                <a:lstStyle/>
                <a:p>
                  <a:endParaRPr lang="en-GB" sz="2400"/>
                </a:p>
              </p:txBody>
            </p:sp>
            <p:sp>
              <p:nvSpPr>
                <p:cNvPr id="149" name="Arc 209">
                  <a:extLst>
                    <a:ext uri="{FF2B5EF4-FFF2-40B4-BE49-F238E27FC236}">
                      <a16:creationId xmlns:a16="http://schemas.microsoft.com/office/drawing/2014/main" id="{8FDC3632-02C3-4AB2-B5BC-38A5BE347E40}"/>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9"/>
                      </a:solidFill>
                    </a14:hiddenFill>
                  </a:ext>
                </a:extLst>
              </p:spPr>
              <p:txBody>
                <a:bodyPr rot="0" vert="horz" wrap="square" lIns="91440" tIns="45720" rIns="91440" bIns="45720" anchor="t" anchorCtr="0" upright="1">
                  <a:noAutofit/>
                </a:bodyPr>
                <a:lstStyle/>
                <a:p>
                  <a:endParaRPr lang="en-GB" sz="2400"/>
                </a:p>
              </p:txBody>
            </p:sp>
          </p:grpSp>
        </p:grpSp>
        <p:grpSp>
          <p:nvGrpSpPr>
            <p:cNvPr id="86" name="Group 85">
              <a:extLst>
                <a:ext uri="{FF2B5EF4-FFF2-40B4-BE49-F238E27FC236}">
                  <a16:creationId xmlns:a16="http://schemas.microsoft.com/office/drawing/2014/main" id="{C96F3961-191C-4A3B-952F-CF6FBA62ABE5}"/>
                </a:ext>
              </a:extLst>
            </p:cNvPr>
            <p:cNvGrpSpPr>
              <a:grpSpLocks noChangeAspect="1"/>
            </p:cNvGrpSpPr>
            <p:nvPr/>
          </p:nvGrpSpPr>
          <p:grpSpPr bwMode="auto">
            <a:xfrm>
              <a:off x="3738" y="12888"/>
              <a:ext cx="363" cy="363"/>
              <a:chOff x="8858" y="9998"/>
              <a:chExt cx="600" cy="600"/>
            </a:xfrm>
          </p:grpSpPr>
          <p:sp>
            <p:nvSpPr>
              <p:cNvPr id="142" name="Oval 141">
                <a:extLst>
                  <a:ext uri="{FF2B5EF4-FFF2-40B4-BE49-F238E27FC236}">
                    <a16:creationId xmlns:a16="http://schemas.microsoft.com/office/drawing/2014/main" id="{46032E3B-AA73-45E1-A6D2-DC3B4F85465A}"/>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2400"/>
              </a:p>
            </p:txBody>
          </p:sp>
          <p:grpSp>
            <p:nvGrpSpPr>
              <p:cNvPr id="143" name="Group 142">
                <a:extLst>
                  <a:ext uri="{FF2B5EF4-FFF2-40B4-BE49-F238E27FC236}">
                    <a16:creationId xmlns:a16="http://schemas.microsoft.com/office/drawing/2014/main" id="{0C1C8679-08F5-4C84-BA3D-F17B69F546E8}"/>
                  </a:ext>
                </a:extLst>
              </p:cNvPr>
              <p:cNvGrpSpPr>
                <a:grpSpLocks noChangeAspect="1"/>
              </p:cNvGrpSpPr>
              <p:nvPr/>
            </p:nvGrpSpPr>
            <p:grpSpPr bwMode="auto">
              <a:xfrm>
                <a:off x="8974" y="10146"/>
                <a:ext cx="362" cy="272"/>
                <a:chOff x="4778" y="6098"/>
                <a:chExt cx="2880" cy="1440"/>
              </a:xfrm>
            </p:grpSpPr>
            <p:sp>
              <p:nvSpPr>
                <p:cNvPr id="144" name="Arc 213">
                  <a:extLst>
                    <a:ext uri="{FF2B5EF4-FFF2-40B4-BE49-F238E27FC236}">
                      <a16:creationId xmlns:a16="http://schemas.microsoft.com/office/drawing/2014/main" id="{DD9CCD57-6BC1-44F5-81E8-EAEC5AB8578A}"/>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9"/>
                      </a:solidFill>
                    </a14:hiddenFill>
                  </a:ext>
                </a:extLst>
              </p:spPr>
              <p:txBody>
                <a:bodyPr rot="0" vert="horz" wrap="square" lIns="91440" tIns="45720" rIns="91440" bIns="45720" anchor="t" anchorCtr="0" upright="1">
                  <a:noAutofit/>
                </a:bodyPr>
                <a:lstStyle/>
                <a:p>
                  <a:endParaRPr lang="en-GB" sz="2400"/>
                </a:p>
              </p:txBody>
            </p:sp>
            <p:sp>
              <p:nvSpPr>
                <p:cNvPr id="145" name="Arc 214">
                  <a:extLst>
                    <a:ext uri="{FF2B5EF4-FFF2-40B4-BE49-F238E27FC236}">
                      <a16:creationId xmlns:a16="http://schemas.microsoft.com/office/drawing/2014/main" id="{00CB68C9-9681-4C14-A55D-D9F4877379FD}"/>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9"/>
                      </a:solidFill>
                    </a14:hiddenFill>
                  </a:ext>
                </a:extLst>
              </p:spPr>
              <p:txBody>
                <a:bodyPr rot="0" vert="horz" wrap="square" lIns="91440" tIns="45720" rIns="91440" bIns="45720" anchor="t" anchorCtr="0" upright="1">
                  <a:noAutofit/>
                </a:bodyPr>
                <a:lstStyle/>
                <a:p>
                  <a:endParaRPr lang="en-GB" sz="2400"/>
                </a:p>
              </p:txBody>
            </p:sp>
          </p:grpSp>
        </p:grpSp>
        <p:grpSp>
          <p:nvGrpSpPr>
            <p:cNvPr id="87" name="Group 86">
              <a:extLst>
                <a:ext uri="{FF2B5EF4-FFF2-40B4-BE49-F238E27FC236}">
                  <a16:creationId xmlns:a16="http://schemas.microsoft.com/office/drawing/2014/main" id="{7A025CAC-76CD-4523-9BFB-4D8260858B10}"/>
                </a:ext>
              </a:extLst>
            </p:cNvPr>
            <p:cNvGrpSpPr>
              <a:grpSpLocks noChangeAspect="1"/>
            </p:cNvGrpSpPr>
            <p:nvPr/>
          </p:nvGrpSpPr>
          <p:grpSpPr bwMode="auto">
            <a:xfrm>
              <a:off x="3003" y="12873"/>
              <a:ext cx="363" cy="363"/>
              <a:chOff x="8858" y="9998"/>
              <a:chExt cx="600" cy="600"/>
            </a:xfrm>
          </p:grpSpPr>
          <p:sp>
            <p:nvSpPr>
              <p:cNvPr id="138" name="Oval 137">
                <a:extLst>
                  <a:ext uri="{FF2B5EF4-FFF2-40B4-BE49-F238E27FC236}">
                    <a16:creationId xmlns:a16="http://schemas.microsoft.com/office/drawing/2014/main" id="{3B573EE5-06E1-4741-ACA5-0FC2E0380A65}"/>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2400"/>
              </a:p>
            </p:txBody>
          </p:sp>
          <p:grpSp>
            <p:nvGrpSpPr>
              <p:cNvPr id="139" name="Group 138">
                <a:extLst>
                  <a:ext uri="{FF2B5EF4-FFF2-40B4-BE49-F238E27FC236}">
                    <a16:creationId xmlns:a16="http://schemas.microsoft.com/office/drawing/2014/main" id="{C5E9B087-FE62-4426-9C7C-288386451786}"/>
                  </a:ext>
                </a:extLst>
              </p:cNvPr>
              <p:cNvGrpSpPr>
                <a:grpSpLocks noChangeAspect="1"/>
              </p:cNvGrpSpPr>
              <p:nvPr/>
            </p:nvGrpSpPr>
            <p:grpSpPr bwMode="auto">
              <a:xfrm>
                <a:off x="8974" y="10146"/>
                <a:ext cx="362" cy="272"/>
                <a:chOff x="4778" y="6098"/>
                <a:chExt cx="2880" cy="1440"/>
              </a:xfrm>
            </p:grpSpPr>
            <p:sp>
              <p:nvSpPr>
                <p:cNvPr id="140" name="Arc 218">
                  <a:extLst>
                    <a:ext uri="{FF2B5EF4-FFF2-40B4-BE49-F238E27FC236}">
                      <a16:creationId xmlns:a16="http://schemas.microsoft.com/office/drawing/2014/main" id="{984657B8-0787-485B-8D78-AC163E0E252D}"/>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9"/>
                      </a:solidFill>
                    </a14:hiddenFill>
                  </a:ext>
                </a:extLst>
              </p:spPr>
              <p:txBody>
                <a:bodyPr rot="0" vert="horz" wrap="square" lIns="91440" tIns="45720" rIns="91440" bIns="45720" anchor="t" anchorCtr="0" upright="1">
                  <a:noAutofit/>
                </a:bodyPr>
                <a:lstStyle/>
                <a:p>
                  <a:endParaRPr lang="en-GB" sz="2400"/>
                </a:p>
              </p:txBody>
            </p:sp>
            <p:sp>
              <p:nvSpPr>
                <p:cNvPr id="141" name="Arc 219">
                  <a:extLst>
                    <a:ext uri="{FF2B5EF4-FFF2-40B4-BE49-F238E27FC236}">
                      <a16:creationId xmlns:a16="http://schemas.microsoft.com/office/drawing/2014/main" id="{654FCAFF-D337-434E-BA02-12418D378D1B}"/>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9"/>
                      </a:solidFill>
                    </a14:hiddenFill>
                  </a:ext>
                </a:extLst>
              </p:spPr>
              <p:txBody>
                <a:bodyPr rot="0" vert="horz" wrap="square" lIns="91440" tIns="45720" rIns="91440" bIns="45720" anchor="t" anchorCtr="0" upright="1">
                  <a:noAutofit/>
                </a:bodyPr>
                <a:lstStyle/>
                <a:p>
                  <a:endParaRPr lang="en-GB" sz="2400"/>
                </a:p>
              </p:txBody>
            </p:sp>
          </p:grpSp>
        </p:grpSp>
        <p:sp>
          <p:nvSpPr>
            <p:cNvPr id="88" name="Rectangle 87">
              <a:extLst>
                <a:ext uri="{FF2B5EF4-FFF2-40B4-BE49-F238E27FC236}">
                  <a16:creationId xmlns:a16="http://schemas.microsoft.com/office/drawing/2014/main" id="{D235FB34-2DBC-4AC7-811B-C53BD85C3608}"/>
                </a:ext>
              </a:extLst>
            </p:cNvPr>
            <p:cNvSpPr>
              <a:spLocks noChangeAspect="1" noChangeArrowheads="1"/>
            </p:cNvSpPr>
            <p:nvPr/>
          </p:nvSpPr>
          <p:spPr bwMode="auto">
            <a:xfrm rot="10800000">
              <a:off x="3477" y="11779"/>
              <a:ext cx="130" cy="305"/>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2400"/>
            </a:p>
          </p:txBody>
        </p:sp>
        <p:sp>
          <p:nvSpPr>
            <p:cNvPr id="89" name="Rectangle 88">
              <a:extLst>
                <a:ext uri="{FF2B5EF4-FFF2-40B4-BE49-F238E27FC236}">
                  <a16:creationId xmlns:a16="http://schemas.microsoft.com/office/drawing/2014/main" id="{5578E2D0-9B03-4963-9018-CE0C3B0AA9E7}"/>
                </a:ext>
              </a:extLst>
            </p:cNvPr>
            <p:cNvSpPr>
              <a:spLocks noChangeAspect="1" noChangeArrowheads="1"/>
            </p:cNvSpPr>
            <p:nvPr/>
          </p:nvSpPr>
          <p:spPr bwMode="auto">
            <a:xfrm rot="25200000">
              <a:off x="2695" y="13161"/>
              <a:ext cx="130" cy="305"/>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2400"/>
            </a:p>
          </p:txBody>
        </p:sp>
        <p:sp>
          <p:nvSpPr>
            <p:cNvPr id="90" name="Rectangle 89">
              <a:extLst>
                <a:ext uri="{FF2B5EF4-FFF2-40B4-BE49-F238E27FC236}">
                  <a16:creationId xmlns:a16="http://schemas.microsoft.com/office/drawing/2014/main" id="{128DB458-0755-4DA9-8CDC-720343EE3616}"/>
                </a:ext>
              </a:extLst>
            </p:cNvPr>
            <p:cNvSpPr>
              <a:spLocks noChangeAspect="1" noChangeArrowheads="1"/>
            </p:cNvSpPr>
            <p:nvPr/>
          </p:nvSpPr>
          <p:spPr bwMode="auto">
            <a:xfrm rot="7200000" flipV="1">
              <a:off x="4300" y="13191"/>
              <a:ext cx="130" cy="305"/>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2400"/>
            </a:p>
          </p:txBody>
        </p:sp>
        <p:cxnSp>
          <p:nvCxnSpPr>
            <p:cNvPr id="91" name="Line 223">
              <a:extLst>
                <a:ext uri="{FF2B5EF4-FFF2-40B4-BE49-F238E27FC236}">
                  <a16:creationId xmlns:a16="http://schemas.microsoft.com/office/drawing/2014/main" id="{72F2A184-C832-41F1-A264-5781473D8B24}"/>
                </a:ext>
              </a:extLst>
            </p:cNvPr>
            <p:cNvCxnSpPr>
              <a:cxnSpLocks noChangeAspect="1" noChangeShapeType="1"/>
            </p:cNvCxnSpPr>
            <p:nvPr/>
          </p:nvCxnSpPr>
          <p:spPr bwMode="auto">
            <a:xfrm rot="10800000">
              <a:off x="3222" y="12319"/>
              <a:ext cx="0" cy="345"/>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92" name="Line 224">
              <a:extLst>
                <a:ext uri="{FF2B5EF4-FFF2-40B4-BE49-F238E27FC236}">
                  <a16:creationId xmlns:a16="http://schemas.microsoft.com/office/drawing/2014/main" id="{1F888CD6-DEE6-403A-BC46-50E9FE0103D2}"/>
                </a:ext>
              </a:extLst>
            </p:cNvPr>
            <p:cNvCxnSpPr>
              <a:cxnSpLocks noChangeAspect="1" noChangeShapeType="1"/>
            </p:cNvCxnSpPr>
            <p:nvPr/>
          </p:nvCxnSpPr>
          <p:spPr bwMode="auto">
            <a:xfrm rot="25200000">
              <a:off x="3284" y="13175"/>
              <a:ext cx="0" cy="345"/>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93" name="Line 225">
              <a:extLst>
                <a:ext uri="{FF2B5EF4-FFF2-40B4-BE49-F238E27FC236}">
                  <a16:creationId xmlns:a16="http://schemas.microsoft.com/office/drawing/2014/main" id="{046E977A-8332-4AFA-AADC-511C850797F4}"/>
                </a:ext>
              </a:extLst>
            </p:cNvPr>
            <p:cNvCxnSpPr>
              <a:cxnSpLocks noChangeAspect="1" noChangeShapeType="1"/>
            </p:cNvCxnSpPr>
            <p:nvPr/>
          </p:nvCxnSpPr>
          <p:spPr bwMode="auto">
            <a:xfrm rot="7200000" flipV="1">
              <a:off x="3854" y="13152"/>
              <a:ext cx="0" cy="345"/>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94" name="Text Box 226">
              <a:extLst>
                <a:ext uri="{FF2B5EF4-FFF2-40B4-BE49-F238E27FC236}">
                  <a16:creationId xmlns:a16="http://schemas.microsoft.com/office/drawing/2014/main" id="{4F5C0AFB-7F93-4A31-B1F7-1EA499CCEF3D}"/>
                </a:ext>
              </a:extLst>
            </p:cNvPr>
            <p:cNvSpPr txBox="1">
              <a:spLocks noChangeArrowheads="1"/>
            </p:cNvSpPr>
            <p:nvPr/>
          </p:nvSpPr>
          <p:spPr bwMode="auto">
            <a:xfrm>
              <a:off x="3222" y="11719"/>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5" name="Text Box 227">
              <a:extLst>
                <a:ext uri="{FF2B5EF4-FFF2-40B4-BE49-F238E27FC236}">
                  <a16:creationId xmlns:a16="http://schemas.microsoft.com/office/drawing/2014/main" id="{45418BFD-AB4C-4867-A6AD-EE464B0D3910}"/>
                </a:ext>
              </a:extLst>
            </p:cNvPr>
            <p:cNvSpPr txBox="1">
              <a:spLocks noChangeArrowheads="1"/>
            </p:cNvSpPr>
            <p:nvPr/>
          </p:nvSpPr>
          <p:spPr bwMode="auto">
            <a:xfrm>
              <a:off x="4392" y="12964"/>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6" name="Text Box 228">
              <a:extLst>
                <a:ext uri="{FF2B5EF4-FFF2-40B4-BE49-F238E27FC236}">
                  <a16:creationId xmlns:a16="http://schemas.microsoft.com/office/drawing/2014/main" id="{70580C6C-6658-4850-BEC1-8782D02D65A8}"/>
                </a:ext>
              </a:extLst>
            </p:cNvPr>
            <p:cNvSpPr txBox="1">
              <a:spLocks noChangeArrowheads="1"/>
            </p:cNvSpPr>
            <p:nvPr/>
          </p:nvSpPr>
          <p:spPr bwMode="auto">
            <a:xfrm>
              <a:off x="2802" y="13279"/>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97" name="Group 96">
              <a:extLst>
                <a:ext uri="{FF2B5EF4-FFF2-40B4-BE49-F238E27FC236}">
                  <a16:creationId xmlns:a16="http://schemas.microsoft.com/office/drawing/2014/main" id="{82C74D62-1613-4EE5-BED2-2D9A38FAEE09}"/>
                </a:ext>
              </a:extLst>
            </p:cNvPr>
            <p:cNvGrpSpPr>
              <a:grpSpLocks/>
            </p:cNvGrpSpPr>
            <p:nvPr/>
          </p:nvGrpSpPr>
          <p:grpSpPr bwMode="auto">
            <a:xfrm>
              <a:off x="3430" y="12858"/>
              <a:ext cx="240" cy="360"/>
              <a:chOff x="4701" y="3904"/>
              <a:chExt cx="240" cy="360"/>
            </a:xfrm>
          </p:grpSpPr>
          <p:cxnSp>
            <p:nvCxnSpPr>
              <p:cNvPr id="134" name="Line 230">
                <a:extLst>
                  <a:ext uri="{FF2B5EF4-FFF2-40B4-BE49-F238E27FC236}">
                    <a16:creationId xmlns:a16="http://schemas.microsoft.com/office/drawing/2014/main" id="{2FD55C35-6946-4FBC-9325-3B06D89CA10E}"/>
                  </a:ext>
                </a:extLst>
              </p:cNvPr>
              <p:cNvCxnSpPr>
                <a:cxnSpLocks noChangeShapeType="1"/>
              </p:cNvCxnSpPr>
              <p:nvPr/>
            </p:nvCxnSpPr>
            <p:spPr bwMode="auto">
              <a:xfrm>
                <a:off x="4821" y="3904"/>
                <a:ext cx="0" cy="2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35" name="Line 231">
                <a:extLst>
                  <a:ext uri="{FF2B5EF4-FFF2-40B4-BE49-F238E27FC236}">
                    <a16:creationId xmlns:a16="http://schemas.microsoft.com/office/drawing/2014/main" id="{5497E18C-071A-4822-AF97-D376C653E1D7}"/>
                  </a:ext>
                </a:extLst>
              </p:cNvPr>
              <p:cNvCxnSpPr>
                <a:cxnSpLocks noChangeShapeType="1"/>
              </p:cNvCxnSpPr>
              <p:nvPr/>
            </p:nvCxnSpPr>
            <p:spPr bwMode="auto">
              <a:xfrm>
                <a:off x="4701" y="4144"/>
                <a:ext cx="24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36" name="Line 232">
                <a:extLst>
                  <a:ext uri="{FF2B5EF4-FFF2-40B4-BE49-F238E27FC236}">
                    <a16:creationId xmlns:a16="http://schemas.microsoft.com/office/drawing/2014/main" id="{005AA7EB-DBD2-4641-8ADF-218C3DAB28C2}"/>
                  </a:ext>
                </a:extLst>
              </p:cNvPr>
              <p:cNvCxnSpPr>
                <a:cxnSpLocks noChangeShapeType="1"/>
              </p:cNvCxnSpPr>
              <p:nvPr/>
            </p:nvCxnSpPr>
            <p:spPr bwMode="auto">
              <a:xfrm>
                <a:off x="4746" y="4204"/>
                <a:ext cx="142"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37" name="Line 233">
                <a:extLst>
                  <a:ext uri="{FF2B5EF4-FFF2-40B4-BE49-F238E27FC236}">
                    <a16:creationId xmlns:a16="http://schemas.microsoft.com/office/drawing/2014/main" id="{48A1C8DD-F431-4214-AD19-B2B130BBC292}"/>
                  </a:ext>
                </a:extLst>
              </p:cNvPr>
              <p:cNvCxnSpPr>
                <a:cxnSpLocks noChangeShapeType="1"/>
              </p:cNvCxnSpPr>
              <p:nvPr/>
            </p:nvCxnSpPr>
            <p:spPr bwMode="auto">
              <a:xfrm>
                <a:off x="4791" y="4264"/>
                <a:ext cx="85"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sp>
          <p:nvSpPr>
            <p:cNvPr id="98" name="Rectangle 97">
              <a:extLst>
                <a:ext uri="{FF2B5EF4-FFF2-40B4-BE49-F238E27FC236}">
                  <a16:creationId xmlns:a16="http://schemas.microsoft.com/office/drawing/2014/main" id="{E50BF4AD-E6FE-4DB0-AF4A-A90C5B47B741}"/>
                </a:ext>
              </a:extLst>
            </p:cNvPr>
            <p:cNvSpPr>
              <a:spLocks noChangeArrowheads="1"/>
            </p:cNvSpPr>
            <p:nvPr/>
          </p:nvSpPr>
          <p:spPr bwMode="auto">
            <a:xfrm rot="5400000">
              <a:off x="6370" y="11122"/>
              <a:ext cx="158" cy="50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400"/>
            </a:p>
          </p:txBody>
        </p:sp>
        <p:cxnSp>
          <p:nvCxnSpPr>
            <p:cNvPr id="99" name="Line 235">
              <a:extLst>
                <a:ext uri="{FF2B5EF4-FFF2-40B4-BE49-F238E27FC236}">
                  <a16:creationId xmlns:a16="http://schemas.microsoft.com/office/drawing/2014/main" id="{657B4C18-DC6E-46C8-A0D2-C6F5053DA3D7}"/>
                </a:ext>
              </a:extLst>
            </p:cNvPr>
            <p:cNvCxnSpPr>
              <a:cxnSpLocks noChangeShapeType="1"/>
            </p:cNvCxnSpPr>
            <p:nvPr/>
          </p:nvCxnSpPr>
          <p:spPr bwMode="auto">
            <a:xfrm rot="5400000">
              <a:off x="7956" y="10120"/>
              <a:ext cx="0" cy="2508"/>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00" name="Line 236">
              <a:extLst>
                <a:ext uri="{FF2B5EF4-FFF2-40B4-BE49-F238E27FC236}">
                  <a16:creationId xmlns:a16="http://schemas.microsoft.com/office/drawing/2014/main" id="{4B032B17-4FB5-4D24-BB32-DCFED8457297}"/>
                </a:ext>
              </a:extLst>
            </p:cNvPr>
            <p:cNvCxnSpPr>
              <a:cxnSpLocks noChangeShapeType="1"/>
            </p:cNvCxnSpPr>
            <p:nvPr/>
          </p:nvCxnSpPr>
          <p:spPr bwMode="auto">
            <a:xfrm rot="5400000">
              <a:off x="4867" y="10051"/>
              <a:ext cx="0" cy="2645"/>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01" name="Rectangle 100">
              <a:extLst>
                <a:ext uri="{FF2B5EF4-FFF2-40B4-BE49-F238E27FC236}">
                  <a16:creationId xmlns:a16="http://schemas.microsoft.com/office/drawing/2014/main" id="{0A952F9D-C929-411D-B7D6-31560581449B}"/>
                </a:ext>
              </a:extLst>
            </p:cNvPr>
            <p:cNvSpPr>
              <a:spLocks noChangeArrowheads="1"/>
            </p:cNvSpPr>
            <p:nvPr/>
          </p:nvSpPr>
          <p:spPr bwMode="auto">
            <a:xfrm rot="5400000">
              <a:off x="6370" y="13358"/>
              <a:ext cx="158" cy="50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400"/>
            </a:p>
          </p:txBody>
        </p:sp>
        <p:cxnSp>
          <p:nvCxnSpPr>
            <p:cNvPr id="102" name="Line 238">
              <a:extLst>
                <a:ext uri="{FF2B5EF4-FFF2-40B4-BE49-F238E27FC236}">
                  <a16:creationId xmlns:a16="http://schemas.microsoft.com/office/drawing/2014/main" id="{8053AE28-D729-475C-ADB9-0A1904656D66}"/>
                </a:ext>
              </a:extLst>
            </p:cNvPr>
            <p:cNvCxnSpPr>
              <a:cxnSpLocks noChangeShapeType="1"/>
            </p:cNvCxnSpPr>
            <p:nvPr/>
          </p:nvCxnSpPr>
          <p:spPr bwMode="auto">
            <a:xfrm rot="5400000">
              <a:off x="7415" y="13440"/>
              <a:ext cx="0" cy="1425"/>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03" name="Line 239">
              <a:extLst>
                <a:ext uri="{FF2B5EF4-FFF2-40B4-BE49-F238E27FC236}">
                  <a16:creationId xmlns:a16="http://schemas.microsoft.com/office/drawing/2014/main" id="{BC16F0F7-5BBF-4A6E-8C30-124250F9D80F}"/>
                </a:ext>
              </a:extLst>
            </p:cNvPr>
            <p:cNvCxnSpPr>
              <a:cxnSpLocks noChangeShapeType="1"/>
            </p:cNvCxnSpPr>
            <p:nvPr/>
          </p:nvCxnSpPr>
          <p:spPr bwMode="auto">
            <a:xfrm rot="5400000">
              <a:off x="5505" y="12926"/>
              <a:ext cx="0" cy="1368"/>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04" name="Rectangle 103">
              <a:extLst>
                <a:ext uri="{FF2B5EF4-FFF2-40B4-BE49-F238E27FC236}">
                  <a16:creationId xmlns:a16="http://schemas.microsoft.com/office/drawing/2014/main" id="{1693A9C1-087A-4CC2-8113-921FADDB053E}"/>
                </a:ext>
              </a:extLst>
            </p:cNvPr>
            <p:cNvSpPr>
              <a:spLocks noChangeArrowheads="1"/>
            </p:cNvSpPr>
            <p:nvPr/>
          </p:nvSpPr>
          <p:spPr bwMode="auto">
            <a:xfrm rot="5400000">
              <a:off x="6370" y="13877"/>
              <a:ext cx="158" cy="50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400"/>
            </a:p>
          </p:txBody>
        </p:sp>
        <p:cxnSp>
          <p:nvCxnSpPr>
            <p:cNvPr id="105" name="Line 241">
              <a:extLst>
                <a:ext uri="{FF2B5EF4-FFF2-40B4-BE49-F238E27FC236}">
                  <a16:creationId xmlns:a16="http://schemas.microsoft.com/office/drawing/2014/main" id="{28BEB856-9F2B-46E5-9A4B-037964460D79}"/>
                </a:ext>
              </a:extLst>
            </p:cNvPr>
            <p:cNvCxnSpPr>
              <a:cxnSpLocks noChangeShapeType="1"/>
            </p:cNvCxnSpPr>
            <p:nvPr/>
          </p:nvCxnSpPr>
          <p:spPr bwMode="auto">
            <a:xfrm rot="5400000">
              <a:off x="8498" y="11825"/>
              <a:ext cx="0" cy="359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06" name="Line 242">
              <a:extLst>
                <a:ext uri="{FF2B5EF4-FFF2-40B4-BE49-F238E27FC236}">
                  <a16:creationId xmlns:a16="http://schemas.microsoft.com/office/drawing/2014/main" id="{2C101BFD-58FC-49F0-B2A5-744AD102D4A4}"/>
                </a:ext>
              </a:extLst>
            </p:cNvPr>
            <p:cNvCxnSpPr>
              <a:cxnSpLocks noChangeShapeType="1"/>
            </p:cNvCxnSpPr>
            <p:nvPr/>
          </p:nvCxnSpPr>
          <p:spPr bwMode="auto">
            <a:xfrm rot="5400000">
              <a:off x="4223" y="12162"/>
              <a:ext cx="0" cy="3933"/>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07" name="Line 243">
              <a:extLst>
                <a:ext uri="{FF2B5EF4-FFF2-40B4-BE49-F238E27FC236}">
                  <a16:creationId xmlns:a16="http://schemas.microsoft.com/office/drawing/2014/main" id="{81700A4B-A0C9-4B7D-856E-ACA66FBEC61C}"/>
                </a:ext>
              </a:extLst>
            </p:cNvPr>
            <p:cNvCxnSpPr>
              <a:cxnSpLocks noChangeShapeType="1"/>
            </p:cNvCxnSpPr>
            <p:nvPr/>
          </p:nvCxnSpPr>
          <p:spPr bwMode="auto">
            <a:xfrm>
              <a:off x="2256" y="13576"/>
              <a:ext cx="0" cy="57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08" name="Rectangle 107">
              <a:extLst>
                <a:ext uri="{FF2B5EF4-FFF2-40B4-BE49-F238E27FC236}">
                  <a16:creationId xmlns:a16="http://schemas.microsoft.com/office/drawing/2014/main" id="{7AE8F83A-9FB8-408C-823F-63F65635C258}"/>
                </a:ext>
              </a:extLst>
            </p:cNvPr>
            <p:cNvSpPr>
              <a:spLocks noChangeArrowheads="1"/>
            </p:cNvSpPr>
            <p:nvPr/>
          </p:nvSpPr>
          <p:spPr bwMode="auto">
            <a:xfrm rot="21600000">
              <a:off x="9114" y="11932"/>
              <a:ext cx="215" cy="50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400"/>
            </a:p>
          </p:txBody>
        </p:sp>
        <p:cxnSp>
          <p:nvCxnSpPr>
            <p:cNvPr id="109" name="Line 245">
              <a:extLst>
                <a:ext uri="{FF2B5EF4-FFF2-40B4-BE49-F238E27FC236}">
                  <a16:creationId xmlns:a16="http://schemas.microsoft.com/office/drawing/2014/main" id="{B8577798-C8D7-47C5-9DE8-AC01707FDD6F}"/>
                </a:ext>
              </a:extLst>
            </p:cNvPr>
            <p:cNvCxnSpPr>
              <a:cxnSpLocks noChangeShapeType="1"/>
            </p:cNvCxnSpPr>
            <p:nvPr/>
          </p:nvCxnSpPr>
          <p:spPr bwMode="auto">
            <a:xfrm rot="21600000">
              <a:off x="9221" y="11370"/>
              <a:ext cx="0" cy="612"/>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10" name="Line 246">
              <a:extLst>
                <a:ext uri="{FF2B5EF4-FFF2-40B4-BE49-F238E27FC236}">
                  <a16:creationId xmlns:a16="http://schemas.microsoft.com/office/drawing/2014/main" id="{0B7423E3-3F15-4C0D-8564-4A974DE108CE}"/>
                </a:ext>
              </a:extLst>
            </p:cNvPr>
            <p:cNvCxnSpPr>
              <a:cxnSpLocks noChangeShapeType="1"/>
            </p:cNvCxnSpPr>
            <p:nvPr/>
          </p:nvCxnSpPr>
          <p:spPr bwMode="auto">
            <a:xfrm rot="21600000">
              <a:off x="9221" y="12437"/>
              <a:ext cx="0" cy="379"/>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nvGrpSpPr>
            <p:cNvPr id="111" name="Group 110">
              <a:extLst>
                <a:ext uri="{FF2B5EF4-FFF2-40B4-BE49-F238E27FC236}">
                  <a16:creationId xmlns:a16="http://schemas.microsoft.com/office/drawing/2014/main" id="{CEEA99F9-B236-4909-B089-55BF09B6B5E4}"/>
                </a:ext>
              </a:extLst>
            </p:cNvPr>
            <p:cNvGrpSpPr>
              <a:grpSpLocks noChangeAspect="1"/>
            </p:cNvGrpSpPr>
            <p:nvPr/>
          </p:nvGrpSpPr>
          <p:grpSpPr bwMode="auto">
            <a:xfrm rot="36000000">
              <a:off x="8573" y="12493"/>
              <a:ext cx="215" cy="1264"/>
              <a:chOff x="9878" y="1418"/>
              <a:chExt cx="360" cy="1800"/>
            </a:xfrm>
          </p:grpSpPr>
          <p:sp>
            <p:nvSpPr>
              <p:cNvPr id="131" name="Rectangle 130">
                <a:extLst>
                  <a:ext uri="{FF2B5EF4-FFF2-40B4-BE49-F238E27FC236}">
                    <a16:creationId xmlns:a16="http://schemas.microsoft.com/office/drawing/2014/main" id="{EBEEAC68-6554-4DCE-AD33-C348A1B0D218}"/>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400"/>
              </a:p>
            </p:txBody>
          </p:sp>
          <p:cxnSp>
            <p:nvCxnSpPr>
              <p:cNvPr id="132" name="Line 249">
                <a:extLst>
                  <a:ext uri="{FF2B5EF4-FFF2-40B4-BE49-F238E27FC236}">
                    <a16:creationId xmlns:a16="http://schemas.microsoft.com/office/drawing/2014/main" id="{D0619CB2-9EE9-4B91-8266-1B264732C0DC}"/>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33" name="Line 250">
                <a:extLst>
                  <a:ext uri="{FF2B5EF4-FFF2-40B4-BE49-F238E27FC236}">
                    <a16:creationId xmlns:a16="http://schemas.microsoft.com/office/drawing/2014/main" id="{A2D21994-4FF9-4BAA-88BC-0FEE02E712C4}"/>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112" name="Group 111">
              <a:extLst>
                <a:ext uri="{FF2B5EF4-FFF2-40B4-BE49-F238E27FC236}">
                  <a16:creationId xmlns:a16="http://schemas.microsoft.com/office/drawing/2014/main" id="{C3467BBF-6188-411D-8DFA-AE6CCB7EB1AB}"/>
                </a:ext>
              </a:extLst>
            </p:cNvPr>
            <p:cNvGrpSpPr>
              <a:grpSpLocks noChangeAspect="1"/>
            </p:cNvGrpSpPr>
            <p:nvPr/>
          </p:nvGrpSpPr>
          <p:grpSpPr bwMode="auto">
            <a:xfrm rot="18000000" flipV="1">
              <a:off x="9649" y="12493"/>
              <a:ext cx="215" cy="1264"/>
              <a:chOff x="9878" y="1418"/>
              <a:chExt cx="360" cy="1800"/>
            </a:xfrm>
          </p:grpSpPr>
          <p:sp>
            <p:nvSpPr>
              <p:cNvPr id="128" name="Rectangle 127">
                <a:extLst>
                  <a:ext uri="{FF2B5EF4-FFF2-40B4-BE49-F238E27FC236}">
                    <a16:creationId xmlns:a16="http://schemas.microsoft.com/office/drawing/2014/main" id="{5ACF1F44-25D5-4BD4-85CC-DBDE0DAC53B9}"/>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400"/>
              </a:p>
            </p:txBody>
          </p:sp>
          <p:cxnSp>
            <p:nvCxnSpPr>
              <p:cNvPr id="129" name="Line 253">
                <a:extLst>
                  <a:ext uri="{FF2B5EF4-FFF2-40B4-BE49-F238E27FC236}">
                    <a16:creationId xmlns:a16="http://schemas.microsoft.com/office/drawing/2014/main" id="{7EF2055B-B8C0-4933-BE53-43F1DA144907}"/>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30" name="Line 254">
                <a:extLst>
                  <a:ext uri="{FF2B5EF4-FFF2-40B4-BE49-F238E27FC236}">
                    <a16:creationId xmlns:a16="http://schemas.microsoft.com/office/drawing/2014/main" id="{16CB1A6C-00AE-46C6-9FD5-C7887882F721}"/>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cxnSp>
          <p:nvCxnSpPr>
            <p:cNvPr id="113" name="Line 255">
              <a:extLst>
                <a:ext uri="{FF2B5EF4-FFF2-40B4-BE49-F238E27FC236}">
                  <a16:creationId xmlns:a16="http://schemas.microsoft.com/office/drawing/2014/main" id="{4BD2219E-F30A-416A-871A-C0B45D156AFA}"/>
                </a:ext>
              </a:extLst>
            </p:cNvPr>
            <p:cNvCxnSpPr>
              <a:cxnSpLocks noChangeShapeType="1"/>
            </p:cNvCxnSpPr>
            <p:nvPr/>
          </p:nvCxnSpPr>
          <p:spPr bwMode="auto">
            <a:xfrm>
              <a:off x="10293" y="13462"/>
              <a:ext cx="0" cy="17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14" name="Line 256">
              <a:extLst>
                <a:ext uri="{FF2B5EF4-FFF2-40B4-BE49-F238E27FC236}">
                  <a16:creationId xmlns:a16="http://schemas.microsoft.com/office/drawing/2014/main" id="{2F08BC71-38CD-49B7-9230-34928B4E543E}"/>
                </a:ext>
              </a:extLst>
            </p:cNvPr>
            <p:cNvCxnSpPr>
              <a:cxnSpLocks noChangeShapeType="1"/>
            </p:cNvCxnSpPr>
            <p:nvPr/>
          </p:nvCxnSpPr>
          <p:spPr bwMode="auto">
            <a:xfrm>
              <a:off x="8127" y="13678"/>
              <a:ext cx="0" cy="428"/>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15" name="Line 257">
              <a:extLst>
                <a:ext uri="{FF2B5EF4-FFF2-40B4-BE49-F238E27FC236}">
                  <a16:creationId xmlns:a16="http://schemas.microsoft.com/office/drawing/2014/main" id="{EE15CCEB-230E-430F-9B38-051993C64D16}"/>
                </a:ext>
              </a:extLst>
            </p:cNvPr>
            <p:cNvCxnSpPr>
              <a:cxnSpLocks noChangeShapeType="1"/>
            </p:cNvCxnSpPr>
            <p:nvPr/>
          </p:nvCxnSpPr>
          <p:spPr bwMode="auto">
            <a:xfrm>
              <a:off x="3533" y="12807"/>
              <a:ext cx="5734"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16" name="Text Box 258">
              <a:extLst>
                <a:ext uri="{FF2B5EF4-FFF2-40B4-BE49-F238E27FC236}">
                  <a16:creationId xmlns:a16="http://schemas.microsoft.com/office/drawing/2014/main" id="{9FB33137-04DF-4686-B4E5-3F54F86272DA}"/>
                </a:ext>
              </a:extLst>
            </p:cNvPr>
            <p:cNvSpPr txBox="1">
              <a:spLocks noChangeArrowheads="1"/>
            </p:cNvSpPr>
            <p:nvPr/>
          </p:nvSpPr>
          <p:spPr bwMode="auto">
            <a:xfrm>
              <a:off x="6189" y="11410"/>
              <a:ext cx="55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7" name="Text Box 259">
              <a:extLst>
                <a:ext uri="{FF2B5EF4-FFF2-40B4-BE49-F238E27FC236}">
                  <a16:creationId xmlns:a16="http://schemas.microsoft.com/office/drawing/2014/main" id="{D5EE2EBB-33E5-4FB2-A502-75ACC1BEB3A3}"/>
                </a:ext>
              </a:extLst>
            </p:cNvPr>
            <p:cNvSpPr txBox="1">
              <a:spLocks noChangeArrowheads="1"/>
            </p:cNvSpPr>
            <p:nvPr/>
          </p:nvSpPr>
          <p:spPr bwMode="auto">
            <a:xfrm>
              <a:off x="6189" y="13091"/>
              <a:ext cx="674"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8" name="Text Box 260">
              <a:extLst>
                <a:ext uri="{FF2B5EF4-FFF2-40B4-BE49-F238E27FC236}">
                  <a16:creationId xmlns:a16="http://schemas.microsoft.com/office/drawing/2014/main" id="{4DA6EED1-7484-4FB3-80D6-4C65D520A997}"/>
                </a:ext>
              </a:extLst>
            </p:cNvPr>
            <p:cNvSpPr txBox="1">
              <a:spLocks noChangeArrowheads="1"/>
            </p:cNvSpPr>
            <p:nvPr/>
          </p:nvSpPr>
          <p:spPr bwMode="auto">
            <a:xfrm>
              <a:off x="6189" y="13592"/>
              <a:ext cx="674"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9" name="Text Box 261">
              <a:extLst>
                <a:ext uri="{FF2B5EF4-FFF2-40B4-BE49-F238E27FC236}">
                  <a16:creationId xmlns:a16="http://schemas.microsoft.com/office/drawing/2014/main" id="{9C37EB65-96F6-4A7C-A4E7-C41BE2098D25}"/>
                </a:ext>
              </a:extLst>
            </p:cNvPr>
            <p:cNvSpPr txBox="1">
              <a:spLocks noChangeArrowheads="1"/>
            </p:cNvSpPr>
            <p:nvPr/>
          </p:nvSpPr>
          <p:spPr bwMode="auto">
            <a:xfrm>
              <a:off x="9363" y="11962"/>
              <a:ext cx="4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10800" rIns="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LR</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0" name="Text Box 262">
              <a:extLst>
                <a:ext uri="{FF2B5EF4-FFF2-40B4-BE49-F238E27FC236}">
                  <a16:creationId xmlns:a16="http://schemas.microsoft.com/office/drawing/2014/main" id="{6EBA0AA3-5849-48B5-9307-8BA19A5A3012}"/>
                </a:ext>
              </a:extLst>
            </p:cNvPr>
            <p:cNvSpPr txBox="1">
              <a:spLocks noChangeArrowheads="1"/>
            </p:cNvSpPr>
            <p:nvPr/>
          </p:nvSpPr>
          <p:spPr bwMode="auto">
            <a:xfrm>
              <a:off x="9741" y="12608"/>
              <a:ext cx="4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10800" rIns="0" bIns="10800" anchor="t" anchorCtr="0" upright="1">
              <a:noAutofit/>
            </a:bodyPr>
            <a:lstStyle/>
            <a:p>
              <a:pPr marL="0" marR="0">
                <a:lnSpc>
                  <a:spcPct val="107000"/>
                </a:lnSpc>
                <a:spcBef>
                  <a:spcPts val="0"/>
                </a:spcBef>
                <a:spcAft>
                  <a:spcPts val="800"/>
                </a:spcAft>
              </a:pPr>
              <a:r>
                <a:rPr lang="en-GB" sz="36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LY</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1" name="Text Box 263">
              <a:extLst>
                <a:ext uri="{FF2B5EF4-FFF2-40B4-BE49-F238E27FC236}">
                  <a16:creationId xmlns:a16="http://schemas.microsoft.com/office/drawing/2014/main" id="{FCB1908F-6112-4EEF-8CCC-0B00338E8D08}"/>
                </a:ext>
              </a:extLst>
            </p:cNvPr>
            <p:cNvSpPr txBox="1">
              <a:spLocks noChangeArrowheads="1"/>
            </p:cNvSpPr>
            <p:nvPr/>
          </p:nvSpPr>
          <p:spPr bwMode="auto">
            <a:xfrm>
              <a:off x="8754" y="13159"/>
              <a:ext cx="4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10800" rIns="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LB</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2" name="Text Box 265">
              <a:extLst>
                <a:ext uri="{FF2B5EF4-FFF2-40B4-BE49-F238E27FC236}">
                  <a16:creationId xmlns:a16="http://schemas.microsoft.com/office/drawing/2014/main" id="{AF3C87C5-0D00-4541-A182-FD139667C16F}"/>
                </a:ext>
              </a:extLst>
            </p:cNvPr>
            <p:cNvSpPr txBox="1">
              <a:spLocks noChangeArrowheads="1"/>
            </p:cNvSpPr>
            <p:nvPr/>
          </p:nvSpPr>
          <p:spPr bwMode="auto">
            <a:xfrm>
              <a:off x="3225" y="12617"/>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N</a:t>
              </a:r>
              <a:endParaRPr lang="en-GB" sz="1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3" name="Text Box 266">
              <a:extLst>
                <a:ext uri="{FF2B5EF4-FFF2-40B4-BE49-F238E27FC236}">
                  <a16:creationId xmlns:a16="http://schemas.microsoft.com/office/drawing/2014/main" id="{5AEAB245-0161-4D41-929A-DF3E90A199E5}"/>
                </a:ext>
              </a:extLst>
            </p:cNvPr>
            <p:cNvSpPr txBox="1">
              <a:spLocks noChangeArrowheads="1"/>
            </p:cNvSpPr>
            <p:nvPr/>
          </p:nvSpPr>
          <p:spPr bwMode="auto">
            <a:xfrm>
              <a:off x="9303" y="1249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6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4" name="Rectangle 123">
              <a:extLst>
                <a:ext uri="{FF2B5EF4-FFF2-40B4-BE49-F238E27FC236}">
                  <a16:creationId xmlns:a16="http://schemas.microsoft.com/office/drawing/2014/main" id="{A8DD40E1-8373-4E9A-8C8E-D4FDF8419845}"/>
                </a:ext>
              </a:extLst>
            </p:cNvPr>
            <p:cNvSpPr>
              <a:spLocks noChangeArrowheads="1"/>
            </p:cNvSpPr>
            <p:nvPr/>
          </p:nvSpPr>
          <p:spPr bwMode="auto">
            <a:xfrm>
              <a:off x="6189" y="12726"/>
              <a:ext cx="513" cy="171"/>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2400"/>
            </a:p>
          </p:txBody>
        </p:sp>
        <p:sp>
          <p:nvSpPr>
            <p:cNvPr id="125" name="Text Box 268">
              <a:extLst>
                <a:ext uri="{FF2B5EF4-FFF2-40B4-BE49-F238E27FC236}">
                  <a16:creationId xmlns:a16="http://schemas.microsoft.com/office/drawing/2014/main" id="{4A304D21-3D59-4B0F-B531-DCEFEE6049DC}"/>
                </a:ext>
              </a:extLst>
            </p:cNvPr>
            <p:cNvSpPr txBox="1">
              <a:spLocks noChangeArrowheads="1"/>
            </p:cNvSpPr>
            <p:nvPr/>
          </p:nvSpPr>
          <p:spPr bwMode="auto">
            <a:xfrm>
              <a:off x="6189" y="12264"/>
              <a:ext cx="81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0" tIns="10800" rIns="0" bIns="10800" anchor="t" anchorCtr="0" upright="1">
              <a:noAutofit/>
            </a:bodyPr>
            <a:lstStyle/>
            <a:p>
              <a:pPr marL="0" marR="0">
                <a:lnSpc>
                  <a:spcPct val="107000"/>
                </a:lnSpc>
                <a:spcBef>
                  <a:spcPts val="0"/>
                </a:spcBef>
                <a:spcAft>
                  <a:spcPts val="800"/>
                </a:spcAft>
              </a:pPr>
              <a:r>
                <a:rPr lang="en-GB" sz="36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6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neutral</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6" name="Arc 269">
              <a:extLst>
                <a:ext uri="{FF2B5EF4-FFF2-40B4-BE49-F238E27FC236}">
                  <a16:creationId xmlns:a16="http://schemas.microsoft.com/office/drawing/2014/main" id="{51BEDE23-72D8-439B-8035-DAC8BD9ADDEE}"/>
                </a:ext>
              </a:extLst>
            </p:cNvPr>
            <p:cNvSpPr>
              <a:spLocks noChangeAspect="1"/>
            </p:cNvSpPr>
            <p:nvPr/>
          </p:nvSpPr>
          <p:spPr bwMode="auto">
            <a:xfrm>
              <a:off x="8127" y="13490"/>
              <a:ext cx="91" cy="182"/>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sz="2400"/>
            </a:p>
          </p:txBody>
        </p:sp>
        <p:cxnSp>
          <p:nvCxnSpPr>
            <p:cNvPr id="127" name="Line 270">
              <a:extLst>
                <a:ext uri="{FF2B5EF4-FFF2-40B4-BE49-F238E27FC236}">
                  <a16:creationId xmlns:a16="http://schemas.microsoft.com/office/drawing/2014/main" id="{F10A3311-B73F-422E-9828-B15C0D735AE6}"/>
                </a:ext>
              </a:extLst>
            </p:cNvPr>
            <p:cNvCxnSpPr>
              <a:cxnSpLocks noChangeShapeType="1"/>
            </p:cNvCxnSpPr>
            <p:nvPr/>
          </p:nvCxnSpPr>
          <p:spPr bwMode="auto">
            <a:xfrm flipH="1">
              <a:off x="8094" y="13450"/>
              <a:ext cx="33" cy="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414058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2B0D44CA-BB95-4248-8DFB-6B864DD30EFE}"/>
              </a:ext>
            </a:extLst>
          </p:cNvPr>
          <p:cNvGraphicFramePr>
            <a:graphicFrameLocks noChangeAspect="1"/>
          </p:cNvGraphicFramePr>
          <p:nvPr>
            <p:extLst>
              <p:ext uri="{D42A27DB-BD31-4B8C-83A1-F6EECF244321}">
                <p14:modId xmlns:p14="http://schemas.microsoft.com/office/powerpoint/2010/main" val="1679210258"/>
              </p:ext>
            </p:extLst>
          </p:nvPr>
        </p:nvGraphicFramePr>
        <p:xfrm>
          <a:off x="1275348" y="1022719"/>
          <a:ext cx="2781300" cy="1247775"/>
        </p:xfrm>
        <a:graphic>
          <a:graphicData uri="http://schemas.openxmlformats.org/presentationml/2006/ole">
            <mc:AlternateContent xmlns:mc="http://schemas.openxmlformats.org/markup-compatibility/2006">
              <mc:Choice xmlns:v="urn:schemas-microsoft-com:vml" Requires="v">
                <p:oleObj spid="_x0000_s165015" r:id="rId3" imgW="990170" imgH="444307" progId="Equation.3">
                  <p:embed/>
                </p:oleObj>
              </mc:Choice>
              <mc:Fallback>
                <p:oleObj r:id="rId3" imgW="990170" imgH="44430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5348" y="1022719"/>
                        <a:ext cx="2781300" cy="1247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927BFD3C-FE14-4419-80F0-9BC1EC0FFCDA}"/>
              </a:ext>
            </a:extLst>
          </p:cNvPr>
          <p:cNvGraphicFramePr>
            <a:graphicFrameLocks noChangeAspect="1"/>
          </p:cNvGraphicFramePr>
          <p:nvPr>
            <p:extLst>
              <p:ext uri="{D42A27DB-BD31-4B8C-83A1-F6EECF244321}">
                <p14:modId xmlns:p14="http://schemas.microsoft.com/office/powerpoint/2010/main" val="1227896590"/>
              </p:ext>
            </p:extLst>
          </p:nvPr>
        </p:nvGraphicFramePr>
        <p:xfrm>
          <a:off x="5317458" y="939180"/>
          <a:ext cx="2762250" cy="1257300"/>
        </p:xfrm>
        <a:graphic>
          <a:graphicData uri="http://schemas.openxmlformats.org/presentationml/2006/ole">
            <mc:AlternateContent xmlns:mc="http://schemas.openxmlformats.org/markup-compatibility/2006">
              <mc:Choice xmlns:v="urn:schemas-microsoft-com:vml" Requires="v">
                <p:oleObj spid="_x0000_s165016" r:id="rId5" imgW="939392" imgH="431613" progId="Equation.3">
                  <p:embed/>
                </p:oleObj>
              </mc:Choice>
              <mc:Fallback>
                <p:oleObj r:id="rId5" imgW="939392" imgH="431613"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17458" y="939180"/>
                        <a:ext cx="2762250" cy="1257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8CBCC38F-33FC-4F17-9013-A302F7043820}"/>
              </a:ext>
            </a:extLst>
          </p:cNvPr>
          <p:cNvGraphicFramePr>
            <a:graphicFrameLocks noChangeAspect="1"/>
          </p:cNvGraphicFramePr>
          <p:nvPr>
            <p:extLst>
              <p:ext uri="{D42A27DB-BD31-4B8C-83A1-F6EECF244321}">
                <p14:modId xmlns:p14="http://schemas.microsoft.com/office/powerpoint/2010/main" val="2169386987"/>
              </p:ext>
            </p:extLst>
          </p:nvPr>
        </p:nvGraphicFramePr>
        <p:xfrm>
          <a:off x="9335006" y="781985"/>
          <a:ext cx="2597223" cy="1247776"/>
        </p:xfrm>
        <a:graphic>
          <a:graphicData uri="http://schemas.openxmlformats.org/presentationml/2006/ole">
            <mc:AlternateContent xmlns:mc="http://schemas.openxmlformats.org/markup-compatibility/2006">
              <mc:Choice xmlns:v="urn:schemas-microsoft-com:vml" Requires="v">
                <p:oleObj spid="_x0000_s165017" r:id="rId7" imgW="914400" imgH="431800" progId="Equation.3">
                  <p:embed/>
                </p:oleObj>
              </mc:Choice>
              <mc:Fallback>
                <p:oleObj r:id="rId7" imgW="914400" imgH="43180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35006" y="781985"/>
                        <a:ext cx="2597223" cy="1247776"/>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4FAF7A8B-5BDF-4203-968F-434B12E4CE34}"/>
              </a:ext>
            </a:extLst>
          </p:cNvPr>
          <p:cNvGraphicFramePr>
            <a:graphicFrameLocks noChangeAspect="1"/>
          </p:cNvGraphicFramePr>
          <p:nvPr>
            <p:extLst>
              <p:ext uri="{D42A27DB-BD31-4B8C-83A1-F6EECF244321}">
                <p14:modId xmlns:p14="http://schemas.microsoft.com/office/powerpoint/2010/main" val="3330048163"/>
              </p:ext>
            </p:extLst>
          </p:nvPr>
        </p:nvGraphicFramePr>
        <p:xfrm>
          <a:off x="208549" y="4007008"/>
          <a:ext cx="10499557" cy="2057400"/>
        </p:xfrm>
        <a:graphic>
          <a:graphicData uri="http://schemas.openxmlformats.org/presentationml/2006/ole">
            <mc:AlternateContent xmlns:mc="http://schemas.openxmlformats.org/markup-compatibility/2006">
              <mc:Choice xmlns:v="urn:schemas-microsoft-com:vml" Requires="v">
                <p:oleObj spid="_x0000_s165018" r:id="rId9" imgW="5118100" imgH="838200" progId="Equation.3">
                  <p:embed/>
                </p:oleObj>
              </mc:Choice>
              <mc:Fallback>
                <p:oleObj r:id="rId9" imgW="5118100" imgH="838200" progId="Equation.3">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8549" y="4007008"/>
                        <a:ext cx="10499557" cy="2057400"/>
                      </a:xfrm>
                      <a:prstGeom prst="rect">
                        <a:avLst/>
                      </a:prstGeom>
                      <a:noFill/>
                    </p:spPr>
                  </p:pic>
                </p:oleObj>
              </mc:Fallback>
            </mc:AlternateContent>
          </a:graphicData>
        </a:graphic>
      </p:graphicFrame>
      <p:sp>
        <p:nvSpPr>
          <p:cNvPr id="7" name="Rectangle 5">
            <a:extLst>
              <a:ext uri="{FF2B5EF4-FFF2-40B4-BE49-F238E27FC236}">
                <a16:creationId xmlns:a16="http://schemas.microsoft.com/office/drawing/2014/main" id="{6D9C5233-34F3-4130-AF45-B4FB3C080955}"/>
              </a:ext>
            </a:extLst>
          </p:cNvPr>
          <p:cNvSpPr>
            <a:spLocks noChangeArrowheads="1"/>
          </p:cNvSpPr>
          <p:nvPr/>
        </p:nvSpPr>
        <p:spPr bwMode="auto">
          <a:xfrm>
            <a:off x="304800" y="1335301"/>
            <a:ext cx="137160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I</a:t>
            </a:r>
            <a:r>
              <a:rPr kumimoji="0" lang="en-GB" altLang="en-US" sz="36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LR</a:t>
            </a: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7062CD0F-5A9E-4FD3-BD04-9F22030681D9}"/>
              </a:ext>
            </a:extLst>
          </p:cNvPr>
          <p:cNvSpPr>
            <a:spLocks noChangeArrowheads="1"/>
          </p:cNvSpPr>
          <p:nvPr/>
        </p:nvSpPr>
        <p:spPr bwMode="auto">
          <a:xfrm>
            <a:off x="3965409" y="1199601"/>
            <a:ext cx="21175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a:t>
            </a:r>
            <a:r>
              <a:rPr kumimoji="0" lang="en-GB" altLang="en-US" sz="3600" b="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rPr>
              <a:t>I</a:t>
            </a:r>
            <a:r>
              <a:rPr kumimoji="0" lang="en-GB" altLang="en-US" sz="3600" b="0" i="0" u="none" strike="noStrike" cap="none" normalizeH="0" baseline="-30000" dirty="0" err="1">
                <a:ln>
                  <a:noFill/>
                </a:ln>
                <a:solidFill>
                  <a:srgbClr val="002060"/>
                </a:solidFill>
                <a:effectLst/>
                <a:latin typeface="Times New Roman" panose="02020603050405020304" pitchFamily="18" charset="0"/>
                <a:cs typeface="Times New Roman" panose="02020603050405020304" pitchFamily="18" charset="0"/>
              </a:rPr>
              <a:t>LY</a:t>
            </a: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7">
            <a:extLst>
              <a:ext uri="{FF2B5EF4-FFF2-40B4-BE49-F238E27FC236}">
                <a16:creationId xmlns:a16="http://schemas.microsoft.com/office/drawing/2014/main" id="{E3C3C2E9-2E59-40E2-BD60-89B72D87942D}"/>
              </a:ext>
            </a:extLst>
          </p:cNvPr>
          <p:cNvSpPr>
            <a:spLocks noChangeArrowheads="1"/>
          </p:cNvSpPr>
          <p:nvPr/>
        </p:nvSpPr>
        <p:spPr bwMode="auto">
          <a:xfrm>
            <a:off x="7935330" y="1049289"/>
            <a:ext cx="202130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a:t>
            </a:r>
            <a:r>
              <a:rPr kumimoji="0" lang="en-GB" altLang="en-US" sz="3600" b="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rPr>
              <a:t>I</a:t>
            </a:r>
            <a:r>
              <a:rPr kumimoji="0" lang="en-GB" altLang="en-US" sz="3600" b="0" i="0" u="none" strike="noStrike" cap="none" normalizeH="0" baseline="-30000" dirty="0" err="1">
                <a:ln>
                  <a:noFill/>
                </a:ln>
                <a:solidFill>
                  <a:srgbClr val="002060"/>
                </a:solidFill>
                <a:effectLst/>
                <a:latin typeface="Times New Roman" panose="02020603050405020304" pitchFamily="18" charset="0"/>
                <a:cs typeface="Times New Roman" panose="02020603050405020304" pitchFamily="18" charset="0"/>
              </a:rPr>
              <a:t>LB</a:t>
            </a:r>
            <a:r>
              <a:rPr kumimoji="0" lang="en-GB" altLang="en-US" sz="3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9D321DC2-7882-4FAA-9A77-159DA29F1775}"/>
              </a:ext>
            </a:extLst>
          </p:cNvPr>
          <p:cNvSpPr>
            <a:spLocks noChangeArrowheads="1"/>
          </p:cNvSpPr>
          <p:nvPr/>
        </p:nvSpPr>
        <p:spPr bwMode="auto">
          <a:xfrm>
            <a:off x="176463" y="2329205"/>
            <a:ext cx="11325726" cy="1585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Then load voltages etc can be determined. </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(ii)  If </a:t>
            </a:r>
            <a:r>
              <a:rPr kumimoji="0" lang="en-GB" altLang="en-US" sz="3200" b="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rPr>
              <a:t>Z</a:t>
            </a:r>
            <a:r>
              <a:rPr kumimoji="0" lang="en-GB" altLang="en-US" sz="3200" b="0" i="0" u="none" strike="noStrike" cap="none" normalizeH="0" baseline="-30000" dirty="0" err="1">
                <a:ln>
                  <a:noFill/>
                </a:ln>
                <a:solidFill>
                  <a:srgbClr val="002060"/>
                </a:solidFill>
                <a:effectLst/>
                <a:latin typeface="Times New Roman" panose="02020603050405020304" pitchFamily="18" charset="0"/>
                <a:cs typeface="Times New Roman" panose="02020603050405020304" pitchFamily="18" charset="0"/>
              </a:rPr>
              <a:t>neutral</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0</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using </a:t>
            </a:r>
            <a:r>
              <a:rPr kumimoji="0" lang="en-GB" altLang="en-US" sz="3200" b="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Millmann’s</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theorem, determine voltage of the star point</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p:txBody>
      </p:sp>
      <p:sp>
        <p:nvSpPr>
          <p:cNvPr id="11" name="Rectangle 9">
            <a:extLst>
              <a:ext uri="{FF2B5EF4-FFF2-40B4-BE49-F238E27FC236}">
                <a16:creationId xmlns:a16="http://schemas.microsoft.com/office/drawing/2014/main" id="{45768AEA-4D8C-4E99-9321-E7C6FA462CFA}"/>
              </a:ext>
            </a:extLst>
          </p:cNvPr>
          <p:cNvSpPr>
            <a:spLocks noChangeArrowheads="1"/>
          </p:cNvSpPr>
          <p:nvPr/>
        </p:nvSpPr>
        <p:spPr bwMode="auto">
          <a:xfrm>
            <a:off x="0" y="6305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21" name="Rectangle 5">
            <a:extLst>
              <a:ext uri="{FF2B5EF4-FFF2-40B4-BE49-F238E27FC236}">
                <a16:creationId xmlns:a16="http://schemas.microsoft.com/office/drawing/2014/main" id="{6C4858E3-C5FF-4C71-BABA-75A279F87347}"/>
              </a:ext>
            </a:extLst>
          </p:cNvPr>
          <p:cNvSpPr>
            <a:spLocks noChangeArrowheads="1"/>
          </p:cNvSpPr>
          <p:nvPr/>
        </p:nvSpPr>
        <p:spPr bwMode="auto">
          <a:xfrm>
            <a:off x="294272" y="564424"/>
            <a:ext cx="476450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a:t>
            </a:r>
            <a:r>
              <a:rPr kumimoji="0" lang="en-GB" altLang="en-US" sz="2800" b="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rPr>
              <a:t>i</a:t>
            </a:r>
            <a:r>
              <a:rPr kumimoji="0" lang="en-GB" altLang="en-US" sz="28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If  </a:t>
            </a:r>
            <a:r>
              <a:rPr kumimoji="0" lang="en-GB" altLang="en-US" sz="2800" b="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rPr>
              <a:t>Z</a:t>
            </a:r>
            <a:r>
              <a:rPr kumimoji="0" lang="en-GB" altLang="en-US" sz="2800" b="0" i="0" u="none" strike="noStrike" cap="none" normalizeH="0" baseline="-30000" dirty="0" err="1">
                <a:ln>
                  <a:noFill/>
                </a:ln>
                <a:solidFill>
                  <a:srgbClr val="002060"/>
                </a:solidFill>
                <a:effectLst/>
                <a:latin typeface="Times New Roman" panose="02020603050405020304" pitchFamily="18" charset="0"/>
                <a:cs typeface="Times New Roman" panose="02020603050405020304" pitchFamily="18" charset="0"/>
              </a:rPr>
              <a:t>neutral</a:t>
            </a:r>
            <a:r>
              <a:rPr kumimoji="0" lang="en-GB" altLang="en-US" sz="28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0</a:t>
            </a:r>
            <a:endParaRPr kumimoji="0" lang="en-GB" altLang="en-US" sz="10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2098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E2A9C283-C68A-4B35-8534-45722ED5D69B}"/>
              </a:ext>
            </a:extLst>
          </p:cNvPr>
          <p:cNvGraphicFramePr>
            <a:graphicFrameLocks noChangeAspect="1"/>
          </p:cNvGraphicFramePr>
          <p:nvPr>
            <p:extLst>
              <p:ext uri="{D42A27DB-BD31-4B8C-83A1-F6EECF244321}">
                <p14:modId xmlns:p14="http://schemas.microsoft.com/office/powerpoint/2010/main" val="1263381611"/>
              </p:ext>
            </p:extLst>
          </p:nvPr>
        </p:nvGraphicFramePr>
        <p:xfrm>
          <a:off x="1179095" y="1438419"/>
          <a:ext cx="2524125" cy="1200150"/>
        </p:xfrm>
        <a:graphic>
          <a:graphicData uri="http://schemas.openxmlformats.org/presentationml/2006/ole">
            <mc:AlternateContent xmlns:mc="http://schemas.openxmlformats.org/markup-compatibility/2006">
              <mc:Choice xmlns:v="urn:schemas-microsoft-com:vml" Requires="v">
                <p:oleObj spid="_x0000_s165998" r:id="rId3" imgW="927100" imgH="431800" progId="Equation.3">
                  <p:embed/>
                </p:oleObj>
              </mc:Choice>
              <mc:Fallback>
                <p:oleObj r:id="rId3" imgW="9271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095" y="1438419"/>
                        <a:ext cx="2524125" cy="1200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88914E53-2040-4C8B-B88E-5B7CDF44B9A8}"/>
              </a:ext>
            </a:extLst>
          </p:cNvPr>
          <p:cNvGraphicFramePr>
            <a:graphicFrameLocks noChangeAspect="1"/>
          </p:cNvGraphicFramePr>
          <p:nvPr>
            <p:extLst>
              <p:ext uri="{D42A27DB-BD31-4B8C-83A1-F6EECF244321}">
                <p14:modId xmlns:p14="http://schemas.microsoft.com/office/powerpoint/2010/main" val="2613380026"/>
              </p:ext>
            </p:extLst>
          </p:nvPr>
        </p:nvGraphicFramePr>
        <p:xfrm>
          <a:off x="4998620" y="1260224"/>
          <a:ext cx="2724150" cy="1285875"/>
        </p:xfrm>
        <a:graphic>
          <a:graphicData uri="http://schemas.openxmlformats.org/presentationml/2006/ole">
            <mc:AlternateContent xmlns:mc="http://schemas.openxmlformats.org/markup-compatibility/2006">
              <mc:Choice xmlns:v="urn:schemas-microsoft-com:vml" Requires="v">
                <p:oleObj spid="_x0000_s165999" r:id="rId5" imgW="927100" imgH="431800" progId="Equation.3">
                  <p:embed/>
                </p:oleObj>
              </mc:Choice>
              <mc:Fallback>
                <p:oleObj r:id="rId5" imgW="927100" imgH="4318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8620" y="1260224"/>
                        <a:ext cx="2724150" cy="1285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377F4CB3-1C8C-4F51-AF29-55285CD6A3D1}"/>
              </a:ext>
            </a:extLst>
          </p:cNvPr>
          <p:cNvGraphicFramePr>
            <a:graphicFrameLocks noChangeAspect="1"/>
          </p:cNvGraphicFramePr>
          <p:nvPr>
            <p:extLst>
              <p:ext uri="{D42A27DB-BD31-4B8C-83A1-F6EECF244321}">
                <p14:modId xmlns:p14="http://schemas.microsoft.com/office/powerpoint/2010/main" val="3482865366"/>
              </p:ext>
            </p:extLst>
          </p:nvPr>
        </p:nvGraphicFramePr>
        <p:xfrm>
          <a:off x="9107154" y="1087114"/>
          <a:ext cx="2971800" cy="1352550"/>
        </p:xfrm>
        <a:graphic>
          <a:graphicData uri="http://schemas.openxmlformats.org/presentationml/2006/ole">
            <mc:AlternateContent xmlns:mc="http://schemas.openxmlformats.org/markup-compatibility/2006">
              <mc:Choice xmlns:v="urn:schemas-microsoft-com:vml" Requires="v">
                <p:oleObj spid="_x0000_s166000" r:id="rId7" imgW="990170" imgH="444307" progId="Equation.3">
                  <p:embed/>
                </p:oleObj>
              </mc:Choice>
              <mc:Fallback>
                <p:oleObj r:id="rId7" imgW="990170" imgH="444307"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07154" y="1087114"/>
                        <a:ext cx="2971800" cy="1352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a:extLst>
              <a:ext uri="{FF2B5EF4-FFF2-40B4-BE49-F238E27FC236}">
                <a16:creationId xmlns:a16="http://schemas.microsoft.com/office/drawing/2014/main" id="{70F5BD74-B345-4138-B127-C874868E8E18}"/>
              </a:ext>
            </a:extLst>
          </p:cNvPr>
          <p:cNvSpPr>
            <a:spLocks noChangeArrowheads="1"/>
          </p:cNvSpPr>
          <p:nvPr/>
        </p:nvSpPr>
        <p:spPr bwMode="auto">
          <a:xfrm>
            <a:off x="216569" y="746944"/>
            <a:ext cx="6973303" cy="56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6176"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Load currents can be determined from </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5">
            <a:extLst>
              <a:ext uri="{FF2B5EF4-FFF2-40B4-BE49-F238E27FC236}">
                <a16:creationId xmlns:a16="http://schemas.microsoft.com/office/drawing/2014/main" id="{E36429C6-ED78-48B8-B93B-F41DCBF572C6}"/>
              </a:ext>
            </a:extLst>
          </p:cNvPr>
          <p:cNvSpPr>
            <a:spLocks noChangeArrowheads="1"/>
          </p:cNvSpPr>
          <p:nvPr/>
        </p:nvSpPr>
        <p:spPr bwMode="auto">
          <a:xfrm>
            <a:off x="3571875" y="1528811"/>
            <a:ext cx="25241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Tx/>
              <a:buNone/>
              <a:tabLst/>
            </a:pP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a:t>
            </a:r>
            <a:r>
              <a:rPr kumimoji="0" lang="en-GB" altLang="en-US" sz="4000" b="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rPr>
              <a:t>I</a:t>
            </a:r>
            <a:r>
              <a:rPr kumimoji="0" lang="en-GB" altLang="en-US" sz="4000" b="0" i="0" u="none" strike="noStrike" cap="none" normalizeH="0" baseline="-30000" dirty="0" err="1">
                <a:ln>
                  <a:noFill/>
                </a:ln>
                <a:solidFill>
                  <a:srgbClr val="002060"/>
                </a:solidFill>
                <a:effectLst/>
                <a:latin typeface="Times New Roman" panose="02020603050405020304" pitchFamily="18" charset="0"/>
                <a:cs typeface="Times New Roman" panose="02020603050405020304" pitchFamily="18" charset="0"/>
              </a:rPr>
              <a:t>LY</a:t>
            </a: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695BC35D-23A8-4017-8BC1-D235E36AF250}"/>
              </a:ext>
            </a:extLst>
          </p:cNvPr>
          <p:cNvSpPr>
            <a:spLocks noChangeArrowheads="1"/>
          </p:cNvSpPr>
          <p:nvPr/>
        </p:nvSpPr>
        <p:spPr bwMode="auto">
          <a:xfrm>
            <a:off x="7578392" y="1390293"/>
            <a:ext cx="229928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Tx/>
              <a:buNone/>
              <a:tabLst/>
            </a:pP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a:t>
            </a:r>
            <a:r>
              <a:rPr kumimoji="0" lang="en-GB" altLang="en-US" sz="4000" b="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rPr>
              <a:t>I</a:t>
            </a:r>
            <a:r>
              <a:rPr kumimoji="0" lang="en-GB" altLang="en-US" sz="4000" b="0" i="0" u="none" strike="noStrike" cap="none" normalizeH="0" baseline="-30000" dirty="0" err="1">
                <a:ln>
                  <a:noFill/>
                </a:ln>
                <a:solidFill>
                  <a:srgbClr val="002060"/>
                </a:solidFill>
                <a:effectLst/>
                <a:latin typeface="Times New Roman" panose="02020603050405020304" pitchFamily="18" charset="0"/>
                <a:cs typeface="Times New Roman" panose="02020603050405020304" pitchFamily="18" charset="0"/>
              </a:rPr>
              <a:t>LB</a:t>
            </a:r>
            <a:r>
              <a:rPr kumimoji="0" lang="en-GB" altLang="en-US" sz="4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7">
            <a:extLst>
              <a:ext uri="{FF2B5EF4-FFF2-40B4-BE49-F238E27FC236}">
                <a16:creationId xmlns:a16="http://schemas.microsoft.com/office/drawing/2014/main" id="{25715E54-8E30-4A10-A0E8-7233EF212D1D}"/>
              </a:ext>
            </a:extLst>
          </p:cNvPr>
          <p:cNvSpPr>
            <a:spLocks noChangeArrowheads="1"/>
          </p:cNvSpPr>
          <p:nvPr/>
        </p:nvSpPr>
        <p:spPr bwMode="auto">
          <a:xfrm>
            <a:off x="264695" y="2732846"/>
            <a:ext cx="12192000" cy="3309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304704" numCol="1" anchor="ctr" anchorCtr="0" compatLnSpc="1">
            <a:prstTxWarp prst="textNoShape">
              <a:avLst/>
            </a:prstTxWarp>
            <a:spAutoFit/>
          </a:bodyPr>
          <a:lstStyle/>
          <a:p>
            <a:pPr marL="0" marR="0" lvl="0" indent="9525"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Hence the remaining quantities can be determined.</a:t>
            </a:r>
          </a:p>
          <a:p>
            <a:pPr marL="0" marR="0" lvl="0" indent="9525" algn="l" defTabSz="914400" rtl="0" eaLnBrk="0" fontAlgn="base" latinLnBrk="0" hangingPunct="0">
              <a:lnSpc>
                <a:spcPct val="100000"/>
              </a:lnSpc>
              <a:spcBef>
                <a:spcPct val="0"/>
              </a:spcBef>
              <a:spcAft>
                <a:spcPct val="0"/>
              </a:spcAft>
              <a:buClrTx/>
              <a:buSzTx/>
              <a:buFontTx/>
              <a:buNone/>
              <a:tabLst/>
            </a:pPr>
            <a:endParaRPr kumimoji="0" lang="en-GB"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14000"/>
              </a:lnSpc>
              <a:spcBef>
                <a:spcPct val="0"/>
              </a:spcBef>
              <a:spcAft>
                <a:spcPct val="0"/>
              </a:spcAft>
              <a:buClrTx/>
              <a:buSzTx/>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(iii) If 3-wire system, rather than 4-wire system,  analysis would correspond to </a:t>
            </a:r>
            <a:r>
              <a:rPr kumimoji="0" lang="en-GB" altLang="en-US" sz="3200" b="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rPr>
              <a:t>z</a:t>
            </a:r>
            <a:r>
              <a:rPr kumimoji="0" lang="en-GB" altLang="en-US" sz="3200" b="0" i="0" u="none" strike="noStrike" cap="none" normalizeH="0" baseline="-30000" dirty="0" err="1">
                <a:ln>
                  <a:noFill/>
                </a:ln>
                <a:solidFill>
                  <a:srgbClr val="002060"/>
                </a:solidFill>
                <a:effectLst/>
                <a:latin typeface="Times New Roman" panose="02020603050405020304" pitchFamily="18" charset="0"/>
                <a:cs typeface="Times New Roman" panose="02020603050405020304" pitchFamily="18" charset="0"/>
              </a:rPr>
              <a:t>neutral</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(1/</a:t>
            </a:r>
            <a:r>
              <a:rPr kumimoji="0" lang="en-GB" altLang="en-US" sz="3200" b="0" i="0" u="none" strike="noStrike" cap="none" normalizeH="0" baseline="0" dirty="0" err="1">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z</a:t>
            </a:r>
            <a:r>
              <a:rPr kumimoji="0" lang="en-GB" altLang="en-US" sz="3200" b="0" i="0" u="none" strike="noStrike" cap="none" normalizeH="0" baseline="-30000" dirty="0" err="1">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neutral</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rPr>
              <a:t> = 0).  </a:t>
            </a:r>
            <a:endParaRPr kumimoji="0" lang="en-GB"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p>
            <a:pPr marL="0" marR="0" lvl="0" indent="0" algn="l" defTabSz="914400" rtl="0" eaLnBrk="0" fontAlgn="base" latinLnBrk="0" hangingPunct="0">
              <a:lnSpc>
                <a:spcPct val="114000"/>
              </a:lnSpc>
              <a:spcBef>
                <a:spcPct val="0"/>
              </a:spcBef>
              <a:spcAft>
                <a:spcPct val="0"/>
              </a:spcAft>
              <a:buClrTx/>
              <a:buSzTx/>
              <a:buFontTx/>
              <a:buNone/>
              <a:tabLst/>
            </a:pPr>
            <a:r>
              <a:rPr kumimoji="0" lang="en-GB" altLang="en-US" sz="3200" i="0" u="none" strike="noStrike" cap="none" normalizeH="0" baseline="0" dirty="0" err="1">
                <a:ln>
                  <a:noFill/>
                </a:ln>
                <a:solidFill>
                  <a:srgbClr val="002060"/>
                </a:solidFill>
                <a:effectLst/>
                <a:ea typeface="Times New Roman" panose="02020603050405020304" pitchFamily="18" charset="0"/>
                <a:sym typeface="Symbol" panose="05050102010706020507" pitchFamily="18" charset="2"/>
              </a:rPr>
              <a:t>Millmann</a:t>
            </a:r>
            <a:r>
              <a:rPr kumimoji="0" lang="en-GB" altLang="en-US" sz="3200" i="0" u="none" strike="noStrike" cap="none" normalizeH="0" baseline="0" dirty="0" err="1">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i="0" u="none" strike="noStrike" cap="none" normalizeH="0" baseline="0" dirty="0" err="1">
                <a:ln>
                  <a:noFill/>
                </a:ln>
                <a:solidFill>
                  <a:srgbClr val="002060"/>
                </a:solidFill>
                <a:effectLst/>
                <a:ea typeface="Times New Roman" panose="02020603050405020304" pitchFamily="18" charset="0"/>
                <a:sym typeface="Symbol" panose="05050102010706020507" pitchFamily="18" charset="2"/>
              </a:rPr>
              <a:t>s</a:t>
            </a:r>
            <a:r>
              <a:rPr kumimoji="0" lang="en-GB" altLang="en-US" sz="3200" i="0" u="none" strike="noStrike" cap="none" normalizeH="0" baseline="0" dirty="0">
                <a:ln>
                  <a:noFill/>
                </a:ln>
                <a:solidFill>
                  <a:srgbClr val="002060"/>
                </a:solidFill>
                <a:effectLst/>
                <a:ea typeface="Times New Roman" panose="02020603050405020304" pitchFamily="18" charset="0"/>
                <a:sym typeface="Symbol" panose="05050102010706020507" pitchFamily="18" charset="2"/>
              </a:rPr>
              <a:t> theorem is used to determine </a:t>
            </a:r>
            <a:r>
              <a:rPr kumimoji="0" lang="en-GB" altLang="en-US" sz="3200" i="0" u="none" strike="noStrike" cap="none" normalizeH="0" baseline="0" dirty="0" err="1">
                <a:ln>
                  <a:noFill/>
                </a:ln>
                <a:solidFill>
                  <a:srgbClr val="002060"/>
                </a:solidFill>
                <a:effectLst/>
                <a:ea typeface="Times New Roman" panose="02020603050405020304" pitchFamily="18" charset="0"/>
                <a:sym typeface="Symbol" panose="05050102010706020507" pitchFamily="18" charset="2"/>
              </a:rPr>
              <a:t>V</a:t>
            </a:r>
            <a:r>
              <a:rPr kumimoji="0" lang="en-GB" altLang="en-US" sz="3200" i="0" u="none" strike="noStrike" cap="none" normalizeH="0" baseline="-30000" dirty="0" err="1">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SN</a:t>
            </a:r>
            <a:r>
              <a:rPr kumimoji="0" lang="en-GB" altLang="en-US" sz="320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 and the load currents are then determined.</a:t>
            </a:r>
            <a:r>
              <a:rPr kumimoji="0" lang="en-GB"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endParaRPr kumimoji="0" lang="en-GB" altLang="en-US" sz="320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sym typeface="Symbol" panose="05050102010706020507" pitchFamily="18" charset="2"/>
            </a:endParaRPr>
          </a:p>
        </p:txBody>
      </p:sp>
      <p:sp>
        <p:nvSpPr>
          <p:cNvPr id="10" name="Rectangle 4">
            <a:extLst>
              <a:ext uri="{FF2B5EF4-FFF2-40B4-BE49-F238E27FC236}">
                <a16:creationId xmlns:a16="http://schemas.microsoft.com/office/drawing/2014/main" id="{B3678E76-BB39-4C5B-A237-3AF5AB911138}"/>
              </a:ext>
            </a:extLst>
          </p:cNvPr>
          <p:cNvSpPr>
            <a:spLocks noChangeArrowheads="1"/>
          </p:cNvSpPr>
          <p:nvPr/>
        </p:nvSpPr>
        <p:spPr bwMode="auto">
          <a:xfrm>
            <a:off x="216569" y="1696011"/>
            <a:ext cx="1144506" cy="56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6176"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I</a:t>
            </a:r>
            <a:r>
              <a:rPr kumimoji="0" lang="en-GB" altLang="en-US" sz="3200" b="0" i="0" u="none" strike="noStrike" cap="none" normalizeH="0" baseline="-30000" dirty="0">
                <a:ln>
                  <a:noFill/>
                </a:ln>
                <a:solidFill>
                  <a:srgbClr val="002060"/>
                </a:solidFill>
                <a:effectLst/>
                <a:latin typeface="Times New Roman" panose="02020603050405020304" pitchFamily="18" charset="0"/>
                <a:cs typeface="Times New Roman" panose="02020603050405020304" pitchFamily="18" charset="0"/>
              </a:rPr>
              <a:t>LR</a:t>
            </a:r>
            <a:r>
              <a:rPr kumimoji="0" lang="en-GB" altLang="en-US" sz="32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 </a:t>
            </a: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9882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pPr algn="l"/>
            <a:r>
              <a:rPr lang="en-US" dirty="0"/>
              <a:t>(b) Delta connected supply feeding a star connected load</a:t>
            </a:r>
            <a:endParaRPr lang="en-GB" dirty="0"/>
          </a:p>
        </p:txBody>
      </p:sp>
      <p:sp>
        <p:nvSpPr>
          <p:cNvPr id="3" name="Rectangle 2">
            <a:extLst>
              <a:ext uri="{FF2B5EF4-FFF2-40B4-BE49-F238E27FC236}">
                <a16:creationId xmlns:a16="http://schemas.microsoft.com/office/drawing/2014/main" id="{EE6F698F-B1EB-4694-B2F2-9D1F7F567FAE}"/>
              </a:ext>
            </a:extLst>
          </p:cNvPr>
          <p:cNvSpPr/>
          <p:nvPr/>
        </p:nvSpPr>
        <p:spPr>
          <a:xfrm>
            <a:off x="429715" y="1117288"/>
            <a:ext cx="11332570" cy="1569660"/>
          </a:xfrm>
          <a:prstGeom prst="rect">
            <a:avLst/>
          </a:prstGeom>
        </p:spPr>
        <p:txBody>
          <a:bodyPr wrap="square">
            <a:spAutoFit/>
          </a:bodyPr>
          <a:lstStyle/>
          <a:p>
            <a:pPr marL="342900" marR="0" lvl="0" indent="-342900" algn="just">
              <a:spcBef>
                <a:spcPts val="0"/>
              </a:spcBef>
              <a:spcAft>
                <a:spcPts val="0"/>
              </a:spcAft>
              <a:buFont typeface="Symbol" panose="05050102010706020507" pitchFamily="18" charset="2"/>
              <a:buChar char=""/>
              <a:tabLst>
                <a:tab pos="628650" algn="l"/>
              </a:tabLst>
            </a:pPr>
            <a:r>
              <a:rPr lang="en-GB" sz="3200" dirty="0">
                <a:solidFill>
                  <a:srgbClr val="002060"/>
                </a:solidFill>
                <a:latin typeface="Times New Roman" panose="02020603050405020304" pitchFamily="18" charset="0"/>
              </a:rPr>
              <a:t>not common in practice</a:t>
            </a:r>
            <a:endParaRPr lang="en-GB" sz="3200" b="1" dirty="0">
              <a:latin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628650" algn="l"/>
              </a:tabLst>
            </a:pPr>
            <a:r>
              <a:rPr lang="en-GB" sz="3200" dirty="0">
                <a:solidFill>
                  <a:srgbClr val="002060"/>
                </a:solidFill>
                <a:latin typeface="Times New Roman" panose="02020603050405020304" pitchFamily="18" charset="0"/>
              </a:rPr>
              <a:t>write  </a:t>
            </a:r>
            <a:r>
              <a:rPr lang="en-GB" sz="3200" dirty="0" err="1">
                <a:solidFill>
                  <a:srgbClr val="002060"/>
                </a:solidFill>
                <a:latin typeface="Times New Roman" panose="02020603050405020304" pitchFamily="18" charset="0"/>
              </a:rPr>
              <a:t>Kirchoff’s</a:t>
            </a:r>
            <a:r>
              <a:rPr lang="en-GB" sz="3200" dirty="0">
                <a:solidFill>
                  <a:srgbClr val="002060"/>
                </a:solidFill>
                <a:latin typeface="Times New Roman" panose="02020603050405020304" pitchFamily="18" charset="0"/>
              </a:rPr>
              <a:t> current law equations for the loops and solve as a normal circuit problem.</a:t>
            </a:r>
            <a:endParaRPr lang="en-GB" sz="3200" b="1" dirty="0">
              <a:effectLst/>
              <a:latin typeface="Times New Roman" panose="02020603050405020304" pitchFamily="18" charset="0"/>
            </a:endParaRPr>
          </a:p>
        </p:txBody>
      </p:sp>
      <p:grpSp>
        <p:nvGrpSpPr>
          <p:cNvPr id="4" name="Group 3">
            <a:extLst>
              <a:ext uri="{FF2B5EF4-FFF2-40B4-BE49-F238E27FC236}">
                <a16:creationId xmlns:a16="http://schemas.microsoft.com/office/drawing/2014/main" id="{29F842AF-FBB8-4551-A3A2-97075835408D}"/>
              </a:ext>
            </a:extLst>
          </p:cNvPr>
          <p:cNvGrpSpPr>
            <a:grpSpLocks noChangeAspect="1"/>
          </p:cNvGrpSpPr>
          <p:nvPr/>
        </p:nvGrpSpPr>
        <p:grpSpPr bwMode="auto">
          <a:xfrm>
            <a:off x="1758527" y="2686948"/>
            <a:ext cx="7688781" cy="3497223"/>
            <a:chOff x="1727" y="4446"/>
            <a:chExt cx="12873" cy="5903"/>
          </a:xfrm>
        </p:grpSpPr>
        <p:sp>
          <p:nvSpPr>
            <p:cNvPr id="5" name="Rectangle 4">
              <a:extLst>
                <a:ext uri="{FF2B5EF4-FFF2-40B4-BE49-F238E27FC236}">
                  <a16:creationId xmlns:a16="http://schemas.microsoft.com/office/drawing/2014/main" id="{A4289069-841B-4F88-BDC9-5D25436FB5AF}"/>
                </a:ext>
              </a:extLst>
            </p:cNvPr>
            <p:cNvSpPr>
              <a:spLocks noChangeArrowheads="1"/>
            </p:cNvSpPr>
            <p:nvPr/>
          </p:nvSpPr>
          <p:spPr bwMode="auto">
            <a:xfrm rot="5400000">
              <a:off x="8873" y="4136"/>
              <a:ext cx="281" cy="901"/>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6" name="Line 273">
              <a:extLst>
                <a:ext uri="{FF2B5EF4-FFF2-40B4-BE49-F238E27FC236}">
                  <a16:creationId xmlns:a16="http://schemas.microsoft.com/office/drawing/2014/main" id="{08106E9B-3DF2-470F-B862-36D7EEAD65AC}"/>
                </a:ext>
              </a:extLst>
            </p:cNvPr>
            <p:cNvCxnSpPr>
              <a:cxnSpLocks noChangeShapeType="1"/>
            </p:cNvCxnSpPr>
            <p:nvPr/>
          </p:nvCxnSpPr>
          <p:spPr bwMode="auto">
            <a:xfrm rot="5400000">
              <a:off x="10988" y="3073"/>
              <a:ext cx="0" cy="3024"/>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7" name="Line 274">
              <a:extLst>
                <a:ext uri="{FF2B5EF4-FFF2-40B4-BE49-F238E27FC236}">
                  <a16:creationId xmlns:a16="http://schemas.microsoft.com/office/drawing/2014/main" id="{D912D333-CE11-405D-A303-4A46A3C08225}"/>
                </a:ext>
              </a:extLst>
            </p:cNvPr>
            <p:cNvCxnSpPr>
              <a:cxnSpLocks noChangeShapeType="1"/>
            </p:cNvCxnSpPr>
            <p:nvPr/>
          </p:nvCxnSpPr>
          <p:spPr bwMode="auto">
            <a:xfrm rot="5400000">
              <a:off x="5923" y="1957"/>
              <a:ext cx="0" cy="5256"/>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8" name="Rectangle 7">
              <a:extLst>
                <a:ext uri="{FF2B5EF4-FFF2-40B4-BE49-F238E27FC236}">
                  <a16:creationId xmlns:a16="http://schemas.microsoft.com/office/drawing/2014/main" id="{F119049A-75B1-4504-A3F9-53E6C3BE0D9A}"/>
                </a:ext>
              </a:extLst>
            </p:cNvPr>
            <p:cNvSpPr>
              <a:spLocks noChangeArrowheads="1"/>
            </p:cNvSpPr>
            <p:nvPr/>
          </p:nvSpPr>
          <p:spPr bwMode="auto">
            <a:xfrm rot="5400000">
              <a:off x="8873" y="8117"/>
              <a:ext cx="282" cy="901"/>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9" name="Line 276">
              <a:extLst>
                <a:ext uri="{FF2B5EF4-FFF2-40B4-BE49-F238E27FC236}">
                  <a16:creationId xmlns:a16="http://schemas.microsoft.com/office/drawing/2014/main" id="{3407DAC1-8AFA-4427-A1C2-AF7C8884406F}"/>
                </a:ext>
              </a:extLst>
            </p:cNvPr>
            <p:cNvCxnSpPr>
              <a:cxnSpLocks noChangeShapeType="1"/>
            </p:cNvCxnSpPr>
            <p:nvPr/>
          </p:nvCxnSpPr>
          <p:spPr bwMode="auto">
            <a:xfrm rot="5400000">
              <a:off x="10025" y="8019"/>
              <a:ext cx="0" cy="1094"/>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0" name="Line 277">
              <a:extLst>
                <a:ext uri="{FF2B5EF4-FFF2-40B4-BE49-F238E27FC236}">
                  <a16:creationId xmlns:a16="http://schemas.microsoft.com/office/drawing/2014/main" id="{9A3A8A58-A900-441E-9051-5804050D0F13}"/>
                </a:ext>
              </a:extLst>
            </p:cNvPr>
            <p:cNvCxnSpPr>
              <a:cxnSpLocks noChangeShapeType="1"/>
            </p:cNvCxnSpPr>
            <p:nvPr/>
          </p:nvCxnSpPr>
          <p:spPr bwMode="auto">
            <a:xfrm rot="5400000">
              <a:off x="5923" y="5938"/>
              <a:ext cx="0" cy="5256"/>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1" name="Rectangle 10">
              <a:extLst>
                <a:ext uri="{FF2B5EF4-FFF2-40B4-BE49-F238E27FC236}">
                  <a16:creationId xmlns:a16="http://schemas.microsoft.com/office/drawing/2014/main" id="{E9AE5912-935D-48C4-B7CE-1F769D1B49C9}"/>
                </a:ext>
              </a:extLst>
            </p:cNvPr>
            <p:cNvSpPr>
              <a:spLocks noChangeArrowheads="1"/>
            </p:cNvSpPr>
            <p:nvPr/>
          </p:nvSpPr>
          <p:spPr bwMode="auto">
            <a:xfrm rot="5400000">
              <a:off x="8873" y="8804"/>
              <a:ext cx="282" cy="901"/>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2" name="Line 279">
              <a:extLst>
                <a:ext uri="{FF2B5EF4-FFF2-40B4-BE49-F238E27FC236}">
                  <a16:creationId xmlns:a16="http://schemas.microsoft.com/office/drawing/2014/main" id="{38C02D48-47EC-487D-AAC2-7163FB902EDF}"/>
                </a:ext>
              </a:extLst>
            </p:cNvPr>
            <p:cNvCxnSpPr>
              <a:cxnSpLocks noChangeShapeType="1"/>
            </p:cNvCxnSpPr>
            <p:nvPr/>
          </p:nvCxnSpPr>
          <p:spPr bwMode="auto">
            <a:xfrm rot="5400000">
              <a:off x="11951" y="6776"/>
              <a:ext cx="0" cy="4954"/>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3" name="Line 280">
              <a:extLst>
                <a:ext uri="{FF2B5EF4-FFF2-40B4-BE49-F238E27FC236}">
                  <a16:creationId xmlns:a16="http://schemas.microsoft.com/office/drawing/2014/main" id="{D615D10C-13A4-4257-B278-E2D29EC17E11}"/>
                </a:ext>
              </a:extLst>
            </p:cNvPr>
            <p:cNvCxnSpPr>
              <a:cxnSpLocks noChangeShapeType="1"/>
            </p:cNvCxnSpPr>
            <p:nvPr/>
          </p:nvCxnSpPr>
          <p:spPr bwMode="auto">
            <a:xfrm rot="5400000">
              <a:off x="7291" y="7993"/>
              <a:ext cx="0" cy="252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4" name="Rectangle 13">
              <a:extLst>
                <a:ext uri="{FF2B5EF4-FFF2-40B4-BE49-F238E27FC236}">
                  <a16:creationId xmlns:a16="http://schemas.microsoft.com/office/drawing/2014/main" id="{A534DBCA-14FC-4D20-8814-F8FF4AF184B9}"/>
                </a:ext>
              </a:extLst>
            </p:cNvPr>
            <p:cNvSpPr>
              <a:spLocks noChangeArrowheads="1"/>
            </p:cNvSpPr>
            <p:nvPr/>
          </p:nvSpPr>
          <p:spPr bwMode="auto">
            <a:xfrm rot="21600000">
              <a:off x="12329" y="5578"/>
              <a:ext cx="383" cy="901"/>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5" name="Line 282">
              <a:extLst>
                <a:ext uri="{FF2B5EF4-FFF2-40B4-BE49-F238E27FC236}">
                  <a16:creationId xmlns:a16="http://schemas.microsoft.com/office/drawing/2014/main" id="{D891D642-8AE7-4482-AB28-24B81C55C53E}"/>
                </a:ext>
              </a:extLst>
            </p:cNvPr>
            <p:cNvCxnSpPr>
              <a:cxnSpLocks noChangeShapeType="1"/>
            </p:cNvCxnSpPr>
            <p:nvPr/>
          </p:nvCxnSpPr>
          <p:spPr bwMode="auto">
            <a:xfrm rot="21600000">
              <a:off x="12519" y="4578"/>
              <a:ext cx="0" cy="1089"/>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6" name="Line 283">
              <a:extLst>
                <a:ext uri="{FF2B5EF4-FFF2-40B4-BE49-F238E27FC236}">
                  <a16:creationId xmlns:a16="http://schemas.microsoft.com/office/drawing/2014/main" id="{5970F813-5220-434E-A273-7CD74AB8D4AF}"/>
                </a:ext>
              </a:extLst>
            </p:cNvPr>
            <p:cNvCxnSpPr>
              <a:cxnSpLocks noChangeShapeType="1"/>
            </p:cNvCxnSpPr>
            <p:nvPr/>
          </p:nvCxnSpPr>
          <p:spPr bwMode="auto">
            <a:xfrm rot="21600000">
              <a:off x="12519" y="6478"/>
              <a:ext cx="0" cy="674"/>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nvGrpSpPr>
            <p:cNvPr id="17" name="Group 16">
              <a:extLst>
                <a:ext uri="{FF2B5EF4-FFF2-40B4-BE49-F238E27FC236}">
                  <a16:creationId xmlns:a16="http://schemas.microsoft.com/office/drawing/2014/main" id="{899A2BB8-A49E-4E32-920C-82D4ECDBCD10}"/>
                </a:ext>
              </a:extLst>
            </p:cNvPr>
            <p:cNvGrpSpPr>
              <a:grpSpLocks noChangeAspect="1"/>
            </p:cNvGrpSpPr>
            <p:nvPr/>
          </p:nvGrpSpPr>
          <p:grpSpPr bwMode="auto">
            <a:xfrm rot="36000000">
              <a:off x="11366" y="6577"/>
              <a:ext cx="383" cy="2250"/>
              <a:chOff x="9878" y="1418"/>
              <a:chExt cx="360" cy="1800"/>
            </a:xfrm>
          </p:grpSpPr>
          <p:sp>
            <p:nvSpPr>
              <p:cNvPr id="68" name="Rectangle 67">
                <a:extLst>
                  <a:ext uri="{FF2B5EF4-FFF2-40B4-BE49-F238E27FC236}">
                    <a16:creationId xmlns:a16="http://schemas.microsoft.com/office/drawing/2014/main" id="{086A5C9C-89F2-44B3-B4C1-14667F3A2615}"/>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69" name="Line 286">
                <a:extLst>
                  <a:ext uri="{FF2B5EF4-FFF2-40B4-BE49-F238E27FC236}">
                    <a16:creationId xmlns:a16="http://schemas.microsoft.com/office/drawing/2014/main" id="{EA68D3C1-DAC8-420C-98EF-D489B0D0C586}"/>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70" name="Line 287">
                <a:extLst>
                  <a:ext uri="{FF2B5EF4-FFF2-40B4-BE49-F238E27FC236}">
                    <a16:creationId xmlns:a16="http://schemas.microsoft.com/office/drawing/2014/main" id="{9E5DAAFD-053F-4DD2-8038-90D221489EB7}"/>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18" name="Group 17">
              <a:extLst>
                <a:ext uri="{FF2B5EF4-FFF2-40B4-BE49-F238E27FC236}">
                  <a16:creationId xmlns:a16="http://schemas.microsoft.com/office/drawing/2014/main" id="{1E0E0266-75EA-4B7B-BD9C-8CC05EFB4B63}"/>
                </a:ext>
              </a:extLst>
            </p:cNvPr>
            <p:cNvGrpSpPr>
              <a:grpSpLocks noChangeAspect="1"/>
            </p:cNvGrpSpPr>
            <p:nvPr/>
          </p:nvGrpSpPr>
          <p:grpSpPr bwMode="auto">
            <a:xfrm rot="18000000" flipV="1">
              <a:off x="13283" y="6577"/>
              <a:ext cx="383" cy="2250"/>
              <a:chOff x="9878" y="1418"/>
              <a:chExt cx="360" cy="1800"/>
            </a:xfrm>
          </p:grpSpPr>
          <p:sp>
            <p:nvSpPr>
              <p:cNvPr id="65" name="Rectangle 64">
                <a:extLst>
                  <a:ext uri="{FF2B5EF4-FFF2-40B4-BE49-F238E27FC236}">
                    <a16:creationId xmlns:a16="http://schemas.microsoft.com/office/drawing/2014/main" id="{1FBB408A-A4AE-413E-8AF4-10F3DA886D9B}"/>
                  </a:ext>
                </a:extLst>
              </p:cNvPr>
              <p:cNvSpPr>
                <a:spLocks noChangeAspect="1"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66" name="Line 290">
                <a:extLst>
                  <a:ext uri="{FF2B5EF4-FFF2-40B4-BE49-F238E27FC236}">
                    <a16:creationId xmlns:a16="http://schemas.microsoft.com/office/drawing/2014/main" id="{8746D279-1378-4A6F-9E5A-777801766EF8}"/>
                  </a:ext>
                </a:extLst>
              </p:cNvPr>
              <p:cNvCxnSpPr>
                <a:cxnSpLocks noChangeAspect="1"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7" name="Line 291">
                <a:extLst>
                  <a:ext uri="{FF2B5EF4-FFF2-40B4-BE49-F238E27FC236}">
                    <a16:creationId xmlns:a16="http://schemas.microsoft.com/office/drawing/2014/main" id="{E75656EF-DA86-4A65-B37B-BF5BEE2527D9}"/>
                  </a:ext>
                </a:extLst>
              </p:cNvPr>
              <p:cNvCxnSpPr>
                <a:cxnSpLocks noChangeAspect="1"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cxnSp>
          <p:nvCxnSpPr>
            <p:cNvPr id="19" name="Line 292">
              <a:extLst>
                <a:ext uri="{FF2B5EF4-FFF2-40B4-BE49-F238E27FC236}">
                  <a16:creationId xmlns:a16="http://schemas.microsoft.com/office/drawing/2014/main" id="{05C1CDEA-0AFC-4B28-BC83-0C923421DB9D}"/>
                </a:ext>
              </a:extLst>
            </p:cNvPr>
            <p:cNvCxnSpPr>
              <a:cxnSpLocks noChangeShapeType="1"/>
            </p:cNvCxnSpPr>
            <p:nvPr/>
          </p:nvCxnSpPr>
          <p:spPr bwMode="auto">
            <a:xfrm>
              <a:off x="10572" y="8303"/>
              <a:ext cx="0" cy="304"/>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0" name="Line 293">
              <a:extLst>
                <a:ext uri="{FF2B5EF4-FFF2-40B4-BE49-F238E27FC236}">
                  <a16:creationId xmlns:a16="http://schemas.microsoft.com/office/drawing/2014/main" id="{1BF30667-7F51-471B-AF44-ABB52D23E390}"/>
                </a:ext>
              </a:extLst>
            </p:cNvPr>
            <p:cNvCxnSpPr>
              <a:cxnSpLocks noChangeShapeType="1"/>
            </p:cNvCxnSpPr>
            <p:nvPr/>
          </p:nvCxnSpPr>
          <p:spPr bwMode="auto">
            <a:xfrm>
              <a:off x="14428" y="8201"/>
              <a:ext cx="0" cy="1086"/>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21" name="Text Box 294">
              <a:extLst>
                <a:ext uri="{FF2B5EF4-FFF2-40B4-BE49-F238E27FC236}">
                  <a16:creationId xmlns:a16="http://schemas.microsoft.com/office/drawing/2014/main" id="{6A93477E-DCD2-4353-B2CF-3C7AC3E794EC}"/>
                </a:ext>
              </a:extLst>
            </p:cNvPr>
            <p:cNvSpPr txBox="1">
              <a:spLocks noChangeArrowheads="1"/>
            </p:cNvSpPr>
            <p:nvPr/>
          </p:nvSpPr>
          <p:spPr bwMode="auto">
            <a:xfrm>
              <a:off x="8551" y="4649"/>
              <a:ext cx="1066"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Text Box 295">
              <a:extLst>
                <a:ext uri="{FF2B5EF4-FFF2-40B4-BE49-F238E27FC236}">
                  <a16:creationId xmlns:a16="http://schemas.microsoft.com/office/drawing/2014/main" id="{50B22937-DDA9-444D-8B2D-A7A373E308A3}"/>
                </a:ext>
              </a:extLst>
            </p:cNvPr>
            <p:cNvSpPr txBox="1">
              <a:spLocks noChangeArrowheads="1"/>
            </p:cNvSpPr>
            <p:nvPr/>
          </p:nvSpPr>
          <p:spPr bwMode="auto">
            <a:xfrm>
              <a:off x="8551" y="7763"/>
              <a:ext cx="913"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Text Box 296">
              <a:extLst>
                <a:ext uri="{FF2B5EF4-FFF2-40B4-BE49-F238E27FC236}">
                  <a16:creationId xmlns:a16="http://schemas.microsoft.com/office/drawing/2014/main" id="{79C4A151-BC59-44DE-9C70-BDE13D365532}"/>
                </a:ext>
              </a:extLst>
            </p:cNvPr>
            <p:cNvSpPr txBox="1">
              <a:spLocks noChangeArrowheads="1"/>
            </p:cNvSpPr>
            <p:nvPr/>
          </p:nvSpPr>
          <p:spPr bwMode="auto">
            <a:xfrm>
              <a:off x="8551" y="8508"/>
              <a:ext cx="1066"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Text Box 297">
              <a:extLst>
                <a:ext uri="{FF2B5EF4-FFF2-40B4-BE49-F238E27FC236}">
                  <a16:creationId xmlns:a16="http://schemas.microsoft.com/office/drawing/2014/main" id="{1CD1D7A3-8F28-4E8D-905E-856729C181CD}"/>
                </a:ext>
              </a:extLst>
            </p:cNvPr>
            <p:cNvSpPr txBox="1">
              <a:spLocks noChangeArrowheads="1"/>
            </p:cNvSpPr>
            <p:nvPr/>
          </p:nvSpPr>
          <p:spPr bwMode="auto">
            <a:xfrm>
              <a:off x="12772" y="5632"/>
              <a:ext cx="1152"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Text Box 298">
              <a:extLst>
                <a:ext uri="{FF2B5EF4-FFF2-40B4-BE49-F238E27FC236}">
                  <a16:creationId xmlns:a16="http://schemas.microsoft.com/office/drawing/2014/main" id="{844434B9-D673-459C-9FCF-88B524A40058}"/>
                </a:ext>
              </a:extLst>
            </p:cNvPr>
            <p:cNvSpPr txBox="1">
              <a:spLocks noChangeArrowheads="1"/>
            </p:cNvSpPr>
            <p:nvPr/>
          </p:nvSpPr>
          <p:spPr bwMode="auto">
            <a:xfrm>
              <a:off x="13381" y="6850"/>
              <a:ext cx="1047"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28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LY</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Text Box 299">
              <a:extLst>
                <a:ext uri="{FF2B5EF4-FFF2-40B4-BE49-F238E27FC236}">
                  <a16:creationId xmlns:a16="http://schemas.microsoft.com/office/drawing/2014/main" id="{B2632EDD-5016-42CC-9B36-82095FCECECD}"/>
                </a:ext>
              </a:extLst>
            </p:cNvPr>
            <p:cNvSpPr txBox="1">
              <a:spLocks noChangeArrowheads="1"/>
            </p:cNvSpPr>
            <p:nvPr/>
          </p:nvSpPr>
          <p:spPr bwMode="auto">
            <a:xfrm>
              <a:off x="11688" y="7763"/>
              <a:ext cx="995"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LB</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 Box 300">
              <a:extLst>
                <a:ext uri="{FF2B5EF4-FFF2-40B4-BE49-F238E27FC236}">
                  <a16:creationId xmlns:a16="http://schemas.microsoft.com/office/drawing/2014/main" id="{4C631FA1-8853-497D-A220-7F87808B845F}"/>
                </a:ext>
              </a:extLst>
            </p:cNvPr>
            <p:cNvSpPr txBox="1">
              <a:spLocks noChangeArrowheads="1"/>
            </p:cNvSpPr>
            <p:nvPr/>
          </p:nvSpPr>
          <p:spPr bwMode="auto">
            <a:xfrm>
              <a:off x="4267" y="9622"/>
              <a:ext cx="9114"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400" dirty="0">
                  <a:solidFill>
                    <a:srgbClr val="002060"/>
                  </a:solidFill>
                  <a:effectLst/>
                  <a:latin typeface="Times New Roman" panose="02020603050405020304" pitchFamily="18" charset="0"/>
                  <a:ea typeface="Times New Roman" panose="02020603050405020304" pitchFamily="18" charset="0"/>
                </a:rPr>
                <a:t>Figure 11 – Delta supply feeding  star load</a:t>
              </a:r>
              <a:endParaRPr lang="en-GB" sz="1200" dirty="0">
                <a:effectLst/>
                <a:latin typeface="Times New Roman" panose="02020603050405020304" pitchFamily="18" charset="0"/>
                <a:ea typeface="Times New Roman" panose="02020603050405020304" pitchFamily="18" charset="0"/>
              </a:endParaRPr>
            </a:p>
          </p:txBody>
        </p:sp>
        <p:sp>
          <p:nvSpPr>
            <p:cNvPr id="28" name="Text Box 301">
              <a:extLst>
                <a:ext uri="{FF2B5EF4-FFF2-40B4-BE49-F238E27FC236}">
                  <a16:creationId xmlns:a16="http://schemas.microsoft.com/office/drawing/2014/main" id="{45FB3D36-9C9D-444B-861A-D7DB208D95CE}"/>
                </a:ext>
              </a:extLst>
            </p:cNvPr>
            <p:cNvSpPr txBox="1">
              <a:spLocks noChangeArrowheads="1"/>
            </p:cNvSpPr>
            <p:nvPr/>
          </p:nvSpPr>
          <p:spPr bwMode="auto">
            <a:xfrm>
              <a:off x="12676" y="6629"/>
              <a:ext cx="641"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4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9" name="Line 302">
              <a:extLst>
                <a:ext uri="{FF2B5EF4-FFF2-40B4-BE49-F238E27FC236}">
                  <a16:creationId xmlns:a16="http://schemas.microsoft.com/office/drawing/2014/main" id="{B2BCEDE5-0594-4288-A713-BA655950C106}"/>
                </a:ext>
              </a:extLst>
            </p:cNvPr>
            <p:cNvCxnSpPr>
              <a:cxnSpLocks noChangeAspect="1" noChangeShapeType="1"/>
            </p:cNvCxnSpPr>
            <p:nvPr/>
          </p:nvCxnSpPr>
          <p:spPr bwMode="auto">
            <a:xfrm flipV="1">
              <a:off x="3288" y="5431"/>
              <a:ext cx="0" cy="2692"/>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0" name="Line 303">
              <a:extLst>
                <a:ext uri="{FF2B5EF4-FFF2-40B4-BE49-F238E27FC236}">
                  <a16:creationId xmlns:a16="http://schemas.microsoft.com/office/drawing/2014/main" id="{D657CBE5-9A80-499C-8BEC-323307D55A9F}"/>
                </a:ext>
              </a:extLst>
            </p:cNvPr>
            <p:cNvCxnSpPr>
              <a:cxnSpLocks noChangeAspect="1" noChangeShapeType="1"/>
            </p:cNvCxnSpPr>
            <p:nvPr/>
          </p:nvCxnSpPr>
          <p:spPr bwMode="auto">
            <a:xfrm rot="7200000" flipV="1">
              <a:off x="4484" y="4807"/>
              <a:ext cx="2" cy="2692"/>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1" name="Line 304">
              <a:extLst>
                <a:ext uri="{FF2B5EF4-FFF2-40B4-BE49-F238E27FC236}">
                  <a16:creationId xmlns:a16="http://schemas.microsoft.com/office/drawing/2014/main" id="{6E150DFB-0C9C-4C02-843F-BA733614ED97}"/>
                </a:ext>
              </a:extLst>
            </p:cNvPr>
            <p:cNvCxnSpPr>
              <a:cxnSpLocks noChangeAspect="1" noChangeShapeType="1"/>
            </p:cNvCxnSpPr>
            <p:nvPr/>
          </p:nvCxnSpPr>
          <p:spPr bwMode="auto">
            <a:xfrm rot="14400000" flipV="1">
              <a:off x="4452" y="6137"/>
              <a:ext cx="2" cy="2692"/>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32" name="Text Box 305">
              <a:extLst>
                <a:ext uri="{FF2B5EF4-FFF2-40B4-BE49-F238E27FC236}">
                  <a16:creationId xmlns:a16="http://schemas.microsoft.com/office/drawing/2014/main" id="{2A63812D-707C-49FA-9CE0-E431BBFFE6D4}"/>
                </a:ext>
              </a:extLst>
            </p:cNvPr>
            <p:cNvSpPr txBox="1">
              <a:spLocks noChangeArrowheads="1"/>
            </p:cNvSpPr>
            <p:nvPr/>
          </p:nvSpPr>
          <p:spPr bwMode="auto">
            <a:xfrm>
              <a:off x="1727" y="7146"/>
              <a:ext cx="1019"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28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BR</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Text Box 306">
              <a:extLst>
                <a:ext uri="{FF2B5EF4-FFF2-40B4-BE49-F238E27FC236}">
                  <a16:creationId xmlns:a16="http://schemas.microsoft.com/office/drawing/2014/main" id="{0DBF4A5F-85DA-4D70-8E41-6D783661DC88}"/>
                </a:ext>
              </a:extLst>
            </p:cNvPr>
            <p:cNvSpPr txBox="1">
              <a:spLocks noChangeArrowheads="1"/>
            </p:cNvSpPr>
            <p:nvPr/>
          </p:nvSpPr>
          <p:spPr bwMode="auto">
            <a:xfrm>
              <a:off x="4187" y="4626"/>
              <a:ext cx="1064"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28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RY</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4" name="Text Box 307">
              <a:extLst>
                <a:ext uri="{FF2B5EF4-FFF2-40B4-BE49-F238E27FC236}">
                  <a16:creationId xmlns:a16="http://schemas.microsoft.com/office/drawing/2014/main" id="{E927662C-689E-4D3A-98D7-EA8A974A1B90}"/>
                </a:ext>
              </a:extLst>
            </p:cNvPr>
            <p:cNvSpPr txBox="1">
              <a:spLocks noChangeArrowheads="1"/>
            </p:cNvSpPr>
            <p:nvPr/>
          </p:nvSpPr>
          <p:spPr bwMode="auto">
            <a:xfrm>
              <a:off x="5146" y="7602"/>
              <a:ext cx="993" cy="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28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YB</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5" name="Group 34">
              <a:extLst>
                <a:ext uri="{FF2B5EF4-FFF2-40B4-BE49-F238E27FC236}">
                  <a16:creationId xmlns:a16="http://schemas.microsoft.com/office/drawing/2014/main" id="{7CDA129E-0D23-49EB-BF55-6FD68618070A}"/>
                </a:ext>
              </a:extLst>
            </p:cNvPr>
            <p:cNvGrpSpPr>
              <a:grpSpLocks noChangeAspect="1"/>
            </p:cNvGrpSpPr>
            <p:nvPr/>
          </p:nvGrpSpPr>
          <p:grpSpPr bwMode="auto">
            <a:xfrm>
              <a:off x="2920" y="7140"/>
              <a:ext cx="646" cy="647"/>
              <a:chOff x="8858" y="9998"/>
              <a:chExt cx="600" cy="600"/>
            </a:xfrm>
          </p:grpSpPr>
          <p:sp>
            <p:nvSpPr>
              <p:cNvPr id="61" name="Oval 60">
                <a:extLst>
                  <a:ext uri="{FF2B5EF4-FFF2-40B4-BE49-F238E27FC236}">
                    <a16:creationId xmlns:a16="http://schemas.microsoft.com/office/drawing/2014/main" id="{FA28B631-A496-408A-9E24-98F279E64774}"/>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grpSp>
            <p:nvGrpSpPr>
              <p:cNvPr id="62" name="Group 61">
                <a:extLst>
                  <a:ext uri="{FF2B5EF4-FFF2-40B4-BE49-F238E27FC236}">
                    <a16:creationId xmlns:a16="http://schemas.microsoft.com/office/drawing/2014/main" id="{8FC2406B-9A4B-4E73-BA1F-E0BD37772C3D}"/>
                  </a:ext>
                </a:extLst>
              </p:cNvPr>
              <p:cNvGrpSpPr>
                <a:grpSpLocks noChangeAspect="1"/>
              </p:cNvGrpSpPr>
              <p:nvPr/>
            </p:nvGrpSpPr>
            <p:grpSpPr bwMode="auto">
              <a:xfrm>
                <a:off x="8974" y="10146"/>
                <a:ext cx="362" cy="272"/>
                <a:chOff x="4778" y="6098"/>
                <a:chExt cx="2880" cy="1440"/>
              </a:xfrm>
            </p:grpSpPr>
            <p:sp>
              <p:nvSpPr>
                <p:cNvPr id="63" name="Arc 311">
                  <a:extLst>
                    <a:ext uri="{FF2B5EF4-FFF2-40B4-BE49-F238E27FC236}">
                      <a16:creationId xmlns:a16="http://schemas.microsoft.com/office/drawing/2014/main" id="{9914CCA9-9DF4-463D-9000-CA317A370255}"/>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sp>
              <p:nvSpPr>
                <p:cNvPr id="64" name="Arc 312">
                  <a:extLst>
                    <a:ext uri="{FF2B5EF4-FFF2-40B4-BE49-F238E27FC236}">
                      <a16:creationId xmlns:a16="http://schemas.microsoft.com/office/drawing/2014/main" id="{484242E9-5D94-4B55-9238-26534A8FAD0F}"/>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grpSp>
        </p:grpSp>
        <p:grpSp>
          <p:nvGrpSpPr>
            <p:cNvPr id="36" name="Group 35">
              <a:extLst>
                <a:ext uri="{FF2B5EF4-FFF2-40B4-BE49-F238E27FC236}">
                  <a16:creationId xmlns:a16="http://schemas.microsoft.com/office/drawing/2014/main" id="{D19E6217-36BC-4CD3-AC17-2D7EA6BD0110}"/>
                </a:ext>
              </a:extLst>
            </p:cNvPr>
            <p:cNvGrpSpPr>
              <a:grpSpLocks noChangeAspect="1"/>
            </p:cNvGrpSpPr>
            <p:nvPr/>
          </p:nvGrpSpPr>
          <p:grpSpPr bwMode="auto">
            <a:xfrm>
              <a:off x="3529" y="5458"/>
              <a:ext cx="646" cy="646"/>
              <a:chOff x="8858" y="9998"/>
              <a:chExt cx="600" cy="600"/>
            </a:xfrm>
          </p:grpSpPr>
          <p:sp>
            <p:nvSpPr>
              <p:cNvPr id="57" name="Oval 56">
                <a:extLst>
                  <a:ext uri="{FF2B5EF4-FFF2-40B4-BE49-F238E27FC236}">
                    <a16:creationId xmlns:a16="http://schemas.microsoft.com/office/drawing/2014/main" id="{A69939F1-0C5A-4AE0-BF31-D97F8E6EC3B7}"/>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grpSp>
            <p:nvGrpSpPr>
              <p:cNvPr id="58" name="Group 57">
                <a:extLst>
                  <a:ext uri="{FF2B5EF4-FFF2-40B4-BE49-F238E27FC236}">
                    <a16:creationId xmlns:a16="http://schemas.microsoft.com/office/drawing/2014/main" id="{56D525D2-01DD-4A37-967B-14FA12F7CAC6}"/>
                  </a:ext>
                </a:extLst>
              </p:cNvPr>
              <p:cNvGrpSpPr>
                <a:grpSpLocks noChangeAspect="1"/>
              </p:cNvGrpSpPr>
              <p:nvPr/>
            </p:nvGrpSpPr>
            <p:grpSpPr bwMode="auto">
              <a:xfrm>
                <a:off x="8974" y="10146"/>
                <a:ext cx="362" cy="272"/>
                <a:chOff x="4778" y="6098"/>
                <a:chExt cx="2880" cy="1440"/>
              </a:xfrm>
            </p:grpSpPr>
            <p:sp>
              <p:nvSpPr>
                <p:cNvPr id="59" name="Arc 316">
                  <a:extLst>
                    <a:ext uri="{FF2B5EF4-FFF2-40B4-BE49-F238E27FC236}">
                      <a16:creationId xmlns:a16="http://schemas.microsoft.com/office/drawing/2014/main" id="{C6374F45-B0DE-40FF-96A9-780D4FF13F1D}"/>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sp>
              <p:nvSpPr>
                <p:cNvPr id="60" name="Arc 317">
                  <a:extLst>
                    <a:ext uri="{FF2B5EF4-FFF2-40B4-BE49-F238E27FC236}">
                      <a16:creationId xmlns:a16="http://schemas.microsoft.com/office/drawing/2014/main" id="{B33C2E9C-840E-4950-8ED0-B73134E9B686}"/>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grpSp>
        </p:grpSp>
        <p:grpSp>
          <p:nvGrpSpPr>
            <p:cNvPr id="37" name="Group 36">
              <a:extLst>
                <a:ext uri="{FF2B5EF4-FFF2-40B4-BE49-F238E27FC236}">
                  <a16:creationId xmlns:a16="http://schemas.microsoft.com/office/drawing/2014/main" id="{53C1D624-BCC8-4F5B-92DB-7B2B08B12C5A}"/>
                </a:ext>
              </a:extLst>
            </p:cNvPr>
            <p:cNvGrpSpPr>
              <a:grpSpLocks noChangeAspect="1"/>
            </p:cNvGrpSpPr>
            <p:nvPr/>
          </p:nvGrpSpPr>
          <p:grpSpPr bwMode="auto">
            <a:xfrm>
              <a:off x="4730" y="6825"/>
              <a:ext cx="647" cy="646"/>
              <a:chOff x="8858" y="9998"/>
              <a:chExt cx="600" cy="600"/>
            </a:xfrm>
          </p:grpSpPr>
          <p:sp>
            <p:nvSpPr>
              <p:cNvPr id="53" name="Oval 52">
                <a:extLst>
                  <a:ext uri="{FF2B5EF4-FFF2-40B4-BE49-F238E27FC236}">
                    <a16:creationId xmlns:a16="http://schemas.microsoft.com/office/drawing/2014/main" id="{0547592A-E07C-45E7-85EF-C5EDE482E454}"/>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grpSp>
            <p:nvGrpSpPr>
              <p:cNvPr id="54" name="Group 53">
                <a:extLst>
                  <a:ext uri="{FF2B5EF4-FFF2-40B4-BE49-F238E27FC236}">
                    <a16:creationId xmlns:a16="http://schemas.microsoft.com/office/drawing/2014/main" id="{648E0C79-6C92-460A-B036-A0F937AFB1E0}"/>
                  </a:ext>
                </a:extLst>
              </p:cNvPr>
              <p:cNvGrpSpPr>
                <a:grpSpLocks noChangeAspect="1"/>
              </p:cNvGrpSpPr>
              <p:nvPr/>
            </p:nvGrpSpPr>
            <p:grpSpPr bwMode="auto">
              <a:xfrm>
                <a:off x="8974" y="10146"/>
                <a:ext cx="362" cy="272"/>
                <a:chOff x="4778" y="6098"/>
                <a:chExt cx="2880" cy="1440"/>
              </a:xfrm>
            </p:grpSpPr>
            <p:sp>
              <p:nvSpPr>
                <p:cNvPr id="55" name="Arc 321">
                  <a:extLst>
                    <a:ext uri="{FF2B5EF4-FFF2-40B4-BE49-F238E27FC236}">
                      <a16:creationId xmlns:a16="http://schemas.microsoft.com/office/drawing/2014/main" id="{AF288B62-BD8C-4D35-A3B1-E593321E6D72}"/>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sp>
              <p:nvSpPr>
                <p:cNvPr id="56" name="Arc 322">
                  <a:extLst>
                    <a:ext uri="{FF2B5EF4-FFF2-40B4-BE49-F238E27FC236}">
                      <a16:creationId xmlns:a16="http://schemas.microsoft.com/office/drawing/2014/main" id="{7112B329-4438-415D-AD21-BFF70A240387}"/>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grpSp>
        </p:grpSp>
        <p:sp>
          <p:nvSpPr>
            <p:cNvPr id="38" name="Rectangle 37">
              <a:extLst>
                <a:ext uri="{FF2B5EF4-FFF2-40B4-BE49-F238E27FC236}">
                  <a16:creationId xmlns:a16="http://schemas.microsoft.com/office/drawing/2014/main" id="{51FE1327-BCC4-4C4C-A472-387E9389EC67}"/>
                </a:ext>
              </a:extLst>
            </p:cNvPr>
            <p:cNvSpPr>
              <a:spLocks noChangeAspect="1" noChangeArrowheads="1"/>
            </p:cNvSpPr>
            <p:nvPr/>
          </p:nvSpPr>
          <p:spPr bwMode="auto">
            <a:xfrm rot="10800000">
              <a:off x="3160" y="6184"/>
              <a:ext cx="231" cy="543"/>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a:p>
          </p:txBody>
        </p:sp>
        <p:sp>
          <p:nvSpPr>
            <p:cNvPr id="39" name="Rectangle 38">
              <a:extLst>
                <a:ext uri="{FF2B5EF4-FFF2-40B4-BE49-F238E27FC236}">
                  <a16:creationId xmlns:a16="http://schemas.microsoft.com/office/drawing/2014/main" id="{33F22C2E-64E4-44BD-9387-5597C2A560EB}"/>
                </a:ext>
              </a:extLst>
            </p:cNvPr>
            <p:cNvSpPr>
              <a:spLocks noChangeAspect="1" noChangeArrowheads="1"/>
            </p:cNvSpPr>
            <p:nvPr/>
          </p:nvSpPr>
          <p:spPr bwMode="auto">
            <a:xfrm rot="25200000">
              <a:off x="4090" y="7369"/>
              <a:ext cx="231" cy="544"/>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a:p>
          </p:txBody>
        </p:sp>
        <p:sp>
          <p:nvSpPr>
            <p:cNvPr id="40" name="Rectangle 39">
              <a:extLst>
                <a:ext uri="{FF2B5EF4-FFF2-40B4-BE49-F238E27FC236}">
                  <a16:creationId xmlns:a16="http://schemas.microsoft.com/office/drawing/2014/main" id="{C7ECD387-D050-42CE-A858-4C92A2C8551D}"/>
                </a:ext>
              </a:extLst>
            </p:cNvPr>
            <p:cNvSpPr>
              <a:spLocks noChangeAspect="1" noChangeArrowheads="1"/>
            </p:cNvSpPr>
            <p:nvPr/>
          </p:nvSpPr>
          <p:spPr bwMode="auto">
            <a:xfrm rot="7200000" flipV="1">
              <a:off x="4625" y="6055"/>
              <a:ext cx="231" cy="543"/>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a:p>
          </p:txBody>
        </p:sp>
        <p:cxnSp>
          <p:nvCxnSpPr>
            <p:cNvPr id="41" name="Line 326">
              <a:extLst>
                <a:ext uri="{FF2B5EF4-FFF2-40B4-BE49-F238E27FC236}">
                  <a16:creationId xmlns:a16="http://schemas.microsoft.com/office/drawing/2014/main" id="{9861E1B6-7888-469E-B12F-DAA85DFAE7B4}"/>
                </a:ext>
              </a:extLst>
            </p:cNvPr>
            <p:cNvCxnSpPr>
              <a:cxnSpLocks noChangeAspect="1" noChangeShapeType="1"/>
            </p:cNvCxnSpPr>
            <p:nvPr/>
          </p:nvCxnSpPr>
          <p:spPr bwMode="auto">
            <a:xfrm rot="10800000">
              <a:off x="2706" y="7146"/>
              <a:ext cx="0" cy="614"/>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42" name="Line 327">
              <a:extLst>
                <a:ext uri="{FF2B5EF4-FFF2-40B4-BE49-F238E27FC236}">
                  <a16:creationId xmlns:a16="http://schemas.microsoft.com/office/drawing/2014/main" id="{18832699-FEE9-4C73-99CB-649EA1B74A7C}"/>
                </a:ext>
              </a:extLst>
            </p:cNvPr>
            <p:cNvCxnSpPr>
              <a:cxnSpLocks noChangeAspect="1" noChangeShapeType="1"/>
            </p:cNvCxnSpPr>
            <p:nvPr/>
          </p:nvCxnSpPr>
          <p:spPr bwMode="auto">
            <a:xfrm rot="25200000">
              <a:off x="5283" y="7298"/>
              <a:ext cx="0" cy="614"/>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43" name="Line 328">
              <a:extLst>
                <a:ext uri="{FF2B5EF4-FFF2-40B4-BE49-F238E27FC236}">
                  <a16:creationId xmlns:a16="http://schemas.microsoft.com/office/drawing/2014/main" id="{0007F6A6-2D71-421A-9C00-47B428E5923F}"/>
                </a:ext>
              </a:extLst>
            </p:cNvPr>
            <p:cNvCxnSpPr>
              <a:cxnSpLocks noChangeAspect="1" noChangeShapeType="1"/>
            </p:cNvCxnSpPr>
            <p:nvPr/>
          </p:nvCxnSpPr>
          <p:spPr bwMode="auto">
            <a:xfrm rot="7200000" flipV="1">
              <a:off x="4242" y="5102"/>
              <a:ext cx="0" cy="615"/>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sp>
          <p:nvSpPr>
            <p:cNvPr id="44" name="Text Box 329">
              <a:extLst>
                <a:ext uri="{FF2B5EF4-FFF2-40B4-BE49-F238E27FC236}">
                  <a16:creationId xmlns:a16="http://schemas.microsoft.com/office/drawing/2014/main" id="{E42EAFEC-6961-4184-A817-4A6B098EB446}"/>
                </a:ext>
              </a:extLst>
            </p:cNvPr>
            <p:cNvSpPr txBox="1">
              <a:spLocks noChangeArrowheads="1"/>
            </p:cNvSpPr>
            <p:nvPr/>
          </p:nvSpPr>
          <p:spPr bwMode="auto">
            <a:xfrm>
              <a:off x="2706" y="6077"/>
              <a:ext cx="641"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5" name="Text Box 330">
              <a:extLst>
                <a:ext uri="{FF2B5EF4-FFF2-40B4-BE49-F238E27FC236}">
                  <a16:creationId xmlns:a16="http://schemas.microsoft.com/office/drawing/2014/main" id="{8405B8BB-444C-4987-AC62-D6323A5F208B}"/>
                </a:ext>
              </a:extLst>
            </p:cNvPr>
            <p:cNvSpPr txBox="1">
              <a:spLocks noChangeArrowheads="1"/>
            </p:cNvSpPr>
            <p:nvPr/>
          </p:nvSpPr>
          <p:spPr bwMode="auto">
            <a:xfrm>
              <a:off x="4789" y="5650"/>
              <a:ext cx="641"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6" name="Text Box 331">
              <a:extLst>
                <a:ext uri="{FF2B5EF4-FFF2-40B4-BE49-F238E27FC236}">
                  <a16:creationId xmlns:a16="http://schemas.microsoft.com/office/drawing/2014/main" id="{2B7F368B-92F8-42A9-A265-5C0A11E35F28}"/>
                </a:ext>
              </a:extLst>
            </p:cNvPr>
            <p:cNvSpPr txBox="1">
              <a:spLocks noChangeArrowheads="1"/>
            </p:cNvSpPr>
            <p:nvPr/>
          </p:nvSpPr>
          <p:spPr bwMode="auto">
            <a:xfrm>
              <a:off x="4282" y="7578"/>
              <a:ext cx="641" cy="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28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47" name="Line 332">
              <a:extLst>
                <a:ext uri="{FF2B5EF4-FFF2-40B4-BE49-F238E27FC236}">
                  <a16:creationId xmlns:a16="http://schemas.microsoft.com/office/drawing/2014/main" id="{98295CE9-4C32-4C59-BD50-449A883CF16F}"/>
                </a:ext>
              </a:extLst>
            </p:cNvPr>
            <p:cNvCxnSpPr>
              <a:cxnSpLocks noChangeShapeType="1"/>
            </p:cNvCxnSpPr>
            <p:nvPr/>
          </p:nvCxnSpPr>
          <p:spPr bwMode="auto">
            <a:xfrm>
              <a:off x="3283" y="4578"/>
              <a:ext cx="0" cy="913"/>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48" name="Line 333">
              <a:extLst>
                <a:ext uri="{FF2B5EF4-FFF2-40B4-BE49-F238E27FC236}">
                  <a16:creationId xmlns:a16="http://schemas.microsoft.com/office/drawing/2014/main" id="{3C235E26-055D-46AA-8B28-14D8025EAD89}"/>
                </a:ext>
              </a:extLst>
            </p:cNvPr>
            <p:cNvCxnSpPr>
              <a:cxnSpLocks noChangeShapeType="1"/>
            </p:cNvCxnSpPr>
            <p:nvPr/>
          </p:nvCxnSpPr>
          <p:spPr bwMode="auto">
            <a:xfrm>
              <a:off x="3283" y="8100"/>
              <a:ext cx="0" cy="50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49" name="Line 334">
              <a:extLst>
                <a:ext uri="{FF2B5EF4-FFF2-40B4-BE49-F238E27FC236}">
                  <a16:creationId xmlns:a16="http://schemas.microsoft.com/office/drawing/2014/main" id="{E6C48F72-158D-4552-93ED-077EE32FBB4A}"/>
                </a:ext>
              </a:extLst>
            </p:cNvPr>
            <p:cNvCxnSpPr>
              <a:cxnSpLocks noChangeShapeType="1"/>
            </p:cNvCxnSpPr>
            <p:nvPr/>
          </p:nvCxnSpPr>
          <p:spPr bwMode="auto">
            <a:xfrm>
              <a:off x="5617" y="6781"/>
              <a:ext cx="406"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50" name="Line 335">
              <a:extLst>
                <a:ext uri="{FF2B5EF4-FFF2-40B4-BE49-F238E27FC236}">
                  <a16:creationId xmlns:a16="http://schemas.microsoft.com/office/drawing/2014/main" id="{6ED7F881-DF3C-4C47-8F3B-6C3102C2F736}"/>
                </a:ext>
              </a:extLst>
            </p:cNvPr>
            <p:cNvCxnSpPr>
              <a:cxnSpLocks noChangeShapeType="1"/>
            </p:cNvCxnSpPr>
            <p:nvPr/>
          </p:nvCxnSpPr>
          <p:spPr bwMode="auto">
            <a:xfrm>
              <a:off x="6023" y="6781"/>
              <a:ext cx="0" cy="1624"/>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51" name="Line 336">
              <a:extLst>
                <a:ext uri="{FF2B5EF4-FFF2-40B4-BE49-F238E27FC236}">
                  <a16:creationId xmlns:a16="http://schemas.microsoft.com/office/drawing/2014/main" id="{A5CB3F1D-BAFC-41FD-B4FF-33A8019DC0C1}"/>
                </a:ext>
              </a:extLst>
            </p:cNvPr>
            <p:cNvCxnSpPr>
              <a:cxnSpLocks noChangeShapeType="1"/>
            </p:cNvCxnSpPr>
            <p:nvPr/>
          </p:nvCxnSpPr>
          <p:spPr bwMode="auto">
            <a:xfrm>
              <a:off x="6023" y="8770"/>
              <a:ext cx="0" cy="50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52" name="Arc 337">
              <a:extLst>
                <a:ext uri="{FF2B5EF4-FFF2-40B4-BE49-F238E27FC236}">
                  <a16:creationId xmlns:a16="http://schemas.microsoft.com/office/drawing/2014/main" id="{8E17CF0A-7AA7-4894-8871-A4A9E2D3E966}"/>
                </a:ext>
              </a:extLst>
            </p:cNvPr>
            <p:cNvSpPr>
              <a:spLocks noChangeAspect="1"/>
            </p:cNvSpPr>
            <p:nvPr/>
          </p:nvSpPr>
          <p:spPr bwMode="auto">
            <a:xfrm>
              <a:off x="6023" y="8405"/>
              <a:ext cx="203" cy="405"/>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spTree>
    <p:extLst>
      <p:ext uri="{BB962C8B-B14F-4D97-AF65-F5344CB8AC3E}">
        <p14:creationId xmlns:p14="http://schemas.microsoft.com/office/powerpoint/2010/main" val="2027334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490165"/>
            <a:ext cx="10924085" cy="482745"/>
          </a:xfrm>
        </p:spPr>
        <p:txBody>
          <a:bodyPr>
            <a:normAutofit fontScale="90000"/>
          </a:bodyPr>
          <a:lstStyle/>
          <a:p>
            <a:pPr algn="l"/>
            <a:r>
              <a:rPr lang="en-GB" dirty="0"/>
              <a:t>(c) Delta connected supply feeding a delta connected load</a:t>
            </a:r>
          </a:p>
        </p:txBody>
      </p:sp>
      <p:grpSp>
        <p:nvGrpSpPr>
          <p:cNvPr id="3" name="Group 2">
            <a:extLst>
              <a:ext uri="{FF2B5EF4-FFF2-40B4-BE49-F238E27FC236}">
                <a16:creationId xmlns:a16="http://schemas.microsoft.com/office/drawing/2014/main" id="{708BD666-04BF-42FD-8B78-B04E245398CB}"/>
              </a:ext>
            </a:extLst>
          </p:cNvPr>
          <p:cNvGrpSpPr>
            <a:grpSpLocks noChangeAspect="1"/>
          </p:cNvGrpSpPr>
          <p:nvPr/>
        </p:nvGrpSpPr>
        <p:grpSpPr bwMode="auto">
          <a:xfrm>
            <a:off x="582672" y="1040735"/>
            <a:ext cx="11112269" cy="3767139"/>
            <a:chOff x="2201" y="1440"/>
            <a:chExt cx="17243" cy="6486"/>
          </a:xfrm>
        </p:grpSpPr>
        <p:sp>
          <p:nvSpPr>
            <p:cNvPr id="4" name="Text Box 339">
              <a:extLst>
                <a:ext uri="{FF2B5EF4-FFF2-40B4-BE49-F238E27FC236}">
                  <a16:creationId xmlns:a16="http://schemas.microsoft.com/office/drawing/2014/main" id="{51B6B7BD-F4A2-4710-B2FF-8E14F7A7B0BD}"/>
                </a:ext>
              </a:extLst>
            </p:cNvPr>
            <p:cNvSpPr txBox="1">
              <a:spLocks noChangeArrowheads="1"/>
            </p:cNvSpPr>
            <p:nvPr/>
          </p:nvSpPr>
          <p:spPr bwMode="auto">
            <a:xfrm>
              <a:off x="2201" y="6855"/>
              <a:ext cx="17243" cy="1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Figure 12 - Delta connected supply feeding a delta connected load</a:t>
              </a:r>
              <a:endParaRPr lang="en-GB"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0E243ACC-3E53-44FB-A272-458A088D95BE}"/>
                </a:ext>
              </a:extLst>
            </p:cNvPr>
            <p:cNvSpPr>
              <a:spLocks noChangeArrowheads="1"/>
            </p:cNvSpPr>
            <p:nvPr/>
          </p:nvSpPr>
          <p:spPr bwMode="auto">
            <a:xfrm rot="5400000">
              <a:off x="9228" y="1112"/>
              <a:ext cx="298" cy="954"/>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6" name="Line 341">
              <a:extLst>
                <a:ext uri="{FF2B5EF4-FFF2-40B4-BE49-F238E27FC236}">
                  <a16:creationId xmlns:a16="http://schemas.microsoft.com/office/drawing/2014/main" id="{8DE71418-CF99-4630-9EDD-BC67B4DCDB6C}"/>
                </a:ext>
              </a:extLst>
            </p:cNvPr>
            <p:cNvCxnSpPr>
              <a:cxnSpLocks noChangeShapeType="1"/>
            </p:cNvCxnSpPr>
            <p:nvPr/>
          </p:nvCxnSpPr>
          <p:spPr bwMode="auto">
            <a:xfrm rot="5400000">
              <a:off x="12220" y="-779"/>
              <a:ext cx="0" cy="473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7" name="Line 342">
              <a:extLst>
                <a:ext uri="{FF2B5EF4-FFF2-40B4-BE49-F238E27FC236}">
                  <a16:creationId xmlns:a16="http://schemas.microsoft.com/office/drawing/2014/main" id="{9718B0EE-73B4-4C3A-BA7C-87F083E04A72}"/>
                </a:ext>
              </a:extLst>
            </p:cNvPr>
            <p:cNvCxnSpPr>
              <a:cxnSpLocks noChangeShapeType="1"/>
            </p:cNvCxnSpPr>
            <p:nvPr/>
          </p:nvCxnSpPr>
          <p:spPr bwMode="auto">
            <a:xfrm rot="5400000">
              <a:off x="6776" y="-523"/>
              <a:ext cx="0" cy="4219"/>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8" name="Line 343">
              <a:extLst>
                <a:ext uri="{FF2B5EF4-FFF2-40B4-BE49-F238E27FC236}">
                  <a16:creationId xmlns:a16="http://schemas.microsoft.com/office/drawing/2014/main" id="{0A1942EE-8960-42D8-B1BF-8BCE5ED91F67}"/>
                </a:ext>
              </a:extLst>
            </p:cNvPr>
            <p:cNvCxnSpPr>
              <a:cxnSpLocks noChangeShapeType="1"/>
            </p:cNvCxnSpPr>
            <p:nvPr/>
          </p:nvCxnSpPr>
          <p:spPr bwMode="auto">
            <a:xfrm rot="5400000">
              <a:off x="11198" y="4460"/>
              <a:ext cx="0" cy="2688"/>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9" name="Line 344">
              <a:extLst>
                <a:ext uri="{FF2B5EF4-FFF2-40B4-BE49-F238E27FC236}">
                  <a16:creationId xmlns:a16="http://schemas.microsoft.com/office/drawing/2014/main" id="{A142F89B-5E60-47F6-97E8-EA45BC2DB64A}"/>
                </a:ext>
              </a:extLst>
            </p:cNvPr>
            <p:cNvCxnSpPr>
              <a:cxnSpLocks noChangeShapeType="1"/>
            </p:cNvCxnSpPr>
            <p:nvPr/>
          </p:nvCxnSpPr>
          <p:spPr bwMode="auto">
            <a:xfrm rot="5400000">
              <a:off x="6776" y="3694"/>
              <a:ext cx="0" cy="4219"/>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0" name="Line 345">
              <a:extLst>
                <a:ext uri="{FF2B5EF4-FFF2-40B4-BE49-F238E27FC236}">
                  <a16:creationId xmlns:a16="http://schemas.microsoft.com/office/drawing/2014/main" id="{43D8CA05-EDD7-4D83-88D0-46B040276DDE}"/>
                </a:ext>
              </a:extLst>
            </p:cNvPr>
            <p:cNvCxnSpPr>
              <a:cxnSpLocks noChangeShapeType="1"/>
            </p:cNvCxnSpPr>
            <p:nvPr/>
          </p:nvCxnSpPr>
          <p:spPr bwMode="auto">
            <a:xfrm rot="5400000">
              <a:off x="13241" y="3145"/>
              <a:ext cx="0" cy="6774"/>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1" name="Line 346">
              <a:extLst>
                <a:ext uri="{FF2B5EF4-FFF2-40B4-BE49-F238E27FC236}">
                  <a16:creationId xmlns:a16="http://schemas.microsoft.com/office/drawing/2014/main" id="{F3988DA4-2D9D-4119-9568-FEA0E68A2269}"/>
                </a:ext>
              </a:extLst>
            </p:cNvPr>
            <p:cNvCxnSpPr>
              <a:cxnSpLocks noChangeShapeType="1"/>
            </p:cNvCxnSpPr>
            <p:nvPr/>
          </p:nvCxnSpPr>
          <p:spPr bwMode="auto">
            <a:xfrm rot="5400000">
              <a:off x="8232" y="5877"/>
              <a:ext cx="0" cy="131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2" name="Text Box 347">
              <a:extLst>
                <a:ext uri="{FF2B5EF4-FFF2-40B4-BE49-F238E27FC236}">
                  <a16:creationId xmlns:a16="http://schemas.microsoft.com/office/drawing/2014/main" id="{F0A67FB4-3CAE-4BDF-94F5-9F73612EEF97}"/>
                </a:ext>
              </a:extLst>
            </p:cNvPr>
            <p:cNvSpPr txBox="1">
              <a:spLocks noChangeArrowheads="1"/>
            </p:cNvSpPr>
            <p:nvPr/>
          </p:nvSpPr>
          <p:spPr bwMode="auto">
            <a:xfrm>
              <a:off x="8886" y="1655"/>
              <a:ext cx="895"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0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 Box 348">
              <a:extLst>
                <a:ext uri="{FF2B5EF4-FFF2-40B4-BE49-F238E27FC236}">
                  <a16:creationId xmlns:a16="http://schemas.microsoft.com/office/drawing/2014/main" id="{AAC90F56-7A58-476B-AB2A-DE4A54614C8A}"/>
                </a:ext>
              </a:extLst>
            </p:cNvPr>
            <p:cNvSpPr txBox="1">
              <a:spLocks noChangeArrowheads="1"/>
            </p:cNvSpPr>
            <p:nvPr/>
          </p:nvSpPr>
          <p:spPr bwMode="auto">
            <a:xfrm>
              <a:off x="8886" y="4954"/>
              <a:ext cx="895"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0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Box 349">
              <a:extLst>
                <a:ext uri="{FF2B5EF4-FFF2-40B4-BE49-F238E27FC236}">
                  <a16:creationId xmlns:a16="http://schemas.microsoft.com/office/drawing/2014/main" id="{44AE7F1F-20D8-4AD0-B440-D8233A69F290}"/>
                </a:ext>
              </a:extLst>
            </p:cNvPr>
            <p:cNvSpPr txBox="1">
              <a:spLocks noChangeArrowheads="1"/>
            </p:cNvSpPr>
            <p:nvPr/>
          </p:nvSpPr>
          <p:spPr bwMode="auto">
            <a:xfrm>
              <a:off x="8886" y="5770"/>
              <a:ext cx="895"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0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9B58BFCA-47F6-4B1B-9C46-01DD732E8CAF}"/>
                </a:ext>
              </a:extLst>
            </p:cNvPr>
            <p:cNvSpPr>
              <a:spLocks noChangeArrowheads="1"/>
            </p:cNvSpPr>
            <p:nvPr/>
          </p:nvSpPr>
          <p:spPr bwMode="auto">
            <a:xfrm rot="5400000">
              <a:off x="9228" y="5326"/>
              <a:ext cx="298" cy="954"/>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6" name="Rectangle 15">
              <a:extLst>
                <a:ext uri="{FF2B5EF4-FFF2-40B4-BE49-F238E27FC236}">
                  <a16:creationId xmlns:a16="http://schemas.microsoft.com/office/drawing/2014/main" id="{50F77190-E197-4496-9657-F5382610F8DD}"/>
                </a:ext>
              </a:extLst>
            </p:cNvPr>
            <p:cNvSpPr>
              <a:spLocks noChangeArrowheads="1"/>
            </p:cNvSpPr>
            <p:nvPr/>
          </p:nvSpPr>
          <p:spPr bwMode="auto">
            <a:xfrm rot="5400000">
              <a:off x="9215" y="6045"/>
              <a:ext cx="298" cy="955"/>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17" name="Line 352">
              <a:extLst>
                <a:ext uri="{FF2B5EF4-FFF2-40B4-BE49-F238E27FC236}">
                  <a16:creationId xmlns:a16="http://schemas.microsoft.com/office/drawing/2014/main" id="{AD9FD9D3-BAC1-472E-B0D7-E203D57E0F38}"/>
                </a:ext>
              </a:extLst>
            </p:cNvPr>
            <p:cNvCxnSpPr>
              <a:cxnSpLocks noChangeShapeType="1"/>
            </p:cNvCxnSpPr>
            <p:nvPr/>
          </p:nvCxnSpPr>
          <p:spPr bwMode="auto">
            <a:xfrm>
              <a:off x="14585" y="1587"/>
              <a:ext cx="0" cy="323"/>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8" name="Line 353">
              <a:extLst>
                <a:ext uri="{FF2B5EF4-FFF2-40B4-BE49-F238E27FC236}">
                  <a16:creationId xmlns:a16="http://schemas.microsoft.com/office/drawing/2014/main" id="{F0D86164-85F2-4783-8DDD-74D16996E547}"/>
                </a:ext>
              </a:extLst>
            </p:cNvPr>
            <p:cNvCxnSpPr>
              <a:cxnSpLocks noChangeShapeType="1"/>
            </p:cNvCxnSpPr>
            <p:nvPr/>
          </p:nvCxnSpPr>
          <p:spPr bwMode="auto">
            <a:xfrm>
              <a:off x="12542" y="5254"/>
              <a:ext cx="0" cy="53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9" name="Line 354">
              <a:extLst>
                <a:ext uri="{FF2B5EF4-FFF2-40B4-BE49-F238E27FC236}">
                  <a16:creationId xmlns:a16="http://schemas.microsoft.com/office/drawing/2014/main" id="{1925A71D-31AB-4AA3-AB3F-FB3D7A211A1C}"/>
                </a:ext>
              </a:extLst>
            </p:cNvPr>
            <p:cNvCxnSpPr>
              <a:cxnSpLocks noChangeShapeType="1"/>
            </p:cNvCxnSpPr>
            <p:nvPr/>
          </p:nvCxnSpPr>
          <p:spPr bwMode="auto">
            <a:xfrm>
              <a:off x="16628" y="5457"/>
              <a:ext cx="0" cy="1075"/>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0" name="Line 355">
              <a:extLst>
                <a:ext uri="{FF2B5EF4-FFF2-40B4-BE49-F238E27FC236}">
                  <a16:creationId xmlns:a16="http://schemas.microsoft.com/office/drawing/2014/main" id="{3582DC40-7955-4A15-A3BE-5E7F7DC5370D}"/>
                </a:ext>
              </a:extLst>
            </p:cNvPr>
            <p:cNvCxnSpPr>
              <a:cxnSpLocks noChangeAspect="1" noChangeShapeType="1"/>
            </p:cNvCxnSpPr>
            <p:nvPr/>
          </p:nvCxnSpPr>
          <p:spPr bwMode="auto">
            <a:xfrm flipV="1">
              <a:off x="4656" y="2490"/>
              <a:ext cx="0" cy="2852"/>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1" name="Line 356">
              <a:extLst>
                <a:ext uri="{FF2B5EF4-FFF2-40B4-BE49-F238E27FC236}">
                  <a16:creationId xmlns:a16="http://schemas.microsoft.com/office/drawing/2014/main" id="{2C66485F-4D55-40EE-ACC8-B1B7B64FADD3}"/>
                </a:ext>
              </a:extLst>
            </p:cNvPr>
            <p:cNvCxnSpPr>
              <a:cxnSpLocks noChangeAspect="1" noChangeShapeType="1"/>
            </p:cNvCxnSpPr>
            <p:nvPr/>
          </p:nvCxnSpPr>
          <p:spPr bwMode="auto">
            <a:xfrm rot="7200000" flipV="1">
              <a:off x="5922" y="1829"/>
              <a:ext cx="2" cy="2852"/>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2" name="Line 357">
              <a:extLst>
                <a:ext uri="{FF2B5EF4-FFF2-40B4-BE49-F238E27FC236}">
                  <a16:creationId xmlns:a16="http://schemas.microsoft.com/office/drawing/2014/main" id="{6EC9DEC8-0902-48D9-84EA-8C67D85E8725}"/>
                </a:ext>
              </a:extLst>
            </p:cNvPr>
            <p:cNvCxnSpPr>
              <a:cxnSpLocks noChangeAspect="1" noChangeShapeType="1"/>
            </p:cNvCxnSpPr>
            <p:nvPr/>
          </p:nvCxnSpPr>
          <p:spPr bwMode="auto">
            <a:xfrm rot="14400000" flipV="1">
              <a:off x="5888" y="3238"/>
              <a:ext cx="2" cy="2852"/>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23" name="Text Box 358">
              <a:extLst>
                <a:ext uri="{FF2B5EF4-FFF2-40B4-BE49-F238E27FC236}">
                  <a16:creationId xmlns:a16="http://schemas.microsoft.com/office/drawing/2014/main" id="{3DFC5EA9-3551-4612-B2D4-D85D51146BC8}"/>
                </a:ext>
              </a:extLst>
            </p:cNvPr>
            <p:cNvSpPr txBox="1">
              <a:spLocks noChangeArrowheads="1"/>
            </p:cNvSpPr>
            <p:nvPr/>
          </p:nvSpPr>
          <p:spPr bwMode="auto">
            <a:xfrm>
              <a:off x="3145" y="4307"/>
              <a:ext cx="894" cy="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0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4" name="Text Box 359">
              <a:extLst>
                <a:ext uri="{FF2B5EF4-FFF2-40B4-BE49-F238E27FC236}">
                  <a16:creationId xmlns:a16="http://schemas.microsoft.com/office/drawing/2014/main" id="{A4483F20-8A52-4501-9104-390653EB0A12}"/>
                </a:ext>
              </a:extLst>
            </p:cNvPr>
            <p:cNvSpPr txBox="1">
              <a:spLocks noChangeArrowheads="1"/>
            </p:cNvSpPr>
            <p:nvPr/>
          </p:nvSpPr>
          <p:spPr bwMode="auto">
            <a:xfrm>
              <a:off x="5397" y="1770"/>
              <a:ext cx="866"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0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RY</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Text Box 360">
              <a:extLst>
                <a:ext uri="{FF2B5EF4-FFF2-40B4-BE49-F238E27FC236}">
                  <a16:creationId xmlns:a16="http://schemas.microsoft.com/office/drawing/2014/main" id="{1F1C79A6-CF70-4A38-BB72-0232BAAB9AA0}"/>
                </a:ext>
              </a:extLst>
            </p:cNvPr>
            <p:cNvSpPr txBox="1">
              <a:spLocks noChangeArrowheads="1"/>
            </p:cNvSpPr>
            <p:nvPr/>
          </p:nvSpPr>
          <p:spPr bwMode="auto">
            <a:xfrm>
              <a:off x="6500" y="4963"/>
              <a:ext cx="945" cy="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0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YB</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26" name="Group 25">
              <a:extLst>
                <a:ext uri="{FF2B5EF4-FFF2-40B4-BE49-F238E27FC236}">
                  <a16:creationId xmlns:a16="http://schemas.microsoft.com/office/drawing/2014/main" id="{B4274E94-22A1-4098-8D25-841CCD0264DA}"/>
                </a:ext>
              </a:extLst>
            </p:cNvPr>
            <p:cNvGrpSpPr>
              <a:grpSpLocks noChangeAspect="1"/>
            </p:cNvGrpSpPr>
            <p:nvPr/>
          </p:nvGrpSpPr>
          <p:grpSpPr bwMode="auto">
            <a:xfrm>
              <a:off x="4265" y="4301"/>
              <a:ext cx="685" cy="684"/>
              <a:chOff x="8858" y="9998"/>
              <a:chExt cx="600" cy="600"/>
            </a:xfrm>
          </p:grpSpPr>
          <p:sp>
            <p:nvSpPr>
              <p:cNvPr id="64" name="Oval 63">
                <a:extLst>
                  <a:ext uri="{FF2B5EF4-FFF2-40B4-BE49-F238E27FC236}">
                    <a16:creationId xmlns:a16="http://schemas.microsoft.com/office/drawing/2014/main" id="{32FF979E-B064-4DA6-8D41-7D558812F209}"/>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grpSp>
            <p:nvGrpSpPr>
              <p:cNvPr id="65" name="Group 64">
                <a:extLst>
                  <a:ext uri="{FF2B5EF4-FFF2-40B4-BE49-F238E27FC236}">
                    <a16:creationId xmlns:a16="http://schemas.microsoft.com/office/drawing/2014/main" id="{A4010FB8-7D1E-446E-A7A1-88E95C9AA462}"/>
                  </a:ext>
                </a:extLst>
              </p:cNvPr>
              <p:cNvGrpSpPr>
                <a:grpSpLocks noChangeAspect="1"/>
              </p:cNvGrpSpPr>
              <p:nvPr/>
            </p:nvGrpSpPr>
            <p:grpSpPr bwMode="auto">
              <a:xfrm>
                <a:off x="8974" y="10146"/>
                <a:ext cx="362" cy="272"/>
                <a:chOff x="4778" y="6098"/>
                <a:chExt cx="2880" cy="1440"/>
              </a:xfrm>
            </p:grpSpPr>
            <p:sp>
              <p:nvSpPr>
                <p:cNvPr id="66" name="Arc 364">
                  <a:extLst>
                    <a:ext uri="{FF2B5EF4-FFF2-40B4-BE49-F238E27FC236}">
                      <a16:creationId xmlns:a16="http://schemas.microsoft.com/office/drawing/2014/main" id="{60E44AF2-971D-4B55-A57C-D39427F0789F}"/>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6"/>
                      </a:solidFill>
                    </a14:hiddenFill>
                  </a:ext>
                </a:extLst>
              </p:spPr>
              <p:txBody>
                <a:bodyPr rot="0" vert="horz" wrap="square" lIns="91440" tIns="45720" rIns="91440" bIns="45720" anchor="t" anchorCtr="0" upright="1">
                  <a:noAutofit/>
                </a:bodyPr>
                <a:lstStyle/>
                <a:p>
                  <a:endParaRPr lang="en-GB"/>
                </a:p>
              </p:txBody>
            </p:sp>
            <p:sp>
              <p:nvSpPr>
                <p:cNvPr id="67" name="Arc 365">
                  <a:extLst>
                    <a:ext uri="{FF2B5EF4-FFF2-40B4-BE49-F238E27FC236}">
                      <a16:creationId xmlns:a16="http://schemas.microsoft.com/office/drawing/2014/main" id="{EC3545FD-47B5-421A-9FD0-CED2481BF728}"/>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6"/>
                      </a:solidFill>
                    </a14:hiddenFill>
                  </a:ext>
                </a:extLst>
              </p:spPr>
              <p:txBody>
                <a:bodyPr rot="0" vert="horz" wrap="square" lIns="91440" tIns="45720" rIns="91440" bIns="45720" anchor="t" anchorCtr="0" upright="1">
                  <a:noAutofit/>
                </a:bodyPr>
                <a:lstStyle/>
                <a:p>
                  <a:endParaRPr lang="en-GB"/>
                </a:p>
              </p:txBody>
            </p:sp>
          </p:grpSp>
        </p:grpSp>
        <p:grpSp>
          <p:nvGrpSpPr>
            <p:cNvPr id="27" name="Group 26">
              <a:extLst>
                <a:ext uri="{FF2B5EF4-FFF2-40B4-BE49-F238E27FC236}">
                  <a16:creationId xmlns:a16="http://schemas.microsoft.com/office/drawing/2014/main" id="{2F6592D8-4E43-4861-8BB4-3A5C92AE762E}"/>
                </a:ext>
              </a:extLst>
            </p:cNvPr>
            <p:cNvGrpSpPr>
              <a:grpSpLocks noChangeAspect="1"/>
            </p:cNvGrpSpPr>
            <p:nvPr/>
          </p:nvGrpSpPr>
          <p:grpSpPr bwMode="auto">
            <a:xfrm>
              <a:off x="4910" y="2519"/>
              <a:ext cx="685" cy="684"/>
              <a:chOff x="8858" y="9998"/>
              <a:chExt cx="600" cy="600"/>
            </a:xfrm>
          </p:grpSpPr>
          <p:sp>
            <p:nvSpPr>
              <p:cNvPr id="60" name="Oval 59">
                <a:extLst>
                  <a:ext uri="{FF2B5EF4-FFF2-40B4-BE49-F238E27FC236}">
                    <a16:creationId xmlns:a16="http://schemas.microsoft.com/office/drawing/2014/main" id="{CDCD83BC-E1E5-4DE8-A54B-D7A8160F92E1}"/>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grpSp>
            <p:nvGrpSpPr>
              <p:cNvPr id="61" name="Group 60">
                <a:extLst>
                  <a:ext uri="{FF2B5EF4-FFF2-40B4-BE49-F238E27FC236}">
                    <a16:creationId xmlns:a16="http://schemas.microsoft.com/office/drawing/2014/main" id="{2F49C051-B93A-4C0C-AC14-C47DE7A0915E}"/>
                  </a:ext>
                </a:extLst>
              </p:cNvPr>
              <p:cNvGrpSpPr>
                <a:grpSpLocks noChangeAspect="1"/>
              </p:cNvGrpSpPr>
              <p:nvPr/>
            </p:nvGrpSpPr>
            <p:grpSpPr bwMode="auto">
              <a:xfrm>
                <a:off x="8974" y="10146"/>
                <a:ext cx="362" cy="272"/>
                <a:chOff x="4778" y="6098"/>
                <a:chExt cx="2880" cy="1440"/>
              </a:xfrm>
            </p:grpSpPr>
            <p:sp>
              <p:nvSpPr>
                <p:cNvPr id="62" name="Arc 369">
                  <a:extLst>
                    <a:ext uri="{FF2B5EF4-FFF2-40B4-BE49-F238E27FC236}">
                      <a16:creationId xmlns:a16="http://schemas.microsoft.com/office/drawing/2014/main" id="{58545DA0-3F9E-4859-8048-814222DA68C5}"/>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6"/>
                      </a:solidFill>
                    </a14:hiddenFill>
                  </a:ext>
                </a:extLst>
              </p:spPr>
              <p:txBody>
                <a:bodyPr rot="0" vert="horz" wrap="square" lIns="91440" tIns="45720" rIns="91440" bIns="45720" anchor="t" anchorCtr="0" upright="1">
                  <a:noAutofit/>
                </a:bodyPr>
                <a:lstStyle/>
                <a:p>
                  <a:endParaRPr lang="en-GB"/>
                </a:p>
              </p:txBody>
            </p:sp>
            <p:sp>
              <p:nvSpPr>
                <p:cNvPr id="63" name="Arc 370">
                  <a:extLst>
                    <a:ext uri="{FF2B5EF4-FFF2-40B4-BE49-F238E27FC236}">
                      <a16:creationId xmlns:a16="http://schemas.microsoft.com/office/drawing/2014/main" id="{A6CDBBA4-1DCE-45B1-A18F-10BB11DCC095}"/>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6"/>
                      </a:solidFill>
                    </a14:hiddenFill>
                  </a:ext>
                </a:extLst>
              </p:spPr>
              <p:txBody>
                <a:bodyPr rot="0" vert="horz" wrap="square" lIns="91440" tIns="45720" rIns="91440" bIns="45720" anchor="t" anchorCtr="0" upright="1">
                  <a:noAutofit/>
                </a:bodyPr>
                <a:lstStyle/>
                <a:p>
                  <a:endParaRPr lang="en-GB"/>
                </a:p>
              </p:txBody>
            </p:sp>
          </p:grpSp>
        </p:grpSp>
        <p:grpSp>
          <p:nvGrpSpPr>
            <p:cNvPr id="28" name="Group 27">
              <a:extLst>
                <a:ext uri="{FF2B5EF4-FFF2-40B4-BE49-F238E27FC236}">
                  <a16:creationId xmlns:a16="http://schemas.microsoft.com/office/drawing/2014/main" id="{33368216-F2E5-49B3-A54F-BF257178789E}"/>
                </a:ext>
              </a:extLst>
            </p:cNvPr>
            <p:cNvGrpSpPr>
              <a:grpSpLocks noChangeAspect="1"/>
            </p:cNvGrpSpPr>
            <p:nvPr/>
          </p:nvGrpSpPr>
          <p:grpSpPr bwMode="auto">
            <a:xfrm>
              <a:off x="6184" y="3967"/>
              <a:ext cx="684" cy="685"/>
              <a:chOff x="8858" y="9998"/>
              <a:chExt cx="600" cy="600"/>
            </a:xfrm>
          </p:grpSpPr>
          <p:sp>
            <p:nvSpPr>
              <p:cNvPr id="56" name="Oval 55">
                <a:extLst>
                  <a:ext uri="{FF2B5EF4-FFF2-40B4-BE49-F238E27FC236}">
                    <a16:creationId xmlns:a16="http://schemas.microsoft.com/office/drawing/2014/main" id="{2C475883-9198-4627-972C-EE0D07615C4B}"/>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a:p>
            </p:txBody>
          </p:sp>
          <p:grpSp>
            <p:nvGrpSpPr>
              <p:cNvPr id="57" name="Group 56">
                <a:extLst>
                  <a:ext uri="{FF2B5EF4-FFF2-40B4-BE49-F238E27FC236}">
                    <a16:creationId xmlns:a16="http://schemas.microsoft.com/office/drawing/2014/main" id="{31D2255F-43CA-48E6-A399-4E7B3A479DF0}"/>
                  </a:ext>
                </a:extLst>
              </p:cNvPr>
              <p:cNvGrpSpPr>
                <a:grpSpLocks noChangeAspect="1"/>
              </p:cNvGrpSpPr>
              <p:nvPr/>
            </p:nvGrpSpPr>
            <p:grpSpPr bwMode="auto">
              <a:xfrm>
                <a:off x="8974" y="10146"/>
                <a:ext cx="362" cy="272"/>
                <a:chOff x="4778" y="6098"/>
                <a:chExt cx="2880" cy="1440"/>
              </a:xfrm>
            </p:grpSpPr>
            <p:sp>
              <p:nvSpPr>
                <p:cNvPr id="58" name="Arc 374">
                  <a:extLst>
                    <a:ext uri="{FF2B5EF4-FFF2-40B4-BE49-F238E27FC236}">
                      <a16:creationId xmlns:a16="http://schemas.microsoft.com/office/drawing/2014/main" id="{26F41B72-D515-4D57-B6B3-DA41055D6268}"/>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6"/>
                      </a:solidFill>
                    </a14:hiddenFill>
                  </a:ext>
                </a:extLst>
              </p:spPr>
              <p:txBody>
                <a:bodyPr rot="0" vert="horz" wrap="square" lIns="91440" tIns="45720" rIns="91440" bIns="45720" anchor="t" anchorCtr="0" upright="1">
                  <a:noAutofit/>
                </a:bodyPr>
                <a:lstStyle/>
                <a:p>
                  <a:endParaRPr lang="en-GB"/>
                </a:p>
              </p:txBody>
            </p:sp>
            <p:sp>
              <p:nvSpPr>
                <p:cNvPr id="59" name="Arc 375">
                  <a:extLst>
                    <a:ext uri="{FF2B5EF4-FFF2-40B4-BE49-F238E27FC236}">
                      <a16:creationId xmlns:a16="http://schemas.microsoft.com/office/drawing/2014/main" id="{B85B8FE1-8AD6-49CA-82F1-01A3DC752BD0}"/>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noFill/>
                <a:ln w="28575">
                  <a:solidFill>
                    <a:srgbClr val="002060"/>
                  </a:solidFill>
                  <a:round/>
                  <a:headEnd/>
                  <a:tailEnd/>
                </a:ln>
                <a:extLst>
                  <a:ext uri="{909E8E84-426E-40DD-AFC4-6F175D3DCCD1}">
                    <a14:hiddenFill xmlns:a14="http://schemas.microsoft.com/office/drawing/2010/main">
                      <a:solidFill>
                        <a:srgbClr val="000066"/>
                      </a:solidFill>
                    </a14:hiddenFill>
                  </a:ext>
                </a:extLst>
              </p:spPr>
              <p:txBody>
                <a:bodyPr rot="0" vert="horz" wrap="square" lIns="91440" tIns="45720" rIns="91440" bIns="45720" anchor="t" anchorCtr="0" upright="1">
                  <a:noAutofit/>
                </a:bodyPr>
                <a:lstStyle/>
                <a:p>
                  <a:endParaRPr lang="en-GB"/>
                </a:p>
              </p:txBody>
            </p:sp>
          </p:grpSp>
        </p:grpSp>
        <p:sp>
          <p:nvSpPr>
            <p:cNvPr id="29" name="Rectangle 28">
              <a:extLst>
                <a:ext uri="{FF2B5EF4-FFF2-40B4-BE49-F238E27FC236}">
                  <a16:creationId xmlns:a16="http://schemas.microsoft.com/office/drawing/2014/main" id="{2E40F939-7BCB-4999-A601-171648895732}"/>
                </a:ext>
              </a:extLst>
            </p:cNvPr>
            <p:cNvSpPr>
              <a:spLocks noChangeAspect="1" noChangeArrowheads="1"/>
            </p:cNvSpPr>
            <p:nvPr/>
          </p:nvSpPr>
          <p:spPr bwMode="auto">
            <a:xfrm rot="10800000">
              <a:off x="4520" y="3288"/>
              <a:ext cx="245" cy="575"/>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000066"/>
                  </a:solidFill>
                </a14:hiddenFill>
              </a:ext>
            </a:extLst>
          </p:spPr>
          <p:txBody>
            <a:bodyPr rot="0" vert="horz" wrap="square" lIns="91440" tIns="45720" rIns="91440" bIns="45720" anchor="t" anchorCtr="0" upright="1">
              <a:noAutofit/>
            </a:bodyPr>
            <a:lstStyle/>
            <a:p>
              <a:endParaRPr lang="en-GB"/>
            </a:p>
          </p:txBody>
        </p:sp>
        <p:sp>
          <p:nvSpPr>
            <p:cNvPr id="30" name="Rectangle 29">
              <a:extLst>
                <a:ext uri="{FF2B5EF4-FFF2-40B4-BE49-F238E27FC236}">
                  <a16:creationId xmlns:a16="http://schemas.microsoft.com/office/drawing/2014/main" id="{7AE0A23B-EF1E-4E8A-A28B-5328C6B857E0}"/>
                </a:ext>
              </a:extLst>
            </p:cNvPr>
            <p:cNvSpPr>
              <a:spLocks noChangeAspect="1" noChangeArrowheads="1"/>
            </p:cNvSpPr>
            <p:nvPr/>
          </p:nvSpPr>
          <p:spPr bwMode="auto">
            <a:xfrm rot="25200000">
              <a:off x="5506" y="4543"/>
              <a:ext cx="245" cy="575"/>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000066"/>
                  </a:solidFill>
                </a14:hiddenFill>
              </a:ext>
            </a:extLst>
          </p:spPr>
          <p:txBody>
            <a:bodyPr rot="0" vert="horz" wrap="square" lIns="91440" tIns="45720" rIns="91440" bIns="45720" anchor="t" anchorCtr="0" upright="1">
              <a:noAutofit/>
            </a:bodyPr>
            <a:lstStyle/>
            <a:p>
              <a:endParaRPr lang="en-GB"/>
            </a:p>
          </p:txBody>
        </p:sp>
        <p:sp>
          <p:nvSpPr>
            <p:cNvPr id="31" name="Rectangle 30">
              <a:extLst>
                <a:ext uri="{FF2B5EF4-FFF2-40B4-BE49-F238E27FC236}">
                  <a16:creationId xmlns:a16="http://schemas.microsoft.com/office/drawing/2014/main" id="{EAC44D2D-BA44-4569-9851-CA1FED91E2B5}"/>
                </a:ext>
              </a:extLst>
            </p:cNvPr>
            <p:cNvSpPr>
              <a:spLocks noChangeAspect="1" noChangeArrowheads="1"/>
            </p:cNvSpPr>
            <p:nvPr/>
          </p:nvSpPr>
          <p:spPr bwMode="auto">
            <a:xfrm rot="7200000" flipV="1">
              <a:off x="6071" y="3151"/>
              <a:ext cx="246" cy="576"/>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000066"/>
                  </a:solidFill>
                </a14:hiddenFill>
              </a:ext>
            </a:extLst>
          </p:spPr>
          <p:txBody>
            <a:bodyPr rot="0" vert="horz" wrap="square" lIns="91440" tIns="45720" rIns="91440" bIns="45720" anchor="t" anchorCtr="0" upright="1">
              <a:noAutofit/>
            </a:bodyPr>
            <a:lstStyle/>
            <a:p>
              <a:endParaRPr lang="en-GB"/>
            </a:p>
          </p:txBody>
        </p:sp>
        <p:cxnSp>
          <p:nvCxnSpPr>
            <p:cNvPr id="32" name="Line 379">
              <a:extLst>
                <a:ext uri="{FF2B5EF4-FFF2-40B4-BE49-F238E27FC236}">
                  <a16:creationId xmlns:a16="http://schemas.microsoft.com/office/drawing/2014/main" id="{D0F5B31E-8E35-4862-BB02-BF130400047B}"/>
                </a:ext>
              </a:extLst>
            </p:cNvPr>
            <p:cNvCxnSpPr>
              <a:cxnSpLocks noChangeAspect="1" noChangeShapeType="1"/>
            </p:cNvCxnSpPr>
            <p:nvPr/>
          </p:nvCxnSpPr>
          <p:spPr bwMode="auto">
            <a:xfrm rot="10800000">
              <a:off x="4039" y="4307"/>
              <a:ext cx="0" cy="650"/>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33" name="Line 380">
              <a:extLst>
                <a:ext uri="{FF2B5EF4-FFF2-40B4-BE49-F238E27FC236}">
                  <a16:creationId xmlns:a16="http://schemas.microsoft.com/office/drawing/2014/main" id="{B9564D29-2C2B-4B30-8764-25C77BD8F6FA}"/>
                </a:ext>
              </a:extLst>
            </p:cNvPr>
            <p:cNvCxnSpPr>
              <a:cxnSpLocks noChangeAspect="1" noChangeShapeType="1"/>
            </p:cNvCxnSpPr>
            <p:nvPr/>
          </p:nvCxnSpPr>
          <p:spPr bwMode="auto">
            <a:xfrm rot="25200000">
              <a:off x="6770" y="4467"/>
              <a:ext cx="0" cy="651"/>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cxnSp>
          <p:nvCxnSpPr>
            <p:cNvPr id="34" name="Line 381">
              <a:extLst>
                <a:ext uri="{FF2B5EF4-FFF2-40B4-BE49-F238E27FC236}">
                  <a16:creationId xmlns:a16="http://schemas.microsoft.com/office/drawing/2014/main" id="{041FDAA2-9B15-4B65-B95F-1A0B0F76C21D}"/>
                </a:ext>
              </a:extLst>
            </p:cNvPr>
            <p:cNvCxnSpPr>
              <a:cxnSpLocks noChangeAspect="1" noChangeShapeType="1"/>
            </p:cNvCxnSpPr>
            <p:nvPr/>
          </p:nvCxnSpPr>
          <p:spPr bwMode="auto">
            <a:xfrm rot="7200000" flipV="1">
              <a:off x="5666" y="2143"/>
              <a:ext cx="0" cy="650"/>
            </a:xfrm>
            <a:prstGeom prst="line">
              <a:avLst/>
            </a:prstGeom>
            <a:noFill/>
            <a:ln w="28575">
              <a:solidFill>
                <a:srgbClr val="002060"/>
              </a:solidFill>
              <a:round/>
              <a:headEnd type="arrow" w="med" len="med"/>
              <a:tailEnd/>
            </a:ln>
            <a:extLst>
              <a:ext uri="{909E8E84-426E-40DD-AFC4-6F175D3DCCD1}">
                <a14:hiddenFill xmlns:a14="http://schemas.microsoft.com/office/drawing/2010/main">
                  <a:noFill/>
                </a14:hiddenFill>
              </a:ext>
            </a:extLst>
          </p:spPr>
        </p:cxnSp>
        <p:sp>
          <p:nvSpPr>
            <p:cNvPr id="35" name="Text Box 382">
              <a:extLst>
                <a:ext uri="{FF2B5EF4-FFF2-40B4-BE49-F238E27FC236}">
                  <a16:creationId xmlns:a16="http://schemas.microsoft.com/office/drawing/2014/main" id="{04716829-0484-4965-A71F-C23105C3F135}"/>
                </a:ext>
              </a:extLst>
            </p:cNvPr>
            <p:cNvSpPr txBox="1">
              <a:spLocks noChangeArrowheads="1"/>
            </p:cNvSpPr>
            <p:nvPr/>
          </p:nvSpPr>
          <p:spPr bwMode="auto">
            <a:xfrm>
              <a:off x="4039" y="3175"/>
              <a:ext cx="679"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0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6" name="Text Box 383">
              <a:extLst>
                <a:ext uri="{FF2B5EF4-FFF2-40B4-BE49-F238E27FC236}">
                  <a16:creationId xmlns:a16="http://schemas.microsoft.com/office/drawing/2014/main" id="{23713D2F-86A1-44BD-A4E7-E951E7244E41}"/>
                </a:ext>
              </a:extLst>
            </p:cNvPr>
            <p:cNvSpPr txBox="1">
              <a:spLocks noChangeArrowheads="1"/>
            </p:cNvSpPr>
            <p:nvPr/>
          </p:nvSpPr>
          <p:spPr bwMode="auto">
            <a:xfrm>
              <a:off x="6246" y="2722"/>
              <a:ext cx="679"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0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384">
              <a:extLst>
                <a:ext uri="{FF2B5EF4-FFF2-40B4-BE49-F238E27FC236}">
                  <a16:creationId xmlns:a16="http://schemas.microsoft.com/office/drawing/2014/main" id="{32D5BBC7-C905-4BE1-92D3-0A30F190EA73}"/>
                </a:ext>
              </a:extLst>
            </p:cNvPr>
            <p:cNvSpPr txBox="1">
              <a:spLocks noChangeArrowheads="1"/>
            </p:cNvSpPr>
            <p:nvPr/>
          </p:nvSpPr>
          <p:spPr bwMode="auto">
            <a:xfrm>
              <a:off x="5708" y="4765"/>
              <a:ext cx="679"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0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8" name="Line 385">
              <a:extLst>
                <a:ext uri="{FF2B5EF4-FFF2-40B4-BE49-F238E27FC236}">
                  <a16:creationId xmlns:a16="http://schemas.microsoft.com/office/drawing/2014/main" id="{1E240855-08B1-4D23-9AE8-79CE492A20F9}"/>
                </a:ext>
              </a:extLst>
            </p:cNvPr>
            <p:cNvCxnSpPr>
              <a:cxnSpLocks noChangeShapeType="1"/>
            </p:cNvCxnSpPr>
            <p:nvPr/>
          </p:nvCxnSpPr>
          <p:spPr bwMode="auto">
            <a:xfrm>
              <a:off x="4650" y="1587"/>
              <a:ext cx="0" cy="96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39" name="Line 386">
              <a:extLst>
                <a:ext uri="{FF2B5EF4-FFF2-40B4-BE49-F238E27FC236}">
                  <a16:creationId xmlns:a16="http://schemas.microsoft.com/office/drawing/2014/main" id="{CE0D0A74-9E13-4269-BD81-888BFC71765B}"/>
                </a:ext>
              </a:extLst>
            </p:cNvPr>
            <p:cNvCxnSpPr>
              <a:cxnSpLocks noChangeShapeType="1"/>
            </p:cNvCxnSpPr>
            <p:nvPr/>
          </p:nvCxnSpPr>
          <p:spPr bwMode="auto">
            <a:xfrm>
              <a:off x="4650" y="5317"/>
              <a:ext cx="0" cy="538"/>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40" name="Line 387">
              <a:extLst>
                <a:ext uri="{FF2B5EF4-FFF2-40B4-BE49-F238E27FC236}">
                  <a16:creationId xmlns:a16="http://schemas.microsoft.com/office/drawing/2014/main" id="{D39B58B3-C419-4CFD-B0C0-757C20EDF268}"/>
                </a:ext>
              </a:extLst>
            </p:cNvPr>
            <p:cNvCxnSpPr>
              <a:cxnSpLocks noChangeShapeType="1"/>
            </p:cNvCxnSpPr>
            <p:nvPr/>
          </p:nvCxnSpPr>
          <p:spPr bwMode="auto">
            <a:xfrm>
              <a:off x="7123" y="3920"/>
              <a:ext cx="430"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41" name="Line 388">
              <a:extLst>
                <a:ext uri="{FF2B5EF4-FFF2-40B4-BE49-F238E27FC236}">
                  <a16:creationId xmlns:a16="http://schemas.microsoft.com/office/drawing/2014/main" id="{760FC18C-ED3D-47FA-A63B-EDD2848D3DAD}"/>
                </a:ext>
              </a:extLst>
            </p:cNvPr>
            <p:cNvCxnSpPr>
              <a:cxnSpLocks noChangeShapeType="1"/>
            </p:cNvCxnSpPr>
            <p:nvPr/>
          </p:nvCxnSpPr>
          <p:spPr bwMode="auto">
            <a:xfrm>
              <a:off x="7553" y="3920"/>
              <a:ext cx="0" cy="172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42" name="Line 389">
              <a:extLst>
                <a:ext uri="{FF2B5EF4-FFF2-40B4-BE49-F238E27FC236}">
                  <a16:creationId xmlns:a16="http://schemas.microsoft.com/office/drawing/2014/main" id="{96503C12-08E3-421B-9793-74DC10011028}"/>
                </a:ext>
              </a:extLst>
            </p:cNvPr>
            <p:cNvCxnSpPr>
              <a:cxnSpLocks noChangeShapeType="1"/>
            </p:cNvCxnSpPr>
            <p:nvPr/>
          </p:nvCxnSpPr>
          <p:spPr bwMode="auto">
            <a:xfrm>
              <a:off x="7553" y="6027"/>
              <a:ext cx="0" cy="53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43" name="Arc 390">
              <a:extLst>
                <a:ext uri="{FF2B5EF4-FFF2-40B4-BE49-F238E27FC236}">
                  <a16:creationId xmlns:a16="http://schemas.microsoft.com/office/drawing/2014/main" id="{4F6B8594-71A6-4286-A5ED-31261F3BB50A}"/>
                </a:ext>
              </a:extLst>
            </p:cNvPr>
            <p:cNvSpPr>
              <a:spLocks noChangeAspect="1"/>
            </p:cNvSpPr>
            <p:nvPr/>
          </p:nvSpPr>
          <p:spPr bwMode="auto">
            <a:xfrm>
              <a:off x="7553" y="5640"/>
              <a:ext cx="215" cy="430"/>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noFill/>
            <a:ln w="28575">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grpSp>
          <p:nvGrpSpPr>
            <p:cNvPr id="44" name="Group 43">
              <a:extLst>
                <a:ext uri="{FF2B5EF4-FFF2-40B4-BE49-F238E27FC236}">
                  <a16:creationId xmlns:a16="http://schemas.microsoft.com/office/drawing/2014/main" id="{7485CD38-F587-416B-B009-A762C2D8F472}"/>
                </a:ext>
              </a:extLst>
            </p:cNvPr>
            <p:cNvGrpSpPr>
              <a:grpSpLocks/>
            </p:cNvGrpSpPr>
            <p:nvPr/>
          </p:nvGrpSpPr>
          <p:grpSpPr bwMode="auto">
            <a:xfrm rot="5400000">
              <a:off x="14370" y="3386"/>
              <a:ext cx="412" cy="4127"/>
              <a:chOff x="9878" y="1418"/>
              <a:chExt cx="360" cy="1800"/>
            </a:xfrm>
          </p:grpSpPr>
          <p:sp>
            <p:nvSpPr>
              <p:cNvPr id="53" name="Rectangle 52">
                <a:extLst>
                  <a:ext uri="{FF2B5EF4-FFF2-40B4-BE49-F238E27FC236}">
                    <a16:creationId xmlns:a16="http://schemas.microsoft.com/office/drawing/2014/main" id="{E3A0B85F-1C1D-4664-B559-7B602EB526E2}"/>
                  </a:ext>
                </a:extLst>
              </p:cNvPr>
              <p:cNvSpPr>
                <a:spLocks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54" name="Line 393">
                <a:extLst>
                  <a:ext uri="{FF2B5EF4-FFF2-40B4-BE49-F238E27FC236}">
                    <a16:creationId xmlns:a16="http://schemas.microsoft.com/office/drawing/2014/main" id="{16C4FA39-F35E-4D6E-99EF-E979F57DAE55}"/>
                  </a:ext>
                </a:extLst>
              </p:cNvPr>
              <p:cNvCxnSpPr>
                <a:cxnSpLocks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55" name="Line 394">
                <a:extLst>
                  <a:ext uri="{FF2B5EF4-FFF2-40B4-BE49-F238E27FC236}">
                    <a16:creationId xmlns:a16="http://schemas.microsoft.com/office/drawing/2014/main" id="{BE452914-888C-4987-80DB-CD3CD024E046}"/>
                  </a:ext>
                </a:extLst>
              </p:cNvPr>
              <p:cNvCxnSpPr>
                <a:cxnSpLocks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45" name="Group 44">
              <a:extLst>
                <a:ext uri="{FF2B5EF4-FFF2-40B4-BE49-F238E27FC236}">
                  <a16:creationId xmlns:a16="http://schemas.microsoft.com/office/drawing/2014/main" id="{05D142D6-CEC4-47A2-A6B6-4B66B47DC23C}"/>
                </a:ext>
              </a:extLst>
            </p:cNvPr>
            <p:cNvGrpSpPr>
              <a:grpSpLocks/>
            </p:cNvGrpSpPr>
            <p:nvPr/>
          </p:nvGrpSpPr>
          <p:grpSpPr bwMode="auto">
            <a:xfrm rot="19800000">
              <a:off x="15425" y="1587"/>
              <a:ext cx="411" cy="4127"/>
              <a:chOff x="9878" y="1418"/>
              <a:chExt cx="360" cy="1800"/>
            </a:xfrm>
          </p:grpSpPr>
          <p:sp>
            <p:nvSpPr>
              <p:cNvPr id="50" name="Rectangle 49">
                <a:extLst>
                  <a:ext uri="{FF2B5EF4-FFF2-40B4-BE49-F238E27FC236}">
                    <a16:creationId xmlns:a16="http://schemas.microsoft.com/office/drawing/2014/main" id="{3DCD0AA3-ADF4-4C3C-95E9-D2A62AB40AEE}"/>
                  </a:ext>
                </a:extLst>
              </p:cNvPr>
              <p:cNvSpPr>
                <a:spLocks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51" name="Line 397">
                <a:extLst>
                  <a:ext uri="{FF2B5EF4-FFF2-40B4-BE49-F238E27FC236}">
                    <a16:creationId xmlns:a16="http://schemas.microsoft.com/office/drawing/2014/main" id="{F39F9D49-F706-4D86-843F-F58A2A32E907}"/>
                  </a:ext>
                </a:extLst>
              </p:cNvPr>
              <p:cNvCxnSpPr>
                <a:cxnSpLocks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52" name="Line 398">
                <a:extLst>
                  <a:ext uri="{FF2B5EF4-FFF2-40B4-BE49-F238E27FC236}">
                    <a16:creationId xmlns:a16="http://schemas.microsoft.com/office/drawing/2014/main" id="{FF4DE77A-AC0D-4DCA-8725-79723161622C}"/>
                  </a:ext>
                </a:extLst>
              </p:cNvPr>
              <p:cNvCxnSpPr>
                <a:cxnSpLocks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46" name="Group 45">
              <a:extLst>
                <a:ext uri="{FF2B5EF4-FFF2-40B4-BE49-F238E27FC236}">
                  <a16:creationId xmlns:a16="http://schemas.microsoft.com/office/drawing/2014/main" id="{438EAE0B-C853-45E7-9A13-EAB8C9533D10}"/>
                </a:ext>
              </a:extLst>
            </p:cNvPr>
            <p:cNvGrpSpPr>
              <a:grpSpLocks/>
            </p:cNvGrpSpPr>
            <p:nvPr/>
          </p:nvGrpSpPr>
          <p:grpSpPr bwMode="auto">
            <a:xfrm rot="1800000" flipH="1">
              <a:off x="13318" y="1587"/>
              <a:ext cx="412" cy="4127"/>
              <a:chOff x="9878" y="1418"/>
              <a:chExt cx="360" cy="1800"/>
            </a:xfrm>
          </p:grpSpPr>
          <p:sp>
            <p:nvSpPr>
              <p:cNvPr id="47" name="Rectangle 46">
                <a:extLst>
                  <a:ext uri="{FF2B5EF4-FFF2-40B4-BE49-F238E27FC236}">
                    <a16:creationId xmlns:a16="http://schemas.microsoft.com/office/drawing/2014/main" id="{2DE71999-E70A-4927-866C-BEB005000E91}"/>
                  </a:ext>
                </a:extLst>
              </p:cNvPr>
              <p:cNvSpPr>
                <a:spLocks noChangeArrowheads="1"/>
              </p:cNvSpPr>
              <p:nvPr/>
            </p:nvSpPr>
            <p:spPr bwMode="auto">
              <a:xfrm>
                <a:off x="9878" y="1958"/>
                <a:ext cx="360" cy="720"/>
              </a:xfrm>
              <a:prstGeom prst="rect">
                <a:avLst/>
              </a:prstGeom>
              <a:noFill/>
              <a:ln w="2857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cxnSp>
            <p:nvCxnSpPr>
              <p:cNvPr id="48" name="Line 401">
                <a:extLst>
                  <a:ext uri="{FF2B5EF4-FFF2-40B4-BE49-F238E27FC236}">
                    <a16:creationId xmlns:a16="http://schemas.microsoft.com/office/drawing/2014/main" id="{20FB34CD-18F7-4389-9E33-989BE87EBEB6}"/>
                  </a:ext>
                </a:extLst>
              </p:cNvPr>
              <p:cNvCxnSpPr>
                <a:cxnSpLocks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49" name="Line 402">
                <a:extLst>
                  <a:ext uri="{FF2B5EF4-FFF2-40B4-BE49-F238E27FC236}">
                    <a16:creationId xmlns:a16="http://schemas.microsoft.com/office/drawing/2014/main" id="{E4BE1A67-9A41-4887-8D22-379BFAE5510F}"/>
                  </a:ext>
                </a:extLst>
              </p:cNvPr>
              <p:cNvCxnSpPr>
                <a:cxnSpLocks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sp>
        <p:nvSpPr>
          <p:cNvPr id="68" name="Rectangle 67">
            <a:extLst>
              <a:ext uri="{FF2B5EF4-FFF2-40B4-BE49-F238E27FC236}">
                <a16:creationId xmlns:a16="http://schemas.microsoft.com/office/drawing/2014/main" id="{117FC688-18E6-463D-BAA9-A1582974F15C}"/>
              </a:ext>
            </a:extLst>
          </p:cNvPr>
          <p:cNvSpPr/>
          <p:nvPr/>
        </p:nvSpPr>
        <p:spPr>
          <a:xfrm>
            <a:off x="429715" y="4543181"/>
            <a:ext cx="9438244" cy="2246769"/>
          </a:xfrm>
          <a:prstGeom prst="rect">
            <a:avLst/>
          </a:prstGeom>
        </p:spPr>
        <p:txBody>
          <a:bodyPr wrap="square">
            <a:spAutoFit/>
          </a:bodyPr>
          <a:lstStyle/>
          <a:p>
            <a:pPr indent="13335" algn="just"/>
            <a:r>
              <a:rPr lang="en-GB" sz="2800" dirty="0">
                <a:solidFill>
                  <a:srgbClr val="002060"/>
                </a:solidFill>
                <a:latin typeface="Times New Roman" panose="02020603050405020304" pitchFamily="18" charset="0"/>
              </a:rPr>
              <a:t>Line voltages are known so that currents inside delta can be obtained directly from Ohm’s Law.  </a:t>
            </a:r>
            <a:endParaRPr lang="en-GB" sz="2800" b="1" dirty="0">
              <a:latin typeface="Times New Roman" panose="02020603050405020304" pitchFamily="18" charset="0"/>
            </a:endParaRPr>
          </a:p>
          <a:p>
            <a:pPr indent="13335" algn="just">
              <a:spcAft>
                <a:spcPts val="600"/>
              </a:spcAft>
            </a:pPr>
            <a:r>
              <a:rPr lang="en-GB" sz="2800" dirty="0">
                <a:solidFill>
                  <a:srgbClr val="002060"/>
                </a:solidFill>
                <a:latin typeface="Times New Roman" panose="02020603050405020304" pitchFamily="18" charset="0"/>
              </a:rPr>
              <a:t>Line currents can then be obtained by phasor addition of currents inside the delta.  The remaining variables are then obtained directly.</a:t>
            </a:r>
            <a:endParaRPr lang="en-GB" sz="2800" b="1" dirty="0">
              <a:effectLst/>
              <a:latin typeface="Times New Roman" panose="02020603050405020304" pitchFamily="18" charset="0"/>
            </a:endParaRPr>
          </a:p>
        </p:txBody>
      </p:sp>
    </p:spTree>
    <p:extLst>
      <p:ext uri="{BB962C8B-B14F-4D97-AF65-F5344CB8AC3E}">
        <p14:creationId xmlns:p14="http://schemas.microsoft.com/office/powerpoint/2010/main" val="4204214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466102"/>
            <a:ext cx="10924085" cy="482745"/>
          </a:xfrm>
        </p:spPr>
        <p:txBody>
          <a:bodyPr>
            <a:normAutofit fontScale="90000"/>
          </a:bodyPr>
          <a:lstStyle/>
          <a:p>
            <a:r>
              <a:rPr lang="en-US" dirty="0"/>
              <a:t>(d) Star connected supply feeding a delta connected load</a:t>
            </a:r>
            <a:endParaRPr lang="en-GB" dirty="0"/>
          </a:p>
        </p:txBody>
      </p:sp>
      <p:sp>
        <p:nvSpPr>
          <p:cNvPr id="3" name="Text Box 468">
            <a:extLst>
              <a:ext uri="{FF2B5EF4-FFF2-40B4-BE49-F238E27FC236}">
                <a16:creationId xmlns:a16="http://schemas.microsoft.com/office/drawing/2014/main" id="{7CCB237D-8B40-433A-B8C7-250F81517A40}"/>
              </a:ext>
            </a:extLst>
          </p:cNvPr>
          <p:cNvSpPr txBox="1">
            <a:spLocks noChangeArrowheads="1"/>
          </p:cNvSpPr>
          <p:nvPr/>
        </p:nvSpPr>
        <p:spPr bwMode="auto">
          <a:xfrm>
            <a:off x="647102" y="4862850"/>
            <a:ext cx="9442033" cy="663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2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Figure 13 - Star connected supply feeding a delta connected load</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5" name="Group 4">
            <a:extLst>
              <a:ext uri="{FF2B5EF4-FFF2-40B4-BE49-F238E27FC236}">
                <a16:creationId xmlns:a16="http://schemas.microsoft.com/office/drawing/2014/main" id="{6993C6AD-77C1-46D6-A728-F9D982517FCE}"/>
              </a:ext>
            </a:extLst>
          </p:cNvPr>
          <p:cNvGrpSpPr>
            <a:grpSpLocks/>
          </p:cNvGrpSpPr>
          <p:nvPr/>
        </p:nvGrpSpPr>
        <p:grpSpPr bwMode="auto">
          <a:xfrm>
            <a:off x="838059" y="986592"/>
            <a:ext cx="11074079" cy="3826042"/>
            <a:chOff x="2043" y="6993"/>
            <a:chExt cx="7966" cy="2923"/>
          </a:xfrm>
        </p:grpSpPr>
        <p:grpSp>
          <p:nvGrpSpPr>
            <p:cNvPr id="6" name="Group 5">
              <a:extLst>
                <a:ext uri="{FF2B5EF4-FFF2-40B4-BE49-F238E27FC236}">
                  <a16:creationId xmlns:a16="http://schemas.microsoft.com/office/drawing/2014/main" id="{62E79581-77CE-4814-A69E-D81F570E6236}"/>
                </a:ext>
              </a:extLst>
            </p:cNvPr>
            <p:cNvGrpSpPr>
              <a:grpSpLocks/>
            </p:cNvGrpSpPr>
            <p:nvPr/>
          </p:nvGrpSpPr>
          <p:grpSpPr bwMode="auto">
            <a:xfrm>
              <a:off x="7822" y="7118"/>
              <a:ext cx="2187" cy="2187"/>
              <a:chOff x="1390" y="337"/>
              <a:chExt cx="2187" cy="2187"/>
            </a:xfrm>
          </p:grpSpPr>
          <p:grpSp>
            <p:nvGrpSpPr>
              <p:cNvPr id="57" name="Group 56">
                <a:extLst>
                  <a:ext uri="{FF2B5EF4-FFF2-40B4-BE49-F238E27FC236}">
                    <a16:creationId xmlns:a16="http://schemas.microsoft.com/office/drawing/2014/main" id="{8684761E-9E47-42F4-AB17-C2E659759C89}"/>
                  </a:ext>
                </a:extLst>
              </p:cNvPr>
              <p:cNvGrpSpPr>
                <a:grpSpLocks/>
              </p:cNvGrpSpPr>
              <p:nvPr/>
            </p:nvGrpSpPr>
            <p:grpSpPr bwMode="auto">
              <a:xfrm rot="5400000">
                <a:off x="2375" y="1293"/>
                <a:ext cx="218" cy="2187"/>
                <a:chOff x="9878" y="1418"/>
                <a:chExt cx="360" cy="1800"/>
              </a:xfrm>
            </p:grpSpPr>
            <p:sp>
              <p:nvSpPr>
                <p:cNvPr id="66" name="Rectangle 65">
                  <a:extLst>
                    <a:ext uri="{FF2B5EF4-FFF2-40B4-BE49-F238E27FC236}">
                      <a16:creationId xmlns:a16="http://schemas.microsoft.com/office/drawing/2014/main" id="{8CD04B9C-146D-4423-85EA-014D017288A7}"/>
                    </a:ext>
                  </a:extLst>
                </p:cNvPr>
                <p:cNvSpPr>
                  <a:spLocks noChangeArrowheads="1"/>
                </p:cNvSpPr>
                <p:nvPr/>
              </p:nvSpPr>
              <p:spPr bwMode="auto">
                <a:xfrm>
                  <a:off x="9878" y="1958"/>
                  <a:ext cx="360" cy="720"/>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3200"/>
                </a:p>
              </p:txBody>
            </p:sp>
            <p:cxnSp>
              <p:nvCxnSpPr>
                <p:cNvPr id="67" name="Line 408">
                  <a:extLst>
                    <a:ext uri="{FF2B5EF4-FFF2-40B4-BE49-F238E27FC236}">
                      <a16:creationId xmlns:a16="http://schemas.microsoft.com/office/drawing/2014/main" id="{2A8730B6-16F8-4340-BB2B-A8CEA824B3B9}"/>
                    </a:ext>
                  </a:extLst>
                </p:cNvPr>
                <p:cNvCxnSpPr>
                  <a:cxnSpLocks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8" name="Line 409">
                  <a:extLst>
                    <a:ext uri="{FF2B5EF4-FFF2-40B4-BE49-F238E27FC236}">
                      <a16:creationId xmlns:a16="http://schemas.microsoft.com/office/drawing/2014/main" id="{A509095E-EAD4-4F76-8533-82BFCE5DF703}"/>
                    </a:ext>
                  </a:extLst>
                </p:cNvPr>
                <p:cNvCxnSpPr>
                  <a:cxnSpLocks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58" name="Group 57">
                <a:extLst>
                  <a:ext uri="{FF2B5EF4-FFF2-40B4-BE49-F238E27FC236}">
                    <a16:creationId xmlns:a16="http://schemas.microsoft.com/office/drawing/2014/main" id="{F85107CC-E076-47EC-8EEF-8AFC0D89BF7F}"/>
                  </a:ext>
                </a:extLst>
              </p:cNvPr>
              <p:cNvGrpSpPr>
                <a:grpSpLocks/>
              </p:cNvGrpSpPr>
              <p:nvPr/>
            </p:nvGrpSpPr>
            <p:grpSpPr bwMode="auto">
              <a:xfrm rot="19800000">
                <a:off x="2933" y="337"/>
                <a:ext cx="218" cy="2187"/>
                <a:chOff x="9878" y="1418"/>
                <a:chExt cx="360" cy="1800"/>
              </a:xfrm>
            </p:grpSpPr>
            <p:sp>
              <p:nvSpPr>
                <p:cNvPr id="63" name="Rectangle 62">
                  <a:extLst>
                    <a:ext uri="{FF2B5EF4-FFF2-40B4-BE49-F238E27FC236}">
                      <a16:creationId xmlns:a16="http://schemas.microsoft.com/office/drawing/2014/main" id="{516904DD-1FDC-4F80-8CE2-FE30256B466F}"/>
                    </a:ext>
                  </a:extLst>
                </p:cNvPr>
                <p:cNvSpPr>
                  <a:spLocks noChangeArrowheads="1"/>
                </p:cNvSpPr>
                <p:nvPr/>
              </p:nvSpPr>
              <p:spPr bwMode="auto">
                <a:xfrm>
                  <a:off x="9878" y="1958"/>
                  <a:ext cx="360" cy="720"/>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3200"/>
                </a:p>
              </p:txBody>
            </p:sp>
            <p:cxnSp>
              <p:nvCxnSpPr>
                <p:cNvPr id="64" name="Line 412">
                  <a:extLst>
                    <a:ext uri="{FF2B5EF4-FFF2-40B4-BE49-F238E27FC236}">
                      <a16:creationId xmlns:a16="http://schemas.microsoft.com/office/drawing/2014/main" id="{EEC76AFA-A1B2-40FE-9B01-E4A18B6CBC40}"/>
                    </a:ext>
                  </a:extLst>
                </p:cNvPr>
                <p:cNvCxnSpPr>
                  <a:cxnSpLocks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5" name="Line 413">
                  <a:extLst>
                    <a:ext uri="{FF2B5EF4-FFF2-40B4-BE49-F238E27FC236}">
                      <a16:creationId xmlns:a16="http://schemas.microsoft.com/office/drawing/2014/main" id="{834CE31B-B2AD-4B9B-972D-46AA3F1EC3ED}"/>
                    </a:ext>
                  </a:extLst>
                </p:cNvPr>
                <p:cNvCxnSpPr>
                  <a:cxnSpLocks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nvGrpSpPr>
              <p:cNvPr id="59" name="Group 58">
                <a:extLst>
                  <a:ext uri="{FF2B5EF4-FFF2-40B4-BE49-F238E27FC236}">
                    <a16:creationId xmlns:a16="http://schemas.microsoft.com/office/drawing/2014/main" id="{4DE3E927-E996-445F-8238-FA2DFE88F30C}"/>
                  </a:ext>
                </a:extLst>
              </p:cNvPr>
              <p:cNvGrpSpPr>
                <a:grpSpLocks/>
              </p:cNvGrpSpPr>
              <p:nvPr/>
            </p:nvGrpSpPr>
            <p:grpSpPr bwMode="auto">
              <a:xfrm rot="1800000" flipH="1">
                <a:off x="1815" y="337"/>
                <a:ext cx="218" cy="2187"/>
                <a:chOff x="9878" y="1418"/>
                <a:chExt cx="360" cy="1800"/>
              </a:xfrm>
            </p:grpSpPr>
            <p:sp>
              <p:nvSpPr>
                <p:cNvPr id="60" name="Rectangle 59">
                  <a:extLst>
                    <a:ext uri="{FF2B5EF4-FFF2-40B4-BE49-F238E27FC236}">
                      <a16:creationId xmlns:a16="http://schemas.microsoft.com/office/drawing/2014/main" id="{0B08B24E-7AE7-452F-8D99-33EE695C0BAC}"/>
                    </a:ext>
                  </a:extLst>
                </p:cNvPr>
                <p:cNvSpPr>
                  <a:spLocks noChangeArrowheads="1"/>
                </p:cNvSpPr>
                <p:nvPr/>
              </p:nvSpPr>
              <p:spPr bwMode="auto">
                <a:xfrm>
                  <a:off x="9878" y="1958"/>
                  <a:ext cx="360" cy="720"/>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3200"/>
                </a:p>
              </p:txBody>
            </p:sp>
            <p:cxnSp>
              <p:nvCxnSpPr>
                <p:cNvPr id="61" name="Line 416">
                  <a:extLst>
                    <a:ext uri="{FF2B5EF4-FFF2-40B4-BE49-F238E27FC236}">
                      <a16:creationId xmlns:a16="http://schemas.microsoft.com/office/drawing/2014/main" id="{055EDA12-3604-44D6-B8E1-F44C8AF3D184}"/>
                    </a:ext>
                  </a:extLst>
                </p:cNvPr>
                <p:cNvCxnSpPr>
                  <a:cxnSpLocks noChangeShapeType="1"/>
                </p:cNvCxnSpPr>
                <p:nvPr/>
              </p:nvCxnSpPr>
              <p:spPr bwMode="auto">
                <a:xfrm>
                  <a:off x="10058" y="141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62" name="Line 417">
                  <a:extLst>
                    <a:ext uri="{FF2B5EF4-FFF2-40B4-BE49-F238E27FC236}">
                      <a16:creationId xmlns:a16="http://schemas.microsoft.com/office/drawing/2014/main" id="{5E68EA11-BF60-418D-85E1-11559CEEDA23}"/>
                    </a:ext>
                  </a:extLst>
                </p:cNvPr>
                <p:cNvCxnSpPr>
                  <a:cxnSpLocks noChangeShapeType="1"/>
                </p:cNvCxnSpPr>
                <p:nvPr/>
              </p:nvCxnSpPr>
              <p:spPr bwMode="auto">
                <a:xfrm>
                  <a:off x="10058" y="2678"/>
                  <a:ext cx="0" cy="5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grpSp>
        <p:sp>
          <p:nvSpPr>
            <p:cNvPr id="7" name="Rectangle 6">
              <a:extLst>
                <a:ext uri="{FF2B5EF4-FFF2-40B4-BE49-F238E27FC236}">
                  <a16:creationId xmlns:a16="http://schemas.microsoft.com/office/drawing/2014/main" id="{22851D0C-7EC2-4689-A89A-ADB56C955668}"/>
                </a:ext>
              </a:extLst>
            </p:cNvPr>
            <p:cNvSpPr>
              <a:spLocks noChangeArrowheads="1"/>
            </p:cNvSpPr>
            <p:nvPr/>
          </p:nvSpPr>
          <p:spPr bwMode="auto">
            <a:xfrm rot="5400000">
              <a:off x="6085" y="6819"/>
              <a:ext cx="158" cy="506"/>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3200"/>
            </a:p>
          </p:txBody>
        </p:sp>
        <p:cxnSp>
          <p:nvCxnSpPr>
            <p:cNvPr id="8" name="Line 419">
              <a:extLst>
                <a:ext uri="{FF2B5EF4-FFF2-40B4-BE49-F238E27FC236}">
                  <a16:creationId xmlns:a16="http://schemas.microsoft.com/office/drawing/2014/main" id="{84D27D88-F416-40FF-B37E-25048432CC35}"/>
                </a:ext>
              </a:extLst>
            </p:cNvPr>
            <p:cNvCxnSpPr>
              <a:cxnSpLocks noChangeShapeType="1"/>
            </p:cNvCxnSpPr>
            <p:nvPr/>
          </p:nvCxnSpPr>
          <p:spPr bwMode="auto">
            <a:xfrm rot="5400000">
              <a:off x="7671" y="5817"/>
              <a:ext cx="0" cy="2508"/>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9" name="Line 420">
              <a:extLst>
                <a:ext uri="{FF2B5EF4-FFF2-40B4-BE49-F238E27FC236}">
                  <a16:creationId xmlns:a16="http://schemas.microsoft.com/office/drawing/2014/main" id="{3AF18E13-0E11-4638-BA15-F5EC25E0B63A}"/>
                </a:ext>
              </a:extLst>
            </p:cNvPr>
            <p:cNvCxnSpPr>
              <a:cxnSpLocks noChangeShapeType="1"/>
            </p:cNvCxnSpPr>
            <p:nvPr/>
          </p:nvCxnSpPr>
          <p:spPr bwMode="auto">
            <a:xfrm rot="5400000">
              <a:off x="4667" y="5817"/>
              <a:ext cx="0" cy="2508"/>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0" name="Line 421">
              <a:extLst>
                <a:ext uri="{FF2B5EF4-FFF2-40B4-BE49-F238E27FC236}">
                  <a16:creationId xmlns:a16="http://schemas.microsoft.com/office/drawing/2014/main" id="{CF35276B-DBE5-43F5-B27B-A55E934D0FAB}"/>
                </a:ext>
              </a:extLst>
            </p:cNvPr>
            <p:cNvCxnSpPr>
              <a:cxnSpLocks noChangeShapeType="1"/>
            </p:cNvCxnSpPr>
            <p:nvPr/>
          </p:nvCxnSpPr>
          <p:spPr bwMode="auto">
            <a:xfrm rot="5400000">
              <a:off x="7130" y="9123"/>
              <a:ext cx="0" cy="1425"/>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1" name="Line 422">
              <a:extLst>
                <a:ext uri="{FF2B5EF4-FFF2-40B4-BE49-F238E27FC236}">
                  <a16:creationId xmlns:a16="http://schemas.microsoft.com/office/drawing/2014/main" id="{66C43E57-E3DB-41EF-9F26-8CF4058DDC15}"/>
                </a:ext>
              </a:extLst>
            </p:cNvPr>
            <p:cNvCxnSpPr>
              <a:cxnSpLocks noChangeShapeType="1"/>
            </p:cNvCxnSpPr>
            <p:nvPr/>
          </p:nvCxnSpPr>
          <p:spPr bwMode="auto">
            <a:xfrm rot="5400000">
              <a:off x="5334" y="8833"/>
              <a:ext cx="0" cy="114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2" name="Line 423">
              <a:extLst>
                <a:ext uri="{FF2B5EF4-FFF2-40B4-BE49-F238E27FC236}">
                  <a16:creationId xmlns:a16="http://schemas.microsoft.com/office/drawing/2014/main" id="{0FDD25A2-CCBF-4D4C-AF7A-9E177B64555E}"/>
                </a:ext>
              </a:extLst>
            </p:cNvPr>
            <p:cNvCxnSpPr>
              <a:cxnSpLocks noChangeShapeType="1"/>
            </p:cNvCxnSpPr>
            <p:nvPr/>
          </p:nvCxnSpPr>
          <p:spPr bwMode="auto">
            <a:xfrm rot="5400000">
              <a:off x="8213" y="7607"/>
              <a:ext cx="0" cy="359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13" name="Line 424">
              <a:extLst>
                <a:ext uri="{FF2B5EF4-FFF2-40B4-BE49-F238E27FC236}">
                  <a16:creationId xmlns:a16="http://schemas.microsoft.com/office/drawing/2014/main" id="{CDF80AD7-EC1F-4E50-BC00-6C174F9FE0ED}"/>
                </a:ext>
              </a:extLst>
            </p:cNvPr>
            <p:cNvCxnSpPr>
              <a:cxnSpLocks noChangeShapeType="1"/>
            </p:cNvCxnSpPr>
            <p:nvPr/>
          </p:nvCxnSpPr>
          <p:spPr bwMode="auto">
            <a:xfrm rot="5400000">
              <a:off x="4035" y="7989"/>
              <a:ext cx="0" cy="3705"/>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14" name="Text Box 425">
              <a:extLst>
                <a:ext uri="{FF2B5EF4-FFF2-40B4-BE49-F238E27FC236}">
                  <a16:creationId xmlns:a16="http://schemas.microsoft.com/office/drawing/2014/main" id="{A2F0492D-DE56-4269-BD9C-901F86927F39}"/>
                </a:ext>
              </a:extLst>
            </p:cNvPr>
            <p:cNvSpPr txBox="1">
              <a:spLocks noChangeArrowheads="1"/>
            </p:cNvSpPr>
            <p:nvPr/>
          </p:nvSpPr>
          <p:spPr bwMode="auto">
            <a:xfrm>
              <a:off x="5904" y="7107"/>
              <a:ext cx="474" cy="360"/>
            </a:xfrm>
            <a:prstGeom prst="rect">
              <a:avLst/>
            </a:prstGeom>
            <a:noFill/>
            <a:ln>
              <a:noFill/>
            </a:ln>
            <a:extLst>
              <a:ext uri="{909E8E84-426E-40DD-AFC4-6F175D3DCCD1}">
                <a14:hiddenFill xmlns:a14="http://schemas.microsoft.com/office/drawing/2010/main">
                  <a:solidFill>
                    <a:srgbClr val="C6D9F1"/>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 Box 426">
              <a:extLst>
                <a:ext uri="{FF2B5EF4-FFF2-40B4-BE49-F238E27FC236}">
                  <a16:creationId xmlns:a16="http://schemas.microsoft.com/office/drawing/2014/main" id="{07577B85-C2B3-4681-9B9B-EA1171551D2B}"/>
                </a:ext>
              </a:extLst>
            </p:cNvPr>
            <p:cNvSpPr txBox="1">
              <a:spLocks noChangeArrowheads="1"/>
            </p:cNvSpPr>
            <p:nvPr/>
          </p:nvSpPr>
          <p:spPr bwMode="auto">
            <a:xfrm>
              <a:off x="5904" y="8952"/>
              <a:ext cx="474" cy="360"/>
            </a:xfrm>
            <a:prstGeom prst="rect">
              <a:avLst/>
            </a:prstGeom>
            <a:noFill/>
            <a:ln>
              <a:noFill/>
            </a:ln>
            <a:extLst>
              <a:ext uri="{909E8E84-426E-40DD-AFC4-6F175D3DCCD1}">
                <a14:hiddenFill xmlns:a14="http://schemas.microsoft.com/office/drawing/2010/main">
                  <a:solidFill>
                    <a:srgbClr val="C6D9F1"/>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 Box 427">
              <a:extLst>
                <a:ext uri="{FF2B5EF4-FFF2-40B4-BE49-F238E27FC236}">
                  <a16:creationId xmlns:a16="http://schemas.microsoft.com/office/drawing/2014/main" id="{EDA1B1BB-7E1B-4D59-B96D-7FD976208414}"/>
                </a:ext>
              </a:extLst>
            </p:cNvPr>
            <p:cNvSpPr txBox="1">
              <a:spLocks noChangeArrowheads="1"/>
            </p:cNvSpPr>
            <p:nvPr/>
          </p:nvSpPr>
          <p:spPr bwMode="auto">
            <a:xfrm>
              <a:off x="5904" y="9384"/>
              <a:ext cx="474" cy="360"/>
            </a:xfrm>
            <a:prstGeom prst="rect">
              <a:avLst/>
            </a:prstGeom>
            <a:noFill/>
            <a:ln>
              <a:noFill/>
            </a:ln>
            <a:extLst>
              <a:ext uri="{909E8E84-426E-40DD-AFC4-6F175D3DCCD1}">
                <a14:hiddenFill xmlns:a14="http://schemas.microsoft.com/office/drawing/2010/main">
                  <a:solidFill>
                    <a:srgbClr val="C6D9F1"/>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line</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Rectangle 16">
              <a:extLst>
                <a:ext uri="{FF2B5EF4-FFF2-40B4-BE49-F238E27FC236}">
                  <a16:creationId xmlns:a16="http://schemas.microsoft.com/office/drawing/2014/main" id="{617D4944-9DA4-49F6-B822-EBA14B07D4FD}"/>
                </a:ext>
              </a:extLst>
            </p:cNvPr>
            <p:cNvSpPr>
              <a:spLocks noChangeArrowheads="1"/>
            </p:cNvSpPr>
            <p:nvPr/>
          </p:nvSpPr>
          <p:spPr bwMode="auto">
            <a:xfrm rot="5400000">
              <a:off x="6085" y="9149"/>
              <a:ext cx="158" cy="506"/>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3200"/>
            </a:p>
          </p:txBody>
        </p:sp>
        <p:sp>
          <p:nvSpPr>
            <p:cNvPr id="18" name="Rectangle 17">
              <a:extLst>
                <a:ext uri="{FF2B5EF4-FFF2-40B4-BE49-F238E27FC236}">
                  <a16:creationId xmlns:a16="http://schemas.microsoft.com/office/drawing/2014/main" id="{49F2B427-5D98-4439-A3AB-32B82835DC1B}"/>
                </a:ext>
              </a:extLst>
            </p:cNvPr>
            <p:cNvSpPr>
              <a:spLocks noChangeArrowheads="1"/>
            </p:cNvSpPr>
            <p:nvPr/>
          </p:nvSpPr>
          <p:spPr bwMode="auto">
            <a:xfrm rot="5400000">
              <a:off x="6061" y="9584"/>
              <a:ext cx="158" cy="506"/>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3200"/>
            </a:p>
          </p:txBody>
        </p:sp>
        <p:cxnSp>
          <p:nvCxnSpPr>
            <p:cNvPr id="19" name="Line 430">
              <a:extLst>
                <a:ext uri="{FF2B5EF4-FFF2-40B4-BE49-F238E27FC236}">
                  <a16:creationId xmlns:a16="http://schemas.microsoft.com/office/drawing/2014/main" id="{50668C40-6100-4427-A0FE-ADF1A5875EFA}"/>
                </a:ext>
              </a:extLst>
            </p:cNvPr>
            <p:cNvCxnSpPr>
              <a:cxnSpLocks noChangeShapeType="1"/>
            </p:cNvCxnSpPr>
            <p:nvPr/>
          </p:nvCxnSpPr>
          <p:spPr bwMode="auto">
            <a:xfrm>
              <a:off x="8925" y="7084"/>
              <a:ext cx="0" cy="17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0" name="Line 431">
              <a:extLst>
                <a:ext uri="{FF2B5EF4-FFF2-40B4-BE49-F238E27FC236}">
                  <a16:creationId xmlns:a16="http://schemas.microsoft.com/office/drawing/2014/main" id="{E9D23B11-3375-4CB9-AE5A-D3E2D13E48A5}"/>
                </a:ext>
              </a:extLst>
            </p:cNvPr>
            <p:cNvCxnSpPr>
              <a:cxnSpLocks noChangeShapeType="1"/>
            </p:cNvCxnSpPr>
            <p:nvPr/>
          </p:nvCxnSpPr>
          <p:spPr bwMode="auto">
            <a:xfrm>
              <a:off x="10008" y="9158"/>
              <a:ext cx="0" cy="285"/>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nvGrpSpPr>
            <p:cNvPr id="21" name="Group 20">
              <a:extLst>
                <a:ext uri="{FF2B5EF4-FFF2-40B4-BE49-F238E27FC236}">
                  <a16:creationId xmlns:a16="http://schemas.microsoft.com/office/drawing/2014/main" id="{6FE4D669-7F59-4250-A596-B6209C6F7C61}"/>
                </a:ext>
              </a:extLst>
            </p:cNvPr>
            <p:cNvGrpSpPr>
              <a:grpSpLocks/>
            </p:cNvGrpSpPr>
            <p:nvPr/>
          </p:nvGrpSpPr>
          <p:grpSpPr bwMode="auto">
            <a:xfrm>
              <a:off x="2043" y="7066"/>
              <a:ext cx="2835" cy="2403"/>
              <a:chOff x="7778" y="9455"/>
              <a:chExt cx="2835" cy="2403"/>
            </a:xfrm>
          </p:grpSpPr>
          <p:cxnSp>
            <p:nvCxnSpPr>
              <p:cNvPr id="27" name="Line 433">
                <a:extLst>
                  <a:ext uri="{FF2B5EF4-FFF2-40B4-BE49-F238E27FC236}">
                    <a16:creationId xmlns:a16="http://schemas.microsoft.com/office/drawing/2014/main" id="{7A9092BF-8E8F-4B74-AFF2-00C37F75B9F5}"/>
                  </a:ext>
                </a:extLst>
              </p:cNvPr>
              <p:cNvCxnSpPr>
                <a:cxnSpLocks noChangeAspect="1" noChangeShapeType="1"/>
              </p:cNvCxnSpPr>
              <p:nvPr/>
            </p:nvCxnSpPr>
            <p:spPr bwMode="auto">
              <a:xfrm flipV="1">
                <a:off x="9185" y="9455"/>
                <a:ext cx="0" cy="1512"/>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8" name="Line 434">
                <a:extLst>
                  <a:ext uri="{FF2B5EF4-FFF2-40B4-BE49-F238E27FC236}">
                    <a16:creationId xmlns:a16="http://schemas.microsoft.com/office/drawing/2014/main" id="{3A98B24F-1B8B-4EB0-A0D0-97DC50E168F8}"/>
                  </a:ext>
                </a:extLst>
              </p:cNvPr>
              <p:cNvCxnSpPr>
                <a:cxnSpLocks noChangeAspect="1" noChangeShapeType="1"/>
              </p:cNvCxnSpPr>
              <p:nvPr/>
            </p:nvCxnSpPr>
            <p:spPr bwMode="auto">
              <a:xfrm rot="7200000" flipV="1">
                <a:off x="9856" y="10590"/>
                <a:ext cx="1" cy="1512"/>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9" name="Line 435">
                <a:extLst>
                  <a:ext uri="{FF2B5EF4-FFF2-40B4-BE49-F238E27FC236}">
                    <a16:creationId xmlns:a16="http://schemas.microsoft.com/office/drawing/2014/main" id="{602B2A45-5149-40C2-904E-F9BA52F3EF4E}"/>
                  </a:ext>
                </a:extLst>
              </p:cNvPr>
              <p:cNvCxnSpPr>
                <a:cxnSpLocks noChangeAspect="1" noChangeShapeType="1"/>
              </p:cNvCxnSpPr>
              <p:nvPr/>
            </p:nvCxnSpPr>
            <p:spPr bwMode="auto">
              <a:xfrm rot="14400000" flipV="1">
                <a:off x="8533" y="10569"/>
                <a:ext cx="1" cy="1512"/>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30" name="Text Box 436">
                <a:extLst>
                  <a:ext uri="{FF2B5EF4-FFF2-40B4-BE49-F238E27FC236}">
                    <a16:creationId xmlns:a16="http://schemas.microsoft.com/office/drawing/2014/main" id="{2F338015-FDD0-44D4-A501-9CB08DC99F97}"/>
                  </a:ext>
                </a:extLst>
              </p:cNvPr>
              <p:cNvSpPr txBox="1">
                <a:spLocks noChangeArrowheads="1"/>
              </p:cNvSpPr>
              <p:nvPr/>
            </p:nvSpPr>
            <p:spPr bwMode="auto">
              <a:xfrm>
                <a:off x="8498" y="10418"/>
                <a:ext cx="360" cy="360"/>
              </a:xfrm>
              <a:prstGeom prst="rect">
                <a:avLst/>
              </a:prstGeom>
              <a:noFill/>
              <a:ln>
                <a:noFill/>
              </a:ln>
              <a:extLst>
                <a:ext uri="{909E8E84-426E-40DD-AFC4-6F175D3DCCD1}">
                  <a14:hiddenFill xmlns:a14="http://schemas.microsoft.com/office/drawing/2010/main">
                    <a:solidFill>
                      <a:srgbClr val="C6D9F1"/>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1" name="Text Box 437">
                <a:extLst>
                  <a:ext uri="{FF2B5EF4-FFF2-40B4-BE49-F238E27FC236}">
                    <a16:creationId xmlns:a16="http://schemas.microsoft.com/office/drawing/2014/main" id="{01E0A661-8D2C-4E6C-8491-F8424D0FE57D}"/>
                  </a:ext>
                </a:extLst>
              </p:cNvPr>
              <p:cNvSpPr txBox="1">
                <a:spLocks noChangeArrowheads="1"/>
              </p:cNvSpPr>
              <p:nvPr/>
            </p:nvSpPr>
            <p:spPr bwMode="auto">
              <a:xfrm>
                <a:off x="9578" y="10598"/>
                <a:ext cx="360" cy="360"/>
              </a:xfrm>
              <a:prstGeom prst="rect">
                <a:avLst/>
              </a:prstGeom>
              <a:noFill/>
              <a:ln>
                <a:noFill/>
              </a:ln>
              <a:extLst>
                <a:ext uri="{909E8E84-426E-40DD-AFC4-6F175D3DCCD1}">
                  <a14:hiddenFill xmlns:a14="http://schemas.microsoft.com/office/drawing/2010/main">
                    <a:solidFill>
                      <a:srgbClr val="C6D9F1"/>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Y</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2" name="Text Box 438">
                <a:extLst>
                  <a:ext uri="{FF2B5EF4-FFF2-40B4-BE49-F238E27FC236}">
                    <a16:creationId xmlns:a16="http://schemas.microsoft.com/office/drawing/2014/main" id="{2058EB55-5985-4D1E-A6A8-A0DD73388D95}"/>
                  </a:ext>
                </a:extLst>
              </p:cNvPr>
              <p:cNvSpPr txBox="1">
                <a:spLocks noChangeArrowheads="1"/>
              </p:cNvSpPr>
              <p:nvPr/>
            </p:nvSpPr>
            <p:spPr bwMode="auto">
              <a:xfrm>
                <a:off x="8858" y="11498"/>
                <a:ext cx="360" cy="360"/>
              </a:xfrm>
              <a:prstGeom prst="rect">
                <a:avLst/>
              </a:prstGeom>
              <a:noFill/>
              <a:ln>
                <a:noFill/>
              </a:ln>
              <a:extLst>
                <a:ext uri="{909E8E84-426E-40DD-AFC4-6F175D3DCCD1}">
                  <a14:hiddenFill xmlns:a14="http://schemas.microsoft.com/office/drawing/2010/main">
                    <a:solidFill>
                      <a:srgbClr val="C6D9F1"/>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3" name="Group 32">
                <a:extLst>
                  <a:ext uri="{FF2B5EF4-FFF2-40B4-BE49-F238E27FC236}">
                    <a16:creationId xmlns:a16="http://schemas.microsoft.com/office/drawing/2014/main" id="{0541E629-EC7B-4D5E-98F8-0FF210463C8B}"/>
                  </a:ext>
                </a:extLst>
              </p:cNvPr>
              <p:cNvGrpSpPr>
                <a:grpSpLocks noChangeAspect="1"/>
              </p:cNvGrpSpPr>
              <p:nvPr/>
            </p:nvGrpSpPr>
            <p:grpSpPr bwMode="auto">
              <a:xfrm>
                <a:off x="8978" y="10415"/>
                <a:ext cx="363" cy="363"/>
                <a:chOff x="8858" y="9998"/>
                <a:chExt cx="600" cy="600"/>
              </a:xfrm>
            </p:grpSpPr>
            <p:sp>
              <p:nvSpPr>
                <p:cNvPr id="53" name="Oval 52">
                  <a:extLst>
                    <a:ext uri="{FF2B5EF4-FFF2-40B4-BE49-F238E27FC236}">
                      <a16:creationId xmlns:a16="http://schemas.microsoft.com/office/drawing/2014/main" id="{E12BA06D-7DAE-4027-B532-089A9BD0F959}"/>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3200"/>
                </a:p>
              </p:txBody>
            </p:sp>
            <p:grpSp>
              <p:nvGrpSpPr>
                <p:cNvPr id="54" name="Group 53">
                  <a:extLst>
                    <a:ext uri="{FF2B5EF4-FFF2-40B4-BE49-F238E27FC236}">
                      <a16:creationId xmlns:a16="http://schemas.microsoft.com/office/drawing/2014/main" id="{790EE1F1-0391-4991-867C-4B2BDAEFB7A9}"/>
                    </a:ext>
                  </a:extLst>
                </p:cNvPr>
                <p:cNvGrpSpPr>
                  <a:grpSpLocks noChangeAspect="1"/>
                </p:cNvGrpSpPr>
                <p:nvPr/>
              </p:nvGrpSpPr>
              <p:grpSpPr bwMode="auto">
                <a:xfrm>
                  <a:off x="8974" y="10146"/>
                  <a:ext cx="362" cy="272"/>
                  <a:chOff x="4778" y="6098"/>
                  <a:chExt cx="2880" cy="1440"/>
                </a:xfrm>
              </p:grpSpPr>
              <p:sp>
                <p:nvSpPr>
                  <p:cNvPr id="55" name="Arc 442">
                    <a:extLst>
                      <a:ext uri="{FF2B5EF4-FFF2-40B4-BE49-F238E27FC236}">
                        <a16:creationId xmlns:a16="http://schemas.microsoft.com/office/drawing/2014/main" id="{941CECE0-75F7-4BE6-ADFA-8DF3A2993DD8}"/>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3200"/>
                  </a:p>
                </p:txBody>
              </p:sp>
              <p:sp>
                <p:nvSpPr>
                  <p:cNvPr id="56" name="Arc 443">
                    <a:extLst>
                      <a:ext uri="{FF2B5EF4-FFF2-40B4-BE49-F238E27FC236}">
                        <a16:creationId xmlns:a16="http://schemas.microsoft.com/office/drawing/2014/main" id="{3FB4B000-B076-444F-AF15-0A3BA5808E25}"/>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3200"/>
                  </a:p>
                </p:txBody>
              </p:sp>
            </p:grpSp>
          </p:grpSp>
          <p:grpSp>
            <p:nvGrpSpPr>
              <p:cNvPr id="34" name="Group 33">
                <a:extLst>
                  <a:ext uri="{FF2B5EF4-FFF2-40B4-BE49-F238E27FC236}">
                    <a16:creationId xmlns:a16="http://schemas.microsoft.com/office/drawing/2014/main" id="{24C123B6-70C4-426E-B90A-693F2D946EA9}"/>
                  </a:ext>
                </a:extLst>
              </p:cNvPr>
              <p:cNvGrpSpPr>
                <a:grpSpLocks noChangeAspect="1"/>
              </p:cNvGrpSpPr>
              <p:nvPr/>
            </p:nvGrpSpPr>
            <p:grpSpPr bwMode="auto">
              <a:xfrm>
                <a:off x="9320" y="10955"/>
                <a:ext cx="363" cy="363"/>
                <a:chOff x="8858" y="9998"/>
                <a:chExt cx="600" cy="600"/>
              </a:xfrm>
            </p:grpSpPr>
            <p:sp>
              <p:nvSpPr>
                <p:cNvPr id="49" name="Oval 48">
                  <a:extLst>
                    <a:ext uri="{FF2B5EF4-FFF2-40B4-BE49-F238E27FC236}">
                      <a16:creationId xmlns:a16="http://schemas.microsoft.com/office/drawing/2014/main" id="{D3D2959E-FF5A-4231-942D-9FA283A15A1B}"/>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3200"/>
                </a:p>
              </p:txBody>
            </p:sp>
            <p:grpSp>
              <p:nvGrpSpPr>
                <p:cNvPr id="50" name="Group 49">
                  <a:extLst>
                    <a:ext uri="{FF2B5EF4-FFF2-40B4-BE49-F238E27FC236}">
                      <a16:creationId xmlns:a16="http://schemas.microsoft.com/office/drawing/2014/main" id="{6510788E-1FB4-4944-9943-8E8DED2AD618}"/>
                    </a:ext>
                  </a:extLst>
                </p:cNvPr>
                <p:cNvGrpSpPr>
                  <a:grpSpLocks noChangeAspect="1"/>
                </p:cNvGrpSpPr>
                <p:nvPr/>
              </p:nvGrpSpPr>
              <p:grpSpPr bwMode="auto">
                <a:xfrm>
                  <a:off x="8974" y="10146"/>
                  <a:ext cx="362" cy="272"/>
                  <a:chOff x="4778" y="6098"/>
                  <a:chExt cx="2880" cy="1440"/>
                </a:xfrm>
              </p:grpSpPr>
              <p:sp>
                <p:nvSpPr>
                  <p:cNvPr id="51" name="Arc 447">
                    <a:extLst>
                      <a:ext uri="{FF2B5EF4-FFF2-40B4-BE49-F238E27FC236}">
                        <a16:creationId xmlns:a16="http://schemas.microsoft.com/office/drawing/2014/main" id="{665B2FE0-4952-49EA-B666-E6A5CE331735}"/>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3200"/>
                  </a:p>
                </p:txBody>
              </p:sp>
              <p:sp>
                <p:nvSpPr>
                  <p:cNvPr id="52" name="Arc 448">
                    <a:extLst>
                      <a:ext uri="{FF2B5EF4-FFF2-40B4-BE49-F238E27FC236}">
                        <a16:creationId xmlns:a16="http://schemas.microsoft.com/office/drawing/2014/main" id="{5B967245-5245-4C8C-BE5B-6D3A7841958A}"/>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3200"/>
                  </a:p>
                </p:txBody>
              </p:sp>
            </p:grpSp>
          </p:grpSp>
          <p:grpSp>
            <p:nvGrpSpPr>
              <p:cNvPr id="35" name="Group 34">
                <a:extLst>
                  <a:ext uri="{FF2B5EF4-FFF2-40B4-BE49-F238E27FC236}">
                    <a16:creationId xmlns:a16="http://schemas.microsoft.com/office/drawing/2014/main" id="{95D345C0-2EEE-4901-83C2-C43AB2999493}"/>
                  </a:ext>
                </a:extLst>
              </p:cNvPr>
              <p:cNvGrpSpPr>
                <a:grpSpLocks noChangeAspect="1"/>
              </p:cNvGrpSpPr>
              <p:nvPr/>
            </p:nvGrpSpPr>
            <p:grpSpPr bwMode="auto">
              <a:xfrm>
                <a:off x="8690" y="10955"/>
                <a:ext cx="363" cy="363"/>
                <a:chOff x="8858" y="9998"/>
                <a:chExt cx="600" cy="600"/>
              </a:xfrm>
            </p:grpSpPr>
            <p:sp>
              <p:nvSpPr>
                <p:cNvPr id="45" name="Oval 44">
                  <a:extLst>
                    <a:ext uri="{FF2B5EF4-FFF2-40B4-BE49-F238E27FC236}">
                      <a16:creationId xmlns:a16="http://schemas.microsoft.com/office/drawing/2014/main" id="{97790899-0A3D-4387-B4C4-6729D9B85AAB}"/>
                    </a:ext>
                  </a:extLst>
                </p:cNvPr>
                <p:cNvSpPr>
                  <a:spLocks noChangeAspect="1" noChangeArrowheads="1"/>
                </p:cNvSpPr>
                <p:nvPr/>
              </p:nvSpPr>
              <p:spPr bwMode="auto">
                <a:xfrm>
                  <a:off x="8858" y="9998"/>
                  <a:ext cx="600" cy="600"/>
                </a:xfrm>
                <a:prstGeom prst="ellipse">
                  <a:avLst/>
                </a:pr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3200"/>
                </a:p>
              </p:txBody>
            </p:sp>
            <p:grpSp>
              <p:nvGrpSpPr>
                <p:cNvPr id="46" name="Group 45">
                  <a:extLst>
                    <a:ext uri="{FF2B5EF4-FFF2-40B4-BE49-F238E27FC236}">
                      <a16:creationId xmlns:a16="http://schemas.microsoft.com/office/drawing/2014/main" id="{77EDA3A2-2E9D-4D75-9E5B-11F3FE35EB31}"/>
                    </a:ext>
                  </a:extLst>
                </p:cNvPr>
                <p:cNvGrpSpPr>
                  <a:grpSpLocks noChangeAspect="1"/>
                </p:cNvGrpSpPr>
                <p:nvPr/>
              </p:nvGrpSpPr>
              <p:grpSpPr bwMode="auto">
                <a:xfrm>
                  <a:off x="8974" y="10146"/>
                  <a:ext cx="362" cy="272"/>
                  <a:chOff x="4778" y="6098"/>
                  <a:chExt cx="2880" cy="1440"/>
                </a:xfrm>
              </p:grpSpPr>
              <p:sp>
                <p:nvSpPr>
                  <p:cNvPr id="47" name="Arc 452">
                    <a:extLst>
                      <a:ext uri="{FF2B5EF4-FFF2-40B4-BE49-F238E27FC236}">
                        <a16:creationId xmlns:a16="http://schemas.microsoft.com/office/drawing/2014/main" id="{766651AD-D21E-4AD8-910A-28AAD689B507}"/>
                      </a:ext>
                    </a:extLst>
                  </p:cNvPr>
                  <p:cNvSpPr>
                    <a:spLocks noChangeAspect="1"/>
                  </p:cNvSpPr>
                  <p:nvPr/>
                </p:nvSpPr>
                <p:spPr bwMode="auto">
                  <a:xfrm flipH="1">
                    <a:off x="4778" y="609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3200"/>
                  </a:p>
                </p:txBody>
              </p:sp>
              <p:sp>
                <p:nvSpPr>
                  <p:cNvPr id="48" name="Arc 453">
                    <a:extLst>
                      <a:ext uri="{FF2B5EF4-FFF2-40B4-BE49-F238E27FC236}">
                        <a16:creationId xmlns:a16="http://schemas.microsoft.com/office/drawing/2014/main" id="{C4519D34-0E92-490A-8FEA-64538823E8B8}"/>
                      </a:ext>
                    </a:extLst>
                  </p:cNvPr>
                  <p:cNvSpPr>
                    <a:spLocks noChangeAspect="1"/>
                  </p:cNvSpPr>
                  <p:nvPr/>
                </p:nvSpPr>
                <p:spPr bwMode="auto">
                  <a:xfrm flipH="1" flipV="1">
                    <a:off x="6219" y="6818"/>
                    <a:ext cx="1439" cy="720"/>
                  </a:xfrm>
                  <a:custGeom>
                    <a:avLst/>
                    <a:gdLst>
                      <a:gd name="G0" fmla="+- 21595 0 0"/>
                      <a:gd name="G1" fmla="+- 21600 0 0"/>
                      <a:gd name="G2" fmla="+- 21600 0 0"/>
                      <a:gd name="T0" fmla="*/ 0 w 43195"/>
                      <a:gd name="T1" fmla="*/ 21149 h 21600"/>
                      <a:gd name="T2" fmla="*/ 43195 w 43195"/>
                      <a:gd name="T3" fmla="*/ 21600 h 21600"/>
                      <a:gd name="T4" fmla="*/ 21595 w 43195"/>
                      <a:gd name="T5" fmla="*/ 21600 h 21600"/>
                    </a:gdLst>
                    <a:ahLst/>
                    <a:cxnLst>
                      <a:cxn ang="0">
                        <a:pos x="T0" y="T1"/>
                      </a:cxn>
                      <a:cxn ang="0">
                        <a:pos x="T2" y="T3"/>
                      </a:cxn>
                      <a:cxn ang="0">
                        <a:pos x="T4" y="T5"/>
                      </a:cxn>
                    </a:cxnLst>
                    <a:rect l="0" t="0" r="r" b="b"/>
                    <a:pathLst>
                      <a:path w="43195" h="21600" fill="none" extrusionOk="0">
                        <a:moveTo>
                          <a:pt x="-1" y="21148"/>
                        </a:moveTo>
                        <a:cubicBezTo>
                          <a:pt x="245" y="9397"/>
                          <a:pt x="9841" y="0"/>
                          <a:pt x="21595" y="0"/>
                        </a:cubicBezTo>
                        <a:cubicBezTo>
                          <a:pt x="33524" y="0"/>
                          <a:pt x="43195" y="9670"/>
                          <a:pt x="43195" y="21600"/>
                        </a:cubicBezTo>
                      </a:path>
                      <a:path w="43195" h="21600" stroke="0" extrusionOk="0">
                        <a:moveTo>
                          <a:pt x="-1" y="21148"/>
                        </a:moveTo>
                        <a:cubicBezTo>
                          <a:pt x="245" y="9397"/>
                          <a:pt x="9841" y="0"/>
                          <a:pt x="21595" y="0"/>
                        </a:cubicBezTo>
                        <a:cubicBezTo>
                          <a:pt x="33524" y="0"/>
                          <a:pt x="43195" y="9670"/>
                          <a:pt x="43195" y="21600"/>
                        </a:cubicBezTo>
                        <a:lnTo>
                          <a:pt x="21595"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3200"/>
                  </a:p>
                </p:txBody>
              </p:sp>
            </p:grpSp>
          </p:grpSp>
          <p:sp>
            <p:nvSpPr>
              <p:cNvPr id="36" name="Rectangle 35">
                <a:extLst>
                  <a:ext uri="{FF2B5EF4-FFF2-40B4-BE49-F238E27FC236}">
                    <a16:creationId xmlns:a16="http://schemas.microsoft.com/office/drawing/2014/main" id="{AE890F9E-795B-4C2D-95D2-9422F3BAD015}"/>
                  </a:ext>
                </a:extLst>
              </p:cNvPr>
              <p:cNvSpPr>
                <a:spLocks noChangeAspect="1" noChangeArrowheads="1"/>
              </p:cNvSpPr>
              <p:nvPr/>
            </p:nvSpPr>
            <p:spPr bwMode="auto">
              <a:xfrm rot="10800000">
                <a:off x="9113" y="9878"/>
                <a:ext cx="130" cy="305"/>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3200"/>
              </a:p>
            </p:txBody>
          </p:sp>
          <p:sp>
            <p:nvSpPr>
              <p:cNvPr id="37" name="Rectangle 36">
                <a:extLst>
                  <a:ext uri="{FF2B5EF4-FFF2-40B4-BE49-F238E27FC236}">
                    <a16:creationId xmlns:a16="http://schemas.microsoft.com/office/drawing/2014/main" id="{32F25DE1-D492-4CDE-ACB3-2AB505567DE6}"/>
                  </a:ext>
                </a:extLst>
              </p:cNvPr>
              <p:cNvSpPr>
                <a:spLocks noChangeAspect="1" noChangeArrowheads="1"/>
              </p:cNvSpPr>
              <p:nvPr/>
            </p:nvSpPr>
            <p:spPr bwMode="auto">
              <a:xfrm rot="25200000">
                <a:off x="8331" y="11260"/>
                <a:ext cx="130" cy="305"/>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3200"/>
              </a:p>
            </p:txBody>
          </p:sp>
          <p:sp>
            <p:nvSpPr>
              <p:cNvPr id="38" name="Rectangle 37">
                <a:extLst>
                  <a:ext uri="{FF2B5EF4-FFF2-40B4-BE49-F238E27FC236}">
                    <a16:creationId xmlns:a16="http://schemas.microsoft.com/office/drawing/2014/main" id="{62635C86-C873-40E8-8F60-ACEFBD49CEE3}"/>
                  </a:ext>
                </a:extLst>
              </p:cNvPr>
              <p:cNvSpPr>
                <a:spLocks noChangeAspect="1" noChangeArrowheads="1"/>
              </p:cNvSpPr>
              <p:nvPr/>
            </p:nvSpPr>
            <p:spPr bwMode="auto">
              <a:xfrm rot="7200000" flipV="1">
                <a:off x="9936" y="11290"/>
                <a:ext cx="130" cy="305"/>
              </a:xfrm>
              <a:prstGeom prst="rect">
                <a:avLst/>
              </a:prstGeom>
              <a:solidFill>
                <a:srgbClr val="C6D9F1"/>
              </a:solidFill>
              <a:ln w="28575">
                <a:solidFill>
                  <a:srgbClr val="002060"/>
                </a:solidFill>
                <a:miter lim="800000"/>
                <a:headEnd/>
                <a:tailEnd/>
              </a:ln>
            </p:spPr>
            <p:txBody>
              <a:bodyPr rot="0" vert="horz" wrap="square" lIns="91440" tIns="45720" rIns="91440" bIns="45720" anchor="t" anchorCtr="0" upright="1">
                <a:noAutofit/>
              </a:bodyPr>
              <a:lstStyle/>
              <a:p>
                <a:endParaRPr lang="en-GB" sz="3200"/>
              </a:p>
            </p:txBody>
          </p:sp>
          <p:cxnSp>
            <p:nvCxnSpPr>
              <p:cNvPr id="39" name="Line 457">
                <a:extLst>
                  <a:ext uri="{FF2B5EF4-FFF2-40B4-BE49-F238E27FC236}">
                    <a16:creationId xmlns:a16="http://schemas.microsoft.com/office/drawing/2014/main" id="{E9E315EF-2175-4E68-892C-267A6677E5E1}"/>
                  </a:ext>
                </a:extLst>
              </p:cNvPr>
              <p:cNvCxnSpPr>
                <a:cxnSpLocks noChangeAspect="1" noChangeShapeType="1"/>
              </p:cNvCxnSpPr>
              <p:nvPr/>
            </p:nvCxnSpPr>
            <p:spPr bwMode="auto">
              <a:xfrm rot="10800000">
                <a:off x="8858" y="10418"/>
                <a:ext cx="0" cy="345"/>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40" name="Line 458">
                <a:extLst>
                  <a:ext uri="{FF2B5EF4-FFF2-40B4-BE49-F238E27FC236}">
                    <a16:creationId xmlns:a16="http://schemas.microsoft.com/office/drawing/2014/main" id="{766824FE-2693-4E2F-802F-B953C9C9F56D}"/>
                  </a:ext>
                </a:extLst>
              </p:cNvPr>
              <p:cNvCxnSpPr>
                <a:cxnSpLocks noChangeAspect="1" noChangeShapeType="1"/>
              </p:cNvCxnSpPr>
              <p:nvPr/>
            </p:nvCxnSpPr>
            <p:spPr bwMode="auto">
              <a:xfrm rot="25200000">
                <a:off x="9001" y="11220"/>
                <a:ext cx="0" cy="345"/>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41" name="Line 459">
                <a:extLst>
                  <a:ext uri="{FF2B5EF4-FFF2-40B4-BE49-F238E27FC236}">
                    <a16:creationId xmlns:a16="http://schemas.microsoft.com/office/drawing/2014/main" id="{89CE4722-F20C-46B0-B1E7-00433FD935D4}"/>
                  </a:ext>
                </a:extLst>
              </p:cNvPr>
              <p:cNvCxnSpPr>
                <a:cxnSpLocks noChangeAspect="1" noChangeShapeType="1"/>
              </p:cNvCxnSpPr>
              <p:nvPr/>
            </p:nvCxnSpPr>
            <p:spPr bwMode="auto">
              <a:xfrm rot="7200000" flipV="1">
                <a:off x="9721" y="10755"/>
                <a:ext cx="0" cy="345"/>
              </a:xfrm>
              <a:prstGeom prst="line">
                <a:avLst/>
              </a:prstGeom>
              <a:noFill/>
              <a:ln w="28575">
                <a:solidFill>
                  <a:srgbClr val="002060"/>
                </a:solidFill>
                <a:round/>
                <a:headEnd/>
                <a:tailEnd type="arrow" w="med" len="med"/>
              </a:ln>
              <a:extLst>
                <a:ext uri="{909E8E84-426E-40DD-AFC4-6F175D3DCCD1}">
                  <a14:hiddenFill xmlns:a14="http://schemas.microsoft.com/office/drawing/2010/main">
                    <a:noFill/>
                  </a14:hiddenFill>
                </a:ext>
              </a:extLst>
            </p:spPr>
          </p:cxnSp>
          <p:sp>
            <p:nvSpPr>
              <p:cNvPr id="42" name="Text Box 460">
                <a:extLst>
                  <a:ext uri="{FF2B5EF4-FFF2-40B4-BE49-F238E27FC236}">
                    <a16:creationId xmlns:a16="http://schemas.microsoft.com/office/drawing/2014/main" id="{3E44B533-E5E8-4884-9774-F33AFFDF46E1}"/>
                  </a:ext>
                </a:extLst>
              </p:cNvPr>
              <p:cNvSpPr txBox="1">
                <a:spLocks noChangeArrowheads="1"/>
              </p:cNvSpPr>
              <p:nvPr/>
            </p:nvSpPr>
            <p:spPr bwMode="auto">
              <a:xfrm>
                <a:off x="8858" y="9818"/>
                <a:ext cx="360" cy="360"/>
              </a:xfrm>
              <a:prstGeom prst="rect">
                <a:avLst/>
              </a:prstGeom>
              <a:noFill/>
              <a:ln>
                <a:noFill/>
              </a:ln>
              <a:extLst>
                <a:ext uri="{909E8E84-426E-40DD-AFC4-6F175D3DCCD1}">
                  <a14:hiddenFill xmlns:a14="http://schemas.microsoft.com/office/drawing/2010/main">
                    <a:solidFill>
                      <a:srgbClr val="C6D9F1"/>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3" name="Text Box 461">
                <a:extLst>
                  <a:ext uri="{FF2B5EF4-FFF2-40B4-BE49-F238E27FC236}">
                    <a16:creationId xmlns:a16="http://schemas.microsoft.com/office/drawing/2014/main" id="{C5AEDF43-8913-4BED-BDE1-33C277F411F0}"/>
                  </a:ext>
                </a:extLst>
              </p:cNvPr>
              <p:cNvSpPr txBox="1">
                <a:spLocks noChangeArrowheads="1"/>
              </p:cNvSpPr>
              <p:nvPr/>
            </p:nvSpPr>
            <p:spPr bwMode="auto">
              <a:xfrm>
                <a:off x="10028" y="11063"/>
                <a:ext cx="360" cy="360"/>
              </a:xfrm>
              <a:prstGeom prst="rect">
                <a:avLst/>
              </a:prstGeom>
              <a:noFill/>
              <a:ln>
                <a:noFill/>
              </a:ln>
              <a:extLst>
                <a:ext uri="{909E8E84-426E-40DD-AFC4-6F175D3DCCD1}">
                  <a14:hiddenFill xmlns:a14="http://schemas.microsoft.com/office/drawing/2010/main">
                    <a:solidFill>
                      <a:srgbClr val="C6D9F1"/>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4" name="Text Box 462">
                <a:extLst>
                  <a:ext uri="{FF2B5EF4-FFF2-40B4-BE49-F238E27FC236}">
                    <a16:creationId xmlns:a16="http://schemas.microsoft.com/office/drawing/2014/main" id="{B88DDCCD-4578-4D0D-8F17-756D688203FE}"/>
                  </a:ext>
                </a:extLst>
              </p:cNvPr>
              <p:cNvSpPr txBox="1">
                <a:spLocks noChangeArrowheads="1"/>
              </p:cNvSpPr>
              <p:nvPr/>
            </p:nvSpPr>
            <p:spPr bwMode="auto">
              <a:xfrm>
                <a:off x="8438" y="11378"/>
                <a:ext cx="360" cy="360"/>
              </a:xfrm>
              <a:prstGeom prst="rect">
                <a:avLst/>
              </a:prstGeom>
              <a:noFill/>
              <a:ln>
                <a:noFill/>
              </a:ln>
              <a:extLst>
                <a:ext uri="{909E8E84-426E-40DD-AFC4-6F175D3DCCD1}">
                  <a14:hiddenFill xmlns:a14="http://schemas.microsoft.com/office/drawing/2010/main">
                    <a:solidFill>
                      <a:srgbClr val="C6D9F1"/>
                    </a:solidFill>
                  </a14:hiddenFill>
                </a:ext>
                <a:ext uri="{91240B29-F687-4F45-9708-019B960494DF}">
                  <a14:hiddenLine xmlns:a14="http://schemas.microsoft.com/office/drawing/2010/main" w="28575">
                    <a:solidFill>
                      <a:srgbClr val="002060"/>
                    </a:solidFill>
                    <a:miter lim="800000"/>
                    <a:headEnd/>
                    <a:tailEnd/>
                  </a14:hiddenLine>
                </a:ext>
              </a:extLst>
            </p:spPr>
            <p:txBody>
              <a:bodyPr rot="0" vert="horz" wrap="square" lIns="18000" tIns="10800" rIns="18000" bIns="10800" anchor="t" anchorCtr="0" upright="1">
                <a:noAutofit/>
              </a:bodyPr>
              <a:lstStyle/>
              <a:p>
                <a:pPr marL="0" marR="0">
                  <a:lnSpc>
                    <a:spcPct val="107000"/>
                  </a:lnSpc>
                  <a:spcBef>
                    <a:spcPts val="0"/>
                  </a:spcBef>
                  <a:spcAft>
                    <a:spcPts val="800"/>
                  </a:spcAft>
                </a:pPr>
                <a:r>
                  <a:rPr lang="en-GB" sz="32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z</a:t>
                </a:r>
                <a:r>
                  <a:rPr lang="en-GB" sz="3200" baseline="-2500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a:t>
                </a:r>
                <a:endParaRPr lang="en-GB" sz="3200">
                  <a:effectLst/>
                  <a:latin typeface="Calibri" panose="020F0502020204030204" pitchFamily="34" charset="0"/>
                  <a:ea typeface="Calibri" panose="020F0502020204030204" pitchFamily="34" charset="0"/>
                  <a:cs typeface="Times New Roman" panose="02020603050405020304" pitchFamily="18" charset="0"/>
                </a:endParaRPr>
              </a:p>
            </p:txBody>
          </p:sp>
        </p:grpSp>
        <p:cxnSp>
          <p:nvCxnSpPr>
            <p:cNvPr id="22" name="Line 463">
              <a:extLst>
                <a:ext uri="{FF2B5EF4-FFF2-40B4-BE49-F238E27FC236}">
                  <a16:creationId xmlns:a16="http://schemas.microsoft.com/office/drawing/2014/main" id="{30D4C093-5B2F-48D7-8BA3-21AE48C7DE69}"/>
                </a:ext>
              </a:extLst>
            </p:cNvPr>
            <p:cNvCxnSpPr>
              <a:cxnSpLocks noChangeShapeType="1"/>
            </p:cNvCxnSpPr>
            <p:nvPr/>
          </p:nvCxnSpPr>
          <p:spPr bwMode="auto">
            <a:xfrm>
              <a:off x="7842" y="9135"/>
              <a:ext cx="0" cy="171"/>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3" name="Line 464">
              <a:extLst>
                <a:ext uri="{FF2B5EF4-FFF2-40B4-BE49-F238E27FC236}">
                  <a16:creationId xmlns:a16="http://schemas.microsoft.com/office/drawing/2014/main" id="{F6D6D806-6471-489C-982A-5DBD185E6826}"/>
                </a:ext>
              </a:extLst>
            </p:cNvPr>
            <p:cNvCxnSpPr>
              <a:cxnSpLocks noChangeShapeType="1"/>
            </p:cNvCxnSpPr>
            <p:nvPr/>
          </p:nvCxnSpPr>
          <p:spPr bwMode="auto">
            <a:xfrm>
              <a:off x="7842" y="9477"/>
              <a:ext cx="0" cy="33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sp>
          <p:nvSpPr>
            <p:cNvPr id="24" name="Arc 465">
              <a:extLst>
                <a:ext uri="{FF2B5EF4-FFF2-40B4-BE49-F238E27FC236}">
                  <a16:creationId xmlns:a16="http://schemas.microsoft.com/office/drawing/2014/main" id="{5A1F4540-B5F9-4473-91DA-C5BBADC37C76}"/>
                </a:ext>
              </a:extLst>
            </p:cNvPr>
            <p:cNvSpPr>
              <a:spLocks noChangeAspect="1"/>
            </p:cNvSpPr>
            <p:nvPr/>
          </p:nvSpPr>
          <p:spPr bwMode="auto">
            <a:xfrm>
              <a:off x="7842" y="9289"/>
              <a:ext cx="91" cy="182"/>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200"/>
                    <a:pt x="0" y="43200"/>
                  </a:cubicBezTo>
                </a:path>
                <a:path w="21600" h="43200" stroke="0" extrusionOk="0">
                  <a:moveTo>
                    <a:pt x="-1" y="0"/>
                  </a:moveTo>
                  <a:cubicBezTo>
                    <a:pt x="11929" y="0"/>
                    <a:pt x="21600" y="9670"/>
                    <a:pt x="21600" y="21600"/>
                  </a:cubicBezTo>
                  <a:cubicBezTo>
                    <a:pt x="21600" y="33529"/>
                    <a:pt x="11929" y="43200"/>
                    <a:pt x="0" y="43200"/>
                  </a:cubicBezTo>
                  <a:lnTo>
                    <a:pt x="0" y="21600"/>
                  </a:lnTo>
                  <a:close/>
                </a:path>
              </a:pathLst>
            </a:custGeom>
            <a:solidFill>
              <a:srgbClr val="C6D9F1"/>
            </a:solidFill>
            <a:ln w="28575">
              <a:solidFill>
                <a:srgbClr val="002060"/>
              </a:solidFill>
              <a:round/>
              <a:headEnd/>
              <a:tailEnd/>
            </a:ln>
          </p:spPr>
          <p:txBody>
            <a:bodyPr rot="0" vert="horz" wrap="square" lIns="91440" tIns="45720" rIns="91440" bIns="45720" anchor="t" anchorCtr="0" upright="1">
              <a:noAutofit/>
            </a:bodyPr>
            <a:lstStyle/>
            <a:p>
              <a:endParaRPr lang="en-GB" sz="3200"/>
            </a:p>
          </p:txBody>
        </p:sp>
        <p:cxnSp>
          <p:nvCxnSpPr>
            <p:cNvPr id="25" name="Line 466">
              <a:extLst>
                <a:ext uri="{FF2B5EF4-FFF2-40B4-BE49-F238E27FC236}">
                  <a16:creationId xmlns:a16="http://schemas.microsoft.com/office/drawing/2014/main" id="{9CBB4FDC-F6B1-41CA-A764-99DF025ABC8B}"/>
                </a:ext>
              </a:extLst>
            </p:cNvPr>
            <p:cNvCxnSpPr>
              <a:cxnSpLocks noChangeShapeType="1"/>
            </p:cNvCxnSpPr>
            <p:nvPr/>
          </p:nvCxnSpPr>
          <p:spPr bwMode="auto">
            <a:xfrm>
              <a:off x="2182" y="9289"/>
              <a:ext cx="0" cy="57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cxnSp>
          <p:nvCxnSpPr>
            <p:cNvPr id="26" name="Line 467">
              <a:extLst>
                <a:ext uri="{FF2B5EF4-FFF2-40B4-BE49-F238E27FC236}">
                  <a16:creationId xmlns:a16="http://schemas.microsoft.com/office/drawing/2014/main" id="{0D9A49B3-9B11-49AF-994E-B0F70ABC3FDA}"/>
                </a:ext>
              </a:extLst>
            </p:cNvPr>
            <p:cNvCxnSpPr>
              <a:cxnSpLocks noChangeShapeType="1"/>
            </p:cNvCxnSpPr>
            <p:nvPr/>
          </p:nvCxnSpPr>
          <p:spPr bwMode="auto">
            <a:xfrm>
              <a:off x="4764" y="9346"/>
              <a:ext cx="0" cy="57"/>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cxnSp>
      </p:grpSp>
      <p:sp>
        <p:nvSpPr>
          <p:cNvPr id="69" name="Rectangle 68">
            <a:extLst>
              <a:ext uri="{FF2B5EF4-FFF2-40B4-BE49-F238E27FC236}">
                <a16:creationId xmlns:a16="http://schemas.microsoft.com/office/drawing/2014/main" id="{F399D820-7EE2-4944-B445-1B7543BFB9DF}"/>
              </a:ext>
            </a:extLst>
          </p:cNvPr>
          <p:cNvSpPr/>
          <p:nvPr/>
        </p:nvSpPr>
        <p:spPr>
          <a:xfrm>
            <a:off x="183384" y="5280630"/>
            <a:ext cx="9442033" cy="1384995"/>
          </a:xfrm>
          <a:prstGeom prst="rect">
            <a:avLst/>
          </a:prstGeom>
        </p:spPr>
        <p:txBody>
          <a:bodyPr wrap="square">
            <a:spAutoFit/>
          </a:bodyPr>
          <a:lstStyle/>
          <a:p>
            <a:pPr indent="13335" algn="just"/>
            <a:r>
              <a:rPr lang="en-GB" sz="2800" dirty="0">
                <a:solidFill>
                  <a:srgbClr val="002060"/>
                </a:solidFill>
                <a:latin typeface="Times New Roman" panose="02020603050405020304" pitchFamily="18" charset="0"/>
              </a:rPr>
              <a:t>From phase voltages the line voltages are known. Currents inside the delta can be obtained directly from Ohm’s Law. Remaining variables are then obtained.</a:t>
            </a:r>
            <a:endParaRPr lang="en-GB" sz="1050" b="1" dirty="0">
              <a:effectLst/>
              <a:latin typeface="Times New Roman" panose="02020603050405020304" pitchFamily="18" charset="0"/>
            </a:endParaRPr>
          </a:p>
        </p:txBody>
      </p:sp>
    </p:spTree>
    <p:extLst>
      <p:ext uri="{BB962C8B-B14F-4D97-AF65-F5344CB8AC3E}">
        <p14:creationId xmlns:p14="http://schemas.microsoft.com/office/powerpoint/2010/main" val="22955655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GB" dirty="0"/>
              <a:t>Symmetrical Components (or Sequence Components)</a:t>
            </a:r>
          </a:p>
        </p:txBody>
      </p:sp>
      <p:pic>
        <p:nvPicPr>
          <p:cNvPr id="3" name="Picture 2">
            <a:extLst>
              <a:ext uri="{FF2B5EF4-FFF2-40B4-BE49-F238E27FC236}">
                <a16:creationId xmlns:a16="http://schemas.microsoft.com/office/drawing/2014/main" id="{315EDD18-C012-46C7-A742-1C8D53004C9C}"/>
              </a:ext>
            </a:extLst>
          </p:cNvPr>
          <p:cNvPicPr>
            <a:picLocks noChangeAspect="1"/>
          </p:cNvPicPr>
          <p:nvPr/>
        </p:nvPicPr>
        <p:blipFill>
          <a:blip r:embed="rId3"/>
          <a:stretch>
            <a:fillRect/>
          </a:stretch>
        </p:blipFill>
        <p:spPr>
          <a:xfrm>
            <a:off x="2004518" y="1225572"/>
            <a:ext cx="8799839" cy="3297781"/>
          </a:xfrm>
          <a:prstGeom prst="rect">
            <a:avLst/>
          </a:prstGeom>
        </p:spPr>
      </p:pic>
      <p:sp>
        <p:nvSpPr>
          <p:cNvPr id="4" name="Rectangle 3">
            <a:extLst>
              <a:ext uri="{FF2B5EF4-FFF2-40B4-BE49-F238E27FC236}">
                <a16:creationId xmlns:a16="http://schemas.microsoft.com/office/drawing/2014/main" id="{C5D90895-FD4E-4688-887D-42F5453FEB78}"/>
              </a:ext>
            </a:extLst>
          </p:cNvPr>
          <p:cNvSpPr/>
          <p:nvPr/>
        </p:nvSpPr>
        <p:spPr>
          <a:xfrm>
            <a:off x="429714" y="4355155"/>
            <a:ext cx="9349281" cy="2200602"/>
          </a:xfrm>
          <a:prstGeom prst="rect">
            <a:avLst/>
          </a:prstGeom>
        </p:spPr>
        <p:txBody>
          <a:bodyPr wrap="square">
            <a:spAutoFit/>
          </a:bodyPr>
          <a:lstStyle/>
          <a:p>
            <a:pPr algn="just">
              <a:spcAft>
                <a:spcPts val="600"/>
              </a:spcAft>
            </a:pPr>
            <a:r>
              <a:rPr lang="en-GB" sz="3600" b="1" i="1" dirty="0">
                <a:solidFill>
                  <a:srgbClr val="C00000"/>
                </a:solidFill>
                <a:latin typeface="Times New Roman" panose="02020603050405020304" pitchFamily="18" charset="0"/>
              </a:rPr>
              <a:t>Phase Sequence</a:t>
            </a:r>
            <a:endParaRPr lang="en-GB" sz="1200" b="1" dirty="0">
              <a:latin typeface="Times New Roman" panose="02020603050405020304" pitchFamily="18" charset="0"/>
            </a:endParaRPr>
          </a:p>
          <a:p>
            <a:r>
              <a:rPr lang="en-GB" sz="3200" dirty="0">
                <a:solidFill>
                  <a:srgbClr val="002060"/>
                </a:solidFill>
                <a:latin typeface="Times New Roman" panose="02020603050405020304" pitchFamily="18" charset="0"/>
                <a:ea typeface="Times New Roman" panose="02020603050405020304" pitchFamily="18" charset="0"/>
              </a:rPr>
              <a:t>Phase sequence is the sequence (or order) in which the three phases (voltages or currents) reach a particular position (for example peak value or zero). </a:t>
            </a:r>
            <a:endParaRPr lang="en-GB" sz="3200" dirty="0"/>
          </a:p>
        </p:txBody>
      </p:sp>
      <p:sp>
        <p:nvSpPr>
          <p:cNvPr id="5" name="Rectangle 4">
            <a:extLst>
              <a:ext uri="{FF2B5EF4-FFF2-40B4-BE49-F238E27FC236}">
                <a16:creationId xmlns:a16="http://schemas.microsoft.com/office/drawing/2014/main" id="{47A19D7B-270A-401F-9432-3661367D3453}"/>
              </a:ext>
            </a:extLst>
          </p:cNvPr>
          <p:cNvSpPr/>
          <p:nvPr/>
        </p:nvSpPr>
        <p:spPr>
          <a:xfrm>
            <a:off x="10804357" y="2551555"/>
            <a:ext cx="312906" cy="646331"/>
          </a:xfrm>
          <a:prstGeom prst="rect">
            <a:avLst/>
          </a:prstGeom>
        </p:spPr>
        <p:txBody>
          <a:bodyPr wrap="none">
            <a:spAutoFit/>
          </a:bodyPr>
          <a:lstStyle/>
          <a:p>
            <a:r>
              <a:rPr lang="en-GB" sz="3600" dirty="0">
                <a:solidFill>
                  <a:srgbClr val="002060"/>
                </a:solidFill>
                <a:latin typeface="Times New Roman" panose="02020603050405020304" pitchFamily="18" charset="0"/>
                <a:ea typeface="Times New Roman" panose="02020603050405020304" pitchFamily="18" charset="0"/>
              </a:rPr>
              <a:t>t</a:t>
            </a:r>
            <a:endParaRPr lang="en-GB" sz="3600" dirty="0"/>
          </a:p>
        </p:txBody>
      </p:sp>
    </p:spTree>
    <p:extLst>
      <p:ext uri="{BB962C8B-B14F-4D97-AF65-F5344CB8AC3E}">
        <p14:creationId xmlns:p14="http://schemas.microsoft.com/office/powerpoint/2010/main" val="303134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490165"/>
            <a:ext cx="10924085" cy="482745"/>
          </a:xfrm>
        </p:spPr>
        <p:txBody>
          <a:bodyPr>
            <a:normAutofit fontScale="90000"/>
          </a:bodyPr>
          <a:lstStyle/>
          <a:p>
            <a:r>
              <a:rPr lang="en-US" dirty="0"/>
              <a:t>Decomposition of unbalanced three-phase</a:t>
            </a:r>
            <a:endParaRPr lang="en-GB" dirty="0"/>
          </a:p>
        </p:txBody>
      </p:sp>
      <p:sp>
        <p:nvSpPr>
          <p:cNvPr id="26" name="Rectangle 25">
            <a:extLst>
              <a:ext uri="{FF2B5EF4-FFF2-40B4-BE49-F238E27FC236}">
                <a16:creationId xmlns:a16="http://schemas.microsoft.com/office/drawing/2014/main" id="{1E567C48-2E50-4DC4-962B-6091041B47E6}"/>
              </a:ext>
            </a:extLst>
          </p:cNvPr>
          <p:cNvSpPr/>
          <p:nvPr/>
        </p:nvSpPr>
        <p:spPr>
          <a:xfrm>
            <a:off x="256674" y="828532"/>
            <a:ext cx="11678652" cy="2554545"/>
          </a:xfrm>
          <a:prstGeom prst="rect">
            <a:avLst/>
          </a:prstGeom>
        </p:spPr>
        <p:txBody>
          <a:bodyPr wrap="square">
            <a:spAutoFit/>
          </a:bodyPr>
          <a:lstStyle/>
          <a:p>
            <a:pPr indent="13335" algn="just"/>
            <a:r>
              <a:rPr lang="en-GB" sz="3200" dirty="0">
                <a:solidFill>
                  <a:srgbClr val="002060"/>
                </a:solidFill>
                <a:latin typeface="Times New Roman" panose="02020603050405020304" pitchFamily="18" charset="0"/>
              </a:rPr>
              <a:t>In this example, sequence is A-B-C.</a:t>
            </a:r>
            <a:endParaRPr lang="en-GB" sz="3200" b="1" dirty="0">
              <a:latin typeface="Times New Roman" panose="02020603050405020304" pitchFamily="18" charset="0"/>
            </a:endParaRPr>
          </a:p>
          <a:p>
            <a:pPr indent="13335" algn="just"/>
            <a:r>
              <a:rPr lang="en-GB" sz="3200" dirty="0">
                <a:solidFill>
                  <a:srgbClr val="002060"/>
                </a:solidFill>
                <a:latin typeface="Times New Roman" panose="02020603050405020304" pitchFamily="18" charset="0"/>
              </a:rPr>
              <a:t>In 1918 Fortescue formulated that any unbalanced system can be split up into a series of balanced systems. The normal balanced system of voltages (or currents) will only have the natural sequence, and no other components present.  </a:t>
            </a:r>
            <a:endParaRPr lang="en-GB" sz="3200" b="1" dirty="0">
              <a:latin typeface="Times New Roman" panose="02020603050405020304" pitchFamily="18" charset="0"/>
            </a:endParaRPr>
          </a:p>
        </p:txBody>
      </p:sp>
      <p:pic>
        <p:nvPicPr>
          <p:cNvPr id="28" name="Picture 27">
            <a:extLst>
              <a:ext uri="{FF2B5EF4-FFF2-40B4-BE49-F238E27FC236}">
                <a16:creationId xmlns:a16="http://schemas.microsoft.com/office/drawing/2014/main" id="{580E3D86-F2BA-4583-9BFC-2477B24350D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04841" y="2728781"/>
            <a:ext cx="9153525" cy="4048125"/>
          </a:xfrm>
          <a:prstGeom prst="rect">
            <a:avLst/>
          </a:prstGeom>
        </p:spPr>
      </p:pic>
    </p:spTree>
    <p:extLst>
      <p:ext uri="{BB962C8B-B14F-4D97-AF65-F5344CB8AC3E}">
        <p14:creationId xmlns:p14="http://schemas.microsoft.com/office/powerpoint/2010/main" val="906037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E2C51B-E69E-4BC2-8541-ECE1FD77FFEE}"/>
              </a:ext>
            </a:extLst>
          </p:cNvPr>
          <p:cNvSpPr/>
          <p:nvPr/>
        </p:nvSpPr>
        <p:spPr>
          <a:xfrm>
            <a:off x="136358" y="966931"/>
            <a:ext cx="11558338" cy="4894994"/>
          </a:xfrm>
          <a:prstGeom prst="rect">
            <a:avLst/>
          </a:prstGeom>
        </p:spPr>
        <p:txBody>
          <a:bodyPr wrap="square">
            <a:spAutoFit/>
          </a:bodyPr>
          <a:lstStyle/>
          <a:p>
            <a:pPr indent="13335" algn="just">
              <a:lnSpc>
                <a:spcPct val="114000"/>
              </a:lnSpc>
              <a:spcAft>
                <a:spcPts val="900"/>
              </a:spcAft>
            </a:pPr>
            <a:r>
              <a:rPr lang="en-GB" sz="3200" dirty="0">
                <a:solidFill>
                  <a:srgbClr val="002060"/>
                </a:solidFill>
                <a:latin typeface="Times New Roman" panose="02020603050405020304" pitchFamily="18" charset="0"/>
              </a:rPr>
              <a:t>Unbalanced three phase system, can be split up into  </a:t>
            </a:r>
            <a:endParaRPr lang="en-GB" sz="3200" b="1" dirty="0">
              <a:latin typeface="Times New Roman" panose="02020603050405020304" pitchFamily="18" charset="0"/>
            </a:endParaRPr>
          </a:p>
          <a:p>
            <a:pPr marL="342900" marR="0" lvl="0" indent="-342900" algn="just">
              <a:lnSpc>
                <a:spcPct val="114000"/>
              </a:lnSpc>
              <a:spcBef>
                <a:spcPts val="0"/>
              </a:spcBef>
              <a:spcAft>
                <a:spcPts val="900"/>
              </a:spcAft>
              <a:buFont typeface="+mj-lt"/>
              <a:buAutoNum type="romanLcParenBoth"/>
              <a:tabLst>
                <a:tab pos="685800" algn="l"/>
              </a:tabLst>
            </a:pPr>
            <a:r>
              <a:rPr lang="en-GB" sz="3200" dirty="0">
                <a:solidFill>
                  <a:srgbClr val="002060"/>
                </a:solidFill>
                <a:latin typeface="Times New Roman" panose="02020603050405020304" pitchFamily="18" charset="0"/>
              </a:rPr>
              <a:t>a balanced system having same phase sequence as the unbalanced system, </a:t>
            </a:r>
            <a:r>
              <a:rPr lang="en-GB" sz="3200" dirty="0">
                <a:solidFill>
                  <a:srgbClr val="C00000"/>
                </a:solidFill>
                <a:latin typeface="Times New Roman" panose="02020603050405020304" pitchFamily="18" charset="0"/>
              </a:rPr>
              <a:t>[Positive Sequence]</a:t>
            </a:r>
            <a:endParaRPr lang="en-GB" sz="3200" b="1" dirty="0">
              <a:latin typeface="Times New Roman" panose="02020603050405020304" pitchFamily="18" charset="0"/>
            </a:endParaRPr>
          </a:p>
          <a:p>
            <a:pPr marL="342900" marR="0" lvl="0" indent="-342900" algn="just">
              <a:lnSpc>
                <a:spcPct val="114000"/>
              </a:lnSpc>
              <a:spcBef>
                <a:spcPts val="0"/>
              </a:spcBef>
              <a:spcAft>
                <a:spcPts val="900"/>
              </a:spcAft>
              <a:buFont typeface="+mj-lt"/>
              <a:buAutoNum type="romanLcParenBoth"/>
              <a:tabLst>
                <a:tab pos="685800" algn="l"/>
                <a:tab pos="742950" algn="l"/>
              </a:tabLst>
            </a:pPr>
            <a:r>
              <a:rPr lang="en-GB" sz="3200" dirty="0">
                <a:solidFill>
                  <a:srgbClr val="002060"/>
                </a:solidFill>
                <a:latin typeface="Times New Roman" panose="02020603050405020304" pitchFamily="18" charset="0"/>
              </a:rPr>
              <a:t>a balanced system having the opposite phase sequence to the unbalanced system (rotation of phasors is always anticlockwise whether they are in  same sequence or opposite), </a:t>
            </a:r>
            <a:r>
              <a:rPr lang="en-GB" sz="3200" dirty="0">
                <a:solidFill>
                  <a:srgbClr val="C00000"/>
                </a:solidFill>
                <a:latin typeface="Times New Roman" panose="02020603050405020304" pitchFamily="18" charset="0"/>
              </a:rPr>
              <a:t>[Negative Sequence] </a:t>
            </a:r>
            <a:r>
              <a:rPr lang="en-GB" sz="3200" dirty="0">
                <a:solidFill>
                  <a:srgbClr val="002060"/>
                </a:solidFill>
                <a:latin typeface="Times New Roman" panose="02020603050405020304" pitchFamily="18" charset="0"/>
              </a:rPr>
              <a:t>and </a:t>
            </a:r>
          </a:p>
          <a:p>
            <a:pPr marL="342900" marR="0" lvl="0" indent="-342900" algn="just">
              <a:lnSpc>
                <a:spcPct val="114000"/>
              </a:lnSpc>
              <a:spcBef>
                <a:spcPts val="0"/>
              </a:spcBef>
              <a:spcAft>
                <a:spcPts val="900"/>
              </a:spcAft>
              <a:buFont typeface="+mj-lt"/>
              <a:buAutoNum type="romanLcParenBoth"/>
              <a:tabLst>
                <a:tab pos="685800" algn="l"/>
                <a:tab pos="742950" algn="l"/>
              </a:tabLst>
            </a:pPr>
            <a:r>
              <a:rPr lang="en-GB" sz="3200" dirty="0">
                <a:solidFill>
                  <a:srgbClr val="002060"/>
                </a:solidFill>
                <a:latin typeface="Times New Roman" panose="02020603050405020304" pitchFamily="18" charset="0"/>
                <a:ea typeface="Times New Roman" panose="02020603050405020304" pitchFamily="18" charset="0"/>
              </a:rPr>
              <a:t>a balanced system of </a:t>
            </a:r>
            <a:r>
              <a:rPr lang="en-GB" sz="3200" dirty="0" err="1">
                <a:solidFill>
                  <a:srgbClr val="002060"/>
                </a:solidFill>
                <a:latin typeface="Times New Roman" panose="02020603050405020304" pitchFamily="18" charset="0"/>
                <a:ea typeface="Times New Roman" panose="02020603050405020304" pitchFamily="18" charset="0"/>
              </a:rPr>
              <a:t>inphase</a:t>
            </a:r>
            <a:r>
              <a:rPr lang="en-GB" sz="3200" dirty="0">
                <a:solidFill>
                  <a:srgbClr val="002060"/>
                </a:solidFill>
                <a:latin typeface="Times New Roman" panose="02020603050405020304" pitchFamily="18" charset="0"/>
                <a:ea typeface="Times New Roman" panose="02020603050405020304" pitchFamily="18" charset="0"/>
              </a:rPr>
              <a:t> quantities </a:t>
            </a:r>
            <a:r>
              <a:rPr lang="en-GB" sz="3200" dirty="0">
                <a:solidFill>
                  <a:srgbClr val="C00000"/>
                </a:solidFill>
                <a:latin typeface="Times New Roman" panose="02020603050405020304" pitchFamily="18" charset="0"/>
                <a:ea typeface="Times New Roman" panose="02020603050405020304" pitchFamily="18" charset="0"/>
              </a:rPr>
              <a:t>[Zero Sequence]</a:t>
            </a:r>
            <a:r>
              <a:rPr lang="en-GB" sz="3200" dirty="0">
                <a:solidFill>
                  <a:srgbClr val="002060"/>
                </a:solidFill>
                <a:latin typeface="Times New Roman" panose="02020603050405020304" pitchFamily="18" charset="0"/>
                <a:ea typeface="Times New Roman" panose="02020603050405020304" pitchFamily="18" charset="0"/>
              </a:rPr>
              <a:t>.</a:t>
            </a:r>
            <a:endParaRPr lang="en-GB" sz="3200" dirty="0"/>
          </a:p>
        </p:txBody>
      </p:sp>
    </p:spTree>
    <p:extLst>
      <p:ext uri="{BB962C8B-B14F-4D97-AF65-F5344CB8AC3E}">
        <p14:creationId xmlns:p14="http://schemas.microsoft.com/office/powerpoint/2010/main" val="2590907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433DA2B-53C7-4355-A44F-E81418B9E500}"/>
              </a:ext>
            </a:extLst>
          </p:cNvPr>
          <p:cNvSpPr/>
          <p:nvPr/>
        </p:nvSpPr>
        <p:spPr>
          <a:xfrm>
            <a:off x="310847" y="740997"/>
            <a:ext cx="9269166" cy="5509200"/>
          </a:xfrm>
          <a:prstGeom prst="rect">
            <a:avLst/>
          </a:prstGeom>
        </p:spPr>
        <p:txBody>
          <a:bodyPr wrap="square">
            <a:spAutoFit/>
          </a:bodyPr>
          <a:lstStyle/>
          <a:p>
            <a:r>
              <a:rPr lang="en-GB" sz="3200" dirty="0">
                <a:solidFill>
                  <a:srgbClr val="002060"/>
                </a:solidFill>
                <a:latin typeface="Times New Roman" panose="02020603050405020304" pitchFamily="18" charset="0"/>
                <a:ea typeface="Times New Roman" panose="02020603050405020304" pitchFamily="18" charset="0"/>
              </a:rPr>
              <a:t>In any 3-phase system, phase quantities A, B and C     is expressed as phasor sum of</a:t>
            </a:r>
            <a:endParaRPr lang="en-GB" sz="1100" dirty="0">
              <a:latin typeface="Times New Roman" panose="02020603050405020304" pitchFamily="18" charset="0"/>
              <a:ea typeface="Times New Roman" panose="02020603050405020304" pitchFamily="18" charset="0"/>
            </a:endParaRPr>
          </a:p>
          <a:p>
            <a:pPr marL="342900" marR="1251585" lvl="0" indent="-342900">
              <a:spcBef>
                <a:spcPts val="0"/>
              </a:spcBef>
              <a:spcAft>
                <a:spcPts val="0"/>
              </a:spcAft>
              <a:buFont typeface="Symbol" panose="05050102010706020507" pitchFamily="18" charset="2"/>
              <a:buChar char=""/>
              <a:tabLst>
                <a:tab pos="742950" algn="l"/>
              </a:tabLst>
            </a:pPr>
            <a:r>
              <a:rPr lang="en-GB" sz="3200" dirty="0">
                <a:solidFill>
                  <a:srgbClr val="002060"/>
                </a:solidFill>
                <a:latin typeface="Times New Roman" panose="02020603050405020304" pitchFamily="18" charset="0"/>
                <a:ea typeface="Times New Roman" panose="02020603050405020304" pitchFamily="18" charset="0"/>
              </a:rPr>
              <a:t>a set of balanced positive phase sequence quantities </a:t>
            </a: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1</a:t>
            </a: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Times New Roman" panose="02020603050405020304" pitchFamily="18" charset="0"/>
                <a:ea typeface="Times New Roman" panose="02020603050405020304" pitchFamily="18" charset="0"/>
              </a:rPr>
              <a:t>B</a:t>
            </a:r>
            <a:r>
              <a:rPr lang="en-GB" sz="3200" b="1" baseline="-25000" dirty="0">
                <a:solidFill>
                  <a:srgbClr val="002060"/>
                </a:solidFill>
                <a:latin typeface="Times New Roman" panose="02020603050405020304" pitchFamily="18" charset="0"/>
                <a:ea typeface="Times New Roman" panose="02020603050405020304" pitchFamily="18" charset="0"/>
              </a:rPr>
              <a:t>1</a:t>
            </a:r>
            <a:r>
              <a:rPr lang="en-GB" sz="3200" dirty="0">
                <a:solidFill>
                  <a:srgbClr val="002060"/>
                </a:solidFill>
                <a:latin typeface="Times New Roman" panose="02020603050405020304" pitchFamily="18" charset="0"/>
                <a:ea typeface="Times New Roman" panose="02020603050405020304" pitchFamily="18" charset="0"/>
              </a:rPr>
              <a:t> and </a:t>
            </a:r>
            <a:r>
              <a:rPr lang="en-GB" sz="3200" b="1" dirty="0">
                <a:solidFill>
                  <a:srgbClr val="002060"/>
                </a:solidFill>
                <a:latin typeface="Times New Roman" panose="02020603050405020304" pitchFamily="18" charset="0"/>
                <a:ea typeface="Times New Roman" panose="02020603050405020304" pitchFamily="18" charset="0"/>
              </a:rPr>
              <a:t>C</a:t>
            </a:r>
            <a:r>
              <a:rPr lang="en-GB" sz="3200" b="1" baseline="-25000" dirty="0">
                <a:solidFill>
                  <a:srgbClr val="002060"/>
                </a:solidFill>
                <a:latin typeface="Times New Roman" panose="02020603050405020304" pitchFamily="18" charset="0"/>
                <a:ea typeface="Times New Roman" panose="02020603050405020304" pitchFamily="18" charset="0"/>
              </a:rPr>
              <a:t>1</a:t>
            </a:r>
            <a:r>
              <a:rPr lang="en-GB" sz="3200" dirty="0">
                <a:solidFill>
                  <a:srgbClr val="002060"/>
                </a:solidFill>
                <a:latin typeface="Times New Roman" panose="02020603050405020304" pitchFamily="18" charset="0"/>
                <a:ea typeface="Times New Roman" panose="02020603050405020304" pitchFamily="18" charset="0"/>
              </a:rPr>
              <a:t>  (phase sequence    a-b-c : same sequence as original unbalanced phasors),</a:t>
            </a:r>
            <a:endParaRPr lang="en-GB" sz="1100" dirty="0">
              <a:latin typeface="Times New Roman" panose="02020603050405020304" pitchFamily="18" charset="0"/>
              <a:ea typeface="Times New Roman" panose="02020603050405020304" pitchFamily="18" charset="0"/>
            </a:endParaRPr>
          </a:p>
          <a:p>
            <a:pPr marL="342900" marR="1251585" lvl="0" indent="-342900">
              <a:spcBef>
                <a:spcPts val="0"/>
              </a:spcBef>
              <a:spcAft>
                <a:spcPts val="0"/>
              </a:spcAft>
              <a:buFont typeface="Symbol" panose="05050102010706020507" pitchFamily="18" charset="2"/>
              <a:buChar char=""/>
              <a:tabLst>
                <a:tab pos="742950" algn="l"/>
              </a:tabLst>
            </a:pPr>
            <a:r>
              <a:rPr lang="en-GB" sz="3200" dirty="0">
                <a:solidFill>
                  <a:srgbClr val="002060"/>
                </a:solidFill>
                <a:latin typeface="Times New Roman" panose="02020603050405020304" pitchFamily="18" charset="0"/>
                <a:ea typeface="Times New Roman" panose="02020603050405020304" pitchFamily="18" charset="0"/>
              </a:rPr>
              <a:t>a set of balanced negative phase sequence currents </a:t>
            </a: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2</a:t>
            </a: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Times New Roman" panose="02020603050405020304" pitchFamily="18" charset="0"/>
                <a:ea typeface="Times New Roman" panose="02020603050405020304" pitchFamily="18" charset="0"/>
              </a:rPr>
              <a:t>B</a:t>
            </a:r>
            <a:r>
              <a:rPr lang="en-GB" sz="3200" b="1" baseline="-25000" dirty="0">
                <a:solidFill>
                  <a:srgbClr val="002060"/>
                </a:solidFill>
                <a:latin typeface="Times New Roman" panose="02020603050405020304" pitchFamily="18" charset="0"/>
                <a:ea typeface="Times New Roman" panose="02020603050405020304" pitchFamily="18" charset="0"/>
              </a:rPr>
              <a:t>2</a:t>
            </a:r>
            <a:r>
              <a:rPr lang="en-GB" sz="3200" dirty="0">
                <a:solidFill>
                  <a:srgbClr val="002060"/>
                </a:solidFill>
                <a:latin typeface="Times New Roman" panose="02020603050405020304" pitchFamily="18" charset="0"/>
                <a:ea typeface="Times New Roman" panose="02020603050405020304" pitchFamily="18" charset="0"/>
              </a:rPr>
              <a:t> and </a:t>
            </a:r>
            <a:r>
              <a:rPr lang="en-GB" sz="3200" b="1" dirty="0">
                <a:solidFill>
                  <a:srgbClr val="002060"/>
                </a:solidFill>
                <a:latin typeface="Times New Roman" panose="02020603050405020304" pitchFamily="18" charset="0"/>
                <a:ea typeface="Times New Roman" panose="02020603050405020304" pitchFamily="18" charset="0"/>
              </a:rPr>
              <a:t>C</a:t>
            </a:r>
            <a:r>
              <a:rPr lang="en-GB" sz="3200" b="1" baseline="-25000" dirty="0">
                <a:solidFill>
                  <a:srgbClr val="002060"/>
                </a:solidFill>
                <a:latin typeface="Times New Roman" panose="02020603050405020304" pitchFamily="18" charset="0"/>
                <a:ea typeface="Times New Roman" panose="02020603050405020304" pitchFamily="18" charset="0"/>
              </a:rPr>
              <a:t>2</a:t>
            </a:r>
            <a:r>
              <a:rPr lang="en-GB" sz="3200" dirty="0">
                <a:solidFill>
                  <a:srgbClr val="002060"/>
                </a:solidFill>
                <a:latin typeface="Times New Roman" panose="02020603050405020304" pitchFamily="18" charset="0"/>
                <a:ea typeface="Times New Roman" panose="02020603050405020304" pitchFamily="18" charset="0"/>
              </a:rPr>
              <a:t> (phase sequence a-c-b: opposite sequence to unbalanced phasors),</a:t>
            </a:r>
            <a:endParaRPr lang="en-GB" sz="1100" dirty="0">
              <a:latin typeface="Times New Roman" panose="02020603050405020304" pitchFamily="18" charset="0"/>
              <a:ea typeface="Times New Roman" panose="02020603050405020304" pitchFamily="18" charset="0"/>
            </a:endParaRPr>
          </a:p>
          <a:p>
            <a:pPr marL="342900" marR="1251585" lvl="0" indent="-342900">
              <a:spcBef>
                <a:spcPts val="0"/>
              </a:spcBef>
              <a:spcAft>
                <a:spcPts val="0"/>
              </a:spcAft>
              <a:buFont typeface="Symbol" panose="05050102010706020507" pitchFamily="18" charset="2"/>
              <a:buChar char=""/>
              <a:tabLst>
                <a:tab pos="742950" algn="l"/>
              </a:tabLst>
            </a:pPr>
            <a:r>
              <a:rPr lang="en-GB" sz="3200" dirty="0">
                <a:solidFill>
                  <a:srgbClr val="002060"/>
                </a:solidFill>
                <a:latin typeface="Times New Roman" panose="02020603050405020304" pitchFamily="18" charset="0"/>
                <a:ea typeface="Times New Roman" panose="02020603050405020304" pitchFamily="18" charset="0"/>
              </a:rPr>
              <a:t>a set of identical zero phase sequence values </a:t>
            </a: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Times New Roman" panose="02020603050405020304" pitchFamily="18" charset="0"/>
                <a:ea typeface="Times New Roman" panose="02020603050405020304" pitchFamily="18" charset="0"/>
              </a:rPr>
              <a:t>B</a:t>
            </a:r>
            <a:r>
              <a:rPr lang="en-GB" sz="3200" b="1" baseline="-25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and </a:t>
            </a:r>
            <a:r>
              <a:rPr lang="en-GB" sz="3200" b="1" dirty="0">
                <a:solidFill>
                  <a:srgbClr val="002060"/>
                </a:solidFill>
                <a:latin typeface="Times New Roman" panose="02020603050405020304" pitchFamily="18" charset="0"/>
                <a:ea typeface="Times New Roman" panose="02020603050405020304" pitchFamily="18" charset="0"/>
              </a:rPr>
              <a:t>C</a:t>
            </a:r>
            <a:r>
              <a:rPr lang="en-GB" sz="3200" b="1" baseline="-25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(in-phase, no phase sequence).</a:t>
            </a:r>
            <a:endParaRPr lang="en-GB" sz="1100" dirty="0">
              <a:effectLst/>
              <a:latin typeface="Times New Roman" panose="02020603050405020304" pitchFamily="18" charset="0"/>
              <a:ea typeface="Times New Roman" panose="02020603050405020304" pitchFamily="18" charset="0"/>
            </a:endParaRPr>
          </a:p>
        </p:txBody>
      </p:sp>
      <p:grpSp>
        <p:nvGrpSpPr>
          <p:cNvPr id="23" name="Group 22">
            <a:extLst>
              <a:ext uri="{FF2B5EF4-FFF2-40B4-BE49-F238E27FC236}">
                <a16:creationId xmlns:a16="http://schemas.microsoft.com/office/drawing/2014/main" id="{C61CCAF7-8F0F-4A22-B7C1-73321F051C7B}"/>
              </a:ext>
            </a:extLst>
          </p:cNvPr>
          <p:cNvGrpSpPr/>
          <p:nvPr/>
        </p:nvGrpSpPr>
        <p:grpSpPr>
          <a:xfrm>
            <a:off x="8126765" y="303881"/>
            <a:ext cx="3992840" cy="4902142"/>
            <a:chOff x="8415533" y="303881"/>
            <a:chExt cx="3992840" cy="4902142"/>
          </a:xfrm>
        </p:grpSpPr>
        <p:grpSp>
          <p:nvGrpSpPr>
            <p:cNvPr id="3" name="Group 2">
              <a:extLst>
                <a:ext uri="{FF2B5EF4-FFF2-40B4-BE49-F238E27FC236}">
                  <a16:creationId xmlns:a16="http://schemas.microsoft.com/office/drawing/2014/main" id="{30FD2647-7958-4F4C-92ED-D4943D02BBC7}"/>
                </a:ext>
              </a:extLst>
            </p:cNvPr>
            <p:cNvGrpSpPr>
              <a:grpSpLocks/>
            </p:cNvGrpSpPr>
            <p:nvPr/>
          </p:nvGrpSpPr>
          <p:grpSpPr bwMode="auto">
            <a:xfrm>
              <a:off x="8415533" y="303881"/>
              <a:ext cx="3992840" cy="4902142"/>
              <a:chOff x="11652" y="885"/>
              <a:chExt cx="6393" cy="6266"/>
            </a:xfrm>
          </p:grpSpPr>
          <p:grpSp>
            <p:nvGrpSpPr>
              <p:cNvPr id="4" name="Group 3">
                <a:extLst>
                  <a:ext uri="{FF2B5EF4-FFF2-40B4-BE49-F238E27FC236}">
                    <a16:creationId xmlns:a16="http://schemas.microsoft.com/office/drawing/2014/main" id="{0DB10C1D-3D19-41F2-818D-945469688164}"/>
                  </a:ext>
                </a:extLst>
              </p:cNvPr>
              <p:cNvGrpSpPr>
                <a:grpSpLocks/>
              </p:cNvGrpSpPr>
              <p:nvPr/>
            </p:nvGrpSpPr>
            <p:grpSpPr bwMode="auto">
              <a:xfrm>
                <a:off x="11652" y="885"/>
                <a:ext cx="4973" cy="6266"/>
                <a:chOff x="7398" y="11745"/>
                <a:chExt cx="1437" cy="2152"/>
              </a:xfrm>
            </p:grpSpPr>
            <p:sp>
              <p:nvSpPr>
                <p:cNvPr id="6" name="Freeform 4">
                  <a:extLst>
                    <a:ext uri="{FF2B5EF4-FFF2-40B4-BE49-F238E27FC236}">
                      <a16:creationId xmlns:a16="http://schemas.microsoft.com/office/drawing/2014/main" id="{280BD6F0-83C7-4269-94FD-0F13C4DB4E44}"/>
                    </a:ext>
                  </a:extLst>
                </p:cNvPr>
                <p:cNvSpPr>
                  <a:spLocks/>
                </p:cNvSpPr>
                <p:nvPr/>
              </p:nvSpPr>
              <p:spPr bwMode="auto">
                <a:xfrm>
                  <a:off x="7398" y="12851"/>
                  <a:ext cx="719" cy="1046"/>
                </a:xfrm>
                <a:custGeom>
                  <a:avLst/>
                  <a:gdLst>
                    <a:gd name="T0" fmla="*/ 48 w 48"/>
                    <a:gd name="T1" fmla="*/ 0 h 70"/>
                    <a:gd name="T2" fmla="*/ 0 w 48"/>
                    <a:gd name="T3" fmla="*/ 24 h 70"/>
                    <a:gd name="T4" fmla="*/ 16 w 48"/>
                    <a:gd name="T5" fmla="*/ 49 h 70"/>
                    <a:gd name="T6" fmla="*/ 8 w 48"/>
                    <a:gd name="T7" fmla="*/ 70 h 70"/>
                  </a:gdLst>
                  <a:ahLst/>
                  <a:cxnLst>
                    <a:cxn ang="0">
                      <a:pos x="T0" y="T1"/>
                    </a:cxn>
                    <a:cxn ang="0">
                      <a:pos x="T2" y="T3"/>
                    </a:cxn>
                    <a:cxn ang="0">
                      <a:pos x="T4" y="T5"/>
                    </a:cxn>
                    <a:cxn ang="0">
                      <a:pos x="T6" y="T7"/>
                    </a:cxn>
                  </a:cxnLst>
                  <a:rect l="0" t="0" r="r" b="b"/>
                  <a:pathLst>
                    <a:path w="48" h="70">
                      <a:moveTo>
                        <a:pt x="48" y="0"/>
                      </a:moveTo>
                      <a:lnTo>
                        <a:pt x="0" y="24"/>
                      </a:lnTo>
                      <a:lnTo>
                        <a:pt x="16" y="49"/>
                      </a:lnTo>
                      <a:lnTo>
                        <a:pt x="8" y="70"/>
                      </a:lnTo>
                    </a:path>
                  </a:pathLst>
                </a:custGeom>
                <a:noFill/>
                <a:ln w="57150">
                  <a:solidFill>
                    <a:srgbClr val="92D05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Freeform 5">
                  <a:extLst>
                    <a:ext uri="{FF2B5EF4-FFF2-40B4-BE49-F238E27FC236}">
                      <a16:creationId xmlns:a16="http://schemas.microsoft.com/office/drawing/2014/main" id="{EAE08332-47DD-4EC5-8CF1-CE39E75AA4F7}"/>
                    </a:ext>
                  </a:extLst>
                </p:cNvPr>
                <p:cNvSpPr>
                  <a:spLocks/>
                </p:cNvSpPr>
                <p:nvPr/>
              </p:nvSpPr>
              <p:spPr bwMode="auto">
                <a:xfrm>
                  <a:off x="8117" y="11745"/>
                  <a:ext cx="239" cy="1106"/>
                </a:xfrm>
                <a:custGeom>
                  <a:avLst/>
                  <a:gdLst>
                    <a:gd name="T0" fmla="*/ 0 w 16"/>
                    <a:gd name="T1" fmla="*/ 74 h 74"/>
                    <a:gd name="T2" fmla="*/ 0 w 16"/>
                    <a:gd name="T3" fmla="*/ 26 h 74"/>
                    <a:gd name="T4" fmla="*/ 16 w 16"/>
                    <a:gd name="T5" fmla="*/ 0 h 74"/>
                    <a:gd name="T6" fmla="*/ 8 w 16"/>
                    <a:gd name="T7" fmla="*/ 21 h 74"/>
                  </a:gdLst>
                  <a:ahLst/>
                  <a:cxnLst>
                    <a:cxn ang="0">
                      <a:pos x="T0" y="T1"/>
                    </a:cxn>
                    <a:cxn ang="0">
                      <a:pos x="T2" y="T3"/>
                    </a:cxn>
                    <a:cxn ang="0">
                      <a:pos x="T4" y="T5"/>
                    </a:cxn>
                    <a:cxn ang="0">
                      <a:pos x="T6" y="T7"/>
                    </a:cxn>
                  </a:cxnLst>
                  <a:rect l="0" t="0" r="r" b="b"/>
                  <a:pathLst>
                    <a:path w="16" h="74">
                      <a:moveTo>
                        <a:pt x="0" y="74"/>
                      </a:moveTo>
                      <a:lnTo>
                        <a:pt x="0" y="26"/>
                      </a:lnTo>
                      <a:lnTo>
                        <a:pt x="16" y="0"/>
                      </a:lnTo>
                      <a:lnTo>
                        <a:pt x="8" y="21"/>
                      </a:lnTo>
                    </a:path>
                  </a:pathLst>
                </a:custGeom>
                <a:noFill/>
                <a:ln w="57150">
                  <a:solidFill>
                    <a:srgbClr val="FF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sp>
              <p:nvSpPr>
                <p:cNvPr id="8" name="Freeform 6">
                  <a:extLst>
                    <a:ext uri="{FF2B5EF4-FFF2-40B4-BE49-F238E27FC236}">
                      <a16:creationId xmlns:a16="http://schemas.microsoft.com/office/drawing/2014/main" id="{A83F0F47-FEE2-4BCB-B75C-BEA52FF371AD}"/>
                    </a:ext>
                  </a:extLst>
                </p:cNvPr>
                <p:cNvSpPr>
                  <a:spLocks/>
                </p:cNvSpPr>
                <p:nvPr/>
              </p:nvSpPr>
              <p:spPr bwMode="auto">
                <a:xfrm>
                  <a:off x="8117" y="12851"/>
                  <a:ext cx="718" cy="672"/>
                </a:xfrm>
                <a:custGeom>
                  <a:avLst/>
                  <a:gdLst>
                    <a:gd name="T0" fmla="*/ 0 w 48"/>
                    <a:gd name="T1" fmla="*/ 0 h 45"/>
                    <a:gd name="T2" fmla="*/ 48 w 48"/>
                    <a:gd name="T3" fmla="*/ 24 h 45"/>
                    <a:gd name="T4" fmla="*/ 15 w 48"/>
                    <a:gd name="T5" fmla="*/ 24 h 45"/>
                    <a:gd name="T6" fmla="*/ 6 w 48"/>
                    <a:gd name="T7" fmla="*/ 45 h 45"/>
                  </a:gdLst>
                  <a:ahLst/>
                  <a:cxnLst>
                    <a:cxn ang="0">
                      <a:pos x="T0" y="T1"/>
                    </a:cxn>
                    <a:cxn ang="0">
                      <a:pos x="T2" y="T3"/>
                    </a:cxn>
                    <a:cxn ang="0">
                      <a:pos x="T4" y="T5"/>
                    </a:cxn>
                    <a:cxn ang="0">
                      <a:pos x="T6" y="T7"/>
                    </a:cxn>
                  </a:cxnLst>
                  <a:rect l="0" t="0" r="r" b="b"/>
                  <a:pathLst>
                    <a:path w="48" h="45">
                      <a:moveTo>
                        <a:pt x="0" y="0"/>
                      </a:moveTo>
                      <a:lnTo>
                        <a:pt x="48" y="24"/>
                      </a:lnTo>
                      <a:lnTo>
                        <a:pt x="15" y="24"/>
                      </a:lnTo>
                      <a:lnTo>
                        <a:pt x="6" y="45"/>
                      </a:lnTo>
                    </a:path>
                  </a:pathLst>
                </a:custGeom>
                <a:noFill/>
                <a:ln w="57150">
                  <a:solidFill>
                    <a:srgbClr val="FF99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Line 7">
                  <a:extLst>
                    <a:ext uri="{FF2B5EF4-FFF2-40B4-BE49-F238E27FC236}">
                      <a16:creationId xmlns:a16="http://schemas.microsoft.com/office/drawing/2014/main" id="{EF9B10A2-8A8D-402F-8E3A-299D7611734D}"/>
                    </a:ext>
                  </a:extLst>
                </p:cNvPr>
                <p:cNvSpPr>
                  <a:spLocks noChangeShapeType="1"/>
                </p:cNvSpPr>
                <p:nvPr/>
              </p:nvSpPr>
              <p:spPr bwMode="auto">
                <a:xfrm flipH="1">
                  <a:off x="8117" y="12059"/>
                  <a:ext cx="119" cy="792"/>
                </a:xfrm>
                <a:prstGeom prst="line">
                  <a:avLst/>
                </a:prstGeom>
                <a:noFill/>
                <a:ln w="57150">
                  <a:solidFill>
                    <a:srgbClr val="FF0000"/>
                  </a:solidFill>
                  <a:round/>
                  <a:headEnd type="arrow" w="med" len="me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 name="Line 8">
                  <a:extLst>
                    <a:ext uri="{FF2B5EF4-FFF2-40B4-BE49-F238E27FC236}">
                      <a16:creationId xmlns:a16="http://schemas.microsoft.com/office/drawing/2014/main" id="{C5FA9EDC-1847-4F62-A2F4-43644C0E1A0C}"/>
                    </a:ext>
                  </a:extLst>
                </p:cNvPr>
                <p:cNvSpPr>
                  <a:spLocks noChangeShapeType="1"/>
                </p:cNvSpPr>
                <p:nvPr/>
              </p:nvSpPr>
              <p:spPr bwMode="auto">
                <a:xfrm flipV="1">
                  <a:off x="7517" y="12851"/>
                  <a:ext cx="600" cy="1046"/>
                </a:xfrm>
                <a:prstGeom prst="line">
                  <a:avLst/>
                </a:prstGeom>
                <a:noFill/>
                <a:ln w="57150">
                  <a:solidFill>
                    <a:srgbClr val="0066CC"/>
                  </a:solidFill>
                  <a:round/>
                  <a:headEnd type="arrow" w="med" len="me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 name="Line 9">
                  <a:extLst>
                    <a:ext uri="{FF2B5EF4-FFF2-40B4-BE49-F238E27FC236}">
                      <a16:creationId xmlns:a16="http://schemas.microsoft.com/office/drawing/2014/main" id="{43DA5959-A735-4790-928B-1E9B50B3E518}"/>
                    </a:ext>
                  </a:extLst>
                </p:cNvPr>
                <p:cNvSpPr>
                  <a:spLocks noChangeShapeType="1"/>
                </p:cNvSpPr>
                <p:nvPr/>
              </p:nvSpPr>
              <p:spPr bwMode="auto">
                <a:xfrm flipH="1" flipV="1">
                  <a:off x="8117" y="12851"/>
                  <a:ext cx="89" cy="672"/>
                </a:xfrm>
                <a:prstGeom prst="line">
                  <a:avLst/>
                </a:prstGeom>
                <a:noFill/>
                <a:ln w="57150">
                  <a:solidFill>
                    <a:srgbClr val="FF9900"/>
                  </a:solidFill>
                  <a:round/>
                  <a:headEnd type="arrow" w="med" len="me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5" name="Text Box 10">
                <a:extLst>
                  <a:ext uri="{FF2B5EF4-FFF2-40B4-BE49-F238E27FC236}">
                    <a16:creationId xmlns:a16="http://schemas.microsoft.com/office/drawing/2014/main" id="{A1C82424-D88F-450A-9488-0FC87642EE46}"/>
                  </a:ext>
                </a:extLst>
              </p:cNvPr>
              <p:cNvSpPr txBox="1">
                <a:spLocks noChangeArrowheads="1"/>
              </p:cNvSpPr>
              <p:nvPr/>
            </p:nvSpPr>
            <p:spPr bwMode="auto">
              <a:xfrm>
                <a:off x="13102" y="6473"/>
                <a:ext cx="4943" cy="678"/>
              </a:xfrm>
              <a:prstGeom prst="rect">
                <a:avLst/>
              </a:prstGeom>
              <a:noFill/>
              <a:ln w="57150">
                <a:noFill/>
                <a:miter lim="800000"/>
                <a:headEnd/>
                <a:tailEnd/>
              </a:ln>
              <a:extLst>
                <a:ext uri="{909E8E84-426E-40DD-AFC4-6F175D3DCCD1}">
                  <a14:hiddenFill xmlns:a14="http://schemas.microsoft.com/office/drawing/2010/main">
                    <a:solidFill>
                      <a:srgbClr val="FFFFFF"/>
                    </a:solidFill>
                  </a14:hiddenFill>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800"/>
                  </a:spcAft>
                  <a:buClrTx/>
                  <a:buSzTx/>
                  <a:buFontTx/>
                  <a:buNone/>
                  <a:tabLst/>
                </a:pPr>
                <a:r>
                  <a:rPr kumimoji="0" lang="en-GB" altLang="en-US" sz="2400" b="0" i="0" u="none" strike="noStrike" cap="none" normalizeH="0" baseline="0" dirty="0">
                    <a:ln>
                      <a:noFill/>
                    </a:ln>
                    <a:solidFill>
                      <a:srgbClr val="002060"/>
                    </a:solidFill>
                    <a:effectLst/>
                    <a:latin typeface="Calibri" panose="020F0502020204030204" pitchFamily="34" charset="0"/>
                  </a:rPr>
                  <a:t>Figure 15 - Regrouping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
          <p:nvSpPr>
            <p:cNvPr id="2" name="Rectangle 1">
              <a:extLst>
                <a:ext uri="{FF2B5EF4-FFF2-40B4-BE49-F238E27FC236}">
                  <a16:creationId xmlns:a16="http://schemas.microsoft.com/office/drawing/2014/main" id="{15286A21-BC1A-4E3B-BFB7-003DB36BBF7C}"/>
                </a:ext>
              </a:extLst>
            </p:cNvPr>
            <p:cNvSpPr/>
            <p:nvPr/>
          </p:nvSpPr>
          <p:spPr>
            <a:xfrm>
              <a:off x="9459516" y="1291990"/>
              <a:ext cx="510076" cy="461665"/>
            </a:xfrm>
            <a:prstGeom prst="rect">
              <a:avLst/>
            </a:prstGeom>
          </p:spPr>
          <p:txBody>
            <a:bodyPr wrap="none">
              <a:spAutoFit/>
            </a:bodyPr>
            <a:lstStyle/>
            <a:p>
              <a:r>
                <a:rPr lang="en-GB" sz="2400" b="1" dirty="0">
                  <a:solidFill>
                    <a:srgbClr val="002060"/>
                  </a:solidFill>
                  <a:latin typeface="Times New Roman" panose="02020603050405020304" pitchFamily="18" charset="0"/>
                  <a:ea typeface="Times New Roman" panose="02020603050405020304" pitchFamily="18" charset="0"/>
                </a:rPr>
                <a:t>A</a:t>
              </a:r>
              <a:r>
                <a:rPr lang="en-GB" sz="2400" b="1" baseline="-25000" dirty="0">
                  <a:solidFill>
                    <a:srgbClr val="002060"/>
                  </a:solidFill>
                  <a:latin typeface="Times New Roman" panose="02020603050405020304" pitchFamily="18" charset="0"/>
                  <a:ea typeface="Times New Roman" panose="02020603050405020304" pitchFamily="18" charset="0"/>
                </a:rPr>
                <a:t>1</a:t>
              </a:r>
              <a:endParaRPr lang="en-GB" sz="2400" dirty="0"/>
            </a:p>
          </p:txBody>
        </p:sp>
        <p:sp>
          <p:nvSpPr>
            <p:cNvPr id="13" name="Rectangle 12">
              <a:extLst>
                <a:ext uri="{FF2B5EF4-FFF2-40B4-BE49-F238E27FC236}">
                  <a16:creationId xmlns:a16="http://schemas.microsoft.com/office/drawing/2014/main" id="{DBF87E61-5F26-46B7-ABD4-E5F238F42BC8}"/>
                </a:ext>
              </a:extLst>
            </p:cNvPr>
            <p:cNvSpPr/>
            <p:nvPr/>
          </p:nvSpPr>
          <p:spPr>
            <a:xfrm>
              <a:off x="9653018" y="387265"/>
              <a:ext cx="510076" cy="461665"/>
            </a:xfrm>
            <a:prstGeom prst="rect">
              <a:avLst/>
            </a:prstGeom>
          </p:spPr>
          <p:txBody>
            <a:bodyPr wrap="none">
              <a:spAutoFit/>
            </a:bodyPr>
            <a:lstStyle/>
            <a:p>
              <a:r>
                <a:rPr lang="en-GB" sz="2400" b="1" dirty="0">
                  <a:solidFill>
                    <a:srgbClr val="002060"/>
                  </a:solidFill>
                  <a:latin typeface="Times New Roman" panose="02020603050405020304" pitchFamily="18" charset="0"/>
                  <a:ea typeface="Times New Roman" panose="02020603050405020304" pitchFamily="18" charset="0"/>
                </a:rPr>
                <a:t>A</a:t>
              </a:r>
              <a:r>
                <a:rPr lang="en-GB" sz="2400" b="1" baseline="-25000" dirty="0">
                  <a:solidFill>
                    <a:srgbClr val="002060"/>
                  </a:solidFill>
                  <a:latin typeface="Times New Roman" panose="02020603050405020304" pitchFamily="18" charset="0"/>
                  <a:ea typeface="Times New Roman" panose="02020603050405020304" pitchFamily="18" charset="0"/>
                </a:rPr>
                <a:t>2</a:t>
              </a:r>
              <a:endParaRPr lang="en-GB" sz="2400" dirty="0"/>
            </a:p>
          </p:txBody>
        </p:sp>
        <p:sp>
          <p:nvSpPr>
            <p:cNvPr id="14" name="Rectangle 13">
              <a:extLst>
                <a:ext uri="{FF2B5EF4-FFF2-40B4-BE49-F238E27FC236}">
                  <a16:creationId xmlns:a16="http://schemas.microsoft.com/office/drawing/2014/main" id="{5D635352-51F1-423D-9C2B-657105283C62}"/>
                </a:ext>
              </a:extLst>
            </p:cNvPr>
            <p:cNvSpPr/>
            <p:nvPr/>
          </p:nvSpPr>
          <p:spPr>
            <a:xfrm>
              <a:off x="10293806" y="760567"/>
              <a:ext cx="510076" cy="461665"/>
            </a:xfrm>
            <a:prstGeom prst="rect">
              <a:avLst/>
            </a:prstGeom>
          </p:spPr>
          <p:txBody>
            <a:bodyPr wrap="none">
              <a:spAutoFit/>
            </a:bodyPr>
            <a:lstStyle/>
            <a:p>
              <a:r>
                <a:rPr lang="en-GB" sz="2400" b="1" dirty="0">
                  <a:solidFill>
                    <a:srgbClr val="002060"/>
                  </a:solidFill>
                  <a:latin typeface="Times New Roman" panose="02020603050405020304" pitchFamily="18" charset="0"/>
                  <a:ea typeface="Times New Roman" panose="02020603050405020304" pitchFamily="18" charset="0"/>
                </a:rPr>
                <a:t>A</a:t>
              </a:r>
              <a:r>
                <a:rPr lang="en-GB" sz="2400" b="1" baseline="-25000" dirty="0">
                  <a:solidFill>
                    <a:srgbClr val="002060"/>
                  </a:solidFill>
                  <a:latin typeface="Times New Roman" panose="02020603050405020304" pitchFamily="18" charset="0"/>
                  <a:ea typeface="Times New Roman" panose="02020603050405020304" pitchFamily="18" charset="0"/>
                </a:rPr>
                <a:t>0</a:t>
              </a:r>
              <a:endParaRPr lang="en-GB" sz="2400" dirty="0"/>
            </a:p>
          </p:txBody>
        </p:sp>
        <p:sp>
          <p:nvSpPr>
            <p:cNvPr id="15" name="Rectangle 14">
              <a:extLst>
                <a:ext uri="{FF2B5EF4-FFF2-40B4-BE49-F238E27FC236}">
                  <a16:creationId xmlns:a16="http://schemas.microsoft.com/office/drawing/2014/main" id="{8E0E84F8-39DB-4297-AE57-E3BB619C224C}"/>
                </a:ext>
              </a:extLst>
            </p:cNvPr>
            <p:cNvSpPr/>
            <p:nvPr/>
          </p:nvSpPr>
          <p:spPr>
            <a:xfrm>
              <a:off x="10235466" y="1237702"/>
              <a:ext cx="444352" cy="523220"/>
            </a:xfrm>
            <a:prstGeom prst="rect">
              <a:avLst/>
            </a:prstGeom>
          </p:spPr>
          <p:txBody>
            <a:bodyPr wrap="none">
              <a:spAutoFit/>
            </a:bodyPr>
            <a:lstStyle/>
            <a:p>
              <a:r>
                <a:rPr lang="en-GB" sz="2800" b="1" dirty="0">
                  <a:solidFill>
                    <a:srgbClr val="002060"/>
                  </a:solidFill>
                  <a:latin typeface="Times New Roman" panose="02020603050405020304" pitchFamily="18" charset="0"/>
                  <a:ea typeface="Times New Roman" panose="02020603050405020304" pitchFamily="18" charset="0"/>
                </a:rPr>
                <a:t>A</a:t>
              </a:r>
              <a:endParaRPr lang="en-GB" sz="2800" dirty="0"/>
            </a:p>
          </p:txBody>
        </p:sp>
        <p:cxnSp>
          <p:nvCxnSpPr>
            <p:cNvPr id="17" name="Straight Arrow Connector 16">
              <a:extLst>
                <a:ext uri="{FF2B5EF4-FFF2-40B4-BE49-F238E27FC236}">
                  <a16:creationId xmlns:a16="http://schemas.microsoft.com/office/drawing/2014/main" id="{31E6438F-4659-41C0-BB1F-8190AEB5FEB2}"/>
                </a:ext>
              </a:extLst>
            </p:cNvPr>
            <p:cNvCxnSpPr/>
            <p:nvPr/>
          </p:nvCxnSpPr>
          <p:spPr>
            <a:xfrm flipV="1">
              <a:off x="9969593" y="1438808"/>
              <a:ext cx="0" cy="268014"/>
            </a:xfrm>
            <a:prstGeom prst="straightConnector1">
              <a:avLst/>
            </a:prstGeom>
            <a:ln w="57150">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8F2C217-105C-44EC-B15E-8AD4911FC8EC}"/>
                </a:ext>
              </a:extLst>
            </p:cNvPr>
            <p:cNvCxnSpPr>
              <a:cxnSpLocks/>
            </p:cNvCxnSpPr>
            <p:nvPr/>
          </p:nvCxnSpPr>
          <p:spPr>
            <a:xfrm flipV="1">
              <a:off x="10145034" y="668267"/>
              <a:ext cx="118872" cy="209195"/>
            </a:xfrm>
            <a:prstGeom prst="straightConnector1">
              <a:avLst/>
            </a:prstGeom>
            <a:ln w="57150">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91BD578-3659-4418-BBFB-8BA42A283FC8}"/>
                </a:ext>
              </a:extLst>
            </p:cNvPr>
            <p:cNvCxnSpPr>
              <a:cxnSpLocks/>
            </p:cNvCxnSpPr>
            <p:nvPr/>
          </p:nvCxnSpPr>
          <p:spPr>
            <a:xfrm flipH="1">
              <a:off x="10217579" y="796928"/>
              <a:ext cx="105615" cy="265361"/>
            </a:xfrm>
            <a:prstGeom prst="straightConnector1">
              <a:avLst/>
            </a:prstGeom>
            <a:ln w="57150">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31179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C46CD40-AC1F-4865-BA4E-8FAF2712611C}"/>
              </a:ext>
            </a:extLst>
          </p:cNvPr>
          <p:cNvSpPr/>
          <p:nvPr/>
        </p:nvSpPr>
        <p:spPr>
          <a:xfrm>
            <a:off x="481261" y="2878014"/>
            <a:ext cx="9392652" cy="3785652"/>
          </a:xfrm>
          <a:prstGeom prst="rect">
            <a:avLst/>
          </a:prstGeom>
        </p:spPr>
        <p:txBody>
          <a:bodyPr wrap="square">
            <a:spAutoFit/>
          </a:bodyPr>
          <a:lstStyle/>
          <a:p>
            <a:pPr algn="just"/>
            <a:r>
              <a:rPr lang="en-GB" sz="2400" dirty="0">
                <a:solidFill>
                  <a:srgbClr val="002060"/>
                </a:solidFill>
                <a:latin typeface="Times New Roman" panose="02020603050405020304" pitchFamily="18" charset="0"/>
                <a:ea typeface="Times New Roman" panose="02020603050405020304" pitchFamily="18" charset="0"/>
              </a:rPr>
              <a:t>Original unbalanced system has</a:t>
            </a:r>
            <a:endParaRPr lang="en-GB" sz="24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GB" sz="2400" dirty="0">
                <a:solidFill>
                  <a:srgbClr val="002060"/>
                </a:solidFill>
                <a:latin typeface="Times New Roman" panose="02020603050405020304" pitchFamily="18" charset="0"/>
                <a:ea typeface="Times New Roman" panose="02020603050405020304" pitchFamily="18" charset="0"/>
              </a:rPr>
              <a:t>3 complex unknown quantities</a:t>
            </a:r>
            <a:r>
              <a:rPr lang="en-GB" sz="2400" b="1" dirty="0">
                <a:solidFill>
                  <a:srgbClr val="002060"/>
                </a:solidFill>
                <a:latin typeface="Times New Roman" panose="02020603050405020304" pitchFamily="18" charset="0"/>
                <a:ea typeface="Times New Roman" panose="02020603050405020304" pitchFamily="18" charset="0"/>
              </a:rPr>
              <a:t> A</a:t>
            </a:r>
            <a:r>
              <a:rPr lang="en-GB" sz="2400" dirty="0">
                <a:solidFill>
                  <a:srgbClr val="002060"/>
                </a:solidFill>
                <a:latin typeface="Times New Roman" panose="02020603050405020304" pitchFamily="18" charset="0"/>
                <a:ea typeface="Times New Roman" panose="02020603050405020304" pitchFamily="18" charset="0"/>
              </a:rPr>
              <a:t>, </a:t>
            </a:r>
            <a:r>
              <a:rPr lang="en-GB" sz="2400" b="1" dirty="0">
                <a:solidFill>
                  <a:srgbClr val="002060"/>
                </a:solidFill>
                <a:latin typeface="Times New Roman" panose="02020603050405020304" pitchFamily="18" charset="0"/>
                <a:ea typeface="Times New Roman" panose="02020603050405020304" pitchFamily="18" charset="0"/>
              </a:rPr>
              <a:t>B</a:t>
            </a:r>
            <a:r>
              <a:rPr lang="en-GB" sz="2400" dirty="0">
                <a:solidFill>
                  <a:srgbClr val="002060"/>
                </a:solidFill>
                <a:latin typeface="Times New Roman" panose="02020603050405020304" pitchFamily="18" charset="0"/>
                <a:ea typeface="Times New Roman" panose="02020603050405020304" pitchFamily="18" charset="0"/>
              </a:rPr>
              <a:t> and </a:t>
            </a:r>
            <a:r>
              <a:rPr lang="en-GB" sz="2400" b="1" dirty="0">
                <a:solidFill>
                  <a:srgbClr val="002060"/>
                </a:solidFill>
                <a:latin typeface="Times New Roman" panose="02020603050405020304" pitchFamily="18" charset="0"/>
                <a:ea typeface="Times New Roman" panose="02020603050405020304" pitchFamily="18" charset="0"/>
              </a:rPr>
              <a:t>C </a:t>
            </a:r>
            <a:endParaRPr lang="en-GB" sz="24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GB" sz="2400" dirty="0">
                <a:solidFill>
                  <a:srgbClr val="002060"/>
                </a:solidFill>
                <a:latin typeface="Times New Roman" panose="02020603050405020304" pitchFamily="18" charset="0"/>
                <a:ea typeface="Times New Roman" panose="02020603050405020304" pitchFamily="18" charset="0"/>
              </a:rPr>
              <a:t>magnitude and phase angle of each is independent.</a:t>
            </a:r>
            <a:endParaRPr lang="en-GB" sz="2400" dirty="0">
              <a:latin typeface="Times New Roman" panose="02020603050405020304" pitchFamily="18" charset="0"/>
              <a:ea typeface="Times New Roman" panose="02020603050405020304" pitchFamily="18" charset="0"/>
            </a:endParaRPr>
          </a:p>
          <a:p>
            <a:pPr algn="just"/>
            <a:r>
              <a:rPr lang="en-GB" sz="2400" dirty="0">
                <a:solidFill>
                  <a:srgbClr val="002060"/>
                </a:solidFill>
                <a:latin typeface="Times New Roman" panose="02020603050405020304" pitchFamily="18" charset="0"/>
                <a:ea typeface="Times New Roman" panose="02020603050405020304" pitchFamily="18" charset="0"/>
              </a:rPr>
              <a:t>Balanced components has</a:t>
            </a:r>
            <a:endParaRPr lang="en-GB" sz="24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GB" sz="2400" dirty="0">
                <a:solidFill>
                  <a:srgbClr val="002060"/>
                </a:solidFill>
                <a:latin typeface="Times New Roman" panose="02020603050405020304" pitchFamily="18" charset="0"/>
                <a:ea typeface="Times New Roman" panose="02020603050405020304" pitchFamily="18" charset="0"/>
              </a:rPr>
              <a:t> only one independent complex unknown each.  </a:t>
            </a:r>
            <a:endParaRPr lang="en-GB" sz="24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GB" sz="2400" dirty="0">
                <a:solidFill>
                  <a:srgbClr val="002060"/>
                </a:solidFill>
                <a:latin typeface="Times New Roman" panose="02020603050405020304" pitchFamily="18" charset="0"/>
                <a:ea typeface="Times New Roman" panose="02020603050405020304" pitchFamily="18" charset="0"/>
              </a:rPr>
              <a:t>effectively 3 complex unknown quantities.  </a:t>
            </a:r>
            <a:endParaRPr lang="en-GB" sz="2400" dirty="0">
              <a:latin typeface="Times New Roman" panose="02020603050405020304" pitchFamily="18"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pPr>
            <a:r>
              <a:rPr lang="en-GB" sz="2400" dirty="0">
                <a:solidFill>
                  <a:srgbClr val="002060"/>
                </a:solidFill>
                <a:latin typeface="Times New Roman" panose="02020603050405020304" pitchFamily="18" charset="0"/>
                <a:ea typeface="Times New Roman" panose="02020603050405020304" pitchFamily="18" charset="0"/>
              </a:rPr>
              <a:t>usually selected as components of the first phase </a:t>
            </a:r>
            <a:r>
              <a:rPr lang="en-GB" sz="2400" b="1" dirty="0">
                <a:solidFill>
                  <a:srgbClr val="002060"/>
                </a:solidFill>
                <a:latin typeface="Times New Roman" panose="02020603050405020304" pitchFamily="18" charset="0"/>
                <a:ea typeface="Times New Roman" panose="02020603050405020304" pitchFamily="18" charset="0"/>
              </a:rPr>
              <a:t>A </a:t>
            </a:r>
            <a:r>
              <a:rPr lang="en-GB" sz="2400" dirty="0">
                <a:solidFill>
                  <a:srgbClr val="002060"/>
                </a:solidFill>
                <a:latin typeface="Times New Roman" panose="02020603050405020304" pitchFamily="18" charset="0"/>
                <a:ea typeface="Times New Roman" panose="02020603050405020304" pitchFamily="18" charset="0"/>
              </a:rPr>
              <a:t>(i.e. </a:t>
            </a:r>
            <a:r>
              <a:rPr lang="en-GB" sz="2400" b="1" dirty="0">
                <a:solidFill>
                  <a:srgbClr val="002060"/>
                </a:solidFill>
                <a:latin typeface="Times New Roman" panose="02020603050405020304" pitchFamily="18" charset="0"/>
                <a:ea typeface="Times New Roman" panose="02020603050405020304" pitchFamily="18" charset="0"/>
              </a:rPr>
              <a:t>A</a:t>
            </a:r>
            <a:r>
              <a:rPr lang="en-GB" sz="2400" b="1" baseline="-25000" dirty="0">
                <a:solidFill>
                  <a:srgbClr val="002060"/>
                </a:solidFill>
                <a:latin typeface="Times New Roman" panose="02020603050405020304" pitchFamily="18" charset="0"/>
                <a:ea typeface="Times New Roman" panose="02020603050405020304" pitchFamily="18" charset="0"/>
              </a:rPr>
              <a:t>0</a:t>
            </a:r>
            <a:r>
              <a:rPr lang="en-GB" sz="2400" dirty="0">
                <a:solidFill>
                  <a:srgbClr val="002060"/>
                </a:solidFill>
                <a:latin typeface="Times New Roman" panose="02020603050405020304" pitchFamily="18" charset="0"/>
                <a:ea typeface="Times New Roman" panose="02020603050405020304" pitchFamily="18" charset="0"/>
              </a:rPr>
              <a:t>, </a:t>
            </a:r>
            <a:r>
              <a:rPr lang="en-GB" sz="2400" b="1" dirty="0">
                <a:solidFill>
                  <a:srgbClr val="002060"/>
                </a:solidFill>
                <a:latin typeface="Times New Roman" panose="02020603050405020304" pitchFamily="18" charset="0"/>
                <a:ea typeface="Times New Roman" panose="02020603050405020304" pitchFamily="18" charset="0"/>
              </a:rPr>
              <a:t>A</a:t>
            </a:r>
            <a:r>
              <a:rPr lang="en-GB" sz="2400" b="1" baseline="-25000" dirty="0">
                <a:solidFill>
                  <a:srgbClr val="002060"/>
                </a:solidFill>
                <a:latin typeface="Times New Roman" panose="02020603050405020304" pitchFamily="18" charset="0"/>
                <a:ea typeface="Times New Roman" panose="02020603050405020304" pitchFamily="18" charset="0"/>
              </a:rPr>
              <a:t>1</a:t>
            </a:r>
            <a:r>
              <a:rPr lang="en-GB" sz="2400" dirty="0">
                <a:solidFill>
                  <a:srgbClr val="002060"/>
                </a:solidFill>
                <a:latin typeface="Times New Roman" panose="02020603050405020304" pitchFamily="18" charset="0"/>
                <a:ea typeface="Times New Roman" panose="02020603050405020304" pitchFamily="18" charset="0"/>
              </a:rPr>
              <a:t> and </a:t>
            </a:r>
            <a:r>
              <a:rPr lang="en-GB" sz="2400" b="1" dirty="0">
                <a:solidFill>
                  <a:srgbClr val="002060"/>
                </a:solidFill>
                <a:latin typeface="Times New Roman" panose="02020603050405020304" pitchFamily="18" charset="0"/>
                <a:ea typeface="Times New Roman" panose="02020603050405020304" pitchFamily="18" charset="0"/>
              </a:rPr>
              <a:t>A</a:t>
            </a:r>
            <a:r>
              <a:rPr lang="en-GB" sz="2400" b="1" baseline="-25000" dirty="0">
                <a:solidFill>
                  <a:srgbClr val="002060"/>
                </a:solidFill>
                <a:latin typeface="Times New Roman" panose="02020603050405020304" pitchFamily="18" charset="0"/>
                <a:ea typeface="Times New Roman" panose="02020603050405020304" pitchFamily="18" charset="0"/>
              </a:rPr>
              <a:t>2</a:t>
            </a:r>
            <a:r>
              <a:rPr lang="en-GB" sz="2400" dirty="0">
                <a:solidFill>
                  <a:srgbClr val="002060"/>
                </a:solidFill>
                <a:latin typeface="Times New Roman" panose="02020603050405020304" pitchFamily="18" charset="0"/>
                <a:ea typeface="Times New Roman" panose="02020603050405020304" pitchFamily="18" charset="0"/>
              </a:rPr>
              <a:t>) . </a:t>
            </a:r>
            <a:endParaRPr lang="en-GB" sz="2400" dirty="0">
              <a:latin typeface="Times New Roman" panose="02020603050405020304" pitchFamily="18" charset="0"/>
              <a:ea typeface="Times New Roman" panose="02020603050405020304" pitchFamily="18" charset="0"/>
            </a:endParaRPr>
          </a:p>
          <a:p>
            <a:pPr algn="just">
              <a:tabLst>
                <a:tab pos="1828800" algn="l"/>
              </a:tabLst>
            </a:pPr>
            <a:r>
              <a:rPr lang="en-GB" sz="2400" dirty="0">
                <a:solidFill>
                  <a:srgbClr val="002060"/>
                </a:solidFill>
                <a:latin typeface="Times New Roman" panose="02020603050405020304" pitchFamily="18" charset="0"/>
                <a:ea typeface="Times New Roman" panose="02020603050405020304" pitchFamily="18" charset="0"/>
              </a:rPr>
              <a:t>	</a:t>
            </a:r>
            <a:r>
              <a:rPr lang="en-GB" sz="2400" b="1" dirty="0">
                <a:solidFill>
                  <a:srgbClr val="002060"/>
                </a:solidFill>
                <a:latin typeface="Times New Roman" panose="02020603050405020304" pitchFamily="18" charset="0"/>
                <a:ea typeface="Times New Roman" panose="02020603050405020304" pitchFamily="18" charset="0"/>
              </a:rPr>
              <a:t>A</a:t>
            </a:r>
            <a:r>
              <a:rPr lang="en-GB" sz="2400" dirty="0">
                <a:solidFill>
                  <a:srgbClr val="002060"/>
                </a:solidFill>
                <a:latin typeface="Times New Roman" panose="02020603050405020304" pitchFamily="18" charset="0"/>
                <a:ea typeface="Times New Roman" panose="02020603050405020304" pitchFamily="18" charset="0"/>
              </a:rPr>
              <a:t>	=	</a:t>
            </a:r>
            <a:r>
              <a:rPr lang="en-GB" sz="2400" b="1" dirty="0">
                <a:solidFill>
                  <a:srgbClr val="002060"/>
                </a:solidFill>
                <a:latin typeface="Times New Roman" panose="02020603050405020304" pitchFamily="18" charset="0"/>
                <a:ea typeface="Times New Roman" panose="02020603050405020304" pitchFamily="18" charset="0"/>
              </a:rPr>
              <a:t>A</a:t>
            </a:r>
            <a:r>
              <a:rPr lang="en-GB" sz="2400" b="1" baseline="-25000" dirty="0">
                <a:solidFill>
                  <a:srgbClr val="002060"/>
                </a:solidFill>
                <a:latin typeface="Times New Roman" panose="02020603050405020304" pitchFamily="18" charset="0"/>
                <a:ea typeface="Times New Roman" panose="02020603050405020304" pitchFamily="18" charset="0"/>
              </a:rPr>
              <a:t>0</a:t>
            </a:r>
            <a:r>
              <a:rPr lang="en-GB" sz="2400" dirty="0">
                <a:solidFill>
                  <a:srgbClr val="002060"/>
                </a:solidFill>
                <a:latin typeface="Times New Roman" panose="02020603050405020304" pitchFamily="18" charset="0"/>
                <a:ea typeface="Times New Roman" panose="02020603050405020304" pitchFamily="18" charset="0"/>
              </a:rPr>
              <a:t>  +  </a:t>
            </a:r>
            <a:r>
              <a:rPr lang="en-GB" sz="2400" b="1" dirty="0">
                <a:solidFill>
                  <a:srgbClr val="002060"/>
                </a:solidFill>
                <a:latin typeface="Times New Roman" panose="02020603050405020304" pitchFamily="18" charset="0"/>
                <a:ea typeface="Times New Roman" panose="02020603050405020304" pitchFamily="18" charset="0"/>
              </a:rPr>
              <a:t>A</a:t>
            </a:r>
            <a:r>
              <a:rPr lang="en-GB" sz="2400" b="1" baseline="-25000" dirty="0">
                <a:solidFill>
                  <a:srgbClr val="002060"/>
                </a:solidFill>
                <a:latin typeface="Times New Roman" panose="02020603050405020304" pitchFamily="18" charset="0"/>
                <a:ea typeface="Times New Roman" panose="02020603050405020304" pitchFamily="18" charset="0"/>
              </a:rPr>
              <a:t>1</a:t>
            </a:r>
            <a:r>
              <a:rPr lang="en-GB" sz="2400" dirty="0">
                <a:solidFill>
                  <a:srgbClr val="002060"/>
                </a:solidFill>
                <a:latin typeface="Times New Roman" panose="02020603050405020304" pitchFamily="18" charset="0"/>
                <a:ea typeface="Times New Roman" panose="02020603050405020304" pitchFamily="18" charset="0"/>
              </a:rPr>
              <a:t>   +  </a:t>
            </a:r>
            <a:r>
              <a:rPr lang="en-GB" sz="2400" b="1" dirty="0">
                <a:solidFill>
                  <a:srgbClr val="002060"/>
                </a:solidFill>
                <a:latin typeface="Times New Roman" panose="02020603050405020304" pitchFamily="18" charset="0"/>
                <a:ea typeface="Times New Roman" panose="02020603050405020304" pitchFamily="18" charset="0"/>
              </a:rPr>
              <a:t>A</a:t>
            </a:r>
            <a:r>
              <a:rPr lang="en-GB" sz="2400" b="1" baseline="-25000" dirty="0">
                <a:solidFill>
                  <a:srgbClr val="002060"/>
                </a:solidFill>
                <a:latin typeface="Times New Roman" panose="02020603050405020304" pitchFamily="18" charset="0"/>
                <a:ea typeface="Times New Roman" panose="02020603050405020304" pitchFamily="18" charset="0"/>
              </a:rPr>
              <a:t>2</a:t>
            </a:r>
            <a:endParaRPr lang="en-GB" sz="2400" dirty="0">
              <a:latin typeface="Times New Roman" panose="02020603050405020304" pitchFamily="18" charset="0"/>
              <a:ea typeface="Times New Roman" panose="02020603050405020304" pitchFamily="18" charset="0"/>
            </a:endParaRPr>
          </a:p>
          <a:p>
            <a:pPr algn="just">
              <a:tabLst>
                <a:tab pos="1828800" algn="l"/>
              </a:tabLst>
            </a:pPr>
            <a:r>
              <a:rPr lang="en-GB" sz="2400" dirty="0">
                <a:solidFill>
                  <a:srgbClr val="002060"/>
                </a:solidFill>
                <a:latin typeface="Times New Roman" panose="02020603050405020304" pitchFamily="18" charset="0"/>
                <a:ea typeface="Times New Roman" panose="02020603050405020304" pitchFamily="18" charset="0"/>
              </a:rPr>
              <a:t>	</a:t>
            </a:r>
            <a:r>
              <a:rPr lang="en-GB" sz="2400" b="1" dirty="0">
                <a:solidFill>
                  <a:srgbClr val="002060"/>
                </a:solidFill>
                <a:latin typeface="Times New Roman" panose="02020603050405020304" pitchFamily="18" charset="0"/>
                <a:ea typeface="Times New Roman" panose="02020603050405020304" pitchFamily="18" charset="0"/>
              </a:rPr>
              <a:t>B</a:t>
            </a:r>
            <a:r>
              <a:rPr lang="en-GB" sz="2400" dirty="0">
                <a:solidFill>
                  <a:srgbClr val="002060"/>
                </a:solidFill>
                <a:latin typeface="Times New Roman" panose="02020603050405020304" pitchFamily="18" charset="0"/>
                <a:ea typeface="Times New Roman" panose="02020603050405020304" pitchFamily="18" charset="0"/>
              </a:rPr>
              <a:t>	=	</a:t>
            </a:r>
            <a:r>
              <a:rPr lang="en-GB" sz="2400" b="1" dirty="0">
                <a:solidFill>
                  <a:srgbClr val="002060"/>
                </a:solidFill>
                <a:latin typeface="Times New Roman" panose="02020603050405020304" pitchFamily="18" charset="0"/>
                <a:ea typeface="Times New Roman" panose="02020603050405020304" pitchFamily="18" charset="0"/>
              </a:rPr>
              <a:t>B</a:t>
            </a:r>
            <a:r>
              <a:rPr lang="en-GB" sz="2400" b="1" baseline="-25000" dirty="0">
                <a:solidFill>
                  <a:srgbClr val="002060"/>
                </a:solidFill>
                <a:latin typeface="Times New Roman" panose="02020603050405020304" pitchFamily="18" charset="0"/>
                <a:ea typeface="Times New Roman" panose="02020603050405020304" pitchFamily="18" charset="0"/>
              </a:rPr>
              <a:t>0</a:t>
            </a:r>
            <a:r>
              <a:rPr lang="en-GB" sz="2400" dirty="0">
                <a:solidFill>
                  <a:srgbClr val="002060"/>
                </a:solidFill>
                <a:latin typeface="Times New Roman" panose="02020603050405020304" pitchFamily="18" charset="0"/>
                <a:ea typeface="Times New Roman" panose="02020603050405020304" pitchFamily="18" charset="0"/>
              </a:rPr>
              <a:t>  +   </a:t>
            </a:r>
            <a:r>
              <a:rPr lang="en-GB" sz="2400" b="1" dirty="0">
                <a:solidFill>
                  <a:srgbClr val="002060"/>
                </a:solidFill>
                <a:latin typeface="Times New Roman" panose="02020603050405020304" pitchFamily="18" charset="0"/>
                <a:ea typeface="Times New Roman" panose="02020603050405020304" pitchFamily="18" charset="0"/>
              </a:rPr>
              <a:t>B</a:t>
            </a:r>
            <a:r>
              <a:rPr lang="en-GB" sz="2400" b="1" baseline="-25000" dirty="0">
                <a:solidFill>
                  <a:srgbClr val="002060"/>
                </a:solidFill>
                <a:latin typeface="Times New Roman" panose="02020603050405020304" pitchFamily="18" charset="0"/>
                <a:ea typeface="Times New Roman" panose="02020603050405020304" pitchFamily="18" charset="0"/>
              </a:rPr>
              <a:t>1</a:t>
            </a:r>
            <a:r>
              <a:rPr lang="en-GB" sz="2400" dirty="0">
                <a:solidFill>
                  <a:srgbClr val="002060"/>
                </a:solidFill>
                <a:latin typeface="Times New Roman" panose="02020603050405020304" pitchFamily="18" charset="0"/>
                <a:ea typeface="Times New Roman" panose="02020603050405020304" pitchFamily="18" charset="0"/>
              </a:rPr>
              <a:t>  +   </a:t>
            </a:r>
            <a:r>
              <a:rPr lang="en-GB" sz="2400" b="1" dirty="0">
                <a:solidFill>
                  <a:srgbClr val="002060"/>
                </a:solidFill>
                <a:latin typeface="Times New Roman" panose="02020603050405020304" pitchFamily="18" charset="0"/>
                <a:ea typeface="Times New Roman" panose="02020603050405020304" pitchFamily="18" charset="0"/>
              </a:rPr>
              <a:t>B</a:t>
            </a:r>
            <a:r>
              <a:rPr lang="en-GB" sz="2400" b="1" baseline="-25000" dirty="0">
                <a:solidFill>
                  <a:srgbClr val="002060"/>
                </a:solidFill>
                <a:latin typeface="Times New Roman" panose="02020603050405020304" pitchFamily="18" charset="0"/>
                <a:ea typeface="Times New Roman" panose="02020603050405020304" pitchFamily="18" charset="0"/>
              </a:rPr>
              <a:t>2</a:t>
            </a:r>
            <a:endParaRPr lang="en-GB" sz="2400" dirty="0">
              <a:latin typeface="Times New Roman" panose="02020603050405020304" pitchFamily="18" charset="0"/>
              <a:ea typeface="Times New Roman" panose="02020603050405020304" pitchFamily="18" charset="0"/>
            </a:endParaRPr>
          </a:p>
          <a:p>
            <a:pPr algn="just">
              <a:tabLst>
                <a:tab pos="1828800" algn="l"/>
              </a:tabLst>
            </a:pPr>
            <a:r>
              <a:rPr lang="en-GB" sz="2400" dirty="0">
                <a:solidFill>
                  <a:srgbClr val="002060"/>
                </a:solidFill>
                <a:latin typeface="Times New Roman" panose="02020603050405020304" pitchFamily="18" charset="0"/>
                <a:ea typeface="Times New Roman" panose="02020603050405020304" pitchFamily="18" charset="0"/>
              </a:rPr>
              <a:t>	</a:t>
            </a:r>
            <a:r>
              <a:rPr lang="en-GB" sz="2400" b="1" dirty="0">
                <a:solidFill>
                  <a:srgbClr val="002060"/>
                </a:solidFill>
                <a:latin typeface="Times New Roman" panose="02020603050405020304" pitchFamily="18" charset="0"/>
                <a:ea typeface="Times New Roman" panose="02020603050405020304" pitchFamily="18" charset="0"/>
              </a:rPr>
              <a:t>C</a:t>
            </a:r>
            <a:r>
              <a:rPr lang="en-GB" sz="2400" dirty="0">
                <a:solidFill>
                  <a:srgbClr val="002060"/>
                </a:solidFill>
                <a:latin typeface="Times New Roman" panose="02020603050405020304" pitchFamily="18" charset="0"/>
                <a:ea typeface="Times New Roman" panose="02020603050405020304" pitchFamily="18" charset="0"/>
              </a:rPr>
              <a:t>	=	</a:t>
            </a:r>
            <a:r>
              <a:rPr lang="en-GB" sz="2400" b="1" dirty="0">
                <a:solidFill>
                  <a:srgbClr val="002060"/>
                </a:solidFill>
                <a:latin typeface="Times New Roman" panose="02020603050405020304" pitchFamily="18" charset="0"/>
                <a:ea typeface="Times New Roman" panose="02020603050405020304" pitchFamily="18" charset="0"/>
              </a:rPr>
              <a:t>C</a:t>
            </a:r>
            <a:r>
              <a:rPr lang="en-GB" sz="2400" b="1" baseline="-25000" dirty="0">
                <a:solidFill>
                  <a:srgbClr val="002060"/>
                </a:solidFill>
                <a:latin typeface="Times New Roman" panose="02020603050405020304" pitchFamily="18" charset="0"/>
                <a:ea typeface="Times New Roman" panose="02020603050405020304" pitchFamily="18" charset="0"/>
              </a:rPr>
              <a:t>0</a:t>
            </a:r>
            <a:r>
              <a:rPr lang="en-GB" sz="2400" dirty="0">
                <a:solidFill>
                  <a:srgbClr val="002060"/>
                </a:solidFill>
                <a:latin typeface="Times New Roman" panose="02020603050405020304" pitchFamily="18" charset="0"/>
                <a:ea typeface="Times New Roman" panose="02020603050405020304" pitchFamily="18" charset="0"/>
              </a:rPr>
              <a:t>  +  </a:t>
            </a:r>
            <a:r>
              <a:rPr lang="en-GB" sz="2400" b="1" dirty="0">
                <a:solidFill>
                  <a:srgbClr val="002060"/>
                </a:solidFill>
                <a:latin typeface="Times New Roman" panose="02020603050405020304" pitchFamily="18" charset="0"/>
                <a:ea typeface="Times New Roman" panose="02020603050405020304" pitchFamily="18" charset="0"/>
              </a:rPr>
              <a:t>C</a:t>
            </a:r>
            <a:r>
              <a:rPr lang="en-GB" sz="2400" b="1" baseline="-25000" dirty="0">
                <a:solidFill>
                  <a:srgbClr val="002060"/>
                </a:solidFill>
                <a:latin typeface="Times New Roman" panose="02020603050405020304" pitchFamily="18" charset="0"/>
                <a:ea typeface="Times New Roman" panose="02020603050405020304" pitchFamily="18" charset="0"/>
              </a:rPr>
              <a:t>1</a:t>
            </a:r>
            <a:r>
              <a:rPr lang="en-GB" sz="2400" dirty="0">
                <a:solidFill>
                  <a:srgbClr val="002060"/>
                </a:solidFill>
                <a:latin typeface="Times New Roman" panose="02020603050405020304" pitchFamily="18" charset="0"/>
                <a:ea typeface="Times New Roman" panose="02020603050405020304" pitchFamily="18" charset="0"/>
              </a:rPr>
              <a:t>   +  </a:t>
            </a:r>
            <a:r>
              <a:rPr lang="en-GB" sz="2400" b="1" dirty="0">
                <a:solidFill>
                  <a:srgbClr val="002060"/>
                </a:solidFill>
                <a:latin typeface="Times New Roman" panose="02020603050405020304" pitchFamily="18" charset="0"/>
                <a:ea typeface="Times New Roman" panose="02020603050405020304" pitchFamily="18" charset="0"/>
              </a:rPr>
              <a:t>C</a:t>
            </a:r>
            <a:r>
              <a:rPr lang="en-GB" sz="2400" b="1" baseline="-25000" dirty="0">
                <a:solidFill>
                  <a:srgbClr val="002060"/>
                </a:solidFill>
                <a:latin typeface="Times New Roman" panose="02020603050405020304" pitchFamily="18" charset="0"/>
                <a:ea typeface="Times New Roman" panose="02020603050405020304" pitchFamily="18" charset="0"/>
              </a:rPr>
              <a:t>2</a:t>
            </a:r>
            <a:endParaRPr lang="en-GB" sz="2400" dirty="0">
              <a:effectLst/>
              <a:latin typeface="Times New Roman" panose="02020603050405020304" pitchFamily="18" charset="0"/>
              <a:ea typeface="Times New Roman" panose="02020603050405020304" pitchFamily="18" charset="0"/>
            </a:endParaRPr>
          </a:p>
        </p:txBody>
      </p:sp>
      <p:grpSp>
        <p:nvGrpSpPr>
          <p:cNvPr id="5" name="Group 4">
            <a:extLst>
              <a:ext uri="{FF2B5EF4-FFF2-40B4-BE49-F238E27FC236}">
                <a16:creationId xmlns:a16="http://schemas.microsoft.com/office/drawing/2014/main" id="{F276C91F-9FBD-4CF6-AC6C-27A546898846}"/>
              </a:ext>
            </a:extLst>
          </p:cNvPr>
          <p:cNvGrpSpPr/>
          <p:nvPr/>
        </p:nvGrpSpPr>
        <p:grpSpPr>
          <a:xfrm>
            <a:off x="1132606" y="475419"/>
            <a:ext cx="8123689" cy="2375293"/>
            <a:chOff x="1132606" y="475419"/>
            <a:chExt cx="8123689" cy="2375293"/>
          </a:xfrm>
        </p:grpSpPr>
        <p:pic>
          <p:nvPicPr>
            <p:cNvPr id="4" name="Picture 3">
              <a:extLst>
                <a:ext uri="{FF2B5EF4-FFF2-40B4-BE49-F238E27FC236}">
                  <a16:creationId xmlns:a16="http://schemas.microsoft.com/office/drawing/2014/main" id="{B402D3E4-2298-496C-A287-82A37B297410}"/>
                </a:ext>
              </a:extLst>
            </p:cNvPr>
            <p:cNvPicPr>
              <a:picLocks noChangeAspect="1"/>
            </p:cNvPicPr>
            <p:nvPr/>
          </p:nvPicPr>
          <p:blipFill rotWithShape="1">
            <a:blip r:embed="rId3">
              <a:clrChange>
                <a:clrFrom>
                  <a:srgbClr val="FFFFFF"/>
                </a:clrFrom>
                <a:clrTo>
                  <a:srgbClr val="FFFFFF">
                    <a:alpha val="0"/>
                  </a:srgbClr>
                </a:clrTo>
              </a:clrChange>
            </a:blip>
            <a:srcRect t="20124" b="14751"/>
            <a:stretch/>
          </p:blipFill>
          <p:spPr>
            <a:xfrm>
              <a:off x="1326730" y="475419"/>
              <a:ext cx="7929565" cy="2283823"/>
            </a:xfrm>
            <a:prstGeom prst="rect">
              <a:avLst/>
            </a:prstGeom>
          </p:spPr>
        </p:pic>
        <p:sp>
          <p:nvSpPr>
            <p:cNvPr id="2" name="Rectangle 1">
              <a:extLst>
                <a:ext uri="{FF2B5EF4-FFF2-40B4-BE49-F238E27FC236}">
                  <a16:creationId xmlns:a16="http://schemas.microsoft.com/office/drawing/2014/main" id="{31F620C0-B8A9-49FA-971B-64228A30962E}"/>
                </a:ext>
              </a:extLst>
            </p:cNvPr>
            <p:cNvSpPr/>
            <p:nvPr/>
          </p:nvSpPr>
          <p:spPr>
            <a:xfrm>
              <a:off x="1132606" y="2419825"/>
              <a:ext cx="388248" cy="430887"/>
            </a:xfrm>
            <a:prstGeom prst="rect">
              <a:avLst/>
            </a:prstGeom>
          </p:spPr>
          <p:txBody>
            <a:bodyPr wrap="none">
              <a:spAutoFit/>
            </a:bodyPr>
            <a:lstStyle/>
            <a:p>
              <a:r>
                <a:rPr lang="en-GB" sz="2200" b="1" dirty="0">
                  <a:solidFill>
                    <a:srgbClr val="002060"/>
                  </a:solidFill>
                  <a:latin typeface="Times New Roman" panose="02020603050405020304" pitchFamily="18" charset="0"/>
                  <a:ea typeface="Times New Roman" panose="02020603050405020304" pitchFamily="18" charset="0"/>
                </a:rPr>
                <a:t>C</a:t>
              </a:r>
              <a:endParaRPr lang="en-GB" sz="2200" dirty="0"/>
            </a:p>
          </p:txBody>
        </p:sp>
      </p:grpSp>
    </p:spTree>
    <p:extLst>
      <p:ext uri="{BB962C8B-B14F-4D97-AF65-F5344CB8AC3E}">
        <p14:creationId xmlns:p14="http://schemas.microsoft.com/office/powerpoint/2010/main" val="13518487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1BC825-A10E-4089-AE1E-5489EE48F05B}"/>
              </a:ext>
            </a:extLst>
          </p:cNvPr>
          <p:cNvSpPr/>
          <p:nvPr/>
        </p:nvSpPr>
        <p:spPr>
          <a:xfrm>
            <a:off x="449178" y="862116"/>
            <a:ext cx="10355179" cy="5170646"/>
          </a:xfrm>
          <a:prstGeom prst="rect">
            <a:avLst/>
          </a:prstGeom>
        </p:spPr>
        <p:txBody>
          <a:bodyPr wrap="square">
            <a:spAutoFit/>
          </a:bodyPr>
          <a:lstStyle/>
          <a:p>
            <a:r>
              <a:rPr lang="en-GB" sz="3200" dirty="0">
                <a:solidFill>
                  <a:srgbClr val="002060"/>
                </a:solidFill>
                <a:latin typeface="Times New Roman" panose="02020603050405020304" pitchFamily="18" charset="0"/>
                <a:ea typeface="Times New Roman" panose="02020603050405020304" pitchFamily="18" charset="0"/>
              </a:rPr>
              <a:t>Most frequently occurring angle is 120</a:t>
            </a:r>
            <a:r>
              <a:rPr lang="en-GB" sz="3200" baseline="30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a:t>
            </a:r>
            <a:endParaRPr lang="en-GB" sz="3200" dirty="0">
              <a:latin typeface="Times New Roman" panose="02020603050405020304" pitchFamily="18" charset="0"/>
              <a:ea typeface="Times New Roman" panose="02020603050405020304" pitchFamily="18" charset="0"/>
            </a:endParaRPr>
          </a:p>
          <a:p>
            <a:r>
              <a:rPr lang="en-GB" sz="3200" dirty="0">
                <a:solidFill>
                  <a:srgbClr val="002060"/>
                </a:solidFill>
                <a:latin typeface="Times New Roman" panose="02020603050405020304" pitchFamily="18" charset="0"/>
                <a:ea typeface="Times New Roman" panose="02020603050405020304" pitchFamily="18" charset="0"/>
              </a:rPr>
              <a:t>In complex number theory, define j as anti-clockwise by 90</a:t>
            </a:r>
            <a:r>
              <a:rPr lang="en-GB" sz="3200" baseline="30000" dirty="0">
                <a:solidFill>
                  <a:srgbClr val="002060"/>
                </a:solidFill>
                <a:latin typeface="Times New Roman" panose="02020603050405020304" pitchFamily="18" charset="0"/>
                <a:ea typeface="Times New Roman" panose="02020603050405020304" pitchFamily="18" charset="0"/>
              </a:rPr>
              <a:t>0</a:t>
            </a:r>
            <a:endParaRPr lang="en-GB" sz="3200" dirty="0">
              <a:latin typeface="Times New Roman" panose="02020603050405020304" pitchFamily="18" charset="0"/>
              <a:ea typeface="Times New Roman" panose="02020603050405020304" pitchFamily="18" charset="0"/>
            </a:endParaRPr>
          </a:p>
          <a:p>
            <a:pPr indent="457200"/>
            <a:r>
              <a:rPr lang="en-GB" sz="3200" dirty="0">
                <a:solidFill>
                  <a:srgbClr val="002060"/>
                </a:solidFill>
                <a:latin typeface="Times New Roman" panose="02020603050405020304" pitchFamily="18" charset="0"/>
                <a:ea typeface="Times New Roman" panose="02020603050405020304" pitchFamily="18" charset="0"/>
              </a:rPr>
              <a:t>i.e.  j  = 1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90</a:t>
            </a:r>
            <a:r>
              <a:rPr lang="en-GB" sz="3200" baseline="30000" dirty="0">
                <a:solidFill>
                  <a:srgbClr val="002060"/>
                </a:solidFill>
                <a:latin typeface="Times New Roman" panose="02020603050405020304" pitchFamily="18" charset="0"/>
                <a:ea typeface="Times New Roman" panose="02020603050405020304" pitchFamily="18" charset="0"/>
              </a:rPr>
              <a:t>0 </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-1  </a:t>
            </a:r>
            <a:endParaRPr lang="en-GB" sz="3200" dirty="0">
              <a:latin typeface="Times New Roman" panose="02020603050405020304" pitchFamily="18" charset="0"/>
              <a:ea typeface="Times New Roman" panose="02020603050405020304" pitchFamily="18" charset="0"/>
            </a:endParaRPr>
          </a:p>
          <a:p>
            <a:pPr>
              <a:spcBef>
                <a:spcPts val="1200"/>
              </a:spcBef>
            </a:pPr>
            <a:r>
              <a:rPr lang="en-GB" sz="3200" dirty="0">
                <a:solidFill>
                  <a:srgbClr val="002060"/>
                </a:solidFill>
                <a:latin typeface="Times New Roman" panose="02020603050405020304" pitchFamily="18" charset="0"/>
                <a:ea typeface="Times New Roman" panose="02020603050405020304" pitchFamily="18" charset="0"/>
              </a:rPr>
              <a:t>Define a new complex operator </a:t>
            </a:r>
            <a:r>
              <a:rPr lang="en-GB" sz="3200" b="1" i="1" dirty="0">
                <a:solidFill>
                  <a:srgbClr val="002060"/>
                </a:solidFill>
                <a:latin typeface="Symbol" panose="05050102010706020507" pitchFamily="18" charset="2"/>
                <a:ea typeface="Times New Roman" panose="02020603050405020304" pitchFamily="18" charset="0"/>
              </a:rPr>
              <a:t>a  </a:t>
            </a:r>
            <a:r>
              <a:rPr lang="en-GB" sz="3200" dirty="0">
                <a:solidFill>
                  <a:srgbClr val="002060"/>
                </a:solidFill>
                <a:latin typeface="Times New Roman" panose="02020603050405020304" pitchFamily="18" charset="0"/>
                <a:ea typeface="Times New Roman" panose="02020603050405020304" pitchFamily="18" charset="0"/>
              </a:rPr>
              <a:t>which</a:t>
            </a:r>
            <a:endParaRPr lang="en-GB" sz="32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has a magnitude of unity</a:t>
            </a:r>
            <a:endParaRPr lang="en-GB" sz="3200" dirty="0">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GB" sz="3200" dirty="0">
                <a:solidFill>
                  <a:srgbClr val="002060"/>
                </a:solidFill>
                <a:latin typeface="Times New Roman" panose="02020603050405020304" pitchFamily="18" charset="0"/>
                <a:ea typeface="Times New Roman" panose="02020603050405020304" pitchFamily="18" charset="0"/>
              </a:rPr>
              <a:t>rotates any complex number anti-clockwise by 120</a:t>
            </a:r>
            <a:r>
              <a:rPr lang="en-GB" sz="3200" baseline="30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indent="457200"/>
            <a:r>
              <a:rPr lang="en-GB" sz="3200" dirty="0">
                <a:solidFill>
                  <a:srgbClr val="002060"/>
                </a:solidFill>
                <a:latin typeface="Times New Roman" panose="02020603050405020304" pitchFamily="18" charset="0"/>
                <a:ea typeface="Times New Roman" panose="02020603050405020304" pitchFamily="18" charset="0"/>
              </a:rPr>
              <a:t>i.e. </a:t>
            </a:r>
            <a:r>
              <a:rPr lang="en-GB" sz="3200" dirty="0">
                <a:solidFill>
                  <a:srgbClr val="002060"/>
                </a:solidFill>
                <a:latin typeface="Symbol" panose="05050102010706020507" pitchFamily="18" charset="2"/>
                <a:ea typeface="Times New Roman" panose="02020603050405020304" pitchFamily="18" charset="0"/>
              </a:rPr>
              <a:t>a</a:t>
            </a:r>
            <a:r>
              <a:rPr lang="en-GB" sz="3200" dirty="0">
                <a:solidFill>
                  <a:srgbClr val="002060"/>
                </a:solidFill>
                <a:latin typeface="Times New Roman" panose="02020603050405020304" pitchFamily="18" charset="0"/>
                <a:ea typeface="Times New Roman" panose="02020603050405020304" pitchFamily="18" charset="0"/>
              </a:rPr>
              <a:t>  =  1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120</a:t>
            </a:r>
            <a:r>
              <a:rPr lang="en-GB" sz="3200" baseline="30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  – 0.500 + j 0.866</a:t>
            </a:r>
            <a:endParaRPr lang="en-GB" sz="3200" dirty="0">
              <a:latin typeface="Times New Roman" panose="02020603050405020304" pitchFamily="18" charset="0"/>
              <a:ea typeface="Times New Roman" panose="02020603050405020304" pitchFamily="18" charset="0"/>
            </a:endParaRPr>
          </a:p>
          <a:p>
            <a:r>
              <a:rPr lang="en-GB" sz="3200" dirty="0">
                <a:solidFill>
                  <a:srgbClr val="002060"/>
                </a:solidFill>
                <a:latin typeface="Times New Roman" panose="02020603050405020304" pitchFamily="18" charset="0"/>
                <a:ea typeface="Times New Roman" panose="02020603050405020304" pitchFamily="18" charset="0"/>
              </a:rPr>
              <a:t>Let us again examine the sequence components of the unbalanced quantity and express B phase and C phase in terms of A phase and operator </a:t>
            </a:r>
            <a:r>
              <a:rPr lang="en-GB" sz="3200" dirty="0">
                <a:solidFill>
                  <a:srgbClr val="002060"/>
                </a:solidFill>
                <a:latin typeface="Symbol" panose="05050102010706020507" pitchFamily="18" charset="2"/>
                <a:ea typeface="Times New Roman" panose="02020603050405020304" pitchFamily="18" charset="0"/>
              </a:rPr>
              <a:t>a.</a:t>
            </a:r>
            <a:endParaRPr lang="en-GB" sz="3200" dirty="0">
              <a:effectLst/>
              <a:latin typeface="Times New Roman" panose="02020603050405020304" pitchFamily="18" charset="0"/>
              <a:ea typeface="Times New Roman" panose="02020603050405020304" pitchFamily="18" charset="0"/>
            </a:endParaRPr>
          </a:p>
        </p:txBody>
      </p:sp>
      <p:sp>
        <p:nvSpPr>
          <p:cNvPr id="4" name="Arc 3">
            <a:extLst>
              <a:ext uri="{FF2B5EF4-FFF2-40B4-BE49-F238E27FC236}">
                <a16:creationId xmlns:a16="http://schemas.microsoft.com/office/drawing/2014/main" id="{5580973A-752C-4532-AD90-6C035270B815}"/>
              </a:ext>
            </a:extLst>
          </p:cNvPr>
          <p:cNvSpPr/>
          <p:nvPr/>
        </p:nvSpPr>
        <p:spPr>
          <a:xfrm>
            <a:off x="11133221" y="2005263"/>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nvGrpSpPr>
          <p:cNvPr id="10" name="Group 9">
            <a:extLst>
              <a:ext uri="{FF2B5EF4-FFF2-40B4-BE49-F238E27FC236}">
                <a16:creationId xmlns:a16="http://schemas.microsoft.com/office/drawing/2014/main" id="{4F397B08-0B27-4762-A3F6-6120CFBA9259}"/>
              </a:ext>
            </a:extLst>
          </p:cNvPr>
          <p:cNvGrpSpPr/>
          <p:nvPr/>
        </p:nvGrpSpPr>
        <p:grpSpPr>
          <a:xfrm>
            <a:off x="9862143" y="946484"/>
            <a:ext cx="1848594" cy="1578142"/>
            <a:chOff x="9862143" y="946484"/>
            <a:chExt cx="1848594" cy="1578142"/>
          </a:xfrm>
        </p:grpSpPr>
        <p:sp>
          <p:nvSpPr>
            <p:cNvPr id="2" name="Freeform: Shape 1">
              <a:extLst>
                <a:ext uri="{FF2B5EF4-FFF2-40B4-BE49-F238E27FC236}">
                  <a16:creationId xmlns:a16="http://schemas.microsoft.com/office/drawing/2014/main" id="{E9FAEB81-0CDB-4E58-BC9C-5EA6F948877C}"/>
                </a:ext>
              </a:extLst>
            </p:cNvPr>
            <p:cNvSpPr/>
            <p:nvPr/>
          </p:nvSpPr>
          <p:spPr>
            <a:xfrm>
              <a:off x="10635916" y="946484"/>
              <a:ext cx="1074821" cy="1058779"/>
            </a:xfrm>
            <a:custGeom>
              <a:avLst/>
              <a:gdLst>
                <a:gd name="connsiteX0" fmla="*/ 0 w 1074821"/>
                <a:gd name="connsiteY0" fmla="*/ 0 h 1058779"/>
                <a:gd name="connsiteX1" fmla="*/ 0 w 1074821"/>
                <a:gd name="connsiteY1" fmla="*/ 1058779 h 1058779"/>
                <a:gd name="connsiteX2" fmla="*/ 1074821 w 1074821"/>
                <a:gd name="connsiteY2" fmla="*/ 1058779 h 1058779"/>
              </a:gdLst>
              <a:ahLst/>
              <a:cxnLst>
                <a:cxn ang="0">
                  <a:pos x="connsiteX0" y="connsiteY0"/>
                </a:cxn>
                <a:cxn ang="0">
                  <a:pos x="connsiteX1" y="connsiteY1"/>
                </a:cxn>
                <a:cxn ang="0">
                  <a:pos x="connsiteX2" y="connsiteY2"/>
                </a:cxn>
              </a:cxnLst>
              <a:rect l="l" t="t" r="r" b="b"/>
              <a:pathLst>
                <a:path w="1074821" h="1058779">
                  <a:moveTo>
                    <a:pt x="0" y="0"/>
                  </a:moveTo>
                  <a:lnTo>
                    <a:pt x="0" y="1058779"/>
                  </a:lnTo>
                  <a:lnTo>
                    <a:pt x="1074821" y="1058779"/>
                  </a:lnTo>
                </a:path>
              </a:pathLst>
            </a:cu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rc 4">
              <a:extLst>
                <a:ext uri="{FF2B5EF4-FFF2-40B4-BE49-F238E27FC236}">
                  <a16:creationId xmlns:a16="http://schemas.microsoft.com/office/drawing/2014/main" id="{1F2BA629-9E42-4EEE-887C-E33EDF6ED550}"/>
                </a:ext>
              </a:extLst>
            </p:cNvPr>
            <p:cNvSpPr/>
            <p:nvPr/>
          </p:nvSpPr>
          <p:spPr>
            <a:xfrm>
              <a:off x="10047971" y="1465847"/>
              <a:ext cx="1106906" cy="1058779"/>
            </a:xfrm>
            <a:prstGeom prst="arc">
              <a:avLst>
                <a:gd name="adj1" fmla="val 16450712"/>
                <a:gd name="adj2" fmla="val 0"/>
              </a:avLst>
            </a:prstGeom>
            <a:ln w="25400">
              <a:solidFill>
                <a:srgbClr val="C00000"/>
              </a:solidFill>
              <a:headEnd type="arrow" w="med" len="med"/>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rgbClr val="C00000"/>
                </a:solidFill>
              </a:endParaRPr>
            </a:p>
          </p:txBody>
        </p:sp>
        <p:sp>
          <p:nvSpPr>
            <p:cNvPr id="6" name="Rectangle 5">
              <a:extLst>
                <a:ext uri="{FF2B5EF4-FFF2-40B4-BE49-F238E27FC236}">
                  <a16:creationId xmlns:a16="http://schemas.microsoft.com/office/drawing/2014/main" id="{ED42D1CF-1C33-4087-AA14-A0CFBE770E63}"/>
                </a:ext>
              </a:extLst>
            </p:cNvPr>
            <p:cNvSpPr/>
            <p:nvPr/>
          </p:nvSpPr>
          <p:spPr>
            <a:xfrm>
              <a:off x="9862143" y="977117"/>
              <a:ext cx="1832553" cy="461665"/>
            </a:xfrm>
            <a:prstGeom prst="rect">
              <a:avLst/>
            </a:prstGeom>
          </p:spPr>
          <p:txBody>
            <a:bodyPr wrap="none">
              <a:spAutoFit/>
            </a:bodyPr>
            <a:lstStyle/>
            <a:p>
              <a:r>
                <a:rPr lang="en-GB" sz="2400" dirty="0">
                  <a:solidFill>
                    <a:srgbClr val="C00000"/>
                  </a:solidFill>
                  <a:latin typeface="Times New Roman" panose="02020603050405020304" pitchFamily="18" charset="0"/>
                  <a:ea typeface="Times New Roman" panose="02020603050405020304" pitchFamily="18" charset="0"/>
                </a:rPr>
                <a:t>.  j  = 1 </a:t>
              </a:r>
              <a:r>
                <a:rPr lang="en-GB" sz="2400" dirty="0">
                  <a:solidFill>
                    <a:srgbClr val="C00000"/>
                  </a:solidFill>
                  <a:latin typeface="Times New Roman" panose="02020603050405020304" pitchFamily="18" charset="0"/>
                  <a:ea typeface="Times New Roman" panose="02020603050405020304" pitchFamily="18" charset="0"/>
                  <a:sym typeface="Symbol" panose="05050102010706020507" pitchFamily="18" charset="2"/>
                </a:rPr>
                <a:t></a:t>
              </a:r>
              <a:r>
                <a:rPr lang="en-GB" sz="2400" dirty="0">
                  <a:solidFill>
                    <a:srgbClr val="C00000"/>
                  </a:solidFill>
                  <a:latin typeface="Times New Roman" panose="02020603050405020304" pitchFamily="18" charset="0"/>
                  <a:ea typeface="Times New Roman" panose="02020603050405020304" pitchFamily="18" charset="0"/>
                </a:rPr>
                <a:t>90</a:t>
              </a:r>
              <a:r>
                <a:rPr lang="en-GB" sz="2400" baseline="30000" dirty="0">
                  <a:solidFill>
                    <a:srgbClr val="C00000"/>
                  </a:solidFill>
                  <a:latin typeface="Times New Roman" panose="02020603050405020304" pitchFamily="18" charset="0"/>
                  <a:ea typeface="Times New Roman" panose="02020603050405020304" pitchFamily="18" charset="0"/>
                </a:rPr>
                <a:t>0 </a:t>
              </a:r>
              <a:endParaRPr lang="en-GB" sz="2400" dirty="0">
                <a:solidFill>
                  <a:srgbClr val="C00000"/>
                </a:solidFill>
              </a:endParaRPr>
            </a:p>
          </p:txBody>
        </p:sp>
      </p:grpSp>
      <p:grpSp>
        <p:nvGrpSpPr>
          <p:cNvPr id="11" name="Group 10">
            <a:extLst>
              <a:ext uri="{FF2B5EF4-FFF2-40B4-BE49-F238E27FC236}">
                <a16:creationId xmlns:a16="http://schemas.microsoft.com/office/drawing/2014/main" id="{71920D30-AC02-4D8A-96C5-5134978DC5E2}"/>
              </a:ext>
            </a:extLst>
          </p:cNvPr>
          <p:cNvGrpSpPr/>
          <p:nvPr/>
        </p:nvGrpSpPr>
        <p:grpSpPr>
          <a:xfrm>
            <a:off x="9505773" y="3198167"/>
            <a:ext cx="2216736" cy="1465066"/>
            <a:chOff x="9505773" y="3198167"/>
            <a:chExt cx="2216736" cy="1465066"/>
          </a:xfrm>
        </p:grpSpPr>
        <p:sp>
          <p:nvSpPr>
            <p:cNvPr id="7" name="Freeform: Shape 6">
              <a:extLst>
                <a:ext uri="{FF2B5EF4-FFF2-40B4-BE49-F238E27FC236}">
                  <a16:creationId xmlns:a16="http://schemas.microsoft.com/office/drawing/2014/main" id="{AF3CF27D-B150-4182-BFEC-C9AE5A72B2AF}"/>
                </a:ext>
              </a:extLst>
            </p:cNvPr>
            <p:cNvSpPr/>
            <p:nvPr/>
          </p:nvSpPr>
          <p:spPr>
            <a:xfrm>
              <a:off x="10118298" y="3315696"/>
              <a:ext cx="1604211" cy="818148"/>
            </a:xfrm>
            <a:custGeom>
              <a:avLst/>
              <a:gdLst>
                <a:gd name="connsiteX0" fmla="*/ 0 w 1074821"/>
                <a:gd name="connsiteY0" fmla="*/ 0 h 1058779"/>
                <a:gd name="connsiteX1" fmla="*/ 0 w 1074821"/>
                <a:gd name="connsiteY1" fmla="*/ 1058779 h 1058779"/>
                <a:gd name="connsiteX2" fmla="*/ 1074821 w 1074821"/>
                <a:gd name="connsiteY2" fmla="*/ 1058779 h 1058779"/>
                <a:gd name="connsiteX0" fmla="*/ 0 w 1668379"/>
                <a:gd name="connsiteY0" fmla="*/ 0 h 818148"/>
                <a:gd name="connsiteX1" fmla="*/ 593558 w 1668379"/>
                <a:gd name="connsiteY1" fmla="*/ 818148 h 818148"/>
                <a:gd name="connsiteX2" fmla="*/ 1668379 w 1668379"/>
                <a:gd name="connsiteY2" fmla="*/ 818148 h 818148"/>
                <a:gd name="connsiteX0" fmla="*/ 0 w 1604211"/>
                <a:gd name="connsiteY0" fmla="*/ 0 h 818148"/>
                <a:gd name="connsiteX1" fmla="*/ 529390 w 1604211"/>
                <a:gd name="connsiteY1" fmla="*/ 818148 h 818148"/>
                <a:gd name="connsiteX2" fmla="*/ 1604211 w 1604211"/>
                <a:gd name="connsiteY2" fmla="*/ 818148 h 818148"/>
              </a:gdLst>
              <a:ahLst/>
              <a:cxnLst>
                <a:cxn ang="0">
                  <a:pos x="connsiteX0" y="connsiteY0"/>
                </a:cxn>
                <a:cxn ang="0">
                  <a:pos x="connsiteX1" y="connsiteY1"/>
                </a:cxn>
                <a:cxn ang="0">
                  <a:pos x="connsiteX2" y="connsiteY2"/>
                </a:cxn>
              </a:cxnLst>
              <a:rect l="l" t="t" r="r" b="b"/>
              <a:pathLst>
                <a:path w="1604211" h="818148">
                  <a:moveTo>
                    <a:pt x="0" y="0"/>
                  </a:moveTo>
                  <a:lnTo>
                    <a:pt x="529390" y="818148"/>
                  </a:lnTo>
                  <a:lnTo>
                    <a:pt x="1604211" y="818148"/>
                  </a:lnTo>
                </a:path>
              </a:pathLst>
            </a:cu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c 7">
              <a:extLst>
                <a:ext uri="{FF2B5EF4-FFF2-40B4-BE49-F238E27FC236}">
                  <a16:creationId xmlns:a16="http://schemas.microsoft.com/office/drawing/2014/main" id="{45FBC870-75FF-4573-BEEE-A6DD134FAA7E}"/>
                </a:ext>
              </a:extLst>
            </p:cNvPr>
            <p:cNvSpPr/>
            <p:nvPr/>
          </p:nvSpPr>
          <p:spPr>
            <a:xfrm>
              <a:off x="10026315" y="3604454"/>
              <a:ext cx="1106906" cy="1058779"/>
            </a:xfrm>
            <a:prstGeom prst="arc">
              <a:avLst>
                <a:gd name="adj1" fmla="val 14753950"/>
                <a:gd name="adj2" fmla="val 0"/>
              </a:avLst>
            </a:prstGeom>
            <a:ln w="25400">
              <a:solidFill>
                <a:srgbClr val="C00000"/>
              </a:solidFill>
              <a:headEnd type="arrow" w="med" len="med"/>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rgbClr val="C00000"/>
                </a:solidFill>
              </a:endParaRPr>
            </a:p>
          </p:txBody>
        </p:sp>
        <p:sp>
          <p:nvSpPr>
            <p:cNvPr id="9" name="Rectangle 8">
              <a:extLst>
                <a:ext uri="{FF2B5EF4-FFF2-40B4-BE49-F238E27FC236}">
                  <a16:creationId xmlns:a16="http://schemas.microsoft.com/office/drawing/2014/main" id="{DE8E2C7B-FB9A-4FBC-8BD3-D817FAD830CF}"/>
                </a:ext>
              </a:extLst>
            </p:cNvPr>
            <p:cNvSpPr/>
            <p:nvPr/>
          </p:nvSpPr>
          <p:spPr>
            <a:xfrm>
              <a:off x="9505773" y="3198167"/>
              <a:ext cx="1967205" cy="461665"/>
            </a:xfrm>
            <a:prstGeom prst="rect">
              <a:avLst/>
            </a:prstGeom>
          </p:spPr>
          <p:txBody>
            <a:bodyPr wrap="none">
              <a:spAutoFit/>
            </a:bodyPr>
            <a:lstStyle/>
            <a:p>
              <a:r>
                <a:rPr lang="en-GB" sz="2400" dirty="0">
                  <a:solidFill>
                    <a:srgbClr val="C00000"/>
                  </a:solidFill>
                  <a:latin typeface="Symbol" panose="05050102010706020507" pitchFamily="18" charset="2"/>
                  <a:ea typeface="Times New Roman" panose="02020603050405020304" pitchFamily="18" charset="0"/>
                </a:rPr>
                <a:t>a</a:t>
              </a:r>
              <a:r>
                <a:rPr lang="en-GB" sz="2400" dirty="0">
                  <a:solidFill>
                    <a:srgbClr val="C00000"/>
                  </a:solidFill>
                  <a:latin typeface="Times New Roman" panose="02020603050405020304" pitchFamily="18" charset="0"/>
                  <a:ea typeface="Times New Roman" panose="02020603050405020304" pitchFamily="18" charset="0"/>
                </a:rPr>
                <a:t>  =  1 </a:t>
              </a:r>
              <a:r>
                <a:rPr lang="en-GB" sz="2400" dirty="0">
                  <a:solidFill>
                    <a:srgbClr val="C00000"/>
                  </a:solidFill>
                  <a:latin typeface="Times New Roman" panose="02020603050405020304" pitchFamily="18" charset="0"/>
                  <a:ea typeface="Times New Roman" panose="02020603050405020304" pitchFamily="18" charset="0"/>
                  <a:sym typeface="Symbol" panose="05050102010706020507" pitchFamily="18" charset="2"/>
                </a:rPr>
                <a:t></a:t>
              </a:r>
              <a:r>
                <a:rPr lang="en-GB" sz="2400" dirty="0">
                  <a:solidFill>
                    <a:srgbClr val="C00000"/>
                  </a:solidFill>
                  <a:latin typeface="Times New Roman" panose="02020603050405020304" pitchFamily="18" charset="0"/>
                  <a:ea typeface="Times New Roman" panose="02020603050405020304" pitchFamily="18" charset="0"/>
                </a:rPr>
                <a:t>120</a:t>
              </a:r>
              <a:r>
                <a:rPr lang="en-GB" sz="2400" baseline="30000" dirty="0">
                  <a:solidFill>
                    <a:srgbClr val="C00000"/>
                  </a:solidFill>
                  <a:latin typeface="Times New Roman" panose="02020603050405020304" pitchFamily="18" charset="0"/>
                  <a:ea typeface="Times New Roman" panose="02020603050405020304" pitchFamily="18" charset="0"/>
                </a:rPr>
                <a:t>0</a:t>
              </a:r>
              <a:r>
                <a:rPr lang="en-GB" sz="2400" dirty="0">
                  <a:solidFill>
                    <a:srgbClr val="C00000"/>
                  </a:solidFill>
                  <a:latin typeface="Times New Roman" panose="02020603050405020304" pitchFamily="18" charset="0"/>
                  <a:ea typeface="Times New Roman" panose="02020603050405020304" pitchFamily="18" charset="0"/>
                </a:rPr>
                <a:t> </a:t>
              </a:r>
              <a:endParaRPr lang="en-GB" sz="2400" dirty="0">
                <a:solidFill>
                  <a:srgbClr val="C00000"/>
                </a:solidFill>
              </a:endParaRPr>
            </a:p>
          </p:txBody>
        </p:sp>
      </p:grpSp>
    </p:spTree>
    <p:extLst>
      <p:ext uri="{BB962C8B-B14F-4D97-AF65-F5344CB8AC3E}">
        <p14:creationId xmlns:p14="http://schemas.microsoft.com/office/powerpoint/2010/main" val="172496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51FE1CD5-9575-4F9D-BA65-8B02096747EB}"/>
              </a:ext>
            </a:extLst>
          </p:cNvPr>
          <p:cNvGraphicFramePr>
            <a:graphicFrameLocks noChangeAspect="1"/>
          </p:cNvGraphicFramePr>
          <p:nvPr>
            <p:extLst>
              <p:ext uri="{D42A27DB-BD31-4B8C-83A1-F6EECF244321}">
                <p14:modId xmlns:p14="http://schemas.microsoft.com/office/powerpoint/2010/main" val="1179753257"/>
              </p:ext>
            </p:extLst>
          </p:nvPr>
        </p:nvGraphicFramePr>
        <p:xfrm>
          <a:off x="1217779" y="484438"/>
          <a:ext cx="10255251" cy="3346450"/>
        </p:xfrm>
        <a:graphic>
          <a:graphicData uri="http://schemas.openxmlformats.org/presentationml/2006/ole">
            <mc:AlternateContent xmlns:mc="http://schemas.openxmlformats.org/markup-compatibility/2006">
              <mc:Choice xmlns:v="urn:schemas-microsoft-com:vml" Requires="v">
                <p:oleObj spid="_x0000_s169000" name="Picture" r:id="rId4" imgW="4598640" imgH="1504800" progId="Word.Picture.8">
                  <p:embed/>
                </p:oleObj>
              </mc:Choice>
              <mc:Fallback>
                <p:oleObj name="Picture" r:id="rId4" imgW="4598640" imgH="1504800" progId="Word.Picture.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7779" y="484438"/>
                        <a:ext cx="10255251"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5">
            <a:extLst>
              <a:ext uri="{FF2B5EF4-FFF2-40B4-BE49-F238E27FC236}">
                <a16:creationId xmlns:a16="http://schemas.microsoft.com/office/drawing/2014/main" id="{C0D40F20-DD76-4F5A-B176-A564193FF023}"/>
              </a:ext>
            </a:extLst>
          </p:cNvPr>
          <p:cNvSpPr/>
          <p:nvPr/>
        </p:nvSpPr>
        <p:spPr>
          <a:xfrm>
            <a:off x="3092323" y="3600055"/>
            <a:ext cx="6914072" cy="461665"/>
          </a:xfrm>
          <a:prstGeom prst="rect">
            <a:avLst/>
          </a:prstGeom>
        </p:spPr>
        <p:txBody>
          <a:bodyPr wrap="none">
            <a:spAutoFit/>
          </a:bodyPr>
          <a:lstStyle/>
          <a:p>
            <a:r>
              <a:rPr lang="en-GB" sz="2400" dirty="0">
                <a:solidFill>
                  <a:srgbClr val="002060"/>
                </a:solidFill>
                <a:latin typeface="Times New Roman" panose="02020603050405020304" pitchFamily="18" charset="0"/>
                <a:ea typeface="Times New Roman" panose="02020603050405020304" pitchFamily="18" charset="0"/>
              </a:rPr>
              <a:t>Figure 16 – Decomposition of unbalanced three phase </a:t>
            </a:r>
            <a:endParaRPr lang="en-GB" sz="1050" dirty="0">
              <a:effectLst/>
              <a:latin typeface="Times New Roman" panose="02020603050405020304" pitchFamily="18" charset="0"/>
              <a:ea typeface="Times New Roman" panose="02020603050405020304" pitchFamily="18" charset="0"/>
            </a:endParaRPr>
          </a:p>
        </p:txBody>
      </p:sp>
      <p:sp>
        <p:nvSpPr>
          <p:cNvPr id="7" name="Rectangle 6">
            <a:extLst>
              <a:ext uri="{FF2B5EF4-FFF2-40B4-BE49-F238E27FC236}">
                <a16:creationId xmlns:a16="http://schemas.microsoft.com/office/drawing/2014/main" id="{E953024A-35CE-402B-94C2-952572084D38}"/>
              </a:ext>
            </a:extLst>
          </p:cNvPr>
          <p:cNvSpPr/>
          <p:nvPr/>
        </p:nvSpPr>
        <p:spPr>
          <a:xfrm>
            <a:off x="453358" y="4061720"/>
            <a:ext cx="9099715" cy="2585323"/>
          </a:xfrm>
          <a:prstGeom prst="rect">
            <a:avLst/>
          </a:prstGeom>
        </p:spPr>
        <p:txBody>
          <a:bodyPr wrap="square">
            <a:spAutoFit/>
          </a:bodyPr>
          <a:lstStyle/>
          <a:p>
            <a:pPr algn="just"/>
            <a:r>
              <a:rPr lang="en-GB" sz="2800" dirty="0">
                <a:solidFill>
                  <a:srgbClr val="002060"/>
                </a:solidFill>
                <a:latin typeface="Times New Roman" panose="02020603050405020304" pitchFamily="18" charset="0"/>
                <a:ea typeface="Times New Roman" panose="02020603050405020304" pitchFamily="18" charset="0"/>
              </a:rPr>
              <a:t>Express all sequence components in terms of the quantities for </a:t>
            </a:r>
            <a:r>
              <a:rPr lang="en-GB" sz="2800" b="1" dirty="0">
                <a:solidFill>
                  <a:srgbClr val="002060"/>
                </a:solidFill>
                <a:latin typeface="Times New Roman" panose="02020603050405020304" pitchFamily="18" charset="0"/>
                <a:ea typeface="Times New Roman" panose="02020603050405020304" pitchFamily="18" charset="0"/>
              </a:rPr>
              <a:t>A</a:t>
            </a:r>
            <a:r>
              <a:rPr lang="en-GB" sz="2800" dirty="0">
                <a:solidFill>
                  <a:srgbClr val="002060"/>
                </a:solidFill>
                <a:latin typeface="Times New Roman" panose="02020603050405020304" pitchFamily="18" charset="0"/>
                <a:ea typeface="Times New Roman" panose="02020603050405020304" pitchFamily="18" charset="0"/>
              </a:rPr>
              <a:t> phase using properties of rotation of 0</a:t>
            </a:r>
            <a:r>
              <a:rPr lang="en-GB" sz="2800" baseline="30000" dirty="0">
                <a:solidFill>
                  <a:srgbClr val="002060"/>
                </a:solidFill>
                <a:latin typeface="Times New Roman" panose="02020603050405020304" pitchFamily="18" charset="0"/>
                <a:ea typeface="Times New Roman" panose="02020603050405020304" pitchFamily="18" charset="0"/>
              </a:rPr>
              <a:t>0</a:t>
            </a:r>
            <a:r>
              <a:rPr lang="en-GB" sz="2800" dirty="0">
                <a:solidFill>
                  <a:srgbClr val="002060"/>
                </a:solidFill>
                <a:latin typeface="Times New Roman" panose="02020603050405020304" pitchFamily="18" charset="0"/>
                <a:ea typeface="Times New Roman" panose="02020603050405020304" pitchFamily="18" charset="0"/>
              </a:rPr>
              <a:t>, 120</a:t>
            </a:r>
            <a:r>
              <a:rPr lang="en-GB" sz="2800" baseline="30000" dirty="0">
                <a:solidFill>
                  <a:srgbClr val="002060"/>
                </a:solidFill>
                <a:latin typeface="Times New Roman" panose="02020603050405020304" pitchFamily="18" charset="0"/>
                <a:ea typeface="Times New Roman" panose="02020603050405020304" pitchFamily="18" charset="0"/>
              </a:rPr>
              <a:t>0</a:t>
            </a:r>
            <a:r>
              <a:rPr lang="en-GB" sz="2800" dirty="0">
                <a:solidFill>
                  <a:srgbClr val="002060"/>
                </a:solidFill>
                <a:latin typeface="Times New Roman" panose="02020603050405020304" pitchFamily="18" charset="0"/>
                <a:ea typeface="Times New Roman" panose="02020603050405020304" pitchFamily="18" charset="0"/>
              </a:rPr>
              <a:t> or 240</a:t>
            </a:r>
            <a:r>
              <a:rPr lang="en-GB" sz="2800" baseline="30000" dirty="0">
                <a:solidFill>
                  <a:srgbClr val="002060"/>
                </a:solidFill>
                <a:latin typeface="Times New Roman" panose="02020603050405020304" pitchFamily="18" charset="0"/>
                <a:ea typeface="Times New Roman" panose="02020603050405020304" pitchFamily="18" charset="0"/>
              </a:rPr>
              <a:t>0</a:t>
            </a:r>
            <a:r>
              <a:rPr lang="en-GB" sz="2800" dirty="0">
                <a:solidFill>
                  <a:srgbClr val="002060"/>
                </a:solidFill>
                <a:latin typeface="Times New Roman" panose="02020603050405020304" pitchFamily="18" charset="0"/>
                <a:ea typeface="Times New Roman" panose="02020603050405020304" pitchFamily="18" charset="0"/>
              </a:rPr>
              <a:t>.</a:t>
            </a:r>
            <a:endParaRPr lang="en-GB" sz="11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Times New Roman" panose="02020603050405020304" pitchFamily="18" charset="0"/>
                <a:ea typeface="Times New Roman" panose="02020603050405020304" pitchFamily="18" charset="0"/>
              </a:rPr>
              <a:t>A</a:t>
            </a:r>
            <a:r>
              <a:rPr lang="en-GB" sz="3200" dirty="0">
                <a:solidFill>
                  <a:srgbClr val="002060"/>
                </a:solidFill>
                <a:latin typeface="Times New Roman" panose="02020603050405020304" pitchFamily="18" charset="0"/>
                <a:ea typeface="Times New Roman" panose="02020603050405020304" pitchFamily="18" charset="0"/>
              </a:rPr>
              <a:t>	=	</a:t>
            </a: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    </a:t>
            </a: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1</a:t>
            </a:r>
            <a:r>
              <a:rPr lang="en-GB" sz="3200" dirty="0">
                <a:solidFill>
                  <a:srgbClr val="002060"/>
                </a:solidFill>
                <a:latin typeface="Times New Roman" panose="02020603050405020304" pitchFamily="18" charset="0"/>
                <a:ea typeface="Times New Roman" panose="02020603050405020304" pitchFamily="18" charset="0"/>
              </a:rPr>
              <a:t>     +     </a:t>
            </a: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2</a:t>
            </a:r>
            <a:endParaRPr lang="en-GB" sz="11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Times New Roman" panose="02020603050405020304" pitchFamily="18" charset="0"/>
                <a:ea typeface="Times New Roman" panose="02020603050405020304" pitchFamily="18" charset="0"/>
              </a:rPr>
              <a:t>B</a:t>
            </a:r>
            <a:r>
              <a:rPr lang="en-GB" sz="3200" dirty="0">
                <a:solidFill>
                  <a:srgbClr val="002060"/>
                </a:solidFill>
                <a:latin typeface="Times New Roman" panose="02020603050405020304" pitchFamily="18" charset="0"/>
                <a:ea typeface="Times New Roman" panose="02020603050405020304" pitchFamily="18" charset="0"/>
              </a:rPr>
              <a:t>	=	</a:t>
            </a: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Symbol" panose="05050102010706020507" pitchFamily="18" charset="2"/>
                <a:ea typeface="Times New Roman" panose="02020603050405020304" pitchFamily="18" charset="0"/>
              </a:rPr>
              <a:t>a</a:t>
            </a:r>
            <a:r>
              <a:rPr lang="en-GB" sz="3200" baseline="30000" dirty="0">
                <a:solidFill>
                  <a:srgbClr val="002060"/>
                </a:solidFill>
                <a:latin typeface="Symbol" panose="05050102010706020507" pitchFamily="18" charset="2"/>
                <a:ea typeface="Times New Roman" panose="02020603050405020304" pitchFamily="18" charset="0"/>
              </a:rPr>
              <a:t>2</a:t>
            </a: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1</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Symbol" panose="05050102010706020507" pitchFamily="18" charset="2"/>
                <a:ea typeface="Times New Roman" panose="02020603050405020304" pitchFamily="18" charset="0"/>
              </a:rPr>
              <a:t>a</a:t>
            </a:r>
            <a:r>
              <a:rPr lang="en-GB" sz="3200" baseline="30000" dirty="0">
                <a:solidFill>
                  <a:srgbClr val="002060"/>
                </a:solidFill>
                <a:latin typeface="Symbol" panose="05050102010706020507" pitchFamily="18" charset="2"/>
                <a:ea typeface="Times New Roman" panose="02020603050405020304" pitchFamily="18" charset="0"/>
              </a:rPr>
              <a:t> </a:t>
            </a: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2</a:t>
            </a:r>
            <a:endParaRPr lang="en-GB" sz="11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Times New Roman" panose="02020603050405020304" pitchFamily="18" charset="0"/>
                <a:ea typeface="Times New Roman" panose="02020603050405020304" pitchFamily="18" charset="0"/>
              </a:rPr>
              <a:t>C</a:t>
            </a:r>
            <a:r>
              <a:rPr lang="en-GB" sz="3200" dirty="0">
                <a:solidFill>
                  <a:srgbClr val="002060"/>
                </a:solidFill>
                <a:latin typeface="Times New Roman" panose="02020603050405020304" pitchFamily="18" charset="0"/>
                <a:ea typeface="Times New Roman" panose="02020603050405020304" pitchFamily="18" charset="0"/>
              </a:rPr>
              <a:t>	=	</a:t>
            </a:r>
            <a:r>
              <a:rPr lang="en-GB" sz="3200" b="1" dirty="0">
                <a:solidFill>
                  <a:srgbClr val="002060"/>
                </a:solidFill>
                <a:latin typeface="Times New Roman" panose="02020603050405020304" pitchFamily="18" charset="0"/>
                <a:ea typeface="Times New Roman" panose="02020603050405020304" pitchFamily="18" charset="0"/>
              </a:rPr>
              <a:t>A</a:t>
            </a:r>
            <a:r>
              <a:rPr lang="en-GB" sz="3200" b="1" baseline="-25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Symbol" panose="05050102010706020507" pitchFamily="18" charset="2"/>
                <a:ea typeface="Times New Roman" panose="02020603050405020304" pitchFamily="18" charset="0"/>
              </a:rPr>
              <a:t>a</a:t>
            </a:r>
            <a:r>
              <a:rPr lang="en-GB" sz="3200" b="1" dirty="0">
                <a:solidFill>
                  <a:srgbClr val="002060"/>
                </a:solidFill>
                <a:latin typeface="Times New Roman" panose="02020603050405020304" pitchFamily="18" charset="0"/>
                <a:ea typeface="Times New Roman" panose="02020603050405020304" pitchFamily="18" charset="0"/>
              </a:rPr>
              <a:t> A</a:t>
            </a:r>
            <a:r>
              <a:rPr lang="en-GB" sz="3200" b="1" baseline="-25000" dirty="0">
                <a:solidFill>
                  <a:srgbClr val="002060"/>
                </a:solidFill>
                <a:latin typeface="Times New Roman" panose="02020603050405020304" pitchFamily="18" charset="0"/>
                <a:ea typeface="Times New Roman" panose="02020603050405020304" pitchFamily="18" charset="0"/>
              </a:rPr>
              <a:t>1</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a:solidFill>
                  <a:srgbClr val="002060"/>
                </a:solidFill>
                <a:latin typeface="Symbol" panose="05050102010706020507" pitchFamily="18" charset="2"/>
                <a:ea typeface="Times New Roman" panose="02020603050405020304" pitchFamily="18" charset="0"/>
              </a:rPr>
              <a:t>a</a:t>
            </a:r>
            <a:r>
              <a:rPr lang="en-GB" sz="3200" baseline="30000" dirty="0">
                <a:solidFill>
                  <a:srgbClr val="002060"/>
                </a:solidFill>
                <a:latin typeface="Symbol" panose="05050102010706020507" pitchFamily="18" charset="2"/>
                <a:ea typeface="Times New Roman" panose="02020603050405020304" pitchFamily="18" charset="0"/>
              </a:rPr>
              <a:t>2 </a:t>
            </a:r>
            <a:r>
              <a:rPr lang="en-GB" sz="3200" b="1" dirty="0" err="1">
                <a:solidFill>
                  <a:srgbClr val="002060"/>
                </a:solidFill>
                <a:latin typeface="Times New Roman" panose="02020603050405020304" pitchFamily="18" charset="0"/>
                <a:ea typeface="Times New Roman" panose="02020603050405020304" pitchFamily="18" charset="0"/>
              </a:rPr>
              <a:t>A</a:t>
            </a:r>
            <a:r>
              <a:rPr lang="en-GB" sz="3200" b="1" baseline="-25000" dirty="0" err="1">
                <a:solidFill>
                  <a:srgbClr val="002060"/>
                </a:solidFill>
                <a:latin typeface="Times New Roman" panose="02020603050405020304" pitchFamily="18" charset="0"/>
                <a:ea typeface="Times New Roman" panose="02020603050405020304" pitchFamily="18" charset="0"/>
              </a:rPr>
              <a:t>2</a:t>
            </a:r>
            <a:endParaRPr lang="en-GB" sz="11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00122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96307E6-AC54-47AE-A9F9-2FE666745C39}"/>
              </a:ext>
            </a:extLst>
          </p:cNvPr>
          <p:cNvSpPr>
            <a:spLocks noChangeArrowheads="1"/>
          </p:cNvSpPr>
          <p:nvPr/>
        </p:nvSpPr>
        <p:spPr bwMode="auto">
          <a:xfrm>
            <a:off x="288756" y="622012"/>
            <a:ext cx="786865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This can be written in matrix form.</a:t>
            </a:r>
            <a:endParaRPr kumimoji="0" lang="en-GB"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graphicFrame>
        <p:nvGraphicFramePr>
          <p:cNvPr id="4" name="Object 3">
            <a:extLst>
              <a:ext uri="{FF2B5EF4-FFF2-40B4-BE49-F238E27FC236}">
                <a16:creationId xmlns:a16="http://schemas.microsoft.com/office/drawing/2014/main" id="{EB31C294-198A-4D6B-ADE9-B5314F6F886F}"/>
              </a:ext>
            </a:extLst>
          </p:cNvPr>
          <p:cNvGraphicFramePr>
            <a:graphicFrameLocks noChangeAspect="1"/>
          </p:cNvGraphicFramePr>
          <p:nvPr>
            <p:extLst>
              <p:ext uri="{D42A27DB-BD31-4B8C-83A1-F6EECF244321}">
                <p14:modId xmlns:p14="http://schemas.microsoft.com/office/powerpoint/2010/main" val="3639622399"/>
              </p:ext>
            </p:extLst>
          </p:nvPr>
        </p:nvGraphicFramePr>
        <p:xfrm>
          <a:off x="1463340" y="1209502"/>
          <a:ext cx="3914775" cy="2419350"/>
        </p:xfrm>
        <a:graphic>
          <a:graphicData uri="http://schemas.openxmlformats.org/presentationml/2006/ole">
            <mc:AlternateContent xmlns:mc="http://schemas.openxmlformats.org/markup-compatibility/2006">
              <mc:Choice xmlns:v="urn:schemas-microsoft-com:vml" Requires="v">
                <p:oleObj spid="_x0000_s170024" r:id="rId4" imgW="1562100" imgH="965200" progId="Equation.3">
                  <p:embed/>
                </p:oleObj>
              </mc:Choice>
              <mc:Fallback>
                <p:oleObj r:id="rId4" imgW="1562100" imgH="9652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3340" y="1209502"/>
                        <a:ext cx="3914775" cy="2419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3">
            <a:extLst>
              <a:ext uri="{FF2B5EF4-FFF2-40B4-BE49-F238E27FC236}">
                <a16:creationId xmlns:a16="http://schemas.microsoft.com/office/drawing/2014/main" id="{89FE5712-3F9C-4A1D-A852-EF909376B9A8}"/>
              </a:ext>
            </a:extLst>
          </p:cNvPr>
          <p:cNvSpPr>
            <a:spLocks noChangeArrowheads="1"/>
          </p:cNvSpPr>
          <p:nvPr/>
        </p:nvSpPr>
        <p:spPr bwMode="auto">
          <a:xfrm>
            <a:off x="376989" y="3508537"/>
            <a:ext cx="1000225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914400" algn="l"/>
              </a:tabLst>
              <a:defRPr>
                <a:solidFill>
                  <a:schemeClr val="tx1"/>
                </a:solidFill>
                <a:latin typeface="Arial" panose="020B0604020202020204" pitchFamily="34" charset="0"/>
              </a:defRPr>
            </a:lvl1pPr>
            <a:lvl2pPr eaLnBrk="0" fontAlgn="base" hangingPunct="0">
              <a:spcBef>
                <a:spcPct val="0"/>
              </a:spcBef>
              <a:spcAft>
                <a:spcPct val="0"/>
              </a:spcAft>
              <a:tabLst>
                <a:tab pos="914400" algn="l"/>
              </a:tabLst>
              <a:defRPr>
                <a:solidFill>
                  <a:schemeClr val="tx1"/>
                </a:solidFill>
                <a:latin typeface="Arial" panose="020B0604020202020204" pitchFamily="34" charset="0"/>
              </a:defRPr>
            </a:lvl2pPr>
            <a:lvl3pPr eaLnBrk="0" fontAlgn="base" hangingPunct="0">
              <a:spcBef>
                <a:spcPct val="0"/>
              </a:spcBef>
              <a:spcAft>
                <a:spcPct val="0"/>
              </a:spcAft>
              <a:tabLst>
                <a:tab pos="914400" algn="l"/>
              </a:tabLst>
              <a:defRPr>
                <a:solidFill>
                  <a:schemeClr val="tx1"/>
                </a:solidFill>
                <a:latin typeface="Arial" panose="020B0604020202020204" pitchFamily="34" charset="0"/>
              </a:defRPr>
            </a:lvl3pPr>
            <a:lvl4pPr eaLnBrk="0" fontAlgn="base" hangingPunct="0">
              <a:spcBef>
                <a:spcPct val="0"/>
              </a:spcBef>
              <a:spcAft>
                <a:spcPct val="0"/>
              </a:spcAft>
              <a:tabLst>
                <a:tab pos="914400" algn="l"/>
              </a:tabLst>
              <a:defRPr>
                <a:solidFill>
                  <a:schemeClr val="tx1"/>
                </a:solidFill>
                <a:latin typeface="Arial" panose="020B0604020202020204" pitchFamily="34" charset="0"/>
              </a:defRPr>
            </a:lvl4pPr>
            <a:lvl5pPr eaLnBrk="0" fontAlgn="base" hangingPunct="0">
              <a:spcBef>
                <a:spcPct val="0"/>
              </a:spcBef>
              <a:spcAft>
                <a:spcPct val="0"/>
              </a:spcAft>
              <a:tabLst>
                <a:tab pos="914400" algn="l"/>
              </a:tabLst>
              <a:defRPr>
                <a:solidFill>
                  <a:schemeClr val="tx1"/>
                </a:solidFill>
                <a:latin typeface="Arial" panose="020B0604020202020204" pitchFamily="34" charset="0"/>
              </a:defRPr>
            </a:lvl5pPr>
            <a:lvl6pPr eaLnBrk="0" fontAlgn="base" hangingPunct="0">
              <a:spcBef>
                <a:spcPct val="0"/>
              </a:spcBef>
              <a:spcAft>
                <a:spcPct val="0"/>
              </a:spcAft>
              <a:tabLst>
                <a:tab pos="914400" algn="l"/>
              </a:tabLst>
              <a:defRPr>
                <a:solidFill>
                  <a:schemeClr val="tx1"/>
                </a:solidFill>
                <a:latin typeface="Arial" panose="020B0604020202020204" pitchFamily="34" charset="0"/>
              </a:defRPr>
            </a:lvl6pPr>
            <a:lvl7pPr eaLnBrk="0" fontAlgn="base" hangingPunct="0">
              <a:spcBef>
                <a:spcPct val="0"/>
              </a:spcBef>
              <a:spcAft>
                <a:spcPct val="0"/>
              </a:spcAft>
              <a:tabLst>
                <a:tab pos="914400" algn="l"/>
              </a:tabLst>
              <a:defRPr>
                <a:solidFill>
                  <a:schemeClr val="tx1"/>
                </a:solidFill>
                <a:latin typeface="Arial" panose="020B0604020202020204" pitchFamily="34" charset="0"/>
              </a:defRPr>
            </a:lvl7pPr>
            <a:lvl8pPr eaLnBrk="0" fontAlgn="base" hangingPunct="0">
              <a:spcBef>
                <a:spcPct val="0"/>
              </a:spcBef>
              <a:spcAft>
                <a:spcPct val="0"/>
              </a:spcAft>
              <a:tabLst>
                <a:tab pos="914400" algn="l"/>
              </a:tabLst>
              <a:defRPr>
                <a:solidFill>
                  <a:schemeClr val="tx1"/>
                </a:solidFill>
                <a:latin typeface="Arial" panose="020B0604020202020204" pitchFamily="34" charset="0"/>
              </a:defRPr>
            </a:lvl8pPr>
            <a:lvl9pPr eaLnBrk="0" fontAlgn="base" hangingPunct="0">
              <a:spcBef>
                <a:spcPct val="0"/>
              </a:spcBef>
              <a:spcAft>
                <a:spcPct val="0"/>
              </a:spcAft>
              <a:tabLst>
                <a:tab pos="9144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GB" altLang="en-US" sz="3200" b="0" i="1" u="sng" strike="noStrike" cap="none" normalizeH="0" baseline="0" dirty="0">
                <a:ln>
                  <a:noFill/>
                </a:ln>
                <a:solidFill>
                  <a:srgbClr val="002060"/>
                </a:solidFill>
                <a:effectLst/>
                <a:ea typeface="Times New Roman" panose="02020603050405020304" pitchFamily="18" charset="0"/>
              </a:rPr>
              <a:t>Ph</a:t>
            </a:r>
            <a:r>
              <a:rPr kumimoji="0" lang="en-GB" altLang="en-US" sz="3200" b="0" i="0" u="none" strike="noStrike" cap="none" normalizeH="0" baseline="0" dirty="0">
                <a:ln>
                  <a:noFill/>
                </a:ln>
                <a:solidFill>
                  <a:srgbClr val="002060"/>
                </a:solidFill>
                <a:effectLst/>
                <a:ea typeface="Times New Roman" panose="02020603050405020304" pitchFamily="18" charset="0"/>
              </a:rPr>
              <a:t> 	– phase component vector</a:t>
            </a:r>
            <a:endParaRPr kumimoji="0" lang="en-GB" altLang="en-US" sz="3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GB" altLang="en-US" sz="3200" b="0" i="1" u="sng" strike="noStrike" cap="none" normalizeH="0" baseline="0" dirty="0">
                <a:ln>
                  <a:noFill/>
                </a:ln>
                <a:solidFill>
                  <a:srgbClr val="002060"/>
                </a:solidFill>
                <a:effectLst/>
                <a:ea typeface="Times New Roman" panose="02020603050405020304" pitchFamily="18" charset="0"/>
              </a:rPr>
              <a:t>Sy</a:t>
            </a:r>
            <a:r>
              <a:rPr kumimoji="0" lang="en-GB" altLang="en-US" sz="3200" b="0" i="0" u="none" strike="noStrike" cap="none" normalizeH="0" baseline="0" dirty="0">
                <a:ln>
                  <a:noFill/>
                </a:ln>
                <a:solidFill>
                  <a:srgbClr val="002060"/>
                </a:solidFill>
                <a:effectLst/>
                <a:ea typeface="Times New Roman" panose="02020603050405020304" pitchFamily="18" charset="0"/>
              </a:rPr>
              <a:t> 	– symmetrical component vector </a:t>
            </a:r>
            <a:endParaRPr kumimoji="0" lang="en-GB" altLang="en-US" sz="3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3200" b="0" i="0" u="none" strike="noStrike" cap="none" normalizeH="0" baseline="0" dirty="0">
                <a:ln>
                  <a:noFill/>
                </a:ln>
                <a:solidFill>
                  <a:srgbClr val="002060"/>
                </a:solidFill>
                <a:effectLst/>
                <a:ea typeface="Times New Roman" panose="02020603050405020304" pitchFamily="18" charset="0"/>
              </a:rPr>
              <a:t>] 	– symmetrical component matrix. </a:t>
            </a:r>
            <a:endParaRPr kumimoji="0" lang="en-GB" altLang="en-US" sz="3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Since the matrix is a [3</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3] matrix, it is possible to invert it and express</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200" b="0" i="1" u="sng"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Sy</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in terms of   </a:t>
            </a:r>
            <a:r>
              <a:rPr kumimoji="0" lang="en-GB" altLang="en-US" sz="3200" b="0" i="1" u="sng"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Ph</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p>
          <a:p>
            <a:pPr marL="0" marR="0" lvl="0" indent="0" algn="l" defTabSz="914400" rtl="0" eaLnBrk="0" fontAlgn="base" latinLnBrk="0" hangingPunct="0">
              <a:lnSpc>
                <a:spcPct val="100000"/>
              </a:lnSpc>
              <a:spcBef>
                <a:spcPct val="0"/>
              </a:spcBef>
              <a:spcAft>
                <a:spcPct val="0"/>
              </a:spcAft>
              <a:buClrTx/>
              <a:buSzTx/>
              <a:buFontTx/>
              <a:buNone/>
              <a:tabLst>
                <a:tab pos="914400" algn="l"/>
              </a:tabLst>
            </a:pP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Let us now look at some properties of  </a:t>
            </a:r>
            <a:r>
              <a:rPr kumimoji="0" lang="en-GB" altLang="en-US" sz="3200" b="1"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sym typeface="Symbol" panose="05050102010706020507" pitchFamily="18" charset="2"/>
              </a:rPr>
              <a:t>a</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chemeClr val="tx1"/>
                </a:solidFill>
                <a:effectLst/>
                <a:sym typeface="Symbol" panose="05050102010706020507" pitchFamily="18" charset="2"/>
              </a:rPr>
              <a:t> </a:t>
            </a:r>
            <a:endPar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6137333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GB" dirty="0"/>
              <a:t>Some Properties of a</a:t>
            </a:r>
          </a:p>
        </p:txBody>
      </p:sp>
      <p:pic>
        <p:nvPicPr>
          <p:cNvPr id="4" name="Picture 3" descr="A close up of a sign&#10;&#10;Description automatically generated">
            <a:extLst>
              <a:ext uri="{FF2B5EF4-FFF2-40B4-BE49-F238E27FC236}">
                <a16:creationId xmlns:a16="http://schemas.microsoft.com/office/drawing/2014/main" id="{A970DD95-7EB5-4CDE-A3B7-E2893A1F6E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5406" y="1117288"/>
            <a:ext cx="3638095" cy="2704762"/>
          </a:xfrm>
          <a:prstGeom prst="rect">
            <a:avLst/>
          </a:prstGeom>
        </p:spPr>
      </p:pic>
      <p:sp>
        <p:nvSpPr>
          <p:cNvPr id="5" name="Rectangle 4">
            <a:extLst>
              <a:ext uri="{FF2B5EF4-FFF2-40B4-BE49-F238E27FC236}">
                <a16:creationId xmlns:a16="http://schemas.microsoft.com/office/drawing/2014/main" id="{C82136AD-EA75-4179-BE70-78B7F2368481}"/>
              </a:ext>
            </a:extLst>
          </p:cNvPr>
          <p:cNvSpPr/>
          <p:nvPr/>
        </p:nvSpPr>
        <p:spPr>
          <a:xfrm>
            <a:off x="429714" y="1117288"/>
            <a:ext cx="7935691" cy="5324535"/>
          </a:xfrm>
          <a:prstGeom prst="rect">
            <a:avLst/>
          </a:prstGeom>
        </p:spPr>
        <p:txBody>
          <a:bodyPr wrap="square">
            <a:spAutoFit/>
          </a:bodyPr>
          <a:lstStyle/>
          <a:p>
            <a:pPr algn="just">
              <a:tabLst>
                <a:tab pos="571500" algn="l"/>
                <a:tab pos="914400" algn="l"/>
                <a:tab pos="1771650" algn="l"/>
              </a:tabLst>
            </a:pPr>
            <a:r>
              <a:rPr lang="en-GB" sz="3200" b="1" dirty="0">
                <a:solidFill>
                  <a:srgbClr val="002060"/>
                </a:solidFill>
                <a:latin typeface="Symbol" panose="05050102010706020507" pitchFamily="18" charset="2"/>
                <a:ea typeface="Times New Roman" panose="02020603050405020304" pitchFamily="18" charset="0"/>
              </a:rPr>
              <a:t>a</a:t>
            </a:r>
            <a:r>
              <a:rPr lang="en-GB" sz="3200" dirty="0">
                <a:solidFill>
                  <a:srgbClr val="002060"/>
                </a:solidFill>
                <a:latin typeface="Symbol" panose="05050102010706020507" pitchFamily="18" charset="2"/>
                <a:ea typeface="Times New Roman" panose="02020603050405020304" pitchFamily="18" charset="0"/>
              </a:rPr>
              <a:t> 	</a:t>
            </a:r>
            <a:r>
              <a:rPr lang="en-GB" sz="3200" dirty="0">
                <a:solidFill>
                  <a:srgbClr val="002060"/>
                </a:solidFill>
                <a:latin typeface="Times New Roman" panose="02020603050405020304" pitchFamily="18" charset="0"/>
                <a:ea typeface="Times New Roman" panose="02020603050405020304" pitchFamily="18" charset="0"/>
              </a:rPr>
              <a:t>=  1</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2</a:t>
            </a:r>
            <a:r>
              <a:rPr lang="en-GB" sz="3200" dirty="0">
                <a:solidFill>
                  <a:srgbClr val="002060"/>
                </a:solidFill>
                <a:latin typeface="Symbol" panose="05050102010706020507" pitchFamily="18" charset="2"/>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/3  or  1</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120</a:t>
            </a:r>
            <a:r>
              <a:rPr lang="en-GB" sz="3200" baseline="30000" dirty="0">
                <a:solidFill>
                  <a:srgbClr val="002060"/>
                </a:solidFill>
                <a:latin typeface="Times New Roman" panose="02020603050405020304" pitchFamily="18" charset="0"/>
                <a:ea typeface="Times New Roman" panose="02020603050405020304" pitchFamily="18" charset="0"/>
              </a:rPr>
              <a:t>0</a:t>
            </a:r>
            <a:endParaRPr lang="en-GB" sz="3200" dirty="0">
              <a:latin typeface="Times New Roman" panose="02020603050405020304" pitchFamily="18" charset="0"/>
              <a:ea typeface="Times New Roman" panose="02020603050405020304" pitchFamily="18" charset="0"/>
            </a:endParaRPr>
          </a:p>
          <a:p>
            <a:pPr algn="just">
              <a:tabLst>
                <a:tab pos="571500" algn="l"/>
                <a:tab pos="914400" algn="l"/>
                <a:tab pos="1771650" algn="l"/>
              </a:tabLst>
            </a:pP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Symbol" panose="05050102010706020507" pitchFamily="18" charset="2"/>
                <a:ea typeface="Times New Roman" panose="02020603050405020304" pitchFamily="18" charset="0"/>
              </a:rPr>
              <a:t>a</a:t>
            </a:r>
            <a:r>
              <a:rPr lang="en-GB" sz="3200" b="1" baseline="30000" dirty="0">
                <a:solidFill>
                  <a:srgbClr val="002060"/>
                </a:solidFill>
                <a:latin typeface="Symbol" panose="05050102010706020507" pitchFamily="18" charset="2"/>
                <a:ea typeface="Times New Roman" panose="02020603050405020304" pitchFamily="18" charset="0"/>
              </a:rPr>
              <a:t>2</a:t>
            </a:r>
            <a:r>
              <a:rPr lang="en-GB" sz="3200" dirty="0">
                <a:solidFill>
                  <a:srgbClr val="002060"/>
                </a:solidFill>
                <a:latin typeface="Symbol" panose="05050102010706020507" pitchFamily="18" charset="2"/>
                <a:ea typeface="Times New Roman" panose="02020603050405020304" pitchFamily="18" charset="0"/>
              </a:rPr>
              <a:t> 	</a:t>
            </a:r>
            <a:r>
              <a:rPr lang="en-GB" sz="3200" dirty="0">
                <a:solidFill>
                  <a:srgbClr val="002060"/>
                </a:solidFill>
                <a:latin typeface="Times New Roman" panose="02020603050405020304" pitchFamily="18" charset="0"/>
                <a:ea typeface="Times New Roman" panose="02020603050405020304" pitchFamily="18" charset="0"/>
              </a:rPr>
              <a:t>=  1</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4</a:t>
            </a:r>
            <a:r>
              <a:rPr lang="en-GB" sz="3200" dirty="0">
                <a:solidFill>
                  <a:srgbClr val="002060"/>
                </a:solidFill>
                <a:latin typeface="Symbol" panose="05050102010706020507" pitchFamily="18" charset="2"/>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/3  or  1</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240</a:t>
            </a:r>
            <a:r>
              <a:rPr lang="en-GB" sz="3200" baseline="30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or  1</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-120</a:t>
            </a:r>
            <a:r>
              <a:rPr lang="en-GB" sz="3200" baseline="30000" dirty="0">
                <a:solidFill>
                  <a:srgbClr val="002060"/>
                </a:solidFill>
                <a:latin typeface="Times New Roman" panose="02020603050405020304" pitchFamily="18" charset="0"/>
                <a:ea typeface="Times New Roman" panose="02020603050405020304" pitchFamily="18" charset="0"/>
              </a:rPr>
              <a:t>0</a:t>
            </a:r>
            <a:endParaRPr lang="en-GB" sz="3200" dirty="0">
              <a:latin typeface="Times New Roman" panose="02020603050405020304" pitchFamily="18" charset="0"/>
              <a:ea typeface="Times New Roman" panose="02020603050405020304" pitchFamily="18" charset="0"/>
            </a:endParaRPr>
          </a:p>
          <a:p>
            <a:pPr algn="just">
              <a:tabLst>
                <a:tab pos="571500" algn="l"/>
                <a:tab pos="914400" algn="l"/>
                <a:tab pos="1771650" algn="l"/>
              </a:tabLst>
            </a:pPr>
            <a:r>
              <a:rPr lang="en-GB" sz="3200" b="1" dirty="0">
                <a:solidFill>
                  <a:srgbClr val="002060"/>
                </a:solidFill>
                <a:latin typeface="Symbol" panose="05050102010706020507" pitchFamily="18" charset="2"/>
                <a:ea typeface="Times New Roman" panose="02020603050405020304" pitchFamily="18" charset="0"/>
              </a:rPr>
              <a:t> 	a</a:t>
            </a:r>
            <a:r>
              <a:rPr lang="en-GB" sz="3200" b="1" baseline="30000" dirty="0">
                <a:solidFill>
                  <a:srgbClr val="002060"/>
                </a:solidFill>
                <a:latin typeface="Symbol" panose="05050102010706020507" pitchFamily="18" charset="2"/>
                <a:ea typeface="Times New Roman" panose="02020603050405020304" pitchFamily="18" charset="0"/>
              </a:rPr>
              <a:t>3</a:t>
            </a:r>
            <a:r>
              <a:rPr lang="en-GB" sz="3200" dirty="0">
                <a:solidFill>
                  <a:srgbClr val="002060"/>
                </a:solidFill>
                <a:latin typeface="Symbol" panose="05050102010706020507" pitchFamily="18" charset="2"/>
                <a:ea typeface="Times New Roman" panose="02020603050405020304" pitchFamily="18" charset="0"/>
              </a:rPr>
              <a:t> 	</a:t>
            </a:r>
            <a:r>
              <a:rPr lang="en-GB" sz="3200" dirty="0">
                <a:solidFill>
                  <a:srgbClr val="002060"/>
                </a:solidFill>
                <a:latin typeface="Times New Roman" panose="02020603050405020304" pitchFamily="18" charset="0"/>
                <a:ea typeface="Times New Roman" panose="02020603050405020304" pitchFamily="18" charset="0"/>
              </a:rPr>
              <a:t>=  1</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2</a:t>
            </a:r>
            <a:r>
              <a:rPr lang="en-GB" sz="3200" dirty="0">
                <a:solidFill>
                  <a:srgbClr val="002060"/>
                </a:solidFill>
                <a:latin typeface="Symbol" panose="05050102010706020507" pitchFamily="18" charset="2"/>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     or  1</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360</a:t>
            </a:r>
            <a:r>
              <a:rPr lang="en-GB" sz="3200" baseline="30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or  1</a:t>
            </a:r>
            <a:endParaRPr lang="en-GB" sz="3200" dirty="0">
              <a:latin typeface="Times New Roman" panose="02020603050405020304" pitchFamily="18" charset="0"/>
              <a:ea typeface="Times New Roman" panose="02020603050405020304" pitchFamily="18" charset="0"/>
            </a:endParaRPr>
          </a:p>
          <a:p>
            <a:pPr algn="just">
              <a:tabLst>
                <a:tab pos="571500" algn="l"/>
                <a:tab pos="914400" algn="l"/>
                <a:tab pos="1771650" algn="l"/>
              </a:tabLst>
            </a:pP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Symbol" panose="05050102010706020507" pitchFamily="18" charset="2"/>
                <a:ea typeface="Times New Roman" panose="02020603050405020304" pitchFamily="18" charset="0"/>
              </a:rPr>
              <a:t>a</a:t>
            </a:r>
            <a:r>
              <a:rPr lang="en-GB" sz="3200" b="1" baseline="30000" dirty="0">
                <a:solidFill>
                  <a:srgbClr val="002060"/>
                </a:solidFill>
                <a:latin typeface="Symbol" panose="05050102010706020507" pitchFamily="18" charset="2"/>
                <a:ea typeface="Times New Roman" panose="02020603050405020304" pitchFamily="18" charset="0"/>
              </a:rPr>
              <a:t>3 </a:t>
            </a:r>
            <a:r>
              <a:rPr lang="en-GB" sz="3200" b="1" dirty="0">
                <a:solidFill>
                  <a:srgbClr val="002060"/>
                </a:solidFill>
                <a:latin typeface="Times New Roman" panose="02020603050405020304" pitchFamily="18" charset="0"/>
                <a:ea typeface="Times New Roman" panose="02020603050405020304" pitchFamily="18" charset="0"/>
              </a:rPr>
              <a:t>- 1	= (</a:t>
            </a:r>
            <a:r>
              <a:rPr lang="en-GB" sz="3200" b="1" dirty="0">
                <a:solidFill>
                  <a:srgbClr val="002060"/>
                </a:solidFill>
                <a:latin typeface="Symbol" panose="05050102010706020507" pitchFamily="18" charset="2"/>
                <a:ea typeface="Times New Roman" panose="02020603050405020304" pitchFamily="18" charset="0"/>
              </a:rPr>
              <a:t> a</a:t>
            </a:r>
            <a:r>
              <a:rPr lang="en-GB" sz="3200" b="1" dirty="0">
                <a:solidFill>
                  <a:srgbClr val="002060"/>
                </a:solidFill>
                <a:latin typeface="Times New Roman" panose="02020603050405020304" pitchFamily="18" charset="0"/>
                <a:ea typeface="Times New Roman" panose="02020603050405020304" pitchFamily="18" charset="0"/>
              </a:rPr>
              <a:t> - 1)( </a:t>
            </a:r>
            <a:r>
              <a:rPr lang="en-GB" sz="3200" b="1" dirty="0">
                <a:solidFill>
                  <a:srgbClr val="002060"/>
                </a:solidFill>
                <a:latin typeface="Symbol" panose="05050102010706020507" pitchFamily="18" charset="2"/>
                <a:ea typeface="Times New Roman" panose="02020603050405020304" pitchFamily="18" charset="0"/>
              </a:rPr>
              <a:t>a</a:t>
            </a:r>
            <a:r>
              <a:rPr lang="en-GB" sz="3200" b="1" baseline="30000" dirty="0">
                <a:solidFill>
                  <a:srgbClr val="002060"/>
                </a:solidFill>
                <a:latin typeface="Symbol" panose="05050102010706020507" pitchFamily="18" charset="2"/>
                <a:ea typeface="Times New Roman" panose="02020603050405020304" pitchFamily="18" charset="0"/>
              </a:rPr>
              <a:t>2</a:t>
            </a:r>
            <a:r>
              <a:rPr lang="en-GB" sz="3200" b="1" dirty="0">
                <a:solidFill>
                  <a:srgbClr val="002060"/>
                </a:solidFill>
                <a:latin typeface="Symbol" panose="05050102010706020507" pitchFamily="18" charset="2"/>
                <a:ea typeface="Times New Roman" panose="02020603050405020304" pitchFamily="18" charset="0"/>
              </a:rPr>
              <a:t> </a:t>
            </a:r>
            <a:r>
              <a:rPr lang="en-GB" sz="3200" b="1" dirty="0">
                <a:solidFill>
                  <a:srgbClr val="002060"/>
                </a:solidFill>
                <a:latin typeface="Times New Roman" panose="02020603050405020304" pitchFamily="18" charset="0"/>
                <a:ea typeface="Times New Roman" panose="02020603050405020304" pitchFamily="18" charset="0"/>
              </a:rPr>
              <a:t>+</a:t>
            </a:r>
            <a:r>
              <a:rPr lang="en-GB" sz="3200" b="1" dirty="0">
                <a:solidFill>
                  <a:srgbClr val="002060"/>
                </a:solidFill>
                <a:latin typeface="Symbol" panose="05050102010706020507" pitchFamily="18" charset="2"/>
                <a:ea typeface="Times New Roman" panose="02020603050405020304" pitchFamily="18" charset="0"/>
              </a:rPr>
              <a:t> a </a:t>
            </a:r>
            <a:r>
              <a:rPr lang="en-GB" sz="3200" b="1" dirty="0">
                <a:solidFill>
                  <a:srgbClr val="002060"/>
                </a:solidFill>
                <a:latin typeface="Times New Roman" panose="02020603050405020304" pitchFamily="18" charset="0"/>
                <a:ea typeface="Times New Roman" panose="02020603050405020304" pitchFamily="18" charset="0"/>
              </a:rPr>
              <a:t>+ 1)  =  0</a:t>
            </a:r>
            <a:endParaRPr lang="en-GB" sz="3200" dirty="0">
              <a:latin typeface="Times New Roman" panose="02020603050405020304" pitchFamily="18" charset="0"/>
              <a:ea typeface="Times New Roman" panose="02020603050405020304" pitchFamily="18" charset="0"/>
            </a:endParaRPr>
          </a:p>
          <a:p>
            <a:pPr algn="just"/>
            <a:r>
              <a:rPr lang="en-GB" sz="3200" dirty="0">
                <a:solidFill>
                  <a:srgbClr val="002060"/>
                </a:solidFill>
                <a:latin typeface="Times New Roman" panose="02020603050405020304" pitchFamily="18" charset="0"/>
                <a:ea typeface="Times New Roman" panose="02020603050405020304" pitchFamily="18" charset="0"/>
              </a:rPr>
              <a:t>Since </a:t>
            </a:r>
            <a:r>
              <a:rPr lang="en-GB" sz="3200" dirty="0">
                <a:solidFill>
                  <a:srgbClr val="002060"/>
                </a:solidFill>
                <a:latin typeface="Symbol" panose="05050102010706020507" pitchFamily="18" charset="2"/>
                <a:ea typeface="Times New Roman" panose="02020603050405020304" pitchFamily="18" charset="0"/>
              </a:rPr>
              <a:t>a</a:t>
            </a:r>
            <a:r>
              <a:rPr lang="en-GB" sz="3200" dirty="0">
                <a:solidFill>
                  <a:srgbClr val="002060"/>
                </a:solidFill>
                <a:latin typeface="Times New Roman" panose="02020603050405020304" pitchFamily="18" charset="0"/>
                <a:ea typeface="Times New Roman" panose="02020603050405020304" pitchFamily="18" charset="0"/>
              </a:rPr>
              <a:t> is complex, </a:t>
            </a:r>
            <a:r>
              <a:rPr lang="en-GB" sz="3200" dirty="0">
                <a:solidFill>
                  <a:srgbClr val="002060"/>
                </a:solidFill>
                <a:latin typeface="Symbol" panose="05050102010706020507" pitchFamily="18" charset="2"/>
                <a:ea typeface="Times New Roman" panose="02020603050405020304" pitchFamily="18" charset="0"/>
              </a:rPr>
              <a:t>a </a:t>
            </a:r>
            <a:r>
              <a:rPr lang="en-GB" sz="3200" dirty="0">
                <a:solidFill>
                  <a:srgbClr val="002060"/>
                </a:solidFill>
                <a:latin typeface="Symbol" panose="05050102010706020507" pitchFamily="18" charset="2"/>
                <a:ea typeface="Times New Roman" panose="02020603050405020304" pitchFamily="18" charset="0"/>
                <a:sym typeface="Symbol" panose="05050102010706020507" pitchFamily="18" charset="2"/>
              </a:rPr>
              <a:t></a:t>
            </a:r>
            <a:r>
              <a:rPr lang="en-GB" sz="3200" dirty="0">
                <a:solidFill>
                  <a:srgbClr val="002060"/>
                </a:solidFill>
                <a:latin typeface="Symbol" panose="05050102010706020507" pitchFamily="18" charset="2"/>
                <a:ea typeface="Times New Roman" panose="02020603050405020304" pitchFamily="18" charset="0"/>
              </a:rPr>
              <a:t> 1</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algn="just">
              <a:tabLst>
                <a:tab pos="628650" algn="l"/>
              </a:tabLst>
            </a:pP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Symbol" panose="05050102010706020507" pitchFamily="18" charset="2"/>
                <a:ea typeface="Times New Roman" panose="02020603050405020304" pitchFamily="18" charset="0"/>
              </a:rPr>
              <a:t>a</a:t>
            </a:r>
            <a:r>
              <a:rPr lang="en-GB" sz="3200" b="1" dirty="0">
                <a:solidFill>
                  <a:srgbClr val="002060"/>
                </a:solidFill>
                <a:latin typeface="Times New Roman" panose="02020603050405020304" pitchFamily="18" charset="0"/>
                <a:ea typeface="Times New Roman" panose="02020603050405020304" pitchFamily="18" charset="0"/>
              </a:rPr>
              <a:t> - 1</a:t>
            </a:r>
            <a:r>
              <a:rPr lang="en-GB" sz="3200" dirty="0">
                <a:solidFill>
                  <a:srgbClr val="002060"/>
                </a:solidFill>
                <a:latin typeface="Times New Roman" panose="02020603050405020304" pitchFamily="18" charset="0"/>
                <a:ea typeface="Times New Roman" panose="02020603050405020304" pitchFamily="18" charset="0"/>
              </a:rPr>
              <a:t> cannot be zero.</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Symbol" panose="05050102010706020507" pitchFamily="18" charset="2"/>
                <a:ea typeface="Times New Roman" panose="02020603050405020304" pitchFamily="18" charset="0"/>
              </a:rPr>
              <a:t>a</a:t>
            </a:r>
            <a:r>
              <a:rPr lang="en-GB" sz="3200" b="1" baseline="30000" dirty="0">
                <a:solidFill>
                  <a:srgbClr val="002060"/>
                </a:solidFill>
                <a:latin typeface="Symbol" panose="05050102010706020507" pitchFamily="18" charset="2"/>
                <a:ea typeface="Times New Roman" panose="02020603050405020304" pitchFamily="18" charset="0"/>
              </a:rPr>
              <a:t>2</a:t>
            </a:r>
            <a:r>
              <a:rPr lang="en-GB" sz="3200" b="1" dirty="0">
                <a:solidFill>
                  <a:srgbClr val="002060"/>
                </a:solidFill>
                <a:latin typeface="Symbol" panose="05050102010706020507" pitchFamily="18" charset="2"/>
                <a:ea typeface="Times New Roman" panose="02020603050405020304" pitchFamily="18" charset="0"/>
              </a:rPr>
              <a:t> </a:t>
            </a:r>
            <a:r>
              <a:rPr lang="en-GB" sz="3200" b="1" dirty="0">
                <a:solidFill>
                  <a:srgbClr val="002060"/>
                </a:solidFill>
                <a:latin typeface="Times New Roman" panose="02020603050405020304" pitchFamily="18" charset="0"/>
                <a:ea typeface="Times New Roman" panose="02020603050405020304" pitchFamily="18" charset="0"/>
              </a:rPr>
              <a:t>+</a:t>
            </a:r>
            <a:r>
              <a:rPr lang="en-GB" sz="3200" b="1" dirty="0">
                <a:solidFill>
                  <a:srgbClr val="002060"/>
                </a:solidFill>
                <a:latin typeface="Symbol" panose="05050102010706020507" pitchFamily="18" charset="2"/>
                <a:ea typeface="Times New Roman" panose="02020603050405020304" pitchFamily="18" charset="0"/>
              </a:rPr>
              <a:t> a </a:t>
            </a:r>
            <a:r>
              <a:rPr lang="en-GB" sz="3200" b="1" dirty="0">
                <a:solidFill>
                  <a:srgbClr val="002060"/>
                </a:solidFill>
                <a:latin typeface="Times New Roman" panose="02020603050405020304" pitchFamily="18" charset="0"/>
                <a:ea typeface="Times New Roman" panose="02020603050405020304" pitchFamily="18" charset="0"/>
              </a:rPr>
              <a:t>+ 1  = 0</a:t>
            </a:r>
            <a:endParaRPr lang="en-GB" sz="3200" dirty="0">
              <a:latin typeface="Times New Roman" panose="02020603050405020304" pitchFamily="18" charset="0"/>
              <a:ea typeface="Times New Roman" panose="02020603050405020304" pitchFamily="18" charset="0"/>
            </a:endParaRPr>
          </a:p>
          <a:p>
            <a:pPr marR="29210" algn="just">
              <a:spcBef>
                <a:spcPts val="1200"/>
              </a:spcBef>
              <a:spcAft>
                <a:spcPts val="600"/>
              </a:spcAft>
            </a:pPr>
            <a:r>
              <a:rPr lang="en-GB" sz="3200" dirty="0">
                <a:solidFill>
                  <a:srgbClr val="002060"/>
                </a:solidFill>
                <a:latin typeface="Times New Roman" panose="02020603050405020304" pitchFamily="18" charset="0"/>
                <a:ea typeface="Times New Roman" panose="02020603050405020304" pitchFamily="18" charset="0"/>
              </a:rPr>
              <a:t>Also has the physical meaning that the three sides of an equilateral triangles must close.</a:t>
            </a:r>
            <a:endParaRPr lang="en-GB" sz="3200" dirty="0">
              <a:latin typeface="Times New Roman" panose="02020603050405020304" pitchFamily="18" charset="0"/>
              <a:ea typeface="Times New Roman" panose="02020603050405020304" pitchFamily="18" charset="0"/>
            </a:endParaRPr>
          </a:p>
          <a:p>
            <a:r>
              <a:rPr lang="en-GB" sz="3200" dirty="0">
                <a:solidFill>
                  <a:srgbClr val="002060"/>
                </a:solidFill>
                <a:latin typeface="Times New Roman" panose="02020603050405020304" pitchFamily="18" charset="0"/>
                <a:ea typeface="Times New Roman" panose="02020603050405020304" pitchFamily="18" charset="0"/>
              </a:rPr>
              <a:t>Also  </a:t>
            </a:r>
            <a:r>
              <a:rPr lang="en-GB" sz="3200" b="1"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a</a:t>
            </a:r>
            <a:r>
              <a:rPr lang="en-GB" sz="3200" b="1" baseline="30000"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-1  </a:t>
            </a:r>
            <a:r>
              <a:rPr lang="en-GB" sz="3200" baseline="30000" dirty="0">
                <a:solidFill>
                  <a:srgbClr val="002060"/>
                </a:solidFill>
                <a:latin typeface="Times New Roman" panose="02020603050405020304" pitchFamily="18" charset="0"/>
                <a:ea typeface="Times New Roman" panose="02020603050405020304" pitchFamily="18" charset="0"/>
              </a:rPr>
              <a:t>= </a:t>
            </a: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a</a:t>
            </a:r>
            <a:r>
              <a:rPr lang="en-GB" sz="3200" b="1" baseline="30000"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2</a:t>
            </a:r>
            <a:r>
              <a:rPr lang="en-GB" sz="3200" b="1"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 </a:t>
            </a:r>
            <a:r>
              <a:rPr lang="en-GB" sz="3200" dirty="0">
                <a:solidFill>
                  <a:srgbClr val="002060"/>
                </a:solidFill>
                <a:latin typeface="Times New Roman" panose="02020603050405020304" pitchFamily="18" charset="0"/>
                <a:ea typeface="Times New Roman" panose="02020603050405020304" pitchFamily="18" charset="0"/>
              </a:rPr>
              <a:t> and    </a:t>
            </a:r>
            <a:r>
              <a:rPr lang="en-GB" sz="3200" b="1"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a</a:t>
            </a:r>
            <a:r>
              <a:rPr lang="en-GB" sz="3200" b="1" baseline="30000"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- 2  </a:t>
            </a:r>
            <a:r>
              <a:rPr lang="en-GB" sz="3200" baseline="30000" dirty="0">
                <a:solidFill>
                  <a:srgbClr val="002060"/>
                </a:solidFill>
                <a:latin typeface="Times New Roman" panose="02020603050405020304" pitchFamily="18" charset="0"/>
                <a:ea typeface="Times New Roman" panose="02020603050405020304" pitchFamily="18" charset="0"/>
              </a:rPr>
              <a:t>= </a:t>
            </a:r>
            <a:r>
              <a:rPr lang="en-GB" sz="3200" dirty="0">
                <a:solidFill>
                  <a:srgbClr val="002060"/>
                </a:solidFill>
                <a:latin typeface="Times New Roman" panose="02020603050405020304" pitchFamily="18" charset="0"/>
                <a:ea typeface="Times New Roman" panose="02020603050405020304" pitchFamily="18" charset="0"/>
              </a:rPr>
              <a:t> </a:t>
            </a:r>
            <a:r>
              <a:rPr lang="en-GB" sz="3200" b="1" dirty="0">
                <a:solidFill>
                  <a:srgbClr val="002060"/>
                </a:solidFill>
                <a:latin typeface="Symbol" panose="05050102010706020507" pitchFamily="18" charset="2"/>
                <a:ea typeface="Times New Roman" panose="02020603050405020304" pitchFamily="18" charset="0"/>
                <a:cs typeface="Times New Roman" panose="02020603050405020304" pitchFamily="18" charset="0"/>
              </a:rPr>
              <a:t>a</a:t>
            </a:r>
            <a:endParaRPr lang="en-GB" sz="3200" dirty="0"/>
          </a:p>
        </p:txBody>
      </p:sp>
    </p:spTree>
    <p:extLst>
      <p:ext uri="{BB962C8B-B14F-4D97-AF65-F5344CB8AC3E}">
        <p14:creationId xmlns:p14="http://schemas.microsoft.com/office/powerpoint/2010/main" val="42750526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610480"/>
            <a:ext cx="10924085" cy="482745"/>
          </a:xfrm>
        </p:spPr>
        <p:txBody>
          <a:bodyPr>
            <a:normAutofit fontScale="90000"/>
          </a:bodyPr>
          <a:lstStyle/>
          <a:p>
            <a:r>
              <a:rPr lang="en-GB" dirty="0"/>
              <a:t>Inverse of Symmetrical component matrix</a:t>
            </a:r>
          </a:p>
        </p:txBody>
      </p:sp>
      <p:graphicFrame>
        <p:nvGraphicFramePr>
          <p:cNvPr id="3" name="Object 2">
            <a:extLst>
              <a:ext uri="{FF2B5EF4-FFF2-40B4-BE49-F238E27FC236}">
                <a16:creationId xmlns:a16="http://schemas.microsoft.com/office/drawing/2014/main" id="{31EDB69A-4041-437A-99DD-F892A76E3392}"/>
              </a:ext>
            </a:extLst>
          </p:cNvPr>
          <p:cNvGraphicFramePr>
            <a:graphicFrameLocks noChangeAspect="1"/>
          </p:cNvGraphicFramePr>
          <p:nvPr>
            <p:extLst>
              <p:ext uri="{D42A27DB-BD31-4B8C-83A1-F6EECF244321}">
                <p14:modId xmlns:p14="http://schemas.microsoft.com/office/powerpoint/2010/main" val="4156074629"/>
              </p:ext>
            </p:extLst>
          </p:nvPr>
        </p:nvGraphicFramePr>
        <p:xfrm>
          <a:off x="240631" y="1169601"/>
          <a:ext cx="3848100" cy="2276475"/>
        </p:xfrm>
        <a:graphic>
          <a:graphicData uri="http://schemas.openxmlformats.org/presentationml/2006/ole">
            <mc:AlternateContent xmlns:mc="http://schemas.openxmlformats.org/markup-compatibility/2006">
              <mc:Choice xmlns:v="urn:schemas-microsoft-com:vml" Requires="v">
                <p:oleObj spid="_x0000_s171149" r:id="rId4" imgW="1193800" imgH="711200" progId="Equation.3">
                  <p:embed/>
                </p:oleObj>
              </mc:Choice>
              <mc:Fallback>
                <p:oleObj r:id="rId4" imgW="1193800" imgH="7112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631" y="1169601"/>
                        <a:ext cx="3848100" cy="2276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5B355B22-1D38-44FB-BF08-61B9539D5A64}"/>
              </a:ext>
            </a:extLst>
          </p:cNvPr>
          <p:cNvGraphicFramePr>
            <a:graphicFrameLocks noChangeAspect="1"/>
          </p:cNvGraphicFramePr>
          <p:nvPr>
            <p:extLst>
              <p:ext uri="{D42A27DB-BD31-4B8C-83A1-F6EECF244321}">
                <p14:modId xmlns:p14="http://schemas.microsoft.com/office/powerpoint/2010/main" val="1071979827"/>
              </p:ext>
            </p:extLst>
          </p:nvPr>
        </p:nvGraphicFramePr>
        <p:xfrm>
          <a:off x="6096000" y="1180676"/>
          <a:ext cx="4343400" cy="2257425"/>
        </p:xfrm>
        <a:graphic>
          <a:graphicData uri="http://schemas.openxmlformats.org/presentationml/2006/ole">
            <mc:AlternateContent xmlns:mc="http://schemas.openxmlformats.org/markup-compatibility/2006">
              <mc:Choice xmlns:v="urn:schemas-microsoft-com:vml" Requires="v">
                <p:oleObj spid="_x0000_s171150" r:id="rId6" imgW="1422400" imgH="736600" progId="Equation.3">
                  <p:embed/>
                </p:oleObj>
              </mc:Choice>
              <mc:Fallback>
                <p:oleObj r:id="rId6" imgW="1422400" imgH="736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1180676"/>
                        <a:ext cx="4343400" cy="2257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FC3A7626-049D-4299-A248-042BE7FB56A5}"/>
              </a:ext>
            </a:extLst>
          </p:cNvPr>
          <p:cNvGraphicFramePr>
            <a:graphicFrameLocks noChangeAspect="1"/>
          </p:cNvGraphicFramePr>
          <p:nvPr>
            <p:extLst>
              <p:ext uri="{D42A27DB-BD31-4B8C-83A1-F6EECF244321}">
                <p14:modId xmlns:p14="http://schemas.microsoft.com/office/powerpoint/2010/main" val="1996404956"/>
              </p:ext>
            </p:extLst>
          </p:nvPr>
        </p:nvGraphicFramePr>
        <p:xfrm>
          <a:off x="240633" y="3475812"/>
          <a:ext cx="5245768" cy="2280856"/>
        </p:xfrm>
        <a:graphic>
          <a:graphicData uri="http://schemas.openxmlformats.org/presentationml/2006/ole">
            <mc:AlternateContent xmlns:mc="http://schemas.openxmlformats.org/markup-compatibility/2006">
              <mc:Choice xmlns:v="urn:schemas-microsoft-com:vml" Requires="v">
                <p:oleObj spid="_x0000_s171151" r:id="rId8" imgW="2400300" imgH="787400" progId="Equation.3">
                  <p:embed/>
                </p:oleObj>
              </mc:Choice>
              <mc:Fallback>
                <p:oleObj r:id="rId8" imgW="2400300" imgH="787400"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0633" y="3475812"/>
                        <a:ext cx="5245768" cy="2280856"/>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756B5154-A50A-4D7F-9E45-7842D6347933}"/>
              </a:ext>
            </a:extLst>
          </p:cNvPr>
          <p:cNvGraphicFramePr>
            <a:graphicFrameLocks noChangeAspect="1"/>
          </p:cNvGraphicFramePr>
          <p:nvPr>
            <p:extLst>
              <p:ext uri="{D42A27DB-BD31-4B8C-83A1-F6EECF244321}">
                <p14:modId xmlns:p14="http://schemas.microsoft.com/office/powerpoint/2010/main" val="2599410793"/>
              </p:ext>
            </p:extLst>
          </p:nvPr>
        </p:nvGraphicFramePr>
        <p:xfrm>
          <a:off x="5558591" y="3528978"/>
          <a:ext cx="4640179" cy="2257426"/>
        </p:xfrm>
        <a:graphic>
          <a:graphicData uri="http://schemas.openxmlformats.org/presentationml/2006/ole">
            <mc:AlternateContent xmlns:mc="http://schemas.openxmlformats.org/markup-compatibility/2006">
              <mc:Choice xmlns:v="urn:schemas-microsoft-com:vml" Requires="v">
                <p:oleObj spid="_x0000_s171152" r:id="rId10" imgW="1968500" imgH="787400" progId="Equation.3">
                  <p:embed/>
                </p:oleObj>
              </mc:Choice>
              <mc:Fallback>
                <p:oleObj r:id="rId10" imgW="1968500" imgH="787400"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58591" y="3528978"/>
                        <a:ext cx="4640179" cy="2257426"/>
                      </a:xfrm>
                      <a:prstGeom prst="rect">
                        <a:avLst/>
                      </a:prstGeom>
                      <a:noFill/>
                    </p:spPr>
                  </p:pic>
                </p:oleObj>
              </mc:Fallback>
            </mc:AlternateContent>
          </a:graphicData>
        </a:graphic>
      </p:graphicFrame>
      <p:sp>
        <p:nvSpPr>
          <p:cNvPr id="8" name="Rectangle 6">
            <a:extLst>
              <a:ext uri="{FF2B5EF4-FFF2-40B4-BE49-F238E27FC236}">
                <a16:creationId xmlns:a16="http://schemas.microsoft.com/office/drawing/2014/main" id="{7D4F3E15-EDE3-48C3-8656-098B7B19BDC0}"/>
              </a:ext>
            </a:extLst>
          </p:cNvPr>
          <p:cNvSpPr>
            <a:spLocks noChangeArrowheads="1"/>
          </p:cNvSpPr>
          <p:nvPr/>
        </p:nvSpPr>
        <p:spPr bwMode="auto">
          <a:xfrm>
            <a:off x="3920790" y="1951393"/>
            <a:ext cx="21897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so that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7030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85F99DC0-E8D4-4CFE-877E-74A6FD9A7111}"/>
              </a:ext>
            </a:extLst>
          </p:cNvPr>
          <p:cNvGraphicFramePr>
            <a:graphicFrameLocks noChangeAspect="1"/>
          </p:cNvGraphicFramePr>
          <p:nvPr>
            <p:extLst>
              <p:ext uri="{D42A27DB-BD31-4B8C-83A1-F6EECF244321}">
                <p14:modId xmlns:p14="http://schemas.microsoft.com/office/powerpoint/2010/main" val="792487300"/>
              </p:ext>
            </p:extLst>
          </p:nvPr>
        </p:nvGraphicFramePr>
        <p:xfrm>
          <a:off x="1710737" y="440116"/>
          <a:ext cx="8248650" cy="2619375"/>
        </p:xfrm>
        <a:graphic>
          <a:graphicData uri="http://schemas.openxmlformats.org/presentationml/2006/ole">
            <mc:AlternateContent xmlns:mc="http://schemas.openxmlformats.org/markup-compatibility/2006">
              <mc:Choice xmlns:v="urn:schemas-microsoft-com:vml" Requires="v">
                <p:oleObj spid="_x0000_s173128" r:id="rId4" imgW="2857500" imgH="711200" progId="Equation.3">
                  <p:embed/>
                </p:oleObj>
              </mc:Choice>
              <mc:Fallback>
                <p:oleObj r:id="rId4" imgW="2857500" imgH="7112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0737" y="440116"/>
                        <a:ext cx="8248650" cy="2619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B551D05C-75EC-48E4-B37F-A155869DC1BC}"/>
              </a:ext>
            </a:extLst>
          </p:cNvPr>
          <p:cNvGraphicFramePr>
            <a:graphicFrameLocks noChangeAspect="1"/>
          </p:cNvGraphicFramePr>
          <p:nvPr>
            <p:extLst>
              <p:ext uri="{D42A27DB-BD31-4B8C-83A1-F6EECF244321}">
                <p14:modId xmlns:p14="http://schemas.microsoft.com/office/powerpoint/2010/main" val="1038116015"/>
              </p:ext>
            </p:extLst>
          </p:nvPr>
        </p:nvGraphicFramePr>
        <p:xfrm>
          <a:off x="1977693" y="3643997"/>
          <a:ext cx="5429250" cy="2457450"/>
        </p:xfrm>
        <a:graphic>
          <a:graphicData uri="http://schemas.openxmlformats.org/presentationml/2006/ole">
            <mc:AlternateContent xmlns:mc="http://schemas.openxmlformats.org/markup-compatibility/2006">
              <mc:Choice xmlns:v="urn:schemas-microsoft-com:vml" Requires="v">
                <p:oleObj spid="_x0000_s173129" r:id="rId6" imgW="1765300" imgH="711200" progId="Equation.3">
                  <p:embed/>
                </p:oleObj>
              </mc:Choice>
              <mc:Fallback>
                <p:oleObj r:id="rId6" imgW="1765300" imgH="7112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7693" y="3643997"/>
                        <a:ext cx="5429250" cy="2457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3">
            <a:extLst>
              <a:ext uri="{FF2B5EF4-FFF2-40B4-BE49-F238E27FC236}">
                <a16:creationId xmlns:a16="http://schemas.microsoft.com/office/drawing/2014/main" id="{B8C3523B-AC99-4D95-B55E-08587DDBD60B}"/>
              </a:ext>
            </a:extLst>
          </p:cNvPr>
          <p:cNvSpPr>
            <a:spLocks noChangeArrowheads="1"/>
          </p:cNvSpPr>
          <p:nvPr/>
        </p:nvSpPr>
        <p:spPr bwMode="auto">
          <a:xfrm>
            <a:off x="206793" y="4549556"/>
            <a:ext cx="19972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3600" b="0" i="0" u="none" strike="noStrike" cap="none" normalizeH="0" baseline="0" dirty="0">
                <a:ln>
                  <a:noFill/>
                </a:ln>
                <a:solidFill>
                  <a:srgbClr val="002060"/>
                </a:solidFill>
                <a:effectLst/>
                <a:ea typeface="Times New Roman" panose="02020603050405020304" pitchFamily="18" charset="0"/>
              </a:rPr>
              <a:t>]</a:t>
            </a:r>
            <a:r>
              <a:rPr kumimoji="0" lang="en-GB" altLang="en-US" sz="36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-1 </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4">
            <a:extLst>
              <a:ext uri="{FF2B5EF4-FFF2-40B4-BE49-F238E27FC236}">
                <a16:creationId xmlns:a16="http://schemas.microsoft.com/office/drawing/2014/main" id="{B216E6A8-6D0F-4470-A927-2827055AEDF1}"/>
              </a:ext>
            </a:extLst>
          </p:cNvPr>
          <p:cNvSpPr>
            <a:spLocks noChangeArrowheads="1"/>
          </p:cNvSpPr>
          <p:nvPr/>
        </p:nvSpPr>
        <p:spPr bwMode="auto">
          <a:xfrm>
            <a:off x="206793" y="3083554"/>
            <a:ext cx="117187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ea typeface="Times New Roman" panose="02020603050405020304" pitchFamily="18" charset="0"/>
              </a:rPr>
              <a:t>and discriminant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D</a:t>
            </a:r>
            <a:r>
              <a:rPr kumimoji="0" lang="en-GB" altLang="en-US" sz="3600" b="0" i="0" u="none" strike="noStrike" cap="none" normalizeH="0" baseline="0" dirty="0">
                <a:ln>
                  <a:noFill/>
                </a:ln>
                <a:solidFill>
                  <a:srgbClr val="002060"/>
                </a:solidFill>
                <a:effectLst/>
                <a:ea typeface="Times New Roman" panose="02020603050405020304" pitchFamily="18" charset="0"/>
              </a:rPr>
              <a:t> = 3(</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3600" b="0" i="0" u="none" strike="noStrike" cap="none" normalizeH="0" baseline="0" dirty="0">
                <a:ln>
                  <a:noFill/>
                </a:ln>
                <a:solidFill>
                  <a:srgbClr val="002060"/>
                </a:solidFill>
                <a:effectLst/>
                <a:ea typeface="Times New Roman" panose="02020603050405020304" pitchFamily="18" charset="0"/>
              </a:rPr>
              <a:t> -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3600" b="0" i="0" u="none" strike="noStrike" cap="none" normalizeH="0" baseline="30000" dirty="0">
                <a:ln>
                  <a:noFill/>
                </a:ln>
                <a:solidFill>
                  <a:srgbClr val="002060"/>
                </a:solidFill>
                <a:effectLst/>
                <a:ea typeface="Times New Roman" panose="02020603050405020304" pitchFamily="18" charset="0"/>
              </a:rPr>
              <a:t>2</a:t>
            </a:r>
            <a:r>
              <a:rPr kumimoji="0" lang="en-GB" altLang="en-US" sz="3600" b="0" i="0" u="none" strike="noStrike" cap="none" normalizeH="0" baseline="0" dirty="0">
                <a:ln>
                  <a:noFill/>
                </a:ln>
                <a:solidFill>
                  <a:srgbClr val="002060"/>
                </a:solidFill>
                <a:effectLst/>
                <a:ea typeface="Times New Roman" panose="02020603050405020304" pitchFamily="18" charset="0"/>
              </a:rPr>
              <a:t>) = 3</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3600" b="0" i="0" u="none" strike="noStrike" cap="none" normalizeH="0" baseline="0" dirty="0">
                <a:ln>
                  <a:noFill/>
                </a:ln>
                <a:solidFill>
                  <a:srgbClr val="002060"/>
                </a:solidFill>
                <a:effectLst/>
                <a:ea typeface="Times New Roman" panose="02020603050405020304" pitchFamily="18" charset="0"/>
              </a:rPr>
              <a:t> (1-</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3600" b="0" i="0" u="none" strike="noStrike" cap="none" normalizeH="0" baseline="0" dirty="0">
                <a:ln>
                  <a:noFill/>
                </a:ln>
                <a:solidFill>
                  <a:srgbClr val="002060"/>
                </a:solidFill>
                <a:effectLst/>
                <a:ea typeface="Times New Roman" panose="02020603050405020304" pitchFamily="18" charset="0"/>
              </a:rPr>
              <a:t>)</a:t>
            </a:r>
          </a:p>
        </p:txBody>
      </p:sp>
      <p:sp>
        <p:nvSpPr>
          <p:cNvPr id="7" name="Rectangle 5">
            <a:extLst>
              <a:ext uri="{FF2B5EF4-FFF2-40B4-BE49-F238E27FC236}">
                <a16:creationId xmlns:a16="http://schemas.microsoft.com/office/drawing/2014/main" id="{7273EE86-69D2-4973-BD24-BC0882736641}"/>
              </a:ext>
            </a:extLst>
          </p:cNvPr>
          <p:cNvSpPr>
            <a:spLocks noChangeArrowheads="1"/>
          </p:cNvSpPr>
          <p:nvPr/>
        </p:nvSpPr>
        <p:spPr bwMode="auto">
          <a:xfrm>
            <a:off x="372475" y="6046336"/>
            <a:ext cx="98418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Since </a:t>
            </a:r>
            <a:r>
              <a:rPr kumimoji="0" lang="en-GB" altLang="en-US" sz="360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3600" i="0"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-1  </a:t>
            </a:r>
            <a:r>
              <a:rPr kumimoji="0" lang="en-GB" altLang="en-US" sz="3600" i="0" u="none" strike="noStrike" cap="none" normalizeH="0" baseline="30000" dirty="0">
                <a:ln>
                  <a:noFill/>
                </a:ln>
                <a:solidFill>
                  <a:srgbClr val="002060"/>
                </a:solidFill>
                <a:effectLst/>
                <a:ea typeface="Times New Roman" panose="02020603050405020304" pitchFamily="18" charset="0"/>
              </a:rPr>
              <a:t>= </a:t>
            </a:r>
            <a:r>
              <a:rPr kumimoji="0" lang="en-GB" altLang="en-US" sz="360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60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3600" i="0"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2</a:t>
            </a:r>
            <a:r>
              <a:rPr kumimoji="0" lang="en-GB" altLang="en-US" sz="360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t>
            </a:r>
            <a:r>
              <a:rPr kumimoji="0" lang="en-GB" altLang="en-US" sz="3600" i="0" u="none" strike="noStrike" cap="none" normalizeH="0" baseline="0" dirty="0">
                <a:ln>
                  <a:noFill/>
                </a:ln>
                <a:solidFill>
                  <a:srgbClr val="002060"/>
                </a:solidFill>
                <a:effectLst/>
                <a:ea typeface="Times New Roman" panose="02020603050405020304" pitchFamily="18" charset="0"/>
              </a:rPr>
              <a:t>   </a:t>
            </a:r>
            <a:r>
              <a:rPr kumimoji="0" lang="en-GB" altLang="en-US" sz="360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3600" i="0"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- 2  </a:t>
            </a:r>
            <a:r>
              <a:rPr kumimoji="0" lang="en-GB" altLang="en-US" sz="3600" i="0" u="none" strike="noStrike" cap="none" normalizeH="0" baseline="30000" dirty="0">
                <a:ln>
                  <a:noFill/>
                </a:ln>
                <a:solidFill>
                  <a:srgbClr val="002060"/>
                </a:solidFill>
                <a:effectLst/>
                <a:ea typeface="Times New Roman" panose="02020603050405020304" pitchFamily="18" charset="0"/>
              </a:rPr>
              <a:t>= </a:t>
            </a:r>
            <a:r>
              <a:rPr kumimoji="0" lang="en-GB" altLang="en-US" sz="360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60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3600" i="0" u="none" strike="noStrike" cap="none" normalizeH="0" baseline="0" dirty="0">
                <a:ln>
                  <a:noFill/>
                </a:ln>
                <a:solidFill>
                  <a:srgbClr val="002060"/>
                </a:solidFill>
                <a:effectLst/>
                <a:ea typeface="Times New Roman" panose="02020603050405020304" pitchFamily="18" charset="0"/>
              </a:rPr>
              <a:t>  </a:t>
            </a:r>
            <a:r>
              <a:rPr kumimoji="0" lang="en-GB" altLang="en-US" sz="360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and  1</a:t>
            </a:r>
            <a:r>
              <a:rPr kumimoji="0" lang="en-GB" altLang="en-US" sz="360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 </a:t>
            </a:r>
            <a:r>
              <a:rPr kumimoji="0" lang="en-GB" altLang="en-US" sz="3600" i="0" u="none" strike="noStrike" cap="none" normalizeH="0" baseline="0" dirty="0">
                <a:ln>
                  <a:noFill/>
                </a:ln>
                <a:solidFill>
                  <a:srgbClr val="002060"/>
                </a:solidFill>
                <a:effectLst/>
                <a:ea typeface="Times New Roman" panose="02020603050405020304" pitchFamily="18" charset="0"/>
              </a:rPr>
              <a:t>+</a:t>
            </a:r>
            <a:r>
              <a:rPr kumimoji="0" lang="en-GB" altLang="en-US" sz="360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 a</a:t>
            </a:r>
            <a:r>
              <a:rPr kumimoji="0" lang="en-GB" altLang="en-US" sz="3600" i="0" u="none" strike="noStrike" cap="none" normalizeH="0" baseline="0" dirty="0">
                <a:ln>
                  <a:noFill/>
                </a:ln>
                <a:solidFill>
                  <a:srgbClr val="002060"/>
                </a:solidFill>
                <a:effectLst/>
                <a:ea typeface="Times New Roman" panose="02020603050405020304" pitchFamily="18" charset="0"/>
              </a:rPr>
              <a:t> + </a:t>
            </a:r>
            <a:r>
              <a:rPr kumimoji="0" lang="en-GB" altLang="en-US" sz="360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3600" i="0" u="none" strike="noStrike" cap="none" normalizeH="0" baseline="30000" dirty="0">
                <a:ln>
                  <a:noFill/>
                </a:ln>
                <a:solidFill>
                  <a:srgbClr val="002060"/>
                </a:solidFill>
                <a:effectLst/>
                <a:latin typeface="Symbol" panose="05050102010706020507" pitchFamily="18" charset="2"/>
                <a:ea typeface="Times New Roman" panose="02020603050405020304" pitchFamily="18" charset="0"/>
              </a:rPr>
              <a:t>2 </a:t>
            </a:r>
            <a:r>
              <a:rPr kumimoji="0" lang="en-GB" altLang="en-US" sz="3600" i="0" u="none" strike="noStrike" cap="none" normalizeH="0" baseline="0" dirty="0">
                <a:ln>
                  <a:noFill/>
                </a:ln>
                <a:solidFill>
                  <a:srgbClr val="002060"/>
                </a:solidFill>
                <a:effectLst/>
                <a:ea typeface="Times New Roman" panose="02020603050405020304" pitchFamily="18" charset="0"/>
              </a:rPr>
              <a:t> </a:t>
            </a:r>
            <a:r>
              <a:rPr kumimoji="0" lang="en-GB" altLang="en-US" sz="360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0,  </a:t>
            </a:r>
            <a:endParaRPr kumimoji="0" lang="en-GB" altLang="en-US" sz="160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4332B700-1516-4D1F-BFEB-F28CA8BF1587}"/>
              </a:ext>
            </a:extLst>
          </p:cNvPr>
          <p:cNvSpPr>
            <a:spLocks noChangeArrowheads="1"/>
          </p:cNvSpPr>
          <p:nvPr/>
        </p:nvSpPr>
        <p:spPr bwMode="auto">
          <a:xfrm>
            <a:off x="206793" y="1450701"/>
            <a:ext cx="19972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3600" b="0" i="0" u="none" strike="noStrike" cap="none" normalizeH="0" baseline="0" dirty="0">
                <a:ln>
                  <a:noFill/>
                </a:ln>
                <a:solidFill>
                  <a:srgbClr val="002060"/>
                </a:solidFill>
                <a:effectLst/>
                <a:ea typeface="Times New Roman" panose="02020603050405020304" pitchFamily="18" charset="0"/>
              </a:rPr>
              <a:t>]</a:t>
            </a:r>
            <a:r>
              <a:rPr kumimoji="0" lang="en-GB" altLang="en-US" sz="36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-1 </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824982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81EC336E-2310-46B8-8465-8A3EE50D395D}"/>
              </a:ext>
            </a:extLst>
          </p:cNvPr>
          <p:cNvSpPr>
            <a:spLocks noChangeArrowheads="1"/>
          </p:cNvSpPr>
          <p:nvPr/>
        </p:nvSpPr>
        <p:spPr bwMode="auto">
          <a:xfrm>
            <a:off x="190500" y="3269825"/>
            <a:ext cx="11817016" cy="2853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14000"/>
              </a:lnSpc>
              <a:spcBef>
                <a:spcPct val="0"/>
              </a:spcBef>
              <a:spcAft>
                <a:spcPct val="0"/>
              </a:spcAft>
              <a:buClrTx/>
              <a:buSzTx/>
              <a:buFontTx/>
              <a:buNone/>
              <a:tabLst/>
            </a:pPr>
            <a:r>
              <a:rPr kumimoji="0" lang="en-GB" altLang="en-US" sz="4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4000" b="0" i="0" u="none" strike="noStrike" cap="none" normalizeH="0" baseline="0" dirty="0">
                <a:ln>
                  <a:noFill/>
                </a:ln>
                <a:solidFill>
                  <a:srgbClr val="002060"/>
                </a:solidFill>
                <a:effectLst/>
                <a:ea typeface="Times New Roman" panose="02020603050405020304" pitchFamily="18" charset="0"/>
              </a:rPr>
              <a:t>  </a:t>
            </a: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is the complex conjugate of </a:t>
            </a:r>
            <a:r>
              <a:rPr kumimoji="0" lang="en-GB" altLang="en-US" sz="4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4000" b="0" i="0" u="none" strike="noStrike" cap="none" normalizeH="0" baseline="30000" dirty="0">
                <a:ln>
                  <a:noFill/>
                </a:ln>
                <a:solidFill>
                  <a:srgbClr val="002060"/>
                </a:solidFill>
                <a:effectLst/>
                <a:ea typeface="Times New Roman" panose="02020603050405020304" pitchFamily="18" charset="0"/>
              </a:rPr>
              <a:t>2</a:t>
            </a: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endParaRPr kumimoji="0" lang="en-GB"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14000"/>
              </a:lnSpc>
              <a:spcBef>
                <a:spcPct val="0"/>
              </a:spcBef>
              <a:spcAft>
                <a:spcPct val="0"/>
              </a:spcAft>
              <a:buClrTx/>
              <a:buSzTx/>
              <a:buFontTx/>
              <a:buNone/>
              <a:tabLst/>
            </a:pPr>
            <a:r>
              <a:rPr kumimoji="0" lang="en-GB" altLang="en-US" sz="4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4000" b="0" i="0" u="none" strike="noStrike" cap="none" normalizeH="0" baseline="30000" dirty="0">
                <a:ln>
                  <a:noFill/>
                </a:ln>
                <a:solidFill>
                  <a:srgbClr val="002060"/>
                </a:solidFill>
                <a:effectLst/>
                <a:ea typeface="Times New Roman" panose="02020603050405020304" pitchFamily="18" charset="0"/>
              </a:rPr>
              <a:t>2</a:t>
            </a: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is the complex conjugate of </a:t>
            </a:r>
            <a:r>
              <a:rPr kumimoji="0" lang="en-GB" altLang="en-US" sz="4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4000" b="0" i="0" u="none" strike="noStrike" cap="none" normalizeH="0" baseline="0" dirty="0">
                <a:ln>
                  <a:noFill/>
                </a:ln>
                <a:solidFill>
                  <a:srgbClr val="002060"/>
                </a:solidFill>
                <a:effectLst/>
                <a:ea typeface="Times New Roman" panose="02020603050405020304" pitchFamily="18" charset="0"/>
              </a:rPr>
              <a:t>.</a:t>
            </a:r>
            <a:endParaRPr kumimoji="0" lang="en-GB"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14000"/>
              </a:lnSpc>
              <a:spcBef>
                <a:spcPct val="0"/>
              </a:spcBef>
              <a:spcAft>
                <a:spcPct val="0"/>
              </a:spcAft>
              <a:buClrTx/>
              <a:buSzTx/>
              <a:buFontTx/>
              <a:buNone/>
              <a:tabLst/>
            </a:pP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Matrix [</a:t>
            </a:r>
            <a:r>
              <a:rPr kumimoji="0" lang="en-GB" altLang="en-US" sz="4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D</a:t>
            </a:r>
            <a:r>
              <a:rPr kumimoji="0" lang="en-GB" altLang="en-US" sz="4000" b="0" i="0" u="none" strike="noStrike" cap="none" normalizeH="0" baseline="0" dirty="0">
                <a:ln>
                  <a:noFill/>
                </a:ln>
                <a:solidFill>
                  <a:srgbClr val="002060"/>
                </a:solidFill>
                <a:effectLst/>
                <a:ea typeface="Times New Roman" panose="02020603050405020304" pitchFamily="18" charset="0"/>
              </a:rPr>
              <a:t>]</a:t>
            </a:r>
            <a:r>
              <a:rPr kumimoji="0" lang="en-GB" altLang="en-US" sz="40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-1</a:t>
            </a: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is one-third of complex conjugate of [</a:t>
            </a:r>
            <a:r>
              <a:rPr kumimoji="0" lang="en-GB" altLang="en-US" sz="4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D</a:t>
            </a:r>
            <a:r>
              <a:rPr kumimoji="0" lang="en-GB" altLang="en-US" sz="4000" b="0" i="0" u="none" strike="noStrike" cap="none" normalizeH="0" baseline="0" dirty="0">
                <a:ln>
                  <a:noFill/>
                </a:ln>
                <a:solidFill>
                  <a:srgbClr val="002060"/>
                </a:solidFill>
                <a:effectLst/>
                <a:ea typeface="Times New Roman" panose="02020603050405020304" pitchFamily="18" charset="0"/>
              </a:rPr>
              <a:t>].</a:t>
            </a:r>
            <a:endParaRPr kumimoji="0" lang="en-GB"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14000"/>
              </a:lnSpc>
              <a:spcBef>
                <a:spcPct val="0"/>
              </a:spcBef>
              <a:spcAft>
                <a:spcPct val="0"/>
              </a:spcAft>
              <a:buClrTx/>
              <a:buSzTx/>
              <a:buFontTx/>
              <a:buNone/>
              <a:tabLst/>
            </a:pP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i.e.	[</a:t>
            </a:r>
            <a:r>
              <a:rPr kumimoji="0" lang="en-GB" altLang="en-US" sz="4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4000" b="0" i="0" u="none" strike="noStrike" cap="none" normalizeH="0" baseline="0" dirty="0">
                <a:ln>
                  <a:noFill/>
                </a:ln>
                <a:solidFill>
                  <a:srgbClr val="002060"/>
                </a:solidFill>
                <a:effectLst/>
                <a:ea typeface="Times New Roman" panose="02020603050405020304" pitchFamily="18" charset="0"/>
              </a:rPr>
              <a:t>]</a:t>
            </a:r>
            <a:r>
              <a:rPr kumimoji="0" lang="en-GB" altLang="en-US" sz="40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-1 </a:t>
            </a: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Object 2">
            <a:extLst>
              <a:ext uri="{FF2B5EF4-FFF2-40B4-BE49-F238E27FC236}">
                <a16:creationId xmlns:a16="http://schemas.microsoft.com/office/drawing/2014/main" id="{0F6F3829-5380-4E80-87FB-1DA126A3A561}"/>
              </a:ext>
            </a:extLst>
          </p:cNvPr>
          <p:cNvGraphicFramePr>
            <a:graphicFrameLocks noChangeAspect="1"/>
          </p:cNvGraphicFramePr>
          <p:nvPr>
            <p:extLst>
              <p:ext uri="{D42A27DB-BD31-4B8C-83A1-F6EECF244321}">
                <p14:modId xmlns:p14="http://schemas.microsoft.com/office/powerpoint/2010/main" val="1709510264"/>
              </p:ext>
            </p:extLst>
          </p:nvPr>
        </p:nvGraphicFramePr>
        <p:xfrm>
          <a:off x="1997244" y="640639"/>
          <a:ext cx="3819525" cy="2857500"/>
        </p:xfrm>
        <a:graphic>
          <a:graphicData uri="http://schemas.openxmlformats.org/presentationml/2006/ole">
            <mc:AlternateContent xmlns:mc="http://schemas.openxmlformats.org/markup-compatibility/2006">
              <mc:Choice xmlns:v="urn:schemas-microsoft-com:vml" Requires="v">
                <p:oleObj spid="_x0000_s174150" r:id="rId4" imgW="965200" imgH="711200" progId="Equation.3">
                  <p:embed/>
                </p:oleObj>
              </mc:Choice>
              <mc:Fallback>
                <p:oleObj r:id="rId4" imgW="965200" imgH="7112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7244" y="640639"/>
                        <a:ext cx="3819525" cy="285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EBB77B35-B67C-4D77-8A03-B76FAFA26C10}"/>
              </a:ext>
            </a:extLst>
          </p:cNvPr>
          <p:cNvGraphicFramePr>
            <a:graphicFrameLocks noChangeAspect="1"/>
          </p:cNvGraphicFramePr>
          <p:nvPr>
            <p:extLst>
              <p:ext uri="{D42A27DB-BD31-4B8C-83A1-F6EECF244321}">
                <p14:modId xmlns:p14="http://schemas.microsoft.com/office/powerpoint/2010/main" val="522668928"/>
              </p:ext>
            </p:extLst>
          </p:nvPr>
        </p:nvGraphicFramePr>
        <p:xfrm>
          <a:off x="2713747" y="5238826"/>
          <a:ext cx="538163" cy="1050925"/>
        </p:xfrm>
        <a:graphic>
          <a:graphicData uri="http://schemas.openxmlformats.org/presentationml/2006/ole">
            <mc:AlternateContent xmlns:mc="http://schemas.openxmlformats.org/markup-compatibility/2006">
              <mc:Choice xmlns:v="urn:schemas-microsoft-com:vml" Requires="v">
                <p:oleObj spid="_x0000_s174151" r:id="rId6" imgW="114250" imgH="228501" progId="Equation.3">
                  <p:embed/>
                </p:oleObj>
              </mc:Choice>
              <mc:Fallback>
                <p:oleObj r:id="rId6" imgW="114250" imgH="228501"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13747" y="5238826"/>
                        <a:ext cx="538163" cy="1050925"/>
                      </a:xfrm>
                      <a:prstGeom prst="rect">
                        <a:avLst/>
                      </a:prstGeom>
                      <a:noFill/>
                    </p:spPr>
                  </p:pic>
                </p:oleObj>
              </mc:Fallback>
            </mc:AlternateContent>
          </a:graphicData>
        </a:graphic>
      </p:graphicFrame>
      <p:sp>
        <p:nvSpPr>
          <p:cNvPr id="5" name="Rectangle 3">
            <a:extLst>
              <a:ext uri="{FF2B5EF4-FFF2-40B4-BE49-F238E27FC236}">
                <a16:creationId xmlns:a16="http://schemas.microsoft.com/office/drawing/2014/main" id="{86CEC546-9E47-4FF1-A4BB-11B0525CC9D3}"/>
              </a:ext>
            </a:extLst>
          </p:cNvPr>
          <p:cNvSpPr>
            <a:spLocks noChangeArrowheads="1"/>
          </p:cNvSpPr>
          <p:nvPr/>
        </p:nvSpPr>
        <p:spPr bwMode="auto">
          <a:xfrm>
            <a:off x="190500" y="1778295"/>
            <a:ext cx="175661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3600" b="0" i="0" u="none" strike="noStrike" cap="none" normalizeH="0" baseline="0" dirty="0">
                <a:ln>
                  <a:noFill/>
                </a:ln>
                <a:solidFill>
                  <a:srgbClr val="002060"/>
                </a:solidFill>
                <a:effectLst/>
                <a:ea typeface="Times New Roman" panose="02020603050405020304" pitchFamily="18" charset="0"/>
              </a:rPr>
              <a:t>]</a:t>
            </a:r>
            <a:r>
              <a:rPr kumimoji="0" lang="en-GB" altLang="en-US" sz="36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-1 </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BD570BE6-68D4-4E06-A3D5-40C86546C5A2}"/>
              </a:ext>
            </a:extLst>
          </p:cNvPr>
          <p:cNvSpPr>
            <a:spLocks noChangeArrowheads="1"/>
          </p:cNvSpPr>
          <p:nvPr/>
        </p:nvSpPr>
        <p:spPr bwMode="auto">
          <a:xfrm>
            <a:off x="3155658" y="5355506"/>
            <a:ext cx="120315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40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40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4000" b="0" i="0" u="none" strike="noStrike" cap="none" normalizeH="0" baseline="0" dirty="0">
                <a:ln>
                  <a:noFill/>
                </a:ln>
                <a:solidFill>
                  <a:srgbClr val="002060"/>
                </a:solidFill>
                <a:effectLst/>
                <a:ea typeface="Times New Roman" panose="02020603050405020304" pitchFamily="18" charset="0"/>
              </a:rPr>
              <a:t>]</a:t>
            </a:r>
            <a:r>
              <a:rPr kumimoji="0" lang="en-GB" altLang="en-US" sz="40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7210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6B7D4F-8DED-4292-A8B4-97D38E493A73}"/>
              </a:ext>
            </a:extLst>
          </p:cNvPr>
          <p:cNvSpPr>
            <a:spLocks noChangeArrowheads="1"/>
          </p:cNvSpPr>
          <p:nvPr/>
        </p:nvSpPr>
        <p:spPr bwMode="auto">
          <a:xfrm>
            <a:off x="385010" y="702277"/>
            <a:ext cx="114219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This can now be written in the expanded form as</a:t>
            </a:r>
            <a:endParaRPr kumimoji="0" lang="en-GB"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graphicFrame>
        <p:nvGraphicFramePr>
          <p:cNvPr id="4" name="Object 3">
            <a:extLst>
              <a:ext uri="{FF2B5EF4-FFF2-40B4-BE49-F238E27FC236}">
                <a16:creationId xmlns:a16="http://schemas.microsoft.com/office/drawing/2014/main" id="{5A0C1DF0-1C58-4782-BAFB-465A80371D90}"/>
              </a:ext>
            </a:extLst>
          </p:cNvPr>
          <p:cNvGraphicFramePr>
            <a:graphicFrameLocks noChangeAspect="1"/>
          </p:cNvGraphicFramePr>
          <p:nvPr>
            <p:extLst>
              <p:ext uri="{D42A27DB-BD31-4B8C-83A1-F6EECF244321}">
                <p14:modId xmlns:p14="http://schemas.microsoft.com/office/powerpoint/2010/main" val="352438494"/>
              </p:ext>
            </p:extLst>
          </p:nvPr>
        </p:nvGraphicFramePr>
        <p:xfrm>
          <a:off x="385010" y="1566862"/>
          <a:ext cx="6438900" cy="3724275"/>
        </p:xfrm>
        <a:graphic>
          <a:graphicData uri="http://schemas.openxmlformats.org/presentationml/2006/ole">
            <mc:AlternateContent xmlns:mc="http://schemas.openxmlformats.org/markup-compatibility/2006">
              <mc:Choice xmlns:v="urn:schemas-microsoft-com:vml" Requires="v">
                <p:oleObj spid="_x0000_s175137" r:id="rId4" imgW="1676400" imgH="977900" progId="Equation.3">
                  <p:embed/>
                </p:oleObj>
              </mc:Choice>
              <mc:Fallback>
                <p:oleObj r:id="rId4" imgW="1676400" imgH="9779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010" y="1566862"/>
                        <a:ext cx="6438900" cy="3724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45252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pPr algn="l"/>
            <a:r>
              <a:rPr lang="en-GB" dirty="0"/>
              <a:t>Example1</a:t>
            </a:r>
          </a:p>
        </p:txBody>
      </p:sp>
      <p:pic>
        <p:nvPicPr>
          <p:cNvPr id="4" name="Picture 3" descr="A screenshot of a computer&#10;&#10;Description automatically generated">
            <a:extLst>
              <a:ext uri="{FF2B5EF4-FFF2-40B4-BE49-F238E27FC236}">
                <a16:creationId xmlns:a16="http://schemas.microsoft.com/office/drawing/2014/main" id="{6C4A7929-A321-4BFA-9D29-D3EE54BF5F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76147" y="538291"/>
            <a:ext cx="4494691" cy="4563099"/>
          </a:xfrm>
          <a:prstGeom prst="rect">
            <a:avLst/>
          </a:prstGeom>
        </p:spPr>
      </p:pic>
      <p:sp>
        <p:nvSpPr>
          <p:cNvPr id="5" name="Rectangle 2">
            <a:extLst>
              <a:ext uri="{FF2B5EF4-FFF2-40B4-BE49-F238E27FC236}">
                <a16:creationId xmlns:a16="http://schemas.microsoft.com/office/drawing/2014/main" id="{66552519-39B2-4772-A77D-446806A004C8}"/>
              </a:ext>
            </a:extLst>
          </p:cNvPr>
          <p:cNvSpPr>
            <a:spLocks noChangeArrowheads="1"/>
          </p:cNvSpPr>
          <p:nvPr/>
        </p:nvSpPr>
        <p:spPr bwMode="auto">
          <a:xfrm>
            <a:off x="429715" y="1117288"/>
            <a:ext cx="743893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Find the symmetrical components of unbalanced system of voltages </a:t>
            </a:r>
            <a:endParaRPr kumimoji="0" lang="en-GB"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1</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2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V,</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3</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-120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2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V and 2</a:t>
            </a:r>
            <a:r>
              <a:rPr kumimoji="0" lang="en-GB" altLang="en-US" sz="3600" b="0" i="0" u="none" strike="noStrike" cap="none" normalizeH="0" baseline="0" dirty="0">
                <a:ln>
                  <a:noFill/>
                </a:ln>
                <a:solidFill>
                  <a:srgbClr val="002060"/>
                </a:solidFill>
                <a:effectLst/>
                <a:ea typeface="Times New Roman" panose="02020603050405020304" pitchFamily="18" charset="0"/>
              </a:rPr>
              <a:t>90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2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V.</a:t>
            </a:r>
            <a:endParaRPr kumimoji="0" lang="en-GB" altLang="en-US" sz="1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1"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Solution</a:t>
            </a:r>
            <a:endParaRPr kumimoji="0" lang="en-GB" altLang="en-US" sz="1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Writing the matrix equation</a:t>
            </a:r>
          </a:p>
        </p:txBody>
      </p:sp>
      <p:graphicFrame>
        <p:nvGraphicFramePr>
          <p:cNvPr id="6" name="Object 5">
            <a:extLst>
              <a:ext uri="{FF2B5EF4-FFF2-40B4-BE49-F238E27FC236}">
                <a16:creationId xmlns:a16="http://schemas.microsoft.com/office/drawing/2014/main" id="{B8C2DE3A-9A9D-4809-A4F9-4EAF5BAA951E}"/>
              </a:ext>
            </a:extLst>
          </p:cNvPr>
          <p:cNvGraphicFramePr>
            <a:graphicFrameLocks noChangeAspect="1"/>
          </p:cNvGraphicFramePr>
          <p:nvPr>
            <p:extLst>
              <p:ext uri="{D42A27DB-BD31-4B8C-83A1-F6EECF244321}">
                <p14:modId xmlns:p14="http://schemas.microsoft.com/office/powerpoint/2010/main" val="2777122930"/>
              </p:ext>
            </p:extLst>
          </p:nvPr>
        </p:nvGraphicFramePr>
        <p:xfrm>
          <a:off x="429715" y="4106027"/>
          <a:ext cx="6343650" cy="1990725"/>
        </p:xfrm>
        <a:graphic>
          <a:graphicData uri="http://schemas.openxmlformats.org/presentationml/2006/ole">
            <mc:AlternateContent xmlns:mc="http://schemas.openxmlformats.org/markup-compatibility/2006">
              <mc:Choice xmlns:v="urn:schemas-microsoft-com:vml" Requires="v">
                <p:oleObj spid="_x0000_s176161" r:id="rId5" imgW="2349500" imgH="736600" progId="Equation.3">
                  <p:embed/>
                </p:oleObj>
              </mc:Choice>
              <mc:Fallback>
                <p:oleObj r:id="rId5" imgW="2349500" imgH="7366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715" y="4106027"/>
                        <a:ext cx="6343650" cy="199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a:extLst>
              <a:ext uri="{FF2B5EF4-FFF2-40B4-BE49-F238E27FC236}">
                <a16:creationId xmlns:a16="http://schemas.microsoft.com/office/drawing/2014/main" id="{44FB6B55-18C5-41A4-B241-8D484491990B}"/>
              </a:ext>
            </a:extLst>
          </p:cNvPr>
          <p:cNvSpPr/>
          <p:nvPr/>
        </p:nvSpPr>
        <p:spPr>
          <a:xfrm>
            <a:off x="429715" y="6096752"/>
            <a:ext cx="7425431" cy="584775"/>
          </a:xfrm>
          <a:prstGeom prst="rect">
            <a:avLst/>
          </a:prstGeom>
        </p:spPr>
        <p:txBody>
          <a:bodyPr wrap="none">
            <a:spAutoFit/>
          </a:bodyPr>
          <a:lstStyle/>
          <a:p>
            <a:pPr algn="just"/>
            <a:r>
              <a:rPr lang="en-GB" sz="3200" dirty="0">
                <a:solidFill>
                  <a:srgbClr val="002060"/>
                </a:solidFill>
                <a:latin typeface="Times New Roman" panose="02020603050405020304" pitchFamily="18" charset="0"/>
                <a:ea typeface="Times New Roman" panose="02020603050405020304" pitchFamily="18" charset="0"/>
              </a:rPr>
              <a:t>Expansion of this is shown in the next slide.</a:t>
            </a:r>
            <a:endParaRPr lang="en-GB" sz="11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72200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6150D563-5A83-4891-A8D4-1BE3CD276C9C}"/>
              </a:ext>
            </a:extLst>
          </p:cNvPr>
          <p:cNvGraphicFramePr>
            <a:graphicFrameLocks noChangeAspect="1"/>
          </p:cNvGraphicFramePr>
          <p:nvPr>
            <p:extLst>
              <p:ext uri="{D42A27DB-BD31-4B8C-83A1-F6EECF244321}">
                <p14:modId xmlns:p14="http://schemas.microsoft.com/office/powerpoint/2010/main" val="2841617905"/>
              </p:ext>
            </p:extLst>
          </p:nvPr>
        </p:nvGraphicFramePr>
        <p:xfrm>
          <a:off x="1924555" y="549351"/>
          <a:ext cx="571500" cy="742950"/>
        </p:xfrm>
        <a:graphic>
          <a:graphicData uri="http://schemas.openxmlformats.org/presentationml/2006/ole">
            <mc:AlternateContent xmlns:mc="http://schemas.openxmlformats.org/markup-compatibility/2006">
              <mc:Choice xmlns:v="urn:schemas-microsoft-com:vml" Requires="v">
                <p:oleObj spid="_x0000_s177460" r:id="rId4" imgW="228501" imgH="304668" progId="Equation.3">
                  <p:embed/>
                </p:oleObj>
              </mc:Choice>
              <mc:Fallback>
                <p:oleObj r:id="rId4" imgW="228501" imgH="304668"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4555" y="549351"/>
                        <a:ext cx="57150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23E3EC13-31C7-4F6D-B44F-74F6E38733BA}"/>
              </a:ext>
            </a:extLst>
          </p:cNvPr>
          <p:cNvGraphicFramePr>
            <a:graphicFrameLocks noChangeAspect="1"/>
          </p:cNvGraphicFramePr>
          <p:nvPr>
            <p:extLst>
              <p:ext uri="{D42A27DB-BD31-4B8C-83A1-F6EECF244321}">
                <p14:modId xmlns:p14="http://schemas.microsoft.com/office/powerpoint/2010/main" val="2739809281"/>
              </p:ext>
            </p:extLst>
          </p:nvPr>
        </p:nvGraphicFramePr>
        <p:xfrm>
          <a:off x="1877929" y="1225992"/>
          <a:ext cx="552450" cy="742950"/>
        </p:xfrm>
        <a:graphic>
          <a:graphicData uri="http://schemas.openxmlformats.org/presentationml/2006/ole">
            <mc:AlternateContent xmlns:mc="http://schemas.openxmlformats.org/markup-compatibility/2006">
              <mc:Choice xmlns:v="urn:schemas-microsoft-com:vml" Requires="v">
                <p:oleObj spid="_x0000_s177461" r:id="rId6" imgW="228501" imgH="304668" progId="Equation.3">
                  <p:embed/>
                </p:oleObj>
              </mc:Choice>
              <mc:Fallback>
                <p:oleObj r:id="rId6" imgW="228501" imgH="304668"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7929" y="1225992"/>
                        <a:ext cx="55245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A22CC962-3BFF-4E87-92FF-355FF0C38A17}"/>
              </a:ext>
            </a:extLst>
          </p:cNvPr>
          <p:cNvGraphicFramePr>
            <a:graphicFrameLocks noChangeAspect="1"/>
          </p:cNvGraphicFramePr>
          <p:nvPr>
            <p:extLst>
              <p:ext uri="{D42A27DB-BD31-4B8C-83A1-F6EECF244321}">
                <p14:modId xmlns:p14="http://schemas.microsoft.com/office/powerpoint/2010/main" val="396723289"/>
              </p:ext>
            </p:extLst>
          </p:nvPr>
        </p:nvGraphicFramePr>
        <p:xfrm>
          <a:off x="6617368" y="1152075"/>
          <a:ext cx="571500" cy="742950"/>
        </p:xfrm>
        <a:graphic>
          <a:graphicData uri="http://schemas.openxmlformats.org/presentationml/2006/ole">
            <mc:AlternateContent xmlns:mc="http://schemas.openxmlformats.org/markup-compatibility/2006">
              <mc:Choice xmlns:v="urn:schemas-microsoft-com:vml" Requires="v">
                <p:oleObj spid="_x0000_s177462" r:id="rId7" imgW="228501" imgH="304668" progId="Equation.3">
                  <p:embed/>
                </p:oleObj>
              </mc:Choice>
              <mc:Fallback>
                <p:oleObj r:id="rId7" imgW="228501" imgH="304668"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7368" y="1152075"/>
                        <a:ext cx="57150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a:extLst>
              <a:ext uri="{FF2B5EF4-FFF2-40B4-BE49-F238E27FC236}">
                <a16:creationId xmlns:a16="http://schemas.microsoft.com/office/drawing/2014/main" id="{A97E0B52-30E3-46F0-A6DC-3415ED076336}"/>
              </a:ext>
            </a:extLst>
          </p:cNvPr>
          <p:cNvGraphicFramePr>
            <a:graphicFrameLocks noChangeAspect="1"/>
          </p:cNvGraphicFramePr>
          <p:nvPr>
            <p:extLst>
              <p:ext uri="{D42A27DB-BD31-4B8C-83A1-F6EECF244321}">
                <p14:modId xmlns:p14="http://schemas.microsoft.com/office/powerpoint/2010/main" val="1802428736"/>
              </p:ext>
            </p:extLst>
          </p:nvPr>
        </p:nvGraphicFramePr>
        <p:xfrm>
          <a:off x="1764129" y="2602695"/>
          <a:ext cx="514350" cy="676275"/>
        </p:xfrm>
        <a:graphic>
          <a:graphicData uri="http://schemas.openxmlformats.org/presentationml/2006/ole">
            <mc:AlternateContent xmlns:mc="http://schemas.openxmlformats.org/markup-compatibility/2006">
              <mc:Choice xmlns:v="urn:schemas-microsoft-com:vml" Requires="v">
                <p:oleObj spid="_x0000_s177463" r:id="rId8" imgW="228501" imgH="304668" progId="Equation.3">
                  <p:embed/>
                </p:oleObj>
              </mc:Choice>
              <mc:Fallback>
                <p:oleObj r:id="rId8" imgW="228501" imgH="304668"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4129" y="2602695"/>
                        <a:ext cx="514350"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a:extLst>
              <a:ext uri="{FF2B5EF4-FFF2-40B4-BE49-F238E27FC236}">
                <a16:creationId xmlns:a16="http://schemas.microsoft.com/office/drawing/2014/main" id="{EF9C39C8-76A4-4070-A366-78131DAB4278}"/>
              </a:ext>
            </a:extLst>
          </p:cNvPr>
          <p:cNvGraphicFramePr>
            <a:graphicFrameLocks noChangeAspect="1"/>
          </p:cNvGraphicFramePr>
          <p:nvPr>
            <p:extLst>
              <p:ext uri="{D42A27DB-BD31-4B8C-83A1-F6EECF244321}">
                <p14:modId xmlns:p14="http://schemas.microsoft.com/office/powerpoint/2010/main" val="1309761572"/>
              </p:ext>
            </p:extLst>
          </p:nvPr>
        </p:nvGraphicFramePr>
        <p:xfrm>
          <a:off x="1649078" y="3170694"/>
          <a:ext cx="600075" cy="781050"/>
        </p:xfrm>
        <a:graphic>
          <a:graphicData uri="http://schemas.openxmlformats.org/presentationml/2006/ole">
            <mc:AlternateContent xmlns:mc="http://schemas.openxmlformats.org/markup-compatibility/2006">
              <mc:Choice xmlns:v="urn:schemas-microsoft-com:vml" Requires="v">
                <p:oleObj spid="_x0000_s177464" r:id="rId9" imgW="228501" imgH="304668" progId="Equation.3">
                  <p:embed/>
                </p:oleObj>
              </mc:Choice>
              <mc:Fallback>
                <p:oleObj r:id="rId9" imgW="228501" imgH="304668"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9078" y="3170694"/>
                        <a:ext cx="600075" cy="78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a:extLst>
              <a:ext uri="{FF2B5EF4-FFF2-40B4-BE49-F238E27FC236}">
                <a16:creationId xmlns:a16="http://schemas.microsoft.com/office/drawing/2014/main" id="{EE59128F-1885-4D28-AA8F-6CF8B3C241D2}"/>
              </a:ext>
            </a:extLst>
          </p:cNvPr>
          <p:cNvGraphicFramePr>
            <a:graphicFrameLocks noChangeAspect="1"/>
          </p:cNvGraphicFramePr>
          <p:nvPr>
            <p:extLst>
              <p:ext uri="{D42A27DB-BD31-4B8C-83A1-F6EECF244321}">
                <p14:modId xmlns:p14="http://schemas.microsoft.com/office/powerpoint/2010/main" val="3825855247"/>
              </p:ext>
            </p:extLst>
          </p:nvPr>
        </p:nvGraphicFramePr>
        <p:xfrm>
          <a:off x="1672890" y="3926012"/>
          <a:ext cx="552450" cy="723900"/>
        </p:xfrm>
        <a:graphic>
          <a:graphicData uri="http://schemas.openxmlformats.org/presentationml/2006/ole">
            <mc:AlternateContent xmlns:mc="http://schemas.openxmlformats.org/markup-compatibility/2006">
              <mc:Choice xmlns:v="urn:schemas-microsoft-com:vml" Requires="v">
                <p:oleObj spid="_x0000_s177465" r:id="rId10" imgW="228501" imgH="304668" progId="Equation.3">
                  <p:embed/>
                </p:oleObj>
              </mc:Choice>
              <mc:Fallback>
                <p:oleObj r:id="rId10" imgW="228501" imgH="304668"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2890" y="3926012"/>
                        <a:ext cx="552450"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a:extLst>
              <a:ext uri="{FF2B5EF4-FFF2-40B4-BE49-F238E27FC236}">
                <a16:creationId xmlns:a16="http://schemas.microsoft.com/office/drawing/2014/main" id="{A2AA6E0F-26ED-446C-BB3D-4AE4FA447672}"/>
              </a:ext>
            </a:extLst>
          </p:cNvPr>
          <p:cNvGraphicFramePr>
            <a:graphicFrameLocks noChangeAspect="1"/>
          </p:cNvGraphicFramePr>
          <p:nvPr>
            <p:extLst>
              <p:ext uri="{D42A27DB-BD31-4B8C-83A1-F6EECF244321}">
                <p14:modId xmlns:p14="http://schemas.microsoft.com/office/powerpoint/2010/main" val="3022793780"/>
              </p:ext>
            </p:extLst>
          </p:nvPr>
        </p:nvGraphicFramePr>
        <p:xfrm>
          <a:off x="1732421" y="4504580"/>
          <a:ext cx="504825" cy="657225"/>
        </p:xfrm>
        <a:graphic>
          <a:graphicData uri="http://schemas.openxmlformats.org/presentationml/2006/ole">
            <mc:AlternateContent xmlns:mc="http://schemas.openxmlformats.org/markup-compatibility/2006">
              <mc:Choice xmlns:v="urn:schemas-microsoft-com:vml" Requires="v">
                <p:oleObj spid="_x0000_s177466" r:id="rId11" imgW="228501" imgH="304668" progId="Equation.3">
                  <p:embed/>
                </p:oleObj>
              </mc:Choice>
              <mc:Fallback>
                <p:oleObj r:id="rId11" imgW="228501" imgH="304668"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2421" y="4504580"/>
                        <a:ext cx="504825"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a:extLst>
              <a:ext uri="{FF2B5EF4-FFF2-40B4-BE49-F238E27FC236}">
                <a16:creationId xmlns:a16="http://schemas.microsoft.com/office/drawing/2014/main" id="{B0F6AA5E-6E89-496C-AD9B-534548B5CD46}"/>
              </a:ext>
            </a:extLst>
          </p:cNvPr>
          <p:cNvGraphicFramePr>
            <a:graphicFrameLocks noChangeAspect="1"/>
          </p:cNvGraphicFramePr>
          <p:nvPr>
            <p:extLst>
              <p:ext uri="{D42A27DB-BD31-4B8C-83A1-F6EECF244321}">
                <p14:modId xmlns:p14="http://schemas.microsoft.com/office/powerpoint/2010/main" val="827813691"/>
              </p:ext>
            </p:extLst>
          </p:nvPr>
        </p:nvGraphicFramePr>
        <p:xfrm>
          <a:off x="1734802" y="5235023"/>
          <a:ext cx="428625" cy="571500"/>
        </p:xfrm>
        <a:graphic>
          <a:graphicData uri="http://schemas.openxmlformats.org/presentationml/2006/ole">
            <mc:AlternateContent xmlns:mc="http://schemas.openxmlformats.org/markup-compatibility/2006">
              <mc:Choice xmlns:v="urn:schemas-microsoft-com:vml" Requires="v">
                <p:oleObj spid="_x0000_s177467" r:id="rId12" imgW="228501" imgH="304668" progId="Equation.3">
                  <p:embed/>
                </p:oleObj>
              </mc:Choice>
              <mc:Fallback>
                <p:oleObj r:id="rId12" imgW="228501" imgH="304668"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4802" y="5235023"/>
                        <a:ext cx="428625"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a:extLst>
              <a:ext uri="{FF2B5EF4-FFF2-40B4-BE49-F238E27FC236}">
                <a16:creationId xmlns:a16="http://schemas.microsoft.com/office/drawing/2014/main" id="{CCE072AD-5BD4-4D75-9220-333428781C8A}"/>
              </a:ext>
            </a:extLst>
          </p:cNvPr>
          <p:cNvGraphicFramePr>
            <a:graphicFrameLocks noChangeAspect="1"/>
          </p:cNvGraphicFramePr>
          <p:nvPr>
            <p:extLst>
              <p:ext uri="{D42A27DB-BD31-4B8C-83A1-F6EECF244321}">
                <p14:modId xmlns:p14="http://schemas.microsoft.com/office/powerpoint/2010/main" val="491659943"/>
              </p:ext>
            </p:extLst>
          </p:nvPr>
        </p:nvGraphicFramePr>
        <p:xfrm>
          <a:off x="1734802" y="5901480"/>
          <a:ext cx="485775" cy="619125"/>
        </p:xfrm>
        <a:graphic>
          <a:graphicData uri="http://schemas.openxmlformats.org/presentationml/2006/ole">
            <mc:AlternateContent xmlns:mc="http://schemas.openxmlformats.org/markup-compatibility/2006">
              <mc:Choice xmlns:v="urn:schemas-microsoft-com:vml" Requires="v">
                <p:oleObj spid="_x0000_s177468" r:id="rId13" imgW="228501" imgH="304668" progId="Equation.3">
                  <p:embed/>
                </p:oleObj>
              </mc:Choice>
              <mc:Fallback>
                <p:oleObj r:id="rId13" imgW="228501" imgH="304668"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4802" y="5901480"/>
                        <a:ext cx="485775"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0">
            <a:extLst>
              <a:ext uri="{FF2B5EF4-FFF2-40B4-BE49-F238E27FC236}">
                <a16:creationId xmlns:a16="http://schemas.microsoft.com/office/drawing/2014/main" id="{63C753F9-1118-4CA4-BD00-7BBB074E5CD7}"/>
              </a:ext>
            </a:extLst>
          </p:cNvPr>
          <p:cNvSpPr>
            <a:spLocks noChangeArrowheads="1"/>
          </p:cNvSpPr>
          <p:nvPr/>
        </p:nvSpPr>
        <p:spPr bwMode="auto">
          <a:xfrm>
            <a:off x="379747" y="593832"/>
            <a:ext cx="156936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V</a:t>
            </a:r>
            <a:r>
              <a:rPr kumimoji="0" lang="en-GB" altLang="en-US" sz="36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R0</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1">
            <a:extLst>
              <a:ext uri="{FF2B5EF4-FFF2-40B4-BE49-F238E27FC236}">
                <a16:creationId xmlns:a16="http://schemas.microsoft.com/office/drawing/2014/main" id="{98622930-85DE-4C2F-9933-EF5855033914}"/>
              </a:ext>
            </a:extLst>
          </p:cNvPr>
          <p:cNvSpPr>
            <a:spLocks noChangeArrowheads="1"/>
          </p:cNvSpPr>
          <p:nvPr/>
        </p:nvSpPr>
        <p:spPr bwMode="auto">
          <a:xfrm>
            <a:off x="2021304" y="574702"/>
            <a:ext cx="66414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[1</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600" b="0" i="0" u="none" strike="noStrike" cap="none" normalizeH="0" baseline="0" dirty="0">
                <a:ln>
                  <a:noFill/>
                </a:ln>
                <a:solidFill>
                  <a:srgbClr val="002060"/>
                </a:solidFill>
                <a:effectLst/>
                <a:ea typeface="Times New Roman" panose="02020603050405020304" pitchFamily="18" charset="0"/>
              </a:rPr>
              <a:t>3</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-120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+ 2</a:t>
            </a:r>
            <a:r>
              <a:rPr kumimoji="0" lang="en-GB" altLang="en-US" sz="3600" b="0" i="0" u="none" strike="noStrike" cap="none" normalizeH="0" baseline="0" dirty="0">
                <a:ln>
                  <a:noFill/>
                </a:ln>
                <a:solidFill>
                  <a:srgbClr val="002060"/>
                </a:solidFill>
                <a:effectLst/>
                <a:ea typeface="Times New Roman" panose="02020603050405020304" pitchFamily="18" charset="0"/>
              </a:rPr>
              <a:t>90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endParaRPr kumimoji="0" lang="en-GB" altLang="en-US" sz="1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
        <p:nvSpPr>
          <p:cNvPr id="14" name="Rectangle 12">
            <a:extLst>
              <a:ext uri="{FF2B5EF4-FFF2-40B4-BE49-F238E27FC236}">
                <a16:creationId xmlns:a16="http://schemas.microsoft.com/office/drawing/2014/main" id="{B2A3E1F6-8069-479C-97CD-315BE3F5084B}"/>
              </a:ext>
            </a:extLst>
          </p:cNvPr>
          <p:cNvSpPr>
            <a:spLocks noChangeArrowheads="1"/>
          </p:cNvSpPr>
          <p:nvPr/>
        </p:nvSpPr>
        <p:spPr bwMode="auto">
          <a:xfrm>
            <a:off x="1924555" y="1197191"/>
            <a:ext cx="6930189" cy="652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[1 - </a:t>
            </a:r>
            <a:r>
              <a:rPr kumimoji="0" lang="en-GB" altLang="en-US" sz="3600" b="0" i="0" u="none" strike="noStrike" cap="none" normalizeH="0" baseline="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a:ln>
                  <a:noFill/>
                </a:ln>
                <a:solidFill>
                  <a:srgbClr val="002060"/>
                </a:solidFill>
                <a:effectLst/>
                <a:ea typeface="Times New Roman" panose="02020603050405020304" pitchFamily="18" charset="0"/>
              </a:rPr>
              <a:t>3/2 – j3/2 + j2] = </a:t>
            </a:r>
            <a:endParaRPr kumimoji="0" lang="en-GB" altLang="en-US" sz="3600" b="0" i="0" u="none" strike="noStrike" cap="none" normalizeH="0" baseline="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
        <p:nvSpPr>
          <p:cNvPr id="15" name="Rectangle 13">
            <a:extLst>
              <a:ext uri="{FF2B5EF4-FFF2-40B4-BE49-F238E27FC236}">
                <a16:creationId xmlns:a16="http://schemas.microsoft.com/office/drawing/2014/main" id="{0A8171F8-EB53-4BD8-8189-D2D096BCCB11}"/>
              </a:ext>
            </a:extLst>
          </p:cNvPr>
          <p:cNvSpPr>
            <a:spLocks noChangeArrowheads="1"/>
          </p:cNvSpPr>
          <p:nvPr/>
        </p:nvSpPr>
        <p:spPr bwMode="auto">
          <a:xfrm>
            <a:off x="387265" y="2005423"/>
            <a:ext cx="940869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0.045 + j 0.167 = 0.173</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75.0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V</a:t>
            </a:r>
            <a:endParaRPr kumimoji="0" lang="en-GB" altLang="en-US" sz="1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endParaRPr>
          </a:p>
          <a:p>
            <a:pPr marR="0" lvl="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V</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R1</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a:t>
            </a:r>
          </a:p>
        </p:txBody>
      </p:sp>
      <p:sp>
        <p:nvSpPr>
          <p:cNvPr id="16" name="Rectangle 14">
            <a:extLst>
              <a:ext uri="{FF2B5EF4-FFF2-40B4-BE49-F238E27FC236}">
                <a16:creationId xmlns:a16="http://schemas.microsoft.com/office/drawing/2014/main" id="{1A4020A8-12C9-45C3-B8A5-CCF92F98B0E0}"/>
              </a:ext>
            </a:extLst>
          </p:cNvPr>
          <p:cNvSpPr>
            <a:spLocks noChangeArrowheads="1"/>
          </p:cNvSpPr>
          <p:nvPr/>
        </p:nvSpPr>
        <p:spPr bwMode="auto">
          <a:xfrm>
            <a:off x="1790346" y="2642552"/>
            <a:ext cx="98658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[1</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+1</a:t>
            </a:r>
            <a:r>
              <a:rPr kumimoji="0" lang="en-GB" altLang="en-US" sz="3600" b="0" i="0" u="none" strike="noStrike" cap="none" normalizeH="0" baseline="0" dirty="0">
                <a:ln>
                  <a:noFill/>
                </a:ln>
                <a:solidFill>
                  <a:srgbClr val="002060"/>
                </a:solidFill>
                <a:effectLst/>
                <a:ea typeface="Times New Roman" panose="02020603050405020304" pitchFamily="18" charset="0"/>
              </a:rPr>
              <a:t>120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3</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-120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+1</a:t>
            </a:r>
            <a:r>
              <a:rPr kumimoji="0" lang="en-GB" altLang="en-US" sz="3600" b="0" i="0" u="none" strike="noStrike" cap="none" normalizeH="0" baseline="0" dirty="0">
                <a:ln>
                  <a:noFill/>
                </a:ln>
                <a:solidFill>
                  <a:srgbClr val="002060"/>
                </a:solidFill>
                <a:effectLst/>
                <a:ea typeface="Times New Roman" panose="02020603050405020304" pitchFamily="18" charset="0"/>
              </a:rPr>
              <a:t>240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2</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90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endParaRPr kumimoji="0" lang="en-GB" altLang="en-US" sz="1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
        <p:nvSpPr>
          <p:cNvPr id="17" name="Rectangle 15">
            <a:extLst>
              <a:ext uri="{FF2B5EF4-FFF2-40B4-BE49-F238E27FC236}">
                <a16:creationId xmlns:a16="http://schemas.microsoft.com/office/drawing/2014/main" id="{A7D13AC3-A28F-46DB-B6AF-EA74671EAE10}"/>
              </a:ext>
            </a:extLst>
          </p:cNvPr>
          <p:cNvSpPr>
            <a:spLocks noChangeArrowheads="1"/>
          </p:cNvSpPr>
          <p:nvPr/>
        </p:nvSpPr>
        <p:spPr bwMode="auto">
          <a:xfrm>
            <a:off x="1730042" y="3301219"/>
            <a:ext cx="89514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[1 +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3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3 – j1]</a:t>
            </a:r>
            <a:endParaRPr kumimoji="0" lang="en-GB" altLang="en-US" sz="1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
        <p:nvSpPr>
          <p:cNvPr id="18" name="Rectangle 16">
            <a:extLst>
              <a:ext uri="{FF2B5EF4-FFF2-40B4-BE49-F238E27FC236}">
                <a16:creationId xmlns:a16="http://schemas.microsoft.com/office/drawing/2014/main" id="{6E248779-3990-4383-8682-2E254BD0843C}"/>
              </a:ext>
            </a:extLst>
          </p:cNvPr>
          <p:cNvSpPr>
            <a:spLocks noChangeArrowheads="1"/>
          </p:cNvSpPr>
          <p:nvPr/>
        </p:nvSpPr>
        <p:spPr bwMode="auto">
          <a:xfrm>
            <a:off x="-72190" y="3928398"/>
            <a:ext cx="1126858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[4.464 – j1] = 1.488 – j0.333 = 1.525</a:t>
            </a:r>
            <a:r>
              <a:rPr kumimoji="0" lang="en-GB" altLang="en-US" sz="3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400" b="0" i="0" u="none" strike="noStrike" cap="none" normalizeH="0" baseline="0" dirty="0">
                <a:ln>
                  <a:noFill/>
                </a:ln>
                <a:solidFill>
                  <a:srgbClr val="002060"/>
                </a:solidFill>
                <a:effectLst/>
                <a:ea typeface="Times New Roman" panose="02020603050405020304" pitchFamily="18" charset="0"/>
              </a:rPr>
              <a:t>-12.6</a:t>
            </a:r>
            <a:r>
              <a:rPr kumimoji="0" lang="en-GB" altLang="en-US" sz="34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V</a:t>
            </a:r>
            <a:endParaRPr kumimoji="0" lang="en-GB" altLang="en-US" sz="1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V</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R2</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a:t>
            </a:r>
            <a:endParaRPr kumimoji="0" lang="en-GB" altLang="en-US" sz="34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
        <p:nvSpPr>
          <p:cNvPr id="19" name="Rectangle 17">
            <a:extLst>
              <a:ext uri="{FF2B5EF4-FFF2-40B4-BE49-F238E27FC236}">
                <a16:creationId xmlns:a16="http://schemas.microsoft.com/office/drawing/2014/main" id="{27125EF9-3210-446B-BF10-0B39509AC9B9}"/>
              </a:ext>
            </a:extLst>
          </p:cNvPr>
          <p:cNvSpPr>
            <a:spLocks noChangeArrowheads="1"/>
          </p:cNvSpPr>
          <p:nvPr/>
        </p:nvSpPr>
        <p:spPr bwMode="auto">
          <a:xfrm>
            <a:off x="2235305" y="4522713"/>
            <a:ext cx="873492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[1</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+1</a:t>
            </a:r>
            <a:r>
              <a:rPr kumimoji="0" lang="en-GB" altLang="en-US" sz="3600" b="0" i="0" u="none" strike="noStrike" cap="none" normalizeH="0" baseline="0" dirty="0">
                <a:ln>
                  <a:noFill/>
                </a:ln>
                <a:solidFill>
                  <a:srgbClr val="002060"/>
                </a:solidFill>
                <a:effectLst/>
                <a:ea typeface="Times New Roman" panose="02020603050405020304" pitchFamily="18" charset="0"/>
              </a:rPr>
              <a:t>240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3</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-120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+ 1</a:t>
            </a:r>
            <a:r>
              <a:rPr kumimoji="0" lang="en-GB" altLang="en-US" sz="3600" b="0" i="0" u="none" strike="noStrike" cap="none" normalizeH="0" baseline="0" dirty="0">
                <a:ln>
                  <a:noFill/>
                </a:ln>
                <a:solidFill>
                  <a:srgbClr val="002060"/>
                </a:solidFill>
                <a:effectLst/>
                <a:ea typeface="Times New Roman" panose="02020603050405020304" pitchFamily="18" charset="0"/>
              </a:rPr>
              <a:t>120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2</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90</a:t>
            </a:r>
            <a:r>
              <a:rPr kumimoji="0" lang="en-GB" altLang="en-US" sz="36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endParaRPr kumimoji="0" lang="en-GB" altLang="en-US" sz="1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
        <p:nvSpPr>
          <p:cNvPr id="20" name="Rectangle 18">
            <a:extLst>
              <a:ext uri="{FF2B5EF4-FFF2-40B4-BE49-F238E27FC236}">
                <a16:creationId xmlns:a16="http://schemas.microsoft.com/office/drawing/2014/main" id="{38EDC12D-B062-4994-B78B-B9DBDFA6939E}"/>
              </a:ext>
            </a:extLst>
          </p:cNvPr>
          <p:cNvSpPr>
            <a:spLocks noChangeArrowheads="1"/>
          </p:cNvSpPr>
          <p:nvPr/>
        </p:nvSpPr>
        <p:spPr bwMode="auto">
          <a:xfrm>
            <a:off x="2163427" y="5161805"/>
            <a:ext cx="625867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[1 -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3/2 + j3/2 -</a:t>
            </a:r>
            <a:r>
              <a:rPr kumimoji="0" lang="en-GB" altLang="en-US" sz="36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600" b="0" i="0" u="none" strike="noStrike" cap="none" normalizeH="0" baseline="0" dirty="0">
                <a:ln>
                  <a:noFill/>
                </a:ln>
                <a:solidFill>
                  <a:srgbClr val="002060"/>
                </a:solidFill>
                <a:effectLst/>
                <a:ea typeface="Times New Roman" panose="02020603050405020304" pitchFamily="18" charset="0"/>
              </a:rPr>
              <a:t>3 – j1] </a:t>
            </a:r>
            <a:endParaRPr kumimoji="0" lang="en-GB" altLang="en-US" sz="1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sym typeface="Symbol" panose="05050102010706020507" pitchFamily="18" charset="2"/>
            </a:endParaRPr>
          </a:p>
        </p:txBody>
      </p:sp>
      <p:sp>
        <p:nvSpPr>
          <p:cNvPr id="21" name="Rectangle 19">
            <a:extLst>
              <a:ext uri="{FF2B5EF4-FFF2-40B4-BE49-F238E27FC236}">
                <a16:creationId xmlns:a16="http://schemas.microsoft.com/office/drawing/2014/main" id="{5780FE2D-38D9-4345-86B4-2C16432E3109}"/>
              </a:ext>
            </a:extLst>
          </p:cNvPr>
          <p:cNvSpPr>
            <a:spLocks noChangeArrowheads="1"/>
          </p:cNvSpPr>
          <p:nvPr/>
        </p:nvSpPr>
        <p:spPr bwMode="auto">
          <a:xfrm>
            <a:off x="2068302" y="5885466"/>
            <a:ext cx="94086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[-1.598+j0.5]= -0.533+j0.167= 0.558</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162.6</a:t>
            </a:r>
            <a:r>
              <a:rPr kumimoji="0" lang="en-GB" altLang="en-US" sz="3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V</a:t>
            </a:r>
          </a:p>
        </p:txBody>
      </p:sp>
      <p:sp>
        <p:nvSpPr>
          <p:cNvPr id="22" name="Rectangle 21">
            <a:extLst>
              <a:ext uri="{FF2B5EF4-FFF2-40B4-BE49-F238E27FC236}">
                <a16:creationId xmlns:a16="http://schemas.microsoft.com/office/drawing/2014/main" id="{8F826289-5D7B-4C81-A705-1BC8C0878F3D}"/>
              </a:ext>
            </a:extLst>
          </p:cNvPr>
          <p:cNvSpPr/>
          <p:nvPr/>
        </p:nvSpPr>
        <p:spPr>
          <a:xfrm>
            <a:off x="1303450" y="1292434"/>
            <a:ext cx="425116" cy="584775"/>
          </a:xfrm>
          <a:prstGeom prst="rect">
            <a:avLst/>
          </a:prstGeom>
        </p:spPr>
        <p:txBody>
          <a:bodyPr wrap="none">
            <a:spAutoFit/>
          </a:bodyPr>
          <a:lstStyle/>
          <a:p>
            <a:r>
              <a:rPr lang="en-GB" altLang="en-US" sz="3200" dirty="0">
                <a:solidFill>
                  <a:srgbClr val="002060"/>
                </a:solidFill>
                <a:latin typeface="Arial" panose="020B0604020202020204" pitchFamily="34" charset="0"/>
                <a:ea typeface="Times New Roman" panose="02020603050405020304" pitchFamily="18" charset="0"/>
              </a:rPr>
              <a:t>=</a:t>
            </a:r>
            <a:endParaRPr lang="en-GB" sz="3200" dirty="0"/>
          </a:p>
        </p:txBody>
      </p:sp>
      <p:sp>
        <p:nvSpPr>
          <p:cNvPr id="23" name="Rectangle 22">
            <a:extLst>
              <a:ext uri="{FF2B5EF4-FFF2-40B4-BE49-F238E27FC236}">
                <a16:creationId xmlns:a16="http://schemas.microsoft.com/office/drawing/2014/main" id="{EF5998BD-61A9-4BFB-BBF5-375480F968D8}"/>
              </a:ext>
            </a:extLst>
          </p:cNvPr>
          <p:cNvSpPr/>
          <p:nvPr/>
        </p:nvSpPr>
        <p:spPr>
          <a:xfrm>
            <a:off x="6723294" y="1198706"/>
            <a:ext cx="3140603" cy="584775"/>
          </a:xfrm>
          <a:prstGeom prst="rect">
            <a:avLst/>
          </a:prstGeom>
        </p:spPr>
        <p:txBody>
          <a:bodyPr wrap="none">
            <a:spAutoFit/>
          </a:bodyPr>
          <a:lstStyle/>
          <a:p>
            <a:pPr lvl="0" indent="457200" algn="just" eaLnBrk="0" fontAlgn="base" hangingPunct="0">
              <a:spcBef>
                <a:spcPct val="0"/>
              </a:spcBef>
              <a:spcAft>
                <a:spcPct val="0"/>
              </a:spcAft>
            </a:pPr>
            <a:r>
              <a:rPr lang="en-GB" altLang="en-US" sz="3200" dirty="0">
                <a:solidFill>
                  <a:srgbClr val="002060"/>
                </a:solidFill>
                <a:latin typeface="Arial" panose="020B0604020202020204" pitchFamily="34" charset="0"/>
                <a:ea typeface="Times New Roman" panose="02020603050405020304" pitchFamily="18" charset="0"/>
              </a:rPr>
              <a:t>[0.134 + j 0.5]</a:t>
            </a:r>
            <a:endParaRPr lang="en-GB" altLang="en-US" sz="1100" dirty="0">
              <a:latin typeface="Arial" panose="020B0604020202020204" pitchFamily="34" charset="0"/>
              <a:ea typeface="Times New Roman" panose="02020603050405020304" pitchFamily="18" charset="0"/>
            </a:endParaRPr>
          </a:p>
        </p:txBody>
      </p:sp>
      <p:sp>
        <p:nvSpPr>
          <p:cNvPr id="24" name="Rectangle 23">
            <a:extLst>
              <a:ext uri="{FF2B5EF4-FFF2-40B4-BE49-F238E27FC236}">
                <a16:creationId xmlns:a16="http://schemas.microsoft.com/office/drawing/2014/main" id="{22857E39-CEBC-438E-90F6-F08021EDBBF0}"/>
              </a:ext>
            </a:extLst>
          </p:cNvPr>
          <p:cNvSpPr/>
          <p:nvPr/>
        </p:nvSpPr>
        <p:spPr>
          <a:xfrm>
            <a:off x="1302126" y="3248182"/>
            <a:ext cx="425116" cy="584775"/>
          </a:xfrm>
          <a:prstGeom prst="rect">
            <a:avLst/>
          </a:prstGeom>
        </p:spPr>
        <p:txBody>
          <a:bodyPr wrap="none">
            <a:spAutoFit/>
          </a:bodyPr>
          <a:lstStyle/>
          <a:p>
            <a:r>
              <a:rPr lang="en-GB" altLang="en-US" sz="3200" dirty="0">
                <a:solidFill>
                  <a:srgbClr val="002060"/>
                </a:solidFill>
                <a:latin typeface="Arial" panose="020B0604020202020204" pitchFamily="34" charset="0"/>
                <a:ea typeface="Times New Roman" panose="02020603050405020304" pitchFamily="18" charset="0"/>
              </a:rPr>
              <a:t>=</a:t>
            </a:r>
            <a:endParaRPr lang="en-GB" sz="3200" dirty="0"/>
          </a:p>
        </p:txBody>
      </p:sp>
      <p:sp>
        <p:nvSpPr>
          <p:cNvPr id="25" name="Rectangle 24">
            <a:extLst>
              <a:ext uri="{FF2B5EF4-FFF2-40B4-BE49-F238E27FC236}">
                <a16:creationId xmlns:a16="http://schemas.microsoft.com/office/drawing/2014/main" id="{A9375D96-2A02-4599-886B-97D7344FDAE4}"/>
              </a:ext>
            </a:extLst>
          </p:cNvPr>
          <p:cNvSpPr/>
          <p:nvPr/>
        </p:nvSpPr>
        <p:spPr>
          <a:xfrm>
            <a:off x="1282304" y="3895887"/>
            <a:ext cx="425116" cy="584775"/>
          </a:xfrm>
          <a:prstGeom prst="rect">
            <a:avLst/>
          </a:prstGeom>
        </p:spPr>
        <p:txBody>
          <a:bodyPr wrap="none">
            <a:spAutoFit/>
          </a:bodyPr>
          <a:lstStyle/>
          <a:p>
            <a:r>
              <a:rPr lang="en-GB" altLang="en-US" sz="3200" dirty="0">
                <a:solidFill>
                  <a:srgbClr val="002060"/>
                </a:solidFill>
                <a:latin typeface="Arial" panose="020B0604020202020204" pitchFamily="34" charset="0"/>
                <a:ea typeface="Times New Roman" panose="02020603050405020304" pitchFamily="18" charset="0"/>
              </a:rPr>
              <a:t>=</a:t>
            </a:r>
            <a:endParaRPr lang="en-GB" sz="3200" dirty="0"/>
          </a:p>
        </p:txBody>
      </p:sp>
      <p:sp>
        <p:nvSpPr>
          <p:cNvPr id="26" name="Rectangle 25">
            <a:extLst>
              <a:ext uri="{FF2B5EF4-FFF2-40B4-BE49-F238E27FC236}">
                <a16:creationId xmlns:a16="http://schemas.microsoft.com/office/drawing/2014/main" id="{1C7A8FE8-3C8E-49E2-B7D5-8B3C4A4E0E14}"/>
              </a:ext>
            </a:extLst>
          </p:cNvPr>
          <p:cNvSpPr/>
          <p:nvPr/>
        </p:nvSpPr>
        <p:spPr>
          <a:xfrm>
            <a:off x="1310164" y="5225475"/>
            <a:ext cx="425116" cy="584775"/>
          </a:xfrm>
          <a:prstGeom prst="rect">
            <a:avLst/>
          </a:prstGeom>
        </p:spPr>
        <p:txBody>
          <a:bodyPr wrap="none">
            <a:spAutoFit/>
          </a:bodyPr>
          <a:lstStyle/>
          <a:p>
            <a:r>
              <a:rPr lang="en-GB" altLang="en-US" sz="3200" dirty="0">
                <a:solidFill>
                  <a:srgbClr val="002060"/>
                </a:solidFill>
                <a:latin typeface="Arial" panose="020B0604020202020204" pitchFamily="34" charset="0"/>
                <a:ea typeface="Times New Roman" panose="02020603050405020304" pitchFamily="18" charset="0"/>
              </a:rPr>
              <a:t>=</a:t>
            </a:r>
            <a:endParaRPr lang="en-GB" sz="3200" dirty="0"/>
          </a:p>
        </p:txBody>
      </p:sp>
      <p:sp>
        <p:nvSpPr>
          <p:cNvPr id="27" name="Rectangle 26">
            <a:extLst>
              <a:ext uri="{FF2B5EF4-FFF2-40B4-BE49-F238E27FC236}">
                <a16:creationId xmlns:a16="http://schemas.microsoft.com/office/drawing/2014/main" id="{71736718-9FAA-45C6-AE0C-9DFA5B58ECCD}"/>
              </a:ext>
            </a:extLst>
          </p:cNvPr>
          <p:cNvSpPr/>
          <p:nvPr/>
        </p:nvSpPr>
        <p:spPr>
          <a:xfrm>
            <a:off x="1285250" y="5870077"/>
            <a:ext cx="518091" cy="584775"/>
          </a:xfrm>
          <a:prstGeom prst="rect">
            <a:avLst/>
          </a:prstGeom>
        </p:spPr>
        <p:txBody>
          <a:bodyPr wrap="none">
            <a:spAutoFit/>
          </a:bodyPr>
          <a:lstStyle/>
          <a:p>
            <a:r>
              <a:rPr lang="en-GB" altLang="en-US"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 </a:t>
            </a:r>
            <a:endParaRPr lang="en-GB" sz="3200" dirty="0"/>
          </a:p>
        </p:txBody>
      </p:sp>
    </p:spTree>
    <p:extLst>
      <p:ext uri="{BB962C8B-B14F-4D97-AF65-F5344CB8AC3E}">
        <p14:creationId xmlns:p14="http://schemas.microsoft.com/office/powerpoint/2010/main" val="39039317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a:xfrm>
            <a:off x="429715" y="514228"/>
            <a:ext cx="10924085" cy="482745"/>
          </a:xfrm>
        </p:spPr>
        <p:txBody>
          <a:bodyPr>
            <a:normAutofit fontScale="90000"/>
          </a:bodyPr>
          <a:lstStyle/>
          <a:p>
            <a:r>
              <a:rPr lang="en-GB" dirty="0"/>
              <a:t>Graphical Method  of Solution</a:t>
            </a:r>
          </a:p>
        </p:txBody>
      </p:sp>
      <p:grpSp>
        <p:nvGrpSpPr>
          <p:cNvPr id="5" name="Group 4">
            <a:extLst>
              <a:ext uri="{FF2B5EF4-FFF2-40B4-BE49-F238E27FC236}">
                <a16:creationId xmlns:a16="http://schemas.microsoft.com/office/drawing/2014/main" id="{96F62AD4-B0F7-48DC-9F2E-C97ABBAB02E2}"/>
              </a:ext>
            </a:extLst>
          </p:cNvPr>
          <p:cNvGrpSpPr>
            <a:grpSpLocks noChangeAspect="1"/>
          </p:cNvGrpSpPr>
          <p:nvPr/>
        </p:nvGrpSpPr>
        <p:grpSpPr bwMode="auto">
          <a:xfrm>
            <a:off x="7873585" y="742462"/>
            <a:ext cx="4009015" cy="4572000"/>
            <a:chOff x="8844" y="1674"/>
            <a:chExt cx="6804" cy="7663"/>
          </a:xfrm>
        </p:grpSpPr>
        <p:sp>
          <p:nvSpPr>
            <p:cNvPr id="6" name="Text Box 12">
              <a:extLst>
                <a:ext uri="{FF2B5EF4-FFF2-40B4-BE49-F238E27FC236}">
                  <a16:creationId xmlns:a16="http://schemas.microsoft.com/office/drawing/2014/main" id="{209A1224-1405-4E56-A1F1-F33F2D4E777F}"/>
                </a:ext>
              </a:extLst>
            </p:cNvPr>
            <p:cNvSpPr txBox="1">
              <a:spLocks noChangeArrowheads="1"/>
            </p:cNvSpPr>
            <p:nvPr/>
          </p:nvSpPr>
          <p:spPr bwMode="auto">
            <a:xfrm>
              <a:off x="8844" y="8528"/>
              <a:ext cx="6804" cy="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400" dirty="0">
                  <a:solidFill>
                    <a:srgbClr val="002060"/>
                  </a:solidFill>
                  <a:effectLst/>
                  <a:latin typeface="Times New Roman" panose="02020603050405020304" pitchFamily="18" charset="0"/>
                  <a:ea typeface="Times New Roman" panose="02020603050405020304" pitchFamily="18" charset="0"/>
                </a:rPr>
                <a:t>Figure 19 Unbalanced Phasors</a:t>
              </a:r>
              <a:endParaRPr lang="en-GB" sz="1200" dirty="0">
                <a:effectLst/>
                <a:latin typeface="Times New Roman" panose="02020603050405020304" pitchFamily="18" charset="0"/>
                <a:ea typeface="Times New Roman" panose="02020603050405020304" pitchFamily="18" charset="0"/>
              </a:endParaRPr>
            </a:p>
          </p:txBody>
        </p:sp>
        <p:cxnSp>
          <p:nvCxnSpPr>
            <p:cNvPr id="7" name="Line 13">
              <a:extLst>
                <a:ext uri="{FF2B5EF4-FFF2-40B4-BE49-F238E27FC236}">
                  <a16:creationId xmlns:a16="http://schemas.microsoft.com/office/drawing/2014/main" id="{5AE91679-16B7-4C55-AC03-BCD69198B8FB}"/>
                </a:ext>
              </a:extLst>
            </p:cNvPr>
            <p:cNvCxnSpPr>
              <a:cxnSpLocks noChangeAspect="1" noChangeShapeType="1"/>
            </p:cNvCxnSpPr>
            <p:nvPr/>
          </p:nvCxnSpPr>
          <p:spPr bwMode="auto">
            <a:xfrm>
              <a:off x="11602" y="5550"/>
              <a:ext cx="1922" cy="0"/>
            </a:xfrm>
            <a:prstGeom prst="line">
              <a:avLst/>
            </a:prstGeom>
            <a:noFill/>
            <a:ln w="76200">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8" name="Line 14">
              <a:extLst>
                <a:ext uri="{FF2B5EF4-FFF2-40B4-BE49-F238E27FC236}">
                  <a16:creationId xmlns:a16="http://schemas.microsoft.com/office/drawing/2014/main" id="{782A1B5C-B0A2-4DF2-B107-2C2B94466A53}"/>
                </a:ext>
              </a:extLst>
            </p:cNvPr>
            <p:cNvCxnSpPr>
              <a:cxnSpLocks noChangeAspect="1" noChangeShapeType="1"/>
            </p:cNvCxnSpPr>
            <p:nvPr/>
          </p:nvCxnSpPr>
          <p:spPr bwMode="auto">
            <a:xfrm rot="16200000" flipV="1">
              <a:off x="9678" y="3617"/>
              <a:ext cx="3848" cy="0"/>
            </a:xfrm>
            <a:prstGeom prst="line">
              <a:avLst/>
            </a:prstGeom>
            <a:noFill/>
            <a:ln w="76200">
              <a:solidFill>
                <a:srgbClr val="00B0F0"/>
              </a:solidFill>
              <a:round/>
              <a:headEnd/>
              <a:tailEnd type="arrow" w="med" len="med"/>
            </a:ln>
            <a:extLst>
              <a:ext uri="{909E8E84-426E-40DD-AFC4-6F175D3DCCD1}">
                <a14:hiddenFill xmlns:a14="http://schemas.microsoft.com/office/drawing/2010/main">
                  <a:noFill/>
                </a14:hiddenFill>
              </a:ext>
            </a:extLst>
          </p:spPr>
        </p:cxnSp>
        <p:cxnSp>
          <p:nvCxnSpPr>
            <p:cNvPr id="9" name="Line 15">
              <a:extLst>
                <a:ext uri="{FF2B5EF4-FFF2-40B4-BE49-F238E27FC236}">
                  <a16:creationId xmlns:a16="http://schemas.microsoft.com/office/drawing/2014/main" id="{654AA18D-F55A-42F5-9BD6-B17BF983041F}"/>
                </a:ext>
              </a:extLst>
            </p:cNvPr>
            <p:cNvCxnSpPr>
              <a:cxnSpLocks noChangeAspect="1" noChangeShapeType="1"/>
            </p:cNvCxnSpPr>
            <p:nvPr/>
          </p:nvCxnSpPr>
          <p:spPr bwMode="auto">
            <a:xfrm rot="7200000">
              <a:off x="9165" y="6982"/>
              <a:ext cx="3327" cy="0"/>
            </a:xfrm>
            <a:prstGeom prst="line">
              <a:avLst/>
            </a:prstGeom>
            <a:noFill/>
            <a:ln w="76200">
              <a:solidFill>
                <a:srgbClr val="FFC000"/>
              </a:solidFill>
              <a:round/>
              <a:headEnd/>
              <a:tailEnd type="arrow" w="med" len="med"/>
            </a:ln>
            <a:extLst>
              <a:ext uri="{909E8E84-426E-40DD-AFC4-6F175D3DCCD1}">
                <a14:hiddenFill xmlns:a14="http://schemas.microsoft.com/office/drawing/2010/main">
                  <a:noFill/>
                </a14:hiddenFill>
              </a:ext>
            </a:extLst>
          </p:spPr>
        </p:cxnSp>
        <p:sp>
          <p:nvSpPr>
            <p:cNvPr id="10" name="Text Box 16">
              <a:extLst>
                <a:ext uri="{FF2B5EF4-FFF2-40B4-BE49-F238E27FC236}">
                  <a16:creationId xmlns:a16="http://schemas.microsoft.com/office/drawing/2014/main" id="{519CAAFB-8E20-4AFC-879D-20F04AE03833}"/>
                </a:ext>
              </a:extLst>
            </p:cNvPr>
            <p:cNvSpPr txBox="1">
              <a:spLocks noChangeAspect="1" noChangeArrowheads="1"/>
            </p:cNvSpPr>
            <p:nvPr/>
          </p:nvSpPr>
          <p:spPr bwMode="auto">
            <a:xfrm>
              <a:off x="11910" y="1674"/>
              <a:ext cx="2583" cy="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dirty="0">
                  <a:solidFill>
                    <a:srgbClr val="002060"/>
                  </a:solidFill>
                  <a:effectLst/>
                  <a:latin typeface="Times New Roman" panose="02020603050405020304" pitchFamily="18" charset="0"/>
                  <a:ea typeface="Times New Roman" panose="02020603050405020304" pitchFamily="18" charset="0"/>
                </a:rPr>
                <a:t>V</a:t>
              </a:r>
              <a:r>
                <a:rPr lang="en-GB" sz="3600" baseline="-25000" dirty="0">
                  <a:solidFill>
                    <a:srgbClr val="002060"/>
                  </a:solidFill>
                  <a:effectLst/>
                  <a:latin typeface="Times New Roman" panose="02020603050405020304" pitchFamily="18" charset="0"/>
                  <a:ea typeface="Times New Roman" panose="02020603050405020304" pitchFamily="18" charset="0"/>
                </a:rPr>
                <a:t>C</a:t>
              </a:r>
              <a:r>
                <a:rPr lang="en-GB" sz="3600" dirty="0">
                  <a:solidFill>
                    <a:srgbClr val="002060"/>
                  </a:solidFill>
                  <a:effectLst/>
                  <a:latin typeface="Times New Roman" panose="02020603050405020304" pitchFamily="18" charset="0"/>
                  <a:ea typeface="Times New Roman" panose="02020603050405020304" pitchFamily="18" charset="0"/>
                </a:rPr>
                <a:t>= 2V</a:t>
              </a:r>
              <a:endParaRPr lang="en-GB" sz="1200" dirty="0">
                <a:effectLst/>
                <a:latin typeface="Times New Roman" panose="02020603050405020304" pitchFamily="18" charset="0"/>
                <a:ea typeface="Times New Roman" panose="02020603050405020304" pitchFamily="18" charset="0"/>
              </a:endParaRPr>
            </a:p>
          </p:txBody>
        </p:sp>
        <p:sp>
          <p:nvSpPr>
            <p:cNvPr id="11" name="Text Box 17">
              <a:extLst>
                <a:ext uri="{FF2B5EF4-FFF2-40B4-BE49-F238E27FC236}">
                  <a16:creationId xmlns:a16="http://schemas.microsoft.com/office/drawing/2014/main" id="{00719A4A-5A95-4FD3-BADC-49AED2A20BA1}"/>
                </a:ext>
              </a:extLst>
            </p:cNvPr>
            <p:cNvSpPr txBox="1">
              <a:spLocks noChangeAspect="1" noChangeArrowheads="1"/>
            </p:cNvSpPr>
            <p:nvPr/>
          </p:nvSpPr>
          <p:spPr bwMode="auto">
            <a:xfrm>
              <a:off x="12293" y="4340"/>
              <a:ext cx="2815" cy="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dirty="0">
                  <a:solidFill>
                    <a:srgbClr val="002060"/>
                  </a:solidFill>
                  <a:effectLst/>
                  <a:latin typeface="Times New Roman" panose="02020603050405020304" pitchFamily="18" charset="0"/>
                  <a:ea typeface="Times New Roman" panose="02020603050405020304" pitchFamily="18" charset="0"/>
                </a:rPr>
                <a:t>V</a:t>
              </a:r>
              <a:r>
                <a:rPr lang="en-GB" sz="3600" baseline="-25000" dirty="0">
                  <a:solidFill>
                    <a:srgbClr val="002060"/>
                  </a:solidFill>
                  <a:effectLst/>
                  <a:latin typeface="Times New Roman" panose="02020603050405020304" pitchFamily="18" charset="0"/>
                  <a:ea typeface="Times New Roman" panose="02020603050405020304" pitchFamily="18" charset="0"/>
                </a:rPr>
                <a:t>A</a:t>
              </a:r>
              <a:r>
                <a:rPr lang="en-GB" sz="3600" dirty="0">
                  <a:solidFill>
                    <a:srgbClr val="002060"/>
                  </a:solidFill>
                  <a:effectLst/>
                  <a:latin typeface="Times New Roman" panose="02020603050405020304" pitchFamily="18" charset="0"/>
                  <a:ea typeface="Times New Roman" panose="02020603050405020304" pitchFamily="18" charset="0"/>
                </a:rPr>
                <a:t>= 1V</a:t>
              </a:r>
              <a:endParaRPr lang="en-GB" sz="1200" dirty="0">
                <a:effectLst/>
                <a:latin typeface="Times New Roman" panose="02020603050405020304" pitchFamily="18" charset="0"/>
                <a:ea typeface="Times New Roman" panose="02020603050405020304" pitchFamily="18" charset="0"/>
              </a:endParaRPr>
            </a:p>
          </p:txBody>
        </p:sp>
        <p:sp>
          <p:nvSpPr>
            <p:cNvPr id="12" name="Text Box 18">
              <a:extLst>
                <a:ext uri="{FF2B5EF4-FFF2-40B4-BE49-F238E27FC236}">
                  <a16:creationId xmlns:a16="http://schemas.microsoft.com/office/drawing/2014/main" id="{98FD9678-C79C-4BA9-BD14-62833F1A24DE}"/>
                </a:ext>
              </a:extLst>
            </p:cNvPr>
            <p:cNvSpPr txBox="1">
              <a:spLocks noChangeAspect="1" noChangeArrowheads="1"/>
            </p:cNvSpPr>
            <p:nvPr/>
          </p:nvSpPr>
          <p:spPr bwMode="auto">
            <a:xfrm>
              <a:off x="10619" y="7681"/>
              <a:ext cx="3403" cy="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dirty="0">
                  <a:solidFill>
                    <a:srgbClr val="002060"/>
                  </a:solidFill>
                  <a:effectLst/>
                  <a:latin typeface="Times New Roman" panose="02020603050405020304" pitchFamily="18" charset="0"/>
                  <a:ea typeface="Times New Roman" panose="02020603050405020304" pitchFamily="18" charset="0"/>
                </a:rPr>
                <a:t>V</a:t>
              </a:r>
              <a:r>
                <a:rPr lang="en-GB" sz="3600" baseline="-25000" dirty="0">
                  <a:solidFill>
                    <a:srgbClr val="002060"/>
                  </a:solidFill>
                  <a:effectLst/>
                  <a:latin typeface="Times New Roman" panose="02020603050405020304" pitchFamily="18" charset="0"/>
                  <a:ea typeface="Times New Roman" panose="02020603050405020304" pitchFamily="18" charset="0"/>
                </a:rPr>
                <a:t>B</a:t>
              </a:r>
              <a:r>
                <a:rPr lang="en-GB" sz="3600" dirty="0">
                  <a:solidFill>
                    <a:srgbClr val="002060"/>
                  </a:solidFill>
                  <a:effectLst/>
                  <a:latin typeface="Times New Roman" panose="02020603050405020304" pitchFamily="18" charset="0"/>
                  <a:ea typeface="Times New Roman" panose="02020603050405020304" pitchFamily="18" charset="0"/>
                </a:rPr>
                <a:t>= </a:t>
              </a:r>
              <a:r>
                <a:rPr lang="en-GB" sz="3600" dirty="0">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600" dirty="0">
                  <a:solidFill>
                    <a:srgbClr val="002060"/>
                  </a:solidFill>
                  <a:effectLst/>
                  <a:latin typeface="Times New Roman" panose="02020603050405020304" pitchFamily="18" charset="0"/>
                  <a:ea typeface="Times New Roman" panose="02020603050405020304" pitchFamily="18" charset="0"/>
                </a:rPr>
                <a:t>3V</a:t>
              </a:r>
              <a:endParaRPr lang="en-GB" sz="1200" dirty="0">
                <a:effectLst/>
                <a:latin typeface="Times New Roman" panose="02020603050405020304" pitchFamily="18" charset="0"/>
                <a:ea typeface="Times New Roman" panose="02020603050405020304" pitchFamily="18" charset="0"/>
              </a:endParaRPr>
            </a:p>
          </p:txBody>
        </p:sp>
        <p:cxnSp>
          <p:nvCxnSpPr>
            <p:cNvPr id="13" name="Line 19">
              <a:extLst>
                <a:ext uri="{FF2B5EF4-FFF2-40B4-BE49-F238E27FC236}">
                  <a16:creationId xmlns:a16="http://schemas.microsoft.com/office/drawing/2014/main" id="{F04B3707-5AF0-4BF4-B936-396F668D6CDB}"/>
                </a:ext>
              </a:extLst>
            </p:cNvPr>
            <p:cNvCxnSpPr>
              <a:cxnSpLocks noChangeAspect="1" noChangeShapeType="1"/>
            </p:cNvCxnSpPr>
            <p:nvPr/>
          </p:nvCxnSpPr>
          <p:spPr bwMode="auto">
            <a:xfrm flipH="1">
              <a:off x="9812" y="5541"/>
              <a:ext cx="1775" cy="0"/>
            </a:xfrm>
            <a:prstGeom prst="line">
              <a:avLst/>
            </a:prstGeom>
            <a:noFill/>
            <a:ln w="38100">
              <a:solidFill>
                <a:srgbClr val="002060"/>
              </a:solidFill>
              <a:prstDash val="dash"/>
              <a:round/>
              <a:headEnd/>
              <a:tailEnd/>
            </a:ln>
            <a:extLst>
              <a:ext uri="{909E8E84-426E-40DD-AFC4-6F175D3DCCD1}">
                <a14:hiddenFill xmlns:a14="http://schemas.microsoft.com/office/drawing/2010/main">
                  <a:noFill/>
                </a14:hiddenFill>
              </a:ext>
            </a:extLst>
          </p:spPr>
        </p:cxnSp>
        <p:sp>
          <p:nvSpPr>
            <p:cNvPr id="14" name="Text Box 20">
              <a:extLst>
                <a:ext uri="{FF2B5EF4-FFF2-40B4-BE49-F238E27FC236}">
                  <a16:creationId xmlns:a16="http://schemas.microsoft.com/office/drawing/2014/main" id="{64288E27-EA77-4754-9909-07F076DB5549}"/>
                </a:ext>
              </a:extLst>
            </p:cNvPr>
            <p:cNvSpPr txBox="1">
              <a:spLocks noChangeAspect="1" noChangeArrowheads="1"/>
            </p:cNvSpPr>
            <p:nvPr/>
          </p:nvSpPr>
          <p:spPr bwMode="auto">
            <a:xfrm>
              <a:off x="9973" y="5652"/>
              <a:ext cx="1130" cy="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a:solidFill>
                    <a:srgbClr val="002060"/>
                  </a:solidFill>
                  <a:effectLst/>
                  <a:latin typeface="Times New Roman" panose="02020603050405020304" pitchFamily="18" charset="0"/>
                  <a:ea typeface="Times New Roman" panose="02020603050405020304" pitchFamily="18" charset="0"/>
                </a:rPr>
                <a:t>60</a:t>
              </a:r>
              <a:r>
                <a:rPr lang="en-GB" sz="3600" baseline="30000">
                  <a:solidFill>
                    <a:srgbClr val="002060"/>
                  </a:solidFill>
                  <a:effectLst/>
                  <a:latin typeface="Times New Roman" panose="02020603050405020304" pitchFamily="18" charset="0"/>
                  <a:ea typeface="Times New Roman" panose="02020603050405020304" pitchFamily="18" charset="0"/>
                </a:rPr>
                <a:t>o</a:t>
              </a:r>
              <a:endParaRPr lang="en-GB" sz="1200">
                <a:effectLst/>
                <a:latin typeface="Times New Roman" panose="02020603050405020304" pitchFamily="18" charset="0"/>
                <a:ea typeface="Times New Roman" panose="02020603050405020304" pitchFamily="18" charset="0"/>
              </a:endParaRPr>
            </a:p>
          </p:txBody>
        </p:sp>
      </p:grpSp>
      <p:sp>
        <p:nvSpPr>
          <p:cNvPr id="15" name="Rectangle 14">
            <a:extLst>
              <a:ext uri="{FF2B5EF4-FFF2-40B4-BE49-F238E27FC236}">
                <a16:creationId xmlns:a16="http://schemas.microsoft.com/office/drawing/2014/main" id="{42EF163D-B146-40F5-A619-5071C30E906E}"/>
              </a:ext>
            </a:extLst>
          </p:cNvPr>
          <p:cNvSpPr/>
          <p:nvPr/>
        </p:nvSpPr>
        <p:spPr>
          <a:xfrm>
            <a:off x="423575" y="1168374"/>
            <a:ext cx="7737547" cy="3123932"/>
          </a:xfrm>
          <a:prstGeom prst="rect">
            <a:avLst/>
          </a:prstGeom>
        </p:spPr>
        <p:txBody>
          <a:bodyPr wrap="square">
            <a:spAutoFit/>
          </a:bodyPr>
          <a:lstStyle/>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A graphical solution gives an insight to components very quickly without need of a rigorous analysis.  </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Multiplication by </a:t>
            </a:r>
            <a:r>
              <a:rPr lang="en-GB" sz="3200" dirty="0">
                <a:solidFill>
                  <a:srgbClr val="002060"/>
                </a:solidFill>
                <a:latin typeface="Symbol" panose="05050102010706020507" pitchFamily="18" charset="2"/>
                <a:ea typeface="Times New Roman" panose="02020603050405020304" pitchFamily="18" charset="0"/>
              </a:rPr>
              <a:t>a</a:t>
            </a:r>
            <a:r>
              <a:rPr lang="en-GB" sz="3200" dirty="0">
                <a:solidFill>
                  <a:srgbClr val="002060"/>
                </a:solidFill>
                <a:latin typeface="Times New Roman" panose="02020603050405020304" pitchFamily="18" charset="0"/>
                <a:ea typeface="Times New Roman" panose="02020603050405020304" pitchFamily="18" charset="0"/>
              </a:rPr>
              <a:t> or </a:t>
            </a:r>
            <a:r>
              <a:rPr lang="en-GB" sz="3200" dirty="0">
                <a:solidFill>
                  <a:srgbClr val="002060"/>
                </a:solidFill>
                <a:latin typeface="Symbol" panose="05050102010706020507" pitchFamily="18" charset="2"/>
                <a:ea typeface="Times New Roman" panose="02020603050405020304" pitchFamily="18" charset="0"/>
              </a:rPr>
              <a:t>a</a:t>
            </a:r>
            <a:r>
              <a:rPr lang="en-GB" sz="3200" baseline="30000" dirty="0">
                <a:solidFill>
                  <a:srgbClr val="002060"/>
                </a:solidFill>
                <a:latin typeface="Times New Roman" panose="02020603050405020304" pitchFamily="18" charset="0"/>
                <a:ea typeface="Times New Roman" panose="02020603050405020304" pitchFamily="18" charset="0"/>
              </a:rPr>
              <a:t>2</a:t>
            </a:r>
            <a:r>
              <a:rPr lang="en-GB" sz="3200" dirty="0">
                <a:solidFill>
                  <a:srgbClr val="002060"/>
                </a:solidFill>
                <a:latin typeface="Times New Roman" panose="02020603050405020304" pitchFamily="18" charset="0"/>
                <a:ea typeface="Times New Roman" panose="02020603050405020304" pitchFamily="18" charset="0"/>
              </a:rPr>
              <a:t> would correspond to an anticlockwise rotation of 120</a:t>
            </a:r>
            <a:r>
              <a:rPr lang="en-GB" sz="3200" baseline="30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or 240</a:t>
            </a:r>
            <a:r>
              <a:rPr lang="en-GB" sz="3200" baseline="30000" dirty="0">
                <a:solidFill>
                  <a:srgbClr val="002060"/>
                </a:solidFill>
                <a:latin typeface="Times New Roman" panose="02020603050405020304" pitchFamily="18" charset="0"/>
                <a:ea typeface="Times New Roman" panose="02020603050405020304" pitchFamily="18" charset="0"/>
              </a:rPr>
              <a:t>0</a:t>
            </a:r>
            <a:r>
              <a:rPr lang="en-GB" sz="3200" dirty="0">
                <a:solidFill>
                  <a:srgbClr val="002060"/>
                </a:solidFill>
                <a:latin typeface="Times New Roman" panose="02020603050405020304" pitchFamily="18" charset="0"/>
                <a:ea typeface="Times New Roman" panose="02020603050405020304" pitchFamily="18" charset="0"/>
              </a:rPr>
              <a:t> respectively.</a:t>
            </a:r>
            <a:endParaRPr lang="en-GB" sz="3200" dirty="0">
              <a:latin typeface="Times New Roman" panose="02020603050405020304" pitchFamily="18" charset="0"/>
              <a:ea typeface="Times New Roman" panose="02020603050405020304" pitchFamily="18" charset="0"/>
            </a:endParaRPr>
          </a:p>
        </p:txBody>
      </p:sp>
      <p:sp>
        <p:nvSpPr>
          <p:cNvPr id="16" name="Rectangle 15">
            <a:extLst>
              <a:ext uri="{FF2B5EF4-FFF2-40B4-BE49-F238E27FC236}">
                <a16:creationId xmlns:a16="http://schemas.microsoft.com/office/drawing/2014/main" id="{C28F4C3C-7804-4913-B846-DBBB831211FE}"/>
              </a:ext>
            </a:extLst>
          </p:cNvPr>
          <p:cNvSpPr/>
          <p:nvPr/>
        </p:nvSpPr>
        <p:spPr>
          <a:xfrm>
            <a:off x="417386" y="4415581"/>
            <a:ext cx="9217998" cy="2139047"/>
          </a:xfrm>
          <a:prstGeom prst="rect">
            <a:avLst/>
          </a:prstGeom>
        </p:spPr>
        <p:txBody>
          <a:bodyPr wrap="square">
            <a:spAutoFit/>
          </a:bodyPr>
          <a:lstStyle/>
          <a:p>
            <a:pPr algn="just">
              <a:spcBef>
                <a:spcPts val="1800"/>
              </a:spcBef>
              <a:spcAft>
                <a:spcPts val="600"/>
              </a:spcAft>
            </a:pPr>
            <a:r>
              <a:rPr lang="en-GB" sz="3200" b="1" i="1" dirty="0">
                <a:solidFill>
                  <a:srgbClr val="C00000"/>
                </a:solidFill>
                <a:latin typeface="Times New Roman" panose="02020603050405020304" pitchFamily="18" charset="0"/>
                <a:ea typeface="Times New Roman" panose="02020603050405020304" pitchFamily="18" charset="0"/>
              </a:rPr>
              <a:t>Example 2</a:t>
            </a:r>
            <a:endParaRPr lang="en-GB" sz="3200" dirty="0">
              <a:latin typeface="Times New Roman" panose="02020603050405020304" pitchFamily="18" charset="0"/>
              <a:ea typeface="Times New Roman" panose="02020603050405020304" pitchFamily="18" charset="0"/>
            </a:endParaRPr>
          </a:p>
          <a:p>
            <a:pPr marR="1504950">
              <a:spcAft>
                <a:spcPts val="600"/>
              </a:spcAft>
            </a:pPr>
            <a:r>
              <a:rPr lang="en-GB" sz="3200" dirty="0">
                <a:solidFill>
                  <a:srgbClr val="002060"/>
                </a:solidFill>
                <a:latin typeface="Times New Roman" panose="02020603050405020304" pitchFamily="18" charset="0"/>
                <a:ea typeface="Times New Roman" panose="02020603050405020304" pitchFamily="18" charset="0"/>
              </a:rPr>
              <a:t>For the unbalanced set of phasors shown, verify graphically the sequence components obtained in example 1.</a:t>
            </a:r>
            <a:endParaRPr lang="en-GB" sz="3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499105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pPr algn="l"/>
            <a:r>
              <a:rPr lang="en-GB" dirty="0"/>
              <a:t>Solution</a:t>
            </a:r>
          </a:p>
        </p:txBody>
      </p:sp>
      <p:pic>
        <p:nvPicPr>
          <p:cNvPr id="4" name="Picture 3" descr="A picture containing meter, light&#10;&#10;Description automatically generated">
            <a:extLst>
              <a:ext uri="{FF2B5EF4-FFF2-40B4-BE49-F238E27FC236}">
                <a16:creationId xmlns:a16="http://schemas.microsoft.com/office/drawing/2014/main" id="{737854B8-9788-44C1-83A1-73E3527C65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43588" y="674296"/>
            <a:ext cx="2247619" cy="4466667"/>
          </a:xfrm>
          <a:prstGeom prst="rect">
            <a:avLst/>
          </a:prstGeom>
        </p:spPr>
      </p:pic>
      <p:graphicFrame>
        <p:nvGraphicFramePr>
          <p:cNvPr id="5" name="Object 4">
            <a:extLst>
              <a:ext uri="{FF2B5EF4-FFF2-40B4-BE49-F238E27FC236}">
                <a16:creationId xmlns:a16="http://schemas.microsoft.com/office/drawing/2014/main" id="{6D0A7A4D-83FB-410F-8D9A-47EBF312D290}"/>
              </a:ext>
            </a:extLst>
          </p:cNvPr>
          <p:cNvGraphicFramePr>
            <a:graphicFrameLocks noChangeAspect="1"/>
          </p:cNvGraphicFramePr>
          <p:nvPr>
            <p:extLst>
              <p:ext uri="{D42A27DB-BD31-4B8C-83A1-F6EECF244321}">
                <p14:modId xmlns:p14="http://schemas.microsoft.com/office/powerpoint/2010/main" val="2572212466"/>
              </p:ext>
            </p:extLst>
          </p:nvPr>
        </p:nvGraphicFramePr>
        <p:xfrm>
          <a:off x="2409067" y="582931"/>
          <a:ext cx="4280492" cy="1755434"/>
        </p:xfrm>
        <a:graphic>
          <a:graphicData uri="http://schemas.openxmlformats.org/presentationml/2006/ole">
            <mc:AlternateContent xmlns:mc="http://schemas.openxmlformats.org/markup-compatibility/2006">
              <mc:Choice xmlns:v="urn:schemas-microsoft-com:vml" Requires="v">
                <p:oleObj spid="_x0000_s178268" r:id="rId5" imgW="1752600" imgH="711200" progId="Equation.3">
                  <p:embed/>
                </p:oleObj>
              </mc:Choice>
              <mc:Fallback>
                <p:oleObj r:id="rId5" imgW="1752600" imgH="711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9067" y="582931"/>
                        <a:ext cx="4280492" cy="1755434"/>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5E59AE22-EC70-45B9-8B07-787D676C4ADF}"/>
              </a:ext>
            </a:extLst>
          </p:cNvPr>
          <p:cNvGraphicFramePr>
            <a:graphicFrameLocks noChangeAspect="1"/>
          </p:cNvGraphicFramePr>
          <p:nvPr>
            <p:extLst>
              <p:ext uri="{D42A27DB-BD31-4B8C-83A1-F6EECF244321}">
                <p14:modId xmlns:p14="http://schemas.microsoft.com/office/powerpoint/2010/main" val="486286203"/>
              </p:ext>
            </p:extLst>
          </p:nvPr>
        </p:nvGraphicFramePr>
        <p:xfrm>
          <a:off x="1690213" y="2389331"/>
          <a:ext cx="2815110" cy="848142"/>
        </p:xfrm>
        <a:graphic>
          <a:graphicData uri="http://schemas.openxmlformats.org/presentationml/2006/ole">
            <mc:AlternateContent xmlns:mc="http://schemas.openxmlformats.org/markup-compatibility/2006">
              <mc:Choice xmlns:v="urn:schemas-microsoft-com:vml" Requires="v">
                <p:oleObj spid="_x0000_s178269" r:id="rId7" imgW="1066337" imgH="304668" progId="Equation.3">
                  <p:embed/>
                </p:oleObj>
              </mc:Choice>
              <mc:Fallback>
                <p:oleObj r:id="rId7" imgW="1066337" imgH="304668"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0213" y="2389331"/>
                        <a:ext cx="2815110" cy="848142"/>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8CB290CA-1B76-4FC8-928E-81AD229A00DF}"/>
              </a:ext>
            </a:extLst>
          </p:cNvPr>
          <p:cNvGraphicFramePr>
            <a:graphicFrameLocks noChangeAspect="1"/>
          </p:cNvGraphicFramePr>
          <p:nvPr>
            <p:extLst>
              <p:ext uri="{D42A27DB-BD31-4B8C-83A1-F6EECF244321}">
                <p14:modId xmlns:p14="http://schemas.microsoft.com/office/powerpoint/2010/main" val="2309483900"/>
              </p:ext>
            </p:extLst>
          </p:nvPr>
        </p:nvGraphicFramePr>
        <p:xfrm>
          <a:off x="6922895" y="2389331"/>
          <a:ext cx="2431925" cy="659033"/>
        </p:xfrm>
        <a:graphic>
          <a:graphicData uri="http://schemas.openxmlformats.org/presentationml/2006/ole">
            <mc:AlternateContent xmlns:mc="http://schemas.openxmlformats.org/markup-compatibility/2006">
              <mc:Choice xmlns:v="urn:schemas-microsoft-com:vml" Requires="v">
                <p:oleObj spid="_x0000_s178270" r:id="rId9" imgW="850900" imgH="228600" progId="Equation.3">
                  <p:embed/>
                </p:oleObj>
              </mc:Choice>
              <mc:Fallback>
                <p:oleObj r:id="rId9" imgW="850900" imgH="228600" progId="Equation.3">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22895" y="2389331"/>
                        <a:ext cx="2431925" cy="659033"/>
                      </a:xfrm>
                      <a:prstGeom prst="rect">
                        <a:avLst/>
                      </a:prstGeom>
                      <a:noFill/>
                    </p:spPr>
                  </p:pic>
                </p:oleObj>
              </mc:Fallback>
            </mc:AlternateContent>
          </a:graphicData>
        </a:graphic>
      </p:graphicFrame>
      <p:sp>
        <p:nvSpPr>
          <p:cNvPr id="9" name="Rectangle 5">
            <a:extLst>
              <a:ext uri="{FF2B5EF4-FFF2-40B4-BE49-F238E27FC236}">
                <a16:creationId xmlns:a16="http://schemas.microsoft.com/office/drawing/2014/main" id="{FBB3B38D-8010-4B26-8B3F-D3CA98C8241D}"/>
              </a:ext>
            </a:extLst>
          </p:cNvPr>
          <p:cNvSpPr>
            <a:spLocks noChangeArrowheads="1"/>
          </p:cNvSpPr>
          <p:nvPr/>
        </p:nvSpPr>
        <p:spPr bwMode="auto">
          <a:xfrm>
            <a:off x="-86484" y="2465715"/>
            <a:ext cx="24955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V</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
        <p:nvSpPr>
          <p:cNvPr id="10" name="Rectangle 6">
            <a:extLst>
              <a:ext uri="{FF2B5EF4-FFF2-40B4-BE49-F238E27FC236}">
                <a16:creationId xmlns:a16="http://schemas.microsoft.com/office/drawing/2014/main" id="{76521B02-F259-4CC2-AB93-D8459EE0EDCA}"/>
              </a:ext>
            </a:extLst>
          </p:cNvPr>
          <p:cNvSpPr>
            <a:spLocks noChangeArrowheads="1"/>
          </p:cNvSpPr>
          <p:nvPr/>
        </p:nvSpPr>
        <p:spPr bwMode="auto">
          <a:xfrm>
            <a:off x="4517617" y="2453499"/>
            <a:ext cx="26063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or	3V</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
        <p:nvSpPr>
          <p:cNvPr id="11" name="Rectangle 7">
            <a:extLst>
              <a:ext uri="{FF2B5EF4-FFF2-40B4-BE49-F238E27FC236}">
                <a16:creationId xmlns:a16="http://schemas.microsoft.com/office/drawing/2014/main" id="{523A3BB7-4202-4E59-A798-6D9D35E8FF57}"/>
              </a:ext>
            </a:extLst>
          </p:cNvPr>
          <p:cNvSpPr>
            <a:spLocks noChangeArrowheads="1"/>
          </p:cNvSpPr>
          <p:nvPr/>
        </p:nvSpPr>
        <p:spPr bwMode="auto">
          <a:xfrm>
            <a:off x="236625" y="3108152"/>
            <a:ext cx="924425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More common to determine 3V</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rather than V</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and to obtain one-third the result.  </a:t>
            </a:r>
            <a:endParaRPr kumimoji="0" lang="en-GB" altLang="en-US" sz="2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Visual inspection gives resultant to have a magnitude of about half of V</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(say 0.5) and an angle of slightly greater than that of the V</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B</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(say 75</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0</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This corresponds to 3 V</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endParaRPr kumimoji="0" lang="en-GB" altLang="en-US" sz="2800" b="0" i="0" u="none" strike="noStrike" cap="none" normalizeH="0" baseline="0" dirty="0">
              <a:ln>
                <a:noFill/>
              </a:ln>
              <a:solidFill>
                <a:schemeClr val="tx1"/>
              </a:solidFill>
              <a:effectLst/>
              <a:latin typeface="Arial" panose="020B0604020202020204" pitchFamily="34" charset="0"/>
            </a:endParaRPr>
          </a:p>
        </p:txBody>
      </p:sp>
      <p:sp>
        <p:nvSpPr>
          <p:cNvPr id="12" name="Text Box 16">
            <a:extLst>
              <a:ext uri="{FF2B5EF4-FFF2-40B4-BE49-F238E27FC236}">
                <a16:creationId xmlns:a16="http://schemas.microsoft.com/office/drawing/2014/main" id="{EA90B538-8823-4482-942E-61F96C9D22BA}"/>
              </a:ext>
            </a:extLst>
          </p:cNvPr>
          <p:cNvSpPr txBox="1">
            <a:spLocks noChangeAspect="1" noChangeArrowheads="1"/>
          </p:cNvSpPr>
          <p:nvPr/>
        </p:nvSpPr>
        <p:spPr bwMode="auto">
          <a:xfrm>
            <a:off x="10120626" y="805084"/>
            <a:ext cx="1521941" cy="60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2800" dirty="0">
                <a:solidFill>
                  <a:srgbClr val="0070C0"/>
                </a:solidFill>
                <a:effectLst/>
                <a:latin typeface="Times New Roman" panose="02020603050405020304" pitchFamily="18" charset="0"/>
                <a:ea typeface="Times New Roman" panose="02020603050405020304" pitchFamily="18" charset="0"/>
              </a:rPr>
              <a:t>V</a:t>
            </a:r>
            <a:r>
              <a:rPr lang="en-GB" sz="2800" baseline="-25000" dirty="0">
                <a:solidFill>
                  <a:srgbClr val="0070C0"/>
                </a:solidFill>
                <a:effectLst/>
                <a:latin typeface="Times New Roman" panose="02020603050405020304" pitchFamily="18" charset="0"/>
                <a:ea typeface="Times New Roman" panose="02020603050405020304" pitchFamily="18" charset="0"/>
              </a:rPr>
              <a:t>C</a:t>
            </a:r>
            <a:r>
              <a:rPr lang="en-GB" sz="2800" dirty="0">
                <a:solidFill>
                  <a:srgbClr val="0070C0"/>
                </a:solidFill>
                <a:effectLst/>
                <a:latin typeface="Times New Roman" panose="02020603050405020304" pitchFamily="18" charset="0"/>
                <a:ea typeface="Times New Roman" panose="02020603050405020304" pitchFamily="18" charset="0"/>
              </a:rPr>
              <a:t>= 2V</a:t>
            </a:r>
            <a:endParaRPr lang="en-GB" sz="1050" dirty="0">
              <a:solidFill>
                <a:srgbClr val="0070C0"/>
              </a:solidFill>
              <a:effectLst/>
              <a:latin typeface="Times New Roman" panose="02020603050405020304" pitchFamily="18" charset="0"/>
              <a:ea typeface="Times New Roman" panose="02020603050405020304" pitchFamily="18" charset="0"/>
            </a:endParaRPr>
          </a:p>
        </p:txBody>
      </p:sp>
      <p:sp>
        <p:nvSpPr>
          <p:cNvPr id="13" name="Text Box 17">
            <a:extLst>
              <a:ext uri="{FF2B5EF4-FFF2-40B4-BE49-F238E27FC236}">
                <a16:creationId xmlns:a16="http://schemas.microsoft.com/office/drawing/2014/main" id="{76905521-B669-4B07-8BC8-AD49878A18F6}"/>
              </a:ext>
            </a:extLst>
          </p:cNvPr>
          <p:cNvSpPr txBox="1">
            <a:spLocks noChangeAspect="1" noChangeArrowheads="1"/>
          </p:cNvSpPr>
          <p:nvPr/>
        </p:nvSpPr>
        <p:spPr bwMode="auto">
          <a:xfrm>
            <a:off x="10561758" y="1711747"/>
            <a:ext cx="1658639" cy="60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dirty="0">
                <a:solidFill>
                  <a:srgbClr val="FF0000"/>
                </a:solidFill>
                <a:effectLst/>
                <a:latin typeface="Times New Roman" panose="02020603050405020304" pitchFamily="18" charset="0"/>
                <a:ea typeface="Times New Roman" panose="02020603050405020304" pitchFamily="18" charset="0"/>
              </a:rPr>
              <a:t>V</a:t>
            </a:r>
            <a:r>
              <a:rPr lang="en-GB" sz="3600" baseline="-25000" dirty="0">
                <a:solidFill>
                  <a:srgbClr val="FF0000"/>
                </a:solidFill>
                <a:effectLst/>
                <a:latin typeface="Times New Roman" panose="02020603050405020304" pitchFamily="18" charset="0"/>
                <a:ea typeface="Times New Roman" panose="02020603050405020304" pitchFamily="18" charset="0"/>
              </a:rPr>
              <a:t>A</a:t>
            </a:r>
            <a:r>
              <a:rPr lang="en-GB" sz="3600" dirty="0">
                <a:solidFill>
                  <a:srgbClr val="FF0000"/>
                </a:solidFill>
                <a:effectLst/>
                <a:latin typeface="Times New Roman" panose="02020603050405020304" pitchFamily="18" charset="0"/>
                <a:ea typeface="Times New Roman" panose="02020603050405020304" pitchFamily="18" charset="0"/>
              </a:rPr>
              <a:t>= 1V</a:t>
            </a:r>
            <a:endParaRPr lang="en-GB" sz="1200" dirty="0">
              <a:solidFill>
                <a:srgbClr val="FF0000"/>
              </a:solidFill>
              <a:effectLst/>
              <a:latin typeface="Times New Roman" panose="02020603050405020304" pitchFamily="18" charset="0"/>
              <a:ea typeface="Times New Roman" panose="02020603050405020304" pitchFamily="18" charset="0"/>
            </a:endParaRPr>
          </a:p>
        </p:txBody>
      </p:sp>
      <p:sp>
        <p:nvSpPr>
          <p:cNvPr id="14" name="Text Box 18">
            <a:extLst>
              <a:ext uri="{FF2B5EF4-FFF2-40B4-BE49-F238E27FC236}">
                <a16:creationId xmlns:a16="http://schemas.microsoft.com/office/drawing/2014/main" id="{8CE4F398-E3DB-48B6-9E3A-6529F17C3AC4}"/>
              </a:ext>
            </a:extLst>
          </p:cNvPr>
          <p:cNvSpPr txBox="1">
            <a:spLocks noChangeAspect="1" noChangeArrowheads="1"/>
          </p:cNvSpPr>
          <p:nvPr/>
        </p:nvSpPr>
        <p:spPr bwMode="auto">
          <a:xfrm>
            <a:off x="10235481" y="3930316"/>
            <a:ext cx="1944493" cy="60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18000" tIns="10800" rIns="18000" bIns="10800" anchor="t" anchorCtr="0" upright="1">
            <a:noAutofit/>
          </a:bodyPr>
          <a:lstStyle/>
          <a:p>
            <a:pPr marL="0" marR="0">
              <a:spcBef>
                <a:spcPts val="0"/>
              </a:spcBef>
              <a:spcAft>
                <a:spcPts val="0"/>
              </a:spcAft>
            </a:pPr>
            <a:r>
              <a:rPr lang="en-GB" sz="3600" dirty="0">
                <a:solidFill>
                  <a:srgbClr val="FFC000"/>
                </a:solidFill>
                <a:effectLst/>
                <a:latin typeface="Times New Roman" panose="02020603050405020304" pitchFamily="18" charset="0"/>
                <a:ea typeface="Times New Roman" panose="02020603050405020304" pitchFamily="18" charset="0"/>
              </a:rPr>
              <a:t>V</a:t>
            </a:r>
            <a:r>
              <a:rPr lang="en-GB" sz="3600" baseline="-25000" dirty="0">
                <a:solidFill>
                  <a:srgbClr val="FFC000"/>
                </a:solidFill>
                <a:effectLst/>
                <a:latin typeface="Times New Roman" panose="02020603050405020304" pitchFamily="18" charset="0"/>
                <a:ea typeface="Times New Roman" panose="02020603050405020304" pitchFamily="18" charset="0"/>
              </a:rPr>
              <a:t>B</a:t>
            </a:r>
            <a:r>
              <a:rPr lang="en-GB" sz="3600" dirty="0">
                <a:solidFill>
                  <a:srgbClr val="FFC000"/>
                </a:solidFill>
                <a:effectLst/>
                <a:latin typeface="Times New Roman" panose="02020603050405020304" pitchFamily="18" charset="0"/>
                <a:ea typeface="Times New Roman" panose="02020603050405020304" pitchFamily="18" charset="0"/>
              </a:rPr>
              <a:t>= </a:t>
            </a:r>
            <a:r>
              <a:rPr lang="en-GB" sz="3600" dirty="0">
                <a:solidFill>
                  <a:srgbClr val="FFC000"/>
                </a:solidFill>
                <a:effectLst/>
                <a:latin typeface="Times New Roman" panose="02020603050405020304" pitchFamily="18" charset="0"/>
                <a:ea typeface="Times New Roman" panose="02020603050405020304" pitchFamily="18" charset="0"/>
                <a:sym typeface="Symbol" panose="05050102010706020507" pitchFamily="18" charset="2"/>
              </a:rPr>
              <a:t></a:t>
            </a:r>
            <a:r>
              <a:rPr lang="en-GB" sz="3600" dirty="0">
                <a:solidFill>
                  <a:srgbClr val="FFC000"/>
                </a:solidFill>
                <a:effectLst/>
                <a:latin typeface="Times New Roman" panose="02020603050405020304" pitchFamily="18" charset="0"/>
                <a:ea typeface="Times New Roman" panose="02020603050405020304" pitchFamily="18" charset="0"/>
              </a:rPr>
              <a:t>3V</a:t>
            </a:r>
            <a:endParaRPr lang="en-GB" sz="1200" dirty="0">
              <a:solidFill>
                <a:srgbClr val="FFC000"/>
              </a:solidFill>
              <a:effectLst/>
              <a:latin typeface="Times New Roman" panose="02020603050405020304" pitchFamily="18" charset="0"/>
              <a:ea typeface="Times New Roman" panose="02020603050405020304" pitchFamily="18" charset="0"/>
            </a:endParaRPr>
          </a:p>
        </p:txBody>
      </p:sp>
      <p:sp>
        <p:nvSpPr>
          <p:cNvPr id="3" name="Rectangle 2">
            <a:extLst>
              <a:ext uri="{FF2B5EF4-FFF2-40B4-BE49-F238E27FC236}">
                <a16:creationId xmlns:a16="http://schemas.microsoft.com/office/drawing/2014/main" id="{3CCEF2A5-A33D-4849-8815-5C40DF83C429}"/>
              </a:ext>
            </a:extLst>
          </p:cNvPr>
          <p:cNvSpPr/>
          <p:nvPr/>
        </p:nvSpPr>
        <p:spPr>
          <a:xfrm>
            <a:off x="9013214" y="775434"/>
            <a:ext cx="890565" cy="523220"/>
          </a:xfrm>
          <a:prstGeom prst="rect">
            <a:avLst/>
          </a:prstGeom>
        </p:spPr>
        <p:txBody>
          <a:bodyPr wrap="none">
            <a:spAutoFit/>
          </a:bodyPr>
          <a:lstStyle/>
          <a:p>
            <a:r>
              <a:rPr lang="en-GB" altLang="en-US" sz="28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3V</a:t>
            </a:r>
            <a:r>
              <a:rPr lang="en-GB" altLang="en-US" sz="2800" baseline="-300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A0</a:t>
            </a:r>
            <a:endParaRPr lang="en-GB" sz="28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42572742-5F32-4B4B-BF1A-3521D9C02575}"/>
              </a:ext>
            </a:extLst>
          </p:cNvPr>
          <p:cNvSpPr/>
          <p:nvPr/>
        </p:nvSpPr>
        <p:spPr>
          <a:xfrm>
            <a:off x="204541" y="5267973"/>
            <a:ext cx="9118195" cy="1384995"/>
          </a:xfrm>
          <a:prstGeom prst="rect">
            <a:avLst/>
          </a:prstGeom>
        </p:spPr>
        <p:txBody>
          <a:bodyPr wrap="square">
            <a:spAutoFit/>
          </a:bodyPr>
          <a:lstStyle/>
          <a:p>
            <a:r>
              <a:rPr lang="en-GB" altLang="en-US" sz="2800" dirty="0">
                <a:solidFill>
                  <a:srgbClr val="002060"/>
                </a:solidFill>
                <a:latin typeface="Arial" panose="020B0604020202020204" pitchFamily="34" charset="0"/>
                <a:ea typeface="Times New Roman" panose="02020603050405020304" pitchFamily="18" charset="0"/>
              </a:rPr>
              <a:t>Compare result with that of the analytical method where the value for 3 V</a:t>
            </a:r>
            <a:r>
              <a:rPr lang="en-GB" altLang="en-US" sz="2800" baseline="-30000" dirty="0">
                <a:solidFill>
                  <a:srgbClr val="002060"/>
                </a:solidFill>
                <a:latin typeface="Arial" panose="020B0604020202020204" pitchFamily="34" charset="0"/>
                <a:ea typeface="Times New Roman" panose="02020603050405020304" pitchFamily="18" charset="0"/>
              </a:rPr>
              <a:t>A0</a:t>
            </a:r>
            <a:r>
              <a:rPr lang="en-GB" altLang="en-US" sz="2800" dirty="0">
                <a:solidFill>
                  <a:srgbClr val="002060"/>
                </a:solidFill>
                <a:latin typeface="Arial" panose="020B0604020202020204" pitchFamily="34" charset="0"/>
                <a:ea typeface="Times New Roman" panose="02020603050405020304" pitchFamily="18" charset="0"/>
              </a:rPr>
              <a:t> should be 3</a:t>
            </a:r>
            <a:r>
              <a:rPr lang="en-GB" altLang="en-US" sz="28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altLang="en-US" sz="2800" dirty="0">
                <a:solidFill>
                  <a:srgbClr val="002060"/>
                </a:solidFill>
                <a:ea typeface="Times New Roman" panose="02020603050405020304" pitchFamily="18" charset="0"/>
              </a:rPr>
              <a:t>0.173</a:t>
            </a:r>
            <a:r>
              <a:rPr lang="en-GB" altLang="en-US" sz="28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altLang="en-US" sz="2800" dirty="0">
                <a:solidFill>
                  <a:srgbClr val="002060"/>
                </a:solidFill>
                <a:ea typeface="Times New Roman" panose="02020603050405020304" pitchFamily="18" charset="0"/>
              </a:rPr>
              <a:t>75.0</a:t>
            </a:r>
            <a:r>
              <a:rPr lang="en-GB" altLang="en-US" sz="2800" baseline="300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0</a:t>
            </a:r>
            <a:r>
              <a:rPr lang="en-GB" altLang="en-US" sz="28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 V agreeing with the observation.</a:t>
            </a:r>
            <a:endParaRPr lang="en-GB" sz="2800" dirty="0"/>
          </a:p>
        </p:txBody>
      </p:sp>
    </p:spTree>
    <p:extLst>
      <p:ext uri="{BB962C8B-B14F-4D97-AF65-F5344CB8AC3E}">
        <p14:creationId xmlns:p14="http://schemas.microsoft.com/office/powerpoint/2010/main" val="18388065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3">
            <a:extLst>
              <a:ext uri="{FF2B5EF4-FFF2-40B4-BE49-F238E27FC236}">
                <a16:creationId xmlns:a16="http://schemas.microsoft.com/office/drawing/2014/main" id="{F569CE45-C3E3-4690-B4FD-29D06E8A4896}"/>
              </a:ext>
            </a:extLst>
          </p:cNvPr>
          <p:cNvSpPr>
            <a:spLocks noChangeArrowheads="1"/>
          </p:cNvSpPr>
          <p:nvPr/>
        </p:nvSpPr>
        <p:spPr bwMode="auto">
          <a:xfrm>
            <a:off x="221528" y="732063"/>
            <a:ext cx="1014899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Similarly, V</a:t>
            </a:r>
            <a:r>
              <a:rPr kumimoji="0" lang="en-GB" altLang="en-US" sz="28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A1</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  </a:t>
            </a:r>
          </a:p>
        </p:txBody>
      </p:sp>
      <p:grpSp>
        <p:nvGrpSpPr>
          <p:cNvPr id="5" name="Group 4">
            <a:extLst>
              <a:ext uri="{FF2B5EF4-FFF2-40B4-BE49-F238E27FC236}">
                <a16:creationId xmlns:a16="http://schemas.microsoft.com/office/drawing/2014/main" id="{B596EC7A-C541-43F3-87D7-37E57818A91D}"/>
              </a:ext>
            </a:extLst>
          </p:cNvPr>
          <p:cNvGrpSpPr>
            <a:grpSpLocks noChangeAspect="1"/>
          </p:cNvGrpSpPr>
          <p:nvPr/>
        </p:nvGrpSpPr>
        <p:grpSpPr bwMode="auto">
          <a:xfrm>
            <a:off x="8117298" y="798006"/>
            <a:ext cx="3827474" cy="4171003"/>
            <a:chOff x="5776" y="1252"/>
            <a:chExt cx="4708" cy="3648"/>
          </a:xfrm>
        </p:grpSpPr>
        <p:cxnSp>
          <p:nvCxnSpPr>
            <p:cNvPr id="6" name="Line 32">
              <a:extLst>
                <a:ext uri="{FF2B5EF4-FFF2-40B4-BE49-F238E27FC236}">
                  <a16:creationId xmlns:a16="http://schemas.microsoft.com/office/drawing/2014/main" id="{4E13A906-CFC1-49D2-A9F0-1B677B8C0D4F}"/>
                </a:ext>
              </a:extLst>
            </p:cNvPr>
            <p:cNvCxnSpPr>
              <a:cxnSpLocks noChangeAspect="1" noChangeShapeType="1"/>
            </p:cNvCxnSpPr>
            <p:nvPr/>
          </p:nvCxnSpPr>
          <p:spPr bwMode="auto">
            <a:xfrm>
              <a:off x="5776" y="3264"/>
              <a:ext cx="1020" cy="0"/>
            </a:xfrm>
            <a:prstGeom prst="line">
              <a:avLst/>
            </a:prstGeom>
            <a:noFill/>
            <a:ln w="57150">
              <a:solidFill>
                <a:srgbClr val="FF0000"/>
              </a:solidFill>
              <a:round/>
              <a:headEnd/>
              <a:tailEnd type="arrow" w="sm" len="med"/>
            </a:ln>
            <a:extLst>
              <a:ext uri="{909E8E84-426E-40DD-AFC4-6F175D3DCCD1}">
                <a14:hiddenFill xmlns:a14="http://schemas.microsoft.com/office/drawing/2010/main">
                  <a:noFill/>
                </a14:hiddenFill>
              </a:ext>
            </a:extLst>
          </p:spPr>
        </p:cxnSp>
        <p:cxnSp>
          <p:nvCxnSpPr>
            <p:cNvPr id="7" name="Line 33">
              <a:extLst>
                <a:ext uri="{FF2B5EF4-FFF2-40B4-BE49-F238E27FC236}">
                  <a16:creationId xmlns:a16="http://schemas.microsoft.com/office/drawing/2014/main" id="{62EF2F28-0164-4190-A03F-1A006E42D21E}"/>
                </a:ext>
              </a:extLst>
            </p:cNvPr>
            <p:cNvCxnSpPr>
              <a:cxnSpLocks noChangeAspect="1" noChangeShapeType="1"/>
            </p:cNvCxnSpPr>
            <p:nvPr/>
          </p:nvCxnSpPr>
          <p:spPr bwMode="auto">
            <a:xfrm rot="16200000" flipV="1">
              <a:off x="7556" y="2273"/>
              <a:ext cx="2042" cy="0"/>
            </a:xfrm>
            <a:prstGeom prst="line">
              <a:avLst/>
            </a:prstGeom>
            <a:noFill/>
            <a:ln w="57150">
              <a:solidFill>
                <a:srgbClr val="0000FF"/>
              </a:solidFill>
              <a:prstDash val="dash"/>
              <a:round/>
              <a:headEnd/>
              <a:tailEnd type="none" w="sm" len="med"/>
            </a:ln>
            <a:extLst>
              <a:ext uri="{909E8E84-426E-40DD-AFC4-6F175D3DCCD1}">
                <a14:hiddenFill xmlns:a14="http://schemas.microsoft.com/office/drawing/2010/main">
                  <a:noFill/>
                </a14:hiddenFill>
              </a:ext>
            </a:extLst>
          </p:spPr>
        </p:cxnSp>
        <p:cxnSp>
          <p:nvCxnSpPr>
            <p:cNvPr id="8" name="Line 34">
              <a:extLst>
                <a:ext uri="{FF2B5EF4-FFF2-40B4-BE49-F238E27FC236}">
                  <a16:creationId xmlns:a16="http://schemas.microsoft.com/office/drawing/2014/main" id="{A44E48D4-D46B-4241-8A27-CF143CA50C63}"/>
                </a:ext>
              </a:extLst>
            </p:cNvPr>
            <p:cNvCxnSpPr>
              <a:cxnSpLocks noChangeAspect="1" noChangeShapeType="1"/>
            </p:cNvCxnSpPr>
            <p:nvPr/>
          </p:nvCxnSpPr>
          <p:spPr bwMode="auto">
            <a:xfrm rot="7200000">
              <a:off x="5228" y="4017"/>
              <a:ext cx="1766" cy="0"/>
            </a:xfrm>
            <a:prstGeom prst="line">
              <a:avLst/>
            </a:prstGeom>
            <a:noFill/>
            <a:ln w="57150">
              <a:solidFill>
                <a:srgbClr val="E6AF00"/>
              </a:solidFill>
              <a:prstDash val="dash"/>
              <a:round/>
              <a:headEnd/>
              <a:tailEnd type="none" w="sm" len="med"/>
            </a:ln>
            <a:extLst>
              <a:ext uri="{909E8E84-426E-40DD-AFC4-6F175D3DCCD1}">
                <a14:hiddenFill xmlns:a14="http://schemas.microsoft.com/office/drawing/2010/main">
                  <a:noFill/>
                </a14:hiddenFill>
              </a:ext>
            </a:extLst>
          </p:spPr>
        </p:cxnSp>
        <p:sp>
          <p:nvSpPr>
            <p:cNvPr id="9" name="Text Box 35">
              <a:extLst>
                <a:ext uri="{FF2B5EF4-FFF2-40B4-BE49-F238E27FC236}">
                  <a16:creationId xmlns:a16="http://schemas.microsoft.com/office/drawing/2014/main" id="{DEE82622-24C1-4257-82F3-69D0D00E61AB}"/>
                </a:ext>
              </a:extLst>
            </p:cNvPr>
            <p:cNvSpPr txBox="1">
              <a:spLocks noChangeAspect="1" noChangeArrowheads="1"/>
            </p:cNvSpPr>
            <p:nvPr/>
          </p:nvSpPr>
          <p:spPr bwMode="auto">
            <a:xfrm>
              <a:off x="7272" y="4320"/>
              <a:ext cx="2372" cy="5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spcBef>
                  <a:spcPts val="0"/>
                </a:spcBef>
                <a:spcAft>
                  <a:spcPts val="0"/>
                </a:spcAft>
              </a:pPr>
              <a:r>
                <a:rPr lang="en-GB" sz="3000" dirty="0">
                  <a:solidFill>
                    <a:srgbClr val="002060"/>
                  </a:solidFill>
                  <a:effectLst/>
                  <a:latin typeface="Times New Roman" panose="02020603050405020304" pitchFamily="18" charset="0"/>
                  <a:ea typeface="Times New Roman" panose="02020603050405020304" pitchFamily="18" charset="0"/>
                </a:rPr>
                <a:t>Figure 21 </a:t>
              </a:r>
              <a:endParaRPr lang="en-GB" sz="1200" dirty="0">
                <a:effectLst/>
                <a:latin typeface="Times New Roman" panose="02020603050405020304" pitchFamily="18" charset="0"/>
                <a:ea typeface="Times New Roman" panose="02020603050405020304" pitchFamily="18" charset="0"/>
              </a:endParaRPr>
            </a:p>
          </p:txBody>
        </p:sp>
        <p:cxnSp>
          <p:nvCxnSpPr>
            <p:cNvPr id="10" name="Line 36">
              <a:extLst>
                <a:ext uri="{FF2B5EF4-FFF2-40B4-BE49-F238E27FC236}">
                  <a16:creationId xmlns:a16="http://schemas.microsoft.com/office/drawing/2014/main" id="{EB826A75-9FBC-4D94-9546-DA63600CE1F0}"/>
                </a:ext>
              </a:extLst>
            </p:cNvPr>
            <p:cNvCxnSpPr>
              <a:cxnSpLocks noChangeAspect="1" noChangeShapeType="1"/>
            </p:cNvCxnSpPr>
            <p:nvPr/>
          </p:nvCxnSpPr>
          <p:spPr bwMode="auto">
            <a:xfrm>
              <a:off x="6820" y="3264"/>
              <a:ext cx="1766" cy="0"/>
            </a:xfrm>
            <a:prstGeom prst="line">
              <a:avLst/>
            </a:prstGeom>
            <a:noFill/>
            <a:ln w="57150">
              <a:solidFill>
                <a:srgbClr val="FF9900"/>
              </a:solidFill>
              <a:round/>
              <a:headEnd/>
              <a:tailEnd type="arrow" w="sm" len="med"/>
            </a:ln>
            <a:extLst>
              <a:ext uri="{909E8E84-426E-40DD-AFC4-6F175D3DCCD1}">
                <a14:hiddenFill xmlns:a14="http://schemas.microsoft.com/office/drawing/2010/main">
                  <a:noFill/>
                </a14:hiddenFill>
              </a:ext>
            </a:extLst>
          </p:spPr>
        </p:cxnSp>
        <p:cxnSp>
          <p:nvCxnSpPr>
            <p:cNvPr id="11" name="Line 37">
              <a:extLst>
                <a:ext uri="{FF2B5EF4-FFF2-40B4-BE49-F238E27FC236}">
                  <a16:creationId xmlns:a16="http://schemas.microsoft.com/office/drawing/2014/main" id="{EAF60626-73D7-4C5E-BC07-5B38CCB6D7EB}"/>
                </a:ext>
              </a:extLst>
            </p:cNvPr>
            <p:cNvCxnSpPr>
              <a:cxnSpLocks noChangeAspect="1" noChangeShapeType="1"/>
            </p:cNvCxnSpPr>
            <p:nvPr/>
          </p:nvCxnSpPr>
          <p:spPr bwMode="auto">
            <a:xfrm rot="1800000" flipV="1">
              <a:off x="8442" y="3641"/>
              <a:ext cx="2042" cy="0"/>
            </a:xfrm>
            <a:prstGeom prst="line">
              <a:avLst/>
            </a:prstGeom>
            <a:noFill/>
            <a:ln w="57150">
              <a:solidFill>
                <a:srgbClr val="0000FF"/>
              </a:solidFill>
              <a:round/>
              <a:headEnd/>
              <a:tailEnd type="arrow" w="sm" len="med"/>
            </a:ln>
            <a:extLst>
              <a:ext uri="{909E8E84-426E-40DD-AFC4-6F175D3DCCD1}">
                <a14:hiddenFill xmlns:a14="http://schemas.microsoft.com/office/drawing/2010/main">
                  <a:noFill/>
                </a14:hiddenFill>
              </a:ext>
            </a:extLst>
          </p:spPr>
        </p:cxnSp>
        <p:sp>
          <p:nvSpPr>
            <p:cNvPr id="12" name="Arc 38">
              <a:extLst>
                <a:ext uri="{FF2B5EF4-FFF2-40B4-BE49-F238E27FC236}">
                  <a16:creationId xmlns:a16="http://schemas.microsoft.com/office/drawing/2014/main" id="{CD2C889E-DC56-4777-A512-1EEAE806DE00}"/>
                </a:ext>
              </a:extLst>
            </p:cNvPr>
            <p:cNvSpPr>
              <a:spLocks noChangeAspect="1"/>
            </p:cNvSpPr>
            <p:nvPr/>
          </p:nvSpPr>
          <p:spPr bwMode="auto">
            <a:xfrm flipV="1">
              <a:off x="6466" y="3270"/>
              <a:ext cx="499" cy="433"/>
            </a:xfrm>
            <a:custGeom>
              <a:avLst/>
              <a:gdLst>
                <a:gd name="G0" fmla="+- 5440 0 0"/>
                <a:gd name="G1" fmla="+- 21600 0 0"/>
                <a:gd name="G2" fmla="+- 21600 0 0"/>
                <a:gd name="T0" fmla="*/ 0 w 27040"/>
                <a:gd name="T1" fmla="*/ 696 h 21600"/>
                <a:gd name="T2" fmla="*/ 27040 w 27040"/>
                <a:gd name="T3" fmla="*/ 21600 h 21600"/>
                <a:gd name="T4" fmla="*/ 5440 w 27040"/>
                <a:gd name="T5" fmla="*/ 21600 h 21600"/>
              </a:gdLst>
              <a:ahLst/>
              <a:cxnLst>
                <a:cxn ang="0">
                  <a:pos x="T0" y="T1"/>
                </a:cxn>
                <a:cxn ang="0">
                  <a:pos x="T2" y="T3"/>
                </a:cxn>
                <a:cxn ang="0">
                  <a:pos x="T4" y="T5"/>
                </a:cxn>
              </a:cxnLst>
              <a:rect l="0" t="0" r="r" b="b"/>
              <a:pathLst>
                <a:path w="27040" h="21600" fill="none" extrusionOk="0">
                  <a:moveTo>
                    <a:pt x="0" y="696"/>
                  </a:moveTo>
                  <a:cubicBezTo>
                    <a:pt x="1776" y="233"/>
                    <a:pt x="3604" y="0"/>
                    <a:pt x="5440" y="0"/>
                  </a:cubicBezTo>
                  <a:cubicBezTo>
                    <a:pt x="17369" y="0"/>
                    <a:pt x="27040" y="9670"/>
                    <a:pt x="27040" y="21600"/>
                  </a:cubicBezTo>
                </a:path>
                <a:path w="27040" h="21600" stroke="0" extrusionOk="0">
                  <a:moveTo>
                    <a:pt x="0" y="696"/>
                  </a:moveTo>
                  <a:cubicBezTo>
                    <a:pt x="1776" y="233"/>
                    <a:pt x="3604" y="0"/>
                    <a:pt x="5440" y="0"/>
                  </a:cubicBezTo>
                  <a:cubicBezTo>
                    <a:pt x="17369" y="0"/>
                    <a:pt x="27040" y="9670"/>
                    <a:pt x="27040" y="21600"/>
                  </a:cubicBezTo>
                  <a:lnTo>
                    <a:pt x="5440" y="21600"/>
                  </a:lnTo>
                  <a:close/>
                </a:path>
              </a:pathLst>
            </a:custGeom>
            <a:noFill/>
            <a:ln w="57150">
              <a:solidFill>
                <a:srgbClr val="002060"/>
              </a:solidFill>
              <a:round/>
              <a:headEnd/>
              <a:tailEnd type="arrow" w="med"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3" name="Text Box 39">
              <a:extLst>
                <a:ext uri="{FF2B5EF4-FFF2-40B4-BE49-F238E27FC236}">
                  <a16:creationId xmlns:a16="http://schemas.microsoft.com/office/drawing/2014/main" id="{70D0C5C2-B732-4BB6-BDA5-B27FDF4FFA72}"/>
                </a:ext>
              </a:extLst>
            </p:cNvPr>
            <p:cNvSpPr txBox="1">
              <a:spLocks noChangeAspect="1" noChangeArrowheads="1"/>
            </p:cNvSpPr>
            <p:nvPr/>
          </p:nvSpPr>
          <p:spPr bwMode="auto">
            <a:xfrm>
              <a:off x="6645" y="3685"/>
              <a:ext cx="898" cy="5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spcBef>
                  <a:spcPts val="0"/>
                </a:spcBef>
                <a:spcAft>
                  <a:spcPts val="0"/>
                </a:spcAft>
              </a:pPr>
              <a:r>
                <a:rPr lang="en-GB" sz="2800" dirty="0">
                  <a:solidFill>
                    <a:srgbClr val="002060"/>
                  </a:solidFill>
                  <a:effectLst/>
                  <a:latin typeface="Times New Roman" panose="02020603050405020304" pitchFamily="18" charset="0"/>
                  <a:ea typeface="Times New Roman" panose="02020603050405020304" pitchFamily="18" charset="0"/>
                </a:rPr>
                <a:t>120</a:t>
              </a:r>
              <a:r>
                <a:rPr lang="en-GB" sz="2800" baseline="30000" dirty="0">
                  <a:solidFill>
                    <a:srgbClr val="002060"/>
                  </a:solidFill>
                  <a:effectLst/>
                  <a:latin typeface="Times New Roman" panose="02020603050405020304" pitchFamily="18" charset="0"/>
                  <a:ea typeface="Times New Roman" panose="02020603050405020304" pitchFamily="18" charset="0"/>
                </a:rPr>
                <a:t>0</a:t>
              </a:r>
              <a:endParaRPr lang="en-GB" sz="1200" dirty="0">
                <a:effectLst/>
                <a:latin typeface="Times New Roman" panose="02020603050405020304" pitchFamily="18" charset="0"/>
                <a:ea typeface="Times New Roman" panose="02020603050405020304" pitchFamily="18" charset="0"/>
              </a:endParaRPr>
            </a:p>
          </p:txBody>
        </p:sp>
        <p:sp>
          <p:nvSpPr>
            <p:cNvPr id="14" name="Arc 40">
              <a:extLst>
                <a:ext uri="{FF2B5EF4-FFF2-40B4-BE49-F238E27FC236}">
                  <a16:creationId xmlns:a16="http://schemas.microsoft.com/office/drawing/2014/main" id="{2AA98E7D-B843-4D3E-8675-977EA6D975D2}"/>
                </a:ext>
              </a:extLst>
            </p:cNvPr>
            <p:cNvSpPr>
              <a:spLocks noChangeAspect="1"/>
            </p:cNvSpPr>
            <p:nvPr/>
          </p:nvSpPr>
          <p:spPr bwMode="auto">
            <a:xfrm flipH="1">
              <a:off x="8185" y="2887"/>
              <a:ext cx="730" cy="759"/>
            </a:xfrm>
            <a:custGeom>
              <a:avLst/>
              <a:gdLst>
                <a:gd name="G0" fmla="+- 17947 0 0"/>
                <a:gd name="G1" fmla="+- 21600 0 0"/>
                <a:gd name="G2" fmla="+- 21600 0 0"/>
                <a:gd name="T0" fmla="*/ 17947 w 39547"/>
                <a:gd name="T1" fmla="*/ 0 h 43200"/>
                <a:gd name="T2" fmla="*/ 0 w 39547"/>
                <a:gd name="T3" fmla="*/ 33619 h 43200"/>
                <a:gd name="T4" fmla="*/ 17947 w 39547"/>
                <a:gd name="T5" fmla="*/ 21600 h 43200"/>
              </a:gdLst>
              <a:ahLst/>
              <a:cxnLst>
                <a:cxn ang="0">
                  <a:pos x="T0" y="T1"/>
                </a:cxn>
                <a:cxn ang="0">
                  <a:pos x="T2" y="T3"/>
                </a:cxn>
                <a:cxn ang="0">
                  <a:pos x="T4" y="T5"/>
                </a:cxn>
              </a:cxnLst>
              <a:rect l="0" t="0" r="r" b="b"/>
              <a:pathLst>
                <a:path w="39547" h="43200" fill="none" extrusionOk="0">
                  <a:moveTo>
                    <a:pt x="17946" y="0"/>
                  </a:moveTo>
                  <a:cubicBezTo>
                    <a:pt x="29876" y="0"/>
                    <a:pt x="39547" y="9670"/>
                    <a:pt x="39547" y="21600"/>
                  </a:cubicBezTo>
                  <a:cubicBezTo>
                    <a:pt x="39547" y="33529"/>
                    <a:pt x="29876" y="43200"/>
                    <a:pt x="17947" y="43200"/>
                  </a:cubicBezTo>
                  <a:cubicBezTo>
                    <a:pt x="10740" y="43200"/>
                    <a:pt x="4009" y="39606"/>
                    <a:pt x="-1" y="33619"/>
                  </a:cubicBezTo>
                </a:path>
                <a:path w="39547" h="43200" stroke="0" extrusionOk="0">
                  <a:moveTo>
                    <a:pt x="17946" y="0"/>
                  </a:moveTo>
                  <a:cubicBezTo>
                    <a:pt x="29876" y="0"/>
                    <a:pt x="39547" y="9670"/>
                    <a:pt x="39547" y="21600"/>
                  </a:cubicBezTo>
                  <a:cubicBezTo>
                    <a:pt x="39547" y="33529"/>
                    <a:pt x="29876" y="43200"/>
                    <a:pt x="17947" y="43200"/>
                  </a:cubicBezTo>
                  <a:cubicBezTo>
                    <a:pt x="10740" y="43200"/>
                    <a:pt x="4009" y="39606"/>
                    <a:pt x="-1" y="33619"/>
                  </a:cubicBezTo>
                  <a:lnTo>
                    <a:pt x="17947" y="21600"/>
                  </a:lnTo>
                  <a:close/>
                </a:path>
              </a:pathLst>
            </a:custGeom>
            <a:noFill/>
            <a:ln w="57150">
              <a:solidFill>
                <a:srgbClr val="002060"/>
              </a:solidFill>
              <a:round/>
              <a:headEnd/>
              <a:tailEnd type="arrow" w="med"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5" name="Text Box 41">
              <a:extLst>
                <a:ext uri="{FF2B5EF4-FFF2-40B4-BE49-F238E27FC236}">
                  <a16:creationId xmlns:a16="http://schemas.microsoft.com/office/drawing/2014/main" id="{53273F51-4312-43F1-9E46-1897B06BEDD8}"/>
                </a:ext>
              </a:extLst>
            </p:cNvPr>
            <p:cNvSpPr txBox="1">
              <a:spLocks noChangeAspect="1" noChangeArrowheads="1"/>
            </p:cNvSpPr>
            <p:nvPr/>
          </p:nvSpPr>
          <p:spPr bwMode="auto">
            <a:xfrm>
              <a:off x="7383" y="3266"/>
              <a:ext cx="987" cy="60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spcBef>
                  <a:spcPts val="0"/>
                </a:spcBef>
                <a:spcAft>
                  <a:spcPts val="0"/>
                </a:spcAft>
              </a:pPr>
              <a:r>
                <a:rPr lang="en-GB" sz="2800" dirty="0">
                  <a:solidFill>
                    <a:srgbClr val="002060"/>
                  </a:solidFill>
                  <a:effectLst/>
                  <a:latin typeface="Times New Roman" panose="02020603050405020304" pitchFamily="18" charset="0"/>
                  <a:ea typeface="Times New Roman" panose="02020603050405020304" pitchFamily="18" charset="0"/>
                </a:rPr>
                <a:t>240</a:t>
              </a:r>
              <a:r>
                <a:rPr lang="en-GB" sz="2800" baseline="30000" dirty="0">
                  <a:solidFill>
                    <a:srgbClr val="002060"/>
                  </a:solidFill>
                  <a:effectLst/>
                  <a:latin typeface="Times New Roman" panose="02020603050405020304" pitchFamily="18" charset="0"/>
                  <a:ea typeface="Times New Roman" panose="02020603050405020304" pitchFamily="18" charset="0"/>
                </a:rPr>
                <a:t>0</a:t>
              </a:r>
              <a:endParaRPr lang="en-GB" sz="1200" dirty="0">
                <a:effectLst/>
                <a:latin typeface="Times New Roman" panose="02020603050405020304" pitchFamily="18" charset="0"/>
                <a:ea typeface="Times New Roman" panose="02020603050405020304" pitchFamily="18" charset="0"/>
              </a:endParaRPr>
            </a:p>
          </p:txBody>
        </p:sp>
        <p:cxnSp>
          <p:nvCxnSpPr>
            <p:cNvPr id="16" name="Line 42">
              <a:extLst>
                <a:ext uri="{FF2B5EF4-FFF2-40B4-BE49-F238E27FC236}">
                  <a16:creationId xmlns:a16="http://schemas.microsoft.com/office/drawing/2014/main" id="{BD4AA15F-956A-4AAF-93AE-4DA430A045C9}"/>
                </a:ext>
              </a:extLst>
            </p:cNvPr>
            <p:cNvCxnSpPr>
              <a:cxnSpLocks noChangeShapeType="1"/>
            </p:cNvCxnSpPr>
            <p:nvPr/>
          </p:nvCxnSpPr>
          <p:spPr bwMode="auto">
            <a:xfrm>
              <a:off x="5790" y="3281"/>
              <a:ext cx="4557" cy="764"/>
            </a:xfrm>
            <a:prstGeom prst="line">
              <a:avLst/>
            </a:prstGeom>
            <a:noFill/>
            <a:ln w="57150">
              <a:solidFill>
                <a:srgbClr val="002060"/>
              </a:solidFill>
              <a:round/>
              <a:headEnd/>
              <a:tailEnd/>
            </a:ln>
            <a:extLst>
              <a:ext uri="{909E8E84-426E-40DD-AFC4-6F175D3DCCD1}">
                <a14:hiddenFill xmlns:a14="http://schemas.microsoft.com/office/drawing/2010/main">
                  <a:noFill/>
                </a14:hiddenFill>
              </a:ext>
            </a:extLst>
          </p:spPr>
        </p:cxnSp>
      </p:grpSp>
      <p:graphicFrame>
        <p:nvGraphicFramePr>
          <p:cNvPr id="19" name="Object 18">
            <a:extLst>
              <a:ext uri="{FF2B5EF4-FFF2-40B4-BE49-F238E27FC236}">
                <a16:creationId xmlns:a16="http://schemas.microsoft.com/office/drawing/2014/main" id="{29729EA2-0832-4133-A0A1-A2A2D0D10995}"/>
              </a:ext>
            </a:extLst>
          </p:cNvPr>
          <p:cNvGraphicFramePr>
            <a:graphicFrameLocks noChangeAspect="1"/>
          </p:cNvGraphicFramePr>
          <p:nvPr>
            <p:extLst>
              <p:ext uri="{D42A27DB-BD31-4B8C-83A1-F6EECF244321}">
                <p14:modId xmlns:p14="http://schemas.microsoft.com/office/powerpoint/2010/main" val="3608252796"/>
              </p:ext>
            </p:extLst>
          </p:nvPr>
        </p:nvGraphicFramePr>
        <p:xfrm>
          <a:off x="2701802" y="586507"/>
          <a:ext cx="3400425" cy="809625"/>
        </p:xfrm>
        <a:graphic>
          <a:graphicData uri="http://schemas.openxmlformats.org/presentationml/2006/ole">
            <mc:AlternateContent xmlns:mc="http://schemas.openxmlformats.org/markup-compatibility/2006">
              <mc:Choice xmlns:v="urn:schemas-microsoft-com:vml" Requires="v">
                <p:oleObj spid="_x0000_s180286" r:id="rId4" imgW="1345616" imgH="304668" progId="Equation.3">
                  <p:embed/>
                </p:oleObj>
              </mc:Choice>
              <mc:Fallback>
                <p:oleObj r:id="rId4" imgW="1345616" imgH="304668"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1802" y="586507"/>
                        <a:ext cx="3400425"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9">
            <a:extLst>
              <a:ext uri="{FF2B5EF4-FFF2-40B4-BE49-F238E27FC236}">
                <a16:creationId xmlns:a16="http://schemas.microsoft.com/office/drawing/2014/main" id="{5808C4BF-3A32-4ADE-BA75-318184266E93}"/>
              </a:ext>
            </a:extLst>
          </p:cNvPr>
          <p:cNvGraphicFramePr>
            <a:graphicFrameLocks noChangeAspect="1"/>
          </p:cNvGraphicFramePr>
          <p:nvPr>
            <p:extLst>
              <p:ext uri="{D42A27DB-BD31-4B8C-83A1-F6EECF244321}">
                <p14:modId xmlns:p14="http://schemas.microsoft.com/office/powerpoint/2010/main" val="2213816105"/>
              </p:ext>
            </p:extLst>
          </p:nvPr>
        </p:nvGraphicFramePr>
        <p:xfrm>
          <a:off x="2803821" y="1508511"/>
          <a:ext cx="2971800" cy="638175"/>
        </p:xfrm>
        <a:graphic>
          <a:graphicData uri="http://schemas.openxmlformats.org/presentationml/2006/ole">
            <mc:AlternateContent xmlns:mc="http://schemas.openxmlformats.org/markup-compatibility/2006">
              <mc:Choice xmlns:v="urn:schemas-microsoft-com:vml" Requires="v">
                <p:oleObj spid="_x0000_s180287" r:id="rId6" imgW="1143000" imgH="241300" progId="Equation.3">
                  <p:embed/>
                </p:oleObj>
              </mc:Choice>
              <mc:Fallback>
                <p:oleObj r:id="rId6" imgW="1143000" imgH="2413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3821" y="1508511"/>
                        <a:ext cx="2971800"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4">
            <a:extLst>
              <a:ext uri="{FF2B5EF4-FFF2-40B4-BE49-F238E27FC236}">
                <a16:creationId xmlns:a16="http://schemas.microsoft.com/office/drawing/2014/main" id="{606E53A9-B8D8-48B2-AA00-AF2364B1F25F}"/>
              </a:ext>
            </a:extLst>
          </p:cNvPr>
          <p:cNvSpPr>
            <a:spLocks noChangeArrowheads="1"/>
          </p:cNvSpPr>
          <p:nvPr/>
        </p:nvSpPr>
        <p:spPr bwMode="auto">
          <a:xfrm>
            <a:off x="281250" y="1640756"/>
            <a:ext cx="312925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or	  3V</a:t>
            </a:r>
            <a:r>
              <a:rPr kumimoji="0" lang="en-GB"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A1</a:t>
            </a: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400" b="0" i="0" u="none" strike="noStrike" cap="none" normalizeH="0" baseline="0" dirty="0">
              <a:ln>
                <a:noFill/>
              </a:ln>
              <a:solidFill>
                <a:schemeClr val="tx1"/>
              </a:solidFill>
              <a:effectLst/>
              <a:latin typeface="Arial" panose="020B0604020202020204" pitchFamily="34" charset="0"/>
            </a:endParaRPr>
          </a:p>
        </p:txBody>
      </p:sp>
      <p:sp>
        <p:nvSpPr>
          <p:cNvPr id="23" name="Rectangle 5">
            <a:extLst>
              <a:ext uri="{FF2B5EF4-FFF2-40B4-BE49-F238E27FC236}">
                <a16:creationId xmlns:a16="http://schemas.microsoft.com/office/drawing/2014/main" id="{EDF53CAF-89BE-4F81-B4CB-FEEB1EC4DA2F}"/>
              </a:ext>
            </a:extLst>
          </p:cNvPr>
          <p:cNvSpPr>
            <a:spLocks noChangeArrowheads="1"/>
          </p:cNvSpPr>
          <p:nvPr/>
        </p:nvSpPr>
        <p:spPr bwMode="auto">
          <a:xfrm>
            <a:off x="204231" y="2408600"/>
            <a:ext cx="780121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5700" algn="l"/>
              </a:tabLst>
              <a:defRPr>
                <a:solidFill>
                  <a:schemeClr val="tx1"/>
                </a:solidFill>
                <a:latin typeface="Arial" panose="020B0604020202020204" pitchFamily="34" charset="0"/>
              </a:defRPr>
            </a:lvl1pPr>
            <a:lvl2pPr eaLnBrk="0" fontAlgn="base" hangingPunct="0">
              <a:spcBef>
                <a:spcPct val="0"/>
              </a:spcBef>
              <a:spcAft>
                <a:spcPct val="0"/>
              </a:spcAft>
              <a:tabLst>
                <a:tab pos="2425700" algn="l"/>
              </a:tabLst>
              <a:defRPr>
                <a:solidFill>
                  <a:schemeClr val="tx1"/>
                </a:solidFill>
                <a:latin typeface="Arial" panose="020B0604020202020204" pitchFamily="34" charset="0"/>
              </a:defRPr>
            </a:lvl2pPr>
            <a:lvl3pPr eaLnBrk="0" fontAlgn="base" hangingPunct="0">
              <a:spcBef>
                <a:spcPct val="0"/>
              </a:spcBef>
              <a:spcAft>
                <a:spcPct val="0"/>
              </a:spcAft>
              <a:tabLst>
                <a:tab pos="2425700" algn="l"/>
              </a:tabLst>
              <a:defRPr>
                <a:solidFill>
                  <a:schemeClr val="tx1"/>
                </a:solidFill>
                <a:latin typeface="Arial" panose="020B0604020202020204" pitchFamily="34" charset="0"/>
              </a:defRPr>
            </a:lvl3pPr>
            <a:lvl4pPr eaLnBrk="0" fontAlgn="base" hangingPunct="0">
              <a:spcBef>
                <a:spcPct val="0"/>
              </a:spcBef>
              <a:spcAft>
                <a:spcPct val="0"/>
              </a:spcAft>
              <a:tabLst>
                <a:tab pos="2425700" algn="l"/>
              </a:tabLst>
              <a:defRPr>
                <a:solidFill>
                  <a:schemeClr val="tx1"/>
                </a:solidFill>
                <a:latin typeface="Arial" panose="020B0604020202020204" pitchFamily="34" charset="0"/>
              </a:defRPr>
            </a:lvl4pPr>
            <a:lvl5pPr eaLnBrk="0" fontAlgn="base" hangingPunct="0">
              <a:spcBef>
                <a:spcPct val="0"/>
              </a:spcBef>
              <a:spcAft>
                <a:spcPct val="0"/>
              </a:spcAft>
              <a:tabLst>
                <a:tab pos="2425700" algn="l"/>
              </a:tabLst>
              <a:defRPr>
                <a:solidFill>
                  <a:schemeClr val="tx1"/>
                </a:solidFill>
                <a:latin typeface="Arial" panose="020B0604020202020204" pitchFamily="34" charset="0"/>
              </a:defRPr>
            </a:lvl5pPr>
            <a:lvl6pPr eaLnBrk="0" fontAlgn="base" hangingPunct="0">
              <a:spcBef>
                <a:spcPct val="0"/>
              </a:spcBef>
              <a:spcAft>
                <a:spcPct val="0"/>
              </a:spcAft>
              <a:tabLst>
                <a:tab pos="2425700" algn="l"/>
              </a:tabLst>
              <a:defRPr>
                <a:solidFill>
                  <a:schemeClr val="tx1"/>
                </a:solidFill>
                <a:latin typeface="Arial" panose="020B0604020202020204" pitchFamily="34" charset="0"/>
              </a:defRPr>
            </a:lvl6pPr>
            <a:lvl7pPr eaLnBrk="0" fontAlgn="base" hangingPunct="0">
              <a:spcBef>
                <a:spcPct val="0"/>
              </a:spcBef>
              <a:spcAft>
                <a:spcPct val="0"/>
              </a:spcAft>
              <a:tabLst>
                <a:tab pos="2425700" algn="l"/>
              </a:tabLst>
              <a:defRPr>
                <a:solidFill>
                  <a:schemeClr val="tx1"/>
                </a:solidFill>
                <a:latin typeface="Arial" panose="020B0604020202020204" pitchFamily="34" charset="0"/>
              </a:defRPr>
            </a:lvl7pPr>
            <a:lvl8pPr eaLnBrk="0" fontAlgn="base" hangingPunct="0">
              <a:spcBef>
                <a:spcPct val="0"/>
              </a:spcBef>
              <a:spcAft>
                <a:spcPct val="0"/>
              </a:spcAft>
              <a:tabLst>
                <a:tab pos="2425700" algn="l"/>
              </a:tabLst>
              <a:defRPr>
                <a:solidFill>
                  <a:schemeClr val="tx1"/>
                </a:solidFill>
                <a:latin typeface="Arial" panose="020B0604020202020204" pitchFamily="34" charset="0"/>
              </a:defRPr>
            </a:lvl8pPr>
            <a:lvl9pPr eaLnBrk="0" fontAlgn="base" hangingPunct="0">
              <a:spcBef>
                <a:spcPct val="0"/>
              </a:spcBef>
              <a:spcAft>
                <a:spcPct val="0"/>
              </a:spcAft>
              <a:tabLst>
                <a:tab pos="24257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425700" algn="l"/>
              </a:tabLst>
            </a:pPr>
            <a:r>
              <a:rPr kumimoji="0" lang="en-GB" altLang="en-US" sz="2800" b="0" i="0" u="none" strike="noStrike" cap="none" normalizeH="0" baseline="0" dirty="0">
                <a:ln>
                  <a:noFill/>
                </a:ln>
                <a:solidFill>
                  <a:srgbClr val="002060"/>
                </a:solidFill>
                <a:effectLst/>
                <a:ea typeface="Times New Roman" panose="02020603050405020304" pitchFamily="18" charset="0"/>
              </a:rPr>
              <a:t>It is seen that resultant has a magnitude of slightly greater than 1½ times  that of V</a:t>
            </a:r>
            <a:r>
              <a:rPr kumimoji="0" lang="en-GB" altLang="en-US" sz="2800" b="0" i="0" u="none" strike="noStrike" cap="none" normalizeH="0" baseline="-30000" dirty="0">
                <a:ln>
                  <a:noFill/>
                </a:ln>
                <a:solidFill>
                  <a:srgbClr val="002060"/>
                </a:solidFill>
                <a:effectLst/>
                <a:ea typeface="Times New Roman" panose="02020603050405020304" pitchFamily="18" charset="0"/>
              </a:rPr>
              <a:t>A</a:t>
            </a:r>
            <a:r>
              <a:rPr kumimoji="0" lang="en-GB" altLang="en-US" sz="2800" b="0" i="0" u="none" strike="noStrike" cap="none" normalizeH="0" baseline="0" dirty="0">
                <a:ln>
                  <a:noFill/>
                </a:ln>
                <a:solidFill>
                  <a:srgbClr val="002060"/>
                </a:solidFill>
                <a:effectLst/>
                <a:ea typeface="Times New Roman" panose="02020603050405020304" pitchFamily="18" charset="0"/>
              </a:rPr>
              <a:t> &amp; V</a:t>
            </a:r>
            <a:r>
              <a:rPr kumimoji="0" lang="en-GB" altLang="en-US" sz="2800" b="0" i="0" u="none" strike="noStrike" cap="none" normalizeH="0" baseline="-30000" dirty="0">
                <a:ln>
                  <a:noFill/>
                </a:ln>
                <a:solidFill>
                  <a:srgbClr val="002060"/>
                </a:solidFill>
                <a:effectLst/>
                <a:ea typeface="Times New Roman" panose="02020603050405020304" pitchFamily="18" charset="0"/>
              </a:rPr>
              <a:t>B</a:t>
            </a:r>
            <a:r>
              <a:rPr kumimoji="0" lang="en-GB" altLang="en-US" sz="2800" b="0" i="0" u="none" strike="noStrike" cap="none" normalizeH="0" baseline="0" dirty="0">
                <a:ln>
                  <a:noFill/>
                </a:ln>
                <a:solidFill>
                  <a:srgbClr val="002060"/>
                </a:solidFill>
                <a:effectLst/>
                <a:ea typeface="Times New Roman" panose="02020603050405020304" pitchFamily="18" charset="0"/>
              </a:rPr>
              <a:t> </a:t>
            </a:r>
            <a:endParaRPr kumimoji="0" lang="en-GB" altLang="en-US" sz="2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425700" algn="l"/>
              </a:tabLst>
            </a:pPr>
            <a:r>
              <a:rPr kumimoji="0" lang="en-GB" altLang="en-US" sz="2800" b="0" i="0" u="none" strike="noStrike" cap="none" normalizeH="0" baseline="0" dirty="0">
                <a:ln>
                  <a:noFill/>
                </a:ln>
                <a:solidFill>
                  <a:srgbClr val="002060"/>
                </a:solidFill>
                <a:effectLst/>
                <a:ea typeface="Times New Roman" panose="02020603050405020304" pitchFamily="18" charset="0"/>
              </a:rPr>
              <a:t>(say 4.2) together and an angle close to 15</a:t>
            </a:r>
            <a:r>
              <a:rPr kumimoji="0" lang="en-GB" altLang="en-US" sz="2800" b="0" i="0" u="none" strike="noStrike" cap="none" normalizeH="0" baseline="30000" dirty="0">
                <a:ln>
                  <a:noFill/>
                </a:ln>
                <a:solidFill>
                  <a:srgbClr val="002060"/>
                </a:solidFill>
                <a:effectLst/>
                <a:ea typeface="Times New Roman" panose="02020603050405020304" pitchFamily="18" charset="0"/>
              </a:rPr>
              <a:t>0</a:t>
            </a:r>
            <a:r>
              <a:rPr kumimoji="0" lang="en-GB" altLang="en-US" sz="2800" b="0" i="0" u="none" strike="noStrike" cap="none" normalizeH="0" baseline="0" dirty="0">
                <a:ln>
                  <a:noFill/>
                </a:ln>
                <a:solidFill>
                  <a:srgbClr val="002060"/>
                </a:solidFill>
                <a:effectLst/>
                <a:ea typeface="Times New Roman" panose="02020603050405020304" pitchFamily="18" charset="0"/>
              </a:rPr>
              <a:t> below</a:t>
            </a:r>
            <a:r>
              <a:rPr lang="en-GB" altLang="en-US" sz="2800" dirty="0">
                <a:ea typeface="Times New Roman" panose="02020603050405020304" pitchFamily="18" charset="0"/>
              </a:rPr>
              <a:t> </a:t>
            </a:r>
            <a:r>
              <a:rPr kumimoji="0" lang="en-GB" altLang="en-US" sz="2800" b="0" i="0" u="none" strike="noStrike" cap="none" normalizeH="0" baseline="0" dirty="0">
                <a:ln>
                  <a:noFill/>
                </a:ln>
                <a:solidFill>
                  <a:srgbClr val="002060"/>
                </a:solidFill>
                <a:effectLst/>
                <a:ea typeface="Times New Roman" panose="02020603050405020304" pitchFamily="18" charset="0"/>
              </a:rPr>
              <a:t>the horizontal axis.  This corresponds to 3 V</a:t>
            </a:r>
            <a:r>
              <a:rPr kumimoji="0" lang="en-GB" altLang="en-US" sz="2800" b="0" i="0" u="none" strike="noStrike" cap="none" normalizeH="0" baseline="-30000" dirty="0">
                <a:ln>
                  <a:noFill/>
                </a:ln>
                <a:solidFill>
                  <a:srgbClr val="002060"/>
                </a:solidFill>
                <a:effectLst/>
                <a:ea typeface="Times New Roman" panose="02020603050405020304" pitchFamily="18" charset="0"/>
              </a:rPr>
              <a:t>A1</a:t>
            </a:r>
            <a:r>
              <a:rPr kumimoji="0" lang="en-GB" altLang="en-US" sz="2800" b="0" i="0" u="none" strike="noStrike" cap="none" normalizeH="0" baseline="0" dirty="0">
                <a:ln>
                  <a:noFill/>
                </a:ln>
                <a:solidFill>
                  <a:srgbClr val="002060"/>
                </a:solidFill>
                <a:effectLst/>
                <a:ea typeface="Times New Roman" panose="02020603050405020304" pitchFamily="18" charset="0"/>
              </a:rPr>
              <a:t>.</a:t>
            </a:r>
            <a:endParaRPr kumimoji="0" lang="en-GB" altLang="en-US" sz="2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425700" algn="l"/>
              </a:tabLst>
            </a:pPr>
            <a:r>
              <a:rPr kumimoji="0" lang="en-GB" altLang="en-US" sz="2800" b="0" i="0" u="none" strike="noStrike" cap="none" normalizeH="0" baseline="0" dirty="0">
                <a:ln>
                  <a:noFill/>
                </a:ln>
                <a:solidFill>
                  <a:srgbClr val="002060"/>
                </a:solidFill>
                <a:effectLst/>
                <a:ea typeface="Times New Roman" panose="02020603050405020304" pitchFamily="18" charset="0"/>
              </a:rPr>
              <a:t>Compare the result with that of  analytical method in example 1, where the value for 3V</a:t>
            </a:r>
            <a:r>
              <a:rPr kumimoji="0" lang="en-GB" altLang="en-US" sz="2800" b="0" i="0" u="none" strike="noStrike" cap="none" normalizeH="0" baseline="-30000" dirty="0">
                <a:ln>
                  <a:noFill/>
                </a:ln>
                <a:solidFill>
                  <a:srgbClr val="002060"/>
                </a:solidFill>
                <a:effectLst/>
                <a:ea typeface="Times New Roman" panose="02020603050405020304" pitchFamily="18" charset="0"/>
              </a:rPr>
              <a:t>A1</a:t>
            </a:r>
            <a:r>
              <a:rPr kumimoji="0" lang="en-GB" altLang="en-US" sz="2800" b="0" i="0" u="none" strike="noStrike" cap="none" normalizeH="0" baseline="0" dirty="0">
                <a:ln>
                  <a:noFill/>
                </a:ln>
                <a:solidFill>
                  <a:srgbClr val="002060"/>
                </a:solidFill>
                <a:effectLst/>
                <a:ea typeface="Times New Roman" panose="02020603050405020304" pitchFamily="18" charset="0"/>
              </a:rPr>
              <a:t> </a:t>
            </a:r>
            <a:endParaRPr kumimoji="0" lang="en-GB" altLang="en-US" sz="28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425700" algn="l"/>
              </a:tabLst>
            </a:pPr>
            <a:r>
              <a:rPr kumimoji="0" lang="en-GB" altLang="en-US" sz="2800" b="0" i="0" u="none" strike="noStrike" cap="none" normalizeH="0" baseline="0" dirty="0">
                <a:ln>
                  <a:noFill/>
                </a:ln>
                <a:solidFill>
                  <a:srgbClr val="002060"/>
                </a:solidFill>
                <a:effectLst/>
                <a:ea typeface="Times New Roman" panose="02020603050405020304" pitchFamily="18" charset="0"/>
              </a:rPr>
              <a:t>should be 3</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2800" b="0" i="0" u="none" strike="noStrike" cap="none" normalizeH="0" baseline="0" dirty="0">
                <a:ln>
                  <a:noFill/>
                </a:ln>
                <a:solidFill>
                  <a:srgbClr val="002060"/>
                </a:solidFill>
                <a:effectLst/>
                <a:ea typeface="Times New Roman" panose="02020603050405020304" pitchFamily="18" charset="0"/>
              </a:rPr>
              <a:t>1.525</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a:t>
            </a:r>
            <a:r>
              <a:rPr kumimoji="0" lang="en-GB" altLang="en-US" sz="2800" b="0" i="0" u="none" strike="noStrike" cap="none" normalizeH="0" baseline="0" dirty="0">
                <a:ln>
                  <a:noFill/>
                </a:ln>
                <a:solidFill>
                  <a:srgbClr val="002060"/>
                </a:solidFill>
                <a:effectLst/>
                <a:ea typeface="Times New Roman" panose="02020603050405020304" pitchFamily="18" charset="0"/>
              </a:rPr>
              <a:t>-12.6</a:t>
            </a:r>
            <a:r>
              <a:rPr kumimoji="0" lang="en-GB" altLang="en-US" sz="28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0</a:t>
            </a:r>
            <a:r>
              <a:rPr kumimoji="0" lang="en-GB" altLang="en-US" sz="28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sym typeface="Symbol" panose="05050102010706020507" pitchFamily="18" charset="2"/>
              </a:rPr>
              <a:t> V agreeing with the observation.</a:t>
            </a:r>
          </a:p>
        </p:txBody>
      </p:sp>
    </p:spTree>
    <p:extLst>
      <p:ext uri="{BB962C8B-B14F-4D97-AF65-F5344CB8AC3E}">
        <p14:creationId xmlns:p14="http://schemas.microsoft.com/office/powerpoint/2010/main" val="27710035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3706F16-6DC5-4B37-8D5A-6BBE73F5D76B}"/>
              </a:ext>
            </a:extLst>
          </p:cNvPr>
          <p:cNvGrpSpPr>
            <a:grpSpLocks noChangeAspect="1"/>
          </p:cNvGrpSpPr>
          <p:nvPr/>
        </p:nvGrpSpPr>
        <p:grpSpPr bwMode="auto">
          <a:xfrm>
            <a:off x="7958457" y="193312"/>
            <a:ext cx="4233543" cy="4932140"/>
            <a:chOff x="7842" y="6211"/>
            <a:chExt cx="3705" cy="5130"/>
          </a:xfrm>
        </p:grpSpPr>
        <p:cxnSp>
          <p:nvCxnSpPr>
            <p:cNvPr id="4" name="Line 56">
              <a:extLst>
                <a:ext uri="{FF2B5EF4-FFF2-40B4-BE49-F238E27FC236}">
                  <a16:creationId xmlns:a16="http://schemas.microsoft.com/office/drawing/2014/main" id="{7EF7A366-0DAD-44C1-85A9-D22F84F164B4}"/>
                </a:ext>
              </a:extLst>
            </p:cNvPr>
            <p:cNvCxnSpPr>
              <a:cxnSpLocks noChangeAspect="1" noChangeShapeType="1"/>
            </p:cNvCxnSpPr>
            <p:nvPr/>
          </p:nvCxnSpPr>
          <p:spPr bwMode="auto">
            <a:xfrm>
              <a:off x="9617" y="9705"/>
              <a:ext cx="1020" cy="0"/>
            </a:xfrm>
            <a:prstGeom prst="line">
              <a:avLst/>
            </a:prstGeom>
            <a:noFill/>
            <a:ln w="57150">
              <a:solidFill>
                <a:srgbClr val="FF0000"/>
              </a:solidFill>
              <a:round/>
              <a:headEnd/>
              <a:tailEnd type="arrow" w="sm" len="med"/>
            </a:ln>
            <a:extLst>
              <a:ext uri="{909E8E84-426E-40DD-AFC4-6F175D3DCCD1}">
                <a14:hiddenFill xmlns:a14="http://schemas.microsoft.com/office/drawing/2010/main">
                  <a:noFill/>
                </a14:hiddenFill>
              </a:ext>
            </a:extLst>
          </p:spPr>
        </p:cxnSp>
        <p:cxnSp>
          <p:nvCxnSpPr>
            <p:cNvPr id="5" name="Line 57">
              <a:extLst>
                <a:ext uri="{FF2B5EF4-FFF2-40B4-BE49-F238E27FC236}">
                  <a16:creationId xmlns:a16="http://schemas.microsoft.com/office/drawing/2014/main" id="{635BCAF3-0641-499F-8000-CF409EA14978}"/>
                </a:ext>
              </a:extLst>
            </p:cNvPr>
            <p:cNvCxnSpPr>
              <a:cxnSpLocks noChangeAspect="1" noChangeShapeType="1"/>
            </p:cNvCxnSpPr>
            <p:nvPr/>
          </p:nvCxnSpPr>
          <p:spPr bwMode="auto">
            <a:xfrm rot="16200000" flipV="1">
              <a:off x="8733" y="7232"/>
              <a:ext cx="2042" cy="0"/>
            </a:xfrm>
            <a:prstGeom prst="line">
              <a:avLst/>
            </a:prstGeom>
            <a:noFill/>
            <a:ln w="57150">
              <a:solidFill>
                <a:srgbClr val="0000FF"/>
              </a:solidFill>
              <a:prstDash val="dash"/>
              <a:round/>
              <a:headEnd/>
              <a:tailEnd type="none" w="sm" len="med"/>
            </a:ln>
            <a:extLst>
              <a:ext uri="{909E8E84-426E-40DD-AFC4-6F175D3DCCD1}">
                <a14:hiddenFill xmlns:a14="http://schemas.microsoft.com/office/drawing/2010/main">
                  <a:noFill/>
                </a14:hiddenFill>
              </a:ext>
            </a:extLst>
          </p:spPr>
        </p:cxnSp>
        <p:cxnSp>
          <p:nvCxnSpPr>
            <p:cNvPr id="6" name="Line 58">
              <a:extLst>
                <a:ext uri="{FF2B5EF4-FFF2-40B4-BE49-F238E27FC236}">
                  <a16:creationId xmlns:a16="http://schemas.microsoft.com/office/drawing/2014/main" id="{0B501D3C-374C-4082-8A77-D9E576B48013}"/>
                </a:ext>
              </a:extLst>
            </p:cNvPr>
            <p:cNvCxnSpPr>
              <a:cxnSpLocks noChangeAspect="1" noChangeShapeType="1"/>
            </p:cNvCxnSpPr>
            <p:nvPr/>
          </p:nvCxnSpPr>
          <p:spPr bwMode="auto">
            <a:xfrm rot="7200000">
              <a:off x="9333" y="10458"/>
              <a:ext cx="1766" cy="0"/>
            </a:xfrm>
            <a:prstGeom prst="line">
              <a:avLst/>
            </a:prstGeom>
            <a:noFill/>
            <a:ln w="57150">
              <a:solidFill>
                <a:srgbClr val="FF9900"/>
              </a:solidFill>
              <a:prstDash val="dash"/>
              <a:round/>
              <a:headEnd/>
              <a:tailEnd type="none" w="sm" len="med"/>
            </a:ln>
            <a:extLst>
              <a:ext uri="{909E8E84-426E-40DD-AFC4-6F175D3DCCD1}">
                <a14:hiddenFill xmlns:a14="http://schemas.microsoft.com/office/drawing/2010/main">
                  <a:noFill/>
                </a14:hiddenFill>
              </a:ext>
            </a:extLst>
          </p:spPr>
        </p:cxnSp>
        <p:sp>
          <p:nvSpPr>
            <p:cNvPr id="7" name="Text Box 59">
              <a:extLst>
                <a:ext uri="{FF2B5EF4-FFF2-40B4-BE49-F238E27FC236}">
                  <a16:creationId xmlns:a16="http://schemas.microsoft.com/office/drawing/2014/main" id="{E2BC24D7-AD9E-499D-A551-E9D4963C8064}"/>
                </a:ext>
              </a:extLst>
            </p:cNvPr>
            <p:cNvSpPr txBox="1">
              <a:spLocks noChangeAspect="1" noChangeArrowheads="1"/>
            </p:cNvSpPr>
            <p:nvPr/>
          </p:nvSpPr>
          <p:spPr bwMode="auto">
            <a:xfrm>
              <a:off x="8184" y="10372"/>
              <a:ext cx="1254" cy="39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spcBef>
                  <a:spcPts val="0"/>
                </a:spcBef>
                <a:spcAft>
                  <a:spcPts val="0"/>
                </a:spcAft>
              </a:pPr>
              <a:r>
                <a:rPr lang="en-GB" sz="2800">
                  <a:solidFill>
                    <a:srgbClr val="002060"/>
                  </a:solidFill>
                  <a:effectLst/>
                  <a:latin typeface="Times New Roman" panose="02020603050405020304" pitchFamily="18" charset="0"/>
                  <a:ea typeface="Times New Roman" panose="02020603050405020304" pitchFamily="18" charset="0"/>
                </a:rPr>
                <a:t>Figure 22 </a:t>
              </a:r>
              <a:endParaRPr lang="en-GB" sz="1200">
                <a:effectLst/>
                <a:latin typeface="Times New Roman" panose="02020603050405020304" pitchFamily="18" charset="0"/>
                <a:ea typeface="Times New Roman" panose="02020603050405020304" pitchFamily="18" charset="0"/>
              </a:endParaRPr>
            </a:p>
          </p:txBody>
        </p:sp>
        <p:cxnSp>
          <p:nvCxnSpPr>
            <p:cNvPr id="8" name="Line 60">
              <a:extLst>
                <a:ext uri="{FF2B5EF4-FFF2-40B4-BE49-F238E27FC236}">
                  <a16:creationId xmlns:a16="http://schemas.microsoft.com/office/drawing/2014/main" id="{3B41C5A9-B17B-4A7C-B8E7-D1881C2A108C}"/>
                </a:ext>
              </a:extLst>
            </p:cNvPr>
            <p:cNvCxnSpPr>
              <a:cxnSpLocks noChangeAspect="1" noChangeShapeType="1"/>
            </p:cNvCxnSpPr>
            <p:nvPr/>
          </p:nvCxnSpPr>
          <p:spPr bwMode="auto">
            <a:xfrm rot="14400000">
              <a:off x="9321" y="8976"/>
              <a:ext cx="1766" cy="0"/>
            </a:xfrm>
            <a:prstGeom prst="line">
              <a:avLst/>
            </a:prstGeom>
            <a:noFill/>
            <a:ln w="57150">
              <a:solidFill>
                <a:srgbClr val="FF9900"/>
              </a:solidFill>
              <a:round/>
              <a:headEnd/>
              <a:tailEnd type="arrow" w="sm" len="med"/>
            </a:ln>
            <a:extLst>
              <a:ext uri="{909E8E84-426E-40DD-AFC4-6F175D3DCCD1}">
                <a14:hiddenFill xmlns:a14="http://schemas.microsoft.com/office/drawing/2010/main">
                  <a:noFill/>
                </a14:hiddenFill>
              </a:ext>
            </a:extLst>
          </p:spPr>
        </p:cxnSp>
        <p:cxnSp>
          <p:nvCxnSpPr>
            <p:cNvPr id="9" name="Line 61">
              <a:extLst>
                <a:ext uri="{FF2B5EF4-FFF2-40B4-BE49-F238E27FC236}">
                  <a16:creationId xmlns:a16="http://schemas.microsoft.com/office/drawing/2014/main" id="{28FA4F4B-F997-454A-85AC-14A9FF6992C3}"/>
                </a:ext>
              </a:extLst>
            </p:cNvPr>
            <p:cNvCxnSpPr>
              <a:cxnSpLocks noChangeAspect="1" noChangeShapeType="1"/>
            </p:cNvCxnSpPr>
            <p:nvPr/>
          </p:nvCxnSpPr>
          <p:spPr bwMode="auto">
            <a:xfrm rot="9000000" flipV="1">
              <a:off x="7842" y="8736"/>
              <a:ext cx="2042" cy="0"/>
            </a:xfrm>
            <a:prstGeom prst="line">
              <a:avLst/>
            </a:prstGeom>
            <a:noFill/>
            <a:ln w="57150">
              <a:solidFill>
                <a:srgbClr val="0000FF"/>
              </a:solidFill>
              <a:round/>
              <a:headEnd/>
              <a:tailEnd type="arrow" w="sm" len="med"/>
            </a:ln>
            <a:extLst>
              <a:ext uri="{909E8E84-426E-40DD-AFC4-6F175D3DCCD1}">
                <a14:hiddenFill xmlns:a14="http://schemas.microsoft.com/office/drawing/2010/main">
                  <a:noFill/>
                </a14:hiddenFill>
              </a:ext>
            </a:extLst>
          </p:spPr>
        </p:cxnSp>
        <p:sp>
          <p:nvSpPr>
            <p:cNvPr id="10" name="Arc 62">
              <a:extLst>
                <a:ext uri="{FF2B5EF4-FFF2-40B4-BE49-F238E27FC236}">
                  <a16:creationId xmlns:a16="http://schemas.microsoft.com/office/drawing/2014/main" id="{EAA5104A-217D-48C9-A99F-FA74D508BC0A}"/>
                </a:ext>
              </a:extLst>
            </p:cNvPr>
            <p:cNvSpPr>
              <a:spLocks noChangeAspect="1"/>
            </p:cNvSpPr>
            <p:nvPr/>
          </p:nvSpPr>
          <p:spPr bwMode="auto">
            <a:xfrm flipV="1">
              <a:off x="10404" y="9279"/>
              <a:ext cx="515" cy="866"/>
            </a:xfrm>
            <a:custGeom>
              <a:avLst/>
              <a:gdLst>
                <a:gd name="G0" fmla="+- 6280 0 0"/>
                <a:gd name="G1" fmla="+- 21600 0 0"/>
                <a:gd name="G2" fmla="+- 21600 0 0"/>
                <a:gd name="T0" fmla="*/ 840 w 27880"/>
                <a:gd name="T1" fmla="*/ 696 h 43200"/>
                <a:gd name="T2" fmla="*/ 0 w 27880"/>
                <a:gd name="T3" fmla="*/ 42267 h 43200"/>
                <a:gd name="T4" fmla="*/ 6280 w 27880"/>
                <a:gd name="T5" fmla="*/ 21600 h 43200"/>
              </a:gdLst>
              <a:ahLst/>
              <a:cxnLst>
                <a:cxn ang="0">
                  <a:pos x="T0" y="T1"/>
                </a:cxn>
                <a:cxn ang="0">
                  <a:pos x="T2" y="T3"/>
                </a:cxn>
                <a:cxn ang="0">
                  <a:pos x="T4" y="T5"/>
                </a:cxn>
              </a:cxnLst>
              <a:rect l="0" t="0" r="r" b="b"/>
              <a:pathLst>
                <a:path w="27880" h="43200" fill="none" extrusionOk="0">
                  <a:moveTo>
                    <a:pt x="840" y="696"/>
                  </a:moveTo>
                  <a:cubicBezTo>
                    <a:pt x="2616" y="233"/>
                    <a:pt x="4444" y="0"/>
                    <a:pt x="6280" y="0"/>
                  </a:cubicBezTo>
                  <a:cubicBezTo>
                    <a:pt x="18209" y="0"/>
                    <a:pt x="27880" y="9670"/>
                    <a:pt x="27880" y="21600"/>
                  </a:cubicBezTo>
                  <a:cubicBezTo>
                    <a:pt x="27880" y="33529"/>
                    <a:pt x="18209" y="43200"/>
                    <a:pt x="6280" y="43200"/>
                  </a:cubicBezTo>
                  <a:cubicBezTo>
                    <a:pt x="4152" y="43200"/>
                    <a:pt x="2035" y="42885"/>
                    <a:pt x="0" y="42266"/>
                  </a:cubicBezTo>
                </a:path>
                <a:path w="27880" h="43200" stroke="0" extrusionOk="0">
                  <a:moveTo>
                    <a:pt x="840" y="696"/>
                  </a:moveTo>
                  <a:cubicBezTo>
                    <a:pt x="2616" y="233"/>
                    <a:pt x="4444" y="0"/>
                    <a:pt x="6280" y="0"/>
                  </a:cubicBezTo>
                  <a:cubicBezTo>
                    <a:pt x="18209" y="0"/>
                    <a:pt x="27880" y="9670"/>
                    <a:pt x="27880" y="21600"/>
                  </a:cubicBezTo>
                  <a:cubicBezTo>
                    <a:pt x="27880" y="33529"/>
                    <a:pt x="18209" y="43200"/>
                    <a:pt x="6280" y="43200"/>
                  </a:cubicBezTo>
                  <a:cubicBezTo>
                    <a:pt x="4152" y="43200"/>
                    <a:pt x="2035" y="42885"/>
                    <a:pt x="0" y="42266"/>
                  </a:cubicBezTo>
                  <a:lnTo>
                    <a:pt x="6280" y="21600"/>
                  </a:lnTo>
                  <a:close/>
                </a:path>
              </a:pathLst>
            </a:custGeom>
            <a:noFill/>
            <a:ln w="57150">
              <a:solidFill>
                <a:srgbClr val="002060"/>
              </a:solidFill>
              <a:round/>
              <a:headEnd/>
              <a:tailEnd type="arrow" w="med"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1" name="Text Box 63">
              <a:extLst>
                <a:ext uri="{FF2B5EF4-FFF2-40B4-BE49-F238E27FC236}">
                  <a16:creationId xmlns:a16="http://schemas.microsoft.com/office/drawing/2014/main" id="{55E410C1-1B5F-4065-A4C6-F8B87EDE648C}"/>
                </a:ext>
              </a:extLst>
            </p:cNvPr>
            <p:cNvSpPr txBox="1">
              <a:spLocks noChangeAspect="1" noChangeArrowheads="1"/>
            </p:cNvSpPr>
            <p:nvPr/>
          </p:nvSpPr>
          <p:spPr bwMode="auto">
            <a:xfrm>
              <a:off x="10959" y="9574"/>
              <a:ext cx="588" cy="36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spcBef>
                  <a:spcPts val="0"/>
                </a:spcBef>
                <a:spcAft>
                  <a:spcPts val="0"/>
                </a:spcAft>
              </a:pPr>
              <a:r>
                <a:rPr lang="en-GB" sz="2600">
                  <a:solidFill>
                    <a:srgbClr val="002060"/>
                  </a:solidFill>
                  <a:effectLst/>
                  <a:latin typeface="Times New Roman" panose="02020603050405020304" pitchFamily="18" charset="0"/>
                  <a:ea typeface="Times New Roman" panose="02020603050405020304" pitchFamily="18" charset="0"/>
                </a:rPr>
                <a:t>240</a:t>
              </a:r>
              <a:r>
                <a:rPr lang="en-GB" sz="2600" baseline="30000">
                  <a:solidFill>
                    <a:srgbClr val="002060"/>
                  </a:solidFill>
                  <a:effectLst/>
                  <a:latin typeface="Times New Roman" panose="02020603050405020304" pitchFamily="18" charset="0"/>
                  <a:ea typeface="Times New Roman" panose="02020603050405020304" pitchFamily="18" charset="0"/>
                </a:rPr>
                <a:t>0</a:t>
              </a:r>
              <a:endParaRPr lang="en-GB" sz="1200">
                <a:effectLst/>
                <a:latin typeface="Times New Roman" panose="02020603050405020304" pitchFamily="18" charset="0"/>
                <a:ea typeface="Times New Roman" panose="02020603050405020304" pitchFamily="18" charset="0"/>
              </a:endParaRPr>
            </a:p>
          </p:txBody>
        </p:sp>
        <p:sp>
          <p:nvSpPr>
            <p:cNvPr id="12" name="Arc 64">
              <a:extLst>
                <a:ext uri="{FF2B5EF4-FFF2-40B4-BE49-F238E27FC236}">
                  <a16:creationId xmlns:a16="http://schemas.microsoft.com/office/drawing/2014/main" id="{85314437-680D-46B4-ACF3-50DCD0998CB0}"/>
                </a:ext>
              </a:extLst>
            </p:cNvPr>
            <p:cNvSpPr>
              <a:spLocks noChangeAspect="1"/>
            </p:cNvSpPr>
            <p:nvPr/>
          </p:nvSpPr>
          <p:spPr bwMode="auto">
            <a:xfrm flipH="1">
              <a:off x="9360" y="7846"/>
              <a:ext cx="399" cy="542"/>
            </a:xfrm>
            <a:custGeom>
              <a:avLst/>
              <a:gdLst>
                <a:gd name="G0" fmla="+- 0 0 0"/>
                <a:gd name="G1" fmla="+- 21600 0 0"/>
                <a:gd name="G2" fmla="+- 21600 0 0"/>
                <a:gd name="T0" fmla="*/ 0 w 21600"/>
                <a:gd name="T1" fmla="*/ 0 h 30873"/>
                <a:gd name="T2" fmla="*/ 19508 w 21600"/>
                <a:gd name="T3" fmla="*/ 30873 h 30873"/>
                <a:gd name="T4" fmla="*/ 0 w 21600"/>
                <a:gd name="T5" fmla="*/ 21600 h 30873"/>
              </a:gdLst>
              <a:ahLst/>
              <a:cxnLst>
                <a:cxn ang="0">
                  <a:pos x="T0" y="T1"/>
                </a:cxn>
                <a:cxn ang="0">
                  <a:pos x="T2" y="T3"/>
                </a:cxn>
                <a:cxn ang="0">
                  <a:pos x="T4" y="T5"/>
                </a:cxn>
              </a:cxnLst>
              <a:rect l="0" t="0" r="r" b="b"/>
              <a:pathLst>
                <a:path w="21600" h="30873" fill="none" extrusionOk="0">
                  <a:moveTo>
                    <a:pt x="-1" y="0"/>
                  </a:moveTo>
                  <a:cubicBezTo>
                    <a:pt x="11929" y="0"/>
                    <a:pt x="21600" y="9670"/>
                    <a:pt x="21600" y="21600"/>
                  </a:cubicBezTo>
                  <a:cubicBezTo>
                    <a:pt x="21600" y="24808"/>
                    <a:pt x="20885" y="27975"/>
                    <a:pt x="19508" y="30873"/>
                  </a:cubicBezTo>
                </a:path>
                <a:path w="21600" h="30873" stroke="0" extrusionOk="0">
                  <a:moveTo>
                    <a:pt x="-1" y="0"/>
                  </a:moveTo>
                  <a:cubicBezTo>
                    <a:pt x="11929" y="0"/>
                    <a:pt x="21600" y="9670"/>
                    <a:pt x="21600" y="21600"/>
                  </a:cubicBezTo>
                  <a:cubicBezTo>
                    <a:pt x="21600" y="24808"/>
                    <a:pt x="20885" y="27975"/>
                    <a:pt x="19508" y="30873"/>
                  </a:cubicBezTo>
                  <a:lnTo>
                    <a:pt x="0" y="21600"/>
                  </a:lnTo>
                  <a:close/>
                </a:path>
              </a:pathLst>
            </a:custGeom>
            <a:noFill/>
            <a:ln w="57150">
              <a:solidFill>
                <a:srgbClr val="002060"/>
              </a:solidFill>
              <a:round/>
              <a:headEnd/>
              <a:tailEnd type="arrow" w="med" len="me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13" name="Text Box 65">
              <a:extLst>
                <a:ext uri="{FF2B5EF4-FFF2-40B4-BE49-F238E27FC236}">
                  <a16:creationId xmlns:a16="http://schemas.microsoft.com/office/drawing/2014/main" id="{D9C9CFC2-8CBD-4799-89E9-C5567EEC9E9B}"/>
                </a:ext>
              </a:extLst>
            </p:cNvPr>
            <p:cNvSpPr txBox="1">
              <a:spLocks noChangeAspect="1" noChangeArrowheads="1"/>
            </p:cNvSpPr>
            <p:nvPr/>
          </p:nvSpPr>
          <p:spPr bwMode="auto">
            <a:xfrm>
              <a:off x="8937" y="7624"/>
              <a:ext cx="588" cy="36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18000" tIns="10800" rIns="18000" bIns="10800" anchor="t" anchorCtr="0" upright="1">
              <a:noAutofit/>
            </a:bodyPr>
            <a:lstStyle/>
            <a:p>
              <a:pPr marL="0" marR="0">
                <a:spcBef>
                  <a:spcPts val="0"/>
                </a:spcBef>
                <a:spcAft>
                  <a:spcPts val="0"/>
                </a:spcAft>
              </a:pPr>
              <a:r>
                <a:rPr lang="en-GB" sz="2600">
                  <a:solidFill>
                    <a:srgbClr val="002060"/>
                  </a:solidFill>
                  <a:effectLst/>
                  <a:latin typeface="Times New Roman" panose="02020603050405020304" pitchFamily="18" charset="0"/>
                  <a:ea typeface="Times New Roman" panose="02020603050405020304" pitchFamily="18" charset="0"/>
                </a:rPr>
                <a:t>120</a:t>
              </a:r>
              <a:r>
                <a:rPr lang="en-GB" sz="2600" baseline="30000">
                  <a:solidFill>
                    <a:srgbClr val="002060"/>
                  </a:solidFill>
                  <a:effectLst/>
                  <a:latin typeface="Times New Roman" panose="02020603050405020304" pitchFamily="18" charset="0"/>
                  <a:ea typeface="Times New Roman" panose="02020603050405020304" pitchFamily="18" charset="0"/>
                </a:rPr>
                <a:t>0</a:t>
              </a:r>
              <a:endParaRPr lang="en-GB" sz="1200">
                <a:effectLst/>
                <a:latin typeface="Times New Roman" panose="02020603050405020304" pitchFamily="18" charset="0"/>
                <a:ea typeface="Times New Roman" panose="02020603050405020304" pitchFamily="18" charset="0"/>
              </a:endParaRPr>
            </a:p>
          </p:txBody>
        </p:sp>
        <p:cxnSp>
          <p:nvCxnSpPr>
            <p:cNvPr id="14" name="Line 66">
              <a:extLst>
                <a:ext uri="{FF2B5EF4-FFF2-40B4-BE49-F238E27FC236}">
                  <a16:creationId xmlns:a16="http://schemas.microsoft.com/office/drawing/2014/main" id="{96C33DF6-231C-4D88-9518-B7E59C824D8F}"/>
                </a:ext>
              </a:extLst>
            </p:cNvPr>
            <p:cNvCxnSpPr>
              <a:cxnSpLocks noChangeAspect="1" noChangeShapeType="1"/>
            </p:cNvCxnSpPr>
            <p:nvPr/>
          </p:nvCxnSpPr>
          <p:spPr bwMode="auto">
            <a:xfrm flipH="1" flipV="1">
              <a:off x="8013" y="9249"/>
              <a:ext cx="1596" cy="456"/>
            </a:xfrm>
            <a:prstGeom prst="line">
              <a:avLst/>
            </a:prstGeom>
            <a:noFill/>
            <a:ln w="57150">
              <a:solidFill>
                <a:srgbClr val="002060"/>
              </a:solidFill>
              <a:round/>
              <a:headEnd/>
              <a:tailEnd type="arrow" w="med" len="med"/>
            </a:ln>
            <a:extLst>
              <a:ext uri="{909E8E84-426E-40DD-AFC4-6F175D3DCCD1}">
                <a14:hiddenFill xmlns:a14="http://schemas.microsoft.com/office/drawing/2010/main">
                  <a:noFill/>
                </a14:hiddenFill>
              </a:ext>
            </a:extLst>
          </p:spPr>
        </p:cxnSp>
      </p:grpSp>
      <p:graphicFrame>
        <p:nvGraphicFramePr>
          <p:cNvPr id="15" name="Object 14">
            <a:extLst>
              <a:ext uri="{FF2B5EF4-FFF2-40B4-BE49-F238E27FC236}">
                <a16:creationId xmlns:a16="http://schemas.microsoft.com/office/drawing/2014/main" id="{186F2FFD-A949-4B1F-A503-DCCDC21FD00A}"/>
              </a:ext>
            </a:extLst>
          </p:cNvPr>
          <p:cNvGraphicFramePr>
            <a:graphicFrameLocks noChangeAspect="1"/>
          </p:cNvGraphicFramePr>
          <p:nvPr>
            <p:extLst>
              <p:ext uri="{D42A27DB-BD31-4B8C-83A1-F6EECF244321}">
                <p14:modId xmlns:p14="http://schemas.microsoft.com/office/powerpoint/2010/main" val="511421465"/>
              </p:ext>
            </p:extLst>
          </p:nvPr>
        </p:nvGraphicFramePr>
        <p:xfrm>
          <a:off x="2639829" y="602582"/>
          <a:ext cx="3743325" cy="876300"/>
        </p:xfrm>
        <a:graphic>
          <a:graphicData uri="http://schemas.openxmlformats.org/presentationml/2006/ole">
            <mc:AlternateContent xmlns:mc="http://schemas.openxmlformats.org/markup-compatibility/2006">
              <mc:Choice xmlns:v="urn:schemas-microsoft-com:vml" Requires="v">
                <p:oleObj spid="_x0000_s181308" r:id="rId4" imgW="1371600" imgH="304800" progId="Equation.3">
                  <p:embed/>
                </p:oleObj>
              </mc:Choice>
              <mc:Fallback>
                <p:oleObj r:id="rId4" imgW="1371600" imgH="3048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9829" y="602582"/>
                        <a:ext cx="3743325"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a:extLst>
              <a:ext uri="{FF2B5EF4-FFF2-40B4-BE49-F238E27FC236}">
                <a16:creationId xmlns:a16="http://schemas.microsoft.com/office/drawing/2014/main" id="{81090C4F-C5D9-4BB6-87BE-EFAABE136AE9}"/>
              </a:ext>
            </a:extLst>
          </p:cNvPr>
          <p:cNvGraphicFramePr>
            <a:graphicFrameLocks noChangeAspect="1"/>
          </p:cNvGraphicFramePr>
          <p:nvPr>
            <p:extLst>
              <p:ext uri="{D42A27DB-BD31-4B8C-83A1-F6EECF244321}">
                <p14:modId xmlns:p14="http://schemas.microsoft.com/office/powerpoint/2010/main" val="1723573237"/>
              </p:ext>
            </p:extLst>
          </p:nvPr>
        </p:nvGraphicFramePr>
        <p:xfrm>
          <a:off x="2722187" y="1478829"/>
          <a:ext cx="3943350" cy="838200"/>
        </p:xfrm>
        <a:graphic>
          <a:graphicData uri="http://schemas.openxmlformats.org/presentationml/2006/ole">
            <mc:AlternateContent xmlns:mc="http://schemas.openxmlformats.org/markup-compatibility/2006">
              <mc:Choice xmlns:v="urn:schemas-microsoft-com:vml" Requires="v">
                <p:oleObj spid="_x0000_s181309" r:id="rId6" imgW="1143000" imgH="241300" progId="Equation.3">
                  <p:embed/>
                </p:oleObj>
              </mc:Choice>
              <mc:Fallback>
                <p:oleObj r:id="rId6" imgW="1143000" imgH="2413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22187" y="1478829"/>
                        <a:ext cx="394335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3">
            <a:extLst>
              <a:ext uri="{FF2B5EF4-FFF2-40B4-BE49-F238E27FC236}">
                <a16:creationId xmlns:a16="http://schemas.microsoft.com/office/drawing/2014/main" id="{0B827691-9D45-48E1-8399-F89BCD3310E8}"/>
              </a:ext>
            </a:extLst>
          </p:cNvPr>
          <p:cNvSpPr>
            <a:spLocks noChangeArrowheads="1"/>
          </p:cNvSpPr>
          <p:nvPr/>
        </p:nvSpPr>
        <p:spPr bwMode="auto">
          <a:xfrm>
            <a:off x="1254693" y="712178"/>
            <a:ext cx="163629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V</a:t>
            </a:r>
            <a:r>
              <a:rPr kumimoji="0" lang="en-GB" altLang="en-US" sz="36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A2</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4">
            <a:extLst>
              <a:ext uri="{FF2B5EF4-FFF2-40B4-BE49-F238E27FC236}">
                <a16:creationId xmlns:a16="http://schemas.microsoft.com/office/drawing/2014/main" id="{FCCF0969-5DC1-4E35-87CE-E0919E5AE927}"/>
              </a:ext>
            </a:extLst>
          </p:cNvPr>
          <p:cNvSpPr>
            <a:spLocks noChangeArrowheads="1"/>
          </p:cNvSpPr>
          <p:nvPr/>
        </p:nvSpPr>
        <p:spPr bwMode="auto">
          <a:xfrm>
            <a:off x="24063" y="1527691"/>
            <a:ext cx="374332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or	  3V</a:t>
            </a:r>
            <a:r>
              <a:rPr kumimoji="0" lang="en-GB" altLang="en-US" sz="36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A2</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5">
            <a:extLst>
              <a:ext uri="{FF2B5EF4-FFF2-40B4-BE49-F238E27FC236}">
                <a16:creationId xmlns:a16="http://schemas.microsoft.com/office/drawing/2014/main" id="{43282039-3D73-4AD4-BFC2-A304EA2F5A5D}"/>
              </a:ext>
            </a:extLst>
          </p:cNvPr>
          <p:cNvSpPr>
            <a:spLocks noChangeArrowheads="1"/>
          </p:cNvSpPr>
          <p:nvPr/>
        </p:nvSpPr>
        <p:spPr bwMode="auto">
          <a:xfrm>
            <a:off x="217582" y="2484579"/>
            <a:ext cx="8300105"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425700" algn="l"/>
              </a:tabLst>
              <a:defRPr>
                <a:solidFill>
                  <a:schemeClr val="tx1"/>
                </a:solidFill>
                <a:latin typeface="Arial" panose="020B0604020202020204" pitchFamily="34" charset="0"/>
              </a:defRPr>
            </a:lvl1pPr>
            <a:lvl2pPr eaLnBrk="0" fontAlgn="base" hangingPunct="0">
              <a:spcBef>
                <a:spcPct val="0"/>
              </a:spcBef>
              <a:spcAft>
                <a:spcPct val="0"/>
              </a:spcAft>
              <a:tabLst>
                <a:tab pos="2425700" algn="l"/>
              </a:tabLst>
              <a:defRPr>
                <a:solidFill>
                  <a:schemeClr val="tx1"/>
                </a:solidFill>
                <a:latin typeface="Arial" panose="020B0604020202020204" pitchFamily="34" charset="0"/>
              </a:defRPr>
            </a:lvl2pPr>
            <a:lvl3pPr eaLnBrk="0" fontAlgn="base" hangingPunct="0">
              <a:spcBef>
                <a:spcPct val="0"/>
              </a:spcBef>
              <a:spcAft>
                <a:spcPct val="0"/>
              </a:spcAft>
              <a:tabLst>
                <a:tab pos="2425700" algn="l"/>
              </a:tabLst>
              <a:defRPr>
                <a:solidFill>
                  <a:schemeClr val="tx1"/>
                </a:solidFill>
                <a:latin typeface="Arial" panose="020B0604020202020204" pitchFamily="34" charset="0"/>
              </a:defRPr>
            </a:lvl3pPr>
            <a:lvl4pPr eaLnBrk="0" fontAlgn="base" hangingPunct="0">
              <a:spcBef>
                <a:spcPct val="0"/>
              </a:spcBef>
              <a:spcAft>
                <a:spcPct val="0"/>
              </a:spcAft>
              <a:tabLst>
                <a:tab pos="2425700" algn="l"/>
              </a:tabLst>
              <a:defRPr>
                <a:solidFill>
                  <a:schemeClr val="tx1"/>
                </a:solidFill>
                <a:latin typeface="Arial" panose="020B0604020202020204" pitchFamily="34" charset="0"/>
              </a:defRPr>
            </a:lvl4pPr>
            <a:lvl5pPr eaLnBrk="0" fontAlgn="base" hangingPunct="0">
              <a:spcBef>
                <a:spcPct val="0"/>
              </a:spcBef>
              <a:spcAft>
                <a:spcPct val="0"/>
              </a:spcAft>
              <a:tabLst>
                <a:tab pos="2425700" algn="l"/>
              </a:tabLst>
              <a:defRPr>
                <a:solidFill>
                  <a:schemeClr val="tx1"/>
                </a:solidFill>
                <a:latin typeface="Arial" panose="020B0604020202020204" pitchFamily="34" charset="0"/>
              </a:defRPr>
            </a:lvl5pPr>
            <a:lvl6pPr eaLnBrk="0" fontAlgn="base" hangingPunct="0">
              <a:spcBef>
                <a:spcPct val="0"/>
              </a:spcBef>
              <a:spcAft>
                <a:spcPct val="0"/>
              </a:spcAft>
              <a:tabLst>
                <a:tab pos="2425700" algn="l"/>
              </a:tabLst>
              <a:defRPr>
                <a:solidFill>
                  <a:schemeClr val="tx1"/>
                </a:solidFill>
                <a:latin typeface="Arial" panose="020B0604020202020204" pitchFamily="34" charset="0"/>
              </a:defRPr>
            </a:lvl6pPr>
            <a:lvl7pPr eaLnBrk="0" fontAlgn="base" hangingPunct="0">
              <a:spcBef>
                <a:spcPct val="0"/>
              </a:spcBef>
              <a:spcAft>
                <a:spcPct val="0"/>
              </a:spcAft>
              <a:tabLst>
                <a:tab pos="2425700" algn="l"/>
              </a:tabLst>
              <a:defRPr>
                <a:solidFill>
                  <a:schemeClr val="tx1"/>
                </a:solidFill>
                <a:latin typeface="Arial" panose="020B0604020202020204" pitchFamily="34" charset="0"/>
              </a:defRPr>
            </a:lvl7pPr>
            <a:lvl8pPr eaLnBrk="0" fontAlgn="base" hangingPunct="0">
              <a:spcBef>
                <a:spcPct val="0"/>
              </a:spcBef>
              <a:spcAft>
                <a:spcPct val="0"/>
              </a:spcAft>
              <a:tabLst>
                <a:tab pos="2425700" algn="l"/>
              </a:tabLst>
              <a:defRPr>
                <a:solidFill>
                  <a:schemeClr val="tx1"/>
                </a:solidFill>
                <a:latin typeface="Arial" panose="020B0604020202020204" pitchFamily="34" charset="0"/>
              </a:defRPr>
            </a:lvl8pPr>
            <a:lvl9pPr eaLnBrk="0" fontAlgn="base" hangingPunct="0">
              <a:spcBef>
                <a:spcPct val="0"/>
              </a:spcBef>
              <a:spcAft>
                <a:spcPct val="0"/>
              </a:spcAft>
              <a:tabLst>
                <a:tab pos="24257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4257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Resultant has a magnitude of slightly less than that of V</a:t>
            </a:r>
            <a:r>
              <a:rPr kumimoji="0" lang="en-GB" altLang="en-US" sz="3200" b="0" i="0" u="none" strike="noStrike" cap="none" normalizeH="0" baseline="-30000" dirty="0">
                <a:ln>
                  <a:noFill/>
                </a:ln>
                <a:solidFill>
                  <a:srgbClr val="002060"/>
                </a:solidFill>
                <a:effectLst/>
                <a:ea typeface="Times New Roman" panose="02020603050405020304" pitchFamily="18" charset="0"/>
              </a:rPr>
              <a:t>B</a:t>
            </a:r>
            <a:r>
              <a:rPr kumimoji="0" lang="en-GB" altLang="en-US" sz="3200" b="0" i="0" u="none" strike="noStrike" cap="none" normalizeH="0" baseline="0" dirty="0">
                <a:ln>
                  <a:noFill/>
                </a:ln>
                <a:solidFill>
                  <a:srgbClr val="002060"/>
                </a:solidFill>
                <a:effectLst/>
                <a:ea typeface="Times New Roman" panose="02020603050405020304" pitchFamily="18" charset="0"/>
              </a:rPr>
              <a:t> (say 1.7) together and an angle close to 15</a:t>
            </a:r>
            <a:r>
              <a:rPr kumimoji="0" lang="en-GB" altLang="en-US" sz="3200" b="0" i="0" u="none" strike="noStrike" cap="none" normalizeH="0" baseline="30000" dirty="0">
                <a:ln>
                  <a:noFill/>
                </a:ln>
                <a:solidFill>
                  <a:srgbClr val="002060"/>
                </a:solidFill>
                <a:effectLst/>
                <a:ea typeface="Times New Roman" panose="02020603050405020304" pitchFamily="18" charset="0"/>
              </a:rPr>
              <a:t>0</a:t>
            </a:r>
            <a:r>
              <a:rPr kumimoji="0" lang="en-GB" altLang="en-US" sz="3200" b="0" i="0" u="none" strike="noStrike" cap="none" normalizeH="0" baseline="0" dirty="0">
                <a:ln>
                  <a:noFill/>
                </a:ln>
                <a:solidFill>
                  <a:srgbClr val="002060"/>
                </a:solidFill>
                <a:effectLst/>
                <a:ea typeface="Times New Roman" panose="02020603050405020304" pitchFamily="18" charset="0"/>
              </a:rPr>
              <a:t> above the negative horizontal axis.  This corresponds to 3 V</a:t>
            </a:r>
            <a:r>
              <a:rPr kumimoji="0" lang="en-GB" altLang="en-US" sz="3200" b="0" i="0" u="none" strike="noStrike" cap="none" normalizeH="0" baseline="-30000" dirty="0">
                <a:ln>
                  <a:noFill/>
                </a:ln>
                <a:solidFill>
                  <a:srgbClr val="002060"/>
                </a:solidFill>
                <a:effectLst/>
                <a:ea typeface="Times New Roman" panose="02020603050405020304" pitchFamily="18" charset="0"/>
              </a:rPr>
              <a:t>A2</a:t>
            </a:r>
            <a:r>
              <a:rPr kumimoji="0" lang="en-GB" altLang="en-US" sz="3200" b="0" i="0" u="none" strike="noStrike" cap="none" normalizeH="0" baseline="0" dirty="0">
                <a:ln>
                  <a:noFill/>
                </a:ln>
                <a:solidFill>
                  <a:srgbClr val="002060"/>
                </a:solidFill>
                <a:effectLst/>
                <a:ea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tab pos="2425700" algn="l"/>
              </a:tabLst>
            </a:pPr>
            <a:r>
              <a:rPr kumimoji="0" lang="en-GB" altLang="en-US" sz="3200" b="0" i="0" u="none" strike="noStrike" cap="none" normalizeH="0" baseline="0" dirty="0">
                <a:ln>
                  <a:noFill/>
                </a:ln>
                <a:solidFill>
                  <a:srgbClr val="002060"/>
                </a:solidFill>
                <a:effectLst/>
                <a:ea typeface="Times New Roman" panose="02020603050405020304" pitchFamily="18" charset="0"/>
              </a:rPr>
              <a:t>If we compare the result with that of the analytical method in example 1, the value for 3V</a:t>
            </a:r>
            <a:r>
              <a:rPr kumimoji="0" lang="en-GB" altLang="en-US" sz="3200" b="0" i="0" u="none" strike="noStrike" cap="none" normalizeH="0" baseline="-30000" dirty="0">
                <a:ln>
                  <a:noFill/>
                </a:ln>
                <a:solidFill>
                  <a:srgbClr val="002060"/>
                </a:solidFill>
                <a:effectLst/>
                <a:ea typeface="Times New Roman" panose="02020603050405020304" pitchFamily="18" charset="0"/>
              </a:rPr>
              <a:t>A2</a:t>
            </a:r>
            <a:r>
              <a:rPr kumimoji="0" lang="en-GB" altLang="en-US" sz="3200" b="0" i="0" u="none" strike="noStrike" cap="none" normalizeH="0" baseline="0" dirty="0">
                <a:ln>
                  <a:noFill/>
                </a:ln>
                <a:solidFill>
                  <a:srgbClr val="002060"/>
                </a:solidFill>
                <a:effectLst/>
                <a:ea typeface="Times New Roman" panose="02020603050405020304" pitchFamily="18" charset="0"/>
              </a:rPr>
              <a:t> should  be 3</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0.558</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a:t>
            </a:r>
            <a:r>
              <a:rPr kumimoji="0" lang="en-GB" altLang="en-US" sz="3200" b="0" i="0" u="none" strike="noStrike" cap="none" normalizeH="0" baseline="0" dirty="0">
                <a:ln>
                  <a:noFill/>
                </a:ln>
                <a:solidFill>
                  <a:srgbClr val="002060"/>
                </a:solidFill>
                <a:effectLst/>
                <a:ea typeface="Times New Roman" panose="02020603050405020304" pitchFamily="18" charset="0"/>
              </a:rPr>
              <a:t>162.6</a:t>
            </a:r>
            <a:r>
              <a:rPr kumimoji="0" lang="en-GB" altLang="en-US" sz="3200" b="0" i="0" u="none" strike="noStrike" cap="none" normalizeH="0" baseline="3000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0</a:t>
            </a:r>
            <a:r>
              <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rPr>
              <a:t> V roughly agreeing with the observation.</a:t>
            </a:r>
            <a:r>
              <a:rPr kumimoji="0" lang="en-GB"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endParaRPr kumimoji="0" lang="en-GB" altLang="en-US" sz="3200" b="0" i="0" u="none" strike="noStrike" cap="none" normalizeH="0" baseline="0" dirty="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1759688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Autofit/>
          </a:bodyPr>
          <a:lstStyle/>
          <a:p>
            <a:r>
              <a:rPr lang="en-GB" dirty="0"/>
              <a:t>Summary</a:t>
            </a:r>
          </a:p>
        </p:txBody>
      </p:sp>
      <p:graphicFrame>
        <p:nvGraphicFramePr>
          <p:cNvPr id="3" name="Object 2">
            <a:extLst>
              <a:ext uri="{FF2B5EF4-FFF2-40B4-BE49-F238E27FC236}">
                <a16:creationId xmlns:a16="http://schemas.microsoft.com/office/drawing/2014/main" id="{31AB2A86-F133-4D8B-B1A7-51FB176DBAE6}"/>
              </a:ext>
            </a:extLst>
          </p:cNvPr>
          <p:cNvGraphicFramePr>
            <a:graphicFrameLocks noChangeAspect="1"/>
          </p:cNvGraphicFramePr>
          <p:nvPr>
            <p:extLst>
              <p:ext uri="{D42A27DB-BD31-4B8C-83A1-F6EECF244321}">
                <p14:modId xmlns:p14="http://schemas.microsoft.com/office/powerpoint/2010/main" val="725809421"/>
              </p:ext>
            </p:extLst>
          </p:nvPr>
        </p:nvGraphicFramePr>
        <p:xfrm>
          <a:off x="176463" y="3850108"/>
          <a:ext cx="3785937" cy="2438400"/>
        </p:xfrm>
        <a:graphic>
          <a:graphicData uri="http://schemas.openxmlformats.org/presentationml/2006/ole">
            <mc:AlternateContent xmlns:mc="http://schemas.openxmlformats.org/markup-compatibility/2006">
              <mc:Choice xmlns:v="urn:schemas-microsoft-com:vml" Requires="v">
                <p:oleObj spid="_x0000_s182354" r:id="rId4" imgW="1206500" imgH="711200" progId="Equation.3">
                  <p:embed/>
                </p:oleObj>
              </mc:Choice>
              <mc:Fallback>
                <p:oleObj r:id="rId4" imgW="1206500" imgH="711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463" y="3850108"/>
                        <a:ext cx="3785937" cy="2438400"/>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78656B28-0AD1-48C6-95EB-238EE9F41C2B}"/>
              </a:ext>
            </a:extLst>
          </p:cNvPr>
          <p:cNvGraphicFramePr>
            <a:graphicFrameLocks noChangeAspect="1"/>
          </p:cNvGraphicFramePr>
          <p:nvPr/>
        </p:nvGraphicFramePr>
        <p:xfrm>
          <a:off x="0" y="2895600"/>
          <a:ext cx="152400" cy="371475"/>
        </p:xfrm>
        <a:graphic>
          <a:graphicData uri="http://schemas.openxmlformats.org/presentationml/2006/ole">
            <mc:AlternateContent xmlns:mc="http://schemas.openxmlformats.org/markup-compatibility/2006">
              <mc:Choice xmlns:v="urn:schemas-microsoft-com:vml" Requires="v">
                <p:oleObj spid="_x0000_s182355" r:id="rId6" imgW="114201" imgH="304536" progId="Equation.3">
                  <p:embed/>
                </p:oleObj>
              </mc:Choice>
              <mc:Fallback>
                <p:oleObj r:id="rId6" imgW="114201" imgH="304536"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2895600"/>
                        <a:ext cx="1524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EB7285D7-8873-463A-B164-5E7038BEFA68}"/>
              </a:ext>
            </a:extLst>
          </p:cNvPr>
          <p:cNvGraphicFramePr>
            <a:graphicFrameLocks noChangeAspect="1"/>
          </p:cNvGraphicFramePr>
          <p:nvPr>
            <p:extLst>
              <p:ext uri="{D42A27DB-BD31-4B8C-83A1-F6EECF244321}">
                <p14:modId xmlns:p14="http://schemas.microsoft.com/office/powerpoint/2010/main" val="3875004310"/>
              </p:ext>
            </p:extLst>
          </p:nvPr>
        </p:nvGraphicFramePr>
        <p:xfrm>
          <a:off x="6761746" y="3745835"/>
          <a:ext cx="3194384" cy="2600325"/>
        </p:xfrm>
        <a:graphic>
          <a:graphicData uri="http://schemas.openxmlformats.org/presentationml/2006/ole">
            <mc:AlternateContent xmlns:mc="http://schemas.openxmlformats.org/markup-compatibility/2006">
              <mc:Choice xmlns:v="urn:schemas-microsoft-com:vml" Requires="v">
                <p:oleObj spid="_x0000_s182356" r:id="rId8" imgW="990170" imgH="710891" progId="Equation.3">
                  <p:embed/>
                </p:oleObj>
              </mc:Choice>
              <mc:Fallback>
                <p:oleObj r:id="rId8" imgW="990170" imgH="710891" progId="Equation.3">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61746" y="3745835"/>
                        <a:ext cx="3194384" cy="2600325"/>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0D88BB65-8C98-43C1-A2D8-D951F0CB6961}"/>
              </a:ext>
            </a:extLst>
          </p:cNvPr>
          <p:cNvSpPr>
            <a:spLocks noChangeArrowheads="1"/>
          </p:cNvSpPr>
          <p:nvPr/>
        </p:nvSpPr>
        <p:spPr bwMode="auto">
          <a:xfrm>
            <a:off x="429715" y="1185836"/>
            <a:ext cx="9625263" cy="2187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GB" altLang="en-US" sz="4800" b="0" i="0" u="sng"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V</a:t>
            </a:r>
            <a:r>
              <a:rPr kumimoji="0" lang="en-GB" altLang="en-US" sz="48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p</a:t>
            </a:r>
            <a:r>
              <a:rPr kumimoji="0" lang="en-GB" altLang="en-US" sz="4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48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4800" b="0" i="0" u="none" strike="noStrike" cap="none" normalizeH="0" baseline="0" dirty="0">
                <a:ln>
                  <a:noFill/>
                </a:ln>
                <a:solidFill>
                  <a:srgbClr val="002060"/>
                </a:solidFill>
                <a:effectLst/>
                <a:ea typeface="Times New Roman" panose="02020603050405020304" pitchFamily="18" charset="0"/>
              </a:rPr>
              <a:t>] </a:t>
            </a:r>
            <a:r>
              <a:rPr kumimoji="0" lang="en-GB" altLang="en-US" sz="4800" b="0" i="0" u="sng" strike="noStrike" cap="none" normalizeH="0" baseline="0" dirty="0">
                <a:ln>
                  <a:noFill/>
                </a:ln>
                <a:solidFill>
                  <a:srgbClr val="002060"/>
                </a:solidFill>
                <a:effectLst/>
                <a:latin typeface="Arial" panose="020B0604020202020204" pitchFamily="34" charset="0"/>
                <a:ea typeface="Times New Roman" panose="02020603050405020304" pitchFamily="18" charset="0"/>
              </a:rPr>
              <a:t>V</a:t>
            </a:r>
            <a:r>
              <a:rPr kumimoji="0" lang="en-GB" altLang="en-US" sz="4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s</a:t>
            </a:r>
            <a:r>
              <a:rPr kumimoji="0" lang="en-GB" altLang="en-US" sz="4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4800" b="0" i="0" u="sng" strike="noStrike" cap="none" normalizeH="0" baseline="0" dirty="0">
                <a:ln>
                  <a:noFill/>
                </a:ln>
                <a:solidFill>
                  <a:srgbClr val="002060"/>
                </a:solidFill>
                <a:effectLst/>
                <a:latin typeface="Arial" panose="020B0604020202020204" pitchFamily="34" charset="0"/>
                <a:ea typeface="Times New Roman" panose="02020603050405020304" pitchFamily="18" charset="0"/>
              </a:rPr>
              <a:t>I</a:t>
            </a:r>
            <a:r>
              <a:rPr kumimoji="0" lang="en-GB" altLang="en-US" sz="4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p</a:t>
            </a:r>
            <a:r>
              <a:rPr kumimoji="0" lang="en-GB" altLang="en-US" sz="4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48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4800" b="0" i="0" u="none" strike="noStrike" cap="none" normalizeH="0" baseline="0" dirty="0">
                <a:ln>
                  <a:noFill/>
                </a:ln>
                <a:solidFill>
                  <a:srgbClr val="002060"/>
                </a:solidFill>
                <a:effectLst/>
                <a:ea typeface="Times New Roman" panose="02020603050405020304" pitchFamily="18" charset="0"/>
              </a:rPr>
              <a:t>] </a:t>
            </a:r>
            <a:r>
              <a:rPr kumimoji="0" lang="en-GB" altLang="en-US" sz="4800" b="0" i="0" u="sng" strike="noStrike" cap="none" normalizeH="0" baseline="0" dirty="0">
                <a:ln>
                  <a:noFill/>
                </a:ln>
                <a:solidFill>
                  <a:srgbClr val="002060"/>
                </a:solidFill>
                <a:effectLst/>
                <a:latin typeface="Arial" panose="020B0604020202020204" pitchFamily="34" charset="0"/>
                <a:ea typeface="Times New Roman" panose="02020603050405020304" pitchFamily="18" charset="0"/>
              </a:rPr>
              <a:t>I</a:t>
            </a:r>
            <a:r>
              <a:rPr kumimoji="0" lang="en-GB" altLang="en-US" sz="4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s</a:t>
            </a:r>
            <a:endParaRPr kumimoji="0" lang="en-GB"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GB" altLang="en-US" sz="4800" b="0" i="0" u="sng" strike="noStrike" cap="none" normalizeH="0" baseline="0" dirty="0">
                <a:ln>
                  <a:noFill/>
                </a:ln>
                <a:solidFill>
                  <a:srgbClr val="002060"/>
                </a:solidFill>
                <a:effectLst/>
                <a:latin typeface="Arial" panose="020B0604020202020204" pitchFamily="34" charset="0"/>
                <a:ea typeface="Times New Roman" panose="02020603050405020304" pitchFamily="18" charset="0"/>
              </a:rPr>
              <a:t>V</a:t>
            </a:r>
            <a:r>
              <a:rPr kumimoji="0" lang="en-GB" altLang="en-US" sz="4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s</a:t>
            </a:r>
            <a:r>
              <a:rPr kumimoji="0" lang="en-GB" altLang="en-US" sz="4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⅓[</a:t>
            </a:r>
            <a:r>
              <a:rPr kumimoji="0" lang="en-GB" altLang="en-US" sz="48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4800" b="0" i="0" u="none" strike="noStrike" cap="none" normalizeH="0" baseline="0" dirty="0">
                <a:ln>
                  <a:noFill/>
                </a:ln>
                <a:solidFill>
                  <a:srgbClr val="002060"/>
                </a:solidFill>
                <a:effectLst/>
                <a:ea typeface="Times New Roman" panose="02020603050405020304" pitchFamily="18" charset="0"/>
              </a:rPr>
              <a:t>]</a:t>
            </a:r>
            <a:r>
              <a:rPr kumimoji="0" lang="en-GB" altLang="en-US" sz="4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4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4800" b="0" i="0" u="sng"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V</a:t>
            </a:r>
            <a:r>
              <a:rPr kumimoji="0" lang="en-GB" altLang="en-US" sz="48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p</a:t>
            </a:r>
            <a:r>
              <a:rPr kumimoji="0" lang="en-GB" altLang="en-US" sz="4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4800" b="0" i="0" u="sng" strike="noStrike" cap="none" normalizeH="0" baseline="0" dirty="0">
                <a:ln>
                  <a:noFill/>
                </a:ln>
                <a:solidFill>
                  <a:srgbClr val="002060"/>
                </a:solidFill>
                <a:effectLst/>
                <a:latin typeface="Arial" panose="020B0604020202020204" pitchFamily="34" charset="0"/>
                <a:ea typeface="Times New Roman" panose="02020603050405020304" pitchFamily="18" charset="0"/>
              </a:rPr>
              <a:t>I</a:t>
            </a:r>
            <a:r>
              <a:rPr kumimoji="0" lang="en-GB" altLang="en-US" sz="4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s</a:t>
            </a:r>
            <a:r>
              <a:rPr kumimoji="0" lang="en-GB" altLang="en-US" sz="4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⅓[</a:t>
            </a:r>
            <a:r>
              <a:rPr kumimoji="0" lang="en-GB" altLang="en-US" sz="48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4800" b="0" i="0" u="none" strike="noStrike" cap="none" normalizeH="0" baseline="0" dirty="0">
                <a:ln>
                  <a:noFill/>
                </a:ln>
                <a:solidFill>
                  <a:srgbClr val="002060"/>
                </a:solidFill>
                <a:effectLst/>
                <a:ea typeface="Times New Roman" panose="02020603050405020304" pitchFamily="18" charset="0"/>
              </a:rPr>
              <a:t>]</a:t>
            </a:r>
            <a:r>
              <a:rPr kumimoji="0" lang="en-GB" altLang="en-US" sz="4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4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4800" b="0" i="0" u="sng" strike="noStrike" cap="none" normalizeH="0" baseline="0" dirty="0">
                <a:ln>
                  <a:noFill/>
                </a:ln>
                <a:solidFill>
                  <a:srgbClr val="002060"/>
                </a:solidFill>
                <a:effectLst/>
                <a:latin typeface="Arial" panose="020B0604020202020204" pitchFamily="34" charset="0"/>
                <a:ea typeface="Times New Roman" panose="02020603050405020304" pitchFamily="18" charset="0"/>
              </a:rPr>
              <a:t>I</a:t>
            </a:r>
            <a:r>
              <a:rPr kumimoji="0" lang="en-GB" altLang="en-US" sz="4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p</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A1CAAA97-7A76-4CF7-8969-21FCBB9E6A59}"/>
              </a:ext>
            </a:extLst>
          </p:cNvPr>
          <p:cNvSpPr>
            <a:spLocks noChangeArrowheads="1"/>
          </p:cNvSpPr>
          <p:nvPr/>
        </p:nvSpPr>
        <p:spPr bwMode="auto">
          <a:xfrm>
            <a:off x="3842085" y="4174870"/>
            <a:ext cx="216568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rPr>
              <a:t>L</a:t>
            </a:r>
            <a:r>
              <a:rPr kumimoji="0" lang="en-GB" altLang="en-US" sz="3600" b="0" i="0" u="none" strike="noStrike" cap="none" normalizeH="0" baseline="0" dirty="0">
                <a:ln>
                  <a:noFill/>
                </a:ln>
                <a:solidFill>
                  <a:srgbClr val="002060"/>
                </a:solidFill>
                <a:effectLst/>
                <a:ea typeface="Times New Roman" panose="02020603050405020304" pitchFamily="18" charset="0"/>
              </a:rPr>
              <a:t>]</a:t>
            </a:r>
            <a:r>
              <a:rPr kumimoji="0" lang="en-GB" altLang="en-US" sz="36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-1 </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8" name="Rectangle 6">
                <a:extLst>
                  <a:ext uri="{FF2B5EF4-FFF2-40B4-BE49-F238E27FC236}">
                    <a16:creationId xmlns:a16="http://schemas.microsoft.com/office/drawing/2014/main" id="{3C2033A6-0131-4C46-A816-B630EDF4D0FA}"/>
                  </a:ext>
                </a:extLst>
              </p:cNvPr>
              <p:cNvSpPr>
                <a:spLocks noChangeArrowheads="1"/>
              </p:cNvSpPr>
              <p:nvPr/>
            </p:nvSpPr>
            <p:spPr bwMode="auto">
              <a:xfrm>
                <a:off x="5506453" y="4603813"/>
                <a:ext cx="1660358" cy="87466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14:m>
                  <m:oMath xmlns:m="http://schemas.openxmlformats.org/officeDocument/2006/math">
                    <m:f>
                      <m:fPr>
                        <m:ctrlPr>
                          <a:rPr kumimoji="0" lang="en-GB" altLang="en-US" sz="3600" b="0" i="1" u="none" strike="noStrike" cap="none" normalizeH="0" baseline="0" smtClean="0">
                            <a:ln>
                              <a:noFill/>
                            </a:ln>
                            <a:solidFill>
                              <a:srgbClr val="002060"/>
                            </a:solidFill>
                            <a:effectLst/>
                            <a:latin typeface="Cambria Math" panose="02040503050406030204" pitchFamily="18" charset="0"/>
                          </a:rPr>
                        </m:ctrlPr>
                      </m:fPr>
                      <m:num>
                        <m:r>
                          <a:rPr kumimoji="0" lang="en-US" altLang="en-US" sz="3600" b="0" i="1" u="none" strike="noStrike" cap="none" normalizeH="0" baseline="0" smtClean="0">
                            <a:ln>
                              <a:noFill/>
                            </a:ln>
                            <a:solidFill>
                              <a:srgbClr val="002060"/>
                            </a:solidFill>
                            <a:effectLst/>
                            <a:latin typeface="Cambria Math" panose="02040503050406030204" pitchFamily="18" charset="0"/>
                          </a:rPr>
                          <m:t>1</m:t>
                        </m:r>
                      </m:num>
                      <m:den>
                        <m:r>
                          <a:rPr kumimoji="0" lang="en-US" altLang="en-US" sz="3600" b="0" i="1" u="none" strike="noStrike" cap="none" normalizeH="0" baseline="0" smtClean="0">
                            <a:ln>
                              <a:noFill/>
                            </a:ln>
                            <a:solidFill>
                              <a:srgbClr val="002060"/>
                            </a:solidFill>
                            <a:effectLst/>
                            <a:latin typeface="Cambria Math" panose="02040503050406030204" pitchFamily="18" charset="0"/>
                          </a:rPr>
                          <m:t>3</m:t>
                        </m:r>
                      </m:den>
                    </m:f>
                  </m:oMath>
                </a14:m>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cs typeface="Times New Roman" panose="02020603050405020304" pitchFamily="18" charset="0"/>
                  </a:rPr>
                  <a:t>L</a:t>
                </a:r>
                <a:r>
                  <a:rPr kumimoji="0" lang="en-GB" altLang="en-US" sz="3600" b="0" i="0" u="none" strike="noStrike" cap="none" normalizeH="0" baseline="0" dirty="0">
                    <a:ln>
                      <a:noFill/>
                    </a:ln>
                    <a:solidFill>
                      <a:srgbClr val="002060"/>
                    </a:solidFill>
                    <a:effectLst/>
                    <a:ea typeface="Times New Roman" panose="02020603050405020304" pitchFamily="18" charset="0"/>
                  </a:rPr>
                  <a:t>]</a:t>
                </a:r>
                <a:r>
                  <a:rPr kumimoji="0" lang="en-GB" altLang="en-US" sz="36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8" name="Rectangle 6">
                <a:extLst>
                  <a:ext uri="{FF2B5EF4-FFF2-40B4-BE49-F238E27FC236}">
                    <a16:creationId xmlns:a16="http://schemas.microsoft.com/office/drawing/2014/main" id="{3C2033A6-0131-4C46-A816-B630EDF4D0FA}"/>
                  </a:ext>
                </a:extLst>
              </p:cNvPr>
              <p:cNvSpPr>
                <a:spLocks noRot="1" noChangeAspect="1" noMove="1" noResize="1" noEditPoints="1" noAdjustHandles="1" noChangeArrowheads="1" noChangeShapeType="1" noTextEdit="1"/>
              </p:cNvSpPr>
              <p:nvPr/>
            </p:nvSpPr>
            <p:spPr bwMode="auto">
              <a:xfrm>
                <a:off x="5506453" y="4603813"/>
                <a:ext cx="1660358" cy="874663"/>
              </a:xfrm>
              <a:prstGeom prst="rect">
                <a:avLst/>
              </a:prstGeom>
              <a:blipFill>
                <a:blip r:embed="rId10"/>
                <a:stretch>
                  <a:fillRect r="-7326" b="-1319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Tree>
    <p:extLst>
      <p:ext uri="{BB962C8B-B14F-4D97-AF65-F5344CB8AC3E}">
        <p14:creationId xmlns:p14="http://schemas.microsoft.com/office/powerpoint/2010/main" val="4502120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Autofit/>
          </a:bodyPr>
          <a:lstStyle/>
          <a:p>
            <a:r>
              <a:rPr lang="en-GB" dirty="0"/>
              <a:t>Sequence Impedances</a:t>
            </a:r>
          </a:p>
        </p:txBody>
      </p:sp>
      <p:sp>
        <p:nvSpPr>
          <p:cNvPr id="3" name="Rectangle 2">
            <a:extLst>
              <a:ext uri="{FF2B5EF4-FFF2-40B4-BE49-F238E27FC236}">
                <a16:creationId xmlns:a16="http://schemas.microsoft.com/office/drawing/2014/main" id="{B6B6EF77-E7C8-43E4-A301-12E65A01A422}"/>
              </a:ext>
            </a:extLst>
          </p:cNvPr>
          <p:cNvSpPr/>
          <p:nvPr/>
        </p:nvSpPr>
        <p:spPr>
          <a:xfrm>
            <a:off x="511636" y="1174536"/>
            <a:ext cx="11168727" cy="4852547"/>
          </a:xfrm>
          <a:prstGeom prst="rect">
            <a:avLst/>
          </a:prstGeom>
        </p:spPr>
        <p:txBody>
          <a:bodyPr wrap="square">
            <a:spAutoFit/>
          </a:bodyPr>
          <a:lstStyle/>
          <a:p>
            <a:pPr>
              <a:lnSpc>
                <a:spcPct val="110000"/>
              </a:lnSpc>
              <a:spcAft>
                <a:spcPts val="600"/>
              </a:spcAft>
            </a:pPr>
            <a:r>
              <a:rPr lang="en-GB" sz="3600" dirty="0">
                <a:solidFill>
                  <a:srgbClr val="002060"/>
                </a:solidFill>
                <a:latin typeface="Times New Roman" panose="02020603050405020304" pitchFamily="18" charset="0"/>
                <a:ea typeface="Times New Roman" panose="02020603050405020304" pitchFamily="18" charset="0"/>
              </a:rPr>
              <a:t>How does impedance appear in sequence components ?  </a:t>
            </a:r>
            <a:endParaRPr lang="en-GB" sz="3600" dirty="0">
              <a:latin typeface="Times New Roman" panose="02020603050405020304" pitchFamily="18" charset="0"/>
              <a:ea typeface="Times New Roman" panose="02020603050405020304" pitchFamily="18" charset="0"/>
            </a:endParaRPr>
          </a:p>
          <a:p>
            <a:pPr>
              <a:lnSpc>
                <a:spcPct val="110000"/>
              </a:lnSpc>
              <a:spcAft>
                <a:spcPts val="600"/>
              </a:spcAft>
              <a:tabLst>
                <a:tab pos="1194435" algn="l"/>
                <a:tab pos="1447800" algn="l"/>
              </a:tabLst>
            </a:pPr>
            <a:r>
              <a:rPr lang="en-GB" sz="3600" dirty="0">
                <a:solidFill>
                  <a:srgbClr val="002060"/>
                </a:solidFill>
                <a:latin typeface="Times New Roman" panose="02020603050405020304" pitchFamily="18" charset="0"/>
                <a:ea typeface="Times New Roman" panose="02020603050405020304" pitchFamily="18" charset="0"/>
              </a:rPr>
              <a:t>	</a:t>
            </a:r>
            <a:r>
              <a:rPr lang="en-GB" sz="3600" u="sng" dirty="0" err="1">
                <a:solidFill>
                  <a:srgbClr val="002060"/>
                </a:solidFill>
                <a:latin typeface="Times New Roman" panose="02020603050405020304" pitchFamily="18" charset="0"/>
                <a:ea typeface="Times New Roman" panose="02020603050405020304" pitchFamily="18" charset="0"/>
              </a:rPr>
              <a:t>V</a:t>
            </a:r>
            <a:r>
              <a:rPr lang="en-GB" sz="3600" baseline="-25000" dirty="0" err="1">
                <a:solidFill>
                  <a:srgbClr val="002060"/>
                </a:solidFill>
                <a:latin typeface="Times New Roman" panose="02020603050405020304" pitchFamily="18" charset="0"/>
                <a:ea typeface="Times New Roman" panose="02020603050405020304" pitchFamily="18" charset="0"/>
              </a:rPr>
              <a:t>p</a:t>
            </a:r>
            <a:r>
              <a:rPr lang="en-GB" sz="3600" dirty="0">
                <a:solidFill>
                  <a:srgbClr val="002060"/>
                </a:solidFill>
                <a:latin typeface="Times New Roman" panose="02020603050405020304" pitchFamily="18" charset="0"/>
                <a:ea typeface="Times New Roman" panose="02020603050405020304" pitchFamily="18" charset="0"/>
              </a:rPr>
              <a:t> 	=  	[</a:t>
            </a:r>
            <a:r>
              <a:rPr lang="en-GB" sz="3600" dirty="0" err="1">
                <a:solidFill>
                  <a:srgbClr val="002060"/>
                </a:solidFill>
                <a:latin typeface="Times New Roman" panose="02020603050405020304" pitchFamily="18" charset="0"/>
                <a:ea typeface="Times New Roman" panose="02020603050405020304" pitchFamily="18" charset="0"/>
              </a:rPr>
              <a:t>Z</a:t>
            </a:r>
            <a:r>
              <a:rPr lang="en-GB" sz="3600" baseline="-25000" dirty="0" err="1">
                <a:solidFill>
                  <a:srgbClr val="002060"/>
                </a:solidFill>
                <a:latin typeface="Times New Roman" panose="02020603050405020304" pitchFamily="18" charset="0"/>
                <a:ea typeface="Times New Roman" panose="02020603050405020304" pitchFamily="18" charset="0"/>
              </a:rPr>
              <a:t>p</a:t>
            </a:r>
            <a:r>
              <a:rPr lang="en-GB" sz="3600" dirty="0">
                <a:solidFill>
                  <a:srgbClr val="002060"/>
                </a:solidFill>
                <a:latin typeface="Times New Roman" panose="02020603050405020304" pitchFamily="18" charset="0"/>
                <a:ea typeface="Times New Roman" panose="02020603050405020304" pitchFamily="18" charset="0"/>
              </a:rPr>
              <a:t>].</a:t>
            </a:r>
            <a:r>
              <a:rPr lang="en-GB" sz="3600" u="sng" dirty="0">
                <a:solidFill>
                  <a:srgbClr val="002060"/>
                </a:solidFill>
                <a:latin typeface="Times New Roman" panose="02020603050405020304" pitchFamily="18" charset="0"/>
                <a:ea typeface="Times New Roman" panose="02020603050405020304" pitchFamily="18" charset="0"/>
              </a:rPr>
              <a:t>I</a:t>
            </a:r>
            <a:r>
              <a:rPr lang="en-GB" sz="3600" baseline="-25000" dirty="0">
                <a:solidFill>
                  <a:srgbClr val="002060"/>
                </a:solidFill>
                <a:latin typeface="Times New Roman" panose="02020603050405020304" pitchFamily="18" charset="0"/>
                <a:ea typeface="Times New Roman" panose="02020603050405020304" pitchFamily="18" charset="0"/>
              </a:rPr>
              <a:t>p</a:t>
            </a:r>
            <a:endParaRPr lang="en-GB" sz="3600" dirty="0">
              <a:latin typeface="Times New Roman" panose="02020603050405020304" pitchFamily="18" charset="0"/>
              <a:ea typeface="Times New Roman" panose="02020603050405020304" pitchFamily="18" charset="0"/>
            </a:endParaRPr>
          </a:p>
          <a:p>
            <a:pPr algn="just">
              <a:lnSpc>
                <a:spcPct val="110000"/>
              </a:lnSpc>
              <a:tabLst>
                <a:tab pos="542925" algn="l"/>
                <a:tab pos="1194435" algn="l"/>
                <a:tab pos="1447800" algn="l"/>
              </a:tabLst>
            </a:pPr>
            <a:r>
              <a:rPr lang="en-GB" sz="3600" dirty="0">
                <a:solidFill>
                  <a:srgbClr val="002060"/>
                </a:solidFill>
                <a:latin typeface="Times New Roman" panose="02020603050405020304" pitchFamily="18" charset="0"/>
                <a:ea typeface="Times New Roman" panose="02020603050405020304" pitchFamily="18" charset="0"/>
              </a:rPr>
              <a:t>Substitution gives</a:t>
            </a:r>
            <a:endParaRPr lang="en-GB" sz="3600" dirty="0">
              <a:latin typeface="Times New Roman" panose="02020603050405020304" pitchFamily="18" charset="0"/>
              <a:ea typeface="Times New Roman" panose="02020603050405020304" pitchFamily="18" charset="0"/>
            </a:endParaRPr>
          </a:p>
          <a:p>
            <a:pPr algn="just">
              <a:lnSpc>
                <a:spcPct val="110000"/>
              </a:lnSpc>
              <a:spcAft>
                <a:spcPts val="600"/>
              </a:spcAft>
              <a:tabLst>
                <a:tab pos="1194435" algn="l"/>
                <a:tab pos="1447800" algn="l"/>
              </a:tabLst>
            </a:pPr>
            <a:r>
              <a:rPr lang="en-GB" sz="3600" dirty="0">
                <a:solidFill>
                  <a:srgbClr val="002060"/>
                </a:solidFill>
                <a:latin typeface="Times New Roman" panose="02020603050405020304" pitchFamily="18" charset="0"/>
                <a:ea typeface="Times New Roman" panose="02020603050405020304" pitchFamily="18" charset="0"/>
              </a:rPr>
              <a:t>	[</a:t>
            </a:r>
            <a:r>
              <a:rPr lang="en-GB" sz="3600" dirty="0">
                <a:solidFill>
                  <a:srgbClr val="002060"/>
                </a:solidFill>
                <a:latin typeface="Symbol" panose="05050102010706020507" pitchFamily="18" charset="2"/>
                <a:ea typeface="Times New Roman" panose="02020603050405020304" pitchFamily="18" charset="0"/>
              </a:rPr>
              <a:t>L</a:t>
            </a:r>
            <a:r>
              <a:rPr lang="en-GB" sz="3600" dirty="0">
                <a:solidFill>
                  <a:srgbClr val="002060"/>
                </a:solidFill>
                <a:latin typeface="Times New Roman" panose="02020603050405020304" pitchFamily="18" charset="0"/>
                <a:ea typeface="Times New Roman" panose="02020603050405020304" pitchFamily="18" charset="0"/>
              </a:rPr>
              <a:t>] </a:t>
            </a:r>
            <a:r>
              <a:rPr lang="en-GB" sz="3600" u="sng" dirty="0">
                <a:solidFill>
                  <a:srgbClr val="002060"/>
                </a:solidFill>
                <a:latin typeface="Times New Roman" panose="02020603050405020304" pitchFamily="18" charset="0"/>
                <a:ea typeface="Times New Roman" panose="02020603050405020304" pitchFamily="18" charset="0"/>
              </a:rPr>
              <a:t>V</a:t>
            </a:r>
            <a:r>
              <a:rPr lang="en-GB" sz="3600" baseline="-25000" dirty="0">
                <a:solidFill>
                  <a:srgbClr val="002060"/>
                </a:solidFill>
                <a:latin typeface="Times New Roman" panose="02020603050405020304" pitchFamily="18" charset="0"/>
                <a:ea typeface="Times New Roman" panose="02020603050405020304" pitchFamily="18" charset="0"/>
              </a:rPr>
              <a:t>s</a:t>
            </a:r>
            <a:r>
              <a:rPr lang="en-GB" sz="3600" dirty="0">
                <a:solidFill>
                  <a:srgbClr val="002060"/>
                </a:solidFill>
                <a:latin typeface="Times New Roman" panose="02020603050405020304" pitchFamily="18" charset="0"/>
                <a:ea typeface="Times New Roman" panose="02020603050405020304" pitchFamily="18" charset="0"/>
              </a:rPr>
              <a:t>	=	[</a:t>
            </a:r>
            <a:r>
              <a:rPr lang="en-GB" sz="3600" dirty="0" err="1">
                <a:solidFill>
                  <a:srgbClr val="002060"/>
                </a:solidFill>
                <a:latin typeface="Times New Roman" panose="02020603050405020304" pitchFamily="18" charset="0"/>
                <a:ea typeface="Times New Roman" panose="02020603050405020304" pitchFamily="18" charset="0"/>
              </a:rPr>
              <a:t>Z</a:t>
            </a:r>
            <a:r>
              <a:rPr lang="en-GB" sz="3600" baseline="-25000" dirty="0" err="1">
                <a:solidFill>
                  <a:srgbClr val="002060"/>
                </a:solidFill>
                <a:latin typeface="Times New Roman" panose="02020603050405020304" pitchFamily="18" charset="0"/>
                <a:ea typeface="Times New Roman" panose="02020603050405020304" pitchFamily="18" charset="0"/>
              </a:rPr>
              <a:t>p</a:t>
            </a:r>
            <a:r>
              <a:rPr lang="en-GB" sz="3600" dirty="0">
                <a:solidFill>
                  <a:srgbClr val="002060"/>
                </a:solidFill>
                <a:latin typeface="Times New Roman" panose="02020603050405020304" pitchFamily="18" charset="0"/>
                <a:ea typeface="Times New Roman" panose="02020603050405020304" pitchFamily="18" charset="0"/>
              </a:rPr>
              <a:t>]. [</a:t>
            </a:r>
            <a:r>
              <a:rPr lang="en-GB" sz="3600" dirty="0">
                <a:solidFill>
                  <a:srgbClr val="002060"/>
                </a:solidFill>
                <a:latin typeface="Symbol" panose="05050102010706020507" pitchFamily="18" charset="2"/>
                <a:ea typeface="Times New Roman" panose="02020603050405020304" pitchFamily="18" charset="0"/>
              </a:rPr>
              <a:t>L</a:t>
            </a:r>
            <a:r>
              <a:rPr lang="en-GB" sz="3600" dirty="0">
                <a:solidFill>
                  <a:srgbClr val="002060"/>
                </a:solidFill>
                <a:latin typeface="Times New Roman" panose="02020603050405020304" pitchFamily="18" charset="0"/>
                <a:ea typeface="Times New Roman" panose="02020603050405020304" pitchFamily="18" charset="0"/>
              </a:rPr>
              <a:t>] </a:t>
            </a:r>
            <a:r>
              <a:rPr lang="en-GB" sz="3600" u="sng" dirty="0">
                <a:solidFill>
                  <a:srgbClr val="002060"/>
                </a:solidFill>
                <a:latin typeface="Times New Roman" panose="02020603050405020304" pitchFamily="18" charset="0"/>
                <a:ea typeface="Times New Roman" panose="02020603050405020304" pitchFamily="18" charset="0"/>
              </a:rPr>
              <a:t>I</a:t>
            </a:r>
            <a:r>
              <a:rPr lang="en-GB" sz="3600" baseline="-25000" dirty="0">
                <a:solidFill>
                  <a:srgbClr val="002060"/>
                </a:solidFill>
                <a:latin typeface="Times New Roman" panose="02020603050405020304" pitchFamily="18" charset="0"/>
                <a:ea typeface="Times New Roman" panose="02020603050405020304" pitchFamily="18" charset="0"/>
              </a:rPr>
              <a:t>s</a:t>
            </a:r>
            <a:endParaRPr lang="en-GB" sz="3600" dirty="0">
              <a:latin typeface="Times New Roman" panose="02020603050405020304" pitchFamily="18" charset="0"/>
              <a:ea typeface="Times New Roman" panose="02020603050405020304" pitchFamily="18" charset="0"/>
            </a:endParaRPr>
          </a:p>
          <a:p>
            <a:pPr algn="just">
              <a:lnSpc>
                <a:spcPct val="110000"/>
              </a:lnSpc>
              <a:spcAft>
                <a:spcPts val="600"/>
              </a:spcAft>
              <a:tabLst>
                <a:tab pos="542925" algn="l"/>
                <a:tab pos="1194435" algn="l"/>
                <a:tab pos="1447800" algn="l"/>
              </a:tabLst>
            </a:pPr>
            <a:r>
              <a:rPr lang="en-GB" sz="3600" dirty="0">
                <a:solidFill>
                  <a:srgbClr val="002060"/>
                </a:solidFill>
                <a:latin typeface="Times New Roman" panose="02020603050405020304" pitchFamily="18" charset="0"/>
                <a:ea typeface="Times New Roman" panose="02020603050405020304" pitchFamily="18" charset="0"/>
              </a:rPr>
              <a:t>pre-multiplying equation by [</a:t>
            </a:r>
            <a:r>
              <a:rPr lang="en-GB" sz="3600" dirty="0">
                <a:solidFill>
                  <a:srgbClr val="002060"/>
                </a:solidFill>
                <a:latin typeface="Symbol" panose="05050102010706020507" pitchFamily="18" charset="2"/>
                <a:ea typeface="Times New Roman" panose="02020603050405020304" pitchFamily="18" charset="0"/>
              </a:rPr>
              <a:t>L</a:t>
            </a:r>
            <a:r>
              <a:rPr lang="en-GB" sz="3600" dirty="0">
                <a:solidFill>
                  <a:srgbClr val="002060"/>
                </a:solidFill>
                <a:latin typeface="Times New Roman" panose="02020603050405020304" pitchFamily="18" charset="0"/>
                <a:ea typeface="Times New Roman" panose="02020603050405020304" pitchFamily="18" charset="0"/>
              </a:rPr>
              <a:t>]</a:t>
            </a:r>
            <a:r>
              <a:rPr lang="en-GB" sz="3600" baseline="30000" dirty="0">
                <a:solidFill>
                  <a:srgbClr val="002060"/>
                </a:solidFill>
                <a:latin typeface="Times New Roman" panose="02020603050405020304" pitchFamily="18" charset="0"/>
                <a:ea typeface="Times New Roman" panose="02020603050405020304" pitchFamily="18" charset="0"/>
              </a:rPr>
              <a:t>-1</a:t>
            </a:r>
            <a:r>
              <a:rPr lang="en-GB" sz="3600" dirty="0">
                <a:solidFill>
                  <a:srgbClr val="002060"/>
                </a:solidFill>
                <a:latin typeface="Times New Roman" panose="02020603050405020304" pitchFamily="18" charset="0"/>
                <a:ea typeface="Times New Roman" panose="02020603050405020304" pitchFamily="18" charset="0"/>
              </a:rPr>
              <a:t> gives</a:t>
            </a:r>
            <a:endParaRPr lang="en-GB" sz="3600" dirty="0">
              <a:latin typeface="Times New Roman" panose="02020603050405020304" pitchFamily="18" charset="0"/>
              <a:ea typeface="Times New Roman" panose="02020603050405020304" pitchFamily="18" charset="0"/>
            </a:endParaRPr>
          </a:p>
          <a:p>
            <a:pPr algn="just">
              <a:lnSpc>
                <a:spcPct val="110000"/>
              </a:lnSpc>
              <a:spcAft>
                <a:spcPts val="600"/>
              </a:spcAft>
              <a:tabLst>
                <a:tab pos="1194435" algn="l"/>
                <a:tab pos="1447800" algn="l"/>
              </a:tabLst>
            </a:pPr>
            <a:r>
              <a:rPr lang="en-GB" sz="3600" dirty="0">
                <a:solidFill>
                  <a:srgbClr val="002060"/>
                </a:solidFill>
                <a:latin typeface="Times New Roman" panose="02020603050405020304" pitchFamily="18" charset="0"/>
                <a:ea typeface="Times New Roman" panose="02020603050405020304" pitchFamily="18" charset="0"/>
              </a:rPr>
              <a:t>	</a:t>
            </a:r>
            <a:r>
              <a:rPr lang="en-GB" sz="3600" u="sng" dirty="0">
                <a:solidFill>
                  <a:srgbClr val="002060"/>
                </a:solidFill>
                <a:latin typeface="Times New Roman" panose="02020603050405020304" pitchFamily="18" charset="0"/>
                <a:ea typeface="Times New Roman" panose="02020603050405020304" pitchFamily="18" charset="0"/>
              </a:rPr>
              <a:t>V</a:t>
            </a:r>
            <a:r>
              <a:rPr lang="en-GB" sz="3600" baseline="-25000" dirty="0">
                <a:solidFill>
                  <a:srgbClr val="002060"/>
                </a:solidFill>
                <a:latin typeface="Times New Roman" panose="02020603050405020304" pitchFamily="18" charset="0"/>
                <a:ea typeface="Times New Roman" panose="02020603050405020304" pitchFamily="18" charset="0"/>
              </a:rPr>
              <a:t>s</a:t>
            </a:r>
            <a:r>
              <a:rPr lang="en-GB" sz="3600" dirty="0">
                <a:solidFill>
                  <a:srgbClr val="002060"/>
                </a:solidFill>
                <a:latin typeface="Times New Roman" panose="02020603050405020304" pitchFamily="18" charset="0"/>
                <a:ea typeface="Times New Roman" panose="02020603050405020304" pitchFamily="18" charset="0"/>
              </a:rPr>
              <a:t>	=	[</a:t>
            </a:r>
            <a:r>
              <a:rPr lang="en-GB" sz="3600" dirty="0">
                <a:solidFill>
                  <a:srgbClr val="002060"/>
                </a:solidFill>
                <a:latin typeface="Symbol" panose="05050102010706020507" pitchFamily="18" charset="2"/>
                <a:ea typeface="Times New Roman" panose="02020603050405020304" pitchFamily="18" charset="0"/>
              </a:rPr>
              <a:t>L</a:t>
            </a:r>
            <a:r>
              <a:rPr lang="en-GB" sz="3600" dirty="0">
                <a:solidFill>
                  <a:srgbClr val="002060"/>
                </a:solidFill>
                <a:latin typeface="Times New Roman" panose="02020603050405020304" pitchFamily="18" charset="0"/>
                <a:ea typeface="Times New Roman" panose="02020603050405020304" pitchFamily="18" charset="0"/>
              </a:rPr>
              <a:t>]</a:t>
            </a:r>
            <a:r>
              <a:rPr lang="en-GB" sz="3600" baseline="30000" dirty="0">
                <a:solidFill>
                  <a:srgbClr val="002060"/>
                </a:solidFill>
                <a:latin typeface="Times New Roman" panose="02020603050405020304" pitchFamily="18" charset="0"/>
                <a:ea typeface="Times New Roman" panose="02020603050405020304" pitchFamily="18" charset="0"/>
              </a:rPr>
              <a:t>-1</a:t>
            </a:r>
            <a:r>
              <a:rPr lang="en-GB" sz="3600" dirty="0">
                <a:solidFill>
                  <a:srgbClr val="002060"/>
                </a:solidFill>
                <a:latin typeface="Times New Roman" panose="02020603050405020304" pitchFamily="18" charset="0"/>
                <a:ea typeface="Times New Roman" panose="02020603050405020304" pitchFamily="18" charset="0"/>
              </a:rPr>
              <a:t>.[</a:t>
            </a:r>
            <a:r>
              <a:rPr lang="en-GB" sz="3600" dirty="0" err="1">
                <a:solidFill>
                  <a:srgbClr val="002060"/>
                </a:solidFill>
                <a:latin typeface="Times New Roman" panose="02020603050405020304" pitchFamily="18" charset="0"/>
                <a:ea typeface="Times New Roman" panose="02020603050405020304" pitchFamily="18" charset="0"/>
              </a:rPr>
              <a:t>Z</a:t>
            </a:r>
            <a:r>
              <a:rPr lang="en-GB" sz="3600" baseline="-25000" dirty="0" err="1">
                <a:solidFill>
                  <a:srgbClr val="002060"/>
                </a:solidFill>
                <a:latin typeface="Times New Roman" panose="02020603050405020304" pitchFamily="18" charset="0"/>
                <a:ea typeface="Times New Roman" panose="02020603050405020304" pitchFamily="18" charset="0"/>
              </a:rPr>
              <a:t>p</a:t>
            </a:r>
            <a:r>
              <a:rPr lang="en-GB" sz="3600" dirty="0">
                <a:solidFill>
                  <a:srgbClr val="002060"/>
                </a:solidFill>
                <a:latin typeface="Times New Roman" panose="02020603050405020304" pitchFamily="18" charset="0"/>
                <a:ea typeface="Times New Roman" panose="02020603050405020304" pitchFamily="18" charset="0"/>
              </a:rPr>
              <a:t>]. [</a:t>
            </a:r>
            <a:r>
              <a:rPr lang="en-GB" sz="3600" dirty="0">
                <a:solidFill>
                  <a:srgbClr val="002060"/>
                </a:solidFill>
                <a:latin typeface="Symbol" panose="05050102010706020507" pitchFamily="18" charset="2"/>
                <a:ea typeface="Times New Roman" panose="02020603050405020304" pitchFamily="18" charset="0"/>
              </a:rPr>
              <a:t>L</a:t>
            </a:r>
            <a:r>
              <a:rPr lang="en-GB" sz="3600" dirty="0">
                <a:solidFill>
                  <a:srgbClr val="002060"/>
                </a:solidFill>
                <a:latin typeface="Times New Roman" panose="02020603050405020304" pitchFamily="18" charset="0"/>
                <a:ea typeface="Times New Roman" panose="02020603050405020304" pitchFamily="18" charset="0"/>
              </a:rPr>
              <a:t>] </a:t>
            </a:r>
            <a:r>
              <a:rPr lang="en-GB" sz="3600" u="sng" dirty="0">
                <a:solidFill>
                  <a:srgbClr val="002060"/>
                </a:solidFill>
                <a:latin typeface="Times New Roman" panose="02020603050405020304" pitchFamily="18" charset="0"/>
                <a:ea typeface="Times New Roman" panose="02020603050405020304" pitchFamily="18" charset="0"/>
              </a:rPr>
              <a:t>I</a:t>
            </a:r>
            <a:r>
              <a:rPr lang="en-GB" sz="3600" baseline="-25000" dirty="0">
                <a:solidFill>
                  <a:srgbClr val="002060"/>
                </a:solidFill>
                <a:latin typeface="Times New Roman" panose="02020603050405020304" pitchFamily="18" charset="0"/>
                <a:ea typeface="Times New Roman" panose="02020603050405020304" pitchFamily="18" charset="0"/>
              </a:rPr>
              <a:t>s</a:t>
            </a:r>
            <a:endParaRPr lang="en-GB" sz="3600" dirty="0">
              <a:latin typeface="Times New Roman" panose="02020603050405020304" pitchFamily="18" charset="0"/>
              <a:ea typeface="Times New Roman" panose="02020603050405020304" pitchFamily="18" charset="0"/>
            </a:endParaRPr>
          </a:p>
          <a:p>
            <a:pPr algn="just">
              <a:lnSpc>
                <a:spcPct val="110000"/>
              </a:lnSpc>
              <a:spcBef>
                <a:spcPts val="1200"/>
              </a:spcBef>
              <a:tabLst>
                <a:tab pos="542925" algn="l"/>
                <a:tab pos="1194435" algn="l"/>
                <a:tab pos="1447800" algn="l"/>
              </a:tabLst>
            </a:pPr>
            <a:r>
              <a:rPr lang="en-GB" sz="3600" dirty="0">
                <a:solidFill>
                  <a:srgbClr val="002060"/>
                </a:solidFill>
                <a:latin typeface="Times New Roman" panose="02020603050405020304" pitchFamily="18" charset="0"/>
                <a:ea typeface="Times New Roman" panose="02020603050405020304" pitchFamily="18" charset="0"/>
              </a:rPr>
              <a:t>i.e.	</a:t>
            </a:r>
            <a:r>
              <a:rPr lang="en-GB" sz="3600" u="sng" dirty="0">
                <a:solidFill>
                  <a:srgbClr val="002060"/>
                </a:solidFill>
                <a:latin typeface="Times New Roman" panose="02020603050405020304" pitchFamily="18" charset="0"/>
                <a:ea typeface="Times New Roman" panose="02020603050405020304" pitchFamily="18" charset="0"/>
              </a:rPr>
              <a:t>V</a:t>
            </a:r>
            <a:r>
              <a:rPr lang="en-GB" sz="3600" baseline="-25000" dirty="0">
                <a:solidFill>
                  <a:srgbClr val="002060"/>
                </a:solidFill>
                <a:latin typeface="Times New Roman" panose="02020603050405020304" pitchFamily="18" charset="0"/>
                <a:ea typeface="Times New Roman" panose="02020603050405020304" pitchFamily="18" charset="0"/>
              </a:rPr>
              <a:t>s</a:t>
            </a:r>
            <a:r>
              <a:rPr lang="en-GB" sz="3600" dirty="0">
                <a:solidFill>
                  <a:srgbClr val="002060"/>
                </a:solidFill>
                <a:latin typeface="Times New Roman" panose="02020603050405020304" pitchFamily="18" charset="0"/>
                <a:ea typeface="Times New Roman" panose="02020603050405020304" pitchFamily="18" charset="0"/>
              </a:rPr>
              <a:t> 	=  	[</a:t>
            </a:r>
            <a:r>
              <a:rPr lang="en-GB" sz="3600" dirty="0" err="1">
                <a:solidFill>
                  <a:srgbClr val="002060"/>
                </a:solidFill>
                <a:latin typeface="Times New Roman" panose="02020603050405020304" pitchFamily="18" charset="0"/>
                <a:ea typeface="Times New Roman" panose="02020603050405020304" pitchFamily="18" charset="0"/>
              </a:rPr>
              <a:t>Z</a:t>
            </a:r>
            <a:r>
              <a:rPr lang="en-GB" sz="3600" baseline="-25000" dirty="0" err="1">
                <a:solidFill>
                  <a:srgbClr val="002060"/>
                </a:solidFill>
                <a:latin typeface="Times New Roman" panose="02020603050405020304" pitchFamily="18" charset="0"/>
                <a:ea typeface="Times New Roman" panose="02020603050405020304" pitchFamily="18" charset="0"/>
              </a:rPr>
              <a:t>s</a:t>
            </a:r>
            <a:r>
              <a:rPr lang="en-GB" sz="3600" dirty="0">
                <a:solidFill>
                  <a:srgbClr val="002060"/>
                </a:solidFill>
                <a:latin typeface="Times New Roman" panose="02020603050405020304" pitchFamily="18" charset="0"/>
                <a:ea typeface="Times New Roman" panose="02020603050405020304" pitchFamily="18" charset="0"/>
              </a:rPr>
              <a:t>].</a:t>
            </a:r>
            <a:r>
              <a:rPr lang="en-GB" sz="3600" u="sng" dirty="0">
                <a:solidFill>
                  <a:srgbClr val="002060"/>
                </a:solidFill>
                <a:latin typeface="Times New Roman" panose="02020603050405020304" pitchFamily="18" charset="0"/>
                <a:ea typeface="Times New Roman" panose="02020603050405020304" pitchFamily="18" charset="0"/>
              </a:rPr>
              <a:t>I</a:t>
            </a:r>
            <a:r>
              <a:rPr lang="en-GB" sz="3600" baseline="-25000" dirty="0">
                <a:solidFill>
                  <a:srgbClr val="002060"/>
                </a:solidFill>
                <a:latin typeface="Times New Roman" panose="02020603050405020304" pitchFamily="18" charset="0"/>
                <a:ea typeface="Times New Roman" panose="02020603050405020304" pitchFamily="18" charset="0"/>
              </a:rPr>
              <a:t>s</a:t>
            </a:r>
            <a:endParaRPr lang="en-GB" sz="3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379160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170E4925-9CE6-4B5C-A015-9914BFF6DB10}"/>
              </a:ext>
            </a:extLst>
          </p:cNvPr>
          <p:cNvGraphicFramePr>
            <a:graphicFrameLocks noChangeAspect="1"/>
          </p:cNvGraphicFramePr>
          <p:nvPr>
            <p:extLst>
              <p:ext uri="{D42A27DB-BD31-4B8C-83A1-F6EECF244321}">
                <p14:modId xmlns:p14="http://schemas.microsoft.com/office/powerpoint/2010/main" val="3793577947"/>
              </p:ext>
            </p:extLst>
          </p:nvPr>
        </p:nvGraphicFramePr>
        <p:xfrm>
          <a:off x="6412130" y="490799"/>
          <a:ext cx="552450" cy="1000125"/>
        </p:xfrm>
        <a:graphic>
          <a:graphicData uri="http://schemas.openxmlformats.org/presentationml/2006/ole">
            <mc:AlternateContent xmlns:mc="http://schemas.openxmlformats.org/markup-compatibility/2006">
              <mc:Choice xmlns:v="urn:schemas-microsoft-com:vml" Requires="v">
                <p:oleObj spid="_x0000_s183458" r:id="rId4" imgW="114250" imgH="228501" progId="Equation.3">
                  <p:embed/>
                </p:oleObj>
              </mc:Choice>
              <mc:Fallback>
                <p:oleObj r:id="rId4" imgW="114250" imgH="228501" progId="Equation.3">
                  <p:embed/>
                  <p:pic>
                    <p:nvPicPr>
                      <p:cNvPr id="0" name="Object 10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2130" y="490799"/>
                        <a:ext cx="552450" cy="1000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37CBEC5A-BDFE-4A78-8B22-EBFEFA45475F}"/>
              </a:ext>
            </a:extLst>
          </p:cNvPr>
          <p:cNvGraphicFramePr>
            <a:graphicFrameLocks noChangeAspect="1"/>
          </p:cNvGraphicFramePr>
          <p:nvPr>
            <p:extLst>
              <p:ext uri="{D42A27DB-BD31-4B8C-83A1-F6EECF244321}">
                <p14:modId xmlns:p14="http://schemas.microsoft.com/office/powerpoint/2010/main" val="3185522345"/>
              </p:ext>
            </p:extLst>
          </p:nvPr>
        </p:nvGraphicFramePr>
        <p:xfrm>
          <a:off x="4909339" y="1913009"/>
          <a:ext cx="552450" cy="1021195"/>
        </p:xfrm>
        <a:graphic>
          <a:graphicData uri="http://schemas.openxmlformats.org/presentationml/2006/ole">
            <mc:AlternateContent xmlns:mc="http://schemas.openxmlformats.org/markup-compatibility/2006">
              <mc:Choice xmlns:v="urn:schemas-microsoft-com:vml" Requires="v">
                <p:oleObj spid="_x0000_s183459" r:id="rId6" imgW="114250" imgH="228501" progId="Equation.3">
                  <p:embed/>
                </p:oleObj>
              </mc:Choice>
              <mc:Fallback>
                <p:oleObj r:id="rId6" imgW="114250" imgH="228501" progId="Equation.3">
                  <p:embed/>
                  <p:pic>
                    <p:nvPicPr>
                      <p:cNvPr id="0" name="Object 1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9339" y="1913009"/>
                        <a:ext cx="552450" cy="1021195"/>
                      </a:xfrm>
                      <a:prstGeom prst="rect">
                        <a:avLst/>
                      </a:prstGeom>
                      <a:noFill/>
                    </p:spPr>
                  </p:pic>
                </p:oleObj>
              </mc:Fallback>
            </mc:AlternateContent>
          </a:graphicData>
        </a:graphic>
      </p:graphicFrame>
      <p:grpSp>
        <p:nvGrpSpPr>
          <p:cNvPr id="5" name="Group 1">
            <a:extLst>
              <a:ext uri="{FF2B5EF4-FFF2-40B4-BE49-F238E27FC236}">
                <a16:creationId xmlns:a16="http://schemas.microsoft.com/office/drawing/2014/main" id="{E6F189E0-6E59-49EF-A0A2-C059965502EC}"/>
              </a:ext>
            </a:extLst>
          </p:cNvPr>
          <p:cNvGrpSpPr>
            <a:grpSpLocks noChangeAspect="1"/>
          </p:cNvGrpSpPr>
          <p:nvPr/>
        </p:nvGrpSpPr>
        <p:grpSpPr bwMode="auto">
          <a:xfrm>
            <a:off x="3562900" y="3557981"/>
            <a:ext cx="6000750" cy="3039699"/>
            <a:chOff x="2370" y="8866"/>
            <a:chExt cx="5301" cy="2490"/>
          </a:xfrm>
        </p:grpSpPr>
        <p:grpSp>
          <p:nvGrpSpPr>
            <p:cNvPr id="6" name="Group 86">
              <a:extLst>
                <a:ext uri="{FF2B5EF4-FFF2-40B4-BE49-F238E27FC236}">
                  <a16:creationId xmlns:a16="http://schemas.microsoft.com/office/drawing/2014/main" id="{A049A4A2-E8D6-446E-A123-37C476EAB018}"/>
                </a:ext>
              </a:extLst>
            </p:cNvPr>
            <p:cNvGrpSpPr>
              <a:grpSpLocks noChangeAspect="1"/>
            </p:cNvGrpSpPr>
            <p:nvPr/>
          </p:nvGrpSpPr>
          <p:grpSpPr bwMode="auto">
            <a:xfrm flipV="1">
              <a:off x="5328" y="9239"/>
              <a:ext cx="1089" cy="215"/>
              <a:chOff x="1778" y="4118"/>
              <a:chExt cx="1800" cy="355"/>
            </a:xfrm>
          </p:grpSpPr>
          <p:grpSp>
            <p:nvGrpSpPr>
              <p:cNvPr id="91" name="Group 89">
                <a:extLst>
                  <a:ext uri="{FF2B5EF4-FFF2-40B4-BE49-F238E27FC236}">
                    <a16:creationId xmlns:a16="http://schemas.microsoft.com/office/drawing/2014/main" id="{5D7787CD-9C57-455B-997A-ECF93A9C405E}"/>
                  </a:ext>
                </a:extLst>
              </p:cNvPr>
              <p:cNvGrpSpPr>
                <a:grpSpLocks noChangeAspect="1"/>
              </p:cNvGrpSpPr>
              <p:nvPr/>
            </p:nvGrpSpPr>
            <p:grpSpPr bwMode="auto">
              <a:xfrm>
                <a:off x="2138" y="4118"/>
                <a:ext cx="1080" cy="355"/>
                <a:chOff x="8378" y="8263"/>
                <a:chExt cx="1080" cy="355"/>
              </a:xfrm>
            </p:grpSpPr>
            <p:sp>
              <p:nvSpPr>
                <p:cNvPr id="94" name="Arc 101">
                  <a:extLst>
                    <a:ext uri="{FF2B5EF4-FFF2-40B4-BE49-F238E27FC236}">
                      <a16:creationId xmlns:a16="http://schemas.microsoft.com/office/drawing/2014/main" id="{17C7CD90-527B-4661-AB71-C7F914A07B5E}"/>
                    </a:ext>
                  </a:extLst>
                </p:cNvPr>
                <p:cNvSpPr>
                  <a:spLocks noChangeAspect="1"/>
                </p:cNvSpPr>
                <p:nvPr/>
              </p:nvSpPr>
              <p:spPr bwMode="auto">
                <a:xfrm flipH="1" flipV="1">
                  <a:off x="8378" y="8447"/>
                  <a:ext cx="320" cy="169"/>
                </a:xfrm>
                <a:custGeom>
                  <a:avLst/>
                  <a:gdLst>
                    <a:gd name="G0" fmla="+- 19973 0 0"/>
                    <a:gd name="G1" fmla="+- 21600 0 0"/>
                    <a:gd name="G2" fmla="+- 21600 0 0"/>
                    <a:gd name="T0" fmla="*/ 0 w 41573"/>
                    <a:gd name="T1" fmla="*/ 13377 h 22566"/>
                    <a:gd name="T2" fmla="*/ 41551 w 41573"/>
                    <a:gd name="T3" fmla="*/ 22566 h 22566"/>
                    <a:gd name="T4" fmla="*/ 19973 w 41573"/>
                    <a:gd name="T5" fmla="*/ 21600 h 22566"/>
                  </a:gdLst>
                  <a:ahLst/>
                  <a:cxnLst>
                    <a:cxn ang="0">
                      <a:pos x="T0" y="T1"/>
                    </a:cxn>
                    <a:cxn ang="0">
                      <a:pos x="T2" y="T3"/>
                    </a:cxn>
                    <a:cxn ang="0">
                      <a:pos x="T4" y="T5"/>
                    </a:cxn>
                  </a:cxnLst>
                  <a:rect l="0" t="0" r="r" b="b"/>
                  <a:pathLst>
                    <a:path w="41573" h="22566" fill="none" extrusionOk="0">
                      <a:moveTo>
                        <a:pt x="-1" y="13376"/>
                      </a:moveTo>
                      <a:cubicBezTo>
                        <a:pt x="3331" y="5282"/>
                        <a:pt x="11219" y="0"/>
                        <a:pt x="19973" y="0"/>
                      </a:cubicBezTo>
                      <a:cubicBezTo>
                        <a:pt x="31902" y="0"/>
                        <a:pt x="41573" y="9670"/>
                        <a:pt x="41573" y="21600"/>
                      </a:cubicBezTo>
                      <a:cubicBezTo>
                        <a:pt x="41573" y="21922"/>
                        <a:pt x="41565" y="22244"/>
                        <a:pt x="41551" y="22566"/>
                      </a:cubicBezTo>
                    </a:path>
                    <a:path w="41573" h="22566" stroke="0" extrusionOk="0">
                      <a:moveTo>
                        <a:pt x="-1" y="13376"/>
                      </a:moveTo>
                      <a:cubicBezTo>
                        <a:pt x="3331" y="5282"/>
                        <a:pt x="11219" y="0"/>
                        <a:pt x="19973" y="0"/>
                      </a:cubicBezTo>
                      <a:cubicBezTo>
                        <a:pt x="31902" y="0"/>
                        <a:pt x="41573" y="9670"/>
                        <a:pt x="41573" y="21600"/>
                      </a:cubicBezTo>
                      <a:cubicBezTo>
                        <a:pt x="41573" y="21922"/>
                        <a:pt x="41565" y="22244"/>
                        <a:pt x="41551" y="22566"/>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95" name="Group 98">
                  <a:extLst>
                    <a:ext uri="{FF2B5EF4-FFF2-40B4-BE49-F238E27FC236}">
                      <a16:creationId xmlns:a16="http://schemas.microsoft.com/office/drawing/2014/main" id="{E7E2271D-BD7F-4296-AA17-C22AAAD18E7B}"/>
                    </a:ext>
                  </a:extLst>
                </p:cNvPr>
                <p:cNvGrpSpPr>
                  <a:grpSpLocks noChangeAspect="1"/>
                </p:cNvGrpSpPr>
                <p:nvPr/>
              </p:nvGrpSpPr>
              <p:grpSpPr bwMode="auto">
                <a:xfrm>
                  <a:off x="8556" y="8273"/>
                  <a:ext cx="328" cy="344"/>
                  <a:chOff x="2020" y="8243"/>
                  <a:chExt cx="1768" cy="960"/>
                </a:xfrm>
              </p:grpSpPr>
              <p:sp>
                <p:nvSpPr>
                  <p:cNvPr id="104" name="Arc 100">
                    <a:extLst>
                      <a:ext uri="{FF2B5EF4-FFF2-40B4-BE49-F238E27FC236}">
                        <a16:creationId xmlns:a16="http://schemas.microsoft.com/office/drawing/2014/main" id="{3A844BCD-EDE5-4C02-A7DA-225D1B5E916B}"/>
                      </a:ext>
                    </a:extLst>
                  </p:cNvPr>
                  <p:cNvSpPr>
                    <a:spLocks noChangeAspect="1"/>
                  </p:cNvSpPr>
                  <p:nvPr/>
                </p:nvSpPr>
                <p:spPr bwMode="auto">
                  <a:xfrm>
                    <a:off x="2020" y="8243"/>
                    <a:ext cx="842" cy="674"/>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5" name="Arc 99">
                    <a:extLst>
                      <a:ext uri="{FF2B5EF4-FFF2-40B4-BE49-F238E27FC236}">
                        <a16:creationId xmlns:a16="http://schemas.microsoft.com/office/drawing/2014/main" id="{C949E1BF-4A7F-463C-ACBA-FF022C0A220C}"/>
                      </a:ext>
                    </a:extLst>
                  </p:cNvPr>
                  <p:cNvSpPr>
                    <a:spLocks noChangeAspect="1"/>
                  </p:cNvSpPr>
                  <p:nvPr/>
                </p:nvSpPr>
                <p:spPr bwMode="auto">
                  <a:xfrm flipH="1" flipV="1">
                    <a:off x="2117" y="8753"/>
                    <a:ext cx="1671" cy="450"/>
                  </a:xfrm>
                  <a:custGeom>
                    <a:avLst/>
                    <a:gdLst>
                      <a:gd name="G0" fmla="+- 19973 0 0"/>
                      <a:gd name="G1" fmla="+- 21600 0 0"/>
                      <a:gd name="G2" fmla="+- 21600 0 0"/>
                      <a:gd name="T0" fmla="*/ 0 w 40269"/>
                      <a:gd name="T1" fmla="*/ 13377 h 21600"/>
                      <a:gd name="T2" fmla="*/ 40269 w 40269"/>
                      <a:gd name="T3" fmla="*/ 14208 h 21600"/>
                      <a:gd name="T4" fmla="*/ 19973 w 40269"/>
                      <a:gd name="T5" fmla="*/ 21600 h 21600"/>
                    </a:gdLst>
                    <a:ahLst/>
                    <a:cxnLst>
                      <a:cxn ang="0">
                        <a:pos x="T0" y="T1"/>
                      </a:cxn>
                      <a:cxn ang="0">
                        <a:pos x="T2" y="T3"/>
                      </a:cxn>
                      <a:cxn ang="0">
                        <a:pos x="T4" y="T5"/>
                      </a:cxn>
                    </a:cxnLst>
                    <a:rect l="0" t="0" r="r" b="b"/>
                    <a:pathLst>
                      <a:path w="40269" h="21600" fill="none" extrusionOk="0">
                        <a:moveTo>
                          <a:pt x="-1" y="13376"/>
                        </a:moveTo>
                        <a:cubicBezTo>
                          <a:pt x="3331" y="5282"/>
                          <a:pt x="11219" y="0"/>
                          <a:pt x="19973" y="0"/>
                        </a:cubicBezTo>
                        <a:cubicBezTo>
                          <a:pt x="29051" y="0"/>
                          <a:pt x="37161" y="5677"/>
                          <a:pt x="40268" y="14208"/>
                        </a:cubicBezTo>
                      </a:path>
                      <a:path w="40269" h="21600" stroke="0" extrusionOk="0">
                        <a:moveTo>
                          <a:pt x="-1" y="13376"/>
                        </a:moveTo>
                        <a:cubicBezTo>
                          <a:pt x="3331" y="5282"/>
                          <a:pt x="11219" y="0"/>
                          <a:pt x="19973" y="0"/>
                        </a:cubicBezTo>
                        <a:cubicBezTo>
                          <a:pt x="29051" y="0"/>
                          <a:pt x="37161" y="5677"/>
                          <a:pt x="40268" y="14208"/>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96" name="Group 95">
                  <a:extLst>
                    <a:ext uri="{FF2B5EF4-FFF2-40B4-BE49-F238E27FC236}">
                      <a16:creationId xmlns:a16="http://schemas.microsoft.com/office/drawing/2014/main" id="{059A8AAF-654A-47C2-8A36-7DB28A21E94E}"/>
                    </a:ext>
                  </a:extLst>
                </p:cNvPr>
                <p:cNvGrpSpPr>
                  <a:grpSpLocks noChangeAspect="1"/>
                </p:cNvGrpSpPr>
                <p:nvPr/>
              </p:nvGrpSpPr>
              <p:grpSpPr bwMode="auto">
                <a:xfrm>
                  <a:off x="8745" y="8263"/>
                  <a:ext cx="328" cy="344"/>
                  <a:chOff x="2020" y="8243"/>
                  <a:chExt cx="1768" cy="960"/>
                </a:xfrm>
              </p:grpSpPr>
              <p:sp>
                <p:nvSpPr>
                  <p:cNvPr id="102" name="Arc 97">
                    <a:extLst>
                      <a:ext uri="{FF2B5EF4-FFF2-40B4-BE49-F238E27FC236}">
                        <a16:creationId xmlns:a16="http://schemas.microsoft.com/office/drawing/2014/main" id="{866A797B-6BF4-438E-8F29-B5F736E59563}"/>
                      </a:ext>
                    </a:extLst>
                  </p:cNvPr>
                  <p:cNvSpPr>
                    <a:spLocks noChangeAspect="1"/>
                  </p:cNvSpPr>
                  <p:nvPr/>
                </p:nvSpPr>
                <p:spPr bwMode="auto">
                  <a:xfrm>
                    <a:off x="2020" y="8243"/>
                    <a:ext cx="842" cy="674"/>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3" name="Arc 96">
                    <a:extLst>
                      <a:ext uri="{FF2B5EF4-FFF2-40B4-BE49-F238E27FC236}">
                        <a16:creationId xmlns:a16="http://schemas.microsoft.com/office/drawing/2014/main" id="{BD7E5D4C-5C67-480F-A6CF-829012B6C67C}"/>
                      </a:ext>
                    </a:extLst>
                  </p:cNvPr>
                  <p:cNvSpPr>
                    <a:spLocks noChangeAspect="1"/>
                  </p:cNvSpPr>
                  <p:nvPr/>
                </p:nvSpPr>
                <p:spPr bwMode="auto">
                  <a:xfrm flipH="1" flipV="1">
                    <a:off x="2117" y="8753"/>
                    <a:ext cx="1671" cy="450"/>
                  </a:xfrm>
                  <a:custGeom>
                    <a:avLst/>
                    <a:gdLst>
                      <a:gd name="G0" fmla="+- 19973 0 0"/>
                      <a:gd name="G1" fmla="+- 21600 0 0"/>
                      <a:gd name="G2" fmla="+- 21600 0 0"/>
                      <a:gd name="T0" fmla="*/ 0 w 40269"/>
                      <a:gd name="T1" fmla="*/ 13377 h 21600"/>
                      <a:gd name="T2" fmla="*/ 40269 w 40269"/>
                      <a:gd name="T3" fmla="*/ 14208 h 21600"/>
                      <a:gd name="T4" fmla="*/ 19973 w 40269"/>
                      <a:gd name="T5" fmla="*/ 21600 h 21600"/>
                    </a:gdLst>
                    <a:ahLst/>
                    <a:cxnLst>
                      <a:cxn ang="0">
                        <a:pos x="T0" y="T1"/>
                      </a:cxn>
                      <a:cxn ang="0">
                        <a:pos x="T2" y="T3"/>
                      </a:cxn>
                      <a:cxn ang="0">
                        <a:pos x="T4" y="T5"/>
                      </a:cxn>
                    </a:cxnLst>
                    <a:rect l="0" t="0" r="r" b="b"/>
                    <a:pathLst>
                      <a:path w="40269" h="21600" fill="none" extrusionOk="0">
                        <a:moveTo>
                          <a:pt x="-1" y="13376"/>
                        </a:moveTo>
                        <a:cubicBezTo>
                          <a:pt x="3331" y="5282"/>
                          <a:pt x="11219" y="0"/>
                          <a:pt x="19973" y="0"/>
                        </a:cubicBezTo>
                        <a:cubicBezTo>
                          <a:pt x="29051" y="0"/>
                          <a:pt x="37161" y="5677"/>
                          <a:pt x="40268" y="14208"/>
                        </a:cubicBezTo>
                      </a:path>
                      <a:path w="40269" h="21600" stroke="0" extrusionOk="0">
                        <a:moveTo>
                          <a:pt x="-1" y="13376"/>
                        </a:moveTo>
                        <a:cubicBezTo>
                          <a:pt x="3331" y="5282"/>
                          <a:pt x="11219" y="0"/>
                          <a:pt x="19973" y="0"/>
                        </a:cubicBezTo>
                        <a:cubicBezTo>
                          <a:pt x="29051" y="0"/>
                          <a:pt x="37161" y="5677"/>
                          <a:pt x="40268" y="14208"/>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97" name="Group 92">
                  <a:extLst>
                    <a:ext uri="{FF2B5EF4-FFF2-40B4-BE49-F238E27FC236}">
                      <a16:creationId xmlns:a16="http://schemas.microsoft.com/office/drawing/2014/main" id="{44BAB3EE-3DFF-4A9E-9B42-0890EDE048E2}"/>
                    </a:ext>
                  </a:extLst>
                </p:cNvPr>
                <p:cNvGrpSpPr>
                  <a:grpSpLocks noChangeAspect="1"/>
                </p:cNvGrpSpPr>
                <p:nvPr/>
              </p:nvGrpSpPr>
              <p:grpSpPr bwMode="auto">
                <a:xfrm>
                  <a:off x="8931" y="8269"/>
                  <a:ext cx="328" cy="344"/>
                  <a:chOff x="2020" y="8243"/>
                  <a:chExt cx="1768" cy="960"/>
                </a:xfrm>
              </p:grpSpPr>
              <p:sp>
                <p:nvSpPr>
                  <p:cNvPr id="100" name="Arc 94">
                    <a:extLst>
                      <a:ext uri="{FF2B5EF4-FFF2-40B4-BE49-F238E27FC236}">
                        <a16:creationId xmlns:a16="http://schemas.microsoft.com/office/drawing/2014/main" id="{22A4991A-03C1-4BB1-8017-C5826FC5FB13}"/>
                      </a:ext>
                    </a:extLst>
                  </p:cNvPr>
                  <p:cNvSpPr>
                    <a:spLocks noChangeAspect="1"/>
                  </p:cNvSpPr>
                  <p:nvPr/>
                </p:nvSpPr>
                <p:spPr bwMode="auto">
                  <a:xfrm>
                    <a:off x="2020" y="8243"/>
                    <a:ext cx="842" cy="674"/>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1" name="Arc 93">
                    <a:extLst>
                      <a:ext uri="{FF2B5EF4-FFF2-40B4-BE49-F238E27FC236}">
                        <a16:creationId xmlns:a16="http://schemas.microsoft.com/office/drawing/2014/main" id="{5F8AAE59-C700-4319-8EF3-6DAE1E4FE5A6}"/>
                      </a:ext>
                    </a:extLst>
                  </p:cNvPr>
                  <p:cNvSpPr>
                    <a:spLocks noChangeAspect="1"/>
                  </p:cNvSpPr>
                  <p:nvPr/>
                </p:nvSpPr>
                <p:spPr bwMode="auto">
                  <a:xfrm flipH="1" flipV="1">
                    <a:off x="2117" y="8753"/>
                    <a:ext cx="1671" cy="450"/>
                  </a:xfrm>
                  <a:custGeom>
                    <a:avLst/>
                    <a:gdLst>
                      <a:gd name="G0" fmla="+- 19973 0 0"/>
                      <a:gd name="G1" fmla="+- 21600 0 0"/>
                      <a:gd name="G2" fmla="+- 21600 0 0"/>
                      <a:gd name="T0" fmla="*/ 0 w 40269"/>
                      <a:gd name="T1" fmla="*/ 13377 h 21600"/>
                      <a:gd name="T2" fmla="*/ 40269 w 40269"/>
                      <a:gd name="T3" fmla="*/ 14208 h 21600"/>
                      <a:gd name="T4" fmla="*/ 19973 w 40269"/>
                      <a:gd name="T5" fmla="*/ 21600 h 21600"/>
                    </a:gdLst>
                    <a:ahLst/>
                    <a:cxnLst>
                      <a:cxn ang="0">
                        <a:pos x="T0" y="T1"/>
                      </a:cxn>
                      <a:cxn ang="0">
                        <a:pos x="T2" y="T3"/>
                      </a:cxn>
                      <a:cxn ang="0">
                        <a:pos x="T4" y="T5"/>
                      </a:cxn>
                    </a:cxnLst>
                    <a:rect l="0" t="0" r="r" b="b"/>
                    <a:pathLst>
                      <a:path w="40269" h="21600" fill="none" extrusionOk="0">
                        <a:moveTo>
                          <a:pt x="-1" y="13376"/>
                        </a:moveTo>
                        <a:cubicBezTo>
                          <a:pt x="3331" y="5282"/>
                          <a:pt x="11219" y="0"/>
                          <a:pt x="19973" y="0"/>
                        </a:cubicBezTo>
                        <a:cubicBezTo>
                          <a:pt x="29051" y="0"/>
                          <a:pt x="37161" y="5677"/>
                          <a:pt x="40268" y="14208"/>
                        </a:cubicBezTo>
                      </a:path>
                      <a:path w="40269" h="21600" stroke="0" extrusionOk="0">
                        <a:moveTo>
                          <a:pt x="-1" y="13376"/>
                        </a:moveTo>
                        <a:cubicBezTo>
                          <a:pt x="3331" y="5282"/>
                          <a:pt x="11219" y="0"/>
                          <a:pt x="19973" y="0"/>
                        </a:cubicBezTo>
                        <a:cubicBezTo>
                          <a:pt x="29051" y="0"/>
                          <a:pt x="37161" y="5677"/>
                          <a:pt x="40268" y="14208"/>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98" name="Arc 91">
                  <a:extLst>
                    <a:ext uri="{FF2B5EF4-FFF2-40B4-BE49-F238E27FC236}">
                      <a16:creationId xmlns:a16="http://schemas.microsoft.com/office/drawing/2014/main" id="{E4BDC122-5A58-4012-A375-961BAFA31F45}"/>
                    </a:ext>
                  </a:extLst>
                </p:cNvPr>
                <p:cNvSpPr>
                  <a:spLocks noChangeAspect="1"/>
                </p:cNvSpPr>
                <p:nvPr/>
              </p:nvSpPr>
              <p:spPr bwMode="auto">
                <a:xfrm>
                  <a:off x="9118" y="8274"/>
                  <a:ext cx="156" cy="242"/>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9" name="Arc 90">
                  <a:extLst>
                    <a:ext uri="{FF2B5EF4-FFF2-40B4-BE49-F238E27FC236}">
                      <a16:creationId xmlns:a16="http://schemas.microsoft.com/office/drawing/2014/main" id="{00014A64-B47D-4F9C-B59F-F36D7740BF10}"/>
                    </a:ext>
                  </a:extLst>
                </p:cNvPr>
                <p:cNvSpPr>
                  <a:spLocks noChangeAspect="1"/>
                </p:cNvSpPr>
                <p:nvPr/>
              </p:nvSpPr>
              <p:spPr bwMode="auto">
                <a:xfrm flipH="1" flipV="1">
                  <a:off x="9136" y="8454"/>
                  <a:ext cx="322" cy="164"/>
                </a:xfrm>
                <a:custGeom>
                  <a:avLst/>
                  <a:gdLst>
                    <a:gd name="G0" fmla="+- 21600 0 0"/>
                    <a:gd name="G1" fmla="+- 21600 0 0"/>
                    <a:gd name="G2" fmla="+- 21600 0 0"/>
                    <a:gd name="T0" fmla="*/ 4 w 41896"/>
                    <a:gd name="T1" fmla="*/ 22008 h 22008"/>
                    <a:gd name="T2" fmla="*/ 41896 w 41896"/>
                    <a:gd name="T3" fmla="*/ 14208 h 22008"/>
                    <a:gd name="T4" fmla="*/ 21600 w 41896"/>
                    <a:gd name="T5" fmla="*/ 21600 h 22008"/>
                  </a:gdLst>
                  <a:ahLst/>
                  <a:cxnLst>
                    <a:cxn ang="0">
                      <a:pos x="T0" y="T1"/>
                    </a:cxn>
                    <a:cxn ang="0">
                      <a:pos x="T2" y="T3"/>
                    </a:cxn>
                    <a:cxn ang="0">
                      <a:pos x="T4" y="T5"/>
                    </a:cxn>
                  </a:cxnLst>
                  <a:rect l="0" t="0" r="r" b="b"/>
                  <a:pathLst>
                    <a:path w="41896" h="22008" fill="none" extrusionOk="0">
                      <a:moveTo>
                        <a:pt x="3" y="22008"/>
                      </a:moveTo>
                      <a:cubicBezTo>
                        <a:pt x="1" y="21872"/>
                        <a:pt x="0" y="21736"/>
                        <a:pt x="0" y="21600"/>
                      </a:cubicBezTo>
                      <a:cubicBezTo>
                        <a:pt x="0" y="9670"/>
                        <a:pt x="9670" y="0"/>
                        <a:pt x="21600" y="0"/>
                      </a:cubicBezTo>
                      <a:cubicBezTo>
                        <a:pt x="30678" y="0"/>
                        <a:pt x="38788" y="5677"/>
                        <a:pt x="41895" y="14208"/>
                      </a:cubicBezTo>
                    </a:path>
                    <a:path w="41896" h="22008" stroke="0" extrusionOk="0">
                      <a:moveTo>
                        <a:pt x="3" y="22008"/>
                      </a:moveTo>
                      <a:cubicBezTo>
                        <a:pt x="1" y="21872"/>
                        <a:pt x="0" y="21736"/>
                        <a:pt x="0" y="21600"/>
                      </a:cubicBezTo>
                      <a:cubicBezTo>
                        <a:pt x="0" y="9670"/>
                        <a:pt x="9670" y="0"/>
                        <a:pt x="21600" y="0"/>
                      </a:cubicBezTo>
                      <a:cubicBezTo>
                        <a:pt x="30678" y="0"/>
                        <a:pt x="38788" y="5677"/>
                        <a:pt x="41895" y="14208"/>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92" name="Line 88">
                <a:extLst>
                  <a:ext uri="{FF2B5EF4-FFF2-40B4-BE49-F238E27FC236}">
                    <a16:creationId xmlns:a16="http://schemas.microsoft.com/office/drawing/2014/main" id="{54748E1E-A813-48B7-B8B8-8EA56DF0FFA0}"/>
                  </a:ext>
                </a:extLst>
              </p:cNvPr>
              <p:cNvSpPr>
                <a:spLocks noChangeAspect="1" noChangeShapeType="1"/>
              </p:cNvSpPr>
              <p:nvPr/>
            </p:nvSpPr>
            <p:spPr bwMode="auto">
              <a:xfrm>
                <a:off x="3218" y="429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3" name="Line 87">
                <a:extLst>
                  <a:ext uri="{FF2B5EF4-FFF2-40B4-BE49-F238E27FC236}">
                    <a16:creationId xmlns:a16="http://schemas.microsoft.com/office/drawing/2014/main" id="{875935A7-F385-4658-B229-48B0AAF563C8}"/>
                  </a:ext>
                </a:extLst>
              </p:cNvPr>
              <p:cNvSpPr>
                <a:spLocks noChangeAspect="1" noChangeShapeType="1"/>
              </p:cNvSpPr>
              <p:nvPr/>
            </p:nvSpPr>
            <p:spPr bwMode="auto">
              <a:xfrm>
                <a:off x="1778" y="429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7" name="Group 76">
              <a:extLst>
                <a:ext uri="{FF2B5EF4-FFF2-40B4-BE49-F238E27FC236}">
                  <a16:creationId xmlns:a16="http://schemas.microsoft.com/office/drawing/2014/main" id="{46E93166-66A3-48AB-BC2B-3AEF9F6B3C6C}"/>
                </a:ext>
              </a:extLst>
            </p:cNvPr>
            <p:cNvGrpSpPr>
              <a:grpSpLocks noChangeAspect="1"/>
            </p:cNvGrpSpPr>
            <p:nvPr/>
          </p:nvGrpSpPr>
          <p:grpSpPr bwMode="auto">
            <a:xfrm>
              <a:off x="3657" y="9213"/>
              <a:ext cx="1083" cy="271"/>
              <a:chOff x="1658" y="2138"/>
              <a:chExt cx="1440" cy="360"/>
            </a:xfrm>
          </p:grpSpPr>
          <p:sp>
            <p:nvSpPr>
              <p:cNvPr id="82" name="Line 85">
                <a:extLst>
                  <a:ext uri="{FF2B5EF4-FFF2-40B4-BE49-F238E27FC236}">
                    <a16:creationId xmlns:a16="http://schemas.microsoft.com/office/drawing/2014/main" id="{DBD29DB3-8327-43CE-99AD-57A99070943E}"/>
                  </a:ext>
                </a:extLst>
              </p:cNvPr>
              <p:cNvSpPr>
                <a:spLocks noChangeAspect="1" noChangeShapeType="1"/>
              </p:cNvSpPr>
              <p:nvPr/>
            </p:nvSpPr>
            <p:spPr bwMode="auto">
              <a:xfrm>
                <a:off x="1658" y="231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83" name="Group 78">
                <a:extLst>
                  <a:ext uri="{FF2B5EF4-FFF2-40B4-BE49-F238E27FC236}">
                    <a16:creationId xmlns:a16="http://schemas.microsoft.com/office/drawing/2014/main" id="{C1A4904E-25CF-4360-B2F4-FB16EAE63179}"/>
                  </a:ext>
                </a:extLst>
              </p:cNvPr>
              <p:cNvGrpSpPr>
                <a:grpSpLocks noChangeAspect="1"/>
              </p:cNvGrpSpPr>
              <p:nvPr/>
            </p:nvGrpSpPr>
            <p:grpSpPr bwMode="auto">
              <a:xfrm>
                <a:off x="2018" y="2138"/>
                <a:ext cx="720" cy="360"/>
                <a:chOff x="2018" y="2138"/>
                <a:chExt cx="1200" cy="357"/>
              </a:xfrm>
            </p:grpSpPr>
            <p:sp>
              <p:nvSpPr>
                <p:cNvPr id="85" name="Line 84">
                  <a:extLst>
                    <a:ext uri="{FF2B5EF4-FFF2-40B4-BE49-F238E27FC236}">
                      <a16:creationId xmlns:a16="http://schemas.microsoft.com/office/drawing/2014/main" id="{B1F11DAC-8AB0-46CE-904A-E9D00F41AC67}"/>
                    </a:ext>
                  </a:extLst>
                </p:cNvPr>
                <p:cNvSpPr>
                  <a:spLocks noChangeAspect="1" noChangeShapeType="1"/>
                </p:cNvSpPr>
                <p:nvPr/>
              </p:nvSpPr>
              <p:spPr bwMode="auto">
                <a:xfrm flipV="1">
                  <a:off x="2018" y="2138"/>
                  <a:ext cx="120" cy="18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6" name="Line 83">
                  <a:extLst>
                    <a:ext uri="{FF2B5EF4-FFF2-40B4-BE49-F238E27FC236}">
                      <a16:creationId xmlns:a16="http://schemas.microsoft.com/office/drawing/2014/main" id="{2D74DED5-E375-4C9E-B5F3-F2E0826A8195}"/>
                    </a:ext>
                  </a:extLst>
                </p:cNvPr>
                <p:cNvSpPr>
                  <a:spLocks noChangeAspect="1" noChangeShapeType="1"/>
                </p:cNvSpPr>
                <p:nvPr/>
              </p:nvSpPr>
              <p:spPr bwMode="auto">
                <a:xfrm flipH="1" flipV="1">
                  <a:off x="3098" y="2138"/>
                  <a:ext cx="120" cy="18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7" name="Line 82">
                  <a:extLst>
                    <a:ext uri="{FF2B5EF4-FFF2-40B4-BE49-F238E27FC236}">
                      <a16:creationId xmlns:a16="http://schemas.microsoft.com/office/drawing/2014/main" id="{81192D0E-19BE-4DAC-97D9-2F0E74AE0833}"/>
                    </a:ext>
                  </a:extLst>
                </p:cNvPr>
                <p:cNvSpPr>
                  <a:spLocks noChangeAspect="1" noChangeShapeType="1"/>
                </p:cNvSpPr>
                <p:nvPr/>
              </p:nvSpPr>
              <p:spPr bwMode="auto">
                <a:xfrm flipH="1" flipV="1">
                  <a:off x="2125"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8" name="Line 81">
                  <a:extLst>
                    <a:ext uri="{FF2B5EF4-FFF2-40B4-BE49-F238E27FC236}">
                      <a16:creationId xmlns:a16="http://schemas.microsoft.com/office/drawing/2014/main" id="{D9BBD75E-C128-45EB-9A50-F54FC10AD7AC}"/>
                    </a:ext>
                  </a:extLst>
                </p:cNvPr>
                <p:cNvSpPr>
                  <a:spLocks noChangeAspect="1" noChangeShapeType="1"/>
                </p:cNvSpPr>
                <p:nvPr/>
              </p:nvSpPr>
              <p:spPr bwMode="auto">
                <a:xfrm flipV="1">
                  <a:off x="2380"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9" name="Line 80">
                  <a:extLst>
                    <a:ext uri="{FF2B5EF4-FFF2-40B4-BE49-F238E27FC236}">
                      <a16:creationId xmlns:a16="http://schemas.microsoft.com/office/drawing/2014/main" id="{A884F14C-8B60-4481-82FA-D4C645490C4A}"/>
                    </a:ext>
                  </a:extLst>
                </p:cNvPr>
                <p:cNvSpPr>
                  <a:spLocks noChangeAspect="1" noChangeShapeType="1"/>
                </p:cNvSpPr>
                <p:nvPr/>
              </p:nvSpPr>
              <p:spPr bwMode="auto">
                <a:xfrm flipH="1" flipV="1">
                  <a:off x="2605"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0" name="Line 79">
                  <a:extLst>
                    <a:ext uri="{FF2B5EF4-FFF2-40B4-BE49-F238E27FC236}">
                      <a16:creationId xmlns:a16="http://schemas.microsoft.com/office/drawing/2014/main" id="{0433EDBD-AFCA-4F57-A179-32F9D355B71E}"/>
                    </a:ext>
                  </a:extLst>
                </p:cNvPr>
                <p:cNvSpPr>
                  <a:spLocks noChangeAspect="1" noChangeShapeType="1"/>
                </p:cNvSpPr>
                <p:nvPr/>
              </p:nvSpPr>
              <p:spPr bwMode="auto">
                <a:xfrm flipV="1">
                  <a:off x="2860"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84" name="Line 77">
                <a:extLst>
                  <a:ext uri="{FF2B5EF4-FFF2-40B4-BE49-F238E27FC236}">
                    <a16:creationId xmlns:a16="http://schemas.microsoft.com/office/drawing/2014/main" id="{58F66EAF-3AE7-4EF1-8F7F-46E0E5A4D439}"/>
                  </a:ext>
                </a:extLst>
              </p:cNvPr>
              <p:cNvSpPr>
                <a:spLocks noChangeAspect="1" noChangeShapeType="1"/>
              </p:cNvSpPr>
              <p:nvPr/>
            </p:nvSpPr>
            <p:spPr bwMode="auto">
              <a:xfrm>
                <a:off x="2738" y="231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8" name="Text Box 75">
              <a:extLst>
                <a:ext uri="{FF2B5EF4-FFF2-40B4-BE49-F238E27FC236}">
                  <a16:creationId xmlns:a16="http://schemas.microsoft.com/office/drawing/2014/main" id="{DBAC23E0-B21E-48BC-B1B8-296750D54BFE}"/>
                </a:ext>
              </a:extLst>
            </p:cNvPr>
            <p:cNvSpPr txBox="1">
              <a:spLocks noChangeArrowheads="1"/>
            </p:cNvSpPr>
            <p:nvPr/>
          </p:nvSpPr>
          <p:spPr bwMode="auto">
            <a:xfrm>
              <a:off x="4221" y="8866"/>
              <a:ext cx="55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R</a:t>
              </a:r>
              <a:r>
                <a:rPr kumimoji="0" lang="en-US"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74">
              <a:extLst>
                <a:ext uri="{FF2B5EF4-FFF2-40B4-BE49-F238E27FC236}">
                  <a16:creationId xmlns:a16="http://schemas.microsoft.com/office/drawing/2014/main" id="{03D79564-AE23-41B2-9F7F-7FE8A9CFA81E}"/>
                </a:ext>
              </a:extLst>
            </p:cNvPr>
            <p:cNvSpPr txBox="1">
              <a:spLocks noChangeArrowheads="1"/>
            </p:cNvSpPr>
            <p:nvPr/>
          </p:nvSpPr>
          <p:spPr bwMode="auto">
            <a:xfrm>
              <a:off x="5772" y="8890"/>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L</a:t>
              </a:r>
              <a:r>
                <a:rPr kumimoji="0" lang="en-US" altLang="en-US" sz="28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Line 73">
              <a:extLst>
                <a:ext uri="{FF2B5EF4-FFF2-40B4-BE49-F238E27FC236}">
                  <a16:creationId xmlns:a16="http://schemas.microsoft.com/office/drawing/2014/main" id="{3BBB59C5-8B52-4310-911D-751AD99DC0A4}"/>
                </a:ext>
              </a:extLst>
            </p:cNvPr>
            <p:cNvSpPr>
              <a:spLocks noChangeShapeType="1"/>
            </p:cNvSpPr>
            <p:nvPr/>
          </p:nvSpPr>
          <p:spPr bwMode="auto">
            <a:xfrm flipH="1">
              <a:off x="2370" y="9346"/>
              <a:ext cx="1311"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 name="Line 72">
              <a:extLst>
                <a:ext uri="{FF2B5EF4-FFF2-40B4-BE49-F238E27FC236}">
                  <a16:creationId xmlns:a16="http://schemas.microsoft.com/office/drawing/2014/main" id="{5DC2EAAD-8881-4AC0-8D86-BDDB57413919}"/>
                </a:ext>
              </a:extLst>
            </p:cNvPr>
            <p:cNvSpPr>
              <a:spLocks noChangeShapeType="1"/>
            </p:cNvSpPr>
            <p:nvPr/>
          </p:nvSpPr>
          <p:spPr bwMode="auto">
            <a:xfrm flipH="1">
              <a:off x="6360" y="9346"/>
              <a:ext cx="1311"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12" name="Group 56">
              <a:extLst>
                <a:ext uri="{FF2B5EF4-FFF2-40B4-BE49-F238E27FC236}">
                  <a16:creationId xmlns:a16="http://schemas.microsoft.com/office/drawing/2014/main" id="{7BD59B4A-6265-4DBB-A2A0-752932A443AC}"/>
                </a:ext>
              </a:extLst>
            </p:cNvPr>
            <p:cNvGrpSpPr>
              <a:grpSpLocks noChangeAspect="1"/>
            </p:cNvGrpSpPr>
            <p:nvPr/>
          </p:nvGrpSpPr>
          <p:grpSpPr bwMode="auto">
            <a:xfrm flipV="1">
              <a:off x="5328" y="9923"/>
              <a:ext cx="1089" cy="215"/>
              <a:chOff x="1778" y="4118"/>
              <a:chExt cx="1800" cy="355"/>
            </a:xfrm>
          </p:grpSpPr>
          <p:grpSp>
            <p:nvGrpSpPr>
              <p:cNvPr id="67" name="Group 59">
                <a:extLst>
                  <a:ext uri="{FF2B5EF4-FFF2-40B4-BE49-F238E27FC236}">
                    <a16:creationId xmlns:a16="http://schemas.microsoft.com/office/drawing/2014/main" id="{167BEA3B-62C7-44B3-B7AC-4BDA49F044DD}"/>
                  </a:ext>
                </a:extLst>
              </p:cNvPr>
              <p:cNvGrpSpPr>
                <a:grpSpLocks noChangeAspect="1"/>
              </p:cNvGrpSpPr>
              <p:nvPr/>
            </p:nvGrpSpPr>
            <p:grpSpPr bwMode="auto">
              <a:xfrm>
                <a:off x="2138" y="4118"/>
                <a:ext cx="1080" cy="355"/>
                <a:chOff x="8378" y="8263"/>
                <a:chExt cx="1080" cy="355"/>
              </a:xfrm>
            </p:grpSpPr>
            <p:sp>
              <p:nvSpPr>
                <p:cNvPr id="70" name="Arc 71">
                  <a:extLst>
                    <a:ext uri="{FF2B5EF4-FFF2-40B4-BE49-F238E27FC236}">
                      <a16:creationId xmlns:a16="http://schemas.microsoft.com/office/drawing/2014/main" id="{1C3EFD7B-3580-4DBE-AF64-1B92ACBE6A34}"/>
                    </a:ext>
                  </a:extLst>
                </p:cNvPr>
                <p:cNvSpPr>
                  <a:spLocks noChangeAspect="1"/>
                </p:cNvSpPr>
                <p:nvPr/>
              </p:nvSpPr>
              <p:spPr bwMode="auto">
                <a:xfrm flipH="1" flipV="1">
                  <a:off x="8378" y="8447"/>
                  <a:ext cx="320" cy="169"/>
                </a:xfrm>
                <a:custGeom>
                  <a:avLst/>
                  <a:gdLst>
                    <a:gd name="G0" fmla="+- 19973 0 0"/>
                    <a:gd name="G1" fmla="+- 21600 0 0"/>
                    <a:gd name="G2" fmla="+- 21600 0 0"/>
                    <a:gd name="T0" fmla="*/ 0 w 41573"/>
                    <a:gd name="T1" fmla="*/ 13377 h 22566"/>
                    <a:gd name="T2" fmla="*/ 41551 w 41573"/>
                    <a:gd name="T3" fmla="*/ 22566 h 22566"/>
                    <a:gd name="T4" fmla="*/ 19973 w 41573"/>
                    <a:gd name="T5" fmla="*/ 21600 h 22566"/>
                  </a:gdLst>
                  <a:ahLst/>
                  <a:cxnLst>
                    <a:cxn ang="0">
                      <a:pos x="T0" y="T1"/>
                    </a:cxn>
                    <a:cxn ang="0">
                      <a:pos x="T2" y="T3"/>
                    </a:cxn>
                    <a:cxn ang="0">
                      <a:pos x="T4" y="T5"/>
                    </a:cxn>
                  </a:cxnLst>
                  <a:rect l="0" t="0" r="r" b="b"/>
                  <a:pathLst>
                    <a:path w="41573" h="22566" fill="none" extrusionOk="0">
                      <a:moveTo>
                        <a:pt x="-1" y="13376"/>
                      </a:moveTo>
                      <a:cubicBezTo>
                        <a:pt x="3331" y="5282"/>
                        <a:pt x="11219" y="0"/>
                        <a:pt x="19973" y="0"/>
                      </a:cubicBezTo>
                      <a:cubicBezTo>
                        <a:pt x="31902" y="0"/>
                        <a:pt x="41573" y="9670"/>
                        <a:pt x="41573" y="21600"/>
                      </a:cubicBezTo>
                      <a:cubicBezTo>
                        <a:pt x="41573" y="21922"/>
                        <a:pt x="41565" y="22244"/>
                        <a:pt x="41551" y="22566"/>
                      </a:cubicBezTo>
                    </a:path>
                    <a:path w="41573" h="22566" stroke="0" extrusionOk="0">
                      <a:moveTo>
                        <a:pt x="-1" y="13376"/>
                      </a:moveTo>
                      <a:cubicBezTo>
                        <a:pt x="3331" y="5282"/>
                        <a:pt x="11219" y="0"/>
                        <a:pt x="19973" y="0"/>
                      </a:cubicBezTo>
                      <a:cubicBezTo>
                        <a:pt x="31902" y="0"/>
                        <a:pt x="41573" y="9670"/>
                        <a:pt x="41573" y="21600"/>
                      </a:cubicBezTo>
                      <a:cubicBezTo>
                        <a:pt x="41573" y="21922"/>
                        <a:pt x="41565" y="22244"/>
                        <a:pt x="41551" y="22566"/>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71" name="Group 68">
                  <a:extLst>
                    <a:ext uri="{FF2B5EF4-FFF2-40B4-BE49-F238E27FC236}">
                      <a16:creationId xmlns:a16="http://schemas.microsoft.com/office/drawing/2014/main" id="{C1325D1F-6233-4CAE-BB98-D397C0F43E79}"/>
                    </a:ext>
                  </a:extLst>
                </p:cNvPr>
                <p:cNvGrpSpPr>
                  <a:grpSpLocks noChangeAspect="1"/>
                </p:cNvGrpSpPr>
                <p:nvPr/>
              </p:nvGrpSpPr>
              <p:grpSpPr bwMode="auto">
                <a:xfrm>
                  <a:off x="8556" y="8273"/>
                  <a:ext cx="328" cy="344"/>
                  <a:chOff x="2020" y="8243"/>
                  <a:chExt cx="1768" cy="960"/>
                </a:xfrm>
              </p:grpSpPr>
              <p:sp>
                <p:nvSpPr>
                  <p:cNvPr id="80" name="Arc 70">
                    <a:extLst>
                      <a:ext uri="{FF2B5EF4-FFF2-40B4-BE49-F238E27FC236}">
                        <a16:creationId xmlns:a16="http://schemas.microsoft.com/office/drawing/2014/main" id="{92383209-4526-4B87-BFDB-153CC199D12E}"/>
                      </a:ext>
                    </a:extLst>
                  </p:cNvPr>
                  <p:cNvSpPr>
                    <a:spLocks noChangeAspect="1"/>
                  </p:cNvSpPr>
                  <p:nvPr/>
                </p:nvSpPr>
                <p:spPr bwMode="auto">
                  <a:xfrm>
                    <a:off x="2020" y="8243"/>
                    <a:ext cx="842" cy="674"/>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1" name="Arc 69">
                    <a:extLst>
                      <a:ext uri="{FF2B5EF4-FFF2-40B4-BE49-F238E27FC236}">
                        <a16:creationId xmlns:a16="http://schemas.microsoft.com/office/drawing/2014/main" id="{7E57AA50-CC3C-4C59-B7B5-E907E4B1E725}"/>
                      </a:ext>
                    </a:extLst>
                  </p:cNvPr>
                  <p:cNvSpPr>
                    <a:spLocks noChangeAspect="1"/>
                  </p:cNvSpPr>
                  <p:nvPr/>
                </p:nvSpPr>
                <p:spPr bwMode="auto">
                  <a:xfrm flipH="1" flipV="1">
                    <a:off x="2117" y="8753"/>
                    <a:ext cx="1671" cy="450"/>
                  </a:xfrm>
                  <a:custGeom>
                    <a:avLst/>
                    <a:gdLst>
                      <a:gd name="G0" fmla="+- 19973 0 0"/>
                      <a:gd name="G1" fmla="+- 21600 0 0"/>
                      <a:gd name="G2" fmla="+- 21600 0 0"/>
                      <a:gd name="T0" fmla="*/ 0 w 40269"/>
                      <a:gd name="T1" fmla="*/ 13377 h 21600"/>
                      <a:gd name="T2" fmla="*/ 40269 w 40269"/>
                      <a:gd name="T3" fmla="*/ 14208 h 21600"/>
                      <a:gd name="T4" fmla="*/ 19973 w 40269"/>
                      <a:gd name="T5" fmla="*/ 21600 h 21600"/>
                    </a:gdLst>
                    <a:ahLst/>
                    <a:cxnLst>
                      <a:cxn ang="0">
                        <a:pos x="T0" y="T1"/>
                      </a:cxn>
                      <a:cxn ang="0">
                        <a:pos x="T2" y="T3"/>
                      </a:cxn>
                      <a:cxn ang="0">
                        <a:pos x="T4" y="T5"/>
                      </a:cxn>
                    </a:cxnLst>
                    <a:rect l="0" t="0" r="r" b="b"/>
                    <a:pathLst>
                      <a:path w="40269" h="21600" fill="none" extrusionOk="0">
                        <a:moveTo>
                          <a:pt x="-1" y="13376"/>
                        </a:moveTo>
                        <a:cubicBezTo>
                          <a:pt x="3331" y="5282"/>
                          <a:pt x="11219" y="0"/>
                          <a:pt x="19973" y="0"/>
                        </a:cubicBezTo>
                        <a:cubicBezTo>
                          <a:pt x="29051" y="0"/>
                          <a:pt x="37161" y="5677"/>
                          <a:pt x="40268" y="14208"/>
                        </a:cubicBezTo>
                      </a:path>
                      <a:path w="40269" h="21600" stroke="0" extrusionOk="0">
                        <a:moveTo>
                          <a:pt x="-1" y="13376"/>
                        </a:moveTo>
                        <a:cubicBezTo>
                          <a:pt x="3331" y="5282"/>
                          <a:pt x="11219" y="0"/>
                          <a:pt x="19973" y="0"/>
                        </a:cubicBezTo>
                        <a:cubicBezTo>
                          <a:pt x="29051" y="0"/>
                          <a:pt x="37161" y="5677"/>
                          <a:pt x="40268" y="14208"/>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72" name="Group 65">
                  <a:extLst>
                    <a:ext uri="{FF2B5EF4-FFF2-40B4-BE49-F238E27FC236}">
                      <a16:creationId xmlns:a16="http://schemas.microsoft.com/office/drawing/2014/main" id="{1918F8E1-3546-495A-AE54-F2C20BA4766F}"/>
                    </a:ext>
                  </a:extLst>
                </p:cNvPr>
                <p:cNvGrpSpPr>
                  <a:grpSpLocks noChangeAspect="1"/>
                </p:cNvGrpSpPr>
                <p:nvPr/>
              </p:nvGrpSpPr>
              <p:grpSpPr bwMode="auto">
                <a:xfrm>
                  <a:off x="8745" y="8263"/>
                  <a:ext cx="328" cy="344"/>
                  <a:chOff x="2020" y="8243"/>
                  <a:chExt cx="1768" cy="960"/>
                </a:xfrm>
              </p:grpSpPr>
              <p:sp>
                <p:nvSpPr>
                  <p:cNvPr id="78" name="Arc 67">
                    <a:extLst>
                      <a:ext uri="{FF2B5EF4-FFF2-40B4-BE49-F238E27FC236}">
                        <a16:creationId xmlns:a16="http://schemas.microsoft.com/office/drawing/2014/main" id="{B33B4903-BDE4-48DA-9DD6-731B3776FD3D}"/>
                      </a:ext>
                    </a:extLst>
                  </p:cNvPr>
                  <p:cNvSpPr>
                    <a:spLocks noChangeAspect="1"/>
                  </p:cNvSpPr>
                  <p:nvPr/>
                </p:nvSpPr>
                <p:spPr bwMode="auto">
                  <a:xfrm>
                    <a:off x="2020" y="8243"/>
                    <a:ext cx="842" cy="674"/>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9" name="Arc 66">
                    <a:extLst>
                      <a:ext uri="{FF2B5EF4-FFF2-40B4-BE49-F238E27FC236}">
                        <a16:creationId xmlns:a16="http://schemas.microsoft.com/office/drawing/2014/main" id="{B8111DC4-A5B2-4FAB-A5F0-46E45426455F}"/>
                      </a:ext>
                    </a:extLst>
                  </p:cNvPr>
                  <p:cNvSpPr>
                    <a:spLocks noChangeAspect="1"/>
                  </p:cNvSpPr>
                  <p:nvPr/>
                </p:nvSpPr>
                <p:spPr bwMode="auto">
                  <a:xfrm flipH="1" flipV="1">
                    <a:off x="2117" y="8753"/>
                    <a:ext cx="1671" cy="450"/>
                  </a:xfrm>
                  <a:custGeom>
                    <a:avLst/>
                    <a:gdLst>
                      <a:gd name="G0" fmla="+- 19973 0 0"/>
                      <a:gd name="G1" fmla="+- 21600 0 0"/>
                      <a:gd name="G2" fmla="+- 21600 0 0"/>
                      <a:gd name="T0" fmla="*/ 0 w 40269"/>
                      <a:gd name="T1" fmla="*/ 13377 h 21600"/>
                      <a:gd name="T2" fmla="*/ 40269 w 40269"/>
                      <a:gd name="T3" fmla="*/ 14208 h 21600"/>
                      <a:gd name="T4" fmla="*/ 19973 w 40269"/>
                      <a:gd name="T5" fmla="*/ 21600 h 21600"/>
                    </a:gdLst>
                    <a:ahLst/>
                    <a:cxnLst>
                      <a:cxn ang="0">
                        <a:pos x="T0" y="T1"/>
                      </a:cxn>
                      <a:cxn ang="0">
                        <a:pos x="T2" y="T3"/>
                      </a:cxn>
                      <a:cxn ang="0">
                        <a:pos x="T4" y="T5"/>
                      </a:cxn>
                    </a:cxnLst>
                    <a:rect l="0" t="0" r="r" b="b"/>
                    <a:pathLst>
                      <a:path w="40269" h="21600" fill="none" extrusionOk="0">
                        <a:moveTo>
                          <a:pt x="-1" y="13376"/>
                        </a:moveTo>
                        <a:cubicBezTo>
                          <a:pt x="3331" y="5282"/>
                          <a:pt x="11219" y="0"/>
                          <a:pt x="19973" y="0"/>
                        </a:cubicBezTo>
                        <a:cubicBezTo>
                          <a:pt x="29051" y="0"/>
                          <a:pt x="37161" y="5677"/>
                          <a:pt x="40268" y="14208"/>
                        </a:cubicBezTo>
                      </a:path>
                      <a:path w="40269" h="21600" stroke="0" extrusionOk="0">
                        <a:moveTo>
                          <a:pt x="-1" y="13376"/>
                        </a:moveTo>
                        <a:cubicBezTo>
                          <a:pt x="3331" y="5282"/>
                          <a:pt x="11219" y="0"/>
                          <a:pt x="19973" y="0"/>
                        </a:cubicBezTo>
                        <a:cubicBezTo>
                          <a:pt x="29051" y="0"/>
                          <a:pt x="37161" y="5677"/>
                          <a:pt x="40268" y="14208"/>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73" name="Group 62">
                  <a:extLst>
                    <a:ext uri="{FF2B5EF4-FFF2-40B4-BE49-F238E27FC236}">
                      <a16:creationId xmlns:a16="http://schemas.microsoft.com/office/drawing/2014/main" id="{432086D6-9841-4DB8-9683-82D5BD98BF9B}"/>
                    </a:ext>
                  </a:extLst>
                </p:cNvPr>
                <p:cNvGrpSpPr>
                  <a:grpSpLocks noChangeAspect="1"/>
                </p:cNvGrpSpPr>
                <p:nvPr/>
              </p:nvGrpSpPr>
              <p:grpSpPr bwMode="auto">
                <a:xfrm>
                  <a:off x="8931" y="8269"/>
                  <a:ext cx="328" cy="344"/>
                  <a:chOff x="2020" y="8243"/>
                  <a:chExt cx="1768" cy="960"/>
                </a:xfrm>
              </p:grpSpPr>
              <p:sp>
                <p:nvSpPr>
                  <p:cNvPr id="76" name="Arc 64">
                    <a:extLst>
                      <a:ext uri="{FF2B5EF4-FFF2-40B4-BE49-F238E27FC236}">
                        <a16:creationId xmlns:a16="http://schemas.microsoft.com/office/drawing/2014/main" id="{24939916-0945-4E4A-A92C-6D056E326D29}"/>
                      </a:ext>
                    </a:extLst>
                  </p:cNvPr>
                  <p:cNvSpPr>
                    <a:spLocks noChangeAspect="1"/>
                  </p:cNvSpPr>
                  <p:nvPr/>
                </p:nvSpPr>
                <p:spPr bwMode="auto">
                  <a:xfrm>
                    <a:off x="2020" y="8243"/>
                    <a:ext cx="842" cy="674"/>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7" name="Arc 63">
                    <a:extLst>
                      <a:ext uri="{FF2B5EF4-FFF2-40B4-BE49-F238E27FC236}">
                        <a16:creationId xmlns:a16="http://schemas.microsoft.com/office/drawing/2014/main" id="{4528D67B-CEC3-4D58-A7CE-33FA638BF237}"/>
                      </a:ext>
                    </a:extLst>
                  </p:cNvPr>
                  <p:cNvSpPr>
                    <a:spLocks noChangeAspect="1"/>
                  </p:cNvSpPr>
                  <p:nvPr/>
                </p:nvSpPr>
                <p:spPr bwMode="auto">
                  <a:xfrm flipH="1" flipV="1">
                    <a:off x="2117" y="8753"/>
                    <a:ext cx="1671" cy="450"/>
                  </a:xfrm>
                  <a:custGeom>
                    <a:avLst/>
                    <a:gdLst>
                      <a:gd name="G0" fmla="+- 19973 0 0"/>
                      <a:gd name="G1" fmla="+- 21600 0 0"/>
                      <a:gd name="G2" fmla="+- 21600 0 0"/>
                      <a:gd name="T0" fmla="*/ 0 w 40269"/>
                      <a:gd name="T1" fmla="*/ 13377 h 21600"/>
                      <a:gd name="T2" fmla="*/ 40269 w 40269"/>
                      <a:gd name="T3" fmla="*/ 14208 h 21600"/>
                      <a:gd name="T4" fmla="*/ 19973 w 40269"/>
                      <a:gd name="T5" fmla="*/ 21600 h 21600"/>
                    </a:gdLst>
                    <a:ahLst/>
                    <a:cxnLst>
                      <a:cxn ang="0">
                        <a:pos x="T0" y="T1"/>
                      </a:cxn>
                      <a:cxn ang="0">
                        <a:pos x="T2" y="T3"/>
                      </a:cxn>
                      <a:cxn ang="0">
                        <a:pos x="T4" y="T5"/>
                      </a:cxn>
                    </a:cxnLst>
                    <a:rect l="0" t="0" r="r" b="b"/>
                    <a:pathLst>
                      <a:path w="40269" h="21600" fill="none" extrusionOk="0">
                        <a:moveTo>
                          <a:pt x="-1" y="13376"/>
                        </a:moveTo>
                        <a:cubicBezTo>
                          <a:pt x="3331" y="5282"/>
                          <a:pt x="11219" y="0"/>
                          <a:pt x="19973" y="0"/>
                        </a:cubicBezTo>
                        <a:cubicBezTo>
                          <a:pt x="29051" y="0"/>
                          <a:pt x="37161" y="5677"/>
                          <a:pt x="40268" y="14208"/>
                        </a:cubicBezTo>
                      </a:path>
                      <a:path w="40269" h="21600" stroke="0" extrusionOk="0">
                        <a:moveTo>
                          <a:pt x="-1" y="13376"/>
                        </a:moveTo>
                        <a:cubicBezTo>
                          <a:pt x="3331" y="5282"/>
                          <a:pt x="11219" y="0"/>
                          <a:pt x="19973" y="0"/>
                        </a:cubicBezTo>
                        <a:cubicBezTo>
                          <a:pt x="29051" y="0"/>
                          <a:pt x="37161" y="5677"/>
                          <a:pt x="40268" y="14208"/>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74" name="Arc 61">
                  <a:extLst>
                    <a:ext uri="{FF2B5EF4-FFF2-40B4-BE49-F238E27FC236}">
                      <a16:creationId xmlns:a16="http://schemas.microsoft.com/office/drawing/2014/main" id="{E066992E-AF7A-4B3B-B73E-E5D0B167AD11}"/>
                    </a:ext>
                  </a:extLst>
                </p:cNvPr>
                <p:cNvSpPr>
                  <a:spLocks noChangeAspect="1"/>
                </p:cNvSpPr>
                <p:nvPr/>
              </p:nvSpPr>
              <p:spPr bwMode="auto">
                <a:xfrm>
                  <a:off x="9118" y="8274"/>
                  <a:ext cx="156" cy="242"/>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5" name="Arc 60">
                  <a:extLst>
                    <a:ext uri="{FF2B5EF4-FFF2-40B4-BE49-F238E27FC236}">
                      <a16:creationId xmlns:a16="http://schemas.microsoft.com/office/drawing/2014/main" id="{4DE61059-676A-4B34-9A30-A54A374FD93F}"/>
                    </a:ext>
                  </a:extLst>
                </p:cNvPr>
                <p:cNvSpPr>
                  <a:spLocks noChangeAspect="1"/>
                </p:cNvSpPr>
                <p:nvPr/>
              </p:nvSpPr>
              <p:spPr bwMode="auto">
                <a:xfrm flipH="1" flipV="1">
                  <a:off x="9136" y="8454"/>
                  <a:ext cx="322" cy="164"/>
                </a:xfrm>
                <a:custGeom>
                  <a:avLst/>
                  <a:gdLst>
                    <a:gd name="G0" fmla="+- 21600 0 0"/>
                    <a:gd name="G1" fmla="+- 21600 0 0"/>
                    <a:gd name="G2" fmla="+- 21600 0 0"/>
                    <a:gd name="T0" fmla="*/ 4 w 41896"/>
                    <a:gd name="T1" fmla="*/ 22008 h 22008"/>
                    <a:gd name="T2" fmla="*/ 41896 w 41896"/>
                    <a:gd name="T3" fmla="*/ 14208 h 22008"/>
                    <a:gd name="T4" fmla="*/ 21600 w 41896"/>
                    <a:gd name="T5" fmla="*/ 21600 h 22008"/>
                  </a:gdLst>
                  <a:ahLst/>
                  <a:cxnLst>
                    <a:cxn ang="0">
                      <a:pos x="T0" y="T1"/>
                    </a:cxn>
                    <a:cxn ang="0">
                      <a:pos x="T2" y="T3"/>
                    </a:cxn>
                    <a:cxn ang="0">
                      <a:pos x="T4" y="T5"/>
                    </a:cxn>
                  </a:cxnLst>
                  <a:rect l="0" t="0" r="r" b="b"/>
                  <a:pathLst>
                    <a:path w="41896" h="22008" fill="none" extrusionOk="0">
                      <a:moveTo>
                        <a:pt x="3" y="22008"/>
                      </a:moveTo>
                      <a:cubicBezTo>
                        <a:pt x="1" y="21872"/>
                        <a:pt x="0" y="21736"/>
                        <a:pt x="0" y="21600"/>
                      </a:cubicBezTo>
                      <a:cubicBezTo>
                        <a:pt x="0" y="9670"/>
                        <a:pt x="9670" y="0"/>
                        <a:pt x="21600" y="0"/>
                      </a:cubicBezTo>
                      <a:cubicBezTo>
                        <a:pt x="30678" y="0"/>
                        <a:pt x="38788" y="5677"/>
                        <a:pt x="41895" y="14208"/>
                      </a:cubicBezTo>
                    </a:path>
                    <a:path w="41896" h="22008" stroke="0" extrusionOk="0">
                      <a:moveTo>
                        <a:pt x="3" y="22008"/>
                      </a:moveTo>
                      <a:cubicBezTo>
                        <a:pt x="1" y="21872"/>
                        <a:pt x="0" y="21736"/>
                        <a:pt x="0" y="21600"/>
                      </a:cubicBezTo>
                      <a:cubicBezTo>
                        <a:pt x="0" y="9670"/>
                        <a:pt x="9670" y="0"/>
                        <a:pt x="21600" y="0"/>
                      </a:cubicBezTo>
                      <a:cubicBezTo>
                        <a:pt x="30678" y="0"/>
                        <a:pt x="38788" y="5677"/>
                        <a:pt x="41895" y="14208"/>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68" name="Line 58">
                <a:extLst>
                  <a:ext uri="{FF2B5EF4-FFF2-40B4-BE49-F238E27FC236}">
                    <a16:creationId xmlns:a16="http://schemas.microsoft.com/office/drawing/2014/main" id="{D221775F-DAA0-4CFA-B988-11CF6507C863}"/>
                  </a:ext>
                </a:extLst>
              </p:cNvPr>
              <p:cNvSpPr>
                <a:spLocks noChangeAspect="1" noChangeShapeType="1"/>
              </p:cNvSpPr>
              <p:nvPr/>
            </p:nvSpPr>
            <p:spPr bwMode="auto">
              <a:xfrm>
                <a:off x="3218" y="429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9" name="Line 57">
                <a:extLst>
                  <a:ext uri="{FF2B5EF4-FFF2-40B4-BE49-F238E27FC236}">
                    <a16:creationId xmlns:a16="http://schemas.microsoft.com/office/drawing/2014/main" id="{FB4CD0C4-2A1C-4B7D-8218-88AABDEF5F5C}"/>
                  </a:ext>
                </a:extLst>
              </p:cNvPr>
              <p:cNvSpPr>
                <a:spLocks noChangeAspect="1" noChangeShapeType="1"/>
              </p:cNvSpPr>
              <p:nvPr/>
            </p:nvSpPr>
            <p:spPr bwMode="auto">
              <a:xfrm>
                <a:off x="1778" y="429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3" name="Group 46">
              <a:extLst>
                <a:ext uri="{FF2B5EF4-FFF2-40B4-BE49-F238E27FC236}">
                  <a16:creationId xmlns:a16="http://schemas.microsoft.com/office/drawing/2014/main" id="{D2ABD018-A8DC-4CFD-B05D-26F60E5B1AD9}"/>
                </a:ext>
              </a:extLst>
            </p:cNvPr>
            <p:cNvGrpSpPr>
              <a:grpSpLocks noChangeAspect="1"/>
            </p:cNvGrpSpPr>
            <p:nvPr/>
          </p:nvGrpSpPr>
          <p:grpSpPr bwMode="auto">
            <a:xfrm>
              <a:off x="3657" y="9897"/>
              <a:ext cx="1083" cy="271"/>
              <a:chOff x="1658" y="2138"/>
              <a:chExt cx="1440" cy="360"/>
            </a:xfrm>
          </p:grpSpPr>
          <p:sp>
            <p:nvSpPr>
              <p:cNvPr id="58" name="Line 55">
                <a:extLst>
                  <a:ext uri="{FF2B5EF4-FFF2-40B4-BE49-F238E27FC236}">
                    <a16:creationId xmlns:a16="http://schemas.microsoft.com/office/drawing/2014/main" id="{DA44A316-DF4E-4AEC-BC92-EECF435BD47B}"/>
                  </a:ext>
                </a:extLst>
              </p:cNvPr>
              <p:cNvSpPr>
                <a:spLocks noChangeAspect="1" noChangeShapeType="1"/>
              </p:cNvSpPr>
              <p:nvPr/>
            </p:nvSpPr>
            <p:spPr bwMode="auto">
              <a:xfrm>
                <a:off x="1658" y="231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59" name="Group 48">
                <a:extLst>
                  <a:ext uri="{FF2B5EF4-FFF2-40B4-BE49-F238E27FC236}">
                    <a16:creationId xmlns:a16="http://schemas.microsoft.com/office/drawing/2014/main" id="{02D6EADB-5F0B-43B1-A2FE-686386E7C575}"/>
                  </a:ext>
                </a:extLst>
              </p:cNvPr>
              <p:cNvGrpSpPr>
                <a:grpSpLocks noChangeAspect="1"/>
              </p:cNvGrpSpPr>
              <p:nvPr/>
            </p:nvGrpSpPr>
            <p:grpSpPr bwMode="auto">
              <a:xfrm>
                <a:off x="2018" y="2138"/>
                <a:ext cx="720" cy="360"/>
                <a:chOff x="2018" y="2138"/>
                <a:chExt cx="1200" cy="357"/>
              </a:xfrm>
            </p:grpSpPr>
            <p:sp>
              <p:nvSpPr>
                <p:cNvPr id="61" name="Line 54">
                  <a:extLst>
                    <a:ext uri="{FF2B5EF4-FFF2-40B4-BE49-F238E27FC236}">
                      <a16:creationId xmlns:a16="http://schemas.microsoft.com/office/drawing/2014/main" id="{2B587373-629C-467E-A158-7D52436A8D44}"/>
                    </a:ext>
                  </a:extLst>
                </p:cNvPr>
                <p:cNvSpPr>
                  <a:spLocks noChangeAspect="1" noChangeShapeType="1"/>
                </p:cNvSpPr>
                <p:nvPr/>
              </p:nvSpPr>
              <p:spPr bwMode="auto">
                <a:xfrm flipV="1">
                  <a:off x="2018" y="2138"/>
                  <a:ext cx="120" cy="18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2" name="Line 53">
                  <a:extLst>
                    <a:ext uri="{FF2B5EF4-FFF2-40B4-BE49-F238E27FC236}">
                      <a16:creationId xmlns:a16="http://schemas.microsoft.com/office/drawing/2014/main" id="{8C1528FF-32E8-4C59-849E-6469A81CC207}"/>
                    </a:ext>
                  </a:extLst>
                </p:cNvPr>
                <p:cNvSpPr>
                  <a:spLocks noChangeAspect="1" noChangeShapeType="1"/>
                </p:cNvSpPr>
                <p:nvPr/>
              </p:nvSpPr>
              <p:spPr bwMode="auto">
                <a:xfrm flipH="1" flipV="1">
                  <a:off x="3098" y="2138"/>
                  <a:ext cx="120" cy="18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3" name="Line 52">
                  <a:extLst>
                    <a:ext uri="{FF2B5EF4-FFF2-40B4-BE49-F238E27FC236}">
                      <a16:creationId xmlns:a16="http://schemas.microsoft.com/office/drawing/2014/main" id="{0C62EA22-4CEF-4BC2-ACBF-D5BF0394C581}"/>
                    </a:ext>
                  </a:extLst>
                </p:cNvPr>
                <p:cNvSpPr>
                  <a:spLocks noChangeAspect="1" noChangeShapeType="1"/>
                </p:cNvSpPr>
                <p:nvPr/>
              </p:nvSpPr>
              <p:spPr bwMode="auto">
                <a:xfrm flipH="1" flipV="1">
                  <a:off x="2125"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4" name="Line 51">
                  <a:extLst>
                    <a:ext uri="{FF2B5EF4-FFF2-40B4-BE49-F238E27FC236}">
                      <a16:creationId xmlns:a16="http://schemas.microsoft.com/office/drawing/2014/main" id="{B42DC066-76A5-47F3-BCAC-A37DB76C8309}"/>
                    </a:ext>
                  </a:extLst>
                </p:cNvPr>
                <p:cNvSpPr>
                  <a:spLocks noChangeAspect="1" noChangeShapeType="1"/>
                </p:cNvSpPr>
                <p:nvPr/>
              </p:nvSpPr>
              <p:spPr bwMode="auto">
                <a:xfrm flipV="1">
                  <a:off x="2380"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5" name="Line 50">
                  <a:extLst>
                    <a:ext uri="{FF2B5EF4-FFF2-40B4-BE49-F238E27FC236}">
                      <a16:creationId xmlns:a16="http://schemas.microsoft.com/office/drawing/2014/main" id="{C9DA74FD-CE0E-4BB3-80C4-C29C4C603E13}"/>
                    </a:ext>
                  </a:extLst>
                </p:cNvPr>
                <p:cNvSpPr>
                  <a:spLocks noChangeAspect="1" noChangeShapeType="1"/>
                </p:cNvSpPr>
                <p:nvPr/>
              </p:nvSpPr>
              <p:spPr bwMode="auto">
                <a:xfrm flipH="1" flipV="1">
                  <a:off x="2605"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6" name="Line 49">
                  <a:extLst>
                    <a:ext uri="{FF2B5EF4-FFF2-40B4-BE49-F238E27FC236}">
                      <a16:creationId xmlns:a16="http://schemas.microsoft.com/office/drawing/2014/main" id="{5379D479-7C0B-4714-98DE-3DCA9758B540}"/>
                    </a:ext>
                  </a:extLst>
                </p:cNvPr>
                <p:cNvSpPr>
                  <a:spLocks noChangeAspect="1" noChangeShapeType="1"/>
                </p:cNvSpPr>
                <p:nvPr/>
              </p:nvSpPr>
              <p:spPr bwMode="auto">
                <a:xfrm flipV="1">
                  <a:off x="2860"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60" name="Line 47">
                <a:extLst>
                  <a:ext uri="{FF2B5EF4-FFF2-40B4-BE49-F238E27FC236}">
                    <a16:creationId xmlns:a16="http://schemas.microsoft.com/office/drawing/2014/main" id="{70A50243-7C51-45C5-976B-AD2D7FF02E90}"/>
                  </a:ext>
                </a:extLst>
              </p:cNvPr>
              <p:cNvSpPr>
                <a:spLocks noChangeAspect="1" noChangeShapeType="1"/>
              </p:cNvSpPr>
              <p:nvPr/>
            </p:nvSpPr>
            <p:spPr bwMode="auto">
              <a:xfrm>
                <a:off x="2738" y="231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14" name="Text Box 45">
              <a:extLst>
                <a:ext uri="{FF2B5EF4-FFF2-40B4-BE49-F238E27FC236}">
                  <a16:creationId xmlns:a16="http://schemas.microsoft.com/office/drawing/2014/main" id="{383E18CF-50F8-42A8-9142-458A5BCE47A4}"/>
                </a:ext>
              </a:extLst>
            </p:cNvPr>
            <p:cNvSpPr txBox="1">
              <a:spLocks noChangeArrowheads="1"/>
            </p:cNvSpPr>
            <p:nvPr/>
          </p:nvSpPr>
          <p:spPr bwMode="auto">
            <a:xfrm>
              <a:off x="4221" y="9542"/>
              <a:ext cx="415"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R</a:t>
              </a:r>
              <a:r>
                <a:rPr kumimoji="0" lang="en-US" altLang="en-US" sz="28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b</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Text Box 44">
              <a:extLst>
                <a:ext uri="{FF2B5EF4-FFF2-40B4-BE49-F238E27FC236}">
                  <a16:creationId xmlns:a16="http://schemas.microsoft.com/office/drawing/2014/main" id="{4351B126-A550-46A8-B9FC-38162C21D943}"/>
                </a:ext>
              </a:extLst>
            </p:cNvPr>
            <p:cNvSpPr txBox="1">
              <a:spLocks noChangeArrowheads="1"/>
            </p:cNvSpPr>
            <p:nvPr/>
          </p:nvSpPr>
          <p:spPr bwMode="auto">
            <a:xfrm>
              <a:off x="5772" y="9574"/>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L</a:t>
              </a:r>
              <a:r>
                <a:rPr kumimoji="0" lang="en-US" altLang="en-US" sz="28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Line 43">
              <a:extLst>
                <a:ext uri="{FF2B5EF4-FFF2-40B4-BE49-F238E27FC236}">
                  <a16:creationId xmlns:a16="http://schemas.microsoft.com/office/drawing/2014/main" id="{EBCEC388-376B-4E69-BED7-9E5A029E88F6}"/>
                </a:ext>
              </a:extLst>
            </p:cNvPr>
            <p:cNvSpPr>
              <a:spLocks noChangeShapeType="1"/>
            </p:cNvSpPr>
            <p:nvPr/>
          </p:nvSpPr>
          <p:spPr bwMode="auto">
            <a:xfrm flipH="1">
              <a:off x="2370" y="10030"/>
              <a:ext cx="1311"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 name="Line 42">
              <a:extLst>
                <a:ext uri="{FF2B5EF4-FFF2-40B4-BE49-F238E27FC236}">
                  <a16:creationId xmlns:a16="http://schemas.microsoft.com/office/drawing/2014/main" id="{B6BA95A7-B65C-48AA-B617-7FBA3B434698}"/>
                </a:ext>
              </a:extLst>
            </p:cNvPr>
            <p:cNvSpPr>
              <a:spLocks noChangeShapeType="1"/>
            </p:cNvSpPr>
            <p:nvPr/>
          </p:nvSpPr>
          <p:spPr bwMode="auto">
            <a:xfrm flipH="1">
              <a:off x="6360" y="10030"/>
              <a:ext cx="1311"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18" name="Group 26">
              <a:extLst>
                <a:ext uri="{FF2B5EF4-FFF2-40B4-BE49-F238E27FC236}">
                  <a16:creationId xmlns:a16="http://schemas.microsoft.com/office/drawing/2014/main" id="{9D58EEC0-ABC4-40BD-ACE4-76661F18698D}"/>
                </a:ext>
              </a:extLst>
            </p:cNvPr>
            <p:cNvGrpSpPr>
              <a:grpSpLocks noChangeAspect="1"/>
            </p:cNvGrpSpPr>
            <p:nvPr/>
          </p:nvGrpSpPr>
          <p:grpSpPr bwMode="auto">
            <a:xfrm flipV="1">
              <a:off x="5328" y="10623"/>
              <a:ext cx="1089" cy="215"/>
              <a:chOff x="1778" y="4118"/>
              <a:chExt cx="1800" cy="355"/>
            </a:xfrm>
          </p:grpSpPr>
          <p:grpSp>
            <p:nvGrpSpPr>
              <p:cNvPr id="43" name="Group 29">
                <a:extLst>
                  <a:ext uri="{FF2B5EF4-FFF2-40B4-BE49-F238E27FC236}">
                    <a16:creationId xmlns:a16="http://schemas.microsoft.com/office/drawing/2014/main" id="{EF0AAE60-81DF-4A09-BF2E-43DC6F49ACAA}"/>
                  </a:ext>
                </a:extLst>
              </p:cNvPr>
              <p:cNvGrpSpPr>
                <a:grpSpLocks noChangeAspect="1"/>
              </p:cNvGrpSpPr>
              <p:nvPr/>
            </p:nvGrpSpPr>
            <p:grpSpPr bwMode="auto">
              <a:xfrm>
                <a:off x="2138" y="4118"/>
                <a:ext cx="1080" cy="355"/>
                <a:chOff x="8378" y="8263"/>
                <a:chExt cx="1080" cy="355"/>
              </a:xfrm>
            </p:grpSpPr>
            <p:sp>
              <p:nvSpPr>
                <p:cNvPr id="46" name="Arc 41">
                  <a:extLst>
                    <a:ext uri="{FF2B5EF4-FFF2-40B4-BE49-F238E27FC236}">
                      <a16:creationId xmlns:a16="http://schemas.microsoft.com/office/drawing/2014/main" id="{CB94620D-C286-4A4E-849E-E4F3402DEEC1}"/>
                    </a:ext>
                  </a:extLst>
                </p:cNvPr>
                <p:cNvSpPr>
                  <a:spLocks noChangeAspect="1"/>
                </p:cNvSpPr>
                <p:nvPr/>
              </p:nvSpPr>
              <p:spPr bwMode="auto">
                <a:xfrm flipH="1" flipV="1">
                  <a:off x="8378" y="8447"/>
                  <a:ext cx="320" cy="169"/>
                </a:xfrm>
                <a:custGeom>
                  <a:avLst/>
                  <a:gdLst>
                    <a:gd name="G0" fmla="+- 19973 0 0"/>
                    <a:gd name="G1" fmla="+- 21600 0 0"/>
                    <a:gd name="G2" fmla="+- 21600 0 0"/>
                    <a:gd name="T0" fmla="*/ 0 w 41573"/>
                    <a:gd name="T1" fmla="*/ 13377 h 22566"/>
                    <a:gd name="T2" fmla="*/ 41551 w 41573"/>
                    <a:gd name="T3" fmla="*/ 22566 h 22566"/>
                    <a:gd name="T4" fmla="*/ 19973 w 41573"/>
                    <a:gd name="T5" fmla="*/ 21600 h 22566"/>
                  </a:gdLst>
                  <a:ahLst/>
                  <a:cxnLst>
                    <a:cxn ang="0">
                      <a:pos x="T0" y="T1"/>
                    </a:cxn>
                    <a:cxn ang="0">
                      <a:pos x="T2" y="T3"/>
                    </a:cxn>
                    <a:cxn ang="0">
                      <a:pos x="T4" y="T5"/>
                    </a:cxn>
                  </a:cxnLst>
                  <a:rect l="0" t="0" r="r" b="b"/>
                  <a:pathLst>
                    <a:path w="41573" h="22566" fill="none" extrusionOk="0">
                      <a:moveTo>
                        <a:pt x="-1" y="13376"/>
                      </a:moveTo>
                      <a:cubicBezTo>
                        <a:pt x="3331" y="5282"/>
                        <a:pt x="11219" y="0"/>
                        <a:pt x="19973" y="0"/>
                      </a:cubicBezTo>
                      <a:cubicBezTo>
                        <a:pt x="31902" y="0"/>
                        <a:pt x="41573" y="9670"/>
                        <a:pt x="41573" y="21600"/>
                      </a:cubicBezTo>
                      <a:cubicBezTo>
                        <a:pt x="41573" y="21922"/>
                        <a:pt x="41565" y="22244"/>
                        <a:pt x="41551" y="22566"/>
                      </a:cubicBezTo>
                    </a:path>
                    <a:path w="41573" h="22566" stroke="0" extrusionOk="0">
                      <a:moveTo>
                        <a:pt x="-1" y="13376"/>
                      </a:moveTo>
                      <a:cubicBezTo>
                        <a:pt x="3331" y="5282"/>
                        <a:pt x="11219" y="0"/>
                        <a:pt x="19973" y="0"/>
                      </a:cubicBezTo>
                      <a:cubicBezTo>
                        <a:pt x="31902" y="0"/>
                        <a:pt x="41573" y="9670"/>
                        <a:pt x="41573" y="21600"/>
                      </a:cubicBezTo>
                      <a:cubicBezTo>
                        <a:pt x="41573" y="21922"/>
                        <a:pt x="41565" y="22244"/>
                        <a:pt x="41551" y="22566"/>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47" name="Group 38">
                  <a:extLst>
                    <a:ext uri="{FF2B5EF4-FFF2-40B4-BE49-F238E27FC236}">
                      <a16:creationId xmlns:a16="http://schemas.microsoft.com/office/drawing/2014/main" id="{B8490D4D-E180-4553-894B-68BE28FE5D47}"/>
                    </a:ext>
                  </a:extLst>
                </p:cNvPr>
                <p:cNvGrpSpPr>
                  <a:grpSpLocks noChangeAspect="1"/>
                </p:cNvGrpSpPr>
                <p:nvPr/>
              </p:nvGrpSpPr>
              <p:grpSpPr bwMode="auto">
                <a:xfrm>
                  <a:off x="8556" y="8273"/>
                  <a:ext cx="328" cy="344"/>
                  <a:chOff x="2020" y="8243"/>
                  <a:chExt cx="1768" cy="960"/>
                </a:xfrm>
              </p:grpSpPr>
              <p:sp>
                <p:nvSpPr>
                  <p:cNvPr id="56" name="Arc 40">
                    <a:extLst>
                      <a:ext uri="{FF2B5EF4-FFF2-40B4-BE49-F238E27FC236}">
                        <a16:creationId xmlns:a16="http://schemas.microsoft.com/office/drawing/2014/main" id="{1CFFCC96-EE87-428C-9EC1-5FDC3B559ABD}"/>
                      </a:ext>
                    </a:extLst>
                  </p:cNvPr>
                  <p:cNvSpPr>
                    <a:spLocks noChangeAspect="1"/>
                  </p:cNvSpPr>
                  <p:nvPr/>
                </p:nvSpPr>
                <p:spPr bwMode="auto">
                  <a:xfrm>
                    <a:off x="2020" y="8243"/>
                    <a:ext cx="842" cy="674"/>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 name="Arc 39">
                    <a:extLst>
                      <a:ext uri="{FF2B5EF4-FFF2-40B4-BE49-F238E27FC236}">
                        <a16:creationId xmlns:a16="http://schemas.microsoft.com/office/drawing/2014/main" id="{609C92BC-1AC2-41A8-BA65-C860B18710CF}"/>
                      </a:ext>
                    </a:extLst>
                  </p:cNvPr>
                  <p:cNvSpPr>
                    <a:spLocks noChangeAspect="1"/>
                  </p:cNvSpPr>
                  <p:nvPr/>
                </p:nvSpPr>
                <p:spPr bwMode="auto">
                  <a:xfrm flipH="1" flipV="1">
                    <a:off x="2117" y="8753"/>
                    <a:ext cx="1671" cy="450"/>
                  </a:xfrm>
                  <a:custGeom>
                    <a:avLst/>
                    <a:gdLst>
                      <a:gd name="G0" fmla="+- 19973 0 0"/>
                      <a:gd name="G1" fmla="+- 21600 0 0"/>
                      <a:gd name="G2" fmla="+- 21600 0 0"/>
                      <a:gd name="T0" fmla="*/ 0 w 40269"/>
                      <a:gd name="T1" fmla="*/ 13377 h 21600"/>
                      <a:gd name="T2" fmla="*/ 40269 w 40269"/>
                      <a:gd name="T3" fmla="*/ 14208 h 21600"/>
                      <a:gd name="T4" fmla="*/ 19973 w 40269"/>
                      <a:gd name="T5" fmla="*/ 21600 h 21600"/>
                    </a:gdLst>
                    <a:ahLst/>
                    <a:cxnLst>
                      <a:cxn ang="0">
                        <a:pos x="T0" y="T1"/>
                      </a:cxn>
                      <a:cxn ang="0">
                        <a:pos x="T2" y="T3"/>
                      </a:cxn>
                      <a:cxn ang="0">
                        <a:pos x="T4" y="T5"/>
                      </a:cxn>
                    </a:cxnLst>
                    <a:rect l="0" t="0" r="r" b="b"/>
                    <a:pathLst>
                      <a:path w="40269" h="21600" fill="none" extrusionOk="0">
                        <a:moveTo>
                          <a:pt x="-1" y="13376"/>
                        </a:moveTo>
                        <a:cubicBezTo>
                          <a:pt x="3331" y="5282"/>
                          <a:pt x="11219" y="0"/>
                          <a:pt x="19973" y="0"/>
                        </a:cubicBezTo>
                        <a:cubicBezTo>
                          <a:pt x="29051" y="0"/>
                          <a:pt x="37161" y="5677"/>
                          <a:pt x="40268" y="14208"/>
                        </a:cubicBezTo>
                      </a:path>
                      <a:path w="40269" h="21600" stroke="0" extrusionOk="0">
                        <a:moveTo>
                          <a:pt x="-1" y="13376"/>
                        </a:moveTo>
                        <a:cubicBezTo>
                          <a:pt x="3331" y="5282"/>
                          <a:pt x="11219" y="0"/>
                          <a:pt x="19973" y="0"/>
                        </a:cubicBezTo>
                        <a:cubicBezTo>
                          <a:pt x="29051" y="0"/>
                          <a:pt x="37161" y="5677"/>
                          <a:pt x="40268" y="14208"/>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48" name="Group 35">
                  <a:extLst>
                    <a:ext uri="{FF2B5EF4-FFF2-40B4-BE49-F238E27FC236}">
                      <a16:creationId xmlns:a16="http://schemas.microsoft.com/office/drawing/2014/main" id="{F81546B4-3C98-49BA-B3D0-0542B1193E78}"/>
                    </a:ext>
                  </a:extLst>
                </p:cNvPr>
                <p:cNvGrpSpPr>
                  <a:grpSpLocks noChangeAspect="1"/>
                </p:cNvGrpSpPr>
                <p:nvPr/>
              </p:nvGrpSpPr>
              <p:grpSpPr bwMode="auto">
                <a:xfrm>
                  <a:off x="8745" y="8263"/>
                  <a:ext cx="328" cy="344"/>
                  <a:chOff x="2020" y="8243"/>
                  <a:chExt cx="1768" cy="960"/>
                </a:xfrm>
              </p:grpSpPr>
              <p:sp>
                <p:nvSpPr>
                  <p:cNvPr id="54" name="Arc 37">
                    <a:extLst>
                      <a:ext uri="{FF2B5EF4-FFF2-40B4-BE49-F238E27FC236}">
                        <a16:creationId xmlns:a16="http://schemas.microsoft.com/office/drawing/2014/main" id="{986FA674-25C0-422D-9367-6D9F61AA6214}"/>
                      </a:ext>
                    </a:extLst>
                  </p:cNvPr>
                  <p:cNvSpPr>
                    <a:spLocks noChangeAspect="1"/>
                  </p:cNvSpPr>
                  <p:nvPr/>
                </p:nvSpPr>
                <p:spPr bwMode="auto">
                  <a:xfrm>
                    <a:off x="2020" y="8243"/>
                    <a:ext cx="842" cy="674"/>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 name="Arc 36">
                    <a:extLst>
                      <a:ext uri="{FF2B5EF4-FFF2-40B4-BE49-F238E27FC236}">
                        <a16:creationId xmlns:a16="http://schemas.microsoft.com/office/drawing/2014/main" id="{2552EB27-9112-45E3-A9FF-5A068AE0463E}"/>
                      </a:ext>
                    </a:extLst>
                  </p:cNvPr>
                  <p:cNvSpPr>
                    <a:spLocks noChangeAspect="1"/>
                  </p:cNvSpPr>
                  <p:nvPr/>
                </p:nvSpPr>
                <p:spPr bwMode="auto">
                  <a:xfrm flipH="1" flipV="1">
                    <a:off x="2117" y="8753"/>
                    <a:ext cx="1671" cy="450"/>
                  </a:xfrm>
                  <a:custGeom>
                    <a:avLst/>
                    <a:gdLst>
                      <a:gd name="G0" fmla="+- 19973 0 0"/>
                      <a:gd name="G1" fmla="+- 21600 0 0"/>
                      <a:gd name="G2" fmla="+- 21600 0 0"/>
                      <a:gd name="T0" fmla="*/ 0 w 40269"/>
                      <a:gd name="T1" fmla="*/ 13377 h 21600"/>
                      <a:gd name="T2" fmla="*/ 40269 w 40269"/>
                      <a:gd name="T3" fmla="*/ 14208 h 21600"/>
                      <a:gd name="T4" fmla="*/ 19973 w 40269"/>
                      <a:gd name="T5" fmla="*/ 21600 h 21600"/>
                    </a:gdLst>
                    <a:ahLst/>
                    <a:cxnLst>
                      <a:cxn ang="0">
                        <a:pos x="T0" y="T1"/>
                      </a:cxn>
                      <a:cxn ang="0">
                        <a:pos x="T2" y="T3"/>
                      </a:cxn>
                      <a:cxn ang="0">
                        <a:pos x="T4" y="T5"/>
                      </a:cxn>
                    </a:cxnLst>
                    <a:rect l="0" t="0" r="r" b="b"/>
                    <a:pathLst>
                      <a:path w="40269" h="21600" fill="none" extrusionOk="0">
                        <a:moveTo>
                          <a:pt x="-1" y="13376"/>
                        </a:moveTo>
                        <a:cubicBezTo>
                          <a:pt x="3331" y="5282"/>
                          <a:pt x="11219" y="0"/>
                          <a:pt x="19973" y="0"/>
                        </a:cubicBezTo>
                        <a:cubicBezTo>
                          <a:pt x="29051" y="0"/>
                          <a:pt x="37161" y="5677"/>
                          <a:pt x="40268" y="14208"/>
                        </a:cubicBezTo>
                      </a:path>
                      <a:path w="40269" h="21600" stroke="0" extrusionOk="0">
                        <a:moveTo>
                          <a:pt x="-1" y="13376"/>
                        </a:moveTo>
                        <a:cubicBezTo>
                          <a:pt x="3331" y="5282"/>
                          <a:pt x="11219" y="0"/>
                          <a:pt x="19973" y="0"/>
                        </a:cubicBezTo>
                        <a:cubicBezTo>
                          <a:pt x="29051" y="0"/>
                          <a:pt x="37161" y="5677"/>
                          <a:pt x="40268" y="14208"/>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49" name="Group 32">
                  <a:extLst>
                    <a:ext uri="{FF2B5EF4-FFF2-40B4-BE49-F238E27FC236}">
                      <a16:creationId xmlns:a16="http://schemas.microsoft.com/office/drawing/2014/main" id="{1D8105A7-27BA-4F38-BD90-55B0F49820E9}"/>
                    </a:ext>
                  </a:extLst>
                </p:cNvPr>
                <p:cNvGrpSpPr>
                  <a:grpSpLocks noChangeAspect="1"/>
                </p:cNvGrpSpPr>
                <p:nvPr/>
              </p:nvGrpSpPr>
              <p:grpSpPr bwMode="auto">
                <a:xfrm>
                  <a:off x="8931" y="8269"/>
                  <a:ext cx="328" cy="344"/>
                  <a:chOff x="2020" y="8243"/>
                  <a:chExt cx="1768" cy="960"/>
                </a:xfrm>
              </p:grpSpPr>
              <p:sp>
                <p:nvSpPr>
                  <p:cNvPr id="52" name="Arc 34">
                    <a:extLst>
                      <a:ext uri="{FF2B5EF4-FFF2-40B4-BE49-F238E27FC236}">
                        <a16:creationId xmlns:a16="http://schemas.microsoft.com/office/drawing/2014/main" id="{60454A4B-D41A-4B4B-8FEA-B4D578473E1B}"/>
                      </a:ext>
                    </a:extLst>
                  </p:cNvPr>
                  <p:cNvSpPr>
                    <a:spLocks noChangeAspect="1"/>
                  </p:cNvSpPr>
                  <p:nvPr/>
                </p:nvSpPr>
                <p:spPr bwMode="auto">
                  <a:xfrm>
                    <a:off x="2020" y="8243"/>
                    <a:ext cx="842" cy="674"/>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 name="Arc 33">
                    <a:extLst>
                      <a:ext uri="{FF2B5EF4-FFF2-40B4-BE49-F238E27FC236}">
                        <a16:creationId xmlns:a16="http://schemas.microsoft.com/office/drawing/2014/main" id="{4F27068A-88E7-4BE9-A7F6-9D8A063870D3}"/>
                      </a:ext>
                    </a:extLst>
                  </p:cNvPr>
                  <p:cNvSpPr>
                    <a:spLocks noChangeAspect="1"/>
                  </p:cNvSpPr>
                  <p:nvPr/>
                </p:nvSpPr>
                <p:spPr bwMode="auto">
                  <a:xfrm flipH="1" flipV="1">
                    <a:off x="2117" y="8753"/>
                    <a:ext cx="1671" cy="450"/>
                  </a:xfrm>
                  <a:custGeom>
                    <a:avLst/>
                    <a:gdLst>
                      <a:gd name="G0" fmla="+- 19973 0 0"/>
                      <a:gd name="G1" fmla="+- 21600 0 0"/>
                      <a:gd name="G2" fmla="+- 21600 0 0"/>
                      <a:gd name="T0" fmla="*/ 0 w 40269"/>
                      <a:gd name="T1" fmla="*/ 13377 h 21600"/>
                      <a:gd name="T2" fmla="*/ 40269 w 40269"/>
                      <a:gd name="T3" fmla="*/ 14208 h 21600"/>
                      <a:gd name="T4" fmla="*/ 19973 w 40269"/>
                      <a:gd name="T5" fmla="*/ 21600 h 21600"/>
                    </a:gdLst>
                    <a:ahLst/>
                    <a:cxnLst>
                      <a:cxn ang="0">
                        <a:pos x="T0" y="T1"/>
                      </a:cxn>
                      <a:cxn ang="0">
                        <a:pos x="T2" y="T3"/>
                      </a:cxn>
                      <a:cxn ang="0">
                        <a:pos x="T4" y="T5"/>
                      </a:cxn>
                    </a:cxnLst>
                    <a:rect l="0" t="0" r="r" b="b"/>
                    <a:pathLst>
                      <a:path w="40269" h="21600" fill="none" extrusionOk="0">
                        <a:moveTo>
                          <a:pt x="-1" y="13376"/>
                        </a:moveTo>
                        <a:cubicBezTo>
                          <a:pt x="3331" y="5282"/>
                          <a:pt x="11219" y="0"/>
                          <a:pt x="19973" y="0"/>
                        </a:cubicBezTo>
                        <a:cubicBezTo>
                          <a:pt x="29051" y="0"/>
                          <a:pt x="37161" y="5677"/>
                          <a:pt x="40268" y="14208"/>
                        </a:cubicBezTo>
                      </a:path>
                      <a:path w="40269" h="21600" stroke="0" extrusionOk="0">
                        <a:moveTo>
                          <a:pt x="-1" y="13376"/>
                        </a:moveTo>
                        <a:cubicBezTo>
                          <a:pt x="3331" y="5282"/>
                          <a:pt x="11219" y="0"/>
                          <a:pt x="19973" y="0"/>
                        </a:cubicBezTo>
                        <a:cubicBezTo>
                          <a:pt x="29051" y="0"/>
                          <a:pt x="37161" y="5677"/>
                          <a:pt x="40268" y="14208"/>
                        </a:cubicBezTo>
                        <a:lnTo>
                          <a:pt x="19973"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50" name="Arc 31">
                  <a:extLst>
                    <a:ext uri="{FF2B5EF4-FFF2-40B4-BE49-F238E27FC236}">
                      <a16:creationId xmlns:a16="http://schemas.microsoft.com/office/drawing/2014/main" id="{13890B4D-6F09-4E97-9372-4FBF7488253A}"/>
                    </a:ext>
                  </a:extLst>
                </p:cNvPr>
                <p:cNvSpPr>
                  <a:spLocks noChangeAspect="1"/>
                </p:cNvSpPr>
                <p:nvPr/>
              </p:nvSpPr>
              <p:spPr bwMode="auto">
                <a:xfrm>
                  <a:off x="9118" y="8274"/>
                  <a:ext cx="156" cy="242"/>
                </a:xfrm>
                <a:custGeom>
                  <a:avLst/>
                  <a:gdLst>
                    <a:gd name="G0" fmla="+- 21600 0 0"/>
                    <a:gd name="G1" fmla="+- 21600 0 0"/>
                    <a:gd name="G2" fmla="+- 21600 0 0"/>
                    <a:gd name="T0" fmla="*/ 4649 w 43200"/>
                    <a:gd name="T1" fmla="*/ 34987 h 34987"/>
                    <a:gd name="T2" fmla="*/ 39113 w 43200"/>
                    <a:gd name="T3" fmla="*/ 34243 h 34987"/>
                    <a:gd name="T4" fmla="*/ 21600 w 43200"/>
                    <a:gd name="T5" fmla="*/ 21600 h 34987"/>
                  </a:gdLst>
                  <a:ahLst/>
                  <a:cxnLst>
                    <a:cxn ang="0">
                      <a:pos x="T0" y="T1"/>
                    </a:cxn>
                    <a:cxn ang="0">
                      <a:pos x="T2" y="T3"/>
                    </a:cxn>
                    <a:cxn ang="0">
                      <a:pos x="T4" y="T5"/>
                    </a:cxn>
                  </a:cxnLst>
                  <a:rect l="0" t="0" r="r" b="b"/>
                  <a:pathLst>
                    <a:path w="43200" h="34987" fill="none"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w="43200" h="34987" stroke="0" extrusionOk="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 name="Arc 30">
                  <a:extLst>
                    <a:ext uri="{FF2B5EF4-FFF2-40B4-BE49-F238E27FC236}">
                      <a16:creationId xmlns:a16="http://schemas.microsoft.com/office/drawing/2014/main" id="{EDA51CBB-4951-4E00-BC20-C97FA4F8140F}"/>
                    </a:ext>
                  </a:extLst>
                </p:cNvPr>
                <p:cNvSpPr>
                  <a:spLocks noChangeAspect="1"/>
                </p:cNvSpPr>
                <p:nvPr/>
              </p:nvSpPr>
              <p:spPr bwMode="auto">
                <a:xfrm flipH="1" flipV="1">
                  <a:off x="9136" y="8454"/>
                  <a:ext cx="322" cy="164"/>
                </a:xfrm>
                <a:custGeom>
                  <a:avLst/>
                  <a:gdLst>
                    <a:gd name="G0" fmla="+- 21600 0 0"/>
                    <a:gd name="G1" fmla="+- 21600 0 0"/>
                    <a:gd name="G2" fmla="+- 21600 0 0"/>
                    <a:gd name="T0" fmla="*/ 4 w 41896"/>
                    <a:gd name="T1" fmla="*/ 22008 h 22008"/>
                    <a:gd name="T2" fmla="*/ 41896 w 41896"/>
                    <a:gd name="T3" fmla="*/ 14208 h 22008"/>
                    <a:gd name="T4" fmla="*/ 21600 w 41896"/>
                    <a:gd name="T5" fmla="*/ 21600 h 22008"/>
                  </a:gdLst>
                  <a:ahLst/>
                  <a:cxnLst>
                    <a:cxn ang="0">
                      <a:pos x="T0" y="T1"/>
                    </a:cxn>
                    <a:cxn ang="0">
                      <a:pos x="T2" y="T3"/>
                    </a:cxn>
                    <a:cxn ang="0">
                      <a:pos x="T4" y="T5"/>
                    </a:cxn>
                  </a:cxnLst>
                  <a:rect l="0" t="0" r="r" b="b"/>
                  <a:pathLst>
                    <a:path w="41896" h="22008" fill="none" extrusionOk="0">
                      <a:moveTo>
                        <a:pt x="3" y="22008"/>
                      </a:moveTo>
                      <a:cubicBezTo>
                        <a:pt x="1" y="21872"/>
                        <a:pt x="0" y="21736"/>
                        <a:pt x="0" y="21600"/>
                      </a:cubicBezTo>
                      <a:cubicBezTo>
                        <a:pt x="0" y="9670"/>
                        <a:pt x="9670" y="0"/>
                        <a:pt x="21600" y="0"/>
                      </a:cubicBezTo>
                      <a:cubicBezTo>
                        <a:pt x="30678" y="0"/>
                        <a:pt x="38788" y="5677"/>
                        <a:pt x="41895" y="14208"/>
                      </a:cubicBezTo>
                    </a:path>
                    <a:path w="41896" h="22008" stroke="0" extrusionOk="0">
                      <a:moveTo>
                        <a:pt x="3" y="22008"/>
                      </a:moveTo>
                      <a:cubicBezTo>
                        <a:pt x="1" y="21872"/>
                        <a:pt x="0" y="21736"/>
                        <a:pt x="0" y="21600"/>
                      </a:cubicBezTo>
                      <a:cubicBezTo>
                        <a:pt x="0" y="9670"/>
                        <a:pt x="9670" y="0"/>
                        <a:pt x="21600" y="0"/>
                      </a:cubicBezTo>
                      <a:cubicBezTo>
                        <a:pt x="30678" y="0"/>
                        <a:pt x="38788" y="5677"/>
                        <a:pt x="41895" y="14208"/>
                      </a:cubicBezTo>
                      <a:lnTo>
                        <a:pt x="21600" y="21600"/>
                      </a:lnTo>
                      <a:close/>
                    </a:path>
                  </a:pathLst>
                </a:custGeom>
                <a:noFill/>
                <a:ln w="38100">
                  <a:solidFill>
                    <a:srgbClr val="00206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44" name="Line 28">
                <a:extLst>
                  <a:ext uri="{FF2B5EF4-FFF2-40B4-BE49-F238E27FC236}">
                    <a16:creationId xmlns:a16="http://schemas.microsoft.com/office/drawing/2014/main" id="{F13DB6CD-90A9-4826-B3C6-CFE1FA1C4FCA}"/>
                  </a:ext>
                </a:extLst>
              </p:cNvPr>
              <p:cNvSpPr>
                <a:spLocks noChangeAspect="1" noChangeShapeType="1"/>
              </p:cNvSpPr>
              <p:nvPr/>
            </p:nvSpPr>
            <p:spPr bwMode="auto">
              <a:xfrm>
                <a:off x="3218" y="429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 name="Line 27">
                <a:extLst>
                  <a:ext uri="{FF2B5EF4-FFF2-40B4-BE49-F238E27FC236}">
                    <a16:creationId xmlns:a16="http://schemas.microsoft.com/office/drawing/2014/main" id="{2E8301BA-D31E-4448-9C81-C9FBB088CA69}"/>
                  </a:ext>
                </a:extLst>
              </p:cNvPr>
              <p:cNvSpPr>
                <a:spLocks noChangeAspect="1" noChangeShapeType="1"/>
              </p:cNvSpPr>
              <p:nvPr/>
            </p:nvSpPr>
            <p:spPr bwMode="auto">
              <a:xfrm>
                <a:off x="1778" y="429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9" name="Group 16">
              <a:extLst>
                <a:ext uri="{FF2B5EF4-FFF2-40B4-BE49-F238E27FC236}">
                  <a16:creationId xmlns:a16="http://schemas.microsoft.com/office/drawing/2014/main" id="{3F73A050-EB7A-41AA-96D4-D88932582D9B}"/>
                </a:ext>
              </a:extLst>
            </p:cNvPr>
            <p:cNvGrpSpPr>
              <a:grpSpLocks noChangeAspect="1"/>
            </p:cNvGrpSpPr>
            <p:nvPr/>
          </p:nvGrpSpPr>
          <p:grpSpPr bwMode="auto">
            <a:xfrm>
              <a:off x="3657" y="10600"/>
              <a:ext cx="1083" cy="271"/>
              <a:chOff x="1658" y="2138"/>
              <a:chExt cx="1440" cy="360"/>
            </a:xfrm>
          </p:grpSpPr>
          <p:sp>
            <p:nvSpPr>
              <p:cNvPr id="34" name="Line 25">
                <a:extLst>
                  <a:ext uri="{FF2B5EF4-FFF2-40B4-BE49-F238E27FC236}">
                    <a16:creationId xmlns:a16="http://schemas.microsoft.com/office/drawing/2014/main" id="{9B86AC65-B624-4FCB-A58F-33B375E59AEB}"/>
                  </a:ext>
                </a:extLst>
              </p:cNvPr>
              <p:cNvSpPr>
                <a:spLocks noChangeAspect="1" noChangeShapeType="1"/>
              </p:cNvSpPr>
              <p:nvPr/>
            </p:nvSpPr>
            <p:spPr bwMode="auto">
              <a:xfrm>
                <a:off x="1658" y="231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35" name="Group 18">
                <a:extLst>
                  <a:ext uri="{FF2B5EF4-FFF2-40B4-BE49-F238E27FC236}">
                    <a16:creationId xmlns:a16="http://schemas.microsoft.com/office/drawing/2014/main" id="{2FC2576C-709C-45DA-8E56-04031BED8C9C}"/>
                  </a:ext>
                </a:extLst>
              </p:cNvPr>
              <p:cNvGrpSpPr>
                <a:grpSpLocks noChangeAspect="1"/>
              </p:cNvGrpSpPr>
              <p:nvPr/>
            </p:nvGrpSpPr>
            <p:grpSpPr bwMode="auto">
              <a:xfrm>
                <a:off x="2018" y="2138"/>
                <a:ext cx="720" cy="360"/>
                <a:chOff x="2018" y="2138"/>
                <a:chExt cx="1200" cy="357"/>
              </a:xfrm>
            </p:grpSpPr>
            <p:sp>
              <p:nvSpPr>
                <p:cNvPr id="37" name="Line 24">
                  <a:extLst>
                    <a:ext uri="{FF2B5EF4-FFF2-40B4-BE49-F238E27FC236}">
                      <a16:creationId xmlns:a16="http://schemas.microsoft.com/office/drawing/2014/main" id="{66C43942-02DA-4B67-BA29-DCF51710D599}"/>
                    </a:ext>
                  </a:extLst>
                </p:cNvPr>
                <p:cNvSpPr>
                  <a:spLocks noChangeAspect="1" noChangeShapeType="1"/>
                </p:cNvSpPr>
                <p:nvPr/>
              </p:nvSpPr>
              <p:spPr bwMode="auto">
                <a:xfrm flipV="1">
                  <a:off x="2018" y="2138"/>
                  <a:ext cx="120" cy="18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 name="Line 23">
                  <a:extLst>
                    <a:ext uri="{FF2B5EF4-FFF2-40B4-BE49-F238E27FC236}">
                      <a16:creationId xmlns:a16="http://schemas.microsoft.com/office/drawing/2014/main" id="{A05BDA34-8258-4355-86A4-0B8C13370EC9}"/>
                    </a:ext>
                  </a:extLst>
                </p:cNvPr>
                <p:cNvSpPr>
                  <a:spLocks noChangeAspect="1" noChangeShapeType="1"/>
                </p:cNvSpPr>
                <p:nvPr/>
              </p:nvSpPr>
              <p:spPr bwMode="auto">
                <a:xfrm flipH="1" flipV="1">
                  <a:off x="3098" y="2138"/>
                  <a:ext cx="120" cy="18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 name="Line 22">
                  <a:extLst>
                    <a:ext uri="{FF2B5EF4-FFF2-40B4-BE49-F238E27FC236}">
                      <a16:creationId xmlns:a16="http://schemas.microsoft.com/office/drawing/2014/main" id="{F23A709E-2CC4-4C8A-9B83-B4AF4F76CE96}"/>
                    </a:ext>
                  </a:extLst>
                </p:cNvPr>
                <p:cNvSpPr>
                  <a:spLocks noChangeAspect="1" noChangeShapeType="1"/>
                </p:cNvSpPr>
                <p:nvPr/>
              </p:nvSpPr>
              <p:spPr bwMode="auto">
                <a:xfrm flipH="1" flipV="1">
                  <a:off x="2125"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 name="Line 21">
                  <a:extLst>
                    <a:ext uri="{FF2B5EF4-FFF2-40B4-BE49-F238E27FC236}">
                      <a16:creationId xmlns:a16="http://schemas.microsoft.com/office/drawing/2014/main" id="{777804E7-932F-4A69-A75E-28FF07749F58}"/>
                    </a:ext>
                  </a:extLst>
                </p:cNvPr>
                <p:cNvSpPr>
                  <a:spLocks noChangeAspect="1" noChangeShapeType="1"/>
                </p:cNvSpPr>
                <p:nvPr/>
              </p:nvSpPr>
              <p:spPr bwMode="auto">
                <a:xfrm flipV="1">
                  <a:off x="2380"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 name="Line 20">
                  <a:extLst>
                    <a:ext uri="{FF2B5EF4-FFF2-40B4-BE49-F238E27FC236}">
                      <a16:creationId xmlns:a16="http://schemas.microsoft.com/office/drawing/2014/main" id="{759EAAFC-2500-4C06-8B65-4AA775012EA0}"/>
                    </a:ext>
                  </a:extLst>
                </p:cNvPr>
                <p:cNvSpPr>
                  <a:spLocks noChangeAspect="1" noChangeShapeType="1"/>
                </p:cNvSpPr>
                <p:nvPr/>
              </p:nvSpPr>
              <p:spPr bwMode="auto">
                <a:xfrm flipH="1" flipV="1">
                  <a:off x="2605"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 name="Line 19">
                  <a:extLst>
                    <a:ext uri="{FF2B5EF4-FFF2-40B4-BE49-F238E27FC236}">
                      <a16:creationId xmlns:a16="http://schemas.microsoft.com/office/drawing/2014/main" id="{E399F386-1E2A-47A7-AA88-688E2514DC56}"/>
                    </a:ext>
                  </a:extLst>
                </p:cNvPr>
                <p:cNvSpPr>
                  <a:spLocks noChangeAspect="1" noChangeShapeType="1"/>
                </p:cNvSpPr>
                <p:nvPr/>
              </p:nvSpPr>
              <p:spPr bwMode="auto">
                <a:xfrm flipV="1">
                  <a:off x="2860" y="2138"/>
                  <a:ext cx="238" cy="357"/>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36" name="Line 17">
                <a:extLst>
                  <a:ext uri="{FF2B5EF4-FFF2-40B4-BE49-F238E27FC236}">
                    <a16:creationId xmlns:a16="http://schemas.microsoft.com/office/drawing/2014/main" id="{14D466A7-B50A-47DE-B21F-B3A6C630FCDF}"/>
                  </a:ext>
                </a:extLst>
              </p:cNvPr>
              <p:cNvSpPr>
                <a:spLocks noChangeAspect="1" noChangeShapeType="1"/>
              </p:cNvSpPr>
              <p:nvPr/>
            </p:nvSpPr>
            <p:spPr bwMode="auto">
              <a:xfrm>
                <a:off x="2738" y="2318"/>
                <a:ext cx="360"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20" name="Text Box 15">
              <a:extLst>
                <a:ext uri="{FF2B5EF4-FFF2-40B4-BE49-F238E27FC236}">
                  <a16:creationId xmlns:a16="http://schemas.microsoft.com/office/drawing/2014/main" id="{972A6EEA-5F9C-461A-B487-3B76E2DDFAD9}"/>
                </a:ext>
              </a:extLst>
            </p:cNvPr>
            <p:cNvSpPr txBox="1">
              <a:spLocks noChangeArrowheads="1"/>
            </p:cNvSpPr>
            <p:nvPr/>
          </p:nvSpPr>
          <p:spPr bwMode="auto">
            <a:xfrm>
              <a:off x="4221" y="10254"/>
              <a:ext cx="466"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R</a:t>
              </a:r>
              <a:r>
                <a:rPr kumimoji="0" lang="en-US" altLang="en-US" sz="28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c</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Text Box 14">
              <a:extLst>
                <a:ext uri="{FF2B5EF4-FFF2-40B4-BE49-F238E27FC236}">
                  <a16:creationId xmlns:a16="http://schemas.microsoft.com/office/drawing/2014/main" id="{925796A1-510C-4E8E-A81F-4FA78C35CD60}"/>
                </a:ext>
              </a:extLst>
            </p:cNvPr>
            <p:cNvSpPr txBox="1">
              <a:spLocks noChangeArrowheads="1"/>
            </p:cNvSpPr>
            <p:nvPr/>
          </p:nvSpPr>
          <p:spPr bwMode="auto">
            <a:xfrm>
              <a:off x="5772" y="10291"/>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L</a:t>
              </a:r>
              <a:r>
                <a:rPr kumimoji="0" lang="en-US" altLang="en-US" sz="28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Line 13">
              <a:extLst>
                <a:ext uri="{FF2B5EF4-FFF2-40B4-BE49-F238E27FC236}">
                  <a16:creationId xmlns:a16="http://schemas.microsoft.com/office/drawing/2014/main" id="{71EDB2B7-65F9-4033-9F61-C33454DE8C91}"/>
                </a:ext>
              </a:extLst>
            </p:cNvPr>
            <p:cNvSpPr>
              <a:spLocks noChangeShapeType="1"/>
            </p:cNvSpPr>
            <p:nvPr/>
          </p:nvSpPr>
          <p:spPr bwMode="auto">
            <a:xfrm flipH="1">
              <a:off x="2370" y="10733"/>
              <a:ext cx="1311"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 name="Line 12">
              <a:extLst>
                <a:ext uri="{FF2B5EF4-FFF2-40B4-BE49-F238E27FC236}">
                  <a16:creationId xmlns:a16="http://schemas.microsoft.com/office/drawing/2014/main" id="{BCEDF6AF-FF22-45DB-A2B1-D3F94D730610}"/>
                </a:ext>
              </a:extLst>
            </p:cNvPr>
            <p:cNvSpPr>
              <a:spLocks noChangeShapeType="1"/>
            </p:cNvSpPr>
            <p:nvPr/>
          </p:nvSpPr>
          <p:spPr bwMode="auto">
            <a:xfrm flipH="1">
              <a:off x="6360" y="10731"/>
              <a:ext cx="1311"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 name="Arc 11">
              <a:extLst>
                <a:ext uri="{FF2B5EF4-FFF2-40B4-BE49-F238E27FC236}">
                  <a16:creationId xmlns:a16="http://schemas.microsoft.com/office/drawing/2014/main" id="{395F652F-F921-4047-A012-96C0B1AE6D7C}"/>
                </a:ext>
              </a:extLst>
            </p:cNvPr>
            <p:cNvSpPr>
              <a:spLocks/>
            </p:cNvSpPr>
            <p:nvPr/>
          </p:nvSpPr>
          <p:spPr bwMode="auto">
            <a:xfrm>
              <a:off x="6246" y="9403"/>
              <a:ext cx="171" cy="1197"/>
            </a:xfrm>
            <a:custGeom>
              <a:avLst/>
              <a:gdLst>
                <a:gd name="G0" fmla="+- 0 0 0"/>
                <a:gd name="G1" fmla="+- 21600 0 0"/>
                <a:gd name="G2" fmla="+- 21600 0 0"/>
                <a:gd name="T0" fmla="*/ 0 w 21600"/>
                <a:gd name="T1" fmla="*/ 0 h 43166"/>
                <a:gd name="T2" fmla="*/ 1218 w 21600"/>
                <a:gd name="T3" fmla="*/ 43166 h 43166"/>
                <a:gd name="T4" fmla="*/ 0 w 21600"/>
                <a:gd name="T5" fmla="*/ 21600 h 43166"/>
              </a:gdLst>
              <a:ahLst/>
              <a:cxnLst>
                <a:cxn ang="0">
                  <a:pos x="T0" y="T1"/>
                </a:cxn>
                <a:cxn ang="0">
                  <a:pos x="T2" y="T3"/>
                </a:cxn>
                <a:cxn ang="0">
                  <a:pos x="T4" y="T5"/>
                </a:cxn>
              </a:cxnLst>
              <a:rect l="0" t="0" r="r" b="b"/>
              <a:pathLst>
                <a:path w="21600" h="43166" fill="none" extrusionOk="0">
                  <a:moveTo>
                    <a:pt x="-1" y="0"/>
                  </a:moveTo>
                  <a:cubicBezTo>
                    <a:pt x="11929" y="0"/>
                    <a:pt x="21600" y="9670"/>
                    <a:pt x="21600" y="21600"/>
                  </a:cubicBezTo>
                  <a:cubicBezTo>
                    <a:pt x="21600" y="33056"/>
                    <a:pt x="12655" y="42519"/>
                    <a:pt x="1217" y="43165"/>
                  </a:cubicBezTo>
                </a:path>
                <a:path w="21600" h="43166" stroke="0" extrusionOk="0">
                  <a:moveTo>
                    <a:pt x="-1" y="0"/>
                  </a:moveTo>
                  <a:cubicBezTo>
                    <a:pt x="11929" y="0"/>
                    <a:pt x="21600" y="9670"/>
                    <a:pt x="21600" y="21600"/>
                  </a:cubicBezTo>
                  <a:cubicBezTo>
                    <a:pt x="21600" y="33056"/>
                    <a:pt x="12655" y="42519"/>
                    <a:pt x="1217" y="43165"/>
                  </a:cubicBezTo>
                  <a:lnTo>
                    <a:pt x="0" y="21600"/>
                  </a:lnTo>
                  <a:close/>
                </a:path>
              </a:pathLst>
            </a:custGeom>
            <a:noFill/>
            <a:ln w="38100">
              <a:solidFill>
                <a:srgbClr val="002060"/>
              </a:solidFill>
              <a:round/>
              <a:headEnd type="stealth" w="med" len="med"/>
              <a:tailEnd type="stealth"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 name="Arc 10">
              <a:extLst>
                <a:ext uri="{FF2B5EF4-FFF2-40B4-BE49-F238E27FC236}">
                  <a16:creationId xmlns:a16="http://schemas.microsoft.com/office/drawing/2014/main" id="{4C1A803A-A0C3-44BB-A5B7-8C411B7CE75E}"/>
                </a:ext>
              </a:extLst>
            </p:cNvPr>
            <p:cNvSpPr>
              <a:spLocks/>
            </p:cNvSpPr>
            <p:nvPr/>
          </p:nvSpPr>
          <p:spPr bwMode="auto">
            <a:xfrm flipH="1">
              <a:off x="5391" y="10070"/>
              <a:ext cx="171" cy="570"/>
            </a:xfrm>
            <a:custGeom>
              <a:avLst/>
              <a:gdLst>
                <a:gd name="G0" fmla="+- 0 0 0"/>
                <a:gd name="G1" fmla="+- 21600 0 0"/>
                <a:gd name="G2" fmla="+- 21600 0 0"/>
                <a:gd name="T0" fmla="*/ 0 w 21600"/>
                <a:gd name="T1" fmla="*/ 0 h 43166"/>
                <a:gd name="T2" fmla="*/ 1218 w 21600"/>
                <a:gd name="T3" fmla="*/ 43166 h 43166"/>
                <a:gd name="T4" fmla="*/ 0 w 21600"/>
                <a:gd name="T5" fmla="*/ 21600 h 43166"/>
              </a:gdLst>
              <a:ahLst/>
              <a:cxnLst>
                <a:cxn ang="0">
                  <a:pos x="T0" y="T1"/>
                </a:cxn>
                <a:cxn ang="0">
                  <a:pos x="T2" y="T3"/>
                </a:cxn>
                <a:cxn ang="0">
                  <a:pos x="T4" y="T5"/>
                </a:cxn>
              </a:cxnLst>
              <a:rect l="0" t="0" r="r" b="b"/>
              <a:pathLst>
                <a:path w="21600" h="43166" fill="none" extrusionOk="0">
                  <a:moveTo>
                    <a:pt x="-1" y="0"/>
                  </a:moveTo>
                  <a:cubicBezTo>
                    <a:pt x="11929" y="0"/>
                    <a:pt x="21600" y="9670"/>
                    <a:pt x="21600" y="21600"/>
                  </a:cubicBezTo>
                  <a:cubicBezTo>
                    <a:pt x="21600" y="33056"/>
                    <a:pt x="12655" y="42519"/>
                    <a:pt x="1217" y="43165"/>
                  </a:cubicBezTo>
                </a:path>
                <a:path w="21600" h="43166" stroke="0" extrusionOk="0">
                  <a:moveTo>
                    <a:pt x="-1" y="0"/>
                  </a:moveTo>
                  <a:cubicBezTo>
                    <a:pt x="11929" y="0"/>
                    <a:pt x="21600" y="9670"/>
                    <a:pt x="21600" y="21600"/>
                  </a:cubicBezTo>
                  <a:cubicBezTo>
                    <a:pt x="21600" y="33056"/>
                    <a:pt x="12655" y="42519"/>
                    <a:pt x="1217" y="43165"/>
                  </a:cubicBezTo>
                  <a:lnTo>
                    <a:pt x="0" y="21600"/>
                  </a:lnTo>
                  <a:close/>
                </a:path>
              </a:pathLst>
            </a:custGeom>
            <a:noFill/>
            <a:ln w="38100">
              <a:solidFill>
                <a:srgbClr val="002060"/>
              </a:solidFill>
              <a:round/>
              <a:headEnd type="stealth" w="med" len="med"/>
              <a:tailEnd type="stealth"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 name="Arc 9">
              <a:extLst>
                <a:ext uri="{FF2B5EF4-FFF2-40B4-BE49-F238E27FC236}">
                  <a16:creationId xmlns:a16="http://schemas.microsoft.com/office/drawing/2014/main" id="{57EDDC0C-D71D-4418-B864-D52660A5C938}"/>
                </a:ext>
              </a:extLst>
            </p:cNvPr>
            <p:cNvSpPr>
              <a:spLocks/>
            </p:cNvSpPr>
            <p:nvPr/>
          </p:nvSpPr>
          <p:spPr bwMode="auto">
            <a:xfrm flipH="1">
              <a:off x="5334" y="9380"/>
              <a:ext cx="171" cy="570"/>
            </a:xfrm>
            <a:custGeom>
              <a:avLst/>
              <a:gdLst>
                <a:gd name="G0" fmla="+- 0 0 0"/>
                <a:gd name="G1" fmla="+- 21600 0 0"/>
                <a:gd name="G2" fmla="+- 21600 0 0"/>
                <a:gd name="T0" fmla="*/ 0 w 21600"/>
                <a:gd name="T1" fmla="*/ 0 h 43166"/>
                <a:gd name="T2" fmla="*/ 1218 w 21600"/>
                <a:gd name="T3" fmla="*/ 43166 h 43166"/>
                <a:gd name="T4" fmla="*/ 0 w 21600"/>
                <a:gd name="T5" fmla="*/ 21600 h 43166"/>
              </a:gdLst>
              <a:ahLst/>
              <a:cxnLst>
                <a:cxn ang="0">
                  <a:pos x="T0" y="T1"/>
                </a:cxn>
                <a:cxn ang="0">
                  <a:pos x="T2" y="T3"/>
                </a:cxn>
                <a:cxn ang="0">
                  <a:pos x="T4" y="T5"/>
                </a:cxn>
              </a:cxnLst>
              <a:rect l="0" t="0" r="r" b="b"/>
              <a:pathLst>
                <a:path w="21600" h="43166" fill="none" extrusionOk="0">
                  <a:moveTo>
                    <a:pt x="-1" y="0"/>
                  </a:moveTo>
                  <a:cubicBezTo>
                    <a:pt x="11929" y="0"/>
                    <a:pt x="21600" y="9670"/>
                    <a:pt x="21600" y="21600"/>
                  </a:cubicBezTo>
                  <a:cubicBezTo>
                    <a:pt x="21600" y="33056"/>
                    <a:pt x="12655" y="42519"/>
                    <a:pt x="1217" y="43165"/>
                  </a:cubicBezTo>
                </a:path>
                <a:path w="21600" h="43166" stroke="0" extrusionOk="0">
                  <a:moveTo>
                    <a:pt x="-1" y="0"/>
                  </a:moveTo>
                  <a:cubicBezTo>
                    <a:pt x="11929" y="0"/>
                    <a:pt x="21600" y="9670"/>
                    <a:pt x="21600" y="21600"/>
                  </a:cubicBezTo>
                  <a:cubicBezTo>
                    <a:pt x="21600" y="33056"/>
                    <a:pt x="12655" y="42519"/>
                    <a:pt x="1217" y="43165"/>
                  </a:cubicBezTo>
                  <a:lnTo>
                    <a:pt x="0" y="21600"/>
                  </a:lnTo>
                  <a:close/>
                </a:path>
              </a:pathLst>
            </a:custGeom>
            <a:noFill/>
            <a:ln w="38100">
              <a:solidFill>
                <a:srgbClr val="002060"/>
              </a:solidFill>
              <a:round/>
              <a:headEnd type="stealth" w="med" len="med"/>
              <a:tailEnd type="stealth"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 name="Line 8">
              <a:extLst>
                <a:ext uri="{FF2B5EF4-FFF2-40B4-BE49-F238E27FC236}">
                  <a16:creationId xmlns:a16="http://schemas.microsoft.com/office/drawing/2014/main" id="{C8ECEA17-78E1-4469-8573-B75FC7771FEB}"/>
                </a:ext>
              </a:extLst>
            </p:cNvPr>
            <p:cNvSpPr>
              <a:spLocks noChangeShapeType="1"/>
            </p:cNvSpPr>
            <p:nvPr/>
          </p:nvSpPr>
          <p:spPr bwMode="auto">
            <a:xfrm>
              <a:off x="4707" y="9346"/>
              <a:ext cx="627"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 name="Line 7">
              <a:extLst>
                <a:ext uri="{FF2B5EF4-FFF2-40B4-BE49-F238E27FC236}">
                  <a16:creationId xmlns:a16="http://schemas.microsoft.com/office/drawing/2014/main" id="{9EF40286-83D2-43F4-A167-F550885FECFF}"/>
                </a:ext>
              </a:extLst>
            </p:cNvPr>
            <p:cNvSpPr>
              <a:spLocks noChangeShapeType="1"/>
            </p:cNvSpPr>
            <p:nvPr/>
          </p:nvSpPr>
          <p:spPr bwMode="auto">
            <a:xfrm>
              <a:off x="4707" y="10030"/>
              <a:ext cx="627"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 name="Line 6">
              <a:extLst>
                <a:ext uri="{FF2B5EF4-FFF2-40B4-BE49-F238E27FC236}">
                  <a16:creationId xmlns:a16="http://schemas.microsoft.com/office/drawing/2014/main" id="{A8CDAFC6-7BF3-4BCF-9946-DF663BD4FF22}"/>
                </a:ext>
              </a:extLst>
            </p:cNvPr>
            <p:cNvSpPr>
              <a:spLocks noChangeShapeType="1"/>
            </p:cNvSpPr>
            <p:nvPr/>
          </p:nvSpPr>
          <p:spPr bwMode="auto">
            <a:xfrm>
              <a:off x="4707" y="10731"/>
              <a:ext cx="627" cy="0"/>
            </a:xfrm>
            <a:prstGeom prst="line">
              <a:avLst/>
            </a:prstGeom>
            <a:noFill/>
            <a:ln w="38100">
              <a:solidFill>
                <a:srgbClr val="00206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 name="Text Box 5">
              <a:extLst>
                <a:ext uri="{FF2B5EF4-FFF2-40B4-BE49-F238E27FC236}">
                  <a16:creationId xmlns:a16="http://schemas.microsoft.com/office/drawing/2014/main" id="{445E2F08-D52F-4C60-94ED-48C0626CE990}"/>
                </a:ext>
              </a:extLst>
            </p:cNvPr>
            <p:cNvSpPr txBox="1">
              <a:spLocks noChangeArrowheads="1"/>
            </p:cNvSpPr>
            <p:nvPr/>
          </p:nvSpPr>
          <p:spPr bwMode="auto">
            <a:xfrm>
              <a:off x="4833" y="9499"/>
              <a:ext cx="531"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M</a:t>
              </a:r>
              <a:r>
                <a:rPr kumimoji="0" lang="en-US" altLang="en-US" sz="28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ab</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 name="Text Box 4">
              <a:extLst>
                <a:ext uri="{FF2B5EF4-FFF2-40B4-BE49-F238E27FC236}">
                  <a16:creationId xmlns:a16="http://schemas.microsoft.com/office/drawing/2014/main" id="{0606627C-69A2-4A2A-8D98-810B11FC37C9}"/>
                </a:ext>
              </a:extLst>
            </p:cNvPr>
            <p:cNvSpPr txBox="1">
              <a:spLocks noChangeArrowheads="1"/>
            </p:cNvSpPr>
            <p:nvPr/>
          </p:nvSpPr>
          <p:spPr bwMode="auto">
            <a:xfrm>
              <a:off x="4935" y="10126"/>
              <a:ext cx="531"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M</a:t>
              </a:r>
              <a:r>
                <a:rPr kumimoji="0" lang="en-US" altLang="en-US" sz="28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bc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 name="Text Box 3">
              <a:extLst>
                <a:ext uri="{FF2B5EF4-FFF2-40B4-BE49-F238E27FC236}">
                  <a16:creationId xmlns:a16="http://schemas.microsoft.com/office/drawing/2014/main" id="{6ED1C445-C978-4017-89CF-EF868DEA657E}"/>
                </a:ext>
              </a:extLst>
            </p:cNvPr>
            <p:cNvSpPr txBox="1">
              <a:spLocks noChangeArrowheads="1"/>
            </p:cNvSpPr>
            <p:nvPr/>
          </p:nvSpPr>
          <p:spPr bwMode="auto">
            <a:xfrm>
              <a:off x="6426" y="9608"/>
              <a:ext cx="531"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002060"/>
                  </a:solidFill>
                  <a:effectLst/>
                  <a:latin typeface="Arial" panose="020B0604020202020204" pitchFamily="34" charset="0"/>
                  <a:ea typeface="Times New Roman" panose="02020603050405020304" pitchFamily="18" charset="0"/>
                </a:rPr>
                <a:t>M</a:t>
              </a:r>
              <a:r>
                <a:rPr kumimoji="0" lang="en-US" altLang="en-US" sz="2800" b="0" i="0" u="none" strike="noStrike" cap="none" normalizeH="0" baseline="-30000">
                  <a:ln>
                    <a:noFill/>
                  </a:ln>
                  <a:solidFill>
                    <a:srgbClr val="002060"/>
                  </a:solidFill>
                  <a:effectLst/>
                  <a:latin typeface="Arial" panose="020B0604020202020204" pitchFamily="34" charset="0"/>
                  <a:ea typeface="Times New Roman" panose="02020603050405020304" pitchFamily="18" charset="0"/>
                </a:rPr>
                <a:t>ca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Text Box 2">
              <a:extLst>
                <a:ext uri="{FF2B5EF4-FFF2-40B4-BE49-F238E27FC236}">
                  <a16:creationId xmlns:a16="http://schemas.microsoft.com/office/drawing/2014/main" id="{4861546B-B6C4-4E3A-B772-B382E5A00E5D}"/>
                </a:ext>
              </a:extLst>
            </p:cNvPr>
            <p:cNvSpPr txBox="1">
              <a:spLocks noChangeArrowheads="1"/>
            </p:cNvSpPr>
            <p:nvPr/>
          </p:nvSpPr>
          <p:spPr bwMode="auto">
            <a:xfrm>
              <a:off x="2370" y="11083"/>
              <a:ext cx="5301"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206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Figure 23 – 3 phase transmission line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
        <p:nvSpPr>
          <p:cNvPr id="106" name="Rectangle 104">
            <a:extLst>
              <a:ext uri="{FF2B5EF4-FFF2-40B4-BE49-F238E27FC236}">
                <a16:creationId xmlns:a16="http://schemas.microsoft.com/office/drawing/2014/main" id="{FAFAE14A-C35B-4E28-9638-2998198E7CA7}"/>
              </a:ext>
            </a:extLst>
          </p:cNvPr>
          <p:cNvSpPr>
            <a:spLocks noChangeArrowheads="1"/>
          </p:cNvSpPr>
          <p:nvPr/>
        </p:nvSpPr>
        <p:spPr bwMode="auto">
          <a:xfrm>
            <a:off x="55220" y="657097"/>
            <a:ext cx="65371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a:t>
            </a:r>
            <a:r>
              <a:rPr kumimoji="0" lang="en-GB" altLang="en-US" sz="36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Z</a:t>
            </a:r>
            <a:r>
              <a:rPr kumimoji="0" lang="en-GB" altLang="en-US" sz="36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s</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3600" b="0" i="0" u="none" strike="noStrike" cap="none" normalizeH="0" baseline="0" dirty="0">
                <a:ln>
                  <a:noFill/>
                </a:ln>
                <a:solidFill>
                  <a:srgbClr val="002060"/>
                </a:solidFill>
                <a:effectLst/>
                <a:ea typeface="Times New Roman" panose="02020603050405020304" pitchFamily="18" charset="0"/>
              </a:rPr>
              <a:t>]</a:t>
            </a:r>
            <a:r>
              <a:rPr kumimoji="0" lang="en-GB" altLang="en-US" sz="36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-1</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36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Z</a:t>
            </a:r>
            <a:r>
              <a:rPr kumimoji="0" lang="en-GB" altLang="en-US" sz="36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p</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3600" b="0" i="0" u="none" strike="noStrike" cap="none" normalizeH="0" baseline="0" dirty="0">
                <a:ln>
                  <a:noFill/>
                </a:ln>
                <a:solidFill>
                  <a:srgbClr val="002060"/>
                </a:solidFill>
                <a:effectLst/>
                <a:ea typeface="Times New Roman" panose="02020603050405020304" pitchFamily="18" charset="0"/>
              </a:rPr>
              <a:t>]=</a:t>
            </a:r>
            <a:endParaRPr kumimoji="0" lang="en-GB" altLang="en-US" sz="3600" b="0" i="0" u="none" strike="noStrike" cap="none" normalizeH="0" baseline="0" dirty="0">
              <a:ln>
                <a:noFill/>
              </a:ln>
              <a:solidFill>
                <a:schemeClr val="tx1"/>
              </a:solidFill>
              <a:effectLst/>
              <a:latin typeface="Arial" panose="020B0604020202020204" pitchFamily="34" charset="0"/>
            </a:endParaRPr>
          </a:p>
        </p:txBody>
      </p:sp>
      <p:sp>
        <p:nvSpPr>
          <p:cNvPr id="107" name="Rectangle 105">
            <a:extLst>
              <a:ext uri="{FF2B5EF4-FFF2-40B4-BE49-F238E27FC236}">
                <a16:creationId xmlns:a16="http://schemas.microsoft.com/office/drawing/2014/main" id="{0513BB50-D6A3-4A2C-B3D8-A11E91CE6537}"/>
              </a:ext>
            </a:extLst>
          </p:cNvPr>
          <p:cNvSpPr>
            <a:spLocks noChangeArrowheads="1"/>
          </p:cNvSpPr>
          <p:nvPr/>
        </p:nvSpPr>
        <p:spPr bwMode="auto">
          <a:xfrm>
            <a:off x="8764" y="1538264"/>
            <a:ext cx="790576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542925" algn="l"/>
                <a:tab pos="1193800" algn="l"/>
                <a:tab pos="1447800" algn="l"/>
              </a:tabLst>
              <a:defRPr>
                <a:solidFill>
                  <a:schemeClr val="tx1"/>
                </a:solidFill>
                <a:latin typeface="Arial" panose="020B0604020202020204" pitchFamily="34" charset="0"/>
              </a:defRPr>
            </a:lvl1pPr>
            <a:lvl2pPr eaLnBrk="0" fontAlgn="base" hangingPunct="0">
              <a:spcBef>
                <a:spcPct val="0"/>
              </a:spcBef>
              <a:spcAft>
                <a:spcPct val="0"/>
              </a:spcAft>
              <a:tabLst>
                <a:tab pos="542925" algn="l"/>
                <a:tab pos="1193800" algn="l"/>
                <a:tab pos="1447800" algn="l"/>
              </a:tabLst>
              <a:defRPr>
                <a:solidFill>
                  <a:schemeClr val="tx1"/>
                </a:solidFill>
                <a:latin typeface="Arial" panose="020B0604020202020204" pitchFamily="34" charset="0"/>
              </a:defRPr>
            </a:lvl2pPr>
            <a:lvl3pPr eaLnBrk="0" fontAlgn="base" hangingPunct="0">
              <a:spcBef>
                <a:spcPct val="0"/>
              </a:spcBef>
              <a:spcAft>
                <a:spcPct val="0"/>
              </a:spcAft>
              <a:tabLst>
                <a:tab pos="542925" algn="l"/>
                <a:tab pos="1193800" algn="l"/>
                <a:tab pos="1447800" algn="l"/>
              </a:tabLst>
              <a:defRPr>
                <a:solidFill>
                  <a:schemeClr val="tx1"/>
                </a:solidFill>
                <a:latin typeface="Arial" panose="020B0604020202020204" pitchFamily="34" charset="0"/>
              </a:defRPr>
            </a:lvl3pPr>
            <a:lvl4pPr eaLnBrk="0" fontAlgn="base" hangingPunct="0">
              <a:spcBef>
                <a:spcPct val="0"/>
              </a:spcBef>
              <a:spcAft>
                <a:spcPct val="0"/>
              </a:spcAft>
              <a:tabLst>
                <a:tab pos="542925" algn="l"/>
                <a:tab pos="1193800" algn="l"/>
                <a:tab pos="1447800" algn="l"/>
              </a:tabLst>
              <a:defRPr>
                <a:solidFill>
                  <a:schemeClr val="tx1"/>
                </a:solidFill>
                <a:latin typeface="Arial" panose="020B0604020202020204" pitchFamily="34" charset="0"/>
              </a:defRPr>
            </a:lvl4pPr>
            <a:lvl5pPr eaLnBrk="0" fontAlgn="base" hangingPunct="0">
              <a:spcBef>
                <a:spcPct val="0"/>
              </a:spcBef>
              <a:spcAft>
                <a:spcPct val="0"/>
              </a:spcAft>
              <a:tabLst>
                <a:tab pos="542925" algn="l"/>
                <a:tab pos="1193800" algn="l"/>
                <a:tab pos="1447800" algn="l"/>
              </a:tabLst>
              <a:defRPr>
                <a:solidFill>
                  <a:schemeClr val="tx1"/>
                </a:solidFill>
                <a:latin typeface="Arial" panose="020B0604020202020204" pitchFamily="34" charset="0"/>
              </a:defRPr>
            </a:lvl5pPr>
            <a:lvl6pPr eaLnBrk="0" fontAlgn="base" hangingPunct="0">
              <a:spcBef>
                <a:spcPct val="0"/>
              </a:spcBef>
              <a:spcAft>
                <a:spcPct val="0"/>
              </a:spcAft>
              <a:tabLst>
                <a:tab pos="542925" algn="l"/>
                <a:tab pos="1193800" algn="l"/>
                <a:tab pos="1447800" algn="l"/>
              </a:tabLst>
              <a:defRPr>
                <a:solidFill>
                  <a:schemeClr val="tx1"/>
                </a:solidFill>
                <a:latin typeface="Arial" panose="020B0604020202020204" pitchFamily="34" charset="0"/>
              </a:defRPr>
            </a:lvl6pPr>
            <a:lvl7pPr eaLnBrk="0" fontAlgn="base" hangingPunct="0">
              <a:spcBef>
                <a:spcPct val="0"/>
              </a:spcBef>
              <a:spcAft>
                <a:spcPct val="0"/>
              </a:spcAft>
              <a:tabLst>
                <a:tab pos="542925" algn="l"/>
                <a:tab pos="1193800" algn="l"/>
                <a:tab pos="1447800" algn="l"/>
              </a:tabLst>
              <a:defRPr>
                <a:solidFill>
                  <a:schemeClr val="tx1"/>
                </a:solidFill>
                <a:latin typeface="Arial" panose="020B0604020202020204" pitchFamily="34" charset="0"/>
              </a:defRPr>
            </a:lvl7pPr>
            <a:lvl8pPr eaLnBrk="0" fontAlgn="base" hangingPunct="0">
              <a:spcBef>
                <a:spcPct val="0"/>
              </a:spcBef>
              <a:spcAft>
                <a:spcPct val="0"/>
              </a:spcAft>
              <a:tabLst>
                <a:tab pos="542925" algn="l"/>
                <a:tab pos="1193800" algn="l"/>
                <a:tab pos="1447800" algn="l"/>
              </a:tabLst>
              <a:defRPr>
                <a:solidFill>
                  <a:schemeClr val="tx1"/>
                </a:solidFill>
                <a:latin typeface="Arial" panose="020B0604020202020204" pitchFamily="34" charset="0"/>
              </a:defRPr>
            </a:lvl8pPr>
            <a:lvl9pPr eaLnBrk="0" fontAlgn="base" hangingPunct="0">
              <a:spcBef>
                <a:spcPct val="0"/>
              </a:spcBef>
              <a:spcAft>
                <a:spcPct val="0"/>
              </a:spcAft>
              <a:tabLst>
                <a:tab pos="542925" algn="l"/>
                <a:tab pos="1193800" algn="l"/>
                <a:tab pos="14478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542925" algn="l"/>
                <a:tab pos="1193800" algn="l"/>
                <a:tab pos="1447800" algn="l"/>
              </a:tabLst>
            </a:pPr>
            <a:r>
              <a:rPr kumimoji="0" lang="en-GB" altLang="en-US" sz="3600" b="0" i="0" u="none" strike="noStrike" cap="none" normalizeH="0" baseline="0" dirty="0">
                <a:ln>
                  <a:noFill/>
                </a:ln>
                <a:solidFill>
                  <a:srgbClr val="002060"/>
                </a:solidFill>
                <a:effectLst/>
                <a:ea typeface="Times New Roman" panose="02020603050405020304" pitchFamily="18" charset="0"/>
              </a:rPr>
              <a:t>In a similar manner, </a:t>
            </a:r>
            <a:endParaRPr kumimoji="0" lang="en-GB" altLang="en-US" sz="36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542925" algn="l"/>
                <a:tab pos="1193800" algn="l"/>
                <a:tab pos="1447800" algn="l"/>
              </a:tabLst>
            </a:pPr>
            <a:r>
              <a:rPr kumimoji="0" lang="en-GB" altLang="en-US" sz="3600" b="0" i="0" u="none" strike="noStrike" cap="none" normalizeH="0" baseline="0" dirty="0">
                <a:ln>
                  <a:noFill/>
                </a:ln>
                <a:solidFill>
                  <a:srgbClr val="002060"/>
                </a:solidFill>
                <a:effectLst/>
                <a:ea typeface="Times New Roman" panose="02020603050405020304" pitchFamily="18" charset="0"/>
              </a:rPr>
              <a:t>	[</a:t>
            </a:r>
            <a:r>
              <a:rPr kumimoji="0" lang="en-GB" altLang="en-US" sz="3600" b="0" i="0" u="none" strike="noStrike" cap="none" normalizeH="0" baseline="0" dirty="0" err="1">
                <a:ln>
                  <a:noFill/>
                </a:ln>
                <a:solidFill>
                  <a:srgbClr val="002060"/>
                </a:solidFill>
                <a:effectLst/>
                <a:ea typeface="Times New Roman" panose="02020603050405020304" pitchFamily="18" charset="0"/>
              </a:rPr>
              <a:t>Z</a:t>
            </a:r>
            <a:r>
              <a:rPr kumimoji="0" lang="en-GB" altLang="en-US" sz="3600" b="0" i="0" u="none" strike="noStrike" cap="none" normalizeH="0" baseline="-30000" dirty="0" err="1">
                <a:ln>
                  <a:noFill/>
                </a:ln>
                <a:solidFill>
                  <a:srgbClr val="002060"/>
                </a:solidFill>
                <a:effectLst/>
                <a:ea typeface="Times New Roman" panose="02020603050405020304" pitchFamily="18" charset="0"/>
              </a:rPr>
              <a:t>p</a:t>
            </a:r>
            <a:r>
              <a:rPr kumimoji="0" lang="en-GB" altLang="en-US" sz="3600" b="0" i="0" u="none" strike="noStrike" cap="none" normalizeH="0" baseline="0" dirty="0">
                <a:ln>
                  <a:noFill/>
                </a:ln>
                <a:solidFill>
                  <a:srgbClr val="002060"/>
                </a:solidFill>
                <a:effectLst/>
                <a:ea typeface="Times New Roman" panose="02020603050405020304" pitchFamily="18" charset="0"/>
              </a:rPr>
              <a:t>]	=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3600" b="0" i="0" u="none" strike="noStrike" cap="none" normalizeH="0" baseline="0" dirty="0">
                <a:ln>
                  <a:noFill/>
                </a:ln>
                <a:solidFill>
                  <a:srgbClr val="002060"/>
                </a:solidFill>
                <a:effectLst/>
                <a:ea typeface="Times New Roman" panose="02020603050405020304" pitchFamily="18" charset="0"/>
              </a:rPr>
              <a:t>].[</a:t>
            </a:r>
            <a:r>
              <a:rPr kumimoji="0" lang="en-GB" altLang="en-US" sz="3600" b="0" i="0" u="none" strike="noStrike" cap="none" normalizeH="0" baseline="0" dirty="0" err="1">
                <a:ln>
                  <a:noFill/>
                </a:ln>
                <a:solidFill>
                  <a:srgbClr val="002060"/>
                </a:solidFill>
                <a:effectLst/>
                <a:ea typeface="Times New Roman" panose="02020603050405020304" pitchFamily="18" charset="0"/>
              </a:rPr>
              <a:t>Z</a:t>
            </a:r>
            <a:r>
              <a:rPr kumimoji="0" lang="en-GB" altLang="en-US" sz="3600" b="0" i="0" u="none" strike="noStrike" cap="none" normalizeH="0" baseline="-30000" dirty="0" err="1">
                <a:ln>
                  <a:noFill/>
                </a:ln>
                <a:solidFill>
                  <a:srgbClr val="002060"/>
                </a:solidFill>
                <a:effectLst/>
                <a:ea typeface="Times New Roman" panose="02020603050405020304" pitchFamily="18" charset="0"/>
              </a:rPr>
              <a:t>s</a:t>
            </a:r>
            <a:r>
              <a:rPr kumimoji="0" lang="en-GB" altLang="en-US" sz="3600" b="0" i="0" u="none" strike="noStrike" cap="none" normalizeH="0" baseline="0" dirty="0">
                <a:ln>
                  <a:noFill/>
                </a:ln>
                <a:solidFill>
                  <a:srgbClr val="002060"/>
                </a:solidFill>
                <a:effectLst/>
                <a:ea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3600" b="0" i="0" u="none" strike="noStrike" cap="none" normalizeH="0" baseline="0" dirty="0">
                <a:ln>
                  <a:noFill/>
                </a:ln>
                <a:solidFill>
                  <a:srgbClr val="002060"/>
                </a:solidFill>
                <a:effectLst/>
                <a:ea typeface="Times New Roman" panose="02020603050405020304" pitchFamily="18" charset="0"/>
              </a:rPr>
              <a:t>]</a:t>
            </a:r>
            <a:r>
              <a:rPr kumimoji="0" lang="en-GB" altLang="en-US" sz="3600" b="0" i="0" u="none" strike="noStrike" cap="none" normalizeH="0" baseline="30000" dirty="0">
                <a:ln>
                  <a:noFill/>
                </a:ln>
                <a:solidFill>
                  <a:srgbClr val="002060"/>
                </a:solidFill>
                <a:effectLst/>
                <a:ea typeface="Times New Roman" panose="02020603050405020304" pitchFamily="18" charset="0"/>
              </a:rPr>
              <a:t>-1</a:t>
            </a:r>
            <a:r>
              <a:rPr kumimoji="0" lang="en-GB" altLang="en-US" sz="3600" b="0" i="0" u="none" strike="noStrike" cap="none" normalizeH="0" baseline="0" dirty="0">
                <a:ln>
                  <a:noFill/>
                </a:ln>
                <a:solidFill>
                  <a:srgbClr val="002060"/>
                </a:solidFill>
                <a:effectLst/>
                <a:ea typeface="Times New Roman" panose="02020603050405020304" pitchFamily="18" charset="0"/>
              </a:rPr>
              <a:t>	=	</a:t>
            </a:r>
            <a:endParaRPr kumimoji="0" lang="en-GB" altLang="en-US" sz="3600" b="0" i="0" u="none" strike="noStrike" cap="none" normalizeH="0" baseline="0" dirty="0">
              <a:ln>
                <a:noFill/>
              </a:ln>
              <a:solidFill>
                <a:schemeClr val="tx1"/>
              </a:solidFill>
              <a:effectLst/>
            </a:endParaRPr>
          </a:p>
        </p:txBody>
      </p:sp>
      <p:sp>
        <p:nvSpPr>
          <p:cNvPr id="108" name="Rectangle 106">
            <a:extLst>
              <a:ext uri="{FF2B5EF4-FFF2-40B4-BE49-F238E27FC236}">
                <a16:creationId xmlns:a16="http://schemas.microsoft.com/office/drawing/2014/main" id="{163357BB-810F-4D3F-B214-D54AD69F1E19}"/>
              </a:ext>
            </a:extLst>
          </p:cNvPr>
          <p:cNvSpPr>
            <a:spLocks noChangeArrowheads="1"/>
          </p:cNvSpPr>
          <p:nvPr/>
        </p:nvSpPr>
        <p:spPr bwMode="auto">
          <a:xfrm>
            <a:off x="5127628" y="2016817"/>
            <a:ext cx="32552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3600" b="0" i="0" u="none" strike="noStrike" cap="none" normalizeH="0" baseline="0" dirty="0">
                <a:ln>
                  <a:noFill/>
                </a:ln>
                <a:solidFill>
                  <a:srgbClr val="002060"/>
                </a:solidFill>
                <a:effectLst/>
                <a:ea typeface="Times New Roman" panose="02020603050405020304" pitchFamily="18" charset="0"/>
              </a:rPr>
              <a:t>].[</a:t>
            </a:r>
            <a:r>
              <a:rPr kumimoji="0" lang="en-GB" altLang="en-US" sz="3600" b="0" i="0" u="none" strike="noStrike" cap="none" normalizeH="0" baseline="0" dirty="0" err="1">
                <a:ln>
                  <a:noFill/>
                </a:ln>
                <a:solidFill>
                  <a:srgbClr val="002060"/>
                </a:solidFill>
                <a:effectLst/>
                <a:ea typeface="Times New Roman" panose="02020603050405020304" pitchFamily="18" charset="0"/>
              </a:rPr>
              <a:t>Z</a:t>
            </a:r>
            <a:r>
              <a:rPr kumimoji="0" lang="en-GB" altLang="en-US" sz="36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s</a:t>
            </a: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t>
            </a:r>
            <a:r>
              <a:rPr kumimoji="0" lang="en-GB" altLang="en-US" sz="36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L</a:t>
            </a:r>
            <a:r>
              <a:rPr kumimoji="0" lang="en-GB" altLang="en-US" sz="3600" b="0" i="0" u="none" strike="noStrike" cap="none" normalizeH="0" baseline="0" dirty="0">
                <a:ln>
                  <a:noFill/>
                </a:ln>
                <a:solidFill>
                  <a:srgbClr val="002060"/>
                </a:solidFill>
                <a:effectLst/>
                <a:ea typeface="Times New Roman" panose="02020603050405020304" pitchFamily="18" charset="0"/>
              </a:rPr>
              <a:t>]</a:t>
            </a:r>
            <a:r>
              <a:rPr kumimoji="0" lang="en-GB" altLang="en-US" sz="36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t>
            </a:r>
            <a:endParaRPr kumimoji="0" lang="en-GB" altLang="en-US" sz="3600" b="0" i="0" u="none" strike="noStrike" cap="none" normalizeH="0" baseline="0" dirty="0">
              <a:ln>
                <a:noFill/>
              </a:ln>
              <a:solidFill>
                <a:schemeClr val="tx1"/>
              </a:solidFill>
              <a:effectLst/>
              <a:latin typeface="Arial" panose="020B0604020202020204" pitchFamily="34" charset="0"/>
            </a:endParaRPr>
          </a:p>
        </p:txBody>
      </p:sp>
      <p:sp>
        <p:nvSpPr>
          <p:cNvPr id="109" name="Rectangle 117">
            <a:extLst>
              <a:ext uri="{FF2B5EF4-FFF2-40B4-BE49-F238E27FC236}">
                <a16:creationId xmlns:a16="http://schemas.microsoft.com/office/drawing/2014/main" id="{3241AB94-710C-4ED9-A233-4EBCB6541C31}"/>
              </a:ext>
            </a:extLst>
          </p:cNvPr>
          <p:cNvSpPr>
            <a:spLocks noChangeArrowheads="1"/>
          </p:cNvSpPr>
          <p:nvPr/>
        </p:nvSpPr>
        <p:spPr bwMode="auto">
          <a:xfrm>
            <a:off x="56078" y="2624424"/>
            <a:ext cx="1200268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Consider</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the sequence impedance matrix for practical problems such as the transmission line,</a:t>
            </a:r>
            <a:r>
              <a:rPr kumimoji="0" lang="en-GB" altLang="en-US" sz="3200" b="0" i="0" u="none" strike="noStrike" cap="none" normalizeH="0" baseline="0" dirty="0">
                <a:ln>
                  <a:noFill/>
                </a:ln>
                <a:solidFill>
                  <a:schemeClr val="tx1"/>
                </a:solidFill>
                <a:effectLst/>
                <a:latin typeface="Arial" panose="020B0604020202020204" pitchFamily="34" charset="0"/>
              </a:rPr>
              <a:t> </a:t>
            </a:r>
          </a:p>
        </p:txBody>
      </p:sp>
      <p:sp>
        <p:nvSpPr>
          <p:cNvPr id="110" name="Rectangle 109">
            <a:extLst>
              <a:ext uri="{FF2B5EF4-FFF2-40B4-BE49-F238E27FC236}">
                <a16:creationId xmlns:a16="http://schemas.microsoft.com/office/drawing/2014/main" id="{23B34CEF-33A0-4A08-9E47-15A91F9331F2}"/>
              </a:ext>
            </a:extLst>
          </p:cNvPr>
          <p:cNvSpPr/>
          <p:nvPr/>
        </p:nvSpPr>
        <p:spPr>
          <a:xfrm>
            <a:off x="6847530" y="627933"/>
            <a:ext cx="2444900" cy="646331"/>
          </a:xfrm>
          <a:prstGeom prst="rect">
            <a:avLst/>
          </a:prstGeom>
        </p:spPr>
        <p:txBody>
          <a:bodyPr wrap="none">
            <a:spAutoFit/>
          </a:bodyPr>
          <a:lstStyle/>
          <a:p>
            <a:pPr lvl="0" algn="just" eaLnBrk="0" fontAlgn="base" hangingPunct="0">
              <a:spcBef>
                <a:spcPct val="0"/>
              </a:spcBef>
              <a:spcAft>
                <a:spcPct val="0"/>
              </a:spcAft>
              <a:tabLst>
                <a:tab pos="542925" algn="l"/>
                <a:tab pos="1193800" algn="l"/>
                <a:tab pos="1447800" algn="l"/>
              </a:tabLst>
            </a:pPr>
            <a:r>
              <a:rPr lang="en-GB" altLang="en-US" sz="3600" dirty="0">
                <a:solidFill>
                  <a:srgbClr val="002060"/>
                </a:solidFill>
                <a:latin typeface="Arial" panose="020B0604020202020204" pitchFamily="34" charset="0"/>
                <a:ea typeface="Times New Roman" panose="02020603050405020304" pitchFamily="18" charset="0"/>
              </a:rPr>
              <a:t>[</a:t>
            </a:r>
            <a:r>
              <a:rPr lang="en-GB" altLang="en-US" sz="3600" dirty="0">
                <a:solidFill>
                  <a:srgbClr val="002060"/>
                </a:solidFill>
                <a:latin typeface="Symbol" panose="05050102010706020507" pitchFamily="18" charset="2"/>
                <a:ea typeface="Times New Roman" panose="02020603050405020304" pitchFamily="18" charset="0"/>
              </a:rPr>
              <a:t>L</a:t>
            </a:r>
            <a:r>
              <a:rPr lang="en-GB" altLang="en-US" sz="3600" dirty="0">
                <a:solidFill>
                  <a:srgbClr val="002060"/>
                </a:solidFill>
                <a:ea typeface="Times New Roman" panose="02020603050405020304" pitchFamily="18" charset="0"/>
              </a:rPr>
              <a:t>]</a:t>
            </a:r>
            <a:r>
              <a:rPr lang="en-GB" altLang="en-US" sz="3600" baseline="30000" dirty="0">
                <a:solidFill>
                  <a:srgbClr val="002060"/>
                </a:solidFill>
                <a:latin typeface="Arial" panose="020B0604020202020204" pitchFamily="34" charset="0"/>
                <a:ea typeface="Times New Roman" panose="02020603050405020304" pitchFamily="18" charset="0"/>
              </a:rPr>
              <a:t>*</a:t>
            </a:r>
            <a:r>
              <a:rPr lang="en-GB" altLang="en-US" sz="3600" dirty="0">
                <a:solidFill>
                  <a:srgbClr val="002060"/>
                </a:solidFill>
                <a:latin typeface="Arial" panose="020B0604020202020204" pitchFamily="34" charset="0"/>
                <a:ea typeface="Times New Roman" panose="02020603050405020304" pitchFamily="18" charset="0"/>
              </a:rPr>
              <a:t>.[</a:t>
            </a:r>
            <a:r>
              <a:rPr lang="en-GB" altLang="en-US" sz="3600" dirty="0" err="1">
                <a:solidFill>
                  <a:srgbClr val="002060"/>
                </a:solidFill>
                <a:latin typeface="Arial" panose="020B0604020202020204" pitchFamily="34" charset="0"/>
                <a:ea typeface="Times New Roman" panose="02020603050405020304" pitchFamily="18" charset="0"/>
              </a:rPr>
              <a:t>Z</a:t>
            </a:r>
            <a:r>
              <a:rPr lang="en-GB" altLang="en-US" sz="3600" baseline="-30000" dirty="0" err="1">
                <a:solidFill>
                  <a:srgbClr val="002060"/>
                </a:solidFill>
                <a:latin typeface="Arial" panose="020B0604020202020204" pitchFamily="34" charset="0"/>
                <a:ea typeface="Times New Roman" panose="02020603050405020304" pitchFamily="18" charset="0"/>
              </a:rPr>
              <a:t>p</a:t>
            </a:r>
            <a:r>
              <a:rPr lang="en-GB" altLang="en-US" sz="3600" dirty="0">
                <a:solidFill>
                  <a:srgbClr val="002060"/>
                </a:solidFill>
                <a:latin typeface="Arial" panose="020B0604020202020204" pitchFamily="34" charset="0"/>
                <a:ea typeface="Times New Roman" panose="02020603050405020304" pitchFamily="18" charset="0"/>
              </a:rPr>
              <a:t>].[</a:t>
            </a:r>
            <a:r>
              <a:rPr lang="en-GB" altLang="en-US" sz="3600" dirty="0">
                <a:solidFill>
                  <a:srgbClr val="002060"/>
                </a:solidFill>
                <a:latin typeface="Symbol" panose="05050102010706020507" pitchFamily="18" charset="2"/>
                <a:ea typeface="Times New Roman" panose="02020603050405020304" pitchFamily="18" charset="0"/>
              </a:rPr>
              <a:t>L</a:t>
            </a:r>
            <a:r>
              <a:rPr lang="en-GB" altLang="en-US" sz="3600" dirty="0">
                <a:solidFill>
                  <a:srgbClr val="002060"/>
                </a:solidFill>
                <a:ea typeface="Times New Roman" panose="02020603050405020304" pitchFamily="18" charset="0"/>
              </a:rPr>
              <a:t>]</a:t>
            </a:r>
            <a:endParaRPr lang="en-GB" altLang="en-US" sz="3600" dirty="0">
              <a:latin typeface="Arial" panose="020B0604020202020204" pitchFamily="34" charset="0"/>
              <a:ea typeface="Times New Roman" panose="02020603050405020304" pitchFamily="18" charset="0"/>
            </a:endParaRPr>
          </a:p>
        </p:txBody>
      </p:sp>
    </p:spTree>
    <p:extLst>
      <p:ext uri="{BB962C8B-B14F-4D97-AF65-F5344CB8AC3E}">
        <p14:creationId xmlns:p14="http://schemas.microsoft.com/office/powerpoint/2010/main" val="13075168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21654C-1EE1-4828-8E25-21C3B23BA174}"/>
              </a:ext>
            </a:extLst>
          </p:cNvPr>
          <p:cNvSpPr>
            <a:spLocks noChangeArrowheads="1"/>
          </p:cNvSpPr>
          <p:nvPr/>
        </p:nvSpPr>
        <p:spPr bwMode="auto">
          <a:xfrm>
            <a:off x="48126" y="679137"/>
            <a:ext cx="12007516"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It can be assumed that the self impedance components are equal for each phase. </a:t>
            </a:r>
            <a:endParaRPr kumimoji="0" lang="en-GB" altLang="en-US" sz="3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i.e.  R</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3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R</a:t>
            </a:r>
            <a:r>
              <a:rPr kumimoji="0" lang="en-GB" altLang="en-US" sz="32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b</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3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R</a:t>
            </a:r>
            <a:r>
              <a:rPr kumimoji="0" lang="en-GB" altLang="en-US" sz="32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c</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and   L</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L</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b</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3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L</a:t>
            </a:r>
            <a:r>
              <a:rPr kumimoji="0" lang="en-GB" altLang="en-US" sz="32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c</a:t>
            </a:r>
            <a:endParaRPr kumimoji="0" lang="en-GB" altLang="en-US" sz="3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Also all 3 phase conductors behave similarly, so that mutual coupling between phases are also equal.</a:t>
            </a:r>
            <a:endParaRPr kumimoji="0" lang="en-GB" altLang="en-US" sz="3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i.e.	M</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ab</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3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M</a:t>
            </a:r>
            <a:r>
              <a:rPr kumimoji="0" lang="en-GB" altLang="en-US" sz="32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bc</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r>
              <a:rPr kumimoji="0" lang="en-GB" altLang="en-US" sz="3200" b="0"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M</a:t>
            </a:r>
            <a:r>
              <a:rPr kumimoji="0" lang="en-GB" altLang="en-US" sz="3200" b="0" i="0" u="none" strike="noStrike" cap="none" normalizeH="0" baseline="-30000" dirty="0" err="1">
                <a:ln>
                  <a:noFill/>
                </a:ln>
                <a:solidFill>
                  <a:srgbClr val="002060"/>
                </a:solidFill>
                <a:effectLst/>
                <a:latin typeface="Arial" panose="020B0604020202020204" pitchFamily="34" charset="0"/>
                <a:ea typeface="Times New Roman" panose="02020603050405020304" pitchFamily="18" charset="0"/>
              </a:rPr>
              <a:t>ca</a:t>
            </a:r>
            <a:endParaRPr kumimoji="0" lang="en-GB" altLang="en-US" sz="3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In such a situation, impedance matrix would be fully  symmetrical, </a:t>
            </a:r>
            <a:endParaRPr kumimoji="0" lang="en-GB" altLang="en-US" sz="3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graphicFrame>
        <p:nvGraphicFramePr>
          <p:cNvPr id="4" name="Object 3">
            <a:extLst>
              <a:ext uri="{FF2B5EF4-FFF2-40B4-BE49-F238E27FC236}">
                <a16:creationId xmlns:a16="http://schemas.microsoft.com/office/drawing/2014/main" id="{C2920C03-151C-45B3-970C-D1BE4543927E}"/>
              </a:ext>
            </a:extLst>
          </p:cNvPr>
          <p:cNvGraphicFramePr>
            <a:graphicFrameLocks noChangeAspect="1"/>
          </p:cNvGraphicFramePr>
          <p:nvPr>
            <p:extLst>
              <p:ext uri="{D42A27DB-BD31-4B8C-83A1-F6EECF244321}">
                <p14:modId xmlns:p14="http://schemas.microsoft.com/office/powerpoint/2010/main" val="2316995561"/>
              </p:ext>
            </p:extLst>
          </p:nvPr>
        </p:nvGraphicFramePr>
        <p:xfrm>
          <a:off x="2045367" y="4066674"/>
          <a:ext cx="4705350" cy="2447925"/>
        </p:xfrm>
        <a:graphic>
          <a:graphicData uri="http://schemas.openxmlformats.org/presentationml/2006/ole">
            <mc:AlternateContent xmlns:mc="http://schemas.openxmlformats.org/markup-compatibility/2006">
              <mc:Choice xmlns:v="urn:schemas-microsoft-com:vml" Requires="v">
                <p:oleObj spid="_x0000_s184345" r:id="rId4" imgW="1371600" imgH="711200" progId="Equation.3">
                  <p:embed/>
                </p:oleObj>
              </mc:Choice>
              <mc:Fallback>
                <p:oleObj r:id="rId4" imgW="1371600" imgH="7112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5367" y="4066674"/>
                        <a:ext cx="4705350" cy="2447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494919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C3ACA90B-02A8-469B-B2AF-4F455879E119}"/>
              </a:ext>
            </a:extLst>
          </p:cNvPr>
          <p:cNvGraphicFramePr>
            <a:graphicFrameLocks noChangeAspect="1"/>
          </p:cNvGraphicFramePr>
          <p:nvPr>
            <p:extLst>
              <p:ext uri="{D42A27DB-BD31-4B8C-83A1-F6EECF244321}">
                <p14:modId xmlns:p14="http://schemas.microsoft.com/office/powerpoint/2010/main" val="2210783979"/>
              </p:ext>
            </p:extLst>
          </p:nvPr>
        </p:nvGraphicFramePr>
        <p:xfrm>
          <a:off x="176462" y="960103"/>
          <a:ext cx="8566150" cy="3252787"/>
        </p:xfrm>
        <a:graphic>
          <a:graphicData uri="http://schemas.openxmlformats.org/presentationml/2006/ole">
            <mc:AlternateContent xmlns:mc="http://schemas.openxmlformats.org/markup-compatibility/2006">
              <mc:Choice xmlns:v="urn:schemas-microsoft-com:vml" Requires="v">
                <p:oleObj spid="_x0000_s185393" r:id="rId4" imgW="2908300" imgH="1041400" progId="Equation.3">
                  <p:embed/>
                </p:oleObj>
              </mc:Choice>
              <mc:Fallback>
                <p:oleObj r:id="rId4" imgW="2908300" imgH="10414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462" y="960103"/>
                        <a:ext cx="8566150" cy="3252787"/>
                      </a:xfrm>
                      <a:prstGeom prst="rect">
                        <a:avLst/>
                      </a:prstGeom>
                      <a:noFill/>
                    </p:spPr>
                  </p:pic>
                </p:oleObj>
              </mc:Fallback>
            </mc:AlternateContent>
          </a:graphicData>
        </a:graphic>
      </p:graphicFrame>
      <p:graphicFrame>
        <p:nvGraphicFramePr>
          <p:cNvPr id="4" name="Object 3">
            <a:extLst>
              <a:ext uri="{FF2B5EF4-FFF2-40B4-BE49-F238E27FC236}">
                <a16:creationId xmlns:a16="http://schemas.microsoft.com/office/drawing/2014/main" id="{5F46ED65-74EF-4264-8922-FD67E459B8BC}"/>
              </a:ext>
            </a:extLst>
          </p:cNvPr>
          <p:cNvGraphicFramePr>
            <a:graphicFrameLocks noChangeAspect="1"/>
          </p:cNvGraphicFramePr>
          <p:nvPr>
            <p:extLst>
              <p:ext uri="{D42A27DB-BD31-4B8C-83A1-F6EECF244321}">
                <p14:modId xmlns:p14="http://schemas.microsoft.com/office/powerpoint/2010/main" val="3843955888"/>
              </p:ext>
            </p:extLst>
          </p:nvPr>
        </p:nvGraphicFramePr>
        <p:xfrm>
          <a:off x="1" y="4288962"/>
          <a:ext cx="10058400" cy="2304840"/>
        </p:xfrm>
        <a:graphic>
          <a:graphicData uri="http://schemas.openxmlformats.org/presentationml/2006/ole">
            <mc:AlternateContent xmlns:mc="http://schemas.openxmlformats.org/markup-compatibility/2006">
              <mc:Choice xmlns:v="urn:schemas-microsoft-com:vml" Requires="v">
                <p:oleObj spid="_x0000_s185394" r:id="rId6" imgW="4229100" imgH="736600" progId="Equation.3">
                  <p:embed/>
                </p:oleObj>
              </mc:Choice>
              <mc:Fallback>
                <p:oleObj r:id="rId6" imgW="4229100" imgH="7366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4288962"/>
                        <a:ext cx="10058400" cy="2304840"/>
                      </a:xfrm>
                      <a:prstGeom prst="rect">
                        <a:avLst/>
                      </a:prstGeom>
                      <a:noFill/>
                    </p:spPr>
                  </p:pic>
                </p:oleObj>
              </mc:Fallback>
            </mc:AlternateContent>
          </a:graphicData>
        </a:graphic>
      </p:graphicFrame>
      <p:sp>
        <p:nvSpPr>
          <p:cNvPr id="5" name="Rectangle 3">
            <a:extLst>
              <a:ext uri="{FF2B5EF4-FFF2-40B4-BE49-F238E27FC236}">
                <a16:creationId xmlns:a16="http://schemas.microsoft.com/office/drawing/2014/main" id="{15B3EE3D-5679-4A9F-801D-1E6CB4BFE9E6}"/>
              </a:ext>
            </a:extLst>
          </p:cNvPr>
          <p:cNvSpPr>
            <a:spLocks noChangeArrowheads="1"/>
          </p:cNvSpPr>
          <p:nvPr/>
        </p:nvSpPr>
        <p:spPr bwMode="auto">
          <a:xfrm>
            <a:off x="112294" y="501693"/>
            <a:ext cx="1111717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Then the symmetrical component impedance matrix is</a:t>
            </a:r>
            <a:endParaRPr kumimoji="0" lang="en-GB" altLang="en-US" sz="3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sp>
        <p:nvSpPr>
          <p:cNvPr id="6" name="Rectangle 4">
            <a:extLst>
              <a:ext uri="{FF2B5EF4-FFF2-40B4-BE49-F238E27FC236}">
                <a16:creationId xmlns:a16="http://schemas.microsoft.com/office/drawing/2014/main" id="{5E600063-FA91-48D2-A61C-6CDC28B3B68F}"/>
              </a:ext>
            </a:extLst>
          </p:cNvPr>
          <p:cNvSpPr>
            <a:spLocks noChangeArrowheads="1"/>
          </p:cNvSpPr>
          <p:nvPr/>
        </p:nvSpPr>
        <p:spPr bwMode="auto">
          <a:xfrm>
            <a:off x="0" y="3524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31125245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CFD30F17-27B5-454B-9024-E3E559BAB771}"/>
              </a:ext>
            </a:extLst>
          </p:cNvPr>
          <p:cNvGraphicFramePr>
            <a:graphicFrameLocks noChangeAspect="1"/>
          </p:cNvGraphicFramePr>
          <p:nvPr>
            <p:extLst>
              <p:ext uri="{D42A27DB-BD31-4B8C-83A1-F6EECF244321}">
                <p14:modId xmlns:p14="http://schemas.microsoft.com/office/powerpoint/2010/main" val="2588755825"/>
              </p:ext>
            </p:extLst>
          </p:nvPr>
        </p:nvGraphicFramePr>
        <p:xfrm>
          <a:off x="48126" y="1155030"/>
          <a:ext cx="10125075" cy="2000250"/>
        </p:xfrm>
        <a:graphic>
          <a:graphicData uri="http://schemas.openxmlformats.org/presentationml/2006/ole">
            <mc:AlternateContent xmlns:mc="http://schemas.openxmlformats.org/markup-compatibility/2006">
              <mc:Choice xmlns:v="urn:schemas-microsoft-com:vml" Requires="v">
                <p:oleObj spid="_x0000_s186442" r:id="rId4" imgW="3848100" imgH="711200" progId="Equation.3">
                  <p:embed/>
                </p:oleObj>
              </mc:Choice>
              <mc:Fallback>
                <p:oleObj r:id="rId4" imgW="3848100" imgH="711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26" y="1155030"/>
                        <a:ext cx="10125075" cy="200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C17EECFA-A38D-4845-920C-1E03CD9B0330}"/>
              </a:ext>
            </a:extLst>
          </p:cNvPr>
          <p:cNvGraphicFramePr>
            <a:graphicFrameLocks noChangeAspect="1"/>
          </p:cNvGraphicFramePr>
          <p:nvPr>
            <p:extLst>
              <p:ext uri="{D42A27DB-BD31-4B8C-83A1-F6EECF244321}">
                <p14:modId xmlns:p14="http://schemas.microsoft.com/office/powerpoint/2010/main" val="2281217419"/>
              </p:ext>
            </p:extLst>
          </p:nvPr>
        </p:nvGraphicFramePr>
        <p:xfrm>
          <a:off x="876801" y="3155280"/>
          <a:ext cx="9296400" cy="1762125"/>
        </p:xfrm>
        <a:graphic>
          <a:graphicData uri="http://schemas.openxmlformats.org/presentationml/2006/ole">
            <mc:AlternateContent xmlns:mc="http://schemas.openxmlformats.org/markup-compatibility/2006">
              <mc:Choice xmlns:v="urn:schemas-microsoft-com:vml" Requires="v">
                <p:oleObj spid="_x0000_s186443" r:id="rId6" imgW="4165600" imgH="711200" progId="Equation.3">
                  <p:embed/>
                </p:oleObj>
              </mc:Choice>
              <mc:Fallback>
                <p:oleObj r:id="rId6" imgW="4165600" imgH="7112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6801" y="3155280"/>
                        <a:ext cx="9296400" cy="176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15CA3909-7C22-4A64-A599-E9C286C7247F}"/>
              </a:ext>
            </a:extLst>
          </p:cNvPr>
          <p:cNvGraphicFramePr>
            <a:graphicFrameLocks noChangeAspect="1"/>
          </p:cNvGraphicFramePr>
          <p:nvPr>
            <p:extLst>
              <p:ext uri="{D42A27DB-BD31-4B8C-83A1-F6EECF244321}">
                <p14:modId xmlns:p14="http://schemas.microsoft.com/office/powerpoint/2010/main" val="3550008944"/>
              </p:ext>
            </p:extLst>
          </p:nvPr>
        </p:nvGraphicFramePr>
        <p:xfrm>
          <a:off x="642183" y="4917405"/>
          <a:ext cx="9296400" cy="1828800"/>
        </p:xfrm>
        <a:graphic>
          <a:graphicData uri="http://schemas.openxmlformats.org/presentationml/2006/ole">
            <mc:AlternateContent xmlns:mc="http://schemas.openxmlformats.org/markup-compatibility/2006">
              <mc:Choice xmlns:v="urn:schemas-microsoft-com:vml" Requires="v">
                <p:oleObj spid="_x0000_s186444" r:id="rId8" imgW="3949700" imgH="711200" progId="Equation.3">
                  <p:embed/>
                </p:oleObj>
              </mc:Choice>
              <mc:Fallback>
                <p:oleObj r:id="rId8" imgW="3949700" imgH="711200" progId="Equation.3">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2183" y="4917405"/>
                        <a:ext cx="9296400" cy="1828800"/>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3431A09F-0AAF-4779-BD85-32C380788030}"/>
              </a:ext>
            </a:extLst>
          </p:cNvPr>
          <p:cNvSpPr>
            <a:spLocks noChangeArrowheads="1"/>
          </p:cNvSpPr>
          <p:nvPr/>
        </p:nvSpPr>
        <p:spPr bwMode="auto">
          <a:xfrm>
            <a:off x="72189" y="570255"/>
            <a:ext cx="890820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Using the property 1+</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3200" b="0" i="0" u="none" strike="noStrike" cap="none" normalizeH="0" baseline="0" dirty="0">
                <a:ln>
                  <a:noFill/>
                </a:ln>
                <a:solidFill>
                  <a:srgbClr val="002060"/>
                </a:solidFill>
                <a:effectLst/>
                <a:ea typeface="Times New Roman" panose="02020603050405020304" pitchFamily="18" charset="0"/>
              </a:rPr>
              <a:t>+</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a</a:t>
            </a:r>
            <a:r>
              <a:rPr kumimoji="0" lang="en-GB" altLang="en-US" sz="3200" b="0" i="0" u="none" strike="noStrike" cap="none" normalizeH="0" baseline="30000" dirty="0">
                <a:ln>
                  <a:noFill/>
                </a:ln>
                <a:solidFill>
                  <a:srgbClr val="002060"/>
                </a:solidFill>
                <a:effectLst/>
                <a:ea typeface="Times New Roman" panose="02020603050405020304" pitchFamily="18" charset="0"/>
              </a:rPr>
              <a:t>2</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0, this simplifies to:</a:t>
            </a:r>
            <a:endParaRPr kumimoji="0" lang="en-GB" altLang="en-US" sz="3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sp>
        <p:nvSpPr>
          <p:cNvPr id="8" name="Rectangle 6">
            <a:extLst>
              <a:ext uri="{FF2B5EF4-FFF2-40B4-BE49-F238E27FC236}">
                <a16:creationId xmlns:a16="http://schemas.microsoft.com/office/drawing/2014/main" id="{4746C7F3-AF25-4F11-8F95-1F46F19458FF}"/>
              </a:ext>
            </a:extLst>
          </p:cNvPr>
          <p:cNvSpPr>
            <a:spLocks noChangeArrowheads="1"/>
          </p:cNvSpPr>
          <p:nvPr/>
        </p:nvSpPr>
        <p:spPr bwMode="auto">
          <a:xfrm>
            <a:off x="1" y="5378741"/>
            <a:ext cx="11550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i.e.</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
        <p:nvSpPr>
          <p:cNvPr id="9" name="Rectangle 7">
            <a:extLst>
              <a:ext uri="{FF2B5EF4-FFF2-40B4-BE49-F238E27FC236}">
                <a16:creationId xmlns:a16="http://schemas.microsoft.com/office/drawing/2014/main" id="{1DEA59DD-F755-4EE8-9DD7-7AEA607E94D4}"/>
              </a:ext>
            </a:extLst>
          </p:cNvPr>
          <p:cNvSpPr>
            <a:spLocks noChangeArrowheads="1"/>
          </p:cNvSpPr>
          <p:nvPr/>
        </p:nvSpPr>
        <p:spPr bwMode="auto">
          <a:xfrm>
            <a:off x="0" y="6505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chemeClr val="tx1"/>
                </a:solidFill>
                <a:effectLst/>
                <a:latin typeface="Arial" panose="020B060402020202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8203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1CDFFBA4-6444-4E8E-B160-8F9DA4BD1165}"/>
              </a:ext>
            </a:extLst>
          </p:cNvPr>
          <p:cNvSpPr txBox="1">
            <a:spLocks noChangeArrowheads="1"/>
          </p:cNvSpPr>
          <p:nvPr/>
        </p:nvSpPr>
        <p:spPr bwMode="auto">
          <a:xfrm>
            <a:off x="5057775" y="4902366"/>
            <a:ext cx="4730917" cy="1755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chemeClr val="tx1"/>
                </a:solidFill>
                <a:effectLst/>
                <a:latin typeface="Brush Script MT" panose="03060802040406070304" pitchFamily="66" charset="0"/>
                <a:ea typeface="Times New Roman" panose="02020603050405020304" pitchFamily="18" charset="0"/>
              </a:rPr>
              <a:t>Problem is very symmetric, but solution cannot be written without solving</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 Box 1">
            <a:extLst>
              <a:ext uri="{FF2B5EF4-FFF2-40B4-BE49-F238E27FC236}">
                <a16:creationId xmlns:a16="http://schemas.microsoft.com/office/drawing/2014/main" id="{6B86B731-DB4B-4989-BB97-5382F0F3BE89}"/>
              </a:ext>
            </a:extLst>
          </p:cNvPr>
          <p:cNvSpPr txBox="1">
            <a:spLocks noChangeArrowheads="1"/>
          </p:cNvSpPr>
          <p:nvPr/>
        </p:nvSpPr>
        <p:spPr bwMode="auto">
          <a:xfrm>
            <a:off x="5057775" y="3106736"/>
            <a:ext cx="5794709" cy="1705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chemeClr val="tx1"/>
                </a:solidFill>
                <a:effectLst/>
                <a:latin typeface="Brush Script MT" panose="03060802040406070304" pitchFamily="66" charset="0"/>
                <a:ea typeface="Times New Roman" panose="02020603050405020304" pitchFamily="18" charset="0"/>
              </a:rPr>
              <a:t>Problem is very simple to solve by inspection as each equation has only one unknown variable.</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3D48CB47-3670-44E9-8D73-E856D1AB695B}"/>
              </a:ext>
            </a:extLst>
          </p:cNvPr>
          <p:cNvSpPr>
            <a:spLocks noChangeArrowheads="1"/>
          </p:cNvSpPr>
          <p:nvPr/>
        </p:nvSpPr>
        <p:spPr bwMode="auto">
          <a:xfrm>
            <a:off x="206542" y="446041"/>
            <a:ext cx="1198545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While the phase component impedance matrix was a full matrix,    although it had completely symmetry, the sequence component  impedance matrix is diagonal.</a:t>
            </a:r>
            <a:endParaRPr kumimoji="0" lang="en-GB" altLang="en-US" sz="2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Advantage of diagonal matrix is that it allows decoupling for easy analysis.</a:t>
            </a:r>
            <a:endParaRPr kumimoji="0" lang="en-GB" altLang="en-US" sz="2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To understand the importance of decoupling (or a diagonal matrix), consider the following simple algebraic problems.</a:t>
            </a:r>
            <a:endParaRPr kumimoji="0" lang="en-GB" altLang="en-US" sz="2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sp>
        <p:nvSpPr>
          <p:cNvPr id="6" name="Rectangle 4">
            <a:extLst>
              <a:ext uri="{FF2B5EF4-FFF2-40B4-BE49-F238E27FC236}">
                <a16:creationId xmlns:a16="http://schemas.microsoft.com/office/drawing/2014/main" id="{29E3E8EF-0608-40FF-B2D0-B3D3CBE18C0B}"/>
              </a:ext>
            </a:extLst>
          </p:cNvPr>
          <p:cNvSpPr>
            <a:spLocks noChangeArrowheads="1"/>
          </p:cNvSpPr>
          <p:nvPr/>
        </p:nvSpPr>
        <p:spPr bwMode="auto">
          <a:xfrm>
            <a:off x="326858" y="3050385"/>
            <a:ext cx="468429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rPr>
              <a:t>5 x + 3 y + 3 z = 6</a:t>
            </a:r>
          </a:p>
          <a:p>
            <a:pPr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3 x + 5 y + 3 z = 4</a:t>
            </a:r>
          </a:p>
          <a:p>
            <a:pPr marR="0" lvl="0" indent="0" algn="l"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3 x + 3 y + 5 z = -10</a:t>
            </a:r>
            <a:endParaRPr kumimoji="0" lang="en-GB"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sp>
        <p:nvSpPr>
          <p:cNvPr id="7" name="Rectangle 5">
            <a:extLst>
              <a:ext uri="{FF2B5EF4-FFF2-40B4-BE49-F238E27FC236}">
                <a16:creationId xmlns:a16="http://schemas.microsoft.com/office/drawing/2014/main" id="{90ECCE6F-7526-46A8-808B-9C3B07013FDF}"/>
              </a:ext>
            </a:extLst>
          </p:cNvPr>
          <p:cNvSpPr>
            <a:spLocks noChangeArrowheads="1"/>
          </p:cNvSpPr>
          <p:nvPr/>
        </p:nvSpPr>
        <p:spPr bwMode="auto">
          <a:xfrm>
            <a:off x="373480" y="4895358"/>
            <a:ext cx="4684295"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400" b="0" i="0" u="none" strike="noStrike" cap="none" normalizeH="0" baseline="0" dirty="0">
                <a:ln>
                  <a:noFill/>
                </a:ln>
                <a:solidFill>
                  <a:srgbClr val="002060"/>
                </a:solidFill>
                <a:effectLst/>
                <a:latin typeface="Arial" panose="020B0604020202020204" pitchFamily="34" charset="0"/>
              </a:rPr>
              <a:t>4 x + 0 y + 0 z = 12</a:t>
            </a:r>
            <a:endParaRPr kumimoji="0" lang="en-GB"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0 x + 5 y + 0 z = 10</a:t>
            </a:r>
            <a:endParaRPr kumimoji="0" lang="en-GB"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4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0 x + 0 y + 3 z = -15</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7532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B82DD-5E89-4954-9D3F-D23DBCC6DD30}"/>
              </a:ext>
            </a:extLst>
          </p:cNvPr>
          <p:cNvSpPr>
            <a:spLocks noGrp="1"/>
          </p:cNvSpPr>
          <p:nvPr>
            <p:ph type="title"/>
          </p:nvPr>
        </p:nvSpPr>
        <p:spPr/>
        <p:txBody>
          <a:bodyPr>
            <a:normAutofit fontScale="90000"/>
          </a:bodyPr>
          <a:lstStyle/>
          <a:p>
            <a:r>
              <a:rPr lang="en-GB" dirty="0"/>
              <a:t>Power associated with Sequence Components</a:t>
            </a:r>
          </a:p>
        </p:txBody>
      </p:sp>
      <p:sp>
        <p:nvSpPr>
          <p:cNvPr id="3" name="Rectangle 2">
            <a:extLst>
              <a:ext uri="{FF2B5EF4-FFF2-40B4-BE49-F238E27FC236}">
                <a16:creationId xmlns:a16="http://schemas.microsoft.com/office/drawing/2014/main" id="{5D74DFF0-C786-48EA-8A24-D94E49862D4B}"/>
              </a:ext>
            </a:extLst>
          </p:cNvPr>
          <p:cNvSpPr/>
          <p:nvPr/>
        </p:nvSpPr>
        <p:spPr>
          <a:xfrm>
            <a:off x="429715" y="1117288"/>
            <a:ext cx="9676812" cy="5632311"/>
          </a:xfrm>
          <a:prstGeom prst="rect">
            <a:avLst/>
          </a:prstGeom>
        </p:spPr>
        <p:txBody>
          <a:bodyPr wrap="square">
            <a:spAutoFit/>
          </a:bodyPr>
          <a:lstStyle/>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With phase components,</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single phase </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	</a:t>
            </a:r>
            <a:r>
              <a:rPr lang="en-GB" sz="3200" dirty="0" err="1">
                <a:solidFill>
                  <a:srgbClr val="002060"/>
                </a:solidFill>
                <a:latin typeface="Times New Roman" panose="02020603050405020304" pitchFamily="18" charset="0"/>
                <a:ea typeface="Times New Roman" panose="02020603050405020304" pitchFamily="18" charset="0"/>
              </a:rPr>
              <a:t>P</a:t>
            </a:r>
            <a:r>
              <a:rPr lang="en-GB" sz="3200" baseline="-25000" dirty="0" err="1">
                <a:solidFill>
                  <a:srgbClr val="002060"/>
                </a:solidFill>
                <a:latin typeface="Times New Roman" panose="02020603050405020304" pitchFamily="18" charset="0"/>
                <a:ea typeface="Times New Roman" panose="02020603050405020304" pitchFamily="18" charset="0"/>
              </a:rPr>
              <a:t>phase</a:t>
            </a:r>
            <a:r>
              <a:rPr lang="en-GB" sz="3200" dirty="0">
                <a:solidFill>
                  <a:srgbClr val="002060"/>
                </a:solidFill>
                <a:latin typeface="Times New Roman" panose="02020603050405020304" pitchFamily="18" charset="0"/>
                <a:ea typeface="Times New Roman" panose="02020603050405020304" pitchFamily="18" charset="0"/>
              </a:rPr>
              <a:t> = V I cos </a:t>
            </a:r>
            <a:r>
              <a:rPr lang="en-GB" sz="3200" dirty="0">
                <a:solidFill>
                  <a:srgbClr val="002060"/>
                </a:solidFill>
                <a:latin typeface="Symbol" panose="05050102010706020507" pitchFamily="18" charset="2"/>
                <a:ea typeface="Times New Roman" panose="02020603050405020304" pitchFamily="18" charset="0"/>
              </a:rPr>
              <a:t>f  </a:t>
            </a:r>
            <a:r>
              <a:rPr lang="en-GB" sz="3200" dirty="0">
                <a:solidFill>
                  <a:srgbClr val="002060"/>
                </a:solidFill>
                <a:latin typeface="Times New Roman" panose="02020603050405020304" pitchFamily="18" charset="0"/>
                <a:ea typeface="Times New Roman" panose="02020603050405020304" pitchFamily="18" charset="0"/>
              </a:rPr>
              <a:t>   or     </a:t>
            </a:r>
            <a:r>
              <a:rPr lang="en-GB" sz="3200" dirty="0" err="1">
                <a:solidFill>
                  <a:srgbClr val="002060"/>
                </a:solidFill>
                <a:latin typeface="Times New Roman" panose="02020603050405020304" pitchFamily="18" charset="0"/>
                <a:ea typeface="Times New Roman" panose="02020603050405020304" pitchFamily="18" charset="0"/>
              </a:rPr>
              <a:t>S</a:t>
            </a:r>
            <a:r>
              <a:rPr lang="en-GB" sz="3200" baseline="-25000" dirty="0" err="1">
                <a:solidFill>
                  <a:srgbClr val="002060"/>
                </a:solidFill>
                <a:latin typeface="Times New Roman" panose="02020603050405020304" pitchFamily="18" charset="0"/>
                <a:ea typeface="Times New Roman" panose="02020603050405020304" pitchFamily="18" charset="0"/>
              </a:rPr>
              <a:t>phase</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phase</a:t>
            </a:r>
            <a:r>
              <a:rPr lang="en-GB" sz="3200" dirty="0">
                <a:solidFill>
                  <a:srgbClr val="002060"/>
                </a:solidFill>
                <a:latin typeface="Times New Roman" panose="02020603050405020304" pitchFamily="18" charset="0"/>
                <a:ea typeface="Times New Roman" panose="02020603050405020304" pitchFamily="18" charset="0"/>
              </a:rPr>
              <a:t> I</a:t>
            </a:r>
            <a:r>
              <a:rPr lang="en-GB" sz="3200" baseline="30000" dirty="0">
                <a:solidFill>
                  <a:srgbClr val="002060"/>
                </a:solidFill>
                <a:latin typeface="Times New Roman" panose="02020603050405020304" pitchFamily="18" charset="0"/>
                <a:ea typeface="Times New Roman" panose="02020603050405020304" pitchFamily="18" charset="0"/>
              </a:rPr>
              <a:t>*</a:t>
            </a:r>
            <a:r>
              <a:rPr lang="en-GB" sz="3200" baseline="-25000" dirty="0">
                <a:solidFill>
                  <a:srgbClr val="002060"/>
                </a:solidFill>
                <a:latin typeface="Times New Roman" panose="02020603050405020304" pitchFamily="18" charset="0"/>
                <a:ea typeface="Times New Roman" panose="02020603050405020304" pitchFamily="18" charset="0"/>
              </a:rPr>
              <a:t>phase</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three phase balanced system </a:t>
            </a:r>
            <a:endParaRPr lang="en-GB" sz="3200" dirty="0">
              <a:latin typeface="Times New Roman" panose="02020603050405020304" pitchFamily="18" charset="0"/>
              <a:ea typeface="Times New Roman" panose="02020603050405020304" pitchFamily="18" charset="0"/>
            </a:endParaRPr>
          </a:p>
          <a:p>
            <a:pPr indent="457200"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P =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3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I</a:t>
            </a:r>
            <a:r>
              <a:rPr lang="en-GB" sz="3200" baseline="-25000" dirty="0">
                <a:solidFill>
                  <a:srgbClr val="002060"/>
                </a:solidFill>
                <a:latin typeface="Times New Roman" panose="02020603050405020304" pitchFamily="18" charset="0"/>
                <a:ea typeface="Times New Roman" panose="02020603050405020304" pitchFamily="18" charset="0"/>
              </a:rPr>
              <a:t>L</a:t>
            </a:r>
            <a:r>
              <a:rPr lang="en-GB" sz="3200" dirty="0">
                <a:solidFill>
                  <a:srgbClr val="002060"/>
                </a:solidFill>
                <a:latin typeface="Times New Roman" panose="02020603050405020304" pitchFamily="18" charset="0"/>
                <a:ea typeface="Times New Roman" panose="02020603050405020304" pitchFamily="18" charset="0"/>
              </a:rPr>
              <a:t> cos </a:t>
            </a:r>
            <a:r>
              <a:rPr lang="en-GB" sz="3200" dirty="0">
                <a:solidFill>
                  <a:srgbClr val="002060"/>
                </a:solidFill>
                <a:latin typeface="Symbol" panose="05050102010706020507" pitchFamily="18" charset="2"/>
                <a:ea typeface="Times New Roman" panose="02020603050405020304" pitchFamily="18" charset="0"/>
              </a:rPr>
              <a:t>f</a:t>
            </a:r>
            <a:r>
              <a:rPr lang="en-GB" sz="3200" dirty="0">
                <a:solidFill>
                  <a:srgbClr val="002060"/>
                </a:solidFill>
                <a:latin typeface="Times New Roman" panose="02020603050405020304" pitchFamily="18" charset="0"/>
                <a:ea typeface="Times New Roman" panose="02020603050405020304" pitchFamily="18" charset="0"/>
              </a:rPr>
              <a:t>  = 3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 I</a:t>
            </a:r>
            <a:r>
              <a:rPr lang="en-GB" sz="3200" baseline="-25000" dirty="0">
                <a:solidFill>
                  <a:srgbClr val="002060"/>
                </a:solidFill>
                <a:latin typeface="Times New Roman" panose="02020603050405020304" pitchFamily="18" charset="0"/>
                <a:ea typeface="Times New Roman" panose="02020603050405020304" pitchFamily="18" charset="0"/>
              </a:rPr>
              <a:t>p</a:t>
            </a:r>
            <a:r>
              <a:rPr lang="en-GB" sz="3200" dirty="0">
                <a:solidFill>
                  <a:srgbClr val="002060"/>
                </a:solidFill>
                <a:latin typeface="Times New Roman" panose="02020603050405020304" pitchFamily="18" charset="0"/>
                <a:ea typeface="Times New Roman" panose="02020603050405020304" pitchFamily="18" charset="0"/>
              </a:rPr>
              <a:t> cos </a:t>
            </a:r>
            <a:r>
              <a:rPr lang="en-GB" sz="3200" dirty="0">
                <a:solidFill>
                  <a:srgbClr val="002060"/>
                </a:solidFill>
                <a:latin typeface="Symbol" panose="05050102010706020507" pitchFamily="18" charset="2"/>
                <a:ea typeface="Times New Roman" panose="02020603050405020304" pitchFamily="18" charset="0"/>
              </a:rPr>
              <a:t>f</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Unbalanced three phase system</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	S = </a:t>
            </a:r>
            <a:r>
              <a:rPr lang="en-GB" sz="3200" dirty="0">
                <a:solidFill>
                  <a:srgbClr val="002060"/>
                </a:solidFill>
                <a:latin typeface="Times New Roman" panose="02020603050405020304" pitchFamily="18" charset="0"/>
                <a:ea typeface="Times New Roman" panose="02020603050405020304" pitchFamily="18" charset="0"/>
                <a:sym typeface="Symbol" panose="05050102010706020507" pitchFamily="18" charset="2"/>
              </a:rPr>
              <a:t></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phase</a:t>
            </a:r>
            <a:r>
              <a:rPr lang="en-GB" sz="3200" dirty="0">
                <a:solidFill>
                  <a:srgbClr val="002060"/>
                </a:solidFill>
                <a:latin typeface="Times New Roman" panose="02020603050405020304" pitchFamily="18" charset="0"/>
                <a:ea typeface="Times New Roman" panose="02020603050405020304" pitchFamily="18" charset="0"/>
              </a:rPr>
              <a:t> I</a:t>
            </a:r>
            <a:r>
              <a:rPr lang="en-GB" sz="3200" baseline="30000" dirty="0">
                <a:solidFill>
                  <a:srgbClr val="002060"/>
                </a:solidFill>
                <a:latin typeface="Times New Roman" panose="02020603050405020304" pitchFamily="18" charset="0"/>
                <a:ea typeface="Times New Roman" panose="02020603050405020304" pitchFamily="18" charset="0"/>
              </a:rPr>
              <a:t>*</a:t>
            </a:r>
            <a:r>
              <a:rPr lang="en-GB" sz="3200" baseline="-25000" dirty="0">
                <a:solidFill>
                  <a:srgbClr val="002060"/>
                </a:solidFill>
                <a:latin typeface="Times New Roman" panose="02020603050405020304" pitchFamily="18" charset="0"/>
                <a:ea typeface="Times New Roman" panose="02020603050405020304" pitchFamily="18" charset="0"/>
              </a:rPr>
              <a:t>phase</a:t>
            </a:r>
            <a:endParaRPr lang="en-GB" sz="3200" dirty="0">
              <a:latin typeface="Times New Roman" panose="02020603050405020304" pitchFamily="18" charset="0"/>
              <a:ea typeface="Times New Roman" panose="02020603050405020304" pitchFamily="18" charset="0"/>
            </a:endParaRPr>
          </a:p>
          <a:p>
            <a:pPr indent="457200"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S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a</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err="1">
                <a:solidFill>
                  <a:srgbClr val="002060"/>
                </a:solidFill>
                <a:latin typeface="Times New Roman" panose="02020603050405020304" pitchFamily="18" charset="0"/>
                <a:ea typeface="Times New Roman" panose="02020603050405020304" pitchFamily="18" charset="0"/>
              </a:rPr>
              <a:t>I</a:t>
            </a:r>
            <a:r>
              <a:rPr lang="en-GB" sz="3200" baseline="-25000" dirty="0" err="1">
                <a:solidFill>
                  <a:srgbClr val="002060"/>
                </a:solidFill>
                <a:latin typeface="Times New Roman" panose="02020603050405020304" pitchFamily="18" charset="0"/>
                <a:ea typeface="Times New Roman" panose="02020603050405020304" pitchFamily="18" charset="0"/>
              </a:rPr>
              <a:t>a</a:t>
            </a:r>
            <a:r>
              <a:rPr lang="en-GB" sz="3200" baseline="30000" dirty="0">
                <a:solidFill>
                  <a:srgbClr val="002060"/>
                </a:solidFill>
                <a:latin typeface="Times New Roman" panose="02020603050405020304" pitchFamily="18" charset="0"/>
                <a:ea typeface="Times New Roman" panose="02020603050405020304" pitchFamily="18" charset="0"/>
              </a:rPr>
              <a:t>*</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b</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err="1">
                <a:solidFill>
                  <a:srgbClr val="002060"/>
                </a:solidFill>
                <a:latin typeface="Times New Roman" panose="02020603050405020304" pitchFamily="18" charset="0"/>
                <a:ea typeface="Times New Roman" panose="02020603050405020304" pitchFamily="18" charset="0"/>
              </a:rPr>
              <a:t>I</a:t>
            </a:r>
            <a:r>
              <a:rPr lang="en-GB" sz="3200" baseline="-25000" dirty="0" err="1">
                <a:solidFill>
                  <a:srgbClr val="002060"/>
                </a:solidFill>
                <a:latin typeface="Times New Roman" panose="02020603050405020304" pitchFamily="18" charset="0"/>
                <a:ea typeface="Times New Roman" panose="02020603050405020304" pitchFamily="18" charset="0"/>
              </a:rPr>
              <a:t>b</a:t>
            </a:r>
            <a:r>
              <a:rPr lang="en-GB" sz="3200" baseline="30000" dirty="0">
                <a:solidFill>
                  <a:srgbClr val="002060"/>
                </a:solidFill>
                <a:latin typeface="Times New Roman" panose="02020603050405020304" pitchFamily="18" charset="0"/>
                <a:ea typeface="Times New Roman" panose="02020603050405020304" pitchFamily="18" charset="0"/>
              </a:rPr>
              <a:t>*</a:t>
            </a:r>
            <a:r>
              <a:rPr lang="en-GB" sz="3200" dirty="0">
                <a:solidFill>
                  <a:srgbClr val="002060"/>
                </a:solidFill>
                <a:latin typeface="Times New Roman" panose="02020603050405020304" pitchFamily="18" charset="0"/>
                <a:ea typeface="Times New Roman" panose="02020603050405020304" pitchFamily="18" charset="0"/>
              </a:rPr>
              <a:t> + </a:t>
            </a:r>
            <a:r>
              <a:rPr lang="en-GB" sz="3200" dirty="0" err="1">
                <a:solidFill>
                  <a:srgbClr val="002060"/>
                </a:solidFill>
                <a:latin typeface="Times New Roman" panose="02020603050405020304" pitchFamily="18" charset="0"/>
                <a:ea typeface="Times New Roman" panose="02020603050405020304" pitchFamily="18" charset="0"/>
              </a:rPr>
              <a:t>V</a:t>
            </a:r>
            <a:r>
              <a:rPr lang="en-GB" sz="3200" baseline="-25000" dirty="0" err="1">
                <a:solidFill>
                  <a:srgbClr val="002060"/>
                </a:solidFill>
                <a:latin typeface="Times New Roman" panose="02020603050405020304" pitchFamily="18" charset="0"/>
                <a:ea typeface="Times New Roman" panose="02020603050405020304" pitchFamily="18" charset="0"/>
              </a:rPr>
              <a:t>c</a:t>
            </a:r>
            <a:r>
              <a:rPr lang="en-GB" sz="3200" dirty="0">
                <a:solidFill>
                  <a:srgbClr val="002060"/>
                </a:solidFill>
                <a:latin typeface="Times New Roman" panose="02020603050405020304" pitchFamily="18" charset="0"/>
                <a:ea typeface="Times New Roman" panose="02020603050405020304" pitchFamily="18" charset="0"/>
              </a:rPr>
              <a:t> </a:t>
            </a:r>
            <a:r>
              <a:rPr lang="en-GB" sz="3200" dirty="0" err="1">
                <a:solidFill>
                  <a:srgbClr val="002060"/>
                </a:solidFill>
                <a:latin typeface="Times New Roman" panose="02020603050405020304" pitchFamily="18" charset="0"/>
                <a:ea typeface="Times New Roman" panose="02020603050405020304" pitchFamily="18" charset="0"/>
              </a:rPr>
              <a:t>I</a:t>
            </a:r>
            <a:r>
              <a:rPr lang="en-GB" sz="3200" baseline="-25000" dirty="0" err="1">
                <a:solidFill>
                  <a:srgbClr val="002060"/>
                </a:solidFill>
                <a:latin typeface="Times New Roman" panose="02020603050405020304" pitchFamily="18" charset="0"/>
                <a:ea typeface="Times New Roman" panose="02020603050405020304" pitchFamily="18" charset="0"/>
              </a:rPr>
              <a:t>c</a:t>
            </a:r>
            <a:r>
              <a:rPr lang="en-GB" sz="3200" baseline="30000" dirty="0">
                <a:solidFill>
                  <a:srgbClr val="002060"/>
                </a:solidFill>
                <a:latin typeface="Times New Roman" panose="02020603050405020304" pitchFamily="18" charset="0"/>
                <a:ea typeface="Times New Roman" panose="02020603050405020304" pitchFamily="18" charset="0"/>
              </a:rPr>
              <a:t>*</a:t>
            </a:r>
            <a:r>
              <a:rPr lang="en-GB" sz="3200" dirty="0">
                <a:solidFill>
                  <a:srgbClr val="002060"/>
                </a:solidFill>
                <a:latin typeface="Times New Roman" panose="02020603050405020304" pitchFamily="18" charset="0"/>
                <a:ea typeface="Times New Roman" panose="02020603050405020304" pitchFamily="18" charset="0"/>
              </a:rPr>
              <a:t> </a:t>
            </a:r>
            <a:endParaRPr lang="en-GB" sz="3200" dirty="0">
              <a:latin typeface="Times New Roman" panose="02020603050405020304" pitchFamily="18" charset="0"/>
              <a:ea typeface="Times New Roman" panose="02020603050405020304" pitchFamily="18" charset="0"/>
            </a:endParaRPr>
          </a:p>
          <a:p>
            <a:pPr algn="just">
              <a:spcAft>
                <a:spcPts val="600"/>
              </a:spcAft>
            </a:pPr>
            <a:r>
              <a:rPr lang="en-GB" sz="3200" dirty="0">
                <a:solidFill>
                  <a:srgbClr val="002060"/>
                </a:solidFill>
                <a:latin typeface="Times New Roman" panose="02020603050405020304" pitchFamily="18" charset="0"/>
                <a:ea typeface="Times New Roman" panose="02020603050405020304" pitchFamily="18" charset="0"/>
              </a:rPr>
              <a:t>Active power P is obtained as the Real part of the complex variable S.</a:t>
            </a:r>
            <a:endParaRPr lang="en-GB"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213287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75683DF7-B81C-41BE-A847-81C8C9CA2C86}"/>
              </a:ext>
            </a:extLst>
          </p:cNvPr>
          <p:cNvGraphicFramePr>
            <a:graphicFrameLocks noChangeAspect="1"/>
          </p:cNvGraphicFramePr>
          <p:nvPr>
            <p:extLst>
              <p:ext uri="{D42A27DB-BD31-4B8C-83A1-F6EECF244321}">
                <p14:modId xmlns:p14="http://schemas.microsoft.com/office/powerpoint/2010/main" val="355657402"/>
              </p:ext>
            </p:extLst>
          </p:nvPr>
        </p:nvGraphicFramePr>
        <p:xfrm>
          <a:off x="385008" y="783379"/>
          <a:ext cx="8858250" cy="2171700"/>
        </p:xfrm>
        <a:graphic>
          <a:graphicData uri="http://schemas.openxmlformats.org/presentationml/2006/ole">
            <mc:AlternateContent xmlns:mc="http://schemas.openxmlformats.org/markup-compatibility/2006">
              <mc:Choice xmlns:v="urn:schemas-microsoft-com:vml" Requires="v">
                <p:oleObj spid="_x0000_s188481" r:id="rId4" imgW="3009900" imgH="736600" progId="Equation.3">
                  <p:embed/>
                </p:oleObj>
              </mc:Choice>
              <mc:Fallback>
                <p:oleObj r:id="rId4" imgW="3009900" imgH="736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008" y="783379"/>
                        <a:ext cx="8858250" cy="217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2A20A0E5-08FE-4DC5-BDA4-D81592963637}"/>
              </a:ext>
            </a:extLst>
          </p:cNvPr>
          <p:cNvGraphicFramePr>
            <a:graphicFrameLocks noChangeAspect="1"/>
          </p:cNvGraphicFramePr>
          <p:nvPr>
            <p:extLst>
              <p:ext uri="{D42A27DB-BD31-4B8C-83A1-F6EECF244321}">
                <p14:modId xmlns:p14="http://schemas.microsoft.com/office/powerpoint/2010/main" val="3417376451"/>
              </p:ext>
            </p:extLst>
          </p:nvPr>
        </p:nvGraphicFramePr>
        <p:xfrm>
          <a:off x="1690687" y="3245519"/>
          <a:ext cx="3086100" cy="762000"/>
        </p:xfrm>
        <a:graphic>
          <a:graphicData uri="http://schemas.openxmlformats.org/presentationml/2006/ole">
            <mc:AlternateContent xmlns:mc="http://schemas.openxmlformats.org/markup-compatibility/2006">
              <mc:Choice xmlns:v="urn:schemas-microsoft-com:vml" Requires="v">
                <p:oleObj spid="_x0000_s188482" r:id="rId6" imgW="965200" imgH="241300" progId="Equation.3">
                  <p:embed/>
                </p:oleObj>
              </mc:Choice>
              <mc:Fallback>
                <p:oleObj r:id="rId6" imgW="965200" imgH="2413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0687" y="3245519"/>
                        <a:ext cx="30861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a:extLst>
              <a:ext uri="{FF2B5EF4-FFF2-40B4-BE49-F238E27FC236}">
                <a16:creationId xmlns:a16="http://schemas.microsoft.com/office/drawing/2014/main" id="{812B2533-B19A-4EF5-8B74-562EE9A34B8E}"/>
              </a:ext>
            </a:extLst>
          </p:cNvPr>
          <p:cNvGraphicFramePr>
            <a:graphicFrameLocks noChangeAspect="1"/>
          </p:cNvGraphicFramePr>
          <p:nvPr>
            <p:extLst>
              <p:ext uri="{D42A27DB-BD31-4B8C-83A1-F6EECF244321}">
                <p14:modId xmlns:p14="http://schemas.microsoft.com/office/powerpoint/2010/main" val="1492728191"/>
              </p:ext>
            </p:extLst>
          </p:nvPr>
        </p:nvGraphicFramePr>
        <p:xfrm>
          <a:off x="5237998" y="3255044"/>
          <a:ext cx="3162300" cy="742950"/>
        </p:xfrm>
        <a:graphic>
          <a:graphicData uri="http://schemas.openxmlformats.org/presentationml/2006/ole">
            <mc:AlternateContent xmlns:mc="http://schemas.openxmlformats.org/markup-compatibility/2006">
              <mc:Choice xmlns:v="urn:schemas-microsoft-com:vml" Requires="v">
                <p:oleObj spid="_x0000_s188483" r:id="rId8" imgW="1016000" imgH="241300" progId="Equation.3">
                  <p:embed/>
                </p:oleObj>
              </mc:Choice>
              <mc:Fallback>
                <p:oleObj r:id="rId8" imgW="1016000" imgH="241300" progId="Equation.3">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37998" y="3255044"/>
                        <a:ext cx="316230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a:extLst>
              <a:ext uri="{FF2B5EF4-FFF2-40B4-BE49-F238E27FC236}">
                <a16:creationId xmlns:a16="http://schemas.microsoft.com/office/drawing/2014/main" id="{02EB8564-30D9-49D0-99DE-6650E195D1F1}"/>
              </a:ext>
            </a:extLst>
          </p:cNvPr>
          <p:cNvSpPr>
            <a:spLocks noChangeArrowheads="1"/>
          </p:cNvSpPr>
          <p:nvPr/>
        </p:nvSpPr>
        <p:spPr bwMode="auto">
          <a:xfrm>
            <a:off x="97757" y="457706"/>
            <a:ext cx="81092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Re-written in matrix form as</a:t>
            </a:r>
            <a:endParaRPr kumimoji="0" lang="en-GB"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p:txBody>
      </p:sp>
      <p:sp>
        <p:nvSpPr>
          <p:cNvPr id="7" name="Rectangle 5">
            <a:extLst>
              <a:ext uri="{FF2B5EF4-FFF2-40B4-BE49-F238E27FC236}">
                <a16:creationId xmlns:a16="http://schemas.microsoft.com/office/drawing/2014/main" id="{4E670DEC-A025-4F77-B002-BB20AC1CE7AB}"/>
              </a:ext>
            </a:extLst>
          </p:cNvPr>
          <p:cNvSpPr>
            <a:spLocks noChangeArrowheads="1"/>
          </p:cNvSpPr>
          <p:nvPr/>
        </p:nvSpPr>
        <p:spPr bwMode="auto">
          <a:xfrm>
            <a:off x="97757" y="2802009"/>
            <a:ext cx="5831305"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which may be expanded as</a:t>
            </a:r>
            <a:endParaRPr kumimoji="0" lang="en-GB" altLang="en-US" sz="2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00000"/>
              </a:lnSpc>
              <a:spcBef>
                <a:spcPts val="120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S = </a:t>
            </a:r>
            <a:endParaRPr kumimoji="0" lang="en-GB" altLang="en-US" sz="2800" b="0" i="0" u="none" strike="noStrike" cap="none" normalizeH="0" baseline="0" dirty="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97F3C6DF-D977-4A86-A99A-73CF7A8374C9}"/>
              </a:ext>
            </a:extLst>
          </p:cNvPr>
          <p:cNvSpPr>
            <a:spLocks noChangeArrowheads="1"/>
          </p:cNvSpPr>
          <p:nvPr/>
        </p:nvSpPr>
        <p:spPr bwMode="auto">
          <a:xfrm>
            <a:off x="4629148" y="3325929"/>
            <a:ext cx="11550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36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7">
            <a:extLst>
              <a:ext uri="{FF2B5EF4-FFF2-40B4-BE49-F238E27FC236}">
                <a16:creationId xmlns:a16="http://schemas.microsoft.com/office/drawing/2014/main" id="{98CAFBD7-21FE-4EB9-8443-FA86165AB17B}"/>
              </a:ext>
            </a:extLst>
          </p:cNvPr>
          <p:cNvSpPr>
            <a:spLocks noChangeArrowheads="1"/>
          </p:cNvSpPr>
          <p:nvPr/>
        </p:nvSpPr>
        <p:spPr bwMode="auto">
          <a:xfrm>
            <a:off x="97757" y="4102401"/>
            <a:ext cx="9673389" cy="2216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i.e.	S  =	3 (V</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a1</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a1</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a2</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a2</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endParaRPr kumimoji="0" lang="en-GB"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Result is as expected, as there are 3 phases in each of sequence components taking the same power. </a:t>
            </a:r>
            <a:endParaRPr kumimoji="0" lang="en-GB"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just" defTabSz="914400" rtl="0" eaLnBrk="0" fontAlgn="base" latinLnBrk="0" hangingPunct="0">
              <a:lnSpc>
                <a:spcPct val="110000"/>
              </a:lnSpc>
              <a:spcBef>
                <a:spcPct val="0"/>
              </a:spcBef>
              <a:spcAft>
                <a:spcPct val="0"/>
              </a:spcAft>
              <a:buClrTx/>
              <a:buSzTx/>
              <a:buFontTx/>
              <a:buNone/>
              <a:tabLst/>
            </a:pPr>
            <a:r>
              <a:rPr kumimoji="0" lang="en-GB" altLang="en-US" sz="28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Thus  </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P = 3(V</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a0</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cos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f</a:t>
            </a:r>
            <a:r>
              <a:rPr kumimoji="0" lang="en-GB" altLang="en-US" sz="3200" b="0" i="0" u="none" strike="noStrike" cap="none" normalizeH="0" baseline="-30000" dirty="0">
                <a:ln>
                  <a:noFill/>
                </a:ln>
                <a:solidFill>
                  <a:srgbClr val="002060"/>
                </a:solidFill>
                <a:effectLst/>
                <a:ea typeface="Times New Roman" panose="02020603050405020304" pitchFamily="18" charset="0"/>
              </a:rPr>
              <a:t>0</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a1</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a1</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cos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f</a:t>
            </a:r>
            <a:r>
              <a:rPr kumimoji="0" lang="en-GB" altLang="en-US" sz="3200" b="0" i="0" u="none" strike="noStrike" cap="none" normalizeH="0" baseline="-30000" dirty="0">
                <a:ln>
                  <a:noFill/>
                </a:ln>
                <a:solidFill>
                  <a:srgbClr val="002060"/>
                </a:solidFill>
                <a:effectLst/>
                <a:ea typeface="Times New Roman" panose="02020603050405020304" pitchFamily="18" charset="0"/>
              </a:rPr>
              <a:t>1</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 V</a:t>
            </a:r>
            <a:r>
              <a:rPr kumimoji="0" lang="en-GB" altLang="en-US" sz="3200" b="0" i="0" u="none" strike="noStrike" cap="none" normalizeH="0" baseline="-30000" dirty="0">
                <a:ln>
                  <a:noFill/>
                </a:ln>
                <a:solidFill>
                  <a:srgbClr val="002060"/>
                </a:solidFill>
                <a:effectLst/>
                <a:latin typeface="Arial" panose="020B0604020202020204" pitchFamily="34" charset="0"/>
                <a:ea typeface="Times New Roman" panose="02020603050405020304" pitchFamily="18" charset="0"/>
              </a:rPr>
              <a:t>a2</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cos </a:t>
            </a:r>
            <a:r>
              <a:rPr kumimoji="0" lang="en-GB" altLang="en-US" sz="3200" b="0" i="0" u="none" strike="noStrike" cap="none" normalizeH="0" baseline="0" dirty="0">
                <a:ln>
                  <a:noFill/>
                </a:ln>
                <a:solidFill>
                  <a:srgbClr val="002060"/>
                </a:solidFill>
                <a:effectLst/>
                <a:latin typeface="Symbol" panose="05050102010706020507" pitchFamily="18" charset="2"/>
                <a:ea typeface="Times New Roman" panose="02020603050405020304" pitchFamily="18" charset="0"/>
              </a:rPr>
              <a:t>f</a:t>
            </a:r>
            <a:r>
              <a:rPr kumimoji="0" lang="en-GB" altLang="en-US" sz="3200" b="0" i="0" u="none" strike="noStrike" cap="none" normalizeH="0" baseline="-30000" dirty="0">
                <a:ln>
                  <a:noFill/>
                </a:ln>
                <a:solidFill>
                  <a:srgbClr val="002060"/>
                </a:solidFill>
                <a:effectLst/>
                <a:ea typeface="Times New Roman" panose="02020603050405020304" pitchFamily="18" charset="0"/>
              </a:rPr>
              <a:t>2</a:t>
            </a:r>
            <a:r>
              <a:rPr kumimoji="0" lang="en-GB" altLang="en-US" sz="3200" b="0"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a:t>
            </a:r>
            <a:endParaRPr kumimoji="0" lang="en-GB" altLang="en-US" sz="1600" b="0" i="0" u="none" strike="noStrike" cap="none" normalizeH="0" baseline="0" dirty="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9D5A95E8-1088-4374-AF47-0F560FEC6490}"/>
              </a:ext>
            </a:extLst>
          </p:cNvPr>
          <p:cNvSpPr/>
          <p:nvPr/>
        </p:nvSpPr>
        <p:spPr>
          <a:xfrm>
            <a:off x="8562888" y="3401281"/>
            <a:ext cx="2010615" cy="584775"/>
          </a:xfrm>
          <a:prstGeom prst="rect">
            <a:avLst/>
          </a:prstGeom>
        </p:spPr>
        <p:txBody>
          <a:bodyPr wrap="none">
            <a:spAutoFit/>
          </a:bodyPr>
          <a:lstStyle/>
          <a:p>
            <a:pPr lvl="0" algn="just" eaLnBrk="0" fontAlgn="base" hangingPunct="0">
              <a:spcBef>
                <a:spcPct val="0"/>
              </a:spcBef>
              <a:spcAft>
                <a:spcPct val="0"/>
              </a:spcAft>
            </a:pPr>
            <a:r>
              <a:rPr lang="en-GB" altLang="en-US" sz="3200" dirty="0">
                <a:solidFill>
                  <a:srgbClr val="002060"/>
                </a:solidFill>
                <a:latin typeface="Arial" panose="020B0604020202020204" pitchFamily="34" charset="0"/>
                <a:ea typeface="Times New Roman" panose="02020603050405020304" pitchFamily="18" charset="0"/>
              </a:rPr>
              <a:t>=  3V</a:t>
            </a:r>
            <a:r>
              <a:rPr lang="en-GB" altLang="en-US" sz="3200" baseline="-30000" dirty="0">
                <a:solidFill>
                  <a:srgbClr val="002060"/>
                </a:solidFill>
                <a:latin typeface="Arial" panose="020B0604020202020204" pitchFamily="34" charset="0"/>
                <a:ea typeface="Times New Roman" panose="02020603050405020304" pitchFamily="18" charset="0"/>
              </a:rPr>
              <a:t>s</a:t>
            </a:r>
            <a:r>
              <a:rPr lang="en-GB" altLang="en-US" sz="3200" baseline="30000" dirty="0">
                <a:solidFill>
                  <a:srgbClr val="002060"/>
                </a:solidFill>
                <a:latin typeface="Arial" panose="020B0604020202020204" pitchFamily="34" charset="0"/>
                <a:ea typeface="Times New Roman" panose="02020603050405020304" pitchFamily="18" charset="0"/>
              </a:rPr>
              <a:t>T</a:t>
            </a:r>
            <a:r>
              <a:rPr lang="en-GB" altLang="en-US" sz="3200" dirty="0">
                <a:solidFill>
                  <a:srgbClr val="002060"/>
                </a:solidFill>
                <a:latin typeface="Arial" panose="020B0604020202020204" pitchFamily="34" charset="0"/>
                <a:ea typeface="Times New Roman" panose="02020603050405020304" pitchFamily="18" charset="0"/>
              </a:rPr>
              <a:t>. I</a:t>
            </a:r>
            <a:r>
              <a:rPr lang="en-GB" altLang="en-US" sz="3200" baseline="-30000" dirty="0">
                <a:solidFill>
                  <a:srgbClr val="002060"/>
                </a:solidFill>
                <a:latin typeface="Arial" panose="020B0604020202020204" pitchFamily="34" charset="0"/>
                <a:ea typeface="Times New Roman" panose="02020603050405020304" pitchFamily="18" charset="0"/>
              </a:rPr>
              <a:t>s</a:t>
            </a:r>
            <a:r>
              <a:rPr lang="en-GB" altLang="en-US" sz="3200" baseline="30000" dirty="0">
                <a:solidFill>
                  <a:srgbClr val="002060"/>
                </a:solidFill>
                <a:latin typeface="Arial" panose="020B0604020202020204" pitchFamily="34" charset="0"/>
                <a:ea typeface="Times New Roman" panose="02020603050405020304" pitchFamily="18" charset="0"/>
              </a:rPr>
              <a:t>*</a:t>
            </a:r>
            <a:endParaRPr lang="en-GB" altLang="en-US" sz="3200" dirty="0">
              <a:latin typeface="Arial" panose="020B0604020202020204" pitchFamily="34" charset="0"/>
              <a:ea typeface="Times New Roman" panose="02020603050405020304" pitchFamily="18" charset="0"/>
            </a:endParaRPr>
          </a:p>
        </p:txBody>
      </p:sp>
    </p:spTree>
    <p:extLst>
      <p:ext uri="{BB962C8B-B14F-4D97-AF65-F5344CB8AC3E}">
        <p14:creationId xmlns:p14="http://schemas.microsoft.com/office/powerpoint/2010/main" val="11537065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92F8-88A1-42A6-84C9-2DD244D1569C}"/>
              </a:ext>
            </a:extLst>
          </p:cNvPr>
          <p:cNvSpPr>
            <a:spLocks noGrp="1"/>
          </p:cNvSpPr>
          <p:nvPr>
            <p:ph type="title"/>
          </p:nvPr>
        </p:nvSpPr>
        <p:spPr/>
        <p:txBody>
          <a:bodyPr>
            <a:normAutofit fontScale="90000"/>
          </a:bodyPr>
          <a:lstStyle/>
          <a:p>
            <a:r>
              <a:rPr lang="en-US" dirty="0"/>
              <a:t>End of Presentation</a:t>
            </a:r>
            <a:endParaRPr lang="en-GB" dirty="0"/>
          </a:p>
        </p:txBody>
      </p:sp>
    </p:spTree>
    <p:extLst>
      <p:ext uri="{BB962C8B-B14F-4D97-AF65-F5344CB8AC3E}">
        <p14:creationId xmlns:p14="http://schemas.microsoft.com/office/powerpoint/2010/main" val="36913703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7|26.6"/>
</p:tagLst>
</file>

<file path=ppt/tags/tag2.xml><?xml version="1.0" encoding="utf-8"?>
<p:tagLst xmlns:a="http://schemas.openxmlformats.org/drawingml/2006/main" xmlns:r="http://schemas.openxmlformats.org/officeDocument/2006/relationships" xmlns:p="http://schemas.openxmlformats.org/presentationml/2006/main">
  <p:tag name="TIMING" val="|1.3|2.8|4|40.3|24.9|5.6|5.5|5.6|1.8|6.8|7.9|4.8|15.4|8.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40851</TotalTime>
  <Words>6758</Words>
  <Application>Microsoft Office PowerPoint</Application>
  <PresentationFormat>Widescreen</PresentationFormat>
  <Paragraphs>666</Paragraphs>
  <Slides>57</Slides>
  <Notes>30</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2</vt:i4>
      </vt:variant>
      <vt:variant>
        <vt:lpstr>Slide Titles</vt:lpstr>
      </vt:variant>
      <vt:variant>
        <vt:i4>57</vt:i4>
      </vt:variant>
    </vt:vector>
  </HeadingPairs>
  <TitlesOfParts>
    <vt:vector size="69" baseType="lpstr">
      <vt:lpstr>Arial</vt:lpstr>
      <vt:lpstr>Brush Script MT</vt:lpstr>
      <vt:lpstr>Calibri</vt:lpstr>
      <vt:lpstr>Calibri Light</vt:lpstr>
      <vt:lpstr>Cambria Math</vt:lpstr>
      <vt:lpstr>Coronet</vt:lpstr>
      <vt:lpstr>Symbol</vt:lpstr>
      <vt:lpstr>Times New Roman</vt:lpstr>
      <vt:lpstr>Office Theme</vt:lpstr>
      <vt:lpstr>Custom Design</vt:lpstr>
      <vt:lpstr>Equation.3</vt:lpstr>
      <vt:lpstr>Picture</vt:lpstr>
      <vt:lpstr>5.0 Three Phase Theory               and Symmetrical Components </vt:lpstr>
      <vt:lpstr>Learning Outcomes</vt:lpstr>
      <vt:lpstr>Three Phase Theory and Symmetrical Components </vt:lpstr>
      <vt:lpstr>Balanced three phase</vt:lpstr>
      <vt:lpstr>Balanced Three Phase Supply</vt:lpstr>
      <vt:lpstr>PowerPoint Presentation</vt:lpstr>
      <vt:lpstr>PowerPoint Presentation</vt:lpstr>
      <vt:lpstr>PowerPoint Presentation</vt:lpstr>
      <vt:lpstr>Balanced Load</vt:lpstr>
      <vt:lpstr>For same balanced load</vt:lpstr>
      <vt:lpstr>Three Phase Power</vt:lpstr>
      <vt:lpstr>PowerPoint Presentation</vt:lpstr>
      <vt:lpstr>Analysis of three phase balanced systems</vt:lpstr>
      <vt:lpstr>(a) Single circuit of a three phase system</vt:lpstr>
      <vt:lpstr>PowerPoint Presentation</vt:lpstr>
      <vt:lpstr>(b) Equivalent circuit for 3 phase balanced system</vt:lpstr>
      <vt:lpstr>Example</vt:lpstr>
      <vt:lpstr>Solution</vt:lpstr>
      <vt:lpstr>PowerPoint Presentation</vt:lpstr>
      <vt:lpstr>PowerPoint Presentation</vt:lpstr>
      <vt:lpstr>PowerPoint Presentation</vt:lpstr>
      <vt:lpstr>(ii) Using equivalent  single-phase diagram</vt:lpstr>
      <vt:lpstr>Unbalanced three phase systems</vt:lpstr>
      <vt:lpstr>PowerPoint Presentation</vt:lpstr>
      <vt:lpstr>PowerPoint Presentation</vt:lpstr>
      <vt:lpstr>(b) Delta connected supply feeding a star connected load</vt:lpstr>
      <vt:lpstr>(c) Delta connected supply feeding a delta connected load</vt:lpstr>
      <vt:lpstr>(d) Star connected supply feeding a delta connected load</vt:lpstr>
      <vt:lpstr>Symmetrical Components (or Sequence Components)</vt:lpstr>
      <vt:lpstr>Decomposition of unbalanced three-phase</vt:lpstr>
      <vt:lpstr>PowerPoint Presentation</vt:lpstr>
      <vt:lpstr>PowerPoint Presentation</vt:lpstr>
      <vt:lpstr>PowerPoint Presentation</vt:lpstr>
      <vt:lpstr>PowerPoint Presentation</vt:lpstr>
      <vt:lpstr>PowerPoint Presentation</vt:lpstr>
      <vt:lpstr>PowerPoint Presentation</vt:lpstr>
      <vt:lpstr>Some Properties of a</vt:lpstr>
      <vt:lpstr>Inverse of Symmetrical component matrix</vt:lpstr>
      <vt:lpstr>PowerPoint Presentation</vt:lpstr>
      <vt:lpstr>PowerPoint Presentation</vt:lpstr>
      <vt:lpstr>PowerPoint Presentation</vt:lpstr>
      <vt:lpstr>Example1</vt:lpstr>
      <vt:lpstr>PowerPoint Presentation</vt:lpstr>
      <vt:lpstr>Graphical Method  of Solution</vt:lpstr>
      <vt:lpstr>Solution</vt:lpstr>
      <vt:lpstr>PowerPoint Presentation</vt:lpstr>
      <vt:lpstr>PowerPoint Presentation</vt:lpstr>
      <vt:lpstr>Summary</vt:lpstr>
      <vt:lpstr>Sequence Impedances</vt:lpstr>
      <vt:lpstr>PowerPoint Presentation</vt:lpstr>
      <vt:lpstr>PowerPoint Presentation</vt:lpstr>
      <vt:lpstr>PowerPoint Presentation</vt:lpstr>
      <vt:lpstr>PowerPoint Presentation</vt:lpstr>
      <vt:lpstr>PowerPoint Presentation</vt:lpstr>
      <vt:lpstr>Power associated with Sequence Components</vt:lpstr>
      <vt:lpstr>PowerPoint Presentation</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 Waveform Characteristics</dc:title>
  <dc:creator>Lucas</dc:creator>
  <cp:lastModifiedBy>Lucas</cp:lastModifiedBy>
  <cp:revision>441</cp:revision>
  <dcterms:created xsi:type="dcterms:W3CDTF">2020-04-15T07:17:18Z</dcterms:created>
  <dcterms:modified xsi:type="dcterms:W3CDTF">2020-10-14T00:51:45Z</dcterms:modified>
</cp:coreProperties>
</file>