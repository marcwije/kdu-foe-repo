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1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552A7-F65A-46A2-A22E-C93AA92D3CC5}" type="datetimeFigureOut">
              <a:rPr lang="en-US" smtClean="0"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76B2A-9A5B-432D-954E-3CA837176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2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76B2A-9A5B-432D-954E-3CA8371768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16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76B2A-9A5B-432D-954E-3CA8371768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1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7057" y="1122363"/>
            <a:ext cx="1053192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1087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41924" y="6178499"/>
            <a:ext cx="650296" cy="456566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CAAC7F44-AB59-CB37-B875-306E0658970A}"/>
              </a:ext>
            </a:extLst>
          </p:cNvPr>
          <p:cNvSpPr txBox="1">
            <a:spLocks/>
          </p:cNvSpPr>
          <p:nvPr userDrawn="1"/>
        </p:nvSpPr>
        <p:spPr>
          <a:xfrm>
            <a:off x="6095999" y="6287405"/>
            <a:ext cx="480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Budditha Hettige (budditha@kdu.ac.lk)  2022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C4891A6-6637-E86D-4697-62FCF0BC4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366" y="328350"/>
            <a:ext cx="558854" cy="493106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B6A2CCAF-A454-4EC8-CD84-2C8E37DC3BCB}"/>
              </a:ext>
            </a:extLst>
          </p:cNvPr>
          <p:cNvSpPr txBox="1">
            <a:spLocks/>
          </p:cNvSpPr>
          <p:nvPr userDrawn="1"/>
        </p:nvSpPr>
        <p:spPr>
          <a:xfrm>
            <a:off x="655326" y="6256877"/>
            <a:ext cx="529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&amp;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48091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614" y="248194"/>
            <a:ext cx="11185072" cy="947649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615" y="1195844"/>
            <a:ext cx="11185072" cy="498112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A8EEC5A2-992C-3648-F6BF-7F1861EB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924" y="6178499"/>
            <a:ext cx="650296" cy="456566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070DDD4F-01DB-E888-476F-DA3C5DE30594}"/>
              </a:ext>
            </a:extLst>
          </p:cNvPr>
          <p:cNvSpPr txBox="1">
            <a:spLocks/>
          </p:cNvSpPr>
          <p:nvPr userDrawn="1"/>
        </p:nvSpPr>
        <p:spPr>
          <a:xfrm>
            <a:off x="6095999" y="6287405"/>
            <a:ext cx="480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Budditha Hettige (budditha@kdu.ac.lk)  2022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F2928A69-F4DE-20AA-3A6B-F324A4913E0A}"/>
              </a:ext>
            </a:extLst>
          </p:cNvPr>
          <p:cNvSpPr txBox="1">
            <a:spLocks/>
          </p:cNvSpPr>
          <p:nvPr userDrawn="1"/>
        </p:nvSpPr>
        <p:spPr>
          <a:xfrm>
            <a:off x="655326" y="6256877"/>
            <a:ext cx="529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&amp;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289115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9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614" y="1240972"/>
            <a:ext cx="5459186" cy="49359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0972"/>
            <a:ext cx="5573486" cy="49359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3B9AC890-E1C8-04A1-D344-A568EA27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" y="177348"/>
            <a:ext cx="11185072" cy="1063624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1F74CCFE-F6A3-2D06-622B-C667FD87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3366" y="6352721"/>
            <a:ext cx="61232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EB933DEF-8EA4-F1C9-4795-E49CAF7E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0614" y="6352720"/>
            <a:ext cx="5535386" cy="365125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Introduction to Neural Networks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9E79A4A2-A32C-E148-77CD-315843A3B4F7}"/>
              </a:ext>
            </a:extLst>
          </p:cNvPr>
          <p:cNvSpPr txBox="1">
            <a:spLocks/>
          </p:cNvSpPr>
          <p:nvPr userDrawn="1"/>
        </p:nvSpPr>
        <p:spPr>
          <a:xfrm>
            <a:off x="7208521" y="6352720"/>
            <a:ext cx="3924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86788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348"/>
            <a:ext cx="11127920" cy="10636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1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2C0122F1-E472-6BB6-85A9-146EDE2A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3366" y="6352721"/>
            <a:ext cx="61232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459F54C2-0DB5-E4E3-085F-0714F29D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635" y="6352720"/>
            <a:ext cx="5535386" cy="365125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Introduction to Neural Networks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8B7D0FBF-46B5-0F47-E582-79EA0A361E6A}"/>
              </a:ext>
            </a:extLst>
          </p:cNvPr>
          <p:cNvSpPr txBox="1">
            <a:spLocks/>
          </p:cNvSpPr>
          <p:nvPr userDrawn="1"/>
        </p:nvSpPr>
        <p:spPr>
          <a:xfrm>
            <a:off x="7208521" y="6352720"/>
            <a:ext cx="3924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56569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8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2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348"/>
            <a:ext cx="11127920" cy="10636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1371600"/>
            <a:ext cx="11127921" cy="48053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6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0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107" y="0"/>
            <a:ext cx="1239610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0209675-C2DF-02BA-C963-923F9CC4DB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99080" y="280656"/>
            <a:ext cx="560881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46" y="1462999"/>
            <a:ext cx="11493305" cy="147002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COE</a:t>
            </a:r>
            <a:r>
              <a:rPr lang="en-US" sz="3600" dirty="0">
                <a:solidFill>
                  <a:srgbClr val="002060"/>
                </a:solidFill>
              </a:rPr>
              <a:t>3062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b="1" dirty="0"/>
              <a:t>Microcontrollers &amp; Embedded Systems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057399" y="5478125"/>
            <a:ext cx="8229600" cy="147002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Department of Computer Engineering</a:t>
            </a:r>
          </a:p>
          <a:p>
            <a:r>
              <a:rPr lang="en-US" sz="1800" dirty="0">
                <a:solidFill>
                  <a:srgbClr val="0070C0"/>
                </a:solidFill>
              </a:rPr>
              <a:t>General Sir John Kotelawala </a:t>
            </a:r>
            <a:r>
              <a:rPr lang="en-US" sz="1800" dirty="0" err="1">
                <a:solidFill>
                  <a:srgbClr val="0070C0"/>
                </a:solidFill>
              </a:rPr>
              <a:t>Defence</a:t>
            </a:r>
            <a:r>
              <a:rPr lang="en-US" sz="1800" dirty="0">
                <a:solidFill>
                  <a:srgbClr val="0070C0"/>
                </a:solidFill>
              </a:rPr>
              <a:t> University.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93492" y="2933024"/>
            <a:ext cx="2605015" cy="194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5154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5959" y="1354427"/>
            <a:ext cx="9823027" cy="16588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0256">
              <a:spcBef>
                <a:spcPts val="133"/>
              </a:spcBef>
              <a:buChar char="●"/>
              <a:tabLst>
                <a:tab pos="456342" algn="l"/>
                <a:tab pos="457189" algn="l"/>
              </a:tabLst>
            </a:pPr>
            <a:r>
              <a:rPr sz="2667" spc="280" dirty="0">
                <a:latin typeface="Tahoma"/>
                <a:cs typeface="Tahoma"/>
              </a:rPr>
              <a:t>S</a:t>
            </a:r>
            <a:r>
              <a:rPr sz="2667" spc="80" dirty="0">
                <a:latin typeface="Tahoma"/>
                <a:cs typeface="Tahoma"/>
              </a:rPr>
              <a:t>e</a:t>
            </a:r>
            <a:r>
              <a:rPr sz="2667" spc="40" dirty="0">
                <a:latin typeface="Tahoma"/>
                <a:cs typeface="Tahoma"/>
              </a:rPr>
              <a:t>c</a:t>
            </a:r>
            <a:r>
              <a:rPr sz="2667" spc="60" dirty="0">
                <a:latin typeface="Tahoma"/>
                <a:cs typeface="Tahoma"/>
              </a:rPr>
              <a:t>u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spc="-20" dirty="0">
                <a:latin typeface="Tahoma"/>
                <a:cs typeface="Tahoma"/>
              </a:rPr>
              <a:t>i</a:t>
            </a:r>
            <a:r>
              <a:rPr sz="2667" spc="-167" dirty="0">
                <a:latin typeface="Tahoma"/>
                <a:cs typeface="Tahoma"/>
              </a:rPr>
              <a:t>t</a:t>
            </a:r>
            <a:r>
              <a:rPr sz="2667" dirty="0">
                <a:latin typeface="Tahoma"/>
                <a:cs typeface="Tahoma"/>
              </a:rPr>
              <a:t>y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272" dirty="0">
                <a:latin typeface="Tahoma"/>
                <a:cs typeface="Tahoma"/>
              </a:rPr>
              <a:t>E</a:t>
            </a:r>
            <a:r>
              <a:rPr sz="2667" spc="13" dirty="0">
                <a:latin typeface="Tahoma"/>
                <a:cs typeface="Tahoma"/>
              </a:rPr>
              <a:t>x</a:t>
            </a:r>
            <a:r>
              <a:rPr sz="2667" spc="-167" dirty="0">
                <a:latin typeface="Tahoma"/>
                <a:cs typeface="Tahoma"/>
              </a:rPr>
              <a:t>t</a:t>
            </a:r>
            <a:r>
              <a:rPr sz="2667" spc="80" dirty="0">
                <a:latin typeface="Tahoma"/>
                <a:cs typeface="Tahoma"/>
              </a:rPr>
              <a:t>e</a:t>
            </a:r>
            <a:r>
              <a:rPr sz="2667" spc="-13" dirty="0">
                <a:latin typeface="Tahoma"/>
                <a:cs typeface="Tahoma"/>
              </a:rPr>
              <a:t>n</a:t>
            </a:r>
            <a:r>
              <a:rPr sz="2667" spc="147" dirty="0">
                <a:latin typeface="Tahoma"/>
                <a:cs typeface="Tahoma"/>
              </a:rPr>
              <a:t>s</a:t>
            </a:r>
            <a:r>
              <a:rPr sz="2667" spc="-20" dirty="0">
                <a:latin typeface="Tahoma"/>
                <a:cs typeface="Tahoma"/>
              </a:rPr>
              <a:t>i</a:t>
            </a:r>
            <a:r>
              <a:rPr sz="2667" spc="27" dirty="0">
                <a:latin typeface="Tahoma"/>
                <a:cs typeface="Tahoma"/>
              </a:rPr>
              <a:t>o</a:t>
            </a:r>
            <a:r>
              <a:rPr sz="2667" dirty="0">
                <a:latin typeface="Tahoma"/>
                <a:cs typeface="Tahoma"/>
              </a:rPr>
              <a:t>n</a:t>
            </a:r>
            <a:r>
              <a:rPr sz="2667" spc="140" dirty="0">
                <a:latin typeface="Tahoma"/>
                <a:cs typeface="Tahoma"/>
              </a:rPr>
              <a:t>s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87" dirty="0">
                <a:latin typeface="Tahoma"/>
                <a:cs typeface="Tahoma"/>
              </a:rPr>
              <a:t>-</a:t>
            </a:r>
            <a:r>
              <a:rPr sz="2667" spc="-152" dirty="0">
                <a:latin typeface="Tahoma"/>
                <a:cs typeface="Tahoma"/>
              </a:rPr>
              <a:t> </a:t>
            </a:r>
            <a:r>
              <a:rPr sz="2667" spc="-20" dirty="0">
                <a:latin typeface="Tahoma"/>
                <a:cs typeface="Tahoma"/>
              </a:rPr>
              <a:t>T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dirty="0">
                <a:latin typeface="Tahoma"/>
                <a:cs typeface="Tahoma"/>
              </a:rPr>
              <a:t>u</a:t>
            </a:r>
            <a:r>
              <a:rPr sz="2667" spc="-7" dirty="0">
                <a:latin typeface="Tahoma"/>
                <a:cs typeface="Tahoma"/>
              </a:rPr>
              <a:t>st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80" dirty="0">
                <a:latin typeface="Tahoma"/>
                <a:cs typeface="Tahoma"/>
              </a:rPr>
              <a:t>Zo</a:t>
            </a:r>
            <a:r>
              <a:rPr sz="2667" spc="-13" dirty="0">
                <a:latin typeface="Tahoma"/>
                <a:cs typeface="Tahoma"/>
              </a:rPr>
              <a:t>n</a:t>
            </a:r>
            <a:r>
              <a:rPr sz="2667" spc="73" dirty="0">
                <a:latin typeface="Tahoma"/>
                <a:cs typeface="Tahoma"/>
              </a:rPr>
              <a:t>e</a:t>
            </a:r>
            <a:endParaRPr sz="2667">
              <a:latin typeface="Tahoma"/>
              <a:cs typeface="Tahoma"/>
            </a:endParaRPr>
          </a:p>
          <a:p>
            <a:pPr marL="965176" lvl="1" indent="-424169">
              <a:buChar char="○"/>
              <a:tabLst>
                <a:tab pos="964329" algn="l"/>
                <a:tab pos="965176" algn="l"/>
              </a:tabLst>
            </a:pPr>
            <a:r>
              <a:rPr sz="2667" spc="-33" dirty="0">
                <a:latin typeface="Tahoma"/>
                <a:cs typeface="Tahoma"/>
              </a:rPr>
              <a:t>Two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-27" dirty="0">
                <a:latin typeface="Tahoma"/>
                <a:cs typeface="Tahoma"/>
              </a:rPr>
              <a:t>virtual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spc="47" dirty="0">
                <a:latin typeface="Tahoma"/>
                <a:cs typeface="Tahoma"/>
              </a:rPr>
              <a:t>machines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spc="13" dirty="0">
                <a:latin typeface="Tahoma"/>
                <a:cs typeface="Tahoma"/>
              </a:rPr>
              <a:t>on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67" dirty="0">
                <a:latin typeface="Tahoma"/>
                <a:cs typeface="Tahoma"/>
              </a:rPr>
              <a:t>same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hardware</a:t>
            </a:r>
            <a:endParaRPr sz="2667">
              <a:latin typeface="Tahoma"/>
              <a:cs typeface="Tahoma"/>
            </a:endParaRPr>
          </a:p>
          <a:p>
            <a:pPr marL="965176" lvl="1" indent="-424169">
              <a:buChar char="○"/>
              <a:tabLst>
                <a:tab pos="964329" algn="l"/>
                <a:tab pos="965176" algn="l"/>
              </a:tabLst>
            </a:pPr>
            <a:r>
              <a:rPr sz="2667" spc="60" dirty="0">
                <a:latin typeface="Tahoma"/>
                <a:cs typeface="Tahoma"/>
              </a:rPr>
              <a:t>Provides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67" dirty="0">
                <a:latin typeface="Tahoma"/>
                <a:cs typeface="Tahoma"/>
              </a:rPr>
              <a:t>two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worlds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“secure”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27" dirty="0">
                <a:latin typeface="Tahoma"/>
                <a:cs typeface="Tahoma"/>
              </a:rPr>
              <a:t>and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47" dirty="0">
                <a:latin typeface="Tahoma"/>
                <a:cs typeface="Tahoma"/>
              </a:rPr>
              <a:t>“normal”</a:t>
            </a:r>
            <a:endParaRPr sz="2667">
              <a:latin typeface="Tahoma"/>
              <a:cs typeface="Tahoma"/>
            </a:endParaRPr>
          </a:p>
          <a:p>
            <a:pPr marL="965176" lvl="1" indent="-424169">
              <a:buChar char="○"/>
              <a:tabLst>
                <a:tab pos="964329" algn="l"/>
                <a:tab pos="965176" algn="l"/>
              </a:tabLst>
            </a:pPr>
            <a:r>
              <a:rPr sz="2667" spc="-7" dirty="0">
                <a:latin typeface="Tahoma"/>
                <a:cs typeface="Tahoma"/>
              </a:rPr>
              <a:t>Monitor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40" dirty="0">
                <a:latin typeface="Tahoma"/>
                <a:cs typeface="Tahoma"/>
              </a:rPr>
              <a:t>acts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113" dirty="0">
                <a:latin typeface="Tahoma"/>
                <a:cs typeface="Tahoma"/>
              </a:rPr>
              <a:t>as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20" dirty="0">
                <a:latin typeface="Tahoma"/>
                <a:cs typeface="Tahoma"/>
              </a:rPr>
              <a:t>gatekeeper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53" dirty="0">
                <a:latin typeface="Tahoma"/>
                <a:cs typeface="Tahoma"/>
              </a:rPr>
              <a:t>for</a:t>
            </a:r>
            <a:r>
              <a:rPr sz="2667" spc="-87" dirty="0">
                <a:latin typeface="Tahoma"/>
                <a:cs typeface="Tahoma"/>
              </a:rPr>
              <a:t> </a:t>
            </a:r>
            <a:r>
              <a:rPr sz="2667" dirty="0">
                <a:latin typeface="Tahoma"/>
                <a:cs typeface="Tahoma"/>
              </a:rPr>
              <a:t>moving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dirty="0">
                <a:latin typeface="Tahoma"/>
                <a:cs typeface="Tahoma"/>
              </a:rPr>
              <a:t>between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-60" dirty="0">
                <a:latin typeface="Tahoma"/>
                <a:cs typeface="Tahoma"/>
              </a:rPr>
              <a:t>two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worlds</a:t>
            </a:r>
            <a:endParaRPr sz="2667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3186" y="3520200"/>
            <a:ext cx="6270413" cy="28431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5959" y="1354427"/>
            <a:ext cx="4160520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0256">
              <a:spcBef>
                <a:spcPts val="133"/>
              </a:spcBef>
              <a:buChar char="●"/>
              <a:tabLst>
                <a:tab pos="456342" algn="l"/>
                <a:tab pos="457189" algn="l"/>
              </a:tabLst>
            </a:pPr>
            <a:r>
              <a:rPr sz="2667" dirty="0">
                <a:latin typeface="Tahoma"/>
                <a:cs typeface="Tahoma"/>
              </a:rPr>
              <a:t>Virtualization</a:t>
            </a:r>
            <a:r>
              <a:rPr sz="2667" spc="-167" dirty="0">
                <a:latin typeface="Tahoma"/>
                <a:cs typeface="Tahoma"/>
              </a:rPr>
              <a:t> </a:t>
            </a:r>
            <a:r>
              <a:rPr sz="2667" spc="47" dirty="0">
                <a:latin typeface="Tahoma"/>
                <a:cs typeface="Tahoma"/>
              </a:rPr>
              <a:t>Extensions</a:t>
            </a:r>
            <a:endParaRPr sz="2667">
              <a:latin typeface="Tahoma"/>
              <a:cs typeface="Tahoma"/>
            </a:endParaRPr>
          </a:p>
          <a:p>
            <a:pPr marL="965176" lvl="1" indent="-441102">
              <a:buChar char="○"/>
              <a:tabLst>
                <a:tab pos="964329" algn="l"/>
                <a:tab pos="965176" algn="l"/>
              </a:tabLst>
            </a:pPr>
            <a:r>
              <a:rPr sz="2667" spc="20" dirty="0">
                <a:latin typeface="Tahoma"/>
                <a:cs typeface="Tahoma"/>
              </a:rPr>
              <a:t>Hypervisor</a:t>
            </a:r>
            <a:endParaRPr sz="2667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985" y="2514360"/>
            <a:ext cx="7665720" cy="3925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5959" y="1354427"/>
            <a:ext cx="6212840" cy="26435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0256">
              <a:spcBef>
                <a:spcPts val="133"/>
              </a:spcBef>
              <a:buChar char="●"/>
              <a:tabLst>
                <a:tab pos="456342" algn="l"/>
                <a:tab pos="457189" algn="l"/>
              </a:tabLst>
            </a:pPr>
            <a:r>
              <a:rPr sz="2667" spc="-40" dirty="0">
                <a:latin typeface="Tahoma"/>
                <a:cs typeface="Tahoma"/>
              </a:rPr>
              <a:t>Instruction</a:t>
            </a:r>
            <a:r>
              <a:rPr sz="2667" spc="-133" dirty="0">
                <a:latin typeface="Tahoma"/>
                <a:cs typeface="Tahoma"/>
              </a:rPr>
              <a:t> </a:t>
            </a:r>
            <a:r>
              <a:rPr sz="2667" spc="27" dirty="0">
                <a:latin typeface="Tahoma"/>
                <a:cs typeface="Tahoma"/>
              </a:rPr>
              <a:t>set</a:t>
            </a:r>
            <a:endParaRPr sz="2667">
              <a:latin typeface="Tahoma"/>
              <a:cs typeface="Tahoma"/>
            </a:endParaRPr>
          </a:p>
          <a:p>
            <a:pPr marL="965176" lvl="1" indent="-407236">
              <a:buChar char="○"/>
              <a:tabLst>
                <a:tab pos="964329" algn="l"/>
                <a:tab pos="965176" algn="l"/>
              </a:tabLst>
            </a:pPr>
            <a:r>
              <a:rPr sz="2400" spc="107" dirty="0">
                <a:latin typeface="Tahoma"/>
                <a:cs typeface="Tahoma"/>
              </a:rPr>
              <a:t>Classes</a:t>
            </a:r>
            <a:r>
              <a:rPr sz="2400" spc="-12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of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  <a:p>
            <a:pPr marL="1412205" lvl="2" indent="-193035">
              <a:buChar char="•"/>
              <a:tabLst>
                <a:tab pos="1412205" algn="l"/>
              </a:tabLst>
            </a:pPr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Processing</a:t>
            </a:r>
            <a:endParaRPr sz="2400">
              <a:latin typeface="Tahoma"/>
              <a:cs typeface="Tahoma"/>
            </a:endParaRPr>
          </a:p>
          <a:p>
            <a:pPr marL="1412205" lvl="2" indent="-193035">
              <a:buChar char="•"/>
              <a:tabLst>
                <a:tab pos="1412205" algn="l"/>
              </a:tabLst>
            </a:pPr>
            <a:r>
              <a:rPr sz="2400" spc="33" dirty="0">
                <a:latin typeface="Tahoma"/>
                <a:cs typeface="Tahoma"/>
              </a:rPr>
              <a:t>Branch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  <a:p>
            <a:pPr marL="1412205" lvl="2" indent="-193035">
              <a:buChar char="•"/>
              <a:tabLst>
                <a:tab pos="1412205" algn="l"/>
              </a:tabLst>
            </a:pPr>
            <a:r>
              <a:rPr sz="2400" spc="13" dirty="0">
                <a:latin typeface="Tahoma"/>
                <a:cs typeface="Tahoma"/>
              </a:rPr>
              <a:t>Load-store</a:t>
            </a:r>
            <a:r>
              <a:rPr sz="2400" spc="-14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  <a:p>
            <a:pPr marL="1412205" lvl="2" indent="-193035">
              <a:buChar char="•"/>
              <a:tabLst>
                <a:tab pos="1412205" algn="l"/>
              </a:tabLst>
            </a:pPr>
            <a:r>
              <a:rPr sz="2400" spc="7" dirty="0">
                <a:latin typeface="Tahoma"/>
                <a:cs typeface="Tahoma"/>
              </a:rPr>
              <a:t>Software</a:t>
            </a:r>
            <a:r>
              <a:rPr sz="2400" spc="-12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interrupt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  <a:p>
            <a:pPr marL="1412205" lvl="2" indent="-193035">
              <a:buChar char="•"/>
              <a:tabLst>
                <a:tab pos="1412205" algn="l"/>
              </a:tabLst>
            </a:pPr>
            <a:r>
              <a:rPr sz="2400" spc="27" dirty="0">
                <a:latin typeface="Tahoma"/>
                <a:cs typeface="Tahoma"/>
              </a:rPr>
              <a:t>Program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status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register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63692" y="1354428"/>
            <a:ext cx="8620760" cy="523634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91054" indent="-474121">
              <a:spcBef>
                <a:spcPts val="133"/>
              </a:spcBef>
              <a:buChar char="●"/>
              <a:tabLst>
                <a:tab pos="490208" algn="l"/>
                <a:tab pos="491054" algn="l"/>
              </a:tabLst>
            </a:pPr>
            <a:r>
              <a:rPr sz="2667" spc="27" dirty="0">
                <a:latin typeface="Tahoma"/>
                <a:cs typeface="Tahoma"/>
              </a:rPr>
              <a:t>Data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40" dirty="0">
                <a:latin typeface="Tahoma"/>
                <a:cs typeface="Tahoma"/>
              </a:rPr>
              <a:t>processing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instructions</a:t>
            </a:r>
            <a:endParaRPr sz="2667">
              <a:latin typeface="Tahoma"/>
              <a:cs typeface="Tahoma"/>
            </a:endParaRPr>
          </a:p>
          <a:p>
            <a:pPr marL="1710224" lvl="1" indent="-474121">
              <a:buChar char="○"/>
              <a:tabLst>
                <a:tab pos="1709377" algn="l"/>
                <a:tab pos="1710224" algn="l"/>
              </a:tabLst>
            </a:pPr>
            <a:r>
              <a:rPr sz="2400" spc="53" dirty="0">
                <a:latin typeface="Tahoma"/>
                <a:cs typeface="Tahoma"/>
              </a:rPr>
              <a:t>Consist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of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87" dirty="0"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1710224" marR="1189537"/>
            <a:r>
              <a:rPr sz="2400" spc="-13" dirty="0">
                <a:latin typeface="Tahoma"/>
                <a:cs typeface="Tahoma"/>
              </a:rPr>
              <a:t>Arithm</a:t>
            </a:r>
            <a:r>
              <a:rPr sz="2400" spc="-27" dirty="0">
                <a:latin typeface="Tahoma"/>
                <a:cs typeface="Tahoma"/>
              </a:rPr>
              <a:t>e</a:t>
            </a:r>
            <a:r>
              <a:rPr sz="2400" spc="-133" dirty="0">
                <a:latin typeface="Tahoma"/>
                <a:cs typeface="Tahoma"/>
              </a:rPr>
              <a:t>t</a:t>
            </a:r>
            <a:r>
              <a:rPr sz="2400" spc="-33" dirty="0">
                <a:latin typeface="Tahoma"/>
                <a:cs typeface="Tahoma"/>
              </a:rPr>
              <a:t>i</a:t>
            </a:r>
            <a:r>
              <a:rPr sz="2400" spc="-47" dirty="0">
                <a:latin typeface="Tahoma"/>
                <a:cs typeface="Tahoma"/>
              </a:rPr>
              <a:t>c: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113" dirty="0">
                <a:latin typeface="Tahoma"/>
                <a:cs typeface="Tahoma"/>
              </a:rPr>
              <a:t>AD</a:t>
            </a:r>
            <a:r>
              <a:rPr sz="2400" spc="127" dirty="0">
                <a:latin typeface="Tahoma"/>
                <a:cs typeface="Tahoma"/>
              </a:rPr>
              <a:t>D</a:t>
            </a:r>
            <a:r>
              <a:rPr sz="2400" spc="-233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AD</a:t>
            </a:r>
            <a:r>
              <a:rPr sz="2400" spc="173" dirty="0">
                <a:latin typeface="Tahoma"/>
                <a:cs typeface="Tahoma"/>
              </a:rPr>
              <a:t>C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87" dirty="0">
                <a:latin typeface="Tahoma"/>
                <a:cs typeface="Tahoma"/>
              </a:rPr>
              <a:t>S</a:t>
            </a:r>
            <a:r>
              <a:rPr sz="2400" spc="207" dirty="0">
                <a:latin typeface="Tahoma"/>
                <a:cs typeface="Tahoma"/>
              </a:rPr>
              <a:t>U</a:t>
            </a:r>
            <a:r>
              <a:rPr sz="2400" spc="180" dirty="0">
                <a:latin typeface="Tahoma"/>
                <a:cs typeface="Tahoma"/>
              </a:rPr>
              <a:t>B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33" dirty="0">
                <a:latin typeface="Tahoma"/>
                <a:cs typeface="Tahoma"/>
              </a:rPr>
              <a:t>SB</a:t>
            </a:r>
            <a:r>
              <a:rPr sz="2400" spc="253" dirty="0">
                <a:latin typeface="Tahoma"/>
                <a:cs typeface="Tahoma"/>
              </a:rPr>
              <a:t>C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27" dirty="0">
                <a:latin typeface="Tahoma"/>
                <a:cs typeface="Tahoma"/>
              </a:rPr>
              <a:t>R</a:t>
            </a:r>
            <a:r>
              <a:rPr sz="2400" spc="207" dirty="0">
                <a:latin typeface="Tahoma"/>
                <a:cs typeface="Tahoma"/>
              </a:rPr>
              <a:t>S</a:t>
            </a:r>
            <a:r>
              <a:rPr sz="2400" spc="227" dirty="0">
                <a:latin typeface="Tahoma"/>
                <a:cs typeface="Tahoma"/>
              </a:rPr>
              <a:t>B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27" dirty="0">
                <a:latin typeface="Tahoma"/>
                <a:cs typeface="Tahoma"/>
              </a:rPr>
              <a:t>R</a:t>
            </a:r>
            <a:r>
              <a:rPr sz="2400" spc="207" dirty="0">
                <a:latin typeface="Tahoma"/>
                <a:cs typeface="Tahoma"/>
              </a:rPr>
              <a:t>SC  </a:t>
            </a:r>
            <a:r>
              <a:rPr sz="2400" spc="120" dirty="0">
                <a:latin typeface="Tahoma"/>
                <a:cs typeface="Tahoma"/>
              </a:rPr>
              <a:t>L</a:t>
            </a:r>
            <a:r>
              <a:rPr sz="2400" dirty="0">
                <a:latin typeface="Tahoma"/>
                <a:cs typeface="Tahoma"/>
              </a:rPr>
              <a:t>og</a:t>
            </a:r>
            <a:r>
              <a:rPr sz="2400" spc="-13" dirty="0">
                <a:latin typeface="Tahoma"/>
                <a:cs typeface="Tahoma"/>
              </a:rPr>
              <a:t>i</a:t>
            </a:r>
            <a:r>
              <a:rPr sz="2400" spc="60" dirty="0">
                <a:latin typeface="Tahoma"/>
                <a:cs typeface="Tahoma"/>
              </a:rPr>
              <a:t>ca</a:t>
            </a:r>
            <a:r>
              <a:rPr sz="2400" spc="13" dirty="0">
                <a:latin typeface="Tahoma"/>
                <a:cs typeface="Tahoma"/>
              </a:rPr>
              <a:t>l</a:t>
            </a:r>
            <a:r>
              <a:rPr sz="2400" spc="-187" dirty="0">
                <a:latin typeface="Tahoma"/>
                <a:cs typeface="Tahoma"/>
              </a:rPr>
              <a:t>: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127" dirty="0">
                <a:latin typeface="Tahoma"/>
                <a:cs typeface="Tahoma"/>
              </a:rPr>
              <a:t>A</a:t>
            </a:r>
            <a:r>
              <a:rPr sz="2400" spc="133" dirty="0">
                <a:latin typeface="Tahoma"/>
                <a:cs typeface="Tahoma"/>
              </a:rPr>
              <a:t>N</a:t>
            </a:r>
            <a:r>
              <a:rPr sz="2400" spc="100" dirty="0">
                <a:latin typeface="Tahoma"/>
                <a:cs typeface="Tahoma"/>
              </a:rPr>
              <a:t>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73" dirty="0">
                <a:latin typeface="Tahoma"/>
                <a:cs typeface="Tahoma"/>
              </a:rPr>
              <a:t>O</a:t>
            </a:r>
            <a:r>
              <a:rPr sz="2400" spc="227" dirty="0">
                <a:latin typeface="Tahoma"/>
                <a:cs typeface="Tahoma"/>
              </a:rPr>
              <a:t>R</a:t>
            </a:r>
            <a:r>
              <a:rPr sz="2400" spc="240" dirty="0">
                <a:latin typeface="Tahoma"/>
                <a:cs typeface="Tahoma"/>
              </a:rPr>
              <a:t>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E</a:t>
            </a:r>
            <a:r>
              <a:rPr sz="2400" spc="240" dirty="0">
                <a:latin typeface="Tahoma"/>
                <a:cs typeface="Tahoma"/>
              </a:rPr>
              <a:t>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BIC  </a:t>
            </a:r>
            <a:r>
              <a:rPr sz="2400" spc="27" dirty="0">
                <a:latin typeface="Tahoma"/>
                <a:cs typeface="Tahoma"/>
              </a:rPr>
              <a:t>Comparisons: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33" dirty="0">
                <a:latin typeface="Tahoma"/>
                <a:cs typeface="Tahoma"/>
              </a:rPr>
              <a:t>CMP</a:t>
            </a:r>
            <a:r>
              <a:rPr sz="2400" spc="-152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CMN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127" dirty="0">
                <a:latin typeface="Tahoma"/>
                <a:cs typeface="Tahoma"/>
              </a:rPr>
              <a:t>TST</a:t>
            </a:r>
            <a:r>
              <a:rPr sz="2400" spc="-187" dirty="0">
                <a:latin typeface="Tahoma"/>
                <a:cs typeface="Tahoma"/>
              </a:rPr>
              <a:t> </a:t>
            </a:r>
            <a:r>
              <a:rPr sz="2400" spc="160" dirty="0">
                <a:latin typeface="Tahoma"/>
                <a:cs typeface="Tahoma"/>
              </a:rPr>
              <a:t>TEQ</a:t>
            </a:r>
            <a:endParaRPr sz="2400">
              <a:latin typeface="Tahoma"/>
              <a:cs typeface="Tahoma"/>
            </a:endParaRPr>
          </a:p>
          <a:p>
            <a:pPr marL="1710224"/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movement: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160" dirty="0">
                <a:latin typeface="Tahoma"/>
                <a:cs typeface="Tahoma"/>
              </a:rPr>
              <a:t>MOV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147" dirty="0">
                <a:latin typeface="Tahoma"/>
                <a:cs typeface="Tahoma"/>
              </a:rPr>
              <a:t>MVN</a:t>
            </a:r>
            <a:endParaRPr sz="2400">
              <a:latin typeface="Tahoma"/>
              <a:cs typeface="Tahoma"/>
            </a:endParaRPr>
          </a:p>
          <a:p>
            <a:pPr marL="1100639"/>
            <a:r>
              <a:rPr sz="2400" spc="60" dirty="0">
                <a:latin typeface="Tahoma"/>
                <a:cs typeface="Tahoma"/>
              </a:rPr>
              <a:t>These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instructions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only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work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on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registers,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13" dirty="0">
                <a:latin typeface="Tahoma"/>
                <a:cs typeface="Tahoma"/>
              </a:rPr>
              <a:t>NOT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memory</a:t>
            </a:r>
            <a:endParaRPr sz="2400">
              <a:latin typeface="Tahoma"/>
              <a:cs typeface="Tahoma"/>
            </a:endParaRPr>
          </a:p>
          <a:p>
            <a:pPr>
              <a:spcBef>
                <a:spcPts val="60"/>
              </a:spcBef>
            </a:pPr>
            <a:endParaRPr sz="2333">
              <a:latin typeface="Tahoma"/>
              <a:cs typeface="Tahoma"/>
            </a:endParaRPr>
          </a:p>
          <a:p>
            <a:pPr marL="1100639"/>
            <a:r>
              <a:rPr sz="2400" spc="-7" dirty="0">
                <a:latin typeface="Tahoma"/>
                <a:cs typeface="Tahoma"/>
              </a:rPr>
              <a:t>Syntax: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13" dirty="0">
                <a:latin typeface="Tahoma"/>
                <a:cs typeface="Tahoma"/>
              </a:rPr>
              <a:t>&lt;Operation&gt;{&lt;cond&gt;}{S}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Rd,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Rn,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Operand2</a:t>
            </a:r>
            <a:endParaRPr sz="2400">
              <a:latin typeface="Tahoma"/>
              <a:cs typeface="Tahoma"/>
            </a:endParaRPr>
          </a:p>
          <a:p>
            <a:pPr>
              <a:spcBef>
                <a:spcPts val="67"/>
              </a:spcBef>
            </a:pPr>
            <a:endParaRPr sz="2333">
              <a:latin typeface="Tahoma"/>
              <a:cs typeface="Tahoma"/>
            </a:endParaRPr>
          </a:p>
          <a:p>
            <a:pPr marL="1100639" marR="579106"/>
            <a:r>
              <a:rPr sz="2400" spc="47" dirty="0">
                <a:latin typeface="Tahoma"/>
                <a:cs typeface="Tahoma"/>
              </a:rPr>
              <a:t>Comparisons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set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flags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only</a:t>
            </a:r>
            <a:r>
              <a:rPr sz="2400" spc="-73" dirty="0">
                <a:latin typeface="Tahoma"/>
                <a:cs typeface="Tahoma"/>
              </a:rPr>
              <a:t> -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they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do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not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specify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13" dirty="0">
                <a:latin typeface="Tahoma"/>
                <a:cs typeface="Tahoma"/>
              </a:rPr>
              <a:t>Rd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movement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does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not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specify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113" dirty="0">
                <a:latin typeface="Tahoma"/>
                <a:cs typeface="Tahoma"/>
              </a:rPr>
              <a:t>Rn</a:t>
            </a:r>
            <a:endParaRPr sz="2400">
              <a:latin typeface="Tahoma"/>
              <a:cs typeface="Tahoma"/>
            </a:endParaRPr>
          </a:p>
          <a:p>
            <a:pPr>
              <a:spcBef>
                <a:spcPts val="60"/>
              </a:spcBef>
            </a:pPr>
            <a:endParaRPr sz="2333">
              <a:latin typeface="Tahoma"/>
              <a:cs typeface="Tahoma"/>
            </a:endParaRPr>
          </a:p>
          <a:p>
            <a:pPr marL="1100639"/>
            <a:r>
              <a:rPr sz="2400" spc="67" dirty="0">
                <a:latin typeface="Tahoma"/>
                <a:cs typeface="Tahoma"/>
              </a:rPr>
              <a:t>Second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operand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sent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233" dirty="0">
                <a:latin typeface="Tahoma"/>
                <a:cs typeface="Tahoma"/>
              </a:rPr>
              <a:t> </a:t>
            </a:r>
            <a:r>
              <a:rPr sz="2400" spc="147" dirty="0">
                <a:latin typeface="Tahoma"/>
                <a:cs typeface="Tahoma"/>
              </a:rPr>
              <a:t>ALU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via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barrel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shifter.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28226" y="1354427"/>
            <a:ext cx="10282767" cy="467330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indent="-406390">
              <a:spcBef>
                <a:spcPts val="133"/>
              </a:spcBef>
              <a:buChar char="●"/>
              <a:tabLst>
                <a:tab pos="524074" algn="l"/>
                <a:tab pos="524920" algn="l"/>
              </a:tabLst>
            </a:pPr>
            <a:r>
              <a:rPr sz="2667" spc="27" dirty="0">
                <a:latin typeface="Tahoma"/>
                <a:cs typeface="Tahoma"/>
              </a:rPr>
              <a:t>Ex:</a:t>
            </a:r>
            <a:endParaRPr sz="2667">
              <a:latin typeface="Tahoma"/>
              <a:cs typeface="Tahoma"/>
            </a:endParaRPr>
          </a:p>
          <a:p>
            <a:pPr marL="1286901"/>
            <a:r>
              <a:rPr sz="2133" spc="100" dirty="0">
                <a:latin typeface="Tahoma"/>
                <a:cs typeface="Tahoma"/>
              </a:rPr>
              <a:t>ADD</a:t>
            </a:r>
            <a:r>
              <a:rPr sz="2133" spc="-133" dirty="0">
                <a:latin typeface="Tahoma"/>
                <a:cs typeface="Tahoma"/>
              </a:rPr>
              <a:t> </a:t>
            </a:r>
            <a:r>
              <a:rPr sz="2133" spc="-33" dirty="0">
                <a:latin typeface="Tahoma"/>
                <a:cs typeface="Tahoma"/>
              </a:rPr>
              <a:t>r1,r2,r3</a:t>
            </a:r>
            <a:endParaRPr sz="2133">
              <a:latin typeface="Tahoma"/>
              <a:cs typeface="Tahoma"/>
            </a:endParaRPr>
          </a:p>
          <a:p>
            <a:pPr marL="1286901"/>
            <a:r>
              <a:rPr sz="2133" spc="-207" dirty="0">
                <a:latin typeface="Tahoma"/>
                <a:cs typeface="Tahoma"/>
              </a:rPr>
              <a:t>I</a:t>
            </a:r>
            <a:r>
              <a:rPr sz="2133" spc="-27" dirty="0">
                <a:latin typeface="Tahoma"/>
                <a:cs typeface="Tahoma"/>
              </a:rPr>
              <a:t>m</a:t>
            </a:r>
            <a:r>
              <a:rPr sz="2133" spc="-13" dirty="0">
                <a:latin typeface="Tahoma"/>
                <a:cs typeface="Tahoma"/>
              </a:rPr>
              <a:t>p</a:t>
            </a:r>
            <a:r>
              <a:rPr sz="2133" spc="-7" dirty="0">
                <a:latin typeface="Tahoma"/>
                <a:cs typeface="Tahoma"/>
              </a:rPr>
              <a:t>l</a:t>
            </a:r>
            <a:r>
              <a:rPr sz="2133" spc="47" dirty="0">
                <a:latin typeface="Tahoma"/>
                <a:cs typeface="Tahoma"/>
              </a:rPr>
              <a:t>e</a:t>
            </a:r>
            <a:r>
              <a:rPr sz="2133" spc="-13" dirty="0">
                <a:latin typeface="Tahoma"/>
                <a:cs typeface="Tahoma"/>
              </a:rPr>
              <a:t>m</a:t>
            </a:r>
            <a:r>
              <a:rPr sz="2133" spc="47" dirty="0">
                <a:latin typeface="Tahoma"/>
                <a:cs typeface="Tahoma"/>
              </a:rPr>
              <a:t>e</a:t>
            </a:r>
            <a:r>
              <a:rPr sz="2133" spc="-87" dirty="0">
                <a:latin typeface="Tahoma"/>
                <a:cs typeface="Tahoma"/>
              </a:rPr>
              <a:t>n</a:t>
            </a:r>
            <a:r>
              <a:rPr sz="2133" spc="-47" dirty="0">
                <a:latin typeface="Tahoma"/>
                <a:cs typeface="Tahoma"/>
              </a:rPr>
              <a:t>t</a:t>
            </a:r>
            <a:r>
              <a:rPr sz="2133" spc="113" dirty="0">
                <a:latin typeface="Tahoma"/>
                <a:cs typeface="Tahoma"/>
              </a:rPr>
              <a:t>s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1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305" dirty="0">
                <a:latin typeface="Tahoma"/>
                <a:cs typeface="Tahoma"/>
              </a:rPr>
              <a:t>=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2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313" dirty="0">
                <a:latin typeface="Tahoma"/>
                <a:cs typeface="Tahoma"/>
              </a:rPr>
              <a:t>+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3</a:t>
            </a:r>
            <a:endParaRPr sz="2133">
              <a:latin typeface="Tahoma"/>
              <a:cs typeface="Tahoma"/>
            </a:endParaRPr>
          </a:p>
          <a:p>
            <a:pPr>
              <a:spcBef>
                <a:spcPts val="47"/>
              </a:spcBef>
            </a:pPr>
            <a:endParaRPr sz="2067">
              <a:latin typeface="Tahoma"/>
              <a:cs typeface="Tahoma"/>
            </a:endParaRPr>
          </a:p>
          <a:p>
            <a:pPr marL="1286901">
              <a:lnSpc>
                <a:spcPts val="2552"/>
              </a:lnSpc>
              <a:spcBef>
                <a:spcPts val="7"/>
              </a:spcBef>
            </a:pPr>
            <a:r>
              <a:rPr sz="2133" spc="140" dirty="0">
                <a:latin typeface="Tahoma"/>
                <a:cs typeface="Tahoma"/>
              </a:rPr>
              <a:t>A</a:t>
            </a:r>
            <a:r>
              <a:rPr sz="2133" spc="80" dirty="0">
                <a:latin typeface="Tahoma"/>
                <a:cs typeface="Tahoma"/>
              </a:rPr>
              <a:t>D</a:t>
            </a:r>
            <a:r>
              <a:rPr sz="2133" spc="93" dirty="0">
                <a:latin typeface="Tahoma"/>
                <a:cs typeface="Tahoma"/>
              </a:rPr>
              <a:t>D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-27" dirty="0">
                <a:latin typeface="Tahoma"/>
                <a:cs typeface="Tahoma"/>
              </a:rPr>
              <a:t>2,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-27" dirty="0">
                <a:latin typeface="Tahoma"/>
                <a:cs typeface="Tahoma"/>
              </a:rPr>
              <a:t>3,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7" dirty="0">
                <a:latin typeface="Tahoma"/>
                <a:cs typeface="Tahoma"/>
              </a:rPr>
              <a:t>3</a:t>
            </a:r>
            <a:r>
              <a:rPr sz="2133" spc="-53" dirty="0">
                <a:latin typeface="Tahoma"/>
                <a:cs typeface="Tahoma"/>
              </a:rPr>
              <a:t>,</a:t>
            </a:r>
            <a:r>
              <a:rPr sz="2133" spc="160" dirty="0">
                <a:latin typeface="Tahoma"/>
                <a:cs typeface="Tahoma"/>
              </a:rPr>
              <a:t>L</a:t>
            </a:r>
            <a:r>
              <a:rPr sz="2133" spc="187" dirty="0">
                <a:latin typeface="Tahoma"/>
                <a:cs typeface="Tahoma"/>
              </a:rPr>
              <a:t>S</a:t>
            </a:r>
            <a:r>
              <a:rPr sz="2133" spc="120" dirty="0">
                <a:latin typeface="Tahoma"/>
                <a:cs typeface="Tahoma"/>
              </a:rPr>
              <a:t>L</a:t>
            </a:r>
            <a:r>
              <a:rPr sz="2133" spc="-167" dirty="0">
                <a:latin typeface="Tahoma"/>
                <a:cs typeface="Tahoma"/>
              </a:rPr>
              <a:t> </a:t>
            </a:r>
            <a:r>
              <a:rPr sz="2133" spc="-180" dirty="0">
                <a:latin typeface="Tahoma"/>
                <a:cs typeface="Tahoma"/>
              </a:rPr>
              <a:t>#2</a:t>
            </a:r>
            <a:endParaRPr sz="2133">
              <a:latin typeface="Tahoma"/>
              <a:cs typeface="Tahoma"/>
            </a:endParaRPr>
          </a:p>
          <a:p>
            <a:pPr marL="1286901">
              <a:lnSpc>
                <a:spcPts val="2552"/>
              </a:lnSpc>
            </a:pPr>
            <a:r>
              <a:rPr sz="2133" spc="-207" dirty="0">
                <a:latin typeface="Tahoma"/>
                <a:cs typeface="Tahoma"/>
              </a:rPr>
              <a:t>I</a:t>
            </a:r>
            <a:r>
              <a:rPr sz="2133" spc="-27" dirty="0">
                <a:latin typeface="Tahoma"/>
                <a:cs typeface="Tahoma"/>
              </a:rPr>
              <a:t>m</a:t>
            </a:r>
            <a:r>
              <a:rPr sz="2133" spc="-13" dirty="0">
                <a:latin typeface="Tahoma"/>
                <a:cs typeface="Tahoma"/>
              </a:rPr>
              <a:t>p</a:t>
            </a:r>
            <a:r>
              <a:rPr sz="2133" spc="-7" dirty="0">
                <a:latin typeface="Tahoma"/>
                <a:cs typeface="Tahoma"/>
              </a:rPr>
              <a:t>l</a:t>
            </a:r>
            <a:r>
              <a:rPr sz="2133" spc="47" dirty="0">
                <a:latin typeface="Tahoma"/>
                <a:cs typeface="Tahoma"/>
              </a:rPr>
              <a:t>e</a:t>
            </a:r>
            <a:r>
              <a:rPr sz="2133" spc="-13" dirty="0">
                <a:latin typeface="Tahoma"/>
                <a:cs typeface="Tahoma"/>
              </a:rPr>
              <a:t>m</a:t>
            </a:r>
            <a:r>
              <a:rPr sz="2133" spc="47" dirty="0">
                <a:latin typeface="Tahoma"/>
                <a:cs typeface="Tahoma"/>
              </a:rPr>
              <a:t>e</a:t>
            </a:r>
            <a:r>
              <a:rPr sz="2133" spc="-87" dirty="0">
                <a:latin typeface="Tahoma"/>
                <a:cs typeface="Tahoma"/>
              </a:rPr>
              <a:t>n</a:t>
            </a:r>
            <a:r>
              <a:rPr sz="2133" spc="-47" dirty="0">
                <a:latin typeface="Tahoma"/>
                <a:cs typeface="Tahoma"/>
              </a:rPr>
              <a:t>t</a:t>
            </a:r>
            <a:r>
              <a:rPr sz="2133" spc="-27" dirty="0">
                <a:latin typeface="Tahoma"/>
                <a:cs typeface="Tahoma"/>
              </a:rPr>
              <a:t>s:</a:t>
            </a:r>
            <a:r>
              <a:rPr sz="2133" dirty="0">
                <a:latin typeface="Tahoma"/>
                <a:cs typeface="Tahoma"/>
              </a:rPr>
              <a:t> </a:t>
            </a:r>
            <a:r>
              <a:rPr sz="2133" spc="-16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2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305" dirty="0">
                <a:latin typeface="Tahoma"/>
                <a:cs typeface="Tahoma"/>
              </a:rPr>
              <a:t>=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3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305" dirty="0">
                <a:latin typeface="Tahoma"/>
                <a:cs typeface="Tahoma"/>
              </a:rPr>
              <a:t>+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113" dirty="0">
                <a:latin typeface="Tahoma"/>
                <a:cs typeface="Tahoma"/>
              </a:rPr>
              <a:t>(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3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339" dirty="0">
                <a:latin typeface="Tahoma"/>
                <a:cs typeface="Tahoma"/>
              </a:rPr>
              <a:t>*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53" dirty="0">
                <a:latin typeface="Tahoma"/>
                <a:cs typeface="Tahoma"/>
              </a:rPr>
              <a:t>4)</a:t>
            </a:r>
            <a:endParaRPr sz="2133">
              <a:latin typeface="Tahoma"/>
              <a:cs typeface="Tahoma"/>
            </a:endParaRPr>
          </a:p>
          <a:p>
            <a:pPr>
              <a:spcBef>
                <a:spcPts val="60"/>
              </a:spcBef>
            </a:pPr>
            <a:endParaRPr sz="2067">
              <a:latin typeface="Tahoma"/>
              <a:cs typeface="Tahoma"/>
            </a:endParaRPr>
          </a:p>
          <a:p>
            <a:pPr marL="1310607">
              <a:lnSpc>
                <a:spcPts val="2552"/>
              </a:lnSpc>
            </a:pPr>
            <a:r>
              <a:rPr sz="2133" spc="140" dirty="0">
                <a:latin typeface="Tahoma"/>
                <a:cs typeface="Tahoma"/>
              </a:rPr>
              <a:t>ANDS</a:t>
            </a:r>
            <a:r>
              <a:rPr sz="2133" spc="-113" dirty="0">
                <a:latin typeface="Tahoma"/>
                <a:cs typeface="Tahoma"/>
              </a:rPr>
              <a:t> </a:t>
            </a:r>
            <a:r>
              <a:rPr sz="2133" spc="-53" dirty="0">
                <a:latin typeface="Tahoma"/>
                <a:cs typeface="Tahoma"/>
              </a:rPr>
              <a:t>r4,r4,#0x20</a:t>
            </a:r>
            <a:endParaRPr sz="2133">
              <a:latin typeface="Tahoma"/>
              <a:cs typeface="Tahoma"/>
            </a:endParaRPr>
          </a:p>
          <a:p>
            <a:pPr marL="1310607">
              <a:lnSpc>
                <a:spcPts val="2552"/>
              </a:lnSpc>
            </a:pPr>
            <a:r>
              <a:rPr sz="2133" spc="-207" dirty="0">
                <a:latin typeface="Tahoma"/>
                <a:cs typeface="Tahoma"/>
              </a:rPr>
              <a:t>I</a:t>
            </a:r>
            <a:r>
              <a:rPr sz="2133" spc="-27" dirty="0">
                <a:latin typeface="Tahoma"/>
                <a:cs typeface="Tahoma"/>
              </a:rPr>
              <a:t>m</a:t>
            </a:r>
            <a:r>
              <a:rPr sz="2133" spc="-13" dirty="0">
                <a:latin typeface="Tahoma"/>
                <a:cs typeface="Tahoma"/>
              </a:rPr>
              <a:t>p</a:t>
            </a:r>
            <a:r>
              <a:rPr sz="2133" spc="-7" dirty="0">
                <a:latin typeface="Tahoma"/>
                <a:cs typeface="Tahoma"/>
              </a:rPr>
              <a:t>l</a:t>
            </a:r>
            <a:r>
              <a:rPr sz="2133" spc="13" dirty="0">
                <a:latin typeface="Tahoma"/>
                <a:cs typeface="Tahoma"/>
              </a:rPr>
              <a:t>em</a:t>
            </a:r>
            <a:r>
              <a:rPr sz="2133" spc="-33" dirty="0">
                <a:latin typeface="Tahoma"/>
                <a:cs typeface="Tahoma"/>
              </a:rPr>
              <a:t>ent</a:t>
            </a:r>
            <a:r>
              <a:rPr sz="2133" spc="-27" dirty="0">
                <a:latin typeface="Tahoma"/>
                <a:cs typeface="Tahoma"/>
              </a:rPr>
              <a:t>s: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4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305" dirty="0">
                <a:latin typeface="Tahoma"/>
                <a:cs typeface="Tahoma"/>
              </a:rPr>
              <a:t>=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4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20" dirty="0">
                <a:latin typeface="Tahoma"/>
                <a:cs typeface="Tahoma"/>
              </a:rPr>
              <a:t>&amp;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7" dirty="0">
                <a:latin typeface="Tahoma"/>
                <a:cs typeface="Tahoma"/>
              </a:rPr>
              <a:t>0</a:t>
            </a:r>
            <a:r>
              <a:rPr sz="2133" spc="20" dirty="0">
                <a:latin typeface="Tahoma"/>
                <a:cs typeface="Tahoma"/>
              </a:rPr>
              <a:t>x</a:t>
            </a:r>
            <a:r>
              <a:rPr sz="2133" spc="7" dirty="0">
                <a:latin typeface="Tahoma"/>
                <a:cs typeface="Tahoma"/>
              </a:rPr>
              <a:t>2</a:t>
            </a:r>
            <a:r>
              <a:rPr sz="2133" spc="20" dirty="0">
                <a:latin typeface="Tahoma"/>
                <a:cs typeface="Tahoma"/>
              </a:rPr>
              <a:t>0</a:t>
            </a:r>
            <a:endParaRPr sz="213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200">
              <a:latin typeface="Tahoma"/>
              <a:cs typeface="Tahoma"/>
            </a:endParaRPr>
          </a:p>
          <a:p>
            <a:pPr marL="16933" marR="6773" indent="609585">
              <a:lnSpc>
                <a:spcPts val="2547"/>
              </a:lnSpc>
            </a:pPr>
            <a:r>
              <a:rPr sz="2133" spc="80" dirty="0">
                <a:latin typeface="Tahoma"/>
                <a:cs typeface="Tahoma"/>
              </a:rPr>
              <a:t>By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27" dirty="0">
                <a:latin typeface="Tahoma"/>
                <a:cs typeface="Tahoma"/>
              </a:rPr>
              <a:t>default,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dirty="0">
                <a:latin typeface="Tahoma"/>
                <a:cs typeface="Tahoma"/>
              </a:rPr>
              <a:t>data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27" dirty="0">
                <a:latin typeface="Tahoma"/>
                <a:cs typeface="Tahoma"/>
              </a:rPr>
              <a:t>processing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7" dirty="0">
                <a:latin typeface="Tahoma"/>
                <a:cs typeface="Tahoma"/>
              </a:rPr>
              <a:t>instructions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13" dirty="0">
                <a:latin typeface="Tahoma"/>
                <a:cs typeface="Tahoma"/>
              </a:rPr>
              <a:t>do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40" dirty="0">
                <a:latin typeface="Tahoma"/>
                <a:cs typeface="Tahoma"/>
              </a:rPr>
              <a:t>not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27" dirty="0">
                <a:latin typeface="Tahoma"/>
                <a:cs typeface="Tahoma"/>
              </a:rPr>
              <a:t>affect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27" dirty="0">
                <a:latin typeface="Tahoma"/>
                <a:cs typeface="Tahoma"/>
              </a:rPr>
              <a:t>the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7" dirty="0">
                <a:latin typeface="Tahoma"/>
                <a:cs typeface="Tahoma"/>
              </a:rPr>
              <a:t>condition</a:t>
            </a:r>
            <a:r>
              <a:rPr sz="2133" spc="-67" dirty="0">
                <a:latin typeface="Tahoma"/>
                <a:cs typeface="Tahoma"/>
              </a:rPr>
              <a:t> </a:t>
            </a:r>
            <a:r>
              <a:rPr sz="2133" spc="40" dirty="0">
                <a:latin typeface="Tahoma"/>
                <a:cs typeface="Tahoma"/>
              </a:rPr>
              <a:t>code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13" dirty="0">
                <a:latin typeface="Tahoma"/>
                <a:cs typeface="Tahoma"/>
              </a:rPr>
              <a:t>flags</a:t>
            </a:r>
            <a:r>
              <a:rPr sz="2133" spc="-67" dirty="0">
                <a:latin typeface="Tahoma"/>
                <a:cs typeface="Tahoma"/>
              </a:rPr>
              <a:t> </a:t>
            </a:r>
            <a:r>
              <a:rPr sz="2133" spc="-53" dirty="0">
                <a:latin typeface="Tahoma"/>
                <a:cs typeface="Tahoma"/>
              </a:rPr>
              <a:t>but </a:t>
            </a:r>
            <a:r>
              <a:rPr sz="2133" spc="-645" dirty="0">
                <a:latin typeface="Tahoma"/>
                <a:cs typeface="Tahoma"/>
              </a:rPr>
              <a:t> </a:t>
            </a:r>
            <a:r>
              <a:rPr sz="2133" spc="-27" dirty="0">
                <a:latin typeface="Tahoma"/>
                <a:cs typeface="Tahoma"/>
              </a:rPr>
              <a:t>the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13" dirty="0">
                <a:latin typeface="Tahoma"/>
                <a:cs typeface="Tahoma"/>
              </a:rPr>
              <a:t>flags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40" dirty="0">
                <a:latin typeface="Tahoma"/>
                <a:cs typeface="Tahoma"/>
              </a:rPr>
              <a:t>can</a:t>
            </a:r>
            <a:r>
              <a:rPr sz="2133" spc="-67" dirty="0">
                <a:latin typeface="Tahoma"/>
                <a:cs typeface="Tahoma"/>
              </a:rPr>
              <a:t> </a:t>
            </a:r>
            <a:r>
              <a:rPr sz="2133" spc="27" dirty="0">
                <a:latin typeface="Tahoma"/>
                <a:cs typeface="Tahoma"/>
              </a:rPr>
              <a:t>be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13" dirty="0">
                <a:latin typeface="Tahoma"/>
                <a:cs typeface="Tahoma"/>
              </a:rPr>
              <a:t>optionally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13" dirty="0">
                <a:latin typeface="Tahoma"/>
                <a:cs typeface="Tahoma"/>
              </a:rPr>
              <a:t>set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dirty="0">
                <a:latin typeface="Tahoma"/>
                <a:cs typeface="Tahoma"/>
              </a:rPr>
              <a:t>by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13" dirty="0">
                <a:latin typeface="Tahoma"/>
                <a:cs typeface="Tahoma"/>
              </a:rPr>
              <a:t>using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40" dirty="0">
                <a:latin typeface="Tahoma"/>
                <a:cs typeface="Tahoma"/>
              </a:rPr>
              <a:t>“S”.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60" dirty="0">
                <a:latin typeface="Tahoma"/>
                <a:cs typeface="Tahoma"/>
              </a:rPr>
              <a:t>“CMP”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47" dirty="0">
                <a:latin typeface="Tahoma"/>
                <a:cs typeface="Tahoma"/>
              </a:rPr>
              <a:t>does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-40" dirty="0">
                <a:latin typeface="Tahoma"/>
                <a:cs typeface="Tahoma"/>
              </a:rPr>
              <a:t>not</a:t>
            </a:r>
            <a:r>
              <a:rPr sz="2133" spc="-73" dirty="0">
                <a:latin typeface="Tahoma"/>
                <a:cs typeface="Tahoma"/>
              </a:rPr>
              <a:t> </a:t>
            </a:r>
            <a:r>
              <a:rPr sz="2133" spc="20" dirty="0">
                <a:latin typeface="Tahoma"/>
                <a:cs typeface="Tahoma"/>
              </a:rPr>
              <a:t>need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27" dirty="0">
                <a:latin typeface="Tahoma"/>
                <a:cs typeface="Tahoma"/>
              </a:rPr>
              <a:t>“S”</a:t>
            </a:r>
            <a:endParaRPr sz="2133">
              <a:latin typeface="Tahoma"/>
              <a:cs typeface="Tahoma"/>
            </a:endParaRPr>
          </a:p>
          <a:p>
            <a:pPr marL="1744090">
              <a:lnSpc>
                <a:spcPts val="2473"/>
              </a:lnSpc>
            </a:pPr>
            <a:r>
              <a:rPr sz="2133" spc="140" dirty="0">
                <a:latin typeface="Tahoma"/>
                <a:cs typeface="Tahoma"/>
              </a:rPr>
              <a:t>LDR</a:t>
            </a:r>
            <a:r>
              <a:rPr sz="2133" spc="-113" dirty="0">
                <a:latin typeface="Tahoma"/>
                <a:cs typeface="Tahoma"/>
              </a:rPr>
              <a:t> </a:t>
            </a:r>
            <a:r>
              <a:rPr sz="2133" spc="-40" dirty="0">
                <a:latin typeface="Tahoma"/>
                <a:cs typeface="Tahoma"/>
              </a:rPr>
              <a:t>r0,</a:t>
            </a:r>
            <a:r>
              <a:rPr sz="2133" spc="-113" dirty="0">
                <a:latin typeface="Tahoma"/>
                <a:cs typeface="Tahoma"/>
              </a:rPr>
              <a:t> </a:t>
            </a:r>
            <a:r>
              <a:rPr sz="2133" spc="-133" dirty="0">
                <a:latin typeface="Tahoma"/>
                <a:cs typeface="Tahoma"/>
              </a:rPr>
              <a:t>[r1]</a:t>
            </a:r>
            <a:endParaRPr sz="2133">
              <a:latin typeface="Tahoma"/>
              <a:cs typeface="Tahoma"/>
            </a:endParaRPr>
          </a:p>
          <a:p>
            <a:pPr marL="1744090">
              <a:lnSpc>
                <a:spcPts val="2552"/>
              </a:lnSpc>
            </a:pPr>
            <a:r>
              <a:rPr sz="2133" spc="-213" dirty="0">
                <a:latin typeface="Tahoma"/>
                <a:cs typeface="Tahoma"/>
              </a:rPr>
              <a:t>I</a:t>
            </a:r>
            <a:r>
              <a:rPr sz="2133" spc="-13" dirty="0">
                <a:latin typeface="Tahoma"/>
                <a:cs typeface="Tahoma"/>
              </a:rPr>
              <a:t>m</a:t>
            </a:r>
            <a:r>
              <a:rPr sz="2133" spc="-7" dirty="0">
                <a:latin typeface="Tahoma"/>
                <a:cs typeface="Tahoma"/>
              </a:rPr>
              <a:t>p</a:t>
            </a:r>
            <a:r>
              <a:rPr sz="2133" spc="-20" dirty="0">
                <a:latin typeface="Tahoma"/>
                <a:cs typeface="Tahoma"/>
              </a:rPr>
              <a:t>l</a:t>
            </a:r>
            <a:r>
              <a:rPr sz="2133" spc="13" dirty="0">
                <a:latin typeface="Tahoma"/>
                <a:cs typeface="Tahoma"/>
              </a:rPr>
              <a:t>em</a:t>
            </a:r>
            <a:r>
              <a:rPr sz="2133" spc="-33" dirty="0">
                <a:latin typeface="Tahoma"/>
                <a:cs typeface="Tahoma"/>
              </a:rPr>
              <a:t>ent</a:t>
            </a:r>
            <a:r>
              <a:rPr sz="2133" spc="120" dirty="0">
                <a:latin typeface="Tahoma"/>
                <a:cs typeface="Tahoma"/>
              </a:rPr>
              <a:t>s</a:t>
            </a:r>
            <a:r>
              <a:rPr sz="2133" spc="-167" dirty="0">
                <a:latin typeface="Tahoma"/>
                <a:cs typeface="Tahoma"/>
              </a:rPr>
              <a:t>: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0</a:t>
            </a:r>
            <a:r>
              <a:rPr sz="2133" spc="-87" dirty="0">
                <a:latin typeface="Tahoma"/>
                <a:cs typeface="Tahoma"/>
              </a:rPr>
              <a:t> </a:t>
            </a:r>
            <a:r>
              <a:rPr sz="2133" spc="-305" dirty="0">
                <a:latin typeface="Tahoma"/>
                <a:cs typeface="Tahoma"/>
              </a:rPr>
              <a:t>=</a:t>
            </a:r>
            <a:r>
              <a:rPr sz="2133" spc="-80" dirty="0">
                <a:latin typeface="Tahoma"/>
                <a:cs typeface="Tahoma"/>
              </a:rPr>
              <a:t> </a:t>
            </a:r>
            <a:r>
              <a:rPr sz="2133" spc="-333" dirty="0">
                <a:latin typeface="Tahoma"/>
                <a:cs typeface="Tahoma"/>
              </a:rPr>
              <a:t>*</a:t>
            </a:r>
            <a:r>
              <a:rPr sz="2133" spc="-67" dirty="0">
                <a:latin typeface="Tahoma"/>
                <a:cs typeface="Tahoma"/>
              </a:rPr>
              <a:t>r</a:t>
            </a:r>
            <a:r>
              <a:rPr sz="2133" spc="20" dirty="0">
                <a:latin typeface="Tahoma"/>
                <a:cs typeface="Tahoma"/>
              </a:rPr>
              <a:t>1</a:t>
            </a:r>
            <a:endParaRPr sz="2133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9652845" cy="166133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667" spc="13" dirty="0">
                <a:latin typeface="Tahoma"/>
                <a:cs typeface="Tahoma"/>
              </a:rPr>
              <a:t>Load/Store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spc="-13" dirty="0">
                <a:latin typeface="Tahoma"/>
                <a:cs typeface="Tahoma"/>
              </a:rPr>
              <a:t>instruction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20" dirty="0">
                <a:latin typeface="Tahoma"/>
                <a:cs typeface="Tahoma"/>
              </a:rPr>
              <a:t>set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87" dirty="0">
                <a:latin typeface="Tahoma"/>
                <a:cs typeface="Tahoma"/>
              </a:rPr>
              <a:t>-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93" dirty="0">
                <a:latin typeface="Tahoma"/>
                <a:cs typeface="Tahoma"/>
              </a:rPr>
              <a:t>No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direct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manipulation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33" dirty="0">
                <a:latin typeface="Tahoma"/>
                <a:cs typeface="Tahoma"/>
              </a:rPr>
              <a:t>of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dirty="0">
                <a:latin typeface="Tahoma"/>
                <a:cs typeface="Tahoma"/>
              </a:rPr>
              <a:t>memory</a:t>
            </a:r>
            <a:endParaRPr sz="2667">
              <a:latin typeface="Tahoma"/>
              <a:cs typeface="Tahoma"/>
            </a:endParaRPr>
          </a:p>
          <a:p>
            <a:pPr>
              <a:spcBef>
                <a:spcPts val="60"/>
              </a:spcBef>
            </a:pPr>
            <a:endParaRPr sz="2600">
              <a:latin typeface="Tahoma"/>
              <a:cs typeface="Tahoma"/>
            </a:endParaRPr>
          </a:p>
          <a:p>
            <a:pPr marL="1642492"/>
            <a:r>
              <a:rPr sz="2667" spc="180" dirty="0">
                <a:latin typeface="Tahoma"/>
                <a:cs typeface="Tahoma"/>
              </a:rPr>
              <a:t>LDR</a:t>
            </a:r>
            <a:r>
              <a:rPr sz="2667" spc="-133" dirty="0">
                <a:latin typeface="Tahoma"/>
                <a:cs typeface="Tahoma"/>
              </a:rPr>
              <a:t> </a:t>
            </a:r>
            <a:r>
              <a:rPr sz="2667" spc="-40" dirty="0">
                <a:latin typeface="Tahoma"/>
                <a:cs typeface="Tahoma"/>
              </a:rPr>
              <a:t>r0,</a:t>
            </a:r>
            <a:r>
              <a:rPr sz="2667" spc="-147" dirty="0">
                <a:latin typeface="Tahoma"/>
                <a:cs typeface="Tahoma"/>
              </a:rPr>
              <a:t> </a:t>
            </a:r>
            <a:r>
              <a:rPr sz="2667" spc="-152" dirty="0">
                <a:latin typeface="Tahoma"/>
                <a:cs typeface="Tahoma"/>
              </a:rPr>
              <a:t>[r1]</a:t>
            </a:r>
            <a:endParaRPr sz="2667">
              <a:latin typeface="Tahoma"/>
              <a:cs typeface="Tahoma"/>
            </a:endParaRPr>
          </a:p>
          <a:p>
            <a:pPr marL="1642492"/>
            <a:r>
              <a:rPr sz="2667" spc="-272" dirty="0">
                <a:latin typeface="Tahoma"/>
                <a:cs typeface="Tahoma"/>
              </a:rPr>
              <a:t>I</a:t>
            </a:r>
            <a:r>
              <a:rPr sz="2667" spc="-20" dirty="0">
                <a:latin typeface="Tahoma"/>
                <a:cs typeface="Tahoma"/>
              </a:rPr>
              <a:t>m</a:t>
            </a:r>
            <a:r>
              <a:rPr sz="2667" spc="13" dirty="0">
                <a:latin typeface="Tahoma"/>
                <a:cs typeface="Tahoma"/>
              </a:rPr>
              <a:t>p</a:t>
            </a:r>
            <a:r>
              <a:rPr sz="2667" spc="-27" dirty="0">
                <a:latin typeface="Tahoma"/>
                <a:cs typeface="Tahoma"/>
              </a:rPr>
              <a:t>l</a:t>
            </a:r>
            <a:r>
              <a:rPr sz="2667" spc="67" dirty="0">
                <a:latin typeface="Tahoma"/>
                <a:cs typeface="Tahoma"/>
              </a:rPr>
              <a:t>e</a:t>
            </a:r>
            <a:r>
              <a:rPr sz="2667" spc="-20" dirty="0">
                <a:latin typeface="Tahoma"/>
                <a:cs typeface="Tahoma"/>
              </a:rPr>
              <a:t>m</a:t>
            </a:r>
            <a:r>
              <a:rPr sz="2667" spc="80" dirty="0">
                <a:latin typeface="Tahoma"/>
                <a:cs typeface="Tahoma"/>
              </a:rPr>
              <a:t>e</a:t>
            </a:r>
            <a:r>
              <a:rPr sz="2667" spc="-13" dirty="0">
                <a:latin typeface="Tahoma"/>
                <a:cs typeface="Tahoma"/>
              </a:rPr>
              <a:t>n</a:t>
            </a:r>
            <a:r>
              <a:rPr sz="2667" spc="-152" dirty="0">
                <a:latin typeface="Tahoma"/>
                <a:cs typeface="Tahoma"/>
              </a:rPr>
              <a:t>t</a:t>
            </a:r>
            <a:r>
              <a:rPr sz="2667" spc="-33" dirty="0">
                <a:latin typeface="Tahoma"/>
                <a:cs typeface="Tahoma"/>
              </a:rPr>
              <a:t>s: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spc="27" dirty="0">
                <a:latin typeface="Tahoma"/>
                <a:cs typeface="Tahoma"/>
              </a:rPr>
              <a:t>0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387" dirty="0">
                <a:latin typeface="Tahoma"/>
                <a:cs typeface="Tahoma"/>
              </a:rPr>
              <a:t>=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305" dirty="0">
                <a:latin typeface="Tahoma"/>
                <a:cs typeface="Tahoma"/>
              </a:rPr>
              <a:t>*</a:t>
            </a:r>
            <a:r>
              <a:rPr sz="2667" spc="-200" dirty="0">
                <a:latin typeface="Tahoma"/>
                <a:cs typeface="Tahoma"/>
              </a:rPr>
              <a:t>r</a:t>
            </a:r>
            <a:r>
              <a:rPr sz="2667" spc="27" dirty="0">
                <a:latin typeface="Tahoma"/>
                <a:cs typeface="Tahoma"/>
              </a:rPr>
              <a:t>1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3692" y="3367801"/>
            <a:ext cx="23876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latin typeface="Tahoma"/>
                <a:cs typeface="Tahoma"/>
              </a:rPr>
              <a:t>●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26" y="3388120"/>
            <a:ext cx="331300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100" dirty="0">
                <a:latin typeface="Tahoma"/>
                <a:cs typeface="Tahoma"/>
              </a:rPr>
              <a:t>Pre</a:t>
            </a:r>
            <a:r>
              <a:rPr sz="2667" spc="-127" dirty="0">
                <a:latin typeface="Tahoma"/>
                <a:cs typeface="Tahoma"/>
              </a:rPr>
              <a:t> </a:t>
            </a:r>
            <a:r>
              <a:rPr sz="2667" spc="27" dirty="0">
                <a:latin typeface="Tahoma"/>
                <a:cs typeface="Tahoma"/>
              </a:rPr>
              <a:t>and</a:t>
            </a:r>
            <a:r>
              <a:rPr sz="2667" spc="-120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post</a:t>
            </a:r>
            <a:r>
              <a:rPr sz="2667" spc="-127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indexing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3292" y="3794521"/>
            <a:ext cx="8849360" cy="8379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91054" indent="-474121">
              <a:spcBef>
                <a:spcPts val="133"/>
              </a:spcBef>
              <a:buChar char="○"/>
              <a:tabLst>
                <a:tab pos="490208" algn="l"/>
                <a:tab pos="491054" algn="l"/>
              </a:tabLst>
            </a:pPr>
            <a:r>
              <a:rPr sz="2667" spc="33" dirty="0">
                <a:latin typeface="Tahoma"/>
                <a:cs typeface="Tahoma"/>
              </a:rPr>
              <a:t>Pre-index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-60" dirty="0">
                <a:latin typeface="Tahoma"/>
                <a:cs typeface="Tahoma"/>
              </a:rPr>
              <a:t>with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47" dirty="0">
                <a:latin typeface="Tahoma"/>
                <a:cs typeface="Tahoma"/>
              </a:rPr>
              <a:t>write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dirty="0">
                <a:latin typeface="Tahoma"/>
                <a:cs typeface="Tahoma"/>
              </a:rPr>
              <a:t>back:</a:t>
            </a:r>
            <a:r>
              <a:rPr sz="2667" spc="-120" dirty="0">
                <a:latin typeface="Tahoma"/>
                <a:cs typeface="Tahoma"/>
              </a:rPr>
              <a:t> </a:t>
            </a:r>
            <a:r>
              <a:rPr sz="2667" spc="180" dirty="0">
                <a:latin typeface="Tahoma"/>
                <a:cs typeface="Tahoma"/>
              </a:rPr>
              <a:t>LDR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-127" dirty="0">
                <a:latin typeface="Tahoma"/>
                <a:cs typeface="Tahoma"/>
              </a:rPr>
              <a:t>r0,[r1,#4]</a:t>
            </a:r>
            <a:endParaRPr sz="2667">
              <a:latin typeface="Tahoma"/>
              <a:cs typeface="Tahoma"/>
            </a:endParaRPr>
          </a:p>
          <a:p>
            <a:pPr marL="1100639" lvl="1" indent="-474121">
              <a:buChar char="■"/>
              <a:tabLst>
                <a:tab pos="1099793" algn="l"/>
                <a:tab pos="1100639" algn="l"/>
              </a:tabLst>
            </a:pPr>
            <a:r>
              <a:rPr sz="2667" spc="33" dirty="0">
                <a:latin typeface="Tahoma"/>
                <a:cs typeface="Tahoma"/>
              </a:rPr>
              <a:t>Update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33" dirty="0">
                <a:latin typeface="Tahoma"/>
                <a:cs typeface="Tahoma"/>
              </a:rPr>
              <a:t>the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53" dirty="0">
                <a:latin typeface="Tahoma"/>
                <a:cs typeface="Tahoma"/>
              </a:rPr>
              <a:t>address</a:t>
            </a:r>
            <a:r>
              <a:rPr sz="2667" spc="-87" dirty="0">
                <a:latin typeface="Tahoma"/>
                <a:cs typeface="Tahoma"/>
              </a:rPr>
              <a:t> </a:t>
            </a:r>
            <a:r>
              <a:rPr sz="2667" spc="80" dirty="0">
                <a:latin typeface="Tahoma"/>
                <a:cs typeface="Tahoma"/>
              </a:rPr>
              <a:t>base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register</a:t>
            </a:r>
            <a:r>
              <a:rPr sz="2667" spc="-80" dirty="0">
                <a:latin typeface="Tahoma"/>
                <a:cs typeface="Tahoma"/>
              </a:rPr>
              <a:t> </a:t>
            </a:r>
            <a:r>
              <a:rPr sz="2667" spc="-67" dirty="0">
                <a:latin typeface="Tahoma"/>
                <a:cs typeface="Tahoma"/>
              </a:rPr>
              <a:t>with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7" dirty="0">
                <a:latin typeface="Tahoma"/>
                <a:cs typeface="Tahoma"/>
              </a:rPr>
              <a:t>new</a:t>
            </a:r>
            <a:r>
              <a:rPr sz="2667" spc="-80" dirty="0">
                <a:latin typeface="Tahoma"/>
                <a:cs typeface="Tahoma"/>
              </a:rPr>
              <a:t> </a:t>
            </a:r>
            <a:r>
              <a:rPr sz="2667" spc="53" dirty="0">
                <a:latin typeface="Tahoma"/>
                <a:cs typeface="Tahoma"/>
              </a:rPr>
              <a:t>address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3292" y="4588694"/>
            <a:ext cx="238760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dirty="0">
                <a:latin typeface="Tahoma"/>
                <a:cs typeface="Tahoma"/>
              </a:rPr>
              <a:t>○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7426" y="4607320"/>
            <a:ext cx="3933613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667" spc="80" dirty="0">
                <a:latin typeface="Tahoma"/>
                <a:cs typeface="Tahoma"/>
              </a:rPr>
              <a:t>Post</a:t>
            </a:r>
            <a:r>
              <a:rPr sz="2667" spc="-133" dirty="0">
                <a:latin typeface="Tahoma"/>
                <a:cs typeface="Tahoma"/>
              </a:rPr>
              <a:t> </a:t>
            </a:r>
            <a:r>
              <a:rPr sz="2667" spc="-20" dirty="0">
                <a:latin typeface="Tahoma"/>
                <a:cs typeface="Tahoma"/>
              </a:rPr>
              <a:t>index:</a:t>
            </a:r>
            <a:r>
              <a:rPr sz="2667" spc="-133" dirty="0">
                <a:latin typeface="Tahoma"/>
                <a:cs typeface="Tahoma"/>
              </a:rPr>
              <a:t> </a:t>
            </a:r>
            <a:r>
              <a:rPr sz="2667" spc="180" dirty="0">
                <a:latin typeface="Tahoma"/>
                <a:cs typeface="Tahoma"/>
              </a:rPr>
              <a:t>LDR</a:t>
            </a:r>
            <a:r>
              <a:rPr sz="2667" spc="-120" dirty="0">
                <a:latin typeface="Tahoma"/>
                <a:cs typeface="Tahoma"/>
              </a:rPr>
              <a:t> </a:t>
            </a:r>
            <a:r>
              <a:rPr sz="2667" spc="-127" dirty="0">
                <a:latin typeface="Tahoma"/>
                <a:cs typeface="Tahoma"/>
              </a:rPr>
              <a:t>r0,[r1],#4</a:t>
            </a:r>
            <a:endParaRPr sz="266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2892" y="5013720"/>
            <a:ext cx="793834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91054" indent="-474121">
              <a:spcBef>
                <a:spcPts val="133"/>
              </a:spcBef>
              <a:buChar char="■"/>
              <a:tabLst>
                <a:tab pos="490208" algn="l"/>
                <a:tab pos="491054" algn="l"/>
              </a:tabLst>
            </a:pPr>
            <a:r>
              <a:rPr sz="2667" spc="33" dirty="0">
                <a:latin typeface="Tahoma"/>
                <a:cs typeface="Tahoma"/>
              </a:rPr>
              <a:t>Update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33" dirty="0">
                <a:latin typeface="Tahoma"/>
                <a:cs typeface="Tahoma"/>
              </a:rPr>
              <a:t>the</a:t>
            </a:r>
            <a:r>
              <a:rPr sz="2667" spc="-107" dirty="0">
                <a:latin typeface="Tahoma"/>
                <a:cs typeface="Tahoma"/>
              </a:rPr>
              <a:t> </a:t>
            </a:r>
            <a:r>
              <a:rPr sz="2667" spc="53" dirty="0">
                <a:latin typeface="Tahoma"/>
                <a:cs typeface="Tahoma"/>
              </a:rPr>
              <a:t>address</a:t>
            </a:r>
            <a:r>
              <a:rPr sz="2667" spc="-87" dirty="0">
                <a:latin typeface="Tahoma"/>
                <a:cs typeface="Tahoma"/>
              </a:rPr>
              <a:t> </a:t>
            </a:r>
            <a:r>
              <a:rPr sz="2667" spc="-7" dirty="0">
                <a:latin typeface="Tahoma"/>
                <a:cs typeface="Tahoma"/>
              </a:rPr>
              <a:t>register</a:t>
            </a:r>
            <a:r>
              <a:rPr sz="2667" spc="-87" dirty="0">
                <a:latin typeface="Tahoma"/>
                <a:cs typeface="Tahoma"/>
              </a:rPr>
              <a:t> </a:t>
            </a:r>
            <a:r>
              <a:rPr sz="2667" spc="-40" dirty="0">
                <a:latin typeface="Tahoma"/>
                <a:cs typeface="Tahoma"/>
              </a:rPr>
              <a:t>after</a:t>
            </a:r>
            <a:r>
              <a:rPr sz="2667" spc="-80" dirty="0">
                <a:latin typeface="Tahoma"/>
                <a:cs typeface="Tahoma"/>
              </a:rPr>
              <a:t> </a:t>
            </a:r>
            <a:r>
              <a:rPr sz="2667" spc="53" dirty="0">
                <a:latin typeface="Tahoma"/>
                <a:cs typeface="Tahoma"/>
              </a:rPr>
              <a:t>address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60" dirty="0">
                <a:latin typeface="Tahoma"/>
                <a:cs typeface="Tahoma"/>
              </a:rPr>
              <a:t>is</a:t>
            </a:r>
            <a:r>
              <a:rPr sz="2667" spc="-87" dirty="0">
                <a:latin typeface="Tahoma"/>
                <a:cs typeface="Tahoma"/>
              </a:rPr>
              <a:t> </a:t>
            </a:r>
            <a:r>
              <a:rPr sz="2667" spc="53" dirty="0">
                <a:latin typeface="Tahoma"/>
                <a:cs typeface="Tahoma"/>
              </a:rPr>
              <a:t>used</a:t>
            </a:r>
            <a:endParaRPr sz="2667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5959" y="1354427"/>
            <a:ext cx="9988127" cy="22741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0256">
              <a:spcBef>
                <a:spcPts val="133"/>
              </a:spcBef>
              <a:buChar char="●"/>
              <a:tabLst>
                <a:tab pos="456342" algn="l"/>
                <a:tab pos="457189" algn="l"/>
              </a:tabLst>
            </a:pPr>
            <a:r>
              <a:rPr sz="2667" spc="-40" dirty="0">
                <a:latin typeface="Tahoma"/>
                <a:cs typeface="Tahoma"/>
              </a:rPr>
              <a:t>Instruction</a:t>
            </a:r>
            <a:r>
              <a:rPr sz="2667" spc="-133" dirty="0">
                <a:latin typeface="Tahoma"/>
                <a:cs typeface="Tahoma"/>
              </a:rPr>
              <a:t> </a:t>
            </a:r>
            <a:r>
              <a:rPr sz="2667" spc="27" dirty="0">
                <a:latin typeface="Tahoma"/>
                <a:cs typeface="Tahoma"/>
              </a:rPr>
              <a:t>set</a:t>
            </a:r>
            <a:endParaRPr sz="2667">
              <a:latin typeface="Tahoma"/>
              <a:cs typeface="Tahoma"/>
            </a:endParaRPr>
          </a:p>
          <a:p>
            <a:pPr marL="964329" marR="6773" lvl="1" indent="-406390">
              <a:buChar char="○"/>
              <a:tabLst>
                <a:tab pos="964329" algn="l"/>
                <a:tab pos="965176" algn="l"/>
              </a:tabLst>
            </a:pPr>
            <a:r>
              <a:rPr sz="2400" spc="13" dirty="0">
                <a:latin typeface="Tahoma"/>
                <a:cs typeface="Tahoma"/>
              </a:rPr>
              <a:t>Conditional </a:t>
            </a:r>
            <a:r>
              <a:rPr sz="2400" spc="7" dirty="0">
                <a:latin typeface="Tahoma"/>
                <a:cs typeface="Tahoma"/>
              </a:rPr>
              <a:t>execution </a:t>
            </a:r>
            <a:r>
              <a:rPr sz="2400" spc="-73" dirty="0">
                <a:latin typeface="Tahoma"/>
                <a:cs typeface="Tahoma"/>
              </a:rPr>
              <a:t>- </a:t>
            </a:r>
            <a:r>
              <a:rPr sz="2400" spc="173" dirty="0">
                <a:latin typeface="Tahoma"/>
                <a:cs typeface="Tahoma"/>
              </a:rPr>
              <a:t>ARM </a:t>
            </a:r>
            <a:r>
              <a:rPr sz="2400" spc="-7" dirty="0">
                <a:latin typeface="Tahoma"/>
                <a:cs typeface="Tahoma"/>
              </a:rPr>
              <a:t>instructions </a:t>
            </a:r>
            <a:r>
              <a:rPr sz="2400" spc="47" dirty="0">
                <a:latin typeface="Tahoma"/>
                <a:cs typeface="Tahoma"/>
              </a:rPr>
              <a:t>can </a:t>
            </a:r>
            <a:r>
              <a:rPr sz="2400" spc="33" dirty="0">
                <a:latin typeface="Tahoma"/>
                <a:cs typeface="Tahoma"/>
              </a:rPr>
              <a:t>be </a:t>
            </a:r>
            <a:r>
              <a:rPr sz="2400" spc="27" dirty="0">
                <a:latin typeface="Tahoma"/>
                <a:cs typeface="Tahoma"/>
              </a:rPr>
              <a:t>made </a:t>
            </a:r>
            <a:r>
              <a:rPr sz="2400" spc="-60" dirty="0">
                <a:latin typeface="Tahoma"/>
                <a:cs typeface="Tahoma"/>
              </a:rPr>
              <a:t>to </a:t>
            </a:r>
            <a:r>
              <a:rPr sz="2400" spc="13" dirty="0">
                <a:latin typeface="Tahoma"/>
                <a:cs typeface="Tahoma"/>
              </a:rPr>
              <a:t>execute 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conditionally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by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postfixing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them</a:t>
            </a:r>
            <a:r>
              <a:rPr sz="2400" spc="-60" dirty="0">
                <a:latin typeface="Tahoma"/>
                <a:cs typeface="Tahoma"/>
              </a:rPr>
              <a:t> with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appropriate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condition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code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field.</a:t>
            </a:r>
            <a:endParaRPr sz="2400">
              <a:latin typeface="Tahoma"/>
              <a:cs typeface="Tahoma"/>
            </a:endParaRPr>
          </a:p>
          <a:p>
            <a:pPr marL="1473163" marR="273465" lvl="2" indent="-406390">
              <a:buChar char="■"/>
              <a:tabLst>
                <a:tab pos="1472317" algn="l"/>
                <a:tab pos="1473163" algn="l"/>
              </a:tabLst>
            </a:pPr>
            <a:r>
              <a:rPr sz="2400" spc="33" dirty="0">
                <a:latin typeface="Tahoma"/>
                <a:cs typeface="Tahoma"/>
              </a:rPr>
              <a:t>This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improves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code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density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performance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by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reducing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number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of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forward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branch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instructions.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006" y="3898469"/>
            <a:ext cx="7207348" cy="10304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74819" y="5377005"/>
            <a:ext cx="5590156" cy="1062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4724400" cy="207176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667" spc="33" dirty="0">
                <a:latin typeface="Tahoma"/>
                <a:cs typeface="Tahoma"/>
              </a:rPr>
              <a:t>Store</a:t>
            </a:r>
            <a:r>
              <a:rPr sz="2667" spc="-120" dirty="0">
                <a:latin typeface="Tahoma"/>
                <a:cs typeface="Tahoma"/>
              </a:rPr>
              <a:t> </a:t>
            </a:r>
            <a:r>
              <a:rPr sz="2667" spc="-60" dirty="0">
                <a:latin typeface="Tahoma"/>
                <a:cs typeface="Tahoma"/>
              </a:rPr>
              <a:t>with</a:t>
            </a:r>
            <a:r>
              <a:rPr sz="2667" spc="-113" dirty="0">
                <a:latin typeface="Tahoma"/>
                <a:cs typeface="Tahoma"/>
              </a:rPr>
              <a:t> </a:t>
            </a:r>
            <a:r>
              <a:rPr sz="2667" dirty="0">
                <a:latin typeface="Tahoma"/>
                <a:cs typeface="Tahoma"/>
              </a:rPr>
              <a:t>conditional</a:t>
            </a:r>
            <a:endParaRPr sz="2667">
              <a:latin typeface="Tahoma"/>
              <a:cs typeface="Tahoma"/>
            </a:endParaRPr>
          </a:p>
          <a:p>
            <a:pPr marL="1185304"/>
            <a:r>
              <a:rPr sz="2667" spc="207" dirty="0">
                <a:latin typeface="Tahoma"/>
                <a:cs typeface="Tahoma"/>
              </a:rPr>
              <a:t>STRNEB</a:t>
            </a:r>
            <a:r>
              <a:rPr sz="2667" spc="-127" dirty="0">
                <a:latin typeface="Tahoma"/>
                <a:cs typeface="Tahoma"/>
              </a:rPr>
              <a:t> </a:t>
            </a:r>
            <a:r>
              <a:rPr sz="2667" spc="-40" dirty="0">
                <a:latin typeface="Tahoma"/>
                <a:cs typeface="Tahoma"/>
              </a:rPr>
              <a:t>r2,</a:t>
            </a:r>
            <a:r>
              <a:rPr sz="2667" spc="-140" dirty="0">
                <a:latin typeface="Tahoma"/>
                <a:cs typeface="Tahoma"/>
              </a:rPr>
              <a:t> </a:t>
            </a:r>
            <a:r>
              <a:rPr sz="2667" spc="-107" dirty="0">
                <a:latin typeface="Tahoma"/>
                <a:cs typeface="Tahoma"/>
              </a:rPr>
              <a:t>[r3,r4]</a:t>
            </a:r>
            <a:endParaRPr sz="2667">
              <a:latin typeface="Tahoma"/>
              <a:cs typeface="Tahoma"/>
            </a:endParaRPr>
          </a:p>
          <a:p>
            <a:pPr>
              <a:spcBef>
                <a:spcPts val="60"/>
              </a:spcBef>
            </a:pPr>
            <a:endParaRPr sz="2600">
              <a:latin typeface="Tahoma"/>
              <a:cs typeface="Tahoma"/>
            </a:endParaRPr>
          </a:p>
          <a:p>
            <a:pPr marL="1185304"/>
            <a:r>
              <a:rPr sz="2667" spc="-33" dirty="0">
                <a:latin typeface="Tahoma"/>
                <a:cs typeface="Tahoma"/>
              </a:rPr>
              <a:t>Implements:</a:t>
            </a:r>
            <a:endParaRPr sz="2667">
              <a:latin typeface="Tahoma"/>
              <a:cs typeface="Tahoma"/>
            </a:endParaRPr>
          </a:p>
          <a:p>
            <a:pPr marL="1693291">
              <a:spcBef>
                <a:spcPts val="13"/>
              </a:spcBef>
              <a:tabLst>
                <a:tab pos="2857429" algn="l"/>
              </a:tabLst>
            </a:pPr>
            <a:r>
              <a:rPr sz="2667" spc="-272" dirty="0">
                <a:latin typeface="Tahoma"/>
                <a:cs typeface="Tahoma"/>
              </a:rPr>
              <a:t>I</a:t>
            </a:r>
            <a:r>
              <a:rPr sz="2667" spc="-113" dirty="0">
                <a:latin typeface="Tahoma"/>
                <a:cs typeface="Tahoma"/>
              </a:rPr>
              <a:t>f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133" dirty="0">
                <a:latin typeface="Tahoma"/>
                <a:cs typeface="Tahoma"/>
              </a:rPr>
              <a:t>(</a:t>
            </a:r>
            <a:r>
              <a:rPr sz="2667" spc="140" dirty="0">
                <a:latin typeface="Tahoma"/>
                <a:cs typeface="Tahoma"/>
              </a:rPr>
              <a:t>N</a:t>
            </a:r>
            <a:r>
              <a:rPr sz="2667" spc="272" dirty="0">
                <a:latin typeface="Tahoma"/>
                <a:cs typeface="Tahoma"/>
              </a:rPr>
              <a:t>E</a:t>
            </a:r>
            <a:r>
              <a:rPr sz="2667" spc="-133" dirty="0">
                <a:latin typeface="Tahoma"/>
                <a:cs typeface="Tahoma"/>
              </a:rPr>
              <a:t>)</a:t>
            </a:r>
            <a:r>
              <a:rPr sz="2667" dirty="0">
                <a:latin typeface="Tahoma"/>
                <a:cs typeface="Tahoma"/>
              </a:rPr>
              <a:t>	</a:t>
            </a:r>
            <a:r>
              <a:rPr sz="2667" spc="-333" dirty="0">
                <a:latin typeface="Tahoma"/>
                <a:cs typeface="Tahoma"/>
              </a:rPr>
              <a:t>*</a:t>
            </a:r>
            <a:r>
              <a:rPr sz="2667" spc="-233" dirty="0">
                <a:latin typeface="Tahoma"/>
                <a:cs typeface="Tahoma"/>
              </a:rPr>
              <a:t>(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spc="33" dirty="0">
                <a:latin typeface="Tahoma"/>
                <a:cs typeface="Tahoma"/>
              </a:rPr>
              <a:t>3</a:t>
            </a:r>
            <a:r>
              <a:rPr sz="2667" spc="-373" dirty="0">
                <a:latin typeface="Tahoma"/>
                <a:cs typeface="Tahoma"/>
              </a:rPr>
              <a:t>+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spc="33" dirty="0">
                <a:latin typeface="Tahoma"/>
                <a:cs typeface="Tahoma"/>
              </a:rPr>
              <a:t>4</a:t>
            </a:r>
            <a:r>
              <a:rPr sz="2667" spc="-133" dirty="0">
                <a:latin typeface="Tahoma"/>
                <a:cs typeface="Tahoma"/>
              </a:rPr>
              <a:t>)</a:t>
            </a:r>
            <a:r>
              <a:rPr sz="2667" spc="-100" dirty="0">
                <a:latin typeface="Tahoma"/>
                <a:cs typeface="Tahoma"/>
              </a:rPr>
              <a:t> </a:t>
            </a:r>
            <a:r>
              <a:rPr sz="2667" spc="-387" dirty="0">
                <a:latin typeface="Tahoma"/>
                <a:cs typeface="Tahoma"/>
              </a:rPr>
              <a:t>=</a:t>
            </a:r>
            <a:r>
              <a:rPr sz="2667" spc="-93" dirty="0">
                <a:latin typeface="Tahoma"/>
                <a:cs typeface="Tahoma"/>
              </a:rPr>
              <a:t> </a:t>
            </a:r>
            <a:r>
              <a:rPr sz="2667" spc="-73" dirty="0">
                <a:latin typeface="Tahoma"/>
                <a:cs typeface="Tahoma"/>
              </a:rPr>
              <a:t>r</a:t>
            </a:r>
            <a:r>
              <a:rPr sz="2667" spc="27" dirty="0">
                <a:latin typeface="Tahoma"/>
                <a:cs typeface="Tahoma"/>
              </a:rPr>
              <a:t>2</a:t>
            </a:r>
            <a:endParaRPr sz="2667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95959" y="1354427"/>
            <a:ext cx="337904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40256">
              <a:spcBef>
                <a:spcPts val="133"/>
              </a:spcBef>
              <a:buChar char="●"/>
              <a:tabLst>
                <a:tab pos="456342" algn="l"/>
                <a:tab pos="457189" algn="l"/>
              </a:tabLst>
            </a:pPr>
            <a:r>
              <a:rPr sz="2400" spc="13" dirty="0">
                <a:latin typeface="Tahoma"/>
                <a:cs typeface="Tahoma"/>
              </a:rPr>
              <a:t>Conditional</a:t>
            </a:r>
            <a:r>
              <a:rPr sz="2400" spc="-1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execution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889" y="2098238"/>
            <a:ext cx="8693808" cy="4169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9997440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20" dirty="0"/>
              <a:t>Microcontrollers</a:t>
            </a:r>
            <a:r>
              <a:rPr sz="4000" spc="-147" dirty="0"/>
              <a:t> </a:t>
            </a:r>
            <a:r>
              <a:rPr sz="4000" spc="-127" dirty="0"/>
              <a:t>-</a:t>
            </a:r>
            <a:r>
              <a:rPr sz="4000" spc="-373" dirty="0"/>
              <a:t> </a:t>
            </a:r>
            <a:r>
              <a:rPr sz="4000" spc="305" dirty="0"/>
              <a:t>ARM</a:t>
            </a:r>
            <a:r>
              <a:rPr sz="4000" spc="-152" dirty="0"/>
              <a:t> </a:t>
            </a:r>
            <a:r>
              <a:rPr sz="4000" spc="33" dirty="0"/>
              <a:t>Programmer's</a:t>
            </a:r>
            <a:r>
              <a:rPr sz="4000" spc="-160" dirty="0"/>
              <a:t> </a:t>
            </a:r>
            <a:r>
              <a:rPr sz="4000" spc="73" dirty="0"/>
              <a:t>Model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40411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  <a:tab pos="3180000" algn="l"/>
              </a:tabLst>
            </a:pPr>
            <a:r>
              <a:rPr sz="2400" spc="7" dirty="0">
                <a:latin typeface="Tahoma"/>
                <a:cs typeface="Tahoma"/>
              </a:rPr>
              <a:t>Th</a:t>
            </a:r>
            <a:r>
              <a:rPr sz="2400" spc="-7" dirty="0">
                <a:latin typeface="Tahoma"/>
                <a:cs typeface="Tahoma"/>
              </a:rPr>
              <a:t>umb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In</a:t>
            </a:r>
            <a:r>
              <a:rPr sz="2400" spc="-60" dirty="0">
                <a:latin typeface="Tahoma"/>
                <a:cs typeface="Tahoma"/>
              </a:rPr>
              <a:t>s</a:t>
            </a:r>
            <a:r>
              <a:rPr sz="2400" spc="-133" dirty="0">
                <a:latin typeface="Tahoma"/>
                <a:cs typeface="Tahoma"/>
              </a:rPr>
              <a:t>t</a:t>
            </a:r>
            <a:r>
              <a:rPr sz="2400" spc="-33" dirty="0">
                <a:latin typeface="Tahoma"/>
                <a:cs typeface="Tahoma"/>
              </a:rPr>
              <a:t>r</a:t>
            </a:r>
            <a:r>
              <a:rPr sz="2400" spc="-67" dirty="0">
                <a:latin typeface="Tahoma"/>
                <a:cs typeface="Tahoma"/>
              </a:rPr>
              <a:t>u</a:t>
            </a:r>
            <a:r>
              <a:rPr sz="2400" spc="93" dirty="0">
                <a:latin typeface="Tahoma"/>
                <a:cs typeface="Tahoma"/>
              </a:rPr>
              <a:t>c</a:t>
            </a:r>
            <a:r>
              <a:rPr sz="2400" spc="-100" dirty="0">
                <a:latin typeface="Tahoma"/>
                <a:cs typeface="Tahoma"/>
              </a:rPr>
              <a:t>t</a:t>
            </a:r>
            <a:r>
              <a:rPr sz="2400" spc="-87" dirty="0">
                <a:latin typeface="Tahoma"/>
                <a:cs typeface="Tahoma"/>
              </a:rPr>
              <a:t>i</a:t>
            </a:r>
            <a:r>
              <a:rPr sz="2400" spc="47" dirty="0">
                <a:latin typeface="Tahoma"/>
                <a:cs typeface="Tahoma"/>
              </a:rPr>
              <a:t>on</a:t>
            </a:r>
            <a:r>
              <a:rPr sz="2400" spc="40" dirty="0">
                <a:latin typeface="Tahoma"/>
                <a:cs typeface="Tahoma"/>
              </a:rPr>
              <a:t>s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1</a:t>
            </a:r>
            <a:r>
              <a:rPr sz="2400" dirty="0">
                <a:latin typeface="Tahoma"/>
                <a:cs typeface="Tahoma"/>
              </a:rPr>
              <a:t>6</a:t>
            </a:r>
            <a:r>
              <a:rPr sz="2400" spc="-13" dirty="0">
                <a:latin typeface="Tahoma"/>
                <a:cs typeface="Tahoma"/>
              </a:rPr>
              <a:t>b</a:t>
            </a:r>
            <a:r>
              <a:rPr sz="2400" spc="-20" dirty="0">
                <a:latin typeface="Tahoma"/>
                <a:cs typeface="Tahoma"/>
              </a:rPr>
              <a:t>i</a:t>
            </a:r>
            <a:r>
              <a:rPr sz="2400" spc="-140" dirty="0">
                <a:latin typeface="Tahoma"/>
                <a:cs typeface="Tahoma"/>
              </a:rPr>
              <a:t>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1703253"/>
            <a:ext cx="21844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225" y="1720187"/>
            <a:ext cx="9127912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13" dirty="0">
                <a:latin typeface="Tahoma"/>
                <a:cs typeface="Tahoma"/>
              </a:rPr>
              <a:t>High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code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density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Thum</a:t>
            </a:r>
            <a:r>
              <a:rPr sz="2400" spc="-13" dirty="0">
                <a:latin typeface="Tahoma"/>
                <a:cs typeface="Tahoma"/>
              </a:rPr>
              <a:t>b</a:t>
            </a:r>
            <a:r>
              <a:rPr sz="2400" spc="-27" dirty="0">
                <a:latin typeface="Tahoma"/>
                <a:cs typeface="Tahoma"/>
              </a:rPr>
              <a:t>-2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al</a:t>
            </a:r>
            <a:r>
              <a:rPr sz="2400" spc="-7" dirty="0">
                <a:latin typeface="Tahoma"/>
                <a:cs typeface="Tahoma"/>
              </a:rPr>
              <a:t>l</a:t>
            </a:r>
            <a:r>
              <a:rPr sz="2400" spc="-20" dirty="0">
                <a:latin typeface="Tahoma"/>
                <a:cs typeface="Tahoma"/>
              </a:rPr>
              <a:t>o</a:t>
            </a:r>
            <a:r>
              <a:rPr sz="2400" spc="-27" dirty="0">
                <a:latin typeface="Tahoma"/>
                <a:cs typeface="Tahoma"/>
              </a:rPr>
              <a:t>w</a:t>
            </a:r>
            <a:r>
              <a:rPr sz="2400" spc="127" dirty="0">
                <a:latin typeface="Tahoma"/>
                <a:cs typeface="Tahoma"/>
              </a:rPr>
              <a:t>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mi</a:t>
            </a:r>
            <a:r>
              <a:rPr sz="2400" dirty="0">
                <a:latin typeface="Tahoma"/>
                <a:cs typeface="Tahoma"/>
              </a:rPr>
              <a:t>xing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67" dirty="0">
                <a:latin typeface="Tahoma"/>
                <a:cs typeface="Tahoma"/>
              </a:rPr>
              <a:t>w</a:t>
            </a:r>
            <a:r>
              <a:rPr sz="2400" spc="-47" dirty="0">
                <a:latin typeface="Tahoma"/>
                <a:cs typeface="Tahoma"/>
              </a:rPr>
              <a:t>it</a:t>
            </a:r>
            <a:r>
              <a:rPr sz="2400" spc="-80" dirty="0">
                <a:latin typeface="Tahoma"/>
                <a:cs typeface="Tahoma"/>
              </a:rPr>
              <a:t>h</a:t>
            </a:r>
            <a:r>
              <a:rPr sz="2400" spc="-233" dirty="0">
                <a:latin typeface="Tahoma"/>
                <a:cs typeface="Tahoma"/>
              </a:rPr>
              <a:t> </a:t>
            </a:r>
            <a:r>
              <a:rPr sz="2400" spc="160" dirty="0">
                <a:latin typeface="Tahoma"/>
                <a:cs typeface="Tahoma"/>
              </a:rPr>
              <a:t>AR</a:t>
            </a:r>
            <a:r>
              <a:rPr sz="2400" spc="213" dirty="0">
                <a:latin typeface="Tahoma"/>
                <a:cs typeface="Tahoma"/>
              </a:rPr>
              <a:t>M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(mix</a:t>
            </a:r>
            <a:r>
              <a:rPr sz="2400" spc="-40" dirty="0">
                <a:latin typeface="Tahoma"/>
                <a:cs typeface="Tahoma"/>
              </a:rPr>
              <a:t>e</a:t>
            </a:r>
            <a:r>
              <a:rPr sz="2400" spc="7" dirty="0">
                <a:latin typeface="Tahoma"/>
                <a:cs typeface="Tahoma"/>
              </a:rPr>
              <a:t>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l</a:t>
            </a:r>
            <a:r>
              <a:rPr sz="2400" spc="20" dirty="0">
                <a:latin typeface="Tahoma"/>
                <a:cs typeface="Tahoma"/>
              </a:rPr>
              <a:t>e</a:t>
            </a:r>
            <a:r>
              <a:rPr sz="2400" spc="13" dirty="0">
                <a:latin typeface="Tahoma"/>
                <a:cs typeface="Tahoma"/>
              </a:rPr>
              <a:t>n</a:t>
            </a:r>
            <a:r>
              <a:rPr sz="2400" spc="-73" dirty="0">
                <a:latin typeface="Tahoma"/>
                <a:cs typeface="Tahoma"/>
              </a:rPr>
              <a:t>gth)</a:t>
            </a:r>
            <a:endParaRPr sz="2400">
              <a:latin typeface="Tahoma"/>
              <a:cs typeface="Tahoma"/>
            </a:endParaRPr>
          </a:p>
          <a:p>
            <a:pPr marL="16933" marR="6773"/>
            <a:r>
              <a:rPr sz="2400" dirty="0">
                <a:latin typeface="Tahoma"/>
                <a:cs typeface="Tahoma"/>
              </a:rPr>
              <a:t>Very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good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with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compilers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07" dirty="0">
                <a:latin typeface="Tahoma"/>
                <a:cs typeface="Tahoma"/>
              </a:rPr>
              <a:t>(ARM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more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convenient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direct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assembly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programming)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825" y="353205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●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6226" y="3548987"/>
            <a:ext cx="81085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-7" dirty="0">
                <a:latin typeface="Tahoma"/>
                <a:cs typeface="Tahoma"/>
              </a:rPr>
              <a:t>Vector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Floating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Point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(VFP)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instructions</a:t>
            </a:r>
            <a:endParaRPr sz="2400">
              <a:latin typeface="Tahoma"/>
              <a:cs typeface="Tahoma"/>
            </a:endParaRPr>
          </a:p>
          <a:p>
            <a:pPr marL="524920" indent="-406390">
              <a:buChar char="○"/>
              <a:tabLst>
                <a:tab pos="524074" algn="l"/>
                <a:tab pos="524920" algn="l"/>
              </a:tabLst>
            </a:pPr>
            <a:r>
              <a:rPr sz="2400" spc="40" dirty="0">
                <a:latin typeface="Tahoma"/>
                <a:cs typeface="Tahoma"/>
              </a:rPr>
              <a:t>Requires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13" dirty="0">
                <a:latin typeface="Tahoma"/>
                <a:cs typeface="Tahoma"/>
              </a:rPr>
              <a:t>VFP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co-processor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or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software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support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libraries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9825" y="462933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●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6225" y="4646267"/>
            <a:ext cx="9144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113" dirty="0">
                <a:latin typeface="Tahoma"/>
                <a:cs typeface="Tahoma"/>
              </a:rPr>
              <a:t>N</a:t>
            </a:r>
            <a:r>
              <a:rPr sz="2400" spc="260" dirty="0">
                <a:latin typeface="Tahoma"/>
                <a:cs typeface="Tahoma"/>
              </a:rPr>
              <a:t>E</a:t>
            </a:r>
            <a:r>
              <a:rPr sz="2400" spc="140" dirty="0">
                <a:latin typeface="Tahoma"/>
                <a:cs typeface="Tahoma"/>
              </a:rPr>
              <a:t>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7825" y="4995093"/>
            <a:ext cx="21844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4226" y="5012028"/>
            <a:ext cx="8062807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1293674">
              <a:spcBef>
                <a:spcPts val="133"/>
              </a:spcBef>
            </a:pPr>
            <a:r>
              <a:rPr sz="2400" spc="47" dirty="0">
                <a:latin typeface="Tahoma"/>
                <a:cs typeface="Tahoma"/>
              </a:rPr>
              <a:t>Neon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wide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67" dirty="0">
                <a:latin typeface="Tahoma"/>
                <a:cs typeface="Tahoma"/>
              </a:rPr>
              <a:t>SIMD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data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processing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architecture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Intended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media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applications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(codecs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etc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..)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spc="107" dirty="0">
                <a:latin typeface="Tahoma"/>
                <a:cs typeface="Tahoma"/>
              </a:rPr>
              <a:t>Can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code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assembly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or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87" dirty="0">
                <a:latin typeface="Tahoma"/>
                <a:cs typeface="Tahoma"/>
              </a:rPr>
              <a:t>C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compilers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or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OpenMAX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libraries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895942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7" dirty="0"/>
              <a:t>Microcontroller</a:t>
            </a:r>
            <a:r>
              <a:rPr sz="4000" spc="-167" dirty="0"/>
              <a:t> </a:t>
            </a:r>
            <a:r>
              <a:rPr sz="4000" spc="-60" dirty="0"/>
              <a:t>Interfacing</a:t>
            </a:r>
            <a:r>
              <a:rPr sz="4000" spc="-233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10446173" cy="186625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2476" marR="677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communication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strategies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have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explored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so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far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(shared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buses)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are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most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commonly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found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67" dirty="0">
                <a:latin typeface="Tahoma"/>
                <a:cs typeface="Tahoma"/>
              </a:rPr>
              <a:t>SoCs</a:t>
            </a:r>
            <a:endParaRPr sz="2400">
              <a:latin typeface="Tahoma"/>
              <a:cs typeface="Tahoma"/>
            </a:endParaRPr>
          </a:p>
          <a:p>
            <a:pPr>
              <a:spcBef>
                <a:spcPts val="60"/>
              </a:spcBef>
              <a:buFont typeface="Tahoma"/>
              <a:buChar char="●"/>
            </a:pPr>
            <a:endParaRPr sz="2333">
              <a:latin typeface="Tahoma"/>
              <a:cs typeface="Tahoma"/>
            </a:endParaRPr>
          </a:p>
          <a:p>
            <a:pPr marL="422476" marR="562173" indent="-406390">
              <a:buChar char="●"/>
              <a:tabLst>
                <a:tab pos="422476" algn="l"/>
                <a:tab pos="423323" algn="l"/>
              </a:tabLst>
            </a:pPr>
            <a:r>
              <a:rPr sz="2400" spc="53" dirty="0">
                <a:latin typeface="Tahoma"/>
                <a:cs typeface="Tahoma"/>
              </a:rPr>
              <a:t>For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multi-chip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53" dirty="0">
                <a:latin typeface="Tahoma"/>
                <a:cs typeface="Tahoma"/>
              </a:rPr>
              <a:t>/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multi-board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systems,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communication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needs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can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be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different: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3166293"/>
            <a:ext cx="21844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225" y="3183227"/>
            <a:ext cx="692912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20" dirty="0">
                <a:latin typeface="Tahoma"/>
                <a:cs typeface="Tahoma"/>
              </a:rPr>
              <a:t>Performance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not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(necessarily)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significant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factor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Simplicity </a:t>
            </a:r>
            <a:r>
              <a:rPr sz="2400" spc="-20" dirty="0">
                <a:latin typeface="Tahoma"/>
                <a:cs typeface="Tahoma"/>
              </a:rPr>
              <a:t>in </a:t>
            </a:r>
            <a:r>
              <a:rPr sz="2400" spc="-7" dirty="0">
                <a:latin typeface="Tahoma"/>
                <a:cs typeface="Tahoma"/>
              </a:rPr>
              <a:t>terms </a:t>
            </a:r>
            <a:r>
              <a:rPr sz="2400" spc="-40" dirty="0">
                <a:latin typeface="Tahoma"/>
                <a:cs typeface="Tahoma"/>
              </a:rPr>
              <a:t>of </a:t>
            </a:r>
            <a:r>
              <a:rPr sz="2400" spc="-7" dirty="0">
                <a:latin typeface="Tahoma"/>
                <a:cs typeface="Tahoma"/>
              </a:rPr>
              <a:t>hardware </a:t>
            </a:r>
            <a:r>
              <a:rPr sz="2400" spc="13" dirty="0">
                <a:latin typeface="Tahoma"/>
                <a:cs typeface="Tahoma"/>
              </a:rPr>
              <a:t>and </a:t>
            </a:r>
            <a:r>
              <a:rPr sz="2400" spc="-33" dirty="0">
                <a:latin typeface="Tahoma"/>
                <a:cs typeface="Tahoma"/>
              </a:rPr>
              <a:t>wiring </a:t>
            </a:r>
            <a:r>
              <a:rPr sz="2400" spc="-27" dirty="0">
                <a:latin typeface="Tahoma"/>
                <a:cs typeface="Tahoma"/>
              </a:rPr>
              <a:t>(cost) </a:t>
            </a:r>
            <a:r>
              <a:rPr sz="2400" spc="-20" dirty="0">
                <a:latin typeface="Tahoma"/>
                <a:cs typeface="Tahoma"/>
              </a:rPr>
              <a:t> Configurability,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expandability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9825" y="462933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●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6226" y="4646267"/>
            <a:ext cx="61992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80" dirty="0">
                <a:latin typeface="Tahoma"/>
                <a:cs typeface="Tahoma"/>
              </a:rPr>
              <a:t>Some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Communication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standards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use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1693" y="5012027"/>
            <a:ext cx="2075180" cy="173064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57" indent="-372524">
              <a:spcBef>
                <a:spcPts val="133"/>
              </a:spcBef>
              <a:buChar char="○"/>
              <a:tabLst>
                <a:tab pos="388610" algn="l"/>
                <a:tab pos="389457" algn="l"/>
              </a:tabLst>
            </a:pPr>
            <a:r>
              <a:rPr sz="1867" spc="180" dirty="0">
                <a:latin typeface="Tahoma"/>
                <a:cs typeface="Tahoma"/>
              </a:rPr>
              <a:t>R</a:t>
            </a:r>
            <a:r>
              <a:rPr sz="1867" spc="200" dirty="0">
                <a:latin typeface="Tahoma"/>
                <a:cs typeface="Tahoma"/>
              </a:rPr>
              <a:t>S</a:t>
            </a:r>
            <a:r>
              <a:rPr sz="1867" spc="-73" dirty="0">
                <a:latin typeface="Tahoma"/>
                <a:cs typeface="Tahoma"/>
              </a:rPr>
              <a:t>-</a:t>
            </a:r>
            <a:r>
              <a:rPr sz="1867" spc="7" dirty="0">
                <a:latin typeface="Tahoma"/>
                <a:cs typeface="Tahoma"/>
              </a:rPr>
              <a:t>23</a:t>
            </a:r>
            <a:r>
              <a:rPr sz="1867" spc="13" dirty="0">
                <a:latin typeface="Tahoma"/>
                <a:cs typeface="Tahoma"/>
              </a:rPr>
              <a:t>2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93" dirty="0">
                <a:latin typeface="Tahoma"/>
                <a:cs typeface="Tahoma"/>
              </a:rPr>
              <a:t>(</a:t>
            </a:r>
            <a:r>
              <a:rPr sz="1867" spc="113" dirty="0">
                <a:latin typeface="Tahoma"/>
                <a:cs typeface="Tahoma"/>
              </a:rPr>
              <a:t>UA</a:t>
            </a:r>
            <a:r>
              <a:rPr sz="1867" spc="140" dirty="0">
                <a:latin typeface="Tahoma"/>
                <a:cs typeface="Tahoma"/>
              </a:rPr>
              <a:t>R</a:t>
            </a:r>
            <a:r>
              <a:rPr sz="1867" spc="47" dirty="0">
                <a:latin typeface="Tahoma"/>
                <a:cs typeface="Tahoma"/>
              </a:rPr>
              <a:t>T</a:t>
            </a:r>
            <a:r>
              <a:rPr sz="1867" spc="-93" dirty="0">
                <a:latin typeface="Tahoma"/>
                <a:cs typeface="Tahoma"/>
              </a:rPr>
              <a:t>)</a:t>
            </a:r>
            <a:endParaRPr sz="1867">
              <a:latin typeface="Tahoma"/>
              <a:cs typeface="Tahoma"/>
            </a:endParaRPr>
          </a:p>
          <a:p>
            <a:pPr marL="389457" indent="-372524">
              <a:buChar char="○"/>
              <a:tabLst>
                <a:tab pos="388610" algn="l"/>
                <a:tab pos="389457" algn="l"/>
              </a:tabLst>
            </a:pPr>
            <a:r>
              <a:rPr sz="1867" spc="73" dirty="0">
                <a:latin typeface="Tahoma"/>
                <a:cs typeface="Tahoma"/>
              </a:rPr>
              <a:t>SPI</a:t>
            </a:r>
            <a:endParaRPr sz="1867">
              <a:latin typeface="Tahoma"/>
              <a:cs typeface="Tahoma"/>
            </a:endParaRPr>
          </a:p>
          <a:p>
            <a:pPr marL="389457" indent="-372524">
              <a:lnSpc>
                <a:spcPts val="2233"/>
              </a:lnSpc>
              <a:buChar char="○"/>
              <a:tabLst>
                <a:tab pos="388610" algn="l"/>
                <a:tab pos="389457" algn="l"/>
              </a:tabLst>
            </a:pPr>
            <a:r>
              <a:rPr sz="1867" spc="20" dirty="0">
                <a:latin typeface="Tahoma"/>
                <a:cs typeface="Tahoma"/>
              </a:rPr>
              <a:t>I2C</a:t>
            </a:r>
            <a:endParaRPr sz="1867">
              <a:latin typeface="Tahoma"/>
              <a:cs typeface="Tahoma"/>
            </a:endParaRPr>
          </a:p>
          <a:p>
            <a:pPr marL="389457" indent="-372524">
              <a:lnSpc>
                <a:spcPts val="2233"/>
              </a:lnSpc>
              <a:buChar char="○"/>
              <a:tabLst>
                <a:tab pos="388610" algn="l"/>
                <a:tab pos="389457" algn="l"/>
              </a:tabLst>
            </a:pPr>
            <a:r>
              <a:rPr sz="1867" spc="147" dirty="0">
                <a:latin typeface="Tahoma"/>
                <a:cs typeface="Tahoma"/>
              </a:rPr>
              <a:t>CAN</a:t>
            </a:r>
            <a:endParaRPr sz="1867">
              <a:latin typeface="Tahoma"/>
              <a:cs typeface="Tahoma"/>
            </a:endParaRPr>
          </a:p>
          <a:p>
            <a:pPr marL="389457" indent="-372524">
              <a:buChar char="○"/>
              <a:tabLst>
                <a:tab pos="388610" algn="l"/>
                <a:tab pos="389457" algn="l"/>
              </a:tabLst>
            </a:pPr>
            <a:r>
              <a:rPr sz="1867" spc="7" dirty="0">
                <a:latin typeface="Tahoma"/>
                <a:cs typeface="Tahoma"/>
              </a:rPr>
              <a:t>One-wire</a:t>
            </a:r>
            <a:endParaRPr sz="1867">
              <a:latin typeface="Tahoma"/>
              <a:cs typeface="Tahoma"/>
            </a:endParaRPr>
          </a:p>
          <a:p>
            <a:pPr marL="389457" indent="-372524">
              <a:buChar char="○"/>
              <a:tabLst>
                <a:tab pos="388610" algn="l"/>
                <a:tab pos="389457" algn="l"/>
              </a:tabLst>
            </a:pPr>
            <a:r>
              <a:rPr sz="1867" spc="152" dirty="0">
                <a:latin typeface="Tahoma"/>
                <a:cs typeface="Tahoma"/>
              </a:rPr>
              <a:t>USB</a:t>
            </a:r>
            <a:endParaRPr sz="1867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90110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73" dirty="0">
                <a:latin typeface="Tahoma"/>
                <a:cs typeface="Tahoma"/>
              </a:rPr>
              <a:t>RS-232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(Universal</a:t>
            </a:r>
            <a:r>
              <a:rPr sz="2400" spc="-22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Asynchronous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Receiver/Transmitter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 </a:t>
            </a:r>
            <a:r>
              <a:rPr sz="2400" spc="87" dirty="0">
                <a:latin typeface="Tahoma"/>
                <a:cs typeface="Tahoma"/>
              </a:rPr>
              <a:t>UART)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353205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26" y="2085947"/>
            <a:ext cx="9689253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6773" indent="-406390">
              <a:spcBef>
                <a:spcPts val="133"/>
              </a:spcBef>
              <a:buChar char="○"/>
              <a:tabLst>
                <a:tab pos="422476" algn="l"/>
                <a:tab pos="423323" algn="l"/>
              </a:tabLst>
            </a:pPr>
            <a:r>
              <a:rPr sz="2400" spc="73" dirty="0">
                <a:latin typeface="Tahoma"/>
                <a:cs typeface="Tahoma"/>
              </a:rPr>
              <a:t>RS-232 </a:t>
            </a:r>
            <a:r>
              <a:rPr sz="2400" spc="53" dirty="0">
                <a:latin typeface="Tahoma"/>
                <a:cs typeface="Tahoma"/>
              </a:rPr>
              <a:t>is </a:t>
            </a:r>
            <a:r>
              <a:rPr sz="2400" spc="73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widely-used </a:t>
            </a:r>
            <a:r>
              <a:rPr sz="2400" spc="7" dirty="0">
                <a:latin typeface="Tahoma"/>
                <a:cs typeface="Tahoma"/>
              </a:rPr>
              <a:t>standard </a:t>
            </a:r>
            <a:r>
              <a:rPr sz="2400" spc="-53" dirty="0">
                <a:latin typeface="Tahoma"/>
                <a:cs typeface="Tahoma"/>
              </a:rPr>
              <a:t>for </a:t>
            </a:r>
            <a:r>
              <a:rPr sz="2400" spc="20" dirty="0">
                <a:latin typeface="Tahoma"/>
                <a:cs typeface="Tahoma"/>
              </a:rPr>
              <a:t>serial </a:t>
            </a:r>
            <a:r>
              <a:rPr sz="2400" dirty="0">
                <a:latin typeface="Tahoma"/>
                <a:cs typeface="Tahoma"/>
              </a:rPr>
              <a:t>communication </a:t>
            </a:r>
            <a:r>
              <a:rPr sz="2400" spc="-7" dirty="0">
                <a:latin typeface="Tahoma"/>
                <a:cs typeface="Tahoma"/>
              </a:rPr>
              <a:t>between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two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devices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over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short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distance.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187" dirty="0">
                <a:latin typeface="Tahoma"/>
                <a:cs typeface="Tahoma"/>
              </a:rPr>
              <a:t>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best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known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its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use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older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280" dirty="0">
                <a:latin typeface="Tahoma"/>
                <a:cs typeface="Tahoma"/>
              </a:rPr>
              <a:t>PC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ports,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but</a:t>
            </a:r>
            <a:r>
              <a:rPr sz="2400" spc="-80" dirty="0">
                <a:latin typeface="Tahoma"/>
                <a:cs typeface="Tahoma"/>
              </a:rPr>
              <a:t> it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also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used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embedded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systems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87" dirty="0">
                <a:latin typeface="Tahoma"/>
                <a:cs typeface="Tahoma"/>
              </a:rPr>
              <a:t>as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debug </a:t>
            </a:r>
            <a:r>
              <a:rPr sz="2400" spc="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port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linking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two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devices.</a:t>
            </a:r>
            <a:endParaRPr sz="2400">
              <a:latin typeface="Tahoma"/>
              <a:cs typeface="Tahoma"/>
            </a:endParaRPr>
          </a:p>
          <a:p>
            <a:pPr marL="423323"/>
            <a:r>
              <a:rPr sz="2400" spc="33" dirty="0">
                <a:latin typeface="Tahoma"/>
                <a:cs typeface="Tahoma"/>
              </a:rPr>
              <a:t>Commonly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known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as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asynchronous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communication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5825" y="3897814"/>
            <a:ext cx="21844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2226" y="3914747"/>
            <a:ext cx="5426287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73" dirty="0">
                <a:latin typeface="Tahoma"/>
                <a:cs typeface="Tahoma"/>
              </a:rPr>
              <a:t>No </a:t>
            </a:r>
            <a:r>
              <a:rPr sz="2400" spc="-20" dirty="0">
                <a:latin typeface="Tahoma"/>
                <a:cs typeface="Tahoma"/>
              </a:rPr>
              <a:t>control </a:t>
            </a:r>
            <a:r>
              <a:rPr sz="2400" dirty="0">
                <a:latin typeface="Tahoma"/>
                <a:cs typeface="Tahoma"/>
              </a:rPr>
              <a:t>over </a:t>
            </a:r>
            <a:r>
              <a:rPr sz="2400" spc="-33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data </a:t>
            </a:r>
            <a:r>
              <a:rPr sz="2400" spc="47" dirty="0">
                <a:latin typeface="Tahoma"/>
                <a:cs typeface="Tahoma"/>
              </a:rPr>
              <a:t>is </a:t>
            </a:r>
            <a:r>
              <a:rPr sz="2400" spc="7" dirty="0">
                <a:latin typeface="Tahoma"/>
                <a:cs typeface="Tahoma"/>
              </a:rPr>
              <a:t>sending. </a:t>
            </a:r>
            <a:r>
              <a:rPr sz="2400" spc="13" dirty="0">
                <a:latin typeface="Tahoma"/>
                <a:cs typeface="Tahoma"/>
              </a:rPr>
              <a:t> Both</a:t>
            </a:r>
            <a:r>
              <a:rPr sz="2400" spc="-152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Tx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20" dirty="0">
                <a:latin typeface="Tahoma"/>
                <a:cs typeface="Tahoma"/>
              </a:rPr>
              <a:t>Rx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running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at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same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rate.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use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Start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and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Stop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bit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synchronizing.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Same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transmission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speed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in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both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side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027" y="3929988"/>
            <a:ext cx="4373880" cy="27211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39080" cy="41216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73" dirty="0">
                <a:latin typeface="Tahoma"/>
                <a:cs typeface="Tahoma"/>
              </a:rPr>
              <a:t>RS-232</a:t>
            </a:r>
            <a:r>
              <a:rPr sz="2400" spc="-13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(UART)</a:t>
            </a:r>
            <a:endParaRPr sz="2400">
              <a:latin typeface="Tahoma"/>
              <a:cs typeface="Tahoma"/>
            </a:endParaRPr>
          </a:p>
          <a:p>
            <a:pPr marL="930463" marR="89744" lvl="1" indent="-372524">
              <a:lnSpc>
                <a:spcPct val="99900"/>
              </a:lnSpc>
              <a:buChar char="○"/>
              <a:tabLst>
                <a:tab pos="930463" algn="l"/>
                <a:tab pos="931310" algn="l"/>
              </a:tabLst>
            </a:pPr>
            <a:r>
              <a:rPr sz="1867" spc="47" dirty="0">
                <a:latin typeface="Tahoma"/>
                <a:cs typeface="Tahoma"/>
              </a:rPr>
              <a:t>Devices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often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implement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RS-232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using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 </a:t>
            </a:r>
            <a:r>
              <a:rPr sz="1867" spc="-560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universal </a:t>
            </a:r>
            <a:r>
              <a:rPr sz="1867" spc="20" dirty="0">
                <a:latin typeface="Tahoma"/>
                <a:cs typeface="Tahoma"/>
              </a:rPr>
              <a:t>asynchronous </a:t>
            </a:r>
            <a:r>
              <a:rPr sz="1867" spc="2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receiver/transmitter </a:t>
            </a:r>
            <a:r>
              <a:rPr sz="1867" spc="27" dirty="0">
                <a:latin typeface="Tahoma"/>
                <a:cs typeface="Tahoma"/>
              </a:rPr>
              <a:t>(UART). The </a:t>
            </a:r>
            <a:r>
              <a:rPr sz="1867" spc="107" dirty="0">
                <a:latin typeface="Tahoma"/>
                <a:cs typeface="Tahoma"/>
              </a:rPr>
              <a:t>UART </a:t>
            </a:r>
            <a:r>
              <a:rPr sz="1867" spc="113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uses </a:t>
            </a:r>
            <a:r>
              <a:rPr sz="1867" spc="53" dirty="0">
                <a:latin typeface="Tahoma"/>
                <a:cs typeface="Tahoma"/>
              </a:rPr>
              <a:t>a </a:t>
            </a:r>
            <a:r>
              <a:rPr sz="1867" spc="-27" dirty="0">
                <a:latin typeface="Tahoma"/>
                <a:cs typeface="Tahoma"/>
              </a:rPr>
              <a:t>shift </a:t>
            </a:r>
            <a:r>
              <a:rPr sz="1867" spc="-7" dirty="0">
                <a:latin typeface="Tahoma"/>
                <a:cs typeface="Tahoma"/>
              </a:rPr>
              <a:t>register </a:t>
            </a:r>
            <a:r>
              <a:rPr sz="1867" spc="-40" dirty="0">
                <a:latin typeface="Tahoma"/>
                <a:cs typeface="Tahoma"/>
              </a:rPr>
              <a:t>to </a:t>
            </a:r>
            <a:r>
              <a:rPr sz="1867" spc="-7" dirty="0">
                <a:latin typeface="Tahoma"/>
                <a:cs typeface="Tahoma"/>
              </a:rPr>
              <a:t>convert </a:t>
            </a:r>
            <a:r>
              <a:rPr sz="1867" spc="53" dirty="0">
                <a:latin typeface="Tahoma"/>
                <a:cs typeface="Tahoma"/>
              </a:rPr>
              <a:t>a </a:t>
            </a:r>
            <a:r>
              <a:rPr sz="1867" spc="-13" dirty="0">
                <a:latin typeface="Tahoma"/>
                <a:cs typeface="Tahoma"/>
              </a:rPr>
              <a:t>byte </a:t>
            </a:r>
            <a:r>
              <a:rPr sz="1867" spc="-33" dirty="0">
                <a:latin typeface="Tahoma"/>
                <a:cs typeface="Tahoma"/>
              </a:rPr>
              <a:t>of </a:t>
            </a:r>
            <a:r>
              <a:rPr sz="1867" spc="-2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data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into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serial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stream,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and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vice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versa.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-167" dirty="0">
                <a:latin typeface="Tahoma"/>
                <a:cs typeface="Tahoma"/>
              </a:rPr>
              <a:t>I</a:t>
            </a:r>
            <a:r>
              <a:rPr sz="1867" spc="-7" dirty="0">
                <a:latin typeface="Tahoma"/>
                <a:cs typeface="Tahoma"/>
              </a:rPr>
              <a:t>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e</a:t>
            </a:r>
            <a:r>
              <a:rPr sz="1867" spc="20" dirty="0">
                <a:latin typeface="Tahoma"/>
                <a:cs typeface="Tahoma"/>
              </a:rPr>
              <a:t>m</a:t>
            </a:r>
            <a:r>
              <a:rPr sz="1867" spc="13" dirty="0">
                <a:latin typeface="Tahoma"/>
                <a:cs typeface="Tahoma"/>
              </a:rPr>
              <a:t>bedde</a:t>
            </a:r>
            <a:r>
              <a:rPr sz="1867" spc="20" dirty="0">
                <a:latin typeface="Tahoma"/>
                <a:cs typeface="Tahoma"/>
              </a:rPr>
              <a:t>d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de</a:t>
            </a:r>
            <a:r>
              <a:rPr sz="1867" spc="53" dirty="0">
                <a:latin typeface="Tahoma"/>
                <a:cs typeface="Tahoma"/>
              </a:rPr>
              <a:t>s</a:t>
            </a:r>
            <a:r>
              <a:rPr sz="1867" spc="-20" dirty="0">
                <a:latin typeface="Tahoma"/>
                <a:cs typeface="Tahoma"/>
              </a:rPr>
              <a:t>i</a:t>
            </a:r>
            <a:r>
              <a:rPr sz="1867" spc="27" dirty="0">
                <a:latin typeface="Tahoma"/>
                <a:cs typeface="Tahoma"/>
              </a:rPr>
              <a:t>gn</a:t>
            </a:r>
            <a:r>
              <a:rPr sz="1867" spc="33" dirty="0">
                <a:latin typeface="Tahoma"/>
                <a:cs typeface="Tahoma"/>
              </a:rPr>
              <a:t>s</a:t>
            </a:r>
            <a:r>
              <a:rPr sz="1867" spc="-47" dirty="0">
                <a:latin typeface="Tahoma"/>
                <a:cs typeface="Tahoma"/>
              </a:rPr>
              <a:t>,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13" dirty="0">
                <a:latin typeface="Tahoma"/>
                <a:cs typeface="Tahoma"/>
              </a:rPr>
              <a:t>U</a:t>
            </a:r>
            <a:r>
              <a:rPr sz="1867" spc="120" dirty="0">
                <a:latin typeface="Tahoma"/>
                <a:cs typeface="Tahoma"/>
              </a:rPr>
              <a:t>A</a:t>
            </a:r>
            <a:r>
              <a:rPr sz="1867" spc="140" dirty="0">
                <a:latin typeface="Tahoma"/>
                <a:cs typeface="Tahoma"/>
              </a:rPr>
              <a:t>R</a:t>
            </a:r>
            <a:r>
              <a:rPr sz="1867" spc="-152" dirty="0">
                <a:latin typeface="Tahoma"/>
                <a:cs typeface="Tahoma"/>
              </a:rPr>
              <a:t>T</a:t>
            </a:r>
            <a:r>
              <a:rPr sz="1867" spc="100" dirty="0">
                <a:latin typeface="Tahoma"/>
                <a:cs typeface="Tahoma"/>
              </a:rPr>
              <a:t>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3" dirty="0">
                <a:latin typeface="Tahoma"/>
                <a:cs typeface="Tahoma"/>
              </a:rPr>
              <a:t>c</a:t>
            </a:r>
            <a:r>
              <a:rPr sz="1867" spc="20" dirty="0">
                <a:latin typeface="Tahoma"/>
                <a:cs typeface="Tahoma"/>
              </a:rPr>
              <a:t>a</a:t>
            </a:r>
            <a:r>
              <a:rPr sz="1867" spc="27" dirty="0">
                <a:latin typeface="Tahoma"/>
                <a:cs typeface="Tahoma"/>
              </a:rPr>
              <a:t>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al</a:t>
            </a:r>
            <a:r>
              <a:rPr sz="1867" spc="107" dirty="0">
                <a:latin typeface="Tahoma"/>
                <a:cs typeface="Tahoma"/>
              </a:rPr>
              <a:t>s</a:t>
            </a:r>
            <a:r>
              <a:rPr sz="1867" spc="13" dirty="0">
                <a:latin typeface="Tahoma"/>
                <a:cs typeface="Tahoma"/>
              </a:rPr>
              <a:t>o  </a:t>
            </a:r>
            <a:r>
              <a:rPr sz="1867" spc="7" dirty="0">
                <a:latin typeface="Tahoma"/>
                <a:cs typeface="Tahoma"/>
              </a:rPr>
              <a:t>communicate </a:t>
            </a:r>
            <a:r>
              <a:rPr sz="1867" spc="-13" dirty="0">
                <a:latin typeface="Tahoma"/>
                <a:cs typeface="Tahoma"/>
              </a:rPr>
              <a:t>directly </a:t>
            </a:r>
            <a:r>
              <a:rPr sz="1867" spc="-40" dirty="0">
                <a:latin typeface="Tahoma"/>
                <a:cs typeface="Tahoma"/>
              </a:rPr>
              <a:t>without </a:t>
            </a:r>
            <a:r>
              <a:rPr sz="1867" spc="-20" dirty="0">
                <a:latin typeface="Tahoma"/>
                <a:cs typeface="Tahoma"/>
              </a:rPr>
              <a:t>the </a:t>
            </a:r>
            <a:r>
              <a:rPr sz="1867" spc="47" dirty="0">
                <a:latin typeface="Tahoma"/>
                <a:cs typeface="Tahoma"/>
              </a:rPr>
              <a:t>use </a:t>
            </a:r>
            <a:r>
              <a:rPr sz="1867" spc="-33" dirty="0">
                <a:latin typeface="Tahoma"/>
                <a:cs typeface="Tahoma"/>
              </a:rPr>
              <a:t>of </a:t>
            </a:r>
            <a:r>
              <a:rPr sz="1867" spc="-27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RS-232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transceivers.</a:t>
            </a:r>
            <a:endParaRPr sz="1867">
              <a:latin typeface="Tahoma"/>
              <a:cs typeface="Tahoma"/>
            </a:endParaRPr>
          </a:p>
          <a:p>
            <a:pPr marL="930463" marR="6773" lvl="1" indent="-372524" algn="just">
              <a:buChar char="○"/>
              <a:tabLst>
                <a:tab pos="931310" algn="l"/>
              </a:tabLst>
            </a:pPr>
            <a:r>
              <a:rPr sz="1867" spc="27" dirty="0">
                <a:latin typeface="Tahoma"/>
                <a:cs typeface="Tahoma"/>
              </a:rPr>
              <a:t>The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RS-232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standard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specifies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numerous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signals, </a:t>
            </a:r>
            <a:r>
              <a:rPr sz="1867" spc="7" dirty="0">
                <a:latin typeface="Tahoma"/>
                <a:cs typeface="Tahoma"/>
              </a:rPr>
              <a:t>many </a:t>
            </a:r>
            <a:r>
              <a:rPr sz="1867" spc="-33" dirty="0">
                <a:latin typeface="Tahoma"/>
                <a:cs typeface="Tahoma"/>
              </a:rPr>
              <a:t>of </a:t>
            </a:r>
            <a:r>
              <a:rPr sz="1867" dirty="0">
                <a:latin typeface="Tahoma"/>
                <a:cs typeface="Tahoma"/>
              </a:rPr>
              <a:t>which </a:t>
            </a:r>
            <a:r>
              <a:rPr sz="1867" spc="13" dirty="0">
                <a:latin typeface="Tahoma"/>
                <a:cs typeface="Tahoma"/>
              </a:rPr>
              <a:t>are </a:t>
            </a:r>
            <a:r>
              <a:rPr sz="1867" spc="-33" dirty="0">
                <a:latin typeface="Tahoma"/>
                <a:cs typeface="Tahoma"/>
              </a:rPr>
              <a:t>not </a:t>
            </a:r>
            <a:r>
              <a:rPr sz="1867" dirty="0">
                <a:latin typeface="Tahoma"/>
                <a:cs typeface="Tahoma"/>
              </a:rPr>
              <a:t>commonly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used. </a:t>
            </a:r>
            <a:r>
              <a:rPr sz="1867" spc="27" dirty="0">
                <a:latin typeface="Tahoma"/>
                <a:cs typeface="Tahoma"/>
              </a:rPr>
              <a:t>The </a:t>
            </a:r>
            <a:r>
              <a:rPr sz="1867" spc="-40" dirty="0">
                <a:latin typeface="Tahoma"/>
                <a:cs typeface="Tahoma"/>
              </a:rPr>
              <a:t>two </a:t>
            </a:r>
            <a:r>
              <a:rPr sz="1867" spc="-7" dirty="0">
                <a:latin typeface="Tahoma"/>
                <a:cs typeface="Tahoma"/>
              </a:rPr>
              <a:t>most </a:t>
            </a:r>
            <a:r>
              <a:rPr sz="1867" spc="-27" dirty="0">
                <a:latin typeface="Tahoma"/>
                <a:cs typeface="Tahoma"/>
              </a:rPr>
              <a:t>important </a:t>
            </a:r>
            <a:r>
              <a:rPr sz="1867" spc="27" dirty="0">
                <a:latin typeface="Tahoma"/>
                <a:cs typeface="Tahoma"/>
              </a:rPr>
              <a:t>signals </a:t>
            </a:r>
            <a:r>
              <a:rPr sz="1867" spc="13" dirty="0">
                <a:latin typeface="Tahoma"/>
                <a:cs typeface="Tahoma"/>
              </a:rPr>
              <a:t>are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Transmitted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Data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(Tx)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and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Received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Data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(Rx).</a:t>
            </a:r>
            <a:endParaRPr sz="1867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8315" y="1666326"/>
            <a:ext cx="4846605" cy="45618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25831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73" dirty="0">
                <a:latin typeface="Tahoma"/>
                <a:cs typeface="Tahoma"/>
              </a:rPr>
              <a:t>RS-232</a:t>
            </a:r>
            <a:r>
              <a:rPr sz="2400" spc="-16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(UART)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692" y="2844561"/>
            <a:ext cx="1778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693" y="1720188"/>
            <a:ext cx="9690945" cy="20231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57" marR="5288148" indent="-372524">
              <a:spcBef>
                <a:spcPts val="133"/>
              </a:spcBef>
              <a:buChar char="○"/>
              <a:tabLst>
                <a:tab pos="388610" algn="l"/>
                <a:tab pos="389457" algn="l"/>
              </a:tabLst>
            </a:pPr>
            <a:r>
              <a:rPr sz="1867" spc="200" dirty="0">
                <a:latin typeface="Tahoma"/>
                <a:cs typeface="Tahoma"/>
              </a:rPr>
              <a:t>S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7" dirty="0">
                <a:latin typeface="Tahoma"/>
                <a:cs typeface="Tahoma"/>
              </a:rPr>
              <a:t>a</a:t>
            </a:r>
            <a:r>
              <a:rPr sz="1867" dirty="0">
                <a:latin typeface="Tahoma"/>
                <a:cs typeface="Tahoma"/>
              </a:rPr>
              <a:t>r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60" dirty="0">
                <a:latin typeface="Tahoma"/>
                <a:cs typeface="Tahoma"/>
              </a:rPr>
              <a:t>-</a:t>
            </a:r>
            <a:r>
              <a:rPr sz="1867" spc="-100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T</a:t>
            </a:r>
            <a:r>
              <a:rPr sz="1867" spc="20" dirty="0">
                <a:latin typeface="Tahoma"/>
                <a:cs typeface="Tahoma"/>
              </a:rPr>
              <a:t>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b</a:t>
            </a:r>
            <a:r>
              <a:rPr sz="1867" spc="7" dirty="0">
                <a:latin typeface="Tahoma"/>
                <a:cs typeface="Tahoma"/>
              </a:rPr>
              <a:t>y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53" dirty="0">
                <a:latin typeface="Tahoma"/>
                <a:cs typeface="Tahoma"/>
              </a:rPr>
              <a:t>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begi</a:t>
            </a:r>
            <a:r>
              <a:rPr sz="1867" spc="47" dirty="0">
                <a:latin typeface="Tahoma"/>
                <a:cs typeface="Tahoma"/>
              </a:rPr>
              <a:t>n</a:t>
            </a:r>
            <a:r>
              <a:rPr sz="1867" spc="40" dirty="0">
                <a:latin typeface="Tahoma"/>
                <a:cs typeface="Tahoma"/>
              </a:rPr>
              <a:t>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w</a:t>
            </a:r>
            <a:r>
              <a:rPr sz="1867" spc="-7" dirty="0">
                <a:latin typeface="Tahoma"/>
                <a:cs typeface="Tahoma"/>
              </a:rPr>
              <a:t>i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7" dirty="0">
                <a:latin typeface="Tahoma"/>
                <a:cs typeface="Tahoma"/>
              </a:rPr>
              <a:t>h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107" dirty="0">
                <a:latin typeface="Tahoma"/>
                <a:cs typeface="Tahoma"/>
              </a:rPr>
              <a:t>s</a:t>
            </a:r>
            <a:r>
              <a:rPr sz="1867" spc="-93" dirty="0">
                <a:latin typeface="Tahoma"/>
                <a:cs typeface="Tahoma"/>
              </a:rPr>
              <a:t>t</a:t>
            </a:r>
            <a:r>
              <a:rPr sz="1867" spc="-7" dirty="0">
                <a:latin typeface="Tahoma"/>
                <a:cs typeface="Tahoma"/>
              </a:rPr>
              <a:t>a</a:t>
            </a:r>
            <a:r>
              <a:rPr sz="1867" dirty="0">
                <a:latin typeface="Tahoma"/>
                <a:cs typeface="Tahoma"/>
              </a:rPr>
              <a:t>r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bi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53" dirty="0">
                <a:latin typeface="Tahoma"/>
                <a:cs typeface="Tahoma"/>
              </a:rPr>
              <a:t>.  </a:t>
            </a:r>
            <a:r>
              <a:rPr sz="1867" spc="13" dirty="0">
                <a:latin typeface="Tahoma"/>
                <a:cs typeface="Tahoma"/>
              </a:rPr>
              <a:t>Data </a:t>
            </a:r>
            <a:r>
              <a:rPr sz="1867" spc="-60" dirty="0">
                <a:latin typeface="Tahoma"/>
                <a:cs typeface="Tahoma"/>
              </a:rPr>
              <a:t>- </a:t>
            </a:r>
            <a:r>
              <a:rPr sz="1867" spc="40" dirty="0">
                <a:latin typeface="Tahoma"/>
                <a:cs typeface="Tahoma"/>
              </a:rPr>
              <a:t>Several </a:t>
            </a:r>
            <a:r>
              <a:rPr sz="1867" spc="-7" dirty="0">
                <a:latin typeface="Tahoma"/>
                <a:cs typeface="Tahoma"/>
              </a:rPr>
              <a:t>bits </a:t>
            </a:r>
            <a:r>
              <a:rPr sz="1867" spc="-33" dirty="0">
                <a:latin typeface="Tahoma"/>
                <a:cs typeface="Tahoma"/>
              </a:rPr>
              <a:t>of </a:t>
            </a:r>
            <a:r>
              <a:rPr sz="1867" dirty="0">
                <a:latin typeface="Tahoma"/>
                <a:cs typeface="Tahoma"/>
              </a:rPr>
              <a:t>data </a:t>
            </a:r>
            <a:r>
              <a:rPr sz="1867" spc="-40" dirty="0">
                <a:latin typeface="Tahoma"/>
                <a:cs typeface="Tahoma"/>
              </a:rPr>
              <a:t>follow. </a:t>
            </a:r>
            <a:r>
              <a:rPr sz="1867" spc="-33" dirty="0">
                <a:latin typeface="Tahoma"/>
                <a:cs typeface="Tahoma"/>
              </a:rPr>
              <a:t> </a:t>
            </a:r>
            <a:r>
              <a:rPr sz="1867" spc="213" dirty="0">
                <a:latin typeface="Tahoma"/>
                <a:cs typeface="Tahoma"/>
              </a:rPr>
              <a:t>P</a:t>
            </a:r>
            <a:r>
              <a:rPr sz="1867" spc="-7" dirty="0">
                <a:latin typeface="Tahoma"/>
                <a:cs typeface="Tahoma"/>
              </a:rPr>
              <a:t>a</a:t>
            </a:r>
            <a:r>
              <a:rPr sz="1867" spc="-13" dirty="0">
                <a:latin typeface="Tahoma"/>
                <a:cs typeface="Tahoma"/>
              </a:rPr>
              <a:t>r</a:t>
            </a:r>
            <a:r>
              <a:rPr sz="1867" spc="-7" dirty="0">
                <a:latin typeface="Tahoma"/>
                <a:cs typeface="Tahoma"/>
              </a:rPr>
              <a:t>i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dirty="0">
                <a:latin typeface="Tahoma"/>
                <a:cs typeface="Tahoma"/>
              </a:rPr>
              <a:t>y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60" dirty="0">
                <a:latin typeface="Tahoma"/>
                <a:cs typeface="Tahoma"/>
              </a:rPr>
              <a:t>-</a:t>
            </a:r>
            <a:r>
              <a:rPr sz="1867" spc="-173" dirty="0">
                <a:latin typeface="Tahoma"/>
                <a:cs typeface="Tahoma"/>
              </a:rPr>
              <a:t> </a:t>
            </a:r>
            <a:r>
              <a:rPr sz="1867" spc="113" dirty="0">
                <a:latin typeface="Tahoma"/>
                <a:cs typeface="Tahoma"/>
              </a:rPr>
              <a:t>A</a:t>
            </a:r>
            <a:r>
              <a:rPr sz="1867" spc="-7" dirty="0">
                <a:latin typeface="Tahoma"/>
                <a:cs typeface="Tahoma"/>
              </a:rPr>
              <a:t>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op</a:t>
            </a:r>
            <a:r>
              <a:rPr sz="1867" spc="-20" dirty="0">
                <a:latin typeface="Tahoma"/>
                <a:cs typeface="Tahoma"/>
              </a:rPr>
              <a:t>t</a:t>
            </a:r>
            <a:r>
              <a:rPr sz="1867" spc="-7" dirty="0">
                <a:latin typeface="Tahoma"/>
                <a:cs typeface="Tahoma"/>
              </a:rPr>
              <a:t>i</a:t>
            </a:r>
            <a:r>
              <a:rPr sz="1867" spc="13" dirty="0">
                <a:latin typeface="Tahoma"/>
                <a:cs typeface="Tahoma"/>
              </a:rPr>
              <a:t>ona</a:t>
            </a:r>
            <a:r>
              <a:rPr sz="1867" spc="7" dirty="0">
                <a:latin typeface="Tahoma"/>
                <a:cs typeface="Tahoma"/>
              </a:rPr>
              <a:t>l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p</a:t>
            </a:r>
            <a:r>
              <a:rPr sz="1867" spc="33" dirty="0">
                <a:latin typeface="Tahoma"/>
                <a:cs typeface="Tahoma"/>
              </a:rPr>
              <a:t>a</a:t>
            </a:r>
            <a:r>
              <a:rPr sz="1867" spc="-67" dirty="0">
                <a:latin typeface="Tahoma"/>
                <a:cs typeface="Tahoma"/>
              </a:rPr>
              <a:t>r</a:t>
            </a:r>
            <a:r>
              <a:rPr sz="1867" spc="-7" dirty="0">
                <a:latin typeface="Tahoma"/>
                <a:cs typeface="Tahoma"/>
              </a:rPr>
              <a:t>i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dirty="0">
                <a:latin typeface="Tahoma"/>
                <a:cs typeface="Tahoma"/>
              </a:rPr>
              <a:t>y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b</a:t>
            </a:r>
            <a:r>
              <a:rPr sz="1867" dirty="0">
                <a:latin typeface="Tahoma"/>
                <a:cs typeface="Tahoma"/>
              </a:rPr>
              <a:t>i</a:t>
            </a:r>
            <a:r>
              <a:rPr sz="1867" spc="-107" dirty="0">
                <a:latin typeface="Tahoma"/>
                <a:cs typeface="Tahoma"/>
              </a:rPr>
              <a:t>t</a:t>
            </a:r>
            <a:r>
              <a:rPr sz="1867" spc="-47" dirty="0">
                <a:latin typeface="Tahoma"/>
                <a:cs typeface="Tahoma"/>
              </a:rPr>
              <a:t>.</a:t>
            </a:r>
            <a:endParaRPr sz="1867">
              <a:latin typeface="Tahoma"/>
              <a:cs typeface="Tahoma"/>
            </a:endParaRPr>
          </a:p>
          <a:p>
            <a:pPr marL="389457" algn="just">
              <a:lnSpc>
                <a:spcPts val="2227"/>
              </a:lnSpc>
            </a:pPr>
            <a:r>
              <a:rPr sz="1867" spc="27" dirty="0">
                <a:latin typeface="Tahoma"/>
                <a:cs typeface="Tahoma"/>
              </a:rPr>
              <a:t>Stop</a:t>
            </a:r>
            <a:r>
              <a:rPr sz="1867" spc="-60" dirty="0">
                <a:latin typeface="Tahoma"/>
                <a:cs typeface="Tahoma"/>
              </a:rPr>
              <a:t> -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1,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1.5,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2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stop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bits.</a:t>
            </a:r>
            <a:endParaRPr sz="1867">
              <a:latin typeface="Tahoma"/>
              <a:cs typeface="Tahoma"/>
            </a:endParaRPr>
          </a:p>
          <a:p>
            <a:pPr marL="389457" marR="6773" algn="just"/>
            <a:r>
              <a:rPr sz="1867" spc="60" dirty="0">
                <a:latin typeface="Tahoma"/>
                <a:cs typeface="Tahoma"/>
              </a:rPr>
              <a:t>An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RS-232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bus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does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not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have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clock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line.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73" dirty="0">
                <a:latin typeface="Tahoma"/>
                <a:cs typeface="Tahoma"/>
              </a:rPr>
              <a:t>Each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device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uses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its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own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clock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to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determine </a:t>
            </a:r>
            <a:r>
              <a:rPr sz="1867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when</a:t>
            </a:r>
            <a:r>
              <a:rPr sz="1867" spc="-47" dirty="0">
                <a:latin typeface="Tahoma"/>
                <a:cs typeface="Tahoma"/>
              </a:rPr>
              <a:t> to </a:t>
            </a:r>
            <a:r>
              <a:rPr sz="1867" spc="27" dirty="0">
                <a:latin typeface="Tahoma"/>
                <a:cs typeface="Tahoma"/>
              </a:rPr>
              <a:t>sample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data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lines.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87" dirty="0">
                <a:latin typeface="Tahoma"/>
                <a:cs typeface="Tahoma"/>
              </a:rPr>
              <a:t>In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many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designs,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107" dirty="0">
                <a:latin typeface="Tahoma"/>
                <a:cs typeface="Tahoma"/>
              </a:rPr>
              <a:t>UART</a:t>
            </a:r>
            <a:r>
              <a:rPr sz="1867" spc="-93" dirty="0">
                <a:latin typeface="Tahoma"/>
                <a:cs typeface="Tahoma"/>
              </a:rPr>
              <a:t> </a:t>
            </a:r>
            <a:r>
              <a:rPr sz="1867" spc="60" dirty="0">
                <a:latin typeface="Tahoma"/>
                <a:cs typeface="Tahoma"/>
              </a:rPr>
              <a:t>uses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rising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edges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of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8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Tx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and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93" dirty="0">
                <a:latin typeface="Tahoma"/>
                <a:cs typeface="Tahoma"/>
              </a:rPr>
              <a:t>Rx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signals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to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synchronize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its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clock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with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other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device’s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clock.</a:t>
            </a:r>
            <a:endParaRPr sz="1867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947" y="4178908"/>
            <a:ext cx="7802880" cy="1344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424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Peripheral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Interface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(SPI)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243477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25" y="316629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7825" y="426357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7825" y="499509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7825" y="1720187"/>
            <a:ext cx="10005907" cy="40797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785687" indent="-406390">
              <a:spcBef>
                <a:spcPts val="133"/>
              </a:spcBef>
              <a:buChar char="○"/>
              <a:tabLst>
                <a:tab pos="422476" algn="l"/>
                <a:tab pos="423323" algn="l"/>
              </a:tabLst>
            </a:pPr>
            <a:r>
              <a:rPr sz="2400" dirty="0">
                <a:latin typeface="Tahoma"/>
                <a:cs typeface="Tahoma"/>
              </a:rPr>
              <a:t>Originally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developed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Motorola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late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1980s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their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68000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series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micro-controllers.</a:t>
            </a:r>
            <a:endParaRPr sz="2400">
              <a:latin typeface="Tahoma"/>
              <a:cs typeface="Tahoma"/>
            </a:endParaRPr>
          </a:p>
          <a:p>
            <a:pPr marL="423323" marR="581645"/>
            <a:r>
              <a:rPr sz="2400" spc="93" dirty="0">
                <a:latin typeface="Tahoma"/>
                <a:cs typeface="Tahoma"/>
              </a:rPr>
              <a:t>SPI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primarily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used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between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microcontrollers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and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their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immediate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peripheral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devices.</a:t>
            </a:r>
            <a:endParaRPr sz="2400">
              <a:latin typeface="Tahoma"/>
              <a:cs typeface="Tahoma"/>
            </a:endParaRPr>
          </a:p>
          <a:p>
            <a:pPr marL="423323" marR="176949"/>
            <a:r>
              <a:rPr sz="2400" spc="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SPI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bus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master/slave,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4-wire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serial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communications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bus.</a:t>
            </a:r>
            <a:r>
              <a:rPr sz="2400" spc="-11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The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four </a:t>
            </a:r>
            <a:r>
              <a:rPr sz="2400" spc="33" dirty="0">
                <a:latin typeface="Tahoma"/>
                <a:cs typeface="Tahoma"/>
              </a:rPr>
              <a:t>signals </a:t>
            </a:r>
            <a:r>
              <a:rPr sz="2400" spc="20" dirty="0">
                <a:latin typeface="Tahoma"/>
                <a:cs typeface="Tahoma"/>
              </a:rPr>
              <a:t>are </a:t>
            </a:r>
            <a:r>
              <a:rPr sz="2400" spc="33" dirty="0">
                <a:latin typeface="Tahoma"/>
                <a:cs typeface="Tahoma"/>
              </a:rPr>
              <a:t>clock </a:t>
            </a:r>
            <a:r>
              <a:rPr sz="2400" spc="73" dirty="0">
                <a:latin typeface="Tahoma"/>
                <a:cs typeface="Tahoma"/>
              </a:rPr>
              <a:t>(SCLK), </a:t>
            </a:r>
            <a:r>
              <a:rPr sz="2400" dirty="0">
                <a:latin typeface="Tahoma"/>
                <a:cs typeface="Tahoma"/>
              </a:rPr>
              <a:t>master </a:t>
            </a:r>
            <a:r>
              <a:rPr sz="2400" spc="-27" dirty="0">
                <a:latin typeface="Tahoma"/>
                <a:cs typeface="Tahoma"/>
              </a:rPr>
              <a:t>output/slave </a:t>
            </a:r>
            <a:r>
              <a:rPr sz="2400" spc="-40" dirty="0">
                <a:latin typeface="Tahoma"/>
                <a:cs typeface="Tahoma"/>
              </a:rPr>
              <a:t>input </a:t>
            </a:r>
            <a:r>
              <a:rPr sz="2400" spc="7" dirty="0">
                <a:latin typeface="Tahoma"/>
                <a:cs typeface="Tahoma"/>
              </a:rPr>
              <a:t>(MOSI), </a:t>
            </a:r>
            <a:r>
              <a:rPr sz="2400" spc="1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master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input/slave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output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(MISO),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slave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select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(SS).</a:t>
            </a:r>
            <a:endParaRPr sz="2400">
              <a:latin typeface="Tahoma"/>
              <a:cs typeface="Tahoma"/>
            </a:endParaRPr>
          </a:p>
          <a:p>
            <a:pPr marL="423323" marR="6773"/>
            <a:r>
              <a:rPr sz="2400" spc="20" dirty="0">
                <a:latin typeface="Tahoma"/>
                <a:cs typeface="Tahoma"/>
              </a:rPr>
              <a:t>Whenever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two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devices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communicate,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one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referred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as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"master"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other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87" dirty="0">
                <a:latin typeface="Tahoma"/>
                <a:cs typeface="Tahoma"/>
              </a:rPr>
              <a:t>as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“slave”.</a:t>
            </a:r>
            <a:endParaRPr sz="2400">
              <a:latin typeface="Tahoma"/>
              <a:cs typeface="Tahoma"/>
            </a:endParaRPr>
          </a:p>
          <a:p>
            <a:pPr marL="423323" marR="237907"/>
            <a:r>
              <a:rPr sz="2400" spc="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master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drives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serial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clock.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simultaneously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transmitted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received,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making</a:t>
            </a:r>
            <a:r>
              <a:rPr sz="2400" spc="-87" dirty="0">
                <a:latin typeface="Tahoma"/>
                <a:cs typeface="Tahoma"/>
              </a:rPr>
              <a:t> 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full-duplex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protocol.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424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Peripheral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Interface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(SPI)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  <a:p>
            <a:pPr marL="931310" lvl="1" indent="-407236">
              <a:buChar char="○"/>
              <a:tabLst>
                <a:tab pos="930463" algn="l"/>
                <a:tab pos="931310" algn="l"/>
              </a:tabLst>
            </a:pPr>
            <a:r>
              <a:rPr sz="2400" spc="47" dirty="0">
                <a:latin typeface="Tahoma"/>
                <a:cs typeface="Tahoma"/>
              </a:rPr>
              <a:t>Common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SPI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configuration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7105" y="2214640"/>
            <a:ext cx="5994400" cy="42299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424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05543" marR="6773" indent="-405543" algn="r">
              <a:spcBef>
                <a:spcPts val="133"/>
              </a:spcBef>
              <a:buChar char="●"/>
              <a:tabLst>
                <a:tab pos="405543" algn="l"/>
                <a:tab pos="406390" algn="l"/>
              </a:tabLst>
            </a:pP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Peripheral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Interface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(SPI)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  <a:p>
            <a:pPr marL="405543" marR="89744" lvl="1" indent="-405543" algn="r">
              <a:buChar char="○"/>
              <a:tabLst>
                <a:tab pos="405543" algn="l"/>
                <a:tab pos="406390" algn="l"/>
              </a:tabLst>
            </a:pPr>
            <a:r>
              <a:rPr sz="2400" spc="47" dirty="0">
                <a:latin typeface="Tahoma"/>
                <a:cs typeface="Tahoma"/>
              </a:rPr>
              <a:t>Daisy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chained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SPI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configuration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7333" y="2233697"/>
            <a:ext cx="5755640" cy="4497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4246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Peripheral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Interface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(SPI)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017" y="2185111"/>
            <a:ext cx="6055135" cy="4493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534246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4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Peripheral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Interface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(SPI)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  <a:p>
            <a:pPr marL="931310" lvl="1" indent="-407236">
              <a:buChar char="○"/>
              <a:tabLst>
                <a:tab pos="930463" algn="l"/>
                <a:tab pos="931310" algn="l"/>
              </a:tabLst>
            </a:pPr>
            <a:r>
              <a:rPr sz="2400" spc="80" dirty="0">
                <a:latin typeface="Tahoma"/>
                <a:cs typeface="Tahoma"/>
              </a:rPr>
              <a:t>Pros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5825" y="2069014"/>
            <a:ext cx="21844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52226" y="2085947"/>
            <a:ext cx="7212753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60" dirty="0">
                <a:latin typeface="Tahoma"/>
                <a:cs typeface="Tahoma"/>
              </a:rPr>
              <a:t>Fast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point-to-point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connections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spc="60" dirty="0">
                <a:latin typeface="Tahoma"/>
                <a:cs typeface="Tahoma"/>
              </a:rPr>
              <a:t>Easily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allows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streaming/constant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data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inflow</a:t>
            </a:r>
            <a:endParaRPr sz="2400">
              <a:latin typeface="Tahoma"/>
              <a:cs typeface="Tahoma"/>
            </a:endParaRPr>
          </a:p>
          <a:p>
            <a:pPr marL="16933" marR="6773"/>
            <a:r>
              <a:rPr sz="2400" spc="73" dirty="0">
                <a:latin typeface="Tahoma"/>
                <a:cs typeface="Tahoma"/>
              </a:rPr>
              <a:t>No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addressing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protocol,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so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it’s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simple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to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implement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Broadly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supported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7825" y="353205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226" y="3548987"/>
            <a:ext cx="74422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160" dirty="0">
                <a:latin typeface="Tahoma"/>
                <a:cs typeface="Tahoma"/>
              </a:rPr>
              <a:t>C</a:t>
            </a:r>
            <a:r>
              <a:rPr sz="2400" spc="133" dirty="0">
                <a:latin typeface="Tahoma"/>
                <a:cs typeface="Tahoma"/>
              </a:rPr>
              <a:t>o</a:t>
            </a:r>
            <a:r>
              <a:rPr sz="2400" spc="53" dirty="0">
                <a:latin typeface="Tahoma"/>
                <a:cs typeface="Tahoma"/>
              </a:rPr>
              <a:t>ns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45825" y="3897814"/>
            <a:ext cx="21844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■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52226" y="3914747"/>
            <a:ext cx="8250767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2400" spc="67" dirty="0">
                <a:latin typeface="Tahoma"/>
                <a:cs typeface="Tahoma"/>
              </a:rPr>
              <a:t>Slave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select/chip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select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makes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multiple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slaves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more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complex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No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acknowledgement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(can’t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tell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if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clocking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garbage)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spc="73" dirty="0">
                <a:latin typeface="Tahoma"/>
                <a:cs typeface="Tahoma"/>
              </a:rPr>
              <a:t>No</a:t>
            </a:r>
            <a:r>
              <a:rPr sz="2400" spc="-13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inherent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arbitration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spc="73" dirty="0">
                <a:latin typeface="Tahoma"/>
                <a:cs typeface="Tahoma"/>
              </a:rPr>
              <a:t>No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flow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control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(must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know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slave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speed)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50054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243477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25" y="353205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7825" y="1720187"/>
            <a:ext cx="9904307" cy="2602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220128" indent="-406390">
              <a:spcBef>
                <a:spcPts val="133"/>
              </a:spcBef>
              <a:buChar char="○"/>
              <a:tabLst>
                <a:tab pos="422476" algn="l"/>
                <a:tab pos="423323" algn="l"/>
              </a:tabLst>
            </a:pPr>
            <a:r>
              <a:rPr sz="2400" spc="-180" dirty="0">
                <a:latin typeface="Tahoma"/>
                <a:cs typeface="Tahoma"/>
              </a:rPr>
              <a:t>It </a:t>
            </a:r>
            <a:r>
              <a:rPr sz="2400" spc="40" dirty="0">
                <a:latin typeface="Tahoma"/>
                <a:cs typeface="Tahoma"/>
              </a:rPr>
              <a:t>was </a:t>
            </a:r>
            <a:r>
              <a:rPr sz="2400" spc="-13" dirty="0">
                <a:latin typeface="Tahoma"/>
                <a:cs typeface="Tahoma"/>
              </a:rPr>
              <a:t>originally </a:t>
            </a:r>
            <a:r>
              <a:rPr sz="2400" spc="20" dirty="0">
                <a:latin typeface="Tahoma"/>
                <a:cs typeface="Tahoma"/>
              </a:rPr>
              <a:t>developed </a:t>
            </a:r>
            <a:r>
              <a:rPr sz="2400" dirty="0">
                <a:latin typeface="Tahoma"/>
                <a:cs typeface="Tahoma"/>
              </a:rPr>
              <a:t>by </a:t>
            </a:r>
            <a:r>
              <a:rPr sz="2400" spc="40" dirty="0">
                <a:latin typeface="Tahoma"/>
                <a:cs typeface="Tahoma"/>
              </a:rPr>
              <a:t>Philips </a:t>
            </a:r>
            <a:r>
              <a:rPr sz="2400" spc="-20" dirty="0">
                <a:latin typeface="Tahoma"/>
                <a:cs typeface="Tahoma"/>
              </a:rPr>
              <a:t>in </a:t>
            </a:r>
            <a:r>
              <a:rPr sz="2400" spc="-33" dirty="0">
                <a:latin typeface="Tahoma"/>
                <a:cs typeface="Tahoma"/>
              </a:rPr>
              <a:t>the </a:t>
            </a:r>
            <a:r>
              <a:rPr sz="2400" spc="7" dirty="0">
                <a:latin typeface="Tahoma"/>
                <a:cs typeface="Tahoma"/>
              </a:rPr>
              <a:t>early </a:t>
            </a:r>
            <a:r>
              <a:rPr sz="2400" spc="33" dirty="0">
                <a:latin typeface="Tahoma"/>
                <a:cs typeface="Tahoma"/>
              </a:rPr>
              <a:t>1980s </a:t>
            </a:r>
            <a:r>
              <a:rPr sz="2400" spc="-53" dirty="0">
                <a:latin typeface="Tahoma"/>
                <a:cs typeface="Tahoma"/>
              </a:rPr>
              <a:t>to </a:t>
            </a:r>
            <a:r>
              <a:rPr sz="2400" dirty="0">
                <a:latin typeface="Tahoma"/>
                <a:cs typeface="Tahoma"/>
              </a:rPr>
              <a:t>provide </a:t>
            </a:r>
            <a:r>
              <a:rPr sz="2400" spc="73" dirty="0">
                <a:latin typeface="Tahoma"/>
                <a:cs typeface="Tahoma"/>
              </a:rPr>
              <a:t>a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low-cost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way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of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connecting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controllers</a:t>
            </a:r>
            <a:r>
              <a:rPr sz="2400" spc="-60" dirty="0">
                <a:latin typeface="Tahoma"/>
                <a:cs typeface="Tahoma"/>
              </a:rPr>
              <a:t> to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peripheral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chips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in</a:t>
            </a:r>
            <a:r>
              <a:rPr sz="2400" spc="-127" dirty="0">
                <a:latin typeface="Tahoma"/>
                <a:cs typeface="Tahoma"/>
              </a:rPr>
              <a:t> </a:t>
            </a:r>
            <a:r>
              <a:rPr sz="2400" spc="120" dirty="0">
                <a:latin typeface="Tahoma"/>
                <a:cs typeface="Tahoma"/>
              </a:rPr>
              <a:t>TV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sets.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The </a:t>
            </a:r>
            <a:r>
              <a:rPr sz="2400" spc="20" dirty="0">
                <a:latin typeface="Tahoma"/>
                <a:cs typeface="Tahoma"/>
              </a:rPr>
              <a:t>simple </a:t>
            </a:r>
            <a:r>
              <a:rPr sz="2400" spc="-47" dirty="0">
                <a:latin typeface="Tahoma"/>
                <a:cs typeface="Tahoma"/>
              </a:rPr>
              <a:t>two-wire </a:t>
            </a:r>
            <a:r>
              <a:rPr sz="2400" spc="20" dirty="0">
                <a:latin typeface="Tahoma"/>
                <a:cs typeface="Tahoma"/>
              </a:rPr>
              <a:t>design </a:t>
            </a:r>
            <a:r>
              <a:rPr sz="2400" spc="53" dirty="0">
                <a:latin typeface="Tahoma"/>
                <a:cs typeface="Tahoma"/>
              </a:rPr>
              <a:t>has </a:t>
            </a:r>
            <a:r>
              <a:rPr sz="2400" spc="-27" dirty="0">
                <a:latin typeface="Tahoma"/>
                <a:cs typeface="Tahoma"/>
              </a:rPr>
              <a:t>found </a:t>
            </a:r>
            <a:r>
              <a:rPr sz="2400" spc="-13" dirty="0">
                <a:latin typeface="Tahoma"/>
                <a:cs typeface="Tahoma"/>
              </a:rPr>
              <a:t>its </a:t>
            </a:r>
            <a:r>
              <a:rPr sz="2400" dirty="0">
                <a:latin typeface="Tahoma"/>
                <a:cs typeface="Tahoma"/>
              </a:rPr>
              <a:t>way </a:t>
            </a:r>
            <a:r>
              <a:rPr sz="2400" spc="-40" dirty="0">
                <a:latin typeface="Tahoma"/>
                <a:cs typeface="Tahoma"/>
              </a:rPr>
              <a:t>into </a:t>
            </a:r>
            <a:r>
              <a:rPr sz="2400" spc="73" dirty="0">
                <a:latin typeface="Tahoma"/>
                <a:cs typeface="Tahoma"/>
              </a:rPr>
              <a:t>a </a:t>
            </a:r>
            <a:r>
              <a:rPr sz="2400" spc="-7" dirty="0">
                <a:latin typeface="Tahoma"/>
                <a:cs typeface="Tahoma"/>
              </a:rPr>
              <a:t>wide </a:t>
            </a:r>
            <a:r>
              <a:rPr sz="2400" spc="-13" dirty="0">
                <a:latin typeface="Tahoma"/>
                <a:cs typeface="Tahoma"/>
              </a:rPr>
              <a:t>variety </a:t>
            </a:r>
            <a:r>
              <a:rPr sz="2400" spc="-47" dirty="0">
                <a:latin typeface="Tahoma"/>
                <a:cs typeface="Tahoma"/>
              </a:rPr>
              <a:t>of 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chips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like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93" dirty="0">
                <a:latin typeface="Tahoma"/>
                <a:cs typeface="Tahoma"/>
              </a:rPr>
              <a:t>I/O,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A/Ds,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D/As,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temperature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sensors,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microcontrollers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microprocessors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from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numerous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leading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chipmakers.</a:t>
            </a:r>
            <a:endParaRPr sz="2400">
              <a:latin typeface="Tahoma"/>
              <a:cs typeface="Tahoma"/>
            </a:endParaRPr>
          </a:p>
          <a:p>
            <a:pPr marL="423323" marR="6773"/>
            <a:r>
              <a:rPr sz="2400" spc="-33" dirty="0">
                <a:latin typeface="Tahoma"/>
                <a:cs typeface="Tahoma"/>
              </a:rPr>
              <a:t>Two-wire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interface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comprised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of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bi-directional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serial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clock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87" dirty="0">
                <a:latin typeface="Tahoma"/>
                <a:cs typeface="Tahoma"/>
              </a:rPr>
              <a:t>(SCL)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data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(SDA)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lines.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2870" y="4047305"/>
            <a:ext cx="6726817" cy="26949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50054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243477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7825" y="389781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7825" y="462933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7825" y="5360853"/>
            <a:ext cx="2184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7826" y="1720187"/>
            <a:ext cx="9911079" cy="481841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27093" indent="-406390">
              <a:spcBef>
                <a:spcPts val="133"/>
              </a:spcBef>
              <a:buChar char="○"/>
              <a:tabLst>
                <a:tab pos="422476" algn="l"/>
                <a:tab pos="423323" algn="l"/>
              </a:tabLst>
            </a:pPr>
            <a:r>
              <a:rPr sz="2400" spc="47" dirty="0">
                <a:latin typeface="Tahoma"/>
                <a:cs typeface="Tahoma"/>
              </a:rPr>
              <a:t>Any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I2C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can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be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attached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to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bus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allowing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any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master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to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exchange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information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with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slave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device.</a:t>
            </a:r>
            <a:endParaRPr sz="2400">
              <a:latin typeface="Tahoma"/>
              <a:cs typeface="Tahoma"/>
            </a:endParaRPr>
          </a:p>
          <a:p>
            <a:pPr marL="423323" marR="68578"/>
            <a:r>
              <a:rPr sz="2400" spc="93" dirty="0">
                <a:latin typeface="Tahoma"/>
                <a:cs typeface="Tahoma"/>
              </a:rPr>
              <a:t>Each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device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recognized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unique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address.</a:t>
            </a:r>
            <a:r>
              <a:rPr sz="2400" spc="-233" dirty="0">
                <a:latin typeface="Tahoma"/>
                <a:cs typeface="Tahoma"/>
              </a:rPr>
              <a:t> </a:t>
            </a:r>
            <a:r>
              <a:rPr sz="2400" spc="160" dirty="0">
                <a:latin typeface="Tahoma"/>
                <a:cs typeface="Tahoma"/>
              </a:rPr>
              <a:t>A</a:t>
            </a:r>
            <a:r>
              <a:rPr sz="2400" spc="-20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can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operate 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as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either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transmitter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receiver,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depending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its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function.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Initially,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I2C </a:t>
            </a:r>
            <a:r>
              <a:rPr sz="2400" spc="-7" dirty="0">
                <a:latin typeface="Tahoma"/>
                <a:cs typeface="Tahoma"/>
              </a:rPr>
              <a:t>only </a:t>
            </a:r>
            <a:r>
              <a:rPr sz="2400" spc="40" dirty="0">
                <a:latin typeface="Tahoma"/>
                <a:cs typeface="Tahoma"/>
              </a:rPr>
              <a:t>used </a:t>
            </a:r>
            <a:r>
              <a:rPr sz="2400" spc="-47" dirty="0">
                <a:latin typeface="Tahoma"/>
                <a:cs typeface="Tahoma"/>
              </a:rPr>
              <a:t>7-bit </a:t>
            </a:r>
            <a:r>
              <a:rPr sz="2400" spc="40" dirty="0">
                <a:latin typeface="Tahoma"/>
                <a:cs typeface="Tahoma"/>
              </a:rPr>
              <a:t>addresses, </a:t>
            </a:r>
            <a:r>
              <a:rPr sz="2400" spc="-53" dirty="0">
                <a:latin typeface="Tahoma"/>
                <a:cs typeface="Tahoma"/>
              </a:rPr>
              <a:t>but </a:t>
            </a:r>
            <a:r>
              <a:rPr sz="2400" spc="13" dirty="0">
                <a:latin typeface="Tahoma"/>
                <a:cs typeface="Tahoma"/>
              </a:rPr>
              <a:t>evolved </a:t>
            </a:r>
            <a:r>
              <a:rPr sz="2400" spc="-53" dirty="0">
                <a:latin typeface="Tahoma"/>
                <a:cs typeface="Tahoma"/>
              </a:rPr>
              <a:t>to </a:t>
            </a:r>
            <a:r>
              <a:rPr sz="2400" spc="-7" dirty="0">
                <a:latin typeface="Tahoma"/>
                <a:cs typeface="Tahoma"/>
              </a:rPr>
              <a:t>allow </a:t>
            </a:r>
            <a:r>
              <a:rPr sz="2400" spc="-40" dirty="0">
                <a:latin typeface="Tahoma"/>
                <a:cs typeface="Tahoma"/>
              </a:rPr>
              <a:t>10-bit </a:t>
            </a:r>
            <a:r>
              <a:rPr sz="2400" spc="27" dirty="0">
                <a:latin typeface="Tahoma"/>
                <a:cs typeface="Tahoma"/>
              </a:rPr>
              <a:t>addressing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as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well.</a:t>
            </a:r>
            <a:endParaRPr sz="2400">
              <a:latin typeface="Tahoma"/>
              <a:cs typeface="Tahoma"/>
            </a:endParaRPr>
          </a:p>
          <a:p>
            <a:pPr marL="423323" marR="6773"/>
            <a:r>
              <a:rPr sz="2400" spc="20" dirty="0">
                <a:latin typeface="Tahoma"/>
                <a:cs typeface="Tahoma"/>
              </a:rPr>
              <a:t>Three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bit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rates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are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supported: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100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kb/s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(standard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mode),400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kb/s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(fast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mode),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and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3.4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Mb/s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(high-speed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mode).</a:t>
            </a:r>
            <a:endParaRPr sz="2400">
              <a:latin typeface="Tahoma"/>
              <a:cs typeface="Tahoma"/>
            </a:endParaRPr>
          </a:p>
          <a:p>
            <a:pPr marL="423323" marR="1005815"/>
            <a:r>
              <a:rPr sz="2400" spc="33" dirty="0">
                <a:latin typeface="Tahoma"/>
                <a:cs typeface="Tahoma"/>
              </a:rPr>
              <a:t>The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maximum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number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of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devices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determined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73" dirty="0">
                <a:latin typeface="Tahoma"/>
                <a:cs typeface="Tahoma"/>
              </a:rPr>
              <a:t>a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maximum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capacitance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of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400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pF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or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roughly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20-30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devices.</a:t>
            </a:r>
            <a:endParaRPr sz="2400">
              <a:latin typeface="Tahoma"/>
              <a:cs typeface="Tahoma"/>
            </a:endParaRPr>
          </a:p>
          <a:p>
            <a:pPr marL="423323" marR="1433371"/>
            <a:r>
              <a:rPr sz="2400" spc="167" dirty="0">
                <a:latin typeface="Tahoma"/>
                <a:cs typeface="Tahoma"/>
              </a:rPr>
              <a:t>SDA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(data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line)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bidirectional,communication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half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duplex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107" dirty="0">
                <a:latin typeface="Tahoma"/>
                <a:cs typeface="Tahoma"/>
              </a:rPr>
              <a:t>SDA,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27" dirty="0">
                <a:latin typeface="Tahoma"/>
                <a:cs typeface="Tahoma"/>
              </a:rPr>
              <a:t>SCL</a:t>
            </a:r>
            <a:r>
              <a:rPr sz="2400" spc="-173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are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open-drain,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require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external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pullup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resistors</a:t>
            </a:r>
            <a:endParaRPr sz="2400">
              <a:latin typeface="Tahoma"/>
              <a:cs typeface="Tahoma"/>
            </a:endParaRPr>
          </a:p>
          <a:p>
            <a:pPr marL="423323"/>
            <a:r>
              <a:rPr sz="2400" spc="20" dirty="0">
                <a:latin typeface="Tahoma"/>
                <a:cs typeface="Tahoma"/>
              </a:rPr>
              <a:t>–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Allows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multiple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bus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masters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500549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107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692" y="1708334"/>
            <a:ext cx="177800" cy="5813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33"/>
              </a:lnSpc>
              <a:spcBef>
                <a:spcPts val="133"/>
              </a:spcBef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  <a:p>
            <a:pPr marL="16933">
              <a:lnSpc>
                <a:spcPts val="2233"/>
              </a:lnSpc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692" y="3413521"/>
            <a:ext cx="177800" cy="5813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lnSpc>
                <a:spcPts val="2233"/>
              </a:lnSpc>
              <a:spcBef>
                <a:spcPts val="133"/>
              </a:spcBef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  <a:p>
            <a:pPr marL="16933">
              <a:lnSpc>
                <a:spcPts val="2233"/>
              </a:lnSpc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1693" y="1720187"/>
            <a:ext cx="9663007" cy="23104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57" marR="6773">
              <a:spcBef>
                <a:spcPts val="133"/>
              </a:spcBef>
            </a:pPr>
            <a:r>
              <a:rPr sz="1867" b="1" spc="-7" dirty="0">
                <a:latin typeface="Arial"/>
                <a:cs typeface="Arial"/>
              </a:rPr>
              <a:t>Start </a:t>
            </a:r>
            <a:r>
              <a:rPr sz="1867" spc="-60" dirty="0">
                <a:latin typeface="Tahoma"/>
                <a:cs typeface="Tahoma"/>
              </a:rPr>
              <a:t>- </a:t>
            </a:r>
            <a:r>
              <a:rPr sz="1867" spc="13" dirty="0">
                <a:latin typeface="Tahoma"/>
                <a:cs typeface="Tahoma"/>
              </a:rPr>
              <a:t>indicates </a:t>
            </a:r>
            <a:r>
              <a:rPr sz="1867" spc="-20" dirty="0">
                <a:latin typeface="Tahoma"/>
                <a:cs typeface="Tahoma"/>
              </a:rPr>
              <a:t>the </a:t>
            </a:r>
            <a:r>
              <a:rPr sz="1867" spc="27" dirty="0">
                <a:latin typeface="Tahoma"/>
                <a:cs typeface="Tahoma"/>
              </a:rPr>
              <a:t>device </a:t>
            </a:r>
            <a:r>
              <a:rPr sz="1867" spc="40" dirty="0">
                <a:latin typeface="Tahoma"/>
                <a:cs typeface="Tahoma"/>
              </a:rPr>
              <a:t>is </a:t>
            </a:r>
            <a:r>
              <a:rPr sz="1867" spc="-13" dirty="0">
                <a:latin typeface="Tahoma"/>
                <a:cs typeface="Tahoma"/>
              </a:rPr>
              <a:t>taking control </a:t>
            </a:r>
            <a:r>
              <a:rPr sz="1867" spc="-33" dirty="0">
                <a:latin typeface="Tahoma"/>
                <a:cs typeface="Tahoma"/>
              </a:rPr>
              <a:t>of </a:t>
            </a:r>
            <a:r>
              <a:rPr sz="1867" spc="-20" dirty="0">
                <a:latin typeface="Tahoma"/>
                <a:cs typeface="Tahoma"/>
              </a:rPr>
              <a:t>the </a:t>
            </a:r>
            <a:r>
              <a:rPr sz="1867" spc="33" dirty="0">
                <a:latin typeface="Tahoma"/>
                <a:cs typeface="Tahoma"/>
              </a:rPr>
              <a:t>bus </a:t>
            </a:r>
            <a:r>
              <a:rPr sz="1867" spc="13" dirty="0">
                <a:latin typeface="Tahoma"/>
                <a:cs typeface="Tahoma"/>
              </a:rPr>
              <a:t>and </a:t>
            </a:r>
            <a:r>
              <a:rPr sz="1867" spc="-40" dirty="0">
                <a:latin typeface="Tahoma"/>
                <a:cs typeface="Tahoma"/>
              </a:rPr>
              <a:t>that </a:t>
            </a:r>
            <a:r>
              <a:rPr sz="1867" spc="53" dirty="0">
                <a:latin typeface="Tahoma"/>
                <a:cs typeface="Tahoma"/>
              </a:rPr>
              <a:t>a </a:t>
            </a:r>
            <a:r>
              <a:rPr sz="1867" spc="47" dirty="0">
                <a:latin typeface="Tahoma"/>
                <a:cs typeface="Tahoma"/>
              </a:rPr>
              <a:t>message </a:t>
            </a:r>
            <a:r>
              <a:rPr sz="1867" spc="-20" dirty="0">
                <a:latin typeface="Tahoma"/>
                <a:cs typeface="Tahoma"/>
              </a:rPr>
              <a:t>will </a:t>
            </a:r>
            <a:r>
              <a:rPr sz="1867" spc="-40" dirty="0">
                <a:latin typeface="Tahoma"/>
                <a:cs typeface="Tahoma"/>
              </a:rPr>
              <a:t>follow. </a:t>
            </a:r>
            <a:r>
              <a:rPr sz="1867" spc="-33" dirty="0">
                <a:latin typeface="Tahoma"/>
                <a:cs typeface="Tahoma"/>
              </a:rPr>
              <a:t> </a:t>
            </a:r>
            <a:r>
              <a:rPr sz="1867" b="1" spc="-7" dirty="0">
                <a:latin typeface="Arial"/>
                <a:cs typeface="Arial"/>
              </a:rPr>
              <a:t>Address</a:t>
            </a:r>
            <a:r>
              <a:rPr sz="1867" b="1" spc="7" dirty="0">
                <a:latin typeface="Arial"/>
                <a:cs typeface="Arial"/>
              </a:rPr>
              <a:t> </a:t>
            </a:r>
            <a:r>
              <a:rPr sz="1867" spc="-60" dirty="0">
                <a:latin typeface="Tahoma"/>
                <a:cs typeface="Tahoma"/>
              </a:rPr>
              <a:t>-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7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10</a:t>
            </a:r>
            <a:r>
              <a:rPr sz="1867" spc="-47" dirty="0">
                <a:latin typeface="Tahoma"/>
                <a:cs typeface="Tahoma"/>
              </a:rPr>
              <a:t> bit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number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representing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address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of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device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that</a:t>
            </a:r>
            <a:r>
              <a:rPr sz="1867" spc="-33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will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either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be </a:t>
            </a:r>
            <a:r>
              <a:rPr sz="1867" spc="-5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read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from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or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written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to.</a:t>
            </a:r>
            <a:endParaRPr sz="1867">
              <a:latin typeface="Tahoma"/>
              <a:cs typeface="Tahoma"/>
            </a:endParaRPr>
          </a:p>
          <a:p>
            <a:pPr marL="389457" indent="-372524">
              <a:lnSpc>
                <a:spcPts val="2227"/>
              </a:lnSpc>
              <a:buFont typeface="Tahoma"/>
              <a:buChar char="○"/>
              <a:tabLst>
                <a:tab pos="388610" algn="l"/>
                <a:tab pos="389457" algn="l"/>
              </a:tabLst>
            </a:pPr>
            <a:r>
              <a:rPr sz="1867" b="1" spc="-7" dirty="0">
                <a:latin typeface="Arial"/>
                <a:cs typeface="Arial"/>
              </a:rPr>
              <a:t>R/W</a:t>
            </a:r>
            <a:r>
              <a:rPr sz="1867" b="1" spc="7" dirty="0">
                <a:latin typeface="Arial"/>
                <a:cs typeface="Arial"/>
              </a:rPr>
              <a:t> </a:t>
            </a:r>
            <a:r>
              <a:rPr sz="1867" b="1" spc="-7" dirty="0">
                <a:latin typeface="Arial"/>
                <a:cs typeface="Arial"/>
              </a:rPr>
              <a:t>Bit</a:t>
            </a:r>
            <a:r>
              <a:rPr sz="1867" b="1" spc="27" dirty="0">
                <a:latin typeface="Arial"/>
                <a:cs typeface="Arial"/>
              </a:rPr>
              <a:t> </a:t>
            </a:r>
            <a:r>
              <a:rPr sz="1867" spc="-60" dirty="0">
                <a:latin typeface="Tahoma"/>
                <a:cs typeface="Tahoma"/>
              </a:rPr>
              <a:t>- </a:t>
            </a:r>
            <a:r>
              <a:rPr sz="1867" spc="20" dirty="0">
                <a:latin typeface="Tahoma"/>
                <a:cs typeface="Tahoma"/>
              </a:rPr>
              <a:t>one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bit </a:t>
            </a:r>
            <a:r>
              <a:rPr sz="1867" spc="-7" dirty="0">
                <a:latin typeface="Tahoma"/>
                <a:cs typeface="Tahoma"/>
              </a:rPr>
              <a:t>indicating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53" dirty="0">
                <a:latin typeface="Tahoma"/>
                <a:cs typeface="Tahoma"/>
              </a:rPr>
              <a:t>if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data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will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be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read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from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or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written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to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device.</a:t>
            </a:r>
            <a:endParaRPr sz="1867">
              <a:latin typeface="Tahoma"/>
              <a:cs typeface="Tahoma"/>
            </a:endParaRPr>
          </a:p>
          <a:p>
            <a:pPr marL="389457" marR="265847" indent="-372524">
              <a:buFont typeface="Tahoma"/>
              <a:buChar char="○"/>
              <a:tabLst>
                <a:tab pos="388610" algn="l"/>
                <a:tab pos="389457" algn="l"/>
              </a:tabLst>
            </a:pPr>
            <a:r>
              <a:rPr sz="1867" b="1" spc="-7" dirty="0">
                <a:latin typeface="Arial"/>
                <a:cs typeface="Arial"/>
              </a:rPr>
              <a:t>Ack</a:t>
            </a:r>
            <a:r>
              <a:rPr sz="1867" b="1" spc="13" dirty="0">
                <a:latin typeface="Arial"/>
                <a:cs typeface="Arial"/>
              </a:rPr>
              <a:t> </a:t>
            </a:r>
            <a:r>
              <a:rPr sz="1867" spc="-60" dirty="0">
                <a:latin typeface="Tahoma"/>
                <a:cs typeface="Tahoma"/>
              </a:rPr>
              <a:t>- </a:t>
            </a:r>
            <a:r>
              <a:rPr sz="1867" spc="20" dirty="0">
                <a:latin typeface="Tahoma"/>
                <a:cs typeface="Tahoma"/>
              </a:rPr>
              <a:t>one</a:t>
            </a:r>
            <a:r>
              <a:rPr sz="1867" spc="-47" dirty="0">
                <a:latin typeface="Tahoma"/>
                <a:cs typeface="Tahoma"/>
              </a:rPr>
              <a:t> bit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from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slave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device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acknowledging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master’s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actions.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Usually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each </a:t>
            </a:r>
            <a:r>
              <a:rPr sz="1867" spc="-560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address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and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data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byte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has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an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acknowledge,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but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not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always.</a:t>
            </a:r>
            <a:endParaRPr sz="1867">
              <a:latin typeface="Tahoma"/>
              <a:cs typeface="Tahoma"/>
            </a:endParaRPr>
          </a:p>
          <a:p>
            <a:pPr marL="389457"/>
            <a:r>
              <a:rPr sz="1867" b="1" spc="-7" dirty="0">
                <a:latin typeface="Arial"/>
                <a:cs typeface="Arial"/>
              </a:rPr>
              <a:t>Data</a:t>
            </a:r>
            <a:r>
              <a:rPr sz="1867" b="1" spc="7" dirty="0">
                <a:latin typeface="Arial"/>
                <a:cs typeface="Arial"/>
              </a:rPr>
              <a:t> </a:t>
            </a:r>
            <a:r>
              <a:rPr sz="1867" spc="-60" dirty="0">
                <a:latin typeface="Tahoma"/>
                <a:cs typeface="Tahoma"/>
              </a:rPr>
              <a:t>-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an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integer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number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of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bytes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read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from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or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written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to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device.</a:t>
            </a:r>
            <a:endParaRPr sz="1867">
              <a:latin typeface="Tahoma"/>
              <a:cs typeface="Tahoma"/>
            </a:endParaRPr>
          </a:p>
          <a:p>
            <a:pPr marL="389457"/>
            <a:r>
              <a:rPr sz="1867" b="1" spc="-7" dirty="0">
                <a:latin typeface="Arial"/>
                <a:cs typeface="Arial"/>
              </a:rPr>
              <a:t>Stop </a:t>
            </a:r>
            <a:r>
              <a:rPr sz="1867" spc="-60" dirty="0">
                <a:latin typeface="Tahoma"/>
                <a:cs typeface="Tahoma"/>
              </a:rPr>
              <a:t>-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indicates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message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is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complete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and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master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has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released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bus.</a:t>
            </a:r>
            <a:endParaRPr sz="1867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707" y="4856241"/>
            <a:ext cx="9098279" cy="1300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8"/>
            <a:ext cx="10205720" cy="186375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endParaRPr sz="2400">
              <a:latin typeface="Tahoma"/>
              <a:cs typeface="Tahoma"/>
            </a:endParaRPr>
          </a:p>
          <a:p>
            <a:pPr marL="931310" lvl="1" indent="-407236">
              <a:buChar char="○"/>
              <a:tabLst>
                <a:tab pos="930463" algn="l"/>
                <a:tab pos="931310" algn="l"/>
              </a:tabLst>
            </a:pPr>
            <a:r>
              <a:rPr sz="2400" spc="107" dirty="0">
                <a:latin typeface="Tahoma"/>
                <a:cs typeface="Tahoma"/>
              </a:rPr>
              <a:t>START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condition: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Signals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begin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of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transfer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(occupies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bus)</a:t>
            </a:r>
            <a:endParaRPr sz="2400">
              <a:latin typeface="Tahoma"/>
              <a:cs typeface="Tahoma"/>
            </a:endParaRPr>
          </a:p>
          <a:p>
            <a:pPr marL="1439297" lvl="2" indent="-407236">
              <a:buChar char="■"/>
              <a:tabLst>
                <a:tab pos="1438451" algn="l"/>
                <a:tab pos="1439297" algn="l"/>
              </a:tabLst>
            </a:pPr>
            <a:r>
              <a:rPr sz="2400" spc="160" dirty="0">
                <a:latin typeface="Tahoma"/>
                <a:cs typeface="Tahoma"/>
              </a:rPr>
              <a:t>A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HIGH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to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127" dirty="0">
                <a:latin typeface="Tahoma"/>
                <a:cs typeface="Tahoma"/>
              </a:rPr>
              <a:t>LOW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transition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on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67" dirty="0">
                <a:latin typeface="Tahoma"/>
                <a:cs typeface="Tahoma"/>
              </a:rPr>
              <a:t>SDA</a:t>
            </a:r>
            <a:r>
              <a:rPr sz="2400" spc="-20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while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27" dirty="0">
                <a:latin typeface="Tahoma"/>
                <a:cs typeface="Tahoma"/>
              </a:rPr>
              <a:t>SCL</a:t>
            </a:r>
            <a:r>
              <a:rPr sz="2400" spc="-17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HIGH</a:t>
            </a:r>
            <a:endParaRPr sz="2400">
              <a:latin typeface="Tahoma"/>
              <a:cs typeface="Tahoma"/>
            </a:endParaRPr>
          </a:p>
          <a:p>
            <a:pPr marL="931310" lvl="1" indent="-407236">
              <a:buChar char="○"/>
              <a:tabLst>
                <a:tab pos="930463" algn="l"/>
                <a:tab pos="931310" algn="l"/>
              </a:tabLst>
            </a:pPr>
            <a:r>
              <a:rPr sz="2400" spc="173" dirty="0">
                <a:latin typeface="Tahoma"/>
                <a:cs typeface="Tahoma"/>
              </a:rPr>
              <a:t>STOP</a:t>
            </a:r>
            <a:r>
              <a:rPr sz="2400" spc="-133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condition: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Signals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end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of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transfer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(releases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bus)</a:t>
            </a:r>
            <a:endParaRPr sz="2400">
              <a:latin typeface="Tahoma"/>
              <a:cs typeface="Tahoma"/>
            </a:endParaRPr>
          </a:p>
          <a:p>
            <a:pPr marL="1439297" lvl="2" indent="-407236">
              <a:buChar char="■"/>
              <a:tabLst>
                <a:tab pos="1438451" algn="l"/>
                <a:tab pos="1439297" algn="l"/>
              </a:tabLst>
            </a:pPr>
            <a:r>
              <a:rPr sz="2400" spc="160" dirty="0">
                <a:latin typeface="Tahoma"/>
                <a:cs typeface="Tahoma"/>
              </a:rPr>
              <a:t>A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127" dirty="0">
                <a:latin typeface="Tahoma"/>
                <a:cs typeface="Tahoma"/>
              </a:rPr>
              <a:t>LOW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HIGH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transition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on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67" dirty="0">
                <a:latin typeface="Tahoma"/>
                <a:cs typeface="Tahoma"/>
              </a:rPr>
              <a:t>SDA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while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27" dirty="0">
                <a:latin typeface="Tahoma"/>
                <a:cs typeface="Tahoma"/>
              </a:rPr>
              <a:t>SCL</a:t>
            </a:r>
            <a:r>
              <a:rPr sz="2400" spc="-173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HIGH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3166293"/>
            <a:ext cx="2184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225" y="3183227"/>
            <a:ext cx="8907779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2507764">
              <a:spcBef>
                <a:spcPts val="133"/>
              </a:spcBef>
            </a:pPr>
            <a:r>
              <a:rPr sz="2400" spc="13" dirty="0">
                <a:latin typeface="Tahoma"/>
                <a:cs typeface="Tahoma"/>
              </a:rPr>
              <a:t>Both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these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are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always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generated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Master </a:t>
            </a:r>
            <a:r>
              <a:rPr sz="2400" spc="-73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Repeated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07" dirty="0">
                <a:latin typeface="Tahoma"/>
                <a:cs typeface="Tahoma"/>
              </a:rPr>
              <a:t>START</a:t>
            </a:r>
            <a:r>
              <a:rPr sz="2400" spc="-12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condition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is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allowed</a:t>
            </a:r>
            <a:endParaRPr sz="2400">
              <a:latin typeface="Tahoma"/>
              <a:cs typeface="Tahoma"/>
            </a:endParaRPr>
          </a:p>
          <a:p>
            <a:pPr marL="524920" marR="6773" indent="-406390">
              <a:buChar char="■"/>
              <a:tabLst>
                <a:tab pos="524074" algn="l"/>
                <a:tab pos="524920" algn="l"/>
              </a:tabLst>
            </a:pPr>
            <a:r>
              <a:rPr sz="2400" spc="40" dirty="0">
                <a:latin typeface="Tahoma"/>
                <a:cs typeface="Tahoma"/>
              </a:rPr>
              <a:t>Repeated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start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used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changing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slave,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or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changing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direction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of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data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transfer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(Send/Receive)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for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same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40" dirty="0">
                <a:latin typeface="Tahoma"/>
                <a:cs typeface="Tahoma"/>
              </a:rPr>
              <a:t>slave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41" y="4870446"/>
            <a:ext cx="7561273" cy="1813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6" y="1354427"/>
            <a:ext cx="7118773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12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Transfer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1703254"/>
            <a:ext cx="21844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226" y="1720188"/>
            <a:ext cx="9591887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spc="47" dirty="0">
                <a:latin typeface="Tahoma"/>
                <a:cs typeface="Tahoma"/>
              </a:rPr>
              <a:t>Ever</a:t>
            </a:r>
            <a:r>
              <a:rPr sz="2400" spc="53" dirty="0">
                <a:latin typeface="Tahoma"/>
                <a:cs typeface="Tahoma"/>
              </a:rPr>
              <a:t>y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byte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o</a:t>
            </a:r>
            <a:r>
              <a:rPr sz="2400" spc="13" dirty="0">
                <a:latin typeface="Tahoma"/>
                <a:cs typeface="Tahoma"/>
              </a:rPr>
              <a:t>n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</a:t>
            </a:r>
            <a:r>
              <a:rPr sz="2400" spc="-27" dirty="0">
                <a:latin typeface="Tahoma"/>
                <a:cs typeface="Tahoma"/>
              </a:rPr>
              <a:t>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152" dirty="0">
                <a:latin typeface="Tahoma"/>
                <a:cs typeface="Tahoma"/>
              </a:rPr>
              <a:t>S</a:t>
            </a:r>
            <a:r>
              <a:rPr sz="2400" spc="180" dirty="0">
                <a:latin typeface="Tahoma"/>
                <a:cs typeface="Tahoma"/>
              </a:rPr>
              <a:t>D</a:t>
            </a:r>
            <a:r>
              <a:rPr sz="2400" spc="160" dirty="0">
                <a:latin typeface="Tahoma"/>
                <a:cs typeface="Tahoma"/>
              </a:rPr>
              <a:t>A</a:t>
            </a:r>
            <a:r>
              <a:rPr sz="2400" spc="-207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l</a:t>
            </a:r>
            <a:r>
              <a:rPr sz="2400" spc="-33" dirty="0">
                <a:latin typeface="Tahoma"/>
                <a:cs typeface="Tahoma"/>
              </a:rPr>
              <a:t>i</a:t>
            </a:r>
            <a:r>
              <a:rPr sz="2400" spc="27" dirty="0">
                <a:latin typeface="Tahoma"/>
                <a:cs typeface="Tahoma"/>
              </a:rPr>
              <a:t>ne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m</a:t>
            </a:r>
            <a:r>
              <a:rPr sz="2400" spc="-33" dirty="0">
                <a:latin typeface="Tahoma"/>
                <a:cs typeface="Tahoma"/>
              </a:rPr>
              <a:t>u</a:t>
            </a:r>
            <a:r>
              <a:rPr sz="2400" spc="133" dirty="0">
                <a:latin typeface="Tahoma"/>
                <a:cs typeface="Tahoma"/>
              </a:rPr>
              <a:t>s</a:t>
            </a:r>
            <a:r>
              <a:rPr sz="2400" spc="-140" dirty="0">
                <a:latin typeface="Tahoma"/>
                <a:cs typeface="Tahoma"/>
              </a:rPr>
              <a:t>t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be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8</a:t>
            </a:r>
            <a:r>
              <a:rPr sz="2400" spc="-67" dirty="0">
                <a:latin typeface="Tahoma"/>
                <a:cs typeface="Tahoma"/>
              </a:rPr>
              <a:t>-</a:t>
            </a:r>
            <a:r>
              <a:rPr sz="2400" spc="-13" dirty="0">
                <a:latin typeface="Tahoma"/>
                <a:cs typeface="Tahoma"/>
              </a:rPr>
              <a:t>bits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lo</a:t>
            </a:r>
            <a:r>
              <a:rPr sz="2400" spc="-20" dirty="0">
                <a:latin typeface="Tahoma"/>
                <a:cs typeface="Tahoma"/>
              </a:rPr>
              <a:t>n</a:t>
            </a:r>
            <a:r>
              <a:rPr sz="2400" spc="7" dirty="0">
                <a:latin typeface="Tahoma"/>
                <a:cs typeface="Tahoma"/>
              </a:rPr>
              <a:t>g</a:t>
            </a:r>
            <a:endParaRPr sz="2400">
              <a:latin typeface="Tahoma"/>
              <a:cs typeface="Tahoma"/>
            </a:endParaRPr>
          </a:p>
          <a:p>
            <a:pPr marL="16933" marR="116837"/>
            <a:r>
              <a:rPr sz="2400" spc="93" dirty="0">
                <a:latin typeface="Tahoma"/>
                <a:cs typeface="Tahoma"/>
              </a:rPr>
              <a:t>Each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byte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must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be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followed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by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an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acknowledgement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from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receiver </a:t>
            </a:r>
            <a:r>
              <a:rPr sz="2400" spc="-727" dirty="0">
                <a:latin typeface="Tahoma"/>
                <a:cs typeface="Tahoma"/>
              </a:rPr>
              <a:t> </a:t>
            </a:r>
            <a:r>
              <a:rPr sz="2400" spc="20" dirty="0">
                <a:latin typeface="Tahoma"/>
                <a:cs typeface="Tahoma"/>
              </a:rPr>
              <a:t>Data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byte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is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transferred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bit-wise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with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200" dirty="0">
                <a:latin typeface="Tahoma"/>
                <a:cs typeface="Tahoma"/>
              </a:rPr>
              <a:t>MSB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87" dirty="0">
                <a:latin typeface="Tahoma"/>
                <a:cs typeface="Tahoma"/>
              </a:rPr>
              <a:t>as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7" dirty="0">
                <a:latin typeface="Tahoma"/>
                <a:cs typeface="Tahoma"/>
              </a:rPr>
              <a:t>first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53" dirty="0">
                <a:latin typeface="Tahoma"/>
                <a:cs typeface="Tahoma"/>
              </a:rPr>
              <a:t>bit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sent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spc="160" dirty="0">
                <a:latin typeface="Tahoma"/>
                <a:cs typeface="Tahoma"/>
              </a:rPr>
              <a:t>A</a:t>
            </a:r>
            <a:r>
              <a:rPr sz="2400" spc="-213" dirty="0">
                <a:latin typeface="Tahoma"/>
                <a:cs typeface="Tahoma"/>
              </a:rPr>
              <a:t> </a:t>
            </a:r>
            <a:r>
              <a:rPr sz="2400" spc="47" dirty="0">
                <a:latin typeface="Tahoma"/>
                <a:cs typeface="Tahoma"/>
              </a:rPr>
              <a:t>slave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53" dirty="0">
                <a:latin typeface="Tahoma"/>
                <a:cs typeface="Tahoma"/>
              </a:rPr>
              <a:t>can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force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master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to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wait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7" dirty="0">
                <a:latin typeface="Tahoma"/>
                <a:cs typeface="Tahoma"/>
              </a:rPr>
              <a:t>by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spc="-13" dirty="0">
                <a:latin typeface="Tahoma"/>
                <a:cs typeface="Tahoma"/>
              </a:rPr>
              <a:t>holding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33" dirty="0">
                <a:latin typeface="Tahoma"/>
                <a:cs typeface="Tahoma"/>
              </a:rPr>
              <a:t>the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33" dirty="0">
                <a:latin typeface="Tahoma"/>
                <a:cs typeface="Tahoma"/>
              </a:rPr>
              <a:t>clock</a:t>
            </a:r>
            <a:r>
              <a:rPr sz="2400" spc="-67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line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220" dirty="0">
                <a:latin typeface="Tahoma"/>
                <a:cs typeface="Tahoma"/>
              </a:rPr>
              <a:t>SCL</a:t>
            </a:r>
            <a:r>
              <a:rPr sz="2400" spc="-167" dirty="0">
                <a:latin typeface="Tahoma"/>
                <a:cs typeface="Tahoma"/>
              </a:rPr>
              <a:t> </a:t>
            </a:r>
            <a:r>
              <a:rPr sz="2400" spc="127" dirty="0">
                <a:latin typeface="Tahoma"/>
                <a:cs typeface="Tahoma"/>
              </a:rPr>
              <a:t>LOW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098" y="3430454"/>
            <a:ext cx="9435415" cy="3288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774022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7" dirty="0">
                <a:latin typeface="Tahoma"/>
                <a:cs typeface="Tahoma"/>
              </a:rPr>
              <a:t>Acknowledgement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1703253"/>
            <a:ext cx="21844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237826" y="1740857"/>
            <a:ext cx="8670450" cy="12533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220974">
              <a:lnSpc>
                <a:spcPct val="100000"/>
              </a:lnSpc>
              <a:spcBef>
                <a:spcPts val="133"/>
              </a:spcBef>
            </a:pPr>
            <a:r>
              <a:rPr sz="1800" spc="33" dirty="0"/>
              <a:t>The </a:t>
            </a:r>
            <a:r>
              <a:rPr sz="1800" dirty="0"/>
              <a:t>acknowledge-related </a:t>
            </a:r>
            <a:r>
              <a:rPr sz="1800" spc="20" dirty="0"/>
              <a:t>clock-pulse </a:t>
            </a:r>
            <a:r>
              <a:rPr sz="1800" spc="53" dirty="0"/>
              <a:t>is </a:t>
            </a:r>
            <a:r>
              <a:rPr sz="1800" dirty="0"/>
              <a:t>generated by </a:t>
            </a:r>
            <a:r>
              <a:rPr sz="1800" spc="-33" dirty="0"/>
              <a:t>the </a:t>
            </a:r>
            <a:r>
              <a:rPr sz="1800" spc="7" dirty="0"/>
              <a:t>master </a:t>
            </a:r>
            <a:r>
              <a:rPr sz="1800" spc="-733" dirty="0"/>
              <a:t> </a:t>
            </a:r>
            <a:r>
              <a:rPr sz="1800" spc="33" dirty="0"/>
              <a:t>The</a:t>
            </a:r>
            <a:r>
              <a:rPr sz="1800" spc="-93" dirty="0"/>
              <a:t> </a:t>
            </a:r>
            <a:r>
              <a:rPr sz="1800" spc="-33" dirty="0"/>
              <a:t>transmitter</a:t>
            </a:r>
            <a:r>
              <a:rPr sz="1800" spc="-87" dirty="0"/>
              <a:t> </a:t>
            </a:r>
            <a:r>
              <a:rPr sz="1800" spc="-13" dirty="0"/>
              <a:t>(master</a:t>
            </a:r>
            <a:r>
              <a:rPr sz="1800" spc="-87" dirty="0"/>
              <a:t> </a:t>
            </a:r>
            <a:r>
              <a:rPr sz="1800" spc="-27" dirty="0"/>
              <a:t>or</a:t>
            </a:r>
            <a:r>
              <a:rPr sz="1800" spc="-80" dirty="0"/>
              <a:t> </a:t>
            </a:r>
            <a:r>
              <a:rPr sz="1800" spc="20" dirty="0"/>
              <a:t>slave)</a:t>
            </a:r>
            <a:r>
              <a:rPr sz="1800" spc="-87" dirty="0"/>
              <a:t> </a:t>
            </a:r>
            <a:r>
              <a:rPr sz="1800" spc="47" dirty="0"/>
              <a:t>releases</a:t>
            </a:r>
            <a:r>
              <a:rPr sz="1800" spc="-67" dirty="0"/>
              <a:t> </a:t>
            </a:r>
            <a:r>
              <a:rPr sz="1800" spc="-33" dirty="0"/>
              <a:t>the</a:t>
            </a:r>
            <a:r>
              <a:rPr sz="1800" spc="-93" dirty="0"/>
              <a:t> </a:t>
            </a:r>
            <a:r>
              <a:rPr sz="1800" spc="167" dirty="0"/>
              <a:t>SDA</a:t>
            </a:r>
            <a:r>
              <a:rPr sz="1800" spc="-200" dirty="0"/>
              <a:t> </a:t>
            </a:r>
            <a:r>
              <a:rPr sz="1800" dirty="0"/>
              <a:t>line</a:t>
            </a:r>
            <a:r>
              <a:rPr sz="1800" spc="-87" dirty="0"/>
              <a:t> </a:t>
            </a:r>
            <a:r>
              <a:rPr sz="1800" spc="60" dirty="0"/>
              <a:t>i.e.SDA</a:t>
            </a:r>
            <a:r>
              <a:rPr sz="1800" spc="-207" dirty="0"/>
              <a:t> </a:t>
            </a:r>
            <a:r>
              <a:rPr sz="1800" spc="47" dirty="0"/>
              <a:t>is </a:t>
            </a:r>
            <a:r>
              <a:rPr sz="1800" spc="-733" dirty="0"/>
              <a:t> </a:t>
            </a:r>
            <a:r>
              <a:rPr sz="1800" spc="53" dirty="0"/>
              <a:t>HIG</a:t>
            </a:r>
            <a:r>
              <a:rPr sz="1800" spc="73" dirty="0"/>
              <a:t>H</a:t>
            </a:r>
            <a:r>
              <a:rPr sz="1800" spc="-87" dirty="0"/>
              <a:t> </a:t>
            </a:r>
            <a:r>
              <a:rPr sz="1800" spc="-93" dirty="0"/>
              <a:t>f</a:t>
            </a:r>
            <a:r>
              <a:rPr sz="1800" spc="7" dirty="0"/>
              <a:t>o</a:t>
            </a:r>
            <a:r>
              <a:rPr sz="1800" spc="-67" dirty="0"/>
              <a:t>r</a:t>
            </a:r>
            <a:r>
              <a:rPr sz="1800" spc="-73" dirty="0"/>
              <a:t> </a:t>
            </a:r>
            <a:r>
              <a:rPr sz="1800" spc="-33" dirty="0"/>
              <a:t>th</a:t>
            </a:r>
            <a:r>
              <a:rPr sz="1800" spc="-27" dirty="0"/>
              <a:t>e</a:t>
            </a:r>
            <a:r>
              <a:rPr sz="1800" spc="-240" dirty="0"/>
              <a:t> </a:t>
            </a:r>
            <a:r>
              <a:rPr sz="1800" spc="207" dirty="0"/>
              <a:t>ACK</a:t>
            </a:r>
            <a:r>
              <a:rPr sz="1800" spc="-93" dirty="0"/>
              <a:t> </a:t>
            </a:r>
            <a:r>
              <a:rPr sz="1800" spc="27" dirty="0"/>
              <a:t>clo</a:t>
            </a:r>
            <a:r>
              <a:rPr sz="1800" spc="47" dirty="0"/>
              <a:t>ck</a:t>
            </a:r>
            <a:r>
              <a:rPr sz="1800" spc="-73" dirty="0"/>
              <a:t> </a:t>
            </a:r>
            <a:r>
              <a:rPr sz="1800" spc="-13" dirty="0"/>
              <a:t>p</a:t>
            </a:r>
            <a:r>
              <a:rPr sz="1800" spc="27" dirty="0"/>
              <a:t>ul</a:t>
            </a:r>
            <a:r>
              <a:rPr sz="1800" spc="13" dirty="0"/>
              <a:t>s</a:t>
            </a:r>
            <a:r>
              <a:rPr sz="1800" spc="67" dirty="0"/>
              <a:t>e</a:t>
            </a:r>
          </a:p>
          <a:p>
            <a:pPr marL="16933" marR="6773">
              <a:lnSpc>
                <a:spcPct val="100000"/>
              </a:lnSpc>
            </a:pPr>
            <a:r>
              <a:rPr sz="1800" spc="33" dirty="0"/>
              <a:t>The </a:t>
            </a:r>
            <a:r>
              <a:rPr sz="1800" spc="13" dirty="0"/>
              <a:t>receiver </a:t>
            </a:r>
            <a:r>
              <a:rPr sz="1800" spc="-13" dirty="0"/>
              <a:t>must </a:t>
            </a:r>
            <a:r>
              <a:rPr sz="1800" spc="-27" dirty="0"/>
              <a:t>pull-down the </a:t>
            </a:r>
            <a:r>
              <a:rPr sz="1800" spc="167" dirty="0"/>
              <a:t>SDA </a:t>
            </a:r>
            <a:r>
              <a:rPr sz="1800" dirty="0"/>
              <a:t>line </a:t>
            </a:r>
            <a:r>
              <a:rPr sz="1800" spc="-27" dirty="0"/>
              <a:t>during </a:t>
            </a:r>
            <a:r>
              <a:rPr sz="1800" spc="-33" dirty="0"/>
              <a:t>the </a:t>
            </a:r>
            <a:r>
              <a:rPr sz="1800" spc="13" dirty="0"/>
              <a:t>acknowledge </a:t>
            </a:r>
            <a:r>
              <a:rPr sz="1800" spc="-733" dirty="0"/>
              <a:t> </a:t>
            </a:r>
            <a:r>
              <a:rPr sz="1800" spc="33" dirty="0"/>
              <a:t>clock</a:t>
            </a:r>
            <a:r>
              <a:rPr sz="1800" spc="-73" dirty="0"/>
              <a:t> </a:t>
            </a:r>
            <a:r>
              <a:rPr sz="1800" spc="27" dirty="0"/>
              <a:t>pulse</a:t>
            </a:r>
            <a:r>
              <a:rPr sz="1800" spc="-87" dirty="0"/>
              <a:t> </a:t>
            </a:r>
            <a:r>
              <a:rPr sz="1800" spc="-7" dirty="0"/>
              <a:t>(stable</a:t>
            </a:r>
            <a:r>
              <a:rPr sz="1800" spc="-87" dirty="0"/>
              <a:t> </a:t>
            </a:r>
            <a:r>
              <a:rPr sz="1800" spc="67" dirty="0"/>
              <a:t>LOW)</a:t>
            </a:r>
            <a:r>
              <a:rPr sz="1800" spc="-93" dirty="0"/>
              <a:t> </a:t>
            </a:r>
            <a:r>
              <a:rPr sz="1800" spc="-20" dirty="0"/>
              <a:t>during</a:t>
            </a:r>
            <a:r>
              <a:rPr sz="1800" spc="-87" dirty="0"/>
              <a:t> </a:t>
            </a:r>
            <a:r>
              <a:rPr sz="1800" spc="-33" dirty="0"/>
              <a:t>the</a:t>
            </a:r>
            <a:r>
              <a:rPr sz="1800" spc="-93" dirty="0"/>
              <a:t> </a:t>
            </a:r>
            <a:r>
              <a:rPr sz="1800" spc="60" dirty="0"/>
              <a:t>HIGH</a:t>
            </a:r>
            <a:r>
              <a:rPr sz="1800" spc="-87" dirty="0"/>
              <a:t> </a:t>
            </a:r>
            <a:r>
              <a:rPr sz="1800" dirty="0"/>
              <a:t>period</a:t>
            </a:r>
            <a:r>
              <a:rPr sz="1800" spc="-93" dirty="0"/>
              <a:t> </a:t>
            </a:r>
            <a:r>
              <a:rPr sz="1800" spc="-47" dirty="0"/>
              <a:t>of</a:t>
            </a:r>
            <a:r>
              <a:rPr sz="1800" spc="-73" dirty="0"/>
              <a:t> </a:t>
            </a:r>
            <a:r>
              <a:rPr sz="1800" spc="-33" dirty="0"/>
              <a:t>the</a:t>
            </a:r>
            <a:r>
              <a:rPr sz="1800" spc="-93" dirty="0"/>
              <a:t> </a:t>
            </a:r>
            <a:r>
              <a:rPr sz="1800" spc="33" dirty="0"/>
              <a:t>clock</a:t>
            </a:r>
            <a:r>
              <a:rPr sz="1800" spc="-67" dirty="0"/>
              <a:t> </a:t>
            </a:r>
            <a:r>
              <a:rPr sz="1800" spc="27" dirty="0"/>
              <a:t>pulse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7825" y="280053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9547" y="3555760"/>
            <a:ext cx="7343987" cy="3007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66446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73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r>
              <a:rPr sz="2400" spc="-93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spc="-27" dirty="0">
                <a:latin typeface="Tahoma"/>
                <a:cs typeface="Tahoma"/>
              </a:rPr>
              <a:t>Arbitration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1692" y="2275601"/>
            <a:ext cx="17780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latin typeface="Tahoma"/>
                <a:cs typeface="Tahoma"/>
              </a:rPr>
              <a:t>○</a:t>
            </a:r>
            <a:endParaRPr sz="1867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692" y="1720187"/>
            <a:ext cx="9491979" cy="8790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57" marR="6773" indent="-372524">
              <a:spcBef>
                <a:spcPts val="133"/>
              </a:spcBef>
              <a:buChar char="○"/>
              <a:tabLst>
                <a:tab pos="388610" algn="l"/>
                <a:tab pos="389457" algn="l"/>
              </a:tabLst>
            </a:pPr>
            <a:r>
              <a:rPr sz="1867" spc="-120" dirty="0">
                <a:latin typeface="Tahoma"/>
                <a:cs typeface="Tahoma"/>
              </a:rPr>
              <a:t>If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more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than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one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device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is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capable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of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being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master,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then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an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arbitration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mechanism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is </a:t>
            </a:r>
            <a:r>
              <a:rPr sz="1867" spc="-560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needed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47" dirty="0">
                <a:latin typeface="Tahoma"/>
                <a:cs typeface="Tahoma"/>
              </a:rPr>
              <a:t>to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choose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master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that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takes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control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of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bus</a:t>
            </a:r>
            <a:endParaRPr sz="1867">
              <a:latin typeface="Tahoma"/>
              <a:cs typeface="Tahoma"/>
            </a:endParaRPr>
          </a:p>
          <a:p>
            <a:pPr marL="389457"/>
            <a:r>
              <a:rPr sz="1867" spc="-13" dirty="0">
                <a:latin typeface="Tahoma"/>
                <a:cs typeface="Tahoma"/>
              </a:rPr>
              <a:t>Arbitration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takes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33" dirty="0">
                <a:latin typeface="Tahoma"/>
                <a:cs typeface="Tahoma"/>
              </a:rPr>
              <a:t>place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on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87" dirty="0">
                <a:latin typeface="Tahoma"/>
                <a:cs typeface="Tahoma"/>
              </a:rPr>
              <a:t>SDA,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while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73" dirty="0">
                <a:latin typeface="Tahoma"/>
                <a:cs typeface="Tahoma"/>
              </a:rPr>
              <a:t>SCL</a:t>
            </a:r>
            <a:r>
              <a:rPr sz="1867" spc="-120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is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at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HIGH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line</a:t>
            </a:r>
            <a:endParaRPr sz="1867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9693" y="2571934"/>
            <a:ext cx="9481820" cy="8790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89457" indent="-372524">
              <a:spcBef>
                <a:spcPts val="133"/>
              </a:spcBef>
              <a:buChar char="■"/>
              <a:tabLst>
                <a:tab pos="388610" algn="l"/>
                <a:tab pos="389457" algn="l"/>
              </a:tabLst>
            </a:pPr>
            <a:r>
              <a:rPr sz="1867" spc="27" dirty="0">
                <a:latin typeface="Tahoma"/>
                <a:cs typeface="Tahoma"/>
              </a:rPr>
              <a:t>The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master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which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transmits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53" dirty="0">
                <a:latin typeface="Tahoma"/>
                <a:cs typeface="Tahoma"/>
              </a:rPr>
              <a:t>a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HIGH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level,</a:t>
            </a:r>
            <a:endParaRPr sz="1867">
              <a:latin typeface="Tahoma"/>
              <a:cs typeface="Tahoma"/>
            </a:endParaRPr>
          </a:p>
          <a:p>
            <a:pPr marL="389457" marR="6773" indent="-372524">
              <a:buChar char="■"/>
              <a:tabLst>
                <a:tab pos="388610" algn="l"/>
                <a:tab pos="389457" algn="l"/>
              </a:tabLst>
            </a:pPr>
            <a:r>
              <a:rPr sz="1867" dirty="0">
                <a:latin typeface="Tahoma"/>
                <a:cs typeface="Tahoma"/>
              </a:rPr>
              <a:t>Another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master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is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transmitting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100" dirty="0">
                <a:latin typeface="Tahoma"/>
                <a:cs typeface="Tahoma"/>
              </a:rPr>
              <a:t>LOW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level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7" dirty="0">
                <a:latin typeface="Tahoma"/>
                <a:cs typeface="Tahoma"/>
              </a:rPr>
              <a:t>will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dirty="0">
                <a:latin typeface="Tahoma"/>
                <a:cs typeface="Tahoma"/>
              </a:rPr>
              <a:t>switch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60" dirty="0">
                <a:latin typeface="Tahoma"/>
                <a:cs typeface="Tahoma"/>
              </a:rPr>
              <a:t>off</a:t>
            </a:r>
            <a:r>
              <a:rPr sz="1867" spc="-3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its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DATA</a:t>
            </a:r>
            <a:r>
              <a:rPr sz="1867" spc="-152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output</a:t>
            </a:r>
            <a:r>
              <a:rPr sz="1867" spc="-40" dirty="0">
                <a:latin typeface="Tahoma"/>
                <a:cs typeface="Tahoma"/>
              </a:rPr>
              <a:t> </a:t>
            </a:r>
            <a:r>
              <a:rPr sz="1867" spc="20" dirty="0">
                <a:latin typeface="Tahoma"/>
                <a:cs typeface="Tahoma"/>
              </a:rPr>
              <a:t>stage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47" dirty="0">
                <a:latin typeface="Tahoma"/>
                <a:cs typeface="Tahoma"/>
              </a:rPr>
              <a:t>because </a:t>
            </a:r>
            <a:r>
              <a:rPr sz="1867" spc="-567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7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level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7" dirty="0">
                <a:latin typeface="Tahoma"/>
                <a:cs typeface="Tahoma"/>
              </a:rPr>
              <a:t>on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20" dirty="0">
                <a:latin typeface="Tahoma"/>
                <a:cs typeface="Tahoma"/>
              </a:rPr>
              <a:t>the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27" dirty="0">
                <a:latin typeface="Tahoma"/>
                <a:cs typeface="Tahoma"/>
              </a:rPr>
              <a:t>bus</a:t>
            </a:r>
            <a:r>
              <a:rPr sz="1867" spc="-60" dirty="0">
                <a:latin typeface="Tahoma"/>
                <a:cs typeface="Tahoma"/>
              </a:rPr>
              <a:t> </a:t>
            </a:r>
            <a:r>
              <a:rPr sz="1867" spc="40" dirty="0">
                <a:latin typeface="Tahoma"/>
                <a:cs typeface="Tahoma"/>
              </a:rPr>
              <a:t>does</a:t>
            </a:r>
            <a:r>
              <a:rPr sz="1867" spc="-47" dirty="0">
                <a:latin typeface="Tahoma"/>
                <a:cs typeface="Tahoma"/>
              </a:rPr>
              <a:t> </a:t>
            </a:r>
            <a:r>
              <a:rPr sz="1867" spc="-33" dirty="0">
                <a:latin typeface="Tahoma"/>
                <a:cs typeface="Tahoma"/>
              </a:rPr>
              <a:t>not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correspond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-40" dirty="0">
                <a:latin typeface="Tahoma"/>
                <a:cs typeface="Tahoma"/>
              </a:rPr>
              <a:t>to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7" dirty="0">
                <a:latin typeface="Tahoma"/>
                <a:cs typeface="Tahoma"/>
              </a:rPr>
              <a:t>its</a:t>
            </a:r>
            <a:r>
              <a:rPr sz="1867" spc="-53" dirty="0">
                <a:latin typeface="Tahoma"/>
                <a:cs typeface="Tahoma"/>
              </a:rPr>
              <a:t> </a:t>
            </a:r>
            <a:r>
              <a:rPr sz="1867" spc="-13" dirty="0">
                <a:latin typeface="Tahoma"/>
                <a:cs typeface="Tahoma"/>
              </a:rPr>
              <a:t>own</a:t>
            </a:r>
            <a:r>
              <a:rPr sz="1867" spc="-67" dirty="0">
                <a:latin typeface="Tahoma"/>
                <a:cs typeface="Tahoma"/>
              </a:rPr>
              <a:t> </a:t>
            </a:r>
            <a:r>
              <a:rPr sz="1867" spc="13" dirty="0">
                <a:latin typeface="Tahoma"/>
                <a:cs typeface="Tahoma"/>
              </a:rPr>
              <a:t>level</a:t>
            </a:r>
            <a:endParaRPr sz="1867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9119" y="3430453"/>
            <a:ext cx="5704839" cy="3220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2667" y="222324"/>
            <a:ext cx="6655647" cy="124820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33" dirty="0"/>
              <a:t>Communication</a:t>
            </a:r>
            <a:r>
              <a:rPr sz="4000" spc="-287" dirty="0"/>
              <a:t> </a:t>
            </a:r>
            <a:r>
              <a:rPr sz="4000" spc="20" dirty="0"/>
              <a:t>Technologies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29825" y="1354427"/>
            <a:ext cx="65769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indent="-406390">
              <a:spcBef>
                <a:spcPts val="133"/>
              </a:spcBef>
              <a:buChar char="●"/>
              <a:tabLst>
                <a:tab pos="422476" algn="l"/>
                <a:tab pos="423323" algn="l"/>
              </a:tabLst>
            </a:pPr>
            <a:r>
              <a:rPr sz="2400" spc="-80" dirty="0">
                <a:latin typeface="Tahoma"/>
                <a:cs typeface="Tahoma"/>
              </a:rPr>
              <a:t>Inter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Integrated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13" dirty="0">
                <a:latin typeface="Tahoma"/>
                <a:cs typeface="Tahoma"/>
              </a:rPr>
              <a:t>Circuit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(I2C)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93" dirty="0">
                <a:latin typeface="Tahoma"/>
                <a:cs typeface="Tahoma"/>
              </a:rPr>
              <a:t>Bus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3" dirty="0">
                <a:latin typeface="Tahoma"/>
                <a:cs typeface="Tahoma"/>
              </a:rPr>
              <a:t>-</a:t>
            </a:r>
            <a:r>
              <a:rPr sz="2400" spc="-87" dirty="0">
                <a:latin typeface="Tahoma"/>
                <a:cs typeface="Tahoma"/>
              </a:rPr>
              <a:t> </a:t>
            </a:r>
            <a:r>
              <a:rPr sz="2400" spc="27" dirty="0">
                <a:latin typeface="Tahoma"/>
                <a:cs typeface="Tahoma"/>
              </a:rPr>
              <a:t>Summary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7825" y="1703253"/>
            <a:ext cx="218440" cy="112509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  <a:p>
            <a:pPr marL="16933"/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237825" y="1784720"/>
            <a:ext cx="9567584" cy="13815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43178">
              <a:lnSpc>
                <a:spcPct val="100000"/>
              </a:lnSpc>
              <a:spcBef>
                <a:spcPts val="133"/>
              </a:spcBef>
            </a:pPr>
            <a:r>
              <a:rPr sz="1800" spc="33" dirty="0"/>
              <a:t>The</a:t>
            </a:r>
            <a:r>
              <a:rPr sz="1800" spc="-100" dirty="0"/>
              <a:t> </a:t>
            </a:r>
            <a:r>
              <a:rPr sz="1800" spc="-13" dirty="0"/>
              <a:t>pin</a:t>
            </a:r>
            <a:r>
              <a:rPr sz="1800" spc="-87" dirty="0"/>
              <a:t> </a:t>
            </a:r>
            <a:r>
              <a:rPr sz="1800" spc="-13" dirty="0"/>
              <a:t>(and</a:t>
            </a:r>
            <a:r>
              <a:rPr sz="1800" spc="-93" dirty="0"/>
              <a:t> </a:t>
            </a:r>
            <a:r>
              <a:rPr sz="1800" spc="-7" dirty="0"/>
              <a:t>connection)</a:t>
            </a:r>
            <a:r>
              <a:rPr sz="1800" spc="-87" dirty="0"/>
              <a:t> </a:t>
            </a:r>
            <a:r>
              <a:rPr sz="1800" spc="-7" dirty="0"/>
              <a:t>requirements</a:t>
            </a:r>
            <a:r>
              <a:rPr sz="1800" spc="-87" dirty="0"/>
              <a:t> </a:t>
            </a:r>
            <a:r>
              <a:rPr sz="1800" spc="20" dirty="0"/>
              <a:t>are</a:t>
            </a:r>
            <a:r>
              <a:rPr sz="1800" spc="-87" dirty="0"/>
              <a:t> </a:t>
            </a:r>
            <a:r>
              <a:rPr sz="1800" spc="-33" dirty="0"/>
              <a:t>the</a:t>
            </a:r>
            <a:r>
              <a:rPr sz="1800" spc="-93" dirty="0"/>
              <a:t> </a:t>
            </a:r>
            <a:r>
              <a:rPr sz="1800" spc="13" dirty="0"/>
              <a:t>least</a:t>
            </a:r>
            <a:r>
              <a:rPr sz="1800" spc="-80" dirty="0"/>
              <a:t> </a:t>
            </a:r>
            <a:r>
              <a:rPr sz="1800" spc="20" dirty="0"/>
              <a:t>complex</a:t>
            </a:r>
            <a:r>
              <a:rPr sz="1800" spc="-87" dirty="0"/>
              <a:t> </a:t>
            </a:r>
            <a:r>
              <a:rPr sz="1800" spc="-13" dirty="0"/>
              <a:t>in</a:t>
            </a:r>
            <a:r>
              <a:rPr sz="1800" spc="-87" dirty="0"/>
              <a:t> </a:t>
            </a:r>
            <a:r>
              <a:rPr sz="1800" spc="20" dirty="0"/>
              <a:t>I2C </a:t>
            </a:r>
            <a:r>
              <a:rPr sz="1800" spc="-727" dirty="0"/>
              <a:t> </a:t>
            </a:r>
            <a:r>
              <a:rPr sz="1800" spc="33" dirty="0"/>
              <a:t>The</a:t>
            </a:r>
            <a:r>
              <a:rPr sz="1800" spc="-100" dirty="0"/>
              <a:t> </a:t>
            </a:r>
            <a:r>
              <a:rPr sz="1800" spc="33" dirty="0"/>
              <a:t>noise</a:t>
            </a:r>
            <a:r>
              <a:rPr sz="1800" spc="-93" dirty="0"/>
              <a:t> </a:t>
            </a:r>
            <a:r>
              <a:rPr sz="1800" spc="-33" dirty="0"/>
              <a:t>immunity</a:t>
            </a:r>
            <a:r>
              <a:rPr sz="1800" spc="-87" dirty="0"/>
              <a:t> </a:t>
            </a:r>
            <a:r>
              <a:rPr sz="1800" spc="53" dirty="0"/>
              <a:t>is</a:t>
            </a:r>
            <a:r>
              <a:rPr sz="1800" spc="-87" dirty="0"/>
              <a:t> </a:t>
            </a:r>
            <a:r>
              <a:rPr sz="1800" spc="-13" dirty="0"/>
              <a:t>higher</a:t>
            </a:r>
            <a:r>
              <a:rPr sz="1800" spc="-87" dirty="0"/>
              <a:t> </a:t>
            </a:r>
            <a:r>
              <a:rPr sz="1800" spc="-53" dirty="0"/>
              <a:t>for</a:t>
            </a:r>
            <a:r>
              <a:rPr sz="1800" spc="-73" dirty="0"/>
              <a:t> </a:t>
            </a:r>
            <a:r>
              <a:rPr sz="1800" spc="20" dirty="0"/>
              <a:t>I2C</a:t>
            </a:r>
          </a:p>
          <a:p>
            <a:pPr marL="16933" marR="6773">
              <a:lnSpc>
                <a:spcPct val="100000"/>
              </a:lnSpc>
            </a:pPr>
            <a:r>
              <a:rPr sz="1800" spc="20" dirty="0"/>
              <a:t>There</a:t>
            </a:r>
            <a:r>
              <a:rPr sz="1800" spc="-100" dirty="0"/>
              <a:t> </a:t>
            </a:r>
            <a:r>
              <a:rPr sz="1800" spc="47" dirty="0"/>
              <a:t>is</a:t>
            </a:r>
            <a:r>
              <a:rPr sz="1800" spc="-73" dirty="0"/>
              <a:t> </a:t>
            </a:r>
            <a:r>
              <a:rPr sz="1800" spc="73" dirty="0"/>
              <a:t>a</a:t>
            </a:r>
            <a:r>
              <a:rPr sz="1800" spc="-93" dirty="0"/>
              <a:t> </a:t>
            </a:r>
            <a:r>
              <a:rPr sz="1800" spc="20" dirty="0"/>
              <a:t>feedback</a:t>
            </a:r>
            <a:r>
              <a:rPr sz="1800" spc="-80" dirty="0"/>
              <a:t> </a:t>
            </a:r>
            <a:r>
              <a:rPr sz="1800" spc="-60" dirty="0"/>
              <a:t>to</a:t>
            </a:r>
            <a:r>
              <a:rPr sz="1800" spc="-93" dirty="0"/>
              <a:t> </a:t>
            </a:r>
            <a:r>
              <a:rPr sz="1800" spc="-33" dirty="0"/>
              <a:t>the</a:t>
            </a:r>
            <a:r>
              <a:rPr sz="1800" spc="-93" dirty="0"/>
              <a:t> </a:t>
            </a:r>
            <a:r>
              <a:rPr sz="1800" spc="-33" dirty="0"/>
              <a:t>transmitter</a:t>
            </a:r>
            <a:r>
              <a:rPr sz="1800" spc="-73" dirty="0"/>
              <a:t> </a:t>
            </a:r>
            <a:r>
              <a:rPr sz="1800" spc="33" dirty="0"/>
              <a:t>(Ack</a:t>
            </a:r>
            <a:r>
              <a:rPr sz="1800" spc="-87" dirty="0"/>
              <a:t> </a:t>
            </a:r>
            <a:r>
              <a:rPr sz="1800" dirty="0"/>
              <a:t>signal)</a:t>
            </a:r>
            <a:r>
              <a:rPr sz="1800" spc="-73" dirty="0"/>
              <a:t> </a:t>
            </a:r>
            <a:r>
              <a:rPr sz="1800" spc="-53" dirty="0"/>
              <a:t>for</a:t>
            </a:r>
            <a:r>
              <a:rPr sz="1800" spc="-93" dirty="0"/>
              <a:t> </a:t>
            </a:r>
            <a:r>
              <a:rPr sz="1800" spc="13" dirty="0"/>
              <a:t>conveying</a:t>
            </a:r>
            <a:r>
              <a:rPr sz="1800" spc="-87" dirty="0"/>
              <a:t> </a:t>
            </a:r>
            <a:r>
              <a:rPr sz="1800" spc="-33" dirty="0"/>
              <a:t>the </a:t>
            </a:r>
            <a:r>
              <a:rPr sz="1800" spc="-733" dirty="0"/>
              <a:t> </a:t>
            </a:r>
            <a:r>
              <a:rPr sz="1800" spc="87" dirty="0"/>
              <a:t>success</a:t>
            </a:r>
            <a:r>
              <a:rPr sz="1800" spc="-80" dirty="0"/>
              <a:t> </a:t>
            </a:r>
            <a:r>
              <a:rPr sz="1800" spc="-47" dirty="0"/>
              <a:t>of</a:t>
            </a:r>
            <a:r>
              <a:rPr sz="1800" spc="-80" dirty="0"/>
              <a:t> </a:t>
            </a:r>
            <a:r>
              <a:rPr sz="1800" spc="-33" dirty="0"/>
              <a:t>the</a:t>
            </a:r>
            <a:r>
              <a:rPr sz="1800" spc="-87" dirty="0"/>
              <a:t> </a:t>
            </a:r>
            <a:r>
              <a:rPr sz="1800" spc="-20" dirty="0"/>
              <a:t>transfer</a:t>
            </a:r>
          </a:p>
          <a:p>
            <a:pPr marL="16933">
              <a:lnSpc>
                <a:spcPct val="100000"/>
              </a:lnSpc>
            </a:pPr>
            <a:r>
              <a:rPr sz="1800" spc="-27" dirty="0"/>
              <a:t>Note:</a:t>
            </a:r>
            <a:r>
              <a:rPr sz="1800" spc="-80" dirty="0"/>
              <a:t> </a:t>
            </a:r>
            <a:r>
              <a:rPr sz="1800" spc="-233" dirty="0"/>
              <a:t>I</a:t>
            </a:r>
            <a:r>
              <a:rPr sz="1800" spc="-80" dirty="0"/>
              <a:t> </a:t>
            </a:r>
            <a:r>
              <a:rPr sz="1800" spc="20" dirty="0"/>
              <a:t>2</a:t>
            </a:r>
            <a:r>
              <a:rPr sz="1800" spc="-93" dirty="0"/>
              <a:t> </a:t>
            </a:r>
            <a:r>
              <a:rPr sz="1800" spc="287" dirty="0"/>
              <a:t>C</a:t>
            </a:r>
            <a:r>
              <a:rPr sz="1800" spc="-80" dirty="0"/>
              <a:t> </a:t>
            </a:r>
            <a:r>
              <a:rPr sz="1800" spc="-20" dirty="0"/>
              <a:t>now</a:t>
            </a:r>
            <a:r>
              <a:rPr sz="1800" spc="-87" dirty="0"/>
              <a:t> </a:t>
            </a:r>
            <a:r>
              <a:rPr sz="1800" spc="53" dirty="0"/>
              <a:t>has</a:t>
            </a:r>
            <a:r>
              <a:rPr sz="1800" spc="-73" dirty="0"/>
              <a:t> </a:t>
            </a:r>
            <a:r>
              <a:rPr sz="1800" spc="-13" dirty="0"/>
              <a:t>higher</a:t>
            </a:r>
            <a:r>
              <a:rPr sz="1800" spc="-80" dirty="0"/>
              <a:t> </a:t>
            </a:r>
            <a:r>
              <a:rPr sz="1800" spc="47" dirty="0"/>
              <a:t>speed</a:t>
            </a:r>
            <a:r>
              <a:rPr sz="1800" spc="-93" dirty="0"/>
              <a:t> </a:t>
            </a:r>
            <a:r>
              <a:rPr sz="1800" spc="33" dirty="0"/>
              <a:t>modes</a:t>
            </a:r>
            <a:r>
              <a:rPr sz="1800" spc="-87" dirty="0"/>
              <a:t> </a:t>
            </a:r>
            <a:r>
              <a:rPr sz="1800" spc="-40" dirty="0"/>
              <a:t>of</a:t>
            </a:r>
            <a:r>
              <a:rPr sz="1800" spc="-73" dirty="0"/>
              <a:t> </a:t>
            </a:r>
            <a:r>
              <a:rPr sz="1800" spc="-7" dirty="0"/>
              <a:t>operation</a:t>
            </a:r>
            <a:r>
              <a:rPr sz="1800" spc="-100" dirty="0"/>
              <a:t> </a:t>
            </a:r>
            <a:r>
              <a:rPr sz="1800" spc="-147" dirty="0"/>
              <a:t>(~5</a:t>
            </a:r>
            <a:r>
              <a:rPr sz="1800" spc="-93" dirty="0"/>
              <a:t> </a:t>
            </a:r>
            <a:r>
              <a:rPr sz="1800" spc="-40" dirty="0"/>
              <a:t>Mbit/s)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7825" y="3166294"/>
            <a:ext cx="2184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Tahoma"/>
                <a:cs typeface="Tahoma"/>
              </a:rPr>
              <a:t>○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1811</Words>
  <Application>Microsoft Office PowerPoint</Application>
  <PresentationFormat>Widescreen</PresentationFormat>
  <Paragraphs>235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Tahoma</vt:lpstr>
      <vt:lpstr>Times New Roman</vt:lpstr>
      <vt:lpstr>Office Theme</vt:lpstr>
      <vt:lpstr>COE3062 Microcontrollers &amp; Embedded Systems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Microcontrollers - ARM Programmer's Model</vt:lpstr>
      <vt:lpstr>Microcontroller Interfacing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  <vt:lpstr>Communication Technologies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Budditha Hettige</dc:creator>
  <cp:lastModifiedBy>Marc</cp:lastModifiedBy>
  <cp:revision>26</cp:revision>
  <dcterms:created xsi:type="dcterms:W3CDTF">2019-10-01T20:54:45Z</dcterms:created>
  <dcterms:modified xsi:type="dcterms:W3CDTF">2023-11-28T10:34:43Z</dcterms:modified>
</cp:coreProperties>
</file>