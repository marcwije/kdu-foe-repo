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tags/tag14.xml" ContentType="application/vnd.openxmlformats-officedocument.presentationml.tags+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ppt/tags/tag16.xml" ContentType="application/vnd.openxmlformats-officedocument.presentationml.tags+xml"/>
  <Override PartName="/ppt/notesSlides/notesSlide19.xml" ContentType="application/vnd.openxmlformats-officedocument.presentationml.notesSlide+xml"/>
  <Override PartName="/ppt/tags/tag17.xml" ContentType="application/vnd.openxmlformats-officedocument.presentationml.tags+xml"/>
  <Override PartName="/ppt/notesSlides/notesSlide20.xml" ContentType="application/vnd.openxmlformats-officedocument.presentationml.notesSlide+xml"/>
  <Override PartName="/ppt/tags/tag18.xml" ContentType="application/vnd.openxmlformats-officedocument.presentationml.tags+xml"/>
  <Override PartName="/ppt/notesSlides/notesSlide21.xml" ContentType="application/vnd.openxmlformats-officedocument.presentationml.notesSlide+xml"/>
  <Override PartName="/ppt/tags/tag19.xml" ContentType="application/vnd.openxmlformats-officedocument.presentationml.tags+xml"/>
  <Override PartName="/ppt/notesSlides/notesSlide22.xml" ContentType="application/vnd.openxmlformats-officedocument.presentationml.notesSlide+xml"/>
  <Override PartName="/ppt/tags/tag20.xml" ContentType="application/vnd.openxmlformats-officedocument.presentationml.tags+xml"/>
  <Override PartName="/ppt/notesSlides/notesSlide23.xml" ContentType="application/vnd.openxmlformats-officedocument.presentationml.notesSlide+xml"/>
  <Override PartName="/ppt/tags/tag21.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403" r:id="rId2"/>
    <p:sldId id="258" r:id="rId3"/>
    <p:sldId id="343" r:id="rId4"/>
    <p:sldId id="344" r:id="rId5"/>
    <p:sldId id="345" r:id="rId6"/>
    <p:sldId id="401" r:id="rId7"/>
    <p:sldId id="402" r:id="rId8"/>
    <p:sldId id="346" r:id="rId9"/>
    <p:sldId id="347" r:id="rId10"/>
    <p:sldId id="349" r:id="rId11"/>
    <p:sldId id="355" r:id="rId12"/>
    <p:sldId id="400" r:id="rId13"/>
    <p:sldId id="356" r:id="rId14"/>
    <p:sldId id="357" r:id="rId15"/>
    <p:sldId id="365" r:id="rId16"/>
    <p:sldId id="374" r:id="rId17"/>
    <p:sldId id="375" r:id="rId18"/>
    <p:sldId id="278" r:id="rId19"/>
    <p:sldId id="279" r:id="rId20"/>
    <p:sldId id="280" r:id="rId21"/>
    <p:sldId id="286" r:id="rId22"/>
    <p:sldId id="305" r:id="rId23"/>
    <p:sldId id="287" r:id="rId24"/>
    <p:sldId id="396" r:id="rId25"/>
    <p:sldId id="387" r:id="rId26"/>
    <p:sldId id="388" r:id="rId27"/>
    <p:sldId id="389" r:id="rId28"/>
    <p:sldId id="390" r:id="rId29"/>
    <p:sldId id="391" r:id="rId30"/>
    <p:sldId id="392" r:id="rId31"/>
    <p:sldId id="393" r:id="rId32"/>
    <p:sldId id="289" r:id="rId33"/>
    <p:sldId id="290" r:id="rId34"/>
    <p:sldId id="291" r:id="rId35"/>
    <p:sldId id="292" r:id="rId36"/>
    <p:sldId id="293" r:id="rId37"/>
    <p:sldId id="294" r:id="rId38"/>
    <p:sldId id="295" r:id="rId39"/>
    <p:sldId id="296" r:id="rId40"/>
    <p:sldId id="297" r:id="rId41"/>
    <p:sldId id="298" r:id="rId42"/>
    <p:sldId id="306" r:id="rId43"/>
    <p:sldId id="304" r:id="rId44"/>
    <p:sldId id="397" r:id="rId45"/>
    <p:sldId id="398" r:id="rId46"/>
    <p:sldId id="264" r:id="rId47"/>
    <p:sldId id="378" r:id="rId48"/>
    <p:sldId id="379" r:id="rId49"/>
    <p:sldId id="380" r:id="rId50"/>
    <p:sldId id="395"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498" y="82"/>
      </p:cViewPr>
      <p:guideLst>
        <p:guide orient="horz" pos="2160"/>
        <p:guide pos="2880"/>
      </p:guideLst>
    </p:cSldViewPr>
  </p:slideViewPr>
  <p:notesTextViewPr>
    <p:cViewPr>
      <p:scale>
        <a:sx n="1" d="1"/>
        <a:sy n="1" d="1"/>
      </p:scale>
      <p:origin x="0" y="0"/>
    </p:cViewPr>
  </p:notesTextViewPr>
  <p:sorterViewPr>
    <p:cViewPr>
      <p:scale>
        <a:sx n="100" d="100"/>
        <a:sy n="100" d="100"/>
      </p:scale>
      <p:origin x="0" y="1095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97A4F84-C521-46ED-96CF-92E4070C2AB7}" type="datetimeFigureOut">
              <a:rPr lang="en-US" smtClean="0"/>
              <a:pPr/>
              <a:t>6/16/2021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639F40-981A-4D77-A16A-2CF04552D579}" type="slidenum">
              <a:rPr lang="en-US" smtClean="0"/>
              <a:pPr/>
              <a:t>‹#›</a:t>
            </a:fld>
            <a:endParaRPr lang="en-US"/>
          </a:p>
        </p:txBody>
      </p:sp>
    </p:spTree>
    <p:extLst>
      <p:ext uri="{BB962C8B-B14F-4D97-AF65-F5344CB8AC3E}">
        <p14:creationId xmlns:p14="http://schemas.microsoft.com/office/powerpoint/2010/main" val="2258447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Intro to Macro Economics</a:t>
            </a:r>
          </a:p>
        </p:txBody>
      </p:sp>
      <p:sp>
        <p:nvSpPr>
          <p:cNvPr id="6" name="Rectangle 6"/>
          <p:cNvSpPr>
            <a:spLocks noGrp="1" noChangeArrowheads="1"/>
          </p:cNvSpPr>
          <p:nvPr>
            <p:ph type="ftr" sz="quarter" idx="4"/>
          </p:nvPr>
        </p:nvSpPr>
        <p:spPr>
          <a:ln/>
        </p:spPr>
        <p:txBody>
          <a:bodyPr/>
          <a:lstStyle/>
          <a:p>
            <a:r>
              <a:rPr lang="en-US"/>
              <a:t>Mrs Gordon's theory</a:t>
            </a:r>
          </a:p>
        </p:txBody>
      </p:sp>
      <p:sp>
        <p:nvSpPr>
          <p:cNvPr id="7" name="Rectangle 7"/>
          <p:cNvSpPr>
            <a:spLocks noGrp="1" noChangeArrowheads="1"/>
          </p:cNvSpPr>
          <p:nvPr>
            <p:ph type="sldNum" sz="quarter" idx="5"/>
          </p:nvPr>
        </p:nvSpPr>
        <p:spPr>
          <a:ln/>
        </p:spPr>
        <p:txBody>
          <a:bodyPr/>
          <a:lstStyle/>
          <a:p>
            <a:fld id="{B1F65127-2311-4947-9A52-C18CEA7D3B01}" type="slidenum">
              <a:rPr lang="en-US"/>
              <a:pPr/>
              <a:t>3</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52089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Intro to Macro Economics</a:t>
            </a:r>
          </a:p>
        </p:txBody>
      </p:sp>
      <p:sp>
        <p:nvSpPr>
          <p:cNvPr id="6" name="Rectangle 6"/>
          <p:cNvSpPr>
            <a:spLocks noGrp="1" noChangeArrowheads="1"/>
          </p:cNvSpPr>
          <p:nvPr>
            <p:ph type="ftr" sz="quarter" idx="4"/>
          </p:nvPr>
        </p:nvSpPr>
        <p:spPr>
          <a:ln/>
        </p:spPr>
        <p:txBody>
          <a:bodyPr/>
          <a:lstStyle/>
          <a:p>
            <a:r>
              <a:rPr lang="en-US"/>
              <a:t>Mrs Gordon's theory</a:t>
            </a:r>
          </a:p>
        </p:txBody>
      </p:sp>
      <p:sp>
        <p:nvSpPr>
          <p:cNvPr id="7" name="Rectangle 7"/>
          <p:cNvSpPr>
            <a:spLocks noGrp="1" noChangeArrowheads="1"/>
          </p:cNvSpPr>
          <p:nvPr>
            <p:ph type="sldNum" sz="quarter" idx="5"/>
          </p:nvPr>
        </p:nvSpPr>
        <p:spPr>
          <a:ln/>
        </p:spPr>
        <p:txBody>
          <a:bodyPr/>
          <a:lstStyle/>
          <a:p>
            <a:fld id="{C400C13E-B08B-4FFE-BB31-6358DD7B907D}" type="slidenum">
              <a:rPr lang="en-US"/>
              <a:pPr/>
              <a:t>4</a:t>
            </a:fld>
            <a:endParaRPr lang="en-US"/>
          </a:p>
        </p:txBody>
      </p:sp>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p:txBody>
          <a:bodyPr/>
          <a:lstStyle/>
          <a:p>
            <a:r>
              <a:rPr lang="en-GB" dirty="0"/>
              <a:t>The economy is made up of </a:t>
            </a:r>
            <a:r>
              <a:rPr lang="en-GB" b="1" dirty="0"/>
              <a:t>four sectors</a:t>
            </a:r>
            <a:r>
              <a:rPr lang="en-GB" dirty="0"/>
              <a:t> sometimes called </a:t>
            </a:r>
            <a:r>
              <a:rPr lang="en-GB" b="1" dirty="0"/>
              <a:t>economic agents</a:t>
            </a:r>
            <a:r>
              <a:rPr lang="en-GB" dirty="0"/>
              <a:t>: </a:t>
            </a:r>
            <a:endParaRPr lang="en-GB" b="1" dirty="0"/>
          </a:p>
          <a:p>
            <a:r>
              <a:rPr lang="en-GB" b="1" dirty="0"/>
              <a:t>Households </a:t>
            </a:r>
            <a:r>
              <a:rPr lang="en-GB" dirty="0"/>
              <a:t>who receive payments (income) for their services (</a:t>
            </a:r>
            <a:r>
              <a:rPr lang="en-GB" dirty="0" err="1"/>
              <a:t>eg</a:t>
            </a:r>
            <a:r>
              <a:rPr lang="en-GB" dirty="0"/>
              <a:t> labour and land) and use this money to buy the output of firms (</a:t>
            </a:r>
            <a:r>
              <a:rPr lang="en-GB" dirty="0" err="1"/>
              <a:t>ie</a:t>
            </a:r>
            <a:r>
              <a:rPr lang="en-GB" dirty="0"/>
              <a:t> consumption or household spending).</a:t>
            </a:r>
            <a:endParaRPr lang="en-GB" b="1" dirty="0"/>
          </a:p>
          <a:p>
            <a:r>
              <a:rPr lang="en-GB" b="1" dirty="0"/>
              <a:t>Firms</a:t>
            </a:r>
            <a:r>
              <a:rPr lang="en-GB" dirty="0"/>
              <a:t> who use land labour and capital to produce goods and services for which they pay wages rent etc (income) and receive payment (expenditure)</a:t>
            </a:r>
            <a:endParaRPr lang="en-GB" b="1" dirty="0"/>
          </a:p>
          <a:p>
            <a:r>
              <a:rPr lang="en-GB" b="1" dirty="0"/>
              <a:t>Government</a:t>
            </a:r>
            <a:r>
              <a:rPr lang="en-GB" dirty="0"/>
              <a:t> (also known as the public or state sector) and </a:t>
            </a:r>
            <a:endParaRPr lang="en-GB" b="1" dirty="0"/>
          </a:p>
          <a:p>
            <a:r>
              <a:rPr lang="en-GB" b="1" dirty="0"/>
              <a:t>International</a:t>
            </a:r>
            <a:r>
              <a:rPr lang="en-GB" dirty="0"/>
              <a:t> </a:t>
            </a:r>
            <a:r>
              <a:rPr lang="en-GB" dirty="0" err="1"/>
              <a:t>eg</a:t>
            </a:r>
            <a:r>
              <a:rPr lang="en-GB" dirty="0"/>
              <a:t> consumers buying overseas products (M) and Foreigners buying UK products (X)</a:t>
            </a:r>
            <a:r>
              <a:rPr lang="en-US" dirty="0"/>
              <a:t> </a:t>
            </a:r>
          </a:p>
        </p:txBody>
      </p:sp>
    </p:spTree>
    <p:extLst>
      <p:ext uri="{BB962C8B-B14F-4D97-AF65-F5344CB8AC3E}">
        <p14:creationId xmlns:p14="http://schemas.microsoft.com/office/powerpoint/2010/main" val="3279910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Intro to Macro Economics</a:t>
            </a:r>
          </a:p>
        </p:txBody>
      </p:sp>
      <p:sp>
        <p:nvSpPr>
          <p:cNvPr id="6" name="Rectangle 6"/>
          <p:cNvSpPr>
            <a:spLocks noGrp="1" noChangeArrowheads="1"/>
          </p:cNvSpPr>
          <p:nvPr>
            <p:ph type="ftr" sz="quarter" idx="4"/>
          </p:nvPr>
        </p:nvSpPr>
        <p:spPr>
          <a:ln/>
        </p:spPr>
        <p:txBody>
          <a:bodyPr/>
          <a:lstStyle/>
          <a:p>
            <a:r>
              <a:rPr lang="en-US"/>
              <a:t>Mrs Gordon's theory</a:t>
            </a:r>
          </a:p>
        </p:txBody>
      </p:sp>
      <p:sp>
        <p:nvSpPr>
          <p:cNvPr id="7" name="Rectangle 7"/>
          <p:cNvSpPr>
            <a:spLocks noGrp="1" noChangeArrowheads="1"/>
          </p:cNvSpPr>
          <p:nvPr>
            <p:ph type="sldNum" sz="quarter" idx="5"/>
          </p:nvPr>
        </p:nvSpPr>
        <p:spPr>
          <a:ln/>
        </p:spPr>
        <p:txBody>
          <a:bodyPr/>
          <a:lstStyle/>
          <a:p>
            <a:fld id="{86032D69-9396-4E89-9506-AF101EBC87E7}" type="slidenum">
              <a:rPr lang="en-US"/>
              <a:pPr/>
              <a:t>5</a:t>
            </a:fld>
            <a:endParaRPr lang="en-US"/>
          </a:p>
        </p:txBody>
      </p:sp>
      <p:sp>
        <p:nvSpPr>
          <p:cNvPr id="153602" name="Rectangle 2"/>
          <p:cNvSpPr>
            <a:spLocks noGrp="1" noRot="1" noChangeAspect="1" noChangeArrowheads="1" noTextEdit="1"/>
          </p:cNvSpPr>
          <p:nvPr>
            <p:ph type="sldImg"/>
          </p:nvPr>
        </p:nvSpPr>
        <p:spPr>
          <a:ln/>
        </p:spPr>
      </p:sp>
      <p:sp>
        <p:nvSpPr>
          <p:cNvPr id="153603"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432426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Intro to Macro Economics</a:t>
            </a:r>
          </a:p>
        </p:txBody>
      </p:sp>
      <p:sp>
        <p:nvSpPr>
          <p:cNvPr id="6" name="Rectangle 6"/>
          <p:cNvSpPr>
            <a:spLocks noGrp="1" noChangeArrowheads="1"/>
          </p:cNvSpPr>
          <p:nvPr>
            <p:ph type="ftr" sz="quarter" idx="4"/>
          </p:nvPr>
        </p:nvSpPr>
        <p:spPr>
          <a:ln/>
        </p:spPr>
        <p:txBody>
          <a:bodyPr/>
          <a:lstStyle/>
          <a:p>
            <a:r>
              <a:rPr lang="en-US"/>
              <a:t>Mrs Gordon's theory</a:t>
            </a:r>
          </a:p>
        </p:txBody>
      </p:sp>
      <p:sp>
        <p:nvSpPr>
          <p:cNvPr id="7" name="Rectangle 7"/>
          <p:cNvSpPr>
            <a:spLocks noGrp="1" noChangeArrowheads="1"/>
          </p:cNvSpPr>
          <p:nvPr>
            <p:ph type="sldNum" sz="quarter" idx="5"/>
          </p:nvPr>
        </p:nvSpPr>
        <p:spPr>
          <a:ln/>
        </p:spPr>
        <p:txBody>
          <a:bodyPr/>
          <a:lstStyle/>
          <a:p>
            <a:fld id="{8EF53777-3F04-4E86-A03A-F4FB2B2E720C}" type="slidenum">
              <a:rPr lang="en-US"/>
              <a:pPr/>
              <a:t>8</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82601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Intro to Macro Economics</a:t>
            </a:r>
          </a:p>
        </p:txBody>
      </p:sp>
      <p:sp>
        <p:nvSpPr>
          <p:cNvPr id="6" name="Rectangle 6"/>
          <p:cNvSpPr>
            <a:spLocks noGrp="1" noChangeArrowheads="1"/>
          </p:cNvSpPr>
          <p:nvPr>
            <p:ph type="ftr" sz="quarter" idx="4"/>
          </p:nvPr>
        </p:nvSpPr>
        <p:spPr>
          <a:ln/>
        </p:spPr>
        <p:txBody>
          <a:bodyPr/>
          <a:lstStyle/>
          <a:p>
            <a:r>
              <a:rPr lang="en-US"/>
              <a:t>Mrs Gordon's theory</a:t>
            </a:r>
          </a:p>
        </p:txBody>
      </p:sp>
      <p:sp>
        <p:nvSpPr>
          <p:cNvPr id="7" name="Rectangle 7"/>
          <p:cNvSpPr>
            <a:spLocks noGrp="1" noChangeArrowheads="1"/>
          </p:cNvSpPr>
          <p:nvPr>
            <p:ph type="sldNum" sz="quarter" idx="5"/>
          </p:nvPr>
        </p:nvSpPr>
        <p:spPr>
          <a:ln/>
        </p:spPr>
        <p:txBody>
          <a:bodyPr/>
          <a:lstStyle/>
          <a:p>
            <a:fld id="{BB8577BE-7D79-4F5B-A864-EAA0E7C3F035}" type="slidenum">
              <a:rPr lang="en-US"/>
              <a:pPr/>
              <a:t>9</a:t>
            </a:fld>
            <a:endParaRPr lang="en-US"/>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57529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Intro to Macro Economics</a:t>
            </a:r>
          </a:p>
        </p:txBody>
      </p:sp>
      <p:sp>
        <p:nvSpPr>
          <p:cNvPr id="6" name="Rectangle 6"/>
          <p:cNvSpPr>
            <a:spLocks noGrp="1" noChangeArrowheads="1"/>
          </p:cNvSpPr>
          <p:nvPr>
            <p:ph type="ftr" sz="quarter" idx="4"/>
          </p:nvPr>
        </p:nvSpPr>
        <p:spPr>
          <a:ln/>
        </p:spPr>
        <p:txBody>
          <a:bodyPr/>
          <a:lstStyle/>
          <a:p>
            <a:r>
              <a:rPr lang="en-US"/>
              <a:t>Mrs Gordon's theory</a:t>
            </a:r>
          </a:p>
        </p:txBody>
      </p:sp>
      <p:sp>
        <p:nvSpPr>
          <p:cNvPr id="7" name="Rectangle 7"/>
          <p:cNvSpPr>
            <a:spLocks noGrp="1" noChangeArrowheads="1"/>
          </p:cNvSpPr>
          <p:nvPr>
            <p:ph type="sldNum" sz="quarter" idx="5"/>
          </p:nvPr>
        </p:nvSpPr>
        <p:spPr>
          <a:ln/>
        </p:spPr>
        <p:txBody>
          <a:bodyPr/>
          <a:lstStyle/>
          <a:p>
            <a:fld id="{95C01CD5-8588-4D2C-91A3-DE769C57FBA2}" type="slidenum">
              <a:rPr lang="en-US"/>
              <a:pPr/>
              <a:t>10</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76668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Intro to Macro Economics</a:t>
            </a:r>
          </a:p>
        </p:txBody>
      </p:sp>
      <p:sp>
        <p:nvSpPr>
          <p:cNvPr id="6" name="Rectangle 6"/>
          <p:cNvSpPr>
            <a:spLocks noGrp="1" noChangeArrowheads="1"/>
          </p:cNvSpPr>
          <p:nvPr>
            <p:ph type="ftr" sz="quarter" idx="4"/>
          </p:nvPr>
        </p:nvSpPr>
        <p:spPr>
          <a:ln/>
        </p:spPr>
        <p:txBody>
          <a:bodyPr/>
          <a:lstStyle/>
          <a:p>
            <a:r>
              <a:rPr lang="en-US"/>
              <a:t>Mrs Gordon's theory</a:t>
            </a:r>
          </a:p>
        </p:txBody>
      </p:sp>
      <p:sp>
        <p:nvSpPr>
          <p:cNvPr id="7" name="Rectangle 7"/>
          <p:cNvSpPr>
            <a:spLocks noGrp="1" noChangeArrowheads="1"/>
          </p:cNvSpPr>
          <p:nvPr>
            <p:ph type="sldNum" sz="quarter" idx="5"/>
          </p:nvPr>
        </p:nvSpPr>
        <p:spPr>
          <a:ln/>
        </p:spPr>
        <p:txBody>
          <a:bodyPr/>
          <a:lstStyle/>
          <a:p>
            <a:fld id="{CE5942B4-807E-49DE-B028-7A36A1E17987}" type="slidenum">
              <a:rPr lang="en-US"/>
              <a:pPr/>
              <a:t>11</a:t>
            </a:fld>
            <a:endParaRPr lang="en-US"/>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215516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2639F40-981A-4D77-A16A-2CF04552D579}" type="slidenum">
              <a:rPr lang="en-US" smtClean="0"/>
              <a:pPr/>
              <a:t>12</a:t>
            </a:fld>
            <a:endParaRPr lang="en-US"/>
          </a:p>
        </p:txBody>
      </p:sp>
    </p:spTree>
    <p:extLst>
      <p:ext uri="{BB962C8B-B14F-4D97-AF65-F5344CB8AC3E}">
        <p14:creationId xmlns:p14="http://schemas.microsoft.com/office/powerpoint/2010/main" val="463100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Intro to Macro Economics</a:t>
            </a:r>
          </a:p>
        </p:txBody>
      </p:sp>
      <p:sp>
        <p:nvSpPr>
          <p:cNvPr id="6" name="Rectangle 6"/>
          <p:cNvSpPr>
            <a:spLocks noGrp="1" noChangeArrowheads="1"/>
          </p:cNvSpPr>
          <p:nvPr>
            <p:ph type="ftr" sz="quarter" idx="4"/>
          </p:nvPr>
        </p:nvSpPr>
        <p:spPr>
          <a:ln/>
        </p:spPr>
        <p:txBody>
          <a:bodyPr/>
          <a:lstStyle/>
          <a:p>
            <a:r>
              <a:rPr lang="en-US"/>
              <a:t>Mrs Gordon's theory</a:t>
            </a:r>
          </a:p>
        </p:txBody>
      </p:sp>
      <p:sp>
        <p:nvSpPr>
          <p:cNvPr id="7" name="Rectangle 7"/>
          <p:cNvSpPr>
            <a:spLocks noGrp="1" noChangeArrowheads="1"/>
          </p:cNvSpPr>
          <p:nvPr>
            <p:ph type="sldNum" sz="quarter" idx="5"/>
          </p:nvPr>
        </p:nvSpPr>
        <p:spPr>
          <a:ln/>
        </p:spPr>
        <p:txBody>
          <a:bodyPr/>
          <a:lstStyle/>
          <a:p>
            <a:fld id="{BCEDDBC7-23DE-4BF1-AA99-C9096ACDC24F}" type="slidenum">
              <a:rPr lang="en-US"/>
              <a:pPr/>
              <a:t>14</a:t>
            </a:fld>
            <a:endParaRPr lang="en-US"/>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64717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DFE542-76C4-4799-B42B-4DC95019AFAB}" type="slidenum">
              <a:rPr lang="en-US"/>
              <a:pPr/>
              <a:t>18</a:t>
            </a:fld>
            <a:endParaRPr lang="en-US"/>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37393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A652B2-8790-4736-9A06-4B5C5A1ECBC6}" type="slidenum">
              <a:rPr lang="en-US"/>
              <a:pPr/>
              <a:t>19</a:t>
            </a:fld>
            <a:endParaRPr lang="en-US"/>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p:txBody>
          <a:bodyPr/>
          <a:lstStyle/>
          <a:p>
            <a:r>
              <a:rPr lang="en-GB"/>
              <a:t>There are there three main methods of calculating a country’s national income (Y):</a:t>
            </a:r>
            <a:endParaRPr lang="en-GB" b="1"/>
          </a:p>
          <a:p>
            <a:r>
              <a:rPr lang="en-GB" b="1"/>
              <a:t>Income method</a:t>
            </a:r>
            <a:r>
              <a:rPr lang="en-GB"/>
              <a:t> adds up the </a:t>
            </a:r>
            <a:r>
              <a:rPr lang="en-GB" b="1"/>
              <a:t>factor incomes</a:t>
            </a:r>
            <a:r>
              <a:rPr lang="en-GB"/>
              <a:t> earned from the current production of goods and services</a:t>
            </a:r>
            <a:endParaRPr lang="en-GB" b="1"/>
          </a:p>
          <a:p>
            <a:r>
              <a:rPr lang="en-GB" b="1"/>
              <a:t>Expenditure method</a:t>
            </a:r>
            <a:r>
              <a:rPr lang="en-GB"/>
              <a:t> adds up the money spent on all </a:t>
            </a:r>
            <a:r>
              <a:rPr lang="en-GB" b="1"/>
              <a:t>current finished goods and services</a:t>
            </a:r>
            <a:r>
              <a:rPr lang="en-GB"/>
              <a:t>, less the cost of imports (AD= C+I+G+X-M)</a:t>
            </a:r>
            <a:endParaRPr lang="en-GB" b="1"/>
          </a:p>
          <a:p>
            <a:r>
              <a:rPr lang="en-GB" b="1"/>
              <a:t>Output method </a:t>
            </a:r>
            <a:r>
              <a:rPr lang="en-GB"/>
              <a:t>adds up the value of </a:t>
            </a:r>
            <a:r>
              <a:rPr lang="en-GB" b="1"/>
              <a:t>final current UK output</a:t>
            </a:r>
            <a:r>
              <a:rPr lang="en-GB"/>
              <a:t>. Intermediate output is ignored and value added (output less cost of inputs) is counted</a:t>
            </a:r>
            <a:r>
              <a:rPr lang="en-US"/>
              <a:t> </a:t>
            </a:r>
          </a:p>
        </p:txBody>
      </p:sp>
    </p:spTree>
    <p:extLst>
      <p:ext uri="{BB962C8B-B14F-4D97-AF65-F5344CB8AC3E}">
        <p14:creationId xmlns:p14="http://schemas.microsoft.com/office/powerpoint/2010/main" val="1547140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7FD941-0B1C-458E-B686-AB583C4F1E3A}" type="slidenum">
              <a:rPr lang="en-US"/>
              <a:pPr/>
              <a:t>20</a:t>
            </a:fld>
            <a:endParaRPr lang="en-US"/>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223421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B28EF8-3E69-45E2-887B-F00C019E3305}" type="slidenum">
              <a:rPr lang="en-US"/>
              <a:pPr/>
              <a:t>21</a:t>
            </a:fld>
            <a:endParaRPr lang="en-US"/>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8792991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2639F40-981A-4D77-A16A-2CF04552D579}" type="slidenum">
              <a:rPr lang="en-US" smtClean="0"/>
              <a:pPr/>
              <a:t>22</a:t>
            </a:fld>
            <a:endParaRPr lang="en-US"/>
          </a:p>
        </p:txBody>
      </p:sp>
    </p:spTree>
    <p:extLst>
      <p:ext uri="{BB962C8B-B14F-4D97-AF65-F5344CB8AC3E}">
        <p14:creationId xmlns:p14="http://schemas.microsoft.com/office/powerpoint/2010/main" val="3926091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221DEB-91F3-48A7-89C3-36A034D3ECBA}" type="slidenum">
              <a:rPr lang="en-US"/>
              <a:pPr/>
              <a:t>23</a:t>
            </a:fld>
            <a:endParaRPr lang="en-US"/>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63466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441513-38A7-42FA-8568-10A799B6BA9F}" type="slidenum">
              <a:rPr lang="en-US"/>
              <a:pPr/>
              <a:t>32</a:t>
            </a:fld>
            <a:endParaRPr lang="en-US"/>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97721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164F71-257E-43BC-9EEB-E9EA2C98C63A}" type="slidenum">
              <a:rPr lang="en-US"/>
              <a:pPr/>
              <a:t>33</a:t>
            </a:fld>
            <a:endParaRPr lang="en-US"/>
          </a:p>
        </p:txBody>
      </p:sp>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44102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EBC200-951D-480D-BFB4-F594D0A91608}" type="slidenum">
              <a:rPr lang="en-US"/>
              <a:pPr/>
              <a:t>34</a:t>
            </a:fld>
            <a:endParaRPr lang="en-US"/>
          </a:p>
        </p:txBody>
      </p:sp>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19341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C399D9-1D2B-41C6-9D01-7D5AE933EFBB}" type="slidenum">
              <a:rPr lang="en-US"/>
              <a:pPr/>
              <a:t>35</a:t>
            </a:fld>
            <a:endParaRPr lang="en-US"/>
          </a:p>
        </p:txBody>
      </p:sp>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088510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FB51CA-2B91-4260-9C91-CF282075E10D}" type="slidenum">
              <a:rPr lang="en-US"/>
              <a:pPr/>
              <a:t>36</a:t>
            </a:fld>
            <a:endParaRPr lang="en-US"/>
          </a:p>
        </p:txBody>
      </p:sp>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322180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45D4C8-9983-4B4E-A408-7482B16F9246}" type="slidenum">
              <a:rPr lang="en-US"/>
              <a:pPr/>
              <a:t>37</a:t>
            </a:fld>
            <a:endParaRPr lang="en-US"/>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lang="en-GB" b="1" dirty="0"/>
              <a:t>Gross National Product </a:t>
            </a:r>
            <a:r>
              <a:rPr lang="en-GB" dirty="0"/>
              <a:t>(GNP) measures the value of output produced by UK citizens anywhere in the world, in a given period of time. </a:t>
            </a:r>
            <a:r>
              <a:rPr lang="en-GB" dirty="0" err="1"/>
              <a:t>Eg</a:t>
            </a:r>
            <a:r>
              <a:rPr lang="en-GB" dirty="0"/>
              <a:t>: cars produced by Honda or Toyota in the UK are included in UK GDP but the profits sent back to Japan add to Japan’s GNP. For the UK, our GNP exceeds our GDP because we have a net flow of investment income coming into the country from our overseas assets. In 2001 the net value of investment income for the UK was £12.6 billion</a:t>
            </a:r>
            <a:endParaRPr lang="en-GB" b="1" dirty="0"/>
          </a:p>
          <a:p>
            <a:r>
              <a:rPr lang="en-GB" b="1" dirty="0"/>
              <a:t>GNP = GDP + net property income from abroad </a:t>
            </a:r>
            <a:r>
              <a:rPr lang="en-GB" dirty="0"/>
              <a:t>(NPIA) </a:t>
            </a:r>
            <a:r>
              <a:rPr lang="en-GB" dirty="0" err="1"/>
              <a:t>ie</a:t>
            </a:r>
            <a:r>
              <a:rPr lang="en-GB" dirty="0"/>
              <a:t> income received from other countries (</a:t>
            </a:r>
            <a:r>
              <a:rPr lang="en-GB" dirty="0" err="1"/>
              <a:t>eg</a:t>
            </a:r>
            <a:r>
              <a:rPr lang="en-GB" dirty="0"/>
              <a:t> interest and dividends), less similar payments made to other countries</a:t>
            </a:r>
            <a:endParaRPr lang="en-US" dirty="0"/>
          </a:p>
        </p:txBody>
      </p:sp>
    </p:spTree>
    <p:extLst>
      <p:ext uri="{BB962C8B-B14F-4D97-AF65-F5344CB8AC3E}">
        <p14:creationId xmlns:p14="http://schemas.microsoft.com/office/powerpoint/2010/main" val="26007822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F2E5E7-6A72-46E8-842C-285806B97895}" type="slidenum">
              <a:rPr lang="en-US"/>
              <a:pPr/>
              <a:t>38</a:t>
            </a:fld>
            <a:endParaRPr lang="en-US"/>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04875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CE7DE5-7F20-44D5-9584-506C97E832E6}" type="slidenum">
              <a:rPr lang="en-US"/>
              <a:pPr/>
              <a:t>39</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7852813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75E1E9-8251-4E4C-8950-0A6EEE39B8DD}" type="slidenum">
              <a:rPr lang="en-US"/>
              <a:pPr/>
              <a:t>41</a:t>
            </a:fld>
            <a:endParaRPr lang="en-US"/>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98817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639F40-981A-4D77-A16A-2CF04552D579}" type="slidenum">
              <a:rPr lang="en-US" smtClean="0"/>
              <a:pPr/>
              <a:t>43</a:t>
            </a:fld>
            <a:endParaRPr lang="en-US"/>
          </a:p>
        </p:txBody>
      </p:sp>
    </p:spTree>
    <p:extLst>
      <p:ext uri="{BB962C8B-B14F-4D97-AF65-F5344CB8AC3E}">
        <p14:creationId xmlns:p14="http://schemas.microsoft.com/office/powerpoint/2010/main" val="1851866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8650E0D-8E8F-4DC1-B20F-B6FCF723346F}" type="datetime1">
              <a:rPr lang="en-US" smtClean="0"/>
              <a:pPr/>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4292522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E55482-2F92-40B1-9BD9-026FF340F6BD}" type="datetime1">
              <a:rPr lang="en-US" smtClean="0"/>
              <a:pPr/>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3220117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BFDCF3-0BDB-4A0F-BE15-6AB96DAC4984}" type="datetime1">
              <a:rPr lang="en-US" smtClean="0"/>
              <a:pPr/>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2041573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E675441-ECC8-4494-9882-53285C3ECD61}" type="datetime1">
              <a:rPr lang="en-US" smtClean="0"/>
              <a:pPr/>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4037693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EA9314B-36FE-4878-9A4F-83ADD5536888}" type="datetime1">
              <a:rPr lang="en-US" smtClean="0"/>
              <a:pPr/>
              <a:t>6/16/2021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2350980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0AB937-AD33-449C-B775-AE9B2EE9B8EB}" type="datetime1">
              <a:rPr lang="en-US" smtClean="0"/>
              <a:pPr/>
              <a:t>6/16/2021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191016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7CFBB3-463F-477F-A906-EF15827FAF9B}" type="datetime1">
              <a:rPr lang="en-US" smtClean="0"/>
              <a:pPr/>
              <a:t>6/16/2021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2008953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E5531E-C540-4FAA-A1BB-F3C79EF2C11C}" type="datetime1">
              <a:rPr lang="en-US" smtClean="0"/>
              <a:pPr/>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1817891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FDF354-9F81-44A7-BC8B-B8F23ED65955}" type="datetime1">
              <a:rPr lang="en-US" smtClean="0"/>
              <a:pPr/>
              <a:t>6/16/2021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761028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632847-9168-4239-9919-34F06E81D949}" type="datetime1">
              <a:rPr lang="en-US" smtClean="0"/>
              <a:pPr/>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1668207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7C19D0-14F9-4F72-B04D-4FFEA6E9EA34}" type="datetime1">
              <a:rPr lang="en-US" smtClean="0"/>
              <a:pPr/>
              <a:t>6/16/2021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1F55E7-D931-45D6-9168-5E895D7266BA}" type="slidenum">
              <a:rPr lang="en-US" smtClean="0"/>
              <a:pPr/>
              <a:t>‹#›</a:t>
            </a:fld>
            <a:endParaRPr lang="en-US"/>
          </a:p>
        </p:txBody>
      </p:sp>
    </p:spTree>
    <p:extLst>
      <p:ext uri="{BB962C8B-B14F-4D97-AF65-F5344CB8AC3E}">
        <p14:creationId xmlns:p14="http://schemas.microsoft.com/office/powerpoint/2010/main" val="19178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D84FCE-460B-4022-9363-4426FA88A862}" type="datetime1">
              <a:rPr lang="en-US" smtClean="0"/>
              <a:pPr/>
              <a:t>6/16/2021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1F55E7-D931-45D6-9168-5E895D7266BA}" type="slidenum">
              <a:rPr lang="en-US" smtClean="0"/>
              <a:pPr/>
              <a:t>‹#›</a:t>
            </a:fld>
            <a:endParaRPr lang="en-US"/>
          </a:p>
        </p:txBody>
      </p:sp>
    </p:spTree>
    <p:extLst>
      <p:ext uri="{BB962C8B-B14F-4D97-AF65-F5344CB8AC3E}">
        <p14:creationId xmlns:p14="http://schemas.microsoft.com/office/powerpoint/2010/main" val="3687240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hyperlink" Target="http://news.bbc.co.uk/1/hi/business/economy/default.stm"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hyperlink" Target="MTS%2028%20Groups/Group1.pdf"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hyperlink" Target="../Additional%20statistics/6_Chapter_02.pd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Aggregate%20demand.docx"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1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Lorenz%20curve%20&amp;%20Gini.pptx"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6368" y="1186265"/>
            <a:ext cx="6517482" cy="2020957"/>
          </a:xfrm>
        </p:spPr>
        <p:txBody>
          <a:bodyPr/>
          <a:lstStyle/>
          <a:p>
            <a:r>
              <a:rPr lang="en-US" dirty="0" smtClean="0"/>
              <a:t> </a:t>
            </a:r>
            <a:r>
              <a:rPr lang="en-US" dirty="0"/>
              <a:t>Fundamentals of Economics</a:t>
            </a:r>
          </a:p>
        </p:txBody>
      </p:sp>
      <p:sp>
        <p:nvSpPr>
          <p:cNvPr id="3" name="Subtitle 2"/>
          <p:cNvSpPr>
            <a:spLocks noGrp="1"/>
          </p:cNvSpPr>
          <p:nvPr>
            <p:ph type="subTitle" idx="1"/>
          </p:nvPr>
        </p:nvSpPr>
        <p:spPr>
          <a:xfrm>
            <a:off x="1484709" y="3429000"/>
            <a:ext cx="6400800" cy="2209800"/>
          </a:xfrm>
        </p:spPr>
        <p:txBody>
          <a:bodyPr>
            <a:noAutofit/>
          </a:bodyPr>
          <a:lstStyle/>
          <a:p>
            <a:r>
              <a:rPr lang="en-US" sz="2000" b="1" dirty="0" err="1" smtClean="0"/>
              <a:t>M.M.L.C.Gunathilake</a:t>
            </a:r>
            <a:endParaRPr lang="en-US" sz="2000" b="1" dirty="0" smtClean="0"/>
          </a:p>
          <a:p>
            <a:r>
              <a:rPr lang="en-US" sz="2000" b="1" dirty="0" smtClean="0"/>
              <a:t>Senior Lecturer </a:t>
            </a:r>
            <a:r>
              <a:rPr lang="en-US" sz="2000" b="1" dirty="0" smtClean="0"/>
              <a:t>Gr II</a:t>
            </a:r>
            <a:endParaRPr lang="en-US" sz="2000" b="1" dirty="0" smtClean="0"/>
          </a:p>
          <a:p>
            <a:r>
              <a:rPr lang="en-US" sz="2000" b="1" dirty="0" smtClean="0"/>
              <a:t>Department of Management and </a:t>
            </a:r>
            <a:r>
              <a:rPr lang="en-US" sz="2000" b="1" dirty="0"/>
              <a:t>F</a:t>
            </a:r>
            <a:r>
              <a:rPr lang="en-US" sz="2000" b="1" dirty="0" smtClean="0"/>
              <a:t>inance</a:t>
            </a:r>
          </a:p>
          <a:p>
            <a:r>
              <a:rPr lang="en-US" sz="2000" b="1" dirty="0" smtClean="0"/>
              <a:t>General Sir John </a:t>
            </a:r>
            <a:r>
              <a:rPr lang="en-US" sz="2000" b="1" dirty="0" err="1" smtClean="0"/>
              <a:t>Kotelawala</a:t>
            </a:r>
            <a:r>
              <a:rPr lang="en-US" sz="2000" b="1" dirty="0" smtClean="0"/>
              <a:t> </a:t>
            </a:r>
            <a:r>
              <a:rPr lang="en-US" sz="2000" b="1" dirty="0" err="1" smtClean="0"/>
              <a:t>Defence</a:t>
            </a:r>
            <a:r>
              <a:rPr lang="en-US" sz="2000" b="1" dirty="0" smtClean="0"/>
              <a:t> University</a:t>
            </a:r>
          </a:p>
          <a:p>
            <a:r>
              <a:rPr lang="en-US" sz="2000" b="1" dirty="0" smtClean="0"/>
              <a:t> </a:t>
            </a:r>
            <a:r>
              <a:rPr lang="en-US" sz="2000" b="1" dirty="0" err="1" smtClean="0"/>
              <a:t>Ratmalana</a:t>
            </a:r>
            <a:endParaRPr lang="en-US" sz="2000" b="1" dirty="0"/>
          </a:p>
        </p:txBody>
      </p:sp>
      <p:sp>
        <p:nvSpPr>
          <p:cNvPr id="5" name="Slide Number Placeholder 4"/>
          <p:cNvSpPr>
            <a:spLocks noGrp="1"/>
          </p:cNvSpPr>
          <p:nvPr>
            <p:ph type="sldNum" sz="quarter" idx="12"/>
          </p:nvPr>
        </p:nvSpPr>
        <p:spPr/>
        <p:txBody>
          <a:bodyPr/>
          <a:lstStyle/>
          <a:p>
            <a:fld id="{B35BE99D-ECB1-4FCE-9054-66FB2E623C70}" type="slidenum">
              <a:rPr lang="en-US" smtClean="0"/>
              <a:pPr/>
              <a:t>1</a:t>
            </a:fld>
            <a:endParaRPr lang="en-US" dirty="0"/>
          </a:p>
        </p:txBody>
      </p:sp>
      <p:pic>
        <p:nvPicPr>
          <p:cNvPr id="4" name="Picture 3" descr="5"/>
          <p:cNvPicPr/>
          <p:nvPr/>
        </p:nvPicPr>
        <p:blipFill>
          <a:blip r:embed="rId2" cstate="print">
            <a:clrChange>
              <a:clrFrom>
                <a:srgbClr val="F8F8F0"/>
              </a:clrFrom>
              <a:clrTo>
                <a:srgbClr val="F8F8F0">
                  <a:alpha val="0"/>
                </a:srgbClr>
              </a:clrTo>
            </a:clrChange>
            <a:lum bright="-20000" contrast="20000"/>
          </a:blip>
          <a:srcRect/>
          <a:stretch>
            <a:fillRect/>
          </a:stretch>
        </p:blipFill>
        <p:spPr bwMode="auto">
          <a:xfrm>
            <a:off x="3352800" y="0"/>
            <a:ext cx="2133600" cy="1676400"/>
          </a:xfrm>
          <a:prstGeom prst="rect">
            <a:avLst/>
          </a:prstGeom>
          <a:solidFill>
            <a:srgbClr val="FFFFFF"/>
          </a:solidFill>
          <a:ln w="9525">
            <a:solidFill>
              <a:srgbClr val="FFFFFF"/>
            </a:solidFill>
            <a:miter lim="800000"/>
            <a:headEnd/>
            <a:tailEnd/>
          </a:ln>
        </p:spPr>
      </p:pic>
    </p:spTree>
    <p:extLst>
      <p:ext uri="{BB962C8B-B14F-4D97-AF65-F5344CB8AC3E}">
        <p14:creationId xmlns:p14="http://schemas.microsoft.com/office/powerpoint/2010/main" val="33208975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r>
              <a:rPr lang="en-US" dirty="0" smtClean="0"/>
              <a:t>	</a:t>
            </a:r>
            <a:r>
              <a:rPr lang="en-US" sz="5400" b="1" dirty="0" smtClean="0">
                <a:solidFill>
                  <a:srgbClr val="FF0000"/>
                </a:solidFill>
              </a:rPr>
              <a:t>The Macroeconomic Framework and Economic growth </a:t>
            </a:r>
            <a:endParaRPr lang="en-US" sz="5400" b="1" dirty="0">
              <a:solidFill>
                <a:srgbClr val="FF0000"/>
              </a:solidFill>
            </a:endParaRPr>
          </a:p>
        </p:txBody>
      </p:sp>
      <p:sp>
        <p:nvSpPr>
          <p:cNvPr id="4" name="Slide Number Placeholder 3"/>
          <p:cNvSpPr>
            <a:spLocks noGrp="1"/>
          </p:cNvSpPr>
          <p:nvPr>
            <p:ph type="sldNum" sz="quarter" idx="12"/>
          </p:nvPr>
        </p:nvSpPr>
        <p:spPr/>
        <p:txBody>
          <a:bodyPr/>
          <a:lstStyle/>
          <a:p>
            <a:fld id="{261F55E7-D931-45D6-9168-5E895D7266BA}" type="slidenum">
              <a:rPr lang="en-US" smtClean="0"/>
              <a:pPr/>
              <a:t>2</a:t>
            </a:fld>
            <a:endParaRPr lang="en-US"/>
          </a:p>
        </p:txBody>
      </p:sp>
    </p:spTree>
    <p:extLst>
      <p:ext uri="{BB962C8B-B14F-4D97-AF65-F5344CB8AC3E}">
        <p14:creationId xmlns:p14="http://schemas.microsoft.com/office/powerpoint/2010/main" val="10121441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4"/>
          <p:cNvSpPr>
            <a:spLocks noGrp="1" noChangeArrowheads="1"/>
          </p:cNvSpPr>
          <p:nvPr>
            <p:ph type="title"/>
          </p:nvPr>
        </p:nvSpPr>
        <p:spPr/>
        <p:txBody>
          <a:bodyPr/>
          <a:lstStyle/>
          <a:p>
            <a:r>
              <a:rPr lang="en-GB" b="1" dirty="0"/>
              <a:t>What is macroeconomics?</a:t>
            </a:r>
            <a:endParaRPr lang="en-US" b="1" dirty="0"/>
          </a:p>
        </p:txBody>
      </p:sp>
      <p:pic>
        <p:nvPicPr>
          <p:cNvPr id="68613" name="Picture 5" descr="economy_magnifying_glass">
            <a:hlinkClick r:id="rId4"/>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51050" y="1125538"/>
            <a:ext cx="6913563" cy="519112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261F55E7-D931-45D6-9168-5E895D7266BA}" type="slidenum">
              <a:rPr lang="en-US" smtClean="0"/>
              <a:pPr/>
              <a:t>3</a:t>
            </a:fld>
            <a:endParaRPr lang="en-US"/>
          </a:p>
        </p:txBody>
      </p:sp>
    </p:spTree>
    <p:custDataLst>
      <p:tags r:id="rId1"/>
    </p:custDataLst>
    <p:extLst>
      <p:ext uri="{BB962C8B-B14F-4D97-AF65-F5344CB8AC3E}">
        <p14:creationId xmlns:p14="http://schemas.microsoft.com/office/powerpoint/2010/main" val="12678155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6" name="Rectangle 6"/>
          <p:cNvSpPr>
            <a:spLocks noGrp="1" noChangeArrowheads="1"/>
          </p:cNvSpPr>
          <p:nvPr>
            <p:ph type="title"/>
          </p:nvPr>
        </p:nvSpPr>
        <p:spPr>
          <a:xfrm>
            <a:off x="473765" y="102704"/>
            <a:ext cx="8229600" cy="1143000"/>
          </a:xfrm>
        </p:spPr>
        <p:txBody>
          <a:bodyPr/>
          <a:lstStyle/>
          <a:p>
            <a:r>
              <a:rPr lang="en-GB" b="1" dirty="0"/>
              <a:t>What is macroeconomics?</a:t>
            </a:r>
            <a:endParaRPr lang="en-US" b="1" dirty="0"/>
          </a:p>
        </p:txBody>
      </p:sp>
      <p:sp>
        <p:nvSpPr>
          <p:cNvPr id="10247" name="Rectangle 7"/>
          <p:cNvSpPr>
            <a:spLocks noGrp="1" noChangeArrowheads="1"/>
          </p:cNvSpPr>
          <p:nvPr>
            <p:ph type="body" idx="1"/>
          </p:nvPr>
        </p:nvSpPr>
        <p:spPr>
          <a:xfrm>
            <a:off x="457200" y="1219200"/>
            <a:ext cx="8229600" cy="5502275"/>
          </a:xfrm>
        </p:spPr>
        <p:txBody>
          <a:bodyPr>
            <a:normAutofit lnSpcReduction="10000"/>
          </a:bodyPr>
          <a:lstStyle/>
          <a:p>
            <a:pPr>
              <a:lnSpc>
                <a:spcPct val="90000"/>
              </a:lnSpc>
            </a:pPr>
            <a:r>
              <a:rPr lang="en-US" dirty="0"/>
              <a:t>Macroeconomics considers the performance of the economy as a whole. </a:t>
            </a:r>
            <a:endParaRPr lang="en-US" dirty="0" smtClean="0"/>
          </a:p>
          <a:p>
            <a:pPr>
              <a:lnSpc>
                <a:spcPct val="90000"/>
              </a:lnSpc>
            </a:pPr>
            <a:endParaRPr lang="en-US" dirty="0"/>
          </a:p>
          <a:p>
            <a:pPr>
              <a:lnSpc>
                <a:spcPct val="90000"/>
              </a:lnSpc>
            </a:pPr>
            <a:r>
              <a:rPr lang="en-US" dirty="0"/>
              <a:t>We try to understand changes in</a:t>
            </a:r>
          </a:p>
          <a:p>
            <a:pPr lvl="1">
              <a:lnSpc>
                <a:spcPct val="90000"/>
              </a:lnSpc>
            </a:pPr>
            <a:r>
              <a:rPr lang="en-US" dirty="0">
                <a:solidFill>
                  <a:srgbClr val="FF0000"/>
                </a:solidFill>
              </a:rPr>
              <a:t>The rate of economic growth</a:t>
            </a:r>
          </a:p>
          <a:p>
            <a:pPr lvl="1">
              <a:lnSpc>
                <a:spcPct val="90000"/>
              </a:lnSpc>
            </a:pPr>
            <a:r>
              <a:rPr lang="en-US" dirty="0">
                <a:solidFill>
                  <a:srgbClr val="FF0000"/>
                </a:solidFill>
              </a:rPr>
              <a:t>The rate of inflation</a:t>
            </a:r>
          </a:p>
          <a:p>
            <a:pPr lvl="1">
              <a:lnSpc>
                <a:spcPct val="90000"/>
              </a:lnSpc>
            </a:pPr>
            <a:r>
              <a:rPr lang="en-US" dirty="0">
                <a:solidFill>
                  <a:srgbClr val="FF0000"/>
                </a:solidFill>
              </a:rPr>
              <a:t>Unemployment</a:t>
            </a:r>
          </a:p>
          <a:p>
            <a:pPr lvl="1">
              <a:lnSpc>
                <a:spcPct val="90000"/>
              </a:lnSpc>
            </a:pPr>
            <a:r>
              <a:rPr lang="en-US" dirty="0">
                <a:solidFill>
                  <a:srgbClr val="FF0000"/>
                </a:solidFill>
              </a:rPr>
              <a:t>Our trade performance with other </a:t>
            </a:r>
            <a:r>
              <a:rPr lang="en-US" dirty="0" smtClean="0">
                <a:solidFill>
                  <a:srgbClr val="FF0000"/>
                </a:solidFill>
              </a:rPr>
              <a:t>countries</a:t>
            </a:r>
          </a:p>
          <a:p>
            <a:pPr lvl="1">
              <a:lnSpc>
                <a:spcPct val="90000"/>
              </a:lnSpc>
            </a:pPr>
            <a:endParaRPr lang="en-US" dirty="0">
              <a:solidFill>
                <a:srgbClr val="FF0000"/>
              </a:solidFill>
            </a:endParaRPr>
          </a:p>
          <a:p>
            <a:pPr algn="just">
              <a:lnSpc>
                <a:spcPct val="90000"/>
              </a:lnSpc>
            </a:pPr>
            <a:r>
              <a:rPr lang="en-US" dirty="0"/>
              <a:t>Macroeconomics also includes an evaluation of the relative </a:t>
            </a:r>
            <a:r>
              <a:rPr lang="en-US" dirty="0">
                <a:solidFill>
                  <a:srgbClr val="FF0000"/>
                </a:solidFill>
              </a:rPr>
              <a:t>success or failure of government economic policies</a:t>
            </a:r>
          </a:p>
          <a:p>
            <a:pPr>
              <a:lnSpc>
                <a:spcPct val="90000"/>
              </a:lnSpc>
            </a:pPr>
            <a:endParaRPr lang="en-US"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4</a:t>
            </a:fld>
            <a:endParaRPr lang="en-US"/>
          </a:p>
        </p:txBody>
      </p:sp>
    </p:spTree>
    <p:custDataLst>
      <p:tags r:id="rId1"/>
    </p:custDataLst>
    <p:extLst>
      <p:ext uri="{BB962C8B-B14F-4D97-AF65-F5344CB8AC3E}">
        <p14:creationId xmlns:p14="http://schemas.microsoft.com/office/powerpoint/2010/main" val="3668905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457200" y="0"/>
            <a:ext cx="8229600" cy="1143000"/>
          </a:xfrm>
        </p:spPr>
        <p:txBody>
          <a:bodyPr/>
          <a:lstStyle/>
          <a:p>
            <a:r>
              <a:rPr lang="en-GB" b="1" dirty="0"/>
              <a:t>So what is ‘the economy’?</a:t>
            </a:r>
            <a:endParaRPr lang="en-US" b="1" dirty="0"/>
          </a:p>
        </p:txBody>
      </p:sp>
      <p:sp>
        <p:nvSpPr>
          <p:cNvPr id="133123" name="Rectangle 3"/>
          <p:cNvSpPr>
            <a:spLocks noGrp="1" noChangeArrowheads="1"/>
          </p:cNvSpPr>
          <p:nvPr>
            <p:ph type="body" idx="1"/>
          </p:nvPr>
        </p:nvSpPr>
        <p:spPr>
          <a:xfrm>
            <a:off x="228600" y="1235074"/>
            <a:ext cx="8763000" cy="5622925"/>
          </a:xfrm>
        </p:spPr>
        <p:txBody>
          <a:bodyPr>
            <a:normAutofit lnSpcReduction="10000"/>
          </a:bodyPr>
          <a:lstStyle/>
          <a:p>
            <a:pPr marL="0" indent="0" algn="just">
              <a:lnSpc>
                <a:spcPct val="90000"/>
              </a:lnSpc>
              <a:buNone/>
            </a:pPr>
            <a:r>
              <a:rPr lang="en-GB" dirty="0"/>
              <a:t>The economy is made up of </a:t>
            </a:r>
            <a:r>
              <a:rPr lang="en-GB" b="1" dirty="0"/>
              <a:t>four sectors</a:t>
            </a:r>
            <a:r>
              <a:rPr lang="en-GB" dirty="0"/>
              <a:t> sometimes called </a:t>
            </a:r>
            <a:r>
              <a:rPr lang="en-GB" b="1" dirty="0"/>
              <a:t>economic agents</a:t>
            </a:r>
            <a:r>
              <a:rPr lang="en-GB" dirty="0"/>
              <a:t>: </a:t>
            </a:r>
            <a:endParaRPr lang="en-GB" dirty="0" smtClean="0"/>
          </a:p>
          <a:p>
            <a:pPr marL="0" indent="0" algn="just">
              <a:lnSpc>
                <a:spcPct val="90000"/>
              </a:lnSpc>
              <a:buNone/>
            </a:pPr>
            <a:endParaRPr lang="en-GB" b="1" dirty="0"/>
          </a:p>
          <a:p>
            <a:pPr marL="457200" indent="-457200" algn="just">
              <a:lnSpc>
                <a:spcPct val="90000"/>
              </a:lnSpc>
              <a:buFont typeface="+mj-lt"/>
              <a:buAutoNum type="arabicPeriod"/>
            </a:pPr>
            <a:r>
              <a:rPr lang="en-GB" sz="2400" b="1" dirty="0"/>
              <a:t>Households </a:t>
            </a:r>
            <a:r>
              <a:rPr lang="en-GB" sz="2400" dirty="0"/>
              <a:t>who receive payments (income) for their services (</a:t>
            </a:r>
            <a:r>
              <a:rPr lang="en-GB" sz="2400" dirty="0" err="1"/>
              <a:t>eg</a:t>
            </a:r>
            <a:r>
              <a:rPr lang="en-GB" sz="2400" dirty="0"/>
              <a:t> labour and land) and use this money to buy the output of firms (</a:t>
            </a:r>
            <a:r>
              <a:rPr lang="en-GB" sz="2400" dirty="0" err="1"/>
              <a:t>ie</a:t>
            </a:r>
            <a:r>
              <a:rPr lang="en-GB" sz="2400" dirty="0"/>
              <a:t> consumption or household spending</a:t>
            </a:r>
            <a:r>
              <a:rPr lang="en-GB" sz="2400" dirty="0" smtClean="0"/>
              <a:t>).</a:t>
            </a:r>
          </a:p>
          <a:p>
            <a:pPr marL="457200" indent="-457200" algn="just">
              <a:lnSpc>
                <a:spcPct val="90000"/>
              </a:lnSpc>
              <a:buFont typeface="+mj-lt"/>
              <a:buAutoNum type="arabicPeriod"/>
            </a:pPr>
            <a:endParaRPr lang="en-GB" sz="2400" b="1" dirty="0"/>
          </a:p>
          <a:p>
            <a:pPr marL="457200" indent="-457200" algn="just">
              <a:lnSpc>
                <a:spcPct val="90000"/>
              </a:lnSpc>
              <a:buFont typeface="+mj-lt"/>
              <a:buAutoNum type="arabicPeriod"/>
            </a:pPr>
            <a:r>
              <a:rPr lang="en-GB" sz="2400" b="1" dirty="0"/>
              <a:t>Firms</a:t>
            </a:r>
            <a:r>
              <a:rPr lang="en-GB" sz="2400" dirty="0"/>
              <a:t> who use land labour and capital to produce goods and services for which they pay wages rent </a:t>
            </a:r>
            <a:r>
              <a:rPr lang="en-GB" sz="2400" dirty="0" err="1"/>
              <a:t>etc</a:t>
            </a:r>
            <a:r>
              <a:rPr lang="en-GB" sz="2400" dirty="0"/>
              <a:t> (income) and receive payment (expenditure</a:t>
            </a:r>
            <a:r>
              <a:rPr lang="en-GB" sz="2400" dirty="0" smtClean="0"/>
              <a:t>)</a:t>
            </a:r>
          </a:p>
          <a:p>
            <a:pPr marL="457200" indent="-457200" algn="just">
              <a:lnSpc>
                <a:spcPct val="90000"/>
              </a:lnSpc>
              <a:buFont typeface="+mj-lt"/>
              <a:buAutoNum type="arabicPeriod"/>
            </a:pPr>
            <a:endParaRPr lang="en-GB" sz="2400" b="1" dirty="0"/>
          </a:p>
          <a:p>
            <a:pPr marL="457200" indent="-457200" algn="just">
              <a:lnSpc>
                <a:spcPct val="90000"/>
              </a:lnSpc>
              <a:buFont typeface="+mj-lt"/>
              <a:buAutoNum type="arabicPeriod"/>
            </a:pPr>
            <a:r>
              <a:rPr lang="en-GB" sz="2400" b="1" dirty="0"/>
              <a:t>Government</a:t>
            </a:r>
            <a:r>
              <a:rPr lang="en-GB" sz="2400" dirty="0"/>
              <a:t> (also known as the public or state sector) and </a:t>
            </a:r>
            <a:endParaRPr lang="en-GB" sz="2400" dirty="0" smtClean="0"/>
          </a:p>
          <a:p>
            <a:pPr marL="457200" indent="-457200" algn="just">
              <a:lnSpc>
                <a:spcPct val="90000"/>
              </a:lnSpc>
              <a:buFont typeface="+mj-lt"/>
              <a:buAutoNum type="arabicPeriod"/>
            </a:pPr>
            <a:endParaRPr lang="en-GB" sz="2400" b="1" dirty="0"/>
          </a:p>
          <a:p>
            <a:pPr marL="457200" indent="-457200" algn="just">
              <a:lnSpc>
                <a:spcPct val="90000"/>
              </a:lnSpc>
              <a:buFont typeface="+mj-lt"/>
              <a:buAutoNum type="arabicPeriod"/>
            </a:pPr>
            <a:r>
              <a:rPr lang="en-GB" sz="2400" b="1" dirty="0"/>
              <a:t>International</a:t>
            </a:r>
            <a:r>
              <a:rPr lang="en-GB" sz="2400" dirty="0"/>
              <a:t> </a:t>
            </a:r>
            <a:r>
              <a:rPr lang="en-GB" sz="2400" dirty="0" err="1"/>
              <a:t>eg</a:t>
            </a:r>
            <a:r>
              <a:rPr lang="en-GB" sz="2400" dirty="0"/>
              <a:t> consumers buying overseas products (M) and Foreigners buying </a:t>
            </a:r>
            <a:r>
              <a:rPr lang="en-GB" sz="2400" dirty="0" smtClean="0"/>
              <a:t>SL </a:t>
            </a:r>
            <a:r>
              <a:rPr lang="en-GB" sz="2400" dirty="0"/>
              <a:t>products (X)</a:t>
            </a:r>
            <a:r>
              <a:rPr lang="en-US" sz="2400" dirty="0"/>
              <a:t> </a:t>
            </a:r>
          </a:p>
          <a:p>
            <a:pPr marL="457200" indent="-457200" algn="just">
              <a:lnSpc>
                <a:spcPct val="90000"/>
              </a:lnSpc>
              <a:buFont typeface="+mj-lt"/>
              <a:buAutoNum type="arabicPeriod"/>
            </a:pPr>
            <a:endParaRPr lang="en-US" sz="2200"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5</a:t>
            </a:fld>
            <a:endParaRPr lang="en-US"/>
          </a:p>
        </p:txBody>
      </p:sp>
    </p:spTree>
    <p:extLst>
      <p:ext uri="{BB962C8B-B14F-4D97-AF65-F5344CB8AC3E}">
        <p14:creationId xmlns:p14="http://schemas.microsoft.com/office/powerpoint/2010/main" val="9513849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61F55E7-D931-45D6-9168-5E895D7266BA}" type="slidenum">
              <a:rPr lang="en-US" smtClean="0"/>
              <a:pPr/>
              <a:t>6</a:t>
            </a:fld>
            <a:endParaRPr lang="en-US"/>
          </a:p>
        </p:txBody>
      </p:sp>
      <p:pic>
        <p:nvPicPr>
          <p:cNvPr id="1026" name="Picture 2" descr="http://s3-eu-west-1.amazonaws.com/tutor2u-media/subjects/economics/circular_flow_1.png?mtime=2015031314462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52400"/>
            <a:ext cx="8440995" cy="6569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87334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Withdrawals and Injections</a:t>
            </a:r>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7</a:t>
            </a:fld>
            <a:endParaRPr lang="en-US"/>
          </a:p>
        </p:txBody>
      </p:sp>
      <p:pic>
        <p:nvPicPr>
          <p:cNvPr id="2050" name="Picture 2" descr="http://www.economicsonline.co.uk/Managing%20the%20macro-economy%20graphs/Injections_withdrawal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258" y="1693276"/>
            <a:ext cx="8829484" cy="4663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6517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4"/>
          <p:cNvSpPr>
            <a:spLocks noGrp="1" noChangeArrowheads="1"/>
          </p:cNvSpPr>
          <p:nvPr>
            <p:ph type="title"/>
          </p:nvPr>
        </p:nvSpPr>
        <p:spPr>
          <a:xfrm>
            <a:off x="487017" y="13252"/>
            <a:ext cx="8229600" cy="1143000"/>
          </a:xfrm>
        </p:spPr>
        <p:txBody>
          <a:bodyPr/>
          <a:lstStyle/>
          <a:p>
            <a:r>
              <a:rPr lang="en-GB" b="1" dirty="0"/>
              <a:t>Key Concepts</a:t>
            </a:r>
            <a:endParaRPr lang="en-US" b="1" dirty="0"/>
          </a:p>
        </p:txBody>
      </p:sp>
      <p:sp>
        <p:nvSpPr>
          <p:cNvPr id="56325" name="Rectangle 5"/>
          <p:cNvSpPr>
            <a:spLocks noGrp="1" noChangeArrowheads="1"/>
          </p:cNvSpPr>
          <p:nvPr>
            <p:ph type="body" idx="1"/>
          </p:nvPr>
        </p:nvSpPr>
        <p:spPr>
          <a:xfrm>
            <a:off x="457200" y="1295400"/>
            <a:ext cx="8229600" cy="5426075"/>
          </a:xfrm>
        </p:spPr>
        <p:txBody>
          <a:bodyPr>
            <a:normAutofit/>
          </a:bodyPr>
          <a:lstStyle/>
          <a:p>
            <a:r>
              <a:rPr lang="en-GB" sz="2200" b="1" dirty="0"/>
              <a:t>Gross Domestic Product (GDP)</a:t>
            </a:r>
          </a:p>
          <a:p>
            <a:pPr lvl="1"/>
            <a:r>
              <a:rPr lang="en-GB" sz="2000" dirty="0"/>
              <a:t>The monetary value of all goods and services produced within the </a:t>
            </a:r>
            <a:r>
              <a:rPr lang="en-GB" sz="2000" dirty="0" smtClean="0"/>
              <a:t>SL </a:t>
            </a:r>
            <a:r>
              <a:rPr lang="en-GB" sz="2000" dirty="0"/>
              <a:t>in a given time </a:t>
            </a:r>
            <a:r>
              <a:rPr lang="en-GB" sz="2000" dirty="0" smtClean="0"/>
              <a:t>period</a:t>
            </a:r>
          </a:p>
          <a:p>
            <a:pPr lvl="1"/>
            <a:endParaRPr lang="en-GB" sz="2000" dirty="0"/>
          </a:p>
          <a:p>
            <a:r>
              <a:rPr lang="en-GB" sz="2200" b="1" dirty="0">
                <a:solidFill>
                  <a:srgbClr val="C00000"/>
                </a:solidFill>
              </a:rPr>
              <a:t>Real GDP</a:t>
            </a:r>
          </a:p>
          <a:p>
            <a:pPr lvl="1"/>
            <a:r>
              <a:rPr lang="en-GB" sz="2000" dirty="0">
                <a:solidFill>
                  <a:srgbClr val="C00000"/>
                </a:solidFill>
              </a:rPr>
              <a:t>The volume of goods and services produced within the </a:t>
            </a:r>
            <a:r>
              <a:rPr lang="en-GB" sz="2000" dirty="0" smtClean="0">
                <a:solidFill>
                  <a:srgbClr val="C00000"/>
                </a:solidFill>
              </a:rPr>
              <a:t>SL </a:t>
            </a:r>
            <a:r>
              <a:rPr lang="en-GB" sz="2000" dirty="0">
                <a:solidFill>
                  <a:srgbClr val="C00000"/>
                </a:solidFill>
              </a:rPr>
              <a:t>(i.e. GDP adjusted for changes in the price level</a:t>
            </a:r>
            <a:r>
              <a:rPr lang="en-GB" sz="2000" dirty="0" smtClean="0">
                <a:solidFill>
                  <a:srgbClr val="C00000"/>
                </a:solidFill>
              </a:rPr>
              <a:t>)</a:t>
            </a:r>
          </a:p>
          <a:p>
            <a:pPr lvl="1"/>
            <a:endParaRPr lang="en-GB" sz="2000" dirty="0">
              <a:solidFill>
                <a:srgbClr val="C00000"/>
              </a:solidFill>
            </a:endParaRPr>
          </a:p>
          <a:p>
            <a:r>
              <a:rPr lang="en-GB" sz="2200" b="1" dirty="0"/>
              <a:t>Economic Growth</a:t>
            </a:r>
          </a:p>
          <a:p>
            <a:pPr lvl="1"/>
            <a:r>
              <a:rPr lang="en-GB" sz="2000" dirty="0"/>
              <a:t>The percentage rate of increase of real </a:t>
            </a:r>
            <a:r>
              <a:rPr lang="en-GB" sz="2000" dirty="0" smtClean="0"/>
              <a:t>GDP</a:t>
            </a:r>
          </a:p>
          <a:p>
            <a:pPr lvl="1"/>
            <a:endParaRPr lang="en-GB" sz="2000" dirty="0"/>
          </a:p>
          <a:p>
            <a:r>
              <a:rPr lang="en-GB" sz="2200" b="1" dirty="0"/>
              <a:t>Inflation</a:t>
            </a:r>
          </a:p>
          <a:p>
            <a:pPr lvl="1"/>
            <a:r>
              <a:rPr lang="en-GB" sz="2000" dirty="0"/>
              <a:t>The annual percentage rate of change of the general price level</a:t>
            </a:r>
            <a:endParaRPr lang="en-US" sz="2000"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8</a:t>
            </a:fld>
            <a:endParaRPr lang="en-US"/>
          </a:p>
        </p:txBody>
      </p:sp>
    </p:spTree>
    <p:custDataLst>
      <p:tags r:id="rId1"/>
    </p:custDataLst>
    <p:extLst>
      <p:ext uri="{BB962C8B-B14F-4D97-AF65-F5344CB8AC3E}">
        <p14:creationId xmlns:p14="http://schemas.microsoft.com/office/powerpoint/2010/main" val="7190037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Grp="1" noChangeArrowheads="1"/>
          </p:cNvSpPr>
          <p:nvPr>
            <p:ph type="title"/>
          </p:nvPr>
        </p:nvSpPr>
        <p:spPr/>
        <p:txBody>
          <a:bodyPr>
            <a:normAutofit fontScale="90000"/>
          </a:bodyPr>
          <a:lstStyle/>
          <a:p>
            <a:r>
              <a:rPr lang="en-GB" b="1" dirty="0"/>
              <a:t>Difference between micro &amp; macro</a:t>
            </a:r>
            <a:endParaRPr lang="en-US" b="1" dirty="0"/>
          </a:p>
        </p:txBody>
      </p:sp>
      <p:sp>
        <p:nvSpPr>
          <p:cNvPr id="31749" name="Rectangle 5"/>
          <p:cNvSpPr>
            <a:spLocks noGrp="1" noChangeArrowheads="1"/>
          </p:cNvSpPr>
          <p:nvPr>
            <p:ph type="body" idx="1"/>
          </p:nvPr>
        </p:nvSpPr>
        <p:spPr/>
        <p:txBody>
          <a:bodyPr/>
          <a:lstStyle/>
          <a:p>
            <a:r>
              <a:rPr lang="en-GB" sz="3000" dirty="0">
                <a:solidFill>
                  <a:schemeClr val="accent2"/>
                </a:solidFill>
              </a:rPr>
              <a:t>Microeconomics</a:t>
            </a:r>
          </a:p>
          <a:p>
            <a:r>
              <a:rPr lang="en-GB" sz="3000" dirty="0"/>
              <a:t>Recession in the tourist industry due to the global downturn</a:t>
            </a:r>
          </a:p>
          <a:p>
            <a:r>
              <a:rPr lang="en-GB" sz="3000" dirty="0"/>
              <a:t>A government subsidy to </a:t>
            </a:r>
            <a:r>
              <a:rPr lang="en-GB" sz="3000" dirty="0" smtClean="0"/>
              <a:t>milk </a:t>
            </a:r>
            <a:r>
              <a:rPr lang="en-GB" sz="3000" dirty="0"/>
              <a:t>producers</a:t>
            </a:r>
          </a:p>
          <a:p>
            <a:r>
              <a:rPr lang="en-GB" sz="3000" dirty="0"/>
              <a:t>A recession in the textiles industry</a:t>
            </a:r>
          </a:p>
          <a:p>
            <a:r>
              <a:rPr lang="en-GB" sz="3000" dirty="0"/>
              <a:t>Increased spending on the National Health Service</a:t>
            </a:r>
            <a:endParaRPr lang="en-US" sz="3000"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9</a:t>
            </a:fld>
            <a:endParaRPr lang="en-US" dirty="0"/>
          </a:p>
        </p:txBody>
      </p:sp>
    </p:spTree>
    <p:custDataLst>
      <p:tags r:id="rId1"/>
    </p:custDataLst>
    <p:extLst>
      <p:ext uri="{BB962C8B-B14F-4D97-AF65-F5344CB8AC3E}">
        <p14:creationId xmlns:p14="http://schemas.microsoft.com/office/powerpoint/2010/main" val="32832667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ormAutofit fontScale="90000"/>
          </a:bodyPr>
          <a:lstStyle/>
          <a:p>
            <a:r>
              <a:rPr lang="en-GB" b="1" dirty="0"/>
              <a:t>Difference between micro &amp; macro</a:t>
            </a:r>
            <a:endParaRPr lang="en-US" b="1" dirty="0"/>
          </a:p>
        </p:txBody>
      </p:sp>
      <p:sp>
        <p:nvSpPr>
          <p:cNvPr id="57348" name="Rectangle 4"/>
          <p:cNvSpPr>
            <a:spLocks noGrp="1" noChangeArrowheads="1"/>
          </p:cNvSpPr>
          <p:nvPr>
            <p:ph type="body" idx="1"/>
          </p:nvPr>
        </p:nvSpPr>
        <p:spPr/>
        <p:txBody>
          <a:bodyPr/>
          <a:lstStyle/>
          <a:p>
            <a:r>
              <a:rPr lang="en-GB" sz="3000" dirty="0">
                <a:solidFill>
                  <a:schemeClr val="accent2"/>
                </a:solidFill>
              </a:rPr>
              <a:t>Macroeconomics</a:t>
            </a:r>
          </a:p>
          <a:p>
            <a:r>
              <a:rPr lang="en-GB" sz="3000" dirty="0"/>
              <a:t>Strong economic growth arising from high levels of consumer spending</a:t>
            </a:r>
          </a:p>
          <a:p>
            <a:r>
              <a:rPr lang="en-GB" sz="3000" dirty="0"/>
              <a:t>A fall in exports because of a recession in leading European markets</a:t>
            </a:r>
          </a:p>
          <a:p>
            <a:r>
              <a:rPr lang="en-GB" sz="3000" dirty="0"/>
              <a:t>Higher interest rates to </a:t>
            </a:r>
            <a:r>
              <a:rPr lang="en-GB" sz="3000" dirty="0" smtClean="0"/>
              <a:t>control </a:t>
            </a:r>
            <a:r>
              <a:rPr lang="en-GB" sz="3000" dirty="0"/>
              <a:t>inflationary pressure</a:t>
            </a:r>
            <a:endParaRPr lang="en-US" sz="3000"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10</a:t>
            </a:fld>
            <a:endParaRPr lang="en-US"/>
          </a:p>
        </p:txBody>
      </p:sp>
    </p:spTree>
    <p:custDataLst>
      <p:tags r:id="rId1"/>
    </p:custDataLst>
    <p:extLst>
      <p:ext uri="{BB962C8B-B14F-4D97-AF65-F5344CB8AC3E}">
        <p14:creationId xmlns:p14="http://schemas.microsoft.com/office/powerpoint/2010/main" val="11486468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4" name="Rectangle 6"/>
          <p:cNvSpPr>
            <a:spLocks noGrp="1" noChangeArrowheads="1"/>
          </p:cNvSpPr>
          <p:nvPr>
            <p:ph type="title"/>
          </p:nvPr>
        </p:nvSpPr>
        <p:spPr/>
        <p:txBody>
          <a:bodyPr/>
          <a:lstStyle/>
          <a:p>
            <a:r>
              <a:rPr lang="en-GB" b="1" dirty="0"/>
              <a:t>Objectives of economic policy</a:t>
            </a:r>
            <a:endParaRPr lang="en-US" b="1" dirty="0"/>
          </a:p>
        </p:txBody>
      </p:sp>
      <p:sp>
        <p:nvSpPr>
          <p:cNvPr id="12295" name="Rectangle 7"/>
          <p:cNvSpPr>
            <a:spLocks noGrp="1" noChangeArrowheads="1"/>
          </p:cNvSpPr>
          <p:nvPr>
            <p:ph type="body" idx="1"/>
          </p:nvPr>
        </p:nvSpPr>
        <p:spPr/>
        <p:txBody>
          <a:bodyPr/>
          <a:lstStyle/>
          <a:p>
            <a:r>
              <a:rPr lang="en-US"/>
              <a:t>What are the government’s main economic objectives?</a:t>
            </a:r>
          </a:p>
          <a:p>
            <a:endParaRPr lang="en-US"/>
          </a:p>
        </p:txBody>
      </p:sp>
      <p:pic>
        <p:nvPicPr>
          <p:cNvPr id="12296" name="Picture 8" descr="grow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63938" y="2924175"/>
            <a:ext cx="3619500" cy="280987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261F55E7-D931-45D6-9168-5E895D7266BA}" type="slidenum">
              <a:rPr lang="en-US" smtClean="0"/>
              <a:pPr/>
              <a:t>11</a:t>
            </a:fld>
            <a:endParaRPr lang="en-US"/>
          </a:p>
        </p:txBody>
      </p:sp>
    </p:spTree>
    <p:custDataLst>
      <p:tags r:id="rId1"/>
    </p:custDataLst>
    <p:extLst>
      <p:ext uri="{BB962C8B-B14F-4D97-AF65-F5344CB8AC3E}">
        <p14:creationId xmlns:p14="http://schemas.microsoft.com/office/powerpoint/2010/main" val="9290047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443"/>
            <a:ext cx="8229600" cy="792162"/>
          </a:xfrm>
        </p:spPr>
        <p:txBody>
          <a:bodyPr>
            <a:normAutofit fontScale="90000"/>
          </a:bodyPr>
          <a:lstStyle/>
          <a:p>
            <a:r>
              <a:rPr lang="en-US" sz="3200" b="1" dirty="0" smtClean="0">
                <a:latin typeface="Times New Roman" panose="02020603050405020304" pitchFamily="18" charset="0"/>
                <a:cs typeface="Times New Roman" panose="02020603050405020304" pitchFamily="18" charset="0"/>
              </a:rPr>
              <a:t>Targets, Instruments and goals of </a:t>
            </a:r>
            <a:br>
              <a:rPr lang="en-US" sz="3200" b="1" dirty="0" smtClean="0">
                <a:latin typeface="Times New Roman" panose="02020603050405020304" pitchFamily="18" charset="0"/>
                <a:cs typeface="Times New Roman" panose="02020603050405020304" pitchFamily="18" charset="0"/>
              </a:rPr>
            </a:br>
            <a:r>
              <a:rPr lang="en-US" sz="3200" b="1" dirty="0" smtClean="0">
                <a:latin typeface="Times New Roman" panose="02020603050405020304" pitchFamily="18" charset="0"/>
                <a:cs typeface="Times New Roman" panose="02020603050405020304" pitchFamily="18" charset="0"/>
              </a:rPr>
              <a:t>Macroeconomics policy</a:t>
            </a:r>
            <a:endParaRPr lang="en-US" sz="3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261F55E7-D931-45D6-9168-5E895D7266BA}" type="slidenum">
              <a:rPr lang="en-US" smtClean="0"/>
              <a:pPr/>
              <a:t>12</a:t>
            </a:fld>
            <a:endParaRPr lang="en-US"/>
          </a:p>
        </p:txBody>
      </p:sp>
      <p:sp>
        <p:nvSpPr>
          <p:cNvPr id="5" name="Rounded Rectangle 4"/>
          <p:cNvSpPr/>
          <p:nvPr/>
        </p:nvSpPr>
        <p:spPr>
          <a:xfrm>
            <a:off x="76200" y="1028700"/>
            <a:ext cx="22860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tx1"/>
                </a:solidFill>
              </a:rPr>
              <a:t>Policy target</a:t>
            </a:r>
          </a:p>
        </p:txBody>
      </p:sp>
      <p:sp>
        <p:nvSpPr>
          <p:cNvPr id="6" name="Rounded Rectangle 5"/>
          <p:cNvSpPr/>
          <p:nvPr/>
        </p:nvSpPr>
        <p:spPr>
          <a:xfrm>
            <a:off x="3429000" y="1028700"/>
            <a:ext cx="22860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tx1"/>
                </a:solidFill>
              </a:rPr>
              <a:t>Policy Instrument</a:t>
            </a:r>
          </a:p>
        </p:txBody>
      </p:sp>
      <p:sp>
        <p:nvSpPr>
          <p:cNvPr id="7" name="Rounded Rectangle 6"/>
          <p:cNvSpPr/>
          <p:nvPr/>
        </p:nvSpPr>
        <p:spPr>
          <a:xfrm>
            <a:off x="6781800" y="1052236"/>
            <a:ext cx="22860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chemeClr val="tx1"/>
                </a:solidFill>
              </a:rPr>
              <a:t>Policy Goals</a:t>
            </a:r>
          </a:p>
        </p:txBody>
      </p:sp>
      <p:sp>
        <p:nvSpPr>
          <p:cNvPr id="8" name="Right Arrow 7"/>
          <p:cNvSpPr/>
          <p:nvPr/>
        </p:nvSpPr>
        <p:spPr>
          <a:xfrm>
            <a:off x="2514600" y="1143000"/>
            <a:ext cx="7620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5902187" y="1214230"/>
            <a:ext cx="7620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4201968874"/>
              </p:ext>
            </p:extLst>
          </p:nvPr>
        </p:nvGraphicFramePr>
        <p:xfrm>
          <a:off x="152399" y="2819400"/>
          <a:ext cx="8839200" cy="3733800"/>
        </p:xfrm>
        <a:graphic>
          <a:graphicData uri="http://schemas.openxmlformats.org/drawingml/2006/table">
            <a:tbl>
              <a:tblPr firstRow="1" bandRow="1">
                <a:tableStyleId>{5940675A-B579-460E-94D1-54222C63F5DA}</a:tableStyleId>
              </a:tblPr>
              <a:tblGrid>
                <a:gridCol w="2946400">
                  <a:extLst>
                    <a:ext uri="{9D8B030D-6E8A-4147-A177-3AD203B41FA5}">
                      <a16:colId xmlns:a16="http://schemas.microsoft.com/office/drawing/2014/main" val="20000"/>
                    </a:ext>
                  </a:extLst>
                </a:gridCol>
                <a:gridCol w="2946400">
                  <a:extLst>
                    <a:ext uri="{9D8B030D-6E8A-4147-A177-3AD203B41FA5}">
                      <a16:colId xmlns:a16="http://schemas.microsoft.com/office/drawing/2014/main" val="20001"/>
                    </a:ext>
                  </a:extLst>
                </a:gridCol>
                <a:gridCol w="2946400">
                  <a:extLst>
                    <a:ext uri="{9D8B030D-6E8A-4147-A177-3AD203B41FA5}">
                      <a16:colId xmlns:a16="http://schemas.microsoft.com/office/drawing/2014/main" val="20002"/>
                    </a:ext>
                  </a:extLst>
                </a:gridCol>
              </a:tblGrid>
              <a:tr h="3733800">
                <a:tc>
                  <a:txBody>
                    <a:bodyPr/>
                    <a:lstStyle/>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The Exchange rate</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The Monetary Supply</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Aggregated Demand</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Real GDP Growth</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Budget Deficit</a:t>
                      </a:r>
                    </a:p>
                    <a:p>
                      <a:pPr marL="285750" indent="-285750">
                        <a:buFont typeface="Arial" panose="020B0604020202020204" pitchFamily="34" charset="0"/>
                        <a:buChar char="•"/>
                      </a:pPr>
                      <a:endParaRPr lang="en-US" dirty="0"/>
                    </a:p>
                  </a:txBody>
                  <a:tcPr/>
                </a:tc>
                <a:tc>
                  <a:txBody>
                    <a:bodyPr/>
                    <a:lstStyle/>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Monitory Policy</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Fiscal Policy</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Supply Side policy</a:t>
                      </a:r>
                    </a:p>
                    <a:p>
                      <a:pPr marL="285750" indent="-285750" algn="l" defTabSz="914400" rtl="0" eaLnBrk="1" latinLnBrk="0" hangingPunct="1">
                        <a:buFont typeface="Arial" panose="020B0604020202020204" pitchFamily="34" charset="0"/>
                        <a:buChar char="•"/>
                      </a:pPr>
                      <a:r>
                        <a:rPr lang="en-US" sz="2400" kern="1200" dirty="0" smtClean="0">
                          <a:solidFill>
                            <a:schemeClr val="tx1"/>
                          </a:solidFill>
                          <a:latin typeface="+mn-lt"/>
                          <a:ea typeface="+mn-ea"/>
                          <a:cs typeface="+mn-cs"/>
                        </a:rPr>
                        <a:t>Exchange Control</a:t>
                      </a:r>
                      <a:endParaRPr lang="en-US" sz="2400" kern="1200" dirty="0">
                        <a:solidFill>
                          <a:schemeClr val="tx1"/>
                        </a:solidFill>
                        <a:latin typeface="+mn-lt"/>
                        <a:ea typeface="+mn-ea"/>
                        <a:cs typeface="+mn-cs"/>
                      </a:endParaRPr>
                    </a:p>
                  </a:txBody>
                  <a:tcPr/>
                </a:tc>
                <a:tc>
                  <a:txBody>
                    <a:bodyPr/>
                    <a:lstStyle/>
                    <a:p>
                      <a:pPr marL="285750" indent="-285750">
                        <a:buFont typeface="Arial" panose="020B0604020202020204" pitchFamily="34" charset="0"/>
                        <a:buChar char="•"/>
                      </a:pPr>
                      <a:r>
                        <a:rPr lang="en-US" sz="2400" dirty="0" smtClean="0"/>
                        <a:t>Stable Prices</a:t>
                      </a:r>
                    </a:p>
                    <a:p>
                      <a:pPr marL="285750" indent="-285750">
                        <a:buFont typeface="Arial" panose="020B0604020202020204" pitchFamily="34" charset="0"/>
                        <a:buChar char="•"/>
                      </a:pPr>
                      <a:r>
                        <a:rPr lang="en-US" sz="2400" dirty="0" smtClean="0"/>
                        <a:t>Full Employment</a:t>
                      </a:r>
                    </a:p>
                    <a:p>
                      <a:pPr marL="285750" indent="-285750">
                        <a:buFont typeface="Arial" panose="020B0604020202020204" pitchFamily="34" charset="0"/>
                        <a:buChar char="•"/>
                      </a:pPr>
                      <a:r>
                        <a:rPr lang="en-US" sz="2400" dirty="0" smtClean="0"/>
                        <a:t>Sustained Growth</a:t>
                      </a:r>
                    </a:p>
                    <a:p>
                      <a:pPr marL="285750" indent="-285750">
                        <a:buFont typeface="Arial" panose="020B0604020202020204" pitchFamily="34" charset="0"/>
                        <a:buChar char="•"/>
                      </a:pPr>
                      <a:r>
                        <a:rPr lang="en-US" sz="2400" dirty="0" smtClean="0"/>
                        <a:t>Rising Living Standards</a:t>
                      </a:r>
                    </a:p>
                    <a:p>
                      <a:pPr marL="285750" indent="-285750">
                        <a:buFont typeface="Arial" panose="020B0604020202020204" pitchFamily="34" charset="0"/>
                        <a:buChar char="•"/>
                      </a:pPr>
                      <a:r>
                        <a:rPr lang="en-US" sz="2400" dirty="0" smtClean="0"/>
                        <a:t>Poverty Alleviation</a:t>
                      </a:r>
                    </a:p>
                    <a:p>
                      <a:pPr marL="285750" indent="-285750">
                        <a:buFont typeface="Arial" panose="020B0604020202020204" pitchFamily="34" charset="0"/>
                        <a:buChar char="•"/>
                      </a:pPr>
                      <a:r>
                        <a:rPr lang="en-US" sz="2400" dirty="0" smtClean="0"/>
                        <a:t>Product Efficiency</a:t>
                      </a:r>
                      <a:endParaRPr lang="en-US" sz="2400" dirty="0"/>
                    </a:p>
                  </a:txBody>
                  <a:tcPr/>
                </a:tc>
                <a:extLst>
                  <a:ext uri="{0D108BD9-81ED-4DB2-BD59-A6C34878D82A}">
                    <a16:rowId xmlns:a16="http://schemas.microsoft.com/office/drawing/2014/main" val="10000"/>
                  </a:ext>
                </a:extLst>
              </a:tr>
            </a:tbl>
          </a:graphicData>
        </a:graphic>
      </p:graphicFrame>
      <p:sp>
        <p:nvSpPr>
          <p:cNvPr id="11" name="Down Arrow 10"/>
          <p:cNvSpPr/>
          <p:nvPr/>
        </p:nvSpPr>
        <p:spPr>
          <a:xfrm>
            <a:off x="838200" y="1974229"/>
            <a:ext cx="609600" cy="616571"/>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2" name="Down Arrow 11"/>
          <p:cNvSpPr/>
          <p:nvPr/>
        </p:nvSpPr>
        <p:spPr>
          <a:xfrm>
            <a:off x="4267199" y="1987481"/>
            <a:ext cx="609600" cy="616571"/>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3" name="Down Arrow 12"/>
          <p:cNvSpPr/>
          <p:nvPr/>
        </p:nvSpPr>
        <p:spPr>
          <a:xfrm>
            <a:off x="7620000" y="2034554"/>
            <a:ext cx="609600" cy="616571"/>
          </a:xfrm>
          <a:prstGeom prst="down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2243065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GB" sz="3200" b="1" dirty="0"/>
              <a:t>The main objectives of government economic policy</a:t>
            </a:r>
            <a:endParaRPr lang="en-US" sz="3200" b="1" dirty="0"/>
          </a:p>
        </p:txBody>
      </p:sp>
      <p:sp>
        <p:nvSpPr>
          <p:cNvPr id="123907" name="Rectangle 3"/>
          <p:cNvSpPr>
            <a:spLocks noGrp="1" noChangeArrowheads="1"/>
          </p:cNvSpPr>
          <p:nvPr>
            <p:ph type="body" idx="1"/>
          </p:nvPr>
        </p:nvSpPr>
        <p:spPr/>
        <p:txBody>
          <a:bodyPr>
            <a:normAutofit lnSpcReduction="10000"/>
          </a:bodyPr>
          <a:lstStyle/>
          <a:p>
            <a:pPr marL="495300" indent="-495300">
              <a:lnSpc>
                <a:spcPct val="90000"/>
              </a:lnSpc>
              <a:spcBef>
                <a:spcPct val="80000"/>
              </a:spcBef>
              <a:buFontTx/>
              <a:buNone/>
            </a:pPr>
            <a:r>
              <a:rPr lang="en-US" sz="2200"/>
              <a:t>The key elements of the Government's strategy are:</a:t>
            </a:r>
          </a:p>
          <a:p>
            <a:pPr marL="495300" indent="-495300">
              <a:lnSpc>
                <a:spcPct val="90000"/>
              </a:lnSpc>
              <a:spcBef>
                <a:spcPct val="80000"/>
              </a:spcBef>
              <a:buFontTx/>
              <a:buAutoNum type="arabicPeriod"/>
            </a:pPr>
            <a:r>
              <a:rPr lang="en-US" sz="2200"/>
              <a:t>Delivering macroeconomic </a:t>
            </a:r>
            <a:r>
              <a:rPr lang="en-US" sz="2200" b="1">
                <a:solidFill>
                  <a:srgbClr val="FF0000"/>
                </a:solidFill>
              </a:rPr>
              <a:t>stability </a:t>
            </a:r>
            <a:r>
              <a:rPr lang="en-US" sz="2200"/>
              <a:t>(a very broad macroeconomic aim)</a:t>
            </a:r>
          </a:p>
          <a:p>
            <a:pPr marL="495300" indent="-495300">
              <a:lnSpc>
                <a:spcPct val="90000"/>
              </a:lnSpc>
              <a:spcBef>
                <a:spcPct val="80000"/>
              </a:spcBef>
              <a:buFontTx/>
              <a:buAutoNum type="arabicPeriod"/>
            </a:pPr>
            <a:r>
              <a:rPr lang="en-US" sz="2200"/>
              <a:t>Meeting the </a:t>
            </a:r>
            <a:r>
              <a:rPr lang="en-US" sz="2200" b="1">
                <a:solidFill>
                  <a:srgbClr val="FF0000"/>
                </a:solidFill>
              </a:rPr>
              <a:t>productivity</a:t>
            </a:r>
            <a:r>
              <a:rPr lang="en-US" sz="2200"/>
              <a:t> challenge (an important supply-side target)</a:t>
            </a:r>
          </a:p>
          <a:p>
            <a:pPr marL="495300" indent="-495300">
              <a:lnSpc>
                <a:spcPct val="90000"/>
              </a:lnSpc>
              <a:spcBef>
                <a:spcPct val="80000"/>
              </a:spcBef>
              <a:buFontTx/>
              <a:buAutoNum type="arabicPeriod"/>
            </a:pPr>
            <a:r>
              <a:rPr lang="en-US" sz="2200" b="1">
                <a:solidFill>
                  <a:srgbClr val="FF0000"/>
                </a:solidFill>
              </a:rPr>
              <a:t>Increasing employment</a:t>
            </a:r>
            <a:r>
              <a:rPr lang="en-US" sz="2200"/>
              <a:t> opportunity for all (a labour market objective)</a:t>
            </a:r>
          </a:p>
          <a:p>
            <a:pPr marL="495300" indent="-495300">
              <a:lnSpc>
                <a:spcPct val="90000"/>
              </a:lnSpc>
              <a:spcBef>
                <a:spcPct val="80000"/>
              </a:spcBef>
              <a:buFontTx/>
              <a:buAutoNum type="arabicPeriod"/>
            </a:pPr>
            <a:r>
              <a:rPr lang="en-US" sz="2200"/>
              <a:t>Ensuring </a:t>
            </a:r>
            <a:r>
              <a:rPr lang="en-US" sz="2200" b="1">
                <a:solidFill>
                  <a:srgbClr val="FF0000"/>
                </a:solidFill>
              </a:rPr>
              <a:t>fairness</a:t>
            </a:r>
            <a:r>
              <a:rPr lang="en-US" sz="2200"/>
              <a:t> for families and communities (commitment to </a:t>
            </a:r>
            <a:r>
              <a:rPr lang="en-US" sz="2200" b="1">
                <a:solidFill>
                  <a:srgbClr val="FF0000"/>
                </a:solidFill>
              </a:rPr>
              <a:t>equity</a:t>
            </a:r>
            <a:r>
              <a:rPr lang="en-US" sz="2200"/>
              <a:t>)</a:t>
            </a:r>
          </a:p>
          <a:p>
            <a:pPr marL="495300" indent="-495300">
              <a:lnSpc>
                <a:spcPct val="90000"/>
              </a:lnSpc>
              <a:spcBef>
                <a:spcPct val="80000"/>
              </a:spcBef>
              <a:buFontTx/>
              <a:buAutoNum type="arabicPeriod"/>
            </a:pPr>
            <a:r>
              <a:rPr lang="en-US" sz="2200"/>
              <a:t>Protecting the </a:t>
            </a:r>
            <a:r>
              <a:rPr lang="en-US" sz="2200" b="1">
                <a:solidFill>
                  <a:srgbClr val="FF0000"/>
                </a:solidFill>
              </a:rPr>
              <a:t>environment</a:t>
            </a:r>
            <a:r>
              <a:rPr lang="en-US" sz="2200"/>
              <a:t> (green economics has a macroeconomic dimension)</a:t>
            </a:r>
          </a:p>
        </p:txBody>
      </p:sp>
      <p:sp>
        <p:nvSpPr>
          <p:cNvPr id="2" name="Slide Number Placeholder 1"/>
          <p:cNvSpPr>
            <a:spLocks noGrp="1"/>
          </p:cNvSpPr>
          <p:nvPr>
            <p:ph type="sldNum" sz="quarter" idx="12"/>
          </p:nvPr>
        </p:nvSpPr>
        <p:spPr/>
        <p:txBody>
          <a:bodyPr/>
          <a:lstStyle/>
          <a:p>
            <a:fld id="{261F55E7-D931-45D6-9168-5E895D7266BA}" type="slidenum">
              <a:rPr lang="en-US" smtClean="0"/>
              <a:pPr/>
              <a:t>13</a:t>
            </a:fld>
            <a:endParaRPr lang="en-US"/>
          </a:p>
        </p:txBody>
      </p:sp>
    </p:spTree>
    <p:extLst>
      <p:ext uri="{BB962C8B-B14F-4D97-AF65-F5344CB8AC3E}">
        <p14:creationId xmlns:p14="http://schemas.microsoft.com/office/powerpoint/2010/main" val="39684193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2" name="Rectangle 4"/>
          <p:cNvSpPr>
            <a:spLocks noGrp="1" noChangeArrowheads="1"/>
          </p:cNvSpPr>
          <p:nvPr>
            <p:ph type="title"/>
          </p:nvPr>
        </p:nvSpPr>
        <p:spPr/>
        <p:txBody>
          <a:bodyPr/>
          <a:lstStyle/>
          <a:p>
            <a:r>
              <a:rPr lang="en-GB" b="1" dirty="0"/>
              <a:t>Macro stability…</a:t>
            </a:r>
            <a:endParaRPr lang="en-US" b="1" dirty="0"/>
          </a:p>
        </p:txBody>
      </p:sp>
      <p:sp>
        <p:nvSpPr>
          <p:cNvPr id="58373" name="Rectangle 5"/>
          <p:cNvSpPr>
            <a:spLocks noGrp="1" noChangeArrowheads="1"/>
          </p:cNvSpPr>
          <p:nvPr>
            <p:ph type="body" idx="1"/>
          </p:nvPr>
        </p:nvSpPr>
        <p:spPr>
          <a:xfrm>
            <a:off x="228600" y="1600200"/>
            <a:ext cx="8686800" cy="5121275"/>
          </a:xfrm>
        </p:spPr>
        <p:txBody>
          <a:bodyPr/>
          <a:lstStyle/>
          <a:p>
            <a:pPr marL="0" indent="0" algn="just">
              <a:buNone/>
            </a:pPr>
            <a:r>
              <a:rPr lang="en-US" b="1" dirty="0"/>
              <a:t>What are the government’s main economic objectives</a:t>
            </a:r>
            <a:r>
              <a:rPr lang="en-US" b="1" dirty="0" smtClean="0"/>
              <a:t>?</a:t>
            </a:r>
          </a:p>
          <a:p>
            <a:pPr marL="0" indent="0" algn="just">
              <a:buNone/>
            </a:pPr>
            <a:endParaRPr lang="en-US" b="1" dirty="0"/>
          </a:p>
          <a:p>
            <a:r>
              <a:rPr lang="en-GB" dirty="0"/>
              <a:t>Low inflation</a:t>
            </a:r>
          </a:p>
          <a:p>
            <a:r>
              <a:rPr lang="en-GB" dirty="0"/>
              <a:t>Steady and sustained growth </a:t>
            </a:r>
          </a:p>
          <a:p>
            <a:r>
              <a:rPr lang="en-GB" dirty="0"/>
              <a:t>High levels of employment</a:t>
            </a:r>
          </a:p>
          <a:p>
            <a:r>
              <a:rPr lang="en-GB" dirty="0"/>
              <a:t>Improvements in living standards</a:t>
            </a:r>
            <a:endParaRPr lang="en-US" dirty="0"/>
          </a:p>
          <a:p>
            <a:endParaRPr lang="en-US"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14</a:t>
            </a:fld>
            <a:endParaRPr lang="en-US" dirty="0"/>
          </a:p>
        </p:txBody>
      </p:sp>
    </p:spTree>
    <p:custDataLst>
      <p:tags r:id="rId1"/>
    </p:custDataLst>
    <p:extLst>
      <p:ext uri="{BB962C8B-B14F-4D97-AF65-F5344CB8AC3E}">
        <p14:creationId xmlns:p14="http://schemas.microsoft.com/office/powerpoint/2010/main" val="15708886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normAutofit fontScale="90000"/>
          </a:bodyPr>
          <a:lstStyle/>
          <a:p>
            <a:pPr>
              <a:lnSpc>
                <a:spcPct val="90000"/>
              </a:lnSpc>
            </a:pPr>
            <a:r>
              <a:rPr lang="en-GB" b="1" dirty="0"/>
              <a:t>Macro stability can be measured by the volatility of key indicators: </a:t>
            </a:r>
          </a:p>
        </p:txBody>
      </p:sp>
      <p:sp>
        <p:nvSpPr>
          <p:cNvPr id="167939" name="Rectangle 3"/>
          <p:cNvSpPr>
            <a:spLocks noGrp="1" noChangeArrowheads="1"/>
          </p:cNvSpPr>
          <p:nvPr>
            <p:ph type="body" idx="1"/>
          </p:nvPr>
        </p:nvSpPr>
        <p:spPr>
          <a:xfrm>
            <a:off x="381001" y="1125538"/>
            <a:ext cx="8612188" cy="5472112"/>
          </a:xfrm>
        </p:spPr>
        <p:txBody>
          <a:bodyPr>
            <a:normAutofit lnSpcReduction="10000"/>
          </a:bodyPr>
          <a:lstStyle/>
          <a:p>
            <a:pPr>
              <a:lnSpc>
                <a:spcPct val="90000"/>
              </a:lnSpc>
            </a:pPr>
            <a:endParaRPr lang="en-GB" sz="2200" dirty="0" smtClean="0"/>
          </a:p>
          <a:p>
            <a:pPr>
              <a:lnSpc>
                <a:spcPct val="90000"/>
              </a:lnSpc>
            </a:pPr>
            <a:endParaRPr lang="en-GB" sz="2200" dirty="0"/>
          </a:p>
          <a:p>
            <a:pPr marL="457200" indent="-457200">
              <a:lnSpc>
                <a:spcPct val="90000"/>
              </a:lnSpc>
              <a:buAutoNum type="arabicPeriod"/>
            </a:pPr>
            <a:r>
              <a:rPr lang="en-GB" sz="2200" b="1" dirty="0" smtClean="0"/>
              <a:t>Consumer </a:t>
            </a:r>
            <a:r>
              <a:rPr lang="en-GB" sz="2200" b="1" dirty="0"/>
              <a:t>price inflation</a:t>
            </a:r>
            <a:r>
              <a:rPr lang="en-GB" sz="2200" dirty="0"/>
              <a:t> (annual % change in prices) </a:t>
            </a:r>
            <a:endParaRPr lang="en-GB" sz="2200" dirty="0" smtClean="0"/>
          </a:p>
          <a:p>
            <a:pPr marL="0" indent="0">
              <a:lnSpc>
                <a:spcPct val="90000"/>
              </a:lnSpc>
              <a:buNone/>
            </a:pPr>
            <a:r>
              <a:rPr lang="en-GB" sz="2200" dirty="0"/>
              <a:t/>
            </a:r>
            <a:br>
              <a:rPr lang="en-GB" sz="2200" dirty="0"/>
            </a:br>
            <a:r>
              <a:rPr lang="en-GB" sz="2200" dirty="0"/>
              <a:t>2. </a:t>
            </a:r>
            <a:r>
              <a:rPr lang="en-GB" sz="2200" b="1" dirty="0"/>
              <a:t>Real GDP growth</a:t>
            </a:r>
            <a:r>
              <a:rPr lang="en-GB" sz="2200" dirty="0"/>
              <a:t> over one or more business cycles </a:t>
            </a:r>
            <a:endParaRPr lang="en-GB" sz="2200" dirty="0" smtClean="0"/>
          </a:p>
          <a:p>
            <a:pPr marL="0" indent="0">
              <a:lnSpc>
                <a:spcPct val="90000"/>
              </a:lnSpc>
              <a:buNone/>
            </a:pPr>
            <a:r>
              <a:rPr lang="en-GB" sz="2200" dirty="0"/>
              <a:t/>
            </a:r>
            <a:br>
              <a:rPr lang="en-GB" sz="2200" dirty="0"/>
            </a:br>
            <a:r>
              <a:rPr lang="en-GB" sz="2200" dirty="0"/>
              <a:t>3. Changes in </a:t>
            </a:r>
            <a:r>
              <a:rPr lang="en-GB" sz="2200" b="1" dirty="0"/>
              <a:t>measured unemployment</a:t>
            </a:r>
            <a:r>
              <a:rPr lang="en-GB" sz="2200" dirty="0"/>
              <a:t> / employment </a:t>
            </a:r>
            <a:endParaRPr lang="en-GB" sz="2200" dirty="0" smtClean="0"/>
          </a:p>
          <a:p>
            <a:pPr marL="0" indent="0">
              <a:lnSpc>
                <a:spcPct val="90000"/>
              </a:lnSpc>
              <a:buNone/>
            </a:pPr>
            <a:r>
              <a:rPr lang="en-GB" sz="2200" dirty="0"/>
              <a:t/>
            </a:r>
            <a:br>
              <a:rPr lang="en-GB" sz="2200" dirty="0"/>
            </a:br>
            <a:r>
              <a:rPr lang="en-GB" sz="2200" dirty="0"/>
              <a:t>4. Fluctuations in the current account of the </a:t>
            </a:r>
            <a:r>
              <a:rPr lang="en-GB" sz="2200" b="1" dirty="0"/>
              <a:t>balance of payments </a:t>
            </a:r>
            <a:endParaRPr lang="en-GB" sz="2200" b="1" dirty="0" smtClean="0"/>
          </a:p>
          <a:p>
            <a:pPr marL="0" indent="0">
              <a:lnSpc>
                <a:spcPct val="90000"/>
              </a:lnSpc>
              <a:buNone/>
            </a:pPr>
            <a:r>
              <a:rPr lang="en-GB" sz="2200" b="1" dirty="0"/>
              <a:t/>
            </a:r>
            <a:br>
              <a:rPr lang="en-GB" sz="2200" b="1" dirty="0"/>
            </a:br>
            <a:r>
              <a:rPr lang="en-GB" sz="2200" dirty="0"/>
              <a:t>5. Changes in </a:t>
            </a:r>
            <a:r>
              <a:rPr lang="en-GB" sz="2200" b="1" dirty="0"/>
              <a:t>government finances</a:t>
            </a:r>
            <a:r>
              <a:rPr lang="en-GB" sz="2200" dirty="0"/>
              <a:t> (i.e. the size of the fiscal deficit or surplus) </a:t>
            </a:r>
            <a:endParaRPr lang="en-GB" sz="2200" dirty="0" smtClean="0"/>
          </a:p>
          <a:p>
            <a:pPr marL="0" indent="0">
              <a:lnSpc>
                <a:spcPct val="90000"/>
              </a:lnSpc>
              <a:buNone/>
            </a:pPr>
            <a:r>
              <a:rPr lang="en-GB" sz="2200" dirty="0"/>
              <a:t/>
            </a:r>
            <a:br>
              <a:rPr lang="en-GB" sz="2200" dirty="0"/>
            </a:br>
            <a:r>
              <a:rPr lang="en-GB" sz="2200" dirty="0"/>
              <a:t>6. Volatility of short term policy </a:t>
            </a:r>
            <a:r>
              <a:rPr lang="en-GB" sz="2200" b="1" dirty="0"/>
              <a:t>interest rates</a:t>
            </a:r>
            <a:r>
              <a:rPr lang="en-GB" sz="2200" dirty="0"/>
              <a:t> and long term interest rates such as the yield on government bonds </a:t>
            </a:r>
            <a:endParaRPr lang="en-GB" sz="2200" dirty="0" smtClean="0"/>
          </a:p>
          <a:p>
            <a:pPr marL="0" indent="0">
              <a:lnSpc>
                <a:spcPct val="90000"/>
              </a:lnSpc>
              <a:buNone/>
            </a:pPr>
            <a:r>
              <a:rPr lang="en-GB" sz="2200" dirty="0"/>
              <a:t/>
            </a:r>
            <a:br>
              <a:rPr lang="en-GB" sz="2200" dirty="0"/>
            </a:br>
            <a:r>
              <a:rPr lang="en-GB" sz="2200" dirty="0"/>
              <a:t>7. Stability of the </a:t>
            </a:r>
            <a:r>
              <a:rPr lang="en-GB" sz="2200" b="1" dirty="0"/>
              <a:t>exchange rate</a:t>
            </a:r>
            <a:r>
              <a:rPr lang="en-GB" sz="2200" dirty="0"/>
              <a:t> in currency markets</a:t>
            </a:r>
          </a:p>
        </p:txBody>
      </p:sp>
      <p:sp>
        <p:nvSpPr>
          <p:cNvPr id="2" name="Slide Number Placeholder 1"/>
          <p:cNvSpPr>
            <a:spLocks noGrp="1"/>
          </p:cNvSpPr>
          <p:nvPr>
            <p:ph type="sldNum" sz="quarter" idx="12"/>
          </p:nvPr>
        </p:nvSpPr>
        <p:spPr/>
        <p:txBody>
          <a:bodyPr/>
          <a:lstStyle/>
          <a:p>
            <a:fld id="{261F55E7-D931-45D6-9168-5E895D7266BA}" type="slidenum">
              <a:rPr lang="en-US" smtClean="0"/>
              <a:pPr/>
              <a:t>15</a:t>
            </a:fld>
            <a:endParaRPr lang="en-US"/>
          </a:p>
        </p:txBody>
      </p:sp>
    </p:spTree>
    <p:extLst>
      <p:ext uri="{BB962C8B-B14F-4D97-AF65-F5344CB8AC3E}">
        <p14:creationId xmlns:p14="http://schemas.microsoft.com/office/powerpoint/2010/main" val="13363983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What makes a stable economy</a:t>
            </a:r>
            <a:r>
              <a:rPr lang="en-GB" b="1" dirty="0" smtClean="0"/>
              <a:t>? </a:t>
            </a:r>
            <a:r>
              <a:rPr lang="en-GB" b="1" dirty="0" err="1" smtClean="0"/>
              <a:t>Ctd</a:t>
            </a:r>
            <a:r>
              <a:rPr lang="en-GB" b="1" dirty="0" smtClean="0"/>
              <a:t>…</a:t>
            </a:r>
            <a:endParaRPr lang="en-US" b="1" dirty="0"/>
          </a:p>
        </p:txBody>
      </p:sp>
      <p:sp>
        <p:nvSpPr>
          <p:cNvPr id="3" name="Content Placeholder 2"/>
          <p:cNvSpPr>
            <a:spLocks noGrp="1"/>
          </p:cNvSpPr>
          <p:nvPr>
            <p:ph idx="1"/>
          </p:nvPr>
        </p:nvSpPr>
        <p:spPr/>
        <p:txBody>
          <a:bodyPr>
            <a:normAutofit lnSpcReduction="10000"/>
          </a:bodyPr>
          <a:lstStyle/>
          <a:p>
            <a:pPr>
              <a:lnSpc>
                <a:spcPct val="80000"/>
              </a:lnSpc>
            </a:pPr>
            <a:r>
              <a:rPr lang="en-GB" dirty="0"/>
              <a:t>A stable economy provides a framework for an improved supply-side performance i.e. </a:t>
            </a:r>
            <a:endParaRPr lang="en-GB" dirty="0" smtClean="0"/>
          </a:p>
          <a:p>
            <a:pPr marL="0" indent="0">
              <a:lnSpc>
                <a:spcPct val="80000"/>
              </a:lnSpc>
              <a:buNone/>
            </a:pPr>
            <a:endParaRPr lang="en-GB" dirty="0"/>
          </a:p>
          <a:p>
            <a:pPr marL="0" indent="0" algn="just">
              <a:lnSpc>
                <a:spcPct val="80000"/>
              </a:lnSpc>
              <a:buNone/>
            </a:pPr>
            <a:r>
              <a:rPr lang="en-GB" dirty="0" smtClean="0"/>
              <a:t>	• </a:t>
            </a:r>
            <a:r>
              <a:rPr lang="en-GB" dirty="0">
                <a:solidFill>
                  <a:srgbClr val="FF0000"/>
                </a:solidFill>
              </a:rPr>
              <a:t>Stable low inflation </a:t>
            </a:r>
            <a:r>
              <a:rPr lang="en-GB" dirty="0"/>
              <a:t>encourages higher investment which is a determinant of improved productivity and non-price competitiveness </a:t>
            </a:r>
            <a:endParaRPr lang="en-GB" dirty="0" smtClean="0"/>
          </a:p>
          <a:p>
            <a:pPr marL="0" indent="0" algn="just">
              <a:lnSpc>
                <a:spcPct val="80000"/>
              </a:lnSpc>
              <a:buNone/>
            </a:pPr>
            <a:r>
              <a:rPr lang="en-GB" dirty="0"/>
              <a:t/>
            </a:r>
            <a:br>
              <a:rPr lang="en-GB" dirty="0"/>
            </a:br>
            <a:r>
              <a:rPr lang="en-GB" dirty="0"/>
              <a:t>	• </a:t>
            </a:r>
            <a:r>
              <a:rPr lang="en-GB" dirty="0">
                <a:solidFill>
                  <a:srgbClr val="FF0000"/>
                </a:solidFill>
              </a:rPr>
              <a:t>Control of inflation </a:t>
            </a:r>
            <a:r>
              <a:rPr lang="en-GB" dirty="0"/>
              <a:t>helps to main price competitiveness for exporters and domestic businesses facing competition from imports </a:t>
            </a:r>
            <a:br>
              <a:rPr lang="en-GB" dirty="0"/>
            </a:br>
            <a:r>
              <a:rPr lang="en-GB" dirty="0"/>
              <a:t>	</a:t>
            </a:r>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16</a:t>
            </a:fld>
            <a:endParaRPr lang="en-US"/>
          </a:p>
        </p:txBody>
      </p:sp>
    </p:spTree>
    <p:extLst>
      <p:ext uri="{BB962C8B-B14F-4D97-AF65-F5344CB8AC3E}">
        <p14:creationId xmlns:p14="http://schemas.microsoft.com/office/powerpoint/2010/main" val="17924547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What makes a stable economy</a:t>
            </a:r>
            <a:r>
              <a:rPr lang="en-GB" b="1" dirty="0" smtClean="0"/>
              <a:t>? </a:t>
            </a:r>
            <a:r>
              <a:rPr lang="en-GB" b="1" dirty="0" err="1" smtClean="0"/>
              <a:t>Ctd</a:t>
            </a:r>
            <a:r>
              <a:rPr lang="en-GB" b="1" dirty="0" smtClean="0"/>
              <a:t>……..</a:t>
            </a:r>
            <a:endParaRPr lang="en-US" b="1" dirty="0"/>
          </a:p>
        </p:txBody>
      </p:sp>
      <p:sp>
        <p:nvSpPr>
          <p:cNvPr id="3" name="Content Placeholder 2"/>
          <p:cNvSpPr>
            <a:spLocks noGrp="1"/>
          </p:cNvSpPr>
          <p:nvPr>
            <p:ph idx="1"/>
          </p:nvPr>
        </p:nvSpPr>
        <p:spPr>
          <a:xfrm>
            <a:off x="152400" y="1981200"/>
            <a:ext cx="8839200" cy="5197475"/>
          </a:xfrm>
        </p:spPr>
        <p:txBody>
          <a:bodyPr>
            <a:normAutofit fontScale="85000" lnSpcReduction="10000"/>
          </a:bodyPr>
          <a:lstStyle/>
          <a:p>
            <a:pPr marL="0" indent="0" algn="just">
              <a:buNone/>
            </a:pPr>
            <a:r>
              <a:rPr lang="en-GB" dirty="0"/>
              <a:t>• </a:t>
            </a:r>
            <a:r>
              <a:rPr lang="en-GB" sz="3300" dirty="0"/>
              <a:t>Stability breeds higher levels of </a:t>
            </a:r>
            <a:r>
              <a:rPr lang="en-GB" sz="3300" dirty="0">
                <a:solidFill>
                  <a:srgbClr val="FF0000"/>
                </a:solidFill>
              </a:rPr>
              <a:t>consumer and business confidence</a:t>
            </a:r>
            <a:r>
              <a:rPr lang="en-GB" sz="3300" dirty="0"/>
              <a:t> – sentiment drives spending in the circular flow </a:t>
            </a:r>
            <a:endParaRPr lang="en-GB" sz="3300" dirty="0" smtClean="0"/>
          </a:p>
          <a:p>
            <a:pPr marL="0" indent="0" algn="just">
              <a:buNone/>
            </a:pPr>
            <a:r>
              <a:rPr lang="en-GB" sz="3300" dirty="0"/>
              <a:t/>
            </a:r>
            <a:br>
              <a:rPr lang="en-GB" sz="3300" dirty="0"/>
            </a:br>
            <a:r>
              <a:rPr lang="en-GB" sz="3300" dirty="0" smtClean="0"/>
              <a:t>• </a:t>
            </a:r>
            <a:r>
              <a:rPr lang="en-GB" sz="3300" dirty="0"/>
              <a:t>The maintenance of steady growth and price stability helps to keep </a:t>
            </a:r>
            <a:r>
              <a:rPr lang="en-GB" sz="3300" dirty="0">
                <a:solidFill>
                  <a:srgbClr val="FF0000"/>
                </a:solidFill>
              </a:rPr>
              <a:t>short term and long term interest rates low</a:t>
            </a:r>
            <a:r>
              <a:rPr lang="en-GB" sz="3300" dirty="0"/>
              <a:t>, important in reducing the debt-servicing costs of people with mortgages and businesses with loans to </a:t>
            </a:r>
            <a:r>
              <a:rPr lang="en-GB" sz="3300" dirty="0" smtClean="0"/>
              <a:t>repay</a:t>
            </a:r>
          </a:p>
          <a:p>
            <a:pPr marL="0" indent="0" algn="just">
              <a:buNone/>
            </a:pPr>
            <a:r>
              <a:rPr lang="en-GB" sz="3300" dirty="0" smtClean="0"/>
              <a:t> </a:t>
            </a:r>
            <a:r>
              <a:rPr lang="en-GB" sz="3300" dirty="0"/>
              <a:t/>
            </a:r>
            <a:br>
              <a:rPr lang="en-GB" sz="3300" dirty="0"/>
            </a:br>
            <a:r>
              <a:rPr lang="en-GB" sz="3300" dirty="0" smtClean="0"/>
              <a:t>• </a:t>
            </a:r>
            <a:r>
              <a:rPr lang="en-GB" sz="3300" dirty="0"/>
              <a:t>A stable real economy helps to anchor stable expectations and this can act as an </a:t>
            </a:r>
            <a:r>
              <a:rPr lang="en-GB" sz="3300" dirty="0">
                <a:solidFill>
                  <a:srgbClr val="FF0000"/>
                </a:solidFill>
              </a:rPr>
              <a:t>incentive for an economy to attract inflows of foreign direct </a:t>
            </a:r>
            <a:r>
              <a:rPr lang="en-GB" sz="3300" dirty="0" smtClean="0">
                <a:solidFill>
                  <a:srgbClr val="FF0000"/>
                </a:solidFill>
              </a:rPr>
              <a:t>investment(FDI) </a:t>
            </a:r>
            <a:endParaRPr lang="en-GB" sz="3300" dirty="0">
              <a:solidFill>
                <a:srgbClr val="FF0000"/>
              </a:solidFill>
            </a:endParaRPr>
          </a:p>
        </p:txBody>
      </p:sp>
      <p:sp>
        <p:nvSpPr>
          <p:cNvPr id="4" name="Slide Number Placeholder 3"/>
          <p:cNvSpPr>
            <a:spLocks noGrp="1"/>
          </p:cNvSpPr>
          <p:nvPr>
            <p:ph type="sldNum" sz="quarter" idx="12"/>
          </p:nvPr>
        </p:nvSpPr>
        <p:spPr/>
        <p:txBody>
          <a:bodyPr/>
          <a:lstStyle/>
          <a:p>
            <a:fld id="{261F55E7-D931-45D6-9168-5E895D7266BA}" type="slidenum">
              <a:rPr lang="en-US" smtClean="0"/>
              <a:pPr/>
              <a:t>17</a:t>
            </a:fld>
            <a:endParaRPr lang="en-US"/>
          </a:p>
        </p:txBody>
      </p:sp>
    </p:spTree>
    <p:extLst>
      <p:ext uri="{BB962C8B-B14F-4D97-AF65-F5344CB8AC3E}">
        <p14:creationId xmlns:p14="http://schemas.microsoft.com/office/powerpoint/2010/main" val="35749988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ChangeArrowheads="1"/>
          </p:cNvSpPr>
          <p:nvPr/>
        </p:nvSpPr>
        <p:spPr bwMode="auto">
          <a:xfrm>
            <a:off x="533400" y="609600"/>
            <a:ext cx="8458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112" name="Rectangle 16"/>
          <p:cNvSpPr>
            <a:spLocks noGrp="1" noChangeArrowheads="1"/>
          </p:cNvSpPr>
          <p:nvPr>
            <p:ph type="ctrTitle"/>
          </p:nvPr>
        </p:nvSpPr>
        <p:spPr/>
        <p:txBody>
          <a:bodyPr>
            <a:noAutofit/>
          </a:bodyPr>
          <a:lstStyle/>
          <a:p>
            <a:r>
              <a:rPr lang="en-GB" sz="8000" b="1" dirty="0">
                <a:solidFill>
                  <a:srgbClr val="FF0000"/>
                </a:solidFill>
              </a:rPr>
              <a:t>Measuring </a:t>
            </a:r>
            <a:r>
              <a:rPr lang="en-GB" sz="8000" b="1" dirty="0"/>
              <a:t>National Income</a:t>
            </a:r>
            <a:endParaRPr lang="en-US" sz="8000" b="1"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18</a:t>
            </a:fld>
            <a:endParaRPr lang="en-US"/>
          </a:p>
        </p:txBody>
      </p:sp>
    </p:spTree>
    <p:custDataLst>
      <p:tags r:id="rId1"/>
    </p:custDataLst>
    <p:extLst>
      <p:ext uri="{BB962C8B-B14F-4D97-AF65-F5344CB8AC3E}">
        <p14:creationId xmlns:p14="http://schemas.microsoft.com/office/powerpoint/2010/main" val="16604704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8" name="Rectangle 4"/>
          <p:cNvSpPr>
            <a:spLocks noGrp="1" noChangeArrowheads="1"/>
          </p:cNvSpPr>
          <p:nvPr>
            <p:ph type="title"/>
          </p:nvPr>
        </p:nvSpPr>
        <p:spPr/>
        <p:txBody>
          <a:bodyPr/>
          <a:lstStyle/>
          <a:p>
            <a:r>
              <a:rPr lang="en-GB" b="1" dirty="0"/>
              <a:t>What is National Income?</a:t>
            </a:r>
          </a:p>
        </p:txBody>
      </p:sp>
      <p:sp>
        <p:nvSpPr>
          <p:cNvPr id="6149" name="Rectangle 5"/>
          <p:cNvSpPr>
            <a:spLocks noGrp="1" noChangeArrowheads="1"/>
          </p:cNvSpPr>
          <p:nvPr>
            <p:ph type="body" idx="1"/>
          </p:nvPr>
        </p:nvSpPr>
        <p:spPr>
          <a:xfrm>
            <a:off x="152400" y="1417638"/>
            <a:ext cx="8839200" cy="4708525"/>
          </a:xfrm>
        </p:spPr>
        <p:txBody>
          <a:bodyPr>
            <a:normAutofit fontScale="92500" lnSpcReduction="10000"/>
          </a:bodyPr>
          <a:lstStyle/>
          <a:p>
            <a:pPr algn="just"/>
            <a:r>
              <a:rPr lang="en-GB" dirty="0"/>
              <a:t>National income measures the total value of goods and services produced within the economy over a period of </a:t>
            </a:r>
            <a:r>
              <a:rPr lang="en-GB" dirty="0" smtClean="0"/>
              <a:t>time</a:t>
            </a:r>
          </a:p>
          <a:p>
            <a:pPr algn="just"/>
            <a:endParaRPr lang="en-GB" dirty="0"/>
          </a:p>
          <a:p>
            <a:r>
              <a:rPr lang="en-GB" dirty="0">
                <a:solidFill>
                  <a:srgbClr val="FF0000"/>
                </a:solidFill>
              </a:rPr>
              <a:t>National Income can be calculated in three main ways</a:t>
            </a:r>
          </a:p>
          <a:p>
            <a:pPr marL="0" indent="0">
              <a:buNone/>
            </a:pPr>
            <a:r>
              <a:rPr lang="en-GB" dirty="0"/>
              <a:t>1. The </a:t>
            </a:r>
            <a:r>
              <a:rPr lang="en-GB" b="1" dirty="0"/>
              <a:t>sum of factor incomes</a:t>
            </a:r>
            <a:r>
              <a:rPr lang="en-GB" dirty="0"/>
              <a:t> earned in production</a:t>
            </a:r>
          </a:p>
          <a:p>
            <a:pPr marL="0" indent="0">
              <a:buNone/>
            </a:pPr>
            <a:r>
              <a:rPr lang="en-GB" dirty="0"/>
              <a:t>2. </a:t>
            </a:r>
            <a:r>
              <a:rPr lang="en-GB" b="1" dirty="0"/>
              <a:t>Aggregate demand</a:t>
            </a:r>
            <a:r>
              <a:rPr lang="en-GB" dirty="0"/>
              <a:t> for goods and </a:t>
            </a:r>
            <a:r>
              <a:rPr lang="en-GB" dirty="0" smtClean="0"/>
              <a:t>services(expenditure method)</a:t>
            </a:r>
            <a:endParaRPr lang="en-GB" dirty="0"/>
          </a:p>
          <a:p>
            <a:pPr marL="0" indent="0">
              <a:buNone/>
            </a:pPr>
            <a:r>
              <a:rPr lang="en-GB" dirty="0"/>
              <a:t>3. The </a:t>
            </a:r>
            <a:r>
              <a:rPr lang="en-GB" b="1" dirty="0"/>
              <a:t>sum of value added</a:t>
            </a:r>
            <a:r>
              <a:rPr lang="en-GB" dirty="0"/>
              <a:t> from each productive sector of the economy</a:t>
            </a:r>
          </a:p>
        </p:txBody>
      </p:sp>
      <p:sp>
        <p:nvSpPr>
          <p:cNvPr id="2" name="Slide Number Placeholder 1"/>
          <p:cNvSpPr>
            <a:spLocks noGrp="1"/>
          </p:cNvSpPr>
          <p:nvPr>
            <p:ph type="sldNum" sz="quarter" idx="12"/>
          </p:nvPr>
        </p:nvSpPr>
        <p:spPr/>
        <p:txBody>
          <a:bodyPr/>
          <a:lstStyle/>
          <a:p>
            <a:fld id="{261F55E7-D931-45D6-9168-5E895D7266BA}" type="slidenum">
              <a:rPr lang="en-US" smtClean="0"/>
              <a:pPr/>
              <a:t>19</a:t>
            </a:fld>
            <a:endParaRPr lang="en-US" dirty="0"/>
          </a:p>
        </p:txBody>
      </p:sp>
    </p:spTree>
    <p:custDataLst>
      <p:tags r:id="rId1"/>
    </p:custDataLst>
    <p:extLst>
      <p:ext uri="{BB962C8B-B14F-4D97-AF65-F5344CB8AC3E}">
        <p14:creationId xmlns:p14="http://schemas.microsoft.com/office/powerpoint/2010/main" val="26844832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60" name="Rectangle 4"/>
          <p:cNvSpPr>
            <a:spLocks noGrp="1" noChangeArrowheads="1"/>
          </p:cNvSpPr>
          <p:nvPr>
            <p:ph type="title"/>
          </p:nvPr>
        </p:nvSpPr>
        <p:spPr/>
        <p:txBody>
          <a:bodyPr>
            <a:normAutofit fontScale="90000"/>
          </a:bodyPr>
          <a:lstStyle/>
          <a:p>
            <a:r>
              <a:rPr lang="en-GB" b="1" dirty="0"/>
              <a:t>Why is national income important?</a:t>
            </a:r>
          </a:p>
        </p:txBody>
      </p:sp>
      <p:sp>
        <p:nvSpPr>
          <p:cNvPr id="45061" name="Rectangle 5"/>
          <p:cNvSpPr>
            <a:spLocks noGrp="1" noChangeArrowheads="1"/>
          </p:cNvSpPr>
          <p:nvPr>
            <p:ph type="body" idx="1"/>
          </p:nvPr>
        </p:nvSpPr>
        <p:spPr>
          <a:xfrm>
            <a:off x="1" y="1239838"/>
            <a:ext cx="5410200" cy="5164137"/>
          </a:xfrm>
        </p:spPr>
        <p:txBody>
          <a:bodyPr/>
          <a:lstStyle/>
          <a:p>
            <a:pPr algn="just"/>
            <a:r>
              <a:rPr lang="en-GB" sz="2400" b="1" dirty="0"/>
              <a:t>Measuring the level and rate of growth of national income (Y) is important to economists when they are considering</a:t>
            </a:r>
            <a:r>
              <a:rPr lang="en-GB" sz="2400" b="1" dirty="0" smtClean="0"/>
              <a:t>:</a:t>
            </a:r>
          </a:p>
          <a:p>
            <a:endParaRPr lang="en-GB" sz="2400" dirty="0"/>
          </a:p>
          <a:p>
            <a:pPr lvl="1"/>
            <a:r>
              <a:rPr lang="en-GB" sz="2400" dirty="0"/>
              <a:t>Economic growth and where a country is in the business cycle</a:t>
            </a:r>
          </a:p>
          <a:p>
            <a:pPr lvl="1"/>
            <a:r>
              <a:rPr lang="en-GB" sz="2400" dirty="0"/>
              <a:t>Changes to average living standards of the population</a:t>
            </a:r>
          </a:p>
          <a:p>
            <a:pPr lvl="1"/>
            <a:r>
              <a:rPr lang="en-GB" sz="2400" dirty="0"/>
              <a:t>Looking at the distribution of national income  (i.e. measuring income and wealth inequalities)</a:t>
            </a:r>
          </a:p>
          <a:p>
            <a:endParaRPr lang="en-GB" sz="2000" dirty="0"/>
          </a:p>
        </p:txBody>
      </p:sp>
      <p:pic>
        <p:nvPicPr>
          <p:cNvPr id="45062" name="Picture 6" descr="uk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38800" y="1371600"/>
            <a:ext cx="3286125" cy="2187575"/>
          </a:xfrm>
          <a:prstGeom prst="rect">
            <a:avLst/>
          </a:prstGeom>
          <a:noFill/>
          <a:extLst>
            <a:ext uri="{909E8E84-426E-40DD-AFC4-6F175D3DCCD1}">
              <a14:hiddenFill xmlns:a14="http://schemas.microsoft.com/office/drawing/2010/main">
                <a:solidFill>
                  <a:srgbClr val="FFFFFF"/>
                </a:solidFill>
              </a14:hiddenFill>
            </a:ext>
          </a:extLst>
        </p:spPr>
      </p:pic>
      <p:pic>
        <p:nvPicPr>
          <p:cNvPr id="45063" name="Picture 7" descr="boom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00800" y="3657600"/>
            <a:ext cx="1916113" cy="294798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261F55E7-D931-45D6-9168-5E895D7266BA}" type="slidenum">
              <a:rPr lang="en-US" smtClean="0"/>
              <a:pPr/>
              <a:t>20</a:t>
            </a:fld>
            <a:endParaRPr lang="en-US"/>
          </a:p>
        </p:txBody>
      </p:sp>
    </p:spTree>
    <p:custDataLst>
      <p:tags r:id="rId1"/>
    </p:custDataLst>
    <p:extLst>
      <p:ext uri="{BB962C8B-B14F-4D97-AF65-F5344CB8AC3E}">
        <p14:creationId xmlns:p14="http://schemas.microsoft.com/office/powerpoint/2010/main" val="11504194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8" name="Rectangle 4"/>
          <p:cNvSpPr>
            <a:spLocks noGrp="1" noChangeArrowheads="1"/>
          </p:cNvSpPr>
          <p:nvPr>
            <p:ph type="title"/>
          </p:nvPr>
        </p:nvSpPr>
        <p:spPr/>
        <p:txBody>
          <a:bodyPr/>
          <a:lstStyle/>
          <a:p>
            <a:r>
              <a:rPr lang="en-GB" b="1" dirty="0"/>
              <a:t>Gross Domestic Product (</a:t>
            </a:r>
            <a:r>
              <a:rPr lang="en-GB" b="1" dirty="0">
                <a:hlinkClick r:id="rId4" action="ppaction://hlinkfile"/>
              </a:rPr>
              <a:t>GDP</a:t>
            </a:r>
            <a:r>
              <a:rPr lang="en-GB" b="1" dirty="0"/>
              <a:t>)</a:t>
            </a:r>
          </a:p>
        </p:txBody>
      </p:sp>
      <p:sp>
        <p:nvSpPr>
          <p:cNvPr id="11269" name="Rectangle 5"/>
          <p:cNvSpPr>
            <a:spLocks noGrp="1" noChangeArrowheads="1"/>
          </p:cNvSpPr>
          <p:nvPr>
            <p:ph type="body" idx="1"/>
          </p:nvPr>
        </p:nvSpPr>
        <p:spPr/>
        <p:txBody>
          <a:bodyPr>
            <a:normAutofit fontScale="70000" lnSpcReduction="20000"/>
          </a:bodyPr>
          <a:lstStyle/>
          <a:p>
            <a:pPr algn="just"/>
            <a:r>
              <a:rPr lang="en-GB" dirty="0"/>
              <a:t>GDP measures the value of output produced within the domestic boundaries of the </a:t>
            </a:r>
            <a:r>
              <a:rPr lang="en-GB" dirty="0" smtClean="0"/>
              <a:t>Sri Lanka</a:t>
            </a:r>
          </a:p>
          <a:p>
            <a:endParaRPr lang="en-GB" dirty="0" smtClean="0"/>
          </a:p>
          <a:p>
            <a:pPr algn="just"/>
            <a:r>
              <a:rPr lang="en-GB" dirty="0" smtClean="0"/>
              <a:t>GDP </a:t>
            </a:r>
            <a:r>
              <a:rPr lang="en-GB" dirty="0"/>
              <a:t>includes the output of the foreign owned firms with production plants located in the </a:t>
            </a:r>
            <a:r>
              <a:rPr lang="en-GB" dirty="0" smtClean="0"/>
              <a:t>Sri Lanka</a:t>
            </a:r>
          </a:p>
          <a:p>
            <a:endParaRPr lang="en-GB" dirty="0"/>
          </a:p>
          <a:p>
            <a:r>
              <a:rPr lang="en-GB" dirty="0"/>
              <a:t>There are three ways of calculating GDP - all of which should sum to the same amount since by identity</a:t>
            </a:r>
            <a:r>
              <a:rPr lang="en-GB" dirty="0" smtClean="0"/>
              <a:t>:</a:t>
            </a:r>
          </a:p>
          <a:p>
            <a:endParaRPr lang="en-GB" dirty="0"/>
          </a:p>
          <a:p>
            <a:r>
              <a:rPr lang="en-GB" b="1" dirty="0">
                <a:solidFill>
                  <a:schemeClr val="accent2"/>
                </a:solidFill>
              </a:rPr>
              <a:t>National Output = National Expenditure = National </a:t>
            </a:r>
            <a:r>
              <a:rPr lang="en-GB" b="1" dirty="0" smtClean="0">
                <a:solidFill>
                  <a:schemeClr val="accent2"/>
                </a:solidFill>
              </a:rPr>
              <a:t>Income</a:t>
            </a:r>
          </a:p>
          <a:p>
            <a:endParaRPr lang="en-GB" b="1" dirty="0">
              <a:solidFill>
                <a:schemeClr val="accent2"/>
              </a:solidFill>
            </a:endParaRPr>
          </a:p>
          <a:p>
            <a:pPr algn="just"/>
            <a:r>
              <a:rPr lang="en-GB" dirty="0"/>
              <a:t>Under the new definitions introduced in 1998, GDP is now known as Gross Valued Added</a:t>
            </a:r>
          </a:p>
          <a:p>
            <a:endParaRPr lang="en-GB"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21</a:t>
            </a:fld>
            <a:endParaRPr lang="en-US"/>
          </a:p>
        </p:txBody>
      </p:sp>
    </p:spTree>
    <p:custDataLst>
      <p:tags r:id="rId1"/>
    </p:custDataLst>
    <p:extLst>
      <p:ext uri="{BB962C8B-B14F-4D97-AF65-F5344CB8AC3E}">
        <p14:creationId xmlns:p14="http://schemas.microsoft.com/office/powerpoint/2010/main" val="35840838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20807632"/>
              </p:ext>
            </p:extLst>
          </p:nvPr>
        </p:nvGraphicFramePr>
        <p:xfrm>
          <a:off x="457200" y="271325"/>
          <a:ext cx="8229600" cy="37490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sz="2400" dirty="0" smtClean="0"/>
                        <a:t>Expenditure</a:t>
                      </a:r>
                      <a:r>
                        <a:rPr lang="en-US" sz="2400" baseline="0" dirty="0" smtClean="0"/>
                        <a:t> approach</a:t>
                      </a:r>
                      <a:r>
                        <a:rPr lang="en-US" sz="2400" dirty="0" smtClean="0"/>
                        <a:t>(GNE) </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Income based</a:t>
                      </a:r>
                      <a:r>
                        <a:rPr lang="en-US" sz="2400" baseline="0" dirty="0" smtClean="0"/>
                        <a:t> approach</a:t>
                      </a:r>
                      <a:r>
                        <a:rPr lang="en-US" sz="2400" dirty="0" smtClean="0"/>
                        <a:t>(GNI)</a:t>
                      </a:r>
                    </a:p>
                    <a:p>
                      <a:endParaRPr lang="en-US" sz="2400" dirty="0"/>
                    </a:p>
                  </a:txBody>
                  <a:tcPr/>
                </a:tc>
                <a:extLst>
                  <a:ext uri="{0D108BD9-81ED-4DB2-BD59-A6C34878D82A}">
                    <a16:rowId xmlns:a16="http://schemas.microsoft.com/office/drawing/2014/main" val="10000"/>
                  </a:ext>
                </a:extLst>
              </a:tr>
              <a:tr h="370840">
                <a:tc>
                  <a:txBody>
                    <a:bodyPr/>
                    <a:lstStyle/>
                    <a:p>
                      <a:r>
                        <a:rPr lang="en-US" sz="2400" dirty="0" smtClean="0"/>
                        <a:t>Consumption expenditure by households</a:t>
                      </a:r>
                      <a:endParaRPr lang="en-US" sz="2400" dirty="0"/>
                    </a:p>
                  </a:txBody>
                  <a:tcPr/>
                </a:tc>
                <a:tc>
                  <a:txBody>
                    <a:bodyPr/>
                    <a:lstStyle/>
                    <a:p>
                      <a:r>
                        <a:rPr lang="en-US" sz="2400" dirty="0" smtClean="0"/>
                        <a:t>Wages</a:t>
                      </a:r>
                      <a:endParaRPr lang="en-US" sz="2400" dirty="0"/>
                    </a:p>
                  </a:txBody>
                  <a:tcPr/>
                </a:tc>
                <a:extLst>
                  <a:ext uri="{0D108BD9-81ED-4DB2-BD59-A6C34878D82A}">
                    <a16:rowId xmlns:a16="http://schemas.microsoft.com/office/drawing/2014/main" val="10001"/>
                  </a:ext>
                </a:extLst>
              </a:tr>
              <a:tr h="370840">
                <a:tc>
                  <a:txBody>
                    <a:bodyPr/>
                    <a:lstStyle/>
                    <a:p>
                      <a:r>
                        <a:rPr lang="en-US" sz="2400" dirty="0" smtClean="0"/>
                        <a:t>Investment expenditure by businesses</a:t>
                      </a:r>
                      <a:endParaRPr lang="en-US" sz="2400" dirty="0"/>
                    </a:p>
                  </a:txBody>
                  <a:tcPr/>
                </a:tc>
                <a:tc>
                  <a:txBody>
                    <a:bodyPr/>
                    <a:lstStyle/>
                    <a:p>
                      <a:r>
                        <a:rPr lang="en-US" sz="2400" dirty="0" smtClean="0"/>
                        <a:t>Rent</a:t>
                      </a:r>
                      <a:endParaRPr lang="en-US" sz="2400" dirty="0"/>
                    </a:p>
                  </a:txBody>
                  <a:tcPr/>
                </a:tc>
                <a:extLst>
                  <a:ext uri="{0D108BD9-81ED-4DB2-BD59-A6C34878D82A}">
                    <a16:rowId xmlns:a16="http://schemas.microsoft.com/office/drawing/2014/main" val="10002"/>
                  </a:ext>
                </a:extLst>
              </a:tr>
              <a:tr h="447040">
                <a:tc>
                  <a:txBody>
                    <a:bodyPr/>
                    <a:lstStyle/>
                    <a:p>
                      <a:r>
                        <a:rPr lang="en-US" sz="2400" dirty="0" smtClean="0"/>
                        <a:t>Government purchases of goods &amp; services</a:t>
                      </a:r>
                      <a:endParaRPr lang="en-US" sz="2400" dirty="0"/>
                    </a:p>
                  </a:txBody>
                  <a:tcPr/>
                </a:tc>
                <a:tc>
                  <a:txBody>
                    <a:bodyPr/>
                    <a:lstStyle/>
                    <a:p>
                      <a:r>
                        <a:rPr lang="en-US" sz="2400" dirty="0" smtClean="0"/>
                        <a:t>Profits</a:t>
                      </a:r>
                      <a:endParaRPr lang="en-US" sz="2400" dirty="0"/>
                    </a:p>
                  </a:txBody>
                  <a:tcPr/>
                </a:tc>
                <a:extLst>
                  <a:ext uri="{0D108BD9-81ED-4DB2-BD59-A6C34878D82A}">
                    <a16:rowId xmlns:a16="http://schemas.microsoft.com/office/drawing/2014/main" val="10003"/>
                  </a:ext>
                </a:extLst>
              </a:tr>
              <a:tr h="370840">
                <a:tc>
                  <a:txBody>
                    <a:bodyPr/>
                    <a:lstStyle/>
                    <a:p>
                      <a:r>
                        <a:rPr lang="en-US" sz="2400" dirty="0" smtClean="0"/>
                        <a:t>Capital Investments</a:t>
                      </a:r>
                      <a:endParaRPr lang="en-US" sz="2400" dirty="0"/>
                    </a:p>
                  </a:txBody>
                  <a:tcPr/>
                </a:tc>
                <a:tc>
                  <a:txBody>
                    <a:bodyPr/>
                    <a:lstStyle/>
                    <a:p>
                      <a:r>
                        <a:rPr lang="en-US" sz="2400" dirty="0" smtClean="0"/>
                        <a:t>Interest</a:t>
                      </a:r>
                      <a:endParaRPr lang="en-US" sz="2400" dirty="0"/>
                    </a:p>
                  </a:txBody>
                  <a:tcPr/>
                </a:tc>
                <a:extLst>
                  <a:ext uri="{0D108BD9-81ED-4DB2-BD59-A6C34878D82A}">
                    <a16:rowId xmlns:a16="http://schemas.microsoft.com/office/drawing/2014/main" val="10004"/>
                  </a:ext>
                </a:extLst>
              </a:tr>
            </a:tbl>
          </a:graphicData>
        </a:graphic>
      </p:graphicFrame>
      <p:sp>
        <p:nvSpPr>
          <p:cNvPr id="3" name="Slide Number Placeholder 2"/>
          <p:cNvSpPr>
            <a:spLocks noGrp="1"/>
          </p:cNvSpPr>
          <p:nvPr>
            <p:ph type="sldNum" sz="quarter" idx="12"/>
          </p:nvPr>
        </p:nvSpPr>
        <p:spPr/>
        <p:txBody>
          <a:bodyPr/>
          <a:lstStyle/>
          <a:p>
            <a:fld id="{261F55E7-D931-45D6-9168-5E895D7266BA}" type="slidenum">
              <a:rPr lang="en-US" smtClean="0"/>
              <a:pPr/>
              <a:t>22</a:t>
            </a:fld>
            <a:endParaRPr lang="en-US"/>
          </a:p>
        </p:txBody>
      </p:sp>
      <p:sp>
        <p:nvSpPr>
          <p:cNvPr id="2" name="Title 1"/>
          <p:cNvSpPr>
            <a:spLocks noGrp="1"/>
          </p:cNvSpPr>
          <p:nvPr>
            <p:ph type="title"/>
          </p:nvPr>
        </p:nvSpPr>
        <p:spPr/>
        <p:txBody>
          <a:bodyPr/>
          <a:lstStyle/>
          <a:p>
            <a:endParaRPr lang="en-US" dirty="0"/>
          </a:p>
        </p:txBody>
      </p:sp>
      <p:sp>
        <p:nvSpPr>
          <p:cNvPr id="6" name="TextBox 5"/>
          <p:cNvSpPr txBox="1"/>
          <p:nvPr/>
        </p:nvSpPr>
        <p:spPr>
          <a:xfrm>
            <a:off x="457200" y="4175442"/>
            <a:ext cx="8229600" cy="1569660"/>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smtClean="0"/>
              <a:t>In theory, </a:t>
            </a:r>
            <a:r>
              <a:rPr lang="en-US" sz="2400" b="1" dirty="0" smtClean="0">
                <a:solidFill>
                  <a:srgbClr val="FF0000"/>
                </a:solidFill>
              </a:rPr>
              <a:t>the three must yield the same</a:t>
            </a:r>
            <a:r>
              <a:rPr lang="en-US" sz="2400" dirty="0" smtClean="0"/>
              <a:t>, because total expenditures on goods and services(GNE) must equal the total income paid to the producers(GNI), that must also equal the total value of the output of goods and services(GNP). </a:t>
            </a:r>
            <a:endParaRPr lang="en-US" sz="2400" dirty="0"/>
          </a:p>
        </p:txBody>
      </p:sp>
    </p:spTree>
    <p:extLst>
      <p:ext uri="{BB962C8B-B14F-4D97-AF65-F5344CB8AC3E}">
        <p14:creationId xmlns:p14="http://schemas.microsoft.com/office/powerpoint/2010/main" val="22497489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2" name="Rectangle 4"/>
          <p:cNvSpPr>
            <a:spLocks noGrp="1" noChangeArrowheads="1"/>
          </p:cNvSpPr>
          <p:nvPr>
            <p:ph type="title"/>
          </p:nvPr>
        </p:nvSpPr>
        <p:spPr/>
        <p:txBody>
          <a:bodyPr/>
          <a:lstStyle/>
          <a:p>
            <a:r>
              <a:rPr lang="en-GB" b="1" dirty="0"/>
              <a:t>Aggregate Demand (AD)</a:t>
            </a:r>
          </a:p>
        </p:txBody>
      </p:sp>
      <p:sp>
        <p:nvSpPr>
          <p:cNvPr id="12293" name="Rectangle 5"/>
          <p:cNvSpPr>
            <a:spLocks noGrp="1" noChangeArrowheads="1"/>
          </p:cNvSpPr>
          <p:nvPr>
            <p:ph type="body" idx="1"/>
          </p:nvPr>
        </p:nvSpPr>
        <p:spPr>
          <a:xfrm>
            <a:off x="152400" y="1600200"/>
            <a:ext cx="8915400" cy="5257800"/>
          </a:xfrm>
        </p:spPr>
        <p:txBody>
          <a:bodyPr>
            <a:normAutofit fontScale="92500" lnSpcReduction="20000"/>
          </a:bodyPr>
          <a:lstStyle/>
          <a:p>
            <a:pPr algn="just"/>
            <a:r>
              <a:rPr lang="en-GB" dirty="0"/>
              <a:t>AD is the sum of the final expenditure on </a:t>
            </a:r>
            <a:r>
              <a:rPr lang="en-GB" dirty="0" smtClean="0"/>
              <a:t>SL produced </a:t>
            </a:r>
            <a:r>
              <a:rPr lang="en-GB" dirty="0"/>
              <a:t>goods and services measured at current market prices</a:t>
            </a:r>
          </a:p>
          <a:p>
            <a:pPr marL="0" indent="0">
              <a:buNone/>
            </a:pPr>
            <a:r>
              <a:rPr lang="en-GB" b="1" dirty="0">
                <a:solidFill>
                  <a:srgbClr val="FF0000"/>
                </a:solidFill>
              </a:rPr>
              <a:t>The full equation for </a:t>
            </a:r>
            <a:r>
              <a:rPr lang="en-GB" b="1" dirty="0" smtClean="0">
                <a:solidFill>
                  <a:srgbClr val="FF0000"/>
                </a:solidFill>
              </a:rPr>
              <a:t>GDP </a:t>
            </a:r>
            <a:r>
              <a:rPr lang="en-GB" b="1" dirty="0">
                <a:solidFill>
                  <a:srgbClr val="FF0000"/>
                </a:solidFill>
              </a:rPr>
              <a:t>using this approach </a:t>
            </a:r>
            <a:r>
              <a:rPr lang="en-GB" b="1" dirty="0" smtClean="0">
                <a:solidFill>
                  <a:srgbClr val="FF0000"/>
                </a:solidFill>
              </a:rPr>
              <a:t>is</a:t>
            </a:r>
          </a:p>
          <a:p>
            <a:pPr marL="0" indent="0">
              <a:buNone/>
            </a:pPr>
            <a:endParaRPr lang="en-GB" sz="4200" b="1" dirty="0">
              <a:solidFill>
                <a:srgbClr val="FF0000"/>
              </a:solidFill>
            </a:endParaRPr>
          </a:p>
          <a:p>
            <a:pPr marL="0" indent="0" algn="ctr">
              <a:buNone/>
            </a:pPr>
            <a:r>
              <a:rPr lang="en-GB" sz="4200" b="1" dirty="0" smtClean="0">
                <a:hlinkClick r:id="rId4" action="ppaction://hlinkfile"/>
              </a:rPr>
              <a:t>GDP</a:t>
            </a:r>
            <a:r>
              <a:rPr lang="en-GB" sz="4200" b="1" dirty="0" smtClean="0"/>
              <a:t> </a:t>
            </a:r>
            <a:r>
              <a:rPr lang="en-GB" sz="4200" b="1" dirty="0"/>
              <a:t>= C + I + G + (X-M</a:t>
            </a:r>
            <a:r>
              <a:rPr lang="en-GB" sz="4200" b="1" dirty="0" smtClean="0"/>
              <a:t>)</a:t>
            </a:r>
          </a:p>
          <a:p>
            <a:pPr marL="0" indent="0" algn="ctr">
              <a:buNone/>
            </a:pPr>
            <a:endParaRPr lang="en-GB" dirty="0"/>
          </a:p>
          <a:p>
            <a:r>
              <a:rPr lang="en-GB" dirty="0"/>
              <a:t>C: </a:t>
            </a:r>
            <a:r>
              <a:rPr lang="en-GB" dirty="0">
                <a:solidFill>
                  <a:srgbClr val="7F7F7F"/>
                </a:solidFill>
              </a:rPr>
              <a:t>	</a:t>
            </a:r>
            <a:r>
              <a:rPr lang="en-GB" dirty="0"/>
              <a:t>Household spending (consumption)</a:t>
            </a:r>
          </a:p>
          <a:p>
            <a:r>
              <a:rPr lang="en-GB" dirty="0"/>
              <a:t>I: </a:t>
            </a:r>
            <a:r>
              <a:rPr lang="en-GB" dirty="0">
                <a:solidFill>
                  <a:srgbClr val="7F7F7F"/>
                </a:solidFill>
              </a:rPr>
              <a:t>	</a:t>
            </a:r>
            <a:r>
              <a:rPr lang="en-GB" dirty="0"/>
              <a:t>Capital Investment spending</a:t>
            </a:r>
          </a:p>
          <a:p>
            <a:r>
              <a:rPr lang="en-GB" dirty="0"/>
              <a:t>G: </a:t>
            </a:r>
            <a:r>
              <a:rPr lang="en-GB" dirty="0">
                <a:solidFill>
                  <a:srgbClr val="7F7F7F"/>
                </a:solidFill>
              </a:rPr>
              <a:t>	</a:t>
            </a:r>
            <a:r>
              <a:rPr lang="en-GB" dirty="0"/>
              <a:t>General Government spending </a:t>
            </a:r>
          </a:p>
          <a:p>
            <a:r>
              <a:rPr lang="en-GB" dirty="0"/>
              <a:t>X: </a:t>
            </a:r>
            <a:r>
              <a:rPr lang="en-GB" dirty="0">
                <a:solidFill>
                  <a:srgbClr val="7F7F7F"/>
                </a:solidFill>
              </a:rPr>
              <a:t>	</a:t>
            </a:r>
            <a:r>
              <a:rPr lang="en-GB" dirty="0"/>
              <a:t>Exports of Goods and Services</a:t>
            </a:r>
          </a:p>
          <a:p>
            <a:r>
              <a:rPr lang="en-GB" dirty="0"/>
              <a:t>M: </a:t>
            </a:r>
            <a:r>
              <a:rPr lang="en-GB" dirty="0">
                <a:solidFill>
                  <a:srgbClr val="7F7F7F"/>
                </a:solidFill>
              </a:rPr>
              <a:t>	</a:t>
            </a:r>
            <a:r>
              <a:rPr lang="en-GB" dirty="0"/>
              <a:t>Imports of Goods and Services</a:t>
            </a:r>
          </a:p>
          <a:p>
            <a:endParaRPr lang="en-GB"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23</a:t>
            </a:fld>
            <a:endParaRPr lang="en-US"/>
          </a:p>
        </p:txBody>
      </p:sp>
    </p:spTree>
    <p:custDataLst>
      <p:tags r:id="rId1"/>
    </p:custDataLst>
    <p:extLst>
      <p:ext uri="{BB962C8B-B14F-4D97-AF65-F5344CB8AC3E}">
        <p14:creationId xmlns:p14="http://schemas.microsoft.com/office/powerpoint/2010/main" val="36348763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How GNP is calculated</a:t>
            </a:r>
          </a:p>
        </p:txBody>
      </p:sp>
      <p:sp>
        <p:nvSpPr>
          <p:cNvPr id="3" name="Content Placeholder 2"/>
          <p:cNvSpPr>
            <a:spLocks noGrp="1"/>
          </p:cNvSpPr>
          <p:nvPr>
            <p:ph idx="1"/>
          </p:nvPr>
        </p:nvSpPr>
        <p:spPr/>
        <p:txBody>
          <a:bodyPr>
            <a:normAutofit/>
          </a:bodyPr>
          <a:lstStyle/>
          <a:p>
            <a:pPr algn="just"/>
            <a:r>
              <a:rPr lang="en-US" dirty="0" smtClean="0"/>
              <a:t>There </a:t>
            </a:r>
            <a:r>
              <a:rPr lang="en-US" dirty="0"/>
              <a:t>are various </a:t>
            </a:r>
            <a:r>
              <a:rPr lang="en-US" b="1" dirty="0"/>
              <a:t>ways of calculating GNP</a:t>
            </a:r>
            <a:r>
              <a:rPr lang="en-US" dirty="0"/>
              <a:t> numbers. </a:t>
            </a:r>
            <a:endParaRPr lang="en-US" dirty="0" smtClean="0"/>
          </a:p>
          <a:p>
            <a:pPr algn="just"/>
            <a:endParaRPr lang="en-US" dirty="0" smtClean="0"/>
          </a:p>
          <a:p>
            <a:r>
              <a:rPr lang="en-US" dirty="0" smtClean="0"/>
              <a:t>Expenditure </a:t>
            </a:r>
            <a:r>
              <a:rPr lang="en-US" dirty="0"/>
              <a:t>Approach to calculating </a:t>
            </a:r>
            <a:r>
              <a:rPr lang="en-US" dirty="0" smtClean="0"/>
              <a:t>GNP</a:t>
            </a:r>
          </a:p>
          <a:p>
            <a:endParaRPr lang="en-US" i="1" dirty="0"/>
          </a:p>
          <a:p>
            <a:pPr marL="0" indent="0" algn="ctr">
              <a:buNone/>
            </a:pPr>
            <a:r>
              <a:rPr lang="en-US" sz="3900" b="1" u="sng" dirty="0">
                <a:solidFill>
                  <a:srgbClr val="0070C0"/>
                </a:solidFill>
              </a:rPr>
              <a:t>GNP </a:t>
            </a:r>
            <a:r>
              <a:rPr lang="en-US" i="1" dirty="0"/>
              <a:t>= GDP + NR (Net </a:t>
            </a:r>
            <a:r>
              <a:rPr lang="en-US" i="1" dirty="0" smtClean="0"/>
              <a:t>factor income)</a:t>
            </a:r>
            <a:r>
              <a:rPr lang="en-US" dirty="0" smtClean="0"/>
              <a:t> </a:t>
            </a:r>
          </a:p>
          <a:p>
            <a:pPr marL="0" indent="0">
              <a:buNone/>
            </a:pPr>
            <a:endParaRPr lang="en-US" dirty="0">
              <a:solidFill>
                <a:schemeClr val="accent2">
                  <a:lumMod val="75000"/>
                </a:schemeClr>
              </a:solidFill>
            </a:endParaRPr>
          </a:p>
        </p:txBody>
      </p:sp>
      <p:sp>
        <p:nvSpPr>
          <p:cNvPr id="4" name="Slide Number Placeholder 3"/>
          <p:cNvSpPr>
            <a:spLocks noGrp="1"/>
          </p:cNvSpPr>
          <p:nvPr>
            <p:ph type="sldNum" sz="quarter" idx="12"/>
          </p:nvPr>
        </p:nvSpPr>
        <p:spPr/>
        <p:txBody>
          <a:bodyPr/>
          <a:lstStyle/>
          <a:p>
            <a:fld id="{261F55E7-D931-45D6-9168-5E895D7266BA}" type="slidenum">
              <a:rPr lang="en-US" smtClean="0"/>
              <a:pPr/>
              <a:t>24</a:t>
            </a:fld>
            <a:endParaRPr lang="en-US"/>
          </a:p>
        </p:txBody>
      </p:sp>
    </p:spTree>
    <p:extLst>
      <p:ext uri="{BB962C8B-B14F-4D97-AF65-F5344CB8AC3E}">
        <p14:creationId xmlns:p14="http://schemas.microsoft.com/office/powerpoint/2010/main" val="20623528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Demand Side shocks</a:t>
            </a:r>
            <a:endParaRPr lang="en-US" b="1" dirty="0"/>
          </a:p>
        </p:txBody>
      </p:sp>
      <p:sp>
        <p:nvSpPr>
          <p:cNvPr id="3" name="Content Placeholder 2"/>
          <p:cNvSpPr>
            <a:spLocks noGrp="1"/>
          </p:cNvSpPr>
          <p:nvPr>
            <p:ph idx="1"/>
          </p:nvPr>
        </p:nvSpPr>
        <p:spPr>
          <a:xfrm>
            <a:off x="304800" y="1219200"/>
            <a:ext cx="8382000" cy="4906963"/>
          </a:xfrm>
        </p:spPr>
        <p:txBody>
          <a:bodyPr>
            <a:normAutofit/>
          </a:bodyPr>
          <a:lstStyle/>
          <a:p>
            <a:pPr algn="just"/>
            <a:r>
              <a:rPr lang="en-US" dirty="0"/>
              <a:t>Lots of </a:t>
            </a:r>
            <a:r>
              <a:rPr lang="en-US" b="1" dirty="0">
                <a:solidFill>
                  <a:srgbClr val="FF0000"/>
                </a:solidFill>
              </a:rPr>
              <a:t>unexpected events</a:t>
            </a:r>
            <a:r>
              <a:rPr lang="en-US" dirty="0"/>
              <a:t> can happen which cause changes in the level of demand, output and employment in the economy. These </a:t>
            </a:r>
            <a:r>
              <a:rPr lang="en-US" u="sng" dirty="0"/>
              <a:t>unplanned events </a:t>
            </a:r>
            <a:r>
              <a:rPr lang="en-US" dirty="0"/>
              <a:t>are called “shocks” One of the causes of fluctuations in the level of economic activity is the presence of </a:t>
            </a:r>
            <a:r>
              <a:rPr lang="en-US" b="1" dirty="0"/>
              <a:t>demand-side shocks</a:t>
            </a:r>
            <a:r>
              <a:rPr lang="en-US" dirty="0"/>
              <a:t>. </a:t>
            </a:r>
            <a:r>
              <a:rPr lang="en-US" dirty="0" smtClean="0"/>
              <a:t> </a:t>
            </a:r>
          </a:p>
          <a:p>
            <a:pPr marL="0" indent="0">
              <a:buNone/>
            </a:pPr>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25</a:t>
            </a:fld>
            <a:endParaRPr lang="en-US" dirty="0"/>
          </a:p>
        </p:txBody>
      </p:sp>
    </p:spTree>
    <p:extLst>
      <p:ext uri="{BB962C8B-B14F-4D97-AF65-F5344CB8AC3E}">
        <p14:creationId xmlns:p14="http://schemas.microsoft.com/office/powerpoint/2010/main" val="109228161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33400"/>
            <a:ext cx="8839200" cy="6324600"/>
          </a:xfrm>
        </p:spPr>
        <p:txBody>
          <a:bodyPr>
            <a:normAutofit fontScale="47500" lnSpcReduction="20000"/>
          </a:bodyPr>
          <a:lstStyle/>
          <a:p>
            <a:pPr marL="0" indent="0" algn="ctr">
              <a:buNone/>
            </a:pPr>
            <a:r>
              <a:rPr lang="en-US" sz="5800" b="1" dirty="0">
                <a:solidFill>
                  <a:srgbClr val="FF0000"/>
                </a:solidFill>
              </a:rPr>
              <a:t>Some of the main causes of demand-side shocks are as follows</a:t>
            </a:r>
            <a:r>
              <a:rPr lang="en-US" sz="5800" b="1" dirty="0" smtClean="0">
                <a:solidFill>
                  <a:srgbClr val="FF0000"/>
                </a:solidFill>
              </a:rPr>
              <a:t>:</a:t>
            </a:r>
          </a:p>
          <a:p>
            <a:pPr marL="0" indent="0">
              <a:buNone/>
            </a:pPr>
            <a:endParaRPr lang="en-US" sz="4400" dirty="0"/>
          </a:p>
          <a:p>
            <a:pPr algn="just"/>
            <a:r>
              <a:rPr lang="en-US" sz="5100" dirty="0"/>
              <a:t>A </a:t>
            </a:r>
            <a:r>
              <a:rPr lang="en-US" sz="5100" b="1" dirty="0"/>
              <a:t>capital investment boom</a:t>
            </a:r>
            <a:r>
              <a:rPr lang="en-US" sz="5100" dirty="0"/>
              <a:t> e.g. a construction boom to increase the supply of new houses or to build new commercial and industrial buildings</a:t>
            </a:r>
            <a:r>
              <a:rPr lang="en-US" sz="5100" dirty="0" smtClean="0"/>
              <a:t>.</a:t>
            </a:r>
          </a:p>
          <a:p>
            <a:pPr algn="just"/>
            <a:endParaRPr lang="en-US" sz="5100" dirty="0"/>
          </a:p>
          <a:p>
            <a:pPr algn="just"/>
            <a:r>
              <a:rPr lang="en-US" sz="5100" dirty="0"/>
              <a:t>A </a:t>
            </a:r>
            <a:r>
              <a:rPr lang="en-US" sz="5100" b="1" dirty="0"/>
              <a:t>rise or fall in the exchange rate</a:t>
            </a:r>
            <a:r>
              <a:rPr lang="en-US" sz="5100" dirty="0"/>
              <a:t> – affecting net export demand and having follow-on effects on output, employment, incomes and profits of businesses linked to export industries</a:t>
            </a:r>
            <a:r>
              <a:rPr lang="en-US" sz="5100" dirty="0" smtClean="0"/>
              <a:t>.</a:t>
            </a:r>
          </a:p>
          <a:p>
            <a:pPr marL="0" indent="0">
              <a:buNone/>
            </a:pPr>
            <a:endParaRPr lang="en-US" sz="5100" dirty="0"/>
          </a:p>
          <a:p>
            <a:r>
              <a:rPr lang="en-US" sz="5100" dirty="0"/>
              <a:t>A </a:t>
            </a:r>
            <a:r>
              <a:rPr lang="en-US" sz="5100" b="1" dirty="0"/>
              <a:t>large boom </a:t>
            </a:r>
            <a:r>
              <a:rPr lang="en-US" sz="5100" dirty="0"/>
              <a:t>in the housing market or a slump in share prices</a:t>
            </a:r>
            <a:r>
              <a:rPr lang="en-US" sz="5100" dirty="0" smtClean="0"/>
              <a:t>.</a:t>
            </a:r>
          </a:p>
          <a:p>
            <a:endParaRPr lang="en-US" sz="5100" dirty="0"/>
          </a:p>
          <a:p>
            <a:r>
              <a:rPr lang="en-US" sz="5100" dirty="0"/>
              <a:t>An unexpected cut or an unexpected rise in </a:t>
            </a:r>
            <a:r>
              <a:rPr lang="en-US" sz="5100" b="1" dirty="0"/>
              <a:t>interest rates</a:t>
            </a:r>
            <a:r>
              <a:rPr lang="en-US" sz="5100" dirty="0"/>
              <a:t>.</a:t>
            </a:r>
          </a:p>
          <a:p>
            <a:pPr marL="0" indent="0">
              <a:buNone/>
            </a:pPr>
            <a:endParaRPr lang="en-US" sz="5100"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26</a:t>
            </a:fld>
            <a:endParaRPr lang="en-US" dirty="0"/>
          </a:p>
        </p:txBody>
      </p:sp>
    </p:spTree>
    <p:extLst>
      <p:ext uri="{BB962C8B-B14F-4D97-AF65-F5344CB8AC3E}">
        <p14:creationId xmlns:p14="http://schemas.microsoft.com/office/powerpoint/2010/main" val="27195364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Why does the AD curve slope downwards?</a:t>
            </a:r>
            <a:r>
              <a:rPr lang="en-US" dirty="0"/>
              <a:t> </a:t>
            </a:r>
          </a:p>
        </p:txBody>
      </p:sp>
      <p:sp>
        <p:nvSpPr>
          <p:cNvPr id="3" name="Content Placeholder 2"/>
          <p:cNvSpPr>
            <a:spLocks noGrp="1"/>
          </p:cNvSpPr>
          <p:nvPr>
            <p:ph idx="1"/>
          </p:nvPr>
        </p:nvSpPr>
        <p:spPr>
          <a:xfrm>
            <a:off x="228600" y="1600200"/>
            <a:ext cx="8458200" cy="5121275"/>
          </a:xfrm>
        </p:spPr>
        <p:txBody>
          <a:bodyPr>
            <a:normAutofit fontScale="62500" lnSpcReduction="20000"/>
          </a:bodyPr>
          <a:lstStyle/>
          <a:p>
            <a:pPr algn="just"/>
            <a:r>
              <a:rPr lang="en-US" sz="3400" dirty="0" smtClean="0"/>
              <a:t>There </a:t>
            </a:r>
            <a:r>
              <a:rPr lang="en-US" sz="3400" dirty="0"/>
              <a:t>are several explanations for an inverse relationship between aggregate demand and the price level in an economy. These are </a:t>
            </a:r>
            <a:r>
              <a:rPr lang="en-US" sz="3400" dirty="0" smtClean="0"/>
              <a:t>summarized </a:t>
            </a:r>
            <a:r>
              <a:rPr lang="en-US" sz="3400" dirty="0"/>
              <a:t>below</a:t>
            </a:r>
            <a:r>
              <a:rPr lang="en-US" sz="3400" dirty="0" smtClean="0"/>
              <a:t>:</a:t>
            </a:r>
          </a:p>
          <a:p>
            <a:pPr algn="just"/>
            <a:endParaRPr lang="en-US" sz="3400" dirty="0"/>
          </a:p>
          <a:p>
            <a:pPr algn="just"/>
            <a:r>
              <a:rPr lang="en-US" b="1" dirty="0"/>
              <a:t>Falling real incomes: </a:t>
            </a:r>
            <a:r>
              <a:rPr lang="en-US" dirty="0"/>
              <a:t>As the price level rises, so the real value of people’s incomes fall and consumers are then less able to afford </a:t>
            </a:r>
            <a:r>
              <a:rPr lang="en-US" dirty="0" smtClean="0"/>
              <a:t>SL </a:t>
            </a:r>
            <a:r>
              <a:rPr lang="en-US" dirty="0"/>
              <a:t>produced goods and services</a:t>
            </a:r>
            <a:r>
              <a:rPr lang="en-US" dirty="0" smtClean="0"/>
              <a:t>.</a:t>
            </a:r>
          </a:p>
          <a:p>
            <a:endParaRPr lang="en-US" dirty="0"/>
          </a:p>
          <a:p>
            <a:pPr algn="just"/>
            <a:r>
              <a:rPr lang="en-US" b="1" dirty="0"/>
              <a:t>The balance of trade: </a:t>
            </a:r>
            <a:r>
              <a:rPr lang="en-US" dirty="0"/>
              <a:t>As the price level rises, foreign-produced goods and services become more attractive (cheaper) in price terms, causing a fall in exports and a rise in imports. This will lead to a reduction in trade (X-M) and a contraction in aggregate demand</a:t>
            </a:r>
            <a:r>
              <a:rPr lang="en-US" dirty="0" smtClean="0"/>
              <a:t>.</a:t>
            </a:r>
          </a:p>
          <a:p>
            <a:endParaRPr lang="en-US" dirty="0"/>
          </a:p>
          <a:p>
            <a:pPr algn="just"/>
            <a:r>
              <a:rPr lang="en-US" b="1" dirty="0"/>
              <a:t>Interest rate effect: </a:t>
            </a:r>
            <a:r>
              <a:rPr lang="en-US" dirty="0"/>
              <a:t>if in the </a:t>
            </a:r>
            <a:r>
              <a:rPr lang="en-US" dirty="0" smtClean="0"/>
              <a:t>SL </a:t>
            </a:r>
            <a:r>
              <a:rPr lang="en-US" dirty="0"/>
              <a:t>the price level rises, this causes an increase in the demand for money and a consequential rise in interest rates with a deflationary effect on the entire economy. This assumes that the central bank (in our case the Bank of </a:t>
            </a:r>
            <a:r>
              <a:rPr lang="en-US" dirty="0" smtClean="0"/>
              <a:t>SL) </a:t>
            </a:r>
            <a:r>
              <a:rPr lang="en-US" dirty="0"/>
              <a:t>is setting interest rates in order to meet a specified inflation target.</a:t>
            </a:r>
          </a:p>
          <a:p>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27</a:t>
            </a:fld>
            <a:endParaRPr lang="en-US" dirty="0"/>
          </a:p>
        </p:txBody>
      </p:sp>
    </p:spTree>
    <p:extLst>
      <p:ext uri="{BB962C8B-B14F-4D97-AF65-F5344CB8AC3E}">
        <p14:creationId xmlns:p14="http://schemas.microsoft.com/office/powerpoint/2010/main" val="266963490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139" y="609600"/>
            <a:ext cx="8229600" cy="1143000"/>
          </a:xfrm>
        </p:spPr>
        <p:txBody>
          <a:bodyPr>
            <a:normAutofit fontScale="90000"/>
          </a:bodyPr>
          <a:lstStyle/>
          <a:p>
            <a:r>
              <a:rPr lang="en-US" b="1" dirty="0"/>
              <a:t>Shifts in the AD curve</a:t>
            </a:r>
            <a:r>
              <a:rPr lang="en-US" dirty="0"/>
              <a:t/>
            </a:r>
            <a:br>
              <a:rPr lang="en-US" dirty="0"/>
            </a:br>
            <a:endParaRPr lang="en-US" dirty="0"/>
          </a:p>
        </p:txBody>
      </p:sp>
      <p:sp>
        <p:nvSpPr>
          <p:cNvPr id="3" name="Content Placeholder 2"/>
          <p:cNvSpPr>
            <a:spLocks noGrp="1"/>
          </p:cNvSpPr>
          <p:nvPr>
            <p:ph idx="1"/>
          </p:nvPr>
        </p:nvSpPr>
        <p:spPr/>
        <p:txBody>
          <a:bodyPr/>
          <a:lstStyle/>
          <a:p>
            <a:pPr marL="0" indent="0" algn="just">
              <a:buNone/>
            </a:pPr>
            <a:r>
              <a:rPr lang="en-US" dirty="0" smtClean="0"/>
              <a:t>A </a:t>
            </a:r>
            <a:r>
              <a:rPr lang="en-US" dirty="0"/>
              <a:t>change in factors affecting any one or more components of aggregate demand, households (C), firms (I), the government (G) or overseas consumers and business (X) </a:t>
            </a:r>
            <a:r>
              <a:rPr lang="en-US" u="sng" dirty="0"/>
              <a:t>changes planned aggregate demand</a:t>
            </a:r>
            <a:r>
              <a:rPr lang="en-US" dirty="0"/>
              <a:t> and results in a shift in the AD curve. </a:t>
            </a:r>
          </a:p>
          <a:p>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28</a:t>
            </a:fld>
            <a:endParaRPr lang="en-US"/>
          </a:p>
        </p:txBody>
      </p:sp>
    </p:spTree>
    <p:extLst>
      <p:ext uri="{BB962C8B-B14F-4D97-AF65-F5344CB8AC3E}">
        <p14:creationId xmlns:p14="http://schemas.microsoft.com/office/powerpoint/2010/main" val="271299383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Supply-side Policies </a:t>
            </a:r>
          </a:p>
        </p:txBody>
      </p:sp>
      <p:sp>
        <p:nvSpPr>
          <p:cNvPr id="3" name="Content Placeholder 2"/>
          <p:cNvSpPr>
            <a:spLocks noGrp="1"/>
          </p:cNvSpPr>
          <p:nvPr>
            <p:ph idx="1"/>
          </p:nvPr>
        </p:nvSpPr>
        <p:spPr/>
        <p:txBody>
          <a:bodyPr/>
          <a:lstStyle/>
          <a:p>
            <a:pPr algn="just"/>
            <a:r>
              <a:rPr lang="en-US" i="1" dirty="0"/>
              <a:t>The “supply side” refers to factors affecting the </a:t>
            </a:r>
            <a:r>
              <a:rPr lang="en-US" b="1" i="1" dirty="0">
                <a:solidFill>
                  <a:srgbClr val="FF0000"/>
                </a:solidFill>
              </a:rPr>
              <a:t>quantity or quality of goods and services </a:t>
            </a:r>
            <a:r>
              <a:rPr lang="en-US" i="1" dirty="0"/>
              <a:t>produced by an economy such as the level of productivity or investment in research and development.</a:t>
            </a:r>
            <a:endParaRPr lang="en-US" dirty="0"/>
          </a:p>
          <a:p>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29</a:t>
            </a:fld>
            <a:endParaRPr lang="en-US"/>
          </a:p>
        </p:txBody>
      </p:sp>
    </p:spTree>
    <p:extLst>
      <p:ext uri="{BB962C8B-B14F-4D97-AF65-F5344CB8AC3E}">
        <p14:creationId xmlns:p14="http://schemas.microsoft.com/office/powerpoint/2010/main" val="30641955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US" b="1" dirty="0"/>
              <a:t>Supply Side Policies for Product Markets</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smtClean="0"/>
              <a:t>Privatization </a:t>
            </a:r>
            <a:endParaRPr lang="en-US" dirty="0"/>
          </a:p>
          <a:p>
            <a:r>
              <a:rPr lang="en-US" dirty="0"/>
              <a:t>Deregulation of Markets</a:t>
            </a:r>
          </a:p>
          <a:p>
            <a:r>
              <a:rPr lang="en-US" dirty="0"/>
              <a:t>Toughening up of Competition Policy</a:t>
            </a:r>
          </a:p>
          <a:p>
            <a:r>
              <a:rPr lang="en-US" dirty="0"/>
              <a:t>A commitment to free international trade</a:t>
            </a:r>
          </a:p>
          <a:p>
            <a:r>
              <a:rPr lang="en-US" dirty="0"/>
              <a:t>Measures to encourage small business start-ups / entrepreneurship</a:t>
            </a:r>
          </a:p>
          <a:p>
            <a:r>
              <a:rPr lang="en-US" dirty="0"/>
              <a:t>Capital investment and innovation: </a:t>
            </a:r>
          </a:p>
          <a:p>
            <a:r>
              <a:rPr lang="en-US" dirty="0"/>
              <a:t>Innovation and Economic Growth</a:t>
            </a:r>
          </a:p>
          <a:p>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30</a:t>
            </a:fld>
            <a:endParaRPr lang="en-US"/>
          </a:p>
        </p:txBody>
      </p:sp>
    </p:spTree>
    <p:extLst>
      <p:ext uri="{BB962C8B-B14F-4D97-AF65-F5344CB8AC3E}">
        <p14:creationId xmlns:p14="http://schemas.microsoft.com/office/powerpoint/2010/main" val="34487867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643" y="609600"/>
            <a:ext cx="8229600" cy="1143000"/>
          </a:xfrm>
        </p:spPr>
        <p:txBody>
          <a:bodyPr>
            <a:normAutofit fontScale="90000"/>
          </a:bodyPr>
          <a:lstStyle/>
          <a:p>
            <a:r>
              <a:rPr lang="en-US" b="1" dirty="0"/>
              <a:t>Supply side </a:t>
            </a:r>
            <a:r>
              <a:rPr lang="en-US" b="1" dirty="0">
                <a:hlinkClick r:id="rId2" action="ppaction://hlinkfile"/>
              </a:rPr>
              <a:t>policies</a:t>
            </a:r>
            <a:r>
              <a:rPr lang="en-US" b="1" dirty="0"/>
              <a:t> for the </a:t>
            </a:r>
            <a:r>
              <a:rPr lang="en-US" b="1" dirty="0" err="1"/>
              <a:t>Labour</a:t>
            </a:r>
            <a:r>
              <a:rPr lang="en-US" b="1" dirty="0"/>
              <a:t> Market</a:t>
            </a:r>
            <a:r>
              <a:rPr lang="en-US" dirty="0"/>
              <a:t> </a:t>
            </a:r>
            <a:br>
              <a:rPr lang="en-US" dirty="0"/>
            </a:br>
            <a:endParaRPr lang="en-US" dirty="0"/>
          </a:p>
        </p:txBody>
      </p:sp>
      <p:sp>
        <p:nvSpPr>
          <p:cNvPr id="3" name="Content Placeholder 2"/>
          <p:cNvSpPr>
            <a:spLocks noGrp="1"/>
          </p:cNvSpPr>
          <p:nvPr>
            <p:ph idx="1"/>
          </p:nvPr>
        </p:nvSpPr>
        <p:spPr/>
        <p:txBody>
          <a:bodyPr/>
          <a:lstStyle/>
          <a:p>
            <a:r>
              <a:rPr lang="en-US" dirty="0"/>
              <a:t>Trade Union Reforms</a:t>
            </a:r>
          </a:p>
          <a:p>
            <a:r>
              <a:rPr lang="en-US" dirty="0"/>
              <a:t>Increased Spending on Education and Training</a:t>
            </a:r>
          </a:p>
          <a:p>
            <a:r>
              <a:rPr lang="en-US" dirty="0"/>
              <a:t>Income Tax Reforms and the Incentive to Work</a:t>
            </a:r>
          </a:p>
          <a:p>
            <a:pPr marL="0" indent="0">
              <a:buNone/>
            </a:pPr>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31</a:t>
            </a:fld>
            <a:endParaRPr lang="en-US"/>
          </a:p>
        </p:txBody>
      </p:sp>
    </p:spTree>
    <p:extLst>
      <p:ext uri="{BB962C8B-B14F-4D97-AF65-F5344CB8AC3E}">
        <p14:creationId xmlns:p14="http://schemas.microsoft.com/office/powerpoint/2010/main" val="99529677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6" name="Rectangle 4"/>
          <p:cNvSpPr>
            <a:spLocks noGrp="1" noChangeArrowheads="1"/>
          </p:cNvSpPr>
          <p:nvPr>
            <p:ph type="title"/>
          </p:nvPr>
        </p:nvSpPr>
        <p:spPr/>
        <p:txBody>
          <a:bodyPr/>
          <a:lstStyle/>
          <a:p>
            <a:r>
              <a:rPr lang="en-GB" b="1" dirty="0"/>
              <a:t>GDP by Factor Income</a:t>
            </a:r>
          </a:p>
        </p:txBody>
      </p:sp>
      <p:sp>
        <p:nvSpPr>
          <p:cNvPr id="13317" name="Rectangle 5"/>
          <p:cNvSpPr>
            <a:spLocks noGrp="1" noChangeArrowheads="1"/>
          </p:cNvSpPr>
          <p:nvPr>
            <p:ph type="body" idx="1"/>
          </p:nvPr>
        </p:nvSpPr>
        <p:spPr/>
        <p:txBody>
          <a:bodyPr/>
          <a:lstStyle/>
          <a:p>
            <a:r>
              <a:rPr lang="en-GB" dirty="0"/>
              <a:t>GDP is the sum of the final incomes earned through the production of goods and services</a:t>
            </a:r>
          </a:p>
          <a:p>
            <a:r>
              <a:rPr lang="en-GB" dirty="0"/>
              <a:t>The main factor incomes are as follows:</a:t>
            </a:r>
          </a:p>
          <a:p>
            <a:pPr lvl="1"/>
            <a:r>
              <a:rPr lang="en-GB" dirty="0"/>
              <a:t>Income from employment and self-employment</a:t>
            </a:r>
          </a:p>
          <a:p>
            <a:pPr lvl="1"/>
            <a:r>
              <a:rPr lang="en-GB" dirty="0"/>
              <a:t>Profits of commercial companies </a:t>
            </a:r>
          </a:p>
          <a:p>
            <a:pPr lvl="1"/>
            <a:r>
              <a:rPr lang="en-GB" dirty="0"/>
              <a:t>Rental income from the ownership of property </a:t>
            </a:r>
            <a:endParaRPr lang="en-GB" dirty="0" smtClean="0"/>
          </a:p>
          <a:p>
            <a:pPr lvl="1"/>
            <a:r>
              <a:rPr lang="en-GB" dirty="0" smtClean="0"/>
              <a:t>Interest earned for capital employment</a:t>
            </a:r>
            <a:endParaRPr lang="en-GB" dirty="0"/>
          </a:p>
          <a:p>
            <a:r>
              <a:rPr lang="en-GB" dirty="0"/>
              <a:t>= Gross Domestic product (by factor income)</a:t>
            </a:r>
          </a:p>
        </p:txBody>
      </p:sp>
      <p:sp>
        <p:nvSpPr>
          <p:cNvPr id="2" name="Slide Number Placeholder 1"/>
          <p:cNvSpPr>
            <a:spLocks noGrp="1"/>
          </p:cNvSpPr>
          <p:nvPr>
            <p:ph type="sldNum" sz="quarter" idx="12"/>
          </p:nvPr>
        </p:nvSpPr>
        <p:spPr/>
        <p:txBody>
          <a:bodyPr/>
          <a:lstStyle/>
          <a:p>
            <a:fld id="{261F55E7-D931-45D6-9168-5E895D7266BA}" type="slidenum">
              <a:rPr lang="en-US" smtClean="0"/>
              <a:pPr/>
              <a:t>32</a:t>
            </a:fld>
            <a:endParaRPr lang="en-US"/>
          </a:p>
        </p:txBody>
      </p:sp>
    </p:spTree>
    <p:custDataLst>
      <p:tags r:id="rId1"/>
    </p:custDataLst>
    <p:extLst>
      <p:ext uri="{BB962C8B-B14F-4D97-AF65-F5344CB8AC3E}">
        <p14:creationId xmlns:p14="http://schemas.microsoft.com/office/powerpoint/2010/main" val="9806487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4" name="Rectangle 4"/>
          <p:cNvSpPr>
            <a:spLocks noGrp="1" noChangeArrowheads="1"/>
          </p:cNvSpPr>
          <p:nvPr>
            <p:ph type="title"/>
          </p:nvPr>
        </p:nvSpPr>
        <p:spPr/>
        <p:txBody>
          <a:bodyPr/>
          <a:lstStyle/>
          <a:p>
            <a:r>
              <a:rPr lang="en-GB" b="1" dirty="0"/>
              <a:t>GDP by Factor </a:t>
            </a:r>
            <a:r>
              <a:rPr lang="en-GB" b="1" dirty="0" smtClean="0"/>
              <a:t>Income…</a:t>
            </a:r>
            <a:r>
              <a:rPr lang="en-GB" b="1" dirty="0" err="1" smtClean="0"/>
              <a:t>cont</a:t>
            </a:r>
            <a:endParaRPr lang="en-GB" b="1" dirty="0"/>
          </a:p>
        </p:txBody>
      </p:sp>
      <p:sp>
        <p:nvSpPr>
          <p:cNvPr id="46085" name="Rectangle 5"/>
          <p:cNvSpPr>
            <a:spLocks noGrp="1" noChangeArrowheads="1"/>
          </p:cNvSpPr>
          <p:nvPr>
            <p:ph type="body" idx="1"/>
          </p:nvPr>
        </p:nvSpPr>
        <p:spPr/>
        <p:txBody>
          <a:bodyPr>
            <a:normAutofit fontScale="92500" lnSpcReduction="10000"/>
          </a:bodyPr>
          <a:lstStyle/>
          <a:p>
            <a:pPr>
              <a:lnSpc>
                <a:spcPct val="90000"/>
              </a:lnSpc>
            </a:pPr>
            <a:r>
              <a:rPr lang="en-GB" dirty="0">
                <a:solidFill>
                  <a:srgbClr val="FF0000"/>
                </a:solidFill>
              </a:rPr>
              <a:t>Only factor incomes generated through the output of goods and services are included in the calculation of GDP by the income</a:t>
            </a:r>
          </a:p>
          <a:p>
            <a:pPr>
              <a:lnSpc>
                <a:spcPct val="90000"/>
              </a:lnSpc>
            </a:pPr>
            <a:r>
              <a:rPr lang="en-GB" dirty="0"/>
              <a:t>We exclude from the accounts:</a:t>
            </a:r>
          </a:p>
          <a:p>
            <a:pPr lvl="1">
              <a:lnSpc>
                <a:spcPct val="90000"/>
              </a:lnSpc>
            </a:pPr>
            <a:r>
              <a:rPr lang="en-GB" b="1" dirty="0"/>
              <a:t>Transfer payments</a:t>
            </a:r>
            <a:r>
              <a:rPr lang="en-GB" dirty="0"/>
              <a:t> (e.g. the state pension, income support and the Jobseekers’ Allowance)</a:t>
            </a:r>
          </a:p>
          <a:p>
            <a:pPr lvl="1">
              <a:lnSpc>
                <a:spcPct val="90000"/>
              </a:lnSpc>
            </a:pPr>
            <a:r>
              <a:rPr lang="en-GB" dirty="0"/>
              <a:t>Private transfers of money from one individual to another</a:t>
            </a:r>
          </a:p>
          <a:p>
            <a:pPr lvl="1">
              <a:lnSpc>
                <a:spcPct val="90000"/>
              </a:lnSpc>
            </a:pPr>
            <a:r>
              <a:rPr lang="en-GB" dirty="0"/>
              <a:t>Income that is not registered with the Inland Revenue</a:t>
            </a:r>
          </a:p>
          <a:p>
            <a:pPr lvl="1">
              <a:lnSpc>
                <a:spcPct val="90000"/>
              </a:lnSpc>
            </a:pPr>
            <a:r>
              <a:rPr lang="en-GB" dirty="0"/>
              <a:t>There is a sizeable shadow economy in which income and spending is generated but no tax is declared</a:t>
            </a:r>
          </a:p>
          <a:p>
            <a:pPr marL="0" indent="0">
              <a:lnSpc>
                <a:spcPct val="90000"/>
              </a:lnSpc>
              <a:buNone/>
            </a:pPr>
            <a:endParaRPr lang="en-GB"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33</a:t>
            </a:fld>
            <a:endParaRPr lang="en-US"/>
          </a:p>
        </p:txBody>
      </p:sp>
    </p:spTree>
    <p:custDataLst>
      <p:tags r:id="rId1"/>
    </p:custDataLst>
    <p:extLst>
      <p:ext uri="{BB962C8B-B14F-4D97-AF65-F5344CB8AC3E}">
        <p14:creationId xmlns:p14="http://schemas.microsoft.com/office/powerpoint/2010/main" val="14035624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4"/>
          <p:cNvSpPr>
            <a:spLocks noGrp="1" noChangeArrowheads="1"/>
          </p:cNvSpPr>
          <p:nvPr>
            <p:ph type="title"/>
          </p:nvPr>
        </p:nvSpPr>
        <p:spPr/>
        <p:txBody>
          <a:bodyPr/>
          <a:lstStyle/>
          <a:p>
            <a:r>
              <a:rPr lang="en-GB" b="1" dirty="0"/>
              <a:t>Welfare benefits</a:t>
            </a:r>
            <a:endParaRPr lang="en-US" b="1" dirty="0"/>
          </a:p>
        </p:txBody>
      </p:sp>
      <p:sp>
        <p:nvSpPr>
          <p:cNvPr id="99334" name="Rectangle 6"/>
          <p:cNvSpPr>
            <a:spLocks noGrp="1" noChangeArrowheads="1"/>
          </p:cNvSpPr>
          <p:nvPr>
            <p:ph type="body" idx="1"/>
          </p:nvPr>
        </p:nvSpPr>
        <p:spPr>
          <a:xfrm>
            <a:off x="6248400" y="1239838"/>
            <a:ext cx="2744788" cy="5164137"/>
          </a:xfrm>
        </p:spPr>
        <p:txBody>
          <a:bodyPr>
            <a:normAutofit fontScale="77500" lnSpcReduction="20000"/>
          </a:bodyPr>
          <a:lstStyle/>
          <a:p>
            <a:pPr algn="just"/>
            <a:r>
              <a:rPr lang="en-GB" dirty="0">
                <a:solidFill>
                  <a:srgbClr val="FF0000"/>
                </a:solidFill>
              </a:rPr>
              <a:t>Welfare benefits are excluded from the income approach to calculating national income</a:t>
            </a:r>
          </a:p>
          <a:p>
            <a:r>
              <a:rPr lang="en-GB" dirty="0"/>
              <a:t>This is because welfare benefits are simply transfers rather than a reward for factors of production</a:t>
            </a:r>
            <a:endParaRPr lang="en-US" dirty="0"/>
          </a:p>
        </p:txBody>
      </p:sp>
      <p:pic>
        <p:nvPicPr>
          <p:cNvPr id="99333" name="Picture 5" descr="welfare_benefi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52600" y="1143000"/>
            <a:ext cx="4124325" cy="282892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261F55E7-D931-45D6-9168-5E895D7266BA}" type="slidenum">
              <a:rPr lang="en-US" smtClean="0"/>
              <a:pPr/>
              <a:t>34</a:t>
            </a:fld>
            <a:endParaRPr lang="en-US"/>
          </a:p>
        </p:txBody>
      </p:sp>
    </p:spTree>
    <p:custDataLst>
      <p:tags r:id="rId1"/>
    </p:custDataLst>
    <p:extLst>
      <p:ext uri="{BB962C8B-B14F-4D97-AF65-F5344CB8AC3E}">
        <p14:creationId xmlns:p14="http://schemas.microsoft.com/office/powerpoint/2010/main" val="35415575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0" name="Rectangle 4"/>
          <p:cNvSpPr>
            <a:spLocks noGrp="1" noChangeArrowheads="1"/>
          </p:cNvSpPr>
          <p:nvPr>
            <p:ph type="title"/>
          </p:nvPr>
        </p:nvSpPr>
        <p:spPr/>
        <p:txBody>
          <a:bodyPr>
            <a:normAutofit fontScale="90000"/>
          </a:bodyPr>
          <a:lstStyle/>
          <a:p>
            <a:r>
              <a:rPr lang="en-GB" b="1" dirty="0"/>
              <a:t>GDP by Value Added from each Sector</a:t>
            </a:r>
          </a:p>
        </p:txBody>
      </p:sp>
      <p:sp>
        <p:nvSpPr>
          <p:cNvPr id="14341" name="Rectangle 5"/>
          <p:cNvSpPr>
            <a:spLocks noGrp="1" noChangeArrowheads="1"/>
          </p:cNvSpPr>
          <p:nvPr>
            <p:ph type="body" idx="1"/>
          </p:nvPr>
        </p:nvSpPr>
        <p:spPr/>
        <p:txBody>
          <a:bodyPr>
            <a:normAutofit fontScale="92500" lnSpcReduction="20000"/>
          </a:bodyPr>
          <a:lstStyle/>
          <a:p>
            <a:r>
              <a:rPr lang="en-GB" dirty="0"/>
              <a:t>This measures the value of output produced by each industry using the concept of value added</a:t>
            </a:r>
          </a:p>
          <a:p>
            <a:r>
              <a:rPr lang="en-US" dirty="0"/>
              <a:t>Value added is the difference between the value of goods as they leave a stage of production and the cost of the goods as they entered that stage</a:t>
            </a:r>
          </a:p>
          <a:p>
            <a:r>
              <a:rPr lang="en-GB" dirty="0">
                <a:solidFill>
                  <a:srgbClr val="FF0000"/>
                </a:solidFill>
              </a:rPr>
              <a:t>We use this approach to avoid the problems of double-counting the value of intermediate inputs </a:t>
            </a:r>
          </a:p>
          <a:p>
            <a:r>
              <a:rPr lang="en-GB" dirty="0"/>
              <a:t>We try to calculate the value added at each stage of the supply chain</a:t>
            </a:r>
          </a:p>
          <a:p>
            <a:r>
              <a:rPr lang="en-GB" dirty="0">
                <a:solidFill>
                  <a:srgbClr val="FF0000"/>
                </a:solidFill>
              </a:rPr>
              <a:t>This is difficult when production is complex</a:t>
            </a:r>
          </a:p>
        </p:txBody>
      </p:sp>
      <p:sp>
        <p:nvSpPr>
          <p:cNvPr id="2" name="Slide Number Placeholder 1"/>
          <p:cNvSpPr>
            <a:spLocks noGrp="1"/>
          </p:cNvSpPr>
          <p:nvPr>
            <p:ph type="sldNum" sz="quarter" idx="12"/>
          </p:nvPr>
        </p:nvSpPr>
        <p:spPr/>
        <p:txBody>
          <a:bodyPr/>
          <a:lstStyle/>
          <a:p>
            <a:fld id="{261F55E7-D931-45D6-9168-5E895D7266BA}" type="slidenum">
              <a:rPr lang="en-US" smtClean="0"/>
              <a:pPr/>
              <a:t>35</a:t>
            </a:fld>
            <a:endParaRPr lang="en-US"/>
          </a:p>
        </p:txBody>
      </p:sp>
    </p:spTree>
    <p:custDataLst>
      <p:tags r:id="rId1"/>
    </p:custDataLst>
    <p:extLst>
      <p:ext uri="{BB962C8B-B14F-4D97-AF65-F5344CB8AC3E}">
        <p14:creationId xmlns:p14="http://schemas.microsoft.com/office/powerpoint/2010/main" val="250834314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Rectangle 4"/>
          <p:cNvSpPr>
            <a:spLocks noGrp="1" noChangeArrowheads="1"/>
          </p:cNvSpPr>
          <p:nvPr>
            <p:ph type="title"/>
          </p:nvPr>
        </p:nvSpPr>
        <p:spPr/>
        <p:txBody>
          <a:bodyPr/>
          <a:lstStyle/>
          <a:p>
            <a:r>
              <a:rPr lang="en-GB" b="1" dirty="0"/>
              <a:t>Sectors of the economy</a:t>
            </a:r>
            <a:endParaRPr lang="en-US" b="1" dirty="0"/>
          </a:p>
        </p:txBody>
      </p:sp>
      <p:pic>
        <p:nvPicPr>
          <p:cNvPr id="102405" name="Picture 5" descr="royal_mai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09655" y="1143000"/>
            <a:ext cx="4257675" cy="2819400"/>
          </a:xfrm>
          <a:prstGeom prst="rect">
            <a:avLst/>
          </a:prstGeom>
          <a:noFill/>
          <a:extLst>
            <a:ext uri="{909E8E84-426E-40DD-AFC4-6F175D3DCCD1}">
              <a14:hiddenFill xmlns:a14="http://schemas.microsoft.com/office/drawing/2010/main">
                <a:solidFill>
                  <a:srgbClr val="FFFFFF"/>
                </a:solidFill>
              </a14:hiddenFill>
            </a:ext>
          </a:extLst>
        </p:spPr>
      </p:pic>
      <p:pic>
        <p:nvPicPr>
          <p:cNvPr id="102406" name="Picture 6" descr="oil_platfor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5800" y="1447800"/>
            <a:ext cx="2705100" cy="4095750"/>
          </a:xfrm>
          <a:prstGeom prst="rect">
            <a:avLst/>
          </a:prstGeom>
          <a:noFill/>
          <a:extLst>
            <a:ext uri="{909E8E84-426E-40DD-AFC4-6F175D3DCCD1}">
              <a14:hiddenFill xmlns:a14="http://schemas.microsoft.com/office/drawing/2010/main">
                <a:solidFill>
                  <a:srgbClr val="FFFFFF"/>
                </a:solidFill>
              </a14:hiddenFill>
            </a:ext>
          </a:extLst>
        </p:spPr>
      </p:pic>
      <p:pic>
        <p:nvPicPr>
          <p:cNvPr id="102407" name="Picture 7" descr="construct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76600" y="2819400"/>
            <a:ext cx="2662238" cy="39624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261F55E7-D931-45D6-9168-5E895D7266BA}" type="slidenum">
              <a:rPr lang="en-US" smtClean="0"/>
              <a:pPr/>
              <a:t>36</a:t>
            </a:fld>
            <a:endParaRPr lang="en-US"/>
          </a:p>
        </p:txBody>
      </p:sp>
    </p:spTree>
    <p:custDataLst>
      <p:tags r:id="rId1"/>
    </p:custDataLst>
    <p:extLst>
      <p:ext uri="{BB962C8B-B14F-4D97-AF65-F5344CB8AC3E}">
        <p14:creationId xmlns:p14="http://schemas.microsoft.com/office/powerpoint/2010/main" val="18138826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4" name="Rectangle 4"/>
          <p:cNvSpPr>
            <a:spLocks noGrp="1" noChangeArrowheads="1"/>
          </p:cNvSpPr>
          <p:nvPr>
            <p:ph type="title"/>
          </p:nvPr>
        </p:nvSpPr>
        <p:spPr/>
        <p:txBody>
          <a:bodyPr/>
          <a:lstStyle/>
          <a:p>
            <a:r>
              <a:rPr lang="en-GB" b="1" dirty="0"/>
              <a:t>GDP and GNP</a:t>
            </a:r>
          </a:p>
        </p:txBody>
      </p:sp>
      <p:sp>
        <p:nvSpPr>
          <p:cNvPr id="15365" name="Rectangle 5"/>
          <p:cNvSpPr>
            <a:spLocks noGrp="1" noChangeArrowheads="1"/>
          </p:cNvSpPr>
          <p:nvPr>
            <p:ph type="body" idx="1"/>
          </p:nvPr>
        </p:nvSpPr>
        <p:spPr>
          <a:xfrm>
            <a:off x="457200" y="1295400"/>
            <a:ext cx="8229600" cy="4830763"/>
          </a:xfrm>
        </p:spPr>
        <p:txBody>
          <a:bodyPr>
            <a:normAutofit/>
          </a:bodyPr>
          <a:lstStyle/>
          <a:p>
            <a:pPr algn="just"/>
            <a:r>
              <a:rPr lang="en-GB" sz="2400" dirty="0"/>
              <a:t>Gross National Product (GNP) measures the final value of output or expenditure by </a:t>
            </a:r>
            <a:r>
              <a:rPr lang="en-GB" sz="2400" dirty="0" smtClean="0"/>
              <a:t>SL </a:t>
            </a:r>
            <a:r>
              <a:rPr lang="en-GB" sz="2400" dirty="0"/>
              <a:t>owned factors of production whether they are located in the </a:t>
            </a:r>
            <a:r>
              <a:rPr lang="en-GB" sz="2400" dirty="0" smtClean="0"/>
              <a:t>SL </a:t>
            </a:r>
            <a:r>
              <a:rPr lang="en-GB" sz="2400" dirty="0"/>
              <a:t>or </a:t>
            </a:r>
            <a:r>
              <a:rPr lang="en-GB" sz="2400" dirty="0" smtClean="0"/>
              <a:t>overseas</a:t>
            </a:r>
          </a:p>
          <a:p>
            <a:pPr>
              <a:buNone/>
            </a:pPr>
            <a:endParaRPr lang="en-GB" sz="2400" dirty="0"/>
          </a:p>
          <a:p>
            <a:r>
              <a:rPr lang="en-GB" sz="2400" dirty="0" smtClean="0">
                <a:solidFill>
                  <a:srgbClr val="FF0000"/>
                </a:solidFill>
              </a:rPr>
              <a:t>GNP </a:t>
            </a:r>
            <a:r>
              <a:rPr lang="en-GB" sz="2400" dirty="0">
                <a:solidFill>
                  <a:srgbClr val="FF0000"/>
                </a:solidFill>
              </a:rPr>
              <a:t>= GDP + Net property income from abroad (NPIA</a:t>
            </a:r>
            <a:r>
              <a:rPr lang="en-GB" sz="2400" dirty="0" smtClean="0">
                <a:solidFill>
                  <a:srgbClr val="FF0000"/>
                </a:solidFill>
              </a:rPr>
              <a:t>)</a:t>
            </a:r>
          </a:p>
          <a:p>
            <a:pPr>
              <a:buNone/>
            </a:pPr>
            <a:endParaRPr lang="en-GB" sz="2400" dirty="0">
              <a:solidFill>
                <a:srgbClr val="FF0000"/>
              </a:solidFill>
            </a:endParaRPr>
          </a:p>
          <a:p>
            <a:pPr algn="just"/>
            <a:r>
              <a:rPr lang="en-GB" sz="2400" dirty="0"/>
              <a:t>NPIA is the net balance of interest, profits and dividends (IPD) coming into the </a:t>
            </a:r>
            <a:r>
              <a:rPr lang="en-GB" sz="2400" dirty="0" smtClean="0"/>
              <a:t>SL from SL assets </a:t>
            </a:r>
            <a:r>
              <a:rPr lang="en-GB" sz="2400" dirty="0"/>
              <a:t>owned overseas matched against the flow of profits and other income from foreign owned assets located within the </a:t>
            </a:r>
            <a:r>
              <a:rPr lang="en-GB" sz="2400" dirty="0" smtClean="0"/>
              <a:t>SL</a:t>
            </a:r>
            <a:endParaRPr lang="en-GB" sz="2400"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37</a:t>
            </a:fld>
            <a:endParaRPr lang="en-US"/>
          </a:p>
        </p:txBody>
      </p:sp>
    </p:spTree>
    <p:custDataLst>
      <p:tags r:id="rId1"/>
    </p:custDataLst>
    <p:extLst>
      <p:ext uri="{BB962C8B-B14F-4D97-AF65-F5344CB8AC3E}">
        <p14:creationId xmlns:p14="http://schemas.microsoft.com/office/powerpoint/2010/main" val="86191372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5" name="Rectangle 15"/>
          <p:cNvSpPr>
            <a:spLocks noGrp="1" noChangeArrowheads="1"/>
          </p:cNvSpPr>
          <p:nvPr>
            <p:ph type="title"/>
          </p:nvPr>
        </p:nvSpPr>
        <p:spPr/>
        <p:txBody>
          <a:bodyPr/>
          <a:lstStyle/>
          <a:p>
            <a:r>
              <a:rPr lang="en-GB" b="1" dirty="0"/>
              <a:t>GDP and GNP</a:t>
            </a:r>
            <a:endParaRPr lang="en-US" b="1" dirty="0"/>
          </a:p>
        </p:txBody>
      </p:sp>
      <p:sp>
        <p:nvSpPr>
          <p:cNvPr id="51216" name="Rectangle 16"/>
          <p:cNvSpPr>
            <a:spLocks noGrp="1" noChangeArrowheads="1"/>
          </p:cNvSpPr>
          <p:nvPr>
            <p:ph type="body" idx="1"/>
          </p:nvPr>
        </p:nvSpPr>
        <p:spPr/>
        <p:txBody>
          <a:bodyPr/>
          <a:lstStyle/>
          <a:p>
            <a:pPr algn="just"/>
            <a:r>
              <a:rPr lang="en-US" dirty="0"/>
              <a:t>GDP is the value of output produced by factors of production located within a </a:t>
            </a:r>
            <a:r>
              <a:rPr lang="en-US" dirty="0" smtClean="0"/>
              <a:t>country</a:t>
            </a:r>
          </a:p>
          <a:p>
            <a:pPr>
              <a:buNone/>
            </a:pPr>
            <a:endParaRPr lang="en-US" dirty="0"/>
          </a:p>
          <a:p>
            <a:pPr algn="just"/>
            <a:r>
              <a:rPr lang="en-US" dirty="0"/>
              <a:t>Output produced by a country’s citizens, regardless of where the output is produced, is measured by gross national product (GNP</a:t>
            </a:r>
            <a:r>
              <a:rPr lang="en-US" dirty="0" smtClean="0"/>
              <a:t>)</a:t>
            </a:r>
            <a:endParaRPr lang="en-US"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38</a:t>
            </a:fld>
            <a:endParaRPr lang="en-US"/>
          </a:p>
        </p:txBody>
      </p:sp>
    </p:spTree>
    <p:custDataLst>
      <p:tags r:id="rId1"/>
    </p:custDataLst>
    <p:extLst>
      <p:ext uri="{BB962C8B-B14F-4D97-AF65-F5344CB8AC3E}">
        <p14:creationId xmlns:p14="http://schemas.microsoft.com/office/powerpoint/2010/main" val="18379013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normAutofit fontScale="90000"/>
          </a:bodyPr>
          <a:lstStyle/>
          <a:p>
            <a:r>
              <a:rPr lang="en-GB" b="1" dirty="0"/>
              <a:t>Limitations of national income data</a:t>
            </a:r>
            <a:endParaRPr lang="en-US" b="1" dirty="0"/>
          </a:p>
        </p:txBody>
      </p:sp>
      <p:sp>
        <p:nvSpPr>
          <p:cNvPr id="89093" name="Rectangle 5"/>
          <p:cNvSpPr>
            <a:spLocks noGrp="1" noChangeArrowheads="1"/>
          </p:cNvSpPr>
          <p:nvPr>
            <p:ph type="body" idx="1"/>
          </p:nvPr>
        </p:nvSpPr>
        <p:spPr/>
        <p:txBody>
          <a:bodyPr>
            <a:normAutofit/>
          </a:bodyPr>
          <a:lstStyle/>
          <a:p>
            <a:r>
              <a:rPr lang="en-US" sz="2400" b="1" dirty="0" smtClean="0"/>
              <a:t>Non-marketed </a:t>
            </a:r>
            <a:r>
              <a:rPr lang="en-US" sz="2400" b="1" dirty="0"/>
              <a:t>output </a:t>
            </a:r>
            <a:r>
              <a:rPr lang="en-US" sz="2400" dirty="0"/>
              <a:t>e.g. </a:t>
            </a:r>
            <a:r>
              <a:rPr lang="en-US" sz="2400" dirty="0" smtClean="0"/>
              <a:t>value </a:t>
            </a:r>
            <a:r>
              <a:rPr lang="en-US" sz="2400" dirty="0"/>
              <a:t>of housework and voluntary activities are not yet part of official NY figures</a:t>
            </a:r>
          </a:p>
          <a:p>
            <a:r>
              <a:rPr lang="en-US" sz="2400" b="1" dirty="0"/>
              <a:t>Undeclared economic activity </a:t>
            </a:r>
            <a:r>
              <a:rPr lang="en-US" sz="2400" dirty="0" err="1"/>
              <a:t>eg</a:t>
            </a:r>
            <a:r>
              <a:rPr lang="en-US" sz="2400" dirty="0"/>
              <a:t> shadow or informal economy is excluded from official NY figures</a:t>
            </a:r>
          </a:p>
          <a:p>
            <a:r>
              <a:rPr lang="en-US" sz="2400" b="1" dirty="0"/>
              <a:t>Transfer payments </a:t>
            </a:r>
            <a:r>
              <a:rPr lang="en-US" sz="2400" dirty="0"/>
              <a:t>are excluded </a:t>
            </a:r>
            <a:r>
              <a:rPr lang="en-US" sz="2400" dirty="0" err="1"/>
              <a:t>ie</a:t>
            </a:r>
            <a:r>
              <a:rPr lang="en-US" sz="2400" dirty="0"/>
              <a:t> benefit payments received with no corresponding output </a:t>
            </a:r>
            <a:r>
              <a:rPr lang="en-US" sz="2400" dirty="0" err="1"/>
              <a:t>eg</a:t>
            </a:r>
            <a:r>
              <a:rPr lang="en-US" sz="2400" dirty="0"/>
              <a:t> unemployment and child benefits</a:t>
            </a:r>
          </a:p>
          <a:p>
            <a:r>
              <a:rPr lang="en-US" sz="2400" b="1" dirty="0"/>
              <a:t>Double counting</a:t>
            </a:r>
            <a:r>
              <a:rPr lang="en-US" sz="2400" dirty="0"/>
              <a:t>. In the output method of calculating GDP we ignore intermediate output and count only value added – but this is done by using a sample of firms from each industry and calculating value added can be </a:t>
            </a:r>
            <a:r>
              <a:rPr lang="en-US" sz="2400" dirty="0" smtClean="0"/>
              <a:t>difficult to estimate</a:t>
            </a:r>
            <a:endParaRPr lang="en-US" sz="2400"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39</a:t>
            </a:fld>
            <a:endParaRPr lang="en-US"/>
          </a:p>
        </p:txBody>
      </p:sp>
    </p:spTree>
    <p:custDataLst>
      <p:tags r:id="rId1"/>
    </p:custDataLst>
    <p:extLst>
      <p:ext uri="{BB962C8B-B14F-4D97-AF65-F5344CB8AC3E}">
        <p14:creationId xmlns:p14="http://schemas.microsoft.com/office/powerpoint/2010/main" val="192101214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GB" b="1" dirty="0"/>
              <a:t>Shadow economy….</a:t>
            </a:r>
            <a:endParaRPr lang="en-US" b="1" dirty="0"/>
          </a:p>
        </p:txBody>
      </p:sp>
      <p:sp>
        <p:nvSpPr>
          <p:cNvPr id="417795" name="Rectangle 3"/>
          <p:cNvSpPr>
            <a:spLocks noGrp="1" noChangeArrowheads="1"/>
          </p:cNvSpPr>
          <p:nvPr>
            <p:ph type="body" idx="1"/>
          </p:nvPr>
        </p:nvSpPr>
        <p:spPr/>
        <p:txBody>
          <a:bodyPr>
            <a:normAutofit/>
          </a:bodyPr>
          <a:lstStyle/>
          <a:p>
            <a:pPr marL="0" indent="0">
              <a:lnSpc>
                <a:spcPct val="90000"/>
              </a:lnSpc>
              <a:buNone/>
            </a:pPr>
            <a:endParaRPr lang="en-GB" dirty="0"/>
          </a:p>
          <a:p>
            <a:pPr algn="just">
              <a:lnSpc>
                <a:spcPct val="90000"/>
              </a:lnSpc>
            </a:pPr>
            <a:r>
              <a:rPr lang="en-GB" b="1" dirty="0"/>
              <a:t>GDP</a:t>
            </a:r>
            <a:r>
              <a:rPr lang="en-GB" dirty="0"/>
              <a:t> </a:t>
            </a:r>
            <a:r>
              <a:rPr lang="en-GB" b="1" dirty="0">
                <a:solidFill>
                  <a:srgbClr val="FF0000"/>
                </a:solidFill>
              </a:rPr>
              <a:t>underestimates</a:t>
            </a:r>
            <a:r>
              <a:rPr lang="en-GB" dirty="0"/>
              <a:t> value added in the construction industry, second hand cars and personal services </a:t>
            </a:r>
            <a:r>
              <a:rPr lang="en-GB" dirty="0" err="1"/>
              <a:t>eg</a:t>
            </a:r>
            <a:r>
              <a:rPr lang="en-GB" dirty="0"/>
              <a:t> home help. </a:t>
            </a:r>
          </a:p>
          <a:p>
            <a:pPr>
              <a:lnSpc>
                <a:spcPct val="90000"/>
              </a:lnSpc>
            </a:pPr>
            <a:endParaRPr lang="en-GB" dirty="0"/>
          </a:p>
          <a:p>
            <a:pPr algn="just">
              <a:lnSpc>
                <a:spcPct val="90000"/>
              </a:lnSpc>
            </a:pPr>
            <a:r>
              <a:rPr lang="en-GB" dirty="0"/>
              <a:t>The shadow economy has grown very rapidly over the last thirty years and it is a phenomenon that is common to many countries</a:t>
            </a:r>
            <a:endParaRPr lang="en-US" dirty="0"/>
          </a:p>
          <a:p>
            <a:pPr>
              <a:lnSpc>
                <a:spcPct val="90000"/>
              </a:lnSpc>
            </a:pPr>
            <a:endParaRPr lang="en-US" dirty="0"/>
          </a:p>
        </p:txBody>
      </p:sp>
      <p:sp>
        <p:nvSpPr>
          <p:cNvPr id="2" name="Slide Number Placeholder 1"/>
          <p:cNvSpPr>
            <a:spLocks noGrp="1"/>
          </p:cNvSpPr>
          <p:nvPr>
            <p:ph type="sldNum" sz="quarter" idx="12"/>
          </p:nvPr>
        </p:nvSpPr>
        <p:spPr/>
        <p:txBody>
          <a:bodyPr/>
          <a:lstStyle/>
          <a:p>
            <a:fld id="{261F55E7-D931-45D6-9168-5E895D7266BA}" type="slidenum">
              <a:rPr lang="en-US" smtClean="0"/>
              <a:pPr/>
              <a:t>40</a:t>
            </a:fld>
            <a:endParaRPr lang="en-US"/>
          </a:p>
        </p:txBody>
      </p:sp>
    </p:spTree>
    <p:extLst>
      <p:ext uri="{BB962C8B-B14F-4D97-AF65-F5344CB8AC3E}">
        <p14:creationId xmlns:p14="http://schemas.microsoft.com/office/powerpoint/2010/main" val="29157686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Grp="1" noChangeArrowheads="1"/>
          </p:cNvSpPr>
          <p:nvPr>
            <p:ph type="title"/>
          </p:nvPr>
        </p:nvSpPr>
        <p:spPr/>
        <p:txBody>
          <a:bodyPr/>
          <a:lstStyle/>
          <a:p>
            <a:r>
              <a:rPr lang="en-GB" b="1" dirty="0"/>
              <a:t>GDP and the standard of living</a:t>
            </a:r>
            <a:endParaRPr lang="en-US" b="1" dirty="0"/>
          </a:p>
        </p:txBody>
      </p:sp>
      <p:sp>
        <p:nvSpPr>
          <p:cNvPr id="47109" name="Rectangle 5"/>
          <p:cNvSpPr>
            <a:spLocks noGrp="1" noChangeArrowheads="1"/>
          </p:cNvSpPr>
          <p:nvPr>
            <p:ph type="body" idx="1"/>
          </p:nvPr>
        </p:nvSpPr>
        <p:spPr>
          <a:xfrm>
            <a:off x="152400" y="1417638"/>
            <a:ext cx="8839200" cy="5303837"/>
          </a:xfrm>
        </p:spPr>
        <p:txBody>
          <a:bodyPr>
            <a:normAutofit fontScale="92500" lnSpcReduction="20000"/>
          </a:bodyPr>
          <a:lstStyle/>
          <a:p>
            <a:pPr>
              <a:lnSpc>
                <a:spcPct val="90000"/>
              </a:lnSpc>
            </a:pPr>
            <a:r>
              <a:rPr lang="en-US" b="1" dirty="0">
                <a:solidFill>
                  <a:schemeClr val="accent2"/>
                </a:solidFill>
              </a:rPr>
              <a:t>Once GNP has been calculated it is</a:t>
            </a:r>
          </a:p>
          <a:p>
            <a:pPr lvl="1">
              <a:lnSpc>
                <a:spcPct val="90000"/>
              </a:lnSpc>
            </a:pPr>
            <a:r>
              <a:rPr lang="en-US" b="1" dirty="0">
                <a:solidFill>
                  <a:schemeClr val="accent2"/>
                </a:solidFill>
              </a:rPr>
              <a:t>Converted into US dollars at the official exchange rate </a:t>
            </a:r>
          </a:p>
          <a:p>
            <a:pPr lvl="1">
              <a:lnSpc>
                <a:spcPct val="90000"/>
              </a:lnSpc>
            </a:pPr>
            <a:r>
              <a:rPr lang="en-US" b="1" dirty="0">
                <a:solidFill>
                  <a:schemeClr val="accent2"/>
                </a:solidFill>
              </a:rPr>
              <a:t>Divided by the country population </a:t>
            </a:r>
          </a:p>
          <a:p>
            <a:pPr>
              <a:lnSpc>
                <a:spcPct val="90000"/>
              </a:lnSpc>
            </a:pPr>
            <a:r>
              <a:rPr lang="en-US" b="1" dirty="0">
                <a:solidFill>
                  <a:schemeClr val="accent2"/>
                </a:solidFill>
              </a:rPr>
              <a:t>This gives an average figure for GNP per </a:t>
            </a:r>
            <a:r>
              <a:rPr lang="en-US" b="1" dirty="0" smtClean="0">
                <a:solidFill>
                  <a:schemeClr val="accent2"/>
                </a:solidFill>
              </a:rPr>
              <a:t>head/ GNP per capita</a:t>
            </a:r>
            <a:endParaRPr lang="en-US" b="1" dirty="0">
              <a:solidFill>
                <a:schemeClr val="accent2"/>
              </a:solidFill>
            </a:endParaRPr>
          </a:p>
          <a:p>
            <a:pPr>
              <a:lnSpc>
                <a:spcPct val="90000"/>
              </a:lnSpc>
            </a:pPr>
            <a:endParaRPr lang="en-US" b="1" dirty="0">
              <a:solidFill>
                <a:schemeClr val="accent2"/>
              </a:solidFill>
            </a:endParaRPr>
          </a:p>
          <a:p>
            <a:pPr algn="just">
              <a:lnSpc>
                <a:spcPct val="90000"/>
              </a:lnSpc>
            </a:pPr>
            <a:r>
              <a:rPr lang="en-US" dirty="0"/>
              <a:t>The standard of living refers to the amount of goods and services consumed by households in one year and is found by applying the equation: </a:t>
            </a:r>
          </a:p>
          <a:p>
            <a:pPr marL="457200" lvl="1" indent="0" algn="ctr">
              <a:lnSpc>
                <a:spcPct val="90000"/>
              </a:lnSpc>
              <a:buNone/>
            </a:pPr>
            <a:r>
              <a:rPr lang="en-US" sz="3900" dirty="0">
                <a:solidFill>
                  <a:srgbClr val="FF0000"/>
                </a:solidFill>
              </a:rPr>
              <a:t>Standard of living = Real national </a:t>
            </a:r>
            <a:r>
              <a:rPr lang="en-US" sz="3900" dirty="0" smtClean="0">
                <a:solidFill>
                  <a:srgbClr val="FF0000"/>
                </a:solidFill>
              </a:rPr>
              <a:t>						income/Population </a:t>
            </a:r>
          </a:p>
          <a:p>
            <a:pPr lvl="1">
              <a:lnSpc>
                <a:spcPct val="90000"/>
              </a:lnSpc>
            </a:pPr>
            <a:endParaRPr lang="en-US" dirty="0"/>
          </a:p>
          <a:p>
            <a:pPr>
              <a:lnSpc>
                <a:spcPct val="90000"/>
              </a:lnSpc>
            </a:pPr>
            <a:r>
              <a:rPr lang="en-US" dirty="0"/>
              <a:t>A high standard of living means households consume a large number of goods and services</a:t>
            </a:r>
          </a:p>
        </p:txBody>
      </p:sp>
      <p:sp>
        <p:nvSpPr>
          <p:cNvPr id="2" name="Slide Number Placeholder 1"/>
          <p:cNvSpPr>
            <a:spLocks noGrp="1"/>
          </p:cNvSpPr>
          <p:nvPr>
            <p:ph type="sldNum" sz="quarter" idx="12"/>
          </p:nvPr>
        </p:nvSpPr>
        <p:spPr/>
        <p:txBody>
          <a:bodyPr/>
          <a:lstStyle/>
          <a:p>
            <a:fld id="{261F55E7-D931-45D6-9168-5E895D7266BA}" type="slidenum">
              <a:rPr lang="en-US" smtClean="0"/>
              <a:pPr/>
              <a:t>41</a:t>
            </a:fld>
            <a:endParaRPr lang="en-US"/>
          </a:p>
        </p:txBody>
      </p:sp>
    </p:spTree>
    <p:custDataLst>
      <p:tags r:id="rId1"/>
    </p:custDataLst>
    <p:extLst>
      <p:ext uri="{BB962C8B-B14F-4D97-AF65-F5344CB8AC3E}">
        <p14:creationId xmlns:p14="http://schemas.microsoft.com/office/powerpoint/2010/main" val="340866071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Human Development Index</a:t>
            </a:r>
            <a:endParaRPr lang="en-US" b="1" dirty="0"/>
          </a:p>
        </p:txBody>
      </p:sp>
      <p:sp>
        <p:nvSpPr>
          <p:cNvPr id="3" name="Content Placeholder 2"/>
          <p:cNvSpPr>
            <a:spLocks noGrp="1"/>
          </p:cNvSpPr>
          <p:nvPr>
            <p:ph idx="1"/>
          </p:nvPr>
        </p:nvSpPr>
        <p:spPr/>
        <p:txBody>
          <a:bodyPr/>
          <a:lstStyle/>
          <a:p>
            <a:pPr algn="just"/>
            <a:r>
              <a:rPr lang="en-US" dirty="0" smtClean="0"/>
              <a:t>A </a:t>
            </a:r>
            <a:r>
              <a:rPr lang="en-US" dirty="0"/>
              <a:t>new way of measuring development by combining </a:t>
            </a:r>
            <a:r>
              <a:rPr lang="en-US" b="1" dirty="0">
                <a:solidFill>
                  <a:srgbClr val="FF0000"/>
                </a:solidFill>
              </a:rPr>
              <a:t>indicators of life expectancy, educational attainment and income into a composite human development index</a:t>
            </a:r>
            <a:r>
              <a:rPr lang="en-US" dirty="0"/>
              <a:t>, the HDI. The breakthrough for the HDI was the creation of a single statistic which was to serve as a </a:t>
            </a:r>
            <a:r>
              <a:rPr lang="en-US" b="1" dirty="0">
                <a:solidFill>
                  <a:srgbClr val="FF0000"/>
                </a:solidFill>
              </a:rPr>
              <a:t>frame of reference for both social and economic </a:t>
            </a:r>
            <a:r>
              <a:rPr lang="en-US" b="1" dirty="0" smtClean="0">
                <a:solidFill>
                  <a:srgbClr val="FF0000"/>
                </a:solidFill>
              </a:rPr>
              <a:t>development.</a:t>
            </a:r>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261F55E7-D931-45D6-9168-5E895D7266BA}" type="slidenum">
              <a:rPr lang="en-US" smtClean="0"/>
              <a:pPr/>
              <a:t>42</a:t>
            </a:fld>
            <a:endParaRPr lang="en-US"/>
          </a:p>
        </p:txBody>
      </p:sp>
    </p:spTree>
    <p:extLst>
      <p:ext uri="{BB962C8B-B14F-4D97-AF65-F5344CB8AC3E}">
        <p14:creationId xmlns:p14="http://schemas.microsoft.com/office/powerpoint/2010/main" val="15039661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a:xfrm>
            <a:off x="457200" y="-60325"/>
            <a:ext cx="8229600" cy="1143000"/>
          </a:xfrm>
        </p:spPr>
        <p:txBody>
          <a:bodyPr/>
          <a:lstStyle/>
          <a:p>
            <a:r>
              <a:rPr lang="en-GB" b="1" dirty="0"/>
              <a:t>HDI – Human Development Index</a:t>
            </a:r>
            <a:endParaRPr lang="en-US" b="1" dirty="0"/>
          </a:p>
        </p:txBody>
      </p:sp>
      <p:sp>
        <p:nvSpPr>
          <p:cNvPr id="411651" name="Rectangle 3"/>
          <p:cNvSpPr>
            <a:spLocks noGrp="1" noChangeArrowheads="1"/>
          </p:cNvSpPr>
          <p:nvPr>
            <p:ph type="body" idx="1"/>
          </p:nvPr>
        </p:nvSpPr>
        <p:spPr/>
        <p:txBody>
          <a:bodyPr/>
          <a:lstStyle/>
          <a:p>
            <a:pPr marL="0" indent="0">
              <a:buNone/>
            </a:pPr>
            <a:endParaRPr lang="en-US" sz="2000" dirty="0"/>
          </a:p>
        </p:txBody>
      </p:sp>
      <p:pic>
        <p:nvPicPr>
          <p:cNvPr id="1026" name="Picture 2" descr="HDI_EN_Figur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0127"/>
          <a:stretch/>
        </p:blipFill>
        <p:spPr bwMode="auto">
          <a:xfrm>
            <a:off x="1" y="838200"/>
            <a:ext cx="9144000" cy="60198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261F55E7-D931-45D6-9168-5E895D7266BA}" type="slidenum">
              <a:rPr lang="en-US" smtClean="0"/>
              <a:pPr/>
              <a:t>43</a:t>
            </a:fld>
            <a:endParaRPr lang="en-US"/>
          </a:p>
        </p:txBody>
      </p:sp>
    </p:spTree>
    <p:extLst>
      <p:ext uri="{BB962C8B-B14F-4D97-AF65-F5344CB8AC3E}">
        <p14:creationId xmlns:p14="http://schemas.microsoft.com/office/powerpoint/2010/main" val="82329443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Measuring Income distribution equality among nations</a:t>
            </a:r>
            <a:endParaRPr lang="en-US" b="1" dirty="0"/>
          </a:p>
        </p:txBody>
      </p:sp>
      <p:sp>
        <p:nvSpPr>
          <p:cNvPr id="3" name="Content Placeholder 2"/>
          <p:cNvSpPr>
            <a:spLocks noGrp="1"/>
          </p:cNvSpPr>
          <p:nvPr>
            <p:ph idx="1"/>
          </p:nvPr>
        </p:nvSpPr>
        <p:spPr>
          <a:xfrm>
            <a:off x="13252" y="2667000"/>
            <a:ext cx="8229600" cy="4525963"/>
          </a:xfrm>
        </p:spPr>
        <p:txBody>
          <a:bodyPr/>
          <a:lstStyle/>
          <a:p>
            <a:pPr marL="0" indent="0">
              <a:buNone/>
            </a:pPr>
            <a:r>
              <a:rPr lang="en-US" b="1" dirty="0" smtClean="0">
                <a:solidFill>
                  <a:srgbClr val="FF0000"/>
                </a:solidFill>
              </a:rPr>
              <a:t>Refer </a:t>
            </a:r>
            <a:r>
              <a:rPr lang="en-US" b="1" dirty="0" smtClean="0">
                <a:solidFill>
                  <a:srgbClr val="FF0000"/>
                </a:solidFill>
                <a:hlinkClick r:id="rId2" action="ppaction://hlinkpres?slideindex=1&amp;slidetitle="/>
              </a:rPr>
              <a:t>Lorenz</a:t>
            </a:r>
            <a:r>
              <a:rPr lang="en-US" b="1" dirty="0" smtClean="0">
                <a:solidFill>
                  <a:srgbClr val="FF0000"/>
                </a:solidFill>
              </a:rPr>
              <a:t> curve and Gini coefficient additional reading</a:t>
            </a:r>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261F55E7-D931-45D6-9168-5E895D7266BA}" type="slidenum">
              <a:rPr lang="en-US" smtClean="0"/>
              <a:pPr/>
              <a:t>44</a:t>
            </a:fld>
            <a:endParaRPr lang="en-US"/>
          </a:p>
        </p:txBody>
      </p:sp>
    </p:spTree>
    <p:extLst>
      <p:ext uri="{BB962C8B-B14F-4D97-AF65-F5344CB8AC3E}">
        <p14:creationId xmlns:p14="http://schemas.microsoft.com/office/powerpoint/2010/main" val="356511696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GINI index in Sri Lanka</a:t>
            </a:r>
            <a:br>
              <a:rPr lang="en-US" b="1" dirty="0"/>
            </a:br>
            <a:endParaRPr lang="en-US" dirty="0"/>
          </a:p>
        </p:txBody>
      </p:sp>
      <p:sp>
        <p:nvSpPr>
          <p:cNvPr id="3" name="Content Placeholder 2"/>
          <p:cNvSpPr>
            <a:spLocks noGrp="1"/>
          </p:cNvSpPr>
          <p:nvPr>
            <p:ph idx="1"/>
          </p:nvPr>
        </p:nvSpPr>
        <p:spPr>
          <a:xfrm>
            <a:off x="457200" y="1219200"/>
            <a:ext cx="8229600" cy="4906963"/>
          </a:xfrm>
        </p:spPr>
        <p:txBody>
          <a:bodyPr>
            <a:normAutofit fontScale="77500" lnSpcReduction="20000"/>
          </a:bodyPr>
          <a:lstStyle/>
          <a:p>
            <a:pPr algn="just"/>
            <a:r>
              <a:rPr lang="en-US" b="1" dirty="0" err="1" smtClean="0"/>
              <a:t>Gini</a:t>
            </a:r>
            <a:r>
              <a:rPr lang="en-US" b="1" dirty="0" smtClean="0"/>
              <a:t> </a:t>
            </a:r>
            <a:r>
              <a:rPr lang="en-US" b="1" dirty="0"/>
              <a:t>index measures </a:t>
            </a:r>
            <a:r>
              <a:rPr lang="en-US" b="1" dirty="0">
                <a:solidFill>
                  <a:srgbClr val="FF0000"/>
                </a:solidFill>
              </a:rPr>
              <a:t>the extent to which the distribution of income </a:t>
            </a:r>
            <a:r>
              <a:rPr lang="en-US" b="1" dirty="0"/>
              <a:t>(or, in some cases, consumption expenditure) among individuals or households within an economy </a:t>
            </a:r>
            <a:r>
              <a:rPr lang="en-US" b="1" dirty="0">
                <a:solidFill>
                  <a:srgbClr val="FF0000"/>
                </a:solidFill>
              </a:rPr>
              <a:t>deviates from a perfectly equal distribution</a:t>
            </a:r>
            <a:r>
              <a:rPr lang="en-US" b="1" dirty="0"/>
              <a:t>. A Lorenz curve plots the </a:t>
            </a:r>
            <a:r>
              <a:rPr lang="en-US" b="1" dirty="0">
                <a:solidFill>
                  <a:srgbClr val="FF0000"/>
                </a:solidFill>
              </a:rPr>
              <a:t>cumulative percentages of total income received against the cumulative number of recipients</a:t>
            </a:r>
            <a:r>
              <a:rPr lang="en-US" b="1" dirty="0"/>
              <a:t>, starting with the poorest individual or household. </a:t>
            </a:r>
            <a:endParaRPr lang="en-US" b="1" dirty="0" smtClean="0"/>
          </a:p>
          <a:p>
            <a:pPr algn="just"/>
            <a:endParaRPr lang="en-US" b="1" dirty="0"/>
          </a:p>
          <a:p>
            <a:pPr algn="just"/>
            <a:r>
              <a:rPr lang="en-US" b="1" dirty="0" smtClean="0"/>
              <a:t>The </a:t>
            </a:r>
            <a:r>
              <a:rPr lang="en-US" b="1" dirty="0" err="1"/>
              <a:t>Gini</a:t>
            </a:r>
            <a:r>
              <a:rPr lang="en-US" b="1" dirty="0"/>
              <a:t> index measures the area between the Lorenz curve and a hypothetical line of absolute equality, expressed as a percentage of the maximum area under the line. </a:t>
            </a:r>
            <a:r>
              <a:rPr lang="en-US" b="1" dirty="0">
                <a:solidFill>
                  <a:srgbClr val="FF0000"/>
                </a:solidFill>
              </a:rPr>
              <a:t>Thus a </a:t>
            </a:r>
            <a:r>
              <a:rPr lang="en-US" b="1" dirty="0" err="1">
                <a:solidFill>
                  <a:srgbClr val="FF0000"/>
                </a:solidFill>
              </a:rPr>
              <a:t>Gini</a:t>
            </a:r>
            <a:r>
              <a:rPr lang="en-US" b="1" dirty="0">
                <a:solidFill>
                  <a:srgbClr val="FF0000"/>
                </a:solidFill>
              </a:rPr>
              <a:t> index of 0 represents perfect equality, while an index of 100 implies perfect </a:t>
            </a:r>
            <a:r>
              <a:rPr lang="en-US" b="1" smtClean="0">
                <a:solidFill>
                  <a:srgbClr val="FF0000"/>
                </a:solidFill>
              </a:rPr>
              <a:t>inequality</a:t>
            </a:r>
            <a:r>
              <a:rPr lang="en-US" b="1" smtClean="0"/>
              <a:t>.</a:t>
            </a:r>
            <a:endParaRPr lang="en-US" b="1" dirty="0"/>
          </a:p>
          <a:p>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45</a:t>
            </a:fld>
            <a:endParaRPr lang="en-US"/>
          </a:p>
        </p:txBody>
      </p:sp>
    </p:spTree>
    <p:extLst>
      <p:ext uri="{BB962C8B-B14F-4D97-AF65-F5344CB8AC3E}">
        <p14:creationId xmlns:p14="http://schemas.microsoft.com/office/powerpoint/2010/main" val="10779511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Economic growth</a:t>
            </a:r>
            <a:endParaRPr lang="en-US" b="1" dirty="0"/>
          </a:p>
        </p:txBody>
      </p:sp>
      <p:sp>
        <p:nvSpPr>
          <p:cNvPr id="3" name="Content Placeholder 2"/>
          <p:cNvSpPr>
            <a:spLocks noGrp="1"/>
          </p:cNvSpPr>
          <p:nvPr>
            <p:ph idx="1"/>
          </p:nvPr>
        </p:nvSpPr>
        <p:spPr/>
        <p:txBody>
          <a:bodyPr/>
          <a:lstStyle/>
          <a:p>
            <a:pPr marL="0" indent="0" algn="just">
              <a:buNone/>
            </a:pPr>
            <a:r>
              <a:rPr lang="en-US" dirty="0"/>
              <a:t>Economic growth is best defined as a </a:t>
            </a:r>
            <a:r>
              <a:rPr lang="en-US" b="1" dirty="0"/>
              <a:t>long-term expansion of the productive potential of the economy</a:t>
            </a:r>
            <a:r>
              <a:rPr lang="en-US" dirty="0"/>
              <a:t>. Sustained </a:t>
            </a:r>
            <a:r>
              <a:rPr lang="en-US" b="1" dirty="0">
                <a:solidFill>
                  <a:srgbClr val="C00000"/>
                </a:solidFill>
              </a:rPr>
              <a:t>economic growth</a:t>
            </a:r>
            <a:r>
              <a:rPr lang="en-US" dirty="0"/>
              <a:t> should lead higher real living standards and rising employment.  Short term growth is measured by the </a:t>
            </a:r>
            <a:r>
              <a:rPr lang="en-US" b="1" dirty="0">
                <a:solidFill>
                  <a:srgbClr val="C00000"/>
                </a:solidFill>
              </a:rPr>
              <a:t>annual % change in real GDP</a:t>
            </a:r>
            <a:r>
              <a:rPr lang="en-US" dirty="0"/>
              <a:t>.</a:t>
            </a:r>
          </a:p>
          <a:p>
            <a:pPr marL="0" indent="0">
              <a:buNone/>
            </a:pPr>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46</a:t>
            </a:fld>
            <a:endParaRPr lang="en-US"/>
          </a:p>
        </p:txBody>
      </p:sp>
    </p:spTree>
    <p:extLst>
      <p:ext uri="{BB962C8B-B14F-4D97-AF65-F5344CB8AC3E}">
        <p14:creationId xmlns:p14="http://schemas.microsoft.com/office/powerpoint/2010/main" val="85003163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765" y="304800"/>
            <a:ext cx="8229600" cy="838200"/>
          </a:xfrm>
        </p:spPr>
        <p:txBody>
          <a:bodyPr>
            <a:normAutofit fontScale="90000"/>
          </a:bodyPr>
          <a:lstStyle/>
          <a:p>
            <a:r>
              <a:rPr lang="en-US" b="1" dirty="0"/>
              <a:t>Advantages of Economic Growth</a:t>
            </a:r>
            <a:r>
              <a:rPr lang="en-US" dirty="0"/>
              <a:t/>
            </a:r>
            <a:br>
              <a:rPr lang="en-US" dirty="0"/>
            </a:br>
            <a:endParaRPr lang="en-US" dirty="0"/>
          </a:p>
        </p:txBody>
      </p:sp>
      <p:sp>
        <p:nvSpPr>
          <p:cNvPr id="3" name="Content Placeholder 2"/>
          <p:cNvSpPr>
            <a:spLocks noGrp="1"/>
          </p:cNvSpPr>
          <p:nvPr>
            <p:ph idx="1"/>
          </p:nvPr>
        </p:nvSpPr>
        <p:spPr>
          <a:xfrm>
            <a:off x="-76200" y="914400"/>
            <a:ext cx="9144000" cy="6629400"/>
          </a:xfrm>
        </p:spPr>
        <p:txBody>
          <a:bodyPr>
            <a:normAutofit fontScale="70000" lnSpcReduction="20000"/>
          </a:bodyPr>
          <a:lstStyle/>
          <a:p>
            <a:r>
              <a:rPr lang="en-US" dirty="0" smtClean="0"/>
              <a:t>Sustained </a:t>
            </a:r>
            <a:r>
              <a:rPr lang="en-US" dirty="0"/>
              <a:t>economic growth is a major objective of government policy – not least because of the benefits that flow from a growing economy. </a:t>
            </a:r>
          </a:p>
          <a:p>
            <a:r>
              <a:rPr lang="en-US" b="1" dirty="0"/>
              <a:t>Higher Living Standards</a:t>
            </a:r>
            <a:r>
              <a:rPr lang="en-US" dirty="0"/>
              <a:t> – for example measured by an increase in real national income per head of population – see the evidence shown in the chart below</a:t>
            </a:r>
          </a:p>
          <a:p>
            <a:r>
              <a:rPr lang="en-US" b="1" dirty="0"/>
              <a:t>Employment effects</a:t>
            </a:r>
            <a:r>
              <a:rPr lang="en-US" dirty="0"/>
              <a:t>: Growth stimulates higher employment</a:t>
            </a:r>
            <a:r>
              <a:rPr lang="en-US" dirty="0" smtClean="0"/>
              <a:t>.</a:t>
            </a:r>
          </a:p>
          <a:p>
            <a:pPr marL="0" indent="0">
              <a:buNone/>
            </a:pPr>
            <a:endParaRPr lang="en-US" dirty="0"/>
          </a:p>
          <a:p>
            <a:r>
              <a:rPr lang="en-US" b="1" dirty="0"/>
              <a:t>Fiscal Dividend</a:t>
            </a:r>
            <a:r>
              <a:rPr lang="en-US" dirty="0"/>
              <a:t>: Growth has a positive effect on government finances - boosting tax revenues and providing the government with extra money to finance spending projects </a:t>
            </a:r>
            <a:endParaRPr lang="en-US" dirty="0" smtClean="0"/>
          </a:p>
          <a:p>
            <a:pPr marL="0" indent="0">
              <a:buNone/>
            </a:pPr>
            <a:endParaRPr lang="en-US" dirty="0"/>
          </a:p>
          <a:p>
            <a:r>
              <a:rPr lang="en-US" b="1" dirty="0"/>
              <a:t>The Investment Accelerator Effect</a:t>
            </a:r>
            <a:r>
              <a:rPr lang="en-US" dirty="0"/>
              <a:t>: Rising demand and output encourages investment in new capital machinery – this helps to sustain the growth in the economy by increasing long run aggregate supply</a:t>
            </a:r>
            <a:r>
              <a:rPr lang="en-US" dirty="0" smtClean="0"/>
              <a:t>.</a:t>
            </a:r>
          </a:p>
          <a:p>
            <a:pPr marL="0" indent="0">
              <a:buNone/>
            </a:pPr>
            <a:endParaRPr lang="en-US" dirty="0"/>
          </a:p>
          <a:p>
            <a:r>
              <a:rPr lang="en-US" b="1" dirty="0"/>
              <a:t>Growth and Business Confidence</a:t>
            </a:r>
            <a:r>
              <a:rPr lang="en-US" dirty="0"/>
              <a:t>: Economic growth normally has a positive impact on company profits &amp; business confidence – good news for the stock market and also for the growth of small and large businesses alike</a:t>
            </a:r>
          </a:p>
          <a:p>
            <a:endParaRPr lang="en-US" dirty="0"/>
          </a:p>
        </p:txBody>
      </p:sp>
      <p:sp>
        <p:nvSpPr>
          <p:cNvPr id="4" name="Slide Number Placeholder 3"/>
          <p:cNvSpPr>
            <a:spLocks noGrp="1"/>
          </p:cNvSpPr>
          <p:nvPr>
            <p:ph type="sldNum" sz="quarter" idx="12"/>
          </p:nvPr>
        </p:nvSpPr>
        <p:spPr/>
        <p:txBody>
          <a:bodyPr/>
          <a:lstStyle/>
          <a:p>
            <a:fld id="{261F55E7-D931-45D6-9168-5E895D7266BA}" type="slidenum">
              <a:rPr lang="en-US" smtClean="0"/>
              <a:pPr/>
              <a:t>47</a:t>
            </a:fld>
            <a:endParaRPr lang="en-US"/>
          </a:p>
        </p:txBody>
      </p:sp>
    </p:spTree>
    <p:extLst>
      <p:ext uri="{BB962C8B-B14F-4D97-AF65-F5344CB8AC3E}">
        <p14:creationId xmlns:p14="http://schemas.microsoft.com/office/powerpoint/2010/main" val="174491813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61F55E7-D931-45D6-9168-5E895D7266BA}" type="slidenum">
              <a:rPr lang="en-US" smtClean="0"/>
              <a:pPr/>
              <a:t>48</a:t>
            </a:fld>
            <a:endParaRPr lang="en-US"/>
          </a:p>
        </p:txBody>
      </p:sp>
      <p:sp>
        <p:nvSpPr>
          <p:cNvPr id="5" name="Rectangle 1"/>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smtClean="0">
                <a:ln>
                  <a:noFill/>
                </a:ln>
                <a:solidFill>
                  <a:srgbClr val="666666"/>
                </a:solidFill>
                <a:effectLst/>
                <a:latin typeface="Arial" pitchFamily="34" charset="0"/>
                <a:cs typeface="Arial" pitchFamily="34" charset="0"/>
              </a:rPr>
              <a:t>has certainly been the case for the British economy over the last decade. </a:t>
            </a:r>
          </a:p>
          <a:p>
            <a:pPr marL="0" marR="0" lvl="0" indent="0" algn="ctr" defTabSz="914400" rtl="0" eaLnBrk="0" fontAlgn="ctr" latinLnBrk="0" hangingPunct="0">
              <a:lnSpc>
                <a:spcPct val="100000"/>
              </a:lnSpc>
              <a:spcBef>
                <a:spcPct val="0"/>
              </a:spcBef>
              <a:spcAft>
                <a:spcPct val="0"/>
              </a:spcAft>
              <a:buClrTx/>
              <a:buSzTx/>
              <a:buFontTx/>
              <a:buNone/>
              <a:tabLst/>
            </a:pPr>
            <a:r>
              <a:rPr kumimoji="0" lang="en-US" sz="900" b="0" i="0" u="none" strike="noStrike" cap="none" normalizeH="0" baseline="0" smtClean="0">
                <a:ln>
                  <a:noFill/>
                </a:ln>
                <a:solidFill>
                  <a:srgbClr val="666666"/>
                </a:solidFill>
                <a:effectLst/>
                <a:latin typeface="Arial" pitchFamily="34" charset="0"/>
                <a:cs typeface="Arial" pitchFamily="34" charset="0"/>
              </a:rPr>
              <a:t>  </a:t>
            </a:r>
            <a:r>
              <a:rPr kumimoji="0" lang="en-US" sz="23500" b="0" i="0" u="none" strike="noStrike" cap="none" normalizeH="0" baseline="0" smtClean="0">
                <a:ln>
                  <a:noFill/>
                </a:ln>
                <a:solidFill>
                  <a:srgbClr val="666666"/>
                </a:solidFill>
                <a:effectLst/>
                <a:latin typeface="Arial" pitchFamily="34" charset="0"/>
                <a:cs typeface="Arial" pitchFamily="34" charset="0"/>
              </a:rPr>
              <a:t> </a:t>
            </a:r>
            <a:r>
              <a:rPr kumimoji="0" lang="en-US" sz="900" b="0" i="0" u="none" strike="noStrike" cap="none" normalizeH="0" baseline="0" smtClean="0">
                <a:ln>
                  <a:noFill/>
                </a:ln>
                <a:solidFill>
                  <a:srgbClr val="666666"/>
                </a:solidFill>
                <a:effectLst/>
                <a:latin typeface="Arial" pitchFamily="34" charset="0"/>
                <a:cs typeface="Arial" pitchFamily="34" charset="0"/>
              </a:rPr>
              <a:t>                                                                                                                                                                     </a:t>
            </a:r>
          </a:p>
        </p:txBody>
      </p:sp>
      <p:pic>
        <p:nvPicPr>
          <p:cNvPr id="9218" name="Picture 2" descr="An expanding economy provides the impetus for a rising level of employment and a falling rate of unemployment. This has certainly been the case for the British economy over the last decad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2461" y="685800"/>
            <a:ext cx="8027174"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450927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Disadvantages of economic growth</a:t>
            </a:r>
            <a:r>
              <a:rPr lang="en-US" dirty="0"/>
              <a:t/>
            </a:r>
            <a:br>
              <a:rPr lang="en-US" dirty="0"/>
            </a:br>
            <a:endParaRPr lang="en-US" dirty="0"/>
          </a:p>
        </p:txBody>
      </p:sp>
      <p:sp>
        <p:nvSpPr>
          <p:cNvPr id="5" name="Content Placeholder 4"/>
          <p:cNvSpPr>
            <a:spLocks noGrp="1"/>
          </p:cNvSpPr>
          <p:nvPr>
            <p:ph idx="1"/>
          </p:nvPr>
        </p:nvSpPr>
        <p:spPr>
          <a:xfrm>
            <a:off x="0" y="914400"/>
            <a:ext cx="8991600" cy="5807075"/>
          </a:xfrm>
        </p:spPr>
        <p:txBody>
          <a:bodyPr>
            <a:normAutofit fontScale="70000" lnSpcReduction="20000"/>
          </a:bodyPr>
          <a:lstStyle/>
          <a:p>
            <a:pPr algn="just"/>
            <a:r>
              <a:rPr lang="en-US" dirty="0" smtClean="0"/>
              <a:t>There </a:t>
            </a:r>
            <a:r>
              <a:rPr lang="en-US" dirty="0"/>
              <a:t>are some economic costs of a fast-growing economy. The two main concerns are firstly that growth can lead to a pick up in inflation and secondly, that growth can have damaging effects on our environment, with potentially long-lasting consequences for future generations</a:t>
            </a:r>
            <a:r>
              <a:rPr lang="en-US" dirty="0" smtClean="0"/>
              <a:t>.</a:t>
            </a:r>
          </a:p>
          <a:p>
            <a:pPr marL="0" indent="0">
              <a:buNone/>
            </a:pPr>
            <a:endParaRPr lang="en-US" dirty="0"/>
          </a:p>
          <a:p>
            <a:pPr algn="just"/>
            <a:r>
              <a:rPr lang="en-US" b="1" dirty="0"/>
              <a:t>Inflation risk</a:t>
            </a:r>
            <a:r>
              <a:rPr lang="en-US" dirty="0"/>
              <a:t>: If the economy grows too quickly there is the danger of inflation as demand races ahead of aggregate supply. Producer then take advantage of this by raising prices for </a:t>
            </a:r>
            <a:r>
              <a:rPr lang="en-US" dirty="0" smtClean="0"/>
              <a:t>consumers</a:t>
            </a:r>
          </a:p>
          <a:p>
            <a:pPr marL="0" indent="0">
              <a:buNone/>
            </a:pPr>
            <a:endParaRPr lang="en-US" dirty="0"/>
          </a:p>
          <a:p>
            <a:pPr algn="just"/>
            <a:r>
              <a:rPr lang="en-US" b="1" dirty="0"/>
              <a:t>Environmental concerns</a:t>
            </a:r>
            <a:r>
              <a:rPr lang="en-US" dirty="0"/>
              <a:t>: Growth cannot be separated from its environmental impact. Fast growth of production and consumption can create negative externalities (for example, increased noise and lower air quality arising from air pollution and road congestion, increased consumption of de-merit goods, the rapid growth of household and industrial waste and the pollution that comes from increased output in the energy sector) These externalities reduce social welfare and can lead to market failure. Growth that leads to environmental damage can have a negative effect on people’s quality of life and may also impede a country’s sustainable rate of growth. </a:t>
            </a:r>
          </a:p>
        </p:txBody>
      </p:sp>
      <p:sp>
        <p:nvSpPr>
          <p:cNvPr id="2" name="Slide Number Placeholder 1"/>
          <p:cNvSpPr>
            <a:spLocks noGrp="1"/>
          </p:cNvSpPr>
          <p:nvPr>
            <p:ph type="sldNum" sz="quarter" idx="12"/>
          </p:nvPr>
        </p:nvSpPr>
        <p:spPr/>
        <p:txBody>
          <a:bodyPr/>
          <a:lstStyle/>
          <a:p>
            <a:fld id="{261F55E7-D931-45D6-9168-5E895D7266BA}" type="slidenum">
              <a:rPr lang="en-US" smtClean="0"/>
              <a:pPr/>
              <a:t>49</a:t>
            </a:fld>
            <a:endParaRPr lang="en-US"/>
          </a:p>
        </p:txBody>
      </p:sp>
    </p:spTree>
    <p:extLst>
      <p:ext uri="{BB962C8B-B14F-4D97-AF65-F5344CB8AC3E}">
        <p14:creationId xmlns:p14="http://schemas.microsoft.com/office/powerpoint/2010/main" val="394016571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143000"/>
            <a:ext cx="8229600" cy="3611562"/>
          </a:xfrm>
        </p:spPr>
        <p:txBody>
          <a:bodyPr>
            <a:normAutofit/>
          </a:bodyPr>
          <a:lstStyle/>
          <a:p>
            <a:pPr marL="0" indent="0"/>
            <a:r>
              <a:rPr lang="en-US" b="1" dirty="0" smtClean="0">
                <a:solidFill>
                  <a:srgbClr val="FF0000"/>
                </a:solidFill>
              </a:rPr>
              <a:t>The END</a:t>
            </a:r>
            <a:endParaRPr lang="en-US" b="1" dirty="0">
              <a:solidFill>
                <a:srgbClr val="FF0000"/>
              </a:solidFill>
            </a:endParaRPr>
          </a:p>
        </p:txBody>
      </p:sp>
      <p:sp>
        <p:nvSpPr>
          <p:cNvPr id="3" name="Slide Number Placeholder 2"/>
          <p:cNvSpPr>
            <a:spLocks noGrp="1"/>
          </p:cNvSpPr>
          <p:nvPr>
            <p:ph type="sldNum" sz="quarter" idx="12"/>
          </p:nvPr>
        </p:nvSpPr>
        <p:spPr/>
        <p:txBody>
          <a:bodyPr/>
          <a:lstStyle/>
          <a:p>
            <a:fld id="{261F55E7-D931-45D6-9168-5E895D7266BA}" type="slidenum">
              <a:rPr lang="en-US" smtClean="0"/>
              <a:pPr/>
              <a:t>50</a:t>
            </a:fld>
            <a:endParaRPr lang="en-US"/>
          </a:p>
        </p:txBody>
      </p:sp>
    </p:spTree>
    <p:extLst>
      <p:ext uri="{BB962C8B-B14F-4D97-AF65-F5344CB8AC3E}">
        <p14:creationId xmlns:p14="http://schemas.microsoft.com/office/powerpoint/2010/main" val="280390928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2.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3.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4.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5.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6.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7.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8.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9.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10.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11.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12.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13.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14.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15.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16.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17.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18.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19.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20.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ags/tag21.xml><?xml version="1.0" encoding="utf-8"?>
<p:tagLst xmlns:a="http://schemas.openxmlformats.org/drawingml/2006/main" xmlns:r="http://schemas.openxmlformats.org/officeDocument/2006/relationships" xmlns:p="http://schemas.openxmlformats.org/presentationml/2006/main">
  <p:tag name="ARTICULATE_SLIDE_PAUSE" val="1"/>
  <p:tag name="ARTICULATE_NAV_LEVEL" val="1"/>
  <p:tag name="ARTICULATE_PLAYLIST_I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2128</TotalTime>
  <Words>3033</Words>
  <Application>Microsoft Office PowerPoint</Application>
  <PresentationFormat>On-screen Show (4:3)</PresentationFormat>
  <Paragraphs>380</Paragraphs>
  <Slides>50</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Times New Roman</vt:lpstr>
      <vt:lpstr>Office Theme</vt:lpstr>
      <vt:lpstr> Fundamentals of Economics</vt:lpstr>
      <vt:lpstr>PowerPoint Presentation</vt:lpstr>
      <vt:lpstr>What is macroeconomics?</vt:lpstr>
      <vt:lpstr>What is macroeconomics?</vt:lpstr>
      <vt:lpstr>So what is ‘the economy’?</vt:lpstr>
      <vt:lpstr>PowerPoint Presentation</vt:lpstr>
      <vt:lpstr>Withdrawals and Injections</vt:lpstr>
      <vt:lpstr>Key Concepts</vt:lpstr>
      <vt:lpstr>Difference between micro &amp; macro</vt:lpstr>
      <vt:lpstr>Difference between micro &amp; macro</vt:lpstr>
      <vt:lpstr>Objectives of economic policy</vt:lpstr>
      <vt:lpstr>Targets, Instruments and goals of  Macroeconomics policy</vt:lpstr>
      <vt:lpstr>The main objectives of government economic policy</vt:lpstr>
      <vt:lpstr>Macro stability…</vt:lpstr>
      <vt:lpstr>Macro stability can be measured by the volatility of key indicators: </vt:lpstr>
      <vt:lpstr>What makes a stable economy? Ctd…</vt:lpstr>
      <vt:lpstr>What makes a stable economy? Ctd……..</vt:lpstr>
      <vt:lpstr>Measuring National Income</vt:lpstr>
      <vt:lpstr>What is National Income?</vt:lpstr>
      <vt:lpstr>Why is national income important?</vt:lpstr>
      <vt:lpstr>Gross Domestic Product (GDP)</vt:lpstr>
      <vt:lpstr>PowerPoint Presentation</vt:lpstr>
      <vt:lpstr>Aggregate Demand (AD)</vt:lpstr>
      <vt:lpstr>How GNP is calculated</vt:lpstr>
      <vt:lpstr>Demand Side shocks</vt:lpstr>
      <vt:lpstr>PowerPoint Presentation</vt:lpstr>
      <vt:lpstr>Why does the AD curve slope downwards? </vt:lpstr>
      <vt:lpstr>Shifts in the AD curve </vt:lpstr>
      <vt:lpstr>Supply-side Policies </vt:lpstr>
      <vt:lpstr>Supply Side Policies for Product Markets </vt:lpstr>
      <vt:lpstr>Supply side policies for the Labour Market  </vt:lpstr>
      <vt:lpstr>GDP by Factor Income</vt:lpstr>
      <vt:lpstr>GDP by Factor Income…cont</vt:lpstr>
      <vt:lpstr>Welfare benefits</vt:lpstr>
      <vt:lpstr>GDP by Value Added from each Sector</vt:lpstr>
      <vt:lpstr>Sectors of the economy</vt:lpstr>
      <vt:lpstr>GDP and GNP</vt:lpstr>
      <vt:lpstr>GDP and GNP</vt:lpstr>
      <vt:lpstr>Limitations of national income data</vt:lpstr>
      <vt:lpstr>Shadow economy….</vt:lpstr>
      <vt:lpstr>GDP and the standard of living</vt:lpstr>
      <vt:lpstr>Human Development Index</vt:lpstr>
      <vt:lpstr>HDI – Human Development Index</vt:lpstr>
      <vt:lpstr>Measuring Income distribution equality among nations</vt:lpstr>
      <vt:lpstr>GINI index in Sri Lanka </vt:lpstr>
      <vt:lpstr>Economic growth</vt:lpstr>
      <vt:lpstr>Advantages of Economic Growth </vt:lpstr>
      <vt:lpstr>PowerPoint Presentation</vt:lpstr>
      <vt:lpstr>Disadvantages of economic growth </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economics</dc:title>
  <dc:creator>DELL</dc:creator>
  <cp:lastModifiedBy>Lahiru Gunathilake</cp:lastModifiedBy>
  <cp:revision>94</cp:revision>
  <dcterms:created xsi:type="dcterms:W3CDTF">2012-03-04T01:49:21Z</dcterms:created>
  <dcterms:modified xsi:type="dcterms:W3CDTF">2021-06-16T04:03:33Z</dcterms:modified>
</cp:coreProperties>
</file>