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wav" ContentType="audio/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411" r:id="rId2"/>
    <p:sldId id="260" r:id="rId3"/>
    <p:sldId id="261" r:id="rId4"/>
    <p:sldId id="262" r:id="rId5"/>
    <p:sldId id="270" r:id="rId6"/>
    <p:sldId id="271" r:id="rId7"/>
    <p:sldId id="272" r:id="rId8"/>
    <p:sldId id="276" r:id="rId9"/>
    <p:sldId id="281" r:id="rId10"/>
    <p:sldId id="282" r:id="rId11"/>
    <p:sldId id="283" r:id="rId12"/>
    <p:sldId id="284" r:id="rId13"/>
    <p:sldId id="304" r:id="rId14"/>
    <p:sldId id="305" r:id="rId15"/>
    <p:sldId id="306" r:id="rId16"/>
    <p:sldId id="307" r:id="rId17"/>
    <p:sldId id="393" r:id="rId18"/>
    <p:sldId id="339" r:id="rId19"/>
    <p:sldId id="340" r:id="rId20"/>
    <p:sldId id="341" r:id="rId21"/>
    <p:sldId id="352" r:id="rId22"/>
    <p:sldId id="366" r:id="rId23"/>
    <p:sldId id="394" r:id="rId24"/>
    <p:sldId id="353" r:id="rId25"/>
    <p:sldId id="355" r:id="rId26"/>
    <p:sldId id="356" r:id="rId27"/>
    <p:sldId id="383" r:id="rId28"/>
    <p:sldId id="384" r:id="rId29"/>
    <p:sldId id="395" r:id="rId30"/>
    <p:sldId id="397" r:id="rId31"/>
    <p:sldId id="398" r:id="rId32"/>
    <p:sldId id="399" r:id="rId33"/>
    <p:sldId id="400" r:id="rId34"/>
    <p:sldId id="401" r:id="rId35"/>
    <p:sldId id="402" r:id="rId36"/>
    <p:sldId id="403" r:id="rId37"/>
    <p:sldId id="404" r:id="rId38"/>
    <p:sldId id="405" r:id="rId39"/>
    <p:sldId id="406" r:id="rId40"/>
    <p:sldId id="407" r:id="rId41"/>
    <p:sldId id="408" r:id="rId42"/>
    <p:sldId id="409" r:id="rId43"/>
    <p:sldId id="410"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459"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9A5CE5E-EFA8-43DF-9AAC-6E8B31EF7D34}" type="datetimeFigureOut">
              <a:rPr lang="en-US" smtClean="0"/>
              <a:pPr/>
              <a:t>6/16/2021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C2E990-38EF-40F0-A6C4-5ADF4D3D5050}" type="slidenum">
              <a:rPr lang="en-US" smtClean="0"/>
              <a:pPr/>
              <a:t>‹#›</a:t>
            </a:fld>
            <a:endParaRPr lang="en-US"/>
          </a:p>
        </p:txBody>
      </p:sp>
    </p:spTree>
    <p:extLst>
      <p:ext uri="{BB962C8B-B14F-4D97-AF65-F5344CB8AC3E}">
        <p14:creationId xmlns:p14="http://schemas.microsoft.com/office/powerpoint/2010/main" val="2242684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A576E3-FE7A-42ED-B4ED-B3D27A338019}" type="slidenum">
              <a:rPr lang="en-US"/>
              <a:pPr/>
              <a:t>4</a:t>
            </a:fld>
            <a:endParaRPr lang="en-US"/>
          </a:p>
        </p:txBody>
      </p:sp>
      <p:sp>
        <p:nvSpPr>
          <p:cNvPr id="69634" name="Rectangle 2"/>
          <p:cNvSpPr>
            <a:spLocks noGrp="1" noRot="1" noChangeAspect="1" noChangeArrowheads="1" noTextEdit="1"/>
          </p:cNvSpPr>
          <p:nvPr>
            <p:ph type="sldImg"/>
          </p:nvPr>
        </p:nvSpPr>
        <p:spPr>
          <a:ln/>
        </p:spPr>
      </p:sp>
      <p:sp>
        <p:nvSpPr>
          <p:cNvPr id="6963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9288619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7ED1321-9664-41ED-B725-F84CC6386F78}" type="slidenum">
              <a:rPr lang="en-US"/>
              <a:pPr/>
              <a:t>5</a:t>
            </a:fld>
            <a:endParaRPr lang="en-US"/>
          </a:p>
        </p:txBody>
      </p:sp>
      <p:sp>
        <p:nvSpPr>
          <p:cNvPr id="72706" name="Rectangle 2"/>
          <p:cNvSpPr>
            <a:spLocks noGrp="1" noRot="1" noChangeAspect="1" noChangeArrowheads="1" noTextEdit="1"/>
          </p:cNvSpPr>
          <p:nvPr>
            <p:ph type="sldImg"/>
          </p:nvPr>
        </p:nvSpPr>
        <p:spPr>
          <a:ln/>
        </p:spPr>
      </p:sp>
      <p:sp>
        <p:nvSpPr>
          <p:cNvPr id="72707" name="Rectangle 3"/>
          <p:cNvSpPr>
            <a:spLocks noGrp="1" noChangeArrowheads="1"/>
          </p:cNvSpPr>
          <p:nvPr>
            <p:ph type="body" idx="1"/>
          </p:nvPr>
        </p:nvSpPr>
        <p:spPr/>
        <p:txBody>
          <a:bodyPr/>
          <a:lstStyle/>
          <a:p>
            <a:r>
              <a:rPr lang="en-GB" dirty="0"/>
              <a:t>As one might expect, economists disagree on the main causes of unemployment. Some argue that we need to make a distinction between </a:t>
            </a:r>
            <a:r>
              <a:rPr lang="en-GB" b="1" dirty="0"/>
              <a:t>voluntary</a:t>
            </a:r>
            <a:r>
              <a:rPr lang="en-GB" dirty="0"/>
              <a:t> and </a:t>
            </a:r>
            <a:r>
              <a:rPr lang="en-GB" b="1" dirty="0"/>
              <a:t>involuntary unemployment</a:t>
            </a:r>
            <a:r>
              <a:rPr lang="en-GB" dirty="0"/>
              <a:t>. A worker is described as voluntarily unemployed if, at the given level of wages available, he or she does not yet wish to accept a paid job. </a:t>
            </a:r>
            <a:r>
              <a:rPr lang="en-GB" b="1" dirty="0"/>
              <a:t>Involuntary unemployment</a:t>
            </a:r>
            <a:r>
              <a:rPr lang="en-GB" dirty="0"/>
              <a:t> exists when someone would be prepared to work at the going wage rate, but for one reason or another, they are unable to find work. </a:t>
            </a:r>
            <a:endParaRPr lang="en-US" dirty="0"/>
          </a:p>
        </p:txBody>
      </p:sp>
    </p:spTree>
    <p:extLst>
      <p:ext uri="{BB962C8B-B14F-4D97-AF65-F5344CB8AC3E}">
        <p14:creationId xmlns:p14="http://schemas.microsoft.com/office/powerpoint/2010/main" val="2441688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2400AE8-FD9D-4F63-9EDB-1357A6586E27}" type="slidenum">
              <a:rPr lang="en-US"/>
              <a:pPr/>
              <a:t>6</a:t>
            </a:fld>
            <a:endParaRPr lang="en-US"/>
          </a:p>
        </p:txBody>
      </p:sp>
      <p:sp>
        <p:nvSpPr>
          <p:cNvPr id="79874" name="Rectangle 2"/>
          <p:cNvSpPr>
            <a:spLocks noGrp="1" noRot="1" noChangeAspect="1" noChangeArrowheads="1" noTextEdit="1"/>
          </p:cNvSpPr>
          <p:nvPr>
            <p:ph type="sldImg"/>
          </p:nvPr>
        </p:nvSpPr>
        <p:spPr>
          <a:ln/>
        </p:spPr>
      </p:sp>
      <p:sp>
        <p:nvSpPr>
          <p:cNvPr id="79875" name="Rectangle 3"/>
          <p:cNvSpPr>
            <a:spLocks noGrp="1" noChangeArrowheads="1"/>
          </p:cNvSpPr>
          <p:nvPr>
            <p:ph type="body" idx="1"/>
          </p:nvPr>
        </p:nvSpPr>
        <p:spPr/>
        <p:txBody>
          <a:bodyPr/>
          <a:lstStyle/>
          <a:p>
            <a:r>
              <a:rPr lang="en-GB" dirty="0"/>
              <a:t>When workers calculate that because of lost welfare benefits and extra direct taxes they are no better off working than if they remain outside the employed labour force – thus unemployment can result from the problem of </a:t>
            </a:r>
            <a:r>
              <a:rPr lang="en-GB" b="1" dirty="0"/>
              <a:t>disincentives</a:t>
            </a:r>
            <a:r>
              <a:rPr lang="en-GB" dirty="0"/>
              <a:t>. Lower income tax rates and benefit reforms might be a solution to this – thereby boosting the supply of labour available to work in the economy</a:t>
            </a:r>
            <a:endParaRPr lang="en-US" dirty="0"/>
          </a:p>
        </p:txBody>
      </p:sp>
    </p:spTree>
    <p:extLst>
      <p:ext uri="{BB962C8B-B14F-4D97-AF65-F5344CB8AC3E}">
        <p14:creationId xmlns:p14="http://schemas.microsoft.com/office/powerpoint/2010/main" val="10797430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F481E7E-D29B-4F98-9D23-96E279CCE711}" type="slidenum">
              <a:rPr lang="en-US"/>
              <a:pPr/>
              <a:t>8</a:t>
            </a:fld>
            <a:endParaRPr lang="en-US"/>
          </a:p>
        </p:txBody>
      </p:sp>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p:txBody>
          <a:bodyPr/>
          <a:lstStyle/>
          <a:p>
            <a:r>
              <a:rPr lang="en-GB"/>
              <a:t>When there is a </a:t>
            </a:r>
            <a:r>
              <a:rPr lang="en-GB" b="1"/>
              <a:t>recession</a:t>
            </a:r>
            <a:r>
              <a:rPr lang="en-GB"/>
              <a:t> we see a rising level of unemployment because of </a:t>
            </a:r>
            <a:r>
              <a:rPr lang="en-GB" b="1"/>
              <a:t>plant closures</a:t>
            </a:r>
            <a:r>
              <a:rPr lang="en-GB"/>
              <a:t>, </a:t>
            </a:r>
            <a:r>
              <a:rPr lang="en-GB" b="1"/>
              <a:t>business failures</a:t>
            </a:r>
            <a:r>
              <a:rPr lang="en-GB"/>
              <a:t> and the inevitable increase in </a:t>
            </a:r>
            <a:r>
              <a:rPr lang="en-GB" b="1"/>
              <a:t>worker lay-offs</a:t>
            </a:r>
            <a:r>
              <a:rPr lang="en-GB"/>
              <a:t> and </a:t>
            </a:r>
            <a:r>
              <a:rPr lang="en-GB" b="1"/>
              <a:t>permanent redundancies</a:t>
            </a:r>
            <a:r>
              <a:rPr lang="en-GB"/>
              <a:t>. This is due to a fall in demand leading to a contraction in output across many industries. A downturn in demand is often the stimulus for businesses to </a:t>
            </a:r>
            <a:r>
              <a:rPr lang="en-GB" b="1"/>
              <a:t>rationalise</a:t>
            </a:r>
            <a:r>
              <a:rPr lang="en-GB"/>
              <a:t> their operations by cutting employment in order to control costs and restore some of their lost profitability. </a:t>
            </a:r>
            <a:endParaRPr lang="en-US"/>
          </a:p>
        </p:txBody>
      </p:sp>
    </p:spTree>
    <p:extLst>
      <p:ext uri="{BB962C8B-B14F-4D97-AF65-F5344CB8AC3E}">
        <p14:creationId xmlns:p14="http://schemas.microsoft.com/office/powerpoint/2010/main" val="35428724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C0C3108-B384-4EE9-8E4F-4ABD27F6DE0B}" type="slidenum">
              <a:rPr lang="en-US"/>
              <a:pPr/>
              <a:t>9</a:t>
            </a:fld>
            <a:endParaRPr lang="en-US"/>
          </a:p>
        </p:txBody>
      </p:sp>
      <p:sp>
        <p:nvSpPr>
          <p:cNvPr id="75778" name="Rectangle 2"/>
          <p:cNvSpPr>
            <a:spLocks noGrp="1" noRot="1" noChangeAspect="1" noChangeArrowheads="1" noTextEdit="1"/>
          </p:cNvSpPr>
          <p:nvPr>
            <p:ph type="sldImg"/>
          </p:nvPr>
        </p:nvSpPr>
        <p:spPr>
          <a:ln/>
        </p:spPr>
      </p:sp>
      <p:sp>
        <p:nvSpPr>
          <p:cNvPr id="75779" name="Rectangle 3"/>
          <p:cNvSpPr>
            <a:spLocks noGrp="1" noChangeArrowheads="1"/>
          </p:cNvSpPr>
          <p:nvPr>
            <p:ph type="body" idx="1"/>
          </p:nvPr>
        </p:nvSpPr>
        <p:spPr/>
        <p:txBody>
          <a:bodyPr/>
          <a:lstStyle/>
          <a:p>
            <a:r>
              <a:rPr lang="en-GB"/>
              <a:t>Persistent unemployment in the economy can be taken as a sign of a </a:t>
            </a:r>
            <a:r>
              <a:rPr lang="en-GB" b="1"/>
              <a:t>failure of the labour market</a:t>
            </a:r>
            <a:r>
              <a:rPr lang="en-GB"/>
              <a:t> to allocate labour resources efficiently</a:t>
            </a:r>
            <a:r>
              <a:rPr lang="en-US"/>
              <a:t>. </a:t>
            </a:r>
            <a:r>
              <a:rPr lang="en-GB" b="1"/>
              <a:t>Long-term unemployment</a:t>
            </a:r>
            <a:r>
              <a:rPr lang="en-GB"/>
              <a:t> damages individuals because they lose their self-respect and employers lose interest in them. Employers do not consider the long-term unemployed to be probable candidates for vacancies. It is therefore possible to have a large number of vacancies coexisting with high unemployment if many of the jobless have been out of work for a long time.</a:t>
            </a:r>
            <a:r>
              <a:rPr lang="en-US"/>
              <a:t> </a:t>
            </a:r>
          </a:p>
        </p:txBody>
      </p:sp>
    </p:spTree>
    <p:extLst>
      <p:ext uri="{BB962C8B-B14F-4D97-AF65-F5344CB8AC3E}">
        <p14:creationId xmlns:p14="http://schemas.microsoft.com/office/powerpoint/2010/main" val="16673498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963F5AE-B89F-4D70-9FCF-B7C86519ACD8}" type="slidenum">
              <a:rPr lang="en-US"/>
              <a:pPr/>
              <a:t>10</a:t>
            </a:fld>
            <a:endParaRPr lang="en-US"/>
          </a:p>
        </p:txBody>
      </p:sp>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p:txBody>
          <a:bodyPr/>
          <a:lstStyle/>
          <a:p>
            <a:pPr lvl="2"/>
            <a:endParaRPr lang="en-US"/>
          </a:p>
        </p:txBody>
      </p:sp>
    </p:spTree>
    <p:extLst>
      <p:ext uri="{BB962C8B-B14F-4D97-AF65-F5344CB8AC3E}">
        <p14:creationId xmlns:p14="http://schemas.microsoft.com/office/powerpoint/2010/main" val="17150381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BE8A363-D562-4C63-8AB7-8F426FE0EF79}" type="slidenum">
              <a:rPr lang="en-US"/>
              <a:pPr/>
              <a:t>12</a:t>
            </a:fld>
            <a:endParaRPr lang="en-US"/>
          </a:p>
        </p:txBody>
      </p:sp>
      <p:sp>
        <p:nvSpPr>
          <p:cNvPr id="82946" name="Rectangle 2"/>
          <p:cNvSpPr>
            <a:spLocks noGrp="1" noRot="1" noChangeAspect="1" noChangeArrowheads="1" noTextEdit="1"/>
          </p:cNvSpPr>
          <p:nvPr>
            <p:ph type="sldImg"/>
          </p:nvPr>
        </p:nvSpPr>
        <p:spPr>
          <a:ln/>
        </p:spPr>
      </p:sp>
      <p:sp>
        <p:nvSpPr>
          <p:cNvPr id="82947" name="Rectangle 3"/>
          <p:cNvSpPr>
            <a:spLocks noGrp="1" noChangeArrowheads="1"/>
          </p:cNvSpPr>
          <p:nvPr>
            <p:ph type="body" idx="1"/>
          </p:nvPr>
        </p:nvSpPr>
        <p:spPr/>
        <p:txBody>
          <a:bodyPr/>
          <a:lstStyle/>
          <a:p>
            <a:r>
              <a:rPr lang="en-GB" dirty="0"/>
              <a:t>The costs of unemployment include lost output (output within PPF) lost government revenue and increased expenditure on benefits. Unemployment has important </a:t>
            </a:r>
            <a:r>
              <a:rPr lang="en-GB" b="1" dirty="0"/>
              <a:t>social costs</a:t>
            </a:r>
            <a:r>
              <a:rPr lang="en-GB" dirty="0"/>
              <a:t> </a:t>
            </a:r>
            <a:r>
              <a:rPr lang="en-GB" dirty="0" err="1"/>
              <a:t>eg</a:t>
            </a:r>
            <a:r>
              <a:rPr lang="en-GB" dirty="0"/>
              <a:t> unequal income and diminished social cohesion; loss of status, alienation and frustration. The effects of unemployment will depend on its rate and duration – long term unemployment can be very costly and difficult to reduce</a:t>
            </a:r>
            <a:endParaRPr lang="en-US" dirty="0"/>
          </a:p>
        </p:txBody>
      </p:sp>
    </p:spTree>
    <p:extLst>
      <p:ext uri="{BB962C8B-B14F-4D97-AF65-F5344CB8AC3E}">
        <p14:creationId xmlns:p14="http://schemas.microsoft.com/office/powerpoint/2010/main" val="41499086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DF76D4DB-082B-4833-BB2A-DBFA289BD9A4}" type="slidenum">
              <a:rPr lang="en-US" smtClean="0"/>
              <a:pPr eaLnBrk="1" hangingPunct="1"/>
              <a:t>18</a:t>
            </a:fld>
            <a:endParaRPr lang="en-US" smtClean="0"/>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8402946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4CAA8912-9DA9-4706-970F-2EF128DEB44E}" type="slidenum">
              <a:rPr lang="en-US" smtClean="0"/>
              <a:pPr eaLnBrk="1" hangingPunct="1"/>
              <a:t>19</a:t>
            </a:fld>
            <a:endParaRPr lang="en-US" smtClean="0"/>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6614954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85D2E4B6-302D-4A79-B57D-D538E0CAFDB6}" type="slidenum">
              <a:rPr lang="en-US" smtClean="0"/>
              <a:pPr eaLnBrk="1" hangingPunct="1"/>
              <a:t>20</a:t>
            </a:fld>
            <a:endParaRPr lang="en-US" smtClean="0"/>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4204517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CB154602-7FD2-4956-9C87-B5FB6AD45F31}" type="slidenum">
              <a:rPr lang="en-US" smtClean="0"/>
              <a:pPr eaLnBrk="1" hangingPunct="1"/>
              <a:t>21</a:t>
            </a:fld>
            <a:endParaRPr lang="en-US" smtClean="0"/>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42553722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6AAB25B9-8DA5-44E5-9672-7D54A468DA5E}" type="slidenum">
              <a:rPr lang="en-US" smtClean="0"/>
              <a:pPr eaLnBrk="1" hangingPunct="1"/>
              <a:t>22</a:t>
            </a:fld>
            <a:endParaRPr lang="en-US" smtClean="0"/>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38869683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B913E672-025C-42F4-83F0-44CA1BA5C241}" type="slidenum">
              <a:rPr lang="en-US" smtClean="0"/>
              <a:pPr eaLnBrk="1" hangingPunct="1"/>
              <a:t>24</a:t>
            </a:fld>
            <a:endParaRPr lang="en-US" smtClean="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0552631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77E7F2A4-4F7D-424A-B0FE-932F1F9DF36C}" type="slidenum">
              <a:rPr lang="en-US" smtClean="0"/>
              <a:pPr eaLnBrk="1" hangingPunct="1"/>
              <a:t>25</a:t>
            </a:fld>
            <a:endParaRPr lang="en-US" smtClean="0"/>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7376072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13C5E69F-F625-4DC7-8605-13C6A727C41B}" type="slidenum">
              <a:rPr lang="en-US" smtClean="0"/>
              <a:pPr eaLnBrk="1" hangingPunct="1"/>
              <a:t>26</a:t>
            </a:fld>
            <a:endParaRPr lang="en-US" smtClean="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5426010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6" name="Text Box 1"/>
          <p:cNvSpPr txBox="1">
            <a:spLocks noChangeArrowheads="1"/>
          </p:cNvSpPr>
          <p:nvPr/>
        </p:nvSpPr>
        <p:spPr bwMode="auto">
          <a:xfrm>
            <a:off x="2143125" y="695325"/>
            <a:ext cx="2571750" cy="3429000"/>
          </a:xfrm>
          <a:prstGeom prst="rect">
            <a:avLst/>
          </a:prstGeom>
          <a:solidFill>
            <a:srgbClr val="FFFFFF"/>
          </a:solidFill>
          <a:ln w="9525">
            <a:solidFill>
              <a:srgbClr val="000000"/>
            </a:solidFill>
            <a:miter lim="800000"/>
            <a:headEnd/>
            <a:tailEnd/>
          </a:ln>
        </p:spPr>
        <p:txBody>
          <a:bodyPr wrap="none" anchor="ctr"/>
          <a:lstStyle>
            <a:lvl1pPr eaLnBrk="0" hangingPunct="0">
              <a:defRPr sz="2400">
                <a:solidFill>
                  <a:schemeClr val="bg1"/>
                </a:solidFill>
                <a:latin typeface="Times New Roman" charset="0"/>
                <a:ea typeface="Lucida Sans Unicode" pitchFamily="34" charset="0"/>
                <a:cs typeface="Lucida Sans Unicode" pitchFamily="34" charset="0"/>
              </a:defRPr>
            </a:lvl1pPr>
            <a:lvl2pPr marL="742950" indent="-285750" eaLnBrk="0" hangingPunct="0">
              <a:defRPr sz="2400">
                <a:solidFill>
                  <a:schemeClr val="bg1"/>
                </a:solidFill>
                <a:latin typeface="Times New Roman" charset="0"/>
                <a:ea typeface="Lucida Sans Unicode" pitchFamily="34" charset="0"/>
                <a:cs typeface="Lucida Sans Unicode" pitchFamily="34" charset="0"/>
              </a:defRPr>
            </a:lvl2pPr>
            <a:lvl3pPr marL="1143000" indent="-228600" eaLnBrk="0" hangingPunct="0">
              <a:defRPr sz="2400">
                <a:solidFill>
                  <a:schemeClr val="bg1"/>
                </a:solidFill>
                <a:latin typeface="Times New Roman" charset="0"/>
                <a:ea typeface="Lucida Sans Unicode" pitchFamily="34" charset="0"/>
                <a:cs typeface="Lucida Sans Unicode" pitchFamily="34" charset="0"/>
              </a:defRPr>
            </a:lvl3pPr>
            <a:lvl4pPr marL="1600200" indent="-228600" eaLnBrk="0" hangingPunct="0">
              <a:defRPr sz="2400">
                <a:solidFill>
                  <a:schemeClr val="bg1"/>
                </a:solidFill>
                <a:latin typeface="Times New Roman" charset="0"/>
                <a:ea typeface="Lucida Sans Unicode" pitchFamily="34" charset="0"/>
                <a:cs typeface="Lucida Sans Unicode" pitchFamily="34" charset="0"/>
              </a:defRPr>
            </a:lvl4pPr>
            <a:lvl5pPr marL="2057400" indent="-228600" eaLnBrk="0" hangingPunct="0">
              <a:defRPr sz="2400">
                <a:solidFill>
                  <a:schemeClr val="bg1"/>
                </a:solidFill>
                <a:latin typeface="Times New Roman" charset="0"/>
                <a:ea typeface="Lucida Sans Unicode" pitchFamily="34" charset="0"/>
                <a:cs typeface="Lucida Sans Unicode" pitchFamily="34" charset="0"/>
              </a:defRPr>
            </a:lvl5pPr>
            <a:lvl6pPr marL="2514600" indent="-228600" defTabSz="449263" eaLnBrk="0" fontAlgn="base" hangingPunct="0">
              <a:lnSpc>
                <a:spcPct val="90000"/>
              </a:lnSpc>
              <a:spcBef>
                <a:spcPct val="0"/>
              </a:spcBef>
              <a:spcAft>
                <a:spcPct val="0"/>
              </a:spcAft>
              <a:buClr>
                <a:srgbClr val="5B5249"/>
              </a:buClr>
              <a:buSzPct val="100000"/>
              <a:buFont typeface="Times New Roman" charset="0"/>
              <a:defRPr sz="2400">
                <a:solidFill>
                  <a:schemeClr val="bg1"/>
                </a:solidFill>
                <a:latin typeface="Times New Roman" charset="0"/>
                <a:ea typeface="Lucida Sans Unicode" pitchFamily="34" charset="0"/>
                <a:cs typeface="Lucida Sans Unicode" pitchFamily="34" charset="0"/>
              </a:defRPr>
            </a:lvl6pPr>
            <a:lvl7pPr marL="2971800" indent="-228600" defTabSz="449263" eaLnBrk="0" fontAlgn="base" hangingPunct="0">
              <a:lnSpc>
                <a:spcPct val="90000"/>
              </a:lnSpc>
              <a:spcBef>
                <a:spcPct val="0"/>
              </a:spcBef>
              <a:spcAft>
                <a:spcPct val="0"/>
              </a:spcAft>
              <a:buClr>
                <a:srgbClr val="5B5249"/>
              </a:buClr>
              <a:buSzPct val="100000"/>
              <a:buFont typeface="Times New Roman" charset="0"/>
              <a:defRPr sz="2400">
                <a:solidFill>
                  <a:schemeClr val="bg1"/>
                </a:solidFill>
                <a:latin typeface="Times New Roman" charset="0"/>
                <a:ea typeface="Lucida Sans Unicode" pitchFamily="34" charset="0"/>
                <a:cs typeface="Lucida Sans Unicode" pitchFamily="34" charset="0"/>
              </a:defRPr>
            </a:lvl7pPr>
            <a:lvl8pPr marL="3429000" indent="-228600" defTabSz="449263" eaLnBrk="0" fontAlgn="base" hangingPunct="0">
              <a:lnSpc>
                <a:spcPct val="90000"/>
              </a:lnSpc>
              <a:spcBef>
                <a:spcPct val="0"/>
              </a:spcBef>
              <a:spcAft>
                <a:spcPct val="0"/>
              </a:spcAft>
              <a:buClr>
                <a:srgbClr val="5B5249"/>
              </a:buClr>
              <a:buSzPct val="100000"/>
              <a:buFont typeface="Times New Roman" charset="0"/>
              <a:defRPr sz="2400">
                <a:solidFill>
                  <a:schemeClr val="bg1"/>
                </a:solidFill>
                <a:latin typeface="Times New Roman" charset="0"/>
                <a:ea typeface="Lucida Sans Unicode" pitchFamily="34" charset="0"/>
                <a:cs typeface="Lucida Sans Unicode" pitchFamily="34" charset="0"/>
              </a:defRPr>
            </a:lvl8pPr>
            <a:lvl9pPr marL="3886200" indent="-228600" defTabSz="449263" eaLnBrk="0" fontAlgn="base" hangingPunct="0">
              <a:lnSpc>
                <a:spcPct val="90000"/>
              </a:lnSpc>
              <a:spcBef>
                <a:spcPct val="0"/>
              </a:spcBef>
              <a:spcAft>
                <a:spcPct val="0"/>
              </a:spcAft>
              <a:buClr>
                <a:srgbClr val="5B5249"/>
              </a:buClr>
              <a:buSzPct val="100000"/>
              <a:buFont typeface="Times New Roman" charset="0"/>
              <a:defRPr sz="2400">
                <a:solidFill>
                  <a:schemeClr val="bg1"/>
                </a:solidFill>
                <a:latin typeface="Times New Roman" charset="0"/>
                <a:ea typeface="Lucida Sans Unicode" pitchFamily="34" charset="0"/>
                <a:cs typeface="Lucida Sans Unicode" pitchFamily="34" charset="0"/>
              </a:defRPr>
            </a:lvl9pPr>
          </a:lstStyle>
          <a:p>
            <a:pPr eaLnBrk="1" hangingPunct="1"/>
            <a:endParaRPr lang="sk-SK"/>
          </a:p>
        </p:txBody>
      </p:sp>
      <p:sp>
        <p:nvSpPr>
          <p:cNvPr id="36867" name="Rectangle 2"/>
          <p:cNvSpPr>
            <a:spLocks noGrp="1" noChangeArrowheads="1"/>
          </p:cNvSpPr>
          <p:nvPr>
            <p:ph type="body"/>
          </p:nvPr>
        </p:nvSpPr>
        <p:spPr>
          <a:xfrm>
            <a:off x="685800" y="4343400"/>
            <a:ext cx="5484813"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cs-CZ" smtClean="0"/>
          </a:p>
        </p:txBody>
      </p:sp>
    </p:spTree>
    <p:extLst>
      <p:ext uri="{BB962C8B-B14F-4D97-AF65-F5344CB8AC3E}">
        <p14:creationId xmlns:p14="http://schemas.microsoft.com/office/powerpoint/2010/main" val="1940851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90" name="Text Box 1"/>
          <p:cNvSpPr txBox="1">
            <a:spLocks noChangeArrowheads="1"/>
          </p:cNvSpPr>
          <p:nvPr/>
        </p:nvSpPr>
        <p:spPr bwMode="auto">
          <a:xfrm>
            <a:off x="2143125" y="695325"/>
            <a:ext cx="2571750" cy="3429000"/>
          </a:xfrm>
          <a:prstGeom prst="rect">
            <a:avLst/>
          </a:prstGeom>
          <a:solidFill>
            <a:srgbClr val="FFFFFF"/>
          </a:solidFill>
          <a:ln w="9525">
            <a:solidFill>
              <a:srgbClr val="000000"/>
            </a:solidFill>
            <a:miter lim="800000"/>
            <a:headEnd/>
            <a:tailEnd/>
          </a:ln>
        </p:spPr>
        <p:txBody>
          <a:bodyPr wrap="none" anchor="ctr"/>
          <a:lstStyle>
            <a:lvl1pPr eaLnBrk="0" hangingPunct="0">
              <a:defRPr sz="2400">
                <a:solidFill>
                  <a:schemeClr val="bg1"/>
                </a:solidFill>
                <a:latin typeface="Times New Roman" charset="0"/>
                <a:ea typeface="Lucida Sans Unicode" pitchFamily="34" charset="0"/>
                <a:cs typeface="Lucida Sans Unicode" pitchFamily="34" charset="0"/>
              </a:defRPr>
            </a:lvl1pPr>
            <a:lvl2pPr marL="742950" indent="-285750" eaLnBrk="0" hangingPunct="0">
              <a:defRPr sz="2400">
                <a:solidFill>
                  <a:schemeClr val="bg1"/>
                </a:solidFill>
                <a:latin typeface="Times New Roman" charset="0"/>
                <a:ea typeface="Lucida Sans Unicode" pitchFamily="34" charset="0"/>
                <a:cs typeface="Lucida Sans Unicode" pitchFamily="34" charset="0"/>
              </a:defRPr>
            </a:lvl2pPr>
            <a:lvl3pPr marL="1143000" indent="-228600" eaLnBrk="0" hangingPunct="0">
              <a:defRPr sz="2400">
                <a:solidFill>
                  <a:schemeClr val="bg1"/>
                </a:solidFill>
                <a:latin typeface="Times New Roman" charset="0"/>
                <a:ea typeface="Lucida Sans Unicode" pitchFamily="34" charset="0"/>
                <a:cs typeface="Lucida Sans Unicode" pitchFamily="34" charset="0"/>
              </a:defRPr>
            </a:lvl3pPr>
            <a:lvl4pPr marL="1600200" indent="-228600" eaLnBrk="0" hangingPunct="0">
              <a:defRPr sz="2400">
                <a:solidFill>
                  <a:schemeClr val="bg1"/>
                </a:solidFill>
                <a:latin typeface="Times New Roman" charset="0"/>
                <a:ea typeface="Lucida Sans Unicode" pitchFamily="34" charset="0"/>
                <a:cs typeface="Lucida Sans Unicode" pitchFamily="34" charset="0"/>
              </a:defRPr>
            </a:lvl4pPr>
            <a:lvl5pPr marL="2057400" indent="-228600" eaLnBrk="0" hangingPunct="0">
              <a:defRPr sz="2400">
                <a:solidFill>
                  <a:schemeClr val="bg1"/>
                </a:solidFill>
                <a:latin typeface="Times New Roman" charset="0"/>
                <a:ea typeface="Lucida Sans Unicode" pitchFamily="34" charset="0"/>
                <a:cs typeface="Lucida Sans Unicode" pitchFamily="34" charset="0"/>
              </a:defRPr>
            </a:lvl5pPr>
            <a:lvl6pPr marL="2514600" indent="-228600" defTabSz="449263" eaLnBrk="0" fontAlgn="base" hangingPunct="0">
              <a:lnSpc>
                <a:spcPct val="90000"/>
              </a:lnSpc>
              <a:spcBef>
                <a:spcPct val="0"/>
              </a:spcBef>
              <a:spcAft>
                <a:spcPct val="0"/>
              </a:spcAft>
              <a:buClr>
                <a:srgbClr val="5B5249"/>
              </a:buClr>
              <a:buSzPct val="100000"/>
              <a:buFont typeface="Times New Roman" charset="0"/>
              <a:defRPr sz="2400">
                <a:solidFill>
                  <a:schemeClr val="bg1"/>
                </a:solidFill>
                <a:latin typeface="Times New Roman" charset="0"/>
                <a:ea typeface="Lucida Sans Unicode" pitchFamily="34" charset="0"/>
                <a:cs typeface="Lucida Sans Unicode" pitchFamily="34" charset="0"/>
              </a:defRPr>
            </a:lvl6pPr>
            <a:lvl7pPr marL="2971800" indent="-228600" defTabSz="449263" eaLnBrk="0" fontAlgn="base" hangingPunct="0">
              <a:lnSpc>
                <a:spcPct val="90000"/>
              </a:lnSpc>
              <a:spcBef>
                <a:spcPct val="0"/>
              </a:spcBef>
              <a:spcAft>
                <a:spcPct val="0"/>
              </a:spcAft>
              <a:buClr>
                <a:srgbClr val="5B5249"/>
              </a:buClr>
              <a:buSzPct val="100000"/>
              <a:buFont typeface="Times New Roman" charset="0"/>
              <a:defRPr sz="2400">
                <a:solidFill>
                  <a:schemeClr val="bg1"/>
                </a:solidFill>
                <a:latin typeface="Times New Roman" charset="0"/>
                <a:ea typeface="Lucida Sans Unicode" pitchFamily="34" charset="0"/>
                <a:cs typeface="Lucida Sans Unicode" pitchFamily="34" charset="0"/>
              </a:defRPr>
            </a:lvl7pPr>
            <a:lvl8pPr marL="3429000" indent="-228600" defTabSz="449263" eaLnBrk="0" fontAlgn="base" hangingPunct="0">
              <a:lnSpc>
                <a:spcPct val="90000"/>
              </a:lnSpc>
              <a:spcBef>
                <a:spcPct val="0"/>
              </a:spcBef>
              <a:spcAft>
                <a:spcPct val="0"/>
              </a:spcAft>
              <a:buClr>
                <a:srgbClr val="5B5249"/>
              </a:buClr>
              <a:buSzPct val="100000"/>
              <a:buFont typeface="Times New Roman" charset="0"/>
              <a:defRPr sz="2400">
                <a:solidFill>
                  <a:schemeClr val="bg1"/>
                </a:solidFill>
                <a:latin typeface="Times New Roman" charset="0"/>
                <a:ea typeface="Lucida Sans Unicode" pitchFamily="34" charset="0"/>
                <a:cs typeface="Lucida Sans Unicode" pitchFamily="34" charset="0"/>
              </a:defRPr>
            </a:lvl8pPr>
            <a:lvl9pPr marL="3886200" indent="-228600" defTabSz="449263" eaLnBrk="0" fontAlgn="base" hangingPunct="0">
              <a:lnSpc>
                <a:spcPct val="90000"/>
              </a:lnSpc>
              <a:spcBef>
                <a:spcPct val="0"/>
              </a:spcBef>
              <a:spcAft>
                <a:spcPct val="0"/>
              </a:spcAft>
              <a:buClr>
                <a:srgbClr val="5B5249"/>
              </a:buClr>
              <a:buSzPct val="100000"/>
              <a:buFont typeface="Times New Roman" charset="0"/>
              <a:defRPr sz="2400">
                <a:solidFill>
                  <a:schemeClr val="bg1"/>
                </a:solidFill>
                <a:latin typeface="Times New Roman" charset="0"/>
                <a:ea typeface="Lucida Sans Unicode" pitchFamily="34" charset="0"/>
                <a:cs typeface="Lucida Sans Unicode" pitchFamily="34" charset="0"/>
              </a:defRPr>
            </a:lvl9pPr>
          </a:lstStyle>
          <a:p>
            <a:pPr eaLnBrk="1" hangingPunct="1"/>
            <a:endParaRPr lang="sk-SK"/>
          </a:p>
        </p:txBody>
      </p:sp>
      <p:sp>
        <p:nvSpPr>
          <p:cNvPr id="37891" name="Rectangle 2"/>
          <p:cNvSpPr>
            <a:spLocks noGrp="1" noChangeArrowheads="1"/>
          </p:cNvSpPr>
          <p:nvPr>
            <p:ph type="body"/>
          </p:nvPr>
        </p:nvSpPr>
        <p:spPr>
          <a:xfrm>
            <a:off x="685800" y="4343400"/>
            <a:ext cx="5484813"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cs-CZ" smtClean="0"/>
          </a:p>
        </p:txBody>
      </p:sp>
    </p:spTree>
    <p:extLst>
      <p:ext uri="{BB962C8B-B14F-4D97-AF65-F5344CB8AC3E}">
        <p14:creationId xmlns:p14="http://schemas.microsoft.com/office/powerpoint/2010/main" val="4252989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4388A1B-5E75-4461-94CC-807BA021FA4D}" type="datetime1">
              <a:rPr lang="en-US" smtClean="0"/>
              <a:pPr/>
              <a:t>6/16/2021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804E46-749C-4BD1-80C7-5411E2FBF066}" type="slidenum">
              <a:rPr lang="en-US" smtClean="0"/>
              <a:pPr/>
              <a:t>‹#›</a:t>
            </a:fld>
            <a:endParaRPr lang="en-US"/>
          </a:p>
        </p:txBody>
      </p:sp>
    </p:spTree>
    <p:extLst>
      <p:ext uri="{BB962C8B-B14F-4D97-AF65-F5344CB8AC3E}">
        <p14:creationId xmlns:p14="http://schemas.microsoft.com/office/powerpoint/2010/main" val="34961886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E574937-2DD2-46F0-B8B9-E3001ADBBCE5}" type="datetime1">
              <a:rPr lang="en-US" smtClean="0"/>
              <a:pPr/>
              <a:t>6/16/2021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804E46-749C-4BD1-80C7-5411E2FBF066}" type="slidenum">
              <a:rPr lang="en-US" smtClean="0"/>
              <a:pPr/>
              <a:t>‹#›</a:t>
            </a:fld>
            <a:endParaRPr lang="en-US"/>
          </a:p>
        </p:txBody>
      </p:sp>
    </p:spTree>
    <p:extLst>
      <p:ext uri="{BB962C8B-B14F-4D97-AF65-F5344CB8AC3E}">
        <p14:creationId xmlns:p14="http://schemas.microsoft.com/office/powerpoint/2010/main" val="18924104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F03B51A-39E1-478B-9123-44C4B6C8500B}" type="datetime1">
              <a:rPr lang="en-US" smtClean="0"/>
              <a:pPr/>
              <a:t>6/16/2021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804E46-749C-4BD1-80C7-5411E2FBF066}" type="slidenum">
              <a:rPr lang="en-US" smtClean="0"/>
              <a:pPr/>
              <a:t>‹#›</a:t>
            </a:fld>
            <a:endParaRPr lang="en-US"/>
          </a:p>
        </p:txBody>
      </p:sp>
    </p:spTree>
    <p:extLst>
      <p:ext uri="{BB962C8B-B14F-4D97-AF65-F5344CB8AC3E}">
        <p14:creationId xmlns:p14="http://schemas.microsoft.com/office/powerpoint/2010/main" val="1111272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EED0CCC-9908-4150-890D-38BE743831AD}" type="datetime1">
              <a:rPr lang="en-US" smtClean="0"/>
              <a:pPr/>
              <a:t>6/16/2021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804E46-749C-4BD1-80C7-5411E2FBF066}" type="slidenum">
              <a:rPr lang="en-US" smtClean="0"/>
              <a:pPr/>
              <a:t>‹#›</a:t>
            </a:fld>
            <a:endParaRPr lang="en-US"/>
          </a:p>
        </p:txBody>
      </p:sp>
    </p:spTree>
    <p:extLst>
      <p:ext uri="{BB962C8B-B14F-4D97-AF65-F5344CB8AC3E}">
        <p14:creationId xmlns:p14="http://schemas.microsoft.com/office/powerpoint/2010/main" val="12298470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86C0E3D-3BDD-46CD-AAFA-0D257E2A134D}" type="datetime1">
              <a:rPr lang="en-US" smtClean="0"/>
              <a:pPr/>
              <a:t>6/16/2021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804E46-749C-4BD1-80C7-5411E2FBF066}" type="slidenum">
              <a:rPr lang="en-US" smtClean="0"/>
              <a:pPr/>
              <a:t>‹#›</a:t>
            </a:fld>
            <a:endParaRPr lang="en-US"/>
          </a:p>
        </p:txBody>
      </p:sp>
    </p:spTree>
    <p:extLst>
      <p:ext uri="{BB962C8B-B14F-4D97-AF65-F5344CB8AC3E}">
        <p14:creationId xmlns:p14="http://schemas.microsoft.com/office/powerpoint/2010/main" val="1249948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EBBDF01-BC82-4F6F-869B-396294CBEF39}" type="datetime1">
              <a:rPr lang="en-US" smtClean="0"/>
              <a:pPr/>
              <a:t>6/16/2021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804E46-749C-4BD1-80C7-5411E2FBF066}" type="slidenum">
              <a:rPr lang="en-US" smtClean="0"/>
              <a:pPr/>
              <a:t>‹#›</a:t>
            </a:fld>
            <a:endParaRPr lang="en-US"/>
          </a:p>
        </p:txBody>
      </p:sp>
    </p:spTree>
    <p:extLst>
      <p:ext uri="{BB962C8B-B14F-4D97-AF65-F5344CB8AC3E}">
        <p14:creationId xmlns:p14="http://schemas.microsoft.com/office/powerpoint/2010/main" val="12062509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EBADC3-D6F5-4539-97E2-7566B31E3997}" type="datetime1">
              <a:rPr lang="en-US" smtClean="0"/>
              <a:pPr/>
              <a:t>6/16/2021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2804E46-749C-4BD1-80C7-5411E2FBF066}" type="slidenum">
              <a:rPr lang="en-US" smtClean="0"/>
              <a:pPr/>
              <a:t>‹#›</a:t>
            </a:fld>
            <a:endParaRPr lang="en-US"/>
          </a:p>
        </p:txBody>
      </p:sp>
    </p:spTree>
    <p:extLst>
      <p:ext uri="{BB962C8B-B14F-4D97-AF65-F5344CB8AC3E}">
        <p14:creationId xmlns:p14="http://schemas.microsoft.com/office/powerpoint/2010/main" val="3621228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3875964-25E7-4921-A7CC-E86B0F34FC07}" type="datetime1">
              <a:rPr lang="en-US" smtClean="0"/>
              <a:pPr/>
              <a:t>6/16/2021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804E46-749C-4BD1-80C7-5411E2FBF066}" type="slidenum">
              <a:rPr lang="en-US" smtClean="0"/>
              <a:pPr/>
              <a:t>‹#›</a:t>
            </a:fld>
            <a:endParaRPr lang="en-US"/>
          </a:p>
        </p:txBody>
      </p:sp>
    </p:spTree>
    <p:extLst>
      <p:ext uri="{BB962C8B-B14F-4D97-AF65-F5344CB8AC3E}">
        <p14:creationId xmlns:p14="http://schemas.microsoft.com/office/powerpoint/2010/main" val="40393047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4C56867-5A33-40AD-83F6-CB59E4B22D76}" type="datetime1">
              <a:rPr lang="en-US" smtClean="0"/>
              <a:pPr/>
              <a:t>6/16/2021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804E46-749C-4BD1-80C7-5411E2FBF066}" type="slidenum">
              <a:rPr lang="en-US" smtClean="0"/>
              <a:pPr/>
              <a:t>‹#›</a:t>
            </a:fld>
            <a:endParaRPr lang="en-US"/>
          </a:p>
        </p:txBody>
      </p:sp>
    </p:spTree>
    <p:extLst>
      <p:ext uri="{BB962C8B-B14F-4D97-AF65-F5344CB8AC3E}">
        <p14:creationId xmlns:p14="http://schemas.microsoft.com/office/powerpoint/2010/main" val="2806325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A0E5C04-5D89-4750-AD7A-793A1408D0BB}" type="datetime1">
              <a:rPr lang="en-US" smtClean="0"/>
              <a:pPr/>
              <a:t>6/16/2021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804E46-749C-4BD1-80C7-5411E2FBF066}" type="slidenum">
              <a:rPr lang="en-US" smtClean="0"/>
              <a:pPr/>
              <a:t>‹#›</a:t>
            </a:fld>
            <a:endParaRPr lang="en-US"/>
          </a:p>
        </p:txBody>
      </p:sp>
    </p:spTree>
    <p:extLst>
      <p:ext uri="{BB962C8B-B14F-4D97-AF65-F5344CB8AC3E}">
        <p14:creationId xmlns:p14="http://schemas.microsoft.com/office/powerpoint/2010/main" val="2990232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F588C2C-F4D6-4800-A89E-C855A46B291A}" type="datetime1">
              <a:rPr lang="en-US" smtClean="0"/>
              <a:pPr/>
              <a:t>6/16/2021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804E46-749C-4BD1-80C7-5411E2FBF066}" type="slidenum">
              <a:rPr lang="en-US" smtClean="0"/>
              <a:pPr/>
              <a:t>‹#›</a:t>
            </a:fld>
            <a:endParaRPr lang="en-US"/>
          </a:p>
        </p:txBody>
      </p:sp>
    </p:spTree>
    <p:extLst>
      <p:ext uri="{BB962C8B-B14F-4D97-AF65-F5344CB8AC3E}">
        <p14:creationId xmlns:p14="http://schemas.microsoft.com/office/powerpoint/2010/main" val="17574394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301625"/>
            <a:ext cx="7772400" cy="1462088"/>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85800" y="6248400"/>
            <a:ext cx="1905000" cy="457200"/>
          </a:xfrm>
        </p:spPr>
        <p:txBody>
          <a:bodyPr/>
          <a:lstStyle>
            <a:lvl1pPr>
              <a:defRPr/>
            </a:lvl1pPr>
          </a:lstStyle>
          <a:p>
            <a:fld id="{38436E70-FB9D-4A5E-9101-14CAFDF29984}" type="datetime1">
              <a:rPr lang="en-US" smtClean="0"/>
              <a:pPr/>
              <a:t>6/16/2021</a:t>
            </a:fld>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B3005E4A-EC37-40C9-A46E-C0A67781B478}" type="slidenum">
              <a:rPr lang="en-US"/>
              <a:pPr/>
              <a:t>‹#›</a:t>
            </a:fld>
            <a:endParaRPr lang="en-US"/>
          </a:p>
        </p:txBody>
      </p:sp>
    </p:spTree>
    <p:extLst>
      <p:ext uri="{BB962C8B-B14F-4D97-AF65-F5344CB8AC3E}">
        <p14:creationId xmlns:p14="http://schemas.microsoft.com/office/powerpoint/2010/main" val="2009081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52E19B-8C5F-4C1D-B94F-6F74DC133A27}" type="datetime1">
              <a:rPr lang="en-US" smtClean="0"/>
              <a:pPr/>
              <a:t>6/16/2021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804E46-749C-4BD1-80C7-5411E2FBF066}" type="slidenum">
              <a:rPr lang="en-US" smtClean="0"/>
              <a:pPr/>
              <a:t>‹#›</a:t>
            </a:fld>
            <a:endParaRPr lang="en-US"/>
          </a:p>
        </p:txBody>
      </p:sp>
    </p:spTree>
    <p:extLst>
      <p:ext uri="{BB962C8B-B14F-4D97-AF65-F5344CB8AC3E}">
        <p14:creationId xmlns:p14="http://schemas.microsoft.com/office/powerpoint/2010/main" val="42112307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hyperlink" Target="../Additional%20statistics/3_KEI.pdf" TargetMode="Externa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3" Type="http://schemas.openxmlformats.org/officeDocument/2006/relationships/hyperlink" Target="../Additional%20statistics/3_KEI.pdf" TargetMode="Externa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hyperlink" Target="../Additional%20statistics/5_Chapter_01.pdf"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audio" Target="../media/audio1.wav"/><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26368" y="1186265"/>
            <a:ext cx="6517482" cy="2020957"/>
          </a:xfrm>
        </p:spPr>
        <p:txBody>
          <a:bodyPr/>
          <a:lstStyle/>
          <a:p>
            <a:r>
              <a:rPr lang="en-US" dirty="0" smtClean="0"/>
              <a:t> </a:t>
            </a:r>
            <a:r>
              <a:rPr lang="en-US" dirty="0"/>
              <a:t>Fundamentals of Economics</a:t>
            </a:r>
          </a:p>
        </p:txBody>
      </p:sp>
      <p:sp>
        <p:nvSpPr>
          <p:cNvPr id="3" name="Subtitle 2"/>
          <p:cNvSpPr>
            <a:spLocks noGrp="1"/>
          </p:cNvSpPr>
          <p:nvPr>
            <p:ph type="subTitle" idx="1"/>
          </p:nvPr>
        </p:nvSpPr>
        <p:spPr>
          <a:xfrm>
            <a:off x="1484709" y="3429000"/>
            <a:ext cx="6400800" cy="2209800"/>
          </a:xfrm>
        </p:spPr>
        <p:txBody>
          <a:bodyPr>
            <a:noAutofit/>
          </a:bodyPr>
          <a:lstStyle/>
          <a:p>
            <a:r>
              <a:rPr lang="en-US" sz="2000" b="1" dirty="0" err="1" smtClean="0"/>
              <a:t>M.M.L.C.Gunathilake</a:t>
            </a:r>
            <a:endParaRPr lang="en-US" sz="2000" b="1" dirty="0" smtClean="0"/>
          </a:p>
          <a:p>
            <a:r>
              <a:rPr lang="en-US" sz="2000" b="1" dirty="0" smtClean="0"/>
              <a:t>Senior Lecturer Gr II</a:t>
            </a:r>
          </a:p>
          <a:p>
            <a:r>
              <a:rPr lang="en-US" sz="2000" b="1" dirty="0" smtClean="0"/>
              <a:t>Department of Management and </a:t>
            </a:r>
            <a:r>
              <a:rPr lang="en-US" sz="2000" b="1" dirty="0"/>
              <a:t>F</a:t>
            </a:r>
            <a:r>
              <a:rPr lang="en-US" sz="2000" b="1" dirty="0" smtClean="0"/>
              <a:t>inance</a:t>
            </a:r>
          </a:p>
          <a:p>
            <a:r>
              <a:rPr lang="en-US" sz="2000" b="1" dirty="0" smtClean="0"/>
              <a:t>General Sir John </a:t>
            </a:r>
            <a:r>
              <a:rPr lang="en-US" sz="2000" b="1" dirty="0" err="1" smtClean="0"/>
              <a:t>Kotelawala</a:t>
            </a:r>
            <a:r>
              <a:rPr lang="en-US" sz="2000" b="1" dirty="0" smtClean="0"/>
              <a:t> </a:t>
            </a:r>
            <a:r>
              <a:rPr lang="en-US" sz="2000" b="1" dirty="0" err="1" smtClean="0"/>
              <a:t>Defence</a:t>
            </a:r>
            <a:r>
              <a:rPr lang="en-US" sz="2000" b="1" dirty="0" smtClean="0"/>
              <a:t> University</a:t>
            </a:r>
          </a:p>
          <a:p>
            <a:r>
              <a:rPr lang="en-US" sz="2000" b="1" dirty="0" smtClean="0"/>
              <a:t> </a:t>
            </a:r>
            <a:r>
              <a:rPr lang="en-US" sz="2000" b="1" dirty="0" err="1" smtClean="0"/>
              <a:t>Ratmalana</a:t>
            </a:r>
            <a:endParaRPr lang="en-US" sz="2000" b="1" dirty="0"/>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5BE99D-ECB1-4FCE-9054-66FB2E623C70}"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4" name="Picture 3" descr="5"/>
          <p:cNvPicPr/>
          <p:nvPr/>
        </p:nvPicPr>
        <p:blipFill>
          <a:blip r:embed="rId2" cstate="print">
            <a:clrChange>
              <a:clrFrom>
                <a:srgbClr val="F8F8F0"/>
              </a:clrFrom>
              <a:clrTo>
                <a:srgbClr val="F8F8F0">
                  <a:alpha val="0"/>
                </a:srgbClr>
              </a:clrTo>
            </a:clrChange>
            <a:lum bright="-20000" contrast="20000"/>
          </a:blip>
          <a:srcRect/>
          <a:stretch>
            <a:fillRect/>
          </a:stretch>
        </p:blipFill>
        <p:spPr bwMode="auto">
          <a:xfrm>
            <a:off x="3352800" y="0"/>
            <a:ext cx="2133600" cy="1676400"/>
          </a:xfrm>
          <a:prstGeom prst="rect">
            <a:avLst/>
          </a:prstGeom>
          <a:solidFill>
            <a:srgbClr val="FFFFFF"/>
          </a:solidFill>
          <a:ln w="9525">
            <a:solidFill>
              <a:srgbClr val="FFFFFF"/>
            </a:solidFill>
            <a:miter lim="800000"/>
            <a:headEnd/>
            <a:tailEnd/>
          </a:ln>
        </p:spPr>
      </p:pic>
    </p:spTree>
    <p:extLst>
      <p:ext uri="{BB962C8B-B14F-4D97-AF65-F5344CB8AC3E}">
        <p14:creationId xmlns:p14="http://schemas.microsoft.com/office/powerpoint/2010/main" val="29755729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en-GB" sz="4300"/>
              <a:t>Unemployment</a:t>
            </a:r>
            <a:endParaRPr lang="en-US" sz="4300"/>
          </a:p>
        </p:txBody>
      </p:sp>
      <p:sp>
        <p:nvSpPr>
          <p:cNvPr id="3" name="Slide Number Placeholder 2"/>
          <p:cNvSpPr>
            <a:spLocks noGrp="1"/>
          </p:cNvSpPr>
          <p:nvPr>
            <p:ph type="sldNum" sz="quarter" idx="12"/>
          </p:nvPr>
        </p:nvSpPr>
        <p:spPr/>
        <p:txBody>
          <a:bodyPr/>
          <a:lstStyle/>
          <a:p>
            <a:fld id="{62804E46-749C-4BD1-80C7-5411E2FBF066}" type="slidenum">
              <a:rPr lang="en-US" smtClean="0"/>
              <a:pPr/>
              <a:t>2</a:t>
            </a:fld>
            <a:endParaRPr lang="en-US"/>
          </a:p>
        </p:txBody>
      </p:sp>
    </p:spTree>
    <p:extLst>
      <p:ext uri="{BB962C8B-B14F-4D97-AF65-F5344CB8AC3E}">
        <p14:creationId xmlns:p14="http://schemas.microsoft.com/office/powerpoint/2010/main" val="31609851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r>
              <a:rPr lang="en-GB"/>
              <a:t>Key Issues</a:t>
            </a:r>
            <a:endParaRPr lang="en-US"/>
          </a:p>
        </p:txBody>
      </p:sp>
      <p:sp>
        <p:nvSpPr>
          <p:cNvPr id="115715" name="Rectangle 3"/>
          <p:cNvSpPr>
            <a:spLocks noGrp="1" noChangeArrowheads="1"/>
          </p:cNvSpPr>
          <p:nvPr>
            <p:ph type="body" idx="1"/>
          </p:nvPr>
        </p:nvSpPr>
        <p:spPr/>
        <p:txBody>
          <a:bodyPr/>
          <a:lstStyle/>
          <a:p>
            <a:r>
              <a:rPr lang="en-GB" dirty="0"/>
              <a:t>The meaning of unemployment</a:t>
            </a:r>
          </a:p>
          <a:p>
            <a:r>
              <a:rPr lang="en-GB" dirty="0"/>
              <a:t>Different types of unemployment</a:t>
            </a:r>
          </a:p>
          <a:p>
            <a:r>
              <a:rPr lang="en-GB" dirty="0"/>
              <a:t>Consequences of unemployment</a:t>
            </a:r>
          </a:p>
          <a:p>
            <a:r>
              <a:rPr lang="en-GB" dirty="0"/>
              <a:t>Unemployment and economic growth</a:t>
            </a:r>
          </a:p>
          <a:p>
            <a:r>
              <a:rPr lang="en-GB" dirty="0" smtClean="0"/>
              <a:t>Full </a:t>
            </a:r>
            <a:r>
              <a:rPr lang="en-GB" dirty="0"/>
              <a:t>employment</a:t>
            </a:r>
            <a:endParaRPr lang="en-US" dirty="0"/>
          </a:p>
        </p:txBody>
      </p:sp>
      <p:sp>
        <p:nvSpPr>
          <p:cNvPr id="3" name="Slide Number Placeholder 2"/>
          <p:cNvSpPr>
            <a:spLocks noGrp="1"/>
          </p:cNvSpPr>
          <p:nvPr>
            <p:ph type="sldNum" sz="quarter" idx="12"/>
          </p:nvPr>
        </p:nvSpPr>
        <p:spPr/>
        <p:txBody>
          <a:bodyPr/>
          <a:lstStyle/>
          <a:p>
            <a:fld id="{62804E46-749C-4BD1-80C7-5411E2FBF066}" type="slidenum">
              <a:rPr lang="en-US" smtClean="0"/>
              <a:pPr/>
              <a:t>3</a:t>
            </a:fld>
            <a:endParaRPr lang="en-US"/>
          </a:p>
        </p:txBody>
      </p:sp>
    </p:spTree>
    <p:extLst>
      <p:ext uri="{BB962C8B-B14F-4D97-AF65-F5344CB8AC3E}">
        <p14:creationId xmlns:p14="http://schemas.microsoft.com/office/powerpoint/2010/main" val="9535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4" name="Rectangle 4"/>
          <p:cNvSpPr>
            <a:spLocks noGrp="1" noChangeArrowheads="1"/>
          </p:cNvSpPr>
          <p:nvPr>
            <p:ph type="title"/>
          </p:nvPr>
        </p:nvSpPr>
        <p:spPr/>
        <p:txBody>
          <a:bodyPr/>
          <a:lstStyle/>
          <a:p>
            <a:r>
              <a:rPr lang="en-GB"/>
              <a:t>Measuring Unemployment</a:t>
            </a:r>
          </a:p>
        </p:txBody>
      </p:sp>
      <p:sp>
        <p:nvSpPr>
          <p:cNvPr id="10245" name="Rectangle 5"/>
          <p:cNvSpPr>
            <a:spLocks noGrp="1" noChangeArrowheads="1"/>
          </p:cNvSpPr>
          <p:nvPr>
            <p:ph type="body" idx="1"/>
          </p:nvPr>
        </p:nvSpPr>
        <p:spPr>
          <a:xfrm>
            <a:off x="304800" y="1495425"/>
            <a:ext cx="8839200" cy="4957763"/>
          </a:xfrm>
        </p:spPr>
        <p:txBody>
          <a:bodyPr/>
          <a:lstStyle/>
          <a:p>
            <a:r>
              <a:rPr lang="en-GB" sz="2900" dirty="0"/>
              <a:t>A Working Definition of </a:t>
            </a:r>
            <a:r>
              <a:rPr lang="en-GB" sz="2900" dirty="0" smtClean="0"/>
              <a:t>Unemployment</a:t>
            </a:r>
          </a:p>
          <a:p>
            <a:pPr marL="0" indent="0">
              <a:buNone/>
            </a:pPr>
            <a:endParaRPr lang="en-GB" sz="2900" dirty="0"/>
          </a:p>
          <a:p>
            <a:pPr lvl="1"/>
            <a:r>
              <a:rPr lang="en-GB" sz="3000" dirty="0"/>
              <a:t>People able, available and willing to find work and actively seeking work – but not </a:t>
            </a:r>
            <a:r>
              <a:rPr lang="en-GB" sz="3000" dirty="0" smtClean="0"/>
              <a:t>employed</a:t>
            </a:r>
          </a:p>
          <a:p>
            <a:pPr marL="457200" lvl="1" indent="0">
              <a:buNone/>
            </a:pPr>
            <a:endParaRPr lang="en-GB" sz="3000" dirty="0"/>
          </a:p>
          <a:p>
            <a:pPr lvl="1"/>
            <a:r>
              <a:rPr lang="en-GB" sz="3000" dirty="0"/>
              <a:t>The unemployed are included in the labour force</a:t>
            </a:r>
          </a:p>
        </p:txBody>
      </p:sp>
      <p:sp>
        <p:nvSpPr>
          <p:cNvPr id="3" name="Slide Number Placeholder 2"/>
          <p:cNvSpPr>
            <a:spLocks noGrp="1"/>
          </p:cNvSpPr>
          <p:nvPr>
            <p:ph type="sldNum" sz="quarter" idx="12"/>
          </p:nvPr>
        </p:nvSpPr>
        <p:spPr/>
        <p:txBody>
          <a:bodyPr/>
          <a:lstStyle/>
          <a:p>
            <a:fld id="{62804E46-749C-4BD1-80C7-5411E2FBF066}" type="slidenum">
              <a:rPr lang="en-US" smtClean="0"/>
              <a:pPr/>
              <a:t>4</a:t>
            </a:fld>
            <a:endParaRPr lang="en-US"/>
          </a:p>
        </p:txBody>
      </p:sp>
    </p:spTree>
    <p:extLst>
      <p:ext uri="{BB962C8B-B14F-4D97-AF65-F5344CB8AC3E}">
        <p14:creationId xmlns:p14="http://schemas.microsoft.com/office/powerpoint/2010/main" val="32513773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2" name="Rectangle 4"/>
          <p:cNvSpPr>
            <a:spLocks noGrp="1" noChangeArrowheads="1"/>
          </p:cNvSpPr>
          <p:nvPr>
            <p:ph type="title"/>
          </p:nvPr>
        </p:nvSpPr>
        <p:spPr/>
        <p:txBody>
          <a:bodyPr/>
          <a:lstStyle/>
          <a:p>
            <a:r>
              <a:rPr lang="en-GB"/>
              <a:t>Types of Unemployment</a:t>
            </a:r>
          </a:p>
        </p:txBody>
      </p:sp>
      <p:sp>
        <p:nvSpPr>
          <p:cNvPr id="7173" name="Rectangle 5"/>
          <p:cNvSpPr>
            <a:spLocks noGrp="1" noChangeArrowheads="1"/>
          </p:cNvSpPr>
          <p:nvPr>
            <p:ph type="body" idx="1"/>
          </p:nvPr>
        </p:nvSpPr>
        <p:spPr>
          <a:xfrm>
            <a:off x="533401" y="1376363"/>
            <a:ext cx="8091488" cy="5095875"/>
          </a:xfrm>
        </p:spPr>
        <p:txBody>
          <a:bodyPr/>
          <a:lstStyle/>
          <a:p>
            <a:pPr marL="0" indent="0">
              <a:buNone/>
            </a:pPr>
            <a:r>
              <a:rPr lang="en-GB" b="1" dirty="0" smtClean="0">
                <a:solidFill>
                  <a:srgbClr val="C00000"/>
                </a:solidFill>
              </a:rPr>
              <a:t>1.Seasonal </a:t>
            </a:r>
            <a:endParaRPr lang="en-GB" b="1" dirty="0">
              <a:solidFill>
                <a:srgbClr val="C00000"/>
              </a:solidFill>
            </a:endParaRPr>
          </a:p>
          <a:p>
            <a:pPr lvl="1" algn="just"/>
            <a:r>
              <a:rPr lang="en-GB" dirty="0"/>
              <a:t>Regular seasonal changes in employment / labour </a:t>
            </a:r>
            <a:r>
              <a:rPr lang="en-GB" dirty="0" smtClean="0"/>
              <a:t>demand</a:t>
            </a:r>
          </a:p>
          <a:p>
            <a:pPr lvl="1"/>
            <a:endParaRPr lang="en-GB" dirty="0"/>
          </a:p>
          <a:p>
            <a:pPr lvl="1"/>
            <a:r>
              <a:rPr lang="en-GB" dirty="0"/>
              <a:t>Affects certain industries more than others</a:t>
            </a:r>
          </a:p>
          <a:p>
            <a:pPr lvl="2"/>
            <a:r>
              <a:rPr lang="en-GB" dirty="0"/>
              <a:t>Catering and leisure</a:t>
            </a:r>
          </a:p>
          <a:p>
            <a:pPr lvl="2"/>
            <a:r>
              <a:rPr lang="en-GB" dirty="0"/>
              <a:t>Construction</a:t>
            </a:r>
          </a:p>
          <a:p>
            <a:pPr lvl="2"/>
            <a:r>
              <a:rPr lang="en-GB" dirty="0"/>
              <a:t>Retailing</a:t>
            </a:r>
          </a:p>
          <a:p>
            <a:pPr lvl="2"/>
            <a:r>
              <a:rPr lang="en-GB" dirty="0"/>
              <a:t>Tourism </a:t>
            </a:r>
          </a:p>
          <a:p>
            <a:pPr lvl="2"/>
            <a:r>
              <a:rPr lang="en-GB" dirty="0"/>
              <a:t>Agriculture</a:t>
            </a:r>
          </a:p>
        </p:txBody>
      </p:sp>
      <p:sp>
        <p:nvSpPr>
          <p:cNvPr id="3" name="Slide Number Placeholder 2"/>
          <p:cNvSpPr>
            <a:spLocks noGrp="1"/>
          </p:cNvSpPr>
          <p:nvPr>
            <p:ph type="sldNum" sz="quarter" idx="12"/>
          </p:nvPr>
        </p:nvSpPr>
        <p:spPr/>
        <p:txBody>
          <a:bodyPr/>
          <a:lstStyle/>
          <a:p>
            <a:fld id="{62804E46-749C-4BD1-80C7-5411E2FBF066}" type="slidenum">
              <a:rPr lang="en-US" smtClean="0"/>
              <a:pPr/>
              <a:t>5</a:t>
            </a:fld>
            <a:endParaRPr lang="en-US"/>
          </a:p>
        </p:txBody>
      </p:sp>
    </p:spTree>
    <p:extLst>
      <p:ext uri="{BB962C8B-B14F-4D97-AF65-F5344CB8AC3E}">
        <p14:creationId xmlns:p14="http://schemas.microsoft.com/office/powerpoint/2010/main" val="37497313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2" name="Rectangle 4"/>
          <p:cNvSpPr>
            <a:spLocks noGrp="1" noChangeArrowheads="1"/>
          </p:cNvSpPr>
          <p:nvPr>
            <p:ph type="title"/>
          </p:nvPr>
        </p:nvSpPr>
        <p:spPr/>
        <p:txBody>
          <a:bodyPr/>
          <a:lstStyle/>
          <a:p>
            <a:r>
              <a:rPr lang="en-GB"/>
              <a:t>Types of Unemployment</a:t>
            </a:r>
          </a:p>
        </p:txBody>
      </p:sp>
      <p:sp>
        <p:nvSpPr>
          <p:cNvPr id="32773" name="Rectangle 5"/>
          <p:cNvSpPr>
            <a:spLocks noGrp="1" noChangeArrowheads="1"/>
          </p:cNvSpPr>
          <p:nvPr>
            <p:ph type="body" idx="1"/>
          </p:nvPr>
        </p:nvSpPr>
        <p:spPr>
          <a:xfrm>
            <a:off x="533401" y="1376363"/>
            <a:ext cx="8091488" cy="5095875"/>
          </a:xfrm>
        </p:spPr>
        <p:txBody>
          <a:bodyPr>
            <a:normAutofit lnSpcReduction="10000"/>
          </a:bodyPr>
          <a:lstStyle/>
          <a:p>
            <a:pPr marL="0" indent="0">
              <a:buNone/>
            </a:pPr>
            <a:r>
              <a:rPr lang="en-GB" b="1" dirty="0">
                <a:solidFill>
                  <a:srgbClr val="FF0000"/>
                </a:solidFill>
              </a:rPr>
              <a:t>2</a:t>
            </a:r>
            <a:r>
              <a:rPr lang="en-GB" b="1" dirty="0" smtClean="0">
                <a:solidFill>
                  <a:srgbClr val="FF0000"/>
                </a:solidFill>
              </a:rPr>
              <a:t>. Frictional </a:t>
            </a:r>
            <a:endParaRPr lang="en-GB" b="1" dirty="0">
              <a:solidFill>
                <a:srgbClr val="FF0000"/>
              </a:solidFill>
            </a:endParaRPr>
          </a:p>
          <a:p>
            <a:pPr lvl="1" algn="just"/>
            <a:r>
              <a:rPr lang="en-US" dirty="0"/>
              <a:t>Transitional unemployment due to people moving between jobs: </a:t>
            </a:r>
            <a:r>
              <a:rPr lang="en-GB" dirty="0"/>
              <a:t>Includes people experiencing short spells of </a:t>
            </a:r>
            <a:r>
              <a:rPr lang="en-GB" dirty="0" smtClean="0"/>
              <a:t>unemployment</a:t>
            </a:r>
          </a:p>
          <a:p>
            <a:pPr lvl="1"/>
            <a:endParaRPr lang="en-GB" dirty="0"/>
          </a:p>
          <a:p>
            <a:pPr lvl="1" algn="just"/>
            <a:r>
              <a:rPr lang="en-GB" dirty="0"/>
              <a:t>Includes new and returning entrants into the labour </a:t>
            </a:r>
            <a:r>
              <a:rPr lang="en-GB" dirty="0" smtClean="0"/>
              <a:t>market</a:t>
            </a:r>
          </a:p>
          <a:p>
            <a:pPr lvl="1"/>
            <a:endParaRPr lang="en-GB" dirty="0"/>
          </a:p>
          <a:p>
            <a:pPr lvl="1" algn="just"/>
            <a:r>
              <a:rPr lang="en-GB" dirty="0"/>
              <a:t>Imperfect information about available job opportunities can lengthen the period of someone’s job search</a:t>
            </a:r>
          </a:p>
        </p:txBody>
      </p:sp>
      <p:sp>
        <p:nvSpPr>
          <p:cNvPr id="3" name="Slide Number Placeholder 2"/>
          <p:cNvSpPr>
            <a:spLocks noGrp="1"/>
          </p:cNvSpPr>
          <p:nvPr>
            <p:ph type="sldNum" sz="quarter" idx="12"/>
          </p:nvPr>
        </p:nvSpPr>
        <p:spPr/>
        <p:txBody>
          <a:bodyPr/>
          <a:lstStyle/>
          <a:p>
            <a:fld id="{62804E46-749C-4BD1-80C7-5411E2FBF066}" type="slidenum">
              <a:rPr lang="en-US" smtClean="0"/>
              <a:pPr/>
              <a:t>6</a:t>
            </a:fld>
            <a:endParaRPr lang="en-US"/>
          </a:p>
        </p:txBody>
      </p:sp>
    </p:spTree>
    <p:extLst>
      <p:ext uri="{BB962C8B-B14F-4D97-AF65-F5344CB8AC3E}">
        <p14:creationId xmlns:p14="http://schemas.microsoft.com/office/powerpoint/2010/main" val="19983389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4"/>
          <p:cNvSpPr>
            <a:spLocks noGrp="1" noChangeArrowheads="1"/>
          </p:cNvSpPr>
          <p:nvPr>
            <p:ph type="title"/>
          </p:nvPr>
        </p:nvSpPr>
        <p:spPr/>
        <p:txBody>
          <a:bodyPr/>
          <a:lstStyle/>
          <a:p>
            <a:r>
              <a:rPr lang="en-GB"/>
              <a:t>Structural Unemployment</a:t>
            </a:r>
            <a:endParaRPr lang="en-US"/>
          </a:p>
        </p:txBody>
      </p:sp>
      <p:sp>
        <p:nvSpPr>
          <p:cNvPr id="8197" name="Rectangle 5"/>
          <p:cNvSpPr>
            <a:spLocks noGrp="1" noChangeArrowheads="1"/>
          </p:cNvSpPr>
          <p:nvPr>
            <p:ph type="body" idx="1"/>
          </p:nvPr>
        </p:nvSpPr>
        <p:spPr>
          <a:xfrm>
            <a:off x="457200" y="1376363"/>
            <a:ext cx="8237539" cy="5095875"/>
          </a:xfrm>
        </p:spPr>
        <p:txBody>
          <a:bodyPr/>
          <a:lstStyle/>
          <a:p>
            <a:pPr marL="0" indent="0">
              <a:buNone/>
            </a:pPr>
            <a:r>
              <a:rPr lang="en-GB" b="1" dirty="0">
                <a:solidFill>
                  <a:srgbClr val="FF0000"/>
                </a:solidFill>
              </a:rPr>
              <a:t>3</a:t>
            </a:r>
            <a:r>
              <a:rPr lang="en-GB" b="1" dirty="0" smtClean="0">
                <a:solidFill>
                  <a:srgbClr val="FF0000"/>
                </a:solidFill>
              </a:rPr>
              <a:t>. Structural</a:t>
            </a:r>
          </a:p>
          <a:p>
            <a:pPr marL="0" indent="0">
              <a:buNone/>
            </a:pPr>
            <a:endParaRPr lang="en-GB" b="1" dirty="0">
              <a:solidFill>
                <a:srgbClr val="FF0000"/>
              </a:solidFill>
            </a:endParaRPr>
          </a:p>
          <a:p>
            <a:pPr lvl="1" algn="just"/>
            <a:r>
              <a:rPr lang="en-GB" dirty="0"/>
              <a:t>Arises from the mismatch of skills and job opportunities as the pattern of labour demand in the economy changes</a:t>
            </a:r>
          </a:p>
          <a:p>
            <a:pPr lvl="1"/>
            <a:r>
              <a:rPr lang="en-GB" dirty="0" smtClean="0"/>
              <a:t>Often </a:t>
            </a:r>
            <a:r>
              <a:rPr lang="en-GB" dirty="0"/>
              <a:t>involves long-term unemployment</a:t>
            </a:r>
          </a:p>
          <a:p>
            <a:pPr lvl="1"/>
            <a:r>
              <a:rPr lang="en-GB" dirty="0"/>
              <a:t>Prevalent in regions where industries go into long-term decline</a:t>
            </a:r>
          </a:p>
          <a:p>
            <a:pPr lvl="1"/>
            <a:r>
              <a:rPr lang="en-GB" dirty="0"/>
              <a:t>Good examples include industries such as </a:t>
            </a:r>
            <a:r>
              <a:rPr lang="en-GB" u="sng" dirty="0">
                <a:solidFill>
                  <a:srgbClr val="FF0000"/>
                </a:solidFill>
              </a:rPr>
              <a:t>mining, engineering and textiles</a:t>
            </a:r>
          </a:p>
        </p:txBody>
      </p:sp>
      <p:sp>
        <p:nvSpPr>
          <p:cNvPr id="3" name="Slide Number Placeholder 2"/>
          <p:cNvSpPr>
            <a:spLocks noGrp="1"/>
          </p:cNvSpPr>
          <p:nvPr>
            <p:ph type="sldNum" sz="quarter" idx="12"/>
          </p:nvPr>
        </p:nvSpPr>
        <p:spPr/>
        <p:txBody>
          <a:bodyPr/>
          <a:lstStyle/>
          <a:p>
            <a:fld id="{62804E46-749C-4BD1-80C7-5411E2FBF066}" type="slidenum">
              <a:rPr lang="en-US" smtClean="0"/>
              <a:pPr/>
              <a:t>7</a:t>
            </a:fld>
            <a:endParaRPr lang="en-US"/>
          </a:p>
        </p:txBody>
      </p:sp>
    </p:spTree>
    <p:extLst>
      <p:ext uri="{BB962C8B-B14F-4D97-AF65-F5344CB8AC3E}">
        <p14:creationId xmlns:p14="http://schemas.microsoft.com/office/powerpoint/2010/main" val="4269273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8" name="Rectangle 6"/>
          <p:cNvSpPr>
            <a:spLocks noGrp="1" noChangeArrowheads="1"/>
          </p:cNvSpPr>
          <p:nvPr>
            <p:ph type="title"/>
          </p:nvPr>
        </p:nvSpPr>
        <p:spPr/>
        <p:txBody>
          <a:bodyPr/>
          <a:lstStyle/>
          <a:p>
            <a:r>
              <a:rPr lang="en-GB" dirty="0"/>
              <a:t>Cyclical unemployment</a:t>
            </a:r>
            <a:endParaRPr lang="en-US" dirty="0"/>
          </a:p>
        </p:txBody>
      </p:sp>
      <p:sp>
        <p:nvSpPr>
          <p:cNvPr id="33799" name="Rectangle 7"/>
          <p:cNvSpPr>
            <a:spLocks noGrp="1" noChangeArrowheads="1"/>
          </p:cNvSpPr>
          <p:nvPr>
            <p:ph type="body" idx="1"/>
          </p:nvPr>
        </p:nvSpPr>
        <p:spPr/>
        <p:txBody>
          <a:bodyPr>
            <a:normAutofit fontScale="77500" lnSpcReduction="20000"/>
          </a:bodyPr>
          <a:lstStyle/>
          <a:p>
            <a:pPr marL="0" indent="0">
              <a:buNone/>
            </a:pPr>
            <a:r>
              <a:rPr lang="en-GB" sz="2800" b="1" dirty="0">
                <a:solidFill>
                  <a:srgbClr val="FF0000"/>
                </a:solidFill>
              </a:rPr>
              <a:t>4</a:t>
            </a:r>
            <a:r>
              <a:rPr lang="en-GB" sz="2800" b="1" dirty="0" smtClean="0">
                <a:solidFill>
                  <a:srgbClr val="FF0000"/>
                </a:solidFill>
              </a:rPr>
              <a:t>. Cyclical </a:t>
            </a:r>
            <a:r>
              <a:rPr lang="en-GB" sz="2800" b="1" dirty="0">
                <a:solidFill>
                  <a:srgbClr val="FF0000"/>
                </a:solidFill>
              </a:rPr>
              <a:t>(Keynesian</a:t>
            </a:r>
            <a:r>
              <a:rPr lang="en-GB" sz="2800" b="1" dirty="0" smtClean="0">
                <a:solidFill>
                  <a:srgbClr val="FF0000"/>
                </a:solidFill>
              </a:rPr>
              <a:t>)</a:t>
            </a:r>
          </a:p>
          <a:p>
            <a:pPr marL="0" indent="0">
              <a:buNone/>
            </a:pPr>
            <a:endParaRPr lang="en-GB" sz="2100" b="1" dirty="0">
              <a:solidFill>
                <a:srgbClr val="FF0000"/>
              </a:solidFill>
            </a:endParaRPr>
          </a:p>
          <a:p>
            <a:pPr lvl="1" algn="just"/>
            <a:r>
              <a:rPr lang="en-GB" sz="3000" dirty="0"/>
              <a:t>There is a cyclical relationship between demand, output, employment and unemployment</a:t>
            </a:r>
          </a:p>
          <a:p>
            <a:pPr lvl="1" algn="just"/>
            <a:endParaRPr lang="en-GB" sz="3000" dirty="0"/>
          </a:p>
          <a:p>
            <a:pPr lvl="1" algn="just"/>
            <a:r>
              <a:rPr lang="en-GB" sz="3000" dirty="0"/>
              <a:t>Caused by a fall in aggregate demand leading to a loss of real national output and employment</a:t>
            </a:r>
          </a:p>
          <a:p>
            <a:pPr lvl="1" algn="just"/>
            <a:endParaRPr lang="en-GB" sz="3000" dirty="0"/>
          </a:p>
          <a:p>
            <a:pPr lvl="1" algn="just"/>
            <a:r>
              <a:rPr lang="en-GB" sz="3000" dirty="0"/>
              <a:t>A slowdown can lead to businesses laying off workers because they lack confidence that demand will recover</a:t>
            </a:r>
          </a:p>
          <a:p>
            <a:pPr lvl="1" algn="just"/>
            <a:endParaRPr lang="en-GB" sz="3000" dirty="0"/>
          </a:p>
          <a:p>
            <a:pPr lvl="1" algn="just"/>
            <a:r>
              <a:rPr lang="en-GB" sz="3000" dirty="0"/>
              <a:t>Keynes argued that an economy can become stuck with a low rate of AD and an economy operating persistently below its potential</a:t>
            </a:r>
          </a:p>
        </p:txBody>
      </p:sp>
      <p:sp>
        <p:nvSpPr>
          <p:cNvPr id="3" name="Slide Number Placeholder 2"/>
          <p:cNvSpPr>
            <a:spLocks noGrp="1"/>
          </p:cNvSpPr>
          <p:nvPr>
            <p:ph type="sldNum" sz="quarter" idx="12"/>
          </p:nvPr>
        </p:nvSpPr>
        <p:spPr/>
        <p:txBody>
          <a:bodyPr/>
          <a:lstStyle/>
          <a:p>
            <a:fld id="{62804E46-749C-4BD1-80C7-5411E2FBF066}" type="slidenum">
              <a:rPr lang="en-US" smtClean="0"/>
              <a:pPr/>
              <a:t>8</a:t>
            </a:fld>
            <a:endParaRPr lang="en-US"/>
          </a:p>
        </p:txBody>
      </p:sp>
    </p:spTree>
    <p:extLst>
      <p:ext uri="{BB962C8B-B14F-4D97-AF65-F5344CB8AC3E}">
        <p14:creationId xmlns:p14="http://schemas.microsoft.com/office/powerpoint/2010/main" val="14931417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4" name="Rectangle 6"/>
          <p:cNvSpPr>
            <a:spLocks noGrp="1" noChangeArrowheads="1"/>
          </p:cNvSpPr>
          <p:nvPr>
            <p:ph type="title"/>
          </p:nvPr>
        </p:nvSpPr>
        <p:spPr/>
        <p:txBody>
          <a:bodyPr>
            <a:normAutofit fontScale="90000"/>
          </a:bodyPr>
          <a:lstStyle/>
          <a:p>
            <a:r>
              <a:rPr lang="en-GB"/>
              <a:t>Economic and Social Costs of Unemployment</a:t>
            </a:r>
          </a:p>
        </p:txBody>
      </p:sp>
      <p:sp>
        <p:nvSpPr>
          <p:cNvPr id="27655" name="Rectangle 7"/>
          <p:cNvSpPr>
            <a:spLocks noGrp="1" noChangeArrowheads="1"/>
          </p:cNvSpPr>
          <p:nvPr>
            <p:ph type="body" idx="1"/>
          </p:nvPr>
        </p:nvSpPr>
        <p:spPr>
          <a:xfrm>
            <a:off x="0" y="1417638"/>
            <a:ext cx="9296400" cy="5440362"/>
          </a:xfrm>
        </p:spPr>
        <p:txBody>
          <a:bodyPr>
            <a:normAutofit/>
          </a:bodyPr>
          <a:lstStyle/>
          <a:p>
            <a:r>
              <a:rPr lang="en-GB" sz="2300" dirty="0"/>
              <a:t>The private costs for the unemployed</a:t>
            </a:r>
          </a:p>
          <a:p>
            <a:pPr lvl="1"/>
            <a:r>
              <a:rPr lang="en-GB" sz="2300" dirty="0"/>
              <a:t>Loss of income</a:t>
            </a:r>
          </a:p>
          <a:p>
            <a:pPr lvl="1"/>
            <a:r>
              <a:rPr lang="en-GB" sz="2300" dirty="0"/>
              <a:t>Fall in real living standards</a:t>
            </a:r>
          </a:p>
          <a:p>
            <a:pPr lvl="1"/>
            <a:r>
              <a:rPr lang="en-GB" sz="2300" dirty="0"/>
              <a:t>Increased health risks</a:t>
            </a:r>
          </a:p>
          <a:p>
            <a:pPr lvl="2"/>
            <a:r>
              <a:rPr lang="en-GB" sz="2300" dirty="0"/>
              <a:t>Stress</a:t>
            </a:r>
          </a:p>
          <a:p>
            <a:pPr lvl="2"/>
            <a:r>
              <a:rPr lang="en-GB" sz="2300" dirty="0"/>
              <a:t>Reduction in quality of diet</a:t>
            </a:r>
          </a:p>
          <a:p>
            <a:pPr lvl="2"/>
            <a:r>
              <a:rPr lang="en-GB" sz="2300" dirty="0"/>
              <a:t>Social exclusion because of loss of work and income</a:t>
            </a:r>
          </a:p>
          <a:p>
            <a:pPr lvl="1"/>
            <a:r>
              <a:rPr lang="en-GB" sz="2300" dirty="0"/>
              <a:t>Loss of marketable skills (human capital) and </a:t>
            </a:r>
            <a:r>
              <a:rPr lang="en-GB" sz="2300" dirty="0" smtClean="0"/>
              <a:t>motivation</a:t>
            </a:r>
          </a:p>
          <a:p>
            <a:pPr marL="457200" lvl="1" indent="0">
              <a:buNone/>
            </a:pPr>
            <a:endParaRPr lang="en-GB" sz="2300" dirty="0"/>
          </a:p>
          <a:p>
            <a:pPr lvl="2"/>
            <a:r>
              <a:rPr lang="en-GB" sz="2300" dirty="0"/>
              <a:t>The longer the duration of unemployment, the lower the chances of finding fresh employment - the unemployed become less attractive to potential employers</a:t>
            </a:r>
          </a:p>
        </p:txBody>
      </p:sp>
      <p:sp>
        <p:nvSpPr>
          <p:cNvPr id="3" name="Slide Number Placeholder 2"/>
          <p:cNvSpPr>
            <a:spLocks noGrp="1"/>
          </p:cNvSpPr>
          <p:nvPr>
            <p:ph type="sldNum" sz="quarter" idx="12"/>
          </p:nvPr>
        </p:nvSpPr>
        <p:spPr/>
        <p:txBody>
          <a:bodyPr/>
          <a:lstStyle/>
          <a:p>
            <a:fld id="{62804E46-749C-4BD1-80C7-5411E2FBF066}" type="slidenum">
              <a:rPr lang="en-US" smtClean="0"/>
              <a:pPr/>
              <a:t>9</a:t>
            </a:fld>
            <a:endParaRPr lang="en-US"/>
          </a:p>
        </p:txBody>
      </p:sp>
    </p:spTree>
    <p:extLst>
      <p:ext uri="{BB962C8B-B14F-4D97-AF65-F5344CB8AC3E}">
        <p14:creationId xmlns:p14="http://schemas.microsoft.com/office/powerpoint/2010/main" val="417055175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8" name="Rectangle 6"/>
          <p:cNvSpPr>
            <a:spLocks noGrp="1" noChangeArrowheads="1"/>
          </p:cNvSpPr>
          <p:nvPr>
            <p:ph type="title"/>
          </p:nvPr>
        </p:nvSpPr>
        <p:spPr/>
        <p:txBody>
          <a:bodyPr>
            <a:normAutofit/>
          </a:bodyPr>
          <a:lstStyle/>
          <a:p>
            <a:r>
              <a:rPr lang="en-GB" dirty="0"/>
              <a:t>Consequences of </a:t>
            </a:r>
            <a:r>
              <a:rPr lang="en-GB" dirty="0" smtClean="0"/>
              <a:t>Unemployment</a:t>
            </a:r>
            <a:endParaRPr lang="en-GB" dirty="0"/>
          </a:p>
        </p:txBody>
      </p:sp>
      <p:sp>
        <p:nvSpPr>
          <p:cNvPr id="28679" name="Rectangle 7"/>
          <p:cNvSpPr>
            <a:spLocks noGrp="1" noChangeArrowheads="1"/>
          </p:cNvSpPr>
          <p:nvPr>
            <p:ph type="body" idx="1"/>
          </p:nvPr>
        </p:nvSpPr>
        <p:spPr/>
        <p:txBody>
          <a:bodyPr/>
          <a:lstStyle/>
          <a:p>
            <a:r>
              <a:rPr lang="en-GB" sz="2100" dirty="0"/>
              <a:t>Economic Consequences for Businesses</a:t>
            </a:r>
          </a:p>
          <a:p>
            <a:pPr lvl="1"/>
            <a:r>
              <a:rPr lang="en-GB" sz="2200" b="1" dirty="0"/>
              <a:t>Negative consequences</a:t>
            </a:r>
          </a:p>
          <a:p>
            <a:pPr lvl="2"/>
            <a:r>
              <a:rPr lang="en-GB" sz="2000" dirty="0"/>
              <a:t>Fall in demand for goods and services</a:t>
            </a:r>
          </a:p>
          <a:p>
            <a:pPr lvl="2"/>
            <a:r>
              <a:rPr lang="en-GB" sz="2000" dirty="0"/>
              <a:t>Fall in demand for businesses further down the supply chain</a:t>
            </a:r>
          </a:p>
          <a:p>
            <a:pPr lvl="2"/>
            <a:r>
              <a:rPr lang="en-GB" sz="2000" dirty="0"/>
              <a:t>Consider the negative multiplier effects from the closure of a major employer in a town or city</a:t>
            </a:r>
          </a:p>
          <a:p>
            <a:pPr lvl="1"/>
            <a:r>
              <a:rPr lang="en-GB" sz="2200" b="1" dirty="0"/>
              <a:t>Some positive consequences</a:t>
            </a:r>
          </a:p>
          <a:p>
            <a:pPr lvl="2"/>
            <a:r>
              <a:rPr lang="en-GB" sz="2000" dirty="0"/>
              <a:t>Bigger pool of surplus labour is available – but still a problem if there is plenty of structural unemployment</a:t>
            </a:r>
          </a:p>
          <a:p>
            <a:pPr lvl="2"/>
            <a:r>
              <a:rPr lang="en-GB" sz="2000" dirty="0"/>
              <a:t>Less pressure to pay higher wages</a:t>
            </a:r>
          </a:p>
          <a:p>
            <a:pPr lvl="2"/>
            <a:r>
              <a:rPr lang="en-GB" sz="2000" dirty="0"/>
              <a:t>Less risk of industrial / strike action – fear of job losses – leading to reduced trade union power</a:t>
            </a:r>
          </a:p>
        </p:txBody>
      </p:sp>
      <p:sp>
        <p:nvSpPr>
          <p:cNvPr id="3" name="Slide Number Placeholder 2"/>
          <p:cNvSpPr>
            <a:spLocks noGrp="1"/>
          </p:cNvSpPr>
          <p:nvPr>
            <p:ph type="sldNum" sz="quarter" idx="12"/>
          </p:nvPr>
        </p:nvSpPr>
        <p:spPr/>
        <p:txBody>
          <a:bodyPr/>
          <a:lstStyle/>
          <a:p>
            <a:fld id="{62804E46-749C-4BD1-80C7-5411E2FBF066}" type="slidenum">
              <a:rPr lang="en-US" smtClean="0"/>
              <a:pPr/>
              <a:t>10</a:t>
            </a:fld>
            <a:endParaRPr lang="en-US"/>
          </a:p>
        </p:txBody>
      </p:sp>
    </p:spTree>
    <p:extLst>
      <p:ext uri="{BB962C8B-B14F-4D97-AF65-F5344CB8AC3E}">
        <p14:creationId xmlns:p14="http://schemas.microsoft.com/office/powerpoint/2010/main" val="8419561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700" name="Rectangle 4"/>
          <p:cNvSpPr>
            <a:spLocks noGrp="1" noChangeArrowheads="1"/>
          </p:cNvSpPr>
          <p:nvPr>
            <p:ph type="title"/>
          </p:nvPr>
        </p:nvSpPr>
        <p:spPr/>
        <p:txBody>
          <a:bodyPr>
            <a:normAutofit fontScale="90000"/>
          </a:bodyPr>
          <a:lstStyle/>
          <a:p>
            <a:r>
              <a:rPr lang="en-GB" dirty="0"/>
              <a:t>Consequences of Unemployment </a:t>
            </a:r>
            <a:r>
              <a:rPr lang="en-GB" dirty="0" err="1" smtClean="0"/>
              <a:t>ctd</a:t>
            </a:r>
            <a:r>
              <a:rPr lang="en-GB" dirty="0" smtClean="0"/>
              <a:t>…</a:t>
            </a:r>
            <a:endParaRPr lang="en-GB" dirty="0"/>
          </a:p>
        </p:txBody>
      </p:sp>
      <p:sp>
        <p:nvSpPr>
          <p:cNvPr id="29701" name="Rectangle 5"/>
          <p:cNvSpPr>
            <a:spLocks noGrp="1" noChangeArrowheads="1"/>
          </p:cNvSpPr>
          <p:nvPr>
            <p:ph type="body" idx="1"/>
          </p:nvPr>
        </p:nvSpPr>
        <p:spPr>
          <a:xfrm>
            <a:off x="76200" y="1376363"/>
            <a:ext cx="8618539" cy="5253037"/>
          </a:xfrm>
        </p:spPr>
        <p:txBody>
          <a:bodyPr/>
          <a:lstStyle/>
          <a:p>
            <a:r>
              <a:rPr lang="en-GB" sz="2100" b="1" dirty="0">
                <a:solidFill>
                  <a:srgbClr val="FF0000"/>
                </a:solidFill>
              </a:rPr>
              <a:t>Consequences for the Government (Fiscal Policy</a:t>
            </a:r>
            <a:r>
              <a:rPr lang="en-GB" sz="2100" b="1" dirty="0" smtClean="0">
                <a:solidFill>
                  <a:srgbClr val="FF0000"/>
                </a:solidFill>
              </a:rPr>
              <a:t>)</a:t>
            </a:r>
          </a:p>
          <a:p>
            <a:pPr marL="0" indent="0">
              <a:buNone/>
            </a:pPr>
            <a:endParaRPr lang="en-GB" sz="2100" b="1" dirty="0">
              <a:solidFill>
                <a:srgbClr val="FF0000"/>
              </a:solidFill>
            </a:endParaRPr>
          </a:p>
          <a:p>
            <a:pPr lvl="1"/>
            <a:r>
              <a:rPr lang="en-GB" sz="2200" dirty="0"/>
              <a:t>Increased spending on unemployment benefits and other income –related </a:t>
            </a:r>
            <a:r>
              <a:rPr lang="en-GB" sz="2200" u="sng" dirty="0"/>
              <a:t>state welfare </a:t>
            </a:r>
            <a:r>
              <a:rPr lang="en-GB" sz="2200" u="sng" dirty="0" smtClean="0"/>
              <a:t>payments</a:t>
            </a:r>
          </a:p>
          <a:p>
            <a:pPr marL="457200" lvl="1" indent="0">
              <a:buNone/>
            </a:pPr>
            <a:endParaRPr lang="en-GB" sz="2200" dirty="0"/>
          </a:p>
          <a:p>
            <a:pPr lvl="1"/>
            <a:r>
              <a:rPr lang="en-GB" sz="2200" dirty="0"/>
              <a:t>Fall in revenue from </a:t>
            </a:r>
            <a:r>
              <a:rPr lang="en-GB" sz="2200" u="sng" dirty="0"/>
              <a:t>income tax </a:t>
            </a:r>
            <a:r>
              <a:rPr lang="en-GB" sz="2200" dirty="0"/>
              <a:t>and taxes on consumer </a:t>
            </a:r>
            <a:r>
              <a:rPr lang="en-GB" sz="2200" dirty="0" smtClean="0"/>
              <a:t>spending</a:t>
            </a:r>
          </a:p>
        </p:txBody>
      </p:sp>
      <p:sp>
        <p:nvSpPr>
          <p:cNvPr id="3" name="Slide Number Placeholder 2"/>
          <p:cNvSpPr>
            <a:spLocks noGrp="1"/>
          </p:cNvSpPr>
          <p:nvPr>
            <p:ph type="sldNum" sz="quarter" idx="12"/>
          </p:nvPr>
        </p:nvSpPr>
        <p:spPr/>
        <p:txBody>
          <a:bodyPr/>
          <a:lstStyle/>
          <a:p>
            <a:fld id="{62804E46-749C-4BD1-80C7-5411E2FBF066}" type="slidenum">
              <a:rPr lang="en-US" smtClean="0"/>
              <a:pPr/>
              <a:t>11</a:t>
            </a:fld>
            <a:endParaRPr lang="en-US"/>
          </a:p>
        </p:txBody>
      </p:sp>
    </p:spTree>
    <p:extLst>
      <p:ext uri="{BB962C8B-B14F-4D97-AF65-F5344CB8AC3E}">
        <p14:creationId xmlns:p14="http://schemas.microsoft.com/office/powerpoint/2010/main" val="180425688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normAutofit fontScale="90000"/>
          </a:bodyPr>
          <a:lstStyle/>
          <a:p>
            <a:r>
              <a:rPr lang="en-GB" dirty="0"/>
              <a:t>Consequences of Unemployment </a:t>
            </a:r>
            <a:r>
              <a:rPr lang="en-GB" dirty="0" err="1" smtClean="0"/>
              <a:t>ctd</a:t>
            </a:r>
            <a:r>
              <a:rPr lang="en-GB" dirty="0" smtClean="0"/>
              <a:t>…</a:t>
            </a:r>
            <a:endParaRPr lang="en-GB" dirty="0"/>
          </a:p>
        </p:txBody>
      </p:sp>
      <p:sp>
        <p:nvSpPr>
          <p:cNvPr id="58371" name="Rectangle 3"/>
          <p:cNvSpPr>
            <a:spLocks noGrp="1" noChangeArrowheads="1"/>
          </p:cNvSpPr>
          <p:nvPr>
            <p:ph type="body" idx="1"/>
          </p:nvPr>
        </p:nvSpPr>
        <p:spPr>
          <a:xfrm>
            <a:off x="609601" y="1376363"/>
            <a:ext cx="8015288" cy="5095875"/>
          </a:xfrm>
        </p:spPr>
        <p:txBody>
          <a:bodyPr/>
          <a:lstStyle/>
          <a:p>
            <a:r>
              <a:rPr lang="en-GB" sz="2100" b="1" dirty="0">
                <a:solidFill>
                  <a:srgbClr val="FF0000"/>
                </a:solidFill>
              </a:rPr>
              <a:t>Consequences for the economy as a whole</a:t>
            </a:r>
          </a:p>
          <a:p>
            <a:pPr lvl="1"/>
            <a:r>
              <a:rPr lang="en-GB" sz="2200" dirty="0"/>
              <a:t>Lost output (real GDP) from people being out of work – the economy will be operating well within its production </a:t>
            </a:r>
            <a:r>
              <a:rPr lang="en-GB" sz="2200" dirty="0" smtClean="0"/>
              <a:t>frontier</a:t>
            </a:r>
          </a:p>
          <a:p>
            <a:pPr marL="457200" lvl="1" indent="0">
              <a:buNone/>
            </a:pPr>
            <a:endParaRPr lang="en-GB" sz="2200" dirty="0"/>
          </a:p>
          <a:p>
            <a:pPr lvl="1"/>
            <a:r>
              <a:rPr lang="en-GB" sz="2200" dirty="0"/>
              <a:t>Unemployment seen as an inefficient way of allocating resources – labour market failure</a:t>
            </a:r>
            <a:r>
              <a:rPr lang="en-GB" sz="2200" dirty="0" smtClean="0"/>
              <a:t>?</a:t>
            </a:r>
          </a:p>
          <a:p>
            <a:pPr marL="457200" lvl="1" indent="0">
              <a:buNone/>
            </a:pPr>
            <a:endParaRPr lang="en-GB" sz="2200" dirty="0"/>
          </a:p>
          <a:p>
            <a:pPr lvl="1"/>
            <a:r>
              <a:rPr lang="en-GB" sz="2200" dirty="0"/>
              <a:t>Some of the long-term unemployed may leave the labour force permanently – fall in potential </a:t>
            </a:r>
            <a:r>
              <a:rPr lang="en-GB" sz="2200" dirty="0" smtClean="0"/>
              <a:t>GDP</a:t>
            </a:r>
          </a:p>
          <a:p>
            <a:pPr marL="457200" lvl="1" indent="0">
              <a:buNone/>
            </a:pPr>
            <a:endParaRPr lang="en-GB" sz="2200" dirty="0"/>
          </a:p>
          <a:p>
            <a:pPr lvl="1"/>
            <a:r>
              <a:rPr lang="en-GB" sz="2200" dirty="0"/>
              <a:t>Increase in the inequality – rise in relative poverty</a:t>
            </a:r>
          </a:p>
        </p:txBody>
      </p:sp>
      <p:sp>
        <p:nvSpPr>
          <p:cNvPr id="3" name="Slide Number Placeholder 2"/>
          <p:cNvSpPr>
            <a:spLocks noGrp="1"/>
          </p:cNvSpPr>
          <p:nvPr>
            <p:ph type="sldNum" sz="quarter" idx="12"/>
          </p:nvPr>
        </p:nvSpPr>
        <p:spPr/>
        <p:txBody>
          <a:bodyPr/>
          <a:lstStyle/>
          <a:p>
            <a:fld id="{62804E46-749C-4BD1-80C7-5411E2FBF066}" type="slidenum">
              <a:rPr lang="en-US" smtClean="0"/>
              <a:pPr/>
              <a:t>12</a:t>
            </a:fld>
            <a:endParaRPr lang="en-US"/>
          </a:p>
        </p:txBody>
      </p:sp>
    </p:spTree>
    <p:extLst>
      <p:ext uri="{BB962C8B-B14F-4D97-AF65-F5344CB8AC3E}">
        <p14:creationId xmlns:p14="http://schemas.microsoft.com/office/powerpoint/2010/main" val="69854095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algn="l"/>
            <a:r>
              <a:rPr lang="en-US" sz="3200">
                <a:solidFill>
                  <a:srgbClr val="FFFFFF"/>
                </a:solidFill>
              </a:rPr>
              <a:t>How Is Unemployment Measured?</a:t>
            </a:r>
            <a:endParaRPr lang="en-US" sz="3200">
              <a:solidFill>
                <a:srgbClr val="FFFFFF"/>
              </a:solidFill>
              <a:latin typeface="Tahoma" pitchFamily="34" charset="0"/>
            </a:endParaRPr>
          </a:p>
        </p:txBody>
      </p:sp>
      <p:sp>
        <p:nvSpPr>
          <p:cNvPr id="24579" name="Rectangle 3"/>
          <p:cNvSpPr>
            <a:spLocks noGrp="1" noChangeArrowheads="1"/>
          </p:cNvSpPr>
          <p:nvPr>
            <p:ph type="body" idx="1"/>
          </p:nvPr>
        </p:nvSpPr>
        <p:spPr>
          <a:xfrm>
            <a:off x="457200" y="762000"/>
            <a:ext cx="8229600" cy="5364163"/>
          </a:xfrm>
        </p:spPr>
        <p:txBody>
          <a:bodyPr/>
          <a:lstStyle/>
          <a:p>
            <a:pPr marL="0" indent="0">
              <a:buNone/>
            </a:pPr>
            <a:r>
              <a:rPr lang="en-US" b="1" dirty="0"/>
              <a:t>Labor </a:t>
            </a:r>
            <a:r>
              <a:rPr lang="en-US" b="1" dirty="0" smtClean="0"/>
              <a:t>Force</a:t>
            </a:r>
          </a:p>
          <a:p>
            <a:pPr marL="0" indent="0">
              <a:buNone/>
            </a:pPr>
            <a:endParaRPr lang="en-US" dirty="0"/>
          </a:p>
          <a:p>
            <a:pPr lvl="1" algn="just">
              <a:buClr>
                <a:srgbClr val="000000"/>
              </a:buClr>
            </a:pPr>
            <a:r>
              <a:rPr lang="en-US" dirty="0"/>
              <a:t>The </a:t>
            </a:r>
            <a:r>
              <a:rPr lang="en-US" i="1" dirty="0">
                <a:solidFill>
                  <a:srgbClr val="25A9A6"/>
                </a:solidFill>
              </a:rPr>
              <a:t>labor force </a:t>
            </a:r>
            <a:r>
              <a:rPr lang="en-US" dirty="0"/>
              <a:t>is the total number of workers, including both the employed and the unemployed</a:t>
            </a:r>
            <a:r>
              <a:rPr lang="en-US" dirty="0" smtClean="0"/>
              <a:t>.</a:t>
            </a:r>
          </a:p>
          <a:p>
            <a:pPr marL="457200" lvl="1" indent="0">
              <a:buClr>
                <a:srgbClr val="000000"/>
              </a:buClr>
              <a:buNone/>
            </a:pPr>
            <a:endParaRPr lang="en-US" dirty="0"/>
          </a:p>
          <a:p>
            <a:pPr lvl="1" algn="just"/>
            <a:r>
              <a:rPr lang="en-US" dirty="0"/>
              <a:t>T</a:t>
            </a:r>
            <a:r>
              <a:rPr lang="en-US" dirty="0" smtClean="0"/>
              <a:t>he </a:t>
            </a:r>
            <a:r>
              <a:rPr lang="en-US" dirty="0"/>
              <a:t>labor </a:t>
            </a:r>
            <a:r>
              <a:rPr lang="en-US" dirty="0" smtClean="0"/>
              <a:t>force defines </a:t>
            </a:r>
            <a:r>
              <a:rPr lang="en-US" dirty="0"/>
              <a:t>as the sum of the employed and the unemployed.</a:t>
            </a:r>
          </a:p>
        </p:txBody>
      </p:sp>
      <p:sp>
        <p:nvSpPr>
          <p:cNvPr id="3" name="Slide Number Placeholder 2"/>
          <p:cNvSpPr>
            <a:spLocks noGrp="1"/>
          </p:cNvSpPr>
          <p:nvPr>
            <p:ph type="sldNum" sz="quarter" idx="12"/>
          </p:nvPr>
        </p:nvSpPr>
        <p:spPr/>
        <p:txBody>
          <a:bodyPr/>
          <a:lstStyle/>
          <a:p>
            <a:fld id="{62804E46-749C-4BD1-80C7-5411E2FBF066}" type="slidenum">
              <a:rPr lang="en-US" smtClean="0"/>
              <a:pPr/>
              <a:t>13</a:t>
            </a:fld>
            <a:endParaRPr lang="en-US"/>
          </a:p>
        </p:txBody>
      </p:sp>
    </p:spTree>
    <p:extLst>
      <p:ext uri="{BB962C8B-B14F-4D97-AF65-F5344CB8AC3E}">
        <p14:creationId xmlns:p14="http://schemas.microsoft.com/office/powerpoint/2010/main" val="35554965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2" name="Picture 2" descr="E:\Mankiw\Mankiw PPT\narrow aqua button bckgrd.jpg"/>
          <p:cNvPicPr>
            <a:picLocks noChangeAspect="1" noChangeArrowheads="1"/>
          </p:cNvPicPr>
          <p:nvPr/>
        </p:nvPicPr>
        <p:blipFill>
          <a:blip r:embed="rId2" cstate="print">
            <a:extLst>
              <a:ext uri="{28A0092B-C50C-407E-A947-70E740481C1C}">
                <a14:useLocalDpi xmlns:a14="http://schemas.microsoft.com/office/drawing/2010/main" val="0"/>
              </a:ext>
            </a:extLst>
          </a:blip>
          <a:srcRect r="1688"/>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02403" name="Rectangle 3"/>
          <p:cNvSpPr>
            <a:spLocks noGrp="1" noChangeArrowheads="1"/>
          </p:cNvSpPr>
          <p:nvPr>
            <p:ph type="title"/>
          </p:nvPr>
        </p:nvSpPr>
        <p:spPr>
          <a:xfrm>
            <a:off x="609600" y="50800"/>
            <a:ext cx="8229600" cy="685800"/>
          </a:xfrm>
        </p:spPr>
        <p:txBody>
          <a:bodyPr/>
          <a:lstStyle/>
          <a:p>
            <a:pPr algn="l">
              <a:lnSpc>
                <a:spcPct val="80000"/>
              </a:lnSpc>
            </a:pPr>
            <a:r>
              <a:rPr lang="en-US" sz="2800" dirty="0" smtClean="0"/>
              <a:t>The </a:t>
            </a:r>
            <a:r>
              <a:rPr lang="en-US" sz="2800" dirty="0"/>
              <a:t>Breakdown of the </a:t>
            </a:r>
            <a:r>
              <a:rPr lang="en-US" sz="2800" dirty="0" smtClean="0"/>
              <a:t>Population</a:t>
            </a:r>
            <a:endParaRPr lang="en-US" sz="2400" dirty="0">
              <a:solidFill>
                <a:schemeClr val="bg1"/>
              </a:solidFill>
            </a:endParaRPr>
          </a:p>
        </p:txBody>
      </p:sp>
      <p:sp>
        <p:nvSpPr>
          <p:cNvPr id="102404" name="Text Box 4"/>
          <p:cNvSpPr txBox="1">
            <a:spLocks noChangeArrowheads="1"/>
          </p:cNvSpPr>
          <p:nvPr/>
        </p:nvSpPr>
        <p:spPr bwMode="auto">
          <a:xfrm rot="-21600000">
            <a:off x="6564313" y="6680200"/>
            <a:ext cx="2641600"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800" b="1">
                <a:solidFill>
                  <a:schemeClr val="bg1"/>
                </a:solidFill>
                <a:latin typeface="Arial" charset="0"/>
              </a:rPr>
              <a:t>Copyright©2003  Southwestern/Thomson Learning</a:t>
            </a:r>
          </a:p>
        </p:txBody>
      </p:sp>
      <p:grpSp>
        <p:nvGrpSpPr>
          <p:cNvPr id="102405" name="Group 5"/>
          <p:cNvGrpSpPr>
            <a:grpSpLocks/>
          </p:cNvGrpSpPr>
          <p:nvPr/>
        </p:nvGrpSpPr>
        <p:grpSpPr bwMode="auto">
          <a:xfrm>
            <a:off x="1385888" y="1250950"/>
            <a:ext cx="1562100" cy="5162550"/>
            <a:chOff x="873" y="788"/>
            <a:chExt cx="984" cy="3252"/>
          </a:xfrm>
        </p:grpSpPr>
        <p:sp>
          <p:nvSpPr>
            <p:cNvPr id="102406" name="Freeform 6"/>
            <p:cNvSpPr>
              <a:spLocks/>
            </p:cNvSpPr>
            <p:nvPr/>
          </p:nvSpPr>
          <p:spPr bwMode="auto">
            <a:xfrm>
              <a:off x="1774" y="788"/>
              <a:ext cx="83" cy="3252"/>
            </a:xfrm>
            <a:custGeom>
              <a:avLst/>
              <a:gdLst>
                <a:gd name="T0" fmla="*/ 8 w 8"/>
                <a:gd name="T1" fmla="*/ 0 h 314"/>
                <a:gd name="T2" fmla="*/ 4 w 8"/>
                <a:gd name="T3" fmla="*/ 6 h 314"/>
                <a:gd name="T4" fmla="*/ 4 w 8"/>
                <a:gd name="T5" fmla="*/ 153 h 314"/>
                <a:gd name="T6" fmla="*/ 0 w 8"/>
                <a:gd name="T7" fmla="*/ 157 h 314"/>
                <a:gd name="T8" fmla="*/ 4 w 8"/>
                <a:gd name="T9" fmla="*/ 161 h 314"/>
                <a:gd name="T10" fmla="*/ 4 w 8"/>
                <a:gd name="T11" fmla="*/ 308 h 314"/>
                <a:gd name="T12" fmla="*/ 8 w 8"/>
                <a:gd name="T13" fmla="*/ 314 h 314"/>
              </a:gdLst>
              <a:ahLst/>
              <a:cxnLst>
                <a:cxn ang="0">
                  <a:pos x="T0" y="T1"/>
                </a:cxn>
                <a:cxn ang="0">
                  <a:pos x="T2" y="T3"/>
                </a:cxn>
                <a:cxn ang="0">
                  <a:pos x="T4" y="T5"/>
                </a:cxn>
                <a:cxn ang="0">
                  <a:pos x="T6" y="T7"/>
                </a:cxn>
                <a:cxn ang="0">
                  <a:pos x="T8" y="T9"/>
                </a:cxn>
                <a:cxn ang="0">
                  <a:pos x="T10" y="T11"/>
                </a:cxn>
                <a:cxn ang="0">
                  <a:pos x="T12" y="T13"/>
                </a:cxn>
              </a:cxnLst>
              <a:rect l="0" t="0" r="r" b="b"/>
              <a:pathLst>
                <a:path w="8" h="314">
                  <a:moveTo>
                    <a:pt x="8" y="0"/>
                  </a:moveTo>
                  <a:cubicBezTo>
                    <a:pt x="6" y="0"/>
                    <a:pt x="4" y="3"/>
                    <a:pt x="4" y="6"/>
                  </a:cubicBezTo>
                  <a:cubicBezTo>
                    <a:pt x="4" y="153"/>
                    <a:pt x="4" y="153"/>
                    <a:pt x="4" y="153"/>
                  </a:cubicBezTo>
                  <a:cubicBezTo>
                    <a:pt x="4" y="155"/>
                    <a:pt x="3" y="157"/>
                    <a:pt x="0" y="157"/>
                  </a:cubicBezTo>
                  <a:cubicBezTo>
                    <a:pt x="3" y="157"/>
                    <a:pt x="4" y="159"/>
                    <a:pt x="4" y="161"/>
                  </a:cubicBezTo>
                  <a:cubicBezTo>
                    <a:pt x="4" y="308"/>
                    <a:pt x="4" y="308"/>
                    <a:pt x="4" y="308"/>
                  </a:cubicBezTo>
                  <a:cubicBezTo>
                    <a:pt x="4" y="311"/>
                    <a:pt x="6" y="314"/>
                    <a:pt x="8" y="314"/>
                  </a:cubicBez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407" name="Rectangle 7"/>
            <p:cNvSpPr>
              <a:spLocks noChangeArrowheads="1"/>
            </p:cNvSpPr>
            <p:nvPr/>
          </p:nvSpPr>
          <p:spPr bwMode="auto">
            <a:xfrm>
              <a:off x="1119" y="2154"/>
              <a:ext cx="30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b="1">
                  <a:solidFill>
                    <a:srgbClr val="000000"/>
                  </a:solidFill>
                  <a:latin typeface="Arial" charset="0"/>
                </a:rPr>
                <a:t>Adult</a:t>
              </a:r>
              <a:endParaRPr lang="en-US"/>
            </a:p>
          </p:txBody>
        </p:sp>
        <p:sp>
          <p:nvSpPr>
            <p:cNvPr id="102408" name="Rectangle 8"/>
            <p:cNvSpPr>
              <a:spLocks noChangeArrowheads="1"/>
            </p:cNvSpPr>
            <p:nvPr/>
          </p:nvSpPr>
          <p:spPr bwMode="auto">
            <a:xfrm>
              <a:off x="964" y="2306"/>
              <a:ext cx="61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b="1">
                  <a:solidFill>
                    <a:srgbClr val="000000"/>
                  </a:solidFill>
                  <a:latin typeface="Arial" charset="0"/>
                </a:rPr>
                <a:t>Population</a:t>
              </a:r>
              <a:endParaRPr lang="en-US"/>
            </a:p>
          </p:txBody>
        </p:sp>
        <p:sp>
          <p:nvSpPr>
            <p:cNvPr id="102409" name="Rectangle 9"/>
            <p:cNvSpPr>
              <a:spLocks noChangeArrowheads="1"/>
            </p:cNvSpPr>
            <p:nvPr/>
          </p:nvSpPr>
          <p:spPr bwMode="auto">
            <a:xfrm>
              <a:off x="873" y="2458"/>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dirty="0"/>
            </a:p>
          </p:txBody>
        </p:sp>
      </p:grpSp>
      <p:grpSp>
        <p:nvGrpSpPr>
          <p:cNvPr id="102410" name="Group 10"/>
          <p:cNvGrpSpPr>
            <a:grpSpLocks/>
          </p:cNvGrpSpPr>
          <p:nvPr/>
        </p:nvGrpSpPr>
        <p:grpSpPr bwMode="auto">
          <a:xfrm>
            <a:off x="6356350" y="1284288"/>
            <a:ext cx="1754188" cy="3402012"/>
            <a:chOff x="4004" y="809"/>
            <a:chExt cx="1105" cy="2143"/>
          </a:xfrm>
        </p:grpSpPr>
        <p:sp>
          <p:nvSpPr>
            <p:cNvPr id="102411" name="Freeform 11"/>
            <p:cNvSpPr>
              <a:spLocks/>
            </p:cNvSpPr>
            <p:nvPr/>
          </p:nvSpPr>
          <p:spPr bwMode="auto">
            <a:xfrm>
              <a:off x="4004" y="809"/>
              <a:ext cx="82" cy="2143"/>
            </a:xfrm>
            <a:custGeom>
              <a:avLst/>
              <a:gdLst>
                <a:gd name="T0" fmla="*/ 0 w 8"/>
                <a:gd name="T1" fmla="*/ 0 h 207"/>
                <a:gd name="T2" fmla="*/ 4 w 8"/>
                <a:gd name="T3" fmla="*/ 5 h 207"/>
                <a:gd name="T4" fmla="*/ 4 w 8"/>
                <a:gd name="T5" fmla="*/ 99 h 207"/>
                <a:gd name="T6" fmla="*/ 8 w 8"/>
                <a:gd name="T7" fmla="*/ 103 h 207"/>
                <a:gd name="T8" fmla="*/ 4 w 8"/>
                <a:gd name="T9" fmla="*/ 107 h 207"/>
                <a:gd name="T10" fmla="*/ 4 w 8"/>
                <a:gd name="T11" fmla="*/ 202 h 207"/>
                <a:gd name="T12" fmla="*/ 0 w 8"/>
                <a:gd name="T13" fmla="*/ 207 h 207"/>
              </a:gdLst>
              <a:ahLst/>
              <a:cxnLst>
                <a:cxn ang="0">
                  <a:pos x="T0" y="T1"/>
                </a:cxn>
                <a:cxn ang="0">
                  <a:pos x="T2" y="T3"/>
                </a:cxn>
                <a:cxn ang="0">
                  <a:pos x="T4" y="T5"/>
                </a:cxn>
                <a:cxn ang="0">
                  <a:pos x="T6" y="T7"/>
                </a:cxn>
                <a:cxn ang="0">
                  <a:pos x="T8" y="T9"/>
                </a:cxn>
                <a:cxn ang="0">
                  <a:pos x="T10" y="T11"/>
                </a:cxn>
                <a:cxn ang="0">
                  <a:pos x="T12" y="T13"/>
                </a:cxn>
              </a:cxnLst>
              <a:rect l="0" t="0" r="r" b="b"/>
              <a:pathLst>
                <a:path w="8" h="207">
                  <a:moveTo>
                    <a:pt x="0" y="0"/>
                  </a:moveTo>
                  <a:cubicBezTo>
                    <a:pt x="3" y="0"/>
                    <a:pt x="4" y="3"/>
                    <a:pt x="4" y="5"/>
                  </a:cubicBezTo>
                  <a:cubicBezTo>
                    <a:pt x="4" y="99"/>
                    <a:pt x="4" y="99"/>
                    <a:pt x="4" y="99"/>
                  </a:cubicBezTo>
                  <a:cubicBezTo>
                    <a:pt x="4" y="101"/>
                    <a:pt x="6" y="103"/>
                    <a:pt x="8" y="103"/>
                  </a:cubicBezTo>
                  <a:cubicBezTo>
                    <a:pt x="6" y="103"/>
                    <a:pt x="4" y="105"/>
                    <a:pt x="4" y="107"/>
                  </a:cubicBezTo>
                  <a:cubicBezTo>
                    <a:pt x="4" y="202"/>
                    <a:pt x="4" y="202"/>
                    <a:pt x="4" y="202"/>
                  </a:cubicBezTo>
                  <a:cubicBezTo>
                    <a:pt x="4" y="204"/>
                    <a:pt x="3" y="207"/>
                    <a:pt x="0" y="207"/>
                  </a:cubicBez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412" name="Rectangle 12"/>
            <p:cNvSpPr>
              <a:spLocks noChangeArrowheads="1"/>
            </p:cNvSpPr>
            <p:nvPr/>
          </p:nvSpPr>
          <p:spPr bwMode="auto">
            <a:xfrm>
              <a:off x="4416" y="1645"/>
              <a:ext cx="69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b="1">
                  <a:solidFill>
                    <a:srgbClr val="000000"/>
                  </a:solidFill>
                  <a:latin typeface="Arial" charset="0"/>
                </a:rPr>
                <a:t>Labor Force</a:t>
              </a:r>
              <a:endParaRPr lang="en-US"/>
            </a:p>
          </p:txBody>
        </p:sp>
      </p:grpSp>
      <p:grpSp>
        <p:nvGrpSpPr>
          <p:cNvPr id="102414" name="Group 14"/>
          <p:cNvGrpSpPr>
            <a:grpSpLocks/>
          </p:cNvGrpSpPr>
          <p:nvPr/>
        </p:nvGrpSpPr>
        <p:grpSpPr bwMode="auto">
          <a:xfrm>
            <a:off x="3046413" y="1266825"/>
            <a:ext cx="3211512" cy="3338513"/>
            <a:chOff x="1919" y="798"/>
            <a:chExt cx="2023" cy="2103"/>
          </a:xfrm>
        </p:grpSpPr>
        <p:sp>
          <p:nvSpPr>
            <p:cNvPr id="102415" name="Rectangle 15"/>
            <p:cNvSpPr>
              <a:spLocks noChangeArrowheads="1"/>
            </p:cNvSpPr>
            <p:nvPr/>
          </p:nvSpPr>
          <p:spPr bwMode="auto">
            <a:xfrm>
              <a:off x="1919" y="798"/>
              <a:ext cx="2023" cy="2103"/>
            </a:xfrm>
            <a:prstGeom prst="rect">
              <a:avLst/>
            </a:prstGeom>
            <a:solidFill>
              <a:srgbClr val="6CCEE6"/>
            </a:solidFill>
            <a:ln w="15875">
              <a:solidFill>
                <a:srgbClr val="000000"/>
              </a:solidFill>
              <a:miter lim="800000"/>
              <a:headEnd/>
              <a:tailEnd/>
            </a:ln>
          </p:spPr>
          <p:txBody>
            <a:bodyPr/>
            <a:lstStyle/>
            <a:p>
              <a:endParaRPr lang="en-US"/>
            </a:p>
          </p:txBody>
        </p:sp>
        <p:sp>
          <p:nvSpPr>
            <p:cNvPr id="102416" name="Rectangle 16"/>
            <p:cNvSpPr>
              <a:spLocks noChangeArrowheads="1"/>
            </p:cNvSpPr>
            <p:nvPr/>
          </p:nvSpPr>
          <p:spPr bwMode="auto">
            <a:xfrm>
              <a:off x="2698" y="1566"/>
              <a:ext cx="53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Arial" charset="0"/>
                </a:rPr>
                <a:t>Employed</a:t>
              </a:r>
              <a:endParaRPr lang="en-US"/>
            </a:p>
          </p:txBody>
        </p:sp>
        <p:sp>
          <p:nvSpPr>
            <p:cNvPr id="102417" name="Rectangle 17"/>
            <p:cNvSpPr>
              <a:spLocks noChangeArrowheads="1"/>
            </p:cNvSpPr>
            <p:nvPr/>
          </p:nvSpPr>
          <p:spPr bwMode="auto">
            <a:xfrm>
              <a:off x="2588" y="1717"/>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dirty="0"/>
            </a:p>
          </p:txBody>
        </p:sp>
      </p:grpSp>
      <p:grpSp>
        <p:nvGrpSpPr>
          <p:cNvPr id="102418" name="Group 18"/>
          <p:cNvGrpSpPr>
            <a:grpSpLocks/>
          </p:cNvGrpSpPr>
          <p:nvPr/>
        </p:nvGrpSpPr>
        <p:grpSpPr bwMode="auto">
          <a:xfrm>
            <a:off x="3046413" y="4670425"/>
            <a:ext cx="3211512" cy="1743075"/>
            <a:chOff x="1919" y="2942"/>
            <a:chExt cx="2023" cy="1098"/>
          </a:xfrm>
        </p:grpSpPr>
        <p:sp>
          <p:nvSpPr>
            <p:cNvPr id="102419" name="Rectangle 19"/>
            <p:cNvSpPr>
              <a:spLocks noChangeArrowheads="1"/>
            </p:cNvSpPr>
            <p:nvPr/>
          </p:nvSpPr>
          <p:spPr bwMode="auto">
            <a:xfrm>
              <a:off x="1919" y="2942"/>
              <a:ext cx="2023" cy="1098"/>
            </a:xfrm>
            <a:prstGeom prst="rect">
              <a:avLst/>
            </a:prstGeom>
            <a:solidFill>
              <a:srgbClr val="84C1EE"/>
            </a:solidFill>
            <a:ln w="15875">
              <a:solidFill>
                <a:srgbClr val="000000"/>
              </a:solidFill>
              <a:miter lim="800000"/>
              <a:headEnd/>
              <a:tailEnd/>
            </a:ln>
          </p:spPr>
          <p:txBody>
            <a:bodyPr/>
            <a:lstStyle/>
            <a:p>
              <a:endParaRPr lang="en-US"/>
            </a:p>
          </p:txBody>
        </p:sp>
        <p:sp>
          <p:nvSpPr>
            <p:cNvPr id="102420" name="Rectangle 20"/>
            <p:cNvSpPr>
              <a:spLocks noChangeArrowheads="1"/>
            </p:cNvSpPr>
            <p:nvPr/>
          </p:nvSpPr>
          <p:spPr bwMode="auto">
            <a:xfrm>
              <a:off x="2508" y="3415"/>
              <a:ext cx="91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Arial" charset="0"/>
                </a:rPr>
                <a:t>Not in labor force</a:t>
              </a:r>
              <a:endParaRPr lang="en-US"/>
            </a:p>
          </p:txBody>
        </p:sp>
        <p:sp>
          <p:nvSpPr>
            <p:cNvPr id="102421" name="Rectangle 21"/>
            <p:cNvSpPr>
              <a:spLocks noChangeArrowheads="1"/>
            </p:cNvSpPr>
            <p:nvPr/>
          </p:nvSpPr>
          <p:spPr bwMode="auto">
            <a:xfrm>
              <a:off x="2621" y="3566"/>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dirty="0"/>
            </a:p>
          </p:txBody>
        </p:sp>
      </p:grpSp>
      <p:grpSp>
        <p:nvGrpSpPr>
          <p:cNvPr id="102422" name="Group 22"/>
          <p:cNvGrpSpPr>
            <a:grpSpLocks/>
          </p:cNvGrpSpPr>
          <p:nvPr/>
        </p:nvGrpSpPr>
        <p:grpSpPr bwMode="auto">
          <a:xfrm>
            <a:off x="3046413" y="4181475"/>
            <a:ext cx="3211512" cy="504825"/>
            <a:chOff x="1919" y="2634"/>
            <a:chExt cx="2023" cy="318"/>
          </a:xfrm>
        </p:grpSpPr>
        <p:sp>
          <p:nvSpPr>
            <p:cNvPr id="102423" name="Rectangle 23"/>
            <p:cNvSpPr>
              <a:spLocks noChangeArrowheads="1"/>
            </p:cNvSpPr>
            <p:nvPr/>
          </p:nvSpPr>
          <p:spPr bwMode="auto">
            <a:xfrm>
              <a:off x="1919" y="2859"/>
              <a:ext cx="2023" cy="93"/>
            </a:xfrm>
            <a:prstGeom prst="rect">
              <a:avLst/>
            </a:prstGeom>
            <a:solidFill>
              <a:srgbClr val="E391A7"/>
            </a:solidFill>
            <a:ln w="15875">
              <a:solidFill>
                <a:srgbClr val="000000"/>
              </a:solidFill>
              <a:miter lim="800000"/>
              <a:headEnd/>
              <a:tailEnd/>
            </a:ln>
          </p:spPr>
          <p:txBody>
            <a:bodyPr/>
            <a:lstStyle/>
            <a:p>
              <a:endParaRPr lang="en-US"/>
            </a:p>
          </p:txBody>
        </p:sp>
        <p:sp>
          <p:nvSpPr>
            <p:cNvPr id="102424" name="Line 24"/>
            <p:cNvSpPr>
              <a:spLocks noChangeShapeType="1"/>
            </p:cNvSpPr>
            <p:nvPr/>
          </p:nvSpPr>
          <p:spPr bwMode="auto">
            <a:xfrm>
              <a:off x="2899" y="2807"/>
              <a:ext cx="1" cy="104"/>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25" name="Rectangle 25"/>
            <p:cNvSpPr>
              <a:spLocks noChangeArrowheads="1"/>
            </p:cNvSpPr>
            <p:nvPr/>
          </p:nvSpPr>
          <p:spPr bwMode="auto">
            <a:xfrm>
              <a:off x="2300" y="2634"/>
              <a:ext cx="716"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dirty="0">
                  <a:solidFill>
                    <a:srgbClr val="000000"/>
                  </a:solidFill>
                  <a:latin typeface="Arial" charset="0"/>
                </a:rPr>
                <a:t>Unemployed </a:t>
              </a:r>
              <a:endParaRPr lang="en-US" dirty="0"/>
            </a:p>
          </p:txBody>
        </p:sp>
      </p:grpSp>
      <p:sp>
        <p:nvSpPr>
          <p:cNvPr id="3" name="Slide Number Placeholder 2"/>
          <p:cNvSpPr>
            <a:spLocks noGrp="1"/>
          </p:cNvSpPr>
          <p:nvPr>
            <p:ph type="sldNum" sz="quarter" idx="12"/>
          </p:nvPr>
        </p:nvSpPr>
        <p:spPr/>
        <p:txBody>
          <a:bodyPr/>
          <a:lstStyle/>
          <a:p>
            <a:fld id="{62804E46-749C-4BD1-80C7-5411E2FBF066}" type="slidenum">
              <a:rPr lang="en-US" smtClean="0"/>
              <a:pPr/>
              <a:t>14</a:t>
            </a:fld>
            <a:endParaRPr lang="en-US"/>
          </a:p>
        </p:txBody>
      </p:sp>
    </p:spTree>
    <p:extLst>
      <p:ext uri="{BB962C8B-B14F-4D97-AF65-F5344CB8AC3E}">
        <p14:creationId xmlns:p14="http://schemas.microsoft.com/office/powerpoint/2010/main" val="18137387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02418"/>
                                        </p:tgtEl>
                                        <p:attrNameLst>
                                          <p:attrName>style.visibility</p:attrName>
                                        </p:attrNameLst>
                                      </p:cBhvr>
                                      <p:to>
                                        <p:strVal val="visible"/>
                                      </p:to>
                                    </p:set>
                                    <p:animEffect transition="in" filter="dissolve">
                                      <p:cBhvr>
                                        <p:cTn id="7" dur="500"/>
                                        <p:tgtEl>
                                          <p:spTgt spid="1024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02422"/>
                                        </p:tgtEl>
                                        <p:attrNameLst>
                                          <p:attrName>style.visibility</p:attrName>
                                        </p:attrNameLst>
                                      </p:cBhvr>
                                      <p:to>
                                        <p:strVal val="visible"/>
                                      </p:to>
                                    </p:set>
                                    <p:animEffect transition="in" filter="dissolve">
                                      <p:cBhvr>
                                        <p:cTn id="12" dur="500"/>
                                        <p:tgtEl>
                                          <p:spTgt spid="10242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02414"/>
                                        </p:tgtEl>
                                        <p:attrNameLst>
                                          <p:attrName>style.visibility</p:attrName>
                                        </p:attrNameLst>
                                      </p:cBhvr>
                                      <p:to>
                                        <p:strVal val="visible"/>
                                      </p:to>
                                    </p:set>
                                    <p:animEffect transition="in" filter="dissolve">
                                      <p:cBhvr>
                                        <p:cTn id="17" dur="500"/>
                                        <p:tgtEl>
                                          <p:spTgt spid="10241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2" fill="hold" nodeType="clickEffect">
                                  <p:stCondLst>
                                    <p:cond delay="0"/>
                                  </p:stCondLst>
                                  <p:childTnLst>
                                    <p:set>
                                      <p:cBhvr>
                                        <p:cTn id="21" dur="1" fill="hold">
                                          <p:stCondLst>
                                            <p:cond delay="0"/>
                                          </p:stCondLst>
                                        </p:cTn>
                                        <p:tgtEl>
                                          <p:spTgt spid="102405"/>
                                        </p:tgtEl>
                                        <p:attrNameLst>
                                          <p:attrName>style.visibility</p:attrName>
                                        </p:attrNameLst>
                                      </p:cBhvr>
                                      <p:to>
                                        <p:strVal val="visible"/>
                                      </p:to>
                                    </p:set>
                                    <p:animEffect transition="in" filter="wipe(right)">
                                      <p:cBhvr>
                                        <p:cTn id="22" dur="500"/>
                                        <p:tgtEl>
                                          <p:spTgt spid="10240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02410"/>
                                        </p:tgtEl>
                                        <p:attrNameLst>
                                          <p:attrName>style.visibility</p:attrName>
                                        </p:attrNameLst>
                                      </p:cBhvr>
                                      <p:to>
                                        <p:strVal val="visible"/>
                                      </p:to>
                                    </p:set>
                                    <p:animEffect transition="in" filter="wipe(left)">
                                      <p:cBhvr>
                                        <p:cTn id="27" dur="500"/>
                                        <p:tgtEl>
                                          <p:spTgt spid="1024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algn="l"/>
            <a:r>
              <a:rPr lang="en-US" sz="3200" dirty="0">
                <a:solidFill>
                  <a:srgbClr val="FFFFFF"/>
                </a:solidFill>
              </a:rPr>
              <a:t>How Is Unemployment Measured?</a:t>
            </a:r>
            <a:endParaRPr lang="en-US" sz="3200" dirty="0">
              <a:solidFill>
                <a:srgbClr val="FFFFFF"/>
              </a:solidFill>
              <a:latin typeface="Tahoma" pitchFamily="34" charset="0"/>
            </a:endParaRPr>
          </a:p>
        </p:txBody>
      </p:sp>
      <p:sp>
        <p:nvSpPr>
          <p:cNvPr id="27651" name="Rectangle 3"/>
          <p:cNvSpPr>
            <a:spLocks noGrp="1" noChangeArrowheads="1"/>
          </p:cNvSpPr>
          <p:nvPr>
            <p:ph type="body" idx="1"/>
          </p:nvPr>
        </p:nvSpPr>
        <p:spPr/>
        <p:txBody>
          <a:bodyPr/>
          <a:lstStyle/>
          <a:p>
            <a:pPr algn="just">
              <a:buClr>
                <a:srgbClr val="000000"/>
              </a:buClr>
            </a:pPr>
            <a:r>
              <a:rPr lang="en-US" dirty="0"/>
              <a:t>The </a:t>
            </a:r>
            <a:r>
              <a:rPr lang="en-US" i="1" dirty="0">
                <a:solidFill>
                  <a:srgbClr val="25A9A6"/>
                </a:solidFill>
                <a:hlinkClick r:id="rId3" action="ppaction://hlinkfile"/>
              </a:rPr>
              <a:t>unemployment</a:t>
            </a:r>
            <a:r>
              <a:rPr lang="en-US" i="1" dirty="0">
                <a:solidFill>
                  <a:srgbClr val="25A9A6"/>
                </a:solidFill>
              </a:rPr>
              <a:t> rate </a:t>
            </a:r>
            <a:r>
              <a:rPr lang="en-US" dirty="0"/>
              <a:t>is calculated as the percentage of the labor force that is unemployed.</a:t>
            </a:r>
          </a:p>
        </p:txBody>
      </p:sp>
      <p:graphicFrame>
        <p:nvGraphicFramePr>
          <p:cNvPr id="27652" name="Object 4"/>
          <p:cNvGraphicFramePr>
            <a:graphicFrameLocks noChangeAspect="1"/>
          </p:cNvGraphicFramePr>
          <p:nvPr/>
        </p:nvGraphicFramePr>
        <p:xfrm>
          <a:off x="685800" y="3429000"/>
          <a:ext cx="7848600" cy="930275"/>
        </p:xfrm>
        <a:graphic>
          <a:graphicData uri="http://schemas.openxmlformats.org/presentationml/2006/ole">
            <mc:AlternateContent xmlns:mc="http://schemas.openxmlformats.org/markup-compatibility/2006">
              <mc:Choice xmlns:v="urn:schemas-microsoft-com:vml" Requires="v">
                <p:oleObj spid="_x0000_s1058" name="Equation" r:id="rId4" imgW="4597400" imgH="546100" progId="">
                  <p:embed/>
                </p:oleObj>
              </mc:Choice>
              <mc:Fallback>
                <p:oleObj name="Equation" r:id="rId4" imgW="4597400" imgH="546100" progId="">
                  <p:embed/>
                  <p:pic>
                    <p:nvPicPr>
                      <p:cNvPr id="0" name="Picture 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3429000"/>
                        <a:ext cx="7848600" cy="930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Slide Number Placeholder 2"/>
          <p:cNvSpPr>
            <a:spLocks noGrp="1"/>
          </p:cNvSpPr>
          <p:nvPr>
            <p:ph type="sldNum" sz="quarter" idx="12"/>
          </p:nvPr>
        </p:nvSpPr>
        <p:spPr/>
        <p:txBody>
          <a:bodyPr/>
          <a:lstStyle/>
          <a:p>
            <a:fld id="{62804E46-749C-4BD1-80C7-5411E2FBF066}" type="slidenum">
              <a:rPr lang="en-US" smtClean="0"/>
              <a:pPr/>
              <a:t>15</a:t>
            </a:fld>
            <a:endParaRPr lang="en-US"/>
          </a:p>
        </p:txBody>
      </p:sp>
    </p:spTree>
    <p:extLst>
      <p:ext uri="{BB962C8B-B14F-4D97-AF65-F5344CB8AC3E}">
        <p14:creationId xmlns:p14="http://schemas.microsoft.com/office/powerpoint/2010/main" val="170831536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type="body" idx="1"/>
          </p:nvPr>
        </p:nvSpPr>
        <p:spPr/>
        <p:txBody>
          <a:bodyPr/>
          <a:lstStyle/>
          <a:p>
            <a:pPr>
              <a:buClr>
                <a:srgbClr val="000000"/>
              </a:buClr>
            </a:pPr>
            <a:r>
              <a:rPr lang="en-US" dirty="0"/>
              <a:t>The </a:t>
            </a:r>
            <a:r>
              <a:rPr lang="en-US" i="1" dirty="0">
                <a:solidFill>
                  <a:srgbClr val="25A9A6"/>
                </a:solidFill>
              </a:rPr>
              <a:t>labor-force </a:t>
            </a:r>
            <a:r>
              <a:rPr lang="en-US" i="1" dirty="0">
                <a:solidFill>
                  <a:srgbClr val="25A9A6"/>
                </a:solidFill>
                <a:hlinkClick r:id="rId3" action="ppaction://hlinkfile"/>
              </a:rPr>
              <a:t>participation</a:t>
            </a:r>
            <a:r>
              <a:rPr lang="en-US" i="1" dirty="0">
                <a:solidFill>
                  <a:srgbClr val="25A9A6"/>
                </a:solidFill>
              </a:rPr>
              <a:t> </a:t>
            </a:r>
            <a:r>
              <a:rPr lang="en-US" i="1" dirty="0">
                <a:solidFill>
                  <a:srgbClr val="25A9A6"/>
                </a:solidFill>
                <a:hlinkClick r:id="rId4" action="ppaction://hlinkfile"/>
              </a:rPr>
              <a:t>rate</a:t>
            </a:r>
            <a:r>
              <a:rPr lang="en-US" i="1" dirty="0">
                <a:solidFill>
                  <a:srgbClr val="25A9A6"/>
                </a:solidFill>
              </a:rPr>
              <a:t> </a:t>
            </a:r>
            <a:r>
              <a:rPr lang="en-US" dirty="0"/>
              <a:t>is the percentage of the adult population that is in the labor force.</a:t>
            </a:r>
          </a:p>
        </p:txBody>
      </p:sp>
      <p:sp>
        <p:nvSpPr>
          <p:cNvPr id="29698" name="Rectangle 2"/>
          <p:cNvSpPr>
            <a:spLocks noGrp="1" noChangeArrowheads="1"/>
          </p:cNvSpPr>
          <p:nvPr>
            <p:ph type="title"/>
          </p:nvPr>
        </p:nvSpPr>
        <p:spPr/>
        <p:txBody>
          <a:bodyPr/>
          <a:lstStyle/>
          <a:p>
            <a:pPr algn="l"/>
            <a:r>
              <a:rPr lang="en-US" sz="3200">
                <a:solidFill>
                  <a:srgbClr val="FFFFFF"/>
                </a:solidFill>
              </a:rPr>
              <a:t>How Is Unemployment Measured?</a:t>
            </a:r>
            <a:endParaRPr lang="en-US" sz="3200">
              <a:solidFill>
                <a:srgbClr val="FFFFFF"/>
              </a:solidFill>
              <a:latin typeface="Tahoma" pitchFamily="34" charset="0"/>
            </a:endParaRPr>
          </a:p>
        </p:txBody>
      </p:sp>
      <p:graphicFrame>
        <p:nvGraphicFramePr>
          <p:cNvPr id="29701" name="Object 5"/>
          <p:cNvGraphicFramePr>
            <a:graphicFrameLocks noChangeAspect="1"/>
          </p:cNvGraphicFramePr>
          <p:nvPr/>
        </p:nvGraphicFramePr>
        <p:xfrm>
          <a:off x="2009775" y="3200400"/>
          <a:ext cx="5580063" cy="2465388"/>
        </p:xfrm>
        <a:graphic>
          <a:graphicData uri="http://schemas.openxmlformats.org/presentationml/2006/ole">
            <mc:AlternateContent xmlns:mc="http://schemas.openxmlformats.org/markup-compatibility/2006">
              <mc:Choice xmlns:v="urn:schemas-microsoft-com:vml" Requires="v">
                <p:oleObj spid="_x0000_s2083" name="Equation" r:id="rId5" imgW="2730500" imgH="1206500" progId="">
                  <p:embed/>
                </p:oleObj>
              </mc:Choice>
              <mc:Fallback>
                <p:oleObj name="Equation" r:id="rId5" imgW="2730500" imgH="1206500" progId="">
                  <p:embed/>
                  <p:pic>
                    <p:nvPicPr>
                      <p:cNvPr id="0" name="Picture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09775" y="3200400"/>
                        <a:ext cx="5580063" cy="2465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Slide Number Placeholder 2"/>
          <p:cNvSpPr>
            <a:spLocks noGrp="1"/>
          </p:cNvSpPr>
          <p:nvPr>
            <p:ph type="sldNum" sz="quarter" idx="12"/>
          </p:nvPr>
        </p:nvSpPr>
        <p:spPr/>
        <p:txBody>
          <a:bodyPr/>
          <a:lstStyle/>
          <a:p>
            <a:fld id="{62804E46-749C-4BD1-80C7-5411E2FBF066}" type="slidenum">
              <a:rPr lang="en-US" smtClean="0"/>
              <a:pPr/>
              <a:t>16</a:t>
            </a:fld>
            <a:endParaRPr lang="en-US"/>
          </a:p>
        </p:txBody>
      </p:sp>
    </p:spTree>
    <p:extLst>
      <p:ext uri="{BB962C8B-B14F-4D97-AF65-F5344CB8AC3E}">
        <p14:creationId xmlns:p14="http://schemas.microsoft.com/office/powerpoint/2010/main" val="392868784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057400"/>
            <a:ext cx="8229600" cy="1143000"/>
          </a:xfrm>
        </p:spPr>
        <p:txBody>
          <a:bodyPr/>
          <a:lstStyle/>
          <a:p>
            <a:r>
              <a:rPr lang="en-US" b="1" dirty="0" smtClean="0"/>
              <a:t>Inflation</a:t>
            </a:r>
            <a:endParaRPr lang="en-US" b="1" dirty="0"/>
          </a:p>
        </p:txBody>
      </p:sp>
      <p:sp>
        <p:nvSpPr>
          <p:cNvPr id="3" name="Slide Number Placeholder 2"/>
          <p:cNvSpPr>
            <a:spLocks noGrp="1"/>
          </p:cNvSpPr>
          <p:nvPr>
            <p:ph type="sldNum" sz="quarter" idx="12"/>
          </p:nvPr>
        </p:nvSpPr>
        <p:spPr/>
        <p:txBody>
          <a:bodyPr/>
          <a:lstStyle/>
          <a:p>
            <a:fld id="{62804E46-749C-4BD1-80C7-5411E2FBF066}" type="slidenum">
              <a:rPr lang="en-US" smtClean="0"/>
              <a:pPr/>
              <a:t>17</a:t>
            </a:fld>
            <a:endParaRPr lang="en-US"/>
          </a:p>
        </p:txBody>
      </p:sp>
    </p:spTree>
    <p:extLst>
      <p:ext uri="{BB962C8B-B14F-4D97-AF65-F5344CB8AC3E}">
        <p14:creationId xmlns:p14="http://schemas.microsoft.com/office/powerpoint/2010/main" val="155457974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692150" y="528638"/>
            <a:ext cx="7837488" cy="677862"/>
          </a:xfrm>
          <a:noFill/>
        </p:spPr>
        <p:txBody>
          <a:bodyPr lIns="92075" tIns="46038" rIns="92075" bIns="46038">
            <a:normAutofit fontScale="90000"/>
          </a:bodyPr>
          <a:lstStyle/>
          <a:p>
            <a:pPr eaLnBrk="1" hangingPunct="1"/>
            <a:r>
              <a:rPr lang="en-US" smtClean="0"/>
              <a:t>What is Inflation?</a:t>
            </a:r>
          </a:p>
        </p:txBody>
      </p:sp>
      <p:sp>
        <p:nvSpPr>
          <p:cNvPr id="155651" name="Rectangle 3"/>
          <p:cNvSpPr>
            <a:spLocks noGrp="1" noChangeArrowheads="1"/>
          </p:cNvSpPr>
          <p:nvPr>
            <p:ph type="body" idx="1"/>
          </p:nvPr>
        </p:nvSpPr>
        <p:spPr>
          <a:xfrm>
            <a:off x="609600" y="1905000"/>
            <a:ext cx="7785100" cy="2895600"/>
          </a:xfrm>
          <a:noFill/>
        </p:spPr>
        <p:txBody>
          <a:bodyPr lIns="92075" tIns="46038" rIns="92075" bIns="46038"/>
          <a:lstStyle/>
          <a:p>
            <a:pPr algn="just" eaLnBrk="1" hangingPunct="1"/>
            <a:r>
              <a:rPr lang="en-US" dirty="0" smtClean="0"/>
              <a:t>The general upward movement in the average level of prices of the goods and services in an economy</a:t>
            </a:r>
          </a:p>
        </p:txBody>
      </p:sp>
      <p:sp>
        <p:nvSpPr>
          <p:cNvPr id="2" name="Slide Number Placeholder 1"/>
          <p:cNvSpPr>
            <a:spLocks noGrp="1"/>
          </p:cNvSpPr>
          <p:nvPr>
            <p:ph type="sldNum" sz="quarter" idx="12"/>
          </p:nvPr>
        </p:nvSpPr>
        <p:spPr/>
        <p:txBody>
          <a:bodyPr/>
          <a:lstStyle/>
          <a:p>
            <a:fld id="{62804E46-749C-4BD1-80C7-5411E2FBF066}" type="slidenum">
              <a:rPr lang="en-US" smtClean="0"/>
              <a:pPr/>
              <a:t>18</a:t>
            </a:fld>
            <a:endParaRPr lang="en-US"/>
          </a:p>
        </p:txBody>
      </p:sp>
    </p:spTree>
    <p:extLst>
      <p:ext uri="{BB962C8B-B14F-4D97-AF65-F5344CB8AC3E}">
        <p14:creationId xmlns:p14="http://schemas.microsoft.com/office/powerpoint/2010/main" val="16381729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565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534988" y="655638"/>
            <a:ext cx="7839075" cy="635000"/>
          </a:xfrm>
          <a:noFill/>
        </p:spPr>
        <p:txBody>
          <a:bodyPr lIns="92075" tIns="46038" rIns="92075" bIns="46038">
            <a:normAutofit fontScale="90000"/>
          </a:bodyPr>
          <a:lstStyle/>
          <a:p>
            <a:pPr eaLnBrk="1" hangingPunct="1"/>
            <a:r>
              <a:rPr lang="en-US" smtClean="0"/>
              <a:t>What is Deflation?</a:t>
            </a:r>
          </a:p>
        </p:txBody>
      </p:sp>
      <p:sp>
        <p:nvSpPr>
          <p:cNvPr id="156675" name="Rectangle 3"/>
          <p:cNvSpPr>
            <a:spLocks noGrp="1" noChangeArrowheads="1"/>
          </p:cNvSpPr>
          <p:nvPr>
            <p:ph type="body" idx="1"/>
          </p:nvPr>
        </p:nvSpPr>
        <p:spPr>
          <a:xfrm>
            <a:off x="381000" y="1905000"/>
            <a:ext cx="7848600" cy="2155825"/>
          </a:xfrm>
          <a:noFill/>
        </p:spPr>
        <p:txBody>
          <a:bodyPr lIns="92075" tIns="46038" rIns="92075" bIns="46038"/>
          <a:lstStyle/>
          <a:p>
            <a:pPr algn="just" eaLnBrk="1" hangingPunct="1">
              <a:lnSpc>
                <a:spcPct val="90000"/>
              </a:lnSpc>
            </a:pPr>
            <a:r>
              <a:rPr lang="en-US" dirty="0" smtClean="0"/>
              <a:t>The general decrease in the average level of prices of the goods and services in an economy</a:t>
            </a:r>
          </a:p>
        </p:txBody>
      </p:sp>
      <p:sp>
        <p:nvSpPr>
          <p:cNvPr id="4100" name="Rectangle 4"/>
          <p:cNvSpPr>
            <a:spLocks noChangeArrowheads="1"/>
          </p:cNvSpPr>
          <p:nvPr/>
        </p:nvSpPr>
        <p:spPr bwMode="auto">
          <a:xfrm>
            <a:off x="2362200" y="6096000"/>
            <a:ext cx="464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eaLnBrk="0" hangingPunct="0">
              <a:spcBef>
                <a:spcPct val="50000"/>
              </a:spcBef>
            </a:pPr>
            <a:endParaRPr lang="en-US" b="1">
              <a:solidFill>
                <a:schemeClr val="tx2"/>
              </a:solidFill>
              <a:latin typeface="Times New Roman" pitchFamily="18" charset="0"/>
            </a:endParaRPr>
          </a:p>
        </p:txBody>
      </p:sp>
      <p:sp>
        <p:nvSpPr>
          <p:cNvPr id="2" name="Slide Number Placeholder 1"/>
          <p:cNvSpPr>
            <a:spLocks noGrp="1"/>
          </p:cNvSpPr>
          <p:nvPr>
            <p:ph type="sldNum" sz="quarter" idx="12"/>
          </p:nvPr>
        </p:nvSpPr>
        <p:spPr/>
        <p:txBody>
          <a:bodyPr/>
          <a:lstStyle/>
          <a:p>
            <a:fld id="{62804E46-749C-4BD1-80C7-5411E2FBF066}" type="slidenum">
              <a:rPr lang="en-US" smtClean="0"/>
              <a:pPr/>
              <a:t>19</a:t>
            </a:fld>
            <a:endParaRPr lang="en-US"/>
          </a:p>
        </p:txBody>
      </p:sp>
    </p:spTree>
    <p:extLst>
      <p:ext uri="{BB962C8B-B14F-4D97-AF65-F5344CB8AC3E}">
        <p14:creationId xmlns:p14="http://schemas.microsoft.com/office/powerpoint/2010/main" val="15957379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667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5"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304800"/>
            <a:ext cx="8458200" cy="1600200"/>
          </a:xfrm>
          <a:noFill/>
        </p:spPr>
        <p:txBody>
          <a:bodyPr lIns="92075" tIns="46038" rIns="92075" bIns="46038">
            <a:normAutofit fontScale="90000"/>
          </a:bodyPr>
          <a:lstStyle/>
          <a:p>
            <a:pPr eaLnBrk="1" hangingPunct="1"/>
            <a:r>
              <a:rPr lang="en-US" sz="4000" dirty="0" smtClean="0"/>
              <a:t/>
            </a:r>
            <a:br>
              <a:rPr lang="en-US" sz="4000" dirty="0" smtClean="0"/>
            </a:br>
            <a:r>
              <a:rPr lang="en-US" sz="4000" dirty="0" smtClean="0">
                <a:solidFill>
                  <a:srgbClr val="CC0000"/>
                </a:solidFill>
              </a:rPr>
              <a:t>How is Inflation measured?</a:t>
            </a:r>
            <a:br>
              <a:rPr lang="en-US" sz="4000" dirty="0" smtClean="0">
                <a:solidFill>
                  <a:srgbClr val="CC0000"/>
                </a:solidFill>
              </a:rPr>
            </a:br>
            <a:r>
              <a:rPr lang="en-US" sz="4000" dirty="0" smtClean="0">
                <a:solidFill>
                  <a:srgbClr val="CC0000"/>
                </a:solidFill>
              </a:rPr>
              <a:t/>
            </a:r>
            <a:br>
              <a:rPr lang="en-US" sz="4000" dirty="0" smtClean="0">
                <a:solidFill>
                  <a:srgbClr val="CC0000"/>
                </a:solidFill>
              </a:rPr>
            </a:br>
            <a:r>
              <a:rPr lang="en-US" sz="4000" dirty="0" smtClean="0">
                <a:solidFill>
                  <a:srgbClr val="CC0000"/>
                </a:solidFill>
              </a:rPr>
              <a:t> 1. Consumer Price Index (CPI)?</a:t>
            </a:r>
            <a:endParaRPr lang="en-US" sz="3600" dirty="0" smtClean="0">
              <a:solidFill>
                <a:srgbClr val="CC0000"/>
              </a:solidFill>
            </a:endParaRPr>
          </a:p>
        </p:txBody>
      </p:sp>
      <p:sp>
        <p:nvSpPr>
          <p:cNvPr id="157699" name="Rectangle 3"/>
          <p:cNvSpPr>
            <a:spLocks noChangeArrowheads="1"/>
          </p:cNvSpPr>
          <p:nvPr/>
        </p:nvSpPr>
        <p:spPr bwMode="auto">
          <a:xfrm>
            <a:off x="609600" y="2819400"/>
            <a:ext cx="8077200" cy="1570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p>
            <a:pPr algn="ctr" eaLnBrk="0" hangingPunct="0">
              <a:lnSpc>
                <a:spcPct val="80000"/>
              </a:lnSpc>
              <a:spcBef>
                <a:spcPct val="50000"/>
              </a:spcBef>
            </a:pPr>
            <a:r>
              <a:rPr lang="en-US" sz="4000" dirty="0">
                <a:latin typeface="+mj-lt"/>
              </a:rPr>
              <a:t>A measure of the cost of a fixed “market basket” of consumer goods and services</a:t>
            </a:r>
          </a:p>
        </p:txBody>
      </p:sp>
      <p:sp>
        <p:nvSpPr>
          <p:cNvPr id="2" name="Slide Number Placeholder 1"/>
          <p:cNvSpPr>
            <a:spLocks noGrp="1"/>
          </p:cNvSpPr>
          <p:nvPr>
            <p:ph type="sldNum" sz="quarter" idx="12"/>
          </p:nvPr>
        </p:nvSpPr>
        <p:spPr/>
        <p:txBody>
          <a:bodyPr/>
          <a:lstStyle/>
          <a:p>
            <a:fld id="{62804E46-749C-4BD1-80C7-5411E2FBF066}" type="slidenum">
              <a:rPr lang="en-US" smtClean="0"/>
              <a:pPr/>
              <a:t>20</a:t>
            </a:fld>
            <a:endParaRPr lang="en-US"/>
          </a:p>
        </p:txBody>
      </p:sp>
    </p:spTree>
    <p:extLst>
      <p:ext uri="{BB962C8B-B14F-4D97-AF65-F5344CB8AC3E}">
        <p14:creationId xmlns:p14="http://schemas.microsoft.com/office/powerpoint/2010/main" val="1302457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76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9"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p:cNvSpPr>
            <a:spLocks noGrp="1" noChangeArrowheads="1"/>
          </p:cNvSpPr>
          <p:nvPr>
            <p:ph type="title"/>
          </p:nvPr>
        </p:nvSpPr>
        <p:spPr>
          <a:xfrm>
            <a:off x="0" y="0"/>
            <a:ext cx="9144000" cy="1352550"/>
          </a:xfrm>
        </p:spPr>
        <p:txBody>
          <a:bodyPr/>
          <a:lstStyle/>
          <a:p>
            <a:pPr algn="l" eaLnBrk="1" hangingPunct="1">
              <a:defRPr/>
            </a:pPr>
            <a:r>
              <a:rPr lang="en-US" sz="5400" i="1" dirty="0" smtClean="0">
                <a:solidFill>
                  <a:srgbClr val="99FF99"/>
                </a:solidFill>
                <a:effectLst>
                  <a:outerShdw blurRad="38100" dist="38100" dir="2700000" algn="tl">
                    <a:srgbClr val="C0C0C0"/>
                  </a:outerShdw>
                </a:effectLst>
                <a:latin typeface="Vagabond" pitchFamily="2" charset="0"/>
              </a:rPr>
              <a:t>    </a:t>
            </a:r>
            <a:r>
              <a:rPr lang="en-US" sz="5400" i="1" dirty="0" smtClean="0">
                <a:solidFill>
                  <a:srgbClr val="FF0000"/>
                </a:solidFill>
                <a:effectLst>
                  <a:outerShdw blurRad="38100" dist="38100" dir="2700000" algn="tl">
                    <a:srgbClr val="C0C0C0"/>
                  </a:outerShdw>
                </a:effectLst>
                <a:latin typeface="Vagabond" pitchFamily="2" charset="0"/>
              </a:rPr>
              <a:t>2. </a:t>
            </a:r>
            <a:r>
              <a:rPr lang="en-US" sz="4000" b="1" dirty="0" smtClean="0">
                <a:effectLst>
                  <a:outerShdw blurRad="38100" dist="38100" dir="2700000" algn="tl">
                    <a:srgbClr val="C0C0C0"/>
                  </a:outerShdw>
                </a:effectLst>
                <a:latin typeface="+mn-lt"/>
              </a:rPr>
              <a:t>GDP Deflator</a:t>
            </a:r>
            <a:r>
              <a:rPr lang="en-US" sz="3600" b="1" dirty="0" smtClean="0">
                <a:effectLst>
                  <a:outerShdw blurRad="38100" dist="38100" dir="2700000" algn="tl">
                    <a:srgbClr val="C0C0C0"/>
                  </a:outerShdw>
                </a:effectLst>
                <a:latin typeface="+mn-lt"/>
              </a:rPr>
              <a:t> – more broad</a:t>
            </a:r>
          </a:p>
        </p:txBody>
      </p:sp>
      <p:sp>
        <p:nvSpPr>
          <p:cNvPr id="347139" name="Rectangle 3" descr="Papyrus"/>
          <p:cNvSpPr>
            <a:spLocks noChangeArrowheads="1"/>
          </p:cNvSpPr>
          <p:nvPr/>
        </p:nvSpPr>
        <p:spPr bwMode="auto">
          <a:xfrm>
            <a:off x="342900" y="1143000"/>
            <a:ext cx="8801100" cy="5715000"/>
          </a:xfrm>
          <a:prstGeom prst="rect">
            <a:avLst/>
          </a:prstGeom>
          <a:noFill/>
          <a:ln w="19050">
            <a:noFill/>
            <a:miter lim="800000"/>
            <a:headEnd/>
            <a:tailEnd/>
          </a:ln>
          <a:effectLst/>
        </p:spPr>
        <p:txBody>
          <a:bodyPr wrap="none" lIns="92075" tIns="46038" rIns="92075" bIns="46038" anchor="ctr"/>
          <a:lstStyle/>
          <a:p>
            <a:pPr marL="457200" indent="-457200">
              <a:defRPr/>
            </a:pPr>
            <a:r>
              <a:rPr lang="en-US" sz="2800" b="1" dirty="0">
                <a:solidFill>
                  <a:srgbClr val="000066"/>
                </a:solidFill>
                <a:effectLst>
                  <a:outerShdw blurRad="38100" dist="38100" dir="2700000" algn="tl">
                    <a:srgbClr val="C0C0C0"/>
                  </a:outerShdw>
                </a:effectLst>
                <a:latin typeface="Verdana" pitchFamily="34" charset="0"/>
              </a:rPr>
              <a:t>GDP Deflator</a:t>
            </a:r>
            <a:r>
              <a:rPr lang="en-US" sz="2800" dirty="0">
                <a:solidFill>
                  <a:srgbClr val="000066"/>
                </a:solidFill>
                <a:latin typeface="Verdana" pitchFamily="34" charset="0"/>
              </a:rPr>
              <a:t> includes  prices   </a:t>
            </a:r>
            <a:r>
              <a:rPr lang="en-US" sz="2800" dirty="0" smtClean="0">
                <a:solidFill>
                  <a:srgbClr val="000066"/>
                </a:solidFill>
                <a:latin typeface="Verdana" pitchFamily="34" charset="0"/>
              </a:rPr>
              <a:t>for </a:t>
            </a:r>
            <a:r>
              <a:rPr lang="en-US" sz="2800" b="1" dirty="0">
                <a:solidFill>
                  <a:srgbClr val="000066"/>
                </a:solidFill>
                <a:effectLst>
                  <a:outerShdw blurRad="38100" dist="38100" dir="2700000" algn="tl">
                    <a:srgbClr val="C0C0C0"/>
                  </a:outerShdw>
                </a:effectLst>
                <a:latin typeface="Verdana" pitchFamily="34" charset="0"/>
              </a:rPr>
              <a:t>all </a:t>
            </a:r>
            <a:r>
              <a:rPr lang="en-US" sz="2800" b="1" dirty="0" smtClean="0">
                <a:solidFill>
                  <a:srgbClr val="000066"/>
                </a:solidFill>
                <a:effectLst>
                  <a:outerShdw blurRad="38100" dist="38100" dir="2700000" algn="tl">
                    <a:srgbClr val="C0C0C0"/>
                  </a:outerShdw>
                </a:effectLst>
                <a:latin typeface="Verdana" pitchFamily="34" charset="0"/>
              </a:rPr>
              <a:t>goods</a:t>
            </a:r>
          </a:p>
          <a:p>
            <a:pPr marL="457200" indent="-457200">
              <a:defRPr/>
            </a:pPr>
            <a:r>
              <a:rPr lang="en-US" sz="2800" b="1" dirty="0" smtClean="0">
                <a:solidFill>
                  <a:srgbClr val="000066"/>
                </a:solidFill>
                <a:effectLst>
                  <a:outerShdw blurRad="38100" dist="38100" dir="2700000" algn="tl">
                    <a:srgbClr val="C0C0C0"/>
                  </a:outerShdw>
                </a:effectLst>
                <a:latin typeface="Verdana" pitchFamily="34" charset="0"/>
              </a:rPr>
              <a:t> </a:t>
            </a:r>
            <a:r>
              <a:rPr lang="en-US" sz="2800" b="1" dirty="0">
                <a:solidFill>
                  <a:srgbClr val="000066"/>
                </a:solidFill>
                <a:effectLst>
                  <a:outerShdw blurRad="38100" dist="38100" dir="2700000" algn="tl">
                    <a:srgbClr val="C0C0C0"/>
                  </a:outerShdw>
                </a:effectLst>
                <a:latin typeface="Verdana" pitchFamily="34" charset="0"/>
              </a:rPr>
              <a:t>that</a:t>
            </a:r>
            <a:r>
              <a:rPr lang="en-US" sz="2800" dirty="0">
                <a:solidFill>
                  <a:srgbClr val="000066"/>
                </a:solidFill>
                <a:latin typeface="Verdana" pitchFamily="34" charset="0"/>
              </a:rPr>
              <a:t> </a:t>
            </a:r>
            <a:r>
              <a:rPr lang="en-US" sz="2800" b="1" dirty="0">
                <a:solidFill>
                  <a:srgbClr val="000066"/>
                </a:solidFill>
                <a:effectLst>
                  <a:outerShdw blurRad="38100" dist="38100" dir="2700000" algn="tl">
                    <a:srgbClr val="C0C0C0"/>
                  </a:outerShdw>
                </a:effectLst>
                <a:latin typeface="Verdana" pitchFamily="34" charset="0"/>
              </a:rPr>
              <a:t>we produce</a:t>
            </a:r>
            <a:r>
              <a:rPr lang="en-US" sz="2800" dirty="0">
                <a:solidFill>
                  <a:srgbClr val="000066"/>
                </a:solidFill>
                <a:latin typeface="Verdana" pitchFamily="34" charset="0"/>
              </a:rPr>
              <a:t>:</a:t>
            </a:r>
          </a:p>
          <a:p>
            <a:pPr marL="457200" indent="-457200">
              <a:defRPr/>
            </a:pPr>
            <a:endParaRPr lang="en-US" sz="2800" dirty="0">
              <a:solidFill>
                <a:srgbClr val="000066"/>
              </a:solidFill>
              <a:latin typeface="Verdana" pitchFamily="34" charset="0"/>
            </a:endParaRPr>
          </a:p>
          <a:p>
            <a:pPr marL="457200" indent="-457200">
              <a:buFontTx/>
              <a:buAutoNum type="arabicPeriod"/>
              <a:defRPr/>
            </a:pPr>
            <a:r>
              <a:rPr lang="en-US" sz="2800" dirty="0">
                <a:solidFill>
                  <a:srgbClr val="000066"/>
                </a:solidFill>
                <a:latin typeface="Verdana" pitchFamily="34" charset="0"/>
              </a:rPr>
              <a:t>What </a:t>
            </a:r>
            <a:r>
              <a:rPr lang="en-US" sz="2800" b="1" dirty="0">
                <a:solidFill>
                  <a:srgbClr val="000066"/>
                </a:solidFill>
                <a:effectLst>
                  <a:outerShdw blurRad="38100" dist="38100" dir="2700000" algn="tl">
                    <a:srgbClr val="C0C0C0"/>
                  </a:outerShdw>
                </a:effectLst>
                <a:latin typeface="Verdana" pitchFamily="34" charset="0"/>
              </a:rPr>
              <a:t>householders</a:t>
            </a:r>
            <a:r>
              <a:rPr lang="en-US" sz="2800" dirty="0">
                <a:solidFill>
                  <a:srgbClr val="000066"/>
                </a:solidFill>
                <a:latin typeface="Verdana" pitchFamily="34" charset="0"/>
              </a:rPr>
              <a:t>  are  buying</a:t>
            </a:r>
          </a:p>
          <a:p>
            <a:pPr marL="457200" indent="-457200">
              <a:buFontTx/>
              <a:buAutoNum type="arabicPeriod"/>
              <a:defRPr/>
            </a:pPr>
            <a:r>
              <a:rPr lang="en-US" sz="2800" dirty="0">
                <a:solidFill>
                  <a:srgbClr val="000066"/>
                </a:solidFill>
                <a:latin typeface="Verdana" pitchFamily="34" charset="0"/>
              </a:rPr>
              <a:t>What    </a:t>
            </a:r>
            <a:r>
              <a:rPr lang="en-US" sz="2800" b="1" dirty="0">
                <a:solidFill>
                  <a:srgbClr val="000066"/>
                </a:solidFill>
                <a:effectLst>
                  <a:outerShdw blurRad="38100" dist="38100" dir="2700000" algn="tl">
                    <a:srgbClr val="C0C0C0"/>
                  </a:outerShdw>
                </a:effectLst>
                <a:latin typeface="Verdana" pitchFamily="34" charset="0"/>
              </a:rPr>
              <a:t>businesses</a:t>
            </a:r>
            <a:r>
              <a:rPr lang="en-US" sz="2800" dirty="0">
                <a:solidFill>
                  <a:srgbClr val="000066"/>
                </a:solidFill>
                <a:latin typeface="Verdana" pitchFamily="34" charset="0"/>
              </a:rPr>
              <a:t>   are  buying</a:t>
            </a:r>
          </a:p>
          <a:p>
            <a:pPr marL="457200" indent="-457200">
              <a:buFontTx/>
              <a:buAutoNum type="arabicPeriod"/>
              <a:defRPr/>
            </a:pPr>
            <a:r>
              <a:rPr lang="en-US" sz="2800" dirty="0">
                <a:solidFill>
                  <a:srgbClr val="000066"/>
                </a:solidFill>
                <a:latin typeface="Verdana" pitchFamily="34" charset="0"/>
              </a:rPr>
              <a:t>What  the </a:t>
            </a:r>
            <a:r>
              <a:rPr lang="en-US" sz="2800" b="1" dirty="0">
                <a:solidFill>
                  <a:srgbClr val="000066"/>
                </a:solidFill>
                <a:effectLst>
                  <a:outerShdw blurRad="38100" dist="38100" dir="2700000" algn="tl">
                    <a:srgbClr val="C0C0C0"/>
                  </a:outerShdw>
                </a:effectLst>
                <a:latin typeface="Verdana" pitchFamily="34" charset="0"/>
              </a:rPr>
              <a:t>government</a:t>
            </a:r>
            <a:r>
              <a:rPr lang="en-US" sz="2800" dirty="0">
                <a:solidFill>
                  <a:srgbClr val="000066"/>
                </a:solidFill>
                <a:latin typeface="Verdana" pitchFamily="34" charset="0"/>
              </a:rPr>
              <a:t> is buying</a:t>
            </a:r>
          </a:p>
          <a:p>
            <a:pPr marL="457200" indent="-457200">
              <a:buFontTx/>
              <a:buAutoNum type="arabicPeriod"/>
              <a:defRPr/>
            </a:pPr>
            <a:r>
              <a:rPr lang="en-US" sz="2800" dirty="0">
                <a:solidFill>
                  <a:srgbClr val="000066"/>
                </a:solidFill>
                <a:latin typeface="Verdana" pitchFamily="34" charset="0"/>
              </a:rPr>
              <a:t>What    </a:t>
            </a:r>
            <a:r>
              <a:rPr lang="en-US" sz="2800" b="1" dirty="0">
                <a:solidFill>
                  <a:srgbClr val="000066"/>
                </a:solidFill>
                <a:effectLst>
                  <a:outerShdw blurRad="38100" dist="38100" dir="2700000" algn="tl">
                    <a:srgbClr val="C0C0C0"/>
                  </a:outerShdw>
                </a:effectLst>
                <a:latin typeface="Verdana" pitchFamily="34" charset="0"/>
              </a:rPr>
              <a:t>foreigners</a:t>
            </a:r>
            <a:r>
              <a:rPr lang="en-US" sz="2800" dirty="0">
                <a:solidFill>
                  <a:srgbClr val="000066"/>
                </a:solidFill>
                <a:latin typeface="Verdana" pitchFamily="34" charset="0"/>
              </a:rPr>
              <a:t>    are  </a:t>
            </a:r>
            <a:r>
              <a:rPr lang="en-US" sz="2800" dirty="0" smtClean="0">
                <a:solidFill>
                  <a:srgbClr val="000066"/>
                </a:solidFill>
                <a:latin typeface="Verdana" pitchFamily="34" charset="0"/>
              </a:rPr>
              <a:t>buying</a:t>
            </a:r>
          </a:p>
          <a:p>
            <a:pPr>
              <a:defRPr/>
            </a:pPr>
            <a:endParaRPr lang="en-US" sz="2800" dirty="0">
              <a:solidFill>
                <a:srgbClr val="000066"/>
              </a:solidFill>
              <a:latin typeface="Verdana" pitchFamily="34" charset="0"/>
            </a:endParaRPr>
          </a:p>
          <a:p>
            <a:pPr marL="457200" indent="-457200">
              <a:defRPr/>
            </a:pPr>
            <a:r>
              <a:rPr lang="en-US" sz="2800" dirty="0">
                <a:solidFill>
                  <a:srgbClr val="FF0000"/>
                </a:solidFill>
                <a:latin typeface="Verdana" pitchFamily="34" charset="0"/>
              </a:rPr>
              <a:t>    [</a:t>
            </a:r>
            <a:r>
              <a:rPr lang="en-US" sz="2800" b="1" dirty="0">
                <a:solidFill>
                  <a:srgbClr val="FF0000"/>
                </a:solidFill>
                <a:effectLst>
                  <a:outerShdw blurRad="38100" dist="38100" dir="2700000" algn="tl">
                    <a:srgbClr val="C0C0C0"/>
                  </a:outerShdw>
                </a:effectLst>
                <a:latin typeface="Verdana" pitchFamily="34" charset="0"/>
              </a:rPr>
              <a:t>does not include imports</a:t>
            </a:r>
            <a:r>
              <a:rPr lang="en-US" sz="2800" dirty="0">
                <a:solidFill>
                  <a:srgbClr val="FF0000"/>
                </a:solidFill>
                <a:latin typeface="Verdana" pitchFamily="34" charset="0"/>
              </a:rPr>
              <a:t> because</a:t>
            </a:r>
          </a:p>
          <a:p>
            <a:pPr marL="457200" indent="-457200">
              <a:defRPr/>
            </a:pPr>
            <a:r>
              <a:rPr lang="en-US" sz="2800" dirty="0">
                <a:solidFill>
                  <a:srgbClr val="FF0000"/>
                </a:solidFill>
                <a:latin typeface="Verdana" pitchFamily="34" charset="0"/>
              </a:rPr>
              <a:t>    we  don’t   produce   imports]   </a:t>
            </a:r>
          </a:p>
        </p:txBody>
      </p:sp>
      <p:pic>
        <p:nvPicPr>
          <p:cNvPr id="347141" name="butt1008.wav">
            <a:hlinkClick r:id="" action="ppaction://media"/>
          </p:cNvPr>
          <p:cNvPicPr>
            <a:picLocks noRot="1" noChangeAspect="1" noChangeArrowheads="1"/>
          </p:cNvPicPr>
          <p:nvPr>
            <a:wavAudioFile r:embed="rId1" name="butt That is a pretty big butt.wav"/>
          </p:nvPr>
        </p:nvPicPr>
        <p:blipFill>
          <a:blip r:embed="rId4" cstate="print">
            <a:extLst>
              <a:ext uri="{28A0092B-C50C-407E-A947-70E740481C1C}">
                <a14:useLocalDpi xmlns:a14="http://schemas.microsoft.com/office/drawing/2010/main" val="0"/>
              </a:ext>
            </a:extLst>
          </a:blip>
          <a:srcRect/>
          <a:stretch>
            <a:fillRect/>
          </a:stretch>
        </p:blipFill>
        <p:spPr bwMode="auto">
          <a:xfrm>
            <a:off x="0" y="6553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62804E46-749C-4BD1-80C7-5411E2FBF066}" type="slidenum">
              <a:rPr lang="en-US" smtClean="0"/>
              <a:pPr/>
              <a:t>21</a:t>
            </a:fld>
            <a:endParaRPr lang="en-US" dirty="0"/>
          </a:p>
        </p:txBody>
      </p:sp>
    </p:spTree>
    <p:extLst>
      <p:ext uri="{BB962C8B-B14F-4D97-AF65-F5344CB8AC3E}">
        <p14:creationId xmlns:p14="http://schemas.microsoft.com/office/powerpoint/2010/main" val="363647639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47138"/>
                                        </p:tgtEl>
                                        <p:attrNameLst>
                                          <p:attrName>style.visibility</p:attrName>
                                        </p:attrNameLst>
                                      </p:cBhvr>
                                      <p:to>
                                        <p:strVal val="visible"/>
                                      </p:to>
                                    </p:set>
                                    <p:animEffect transition="in" filter="checkerboard(across)">
                                      <p:cBhvr>
                                        <p:cTn id="7" dur="500"/>
                                        <p:tgtEl>
                                          <p:spTgt spid="347138"/>
                                        </p:tgtEl>
                                      </p:cBhvr>
                                    </p:animEffect>
                                  </p:childTnLst>
                                </p:cTn>
                              </p:par>
                            </p:childTnLst>
                          </p:cTn>
                        </p:par>
                        <p:par>
                          <p:cTn id="8" fill="hold" nodeType="afterGroup">
                            <p:stCondLst>
                              <p:cond delay="500"/>
                            </p:stCondLst>
                            <p:childTnLst>
                              <p:par>
                                <p:cTn id="9" presetID="1" presetClass="mediacall" presetSubtype="0" fill="hold" nodeType="afterEffect">
                                  <p:stCondLst>
                                    <p:cond delay="0"/>
                                  </p:stCondLst>
                                  <p:childTnLst>
                                    <p:cmd type="call" cmd="playFrom(0.0)">
                                      <p:cBhvr>
                                        <p:cTn id="10" dur="3326" fill="hold"/>
                                        <p:tgtEl>
                                          <p:spTgt spid="347141"/>
                                        </p:tgtEl>
                                      </p:cBhvr>
                                    </p:cmd>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347139"/>
                                        </p:tgtEl>
                                        <p:attrNameLst>
                                          <p:attrName>style.visibility</p:attrName>
                                        </p:attrNameLst>
                                      </p:cBhvr>
                                      <p:to>
                                        <p:strVal val="visible"/>
                                      </p:to>
                                    </p:set>
                                    <p:anim calcmode="lin" valueType="num">
                                      <p:cBhvr additive="base">
                                        <p:cTn id="15" dur="500" fill="hold"/>
                                        <p:tgtEl>
                                          <p:spTgt spid="347139"/>
                                        </p:tgtEl>
                                        <p:attrNameLst>
                                          <p:attrName>ppt_x</p:attrName>
                                        </p:attrNameLst>
                                      </p:cBhvr>
                                      <p:tavLst>
                                        <p:tav tm="0">
                                          <p:val>
                                            <p:strVal val="#ppt_x"/>
                                          </p:val>
                                        </p:tav>
                                        <p:tav tm="100000">
                                          <p:val>
                                            <p:strVal val="#ppt_x"/>
                                          </p:val>
                                        </p:tav>
                                      </p:tavLst>
                                    </p:anim>
                                    <p:anim calcmode="lin" valueType="num">
                                      <p:cBhvr additive="base">
                                        <p:cTn id="16" dur="500" fill="hold"/>
                                        <p:tgtEl>
                                          <p:spTgt spid="3471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showWhenStopped="0">
                <p:cTn id="17" fill="hold" display="0">
                  <p:stCondLst>
                    <p:cond delay="indefinite"/>
                  </p:stCondLst>
                  <p:endCondLst>
                    <p:cond evt="onNext" delay="0">
                      <p:tgtEl>
                        <p:sldTgt/>
                      </p:tgtEl>
                    </p:cond>
                    <p:cond evt="onPrev" delay="0">
                      <p:tgtEl>
                        <p:sldTgt/>
                      </p:tgtEl>
                    </p:cond>
                    <p:cond evt="onStopAudio" delay="0">
                      <p:tgtEl>
                        <p:sldTgt/>
                      </p:tgtEl>
                    </p:cond>
                  </p:endCondLst>
                </p:cTn>
                <p:tgtEl>
                  <p:spTgt spid="347141"/>
                </p:tgtEl>
              </p:cMediaNode>
            </p:audio>
          </p:childTnLst>
        </p:cTn>
      </p:par>
    </p:tnLst>
    <p:bldLst>
      <p:bldP spid="347138" grpId="0"/>
      <p:bldP spid="34713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3" name="Text Box 53"/>
          <p:cNvSpPr txBox="1">
            <a:spLocks noChangeArrowheads="1"/>
          </p:cNvSpPr>
          <p:nvPr/>
        </p:nvSpPr>
        <p:spPr bwMode="auto">
          <a:xfrm>
            <a:off x="1676400" y="4572000"/>
            <a:ext cx="6705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a:p>
        </p:txBody>
      </p:sp>
      <p:sp>
        <p:nvSpPr>
          <p:cNvPr id="30774" name="Text Box 54"/>
          <p:cNvSpPr txBox="1">
            <a:spLocks noChangeArrowheads="1"/>
          </p:cNvSpPr>
          <p:nvPr/>
        </p:nvSpPr>
        <p:spPr bwMode="auto">
          <a:xfrm>
            <a:off x="0" y="1631048"/>
            <a:ext cx="9144000"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2800" b="1" dirty="0">
                <a:solidFill>
                  <a:schemeClr val="accent2"/>
                </a:solidFill>
              </a:rPr>
              <a:t>Nominal GDP = Price of G&amp;S x Quantity of G &amp;</a:t>
            </a:r>
            <a:r>
              <a:rPr lang="en-US" sz="2800" b="1" dirty="0" smtClean="0">
                <a:solidFill>
                  <a:schemeClr val="accent2"/>
                </a:solidFill>
              </a:rPr>
              <a:t>S</a:t>
            </a:r>
          </a:p>
          <a:p>
            <a:endParaRPr lang="en-US" sz="2800" b="1" dirty="0">
              <a:solidFill>
                <a:schemeClr val="accent2"/>
              </a:solidFill>
            </a:endParaRPr>
          </a:p>
          <a:p>
            <a:r>
              <a:rPr lang="en-US" sz="2800" b="1" dirty="0">
                <a:solidFill>
                  <a:schemeClr val="hlink"/>
                </a:solidFill>
              </a:rPr>
              <a:t>GDP Deflator = </a:t>
            </a:r>
            <a:r>
              <a:rPr lang="en-US" sz="2800" b="1" dirty="0" smtClean="0">
                <a:solidFill>
                  <a:schemeClr val="hlink"/>
                </a:solidFill>
              </a:rPr>
              <a:t>GDP Current Price / Base Year GDP </a:t>
            </a:r>
          </a:p>
          <a:p>
            <a:endParaRPr lang="en-US" sz="2800" b="1" dirty="0">
              <a:solidFill>
                <a:schemeClr val="hlink"/>
              </a:solidFill>
            </a:endParaRPr>
          </a:p>
          <a:p>
            <a:r>
              <a:rPr lang="en-US" sz="2800" b="1" dirty="0">
                <a:solidFill>
                  <a:srgbClr val="FF0000"/>
                </a:solidFill>
              </a:rPr>
              <a:t>Real GDP = Nominal GDP/GDP Deflator X 100</a:t>
            </a:r>
          </a:p>
        </p:txBody>
      </p:sp>
      <p:sp>
        <p:nvSpPr>
          <p:cNvPr id="2" name="Slide Number Placeholder 1"/>
          <p:cNvSpPr>
            <a:spLocks noGrp="1"/>
          </p:cNvSpPr>
          <p:nvPr>
            <p:ph type="sldNum" sz="quarter" idx="12"/>
          </p:nvPr>
        </p:nvSpPr>
        <p:spPr/>
        <p:txBody>
          <a:bodyPr/>
          <a:lstStyle/>
          <a:p>
            <a:fld id="{62804E46-749C-4BD1-80C7-5411E2FBF066}" type="slidenum">
              <a:rPr lang="en-US" smtClean="0"/>
              <a:pPr/>
              <a:t>22</a:t>
            </a:fld>
            <a:endParaRPr lang="en-US"/>
          </a:p>
        </p:txBody>
      </p:sp>
    </p:spTree>
    <p:extLst>
      <p:ext uri="{BB962C8B-B14F-4D97-AF65-F5344CB8AC3E}">
        <p14:creationId xmlns:p14="http://schemas.microsoft.com/office/powerpoint/2010/main" val="335091860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smtClean="0"/>
          </a:p>
          <a:p>
            <a:pPr marL="0" indent="0">
              <a:buNone/>
            </a:pPr>
            <a:endParaRPr lang="en-US" dirty="0"/>
          </a:p>
          <a:p>
            <a:pPr marL="0" indent="0">
              <a:buNone/>
            </a:pPr>
            <a:endParaRPr lang="en-US" dirty="0" smtClean="0"/>
          </a:p>
          <a:p>
            <a:pPr marL="0" indent="0">
              <a:buNone/>
            </a:pPr>
            <a:r>
              <a:rPr lang="en-US" dirty="0" smtClean="0"/>
              <a:t>GDP Deflator = </a:t>
            </a:r>
            <a:r>
              <a:rPr lang="en-US" u="sng" dirty="0" smtClean="0"/>
              <a:t>Current price GDP  </a:t>
            </a:r>
            <a:r>
              <a:rPr lang="en-US" dirty="0" smtClean="0"/>
              <a:t>X100%</a:t>
            </a:r>
          </a:p>
          <a:p>
            <a:pPr marL="0" indent="0">
              <a:buNone/>
            </a:pPr>
            <a:r>
              <a:rPr lang="en-US" dirty="0" smtClean="0"/>
              <a:t>			Base year/ Real GDP</a:t>
            </a:r>
            <a:endParaRPr lang="en-US" dirty="0"/>
          </a:p>
        </p:txBody>
      </p:sp>
      <p:sp>
        <p:nvSpPr>
          <p:cNvPr id="4" name="Slide Number Placeholder 3"/>
          <p:cNvSpPr>
            <a:spLocks noGrp="1"/>
          </p:cNvSpPr>
          <p:nvPr>
            <p:ph type="sldNum" sz="quarter" idx="12"/>
          </p:nvPr>
        </p:nvSpPr>
        <p:spPr/>
        <p:txBody>
          <a:bodyPr/>
          <a:lstStyle/>
          <a:p>
            <a:fld id="{62804E46-749C-4BD1-80C7-5411E2FBF066}" type="slidenum">
              <a:rPr lang="en-US" smtClean="0"/>
              <a:pPr/>
              <a:t>23</a:t>
            </a:fld>
            <a:endParaRPr lang="en-US"/>
          </a:p>
        </p:txBody>
      </p:sp>
    </p:spTree>
    <p:extLst>
      <p:ext uri="{BB962C8B-B14F-4D97-AF65-F5344CB8AC3E}">
        <p14:creationId xmlns:p14="http://schemas.microsoft.com/office/powerpoint/2010/main" val="24114289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GDP Deflator graph"/>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 y="1244600"/>
            <a:ext cx="8286750" cy="538480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349187" name="Rectangle 3"/>
          <p:cNvSpPr>
            <a:spLocks noGrp="1" noChangeArrowheads="1"/>
          </p:cNvSpPr>
          <p:nvPr>
            <p:ph type="title"/>
          </p:nvPr>
        </p:nvSpPr>
        <p:spPr>
          <a:xfrm>
            <a:off x="614363" y="0"/>
            <a:ext cx="8034337" cy="1047750"/>
          </a:xfrm>
        </p:spPr>
        <p:txBody>
          <a:bodyPr>
            <a:normAutofit fontScale="90000"/>
          </a:bodyPr>
          <a:lstStyle/>
          <a:p>
            <a:pPr eaLnBrk="1" hangingPunct="1">
              <a:defRPr/>
            </a:pPr>
            <a:r>
              <a:rPr lang="en-US" sz="3200" b="1" dirty="0" smtClean="0">
                <a:effectLst>
                  <a:outerShdw blurRad="38100" dist="38100" dir="2700000" algn="tl">
                    <a:srgbClr val="C0C0C0"/>
                  </a:outerShdw>
                </a:effectLst>
                <a:latin typeface="Maiandra GD" pitchFamily="34" charset="0"/>
              </a:rPr>
              <a:t>  GDP Deflator Compared to the CPI</a:t>
            </a:r>
            <a:r>
              <a:rPr lang="en-US" sz="3200" b="1" dirty="0" smtClean="0">
                <a:effectLst>
                  <a:outerShdw blurRad="38100" dist="38100" dir="2700000" algn="tl">
                    <a:srgbClr val="C0C0C0"/>
                  </a:outerShdw>
                </a:effectLst>
              </a:rPr>
              <a:t/>
            </a:r>
            <a:br>
              <a:rPr lang="en-US" sz="3200" b="1" dirty="0" smtClean="0">
                <a:effectLst>
                  <a:outerShdw blurRad="38100" dist="38100" dir="2700000" algn="tl">
                    <a:srgbClr val="C0C0C0"/>
                  </a:outerShdw>
                </a:effectLst>
              </a:rPr>
            </a:br>
            <a:r>
              <a:rPr lang="en-US" sz="3200" b="1" dirty="0" smtClean="0">
                <a:solidFill>
                  <a:srgbClr val="FFCC00"/>
                </a:solidFill>
                <a:effectLst>
                  <a:outerShdw blurRad="38100" dist="38100" dir="2700000" algn="tl">
                    <a:srgbClr val="C0C0C0"/>
                  </a:outerShdw>
                </a:effectLst>
              </a:rPr>
              <a:t>           </a:t>
            </a:r>
            <a:r>
              <a:rPr lang="en-US" sz="3200" b="1" dirty="0" smtClean="0">
                <a:solidFill>
                  <a:srgbClr val="FF6600"/>
                </a:solidFill>
                <a:effectLst>
                  <a:outerShdw blurRad="38100" dist="38100" dir="2700000" algn="tl">
                    <a:srgbClr val="C0C0C0"/>
                  </a:outerShdw>
                </a:effectLst>
              </a:rPr>
              <a:t>[CPI is normally higher.]</a:t>
            </a:r>
          </a:p>
        </p:txBody>
      </p:sp>
      <p:sp>
        <p:nvSpPr>
          <p:cNvPr id="2" name="Slide Number Placeholder 1"/>
          <p:cNvSpPr>
            <a:spLocks noGrp="1"/>
          </p:cNvSpPr>
          <p:nvPr>
            <p:ph type="sldNum" sz="quarter" idx="12"/>
          </p:nvPr>
        </p:nvSpPr>
        <p:spPr/>
        <p:txBody>
          <a:bodyPr/>
          <a:lstStyle/>
          <a:p>
            <a:fld id="{62804E46-749C-4BD1-80C7-5411E2FBF066}" type="slidenum">
              <a:rPr lang="en-US" smtClean="0"/>
              <a:pPr/>
              <a:t>24</a:t>
            </a:fld>
            <a:endParaRPr lang="en-US"/>
          </a:p>
        </p:txBody>
      </p:sp>
    </p:spTree>
    <p:extLst>
      <p:ext uri="{BB962C8B-B14F-4D97-AF65-F5344CB8AC3E}">
        <p14:creationId xmlns:p14="http://schemas.microsoft.com/office/powerpoint/2010/main" val="1369755821"/>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normAutofit fontScale="90000"/>
          </a:bodyPr>
          <a:lstStyle/>
          <a:p>
            <a:pPr eaLnBrk="1" hangingPunct="1"/>
            <a:r>
              <a:rPr lang="en-US" dirty="0" smtClean="0"/>
              <a:t>What are the effects of unexpected inflation?</a:t>
            </a:r>
          </a:p>
        </p:txBody>
      </p:sp>
      <p:sp>
        <p:nvSpPr>
          <p:cNvPr id="19459" name="Rectangle 3"/>
          <p:cNvSpPr>
            <a:spLocks noGrp="1" noChangeArrowheads="1"/>
          </p:cNvSpPr>
          <p:nvPr>
            <p:ph type="body" idx="1"/>
          </p:nvPr>
        </p:nvSpPr>
        <p:spPr>
          <a:xfrm>
            <a:off x="457200" y="1600200"/>
            <a:ext cx="8229600" cy="3886200"/>
          </a:xfrm>
        </p:spPr>
        <p:txBody>
          <a:bodyPr>
            <a:normAutofit/>
          </a:bodyPr>
          <a:lstStyle/>
          <a:p>
            <a:pPr eaLnBrk="1" hangingPunct="1"/>
            <a:r>
              <a:rPr lang="en-US" dirty="0" smtClean="0"/>
              <a:t>Inflation redistributes income</a:t>
            </a:r>
          </a:p>
          <a:p>
            <a:pPr marL="0" indent="0" eaLnBrk="1" hangingPunct="1">
              <a:buNone/>
            </a:pPr>
            <a:endParaRPr lang="en-US" dirty="0" smtClean="0"/>
          </a:p>
          <a:p>
            <a:pPr lvl="1" eaLnBrk="1" hangingPunct="1"/>
            <a:r>
              <a:rPr lang="en-US" dirty="0" smtClean="0"/>
              <a:t>some people win – the ones getting the higher prices (think oil/gas companies)</a:t>
            </a:r>
          </a:p>
          <a:p>
            <a:pPr marL="457200" lvl="1" indent="0" eaLnBrk="1" hangingPunct="1">
              <a:buNone/>
            </a:pPr>
            <a:endParaRPr lang="en-US" dirty="0" smtClean="0"/>
          </a:p>
          <a:p>
            <a:pPr lvl="1" eaLnBrk="1" hangingPunct="1"/>
            <a:r>
              <a:rPr lang="en-US" dirty="0" smtClean="0"/>
              <a:t>Some people lose – the ones paying the higher prices</a:t>
            </a:r>
          </a:p>
        </p:txBody>
      </p:sp>
      <p:sp>
        <p:nvSpPr>
          <p:cNvPr id="2" name="Slide Number Placeholder 1"/>
          <p:cNvSpPr>
            <a:spLocks noGrp="1"/>
          </p:cNvSpPr>
          <p:nvPr>
            <p:ph type="sldNum" sz="quarter" idx="12"/>
          </p:nvPr>
        </p:nvSpPr>
        <p:spPr/>
        <p:txBody>
          <a:bodyPr/>
          <a:lstStyle/>
          <a:p>
            <a:fld id="{62804E46-749C-4BD1-80C7-5411E2FBF066}" type="slidenum">
              <a:rPr lang="en-US" smtClean="0"/>
              <a:pPr/>
              <a:t>25</a:t>
            </a:fld>
            <a:endParaRPr lang="en-US"/>
          </a:p>
        </p:txBody>
      </p:sp>
    </p:spTree>
    <p:extLst>
      <p:ext uri="{BB962C8B-B14F-4D97-AF65-F5344CB8AC3E}">
        <p14:creationId xmlns:p14="http://schemas.microsoft.com/office/powerpoint/2010/main" val="185286905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normAutofit fontScale="90000"/>
          </a:bodyPr>
          <a:lstStyle/>
          <a:p>
            <a:pPr eaLnBrk="1" hangingPunct="1"/>
            <a:r>
              <a:rPr lang="en-US" smtClean="0"/>
              <a:t>Who wins and who loses from  inflation?</a:t>
            </a:r>
          </a:p>
        </p:txBody>
      </p:sp>
      <p:sp>
        <p:nvSpPr>
          <p:cNvPr id="20483" name="Rectangle 3"/>
          <p:cNvSpPr>
            <a:spLocks noGrp="1" noChangeArrowheads="1"/>
          </p:cNvSpPr>
          <p:nvPr>
            <p:ph type="body" idx="1"/>
          </p:nvPr>
        </p:nvSpPr>
        <p:spPr>
          <a:xfrm>
            <a:off x="457200" y="1600200"/>
            <a:ext cx="8229600" cy="3983038"/>
          </a:xfrm>
        </p:spPr>
        <p:txBody>
          <a:bodyPr/>
          <a:lstStyle/>
          <a:p>
            <a:pPr eaLnBrk="1" hangingPunct="1"/>
            <a:r>
              <a:rPr lang="en-US" dirty="0" smtClean="0"/>
              <a:t>Debtors win</a:t>
            </a:r>
          </a:p>
          <a:p>
            <a:pPr lvl="1" eaLnBrk="1" hangingPunct="1"/>
            <a:r>
              <a:rPr lang="en-US" dirty="0" smtClean="0"/>
              <a:t>Borrowers pay back loans with inflated dollars (dollars that are worth less)</a:t>
            </a:r>
          </a:p>
          <a:p>
            <a:pPr marL="457200" lvl="1" indent="0" eaLnBrk="1" hangingPunct="1">
              <a:buNone/>
            </a:pPr>
            <a:endParaRPr lang="en-US" dirty="0" smtClean="0"/>
          </a:p>
          <a:p>
            <a:pPr eaLnBrk="1" hangingPunct="1"/>
            <a:r>
              <a:rPr lang="en-US" dirty="0" smtClean="0"/>
              <a:t>Creditors lose</a:t>
            </a:r>
          </a:p>
          <a:p>
            <a:pPr lvl="1" eaLnBrk="1" hangingPunct="1"/>
            <a:r>
              <a:rPr lang="en-US" dirty="0" smtClean="0"/>
              <a:t>Lenders are paid back with inflated dollars (dollars that are worth less)</a:t>
            </a:r>
          </a:p>
        </p:txBody>
      </p:sp>
      <p:sp>
        <p:nvSpPr>
          <p:cNvPr id="2" name="Slide Number Placeholder 1"/>
          <p:cNvSpPr>
            <a:spLocks noGrp="1"/>
          </p:cNvSpPr>
          <p:nvPr>
            <p:ph type="sldNum" sz="quarter" idx="12"/>
          </p:nvPr>
        </p:nvSpPr>
        <p:spPr/>
        <p:txBody>
          <a:bodyPr/>
          <a:lstStyle/>
          <a:p>
            <a:fld id="{62804E46-749C-4BD1-80C7-5411E2FBF066}" type="slidenum">
              <a:rPr lang="en-US" smtClean="0"/>
              <a:pPr/>
              <a:t>26</a:t>
            </a:fld>
            <a:endParaRPr lang="en-US"/>
          </a:p>
        </p:txBody>
      </p:sp>
    </p:spTree>
    <p:extLst>
      <p:ext uri="{BB962C8B-B14F-4D97-AF65-F5344CB8AC3E}">
        <p14:creationId xmlns:p14="http://schemas.microsoft.com/office/powerpoint/2010/main" val="393742708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
          <p:cNvSpPr>
            <a:spLocks noGrp="1" noChangeArrowheads="1"/>
          </p:cNvSpPr>
          <p:nvPr>
            <p:ph type="title"/>
          </p:nvPr>
        </p:nvSpPr>
        <p:spPr>
          <a:xfrm>
            <a:off x="1066800" y="836613"/>
            <a:ext cx="7772400" cy="1143000"/>
          </a:xfrm>
        </p:spPr>
        <p:txBody>
          <a:bodyPr>
            <a:spAutoFit/>
          </a:bodyPr>
          <a:lstStyle/>
          <a:p>
            <a:pPr algn="ctr" eaLnBrk="1" hangingPunct="1">
              <a:lnSpc>
                <a:spcPct val="100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mtClean="0"/>
              <a:t>Demand –Pull Inflation</a:t>
            </a:r>
          </a:p>
        </p:txBody>
      </p:sp>
      <p:sp>
        <p:nvSpPr>
          <p:cNvPr id="14339" name="Line 2"/>
          <p:cNvSpPr>
            <a:spLocks noChangeShapeType="1"/>
          </p:cNvSpPr>
          <p:nvPr/>
        </p:nvSpPr>
        <p:spPr bwMode="auto">
          <a:xfrm>
            <a:off x="1600200" y="2667000"/>
            <a:ext cx="1588" cy="3352800"/>
          </a:xfrm>
          <a:prstGeom prst="line">
            <a:avLst/>
          </a:prstGeom>
          <a:noFill/>
          <a:ln w="19080">
            <a:solidFill>
              <a:srgbClr val="5B5249"/>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4340" name="Line 3"/>
          <p:cNvSpPr>
            <a:spLocks noChangeShapeType="1"/>
          </p:cNvSpPr>
          <p:nvPr/>
        </p:nvSpPr>
        <p:spPr bwMode="auto">
          <a:xfrm>
            <a:off x="1600200" y="6019800"/>
            <a:ext cx="4495800" cy="1588"/>
          </a:xfrm>
          <a:prstGeom prst="line">
            <a:avLst/>
          </a:prstGeom>
          <a:noFill/>
          <a:ln w="19080">
            <a:solidFill>
              <a:srgbClr val="5B5249"/>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4341" name="Freeform 4"/>
          <p:cNvSpPr>
            <a:spLocks noChangeArrowheads="1"/>
          </p:cNvSpPr>
          <p:nvPr/>
        </p:nvSpPr>
        <p:spPr bwMode="auto">
          <a:xfrm>
            <a:off x="2057400" y="3429000"/>
            <a:ext cx="2590800" cy="2362200"/>
          </a:xfrm>
          <a:custGeom>
            <a:avLst/>
            <a:gdLst>
              <a:gd name="T0" fmla="*/ 0 w 1632"/>
              <a:gd name="T1" fmla="*/ 0 h 1488"/>
              <a:gd name="T2" fmla="*/ 2147483647 w 1632"/>
              <a:gd name="T3" fmla="*/ 2147483647 h 1488"/>
              <a:gd name="T4" fmla="*/ 2147483647 w 1632"/>
              <a:gd name="T5" fmla="*/ 2147483647 h 1488"/>
              <a:gd name="T6" fmla="*/ 2147483647 w 1632"/>
              <a:gd name="T7" fmla="*/ 2147483647 h 1488"/>
              <a:gd name="T8" fmla="*/ 0 60000 65536"/>
              <a:gd name="T9" fmla="*/ 0 60000 65536"/>
              <a:gd name="T10" fmla="*/ 0 60000 65536"/>
              <a:gd name="T11" fmla="*/ 0 60000 65536"/>
              <a:gd name="T12" fmla="*/ 0 w 1632"/>
              <a:gd name="T13" fmla="*/ 0 h 1488"/>
              <a:gd name="T14" fmla="*/ 1632 w 1632"/>
              <a:gd name="T15" fmla="*/ 1488 h 1488"/>
            </a:gdLst>
            <a:ahLst/>
            <a:cxnLst>
              <a:cxn ang="T8">
                <a:pos x="T0" y="T1"/>
              </a:cxn>
              <a:cxn ang="T9">
                <a:pos x="T2" y="T3"/>
              </a:cxn>
              <a:cxn ang="T10">
                <a:pos x="T4" y="T5"/>
              </a:cxn>
              <a:cxn ang="T11">
                <a:pos x="T6" y="T7"/>
              </a:cxn>
            </a:cxnLst>
            <a:rect l="T12" t="T13" r="T14" b="T15"/>
            <a:pathLst>
              <a:path w="1632" h="1488">
                <a:moveTo>
                  <a:pt x="0" y="0"/>
                </a:moveTo>
                <a:cubicBezTo>
                  <a:pt x="76" y="236"/>
                  <a:pt x="152" y="472"/>
                  <a:pt x="288" y="672"/>
                </a:cubicBezTo>
                <a:cubicBezTo>
                  <a:pt x="424" y="872"/>
                  <a:pt x="592" y="1064"/>
                  <a:pt x="816" y="1200"/>
                </a:cubicBezTo>
                <a:cubicBezTo>
                  <a:pt x="1040" y="1336"/>
                  <a:pt x="1336" y="1412"/>
                  <a:pt x="1632" y="1488"/>
                </a:cubicBezTo>
              </a:path>
            </a:pathLst>
          </a:custGeom>
          <a:noFill/>
          <a:ln w="38160">
            <a:solidFill>
              <a:srgbClr val="33CB33"/>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342" name="Freeform 5"/>
          <p:cNvSpPr>
            <a:spLocks noChangeArrowheads="1"/>
          </p:cNvSpPr>
          <p:nvPr/>
        </p:nvSpPr>
        <p:spPr bwMode="auto">
          <a:xfrm>
            <a:off x="2514600" y="2819400"/>
            <a:ext cx="2590800" cy="2362200"/>
          </a:xfrm>
          <a:custGeom>
            <a:avLst/>
            <a:gdLst>
              <a:gd name="T0" fmla="*/ 0 w 1632"/>
              <a:gd name="T1" fmla="*/ 0 h 1488"/>
              <a:gd name="T2" fmla="*/ 2147483647 w 1632"/>
              <a:gd name="T3" fmla="*/ 2147483647 h 1488"/>
              <a:gd name="T4" fmla="*/ 2147483647 w 1632"/>
              <a:gd name="T5" fmla="*/ 2147483647 h 1488"/>
              <a:gd name="T6" fmla="*/ 2147483647 w 1632"/>
              <a:gd name="T7" fmla="*/ 2147483647 h 1488"/>
              <a:gd name="T8" fmla="*/ 0 60000 65536"/>
              <a:gd name="T9" fmla="*/ 0 60000 65536"/>
              <a:gd name="T10" fmla="*/ 0 60000 65536"/>
              <a:gd name="T11" fmla="*/ 0 60000 65536"/>
              <a:gd name="T12" fmla="*/ 0 w 1632"/>
              <a:gd name="T13" fmla="*/ 0 h 1488"/>
              <a:gd name="T14" fmla="*/ 1632 w 1632"/>
              <a:gd name="T15" fmla="*/ 1488 h 1488"/>
            </a:gdLst>
            <a:ahLst/>
            <a:cxnLst>
              <a:cxn ang="T8">
                <a:pos x="T0" y="T1"/>
              </a:cxn>
              <a:cxn ang="T9">
                <a:pos x="T2" y="T3"/>
              </a:cxn>
              <a:cxn ang="T10">
                <a:pos x="T4" y="T5"/>
              </a:cxn>
              <a:cxn ang="T11">
                <a:pos x="T6" y="T7"/>
              </a:cxn>
            </a:cxnLst>
            <a:rect l="T12" t="T13" r="T14" b="T15"/>
            <a:pathLst>
              <a:path w="1632" h="1488">
                <a:moveTo>
                  <a:pt x="0" y="0"/>
                </a:moveTo>
                <a:cubicBezTo>
                  <a:pt x="76" y="236"/>
                  <a:pt x="152" y="472"/>
                  <a:pt x="288" y="672"/>
                </a:cubicBezTo>
                <a:cubicBezTo>
                  <a:pt x="424" y="872"/>
                  <a:pt x="592" y="1064"/>
                  <a:pt x="816" y="1200"/>
                </a:cubicBezTo>
                <a:cubicBezTo>
                  <a:pt x="1040" y="1336"/>
                  <a:pt x="1336" y="1412"/>
                  <a:pt x="1632" y="1488"/>
                </a:cubicBezTo>
              </a:path>
            </a:pathLst>
          </a:custGeom>
          <a:noFill/>
          <a:ln w="38160">
            <a:solidFill>
              <a:srgbClr val="33CB33"/>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343" name="Line 6"/>
          <p:cNvSpPr>
            <a:spLocks noChangeShapeType="1"/>
          </p:cNvSpPr>
          <p:nvPr/>
        </p:nvSpPr>
        <p:spPr bwMode="auto">
          <a:xfrm>
            <a:off x="3352800" y="2438400"/>
            <a:ext cx="1588" cy="3581400"/>
          </a:xfrm>
          <a:prstGeom prst="line">
            <a:avLst/>
          </a:prstGeom>
          <a:noFill/>
          <a:ln w="38160">
            <a:solidFill>
              <a:srgbClr val="A50021"/>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4344" name="Line 7"/>
          <p:cNvSpPr>
            <a:spLocks noChangeShapeType="1"/>
          </p:cNvSpPr>
          <p:nvPr/>
        </p:nvSpPr>
        <p:spPr bwMode="auto">
          <a:xfrm>
            <a:off x="3657600" y="4724400"/>
            <a:ext cx="1588" cy="1295400"/>
          </a:xfrm>
          <a:prstGeom prst="line">
            <a:avLst/>
          </a:prstGeom>
          <a:noFill/>
          <a:ln w="9360">
            <a:solidFill>
              <a:srgbClr val="5B5249"/>
            </a:solidFill>
            <a:prstDash val="dash"/>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4345" name="Freeform 8"/>
          <p:cNvSpPr>
            <a:spLocks noChangeArrowheads="1"/>
          </p:cNvSpPr>
          <p:nvPr/>
        </p:nvSpPr>
        <p:spPr bwMode="auto">
          <a:xfrm>
            <a:off x="2590800" y="2362200"/>
            <a:ext cx="1181100" cy="3429000"/>
          </a:xfrm>
          <a:custGeom>
            <a:avLst/>
            <a:gdLst>
              <a:gd name="T0" fmla="*/ 0 w 744"/>
              <a:gd name="T1" fmla="*/ 2147483647 h 2160"/>
              <a:gd name="T2" fmla="*/ 2147483647 w 744"/>
              <a:gd name="T3" fmla="*/ 2147483647 h 2160"/>
              <a:gd name="T4" fmla="*/ 2147483647 w 744"/>
              <a:gd name="T5" fmla="*/ 0 h 2160"/>
              <a:gd name="T6" fmla="*/ 0 60000 65536"/>
              <a:gd name="T7" fmla="*/ 0 60000 65536"/>
              <a:gd name="T8" fmla="*/ 0 60000 65536"/>
              <a:gd name="T9" fmla="*/ 0 w 744"/>
              <a:gd name="T10" fmla="*/ 0 h 2160"/>
              <a:gd name="T11" fmla="*/ 744 w 744"/>
              <a:gd name="T12" fmla="*/ 2160 h 2160"/>
            </a:gdLst>
            <a:ahLst/>
            <a:cxnLst>
              <a:cxn ang="T6">
                <a:pos x="T0" y="T1"/>
              </a:cxn>
              <a:cxn ang="T7">
                <a:pos x="T2" y="T3"/>
              </a:cxn>
              <a:cxn ang="T8">
                <a:pos x="T4" y="T5"/>
              </a:cxn>
            </a:cxnLst>
            <a:rect l="T9" t="T10" r="T11" b="T12"/>
            <a:pathLst>
              <a:path w="744" h="2160">
                <a:moveTo>
                  <a:pt x="0" y="2160"/>
                </a:moveTo>
                <a:cubicBezTo>
                  <a:pt x="252" y="2052"/>
                  <a:pt x="504" y="1944"/>
                  <a:pt x="624" y="1584"/>
                </a:cubicBezTo>
                <a:cubicBezTo>
                  <a:pt x="744" y="1224"/>
                  <a:pt x="732" y="612"/>
                  <a:pt x="720" y="0"/>
                </a:cubicBezTo>
              </a:path>
            </a:pathLst>
          </a:custGeom>
          <a:noFill/>
          <a:ln w="38160">
            <a:solidFill>
              <a:srgbClr val="6139F3"/>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346" name="Line 9"/>
          <p:cNvSpPr>
            <a:spLocks noChangeShapeType="1"/>
          </p:cNvSpPr>
          <p:nvPr/>
        </p:nvSpPr>
        <p:spPr bwMode="auto">
          <a:xfrm flipH="1">
            <a:off x="1597025" y="4572000"/>
            <a:ext cx="2063750" cy="1588"/>
          </a:xfrm>
          <a:prstGeom prst="line">
            <a:avLst/>
          </a:prstGeom>
          <a:noFill/>
          <a:ln w="9360">
            <a:solidFill>
              <a:srgbClr val="5B5249"/>
            </a:solidFill>
            <a:prstDash val="dash"/>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4347" name="Line 10"/>
          <p:cNvSpPr>
            <a:spLocks noChangeShapeType="1"/>
          </p:cNvSpPr>
          <p:nvPr/>
        </p:nvSpPr>
        <p:spPr bwMode="auto">
          <a:xfrm flipH="1">
            <a:off x="1597025" y="5334000"/>
            <a:ext cx="1758950" cy="1588"/>
          </a:xfrm>
          <a:prstGeom prst="line">
            <a:avLst/>
          </a:prstGeom>
          <a:noFill/>
          <a:ln w="9360">
            <a:solidFill>
              <a:srgbClr val="5B5249"/>
            </a:solidFill>
            <a:prstDash val="dash"/>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4348" name="Line 11"/>
          <p:cNvSpPr>
            <a:spLocks noChangeShapeType="1"/>
          </p:cNvSpPr>
          <p:nvPr/>
        </p:nvSpPr>
        <p:spPr bwMode="auto">
          <a:xfrm flipV="1">
            <a:off x="3886200" y="4949825"/>
            <a:ext cx="228600" cy="463550"/>
          </a:xfrm>
          <a:prstGeom prst="line">
            <a:avLst/>
          </a:prstGeom>
          <a:noFill/>
          <a:ln w="19080">
            <a:solidFill>
              <a:srgbClr val="5B5249"/>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49" name="Text Box 12"/>
          <p:cNvSpPr txBox="1">
            <a:spLocks noChangeArrowheads="1"/>
          </p:cNvSpPr>
          <p:nvPr/>
        </p:nvSpPr>
        <p:spPr bwMode="auto">
          <a:xfrm>
            <a:off x="4632325" y="5576888"/>
            <a:ext cx="54927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5pPr>
            <a:lvl6pPr marL="25146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6pPr>
            <a:lvl7pPr marL="29718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7pPr>
            <a:lvl8pPr marL="34290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8pPr>
            <a:lvl9pPr marL="38862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9pPr>
          </a:lstStyle>
          <a:p>
            <a:pPr eaLnBrk="1" hangingPunct="1">
              <a:lnSpc>
                <a:spcPct val="100000"/>
              </a:lnSpc>
            </a:pPr>
            <a:r>
              <a:rPr lang="en-GB" sz="2000" b="1">
                <a:solidFill>
                  <a:srgbClr val="5B5249"/>
                </a:solidFill>
              </a:rPr>
              <a:t>AD</a:t>
            </a:r>
          </a:p>
        </p:txBody>
      </p:sp>
      <p:sp>
        <p:nvSpPr>
          <p:cNvPr id="14350" name="Text Box 13"/>
          <p:cNvSpPr txBox="1">
            <a:spLocks noChangeArrowheads="1"/>
          </p:cNvSpPr>
          <p:nvPr/>
        </p:nvSpPr>
        <p:spPr bwMode="auto">
          <a:xfrm>
            <a:off x="4937125" y="4891088"/>
            <a:ext cx="6238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5pPr>
            <a:lvl6pPr marL="25146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6pPr>
            <a:lvl7pPr marL="29718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7pPr>
            <a:lvl8pPr marL="34290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8pPr>
            <a:lvl9pPr marL="38862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9pPr>
          </a:lstStyle>
          <a:p>
            <a:pPr eaLnBrk="1" hangingPunct="1">
              <a:lnSpc>
                <a:spcPct val="100000"/>
              </a:lnSpc>
            </a:pPr>
            <a:r>
              <a:rPr lang="en-GB" sz="2000" b="1">
                <a:solidFill>
                  <a:srgbClr val="5B5249"/>
                </a:solidFill>
              </a:rPr>
              <a:t>AD</a:t>
            </a:r>
            <a:r>
              <a:rPr lang="en-GB" sz="2000" b="1" baseline="-25000">
                <a:solidFill>
                  <a:srgbClr val="5B5249"/>
                </a:solidFill>
              </a:rPr>
              <a:t>1</a:t>
            </a:r>
          </a:p>
        </p:txBody>
      </p:sp>
      <p:sp>
        <p:nvSpPr>
          <p:cNvPr id="14351" name="Text Box 14"/>
          <p:cNvSpPr txBox="1">
            <a:spLocks noChangeArrowheads="1"/>
          </p:cNvSpPr>
          <p:nvPr/>
        </p:nvSpPr>
        <p:spPr bwMode="auto">
          <a:xfrm>
            <a:off x="3870325" y="2147888"/>
            <a:ext cx="508000"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5pPr>
            <a:lvl6pPr marL="25146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6pPr>
            <a:lvl7pPr marL="29718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7pPr>
            <a:lvl8pPr marL="34290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8pPr>
            <a:lvl9pPr marL="38862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9pPr>
          </a:lstStyle>
          <a:p>
            <a:pPr eaLnBrk="1" hangingPunct="1">
              <a:lnSpc>
                <a:spcPct val="100000"/>
              </a:lnSpc>
            </a:pPr>
            <a:r>
              <a:rPr lang="en-GB" sz="2000" b="1">
                <a:solidFill>
                  <a:srgbClr val="5B5249"/>
                </a:solidFill>
              </a:rPr>
              <a:t>AS</a:t>
            </a:r>
          </a:p>
        </p:txBody>
      </p:sp>
      <p:sp>
        <p:nvSpPr>
          <p:cNvPr id="14352" name="Text Box 15"/>
          <p:cNvSpPr txBox="1">
            <a:spLocks noChangeArrowheads="1"/>
          </p:cNvSpPr>
          <p:nvPr/>
        </p:nvSpPr>
        <p:spPr bwMode="auto">
          <a:xfrm>
            <a:off x="3108325" y="6034088"/>
            <a:ext cx="50482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5pPr>
            <a:lvl6pPr marL="25146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6pPr>
            <a:lvl7pPr marL="29718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7pPr>
            <a:lvl8pPr marL="34290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8pPr>
            <a:lvl9pPr marL="38862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9pPr>
          </a:lstStyle>
          <a:p>
            <a:pPr eaLnBrk="1" hangingPunct="1">
              <a:lnSpc>
                <a:spcPct val="100000"/>
              </a:lnSpc>
            </a:pPr>
            <a:r>
              <a:rPr lang="en-GB" sz="2000" b="1">
                <a:solidFill>
                  <a:srgbClr val="5B5249"/>
                </a:solidFill>
              </a:rPr>
              <a:t>Q</a:t>
            </a:r>
            <a:r>
              <a:rPr lang="en-GB" sz="2000" b="1" baseline="-25000">
                <a:solidFill>
                  <a:srgbClr val="5B5249"/>
                </a:solidFill>
              </a:rPr>
              <a:t>P </a:t>
            </a:r>
          </a:p>
        </p:txBody>
      </p:sp>
      <p:sp>
        <p:nvSpPr>
          <p:cNvPr id="14353" name="Text Box 16"/>
          <p:cNvSpPr txBox="1">
            <a:spLocks noChangeArrowheads="1"/>
          </p:cNvSpPr>
          <p:nvPr/>
        </p:nvSpPr>
        <p:spPr bwMode="auto">
          <a:xfrm>
            <a:off x="3641725" y="6034088"/>
            <a:ext cx="45402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5pPr>
            <a:lvl6pPr marL="25146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6pPr>
            <a:lvl7pPr marL="29718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7pPr>
            <a:lvl8pPr marL="34290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8pPr>
            <a:lvl9pPr marL="38862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9pPr>
          </a:lstStyle>
          <a:p>
            <a:pPr eaLnBrk="1" hangingPunct="1">
              <a:lnSpc>
                <a:spcPct val="100000"/>
              </a:lnSpc>
            </a:pPr>
            <a:r>
              <a:rPr lang="en-GB" sz="2000" b="1">
                <a:solidFill>
                  <a:srgbClr val="5B5249"/>
                </a:solidFill>
              </a:rPr>
              <a:t>Q</a:t>
            </a:r>
            <a:r>
              <a:rPr lang="en-GB" sz="2000" b="1" baseline="-25000">
                <a:solidFill>
                  <a:srgbClr val="5B5249"/>
                </a:solidFill>
              </a:rPr>
              <a:t>1</a:t>
            </a:r>
          </a:p>
        </p:txBody>
      </p:sp>
      <p:sp>
        <p:nvSpPr>
          <p:cNvPr id="14354" name="Line 17"/>
          <p:cNvSpPr>
            <a:spLocks noChangeShapeType="1"/>
          </p:cNvSpPr>
          <p:nvPr/>
        </p:nvSpPr>
        <p:spPr bwMode="auto">
          <a:xfrm>
            <a:off x="3352800" y="6096000"/>
            <a:ext cx="304800" cy="1588"/>
          </a:xfrm>
          <a:prstGeom prst="line">
            <a:avLst/>
          </a:prstGeom>
          <a:noFill/>
          <a:ln w="9360">
            <a:solidFill>
              <a:srgbClr val="5B5249"/>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55" name="Text Box 18"/>
          <p:cNvSpPr txBox="1">
            <a:spLocks noChangeArrowheads="1"/>
          </p:cNvSpPr>
          <p:nvPr/>
        </p:nvSpPr>
        <p:spPr bwMode="auto">
          <a:xfrm>
            <a:off x="3032125" y="4814888"/>
            <a:ext cx="350838"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5pPr>
            <a:lvl6pPr marL="25146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6pPr>
            <a:lvl7pPr marL="29718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7pPr>
            <a:lvl8pPr marL="34290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8pPr>
            <a:lvl9pPr marL="38862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9pPr>
          </a:lstStyle>
          <a:p>
            <a:pPr eaLnBrk="1" hangingPunct="1">
              <a:lnSpc>
                <a:spcPct val="100000"/>
              </a:lnSpc>
            </a:pPr>
            <a:r>
              <a:rPr lang="en-GB" sz="2000" b="1">
                <a:solidFill>
                  <a:srgbClr val="5B5249"/>
                </a:solidFill>
              </a:rPr>
              <a:t>E</a:t>
            </a:r>
          </a:p>
        </p:txBody>
      </p:sp>
      <p:sp>
        <p:nvSpPr>
          <p:cNvPr id="14356" name="Text Box 19"/>
          <p:cNvSpPr txBox="1">
            <a:spLocks noChangeArrowheads="1"/>
          </p:cNvSpPr>
          <p:nvPr/>
        </p:nvSpPr>
        <p:spPr bwMode="auto">
          <a:xfrm>
            <a:off x="3717925" y="4205288"/>
            <a:ext cx="4254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5pPr>
            <a:lvl6pPr marL="25146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6pPr>
            <a:lvl7pPr marL="29718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7pPr>
            <a:lvl8pPr marL="34290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8pPr>
            <a:lvl9pPr marL="38862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9pPr>
          </a:lstStyle>
          <a:p>
            <a:pPr eaLnBrk="1" hangingPunct="1">
              <a:lnSpc>
                <a:spcPct val="100000"/>
              </a:lnSpc>
            </a:pPr>
            <a:r>
              <a:rPr lang="en-GB" sz="2000" b="1">
                <a:solidFill>
                  <a:srgbClr val="5B5249"/>
                </a:solidFill>
              </a:rPr>
              <a:t>E</a:t>
            </a:r>
            <a:r>
              <a:rPr lang="en-GB" sz="2000" b="1" baseline="-25000">
                <a:solidFill>
                  <a:srgbClr val="5B5249"/>
                </a:solidFill>
              </a:rPr>
              <a:t>1</a:t>
            </a:r>
          </a:p>
        </p:txBody>
      </p:sp>
      <p:sp>
        <p:nvSpPr>
          <p:cNvPr id="14357" name="Text Box 20"/>
          <p:cNvSpPr txBox="1">
            <a:spLocks noChangeArrowheads="1"/>
          </p:cNvSpPr>
          <p:nvPr/>
        </p:nvSpPr>
        <p:spPr bwMode="auto">
          <a:xfrm>
            <a:off x="1203325" y="5195888"/>
            <a:ext cx="336550"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5pPr>
            <a:lvl6pPr marL="25146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6pPr>
            <a:lvl7pPr marL="29718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7pPr>
            <a:lvl8pPr marL="34290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8pPr>
            <a:lvl9pPr marL="38862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9pPr>
          </a:lstStyle>
          <a:p>
            <a:pPr eaLnBrk="1" hangingPunct="1">
              <a:lnSpc>
                <a:spcPct val="100000"/>
              </a:lnSpc>
            </a:pPr>
            <a:r>
              <a:rPr lang="en-GB" sz="2000" b="1">
                <a:solidFill>
                  <a:srgbClr val="5B5249"/>
                </a:solidFill>
              </a:rPr>
              <a:t>P</a:t>
            </a:r>
          </a:p>
        </p:txBody>
      </p:sp>
      <p:sp>
        <p:nvSpPr>
          <p:cNvPr id="14358" name="Text Box 21"/>
          <p:cNvSpPr txBox="1">
            <a:spLocks noChangeArrowheads="1"/>
          </p:cNvSpPr>
          <p:nvPr/>
        </p:nvSpPr>
        <p:spPr bwMode="auto">
          <a:xfrm>
            <a:off x="1203325" y="4281488"/>
            <a:ext cx="41116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5pPr>
            <a:lvl6pPr marL="25146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6pPr>
            <a:lvl7pPr marL="29718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7pPr>
            <a:lvl8pPr marL="34290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8pPr>
            <a:lvl9pPr marL="38862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9pPr>
          </a:lstStyle>
          <a:p>
            <a:pPr eaLnBrk="1" hangingPunct="1">
              <a:lnSpc>
                <a:spcPct val="100000"/>
              </a:lnSpc>
            </a:pPr>
            <a:r>
              <a:rPr lang="en-GB" sz="2000" b="1">
                <a:solidFill>
                  <a:srgbClr val="5B5249"/>
                </a:solidFill>
              </a:rPr>
              <a:t>P</a:t>
            </a:r>
            <a:r>
              <a:rPr lang="en-GB" sz="2000" b="1" baseline="-25000">
                <a:solidFill>
                  <a:srgbClr val="5B5249"/>
                </a:solidFill>
              </a:rPr>
              <a:t>1</a:t>
            </a:r>
          </a:p>
        </p:txBody>
      </p:sp>
      <p:sp>
        <p:nvSpPr>
          <p:cNvPr id="14359" name="Line 22"/>
          <p:cNvSpPr>
            <a:spLocks noChangeShapeType="1"/>
          </p:cNvSpPr>
          <p:nvPr/>
        </p:nvSpPr>
        <p:spPr bwMode="auto">
          <a:xfrm flipV="1">
            <a:off x="1524000" y="4568825"/>
            <a:ext cx="1588" cy="768350"/>
          </a:xfrm>
          <a:prstGeom prst="line">
            <a:avLst/>
          </a:prstGeom>
          <a:noFill/>
          <a:ln w="9360">
            <a:solidFill>
              <a:srgbClr val="5B5249"/>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60" name="Text Box 23"/>
          <p:cNvSpPr txBox="1">
            <a:spLocks noChangeArrowheads="1"/>
          </p:cNvSpPr>
          <p:nvPr/>
        </p:nvSpPr>
        <p:spPr bwMode="auto">
          <a:xfrm>
            <a:off x="5105400" y="2428875"/>
            <a:ext cx="38989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5pPr>
            <a:lvl6pPr marL="25146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6pPr>
            <a:lvl7pPr marL="29718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7pPr>
            <a:lvl8pPr marL="34290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8pPr>
            <a:lvl9pPr marL="38862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9pPr>
          </a:lstStyle>
          <a:p>
            <a:pPr eaLnBrk="1" hangingPunct="1">
              <a:lnSpc>
                <a:spcPct val="100000"/>
              </a:lnSpc>
            </a:pPr>
            <a:r>
              <a:rPr lang="en-GB" sz="2800" b="1">
                <a:solidFill>
                  <a:srgbClr val="5B5249"/>
                </a:solidFill>
              </a:rPr>
              <a:t>With a steep AS curve,</a:t>
            </a:r>
          </a:p>
          <a:p>
            <a:pPr eaLnBrk="1" hangingPunct="1">
              <a:lnSpc>
                <a:spcPct val="100000"/>
              </a:lnSpc>
            </a:pPr>
            <a:r>
              <a:rPr lang="en-GB" sz="2800" b="1">
                <a:solidFill>
                  <a:srgbClr val="5B5249"/>
                </a:solidFill>
              </a:rPr>
              <a:t>much of the higher </a:t>
            </a:r>
          </a:p>
          <a:p>
            <a:pPr eaLnBrk="1" hangingPunct="1">
              <a:lnSpc>
                <a:spcPct val="100000"/>
              </a:lnSpc>
            </a:pPr>
            <a:r>
              <a:rPr lang="en-GB" sz="2800" b="1">
                <a:solidFill>
                  <a:srgbClr val="5B5249"/>
                </a:solidFill>
              </a:rPr>
              <a:t>aggregate spending ends</a:t>
            </a:r>
          </a:p>
          <a:p>
            <a:pPr eaLnBrk="1" hangingPunct="1">
              <a:lnSpc>
                <a:spcPct val="100000"/>
              </a:lnSpc>
            </a:pPr>
            <a:r>
              <a:rPr lang="en-GB" sz="2800" b="1">
                <a:solidFill>
                  <a:srgbClr val="5B5249"/>
                </a:solidFill>
              </a:rPr>
              <a:t>up in higher prices.</a:t>
            </a:r>
          </a:p>
        </p:txBody>
      </p:sp>
      <p:sp>
        <p:nvSpPr>
          <p:cNvPr id="14361" name="Text Box 24"/>
          <p:cNvSpPr txBox="1">
            <a:spLocks noChangeArrowheads="1"/>
          </p:cNvSpPr>
          <p:nvPr/>
        </p:nvSpPr>
        <p:spPr bwMode="auto">
          <a:xfrm>
            <a:off x="5927725" y="6034088"/>
            <a:ext cx="379413"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5pPr>
            <a:lvl6pPr marL="25146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6pPr>
            <a:lvl7pPr marL="29718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7pPr>
            <a:lvl8pPr marL="34290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8pPr>
            <a:lvl9pPr marL="38862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9pPr>
          </a:lstStyle>
          <a:p>
            <a:pPr eaLnBrk="1" hangingPunct="1">
              <a:lnSpc>
                <a:spcPct val="100000"/>
              </a:lnSpc>
            </a:pPr>
            <a:r>
              <a:rPr lang="en-GB" sz="2000" b="1">
                <a:solidFill>
                  <a:srgbClr val="5B5249"/>
                </a:solidFill>
              </a:rPr>
              <a:t>Q</a:t>
            </a:r>
          </a:p>
        </p:txBody>
      </p:sp>
      <p:sp>
        <p:nvSpPr>
          <p:cNvPr id="14362" name="Text Box 25"/>
          <p:cNvSpPr txBox="1">
            <a:spLocks noChangeArrowheads="1"/>
          </p:cNvSpPr>
          <p:nvPr/>
        </p:nvSpPr>
        <p:spPr bwMode="auto">
          <a:xfrm>
            <a:off x="1203325" y="2528888"/>
            <a:ext cx="336550"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5pPr>
            <a:lvl6pPr marL="25146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6pPr>
            <a:lvl7pPr marL="29718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7pPr>
            <a:lvl8pPr marL="34290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8pPr>
            <a:lvl9pPr marL="3886200" indent="-228600" defTabSz="449263" eaLnBrk="0" fontAlgn="base" hangingPunct="0">
              <a:lnSpc>
                <a:spcPct val="90000"/>
              </a:lnSpc>
              <a:spcBef>
                <a:spcPct val="0"/>
              </a:spcBef>
              <a:spcAft>
                <a:spcPct val="0"/>
              </a:spcAft>
              <a:buClr>
                <a:srgbClr val="5B5249"/>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charset="0"/>
                <a:ea typeface="Lucida Sans Unicode" pitchFamily="34" charset="0"/>
                <a:cs typeface="Lucida Sans Unicode" pitchFamily="34" charset="0"/>
              </a:defRPr>
            </a:lvl9pPr>
          </a:lstStyle>
          <a:p>
            <a:pPr eaLnBrk="1" hangingPunct="1">
              <a:lnSpc>
                <a:spcPct val="100000"/>
              </a:lnSpc>
            </a:pPr>
            <a:r>
              <a:rPr lang="en-GB" sz="2000" b="1">
                <a:solidFill>
                  <a:srgbClr val="5B5249"/>
                </a:solidFill>
              </a:rPr>
              <a:t>P</a:t>
            </a:r>
          </a:p>
        </p:txBody>
      </p:sp>
      <p:sp>
        <p:nvSpPr>
          <p:cNvPr id="2" name="Slide Number Placeholder 1"/>
          <p:cNvSpPr>
            <a:spLocks noGrp="1"/>
          </p:cNvSpPr>
          <p:nvPr>
            <p:ph type="sldNum" sz="quarter" idx="12"/>
          </p:nvPr>
        </p:nvSpPr>
        <p:spPr/>
        <p:txBody>
          <a:bodyPr/>
          <a:lstStyle/>
          <a:p>
            <a:fld id="{62804E46-749C-4BD1-80C7-5411E2FBF066}" type="slidenum">
              <a:rPr lang="en-US" smtClean="0"/>
              <a:pPr/>
              <a:t>27</a:t>
            </a:fld>
            <a:endParaRPr lang="en-US"/>
          </a:p>
        </p:txBody>
      </p:sp>
    </p:spTree>
    <p:extLst>
      <p:ext uri="{BB962C8B-B14F-4D97-AF65-F5344CB8AC3E}">
        <p14:creationId xmlns:p14="http://schemas.microsoft.com/office/powerpoint/2010/main" val="272510528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
          <p:cNvSpPr>
            <a:spLocks noGrp="1" noChangeArrowheads="1"/>
          </p:cNvSpPr>
          <p:nvPr>
            <p:ph type="title"/>
          </p:nvPr>
        </p:nvSpPr>
        <p:spPr>
          <a:xfrm>
            <a:off x="1066800" y="836613"/>
            <a:ext cx="7772400" cy="1143000"/>
          </a:xfrm>
        </p:spPr>
        <p:txBody>
          <a:bodyPr>
            <a:spAutoFit/>
          </a:bodyPr>
          <a:lstStyle/>
          <a:p>
            <a:pPr algn="ctr" eaLnBrk="1" hangingPunct="1">
              <a:lnSpc>
                <a:spcPct val="100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mtClean="0"/>
              <a:t>Cost –Push Inflation</a:t>
            </a:r>
          </a:p>
        </p:txBody>
      </p:sp>
      <p:sp>
        <p:nvSpPr>
          <p:cNvPr id="15363" name="Rectangle 2"/>
          <p:cNvSpPr>
            <a:spLocks noGrp="1" noChangeArrowheads="1"/>
          </p:cNvSpPr>
          <p:nvPr>
            <p:ph type="body" idx="1"/>
          </p:nvPr>
        </p:nvSpPr>
        <p:spPr>
          <a:xfrm>
            <a:off x="885825" y="2519363"/>
            <a:ext cx="8077200" cy="2751522"/>
          </a:xfrm>
        </p:spPr>
        <p:txBody>
          <a:bodyPr>
            <a:spAutoFit/>
          </a:bodyPr>
          <a:lstStyle/>
          <a:p>
            <a:pPr eaLnBrk="1" hangingPunct="1">
              <a:lnSpc>
                <a:spcPct val="100000"/>
              </a:lnSpc>
              <a:tabLst>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9432925" algn="l"/>
              </a:tabLst>
            </a:pPr>
            <a:r>
              <a:rPr lang="en-GB" dirty="0" smtClean="0"/>
              <a:t>Cost-push inflation is resulting from rising costs during periods of high unemployment.</a:t>
            </a:r>
          </a:p>
          <a:p>
            <a:pPr eaLnBrk="1" hangingPunct="1">
              <a:lnSpc>
                <a:spcPct val="100000"/>
              </a:lnSpc>
              <a:tabLst>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9432925" algn="l"/>
              </a:tabLst>
            </a:pPr>
            <a:endParaRPr lang="en-GB" dirty="0" smtClean="0"/>
          </a:p>
          <a:p>
            <a:pPr eaLnBrk="1" hangingPunct="1">
              <a:lnSpc>
                <a:spcPct val="100000"/>
              </a:lnSpc>
              <a:tabLst>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9432925" algn="l"/>
              </a:tabLst>
            </a:pPr>
            <a:r>
              <a:rPr lang="en-GB" dirty="0" smtClean="0"/>
              <a:t>Cost-push inflation is a new phenomenon of modern industrial economies.</a:t>
            </a:r>
          </a:p>
        </p:txBody>
      </p:sp>
      <p:sp>
        <p:nvSpPr>
          <p:cNvPr id="2" name="Slide Number Placeholder 1"/>
          <p:cNvSpPr>
            <a:spLocks noGrp="1"/>
          </p:cNvSpPr>
          <p:nvPr>
            <p:ph type="sldNum" sz="quarter" idx="12"/>
          </p:nvPr>
        </p:nvSpPr>
        <p:spPr/>
        <p:txBody>
          <a:bodyPr/>
          <a:lstStyle/>
          <a:p>
            <a:fld id="{62804E46-749C-4BD1-80C7-5411E2FBF066}" type="slidenum">
              <a:rPr lang="en-US" smtClean="0"/>
              <a:pPr/>
              <a:t>28</a:t>
            </a:fld>
            <a:endParaRPr lang="en-US"/>
          </a:p>
        </p:txBody>
      </p:sp>
    </p:spTree>
    <p:extLst>
      <p:ext uri="{BB962C8B-B14F-4D97-AF65-F5344CB8AC3E}">
        <p14:creationId xmlns:p14="http://schemas.microsoft.com/office/powerpoint/2010/main" val="386003006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type="body" sz="half" idx="1"/>
          </p:nvPr>
        </p:nvSpPr>
        <p:spPr>
          <a:xfrm>
            <a:off x="685800" y="1600200"/>
            <a:ext cx="7543800" cy="1752600"/>
          </a:xfrm>
        </p:spPr>
        <p:txBody>
          <a:bodyPr>
            <a:normAutofit/>
          </a:bodyPr>
          <a:lstStyle/>
          <a:p>
            <a:pPr>
              <a:buFontTx/>
              <a:buNone/>
            </a:pPr>
            <a:r>
              <a:rPr lang="en-US" sz="2400" b="1" u="sng" dirty="0">
                <a:latin typeface="Calibri" pitchFamily="34" charset="0"/>
                <a:cs typeface="Calibri" pitchFamily="34" charset="0"/>
              </a:rPr>
              <a:t>The Goal of Stabilization:</a:t>
            </a:r>
          </a:p>
          <a:p>
            <a:pPr>
              <a:buClr>
                <a:srgbClr val="99CCFF"/>
              </a:buClr>
            </a:pPr>
            <a:r>
              <a:rPr lang="en-US" sz="2200" dirty="0">
                <a:latin typeface="Calibri" pitchFamily="34" charset="0"/>
                <a:cs typeface="Calibri" pitchFamily="34" charset="0"/>
              </a:rPr>
              <a:t>Influence the amount spent and produced in an economy</a:t>
            </a:r>
          </a:p>
          <a:p>
            <a:pPr>
              <a:buClr>
                <a:srgbClr val="99CCFF"/>
              </a:buClr>
            </a:pPr>
            <a:r>
              <a:rPr lang="en-US" sz="2200" dirty="0">
                <a:latin typeface="Calibri" pitchFamily="34" charset="0"/>
                <a:cs typeface="Calibri" pitchFamily="34" charset="0"/>
              </a:rPr>
              <a:t>Meant to meet potential output</a:t>
            </a:r>
          </a:p>
          <a:p>
            <a:pPr>
              <a:buClr>
                <a:srgbClr val="99CCFF"/>
              </a:buClr>
            </a:pPr>
            <a:r>
              <a:rPr lang="en-US" sz="2200" dirty="0">
                <a:latin typeface="Calibri" pitchFamily="34" charset="0"/>
                <a:cs typeface="Calibri" pitchFamily="34" charset="0"/>
              </a:rPr>
              <a:t>To have less movements in the business cycle</a:t>
            </a:r>
            <a:endParaRPr lang="en-US" sz="2200" b="1" dirty="0">
              <a:latin typeface="Calibri" pitchFamily="34" charset="0"/>
              <a:cs typeface="Calibri" pitchFamily="34" charset="0"/>
            </a:endParaRPr>
          </a:p>
        </p:txBody>
      </p:sp>
      <p:sp>
        <p:nvSpPr>
          <p:cNvPr id="3076" name="Text Box 4"/>
          <p:cNvSpPr txBox="1">
            <a:spLocks noChangeArrowheads="1"/>
          </p:cNvSpPr>
          <p:nvPr/>
        </p:nvSpPr>
        <p:spPr bwMode="auto">
          <a:xfrm>
            <a:off x="1981200" y="715962"/>
            <a:ext cx="4876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pPr>
            <a:r>
              <a:rPr lang="en-US" sz="3200" b="1" dirty="0">
                <a:latin typeface="Arial" charset="0"/>
              </a:rPr>
              <a:t>Fiscal Policy </a:t>
            </a:r>
          </a:p>
        </p:txBody>
      </p:sp>
      <p:sp>
        <p:nvSpPr>
          <p:cNvPr id="2" name="Slide Number Placeholder 1"/>
          <p:cNvSpPr>
            <a:spLocks noGrp="1"/>
          </p:cNvSpPr>
          <p:nvPr>
            <p:ph type="sldNum" sz="quarter" idx="12"/>
          </p:nvPr>
        </p:nvSpPr>
        <p:spPr/>
        <p:txBody>
          <a:bodyPr/>
          <a:lstStyle/>
          <a:p>
            <a:fld id="{B3005E4A-EC37-40C9-A46E-C0A67781B478}" type="slidenum">
              <a:rPr lang="en-US" smtClean="0"/>
              <a:pPr/>
              <a:t>29</a:t>
            </a:fld>
            <a:endParaRPr lang="en-US"/>
          </a:p>
        </p:txBody>
      </p:sp>
      <p:sp>
        <p:nvSpPr>
          <p:cNvPr id="3" name="Content Placeholder 2"/>
          <p:cNvSpPr>
            <a:spLocks noGrp="1"/>
          </p:cNvSpPr>
          <p:nvPr>
            <p:ph sz="half" idx="2"/>
          </p:nvPr>
        </p:nvSpPr>
        <p:spPr>
          <a:xfrm>
            <a:off x="533400" y="3657600"/>
            <a:ext cx="7924800" cy="2438400"/>
          </a:xfrm>
        </p:spPr>
        <p:txBody>
          <a:bodyPr/>
          <a:lstStyle/>
          <a:p>
            <a:r>
              <a:rPr lang="en-US" dirty="0"/>
              <a:t>Two Policies </a:t>
            </a:r>
            <a:r>
              <a:rPr lang="en-US" dirty="0" smtClean="0"/>
              <a:t>:</a:t>
            </a:r>
          </a:p>
          <a:p>
            <a:pPr marL="0" indent="0">
              <a:buNone/>
            </a:pPr>
            <a:r>
              <a:rPr lang="en-US" dirty="0" smtClean="0"/>
              <a:t> </a:t>
            </a:r>
            <a:r>
              <a:rPr lang="en-US" sz="2400" dirty="0"/>
              <a:t>Expansionary Policies and Contractionary Policies are used to control output</a:t>
            </a:r>
          </a:p>
          <a:p>
            <a:endParaRPr lang="en-US" dirty="0"/>
          </a:p>
        </p:txBody>
      </p:sp>
    </p:spTree>
    <p:extLst>
      <p:ext uri="{BB962C8B-B14F-4D97-AF65-F5344CB8AC3E}">
        <p14:creationId xmlns:p14="http://schemas.microsoft.com/office/powerpoint/2010/main" val="32663814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b="1" dirty="0">
                <a:solidFill>
                  <a:srgbClr val="FF0000"/>
                </a:solidFill>
                <a:latin typeface="Calibri" pitchFamily="34" charset="0"/>
                <a:cs typeface="Calibri" pitchFamily="34" charset="0"/>
              </a:rPr>
              <a:t>Expansionary Policies</a:t>
            </a:r>
            <a:endParaRPr lang="en-US" dirty="0">
              <a:solidFill>
                <a:srgbClr val="FF0000"/>
              </a:solidFill>
            </a:endParaRPr>
          </a:p>
        </p:txBody>
      </p:sp>
      <p:sp>
        <p:nvSpPr>
          <p:cNvPr id="7" name="Content Placeholder 6"/>
          <p:cNvSpPr>
            <a:spLocks noGrp="1"/>
          </p:cNvSpPr>
          <p:nvPr>
            <p:ph idx="1"/>
          </p:nvPr>
        </p:nvSpPr>
        <p:spPr/>
        <p:txBody>
          <a:bodyPr>
            <a:normAutofit lnSpcReduction="10000"/>
          </a:bodyPr>
          <a:lstStyle/>
          <a:p>
            <a:r>
              <a:rPr lang="en-US" dirty="0"/>
              <a:t>an increase in government </a:t>
            </a:r>
            <a:r>
              <a:rPr lang="en-US" dirty="0" smtClean="0"/>
              <a:t>purchases</a:t>
            </a:r>
          </a:p>
          <a:p>
            <a:r>
              <a:rPr lang="en-US" dirty="0" smtClean="0"/>
              <a:t>a </a:t>
            </a:r>
            <a:r>
              <a:rPr lang="en-US" dirty="0"/>
              <a:t>decrease in </a:t>
            </a:r>
            <a:r>
              <a:rPr lang="en-US" dirty="0" smtClean="0"/>
              <a:t>taxes</a:t>
            </a:r>
            <a:endParaRPr lang="en-US" dirty="0"/>
          </a:p>
          <a:p>
            <a:pPr algn="just"/>
            <a:r>
              <a:rPr lang="en-US" dirty="0" smtClean="0"/>
              <a:t> </a:t>
            </a:r>
            <a:r>
              <a:rPr lang="en-US" dirty="0"/>
              <a:t>an increase in transfer payments are used to correct the problems of a business-cycle </a:t>
            </a:r>
            <a:r>
              <a:rPr lang="en-US" dirty="0" smtClean="0"/>
              <a:t>contraction (</a:t>
            </a:r>
            <a:r>
              <a:rPr lang="en-US" dirty="0" err="1" smtClean="0"/>
              <a:t>Eg</a:t>
            </a:r>
            <a:r>
              <a:rPr lang="en-US" dirty="0" smtClean="0"/>
              <a:t> :</a:t>
            </a:r>
            <a:r>
              <a:rPr lang="en-US" dirty="0" err="1" smtClean="0"/>
              <a:t>Samurdi</a:t>
            </a:r>
            <a:r>
              <a:rPr lang="en-US" dirty="0" smtClean="0"/>
              <a:t>)</a:t>
            </a:r>
          </a:p>
          <a:p>
            <a:r>
              <a:rPr lang="en-US" dirty="0" smtClean="0"/>
              <a:t>The </a:t>
            </a:r>
            <a:r>
              <a:rPr lang="en-US" dirty="0"/>
              <a:t>goal of expansionary fiscal policy is to close a recessionary gap, stimulate the economy, and decrease the unemployment rate</a:t>
            </a:r>
          </a:p>
        </p:txBody>
      </p:sp>
      <p:sp>
        <p:nvSpPr>
          <p:cNvPr id="5" name="Slide Number Placeholder 4"/>
          <p:cNvSpPr>
            <a:spLocks noGrp="1"/>
          </p:cNvSpPr>
          <p:nvPr>
            <p:ph type="sldNum" sz="quarter" idx="12"/>
          </p:nvPr>
        </p:nvSpPr>
        <p:spPr/>
        <p:txBody>
          <a:bodyPr/>
          <a:lstStyle/>
          <a:p>
            <a:fld id="{B3005E4A-EC37-40C9-A46E-C0A67781B478}" type="slidenum">
              <a:rPr lang="en-US" smtClean="0"/>
              <a:pPr/>
              <a:t>30</a:t>
            </a:fld>
            <a:endParaRPr lang="en-US"/>
          </a:p>
        </p:txBody>
      </p:sp>
    </p:spTree>
    <p:extLst>
      <p:ext uri="{BB962C8B-B14F-4D97-AF65-F5344CB8AC3E}">
        <p14:creationId xmlns:p14="http://schemas.microsoft.com/office/powerpoint/2010/main" val="34857936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solidFill>
                  <a:srgbClr val="FF0000"/>
                </a:solidFill>
              </a:rPr>
              <a:t>Contractionary</a:t>
            </a:r>
            <a:r>
              <a:rPr lang="en-US" b="1" dirty="0" smtClean="0">
                <a:solidFill>
                  <a:srgbClr val="FF0000"/>
                </a:solidFill>
              </a:rPr>
              <a:t> policies</a:t>
            </a:r>
            <a:endParaRPr lang="en-US" b="1" dirty="0">
              <a:solidFill>
                <a:srgbClr val="FF0000"/>
              </a:solidFill>
            </a:endParaRPr>
          </a:p>
        </p:txBody>
      </p:sp>
      <p:sp>
        <p:nvSpPr>
          <p:cNvPr id="3" name="Content Placeholder 2"/>
          <p:cNvSpPr>
            <a:spLocks noGrp="1"/>
          </p:cNvSpPr>
          <p:nvPr>
            <p:ph idx="1"/>
          </p:nvPr>
        </p:nvSpPr>
        <p:spPr>
          <a:xfrm>
            <a:off x="457200" y="1371600"/>
            <a:ext cx="8229600" cy="5257800"/>
          </a:xfrm>
        </p:spPr>
        <p:txBody>
          <a:bodyPr/>
          <a:lstStyle/>
          <a:p>
            <a:pPr marL="0" indent="0">
              <a:buNone/>
            </a:pPr>
            <a:r>
              <a:rPr lang="en-US" dirty="0"/>
              <a:t>A form of fiscal policy in which </a:t>
            </a:r>
            <a:r>
              <a:rPr lang="en-US" dirty="0" smtClean="0"/>
              <a:t>:</a:t>
            </a:r>
          </a:p>
          <a:p>
            <a:r>
              <a:rPr lang="en-US" dirty="0" smtClean="0"/>
              <a:t>a </a:t>
            </a:r>
            <a:r>
              <a:rPr lang="en-US" dirty="0"/>
              <a:t>decrease in government </a:t>
            </a:r>
            <a:r>
              <a:rPr lang="en-US" dirty="0" smtClean="0"/>
              <a:t>purchases</a:t>
            </a:r>
          </a:p>
          <a:p>
            <a:r>
              <a:rPr lang="en-US" dirty="0" smtClean="0"/>
              <a:t> </a:t>
            </a:r>
            <a:r>
              <a:rPr lang="en-US" dirty="0"/>
              <a:t>an increase in taxes, and/or a decrease in transfer payments are used to correct the inflationary problems of a business-cycle </a:t>
            </a:r>
            <a:r>
              <a:rPr lang="en-US" dirty="0" smtClean="0"/>
              <a:t>expansion</a:t>
            </a:r>
          </a:p>
          <a:p>
            <a:r>
              <a:rPr lang="en-US" dirty="0" smtClean="0"/>
              <a:t>The </a:t>
            </a:r>
            <a:r>
              <a:rPr lang="en-US" dirty="0"/>
              <a:t>goal of </a:t>
            </a:r>
            <a:r>
              <a:rPr lang="en-US" dirty="0" err="1"/>
              <a:t>contractionary</a:t>
            </a:r>
            <a:r>
              <a:rPr lang="en-US" dirty="0"/>
              <a:t> fiscal policy is to close an inflationary gap, restrain the economy, and decrease the inflation rate.</a:t>
            </a:r>
          </a:p>
        </p:txBody>
      </p:sp>
      <p:sp>
        <p:nvSpPr>
          <p:cNvPr id="4" name="Slide Number Placeholder 3"/>
          <p:cNvSpPr>
            <a:spLocks noGrp="1"/>
          </p:cNvSpPr>
          <p:nvPr>
            <p:ph type="sldNum" sz="quarter" idx="12"/>
          </p:nvPr>
        </p:nvSpPr>
        <p:spPr/>
        <p:txBody>
          <a:bodyPr/>
          <a:lstStyle/>
          <a:p>
            <a:fld id="{DE882B38-4151-4B29-8959-7DC8F33426F3}" type="slidenum">
              <a:rPr lang="en-US" smtClean="0"/>
              <a:pPr/>
              <a:t>31</a:t>
            </a:fld>
            <a:endParaRPr lang="en-US"/>
          </a:p>
        </p:txBody>
      </p:sp>
    </p:spTree>
    <p:extLst>
      <p:ext uri="{BB962C8B-B14F-4D97-AF65-F5344CB8AC3E}">
        <p14:creationId xmlns:p14="http://schemas.microsoft.com/office/powerpoint/2010/main" val="37204359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p:txBody>
          <a:bodyPr/>
          <a:lstStyle/>
          <a:p>
            <a:r>
              <a:rPr lang="en-GB" b="1" dirty="0">
                <a:solidFill>
                  <a:srgbClr val="000000"/>
                </a:solidFill>
              </a:rPr>
              <a:t>Monetary Policy</a:t>
            </a:r>
          </a:p>
        </p:txBody>
      </p:sp>
      <p:sp>
        <p:nvSpPr>
          <p:cNvPr id="1027" name="Rectangle 3"/>
          <p:cNvSpPr>
            <a:spLocks noGrp="1" noChangeArrowheads="1"/>
          </p:cNvSpPr>
          <p:nvPr>
            <p:ph type="body" idx="1"/>
          </p:nvPr>
        </p:nvSpPr>
        <p:spPr/>
        <p:txBody>
          <a:bodyPr/>
          <a:lstStyle/>
          <a:p>
            <a:pPr algn="just"/>
            <a:r>
              <a:rPr lang="en-GB" sz="2800" dirty="0"/>
              <a:t>Attempts to influence the level </a:t>
            </a:r>
            <a:r>
              <a:rPr lang="en-GB" sz="2800" dirty="0" smtClean="0"/>
              <a:t>of </a:t>
            </a:r>
            <a:r>
              <a:rPr lang="en-GB" sz="2800" dirty="0"/>
              <a:t>economic activity (the amount </a:t>
            </a:r>
            <a:r>
              <a:rPr lang="en-GB" sz="2800" dirty="0" smtClean="0"/>
              <a:t>of </a:t>
            </a:r>
            <a:r>
              <a:rPr lang="en-GB" sz="2800" dirty="0"/>
              <a:t>buying and selling in the economy) through changes to the amount of money in circulation and the price </a:t>
            </a:r>
            <a:r>
              <a:rPr lang="en-GB" sz="2800" dirty="0" smtClean="0"/>
              <a:t>of </a:t>
            </a:r>
            <a:r>
              <a:rPr lang="en-GB" sz="2800" dirty="0"/>
              <a:t>money – short-term </a:t>
            </a:r>
            <a:r>
              <a:rPr lang="en-GB" sz="2800" dirty="0">
                <a:solidFill>
                  <a:srgbClr val="FF0000"/>
                </a:solidFill>
              </a:rPr>
              <a:t>interest rates</a:t>
            </a:r>
            <a:r>
              <a:rPr lang="en-GB" sz="2800" dirty="0" smtClean="0"/>
              <a:t>.</a:t>
            </a:r>
          </a:p>
          <a:p>
            <a:pPr marL="0" indent="0">
              <a:buNone/>
            </a:pPr>
            <a:endParaRPr lang="en-GB" sz="2800" dirty="0"/>
          </a:p>
          <a:p>
            <a:r>
              <a:rPr lang="en-GB" sz="2800" dirty="0">
                <a:solidFill>
                  <a:srgbClr val="FF0000"/>
                </a:solidFill>
              </a:rPr>
              <a:t>Interest rates </a:t>
            </a:r>
            <a:r>
              <a:rPr lang="en-GB" sz="2800" dirty="0"/>
              <a:t>the key area </a:t>
            </a:r>
            <a:r>
              <a:rPr lang="en-GB" sz="2800" dirty="0" smtClean="0"/>
              <a:t>of </a:t>
            </a:r>
            <a:r>
              <a:rPr lang="en-GB" sz="2800" dirty="0"/>
              <a:t>Monetary Policy</a:t>
            </a:r>
          </a:p>
        </p:txBody>
      </p:sp>
      <p:sp>
        <p:nvSpPr>
          <p:cNvPr id="2" name="Slide Number Placeholder 1"/>
          <p:cNvSpPr>
            <a:spLocks noGrp="1"/>
          </p:cNvSpPr>
          <p:nvPr>
            <p:ph type="sldNum" sz="quarter" idx="12"/>
          </p:nvPr>
        </p:nvSpPr>
        <p:spPr/>
        <p:txBody>
          <a:bodyPr/>
          <a:lstStyle/>
          <a:p>
            <a:fld id="{FA178D64-7620-4E3A-B2DA-F0AA8305C30A}" type="slidenum">
              <a:rPr lang="en-US" smtClean="0"/>
              <a:pPr/>
              <a:t>32</a:t>
            </a:fld>
            <a:endParaRPr lang="en-US"/>
          </a:p>
        </p:txBody>
      </p:sp>
    </p:spTree>
    <p:extLst>
      <p:ext uri="{BB962C8B-B14F-4D97-AF65-F5344CB8AC3E}">
        <p14:creationId xmlns:p14="http://schemas.microsoft.com/office/powerpoint/2010/main" val="26235449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GB" b="1" dirty="0">
                <a:solidFill>
                  <a:srgbClr val="000000"/>
                </a:solidFill>
              </a:rPr>
              <a:t>Monetary Policy</a:t>
            </a:r>
          </a:p>
        </p:txBody>
      </p:sp>
      <p:sp>
        <p:nvSpPr>
          <p:cNvPr id="10243" name="Rectangle 3"/>
          <p:cNvSpPr>
            <a:spLocks noGrp="1" noChangeArrowheads="1"/>
          </p:cNvSpPr>
          <p:nvPr>
            <p:ph type="body" idx="1"/>
          </p:nvPr>
        </p:nvSpPr>
        <p:spPr/>
        <p:txBody>
          <a:bodyPr/>
          <a:lstStyle/>
          <a:p>
            <a:r>
              <a:rPr lang="en-GB" sz="2800" dirty="0"/>
              <a:t>Short-term interest rates set by the Monetary Policy Committee (MPC) </a:t>
            </a:r>
            <a:r>
              <a:rPr lang="en-GB" sz="2800" dirty="0" smtClean="0"/>
              <a:t>of </a:t>
            </a:r>
            <a:r>
              <a:rPr lang="en-GB" sz="2800" dirty="0"/>
              <a:t>the </a:t>
            </a:r>
            <a:r>
              <a:rPr lang="en-GB" sz="2800" dirty="0" smtClean="0"/>
              <a:t>central bank of Sri Lanka</a:t>
            </a:r>
          </a:p>
          <a:p>
            <a:pPr marL="0" indent="0">
              <a:buNone/>
            </a:pPr>
            <a:endParaRPr lang="en-GB" sz="2800" dirty="0"/>
          </a:p>
          <a:p>
            <a:pPr algn="just"/>
            <a:r>
              <a:rPr lang="en-GB" sz="2800" dirty="0"/>
              <a:t>The ‘official rate’ is the rate at which the </a:t>
            </a:r>
            <a:r>
              <a:rPr lang="en-GB" sz="2800" dirty="0" smtClean="0"/>
              <a:t>central Bank </a:t>
            </a:r>
            <a:r>
              <a:rPr lang="en-GB" sz="2800" dirty="0"/>
              <a:t>of </a:t>
            </a:r>
            <a:r>
              <a:rPr lang="en-GB" sz="2800" dirty="0" smtClean="0"/>
              <a:t>Sri Lanka will </a:t>
            </a:r>
            <a:r>
              <a:rPr lang="en-GB" sz="2800" dirty="0"/>
              <a:t>lend to the financial system and influences the structure of all other interest rates</a:t>
            </a:r>
          </a:p>
        </p:txBody>
      </p:sp>
      <p:sp>
        <p:nvSpPr>
          <p:cNvPr id="2" name="Slide Number Placeholder 1"/>
          <p:cNvSpPr>
            <a:spLocks noGrp="1"/>
          </p:cNvSpPr>
          <p:nvPr>
            <p:ph type="sldNum" sz="quarter" idx="12"/>
          </p:nvPr>
        </p:nvSpPr>
        <p:spPr/>
        <p:txBody>
          <a:bodyPr/>
          <a:lstStyle/>
          <a:p>
            <a:fld id="{FA178D64-7620-4E3A-B2DA-F0AA8305C30A}" type="slidenum">
              <a:rPr lang="en-US" smtClean="0"/>
              <a:pPr/>
              <a:t>33</a:t>
            </a:fld>
            <a:endParaRPr lang="en-US"/>
          </a:p>
        </p:txBody>
      </p:sp>
    </p:spTree>
    <p:extLst>
      <p:ext uri="{BB962C8B-B14F-4D97-AF65-F5344CB8AC3E}">
        <p14:creationId xmlns:p14="http://schemas.microsoft.com/office/powerpoint/2010/main" val="25403639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main monetary policy instruments currently used are</a:t>
            </a:r>
          </a:p>
        </p:txBody>
      </p:sp>
      <p:sp>
        <p:nvSpPr>
          <p:cNvPr id="3" name="Content Placeholder 2"/>
          <p:cNvSpPr>
            <a:spLocks noGrp="1"/>
          </p:cNvSpPr>
          <p:nvPr>
            <p:ph idx="1"/>
          </p:nvPr>
        </p:nvSpPr>
        <p:spPr/>
        <p:txBody>
          <a:bodyPr/>
          <a:lstStyle/>
          <a:p>
            <a:endParaRPr lang="en-US" dirty="0" smtClean="0"/>
          </a:p>
          <a:p>
            <a:r>
              <a:rPr lang="en-US" dirty="0" smtClean="0"/>
              <a:t> </a:t>
            </a:r>
            <a:r>
              <a:rPr lang="en-US" dirty="0"/>
              <a:t>policy interest rates </a:t>
            </a:r>
            <a:endParaRPr lang="en-US" dirty="0" smtClean="0"/>
          </a:p>
          <a:p>
            <a:pPr>
              <a:buNone/>
            </a:pPr>
            <a:endParaRPr lang="en-US" dirty="0"/>
          </a:p>
          <a:p>
            <a:r>
              <a:rPr lang="en-US" dirty="0" smtClean="0"/>
              <a:t>open </a:t>
            </a:r>
            <a:r>
              <a:rPr lang="en-US" dirty="0"/>
              <a:t>market operations (OMO) </a:t>
            </a:r>
            <a:endParaRPr lang="en-US" dirty="0" smtClean="0"/>
          </a:p>
          <a:p>
            <a:pPr>
              <a:buNone/>
            </a:pPr>
            <a:endParaRPr lang="en-US" dirty="0"/>
          </a:p>
          <a:p>
            <a:r>
              <a:rPr lang="en-US" dirty="0" smtClean="0"/>
              <a:t> </a:t>
            </a:r>
            <a:r>
              <a:rPr lang="en-US" dirty="0"/>
              <a:t>the statutory reserve requirement (SRR) on commercial bank deposit liabilities. </a:t>
            </a:r>
            <a:r>
              <a:rPr lang="en-US" b="1" dirty="0"/>
              <a:t/>
            </a:r>
            <a:br>
              <a:rPr lang="en-US" b="1" dirty="0"/>
            </a:br>
            <a:endParaRPr lang="en-US" dirty="0"/>
          </a:p>
        </p:txBody>
      </p:sp>
      <p:sp>
        <p:nvSpPr>
          <p:cNvPr id="4" name="Slide Number Placeholder 3"/>
          <p:cNvSpPr>
            <a:spLocks noGrp="1"/>
          </p:cNvSpPr>
          <p:nvPr>
            <p:ph type="sldNum" sz="quarter" idx="12"/>
          </p:nvPr>
        </p:nvSpPr>
        <p:spPr/>
        <p:txBody>
          <a:bodyPr/>
          <a:lstStyle/>
          <a:p>
            <a:fld id="{FA178D64-7620-4E3A-B2DA-F0AA8305C30A}" type="slidenum">
              <a:rPr lang="en-US" smtClean="0"/>
              <a:pPr/>
              <a:t>34</a:t>
            </a:fld>
            <a:endParaRPr lang="en-US"/>
          </a:p>
        </p:txBody>
      </p:sp>
    </p:spTree>
    <p:extLst>
      <p:ext uri="{BB962C8B-B14F-4D97-AF65-F5344CB8AC3E}">
        <p14:creationId xmlns:p14="http://schemas.microsoft.com/office/powerpoint/2010/main" val="36655646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Foreign Exchange Rate policy</a:t>
            </a:r>
            <a:endParaRPr lang="en-US" b="1" dirty="0"/>
          </a:p>
        </p:txBody>
      </p:sp>
      <p:sp>
        <p:nvSpPr>
          <p:cNvPr id="3" name="Subtitle 2"/>
          <p:cNvSpPr>
            <a:spLocks noGrp="1"/>
          </p:cNvSpPr>
          <p:nvPr>
            <p:ph type="subTitle" idx="1"/>
          </p:nvPr>
        </p:nvSpPr>
        <p:spPr/>
        <p:txBody>
          <a:bodyPr/>
          <a:lstStyle/>
          <a:p>
            <a:endParaRPr lang="en-US" dirty="0"/>
          </a:p>
        </p:txBody>
      </p:sp>
      <p:sp>
        <p:nvSpPr>
          <p:cNvPr id="4" name="Slide Number Placeholder 3"/>
          <p:cNvSpPr>
            <a:spLocks noGrp="1"/>
          </p:cNvSpPr>
          <p:nvPr>
            <p:ph type="sldNum" sz="quarter" idx="12"/>
          </p:nvPr>
        </p:nvSpPr>
        <p:spPr/>
        <p:txBody>
          <a:bodyPr/>
          <a:lstStyle/>
          <a:p>
            <a:fld id="{62CCD84F-7C66-4F9A-A82D-4BA47AAEFF48}" type="slidenum">
              <a:rPr lang="en-US" smtClean="0"/>
              <a:pPr/>
              <a:t>35</a:t>
            </a:fld>
            <a:endParaRPr lang="en-US"/>
          </a:p>
        </p:txBody>
      </p:sp>
    </p:spTree>
    <p:extLst>
      <p:ext uri="{BB962C8B-B14F-4D97-AF65-F5344CB8AC3E}">
        <p14:creationId xmlns:p14="http://schemas.microsoft.com/office/powerpoint/2010/main" val="26656616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Foreign exchange rate</a:t>
            </a:r>
            <a:endParaRPr lang="en-US" b="1" dirty="0"/>
          </a:p>
        </p:txBody>
      </p:sp>
      <p:sp>
        <p:nvSpPr>
          <p:cNvPr id="3" name="Content Placeholder 2"/>
          <p:cNvSpPr>
            <a:spLocks noGrp="1"/>
          </p:cNvSpPr>
          <p:nvPr>
            <p:ph idx="1"/>
          </p:nvPr>
        </p:nvSpPr>
        <p:spPr/>
        <p:txBody>
          <a:bodyPr/>
          <a:lstStyle/>
          <a:p>
            <a:pPr algn="just"/>
            <a:r>
              <a:rPr lang="en-US" dirty="0" smtClean="0">
                <a:effectLst/>
              </a:rPr>
              <a:t>an </a:t>
            </a:r>
            <a:r>
              <a:rPr lang="en-US" b="1" dirty="0" smtClean="0">
                <a:effectLst/>
              </a:rPr>
              <a:t>exchange rate</a:t>
            </a:r>
            <a:r>
              <a:rPr lang="en-US" dirty="0" smtClean="0">
                <a:effectLst/>
              </a:rPr>
              <a:t> (also known as the </a:t>
            </a:r>
            <a:r>
              <a:rPr lang="en-US" b="1" dirty="0" smtClean="0">
                <a:effectLst/>
              </a:rPr>
              <a:t>foreign-exchange rate</a:t>
            </a:r>
            <a:r>
              <a:rPr lang="en-US" dirty="0" smtClean="0">
                <a:effectLst/>
              </a:rPr>
              <a:t>, </a:t>
            </a:r>
            <a:r>
              <a:rPr lang="en-US" b="1" dirty="0" err="1" smtClean="0">
                <a:effectLst/>
              </a:rPr>
              <a:t>forex</a:t>
            </a:r>
            <a:r>
              <a:rPr lang="en-US" b="1" dirty="0" smtClean="0">
                <a:effectLst/>
              </a:rPr>
              <a:t> rate</a:t>
            </a:r>
            <a:r>
              <a:rPr lang="en-US" dirty="0" smtClean="0">
                <a:effectLst/>
              </a:rPr>
              <a:t> or </a:t>
            </a:r>
            <a:r>
              <a:rPr lang="en-US" b="1" dirty="0" smtClean="0">
                <a:effectLst/>
              </a:rPr>
              <a:t>FX rate</a:t>
            </a:r>
            <a:r>
              <a:rPr lang="en-US" dirty="0" smtClean="0">
                <a:effectLst/>
              </a:rPr>
              <a:t>) between two currencies is the rate at which one currency will be exchanged for another</a:t>
            </a:r>
          </a:p>
          <a:p>
            <a:pPr algn="just"/>
            <a:endParaRPr lang="en-US" dirty="0"/>
          </a:p>
          <a:p>
            <a:pPr algn="just"/>
            <a:r>
              <a:rPr lang="en-US" dirty="0" smtClean="0">
                <a:effectLst/>
              </a:rPr>
              <a:t>the value of one country’s currency in terms of another currency</a:t>
            </a:r>
            <a:endParaRPr lang="en-US" dirty="0"/>
          </a:p>
        </p:txBody>
      </p:sp>
      <p:sp>
        <p:nvSpPr>
          <p:cNvPr id="4" name="Slide Number Placeholder 3"/>
          <p:cNvSpPr>
            <a:spLocks noGrp="1"/>
          </p:cNvSpPr>
          <p:nvPr>
            <p:ph type="sldNum" sz="quarter" idx="12"/>
          </p:nvPr>
        </p:nvSpPr>
        <p:spPr/>
        <p:txBody>
          <a:bodyPr/>
          <a:lstStyle/>
          <a:p>
            <a:fld id="{62CCD84F-7C66-4F9A-A82D-4BA47AAEFF48}" type="slidenum">
              <a:rPr lang="en-US" smtClean="0"/>
              <a:pPr/>
              <a:t>36</a:t>
            </a:fld>
            <a:endParaRPr lang="en-US"/>
          </a:p>
        </p:txBody>
      </p:sp>
    </p:spTree>
    <p:extLst>
      <p:ext uri="{BB962C8B-B14F-4D97-AF65-F5344CB8AC3E}">
        <p14:creationId xmlns:p14="http://schemas.microsoft.com/office/powerpoint/2010/main" val="25090182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Fixed exchange rate</a:t>
            </a:r>
            <a:endParaRPr lang="en-US" b="1" dirty="0"/>
          </a:p>
        </p:txBody>
      </p:sp>
      <p:sp>
        <p:nvSpPr>
          <p:cNvPr id="3" name="Content Placeholder 2"/>
          <p:cNvSpPr>
            <a:spLocks noGrp="1"/>
          </p:cNvSpPr>
          <p:nvPr>
            <p:ph idx="1"/>
          </p:nvPr>
        </p:nvSpPr>
        <p:spPr>
          <a:xfrm>
            <a:off x="457200" y="1219200"/>
            <a:ext cx="8229600" cy="5410200"/>
          </a:xfrm>
        </p:spPr>
        <p:txBody>
          <a:bodyPr>
            <a:normAutofit fontScale="85000" lnSpcReduction="20000"/>
          </a:bodyPr>
          <a:lstStyle/>
          <a:p>
            <a:r>
              <a:rPr lang="en-US" dirty="0"/>
              <a:t>A fixed exchange rate is usually used to </a:t>
            </a:r>
            <a:r>
              <a:rPr lang="en-US" b="1" dirty="0">
                <a:solidFill>
                  <a:srgbClr val="FF0000"/>
                </a:solidFill>
              </a:rPr>
              <a:t>stabilize the value of a currency against the currency it is pegged to</a:t>
            </a:r>
            <a:r>
              <a:rPr lang="en-US" dirty="0"/>
              <a:t>. This makes trade and investments between the two countries easier and more predictable and is especially useful for small economies in which external trade forms a large part of their GDP</a:t>
            </a:r>
            <a:r>
              <a:rPr lang="en-US" dirty="0" smtClean="0"/>
              <a:t>.</a:t>
            </a:r>
          </a:p>
          <a:p>
            <a:pPr marL="0" indent="0">
              <a:buNone/>
            </a:pPr>
            <a:endParaRPr lang="en-US" dirty="0" smtClean="0"/>
          </a:p>
          <a:p>
            <a:r>
              <a:rPr lang="en-US" dirty="0"/>
              <a:t>It can also be used as a means to control inflation. However, as the reference value rises and falls, so does the currency pegged to it. </a:t>
            </a:r>
            <a:endParaRPr lang="en-US" dirty="0" smtClean="0"/>
          </a:p>
          <a:p>
            <a:endParaRPr lang="en-US" dirty="0"/>
          </a:p>
          <a:p>
            <a:r>
              <a:rPr lang="en-US" dirty="0" smtClean="0"/>
              <a:t>a </a:t>
            </a:r>
            <a:r>
              <a:rPr lang="en-US" dirty="0"/>
              <a:t>fixed exchange rate prevents a government from using domestic monetary policy in order to achieve macroeconomic stability.</a:t>
            </a:r>
          </a:p>
          <a:p>
            <a:endParaRPr lang="en-US" dirty="0">
              <a:effectLst/>
            </a:endParaRPr>
          </a:p>
        </p:txBody>
      </p:sp>
      <p:sp>
        <p:nvSpPr>
          <p:cNvPr id="4" name="Slide Number Placeholder 3"/>
          <p:cNvSpPr>
            <a:spLocks noGrp="1"/>
          </p:cNvSpPr>
          <p:nvPr>
            <p:ph type="sldNum" sz="quarter" idx="12"/>
          </p:nvPr>
        </p:nvSpPr>
        <p:spPr/>
        <p:txBody>
          <a:bodyPr/>
          <a:lstStyle/>
          <a:p>
            <a:fld id="{62CCD84F-7C66-4F9A-A82D-4BA47AAEFF48}" type="slidenum">
              <a:rPr lang="en-US" smtClean="0"/>
              <a:pPr/>
              <a:t>37</a:t>
            </a:fld>
            <a:endParaRPr lang="en-US"/>
          </a:p>
        </p:txBody>
      </p:sp>
    </p:spTree>
    <p:extLst>
      <p:ext uri="{BB962C8B-B14F-4D97-AF65-F5344CB8AC3E}">
        <p14:creationId xmlns:p14="http://schemas.microsoft.com/office/powerpoint/2010/main" val="12900590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Free-floating</a:t>
            </a:r>
            <a:endParaRPr lang="en-US" b="1" dirty="0"/>
          </a:p>
        </p:txBody>
      </p:sp>
      <p:sp>
        <p:nvSpPr>
          <p:cNvPr id="3" name="Content Placeholder 2"/>
          <p:cNvSpPr>
            <a:spLocks noGrp="1"/>
          </p:cNvSpPr>
          <p:nvPr>
            <p:ph idx="1"/>
          </p:nvPr>
        </p:nvSpPr>
        <p:spPr>
          <a:xfrm>
            <a:off x="457200" y="1371600"/>
            <a:ext cx="8229600" cy="4754563"/>
          </a:xfrm>
        </p:spPr>
        <p:txBody>
          <a:bodyPr/>
          <a:lstStyle/>
          <a:p>
            <a:pPr algn="just"/>
            <a:r>
              <a:rPr lang="en-US" dirty="0" smtClean="0">
                <a:effectLst/>
              </a:rPr>
              <a:t>If a currency is free-floating, its exchange rate is allowed to vary against that of other currencies and is determined by the market forces of supply and demand. </a:t>
            </a:r>
          </a:p>
          <a:p>
            <a:pPr marL="0" indent="0" algn="just">
              <a:buNone/>
            </a:pPr>
            <a:endParaRPr lang="en-US" dirty="0" smtClean="0">
              <a:effectLst/>
            </a:endParaRPr>
          </a:p>
          <a:p>
            <a:pPr algn="just"/>
            <a:r>
              <a:rPr lang="en-US" dirty="0" smtClean="0">
                <a:effectLst/>
              </a:rPr>
              <a:t>Exchange rates for such currencies are likely to change almost constantly as quoted on financial markets, mainly by banks, around the world.</a:t>
            </a:r>
            <a:endParaRPr lang="en-US" dirty="0">
              <a:effectLst/>
            </a:endParaRPr>
          </a:p>
        </p:txBody>
      </p:sp>
      <p:sp>
        <p:nvSpPr>
          <p:cNvPr id="4" name="Slide Number Placeholder 3"/>
          <p:cNvSpPr>
            <a:spLocks noGrp="1"/>
          </p:cNvSpPr>
          <p:nvPr>
            <p:ph type="sldNum" sz="quarter" idx="12"/>
          </p:nvPr>
        </p:nvSpPr>
        <p:spPr/>
        <p:txBody>
          <a:bodyPr/>
          <a:lstStyle/>
          <a:p>
            <a:fld id="{62CCD84F-7C66-4F9A-A82D-4BA47AAEFF48}" type="slidenum">
              <a:rPr lang="en-US" smtClean="0"/>
              <a:pPr/>
              <a:t>38</a:t>
            </a:fld>
            <a:endParaRPr lang="en-US"/>
          </a:p>
        </p:txBody>
      </p:sp>
    </p:spTree>
    <p:extLst>
      <p:ext uri="{BB962C8B-B14F-4D97-AF65-F5344CB8AC3E}">
        <p14:creationId xmlns:p14="http://schemas.microsoft.com/office/powerpoint/2010/main" val="41153572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96112"/>
          </a:xfrm>
        </p:spPr>
        <p:txBody>
          <a:bodyPr>
            <a:normAutofit/>
          </a:bodyPr>
          <a:lstStyle/>
          <a:p>
            <a:r>
              <a:rPr lang="en-US" b="1" dirty="0" smtClean="0"/>
              <a:t>Appreciation</a:t>
            </a:r>
            <a:endParaRPr lang="en-US" b="1" dirty="0"/>
          </a:p>
        </p:txBody>
      </p:sp>
      <p:sp>
        <p:nvSpPr>
          <p:cNvPr id="3" name="Content Placeholder 2"/>
          <p:cNvSpPr>
            <a:spLocks noGrp="1"/>
          </p:cNvSpPr>
          <p:nvPr>
            <p:ph idx="1"/>
          </p:nvPr>
        </p:nvSpPr>
        <p:spPr>
          <a:xfrm>
            <a:off x="0" y="1935480"/>
            <a:ext cx="9144000" cy="4389120"/>
          </a:xfrm>
        </p:spPr>
        <p:txBody>
          <a:bodyPr>
            <a:normAutofit/>
          </a:bodyPr>
          <a:lstStyle/>
          <a:p>
            <a:pPr algn="just"/>
            <a:r>
              <a:rPr lang="en-US" dirty="0" smtClean="0"/>
              <a:t>When the value of a currency is revised or </a:t>
            </a:r>
            <a:r>
              <a:rPr lang="en-US" sz="3200" b="1" dirty="0" smtClean="0">
                <a:solidFill>
                  <a:srgbClr val="FF0000"/>
                </a:solidFill>
              </a:rPr>
              <a:t>changes upward</a:t>
            </a:r>
            <a:r>
              <a:rPr lang="en-US" dirty="0" smtClean="0"/>
              <a:t>, it is said to have appreciated.</a:t>
            </a:r>
          </a:p>
          <a:p>
            <a:pPr marL="0" indent="0" algn="just">
              <a:buNone/>
            </a:pPr>
            <a:endParaRPr lang="en-US" dirty="0" smtClean="0"/>
          </a:p>
          <a:p>
            <a:pPr algn="just"/>
            <a:r>
              <a:rPr lang="en-US" dirty="0" smtClean="0"/>
              <a:t>That is, more units of other currencies will be needed to purchase the same amount of this (appreciated) currency, or fewer units of the appreciated currency will buy the same amount of the other currency.</a:t>
            </a:r>
          </a:p>
        </p:txBody>
      </p:sp>
    </p:spTree>
    <p:extLst>
      <p:ext uri="{BB962C8B-B14F-4D97-AF65-F5344CB8AC3E}">
        <p14:creationId xmlns:p14="http://schemas.microsoft.com/office/powerpoint/2010/main" val="2332758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8229600" cy="972312"/>
          </a:xfrm>
        </p:spPr>
        <p:txBody>
          <a:bodyPr>
            <a:normAutofit/>
          </a:bodyPr>
          <a:lstStyle/>
          <a:p>
            <a:r>
              <a:rPr lang="en-US" b="1" dirty="0" smtClean="0"/>
              <a:t>Depreciation</a:t>
            </a:r>
            <a:endParaRPr lang="en-US" b="1" dirty="0"/>
          </a:p>
        </p:txBody>
      </p:sp>
      <p:sp>
        <p:nvSpPr>
          <p:cNvPr id="3" name="Content Placeholder 2"/>
          <p:cNvSpPr>
            <a:spLocks noGrp="1"/>
          </p:cNvSpPr>
          <p:nvPr>
            <p:ph idx="1"/>
          </p:nvPr>
        </p:nvSpPr>
        <p:spPr>
          <a:xfrm>
            <a:off x="152400" y="1524000"/>
            <a:ext cx="8839200" cy="4800600"/>
          </a:xfrm>
        </p:spPr>
        <p:txBody>
          <a:bodyPr>
            <a:normAutofit/>
          </a:bodyPr>
          <a:lstStyle/>
          <a:p>
            <a:pPr algn="just"/>
            <a:r>
              <a:rPr lang="en-US" dirty="0" smtClean="0"/>
              <a:t>When the price of a currency is </a:t>
            </a:r>
            <a:r>
              <a:rPr lang="en-US" sz="3000" b="1" dirty="0">
                <a:solidFill>
                  <a:srgbClr val="FF0000"/>
                </a:solidFill>
              </a:rPr>
              <a:t>changed downward</a:t>
            </a:r>
            <a:r>
              <a:rPr lang="en-US" dirty="0" smtClean="0"/>
              <a:t>, it is said to have undergone </a:t>
            </a:r>
            <a:r>
              <a:rPr lang="en-US" i="1" dirty="0" smtClean="0"/>
              <a:t>depreciation.</a:t>
            </a:r>
          </a:p>
          <a:p>
            <a:pPr marL="0" indent="0" algn="just">
              <a:buNone/>
            </a:pPr>
            <a:endParaRPr lang="en-US" i="1" dirty="0" smtClean="0"/>
          </a:p>
          <a:p>
            <a:pPr algn="just"/>
            <a:r>
              <a:rPr lang="en-US" dirty="0" smtClean="0"/>
              <a:t>Fewer units of the other currency can be purchased with the same amount of the currency after its devaluation. Alternatively, more units of the depreciated currency are needed to purchase the same amount of foreign currency.</a:t>
            </a:r>
          </a:p>
          <a:p>
            <a:pPr algn="just"/>
            <a:endParaRPr lang="en-US" dirty="0" smtClean="0"/>
          </a:p>
        </p:txBody>
      </p:sp>
    </p:spTree>
    <p:extLst>
      <p:ext uri="{BB962C8B-B14F-4D97-AF65-F5344CB8AC3E}">
        <p14:creationId xmlns:p14="http://schemas.microsoft.com/office/powerpoint/2010/main" val="395545896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972312"/>
          </a:xfrm>
        </p:spPr>
        <p:txBody>
          <a:bodyPr>
            <a:normAutofit/>
          </a:bodyPr>
          <a:lstStyle/>
          <a:p>
            <a:r>
              <a:rPr lang="en-US" b="1" dirty="0"/>
              <a:t>Revaluation</a:t>
            </a:r>
          </a:p>
        </p:txBody>
      </p:sp>
      <p:sp>
        <p:nvSpPr>
          <p:cNvPr id="3" name="Content Placeholder 2"/>
          <p:cNvSpPr>
            <a:spLocks noGrp="1"/>
          </p:cNvSpPr>
          <p:nvPr>
            <p:ph idx="1"/>
          </p:nvPr>
        </p:nvSpPr>
        <p:spPr/>
        <p:txBody>
          <a:bodyPr/>
          <a:lstStyle/>
          <a:p>
            <a:pPr algn="just"/>
            <a:r>
              <a:rPr lang="en-US" dirty="0"/>
              <a:t>Revaluation means a change of a price of goods or products. This term is specially used as revaluation of a currency, where it means a rise of currency to the relation with a foreign currency in a </a:t>
            </a:r>
            <a:r>
              <a:rPr lang="en-US" b="1" dirty="0">
                <a:solidFill>
                  <a:srgbClr val="FF0000"/>
                </a:solidFill>
              </a:rPr>
              <a:t>fixed exchange rate</a:t>
            </a:r>
            <a:r>
              <a:rPr lang="en-US" dirty="0"/>
              <a:t>. In floating exchange rate correct term would be appreciation.</a:t>
            </a:r>
          </a:p>
        </p:txBody>
      </p:sp>
    </p:spTree>
    <p:extLst>
      <p:ext uri="{BB962C8B-B14F-4D97-AF65-F5344CB8AC3E}">
        <p14:creationId xmlns:p14="http://schemas.microsoft.com/office/powerpoint/2010/main" val="199973687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048512"/>
          </a:xfrm>
        </p:spPr>
        <p:txBody>
          <a:bodyPr/>
          <a:lstStyle/>
          <a:p>
            <a:r>
              <a:rPr lang="en-US" b="1" dirty="0"/>
              <a:t>Devaluation</a:t>
            </a:r>
            <a:endParaRPr lang="en-US" dirty="0"/>
          </a:p>
        </p:txBody>
      </p:sp>
      <p:sp>
        <p:nvSpPr>
          <p:cNvPr id="3" name="Content Placeholder 2"/>
          <p:cNvSpPr>
            <a:spLocks noGrp="1"/>
          </p:cNvSpPr>
          <p:nvPr>
            <p:ph idx="1"/>
          </p:nvPr>
        </p:nvSpPr>
        <p:spPr>
          <a:xfrm>
            <a:off x="457200" y="2133600"/>
            <a:ext cx="8229600" cy="4191000"/>
          </a:xfrm>
        </p:spPr>
        <p:txBody>
          <a:bodyPr/>
          <a:lstStyle/>
          <a:p>
            <a:pPr algn="just"/>
            <a:r>
              <a:rPr lang="en-US" dirty="0"/>
              <a:t>"</a:t>
            </a:r>
            <a:r>
              <a:rPr lang="en-US" b="1" dirty="0"/>
              <a:t>Devaluation</a:t>
            </a:r>
            <a:r>
              <a:rPr lang="en-US" dirty="0"/>
              <a:t>" means official lowering of the value of a country's currency within </a:t>
            </a:r>
            <a:r>
              <a:rPr lang="en-US" b="1" dirty="0">
                <a:solidFill>
                  <a:srgbClr val="FF0000"/>
                </a:solidFill>
              </a:rPr>
              <a:t>a fixed exchange rate system</a:t>
            </a:r>
            <a:r>
              <a:rPr lang="en-US" dirty="0"/>
              <a:t>, by which the monetary authority formally sets a new fixed rate with respect to a foreign reference currency.</a:t>
            </a:r>
          </a:p>
          <a:p>
            <a:endParaRPr lang="en-US" dirty="0"/>
          </a:p>
        </p:txBody>
      </p:sp>
    </p:spTree>
    <p:extLst>
      <p:ext uri="{BB962C8B-B14F-4D97-AF65-F5344CB8AC3E}">
        <p14:creationId xmlns:p14="http://schemas.microsoft.com/office/powerpoint/2010/main" val="315458820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291681"/>
            <a:ext cx="8229600" cy="1143000"/>
          </a:xfrm>
        </p:spPr>
        <p:txBody>
          <a:bodyPr/>
          <a:lstStyle/>
          <a:p>
            <a:r>
              <a:rPr lang="en-US" dirty="0" smtClean="0"/>
              <a:t>The END</a:t>
            </a:r>
            <a:endParaRPr lang="en-US" dirty="0"/>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62804E46-749C-4BD1-80C7-5411E2FBF066}" type="slidenum">
              <a:rPr lang="en-US" smtClean="0"/>
              <a:pPr/>
              <a:t>43</a:t>
            </a:fld>
            <a:endParaRPr lang="en-US"/>
          </a:p>
        </p:txBody>
      </p:sp>
    </p:spTree>
    <p:extLst>
      <p:ext uri="{BB962C8B-B14F-4D97-AF65-F5344CB8AC3E}">
        <p14:creationId xmlns:p14="http://schemas.microsoft.com/office/powerpoint/2010/main" val="13518726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433</TotalTime>
  <Words>2087</Words>
  <Application>Microsoft Office PowerPoint</Application>
  <PresentationFormat>On-screen Show (4:3)</PresentationFormat>
  <Paragraphs>287</Paragraphs>
  <Slides>43</Slides>
  <Notes>17</Notes>
  <HiddenSlides>0</HiddenSlides>
  <MMClips>1</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43</vt:i4>
      </vt:variant>
    </vt:vector>
  </HeadingPairs>
  <TitlesOfParts>
    <vt:vector size="53" baseType="lpstr">
      <vt:lpstr>Arial</vt:lpstr>
      <vt:lpstr>Calibri</vt:lpstr>
      <vt:lpstr>Lucida Sans Unicode</vt:lpstr>
      <vt:lpstr>Maiandra GD</vt:lpstr>
      <vt:lpstr>Tahoma</vt:lpstr>
      <vt:lpstr>Times New Roman</vt:lpstr>
      <vt:lpstr>Vagabond</vt:lpstr>
      <vt:lpstr>Verdana</vt:lpstr>
      <vt:lpstr>Office Theme</vt:lpstr>
      <vt:lpstr>Equation</vt:lpstr>
      <vt:lpstr> Fundamentals of Economics</vt:lpstr>
      <vt:lpstr>Unemployment</vt:lpstr>
      <vt:lpstr>Key Issues</vt:lpstr>
      <vt:lpstr>Measuring Unemployment</vt:lpstr>
      <vt:lpstr>Types of Unemployment</vt:lpstr>
      <vt:lpstr>Types of Unemployment</vt:lpstr>
      <vt:lpstr>Structural Unemployment</vt:lpstr>
      <vt:lpstr>Cyclical unemployment</vt:lpstr>
      <vt:lpstr>Economic and Social Costs of Unemployment</vt:lpstr>
      <vt:lpstr>Consequences of Unemployment</vt:lpstr>
      <vt:lpstr>Consequences of Unemployment ctd…</vt:lpstr>
      <vt:lpstr>Consequences of Unemployment ctd…</vt:lpstr>
      <vt:lpstr>How Is Unemployment Measured?</vt:lpstr>
      <vt:lpstr>The Breakdown of the Population</vt:lpstr>
      <vt:lpstr>How Is Unemployment Measured?</vt:lpstr>
      <vt:lpstr>How Is Unemployment Measured?</vt:lpstr>
      <vt:lpstr>Inflation</vt:lpstr>
      <vt:lpstr>What is Inflation?</vt:lpstr>
      <vt:lpstr>What is Deflation?</vt:lpstr>
      <vt:lpstr> How is Inflation measured?   1. Consumer Price Index (CPI)?</vt:lpstr>
      <vt:lpstr>    2. GDP Deflator – more broad</vt:lpstr>
      <vt:lpstr>PowerPoint Presentation</vt:lpstr>
      <vt:lpstr>PowerPoint Presentation</vt:lpstr>
      <vt:lpstr>  GDP Deflator Compared to the CPI            [CPI is normally higher.]</vt:lpstr>
      <vt:lpstr>What are the effects of unexpected inflation?</vt:lpstr>
      <vt:lpstr>Who wins and who loses from  inflation?</vt:lpstr>
      <vt:lpstr>Demand –Pull Inflation</vt:lpstr>
      <vt:lpstr>Cost –Push Inflation</vt:lpstr>
      <vt:lpstr>PowerPoint Presentation</vt:lpstr>
      <vt:lpstr>Expansionary Policies</vt:lpstr>
      <vt:lpstr>Contractionary policies</vt:lpstr>
      <vt:lpstr>Monetary Policy</vt:lpstr>
      <vt:lpstr>Monetary Policy</vt:lpstr>
      <vt:lpstr>The main monetary policy instruments currently used are</vt:lpstr>
      <vt:lpstr>Foreign Exchange Rate policy</vt:lpstr>
      <vt:lpstr>Foreign exchange rate</vt:lpstr>
      <vt:lpstr>Fixed exchange rate</vt:lpstr>
      <vt:lpstr>Free-floating</vt:lpstr>
      <vt:lpstr>Appreciation</vt:lpstr>
      <vt:lpstr>Depreciation</vt:lpstr>
      <vt:lpstr>Revaluation</vt:lpstr>
      <vt:lpstr>Devaluation</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Economics</dc:title>
  <dc:creator>DELL</dc:creator>
  <cp:lastModifiedBy>Lahiru Gunathilake</cp:lastModifiedBy>
  <cp:revision>48</cp:revision>
  <dcterms:created xsi:type="dcterms:W3CDTF">2012-03-25T09:33:36Z</dcterms:created>
  <dcterms:modified xsi:type="dcterms:W3CDTF">2021-06-16T04:04:55Z</dcterms:modified>
</cp:coreProperties>
</file>