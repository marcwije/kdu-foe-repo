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69" r:id="rId3"/>
    <p:sldId id="263" r:id="rId4"/>
    <p:sldId id="264" r:id="rId5"/>
    <p:sldId id="265" r:id="rId6"/>
    <p:sldId id="267" r:id="rId7"/>
    <p:sldId id="257" r:id="rId8"/>
    <p:sldId id="268" r:id="rId9"/>
    <p:sldId id="258" r:id="rId10"/>
    <p:sldId id="273" r:id="rId11"/>
    <p:sldId id="286" r:id="rId12"/>
    <p:sldId id="280" r:id="rId13"/>
    <p:sldId id="283" r:id="rId14"/>
    <p:sldId id="274" r:id="rId15"/>
    <p:sldId id="275" r:id="rId16"/>
    <p:sldId id="279" r:id="rId17"/>
    <p:sldId id="276" r:id="rId18"/>
    <p:sldId id="259" r:id="rId19"/>
    <p:sldId id="285" r:id="rId20"/>
    <p:sldId id="266" r:id="rId21"/>
    <p:sldId id="277" r:id="rId22"/>
    <p:sldId id="278" r:id="rId23"/>
    <p:sldId id="261" r:id="rId24"/>
    <p:sldId id="262" r:id="rId25"/>
    <p:sldId id="270" r:id="rId26"/>
    <p:sldId id="282" r:id="rId27"/>
    <p:sldId id="260" r:id="rId28"/>
    <p:sldId id="281" r:id="rId29"/>
    <p:sldId id="27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99"/>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533" autoAdjust="0"/>
  </p:normalViewPr>
  <p:slideViewPr>
    <p:cSldViewPr snapToGrid="0">
      <p:cViewPr>
        <p:scale>
          <a:sx n="84" d="100"/>
          <a:sy n="84" d="100"/>
        </p:scale>
        <p:origin x="662" y="-1330"/>
      </p:cViewPr>
      <p:guideLst>
        <p:guide orient="horz" pos="2160"/>
        <p:guide pos="3840"/>
      </p:guideLst>
    </p:cSldViewPr>
  </p:slideViewPr>
  <p:notesTextViewPr>
    <p:cViewPr>
      <p:scale>
        <a:sx n="3" d="2"/>
        <a:sy n="3" d="2"/>
      </p:scale>
      <p:origin x="0" y="0"/>
    </p:cViewPr>
  </p:notesTextViewPr>
  <p:notesViewPr>
    <p:cSldViewPr snapToGrid="0">
      <p:cViewPr varScale="1">
        <p:scale>
          <a:sx n="55" d="100"/>
          <a:sy n="55" d="100"/>
        </p:scale>
        <p:origin x="2772"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0E318-E7C3-46B1-969D-0E59850BB35E}" type="datetimeFigureOut">
              <a:rPr lang="en-US" smtClean="0"/>
              <a:pPr/>
              <a:t>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BBE2B-7C74-4876-85F7-E24398D5061D}" type="slidenum">
              <a:rPr lang="en-US" smtClean="0"/>
              <a:pPr/>
              <a:t>‹#›</a:t>
            </a:fld>
            <a:endParaRPr lang="en-US"/>
          </a:p>
        </p:txBody>
      </p:sp>
    </p:spTree>
    <p:extLst>
      <p:ext uri="{BB962C8B-B14F-4D97-AF65-F5344CB8AC3E}">
        <p14:creationId xmlns:p14="http://schemas.microsoft.com/office/powerpoint/2010/main" val="1361636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faa.gov/pilots/safety/pilotsafetybrochures/media/alcohol.pdf" TargetMode="External"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7BBE2B-7C74-4876-85F7-E24398D5061D}" type="slidenum">
              <a:rPr lang="en-US" smtClean="0"/>
              <a:pPr/>
              <a:t>1</a:t>
            </a:fld>
            <a:endParaRPr lang="en-US"/>
          </a:p>
        </p:txBody>
      </p:sp>
    </p:spTree>
    <p:extLst>
      <p:ext uri="{BB962C8B-B14F-4D97-AF65-F5344CB8AC3E}">
        <p14:creationId xmlns:p14="http://schemas.microsoft.com/office/powerpoint/2010/main" val="104316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7BBE2B-7C74-4876-85F7-E24398D5061D}" type="slidenum">
              <a:rPr lang="en-US" smtClean="0"/>
              <a:pPr/>
              <a:t>4</a:t>
            </a:fld>
            <a:endParaRPr lang="en-US"/>
          </a:p>
        </p:txBody>
      </p:sp>
    </p:spTree>
    <p:extLst>
      <p:ext uri="{BB962C8B-B14F-4D97-AF65-F5344CB8AC3E}">
        <p14:creationId xmlns:p14="http://schemas.microsoft.com/office/powerpoint/2010/main" val="1790174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Ethics, for example, refers to those standards that impose the reasonable obligations to refrain from rape, stealing, murder, assault, slander, and fraud. Ethical standards also include those that enjoin virtues of honesty, compassion, and loyalty. And, ethical standards include standards relating to rights, such as the right to life, the right to freedom from injury, and the right to privacy. Such standards are adequate standards of ethics because they are supported by consistent and well-founded reasons.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mentioned above, feelings, laws, and social norms can deviate from what is ethical. So it is necessary to constantly examine one's standards to ensure that they are reasonable and well-founded. Ethics also means, then, the continuous effort of studying our own moral beliefs and our moral conduct, and striving to ensure that we, and the institutions we help to shape, live up to standards that are reasonable and solidly-based.</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C7BBE2B-7C74-4876-85F7-E24398D5061D}" type="slidenum">
              <a:rPr lang="en-US" smtClean="0"/>
              <a:pPr/>
              <a:t>6</a:t>
            </a:fld>
            <a:endParaRPr lang="en-US"/>
          </a:p>
        </p:txBody>
      </p:sp>
    </p:spTree>
    <p:extLst>
      <p:ext uri="{BB962C8B-B14F-4D97-AF65-F5344CB8AC3E}">
        <p14:creationId xmlns:p14="http://schemas.microsoft.com/office/powerpoint/2010/main" val="699391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7BBE2B-7C74-4876-85F7-E24398D5061D}" type="slidenum">
              <a:rPr lang="en-US" smtClean="0"/>
              <a:pPr/>
              <a:t>8</a:t>
            </a:fld>
            <a:endParaRPr lang="en-US"/>
          </a:p>
        </p:txBody>
      </p:sp>
    </p:spTree>
    <p:extLst>
      <p:ext uri="{BB962C8B-B14F-4D97-AF65-F5344CB8AC3E}">
        <p14:creationId xmlns:p14="http://schemas.microsoft.com/office/powerpoint/2010/main" val="2704470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Doctor – a surgeon</a:t>
            </a:r>
            <a:r>
              <a:rPr lang="en-US" baseline="0" dirty="0"/>
              <a:t> is licensed to operate on a person, because of his/her knowledge and training. Anyone else trying to cut open another will be charged, ranging from grievous bodily harm to murder !!! Negligence</a:t>
            </a:r>
          </a:p>
          <a:p>
            <a:r>
              <a:rPr lang="en-US" baseline="0" dirty="0"/>
              <a:t>Engineer – </a:t>
            </a:r>
            <a:r>
              <a:rPr lang="en-US" baseline="0" dirty="0" err="1"/>
              <a:t>specialisd</a:t>
            </a:r>
            <a:r>
              <a:rPr lang="en-US" baseline="0" dirty="0"/>
              <a:t> in structures is entrusted with the design of a building, because he/she is expected to do the design to the relevant engineering standards and codes, so as to ensure a building that could be used safely. Wilful non-compliance with standards, which could result is structural failure resulting in injury or death is now punishable</a:t>
            </a:r>
          </a:p>
          <a:p>
            <a:r>
              <a:rPr lang="en-US" dirty="0"/>
              <a:t>Airplane</a:t>
            </a:r>
            <a:r>
              <a:rPr lang="en-US" baseline="0" dirty="0"/>
              <a:t> pilots – are entrusted with the lives of the passengers on board. Split second decisions to be made, </a:t>
            </a:r>
            <a:r>
              <a:rPr lang="en-US" baseline="0" dirty="0" err="1"/>
              <a:t>inspite</a:t>
            </a:r>
            <a:r>
              <a:rPr lang="en-US" baseline="0" dirty="0"/>
              <a:t> of the high tech systems. </a:t>
            </a:r>
            <a:r>
              <a:rPr lang="en-US" baseline="0" dirty="0" err="1"/>
              <a:t>Sullenberg</a:t>
            </a:r>
            <a:r>
              <a:rPr lang="en-US" baseline="0" dirty="0"/>
              <a:t> – Airbus 320 – loss of power due to a bird strike -  safely land in Hudson River</a:t>
            </a:r>
          </a:p>
          <a:p>
            <a:r>
              <a:rPr lang="en-US" baseline="0" dirty="0"/>
              <a:t>Pilots &amp; Alcohol - </a:t>
            </a:r>
            <a:r>
              <a:rPr lang="en-US" sz="1200" b="0" i="0" kern="1200" dirty="0">
                <a:solidFill>
                  <a:schemeClr val="tx1"/>
                </a:solidFill>
                <a:effectLst/>
                <a:latin typeface="+mn-lt"/>
                <a:ea typeface="+mn-ea"/>
                <a:cs typeface="+mn-cs"/>
              </a:rPr>
              <a:t>Flying an aircraft is a profoundly demanding job. Pilots are trained to perform the highly complex tasks necessary to get the plane into the sky, navigate safely to the destination and land</a:t>
            </a:r>
          </a:p>
          <a:p>
            <a:r>
              <a:rPr lang="en-US" sz="1200" b="0" i="0" kern="1200" dirty="0">
                <a:solidFill>
                  <a:schemeClr val="tx1"/>
                </a:solidFill>
                <a:effectLst/>
                <a:latin typeface="+mn-lt"/>
                <a:ea typeface="+mn-ea"/>
                <a:cs typeface="+mn-cs"/>
              </a:rPr>
              <a:t>The </a:t>
            </a:r>
            <a:r>
              <a:rPr lang="en-US" sz="1200" b="0" i="0" u="none" strike="noStrike" kern="1200" dirty="0">
                <a:solidFill>
                  <a:schemeClr val="tx1"/>
                </a:solidFill>
                <a:effectLst/>
                <a:latin typeface="+mn-lt"/>
                <a:ea typeface="+mn-ea"/>
                <a:cs typeface="+mn-cs"/>
                <a:hlinkClick r:id="rId3"/>
              </a:rPr>
              <a:t>US Federal Aviation Administration (FAA) says</a:t>
            </a:r>
            <a:r>
              <a:rPr lang="en-US" sz="1200" b="0" i="0" kern="1200" dirty="0">
                <a:solidFill>
                  <a:schemeClr val="tx1"/>
                </a:solidFill>
                <a:effectLst/>
                <a:latin typeface="+mn-lt"/>
                <a:ea typeface="+mn-ea"/>
                <a:cs typeface="+mn-cs"/>
              </a:rPr>
              <a:t>: “The majority of adverse effects produced by alcohol relate to the brain, the eyes, and the inner ear — three crucial organs to a pilot. </a:t>
            </a:r>
          </a:p>
          <a:p>
            <a:r>
              <a:rPr lang="en-US" sz="1200" b="0" i="0" kern="1200" dirty="0">
                <a:solidFill>
                  <a:schemeClr val="tx1"/>
                </a:solidFill>
                <a:effectLst/>
                <a:latin typeface="+mn-lt"/>
                <a:ea typeface="+mn-ea"/>
                <a:cs typeface="+mn-cs"/>
              </a:rPr>
              <a:t>“Brain effects include impaired reaction time, reasoning, judgment, and memory. Visual symptoms include eye muscle imbalance, which leads to double vision and difficulty focusing. Inner ear effects include dizziness, and decreased hearing perception.”</a:t>
            </a:r>
            <a:endParaRPr lang="en-US" dirty="0"/>
          </a:p>
        </p:txBody>
      </p:sp>
      <p:sp>
        <p:nvSpPr>
          <p:cNvPr id="4" name="Slide Number Placeholder 3"/>
          <p:cNvSpPr>
            <a:spLocks noGrp="1"/>
          </p:cNvSpPr>
          <p:nvPr>
            <p:ph type="sldNum" sz="quarter" idx="10"/>
          </p:nvPr>
        </p:nvSpPr>
        <p:spPr/>
        <p:txBody>
          <a:bodyPr/>
          <a:lstStyle/>
          <a:p>
            <a:fld id="{6C7BBE2B-7C74-4876-85F7-E24398D5061D}" type="slidenum">
              <a:rPr lang="en-US" smtClean="0"/>
              <a:pPr/>
              <a:t>9</a:t>
            </a:fld>
            <a:endParaRPr lang="en-US"/>
          </a:p>
        </p:txBody>
      </p:sp>
    </p:spTree>
    <p:extLst>
      <p:ext uri="{BB962C8B-B14F-4D97-AF65-F5344CB8AC3E}">
        <p14:creationId xmlns:p14="http://schemas.microsoft.com/office/powerpoint/2010/main" val="118777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7BBE2B-7C74-4876-85F7-E24398D5061D}" type="slidenum">
              <a:rPr lang="en-US" smtClean="0"/>
              <a:pPr/>
              <a:t>11</a:t>
            </a:fld>
            <a:endParaRPr lang="en-US"/>
          </a:p>
        </p:txBody>
      </p:sp>
    </p:spTree>
    <p:extLst>
      <p:ext uri="{BB962C8B-B14F-4D97-AF65-F5344CB8AC3E}">
        <p14:creationId xmlns:p14="http://schemas.microsoft.com/office/powerpoint/2010/main" val="5004537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Some years ago, sociologist Raymond </a:t>
            </a:r>
            <a:r>
              <a:rPr lang="en-US" sz="1200" b="0" i="0" kern="1200" dirty="0" err="1">
                <a:solidFill>
                  <a:schemeClr val="tx1"/>
                </a:solidFill>
                <a:effectLst/>
                <a:latin typeface="+mn-lt"/>
                <a:ea typeface="+mn-ea"/>
                <a:cs typeface="+mn-cs"/>
              </a:rPr>
              <a:t>Baumhart</a:t>
            </a:r>
            <a:r>
              <a:rPr lang="en-US" sz="1200" b="0" i="0" kern="1200" dirty="0">
                <a:solidFill>
                  <a:schemeClr val="tx1"/>
                </a:solidFill>
                <a:effectLst/>
                <a:latin typeface="+mn-lt"/>
                <a:ea typeface="+mn-ea"/>
                <a:cs typeface="+mn-cs"/>
              </a:rPr>
              <a:t> asked business people, "What does ethics mean to you?" Among their replies were the following: </a:t>
            </a:r>
            <a:r>
              <a:rPr lang="en-US" sz="1200" kern="1200" dirty="0">
                <a:solidFill>
                  <a:schemeClr val="tx1"/>
                </a:solidFill>
                <a:effectLst/>
                <a:latin typeface="+mn-lt"/>
                <a:ea typeface="+mn-ea"/>
                <a:cs typeface="+mn-cs"/>
              </a:rPr>
              <a:t>many people tend to equate ethics with their feelings. But being ethical is clearly not a matter of following one's feelings. A person following his or her feelings may recoil from doing what is right. In fact, feelings frequently deviate from what is ethical.</a:t>
            </a:r>
          </a:p>
          <a:p>
            <a:r>
              <a:rPr lang="en-US" sz="1200" kern="1200" dirty="0">
                <a:solidFill>
                  <a:schemeClr val="tx1"/>
                </a:solidFill>
                <a:effectLst/>
                <a:latin typeface="+mn-lt"/>
                <a:ea typeface="+mn-ea"/>
                <a:cs typeface="+mn-cs"/>
              </a:rPr>
              <a:t>Nor should one identify ethics with religion. Most religions, of course, advocate high ethical standards. Yet if ethics were confined to religion, then ethics would apply only to religious people. But ethics applies as much to the behavior of the atheist as to that of the devout religious person. Religion can set high ethical standards and can provide intense motivations for ethical behavior. Ethics, however, cannot be confined to religion nor is it the same as religion.</a:t>
            </a:r>
          </a:p>
          <a:p>
            <a:r>
              <a:rPr lang="en-US" sz="1200" kern="1200" dirty="0">
                <a:solidFill>
                  <a:schemeClr val="tx1"/>
                </a:solidFill>
                <a:effectLst/>
                <a:latin typeface="+mn-lt"/>
                <a:ea typeface="+mn-ea"/>
                <a:cs typeface="+mn-cs"/>
              </a:rPr>
              <a:t>Being ethical is also not the same as following the law. The law often incorporates ethical standards to which most citizens subscribe. But laws, like feelings, can deviate from what is ethical. The US slavery laws and the old apartheid laws of present-day South Africa are grotesquely obvious examples of laws that deviate from what is ethical.</a:t>
            </a:r>
          </a:p>
          <a:p>
            <a:r>
              <a:rPr lang="en-US" sz="1200" kern="1200" dirty="0">
                <a:solidFill>
                  <a:schemeClr val="tx1"/>
                </a:solidFill>
                <a:effectLst/>
                <a:latin typeface="+mn-lt"/>
                <a:ea typeface="+mn-ea"/>
                <a:cs typeface="+mn-cs"/>
              </a:rPr>
              <a:t>Finally, being ethical is not the same as doing "whatever society accepts." In any society, most people accept standards that are, in fact, ethical. But standards of behavior in society can deviate from what is ethical. An entire society can become ethically corrupt. Nazi Germany is a good example of a morally corrupt society. Sri Lanka 1983</a:t>
            </a:r>
          </a:p>
          <a:p>
            <a:r>
              <a:rPr lang="en-US" sz="1200" kern="1200" dirty="0">
                <a:solidFill>
                  <a:schemeClr val="tx1"/>
                </a:solidFill>
                <a:effectLst/>
                <a:latin typeface="+mn-lt"/>
                <a:ea typeface="+mn-ea"/>
                <a:cs typeface="+mn-cs"/>
              </a:rPr>
              <a:t>Moreover, if being ethical were doing "whatever society accepts," then to find out what is ethical, one would have to find out what society accepts.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 decide what I should think about abortion, for example, I would have to take a survey of American society and then conform my beliefs to whatever society accepts. But no one ever tries to decide an ethical issue by doing a survey. Further, the lack of social consensus on many issues makes it impossible to equate ethics with whatever society accepts. Some people accept abortion but many others do not. If being ethical were doing whatever society accepts, one would have to find an agreement on issues which does not, in fact, exist.</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C7BBE2B-7C74-4876-85F7-E24398D5061D}" type="slidenum">
              <a:rPr lang="en-US" smtClean="0"/>
              <a:pPr/>
              <a:t>20</a:t>
            </a:fld>
            <a:endParaRPr lang="en-US"/>
          </a:p>
        </p:txBody>
      </p:sp>
    </p:spTree>
    <p:extLst>
      <p:ext uri="{BB962C8B-B14F-4D97-AF65-F5344CB8AC3E}">
        <p14:creationId xmlns:p14="http://schemas.microsoft.com/office/powerpoint/2010/main" val="2622605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1/19/2024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hyperlink" Target="https://www.merriam-webster.com/dictionary/professions" TargetMode="External" /><Relationship Id="rId2" Type="http://schemas.openxmlformats.org/officeDocument/2006/relationships/hyperlink" Target="https://www.merriam-webster.com/dictionary/profession" TargetMode="Externa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 Id="rId4" Type="http://schemas.openxmlformats.org/officeDocument/2006/relationships/image" Target="../media/image6.jpeg"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Sverdrup_&amp;_Parcel" TargetMode="External" /><Relationship Id="rId7" Type="http://schemas.openxmlformats.org/officeDocument/2006/relationships/hyperlink" Target="https://en.wikipedia.org/wiki/Supreme_Court_of_the_United_States" TargetMode="External" /><Relationship Id="rId2" Type="http://schemas.openxmlformats.org/officeDocument/2006/relationships/hyperlink" Target="https://en.wikipedia.org/wiki/Truss_arch_bridge" TargetMode="External" /><Relationship Id="rId1" Type="http://schemas.openxmlformats.org/officeDocument/2006/relationships/slideLayout" Target="../slideLayouts/slideLayout2.xml" /><Relationship Id="rId6" Type="http://schemas.openxmlformats.org/officeDocument/2006/relationships/hyperlink" Target="https://en.wikipedia.org/wiki/Structural_load" TargetMode="External" /><Relationship Id="rId5" Type="http://schemas.openxmlformats.org/officeDocument/2006/relationships/hyperlink" Target="https://en.wikipedia.org/wiki/Catastrophic_failure" TargetMode="External" /><Relationship Id="rId4" Type="http://schemas.openxmlformats.org/officeDocument/2006/relationships/hyperlink" Target="https://en.wikipedia.org/wiki/Rush_hour" TargetMode="External" /></Relationships>
</file>

<file path=ppt/slides/_rels/slide15.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3" Type="http://schemas.openxmlformats.org/officeDocument/2006/relationships/hyperlink" Target="http://www.telegraph.co.uk/travel/news/Flight-grounded-after-both-pilots-fail-alcohol-test/" TargetMode="External" /><Relationship Id="rId2" Type="http://schemas.openxmlformats.org/officeDocument/2006/relationships/hyperlink" Target="https://www.faa.gov/pilots/safety/pilotsafetybrochures/media/alcohol.pdf" TargetMode="Externa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8" Type="http://schemas.openxmlformats.org/officeDocument/2006/relationships/hyperlink" Target="https://en.wikipedia.org/wiki/Chesley_Sullenberger" TargetMode="External" /><Relationship Id="rId3" Type="http://schemas.openxmlformats.org/officeDocument/2006/relationships/hyperlink" Target="https://en.wikipedia.org/wiki/Airbus_A320-214" TargetMode="External" /><Relationship Id="rId7" Type="http://schemas.openxmlformats.org/officeDocument/2006/relationships/hyperlink" Target="https://en.wikipedia.org/wiki/Jet_engine" TargetMode="External" /><Relationship Id="rId2" Type="http://schemas.openxmlformats.org/officeDocument/2006/relationships/image" Target="../media/image9.jpeg" /><Relationship Id="rId1" Type="http://schemas.openxmlformats.org/officeDocument/2006/relationships/slideLayout" Target="../slideLayouts/slideLayout2.xml" /><Relationship Id="rId6" Type="http://schemas.openxmlformats.org/officeDocument/2006/relationships/hyperlink" Target="https://en.wikipedia.org/wiki/Canada_geese" TargetMode="External" /><Relationship Id="rId11" Type="http://schemas.openxmlformats.org/officeDocument/2006/relationships/image" Target="../media/image10.jpeg" /><Relationship Id="rId5" Type="http://schemas.openxmlformats.org/officeDocument/2006/relationships/hyperlink" Target="https://en.wikipedia.org/wiki/Bird_strikes" TargetMode="External" /><Relationship Id="rId10" Type="http://schemas.openxmlformats.org/officeDocument/2006/relationships/hyperlink" Target="https://en.wikipedia.org/wiki/Hudson_River" TargetMode="External" /><Relationship Id="rId4" Type="http://schemas.openxmlformats.org/officeDocument/2006/relationships/hyperlink" Target="https://en.wikipedia.org/wiki/LaGuardia_Airport" TargetMode="External" /><Relationship Id="rId9" Type="http://schemas.openxmlformats.org/officeDocument/2006/relationships/hyperlink" Target="https://en.wikipedia.org/wiki/Ditching" TargetMode="Externa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slide" Target="slide22.xml" /><Relationship Id="rId2" Type="http://schemas.openxmlformats.org/officeDocument/2006/relationships/notesSlide" Target="../notesSlides/notesSlide7.xml" /><Relationship Id="rId1" Type="http://schemas.openxmlformats.org/officeDocument/2006/relationships/slideLayout" Target="../slideLayouts/slideLayout2.xml" /><Relationship Id="rId4" Type="http://schemas.openxmlformats.org/officeDocument/2006/relationships/slide" Target="slide21.xml" /></Relationships>
</file>

<file path=ppt/slides/_rels/slide21.xml.rels><?xml version="1.0" encoding="UTF-8" standalone="yes"?>
<Relationships xmlns="http://schemas.openxmlformats.org/package/2006/relationships"><Relationship Id="rId2" Type="http://schemas.openxmlformats.org/officeDocument/2006/relationships/slide" Target="slide20.xml"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3" Type="http://schemas.openxmlformats.org/officeDocument/2006/relationships/slide" Target="slide23.xml" /><Relationship Id="rId2" Type="http://schemas.openxmlformats.org/officeDocument/2006/relationships/slide" Target="slide25.xml"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8" Type="http://schemas.openxmlformats.org/officeDocument/2006/relationships/slide" Target="slide20.xml" /><Relationship Id="rId3" Type="http://schemas.openxmlformats.org/officeDocument/2006/relationships/hyperlink" Target="https://en.wikipedia.org/wiki/Coloureds" TargetMode="External" /><Relationship Id="rId7" Type="http://schemas.openxmlformats.org/officeDocument/2006/relationships/image" Target="../media/image14.jpeg" /><Relationship Id="rId2" Type="http://schemas.openxmlformats.org/officeDocument/2006/relationships/hyperlink" Target="https://en.wikipedia.org/wiki/Black_people" TargetMode="External" /><Relationship Id="rId1" Type="http://schemas.openxmlformats.org/officeDocument/2006/relationships/slideLayout" Target="../slideLayouts/slideLayout7.xml" /><Relationship Id="rId6" Type="http://schemas.openxmlformats.org/officeDocument/2006/relationships/image" Target="../media/image13.jpeg" /><Relationship Id="rId5" Type="http://schemas.openxmlformats.org/officeDocument/2006/relationships/hyperlink" Target="https://en.wikipedia.org/wiki/White_people" TargetMode="External" /><Relationship Id="rId4" Type="http://schemas.openxmlformats.org/officeDocument/2006/relationships/hyperlink" Target="https://en.wikipedia.org/wiki/Indian_South_Africans" TargetMode="External" /></Relationships>
</file>

<file path=ppt/slides/_rels/slide25.xml.rels><?xml version="1.0" encoding="UTF-8" standalone="yes"?>
<Relationships xmlns="http://schemas.openxmlformats.org/package/2006/relationships"><Relationship Id="rId8" Type="http://schemas.openxmlformats.org/officeDocument/2006/relationships/hyperlink" Target="https://en.wikipedia.org/wiki/Physical_disability" TargetMode="External" /><Relationship Id="rId3" Type="http://schemas.openxmlformats.org/officeDocument/2006/relationships/hyperlink" Target="https://en.wikipedia.org/wiki/Race_(human_categorization)" TargetMode="External" /><Relationship Id="rId7" Type="http://schemas.openxmlformats.org/officeDocument/2006/relationships/hyperlink" Target="https://en.wikipedia.org/wiki/Genocide" TargetMode="External" /><Relationship Id="rId2" Type="http://schemas.openxmlformats.org/officeDocument/2006/relationships/slide" Target="slide26.xml" /><Relationship Id="rId1" Type="http://schemas.openxmlformats.org/officeDocument/2006/relationships/slideLayout" Target="../slideLayouts/slideLayout7.xml" /><Relationship Id="rId6" Type="http://schemas.openxmlformats.org/officeDocument/2006/relationships/hyperlink" Target="https://en.wikipedia.org/wiki/Jews" TargetMode="External" /><Relationship Id="rId11" Type="http://schemas.openxmlformats.org/officeDocument/2006/relationships/image" Target="../media/image16.jpeg" /><Relationship Id="rId5" Type="http://schemas.openxmlformats.org/officeDocument/2006/relationships/hyperlink" Target="https://en.wikipedia.org/wiki/Master_race" TargetMode="External" /><Relationship Id="rId10" Type="http://schemas.openxmlformats.org/officeDocument/2006/relationships/image" Target="../media/image15.jpeg" /><Relationship Id="rId4" Type="http://schemas.openxmlformats.org/officeDocument/2006/relationships/hyperlink" Target="https://en.wikipedia.org/wiki/Aryan_race" TargetMode="External" /><Relationship Id="rId9" Type="http://schemas.openxmlformats.org/officeDocument/2006/relationships/hyperlink" Target="https://en.wikipedia.org/wiki/Developmental_disability" TargetMode="Externa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hyperlink" Target="https://efe.com/en/other-news/2024-01-16/strike-by-workers-paralyzes-sri-lanka-health-care/" TargetMode="External" /><Relationship Id="rId2" Type="http://schemas.openxmlformats.org/officeDocument/2006/relationships/hyperlink" Target="https://doi.org/10.20529/IJME.2004.012" TargetMode="External" /><Relationship Id="rId1" Type="http://schemas.openxmlformats.org/officeDocument/2006/relationships/slideLayout" Target="../slideLayouts/slideLayout2.xml" /><Relationship Id="rId5" Type="http://schemas.openxmlformats.org/officeDocument/2006/relationships/hyperlink" Target="https://www.linkedin.com/in/leandrovalente/?lipi=urn:li:page:d_flagship3_pulse_read;46KPwXuARGKwdJAVpjDt/Q==&amp;licu=urn:li:control:d_flagship3_pulse_read-profile_bottom_bar" TargetMode="External" /><Relationship Id="rId4" Type="http://schemas.openxmlformats.org/officeDocument/2006/relationships/hyperlink" Target="https://www.660citynews.com/wp-content/blogs.dir/sites/8/2019/09/EJX107-918_2019_024028.jpg" TargetMode="External" /></Relationships>
</file>

<file path=ppt/slides/_rels/slide28.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36204" y="715618"/>
            <a:ext cx="8915399" cy="2829312"/>
          </a:xfrm>
        </p:spPr>
        <p:txBody>
          <a:bodyPr>
            <a:normAutofit/>
          </a:bodyPr>
          <a:lstStyle/>
          <a:p>
            <a:r>
              <a:rPr lang="en-US" sz="4400" b="1" dirty="0">
                <a:solidFill>
                  <a:schemeClr val="accent1">
                    <a:lumMod val="50000"/>
                  </a:schemeClr>
                </a:solidFill>
              </a:rPr>
              <a:t>PROFESSIONAL ETHICS CE3124</a:t>
            </a:r>
            <a:br>
              <a:rPr lang="en-US" sz="4400" b="1" dirty="0">
                <a:solidFill>
                  <a:schemeClr val="accent1">
                    <a:lumMod val="50000"/>
                  </a:schemeClr>
                </a:solidFill>
              </a:rPr>
            </a:br>
            <a:br>
              <a:rPr lang="en-US" sz="4400" b="1" dirty="0">
                <a:solidFill>
                  <a:schemeClr val="accent1">
                    <a:lumMod val="50000"/>
                  </a:schemeClr>
                </a:solidFill>
              </a:rPr>
            </a:br>
            <a:r>
              <a:rPr lang="en-US" sz="4000" b="1" dirty="0">
                <a:solidFill>
                  <a:schemeClr val="accent1">
                    <a:lumMod val="50000"/>
                  </a:schemeClr>
                </a:solidFill>
              </a:rPr>
              <a:t>Introduction to Professional Ethics and its importance</a:t>
            </a:r>
            <a:endParaRPr lang="en-US" sz="4000" dirty="0"/>
          </a:p>
        </p:txBody>
      </p:sp>
      <p:sp>
        <p:nvSpPr>
          <p:cNvPr id="3" name="Subtitle 2"/>
          <p:cNvSpPr>
            <a:spLocks noGrp="1"/>
          </p:cNvSpPr>
          <p:nvPr>
            <p:ph type="subTitle" idx="1"/>
          </p:nvPr>
        </p:nvSpPr>
        <p:spPr/>
        <p:txBody>
          <a:bodyPr>
            <a:noAutofit/>
          </a:bodyPr>
          <a:lstStyle/>
          <a:p>
            <a:pPr algn="ctr"/>
            <a:r>
              <a:rPr lang="en-US" sz="2400" b="1" dirty="0"/>
              <a:t>Faculty of Engineering, </a:t>
            </a:r>
          </a:p>
          <a:p>
            <a:pPr algn="ctr"/>
            <a:r>
              <a:rPr lang="en-US" sz="2400" b="1" dirty="0"/>
              <a:t>General Sir John </a:t>
            </a:r>
            <a:r>
              <a:rPr lang="en-US" sz="2400" b="1" dirty="0" err="1"/>
              <a:t>Kotelawala</a:t>
            </a:r>
            <a:r>
              <a:rPr lang="en-US" sz="2400" b="1" dirty="0"/>
              <a:t> </a:t>
            </a:r>
            <a:r>
              <a:rPr lang="en-US" sz="2400" b="1" dirty="0" err="1"/>
              <a:t>Defence</a:t>
            </a:r>
            <a:r>
              <a:rPr lang="en-US" sz="2400" b="1" dirty="0"/>
              <a:t> University </a:t>
            </a:r>
          </a:p>
          <a:p>
            <a:pPr algn="ctr"/>
            <a:endParaRPr lang="en-US" sz="1600" b="1" dirty="0"/>
          </a:p>
          <a:p>
            <a:pPr algn="ctr"/>
            <a:r>
              <a:rPr lang="en-US" sz="1600" b="1" dirty="0"/>
              <a:t>19</a:t>
            </a:r>
            <a:r>
              <a:rPr lang="en-US" sz="1600" b="1" baseline="30000" dirty="0"/>
              <a:t>th</a:t>
            </a:r>
            <a:r>
              <a:rPr lang="en-US" sz="1600" b="1" dirty="0"/>
              <a:t>   January 2024</a:t>
            </a:r>
          </a:p>
          <a:p>
            <a:pPr algn="ctr"/>
            <a:endParaRPr lang="en-US" sz="2400" b="1" dirty="0"/>
          </a:p>
        </p:txBody>
      </p:sp>
    </p:spTree>
    <p:extLst>
      <p:ext uri="{BB962C8B-B14F-4D97-AF65-F5344CB8AC3E}">
        <p14:creationId xmlns:p14="http://schemas.microsoft.com/office/powerpoint/2010/main" val="566039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5090"/>
          </a:xfrm>
        </p:spPr>
        <p:txBody>
          <a:bodyPr>
            <a:normAutofit fontScale="90000"/>
          </a:bodyPr>
          <a:lstStyle/>
          <a:p>
            <a:r>
              <a:rPr lang="en-US" dirty="0"/>
              <a:t>TOPICS</a:t>
            </a:r>
          </a:p>
        </p:txBody>
      </p:sp>
      <p:sp>
        <p:nvSpPr>
          <p:cNvPr id="3" name="Content Placeholder 2"/>
          <p:cNvSpPr>
            <a:spLocks noGrp="1"/>
          </p:cNvSpPr>
          <p:nvPr>
            <p:ph idx="1"/>
          </p:nvPr>
        </p:nvSpPr>
        <p:spPr/>
        <p:txBody>
          <a:bodyPr>
            <a:normAutofit/>
          </a:bodyPr>
          <a:lstStyle/>
          <a:p>
            <a:r>
              <a:rPr lang="en-US" sz="2400" b="1" dirty="0">
                <a:solidFill>
                  <a:schemeClr val="accent2">
                    <a:lumMod val="75000"/>
                  </a:schemeClr>
                </a:solidFill>
              </a:rPr>
              <a:t>Ethics</a:t>
            </a:r>
          </a:p>
          <a:p>
            <a:r>
              <a:rPr lang="en-US" sz="2400" b="1" dirty="0">
                <a:solidFill>
                  <a:schemeClr val="accent2">
                    <a:lumMod val="75000"/>
                  </a:schemeClr>
                </a:solidFill>
              </a:rPr>
              <a:t>Individual ethical decision making – moral philosophies and values, </a:t>
            </a:r>
          </a:p>
          <a:p>
            <a:r>
              <a:rPr lang="en-US" sz="2400" b="1" dirty="0">
                <a:solidFill>
                  <a:schemeClr val="accent2">
                    <a:lumMod val="75000"/>
                  </a:schemeClr>
                </a:solidFill>
              </a:rPr>
              <a:t>Organizational ethical decision making – role of ethical culture and leadership</a:t>
            </a:r>
          </a:p>
          <a:p>
            <a:r>
              <a:rPr lang="en-US" sz="2400" b="1" dirty="0">
                <a:solidFill>
                  <a:schemeClr val="accent2">
                    <a:lumMod val="75000"/>
                  </a:schemeClr>
                </a:solidFill>
              </a:rPr>
              <a:t>Rules to Professional Ethics in the Workplace</a:t>
            </a:r>
            <a:br>
              <a:rPr lang="en-US" sz="2400" b="1" dirty="0"/>
            </a:br>
            <a:br>
              <a:rPr lang="en-US" sz="2400" b="1" dirty="0">
                <a:solidFill>
                  <a:schemeClr val="accent2">
                    <a:lumMod val="75000"/>
                  </a:schemeClr>
                </a:solidFill>
              </a:rPr>
            </a:br>
            <a:endParaRPr lang="en-US" sz="2400" b="1" dirty="0"/>
          </a:p>
        </p:txBody>
      </p:sp>
    </p:spTree>
    <p:extLst>
      <p:ext uri="{BB962C8B-B14F-4D97-AF65-F5344CB8AC3E}">
        <p14:creationId xmlns:p14="http://schemas.microsoft.com/office/powerpoint/2010/main" val="203726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7023" y="624110"/>
            <a:ext cx="9537589" cy="662430"/>
          </a:xfrm>
        </p:spPr>
        <p:txBody>
          <a:bodyPr>
            <a:normAutofit fontScale="90000"/>
          </a:bodyPr>
          <a:lstStyle/>
          <a:p>
            <a:pPr algn="ctr"/>
            <a:r>
              <a:rPr lang="en-GB" b="1" dirty="0">
                <a:solidFill>
                  <a:schemeClr val="accent5">
                    <a:lumMod val="60000"/>
                    <a:lumOff val="40000"/>
                  </a:schemeClr>
                </a:solidFill>
                <a:effectLst>
                  <a:outerShdw blurRad="38100" dist="38100" dir="2700000" algn="tl">
                    <a:srgbClr val="000000"/>
                  </a:outerShdw>
                </a:effectLst>
              </a:rPr>
              <a:t>ETHICS</a:t>
            </a:r>
            <a:br>
              <a:rPr lang="en-US" b="1" dirty="0">
                <a:solidFill>
                  <a:schemeClr val="accent5">
                    <a:lumMod val="60000"/>
                    <a:lumOff val="40000"/>
                  </a:schemeClr>
                </a:solidFill>
              </a:rPr>
            </a:br>
            <a:endParaRPr lang="en-US" dirty="0">
              <a:solidFill>
                <a:schemeClr val="accent5">
                  <a:lumMod val="60000"/>
                  <a:lumOff val="40000"/>
                </a:schemeClr>
              </a:solidFill>
            </a:endParaRPr>
          </a:p>
        </p:txBody>
      </p:sp>
      <p:sp>
        <p:nvSpPr>
          <p:cNvPr id="3" name="Content Placeholder 2"/>
          <p:cNvSpPr>
            <a:spLocks noGrp="1"/>
          </p:cNvSpPr>
          <p:nvPr>
            <p:ph idx="1"/>
          </p:nvPr>
        </p:nvSpPr>
        <p:spPr>
          <a:xfrm>
            <a:off x="2578580" y="1368055"/>
            <a:ext cx="8915400" cy="5075275"/>
          </a:xfrm>
        </p:spPr>
        <p:txBody>
          <a:bodyPr/>
          <a:lstStyle/>
          <a:p>
            <a:pPr>
              <a:lnSpc>
                <a:spcPct val="90000"/>
              </a:lnSpc>
              <a:defRPr/>
            </a:pPr>
            <a:r>
              <a:rPr lang="en-GB" sz="2400" b="1" dirty="0">
                <a:solidFill>
                  <a:schemeClr val="accent5">
                    <a:lumMod val="75000"/>
                  </a:schemeClr>
                </a:solidFill>
              </a:rPr>
              <a:t>The discipline dealing with what is good and bad, and with moral duty and obligation </a:t>
            </a:r>
          </a:p>
          <a:p>
            <a:pPr>
              <a:lnSpc>
                <a:spcPct val="90000"/>
              </a:lnSpc>
              <a:defRPr/>
            </a:pPr>
            <a:endParaRPr lang="en-GB" b="1" dirty="0"/>
          </a:p>
        </p:txBody>
      </p:sp>
      <p:pic>
        <p:nvPicPr>
          <p:cNvPr id="5" name="Picture 2" descr="http://fscomps.fotosearch.com/bigcomps/CSP/CSP297/k1731343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6553" y="2285998"/>
            <a:ext cx="4317788" cy="37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32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1930" y="113748"/>
            <a:ext cx="8911687" cy="673062"/>
          </a:xfrm>
        </p:spPr>
        <p:txBody>
          <a:bodyPr>
            <a:normAutofit fontScale="90000"/>
          </a:bodyPr>
          <a:lstStyle/>
          <a:p>
            <a:pPr algn="ctr"/>
            <a:r>
              <a:rPr lang="en-GB" b="1" dirty="0">
                <a:solidFill>
                  <a:schemeClr val="accent5">
                    <a:lumMod val="60000"/>
                    <a:lumOff val="40000"/>
                  </a:schemeClr>
                </a:solidFill>
                <a:effectLst>
                  <a:outerShdw blurRad="38100" dist="38100" dir="2700000" algn="tl">
                    <a:srgbClr val="000000"/>
                  </a:outerShdw>
                </a:effectLst>
              </a:rPr>
              <a:t>ETHICS</a:t>
            </a:r>
            <a:br>
              <a:rPr lang="en-US" b="1" dirty="0">
                <a:solidFill>
                  <a:schemeClr val="accent5">
                    <a:lumMod val="60000"/>
                    <a:lumOff val="40000"/>
                  </a:schemeClr>
                </a:solidFill>
              </a:rPr>
            </a:br>
            <a:endParaRPr lang="en-US" dirty="0"/>
          </a:p>
        </p:txBody>
      </p:sp>
      <p:sp>
        <p:nvSpPr>
          <p:cNvPr id="3" name="Content Placeholder 2"/>
          <p:cNvSpPr>
            <a:spLocks noGrp="1"/>
          </p:cNvSpPr>
          <p:nvPr>
            <p:ph idx="1"/>
          </p:nvPr>
        </p:nvSpPr>
        <p:spPr>
          <a:xfrm>
            <a:off x="2780597" y="988827"/>
            <a:ext cx="8915400" cy="3572059"/>
          </a:xfrm>
        </p:spPr>
        <p:txBody>
          <a:bodyPr>
            <a:normAutofit/>
          </a:bodyPr>
          <a:lstStyle/>
          <a:p>
            <a:r>
              <a:rPr lang="en-GB" sz="2400" b="1" dirty="0">
                <a:solidFill>
                  <a:schemeClr val="accent5">
                    <a:lumMod val="75000"/>
                  </a:schemeClr>
                </a:solidFill>
              </a:rPr>
              <a:t>The principles of conduct governing an individual or group (professionals)</a:t>
            </a:r>
          </a:p>
          <a:p>
            <a:endParaRPr lang="en-US" sz="2400" dirty="0">
              <a:solidFill>
                <a:schemeClr val="accent5">
                  <a:lumMod val="75000"/>
                </a:schemeClr>
              </a:solidFill>
            </a:endParaRPr>
          </a:p>
        </p:txBody>
      </p:sp>
      <p:pic>
        <p:nvPicPr>
          <p:cNvPr id="5" name="Picture 2" descr="Ethics code management business strategy concept diagram illust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6698" y="2149550"/>
            <a:ext cx="4286250" cy="3889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869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9762" y="390194"/>
            <a:ext cx="8911687" cy="662430"/>
          </a:xfrm>
        </p:spPr>
        <p:txBody>
          <a:bodyPr>
            <a:normAutofit fontScale="90000"/>
          </a:bodyPr>
          <a:lstStyle/>
          <a:p>
            <a:pPr algn="ctr"/>
            <a:r>
              <a:rPr lang="en-GB" b="1" dirty="0">
                <a:solidFill>
                  <a:schemeClr val="accent5">
                    <a:lumMod val="60000"/>
                    <a:lumOff val="40000"/>
                  </a:schemeClr>
                </a:solidFill>
                <a:effectLst>
                  <a:outerShdw blurRad="38100" dist="38100" dir="2700000" algn="tl">
                    <a:srgbClr val="000000"/>
                  </a:outerShdw>
                </a:effectLst>
              </a:rPr>
              <a:t>ETHICS</a:t>
            </a:r>
            <a:br>
              <a:rPr lang="en-US" b="1" dirty="0">
                <a:solidFill>
                  <a:schemeClr val="accent5">
                    <a:lumMod val="60000"/>
                    <a:lumOff val="40000"/>
                  </a:schemeClr>
                </a:solidFill>
              </a:rPr>
            </a:br>
            <a:endParaRPr lang="en-US" dirty="0"/>
          </a:p>
        </p:txBody>
      </p:sp>
      <p:sp>
        <p:nvSpPr>
          <p:cNvPr id="4" name="Content Placeholder 3"/>
          <p:cNvSpPr>
            <a:spLocks noGrp="1"/>
          </p:cNvSpPr>
          <p:nvPr>
            <p:ph idx="1"/>
          </p:nvPr>
        </p:nvSpPr>
        <p:spPr>
          <a:xfrm>
            <a:off x="2589213" y="1138238"/>
            <a:ext cx="8915400" cy="1089529"/>
          </a:xfrm>
          <a:prstGeom prst="rect">
            <a:avLst/>
          </a:prstGeom>
        </p:spPr>
        <p:txBody>
          <a:bodyPr>
            <a:spAutoFit/>
          </a:bodyPr>
          <a:lstStyle/>
          <a:p>
            <a:pPr eaLnBrk="1" hangingPunct="1">
              <a:lnSpc>
                <a:spcPct val="90000"/>
              </a:lnSpc>
              <a:defRPr/>
            </a:pPr>
            <a:r>
              <a:rPr lang="en-GB" sz="2400" b="1" dirty="0">
                <a:solidFill>
                  <a:schemeClr val="accent5">
                    <a:lumMod val="75000"/>
                  </a:schemeClr>
                </a:solidFill>
              </a:rPr>
              <a:t>The value structure that guides the actions of an individual or corporate body, in his/her/their dealings with any other person, or with society in general.</a:t>
            </a:r>
          </a:p>
        </p:txBody>
      </p:sp>
      <p:pic>
        <p:nvPicPr>
          <p:cNvPr id="5" name="Picture 2" descr="core values - words in 3d silver grey metal gear wheels, business cultural riches concept Stock Photo - 293771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9730" y="2482702"/>
            <a:ext cx="4848338" cy="3439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88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8888" y="666640"/>
            <a:ext cx="8911687" cy="502941"/>
          </a:xfrm>
        </p:spPr>
        <p:txBody>
          <a:bodyPr>
            <a:normAutofit fontScale="90000"/>
          </a:bodyPr>
          <a:lstStyle/>
          <a:p>
            <a:r>
              <a:rPr lang="en-GB" b="1" dirty="0">
                <a:solidFill>
                  <a:schemeClr val="accent5">
                    <a:lumMod val="60000"/>
                    <a:lumOff val="40000"/>
                  </a:schemeClr>
                </a:solidFill>
                <a:effectLst>
                  <a:outerShdw blurRad="38100" dist="38100" dir="2700000" algn="tl">
                    <a:srgbClr val="000000"/>
                  </a:outerShdw>
                </a:effectLst>
              </a:rPr>
              <a:t>WHAT IS ETHICS ???</a:t>
            </a:r>
            <a:endParaRPr lang="en-US" dirty="0"/>
          </a:p>
        </p:txBody>
      </p:sp>
      <p:sp>
        <p:nvSpPr>
          <p:cNvPr id="3" name="Content Placeholder 2"/>
          <p:cNvSpPr>
            <a:spLocks noGrp="1"/>
          </p:cNvSpPr>
          <p:nvPr>
            <p:ph idx="1"/>
          </p:nvPr>
        </p:nvSpPr>
        <p:spPr>
          <a:xfrm>
            <a:off x="2068216" y="1765005"/>
            <a:ext cx="8915400" cy="4879864"/>
          </a:xfrm>
        </p:spPr>
        <p:txBody>
          <a:bodyPr>
            <a:normAutofit/>
          </a:bodyPr>
          <a:lstStyle/>
          <a:p>
            <a:r>
              <a:rPr lang="en-US" sz="2400" dirty="0"/>
              <a:t>First, ethics refers to well-founded standards of right and wrong that prescribe what humans ought to do, usually in terms of rights, obligations, benefits to society, fairness, or specific virtues.</a:t>
            </a:r>
          </a:p>
          <a:p>
            <a:endParaRPr lang="en-US" sz="2400" dirty="0"/>
          </a:p>
          <a:p>
            <a:r>
              <a:rPr lang="en-US" sz="2400" dirty="0"/>
              <a:t>Secondly, ethics refers to the study and development of ethical standards, either for an individual or for an organization</a:t>
            </a:r>
          </a:p>
        </p:txBody>
      </p:sp>
    </p:spTree>
    <p:extLst>
      <p:ext uri="{BB962C8B-B14F-4D97-AF65-F5344CB8AC3E}">
        <p14:creationId xmlns:p14="http://schemas.microsoft.com/office/powerpoint/2010/main" val="308782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2438" y="226544"/>
            <a:ext cx="8911687" cy="740865"/>
          </a:xfrm>
        </p:spPr>
        <p:txBody>
          <a:bodyPr/>
          <a:lstStyle/>
          <a:p>
            <a:r>
              <a:rPr lang="en-US" b="1" dirty="0">
                <a:solidFill>
                  <a:schemeClr val="accent5">
                    <a:lumMod val="75000"/>
                  </a:schemeClr>
                </a:solidFill>
              </a:rPr>
              <a:t>WHO IS A PROFESSIONAL ???</a:t>
            </a:r>
          </a:p>
        </p:txBody>
      </p:sp>
      <p:sp>
        <p:nvSpPr>
          <p:cNvPr id="3" name="Content Placeholder 2"/>
          <p:cNvSpPr>
            <a:spLocks noGrp="1"/>
          </p:cNvSpPr>
          <p:nvPr>
            <p:ph idx="1"/>
          </p:nvPr>
        </p:nvSpPr>
        <p:spPr>
          <a:xfrm>
            <a:off x="2293033" y="1083213"/>
            <a:ext cx="9537895" cy="5627076"/>
          </a:xfrm>
        </p:spPr>
        <p:txBody>
          <a:bodyPr>
            <a:normAutofit fontScale="92500" lnSpcReduction="20000"/>
          </a:bodyPr>
          <a:lstStyle/>
          <a:p>
            <a:r>
              <a:rPr lang="en-US" sz="2800" b="1" dirty="0"/>
              <a:t>Definition of </a:t>
            </a:r>
            <a:r>
              <a:rPr lang="en-US" sz="2800" b="1" cap="small" dirty="0"/>
              <a:t>professional</a:t>
            </a:r>
            <a:endParaRPr lang="en-US" sz="2800" b="1" dirty="0"/>
          </a:p>
          <a:p>
            <a:r>
              <a:rPr lang="en-US" sz="2800" b="1" dirty="0"/>
              <a:t>a</a:t>
            </a:r>
            <a:r>
              <a:rPr lang="en-US" sz="2800" dirty="0"/>
              <a:t> : of, relating to, or characteristic of a </a:t>
            </a:r>
            <a:r>
              <a:rPr lang="en-US" sz="2800" dirty="0">
                <a:hlinkClick r:id="rId2"/>
              </a:rPr>
              <a:t>profession</a:t>
            </a:r>
            <a:endParaRPr lang="en-US" sz="2800" dirty="0"/>
          </a:p>
          <a:p>
            <a:r>
              <a:rPr lang="en-US" sz="2800" b="1" dirty="0"/>
              <a:t>b</a:t>
            </a:r>
            <a:r>
              <a:rPr lang="en-US" sz="2800" dirty="0"/>
              <a:t> : engaged in one of the learned </a:t>
            </a:r>
            <a:r>
              <a:rPr lang="en-US" sz="2800" dirty="0">
                <a:hlinkClick r:id="rId3"/>
              </a:rPr>
              <a:t>professions</a:t>
            </a:r>
            <a:endParaRPr lang="en-US" sz="2800" dirty="0"/>
          </a:p>
          <a:p>
            <a:r>
              <a:rPr lang="en-US" sz="2800" b="1" dirty="0"/>
              <a:t>c </a:t>
            </a:r>
            <a:r>
              <a:rPr lang="en-US" sz="2800" dirty="0"/>
              <a:t>(1) : characterized by or conforming to the technical or ethical standards of a profession</a:t>
            </a:r>
          </a:p>
          <a:p>
            <a:r>
              <a:rPr lang="en-US" sz="2800" dirty="0"/>
              <a:t>(2) : exhibiting a courteous, conscientious, and generally businesslike manner in the workplace</a:t>
            </a:r>
          </a:p>
          <a:p>
            <a:endParaRPr lang="en-US" sz="2800" dirty="0"/>
          </a:p>
          <a:p>
            <a:r>
              <a:rPr lang="en-US" sz="2800" dirty="0"/>
              <a:t>Professionals and those working in acknowledged professions, exercise specialist knowledge and skill. </a:t>
            </a:r>
          </a:p>
          <a:p>
            <a:r>
              <a:rPr lang="en-US" sz="2800" dirty="0"/>
              <a:t>How the use of this knowledge should be governed when providing a service to the public can be considered a moral issue and is termed </a:t>
            </a:r>
            <a:r>
              <a:rPr lang="en-US" sz="2800" b="1" dirty="0">
                <a:solidFill>
                  <a:schemeClr val="accent5">
                    <a:lumMod val="75000"/>
                  </a:schemeClr>
                </a:solidFill>
              </a:rPr>
              <a:t>professional ethics</a:t>
            </a:r>
            <a:r>
              <a:rPr lang="en-US" sz="2800" dirty="0"/>
              <a:t>.</a:t>
            </a:r>
          </a:p>
          <a:p>
            <a:endParaRPr lang="en-US" sz="2600" dirty="0"/>
          </a:p>
          <a:p>
            <a:pPr marL="0" indent="0">
              <a:buNone/>
            </a:pPr>
            <a:endParaRPr lang="en-US" sz="2600" dirty="0"/>
          </a:p>
          <a:p>
            <a:endParaRPr lang="en-US" dirty="0"/>
          </a:p>
        </p:txBody>
      </p:sp>
    </p:spTree>
    <p:extLst>
      <p:ext uri="{BB962C8B-B14F-4D97-AF65-F5344CB8AC3E}">
        <p14:creationId xmlns:p14="http://schemas.microsoft.com/office/powerpoint/2010/main" val="716737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anim calcmode="lin" valueType="num">
                                      <p:cBhvr>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anim calcmode="lin" valueType="num">
                                      <p:cBhvr>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0532"/>
          </a:xfrm>
        </p:spPr>
        <p:txBody>
          <a:bodyPr>
            <a:normAutofit fontScale="90000"/>
          </a:bodyPr>
          <a:lstStyle/>
          <a:p>
            <a:r>
              <a:rPr lang="en-US" b="1" dirty="0">
                <a:solidFill>
                  <a:schemeClr val="accent5">
                    <a:lumMod val="75000"/>
                  </a:schemeClr>
                </a:solidFill>
              </a:rPr>
              <a:t>PROFESSIONAL ETHICS</a:t>
            </a:r>
            <a:endParaRPr lang="en-US" dirty="0"/>
          </a:p>
        </p:txBody>
      </p:sp>
      <p:sp>
        <p:nvSpPr>
          <p:cNvPr id="3" name="Content Placeholder 2"/>
          <p:cNvSpPr>
            <a:spLocks noGrp="1"/>
          </p:cNvSpPr>
          <p:nvPr>
            <p:ph idx="1"/>
          </p:nvPr>
        </p:nvSpPr>
        <p:spPr>
          <a:xfrm>
            <a:off x="2589212" y="1626781"/>
            <a:ext cx="8915400" cy="4284441"/>
          </a:xfrm>
        </p:spPr>
        <p:txBody>
          <a:bodyPr>
            <a:normAutofit/>
          </a:bodyPr>
          <a:lstStyle/>
          <a:p>
            <a:r>
              <a:rPr lang="en-US" sz="2400" dirty="0"/>
              <a:t>Professional Ethics are a set of standards that describe the professional behavior that is expected in all fields of work. </a:t>
            </a:r>
          </a:p>
          <a:p>
            <a:r>
              <a:rPr lang="en-US" sz="2400" dirty="0"/>
              <a:t>in a corporate environment professionals have to deal with  moral and ethical issues that arise from their work</a:t>
            </a:r>
          </a:p>
          <a:p>
            <a:r>
              <a:rPr lang="en-US" sz="2400" dirty="0"/>
              <a:t>Frequently, professionals in a corporate environment are confronted with dilemmas that have no simple answer, and  Professional Ethics examines the moral and ethical issues that arise in a corporate environment.</a:t>
            </a:r>
          </a:p>
        </p:txBody>
      </p:sp>
    </p:spTree>
    <p:extLst>
      <p:ext uri="{BB962C8B-B14F-4D97-AF65-F5344CB8AC3E}">
        <p14:creationId xmlns:p14="http://schemas.microsoft.com/office/powerpoint/2010/main" val="381207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8256" y="244796"/>
            <a:ext cx="8911687" cy="674603"/>
          </a:xfrm>
        </p:spPr>
        <p:txBody>
          <a:bodyPr/>
          <a:lstStyle/>
          <a:p>
            <a:r>
              <a:rPr lang="en-US" b="1" dirty="0">
                <a:solidFill>
                  <a:schemeClr val="accent5">
                    <a:lumMod val="75000"/>
                  </a:schemeClr>
                </a:solidFill>
              </a:rPr>
              <a:t>PROFESSIONAL ETHICS</a:t>
            </a:r>
          </a:p>
        </p:txBody>
      </p:sp>
      <p:sp>
        <p:nvSpPr>
          <p:cNvPr id="3" name="Content Placeholder 2"/>
          <p:cNvSpPr>
            <a:spLocks noGrp="1"/>
          </p:cNvSpPr>
          <p:nvPr>
            <p:ph idx="1"/>
          </p:nvPr>
        </p:nvSpPr>
        <p:spPr>
          <a:xfrm>
            <a:off x="2589212" y="928468"/>
            <a:ext cx="9312056" cy="5929532"/>
          </a:xfrm>
        </p:spPr>
        <p:txBody>
          <a:bodyPr>
            <a:normAutofit/>
          </a:bodyPr>
          <a:lstStyle/>
          <a:p>
            <a:r>
              <a:rPr lang="en-US" dirty="0"/>
              <a:t>It has been found that a majority of professionals face ethical problems in their professional life, as compared to non-professionals, mainly because professionals are trained to provide services to the society, that cannot be provided by non-professionals</a:t>
            </a:r>
          </a:p>
          <a:p>
            <a:r>
              <a:rPr lang="en-US" dirty="0"/>
              <a:t>It is because of the services that professionals provide, they are also eligible for certain privileges and immunities. </a:t>
            </a:r>
          </a:p>
          <a:p>
            <a:pPr lvl="1"/>
            <a:r>
              <a:rPr lang="en-US" dirty="0"/>
              <a:t>Examples:  </a:t>
            </a:r>
          </a:p>
          <a:p>
            <a:pPr lvl="2"/>
            <a:r>
              <a:rPr lang="en-US" sz="1800" b="1" dirty="0"/>
              <a:t>Doctors</a:t>
            </a:r>
          </a:p>
          <a:p>
            <a:pPr lvl="2"/>
            <a:r>
              <a:rPr lang="en-US" sz="1800" b="1" dirty="0"/>
              <a:t>Engineers</a:t>
            </a:r>
          </a:p>
          <a:p>
            <a:pPr lvl="2"/>
            <a:r>
              <a:rPr lang="en-US" sz="1800" b="1" dirty="0"/>
              <a:t>Commercial Airplane Pilots</a:t>
            </a:r>
          </a:p>
          <a:p>
            <a:r>
              <a:rPr lang="en-US" dirty="0"/>
              <a:t>Because of these added responsibilities and complicated scenarios, it’s difficult to understand the way a person is expected to act under complex situations. Professional Ethics is a way to provide an answer to those difficult questions through extensive training, sharing real-life examples, and following the practices that makes a profession ethical.</a:t>
            </a:r>
          </a:p>
        </p:txBody>
      </p:sp>
    </p:spTree>
    <p:extLst>
      <p:ext uri="{BB962C8B-B14F-4D97-AF65-F5344CB8AC3E}">
        <p14:creationId xmlns:p14="http://schemas.microsoft.com/office/powerpoint/2010/main" val="70709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additive="base">
                                        <p:cTn id="1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1000"/>
                                        <p:tgtEl>
                                          <p:spTgt spid="3">
                                            <p:txEl>
                                              <p:pRg st="2" end="2"/>
                                            </p:txEl>
                                          </p:spTgt>
                                        </p:tgtEl>
                                      </p:cBhvr>
                                    </p:animEffect>
                                    <p:anim calcmode="lin" valueType="num">
                                      <p:cBhvr>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6774" y="191068"/>
            <a:ext cx="8911687" cy="731520"/>
          </a:xfrm>
        </p:spPr>
        <p:txBody>
          <a:bodyPr/>
          <a:lstStyle/>
          <a:p>
            <a:r>
              <a:rPr lang="en-US" b="1" dirty="0">
                <a:solidFill>
                  <a:schemeClr val="accent5">
                    <a:lumMod val="75000"/>
                  </a:schemeClr>
                </a:solidFill>
              </a:rPr>
              <a:t>PROFESSIONAL ETHICS - Doctors</a:t>
            </a:r>
            <a:endParaRPr lang="en-US" dirty="0"/>
          </a:p>
        </p:txBody>
      </p:sp>
      <p:sp>
        <p:nvSpPr>
          <p:cNvPr id="3" name="Content Placeholder 2"/>
          <p:cNvSpPr>
            <a:spLocks noGrp="1"/>
          </p:cNvSpPr>
          <p:nvPr>
            <p:ph idx="1"/>
          </p:nvPr>
        </p:nvSpPr>
        <p:spPr>
          <a:xfrm>
            <a:off x="1936689" y="832209"/>
            <a:ext cx="8565927" cy="12515481"/>
          </a:xfrm>
        </p:spPr>
        <p:txBody>
          <a:bodyPr>
            <a:normAutofit/>
          </a:bodyPr>
          <a:lstStyle/>
          <a:p>
            <a:r>
              <a:rPr lang="en-US" dirty="0"/>
              <a:t>The primary role of the Medical Doctor is to look after the well being of their fellow men and the community</a:t>
            </a:r>
          </a:p>
          <a:p>
            <a:pPr marL="0" indent="0">
              <a:buNone/>
            </a:pPr>
            <a:r>
              <a:rPr lang="en-US" dirty="0"/>
              <a:t>	As one of clauses of the Hippocratic Oath says, </a:t>
            </a:r>
          </a:p>
          <a:p>
            <a:pPr marL="0" indent="0">
              <a:buNone/>
            </a:pPr>
            <a:r>
              <a:rPr lang="en-US" dirty="0"/>
              <a:t>	</a:t>
            </a:r>
            <a:r>
              <a:rPr lang="en-US" i="1" dirty="0">
                <a:solidFill>
                  <a:srgbClr val="CC0099"/>
                </a:solidFill>
              </a:rPr>
              <a:t>“I will remember that I remain a member of society, with special 	obligations to all my 	fellow human beings, those sound of mind and 	body, as well as the infirm”</a:t>
            </a:r>
          </a:p>
          <a:p>
            <a:endParaRPr lang="en-US" b="1" dirty="0"/>
          </a:p>
          <a:p>
            <a:r>
              <a:rPr lang="en-US" sz="2200" b="1" dirty="0">
                <a:solidFill>
                  <a:srgbClr val="CC0099"/>
                </a:solidFill>
              </a:rPr>
              <a:t>TRADE UNION ACTION ????</a:t>
            </a:r>
          </a:p>
          <a:p>
            <a:r>
              <a:rPr lang="en-US" sz="2200" b="1" dirty="0">
                <a:solidFill>
                  <a:srgbClr val="FF0000"/>
                </a:solidFill>
              </a:rPr>
              <a:t>IS IT ETHICALLY JUSTIFIED ????</a:t>
            </a:r>
          </a:p>
          <a:p>
            <a:endParaRPr lang="en-US" dirty="0"/>
          </a:p>
        </p:txBody>
      </p:sp>
      <p:pic>
        <p:nvPicPr>
          <p:cNvPr id="1026" name="Picture 2" descr="Sri Lankan doctors strike over salary 'injustice' - 660 NEWS">
            <a:extLst>
              <a:ext uri="{FF2B5EF4-FFF2-40B4-BE49-F238E27FC236}">
                <a16:creationId xmlns:a16="http://schemas.microsoft.com/office/drawing/2014/main" id="{4367AAB4-B2B4-F4CF-60ED-90F3B03B7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052" y="4533331"/>
            <a:ext cx="2911642" cy="21336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ike by workers paralyzes Sri Lanka health care - EFE Noticias">
            <a:extLst>
              <a:ext uri="{FF2B5EF4-FFF2-40B4-BE49-F238E27FC236}">
                <a16:creationId xmlns:a16="http://schemas.microsoft.com/office/drawing/2014/main" id="{18CDC492-B8F6-D75E-B403-CEA9311E2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2522" y="4533331"/>
            <a:ext cx="3095939" cy="21336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ealth for all and all for health | The Sunday Times Sri Lanka">
            <a:extLst>
              <a:ext uri="{FF2B5EF4-FFF2-40B4-BE49-F238E27FC236}">
                <a16:creationId xmlns:a16="http://schemas.microsoft.com/office/drawing/2014/main" id="{614CC944-8F66-5BBC-0482-9568F8AD0A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3028" y="4554594"/>
            <a:ext cx="3810000" cy="2133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70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1000"/>
                                        <p:tgtEl>
                                          <p:spTgt spid="3">
                                            <p:txEl>
                                              <p:pRg st="5" end="5"/>
                                            </p:txEl>
                                          </p:spTgt>
                                        </p:tgtEl>
                                      </p:cBhvr>
                                    </p:animEffect>
                                    <p:anim calcmode="lin" valueType="num">
                                      <p:cBhvr>
                                        <p:cTn id="3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43049-0B27-CBBE-47CB-5B78BB41BEF5}"/>
              </a:ext>
            </a:extLst>
          </p:cNvPr>
          <p:cNvSpPr>
            <a:spLocks noGrp="1"/>
          </p:cNvSpPr>
          <p:nvPr>
            <p:ph type="title"/>
          </p:nvPr>
        </p:nvSpPr>
        <p:spPr>
          <a:xfrm>
            <a:off x="2589212" y="0"/>
            <a:ext cx="8911687" cy="725714"/>
          </a:xfrm>
        </p:spPr>
        <p:txBody>
          <a:bodyPr/>
          <a:lstStyle/>
          <a:p>
            <a:r>
              <a:rPr lang="en-US" b="1" dirty="0">
                <a:solidFill>
                  <a:schemeClr val="accent5">
                    <a:lumMod val="75000"/>
                  </a:schemeClr>
                </a:solidFill>
              </a:rPr>
              <a:t>PROFESSIONAL ETHICS - Doctors</a:t>
            </a:r>
            <a:endParaRPr lang="en-US" dirty="0"/>
          </a:p>
        </p:txBody>
      </p:sp>
      <p:sp>
        <p:nvSpPr>
          <p:cNvPr id="3" name="Content Placeholder 2">
            <a:extLst>
              <a:ext uri="{FF2B5EF4-FFF2-40B4-BE49-F238E27FC236}">
                <a16:creationId xmlns:a16="http://schemas.microsoft.com/office/drawing/2014/main" id="{06F5EF01-924A-8395-36E6-012CFD8A8427}"/>
              </a:ext>
            </a:extLst>
          </p:cNvPr>
          <p:cNvSpPr>
            <a:spLocks noGrp="1"/>
          </p:cNvSpPr>
          <p:nvPr>
            <p:ph idx="1"/>
          </p:nvPr>
        </p:nvSpPr>
        <p:spPr>
          <a:xfrm>
            <a:off x="2515577" y="725714"/>
            <a:ext cx="8915400" cy="3777622"/>
          </a:xfrm>
        </p:spPr>
        <p:txBody>
          <a:bodyPr/>
          <a:lstStyle/>
          <a:p>
            <a:pPr marL="0" indent="0">
              <a:buNone/>
            </a:pPr>
            <a:endParaRPr lang="en-US" dirty="0"/>
          </a:p>
        </p:txBody>
      </p:sp>
      <p:sp>
        <p:nvSpPr>
          <p:cNvPr id="5" name="TextBox 4">
            <a:extLst>
              <a:ext uri="{FF2B5EF4-FFF2-40B4-BE49-F238E27FC236}">
                <a16:creationId xmlns:a16="http://schemas.microsoft.com/office/drawing/2014/main" id="{A32FD127-912A-B436-20C9-0D6AF8F437AA}"/>
              </a:ext>
            </a:extLst>
          </p:cNvPr>
          <p:cNvSpPr txBox="1"/>
          <p:nvPr/>
        </p:nvSpPr>
        <p:spPr>
          <a:xfrm>
            <a:off x="2445658" y="725714"/>
            <a:ext cx="9055241" cy="6601807"/>
          </a:xfrm>
          <a:prstGeom prst="rect">
            <a:avLst/>
          </a:prstGeom>
          <a:noFill/>
        </p:spPr>
        <p:txBody>
          <a:bodyPr wrap="square">
            <a:spAutoFit/>
          </a:bodyPr>
          <a:lstStyle/>
          <a:p>
            <a:pPr marL="285750" indent="-285750" fontAlgn="base">
              <a:buFont typeface="Wingdings" panose="05000000000000000000" pitchFamily="2" charset="2"/>
              <a:buChar char="Ø"/>
            </a:pPr>
            <a:r>
              <a:rPr lang="en-US" sz="2000" b="1" dirty="0"/>
              <a:t>Misadventure- A bad result despite good and reasonable effort.</a:t>
            </a:r>
          </a:p>
          <a:p>
            <a:pPr fontAlgn="base"/>
            <a:endParaRPr lang="en-US" sz="2000" b="1" dirty="0"/>
          </a:p>
          <a:p>
            <a:pPr marL="285750" indent="-285750" fontAlgn="base">
              <a:buFont typeface="Wingdings" panose="05000000000000000000" pitchFamily="2" charset="2"/>
              <a:buChar char="Ø"/>
            </a:pPr>
            <a:r>
              <a:rPr lang="en-US" sz="2000" b="1" dirty="0"/>
              <a:t>Negligence- A bad result when the effort does not reflect reasonable standards of patient care</a:t>
            </a:r>
          </a:p>
          <a:p>
            <a:endParaRPr lang="en-US" sz="2000" b="1" dirty="0">
              <a:solidFill>
                <a:srgbClr val="CC0099"/>
              </a:solidFill>
            </a:endParaRPr>
          </a:p>
          <a:p>
            <a:r>
              <a:rPr lang="en-US" sz="2000" b="1" dirty="0">
                <a:solidFill>
                  <a:srgbClr val="CC0099"/>
                </a:solidFill>
              </a:rPr>
              <a:t>Medical Negligence </a:t>
            </a:r>
          </a:p>
          <a:p>
            <a:endParaRPr lang="en-US" sz="1200" b="1" dirty="0">
              <a:solidFill>
                <a:srgbClr val="CC0099"/>
              </a:solidFill>
            </a:endParaRPr>
          </a:p>
          <a:p>
            <a:r>
              <a:rPr lang="en-US" dirty="0"/>
              <a:t>Although medical accidents and misadventures are an expected social phenomenon, </a:t>
            </a:r>
            <a:r>
              <a:rPr lang="en-US" b="1" dirty="0">
                <a:solidFill>
                  <a:srgbClr val="CC0099"/>
                </a:solidFill>
              </a:rPr>
              <a:t>medical negligence </a:t>
            </a:r>
            <a:r>
              <a:rPr lang="en-US" dirty="0"/>
              <a:t>is not.</a:t>
            </a:r>
          </a:p>
          <a:p>
            <a:r>
              <a:rPr lang="en-US" dirty="0"/>
              <a:t> Medical negligence is the breach of a duty of care towards a patient which results in, harm to a patient. This could be by an act of commission or omission by the medical staff.</a:t>
            </a:r>
          </a:p>
          <a:p>
            <a:endParaRPr lang="en-US" sz="1200" dirty="0"/>
          </a:p>
          <a:p>
            <a:pPr>
              <a:tabLst>
                <a:tab pos="341313" algn="l"/>
              </a:tabLst>
            </a:pPr>
            <a:r>
              <a:rPr lang="en-US" sz="1400" i="1" dirty="0">
                <a:solidFill>
                  <a:srgbClr val="0000FF"/>
                </a:solidFill>
              </a:rPr>
              <a:t>Earlier this month a female patient died due to a serious case of medical negligence at the Colombo National Hospital.</a:t>
            </a:r>
          </a:p>
          <a:p>
            <a:endParaRPr lang="en-US" sz="1100" i="1" dirty="0">
              <a:solidFill>
                <a:srgbClr val="0000FF"/>
              </a:solidFill>
            </a:endParaRPr>
          </a:p>
          <a:p>
            <a:r>
              <a:rPr lang="en-US" sz="1400" i="1" dirty="0">
                <a:solidFill>
                  <a:srgbClr val="0000FF"/>
                </a:solidFill>
              </a:rPr>
              <a:t>After a successful surgery the patient was routinely transferred to the Recovery Room. To assist her recovery she was to be given oxygen. There were two cylinders in the room (one with oxygen and one with carbon dioxide) and the nurses there fixed the mask connected to CO</a:t>
            </a:r>
            <a:r>
              <a:rPr lang="en-US" sz="1400" i="1" baseline="-25000" dirty="0">
                <a:solidFill>
                  <a:srgbClr val="0000FF"/>
                </a:solidFill>
              </a:rPr>
              <a:t>2</a:t>
            </a:r>
            <a:r>
              <a:rPr lang="en-US" sz="1400" i="1" dirty="0">
                <a:solidFill>
                  <a:srgbClr val="0000FF"/>
                </a:solidFill>
              </a:rPr>
              <a:t>. When the patient found it difficult to breath, she removed the mask, but the nurses scolded her and forcibly fixed the mask back, forcing her to inhale CO</a:t>
            </a:r>
            <a:r>
              <a:rPr lang="en-US" sz="1400" i="1" baseline="-25000" dirty="0">
                <a:solidFill>
                  <a:srgbClr val="0000FF"/>
                </a:solidFill>
              </a:rPr>
              <a:t>2, </a:t>
            </a:r>
            <a:r>
              <a:rPr lang="en-US" sz="1400" i="1" dirty="0">
                <a:solidFill>
                  <a:srgbClr val="0000FF"/>
                </a:solidFill>
              </a:rPr>
              <a:t>which resulted in her death.     Cylinders are </a:t>
            </a:r>
            <a:r>
              <a:rPr lang="en-US" sz="1400" i="1" dirty="0" err="1">
                <a:solidFill>
                  <a:srgbClr val="0000FF"/>
                </a:solidFill>
              </a:rPr>
              <a:t>colour</a:t>
            </a:r>
            <a:r>
              <a:rPr lang="en-US" sz="1400" i="1" dirty="0">
                <a:solidFill>
                  <a:srgbClr val="0000FF"/>
                </a:solidFill>
              </a:rPr>
              <a:t> coded – Oxygen is White and CO2 is </a:t>
            </a:r>
            <a:r>
              <a:rPr lang="en-US" sz="1400" i="1" dirty="0" err="1">
                <a:solidFill>
                  <a:srgbClr val="0000FF"/>
                </a:solidFill>
              </a:rPr>
              <a:t>grey.The</a:t>
            </a:r>
            <a:r>
              <a:rPr lang="en-US" sz="1400" i="1" dirty="0">
                <a:solidFill>
                  <a:srgbClr val="0000FF"/>
                </a:solidFill>
              </a:rPr>
              <a:t> Health Ministry tendered an apology, and promised an investigation</a:t>
            </a:r>
            <a:r>
              <a:rPr lang="en-US" dirty="0">
                <a:solidFill>
                  <a:srgbClr val="0000FF"/>
                </a:solidFill>
              </a:rPr>
              <a:t>.</a:t>
            </a:r>
          </a:p>
          <a:p>
            <a:endParaRPr lang="en-US" sz="1200" dirty="0"/>
          </a:p>
          <a:p>
            <a:r>
              <a:rPr lang="en-US" b="1" dirty="0">
                <a:solidFill>
                  <a:srgbClr val="CC0099"/>
                </a:solidFill>
              </a:rPr>
              <a:t>This was manslaughter !!! </a:t>
            </a:r>
          </a:p>
          <a:p>
            <a:endParaRPr lang="en-US" dirty="0"/>
          </a:p>
        </p:txBody>
      </p:sp>
    </p:spTree>
    <p:extLst>
      <p:ext uri="{BB962C8B-B14F-4D97-AF65-F5344CB8AC3E}">
        <p14:creationId xmlns:p14="http://schemas.microsoft.com/office/powerpoint/2010/main" val="6781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1000"/>
                                        <p:tgtEl>
                                          <p:spTgt spid="5">
                                            <p:txEl>
                                              <p:pRg st="4" end="4"/>
                                            </p:txEl>
                                          </p:spTgt>
                                        </p:tgtEl>
                                      </p:cBhvr>
                                    </p:animEffect>
                                    <p:anim calcmode="lin" valueType="num">
                                      <p:cBhvr>
                                        <p:cTn id="2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1000"/>
                                        <p:tgtEl>
                                          <p:spTgt spid="5">
                                            <p:txEl>
                                              <p:pRg st="6" end="6"/>
                                            </p:txEl>
                                          </p:spTgt>
                                        </p:tgtEl>
                                      </p:cBhvr>
                                    </p:animEffect>
                                    <p:anim calcmode="lin" valueType="num">
                                      <p:cBhvr>
                                        <p:cTn id="2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6" end="6"/>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fade">
                                      <p:cBhvr>
                                        <p:cTn id="29" dur="1000"/>
                                        <p:tgtEl>
                                          <p:spTgt spid="5">
                                            <p:txEl>
                                              <p:pRg st="7" end="7"/>
                                            </p:txEl>
                                          </p:spTgt>
                                        </p:tgtEl>
                                      </p:cBhvr>
                                    </p:animEffect>
                                    <p:anim calcmode="lin" valueType="num">
                                      <p:cBhvr>
                                        <p:cTn id="30"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 calcmode="lin" valueType="num">
                                      <p:cBhvr additive="base">
                                        <p:cTn id="36"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
                                            <p:txEl>
                                              <p:pRg st="9" end="9"/>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 calcmode="lin" valueType="num">
                                      <p:cBhvr additive="base">
                                        <p:cTn id="40"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5">
                                            <p:txEl>
                                              <p:pRg st="13" end="13"/>
                                            </p:txEl>
                                          </p:spTgt>
                                        </p:tgtEl>
                                        <p:attrNameLst>
                                          <p:attrName>style.visibility</p:attrName>
                                        </p:attrNameLst>
                                      </p:cBhvr>
                                      <p:to>
                                        <p:strVal val="visible"/>
                                      </p:to>
                                    </p:set>
                                    <p:anim calcmode="lin" valueType="num">
                                      <p:cBhvr additive="base">
                                        <p:cTn id="46"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0045" y="216146"/>
            <a:ext cx="8911687" cy="740456"/>
          </a:xfrm>
        </p:spPr>
        <p:txBody>
          <a:bodyPr/>
          <a:lstStyle/>
          <a:p>
            <a:r>
              <a:rPr lang="en-US" b="1" dirty="0">
                <a:solidFill>
                  <a:schemeClr val="accent5">
                    <a:lumMod val="75000"/>
                  </a:schemeClr>
                </a:solidFill>
              </a:rPr>
              <a:t>PROFESSIONAL ETHICS - Doctors</a:t>
            </a:r>
            <a:endParaRPr lang="en-US" dirty="0"/>
          </a:p>
        </p:txBody>
      </p:sp>
      <p:sp>
        <p:nvSpPr>
          <p:cNvPr id="3" name="Content Placeholder 2"/>
          <p:cNvSpPr>
            <a:spLocks noGrp="1"/>
          </p:cNvSpPr>
          <p:nvPr>
            <p:ph idx="1"/>
          </p:nvPr>
        </p:nvSpPr>
        <p:spPr>
          <a:xfrm>
            <a:off x="2589211" y="1097279"/>
            <a:ext cx="9438665" cy="5542671"/>
          </a:xfrm>
        </p:spPr>
        <p:txBody>
          <a:bodyPr/>
          <a:lstStyle/>
          <a:p>
            <a:r>
              <a:rPr lang="en-US" b="1" dirty="0"/>
              <a:t>Deliberately  false statements</a:t>
            </a:r>
          </a:p>
          <a:p>
            <a:r>
              <a:rPr lang="en-US" dirty="0"/>
              <a:t>The </a:t>
            </a:r>
            <a:r>
              <a:rPr lang="en-US" dirty="0" err="1"/>
              <a:t>Boonwaat</a:t>
            </a:r>
            <a:r>
              <a:rPr lang="en-US" dirty="0"/>
              <a:t> Case [1967] : The victim had been shot, and </a:t>
            </a:r>
            <a:r>
              <a:rPr lang="en-US" dirty="0" err="1"/>
              <a:t>neighbours</a:t>
            </a:r>
            <a:r>
              <a:rPr lang="en-US" dirty="0"/>
              <a:t> had heard the gun shots. The doctor  was summoned to the ambassador’s residence and certified that death was due to cerebral hemorrhage due to hypertension. </a:t>
            </a:r>
          </a:p>
          <a:p>
            <a:pPr marL="0" indent="0">
              <a:buNone/>
            </a:pPr>
            <a:r>
              <a:rPr lang="en-US" dirty="0"/>
              <a:t> </a:t>
            </a:r>
          </a:p>
          <a:p>
            <a:r>
              <a:rPr lang="en-US" b="1" dirty="0"/>
              <a:t>Ethical or Unethical ???</a:t>
            </a:r>
          </a:p>
          <a:p>
            <a:pPr lvl="1"/>
            <a:r>
              <a:rPr lang="en-US" sz="1800" b="1" dirty="0"/>
              <a:t>Abortion</a:t>
            </a:r>
          </a:p>
          <a:p>
            <a:pPr lvl="1"/>
            <a:r>
              <a:rPr lang="en-US" sz="1800" b="1" dirty="0"/>
              <a:t>Euthanasia</a:t>
            </a:r>
          </a:p>
          <a:p>
            <a:pPr lvl="1"/>
            <a:endParaRPr lang="en-US" b="1" dirty="0"/>
          </a:p>
          <a:p>
            <a:r>
              <a:rPr lang="en-US" b="1" dirty="0"/>
              <a:t>Conflict of Interest</a:t>
            </a:r>
          </a:p>
          <a:p>
            <a:r>
              <a:rPr lang="en-US" i="1" dirty="0">
                <a:solidFill>
                  <a:srgbClr val="CC0099"/>
                </a:solidFill>
              </a:rPr>
              <a:t>I will apply, for the benefit of the sick, all measures which are required, avoiding those twin traps of overtreatment and therapeutic nihilism.</a:t>
            </a:r>
          </a:p>
          <a:p>
            <a:r>
              <a:rPr lang="en-US" b="1" dirty="0"/>
              <a:t>Interdependence between Doctors and Pharmaceutical companies</a:t>
            </a:r>
          </a:p>
        </p:txBody>
      </p:sp>
    </p:spTree>
    <p:extLst>
      <p:ext uri="{BB962C8B-B14F-4D97-AF65-F5344CB8AC3E}">
        <p14:creationId xmlns:p14="http://schemas.microsoft.com/office/powerpoint/2010/main" val="394701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anim calcmode="lin" valueType="num">
                                      <p:cBhvr>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anim calcmode="lin" valueType="num">
                                      <p:cBhvr>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anim calcmode="lin" valueType="num">
                                      <p:cBhvr>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anim calcmode="lin" valueType="num">
                                      <p:cBhvr>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anim calcmode="lin" valueType="num">
                                      <p:cBhvr>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7" end="7"/>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anim calcmode="lin" valueType="num">
                                      <p:cBhvr>
                                        <p:cTn id="4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3" dur="500" fill="hold"/>
                                        <p:tgtEl>
                                          <p:spTgt spid="3">
                                            <p:txEl>
                                              <p:pRg st="8" end="8"/>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9" end="9"/>
                                            </p:txEl>
                                          </p:spTgt>
                                        </p:tgtEl>
                                        <p:attrNameLst>
                                          <p:attrName>style.visibility</p:attrName>
                                        </p:attrNameLst>
                                      </p:cBhvr>
                                      <p:to>
                                        <p:strVal val="visible"/>
                                      </p:to>
                                    </p:set>
                                    <p:animEffect transition="in" filter="fade">
                                      <p:cBhvr>
                                        <p:cTn id="46" dur="500"/>
                                        <p:tgtEl>
                                          <p:spTgt spid="3">
                                            <p:txEl>
                                              <p:pRg st="9" end="9"/>
                                            </p:txEl>
                                          </p:spTgt>
                                        </p:tgtEl>
                                      </p:cBhvr>
                                    </p:animEffect>
                                    <p:anim calcmode="lin" valueType="num">
                                      <p:cBhvr>
                                        <p:cTn id="4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8" dur="5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9534" y="0"/>
            <a:ext cx="8911687" cy="815926"/>
          </a:xfrm>
        </p:spPr>
        <p:txBody>
          <a:bodyPr/>
          <a:lstStyle/>
          <a:p>
            <a:r>
              <a:rPr lang="en-US" b="1" dirty="0">
                <a:solidFill>
                  <a:schemeClr val="accent5">
                    <a:lumMod val="75000"/>
                  </a:schemeClr>
                </a:solidFill>
              </a:rPr>
              <a:t>PROFESSIONAL ETHICS - Engineers</a:t>
            </a:r>
            <a:endParaRPr lang="en-US" dirty="0"/>
          </a:p>
        </p:txBody>
      </p:sp>
      <p:sp>
        <p:nvSpPr>
          <p:cNvPr id="3" name="Content Placeholder 2"/>
          <p:cNvSpPr>
            <a:spLocks noGrp="1"/>
          </p:cNvSpPr>
          <p:nvPr>
            <p:ph idx="1"/>
          </p:nvPr>
        </p:nvSpPr>
        <p:spPr>
          <a:xfrm>
            <a:off x="2659551" y="1022251"/>
            <a:ext cx="8915400" cy="5533293"/>
          </a:xfrm>
        </p:spPr>
        <p:txBody>
          <a:bodyPr/>
          <a:lstStyle/>
          <a:p>
            <a:r>
              <a:rPr lang="en-US" sz="2200" dirty="0"/>
              <a:t>The Engineer’s primary function is to serve the Community, the Public !!</a:t>
            </a:r>
          </a:p>
          <a:p>
            <a:endParaRPr lang="en-US" sz="2200" dirty="0"/>
          </a:p>
          <a:p>
            <a:r>
              <a:rPr lang="en-US" sz="2200" dirty="0"/>
              <a:t>Members of other professions mainly deal with people on a one-to-one basis, whereas Engineers serve the needs of a whole group of people</a:t>
            </a:r>
          </a:p>
          <a:p>
            <a:endParaRPr lang="en-US" sz="2200" dirty="0"/>
          </a:p>
          <a:p>
            <a:r>
              <a:rPr lang="en-US" sz="2200" dirty="0"/>
              <a:t>Some areas where Engineers may act unethically</a:t>
            </a:r>
          </a:p>
          <a:p>
            <a:pPr lvl="1"/>
            <a:r>
              <a:rPr lang="en-US" sz="2000" dirty="0"/>
              <a:t>Inconvenience the public</a:t>
            </a:r>
          </a:p>
          <a:p>
            <a:pPr lvl="1"/>
            <a:r>
              <a:rPr lang="en-US" sz="2000" dirty="0"/>
              <a:t>Bring dishonor to the profession</a:t>
            </a:r>
          </a:p>
          <a:p>
            <a:pPr lvl="1"/>
            <a:r>
              <a:rPr lang="en-US" sz="2000" dirty="0"/>
              <a:t>Act outside their areas of specialty </a:t>
            </a:r>
          </a:p>
          <a:p>
            <a:pPr lvl="1"/>
            <a:r>
              <a:rPr lang="en-US" sz="2000" dirty="0"/>
              <a:t>Deviate from Engineering Standards &amp; Codes of </a:t>
            </a:r>
            <a:r>
              <a:rPr lang="en-US" sz="2000" dirty="0" err="1"/>
              <a:t>Practise</a:t>
            </a:r>
            <a:r>
              <a:rPr lang="en-US" sz="2000" dirty="0"/>
              <a:t> </a:t>
            </a:r>
          </a:p>
        </p:txBody>
      </p:sp>
    </p:spTree>
    <p:extLst>
      <p:ext uri="{BB962C8B-B14F-4D97-AF65-F5344CB8AC3E}">
        <p14:creationId xmlns:p14="http://schemas.microsoft.com/office/powerpoint/2010/main" val="173289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1000"/>
                                        <p:tgtEl>
                                          <p:spTgt spid="3">
                                            <p:txEl>
                                              <p:pRg st="6" end="6"/>
                                            </p:txEl>
                                          </p:spTgt>
                                        </p:tgtEl>
                                      </p:cBhvr>
                                    </p:animEffect>
                                    <p:anim calcmode="lin" valueType="num">
                                      <p:cBhvr>
                                        <p:cTn id="3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1000"/>
                                        <p:tgtEl>
                                          <p:spTgt spid="3">
                                            <p:txEl>
                                              <p:pRg st="7" end="7"/>
                                            </p:txEl>
                                          </p:spTgt>
                                        </p:tgtEl>
                                      </p:cBhvr>
                                    </p:animEffect>
                                    <p:anim calcmode="lin" valueType="num">
                                      <p:cBhvr>
                                        <p:cTn id="3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1000"/>
                                        <p:tgtEl>
                                          <p:spTgt spid="3">
                                            <p:txEl>
                                              <p:pRg st="8" end="8"/>
                                            </p:txEl>
                                          </p:spTgt>
                                        </p:tgtEl>
                                      </p:cBhvr>
                                    </p:animEffect>
                                    <p:anim calcmode="lin" valueType="num">
                                      <p:cBhvr>
                                        <p:cTn id="4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707" y="382138"/>
            <a:ext cx="9422594" cy="736978"/>
          </a:xfrm>
        </p:spPr>
        <p:txBody>
          <a:bodyPr>
            <a:normAutofit/>
          </a:bodyPr>
          <a:lstStyle/>
          <a:p>
            <a:r>
              <a:rPr lang="en-US" sz="3000" b="1" dirty="0"/>
              <a:t>Engineering Failure - I-35W Mississippi River bridge</a:t>
            </a:r>
            <a:endParaRPr lang="en-US" sz="3000" dirty="0"/>
          </a:p>
        </p:txBody>
      </p:sp>
      <p:sp>
        <p:nvSpPr>
          <p:cNvPr id="3" name="Content Placeholder 2"/>
          <p:cNvSpPr>
            <a:spLocks noGrp="1"/>
          </p:cNvSpPr>
          <p:nvPr>
            <p:ph idx="1"/>
          </p:nvPr>
        </p:nvSpPr>
        <p:spPr>
          <a:xfrm>
            <a:off x="2141649" y="1282890"/>
            <a:ext cx="9464797" cy="6230202"/>
          </a:xfrm>
        </p:spPr>
        <p:txBody>
          <a:bodyPr>
            <a:normAutofit/>
          </a:bodyPr>
          <a:lstStyle/>
          <a:p>
            <a:r>
              <a:rPr lang="en-US" dirty="0"/>
              <a:t>The </a:t>
            </a:r>
            <a:r>
              <a:rPr lang="en-US" b="1" dirty="0"/>
              <a:t>I-35W Mississippi River bridge</a:t>
            </a:r>
            <a:r>
              <a:rPr lang="en-US" dirty="0"/>
              <a:t> was an eight-lane, steel </a:t>
            </a:r>
            <a:r>
              <a:rPr lang="en-US" dirty="0">
                <a:hlinkClick r:id="rId2" tooltip="Truss arch bridge"/>
              </a:rPr>
              <a:t>truss arch bridge</a:t>
            </a:r>
            <a:r>
              <a:rPr lang="en-US" dirty="0"/>
              <a:t>. It was designed by </a:t>
            </a:r>
            <a:r>
              <a:rPr lang="en-US" dirty="0">
                <a:hlinkClick r:id="rId3" tooltip="Sverdrup &amp; Parcel"/>
              </a:rPr>
              <a:t>Sverdrup &amp; Parcel</a:t>
            </a:r>
            <a:r>
              <a:rPr lang="en-US" dirty="0"/>
              <a:t> to 1961 AASHTO* standard specifications. </a:t>
            </a:r>
          </a:p>
          <a:p>
            <a:r>
              <a:rPr lang="en-US" dirty="0"/>
              <a:t>During the evening </a:t>
            </a:r>
            <a:r>
              <a:rPr lang="en-US" dirty="0">
                <a:hlinkClick r:id="rId4" tooltip="Rush hour"/>
              </a:rPr>
              <a:t>rush hour</a:t>
            </a:r>
            <a:r>
              <a:rPr lang="en-US" dirty="0"/>
              <a:t> on August 1, 2007, it </a:t>
            </a:r>
            <a:r>
              <a:rPr lang="en-US" dirty="0">
                <a:hlinkClick r:id="rId5" tooltip="Catastrophic failure"/>
              </a:rPr>
              <a:t>suddenly collapsed</a:t>
            </a:r>
            <a:r>
              <a:rPr lang="en-US" dirty="0"/>
              <a:t>, killing 13 people and injuring 145. </a:t>
            </a:r>
          </a:p>
          <a:p>
            <a:r>
              <a:rPr lang="en-US" dirty="0"/>
              <a:t>The primary cause of the collapse was the undersized gusset plates, at 0.5 inches (13 mm) thick. Contributing to that design or construction error was the fact that 2 inches (51 mm) of concrete had been added to the road surface over the years, increasing the </a:t>
            </a:r>
            <a:r>
              <a:rPr lang="en-US" dirty="0">
                <a:hlinkClick r:id="rId6" tooltip="Structural load"/>
              </a:rPr>
              <a:t>static load</a:t>
            </a:r>
            <a:r>
              <a:rPr lang="en-US" dirty="0"/>
              <a:t> by 20%. Another factor was the extraordinary weight of construction equipment and material resting on the bridge just above its weakest point at the time of the collapse. That load was estimated at 578,000 pounds (262 </a:t>
            </a:r>
            <a:r>
              <a:rPr lang="en-US" dirty="0" err="1"/>
              <a:t>tonnes</a:t>
            </a:r>
            <a:r>
              <a:rPr lang="en-US" dirty="0"/>
              <a:t>), consisting of sand, water and vehicles. </a:t>
            </a:r>
          </a:p>
          <a:p>
            <a:r>
              <a:rPr lang="en-US" dirty="0"/>
              <a:t>In the lawsuit against the firm that designed the bridge, it was argued that much time had passed since the 1960s design work, but </a:t>
            </a:r>
            <a:r>
              <a:rPr lang="en-US" dirty="0">
                <a:hlinkClick r:id="rId7" tooltip="Supreme Court of the United States"/>
              </a:rPr>
              <a:t>US Supreme Court</a:t>
            </a:r>
            <a:r>
              <a:rPr lang="en-US" dirty="0"/>
              <a:t> allowed the  law suit to proceed. The Designers paid $8.9 million to settle the suit </a:t>
            </a:r>
            <a:r>
              <a:rPr lang="en-US" b="1" dirty="0"/>
              <a:t>without admitting wrongdoing</a:t>
            </a:r>
          </a:p>
          <a:p>
            <a:pPr marL="0" indent="0">
              <a:buNone/>
            </a:pPr>
            <a:r>
              <a:rPr lang="en-US" b="1" dirty="0"/>
              <a:t>* AASHTO </a:t>
            </a:r>
            <a:r>
              <a:rPr lang="en-US" dirty="0"/>
              <a:t>– American Association of State Highway &amp; Transportation Officials</a:t>
            </a:r>
          </a:p>
        </p:txBody>
      </p:sp>
    </p:spTree>
    <p:extLst>
      <p:ext uri="{BB962C8B-B14F-4D97-AF65-F5344CB8AC3E}">
        <p14:creationId xmlns:p14="http://schemas.microsoft.com/office/powerpoint/2010/main" val="2912449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9051" y="244282"/>
            <a:ext cx="9689910" cy="683766"/>
          </a:xfrm>
        </p:spPr>
        <p:txBody>
          <a:bodyPr>
            <a:normAutofit/>
          </a:bodyPr>
          <a:lstStyle/>
          <a:p>
            <a:r>
              <a:rPr lang="en-US" sz="3000" b="1" dirty="0"/>
              <a:t>Engineering Failure - I-35W Mississippi River bridge</a:t>
            </a:r>
            <a:endParaRPr lang="en-US" sz="3000" dirty="0"/>
          </a:p>
        </p:txBody>
      </p:sp>
      <p:sp>
        <p:nvSpPr>
          <p:cNvPr id="3" name="Content Placeholder 2"/>
          <p:cNvSpPr>
            <a:spLocks noGrp="1"/>
          </p:cNvSpPr>
          <p:nvPr>
            <p:ph idx="1"/>
          </p:nvPr>
        </p:nvSpPr>
        <p:spPr>
          <a:xfrm>
            <a:off x="3034548" y="1955969"/>
            <a:ext cx="8915400" cy="4717366"/>
          </a:xfrm>
        </p:spPr>
        <p:txBody>
          <a:bodyPr/>
          <a:lstStyle/>
          <a:p>
            <a:r>
              <a:rPr lang="en-US" dirty="0"/>
              <a:t>.</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4815" y="923008"/>
            <a:ext cx="4937760" cy="323197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8781" y="3074945"/>
            <a:ext cx="4806531" cy="3271263"/>
          </a:xfrm>
          <a:prstGeom prst="rect">
            <a:avLst/>
          </a:prstGeom>
        </p:spPr>
      </p:pic>
    </p:spTree>
    <p:extLst>
      <p:ext uri="{BB962C8B-B14F-4D97-AF65-F5344CB8AC3E}">
        <p14:creationId xmlns:p14="http://schemas.microsoft.com/office/powerpoint/2010/main" val="2915715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5504" y="0"/>
            <a:ext cx="8911687" cy="887104"/>
          </a:xfrm>
        </p:spPr>
        <p:txBody>
          <a:bodyPr/>
          <a:lstStyle/>
          <a:p>
            <a:r>
              <a:rPr lang="en-US" b="1" dirty="0">
                <a:solidFill>
                  <a:schemeClr val="accent5">
                    <a:lumMod val="75000"/>
                  </a:schemeClr>
                </a:solidFill>
              </a:rPr>
              <a:t>PROFESSIONAL ETHICS – Airplane Pilots</a:t>
            </a:r>
            <a:endParaRPr lang="en-US" dirty="0"/>
          </a:p>
        </p:txBody>
      </p:sp>
      <p:sp>
        <p:nvSpPr>
          <p:cNvPr id="3" name="Content Placeholder 2"/>
          <p:cNvSpPr>
            <a:spLocks noGrp="1"/>
          </p:cNvSpPr>
          <p:nvPr>
            <p:ph idx="1"/>
          </p:nvPr>
        </p:nvSpPr>
        <p:spPr>
          <a:xfrm>
            <a:off x="2589212" y="818867"/>
            <a:ext cx="8915400" cy="5868536"/>
          </a:xfrm>
        </p:spPr>
        <p:txBody>
          <a:bodyPr>
            <a:normAutofit lnSpcReduction="10000"/>
          </a:bodyPr>
          <a:lstStyle/>
          <a:p>
            <a:r>
              <a:rPr lang="en-US" dirty="0"/>
              <a:t>- Flying an aircraft is a profoundly demanding job. Pilots are trained to perform the highly complex tasks necessary to get the plane into the sky, navigate safely to the destination and land</a:t>
            </a:r>
          </a:p>
          <a:p>
            <a:r>
              <a:rPr lang="en-US" dirty="0"/>
              <a:t>At times they have to make split second decisions to ensure the safety of all those in their charge</a:t>
            </a:r>
          </a:p>
          <a:p>
            <a:r>
              <a:rPr lang="en-US" b="1" u="sng" dirty="0">
                <a:solidFill>
                  <a:srgbClr val="0070C0"/>
                </a:solidFill>
                <a:hlinkClick r:id="rId2"/>
              </a:rPr>
              <a:t>UNFIT to FLY !!</a:t>
            </a:r>
          </a:p>
          <a:p>
            <a:r>
              <a:rPr lang="en-US" dirty="0">
                <a:hlinkClick r:id="rId2"/>
              </a:rPr>
              <a:t>US FAA </a:t>
            </a:r>
            <a:r>
              <a:rPr lang="en-US" dirty="0"/>
              <a:t>: “The majority of adverse effects produced by alcohol relate to the brain, the eyes, and the inner ear — three crucial organs to a pilot.” </a:t>
            </a:r>
          </a:p>
          <a:p>
            <a:r>
              <a:rPr lang="en-US" dirty="0"/>
              <a:t>The drink-fly limit is stringent. In the UK it is 20 </a:t>
            </a:r>
            <a:r>
              <a:rPr lang="en-US" dirty="0" err="1"/>
              <a:t>milligrammes</a:t>
            </a:r>
            <a:r>
              <a:rPr lang="en-US" dirty="0"/>
              <a:t> of alcohol per 100ml of blood, compared to the drink-drive limit of 80mg per 100ml.</a:t>
            </a:r>
          </a:p>
          <a:p>
            <a:r>
              <a:rPr lang="en-US" dirty="0"/>
              <a:t>In August 2015 an Air Baltic flight carrying 109 holidaymakers was grounded in Oslo after </a:t>
            </a:r>
            <a:r>
              <a:rPr lang="en-US" dirty="0">
                <a:hlinkClick r:id="rId3"/>
              </a:rPr>
              <a:t>four of the five crew members failed alcohol tests</a:t>
            </a:r>
            <a:r>
              <a:rPr lang="en-US" dirty="0"/>
              <a:t>.</a:t>
            </a:r>
          </a:p>
          <a:p>
            <a:pPr marL="0" indent="0">
              <a:buNone/>
            </a:pPr>
            <a:r>
              <a:rPr lang="en-US" dirty="0"/>
              <a:t>	The pilot was jailed for 10 months and the co-pilot was jailed for 6 months, 	while the two flight attendants were sentenced to 45 and 60 days.</a:t>
            </a:r>
          </a:p>
          <a:p>
            <a:r>
              <a:rPr lang="en-US" dirty="0"/>
              <a:t>Sri Lankan aviation authorities suspended the </a:t>
            </a:r>
            <a:r>
              <a:rPr lang="en-US" dirty="0" err="1"/>
              <a:t>licence</a:t>
            </a:r>
            <a:r>
              <a:rPr lang="en-US" dirty="0"/>
              <a:t> of the errant </a:t>
            </a:r>
            <a:r>
              <a:rPr lang="en-US" dirty="0" err="1"/>
              <a:t>SriLankan</a:t>
            </a:r>
            <a:r>
              <a:rPr lang="en-US" dirty="0"/>
              <a:t> Airlines pilot, who failed a </a:t>
            </a:r>
            <a:r>
              <a:rPr lang="en-US" dirty="0" err="1"/>
              <a:t>breathalyzer</a:t>
            </a:r>
            <a:r>
              <a:rPr lang="en-US" dirty="0"/>
              <a:t> test forcing the airline to delay an Airbus A330 flight from Frankfurt to Colombo carrying 274 passengers, by 15 hours.</a:t>
            </a:r>
          </a:p>
        </p:txBody>
      </p:sp>
    </p:spTree>
    <p:extLst>
      <p:ext uri="{BB962C8B-B14F-4D97-AF65-F5344CB8AC3E}">
        <p14:creationId xmlns:p14="http://schemas.microsoft.com/office/powerpoint/2010/main" val="241825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750"/>
                                        <p:tgtEl>
                                          <p:spTgt spid="3">
                                            <p:txEl>
                                              <p:pRg st="5" end="5"/>
                                            </p:txEl>
                                          </p:spTgt>
                                        </p:tgtEl>
                                      </p:cBhvr>
                                    </p:animEffect>
                                    <p:anim calcmode="lin" valueType="num">
                                      <p:cBhvr>
                                        <p:cTn id="34"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5" dur="750" fill="hold"/>
                                        <p:tgtEl>
                                          <p:spTgt spid="3">
                                            <p:txEl>
                                              <p:pRg st="5" end="5"/>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750"/>
                                        <p:tgtEl>
                                          <p:spTgt spid="3">
                                            <p:txEl>
                                              <p:pRg st="6" end="6"/>
                                            </p:txEl>
                                          </p:spTgt>
                                        </p:tgtEl>
                                      </p:cBhvr>
                                    </p:animEffect>
                                    <p:anim calcmode="lin" valueType="num">
                                      <p:cBhvr>
                                        <p:cTn id="39"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75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Effect transition="in" filter="fade">
                                      <p:cBhvr>
                                        <p:cTn id="45" dur="750"/>
                                        <p:tgtEl>
                                          <p:spTgt spid="3">
                                            <p:txEl>
                                              <p:pRg st="7" end="7"/>
                                            </p:txEl>
                                          </p:spTgt>
                                        </p:tgtEl>
                                      </p:cBhvr>
                                    </p:animEffect>
                                    <p:anim calcmode="lin" valueType="num">
                                      <p:cBhvr>
                                        <p:cTn id="46" dur="75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7" dur="75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03606"/>
            <a:ext cx="8911687" cy="726388"/>
          </a:xfrm>
        </p:spPr>
        <p:txBody>
          <a:bodyPr/>
          <a:lstStyle/>
          <a:p>
            <a:r>
              <a:rPr lang="en-US" b="1" dirty="0">
                <a:solidFill>
                  <a:schemeClr val="accent5">
                    <a:lumMod val="75000"/>
                  </a:schemeClr>
                </a:solidFill>
              </a:rPr>
              <a:t>PROFESSIONAL ETHICS – Airplane Pilots</a:t>
            </a:r>
            <a:endParaRPr lang="en-US" b="1" dirty="0"/>
          </a:p>
        </p:txBody>
      </p:sp>
      <p:pic>
        <p:nvPicPr>
          <p:cNvPr id="1026" name="Picture 2" descr="us-airways-0906-03.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37983" y="3032532"/>
            <a:ext cx="5303760" cy="331367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200859" y="1077141"/>
            <a:ext cx="9270609" cy="1477328"/>
          </a:xfrm>
          <a:prstGeom prst="rect">
            <a:avLst/>
          </a:prstGeom>
        </p:spPr>
        <p:txBody>
          <a:bodyPr wrap="square">
            <a:spAutoFit/>
          </a:bodyPr>
          <a:lstStyle/>
          <a:p>
            <a:r>
              <a:rPr lang="en-US" b="1" dirty="0">
                <a:solidFill>
                  <a:srgbClr val="222222"/>
                </a:solidFill>
                <a:latin typeface="Arial" panose="020B0604020202020204" pitchFamily="34" charset="0"/>
              </a:rPr>
              <a:t>US Airways Flight 1549</a:t>
            </a:r>
            <a:r>
              <a:rPr lang="en-US" dirty="0">
                <a:solidFill>
                  <a:srgbClr val="222222"/>
                </a:solidFill>
                <a:latin typeface="Arial" panose="020B0604020202020204" pitchFamily="34" charset="0"/>
              </a:rPr>
              <a:t> was an </a:t>
            </a:r>
            <a:r>
              <a:rPr lang="en-US" dirty="0">
                <a:solidFill>
                  <a:srgbClr val="0B0080"/>
                </a:solidFill>
                <a:latin typeface="Arial" panose="020B0604020202020204" pitchFamily="34" charset="0"/>
                <a:hlinkClick r:id="rId3" tooltip="Airbus A320-214"/>
              </a:rPr>
              <a:t>Airbus A320-214</a:t>
            </a:r>
            <a:r>
              <a:rPr lang="en-US" dirty="0">
                <a:solidFill>
                  <a:srgbClr val="222222"/>
                </a:solidFill>
                <a:latin typeface="Arial" panose="020B0604020202020204" pitchFamily="34" charset="0"/>
              </a:rPr>
              <a:t> which soon after takeoff from New York City's </a:t>
            </a:r>
            <a:r>
              <a:rPr lang="en-US" dirty="0">
                <a:solidFill>
                  <a:srgbClr val="0B0080"/>
                </a:solidFill>
                <a:latin typeface="Arial" panose="020B0604020202020204" pitchFamily="34" charset="0"/>
                <a:hlinkClick r:id="rId4" tooltip="LaGuardia Airport"/>
              </a:rPr>
              <a:t>LaGuardia Airport</a:t>
            </a:r>
            <a:r>
              <a:rPr lang="en-US" dirty="0">
                <a:solidFill>
                  <a:srgbClr val="222222"/>
                </a:solidFill>
                <a:latin typeface="Arial" panose="020B0604020202020204" pitchFamily="34" charset="0"/>
              </a:rPr>
              <a:t> on January 15, 2009, </a:t>
            </a:r>
            <a:r>
              <a:rPr lang="en-US" u="sng" dirty="0">
                <a:latin typeface="Arial" panose="020B0604020202020204" pitchFamily="34" charset="0"/>
                <a:hlinkClick r:id="rId5" tooltip="Bird strikes"/>
              </a:rPr>
              <a:t>struck a flock</a:t>
            </a:r>
            <a:r>
              <a:rPr lang="en-US" dirty="0">
                <a:solidFill>
                  <a:srgbClr val="222222"/>
                </a:solidFill>
                <a:latin typeface="Arial" panose="020B0604020202020204" pitchFamily="34" charset="0"/>
              </a:rPr>
              <a:t> of </a:t>
            </a:r>
            <a:r>
              <a:rPr lang="en-US" dirty="0">
                <a:solidFill>
                  <a:srgbClr val="0B0080"/>
                </a:solidFill>
                <a:latin typeface="Arial" panose="020B0604020202020204" pitchFamily="34" charset="0"/>
                <a:hlinkClick r:id="rId6" tooltip="Canada geese"/>
              </a:rPr>
              <a:t>Canada geese</a:t>
            </a:r>
            <a:r>
              <a:rPr lang="en-US" dirty="0">
                <a:solidFill>
                  <a:srgbClr val="222222"/>
                </a:solidFill>
                <a:latin typeface="Arial" panose="020B0604020202020204" pitchFamily="34" charset="0"/>
              </a:rPr>
              <a:t>  and consequently lost all </a:t>
            </a:r>
            <a:r>
              <a:rPr lang="en-US" dirty="0">
                <a:solidFill>
                  <a:srgbClr val="0B0080"/>
                </a:solidFill>
                <a:latin typeface="Arial" panose="020B0604020202020204" pitchFamily="34" charset="0"/>
                <a:hlinkClick r:id="rId7" tooltip="Jet engine"/>
              </a:rPr>
              <a:t>engine</a:t>
            </a:r>
            <a:r>
              <a:rPr lang="en-US" dirty="0">
                <a:solidFill>
                  <a:srgbClr val="222222"/>
                </a:solidFill>
                <a:latin typeface="Arial" panose="020B0604020202020204" pitchFamily="34" charset="0"/>
              </a:rPr>
              <a:t> power. Unable to reach any airport, pilots </a:t>
            </a:r>
            <a:r>
              <a:rPr lang="en-US" dirty="0" err="1">
                <a:solidFill>
                  <a:srgbClr val="0B0080"/>
                </a:solidFill>
                <a:latin typeface="Arial" panose="020B0604020202020204" pitchFamily="34" charset="0"/>
                <a:hlinkClick r:id="rId8" tooltip="Chesley Sullenberger"/>
              </a:rPr>
              <a:t>Chesley</a:t>
            </a:r>
            <a:r>
              <a:rPr lang="en-US" dirty="0">
                <a:solidFill>
                  <a:srgbClr val="0B0080"/>
                </a:solidFill>
                <a:latin typeface="Arial" panose="020B0604020202020204" pitchFamily="34" charset="0"/>
                <a:hlinkClick r:id="rId8" tooltip="Chesley Sullenberger"/>
              </a:rPr>
              <a:t> </a:t>
            </a:r>
            <a:r>
              <a:rPr lang="en-US" dirty="0" err="1">
                <a:solidFill>
                  <a:srgbClr val="0B0080"/>
                </a:solidFill>
                <a:latin typeface="Arial" panose="020B0604020202020204" pitchFamily="34" charset="0"/>
                <a:hlinkClick r:id="rId8" tooltip="Chesley Sullenberger"/>
              </a:rPr>
              <a:t>Sullenberger</a:t>
            </a:r>
            <a:r>
              <a:rPr lang="en-US" dirty="0">
                <a:solidFill>
                  <a:srgbClr val="222222"/>
                </a:solidFill>
                <a:latin typeface="Arial" panose="020B0604020202020204" pitchFamily="34" charset="0"/>
              </a:rPr>
              <a:t> and Jeffrey </a:t>
            </a:r>
            <a:r>
              <a:rPr lang="en-US" dirty="0" err="1">
                <a:solidFill>
                  <a:srgbClr val="222222"/>
                </a:solidFill>
                <a:latin typeface="Arial" panose="020B0604020202020204" pitchFamily="34" charset="0"/>
              </a:rPr>
              <a:t>Skiles</a:t>
            </a:r>
            <a:r>
              <a:rPr lang="en-US" dirty="0">
                <a:solidFill>
                  <a:srgbClr val="222222"/>
                </a:solidFill>
                <a:latin typeface="Arial" panose="020B0604020202020204" pitchFamily="34" charset="0"/>
              </a:rPr>
              <a:t> glided the plane to a </a:t>
            </a:r>
            <a:r>
              <a:rPr lang="en-US" dirty="0">
                <a:solidFill>
                  <a:srgbClr val="0B0080"/>
                </a:solidFill>
                <a:latin typeface="Arial" panose="020B0604020202020204" pitchFamily="34" charset="0"/>
                <a:hlinkClick r:id="rId9" tooltip="Ditching"/>
              </a:rPr>
              <a:t>ditching</a:t>
            </a:r>
            <a:r>
              <a:rPr lang="en-US" dirty="0">
                <a:solidFill>
                  <a:srgbClr val="222222"/>
                </a:solidFill>
                <a:latin typeface="Arial" panose="020B0604020202020204" pitchFamily="34" charset="0"/>
              </a:rPr>
              <a:t> in the </a:t>
            </a:r>
            <a:r>
              <a:rPr lang="en-US" dirty="0">
                <a:solidFill>
                  <a:srgbClr val="0B0080"/>
                </a:solidFill>
                <a:latin typeface="Arial" panose="020B0604020202020204" pitchFamily="34" charset="0"/>
                <a:hlinkClick r:id="rId10" tooltip="Hudson River"/>
              </a:rPr>
              <a:t>Hudson River. </a:t>
            </a:r>
            <a:r>
              <a:rPr lang="en-US" dirty="0">
                <a:solidFill>
                  <a:srgbClr val="222222"/>
                </a:solidFill>
                <a:latin typeface="Arial" panose="020B0604020202020204" pitchFamily="34" charset="0"/>
              </a:rPr>
              <a:t>All 155 people aboard were rescued by nearby boats and there were few serious injuries.</a:t>
            </a:r>
            <a:endParaRPr lang="en-US" dirty="0"/>
          </a:p>
        </p:txBody>
      </p:sp>
      <p:pic>
        <p:nvPicPr>
          <p:cNvPr id="5" name="Picture 2" descr="https://imgix.bustle.com/lovelace/getty/84305389.jpg?w=614&amp;fit=max&amp;auto=format&amp;q=7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74739" y="2702967"/>
            <a:ext cx="5276234"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109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3412" y="279553"/>
            <a:ext cx="8911687" cy="783703"/>
          </a:xfrm>
        </p:spPr>
        <p:txBody>
          <a:bodyPr/>
          <a:lstStyle/>
          <a:p>
            <a:r>
              <a:rPr lang="en-US" b="1" dirty="0">
                <a:solidFill>
                  <a:schemeClr val="accent5">
                    <a:lumMod val="75000"/>
                  </a:schemeClr>
                </a:solidFill>
              </a:rPr>
              <a:t>PROFESSIONAL ETHICS</a:t>
            </a:r>
          </a:p>
        </p:txBody>
      </p:sp>
      <p:sp>
        <p:nvSpPr>
          <p:cNvPr id="3" name="Content Placeholder 2"/>
          <p:cNvSpPr>
            <a:spLocks noGrp="1"/>
          </p:cNvSpPr>
          <p:nvPr>
            <p:ph idx="1"/>
          </p:nvPr>
        </p:nvSpPr>
        <p:spPr>
          <a:xfrm>
            <a:off x="2227705" y="1123506"/>
            <a:ext cx="8915400" cy="5572715"/>
          </a:xfrm>
        </p:spPr>
        <p:txBody>
          <a:bodyPr>
            <a:normAutofit/>
          </a:bodyPr>
          <a:lstStyle/>
          <a:p>
            <a:r>
              <a:rPr lang="en-US" sz="2200" dirty="0"/>
              <a:t>Many people confuse ‘</a:t>
            </a:r>
            <a:r>
              <a:rPr lang="en-US" sz="2200" b="1" dirty="0"/>
              <a:t>Ethical</a:t>
            </a:r>
            <a:r>
              <a:rPr lang="en-US" sz="2200" dirty="0"/>
              <a:t>’ with ‘</a:t>
            </a:r>
            <a:r>
              <a:rPr lang="en-US" sz="2200" b="1" dirty="0"/>
              <a:t>Legal</a:t>
            </a:r>
            <a:r>
              <a:rPr lang="en-US" sz="2200" dirty="0"/>
              <a:t>’. </a:t>
            </a:r>
          </a:p>
          <a:p>
            <a:r>
              <a:rPr lang="en-US" sz="2200" b="1" dirty="0"/>
              <a:t>Legal</a:t>
            </a:r>
            <a:r>
              <a:rPr lang="en-US" sz="2200" dirty="0"/>
              <a:t> is the word used to define anything that concerns the law or its workings. It is applicable to all practices, languages, processes, procedures, cultures, and other relative concepts in a system of the law. </a:t>
            </a:r>
          </a:p>
          <a:p>
            <a:r>
              <a:rPr lang="en-US" sz="2200" b="1" dirty="0"/>
              <a:t>Ethics</a:t>
            </a:r>
            <a:r>
              <a:rPr lang="en-US" sz="2200" dirty="0"/>
              <a:t> is the word used to define the traditional norms and morals of an individual or society.</a:t>
            </a:r>
          </a:p>
          <a:p>
            <a:r>
              <a:rPr lang="en-US" sz="2200" dirty="0"/>
              <a:t>Many of the existing laws have originated from ethics, where ethics is rooted in morals and the perception of the rightness or wrongness of an act or conduct.</a:t>
            </a:r>
          </a:p>
          <a:p>
            <a:endParaRPr lang="en-US" dirty="0"/>
          </a:p>
        </p:txBody>
      </p:sp>
    </p:spTree>
    <p:extLst>
      <p:ext uri="{BB962C8B-B14F-4D97-AF65-F5344CB8AC3E}">
        <p14:creationId xmlns:p14="http://schemas.microsoft.com/office/powerpoint/2010/main" val="404795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1399" y="230215"/>
            <a:ext cx="8911687" cy="585712"/>
          </a:xfrm>
        </p:spPr>
        <p:txBody>
          <a:bodyPr>
            <a:normAutofit fontScale="90000"/>
          </a:bodyPr>
          <a:lstStyle/>
          <a:p>
            <a:r>
              <a:rPr lang="en-US" b="1" dirty="0">
                <a:solidFill>
                  <a:schemeClr val="accent5">
                    <a:lumMod val="75000"/>
                  </a:schemeClr>
                </a:solidFill>
              </a:rPr>
              <a:t>PROFESSIONAL ETHICS</a:t>
            </a:r>
            <a:endParaRPr lang="en-US" dirty="0"/>
          </a:p>
        </p:txBody>
      </p:sp>
      <p:sp>
        <p:nvSpPr>
          <p:cNvPr id="3" name="Content Placeholder 2"/>
          <p:cNvSpPr>
            <a:spLocks noGrp="1"/>
          </p:cNvSpPr>
          <p:nvPr>
            <p:ph idx="1"/>
          </p:nvPr>
        </p:nvSpPr>
        <p:spPr>
          <a:xfrm>
            <a:off x="2504805" y="1050387"/>
            <a:ext cx="9424597" cy="5659901"/>
          </a:xfrm>
        </p:spPr>
        <p:txBody>
          <a:bodyPr/>
          <a:lstStyle/>
          <a:p>
            <a:r>
              <a:rPr lang="en-US" dirty="0"/>
              <a:t>Any legal act is applicable to all people in a State that implements a particular set of laws. On the other hand, ethics is </a:t>
            </a:r>
            <a:r>
              <a:rPr lang="en-US" b="1" dirty="0">
                <a:solidFill>
                  <a:srgbClr val="CC0099"/>
                </a:solidFill>
              </a:rPr>
              <a:t>society or community specific</a:t>
            </a:r>
            <a:r>
              <a:rPr lang="en-US" dirty="0"/>
              <a:t>. Two different communities located in the same geo-political region definitely have one rule of law, but they may have two different ethics. For example, </a:t>
            </a:r>
            <a:r>
              <a:rPr lang="en-US" dirty="0">
                <a:solidFill>
                  <a:schemeClr val="tx1"/>
                </a:solidFill>
              </a:rPr>
              <a:t>in </a:t>
            </a:r>
            <a:r>
              <a:rPr lang="en-US" dirty="0">
                <a:solidFill>
                  <a:srgbClr val="FF0000"/>
                </a:solidFill>
              </a:rPr>
              <a:t>Sri Lanka</a:t>
            </a:r>
            <a:r>
              <a:rPr lang="en-US" dirty="0"/>
              <a:t> there is one law applicable to every citizen, but possibly there are several ethics applicable to concerned society only.</a:t>
            </a:r>
          </a:p>
          <a:p>
            <a:r>
              <a:rPr lang="en-US" b="1" dirty="0"/>
              <a:t>In Sri Lanka, several legal systems govern the law of family relations. The General law (a combination of Roman Dutch and English law) is the main system applicable to every one except if they are governed by the personal laws. </a:t>
            </a:r>
          </a:p>
          <a:p>
            <a:r>
              <a:rPr lang="en-US" b="1" dirty="0"/>
              <a:t>There are three other parallel systems of personal laws in Sri Lanka, i.e., </a:t>
            </a:r>
            <a:r>
              <a:rPr lang="en-US" b="1" dirty="0" err="1">
                <a:solidFill>
                  <a:srgbClr val="0070C0"/>
                </a:solidFill>
              </a:rPr>
              <a:t>Kandyan</a:t>
            </a:r>
            <a:r>
              <a:rPr lang="en-US" b="1" dirty="0">
                <a:solidFill>
                  <a:srgbClr val="0070C0"/>
                </a:solidFill>
              </a:rPr>
              <a:t> Law</a:t>
            </a:r>
            <a:r>
              <a:rPr lang="en-US" b="1" dirty="0"/>
              <a:t>, </a:t>
            </a:r>
            <a:r>
              <a:rPr lang="en-US" b="1" dirty="0">
                <a:solidFill>
                  <a:srgbClr val="FF0000"/>
                </a:solidFill>
              </a:rPr>
              <a:t>The </a:t>
            </a:r>
            <a:r>
              <a:rPr lang="en-US" b="1" dirty="0" err="1">
                <a:solidFill>
                  <a:srgbClr val="FF0000"/>
                </a:solidFill>
              </a:rPr>
              <a:t>Thesavalamai</a:t>
            </a:r>
            <a:r>
              <a:rPr lang="en-US" b="1" dirty="0">
                <a:solidFill>
                  <a:srgbClr val="FF0000"/>
                </a:solidFill>
              </a:rPr>
              <a:t> </a:t>
            </a:r>
            <a:r>
              <a:rPr lang="en-US" b="1" dirty="0"/>
              <a:t>and the </a:t>
            </a:r>
            <a:r>
              <a:rPr lang="en-US" b="1" dirty="0">
                <a:solidFill>
                  <a:srgbClr val="00CC00"/>
                </a:solidFill>
              </a:rPr>
              <a:t>Muslim Law</a:t>
            </a:r>
            <a:r>
              <a:rPr lang="en-US" b="1" dirty="0"/>
              <a:t>. These laws are grounded in ancient customary practices and/or religion.</a:t>
            </a:r>
          </a:p>
          <a:p>
            <a:r>
              <a:rPr lang="en-US" b="1" dirty="0"/>
              <a:t>Personal laws deal with : </a:t>
            </a:r>
          </a:p>
          <a:p>
            <a:pPr lvl="1"/>
            <a:r>
              <a:rPr lang="en-US" sz="1800" b="1" dirty="0">
                <a:solidFill>
                  <a:schemeClr val="accent1">
                    <a:lumMod val="75000"/>
                  </a:schemeClr>
                </a:solidFill>
              </a:rPr>
              <a:t>Marriage, Divorce and Maintenance</a:t>
            </a:r>
          </a:p>
          <a:p>
            <a:pPr lvl="1"/>
            <a:r>
              <a:rPr lang="en-US" sz="1800" b="1" dirty="0">
                <a:solidFill>
                  <a:schemeClr val="accent1">
                    <a:lumMod val="75000"/>
                  </a:schemeClr>
                </a:solidFill>
              </a:rPr>
              <a:t>Inheritance</a:t>
            </a:r>
          </a:p>
          <a:p>
            <a:pPr lvl="1"/>
            <a:r>
              <a:rPr lang="en-US" sz="1800" b="1" dirty="0">
                <a:solidFill>
                  <a:schemeClr val="accent1">
                    <a:lumMod val="75000"/>
                  </a:schemeClr>
                </a:solidFill>
              </a:rPr>
              <a:t>Property</a:t>
            </a:r>
          </a:p>
        </p:txBody>
      </p:sp>
    </p:spTree>
    <p:extLst>
      <p:ext uri="{BB962C8B-B14F-4D97-AF65-F5344CB8AC3E}">
        <p14:creationId xmlns:p14="http://schemas.microsoft.com/office/powerpoint/2010/main" val="18609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1000"/>
                                        <p:tgtEl>
                                          <p:spTgt spid="3">
                                            <p:txEl>
                                              <p:pRg st="4" end="4"/>
                                            </p:txEl>
                                          </p:spTgt>
                                        </p:tgtEl>
                                      </p:cBhvr>
                                    </p:animEffect>
                                    <p:anim calcmode="lin" valueType="num">
                                      <p:cBhvr>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1000"/>
                                        <p:tgtEl>
                                          <p:spTgt spid="3">
                                            <p:txEl>
                                              <p:pRg st="6" end="6"/>
                                            </p:txEl>
                                          </p:spTgt>
                                        </p:tgtEl>
                                      </p:cBhvr>
                                    </p:animEffect>
                                    <p:anim calcmode="lin" valueType="num">
                                      <p:cBhvr>
                                        <p:cTn id="4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4190" y="145645"/>
            <a:ext cx="8911687" cy="1034569"/>
          </a:xfrm>
        </p:spPr>
        <p:txBody>
          <a:bodyPr>
            <a:normAutofit/>
          </a:bodyPr>
          <a:lstStyle/>
          <a:p>
            <a:r>
              <a:rPr lang="en-US" sz="2800" b="1" dirty="0">
                <a:solidFill>
                  <a:schemeClr val="accent5">
                    <a:lumMod val="75000"/>
                  </a:schemeClr>
                </a:solidFill>
              </a:rPr>
              <a:t>A definition of ethics in terms of standards such as rights and fairness</a:t>
            </a:r>
          </a:p>
        </p:txBody>
      </p:sp>
      <p:sp>
        <p:nvSpPr>
          <p:cNvPr id="3" name="Content Placeholder 2"/>
          <p:cNvSpPr>
            <a:spLocks noGrp="1"/>
          </p:cNvSpPr>
          <p:nvPr>
            <p:ph idx="1"/>
          </p:nvPr>
        </p:nvSpPr>
        <p:spPr>
          <a:xfrm>
            <a:off x="2055784" y="1392702"/>
            <a:ext cx="8915400" cy="4812469"/>
          </a:xfrm>
        </p:spPr>
        <p:txBody>
          <a:bodyPr>
            <a:normAutofit/>
          </a:bodyPr>
          <a:lstStyle/>
          <a:p>
            <a:r>
              <a:rPr lang="en-US" sz="2400" dirty="0">
                <a:solidFill>
                  <a:schemeClr val="tx1"/>
                </a:solidFill>
              </a:rPr>
              <a:t>Some years ago, sociologist Raymond </a:t>
            </a:r>
            <a:r>
              <a:rPr lang="en-US" sz="2400" dirty="0" err="1">
                <a:solidFill>
                  <a:schemeClr val="tx1"/>
                </a:solidFill>
              </a:rPr>
              <a:t>Baumhart</a:t>
            </a:r>
            <a:r>
              <a:rPr lang="en-US" sz="2400" dirty="0">
                <a:solidFill>
                  <a:schemeClr val="tx1"/>
                </a:solidFill>
              </a:rPr>
              <a:t> asked business people, "What does ethics mean to you?" </a:t>
            </a:r>
            <a:endParaRPr lang="en-US" sz="2400" dirty="0"/>
          </a:p>
          <a:p>
            <a:endParaRPr lang="en-US" sz="2400" dirty="0"/>
          </a:p>
          <a:p>
            <a:r>
              <a:rPr lang="en-US" sz="2400" dirty="0"/>
              <a:t>"Ethics has to do with what my feelings tell me is right or wrong.“                                                                         </a:t>
            </a:r>
          </a:p>
          <a:p>
            <a:r>
              <a:rPr lang="en-US" sz="2400" dirty="0"/>
              <a:t>"Ethics has to do with my religious beliefs.“</a:t>
            </a:r>
          </a:p>
          <a:p>
            <a:r>
              <a:rPr lang="en-US" sz="2400" dirty="0"/>
              <a:t>"Being ethical is doing what the law requires.“</a:t>
            </a:r>
          </a:p>
          <a:p>
            <a:r>
              <a:rPr lang="en-US" sz="2400" dirty="0"/>
              <a:t>"Ethics consists of the standards of behavior our society accepts.“</a:t>
            </a:r>
          </a:p>
          <a:p>
            <a:r>
              <a:rPr lang="en-US" sz="2400" dirty="0"/>
              <a:t>"I don't know what the word means."</a:t>
            </a:r>
          </a:p>
        </p:txBody>
      </p:sp>
      <p:sp>
        <p:nvSpPr>
          <p:cNvPr id="5" name="Right Arrow 4">
            <a:hlinkClick r:id="rId3" action="ppaction://hlinksldjump"/>
          </p:cNvPr>
          <p:cNvSpPr/>
          <p:nvPr/>
        </p:nvSpPr>
        <p:spPr>
          <a:xfrm>
            <a:off x="11074027" y="4032227"/>
            <a:ext cx="768626" cy="377688"/>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a:hlinkClick r:id="rId4" action="ppaction://hlinksldjump"/>
          </p:cNvPr>
          <p:cNvSpPr/>
          <p:nvPr/>
        </p:nvSpPr>
        <p:spPr>
          <a:xfrm>
            <a:off x="11057614" y="2735655"/>
            <a:ext cx="768626" cy="37768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hlinkClick r:id="rId4" action="ppaction://hlinksldjump"/>
          </p:cNvPr>
          <p:cNvSpPr/>
          <p:nvPr/>
        </p:nvSpPr>
        <p:spPr>
          <a:xfrm>
            <a:off x="11057614" y="3424973"/>
            <a:ext cx="768626" cy="377688"/>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hlinkClick r:id="rId3" action="ppaction://hlinksldjump"/>
          </p:cNvPr>
          <p:cNvSpPr/>
          <p:nvPr/>
        </p:nvSpPr>
        <p:spPr>
          <a:xfrm>
            <a:off x="11059958" y="4594935"/>
            <a:ext cx="768626" cy="377688"/>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125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anim calcmode="lin" valueType="num">
                                      <p:cBhvr>
                                        <p:cTn id="8"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750"/>
                            </p:stCondLst>
                            <p:childTnLst>
                              <p:par>
                                <p:cTn id="11" presetID="2" presetClass="entr" presetSubtype="4" fill="hold" nodeType="afterEffect">
                                  <p:stCondLst>
                                    <p:cond delay="65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276600" y="520700"/>
            <a:ext cx="8915400" cy="6189663"/>
          </a:xfrm>
        </p:spPr>
        <p:txBody>
          <a:bodyPr>
            <a:normAutofit/>
          </a:bodyPr>
          <a:lstStyle/>
          <a:p>
            <a:r>
              <a:rPr lang="en-US" sz="2400" b="1" dirty="0">
                <a:solidFill>
                  <a:schemeClr val="tx1"/>
                </a:solidFill>
              </a:rPr>
              <a:t>PERSONAL FEELINGS</a:t>
            </a:r>
            <a:r>
              <a:rPr lang="en-US" dirty="0">
                <a:solidFill>
                  <a:schemeClr val="tx1"/>
                </a:solidFill>
              </a:rPr>
              <a:t>:</a:t>
            </a:r>
          </a:p>
          <a:p>
            <a:r>
              <a:rPr lang="en-US" dirty="0">
                <a:solidFill>
                  <a:schemeClr val="tx1"/>
                </a:solidFill>
              </a:rPr>
              <a:t>many people tend to equate ethics with their feelings. But being ethical is clearly not a matter of following one's feelings. A person following his or her feelings may retreat from doing what is right. In fact, feelings frequently deviate from what is ethical.</a:t>
            </a:r>
          </a:p>
          <a:p>
            <a:endParaRPr lang="en-US" dirty="0">
              <a:solidFill>
                <a:schemeClr val="tx1"/>
              </a:solidFill>
            </a:endParaRPr>
          </a:p>
          <a:p>
            <a:r>
              <a:rPr lang="en-US" sz="2400" b="1" dirty="0">
                <a:solidFill>
                  <a:schemeClr val="tx1"/>
                </a:solidFill>
              </a:rPr>
              <a:t>RELIGION</a:t>
            </a:r>
          </a:p>
          <a:p>
            <a:r>
              <a:rPr lang="en-US" dirty="0">
                <a:solidFill>
                  <a:schemeClr val="tx1"/>
                </a:solidFill>
              </a:rPr>
              <a:t>Nor should one identify ethics with religion. Most religions, of course, advocate high ethical standards. Yet if ethics were confined to religion, then ethics would apply only to religious people.</a:t>
            </a:r>
          </a:p>
          <a:p>
            <a:r>
              <a:rPr lang="en-US" dirty="0">
                <a:solidFill>
                  <a:schemeClr val="tx1"/>
                </a:solidFill>
              </a:rPr>
              <a:t> But ethics applies as much to the behavior of the atheist as to that of the devout religious person. </a:t>
            </a:r>
          </a:p>
          <a:p>
            <a:r>
              <a:rPr lang="en-US" dirty="0">
                <a:solidFill>
                  <a:schemeClr val="tx1"/>
                </a:solidFill>
              </a:rPr>
              <a:t>Religion can set high ethical standards and can provide intense motivations for ethical behavior. Ethics, however, cannot be confined to religion nor is it the same as religion.</a:t>
            </a:r>
          </a:p>
          <a:p>
            <a:pPr lvl="1"/>
            <a:r>
              <a:rPr lang="en-US" dirty="0"/>
              <a:t> </a:t>
            </a:r>
            <a:r>
              <a:rPr lang="en-US" b="1" dirty="0">
                <a:solidFill>
                  <a:srgbClr val="FF0000"/>
                </a:solidFill>
              </a:rPr>
              <a:t>Spanish Inquisition</a:t>
            </a:r>
          </a:p>
          <a:p>
            <a:pPr lvl="1"/>
            <a:r>
              <a:rPr lang="en-US" b="1" dirty="0">
                <a:solidFill>
                  <a:srgbClr val="FF0000"/>
                </a:solidFill>
              </a:rPr>
              <a:t>Conversion – Ethical or Unethical ???                                                     </a:t>
            </a:r>
          </a:p>
          <a:p>
            <a:endParaRPr lang="en-US" dirty="0"/>
          </a:p>
          <a:p>
            <a:endParaRPr lang="en-US" dirty="0"/>
          </a:p>
        </p:txBody>
      </p:sp>
      <p:sp>
        <p:nvSpPr>
          <p:cNvPr id="4" name="Left Arrow 3">
            <a:hlinkClick r:id="rId2" action="ppaction://hlinksldjump"/>
          </p:cNvPr>
          <p:cNvSpPr/>
          <p:nvPr/>
        </p:nvSpPr>
        <p:spPr>
          <a:xfrm>
            <a:off x="10972799" y="6347790"/>
            <a:ext cx="874643" cy="371061"/>
          </a:xfrm>
          <a:prstGeom prst="lef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eft Arrow 4">
            <a:hlinkClick r:id="rId2" action="ppaction://hlinksldjump"/>
          </p:cNvPr>
          <p:cNvSpPr/>
          <p:nvPr/>
        </p:nvSpPr>
        <p:spPr>
          <a:xfrm>
            <a:off x="10945905" y="2412284"/>
            <a:ext cx="874643" cy="371061"/>
          </a:xfrm>
          <a:prstGeom prst="lef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427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anim calcmode="lin" valueType="num">
                                      <p:cBhvr>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anim calcmode="lin" valueType="num">
                                      <p:cBhvr>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anim calcmode="lin" valueType="num">
                                      <p:cBhvr>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anim calcmode="lin" valueType="num">
                                      <p:cBhvr>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anim calcmode="lin" valueType="num">
                                      <p:cBhvr>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anim calcmode="lin" valueType="num">
                                      <p:cBhvr>
                                        <p:cTn id="4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500" fill="hold"/>
                                        <p:tgtEl>
                                          <p:spTgt spid="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anim calcmode="lin" valueType="num">
                                      <p:cBhvr>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6"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179320" y="267287"/>
            <a:ext cx="8915400" cy="6485206"/>
          </a:xfrm>
        </p:spPr>
        <p:txBody>
          <a:bodyPr>
            <a:normAutofit lnSpcReduction="10000"/>
          </a:bodyPr>
          <a:lstStyle/>
          <a:p>
            <a:r>
              <a:rPr lang="en-US" sz="2800" b="1" dirty="0">
                <a:solidFill>
                  <a:schemeClr val="tx1"/>
                </a:solidFill>
              </a:rPr>
              <a:t>LAW :</a:t>
            </a:r>
          </a:p>
          <a:p>
            <a:r>
              <a:rPr lang="en-US" sz="2100" dirty="0">
                <a:solidFill>
                  <a:schemeClr val="tx1"/>
                </a:solidFill>
              </a:rPr>
              <a:t>Being ethical is also not the same as following the law. The law often incorporates ethical standards to which most citizens subscribe. But laws, like feelings, can deviate from what is ethical. The US slavery laws and the Apartheid laws of South Africa are grotesquely obvious examples of laws that deviate from what is ethical.</a:t>
            </a:r>
          </a:p>
          <a:p>
            <a:endParaRPr lang="en-US" sz="2100" dirty="0">
              <a:solidFill>
                <a:schemeClr val="tx1"/>
              </a:solidFill>
            </a:endParaRPr>
          </a:p>
          <a:p>
            <a:r>
              <a:rPr lang="en-US" sz="2600" b="1" dirty="0">
                <a:solidFill>
                  <a:schemeClr val="tx1"/>
                </a:solidFill>
              </a:rPr>
              <a:t>SOCIETY STANDARDS :</a:t>
            </a:r>
          </a:p>
          <a:p>
            <a:r>
              <a:rPr lang="en-US" sz="2100" dirty="0">
                <a:solidFill>
                  <a:schemeClr val="tx1"/>
                </a:solidFill>
              </a:rPr>
              <a:t>Finally, being ethical is not the same as doing "whatever society accepts." In any society, most people accept standards that are, in fact, ethical. But standards of behavior in society can deviate from what is ethical. An entire society can become ethically corrupt. Nazi Germany is a good example of a morally corrupt society. Sri Lanka 1983</a:t>
            </a:r>
          </a:p>
          <a:p>
            <a:r>
              <a:rPr lang="en-US" sz="2100" dirty="0">
                <a:solidFill>
                  <a:schemeClr val="tx1"/>
                </a:solidFill>
              </a:rPr>
              <a:t>Moreover, if being ethical were doing "whatever society accepts," then to find out what is ethical, one would have to find out what society accepts. </a:t>
            </a:r>
          </a:p>
        </p:txBody>
      </p:sp>
      <p:sp>
        <p:nvSpPr>
          <p:cNvPr id="4" name="Left Arrow 3">
            <a:hlinkClick r:id="rId2" action="ppaction://hlinksldjump"/>
          </p:cNvPr>
          <p:cNvSpPr/>
          <p:nvPr/>
        </p:nvSpPr>
        <p:spPr>
          <a:xfrm>
            <a:off x="10972799" y="6347790"/>
            <a:ext cx="874643" cy="371061"/>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eft Arrow 4">
            <a:hlinkClick r:id="rId3" action="ppaction://hlinksldjump"/>
          </p:cNvPr>
          <p:cNvSpPr/>
          <p:nvPr/>
        </p:nvSpPr>
        <p:spPr>
          <a:xfrm>
            <a:off x="10802469" y="2681226"/>
            <a:ext cx="874643" cy="371061"/>
          </a:xfrm>
          <a:prstGeom prst="lef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4566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anim calcmode="lin" valueType="num">
                                      <p:cBhvr>
                                        <p:cTn id="8"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75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50"/>
                                        <p:tgtEl>
                                          <p:spTgt spid="3">
                                            <p:txEl>
                                              <p:pRg st="1" end="1"/>
                                            </p:txEl>
                                          </p:spTgt>
                                        </p:tgtEl>
                                      </p:cBhvr>
                                    </p:animEffect>
                                    <p:anim calcmode="lin" valueType="num">
                                      <p:cBhvr>
                                        <p:cTn id="13"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75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750"/>
                                        <p:tgtEl>
                                          <p:spTgt spid="3">
                                            <p:txEl>
                                              <p:pRg st="3" end="3"/>
                                            </p:txEl>
                                          </p:spTgt>
                                        </p:tgtEl>
                                      </p:cBhvr>
                                    </p:animEffect>
                                    <p:anim calcmode="lin" valueType="num">
                                      <p:cBhvr>
                                        <p:cTn id="20" dur="75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anim calcmode="lin" valueType="num">
                                      <p:cBhvr>
                                        <p:cTn id="25" dur="75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750" fill="hold"/>
                                        <p:tgtEl>
                                          <p:spTgt spid="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750"/>
                                        <p:tgtEl>
                                          <p:spTgt spid="3">
                                            <p:txEl>
                                              <p:pRg st="5" end="5"/>
                                            </p:txEl>
                                          </p:spTgt>
                                        </p:tgtEl>
                                      </p:cBhvr>
                                    </p:animEffect>
                                    <p:anim calcmode="lin" valueType="num">
                                      <p:cBhvr>
                                        <p:cTn id="30"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75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result for slavery in america"/>
          <p:cNvSpPr>
            <a:spLocks noChangeAspect="1" noChangeArrowheads="1"/>
          </p:cNvSpPr>
          <p:nvPr/>
        </p:nvSpPr>
        <p:spPr bwMode="auto">
          <a:xfrm>
            <a:off x="1851853" y="-863538"/>
            <a:ext cx="2190060" cy="219006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mage result for slavery in america"/>
          <p:cNvSpPr>
            <a:spLocks noChangeAspect="1" noChangeArrowheads="1"/>
          </p:cNvSpPr>
          <p:nvPr/>
        </p:nvSpPr>
        <p:spPr bwMode="auto">
          <a:xfrm>
            <a:off x="2080593" y="925507"/>
            <a:ext cx="2557668" cy="169973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4" name="Picture 6" descr="Image result for slavery in amer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4496" y="3101698"/>
            <a:ext cx="5895975" cy="37563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mage result for slavery in ameri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142" y="249234"/>
            <a:ext cx="4762500" cy="248072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889898" y="744854"/>
            <a:ext cx="4859080" cy="1477328"/>
          </a:xfrm>
          <a:prstGeom prst="rect">
            <a:avLst/>
          </a:prstGeom>
        </p:spPr>
        <p:txBody>
          <a:bodyPr wrap="square">
            <a:spAutoFit/>
          </a:bodyPr>
          <a:lstStyle/>
          <a:p>
            <a:r>
              <a:rPr lang="en-US" dirty="0"/>
              <a:t>However, both the terms – legal and ethical – are </a:t>
            </a:r>
            <a:r>
              <a:rPr lang="en-US" b="1" dirty="0" err="1"/>
              <a:t>spatio</a:t>
            </a:r>
            <a:r>
              <a:rPr lang="en-US" b="1" dirty="0"/>
              <a:t>-temporal</a:t>
            </a:r>
            <a:r>
              <a:rPr lang="en-US" dirty="0"/>
              <a:t> and change with time and space. For example, there was a time when slavery was legally justified</a:t>
            </a:r>
          </a:p>
        </p:txBody>
      </p:sp>
      <p:sp>
        <p:nvSpPr>
          <p:cNvPr id="3" name="Rectangle 2"/>
          <p:cNvSpPr/>
          <p:nvPr/>
        </p:nvSpPr>
        <p:spPr>
          <a:xfrm>
            <a:off x="496186" y="3051844"/>
            <a:ext cx="5319823" cy="1754326"/>
          </a:xfrm>
          <a:prstGeom prst="rect">
            <a:avLst/>
          </a:prstGeom>
        </p:spPr>
        <p:txBody>
          <a:bodyPr wrap="square">
            <a:spAutoFit/>
          </a:bodyPr>
          <a:lstStyle/>
          <a:p>
            <a:r>
              <a:rPr lang="en-US" dirty="0"/>
              <a:t>In the 17</a:t>
            </a:r>
            <a:r>
              <a:rPr lang="en-US" baseline="30000" dirty="0"/>
              <a:t>th</a:t>
            </a:r>
            <a:r>
              <a:rPr lang="en-US" dirty="0"/>
              <a:t>, 18thand 19</a:t>
            </a:r>
            <a:r>
              <a:rPr lang="en-US" baseline="30000" dirty="0"/>
              <a:t>th</a:t>
            </a:r>
            <a:r>
              <a:rPr lang="en-US" dirty="0"/>
              <a:t> centaury, capturing free men and deporting them away from their lands and families and was considered an economic necessity. Over a period of time, the law had been amended and redrafted to abolish slavery.</a:t>
            </a:r>
          </a:p>
        </p:txBody>
      </p:sp>
      <p:sp>
        <p:nvSpPr>
          <p:cNvPr id="6" name="Rectangle 5"/>
          <p:cNvSpPr/>
          <p:nvPr/>
        </p:nvSpPr>
        <p:spPr>
          <a:xfrm>
            <a:off x="1137682" y="5072306"/>
            <a:ext cx="4572001" cy="1477328"/>
          </a:xfrm>
          <a:prstGeom prst="rect">
            <a:avLst/>
          </a:prstGeom>
        </p:spPr>
        <p:txBody>
          <a:bodyPr wrap="square">
            <a:spAutoFit/>
          </a:bodyPr>
          <a:lstStyle/>
          <a:p>
            <a:r>
              <a:rPr lang="en-US" dirty="0"/>
              <a:t>In other words, ethics emphasizes the rights of living beings (on humanitarian and moral grounds) and suggests it should not be violated by any means.</a:t>
            </a:r>
          </a:p>
          <a:p>
            <a:endParaRPr lang="en-US" dirty="0"/>
          </a:p>
        </p:txBody>
      </p:sp>
    </p:spTree>
    <p:extLst>
      <p:ext uri="{BB962C8B-B14F-4D97-AF65-F5344CB8AC3E}">
        <p14:creationId xmlns:p14="http://schemas.microsoft.com/office/powerpoint/2010/main" val="4058392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AutoShape 2" descr="Image result for apartheid images south africa"/>
          <p:cNvSpPr>
            <a:spLocks noChangeAspect="1" noChangeArrowheads="1"/>
          </p:cNvSpPr>
          <p:nvPr/>
        </p:nvSpPr>
        <p:spPr bwMode="auto">
          <a:xfrm>
            <a:off x="3025775" y="2508250"/>
            <a:ext cx="1270000" cy="1270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a:p>
            <a:endParaRPr lang="en-US" dirty="0"/>
          </a:p>
        </p:txBody>
      </p:sp>
      <p:sp>
        <p:nvSpPr>
          <p:cNvPr id="5" name="Rectangle 2"/>
          <p:cNvSpPr>
            <a:spLocks noChangeArrowheads="1"/>
          </p:cNvSpPr>
          <p:nvPr/>
        </p:nvSpPr>
        <p:spPr bwMode="auto">
          <a:xfrm>
            <a:off x="421895" y="1188703"/>
            <a:ext cx="10182416" cy="16312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222222"/>
                </a:solidFill>
                <a:effectLst/>
              </a:rPr>
              <a:t>Apartheid</a:t>
            </a:r>
            <a:r>
              <a:rPr kumimoji="0" lang="en-US" sz="2000" b="0" i="0" u="none" strike="noStrike" cap="none" normalizeH="0" baseline="0" dirty="0">
                <a:ln>
                  <a:noFill/>
                </a:ln>
                <a:solidFill>
                  <a:srgbClr val="222222"/>
                </a:solidFill>
                <a:effectLst/>
              </a:rPr>
              <a:t> (</a:t>
            </a:r>
            <a:r>
              <a:rPr kumimoji="0" lang="en-US" sz="2000" b="0" i="0" u="none" strike="noStrike" cap="none" normalizeH="0" baseline="0" dirty="0">
                <a:ln>
                  <a:noFill/>
                </a:ln>
                <a:solidFill>
                  <a:srgbClr val="222222"/>
                </a:solidFill>
                <a:effectLst/>
                <a:cs typeface="Arial" panose="020B0604020202020204" pitchFamily="34" charset="0"/>
              </a:rPr>
              <a:t>"separateness") was a system of </a:t>
            </a:r>
            <a:r>
              <a:rPr kumimoji="0" lang="en-US" sz="2000" b="1" i="0" u="none" strike="noStrike" cap="none" normalizeH="0" baseline="0" dirty="0" err="1">
                <a:ln>
                  <a:noFill/>
                </a:ln>
                <a:solidFill>
                  <a:srgbClr val="222222"/>
                </a:solidFill>
                <a:effectLst/>
                <a:cs typeface="Arial" panose="020B0604020202020204" pitchFamily="34" charset="0"/>
              </a:rPr>
              <a:t>institutionalised</a:t>
            </a:r>
            <a:r>
              <a:rPr kumimoji="0" lang="en-US" sz="2000" b="1" i="0" u="none" strike="noStrike" cap="none" normalizeH="0" baseline="0" dirty="0">
                <a:ln>
                  <a:noFill/>
                </a:ln>
                <a:solidFill>
                  <a:srgbClr val="222222"/>
                </a:solidFill>
                <a:effectLst/>
                <a:cs typeface="Arial" panose="020B0604020202020204" pitchFamily="34" charset="0"/>
              </a:rPr>
              <a:t> </a:t>
            </a:r>
            <a:r>
              <a:rPr kumimoji="0" lang="en-US" sz="2000" b="0" i="0" u="none" strike="noStrike" cap="none" normalizeH="0" baseline="0" dirty="0">
                <a:ln>
                  <a:noFill/>
                </a:ln>
                <a:solidFill>
                  <a:srgbClr val="222222"/>
                </a:solidFill>
                <a:effectLst/>
                <a:cs typeface="Arial" panose="020B0604020202020204" pitchFamily="34" charset="0"/>
              </a:rPr>
              <a:t>racial segregation and discrimination that existed in South Africa between 1948 and 1994.</a:t>
            </a:r>
            <a:r>
              <a:rPr kumimoji="0" lang="en-US" sz="2000" b="0" i="0" u="none" strike="noStrike" cap="none" normalizeH="0" dirty="0">
                <a:ln>
                  <a:noFill/>
                </a:ln>
                <a:solidFill>
                  <a:srgbClr val="222222"/>
                </a:solidFill>
                <a:effectLst/>
                <a:cs typeface="Arial" panose="020B0604020202020204" pitchFamily="34" charset="0"/>
              </a:rPr>
              <a:t> </a:t>
            </a:r>
            <a:r>
              <a:rPr kumimoji="0" lang="en-US" sz="2000" b="0" i="0" u="none" strike="noStrike" cap="none" normalizeH="0" baseline="0" dirty="0">
                <a:ln>
                  <a:noFill/>
                </a:ln>
                <a:solidFill>
                  <a:srgbClr val="222222"/>
                </a:solidFill>
                <a:effectLst/>
                <a:cs typeface="Arial" panose="020B0604020202020204" pitchFamily="34" charset="0"/>
              </a:rPr>
              <a:t>It was based on white supremacy and the repression of the black (</a:t>
            </a:r>
            <a:r>
              <a:rPr kumimoji="0" lang="en-US" sz="2000" b="0" i="0" u="none" strike="noStrike" cap="none" normalizeH="0" baseline="0" dirty="0">
                <a:ln>
                  <a:noFill/>
                </a:ln>
                <a:effectLst/>
                <a:cs typeface="Arial" panose="020B0604020202020204" pitchFamily="34" charset="0"/>
                <a:hlinkClick r:id="rId2" tooltip="Black people"/>
              </a:rPr>
              <a:t>African</a:t>
            </a:r>
            <a:r>
              <a:rPr kumimoji="0" lang="en-US" sz="2000" b="0" i="0" u="none" strike="noStrike" cap="none" normalizeH="0" baseline="0" dirty="0">
                <a:ln>
                  <a:noFill/>
                </a:ln>
                <a:effectLst/>
                <a:cs typeface="Arial" panose="020B0604020202020204" pitchFamily="34" charset="0"/>
              </a:rPr>
              <a:t>, </a:t>
            </a:r>
            <a:r>
              <a:rPr kumimoji="0" lang="en-US" sz="2000" b="0" i="0" u="none" strike="noStrike" cap="none" normalizeH="0" baseline="0" dirty="0" err="1">
                <a:ln>
                  <a:noFill/>
                </a:ln>
                <a:effectLst/>
                <a:cs typeface="Arial" panose="020B0604020202020204" pitchFamily="34" charset="0"/>
                <a:hlinkClick r:id="rId3" tooltip="Coloureds"/>
              </a:rPr>
              <a:t>Coloured</a:t>
            </a:r>
            <a:r>
              <a:rPr kumimoji="0" lang="en-US" sz="2000" b="0" i="0" u="none" strike="noStrike" cap="none" normalizeH="0" baseline="0" dirty="0">
                <a:ln>
                  <a:noFill/>
                </a:ln>
                <a:effectLst/>
                <a:cs typeface="Arial" panose="020B0604020202020204" pitchFamily="34" charset="0"/>
              </a:rPr>
              <a:t> and </a:t>
            </a:r>
            <a:r>
              <a:rPr kumimoji="0" lang="en-US" sz="2000" b="0" i="0" u="none" strike="noStrike" cap="none" normalizeH="0" baseline="0" dirty="0">
                <a:ln>
                  <a:noFill/>
                </a:ln>
                <a:effectLst/>
                <a:cs typeface="Arial" panose="020B0604020202020204" pitchFamily="34" charset="0"/>
                <a:hlinkClick r:id="rId4" tooltip="Indian South Africans"/>
              </a:rPr>
              <a:t>Indian</a:t>
            </a:r>
            <a:r>
              <a:rPr kumimoji="0" lang="en-US" sz="2000" b="0" i="0" u="none" strike="noStrike" cap="none" normalizeH="0" baseline="0" dirty="0">
                <a:ln>
                  <a:noFill/>
                </a:ln>
                <a:effectLst/>
                <a:cs typeface="Arial" panose="020B0604020202020204" pitchFamily="34" charset="0"/>
              </a:rPr>
              <a:t>) majority of the population for the benefit of the politically and economically dominant group, (</a:t>
            </a:r>
            <a:r>
              <a:rPr kumimoji="0" lang="en-US" sz="2000" b="0" i="0" u="none" strike="noStrike" cap="none" normalizeH="0" baseline="0" dirty="0">
                <a:ln>
                  <a:noFill/>
                </a:ln>
                <a:effectLst/>
                <a:cs typeface="Arial" panose="020B0604020202020204" pitchFamily="34" charset="0"/>
                <a:hlinkClick r:id="rId5" tooltip="White people"/>
              </a:rPr>
              <a:t>Whites</a:t>
            </a:r>
            <a:r>
              <a:rPr kumimoji="0" lang="en-US" sz="2000" b="0" i="0" u="none" strike="noStrike" cap="none" normalizeH="0" baseline="0" dirty="0">
                <a:ln>
                  <a:noFill/>
                </a:ln>
                <a:solidFill>
                  <a:srgbClr val="0B0080"/>
                </a:solidFill>
                <a:effectLst/>
                <a:cs typeface="Arial" panose="020B0604020202020204" pitchFamily="34" charset="0"/>
              </a:rPr>
              <a:t>)</a:t>
            </a:r>
            <a:r>
              <a:rPr kumimoji="0" lang="en-US" sz="2000" b="0" i="0" u="none" strike="noStrike" cap="none" normalizeH="0" baseline="0" dirty="0">
                <a:ln>
                  <a:noFill/>
                </a:ln>
                <a:solidFill>
                  <a:srgbClr val="222222"/>
                </a:solidFill>
                <a:effectLst/>
                <a:cs typeface="Arial" panose="020B0604020202020204" pitchFamily="34" charset="0"/>
              </a:rPr>
              <a:t>.</a:t>
            </a:r>
            <a:r>
              <a:rPr kumimoji="0" lang="en-US" sz="2000" b="0" i="0" u="none" strike="noStrike" cap="none" normalizeH="0" baseline="0" dirty="0">
                <a:ln>
                  <a:noFill/>
                </a:ln>
                <a:solidFill>
                  <a:schemeClr val="tx1"/>
                </a:solidFill>
                <a:effectLst/>
              </a:rPr>
              <a:t> </a:t>
            </a:r>
          </a:p>
        </p:txBody>
      </p:sp>
      <p:pic>
        <p:nvPicPr>
          <p:cNvPr id="1028" name="Picture 4" descr="https://media5.picsearch.com/is?thM2v8RJol-8y0w_ceqahhE5tdpVWYCqlo6iaPfjHhw&amp;height=3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3558" y="2975734"/>
            <a:ext cx="3248025" cy="29718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media5.picsearch.com/is?yngan73GyEbnD4LmFCV1_VUQgN8Kk4TEz4GgNRRmbeI&amp;height=2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3853" y="2924106"/>
            <a:ext cx="4350163" cy="3933894"/>
          </a:xfrm>
          <a:prstGeom prst="rect">
            <a:avLst/>
          </a:prstGeom>
          <a:noFill/>
          <a:extLst>
            <a:ext uri="{909E8E84-426E-40DD-AFC4-6F175D3DCCD1}">
              <a14:hiddenFill xmlns:a14="http://schemas.microsoft.com/office/drawing/2010/main">
                <a:solidFill>
                  <a:srgbClr val="FFFFFF"/>
                </a:solidFill>
              </a14:hiddenFill>
            </a:ext>
          </a:extLst>
        </p:spPr>
      </p:pic>
      <p:sp>
        <p:nvSpPr>
          <p:cNvPr id="6" name="Left Arrow 5">
            <a:hlinkClick r:id="rId8" action="ppaction://hlinksldjump"/>
          </p:cNvPr>
          <p:cNvSpPr/>
          <p:nvPr/>
        </p:nvSpPr>
        <p:spPr>
          <a:xfrm>
            <a:off x="10972799" y="6347790"/>
            <a:ext cx="874643" cy="371061"/>
          </a:xfrm>
          <a:prstGeom prst="leftArrow">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8830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eft Arrow 2">
            <a:hlinkClick r:id="rId2" action="ppaction://hlinksldjump"/>
          </p:cNvPr>
          <p:cNvSpPr/>
          <p:nvPr/>
        </p:nvSpPr>
        <p:spPr>
          <a:xfrm>
            <a:off x="11057206" y="6161649"/>
            <a:ext cx="829994" cy="407963"/>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274276" y="266683"/>
            <a:ext cx="9317502" cy="1754326"/>
          </a:xfrm>
          <a:prstGeom prst="rect">
            <a:avLst/>
          </a:prstGeom>
        </p:spPr>
        <p:txBody>
          <a:bodyPr wrap="square">
            <a:spAutoFit/>
          </a:bodyPr>
          <a:lstStyle/>
          <a:p>
            <a:r>
              <a:rPr lang="en-US" dirty="0">
                <a:solidFill>
                  <a:srgbClr val="222222"/>
                </a:solidFill>
                <a:latin typeface="Arial" panose="020B0604020202020204" pitchFamily="34" charset="0"/>
              </a:rPr>
              <a:t>In its </a:t>
            </a:r>
            <a:r>
              <a:rPr lang="en-US" dirty="0">
                <a:solidFill>
                  <a:srgbClr val="0B0080"/>
                </a:solidFill>
                <a:latin typeface="Arial" panose="020B0604020202020204" pitchFamily="34" charset="0"/>
                <a:hlinkClick r:id="rId3" tooltip="Race (human categorization)"/>
              </a:rPr>
              <a:t>racial categorization</a:t>
            </a:r>
            <a:r>
              <a:rPr lang="en-US" dirty="0">
                <a:solidFill>
                  <a:srgbClr val="222222"/>
                </a:solidFill>
                <a:latin typeface="Arial" panose="020B0604020202020204" pitchFamily="34" charset="0"/>
              </a:rPr>
              <a:t>, Nazism viewed what it called the </a:t>
            </a:r>
            <a:r>
              <a:rPr lang="en-US" dirty="0">
                <a:solidFill>
                  <a:srgbClr val="0B0080"/>
                </a:solidFill>
                <a:latin typeface="Arial" panose="020B0604020202020204" pitchFamily="34" charset="0"/>
                <a:hlinkClick r:id="rId4" tooltip="Aryan race"/>
              </a:rPr>
              <a:t>Aryan race</a:t>
            </a:r>
            <a:r>
              <a:rPr lang="en-US" dirty="0">
                <a:solidFill>
                  <a:srgbClr val="222222"/>
                </a:solidFill>
                <a:latin typeface="Arial" panose="020B0604020202020204" pitchFamily="34" charset="0"/>
              </a:rPr>
              <a:t> as the </a:t>
            </a:r>
            <a:r>
              <a:rPr lang="en-US" dirty="0">
                <a:solidFill>
                  <a:srgbClr val="0B0080"/>
                </a:solidFill>
                <a:latin typeface="Arial" panose="020B0604020202020204" pitchFamily="34" charset="0"/>
                <a:hlinkClick r:id="rId5" tooltip="Master race"/>
              </a:rPr>
              <a:t>master race</a:t>
            </a:r>
            <a:r>
              <a:rPr lang="en-US" dirty="0">
                <a:solidFill>
                  <a:srgbClr val="222222"/>
                </a:solidFill>
                <a:latin typeface="Arial" panose="020B0604020202020204" pitchFamily="34" charset="0"/>
              </a:rPr>
              <a:t> of the world—a race that was superior to all other races. It viewed Aryans as being in racial conflict with a mixed race people, especially the </a:t>
            </a:r>
            <a:r>
              <a:rPr lang="en-US" dirty="0">
                <a:solidFill>
                  <a:srgbClr val="0B0080"/>
                </a:solidFill>
                <a:latin typeface="Arial" panose="020B0604020202020204" pitchFamily="34" charset="0"/>
                <a:hlinkClick r:id="rId6" tooltip="Jews"/>
              </a:rPr>
              <a:t>Jews</a:t>
            </a:r>
            <a:r>
              <a:rPr lang="en-US" dirty="0">
                <a:solidFill>
                  <a:srgbClr val="222222"/>
                </a:solidFill>
                <a:latin typeface="Arial" panose="020B0604020202020204" pitchFamily="34" charset="0"/>
              </a:rPr>
              <a:t>, whom the Nazis identified as a dangerous enemy of the </a:t>
            </a:r>
            <a:r>
              <a:rPr lang="en-US" dirty="0" err="1">
                <a:solidFill>
                  <a:srgbClr val="222222"/>
                </a:solidFill>
                <a:latin typeface="Arial" panose="020B0604020202020204" pitchFamily="34" charset="0"/>
              </a:rPr>
              <a:t>Aryans.To</a:t>
            </a:r>
            <a:r>
              <a:rPr lang="en-US" dirty="0">
                <a:solidFill>
                  <a:srgbClr val="222222"/>
                </a:solidFill>
                <a:latin typeface="Arial" panose="020B0604020202020204" pitchFamily="34" charset="0"/>
              </a:rPr>
              <a:t> maintain the "purity and strength" of the Aryan race, the Nazis eventually sought to </a:t>
            </a:r>
            <a:r>
              <a:rPr lang="en-US" dirty="0">
                <a:solidFill>
                  <a:srgbClr val="0B0080"/>
                </a:solidFill>
                <a:latin typeface="Arial" panose="020B0604020202020204" pitchFamily="34" charset="0"/>
                <a:hlinkClick r:id="rId7" tooltip="Genocide"/>
              </a:rPr>
              <a:t>exterminate</a:t>
            </a:r>
            <a:r>
              <a:rPr lang="en-US" dirty="0">
                <a:solidFill>
                  <a:srgbClr val="222222"/>
                </a:solidFill>
                <a:latin typeface="Arial" panose="020B0604020202020204" pitchFamily="34" charset="0"/>
              </a:rPr>
              <a:t> Jews, Gypsies, Slavs and the </a:t>
            </a:r>
            <a:r>
              <a:rPr lang="en-US" dirty="0">
                <a:solidFill>
                  <a:srgbClr val="0B0080"/>
                </a:solidFill>
                <a:latin typeface="Arial" panose="020B0604020202020204" pitchFamily="34" charset="0"/>
                <a:hlinkClick r:id="rId8" tooltip="Physical disability"/>
              </a:rPr>
              <a:t>physically</a:t>
            </a:r>
            <a:r>
              <a:rPr lang="en-US" dirty="0">
                <a:solidFill>
                  <a:srgbClr val="222222"/>
                </a:solidFill>
                <a:latin typeface="Arial" panose="020B0604020202020204" pitchFamily="34" charset="0"/>
              </a:rPr>
              <a:t> and </a:t>
            </a:r>
            <a:r>
              <a:rPr lang="en-US" dirty="0">
                <a:solidFill>
                  <a:srgbClr val="0B0080"/>
                </a:solidFill>
                <a:latin typeface="Arial" panose="020B0604020202020204" pitchFamily="34" charset="0"/>
                <a:hlinkClick r:id="rId9" tooltip="Developmental disability"/>
              </a:rPr>
              <a:t>mentally disabled</a:t>
            </a:r>
            <a:r>
              <a:rPr lang="en-US" dirty="0">
                <a:solidFill>
                  <a:srgbClr val="222222"/>
                </a:solidFill>
                <a:latin typeface="Arial" panose="020B0604020202020204" pitchFamily="34" charset="0"/>
              </a:rPr>
              <a:t>.</a:t>
            </a:r>
            <a:r>
              <a:rPr lang="en-US" baseline="30000" dirty="0">
                <a:solidFill>
                  <a:srgbClr val="0B0080"/>
                </a:solidFill>
                <a:latin typeface="Arial" panose="020B0604020202020204" pitchFamily="34" charset="0"/>
              </a:rPr>
              <a:t>[</a:t>
            </a:r>
            <a:endParaRPr lang="en-US" dirty="0"/>
          </a:p>
        </p:txBody>
      </p:sp>
      <p:pic>
        <p:nvPicPr>
          <p:cNvPr id="1026" name="Picture 2" descr="auschwitz, auschwitz-birkenau, death camp, gas chambers, nazi, the holocaust, concentration camps, extermination camp, prisoners, 19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04586" y="2385391"/>
            <a:ext cx="4641712" cy="38166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www.jewishvirtuallibrary.org/jsource/images/Holocaust/signs_marching.jp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29323" y="2413306"/>
            <a:ext cx="4286250" cy="38176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0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030"/>
                                        </p:tgtEl>
                                        <p:attrNameLst>
                                          <p:attrName>style.visibility</p:attrName>
                                        </p:attrNameLst>
                                      </p:cBhvr>
                                      <p:to>
                                        <p:strVal val="visible"/>
                                      </p:to>
                                    </p:set>
                                    <p:animEffect transition="in" filter="fade">
                                      <p:cBhvr>
                                        <p:cTn id="13" dur="1000"/>
                                        <p:tgtEl>
                                          <p:spTgt spid="1030"/>
                                        </p:tgtEl>
                                      </p:cBhvr>
                                    </p:animEffect>
                                    <p:anim calcmode="lin" valueType="num">
                                      <p:cBhvr>
                                        <p:cTn id="14" dur="1000" fill="hold"/>
                                        <p:tgtEl>
                                          <p:spTgt spid="1030"/>
                                        </p:tgtEl>
                                        <p:attrNameLst>
                                          <p:attrName>ppt_x</p:attrName>
                                        </p:attrNameLst>
                                      </p:cBhvr>
                                      <p:tavLst>
                                        <p:tav tm="0">
                                          <p:val>
                                            <p:strVal val="#ppt_x"/>
                                          </p:val>
                                        </p:tav>
                                        <p:tav tm="100000">
                                          <p:val>
                                            <p:strVal val="#ppt_x"/>
                                          </p:val>
                                        </p:tav>
                                      </p:tavLst>
                                    </p:anim>
                                    <p:anim calcmode="lin" valueType="num">
                                      <p:cBhvr>
                                        <p:cTn id="15" dur="1000" fill="hold"/>
                                        <p:tgtEl>
                                          <p:spTgt spid="103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fade">
                                      <p:cBhvr>
                                        <p:cTn id="20" dur="1000"/>
                                        <p:tgtEl>
                                          <p:spTgt spid="1026"/>
                                        </p:tgtEl>
                                      </p:cBhvr>
                                    </p:animEffect>
                                    <p:anim calcmode="lin" valueType="num">
                                      <p:cBhvr>
                                        <p:cTn id="21" dur="1000" fill="hold"/>
                                        <p:tgtEl>
                                          <p:spTgt spid="1026"/>
                                        </p:tgtEl>
                                        <p:attrNameLst>
                                          <p:attrName>ppt_x</p:attrName>
                                        </p:attrNameLst>
                                      </p:cBhvr>
                                      <p:tavLst>
                                        <p:tav tm="0">
                                          <p:val>
                                            <p:strVal val="#ppt_x"/>
                                          </p:val>
                                        </p:tav>
                                        <p:tav tm="100000">
                                          <p:val>
                                            <p:strVal val="#ppt_x"/>
                                          </p:val>
                                        </p:tav>
                                      </p:tavLst>
                                    </p:anim>
                                    <p:anim calcmode="lin" valueType="num">
                                      <p:cBhvr>
                                        <p:cTn id="22"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5409" y="173944"/>
            <a:ext cx="10128739" cy="641982"/>
          </a:xfrm>
        </p:spPr>
        <p:txBody>
          <a:bodyPr>
            <a:normAutofit fontScale="90000"/>
          </a:bodyPr>
          <a:lstStyle/>
          <a:p>
            <a:r>
              <a:rPr lang="en-US" b="1" dirty="0"/>
              <a:t>Rules to Professional Ethics in the Workplace</a:t>
            </a:r>
            <a:br>
              <a:rPr lang="en-US" b="1" dirty="0"/>
            </a:br>
            <a:endParaRPr lang="en-US" dirty="0"/>
          </a:p>
        </p:txBody>
      </p:sp>
      <p:sp>
        <p:nvSpPr>
          <p:cNvPr id="3" name="Content Placeholder 2"/>
          <p:cNvSpPr>
            <a:spLocks noGrp="1"/>
          </p:cNvSpPr>
          <p:nvPr>
            <p:ph idx="1"/>
          </p:nvPr>
        </p:nvSpPr>
        <p:spPr>
          <a:xfrm>
            <a:off x="2349304" y="1111347"/>
            <a:ext cx="9608234" cy="5514536"/>
          </a:xfrm>
        </p:spPr>
        <p:txBody>
          <a:bodyPr>
            <a:normAutofit/>
          </a:bodyPr>
          <a:lstStyle/>
          <a:p>
            <a:r>
              <a:rPr lang="en-US" sz="2000" b="1" dirty="0">
                <a:solidFill>
                  <a:schemeClr val="accent5">
                    <a:lumMod val="75000"/>
                  </a:schemeClr>
                </a:solidFill>
              </a:rPr>
              <a:t>Professionalism is the conduct, aims or qualities that characterize or mark a profession or professional person; it implies quality of workmanship or service.</a:t>
            </a:r>
          </a:p>
          <a:p>
            <a:r>
              <a:rPr lang="en-US" sz="2000" b="1" dirty="0">
                <a:solidFill>
                  <a:srgbClr val="00CC00"/>
                </a:solidFill>
              </a:rPr>
              <a:t>Always strive for excellence;</a:t>
            </a:r>
          </a:p>
          <a:p>
            <a:r>
              <a:rPr lang="en-US" sz="2000" b="1" dirty="0">
                <a:solidFill>
                  <a:srgbClr val="00CC00"/>
                </a:solidFill>
              </a:rPr>
              <a:t>Be trustworthy;</a:t>
            </a:r>
          </a:p>
          <a:p>
            <a:r>
              <a:rPr lang="en-US" sz="2000" b="1" dirty="0">
                <a:solidFill>
                  <a:srgbClr val="00CC00"/>
                </a:solidFill>
              </a:rPr>
              <a:t>Be courteous and respectful;</a:t>
            </a:r>
          </a:p>
          <a:p>
            <a:r>
              <a:rPr lang="en-US" sz="2000" b="1" dirty="0">
                <a:solidFill>
                  <a:srgbClr val="00CC00"/>
                </a:solidFill>
              </a:rPr>
              <a:t> Be honest, open and transparent;</a:t>
            </a:r>
          </a:p>
          <a:p>
            <a:r>
              <a:rPr lang="en-US" sz="2000" b="1" dirty="0">
                <a:solidFill>
                  <a:srgbClr val="00CC00"/>
                </a:solidFill>
              </a:rPr>
              <a:t>Be competent and improve continually;</a:t>
            </a:r>
          </a:p>
          <a:p>
            <a:r>
              <a:rPr lang="en-US" sz="2000" b="1" dirty="0">
                <a:solidFill>
                  <a:srgbClr val="00CC00"/>
                </a:solidFill>
              </a:rPr>
              <a:t>Always be ethical; </a:t>
            </a:r>
          </a:p>
          <a:p>
            <a:r>
              <a:rPr lang="en-US" sz="2000" b="1" dirty="0">
                <a:solidFill>
                  <a:srgbClr val="00CC00"/>
                </a:solidFill>
              </a:rPr>
              <a:t>Always be honorable and act with integrity;</a:t>
            </a:r>
          </a:p>
          <a:p>
            <a:r>
              <a:rPr lang="en-US" sz="2000" b="1" dirty="0">
                <a:solidFill>
                  <a:srgbClr val="00CC00"/>
                </a:solidFill>
              </a:rPr>
              <a:t>Be respectful of confidentiality;</a:t>
            </a:r>
          </a:p>
          <a:p>
            <a:r>
              <a:rPr lang="en-US" sz="2000" b="1" dirty="0">
                <a:solidFill>
                  <a:srgbClr val="00CC00"/>
                </a:solidFill>
              </a:rPr>
              <a:t>Set good examples;</a:t>
            </a:r>
          </a:p>
        </p:txBody>
      </p:sp>
    </p:spTree>
    <p:extLst>
      <p:ext uri="{BB962C8B-B14F-4D97-AF65-F5344CB8AC3E}">
        <p14:creationId xmlns:p14="http://schemas.microsoft.com/office/powerpoint/2010/main" val="2315819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390881" y="99120"/>
            <a:ext cx="8911687" cy="555333"/>
          </a:xfrm>
        </p:spPr>
        <p:txBody>
          <a:bodyPr>
            <a:normAutofit fontScale="90000"/>
          </a:bodyPr>
          <a:lstStyle/>
          <a:p>
            <a:r>
              <a:rPr lang="en-US" b="1" dirty="0">
                <a:solidFill>
                  <a:schemeClr val="accent1">
                    <a:lumMod val="60000"/>
                    <a:lumOff val="40000"/>
                  </a:schemeClr>
                </a:solidFill>
              </a:rPr>
              <a:t>BIBLOGRAPHY</a:t>
            </a:r>
          </a:p>
        </p:txBody>
      </p:sp>
      <p:sp>
        <p:nvSpPr>
          <p:cNvPr id="4" name="Rectangle 3"/>
          <p:cNvSpPr/>
          <p:nvPr/>
        </p:nvSpPr>
        <p:spPr>
          <a:xfrm>
            <a:off x="2025747" y="562120"/>
            <a:ext cx="9988061" cy="5109091"/>
          </a:xfrm>
          <a:prstGeom prst="rect">
            <a:avLst/>
          </a:prstGeom>
        </p:spPr>
        <p:txBody>
          <a:bodyPr wrap="square">
            <a:spAutoFit/>
          </a:bodyPr>
          <a:lstStyle/>
          <a:p>
            <a:r>
              <a:rPr lang="en-US" sz="1400" dirty="0">
                <a:solidFill>
                  <a:srgbClr val="222222"/>
                </a:solidFill>
                <a:latin typeface="Arial" panose="020B0604020202020204" pitchFamily="34" charset="0"/>
              </a:rPr>
              <a:t>1.  Ruth Chadwick (1998). Professional Ethics. In E. Craig (Ed.), Routledge Encyclopedia of  	Philosophy. London: Routledge. Retrieved October 20, 2006</a:t>
            </a:r>
          </a:p>
          <a:p>
            <a:r>
              <a:rPr lang="en-US" sz="1400" dirty="0"/>
              <a:t>2.  Manuel Velasquez, Claire Andre, Thomas Shanks, S.J., and Michael J. Meyer; </a:t>
            </a:r>
          </a:p>
          <a:p>
            <a:r>
              <a:rPr lang="en-US" sz="1400" dirty="0"/>
              <a:t>	Issues in Ethics IIE V1 N1 (Fall 1987). Revised in 2010</a:t>
            </a:r>
          </a:p>
          <a:p>
            <a:r>
              <a:rPr lang="en-US" sz="1400" dirty="0"/>
              <a:t>3. What’s medical negligence? – Prof Ravindra Fernando: Senior Professor of Forensic Medicine and Toxicology at the University of Colombo [Sunday Times 24.02.2013]</a:t>
            </a:r>
          </a:p>
          <a:p>
            <a:r>
              <a:rPr lang="en-US" sz="1400" dirty="0"/>
              <a:t>4. Doctors, drug companies and medical ethics: A Sri Lankan perspective - </a:t>
            </a:r>
            <a:r>
              <a:rPr lang="en-US" sz="1400" i="1" dirty="0"/>
              <a:t>G N </a:t>
            </a:r>
            <a:r>
              <a:rPr lang="en-US" sz="1400" i="1" dirty="0" err="1"/>
              <a:t>Malavige</a:t>
            </a:r>
            <a:r>
              <a:rPr lang="en-US" sz="1400" i="1" dirty="0"/>
              <a:t>, </a:t>
            </a:r>
            <a:r>
              <a:rPr lang="en-US" sz="1400" dirty="0"/>
              <a:t>Lecturer in Microbiology, Faculty of Medical </a:t>
            </a:r>
            <a:r>
              <a:rPr lang="en-US" sz="1400" dirty="0" err="1"/>
              <a:t>Sciences;University</a:t>
            </a:r>
            <a:r>
              <a:rPr lang="en-US" sz="1400" dirty="0"/>
              <a:t> of Sri </a:t>
            </a:r>
            <a:r>
              <a:rPr lang="en-US" sz="1400" dirty="0" err="1"/>
              <a:t>Jayawardanapura</a:t>
            </a:r>
            <a:r>
              <a:rPr lang="en-US" sz="1400" dirty="0"/>
              <a:t>: DOI:         </a:t>
            </a:r>
          </a:p>
          <a:p>
            <a:r>
              <a:rPr lang="en-US" sz="1400" u="sng" dirty="0">
                <a:hlinkClick r:id="rId2">
                  <a:extLst>
                    <a:ext uri="{A12FA001-AC4F-418D-AE19-62706E023703}">
                      <ahyp:hlinkClr xmlns:ahyp="http://schemas.microsoft.com/office/drawing/2018/hyperlinkcolor" val="tx"/>
                    </a:ext>
                  </a:extLst>
                </a:hlinkClick>
              </a:rPr>
              <a:t>5. https://doi.org/10.20529/IJME.2004.012</a:t>
            </a:r>
            <a:r>
              <a:rPr lang="en-US" sz="1400" u="sng" dirty="0"/>
              <a:t> </a:t>
            </a:r>
            <a:r>
              <a:rPr lang="en-US" sz="1400" dirty="0">
                <a:hlinkClick r:id="rId3">
                  <a:extLst>
                    <a:ext uri="{A12FA001-AC4F-418D-AE19-62706E023703}">
                      <ahyp:hlinkClr xmlns:ahyp="http://schemas.microsoft.com/office/drawing/2018/hyperlinkcolor" val="tx"/>
                    </a:ext>
                  </a:extLst>
                </a:hlinkClick>
              </a:rPr>
              <a:t>Strike by workers paralyzes Sri Lanka health care - EFE </a:t>
            </a:r>
            <a:r>
              <a:rPr lang="en-US" sz="1400" dirty="0" err="1">
                <a:hlinkClick r:id="rId3">
                  <a:extLst>
                    <a:ext uri="{A12FA001-AC4F-418D-AE19-62706E023703}">
                      <ahyp:hlinkClr xmlns:ahyp="http://schemas.microsoft.com/office/drawing/2018/hyperlinkcolor" val="tx"/>
                    </a:ext>
                  </a:extLst>
                </a:hlinkClick>
              </a:rPr>
              <a:t>Noticias</a:t>
            </a:r>
            <a:endParaRPr lang="en-US" sz="1400" dirty="0"/>
          </a:p>
          <a:p>
            <a:r>
              <a:rPr lang="en-US" sz="1400" dirty="0">
                <a:hlinkClick r:id="rId4">
                  <a:extLst>
                    <a:ext uri="{A12FA001-AC4F-418D-AE19-62706E023703}">
                      <ahyp:hlinkClr xmlns:ahyp="http://schemas.microsoft.com/office/drawing/2018/hyperlinkcolor" val="tx"/>
                    </a:ext>
                  </a:extLst>
                </a:hlinkClick>
              </a:rPr>
              <a:t>6. https://www.660citynews.com/wp-content/blogs.dir/sites/8/2019/09/EJX107-918_2019_024028.jpg</a:t>
            </a:r>
            <a:endParaRPr lang="en-US" sz="1400" dirty="0"/>
          </a:p>
          <a:p>
            <a:r>
              <a:rPr lang="en-US" sz="1400" dirty="0"/>
              <a:t>7.https://th.bing.com/th/id/R.2f0a59455a18b9503381cdc9c511b65a?rik=E2NzCZalg5X8bA&amp;riu=http%3a%2f%2fwww.sundaytimes.lk%2f141012%2fuploads%2fNational-Hospital-Strike.jpg&amp;ehk=ImgRaw&amp;r=0</a:t>
            </a:r>
          </a:p>
          <a:p>
            <a:r>
              <a:rPr lang="en-US" sz="1400" dirty="0"/>
              <a:t>8. Wikipedia – Slavery</a:t>
            </a:r>
          </a:p>
          <a:p>
            <a:r>
              <a:rPr lang="en-US" sz="1400" dirty="0"/>
              <a:t>9. Wikipedia – Apartheid</a:t>
            </a:r>
          </a:p>
          <a:p>
            <a:r>
              <a:rPr lang="en-US" sz="1400" dirty="0"/>
              <a:t>10. Wikipedia – Holocaust</a:t>
            </a:r>
          </a:p>
          <a:p>
            <a:r>
              <a:rPr lang="en-US" sz="1400" dirty="0"/>
              <a:t>11. Wikipedia – I-35 Mississippi Bridge Failure </a:t>
            </a:r>
          </a:p>
          <a:p>
            <a:r>
              <a:rPr lang="en-US" sz="1400" dirty="0"/>
              <a:t>12a. Photograph 1- By Kevin </a:t>
            </a:r>
            <a:r>
              <a:rPr lang="en-US" sz="1400" dirty="0" err="1"/>
              <a:t>Rofidal</a:t>
            </a:r>
            <a:r>
              <a:rPr lang="en-US" sz="1400" dirty="0"/>
              <a:t>, United States Coast Guard - Contact us/Photo 	submission, Public Domain, </a:t>
            </a:r>
          </a:p>
          <a:p>
            <a:r>
              <a:rPr lang="en-US" sz="1400" dirty="0"/>
              <a:t>12b. Photograph 2 - By Mike Wills - Flickr, CC BY-SA 2.0, </a:t>
            </a:r>
          </a:p>
          <a:p>
            <a:r>
              <a:rPr lang="en-US" sz="1400" dirty="0"/>
              <a:t>13. Wikipedia – US Airways Flight 1549</a:t>
            </a:r>
          </a:p>
          <a:p>
            <a:r>
              <a:rPr lang="en-US" sz="1400" dirty="0"/>
              <a:t>13a. Photograph Chris McGrath/Getty Images News/Getty Images</a:t>
            </a:r>
          </a:p>
          <a:p>
            <a:pPr fontAlgn="base"/>
            <a:r>
              <a:rPr lang="en-US" sz="1400" dirty="0"/>
              <a:t>14. </a:t>
            </a:r>
            <a:r>
              <a:rPr lang="en-US" sz="1400" dirty="0">
                <a:hlinkClick r:id="rId5"/>
              </a:rPr>
              <a:t>Leandro Valente: </a:t>
            </a:r>
            <a:r>
              <a:rPr lang="en-US" sz="1400" dirty="0"/>
              <a:t>10 Golden Rules to Professional Ethics in the Workplace:  Professional ⚙️MBA ☁️ Cyber Security MSc student @NCI ⚙️MCSA® ITIL®</a:t>
            </a:r>
          </a:p>
          <a:p>
            <a:r>
              <a:rPr lang="en-US" dirty="0"/>
              <a:t> </a:t>
            </a:r>
          </a:p>
        </p:txBody>
      </p:sp>
    </p:spTree>
    <p:extLst>
      <p:ext uri="{BB962C8B-B14F-4D97-AF65-F5344CB8AC3E}">
        <p14:creationId xmlns:p14="http://schemas.microsoft.com/office/powerpoint/2010/main" val="3228858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2.picsearch.com/is?JXaFnTJFBMWXwc-atqTUCGtSmMwvjdfWBYFQ69i0cAY&amp;height=2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788894"/>
            <a:ext cx="6293224" cy="5504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939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7013" y="2002419"/>
            <a:ext cx="8915399" cy="1354537"/>
          </a:xfrm>
        </p:spPr>
        <p:txBody>
          <a:bodyPr>
            <a:normAutofit/>
          </a:bodyPr>
          <a:lstStyle/>
          <a:p>
            <a:r>
              <a:rPr lang="en-US" sz="4400" b="1" dirty="0">
                <a:solidFill>
                  <a:schemeClr val="accent1">
                    <a:lumMod val="60000"/>
                    <a:lumOff val="40000"/>
                  </a:schemeClr>
                </a:solidFill>
                <a:latin typeface="Copperplate Gothic Bold" panose="020E0705020206020404" pitchFamily="34" charset="0"/>
              </a:rPr>
              <a:t>             THANK YOU !!!!</a:t>
            </a:r>
          </a:p>
        </p:txBody>
      </p:sp>
      <p:sp>
        <p:nvSpPr>
          <p:cNvPr id="3" name="Text Placeholder 2"/>
          <p:cNvSpPr>
            <a:spLocks noGrp="1"/>
          </p:cNvSpPr>
          <p:nvPr>
            <p:ph type="body" idx="1"/>
          </p:nvPr>
        </p:nvSpPr>
        <p:spPr/>
        <p:txBody>
          <a:bodyPr/>
          <a:lstStyle/>
          <a:p>
            <a:endParaRPr lang="en-US" dirty="0"/>
          </a:p>
        </p:txBody>
      </p:sp>
      <p:pic>
        <p:nvPicPr>
          <p:cNvPr id="4" name="Picture 3">
            <a:extLst>
              <a:ext uri="{FF2B5EF4-FFF2-40B4-BE49-F238E27FC236}">
                <a16:creationId xmlns:a16="http://schemas.microsoft.com/office/drawing/2014/main" id="{56F304E8-FD30-B7E0-7DD3-9664D6B51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1165" y="4252732"/>
            <a:ext cx="3000375" cy="220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73956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6670</TotalTime>
  <Words>3739</Words>
  <Application>Microsoft Office PowerPoint</Application>
  <PresentationFormat>Widescreen</PresentationFormat>
  <Paragraphs>199</Paragraphs>
  <Slides>29</Slides>
  <Notes>7</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Wisp</vt:lpstr>
      <vt:lpstr>PROFESSIONAL ETHICS CE3124  Introduction to Professional Ethics and its importance</vt:lpstr>
      <vt:lpstr>TOPICS</vt:lpstr>
      <vt:lpstr>ETHICS </vt:lpstr>
      <vt:lpstr>ETHICS </vt:lpstr>
      <vt:lpstr>ETHICS </vt:lpstr>
      <vt:lpstr>WHAT IS ETHICS ???</vt:lpstr>
      <vt:lpstr>WHO IS A PROFESSIONAL ???</vt:lpstr>
      <vt:lpstr>PROFESSIONAL ETHICS</vt:lpstr>
      <vt:lpstr>PROFESSIONAL ETHICS</vt:lpstr>
      <vt:lpstr>PROFESSIONAL ETHICS - Doctors</vt:lpstr>
      <vt:lpstr>PROFESSIONAL ETHICS - Doctors</vt:lpstr>
      <vt:lpstr>PROFESSIONAL ETHICS - Doctors</vt:lpstr>
      <vt:lpstr>PROFESSIONAL ETHICS - Engineers</vt:lpstr>
      <vt:lpstr>Engineering Failure - I-35W Mississippi River bridge</vt:lpstr>
      <vt:lpstr>Engineering Failure - I-35W Mississippi River bridge</vt:lpstr>
      <vt:lpstr>PROFESSIONAL ETHICS – Airplane Pilots</vt:lpstr>
      <vt:lpstr>PROFESSIONAL ETHICS – Airplane Pilots</vt:lpstr>
      <vt:lpstr>PROFESSIONAL ETHICS</vt:lpstr>
      <vt:lpstr>PROFESSIONAL ETHICS</vt:lpstr>
      <vt:lpstr>A definition of ethics in terms of standards such as rights and fairness</vt:lpstr>
      <vt:lpstr>PowerPoint Presentation</vt:lpstr>
      <vt:lpstr>PowerPoint Presentation</vt:lpstr>
      <vt:lpstr>PowerPoint Presentation</vt:lpstr>
      <vt:lpstr>PowerPoint Presentation</vt:lpstr>
      <vt:lpstr>PowerPoint Presentation</vt:lpstr>
      <vt:lpstr>Rules to Professional Ethics in the Workplace </vt:lpstr>
      <vt:lpstr>BIBLOGRAPHY</vt:lpstr>
      <vt:lpstr>PowerPoint Presentation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Russel De Zilwa</dc:creator>
  <cp:lastModifiedBy>Mrs. LY Hitige</cp:lastModifiedBy>
  <cp:revision>136</cp:revision>
  <dcterms:created xsi:type="dcterms:W3CDTF">2018-01-18T08:43:42Z</dcterms:created>
  <dcterms:modified xsi:type="dcterms:W3CDTF">2024-01-19T02:09:32Z</dcterms:modified>
</cp:coreProperties>
</file>