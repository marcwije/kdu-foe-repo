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8" r:id="rId11"/>
    <p:sldId id="269" r:id="rId12"/>
    <p:sldId id="264" r:id="rId13"/>
    <p:sldId id="265" r:id="rId14"/>
    <p:sldId id="266" r:id="rId15"/>
    <p:sldId id="267" r:id="rId16"/>
    <p:sldId id="270" r:id="rId17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57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D68105B-A8A7-61E6-366B-07124A5EEA9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F64D0-E8BA-4DA5-CDD6-E822332C1E32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9318" y="0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A5587-BC88-3EF4-4553-05484178626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F915D-834C-A034-89A1-3853BA47134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BDB8BD9-1F9A-4D6C-906A-5244A033CFB3}" type="slidenum">
              <a:t>‹#›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530434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3E8B35-C0B7-CFFF-8968-DDA1361C9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484994" y="899998"/>
            <a:ext cx="4590004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030786-3CE1-BD3B-1701-BDB2A9811BD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19998" y="4679999"/>
            <a:ext cx="6119996" cy="503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de-DE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9C17DF8-6B38-7B23-D314-C436F923963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BB8655-5D47-FC14-7EBF-9E9DE6B7CE1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9318" y="0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77DDC-3814-8D1C-358D-13F9BF0021D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5DEA9-5327-8EB0-A911-02158E9C2A1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B3D49A4-F13D-40B4-A930-B197A1AB102E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7631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0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de-DE" sz="2000" b="0" i="0" u="none" strike="noStrike" kern="1200" cap="none" spc="0" baseline="0">
        <a:solidFill>
          <a:srgbClr val="000000"/>
        </a:solidFill>
        <a:uFillTx/>
        <a:latin typeface="Arial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44E6ED4-E779-6CCD-5AE9-E726B3F5B422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2A2C38-C557-45F5-A0CE-8F40DC02DB0D}" type="slidenum">
              <a:t>1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EDB6069-BDF1-4E34-2978-9DF8C877C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7"/>
            <a:ext cx="4587873" cy="3441701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485D5ED-A628-4C54-1D4D-8674B33625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C0051B6-33A9-BB6D-DFF1-D84D8888236F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3FE68C3-5AD3-44AE-962F-BA06DB9ECA1A}" type="slidenum">
              <a:t>2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CEDBB9F-7256-7115-3970-E78A9DC2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88112A35-84C4-BCC4-CB1C-44FDF2D4AA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682A222D-661D-8C43-9869-3F27838BFA57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AE8305-26CF-4CAB-80EA-7B31FB5B7E27}" type="slidenum">
              <a:t>3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E5D74C7C-2F3B-8218-0BBE-272507E4DC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DE8617E1-2DC6-96C5-DC1C-27DCE3A46DA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D2400AC-1E9C-A223-8954-F5CCBB4275C1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9402357-0FFC-492C-A9C4-18DDFA680699}" type="slidenum">
              <a:t>4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19CEF6AD-7CE6-18FC-CFED-588ED78D1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7"/>
            <a:ext cx="4587873" cy="3441701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350E871-06B1-1DD0-1B48-E950F01AAAB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6ABCD9B-5B83-DAA7-352E-F34BCC97DF81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D41DBFF-6ED8-4176-8547-28DA89B61A5C}" type="slidenum">
              <a:t>5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A8A3654-7526-6E1C-5C9B-F6357E2A9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7"/>
            <a:ext cx="4587873" cy="3441701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593225F7-E9F8-3260-22C9-3E2354375D3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ED120E30-3AE6-DF19-9057-79D4DD61D7A8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6F1D4A7-E365-40D4-B93E-E446889B2E32}" type="slidenum">
              <a:t>6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D051664-1C5E-DC26-0E4B-FE9A5735F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7"/>
            <a:ext cx="4587873" cy="3441701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0208E16-690E-6ED4-93A4-34C146DC0CE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F847487-A062-BC5B-865A-7686B6F3C49D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1F2123-6EA1-4E90-9F21-536A10D1E232}" type="slidenum">
              <a:t>7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9A51942-2A94-5B0C-5D3F-8F44E5352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7"/>
            <a:ext cx="4587873" cy="3441701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04A1BAC3-901E-498F-40F5-5F95C27CEF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de-DE"/>
              <a:t>In a Markovian queueing system, the stochastic process {N(t), t ≥ 0}, that is the number of customers in the system at time t, summarizes the complete</a:t>
            </a:r>
          </a:p>
          <a:p>
            <a:pPr lvl="0"/>
            <a:r>
              <a:rPr lang="de-DE"/>
              <a:t>past history of the system and can be modelled as a birth-death process.</a:t>
            </a:r>
          </a:p>
          <a:p>
            <a:pPr lvl="0"/>
            <a:r>
              <a:rPr lang="de-DE"/>
              <a:t> This enables us to write down the balance equations from its state transition diagram,</a:t>
            </a:r>
          </a:p>
          <a:p>
            <a:pPr lvl="0"/>
            <a:r>
              <a:rPr lang="de-DE"/>
              <a:t>and then proceed to calculate P k and its performance measures.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1C33D5B5-5A5C-75F7-AFD8-D0C23D2ABDDD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9B62AE8-BBD6-42C1-9B13-FE09A1D1B94D}" type="slidenum">
              <a:t>8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FA9A6984-A19D-F9FE-79D8-28BE432B7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6CB7E35F-7605-2C9C-A727-AF43C30606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490D32E-985A-12DE-AF66-1EEEB5671F7D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CF5E6DE-C52D-44D9-95E8-6E88636BA3E8}" type="slidenum">
              <a:t>9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F582270-C543-10EA-93C6-F9F6DBBEA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D95DAA1-F3F6-87BA-7E8D-78FFAD48D4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73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490D32E-985A-12DE-AF66-1EEEB5671F7D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CF5E6DE-C52D-44D9-95E8-6E88636BA3E8}" type="slidenum">
              <a:t>10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F582270-C543-10EA-93C6-F9F6DBBEA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CD95DAA1-F3F6-87BA-7E8D-78FFAD48D4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A7C51E0-CBB4-1FCF-FF5E-879DB8F54DD5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BCF86C7-D60D-43C7-974A-0150D4F5A9CD}" type="slidenum">
              <a:t>11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8C0B4B4-97F4-DFFB-83DA-976AB7BEE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169FC2EE-712E-7D66-9B7C-FF14B427C2F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0721F9C-0F9E-1753-C97D-1FACE4211E64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CEBF37F-130E-4DA8-8735-3DA42BAECF0D}" type="slidenum">
              <a:t>12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61E868D9-49B4-0B9B-37E1-3802D1BFA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BE23B1C7-BF4B-7E72-F5B1-DFA2B80B968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39F33F7-AD5A-5672-2375-04C6ED11F7CE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6833915-6F31-4C2D-86E8-C2DE9A0151B7}" type="slidenum">
              <a:t>13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A6D201FE-6C7A-91D7-83F7-988926252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4194DD2-4A9C-696D-5021-C6136AA546C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62A6CCF-C5F5-0ABC-1AF9-63B94DB044D9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FA35D02-C4C5-401C-9019-AD845EAD9E9A}" type="slidenum">
              <a:t>14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340DA441-AF85-E4BF-23C0-BE4D17452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0BC18A4-F2C5-396C-9934-847C5879AC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218D1EF-F61A-D572-8866-3F6F5A77A8AA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99A97DE-D266-44F1-B6E3-F5676D877182}" type="slidenum">
              <a:t>15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D183E0E3-F4E8-A434-FAB8-A494F8E58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4E494D4E-AFB9-4214-6BCC-B4CFD453D9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4AE21CB-90AB-DEEB-EF05-77C305600E78}"/>
              </a:ext>
            </a:extLst>
          </p:cNvPr>
          <p:cNvSpPr txBox="1"/>
          <p:nvPr/>
        </p:nvSpPr>
        <p:spPr>
          <a:xfrm>
            <a:off x="4279318" y="10157402"/>
            <a:ext cx="3280318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7F7497-08C0-4BCD-983E-3F5EE693E32B}" type="slidenum">
              <a:t>16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Slide Image Placeholder 1">
            <a:extLst>
              <a:ext uri="{FF2B5EF4-FFF2-40B4-BE49-F238E27FC236}">
                <a16:creationId xmlns:a16="http://schemas.microsoft.com/office/drawing/2014/main" id="{9546BA72-60FF-1371-DACA-09AD3CCD0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85900" y="900113"/>
            <a:ext cx="4587875" cy="3441700"/>
          </a:xfrm>
          <a:solidFill>
            <a:srgbClr val="729FCF"/>
          </a:solidFill>
          <a:ln w="25402">
            <a:solidFill>
              <a:srgbClr val="3465AF"/>
            </a:solidFill>
            <a:prstDash val="solid"/>
          </a:ln>
        </p:spPr>
      </p:sp>
      <p:sp>
        <p:nvSpPr>
          <p:cNvPr id="4" name="Notes Placeholder 2">
            <a:extLst>
              <a:ext uri="{FF2B5EF4-FFF2-40B4-BE49-F238E27FC236}">
                <a16:creationId xmlns:a16="http://schemas.microsoft.com/office/drawing/2014/main" id="{E1660E27-017B-EBEB-CBDB-59D90A945D2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969B-34F3-E04C-1CB2-C1CD682AF14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 anchorCtr="1"/>
          <a:lstStyle>
            <a:lvl1pPr algn="ctr"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F287B-FF2A-9ED0-D580-6BCF53719E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A9FEE-F5E0-5D19-4AA4-F42C6CBDDDA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A5B8D-318B-142B-1F27-F3082A9009A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45D1F-508A-BC17-148B-A3261F61BDB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C908F29-8B7C-4E79-8ED0-48D90EC10B7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997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A5C4-75F9-4158-891A-B03A1EE6D9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D6EB8-325B-5692-EA8D-44D750C23359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C5096-4BFA-3838-EB38-672F5E10DD0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9BEB9-78E8-F750-8BFA-5AAC80A7DF5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17A68-E0A3-E653-E8AA-6015D4F528E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3A47E17-B764-465E-A47D-8FE4EDD2044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581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93A4-5C48-7ED8-FA97-FF35AC3BC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en-US"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3C06E-C2F9-5C16-CF3A-70C322049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8BF9D-BABF-AC34-617B-FAD9F25373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D2B20-2E22-60B1-DBB7-BE6A2E5419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479C3-E6BE-DE10-465B-66A301B66EB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C32D13-BCA4-4F72-ACE2-20ED068E22D7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56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800AB-29DA-BAE2-4207-C36FC135998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591F4-BC95-DEFD-C79A-EC19F26FDC3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800225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322E1-92C1-2B9F-BF35-83D3A02D277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800225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612D6E-F890-0774-4108-06486BF081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0455B-80EB-1F89-7FC5-57133955DF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41A9F-B6C8-562F-A9E7-E3C2E1E6EA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E1849F-8C82-4EDF-8027-6ED6F67DC164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109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4D7F4-3A01-2CA3-BFE2-A6239732B2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08A91-3FA9-59B9-66B3-A74FDEE82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B31C6-4CC7-D1E9-6268-2E9DA6792CBB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806F1-9EBA-A7A1-1501-2038D441C9D6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F2D273-600C-B6B9-131E-4A4788A2999D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A185D-1AD9-69DC-7800-A3F146789C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328D6-7C76-2F59-DF01-953CAD81958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BFE4B-9268-36D6-6F37-ACE3D98B91F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24C42F-5BD3-4673-9AE8-ABF3E8F1A7F8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0170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AED9-2724-8B58-8537-D31BCCC890C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8F7B1A-0CC8-15E9-5388-0C859B2BABD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FA895-610C-9292-EE44-DEB5504854F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5B56E-870C-F98F-3385-5E2FF63146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DA16B0-AE13-407E-8230-EE006101602C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6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27245-27DE-0E29-8297-EA656E14C8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9A85D-2F10-6567-5AE7-744BA9E669D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AEF07-608D-7173-0CAD-DA53547211B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BD92766-E465-4B9D-B767-8C7D0AD6226A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225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4ED0-FB27-D8A7-57F5-8F738D6BDA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902F-BB59-33D1-A046-8DCA88DAC1A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8C2D7-58DB-DAC8-BF60-84AE868B2F0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AF6B7-DB30-34D3-1711-63FF50B7A41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E4C1B-A864-1CA3-A220-E47B7CB324B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56A5B-5D29-44C4-9125-2EC5946406D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9A8386-1FBF-4ED1-94C0-17E0877B64B3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315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FE99-7219-C1E0-27BA-229D69587D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en-US"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31B08-7AE6-0669-8257-F4E43E2288C5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7D7E7-7CBC-4534-63C6-5741DF88CBC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F162C-4303-F807-F3F8-CEE50DD326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1AD65-75A8-4627-E138-2E9E7A48F1F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2BA9B-584E-4281-C155-09689E8622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F28F69-A17B-41D3-A38F-CAA7563387BF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826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4332B-E619-5529-E0A0-9D5C51ACB0F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27F02-B667-718E-6D69-034760B6DBD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D3B28-8B60-0AFD-ECBA-3DDD4089B3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0B79A-97BA-949A-840F-BC87A2BA90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37460-B39E-F9FC-1069-8A504995907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BC482C-8B0E-4111-AC0F-4726912C120D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1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79B5-9E55-9CAE-66F3-2CE76F1DD4FF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576264"/>
            <a:ext cx="2266953" cy="5608636"/>
          </a:xfrm>
        </p:spPr>
        <p:txBody>
          <a:bodyPr vert="eaVert"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F48C2-F4E5-27CD-3BCC-4ABA716453E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576264"/>
            <a:ext cx="6653210" cy="5608636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1023B-2F3C-3DB4-235F-65397DED77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6E570-CF82-1087-B7DD-B1A08F55726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C891B-59E2-16E7-2E8C-23BCC2E4D3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9617A2-F8C0-44A0-88C6-51074FC3EFF1}" type="slidenum"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722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ECCFC608-F6AD-F1C2-C656-77653D79A271}"/>
              </a:ext>
            </a:extLst>
          </p:cNvPr>
          <p:cNvPicPr>
            <a:picLocks noChangeAspect="1"/>
          </p:cNvPicPr>
          <p:nvPr/>
        </p:nvPicPr>
        <p:blipFill>
          <a:blip r:embed="rId13">
            <a:lum/>
            <a:alphaModFix/>
          </a:blip>
          <a:srcRect/>
          <a:stretch>
            <a:fillRect/>
          </a:stretch>
        </p:blipFill>
        <p:spPr>
          <a:xfrm>
            <a:off x="722" y="722"/>
            <a:ext cx="10079641" cy="755963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FF3ADF9-8591-FD3B-A671-A8D3674CBB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575998"/>
            <a:ext cx="7200003" cy="71999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lvl="0"/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6BA16-3FC0-0F66-330F-02324FCF48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799996"/>
            <a:ext cx="9072000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8CBA6-5A4E-78BD-A1BB-2D2E5731C71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79BB9-144C-677A-0360-CF7E3C19C89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8FA92-2060-3559-5B7D-0DFDC628F8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9E6639A-6902-4A9E-A0D6-3D6696F73607}" type="slidenum"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de-DE" sz="3600" b="0" i="0" u="none" strike="noStrike" kern="1200" cap="none" spc="0" baseline="0">
          <a:solidFill>
            <a:srgbClr val="000000"/>
          </a:solidFill>
          <a:uFillTx/>
          <a:latin typeface="Arial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en-US" sz="2600" b="0" i="0" u="none" strike="noStrike" kern="1200" cap="none" spc="0" baseline="0">
          <a:solidFill>
            <a:srgbClr val="000000"/>
          </a:solidFill>
          <a:uFillTx/>
          <a:latin typeface="Liberation Sans" pitchFamily="34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A666E77-A775-631E-B890-685BC0B74B9F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0B3BF66-86B1-4156-86CF-C283825FE068}" type="slidenum">
              <a:t>1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C33A6E-0454-F1A4-8456-744DA3C482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4602F3-A123-D244-8213-11268A0C4F8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 anchorCtr="1"/>
          <a:lstStyle/>
          <a:p>
            <a:pPr lvl="0" algn="ctr"/>
            <a:r>
              <a:rPr lang="de-DE" sz="3600" b="1">
                <a:latin typeface="Arial" pitchFamily="18"/>
              </a:rPr>
              <a:t>Modelling Multi Serever Queues</a:t>
            </a:r>
          </a:p>
          <a:p>
            <a:pPr lvl="0" algn="ctr"/>
            <a:r>
              <a:rPr lang="de-DE" sz="3600" b="1">
                <a:latin typeface="Arial" pitchFamily="18"/>
              </a:rPr>
              <a:t>(Semi-Markovian</a:t>
            </a:r>
          </a:p>
          <a:p>
            <a:pPr lvl="0" algn="ctr"/>
            <a:r>
              <a:rPr lang="de-DE" sz="3600" b="1">
                <a:latin typeface="Arial" pitchFamily="18"/>
              </a:rPr>
              <a:t>Queueing Systems)</a:t>
            </a:r>
          </a:p>
          <a:p>
            <a:pPr lvl="0" algn="ctr"/>
            <a:r>
              <a:rPr lang="de-DE" sz="3600" b="1">
                <a:latin typeface="Arial" pitchFamily="18"/>
              </a:rPr>
              <a:t>Lecture 9</a:t>
            </a:r>
          </a:p>
          <a:p>
            <a:pPr lvl="0" algn="ctr"/>
            <a:r>
              <a:rPr lang="de-DE" sz="2200">
                <a:latin typeface="Arial" pitchFamily="18"/>
              </a:rPr>
              <a:t>Communication Theory III</a:t>
            </a:r>
          </a:p>
          <a:p>
            <a:pPr lvl="0" algn="ctr"/>
            <a:r>
              <a:rPr lang="de-DE" sz="2200">
                <a:latin typeface="Arial" pitchFamily="18"/>
              </a:rPr>
              <a:t>Eng. (Mrs.) PN Karunanayake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88336500-22B1-35F6-5143-6F9CAC6EB716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73D66F0-89EB-4FD6-B4F6-FE5CAC4578BC}" type="slidenum">
              <a:t>2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2BB429-DE00-E5C8-09F6-2CCD4575CF2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Flow Conservation Law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1FA056C-7DA5-2B23-42A3-3389E68DE49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99996"/>
            <a:ext cx="9072000" cy="3528002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sz="2400" dirty="0"/>
              <a:t>For a stable queueing system, the rate of customers entering the system observe for a sufficiently long period of time, λ</a:t>
            </a:r>
            <a:r>
              <a:rPr lang="de-DE" sz="2400" baseline="-33000" dirty="0"/>
              <a:t>out</a:t>
            </a:r>
            <a:r>
              <a:rPr lang="de-DE" sz="2400" dirty="0"/>
              <a:t> = λ</a:t>
            </a:r>
            <a:r>
              <a:rPr lang="de-DE" sz="2400" baseline="-33000" dirty="0"/>
              <a:t>in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400" dirty="0"/>
              <a:t>Example:A PBX was installed to handle the voice traffic generated by 300 employees in a factory. If each employee, on average, makes 1.5 calls per hour with an average call duration of 2.5 minutes, what is the offered load presented to this PBX?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B6AB95B6-3718-9364-089A-A69B154504E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008156" y="5033515"/>
            <a:ext cx="4047838" cy="15904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A5A89279-54F9-87AA-4742-87E5E7B72CF5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E122FEB-0036-4A5E-8D7E-B9DFEF581253}" type="slidenum">
              <a:t>3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CC92EEC-7569-3185-8973-FD7C8D1C7E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br>
              <a:rPr lang="de-DE"/>
            </a:br>
            <a:r>
              <a:rPr lang="de-DE"/>
              <a:t>M/M/1 Queue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713D104-6E2D-DCB2-B6EE-DE98768B8029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275" y="1538235"/>
            <a:ext cx="9072000" cy="5880964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At a neighhourhood polyclinic, patients arrive according to a Poisson process with an average inter-arrival time of 18 minutes. These patients are given a queue number upon arrival and will be seen, by the only doctor manning the clinic, according to their queue number. The length of a typical consultation session is found from historical data to be exponentially distributed with a mean of 7 minutes: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(i) What is the probability that a patient has to wait to see the doctor?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(ii) What is the average number of patients waiting to see the doctor?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(iii) What is the probability that there are more than 5 patients in the clinic,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including the one in consultation with the doctor?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000" dirty="0"/>
              <a:t>(iv) What is the probability that a patient would have to wait more than 10 minutes for this consultation?</a:t>
            </a:r>
          </a:p>
          <a:p>
            <a:pPr lvl="0">
              <a:buSzPct val="45000"/>
              <a:buFont typeface="StarSymbol"/>
              <a:buChar char="●"/>
            </a:pPr>
            <a:endParaRPr lang="de-DE" sz="2000" dirty="0"/>
          </a:p>
          <a:p>
            <a:pPr lvl="0">
              <a:buSzPct val="45000"/>
              <a:buFont typeface="StarSymbol"/>
              <a:buChar char="●"/>
            </a:pPr>
            <a:endParaRPr lang="de-DE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0A8A1F6-3413-AF0F-B3C7-4A17B16C90F0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656E81B-9D23-4417-B5AA-928EEBECAAEC}" type="slidenum">
              <a:t>4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2DCA5B-B370-4F68-16ED-1E604F6F320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M/M/1/k Queue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4A60C3B-300B-3F3D-CB68-685499CB1A87}"/>
              </a:ext>
            </a:extLst>
          </p:cNvPr>
          <p:cNvSpPr txBox="1"/>
          <p:nvPr/>
        </p:nvSpPr>
        <p:spPr>
          <a:xfrm>
            <a:off x="935998" y="1727996"/>
            <a:ext cx="8096490" cy="39834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2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Variable-length packets arrive at a network switching node at an average rate of 125 packets per second. If the packet lengths are exponentially distributed with a mean of 88 bits and the single outgoing link is operating at 19.2 kb/s,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2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2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(i) what is the probability of buffer overflow if the buffer is only big enough to hold 11 packets?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2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2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(ii) On average, how many packets are there in the buffer?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22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WenQuanYi Zen Hei" pitchFamily="2"/>
              <a:cs typeface="Lohit Hindi" pitchFamily="2"/>
            </a:endParaRP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22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(iii) How big should the buffer be in terms of number of packets to keep packet loss below 10</a:t>
            </a:r>
            <a:r>
              <a:rPr lang="de-DE" sz="2200" b="0" i="0" u="none" strike="noStrike" kern="1200" cap="none" spc="0" baseline="3300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−6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9C402D7-2DA0-D886-59B4-E95BA75EF059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B89C59B-0093-4DD1-ABC6-629E2F8CD492}" type="slidenum">
              <a:t>5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81EBF0C-FBC2-B022-AE48-6AE5A0AB2E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M/M/m Queue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919339-F747-B1E0-BF6A-2EC7E930B6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de-DE" sz="2200"/>
              <a:t>A trading company is installing a new 300-line PBX to replace its old existing over-crowded one. The new PBX will have a group of two-way external circuits and the outgoing and incoming calls will be split equally among them.</a:t>
            </a:r>
          </a:p>
          <a:p>
            <a:pPr lvl="0"/>
            <a:r>
              <a:rPr lang="de-DE" sz="2200"/>
              <a:t>It has been observed from past experience that each internal telephone usually generated (call or receive) 20 minutes of voice traffi c during a typical busy day. How many external circuits are required to ensure a blocking probability of 0.02?</a:t>
            </a:r>
          </a:p>
          <a:p>
            <a:pPr lvl="0"/>
            <a:r>
              <a:rPr lang="de-DE" sz="2200"/>
              <a:t>assume that the busy hour traffi c level constitutes about 14% of a busy day’s traffic.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255B947-73F2-ADC3-4527-C36070448A58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A781423-495B-4083-A0E7-95AEBD4AF61B}" type="slidenum">
              <a:t>6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CA8B448-A217-6B29-1BCA-79CAE24DE2B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Semi-Markovian Queueing Systems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59119A9-7999-D9E6-2297-F9550C450C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In Markovian queueing systems, both the arrival and service processes are memoryless. These models are appropriate in certain applications such as voice communication.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In the case of packet switching, packets are transmitted either with a fixed length or a </a:t>
            </a:r>
            <a:r>
              <a:rPr lang="de-DE" b="1"/>
              <a:t>certain limit imposed by the physical constraints.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In the latter case, a more appropriate model would be the M/G/1, which belongs to the class of queueing systems called semi-Markovian queueing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02F5A4D-769F-9E19-8920-F05742F0CA52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7FA07A7-BECC-4F18-A499-BEF41A1DFA68}" type="slidenum">
              <a:t>7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CFB00C-B990-232D-672B-7BDC7564FFC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Semi-Markovian Queueing Systems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FBB7CF-2D6F-9A6C-92F9-CF65D98D8A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Semi-Markovian queueing systems refer to those queueing systems in which either the arrival or service process is not ‘memoryless’.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Include M/G/1, G/M/1, their priority queueing variants and, of course, the multi-server counterparts.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In M/G/1, the service time already received by the customer in service at time </a:t>
            </a:r>
            <a:r>
              <a:rPr lang="de-DE" i="1"/>
              <a:t>t</a:t>
            </a:r>
            <a:r>
              <a:rPr lang="de-DE"/>
              <a:t> is specified in addition to the N(t).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This is necessary as the distribution of the remaining service time for that customer under service is no longer the same as the original distribution.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The process N(t) no longer possesses the ‘memoryless’ property.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8BD28E7-3154-E9F8-C9D5-1E000918D262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C632691-901E-4277-8CAF-7DA257EFC1DD}" type="slidenum">
              <a:t>8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9954B6-D10A-A28D-02E5-43AE631DD8D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424080"/>
            <a:ext cx="7200003" cy="1024201"/>
          </a:xfrm>
        </p:spPr>
        <p:txBody>
          <a:bodyPr/>
          <a:lstStyle/>
          <a:p>
            <a:pPr lvl="0"/>
            <a:r>
              <a:rPr lang="de-DE"/>
              <a:t>General Service, Single Server (M/G/1)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39A6848-B585-FEE1-BFF2-F10DA4A17F1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dirty="0"/>
              <a:t>Poisson input with mean λ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A general single server with a service distribution time X(t) (and the density function x(t)).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Assume the mean E(x) and the second moment E(x</a:t>
            </a:r>
            <a:r>
              <a:rPr lang="de-DE" baseline="33000" dirty="0"/>
              <a:t>2</a:t>
            </a:r>
            <a:r>
              <a:rPr lang="de-DE" dirty="0"/>
              <a:t>) of the service time distribution exist and are finite.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Customers are served </a:t>
            </a:r>
            <a:r>
              <a:rPr lang="de-DE" b="1" dirty="0"/>
              <a:t>FCFS</a:t>
            </a:r>
            <a:r>
              <a:rPr lang="de-DE" dirty="0"/>
              <a:t>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The capacity of the waiting queue is as usual infinite.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Assume that the service times are independent of the arrival process as well as the number of customers in the system.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The transition probabilities dependent of t.It depends on how long the system has been in the current state.</a:t>
            </a:r>
          </a:p>
          <a:p>
            <a:pPr lvl="0">
              <a:buSzPct val="45000"/>
              <a:buFont typeface="StarSymbol"/>
              <a:buChar char="●"/>
            </a:pPr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51BC0D-D25B-2CBC-1B8C-CDD389C495E3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3CB97B-CAF8-4C7F-AD7C-7C1F7C1B2BB4}" type="slidenum">
              <a:t>9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4DDF5C-C8B7-8FD3-B4A7-E9F41B2DDA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90822D-6412-831F-2B18-ED643AD828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dirty="0"/>
              <a:t>In a Markovian queueing system, the stochastic process {N(t), t ≥ 0}, (the number of customers in the system at time t), summarizes the complete past history of the system and can be modelled as a birth-death process. 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This allows to draw the state transition diagram, and then proceed to calculate P</a:t>
            </a:r>
            <a:r>
              <a:rPr lang="de-DE" baseline="-33000" dirty="0"/>
              <a:t>k</a:t>
            </a:r>
            <a:r>
              <a:rPr lang="de-DE" dirty="0"/>
              <a:t> and its performance measures.</a:t>
            </a:r>
          </a:p>
        </p:txBody>
      </p:sp>
    </p:spTree>
    <p:extLst>
      <p:ext uri="{BB962C8B-B14F-4D97-AF65-F5344CB8AC3E}">
        <p14:creationId xmlns:p14="http://schemas.microsoft.com/office/powerpoint/2010/main" val="235600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C51BC0D-D25B-2CBC-1B8C-CDD389C495E3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A3CB97B-CAF8-4C7F-AD7C-7C1F7C1B2BB4}" type="slidenum">
              <a:t>10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4DDF5C-C8B7-8FD3-B4A7-E9F41B2DDA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290822D-6412-831F-2B18-ED643AD828C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dirty="0"/>
              <a:t>In the case of a semi-Markovian system, M/G/1, it is require to specify the service time already received by the customer in service at time </a:t>
            </a:r>
            <a:r>
              <a:rPr lang="de-DE" b="1" dirty="0"/>
              <a:t>t</a:t>
            </a:r>
            <a:r>
              <a:rPr lang="de-DE" dirty="0"/>
              <a:t> </a:t>
            </a:r>
            <a:r>
              <a:rPr lang="de-DE" b="1" dirty="0"/>
              <a:t>in addition to the N(t).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dirty="0"/>
              <a:t>This is necessary as </a:t>
            </a:r>
            <a:r>
              <a:rPr lang="de-DE" b="1" dirty="0"/>
              <a:t>the distribution of the remaining service time for that customer under service is no longer the same as the original distribution.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2242B5A-1D02-E882-78D7-1738E8DBCCA1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274E62A-72FA-42E6-8FB4-426B3302F099}" type="slidenum">
              <a:t>11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C1C258E-4E36-8EE0-3BC3-8B2DB65CEB4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de-DE"/>
              <a:t>The M/G/1 Queueing System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172CE90E-59EC-0B46-6420-9F6B66119D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 sz="2400"/>
              <a:t>Customers arrive according to a Poisson process with mean λ and are served by a single server of general service-time distribution X(t) (and density function x(t)).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400"/>
              <a:t>Also assumption is made that the mean E(x) and the second moment E(x</a:t>
            </a:r>
            <a:r>
              <a:rPr lang="de-DE" sz="2400" baseline="33000"/>
              <a:t>2</a:t>
            </a:r>
            <a:r>
              <a:rPr lang="de-DE" sz="2400"/>
              <a:t> ) of the service time distribution exist and are finite. We denote them as x̄ and x</a:t>
            </a:r>
            <a:r>
              <a:rPr lang="de-DE" sz="2400" baseline="33000"/>
              <a:t>2</a:t>
            </a:r>
            <a:r>
              <a:rPr lang="de-DE" sz="2400"/>
              <a:t> , respectively.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 sz="2400"/>
              <a:t>The capacity of the waiting queue is as usual infinite and customers are served in the order they arrived</a:t>
            </a:r>
            <a:r>
              <a:rPr lang="de-DE"/>
              <a:t>.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7F212446-3BD4-ED9F-5539-2B020E6BDA1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736003" y="5111998"/>
            <a:ext cx="4079879" cy="171180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9A6EDFBC-E645-E651-5CA8-2D2AAAA78959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E82C5CF-FC70-42D8-93EC-EC534888F099}" type="slidenum">
              <a:t>12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C89CA99-70FA-FFED-58C2-87500D1A73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de-DE"/>
              <a:t>Performance Measures of M/G/1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FD79CE-4473-F48E-EFD5-17B6BD464E9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99996"/>
            <a:ext cx="9072000" cy="50399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The expected number of arrivals during a single service period</a:t>
            </a:r>
          </a:p>
          <a:p>
            <a:pPr lvl="0">
              <a:buSzPct val="45000"/>
              <a:buFont typeface="StarSymbol"/>
              <a:buChar char="●"/>
            </a:pPr>
            <a:endParaRPr lang="de-DE"/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AB681DBB-0D98-313C-1FAF-A425C655F0F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032001" y="2442243"/>
            <a:ext cx="1323722" cy="43775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D1E55200-927A-30E5-036F-DEAE615FA485}"/>
              </a:ext>
            </a:extLst>
          </p:cNvPr>
          <p:cNvSpPr txBox="1"/>
          <p:nvPr/>
        </p:nvSpPr>
        <p:spPr>
          <a:xfrm>
            <a:off x="1007997" y="3095637"/>
            <a:ext cx="8208001" cy="86435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X – service time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Ubuntu" pitchFamily="18"/>
                <a:ea typeface="Ubuntu" pitchFamily="2"/>
                <a:cs typeface="Ubuntu" pitchFamily="2"/>
              </a:rPr>
              <a:t>λ</a:t>
            </a: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Arial" pitchFamily="34"/>
                <a:cs typeface="Arial" pitchFamily="34"/>
              </a:rPr>
              <a:t> – mean arrival</a:t>
            </a:r>
          </a:p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rial" pitchFamily="34"/>
              <a:cs typeface="Arial" pitchFamily="34"/>
            </a:endParaRP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BE2D457-EB39-DCFD-2389-12A8F4A9165B}"/>
              </a:ext>
            </a:extLst>
          </p:cNvPr>
          <p:cNvSpPr txBox="1"/>
          <p:nvPr/>
        </p:nvSpPr>
        <p:spPr>
          <a:xfrm>
            <a:off x="791998" y="3829680"/>
            <a:ext cx="8208001" cy="3463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WenQuanYi Zen Hei" pitchFamily="2"/>
                <a:cs typeface="Lohit Hindi" pitchFamily="2"/>
              </a:rPr>
              <a:t>The mean queueing time</a:t>
            </a:r>
          </a:p>
        </p:txBody>
      </p:sp>
      <p:pic>
        <p:nvPicPr>
          <p:cNvPr id="8" name="">
            <a:extLst>
              <a:ext uri="{FF2B5EF4-FFF2-40B4-BE49-F238E27FC236}">
                <a16:creationId xmlns:a16="http://schemas.microsoft.com/office/drawing/2014/main" id="{1A693DBE-60E3-C599-53F8-E385255D5F5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42517" y="4105079"/>
            <a:ext cx="2733479" cy="12949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">
            <a:extLst>
              <a:ext uri="{FF2B5EF4-FFF2-40B4-BE49-F238E27FC236}">
                <a16:creationId xmlns:a16="http://schemas.microsoft.com/office/drawing/2014/main" id="{3AF7DE7F-1681-1C72-A38C-0F1DF4D5BA2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905838" y="6143762"/>
            <a:ext cx="6086164" cy="55224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077E139-9926-BA2F-914B-7BA5769108FD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FC22B68-4218-43B1-BD4B-79EB1D3B5567}" type="slidenum">
              <a:t>13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FAE0687-06B0-139D-BA98-CEF5729F277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de-DE"/>
              <a:t>Performance Measures of M/G/1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71C5AD-2E2A-1A75-C9B5-169D61D2DBA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99996"/>
            <a:ext cx="9072000" cy="50399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The number of customers in the waiting queue: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80B706C9-04E2-B9C0-5916-95FD51FCB4E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88001" y="2520004"/>
            <a:ext cx="2294997" cy="103788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ED51920-2A4A-A6D9-E13B-29DBF9F90F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3816001"/>
            <a:ext cx="9072000" cy="50399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The number of customers in the waiting queue:</a:t>
            </a:r>
          </a:p>
        </p:txBody>
      </p:sp>
      <p:pic>
        <p:nvPicPr>
          <p:cNvPr id="7" name="">
            <a:extLst>
              <a:ext uri="{FF2B5EF4-FFF2-40B4-BE49-F238E27FC236}">
                <a16:creationId xmlns:a16="http://schemas.microsoft.com/office/drawing/2014/main" id="{A7047F75-C18B-43E9-E290-C5C00A2F36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888001" y="5130716"/>
            <a:ext cx="2085481" cy="11332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4E46A02E-F88A-082C-61CB-BE4BBFE858FD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23C6BDF-934D-4C3E-BA99-6C7CE75A443B}" type="slidenum">
              <a:t>14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F91FF0-B83D-5C0E-6D66-6AD89128179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26A3C83-A37F-670F-4B59-54D6F08376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2412004"/>
            <a:ext cx="9072000" cy="503998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The number of customers in the waiting queue: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ADA04211-E38B-F4C7-41A2-B30A9B5D70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60001" y="3168002"/>
            <a:ext cx="2133359" cy="84743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1BB4E4A9-D900-2D8C-2B30-E46E37C7F4CB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237DEB6-2BE2-4C06-88B8-AFE63ABED760}" type="slidenum">
              <a:t>15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EF8D542-1335-8364-79E4-9E74E9EDDC6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de-DE"/>
              <a:t>M/D/1: deterministic service times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9A7B935-FD8E-7A1B-FC93-F5776AB0BAB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03998" y="1799996"/>
            <a:ext cx="9072000" cy="2087995"/>
          </a:xfrm>
        </p:spPr>
        <p:txBody>
          <a:bodyPr/>
          <a:lstStyle/>
          <a:p>
            <a:pPr lvl="0">
              <a:buSzPct val="45000"/>
              <a:buFont typeface="StarSymbol"/>
              <a:buChar char="●"/>
            </a:pPr>
            <a:r>
              <a:rPr lang="de-DE"/>
              <a:t>The M/D/1 model is a special case of the M/G/1 model where service times are fixed or deterministic and hence the “D” in the notation of M/D/1.</a:t>
            </a:r>
          </a:p>
          <a:p>
            <a:pPr lvl="0">
              <a:buSzPct val="45000"/>
              <a:buFont typeface="StarSymbol"/>
              <a:buChar char="●"/>
            </a:pPr>
            <a:r>
              <a:rPr lang="de-DE"/>
              <a:t>Example: the server is a robot working on some task in an assembly line.</a:t>
            </a:r>
          </a:p>
        </p:txBody>
      </p:sp>
      <p:pic>
        <p:nvPicPr>
          <p:cNvPr id="5" name="">
            <a:extLst>
              <a:ext uri="{FF2B5EF4-FFF2-40B4-BE49-F238E27FC236}">
                <a16:creationId xmlns:a16="http://schemas.microsoft.com/office/drawing/2014/main" id="{37585B0B-002F-2639-D1DC-EC43178B60F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08003" y="3960001"/>
            <a:ext cx="4851001" cy="117035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3B24F42-21C1-1DD3-92F2-6BA7B6505A18}"/>
              </a:ext>
            </a:extLst>
          </p:cNvPr>
          <p:cNvSpPr txBox="1"/>
          <p:nvPr/>
        </p:nvSpPr>
        <p:spPr>
          <a:xfrm>
            <a:off x="7226996" y="6887160"/>
            <a:ext cx="2348279" cy="52128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12BEF7A-6BDB-4A05-89AF-F19AC69EAF2E}" type="slidenum">
              <a:t>16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ea typeface="DejaVu Sans" pitchFamily="2"/>
              <a:cs typeface="DejaVu Sans" pitchFamily="2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AC00489-EEFA-FCBE-74BB-06522C6A88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6001F413-0493-F0B2-712B-28837E12C48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270083" y="1753919"/>
            <a:ext cx="7619759" cy="508607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spir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../../../../../../usr/lib/libreoffice/share/template/common/layout/Inspiration.otp</Template>
  <TotalTime>2721</TotalTime>
  <Words>1285</Words>
  <Application>Microsoft Office PowerPoint</Application>
  <PresentationFormat>Widescreen</PresentationFormat>
  <Paragraphs>102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Liberation Sans</vt:lpstr>
      <vt:lpstr>StarSymbol</vt:lpstr>
      <vt:lpstr>Times New Roman</vt:lpstr>
      <vt:lpstr>Ubuntu</vt:lpstr>
      <vt:lpstr>Inspiration</vt:lpstr>
      <vt:lpstr>PowerPoint Presentation</vt:lpstr>
      <vt:lpstr>Flow Conservation Law</vt:lpstr>
      <vt:lpstr> M/M/1 Queue</vt:lpstr>
      <vt:lpstr>M/M/1/k Queue</vt:lpstr>
      <vt:lpstr>M/M/m Queue</vt:lpstr>
      <vt:lpstr>Semi-Markovian Queueing Systems</vt:lpstr>
      <vt:lpstr>Semi-Markovian Queueing Systems</vt:lpstr>
      <vt:lpstr>General Service, Single Server (M/G/1)</vt:lpstr>
      <vt:lpstr>PowerPoint Presentation</vt:lpstr>
      <vt:lpstr>PowerPoint Presentation</vt:lpstr>
      <vt:lpstr>The M/G/1 Queueing System</vt:lpstr>
      <vt:lpstr>Performance Measures of M/G/1</vt:lpstr>
      <vt:lpstr>Performance Measures of M/G/1</vt:lpstr>
      <vt:lpstr>PowerPoint Presentation</vt:lpstr>
      <vt:lpstr>M/D/1: deterministic service times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Piumika K</cp:lastModifiedBy>
  <cp:revision>150</cp:revision>
  <dcterms:created xsi:type="dcterms:W3CDTF">2021-03-22T12:11:31Z</dcterms:created>
  <dcterms:modified xsi:type="dcterms:W3CDTF">2023-11-13T07:47:16Z</dcterms:modified>
</cp:coreProperties>
</file>