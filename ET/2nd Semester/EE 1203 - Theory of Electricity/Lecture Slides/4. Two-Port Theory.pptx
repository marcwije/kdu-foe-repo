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30"/>
  </p:notesMasterIdLst>
  <p:sldIdLst>
    <p:sldId id="301" r:id="rId3"/>
    <p:sldId id="413" r:id="rId4"/>
    <p:sldId id="457" r:id="rId5"/>
    <p:sldId id="458" r:id="rId6"/>
    <p:sldId id="459" r:id="rId7"/>
    <p:sldId id="460" r:id="rId8"/>
    <p:sldId id="461" r:id="rId9"/>
    <p:sldId id="462" r:id="rId10"/>
    <p:sldId id="463" r:id="rId11"/>
    <p:sldId id="464" r:id="rId12"/>
    <p:sldId id="465" r:id="rId13"/>
    <p:sldId id="466" r:id="rId14"/>
    <p:sldId id="467" r:id="rId15"/>
    <p:sldId id="468" r:id="rId16"/>
    <p:sldId id="469" r:id="rId17"/>
    <p:sldId id="470" r:id="rId18"/>
    <p:sldId id="471" r:id="rId19"/>
    <p:sldId id="472" r:id="rId20"/>
    <p:sldId id="473" r:id="rId21"/>
    <p:sldId id="474" r:id="rId22"/>
    <p:sldId id="475" r:id="rId23"/>
    <p:sldId id="476" r:id="rId24"/>
    <p:sldId id="477" r:id="rId25"/>
    <p:sldId id="478" r:id="rId26"/>
    <p:sldId id="479" r:id="rId27"/>
    <p:sldId id="480" r:id="rId28"/>
    <p:sldId id="456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ucas" initials="J R" lastIdx="1" clrIdx="0">
    <p:extLst>
      <p:ext uri="{19B8F6BF-5375-455C-9EA6-DF929625EA0E}">
        <p15:presenceInfo xmlns:p15="http://schemas.microsoft.com/office/powerpoint/2012/main" userId="Lucas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FF00"/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277" autoAdjust="0"/>
    <p:restoredTop sz="90093" autoAdjust="0"/>
  </p:normalViewPr>
  <p:slideViewPr>
    <p:cSldViewPr snapToGrid="0">
      <p:cViewPr varScale="1">
        <p:scale>
          <a:sx n="61" d="100"/>
          <a:sy n="61" d="100"/>
        </p:scale>
        <p:origin x="882" y="5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commentAuthors" Target="commentAuthor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image" Target="../media/image8.wmf"/><Relationship Id="rId1" Type="http://schemas.openxmlformats.org/officeDocument/2006/relationships/image" Target="../media/image7.wmf"/><Relationship Id="rId4" Type="http://schemas.openxmlformats.org/officeDocument/2006/relationships/image" Target="../media/image10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.wmf"/><Relationship Id="rId2" Type="http://schemas.openxmlformats.org/officeDocument/2006/relationships/image" Target="../media/image12.wmf"/><Relationship Id="rId1" Type="http://schemas.openxmlformats.org/officeDocument/2006/relationships/image" Target="../media/image11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.wmf"/><Relationship Id="rId2" Type="http://schemas.openxmlformats.org/officeDocument/2006/relationships/image" Target="../media/image16.wmf"/><Relationship Id="rId1" Type="http://schemas.openxmlformats.org/officeDocument/2006/relationships/image" Target="../media/image15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21.wmf"/><Relationship Id="rId2" Type="http://schemas.openxmlformats.org/officeDocument/2006/relationships/image" Target="../media/image20.wmf"/><Relationship Id="rId1" Type="http://schemas.openxmlformats.org/officeDocument/2006/relationships/image" Target="../media/image19.wmf"/><Relationship Id="rId6" Type="http://schemas.openxmlformats.org/officeDocument/2006/relationships/image" Target="../media/image24.wmf"/><Relationship Id="rId5" Type="http://schemas.openxmlformats.org/officeDocument/2006/relationships/image" Target="../media/image23.wmf"/><Relationship Id="rId4" Type="http://schemas.openxmlformats.org/officeDocument/2006/relationships/image" Target="../media/image22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25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28.wmf"/><Relationship Id="rId2" Type="http://schemas.openxmlformats.org/officeDocument/2006/relationships/image" Target="../media/image27.wmf"/><Relationship Id="rId1" Type="http://schemas.openxmlformats.org/officeDocument/2006/relationships/image" Target="../media/image26.w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32.wmf"/><Relationship Id="rId2" Type="http://schemas.openxmlformats.org/officeDocument/2006/relationships/image" Target="../media/image31.wmf"/><Relationship Id="rId1" Type="http://schemas.openxmlformats.org/officeDocument/2006/relationships/image" Target="../media/image30.wmf"/><Relationship Id="rId4" Type="http://schemas.openxmlformats.org/officeDocument/2006/relationships/image" Target="../media/image33.w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6.wmf"/><Relationship Id="rId2" Type="http://schemas.openxmlformats.org/officeDocument/2006/relationships/image" Target="../media/image35.wmf"/><Relationship Id="rId1" Type="http://schemas.openxmlformats.org/officeDocument/2006/relationships/image" Target="../media/image34.wmf"/><Relationship Id="rId6" Type="http://schemas.openxmlformats.org/officeDocument/2006/relationships/image" Target="../media/image39.wmf"/><Relationship Id="rId5" Type="http://schemas.openxmlformats.org/officeDocument/2006/relationships/image" Target="../media/image38.wmf"/><Relationship Id="rId4" Type="http://schemas.openxmlformats.org/officeDocument/2006/relationships/image" Target="../media/image37.w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413385-33B6-432C-BCB5-D28242722B6F}" type="datetimeFigureOut">
              <a:rPr lang="en-GB" smtClean="0"/>
              <a:t>22/09/2020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C4AAFD-141F-4056-A367-1845A08BF13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83246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3E7AF17-32A2-4BCF-8664-2B97A4DCC405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743496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.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C4AAFD-141F-4056-A367-1845A08BF131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763328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1988DE-CD73-4994-BB42-9A633DA0AB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8D3E0B-20EC-4D0C-BDEC-5F64CC445C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0574F8-A3DB-48D2-9728-3D6E3664C3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C8808-64BE-459B-935E-D1C096534883}" type="datetimeFigureOut">
              <a:rPr lang="en-GB" smtClean="0"/>
              <a:t>22/09/2020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EC6304-CDC6-49A6-B285-393CB01859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CA9079-5455-4256-A07C-9493AC33F4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53112-0FCF-4FF3-97FD-CEA299B20DF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069754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DF90CB-4690-4A91-8AF9-083DC561B0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15" y="634543"/>
            <a:ext cx="10924085" cy="482745"/>
          </a:xfrm>
        </p:spPr>
        <p:txBody>
          <a:bodyPr>
            <a:normAutofit/>
          </a:bodyPr>
          <a:lstStyle>
            <a:lvl1pPr algn="ctr">
              <a:defRPr sz="32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584F62-959D-4731-9C9B-E08757CDB6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9715" y="1208323"/>
            <a:ext cx="11360503" cy="4024078"/>
          </a:xfrm>
        </p:spPr>
        <p:txBody>
          <a:bodyPr>
            <a:normAutofit/>
          </a:bodyPr>
          <a:lstStyle>
            <a:lvl1pPr>
              <a:defRPr sz="3600">
                <a:solidFill>
                  <a:srgbClr val="002060"/>
                </a:solidFill>
              </a:defRPr>
            </a:lvl1pPr>
            <a:lvl2pPr>
              <a:defRPr sz="3200">
                <a:solidFill>
                  <a:srgbClr val="002060"/>
                </a:solidFill>
              </a:defRPr>
            </a:lvl2pPr>
            <a:lvl3pPr>
              <a:defRPr sz="2800">
                <a:solidFill>
                  <a:srgbClr val="002060"/>
                </a:solidFill>
              </a:defRPr>
            </a:lvl3pPr>
            <a:lvl4pPr>
              <a:defRPr sz="2400">
                <a:solidFill>
                  <a:srgbClr val="002060"/>
                </a:solidFill>
              </a:defRPr>
            </a:lvl4pPr>
            <a:lvl5pPr>
              <a:defRPr sz="2400">
                <a:solidFill>
                  <a:srgbClr val="00206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object 2">
            <a:extLst>
              <a:ext uri="{FF2B5EF4-FFF2-40B4-BE49-F238E27FC236}">
                <a16:creationId xmlns:a16="http://schemas.microsoft.com/office/drawing/2014/main" id="{B1DDA2E2-A596-4428-8BCB-4DAC8028B274}"/>
              </a:ext>
            </a:extLst>
          </p:cNvPr>
          <p:cNvSpPr txBox="1"/>
          <p:nvPr userDrawn="1"/>
        </p:nvSpPr>
        <p:spPr>
          <a:xfrm>
            <a:off x="566702" y="313267"/>
            <a:ext cx="8989252" cy="230242"/>
          </a:xfrm>
          <a:prstGeom prst="rect">
            <a:avLst/>
          </a:prstGeom>
        </p:spPr>
        <p:txBody>
          <a:bodyPr vert="horz" wrap="square" lIns="0" tIns="11289" rIns="0" bIns="0" rtlCol="0">
            <a:spAutoFit/>
          </a:bodyPr>
          <a:lstStyle/>
          <a:p>
            <a:pPr marL="11289" marR="0" lvl="0" indent="0" algn="l" defTabSz="914400" rtl="0" eaLnBrk="1" fontAlgn="auto" latinLnBrk="0" hangingPunct="1">
              <a:lnSpc>
                <a:spcPct val="100000"/>
              </a:lnSpc>
              <a:spcBef>
                <a:spcPts val="89"/>
              </a:spcBef>
              <a:spcAft>
                <a:spcPts val="0"/>
              </a:spcAft>
              <a:buClrTx/>
              <a:buSzTx/>
              <a:buFontTx/>
              <a:buNone/>
              <a:tabLst>
                <a:tab pos="4765664" algn="l"/>
              </a:tabLst>
              <a:defRPr/>
            </a:pPr>
            <a:r>
              <a:rPr kumimoji="0" sz="1422" b="0" i="0" u="none" strike="noStrike" kern="1200" cap="none" spc="-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EE </a:t>
            </a:r>
            <a:r>
              <a:rPr kumimoji="0" sz="1422" b="0" i="0" u="none" strike="noStrike" kern="1200" cap="none" spc="-9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1</a:t>
            </a:r>
            <a:r>
              <a:rPr kumimoji="0" lang="en-US" sz="1422" b="0" i="0" u="none" strike="noStrike" kern="1200" cap="none" spc="-9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203Theory of Electricity</a:t>
            </a:r>
            <a:r>
              <a:rPr kumimoji="0" sz="1422" b="0" i="0" u="none" strike="noStrike" kern="1200" cap="none" spc="-1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	</a:t>
            </a:r>
            <a:r>
              <a:rPr kumimoji="0" lang="en-US" sz="1422" b="0" i="0" u="none" strike="noStrike" kern="1200" cap="none" spc="-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Two Port Theory</a:t>
            </a:r>
            <a:endParaRPr kumimoji="0" sz="1422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8" name="object 17">
            <a:extLst>
              <a:ext uri="{FF2B5EF4-FFF2-40B4-BE49-F238E27FC236}">
                <a16:creationId xmlns:a16="http://schemas.microsoft.com/office/drawing/2014/main" id="{D9290862-A2B6-4690-8DD9-3E247011FE75}"/>
              </a:ext>
            </a:extLst>
          </p:cNvPr>
          <p:cNvSpPr txBox="1">
            <a:spLocks/>
          </p:cNvSpPr>
          <p:nvPr userDrawn="1"/>
        </p:nvSpPr>
        <p:spPr>
          <a:xfrm>
            <a:off x="429714" y="6630501"/>
            <a:ext cx="3340181" cy="169277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800" b="0" i="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89">
              <a:spcBef>
                <a:spcPts val="22"/>
              </a:spcBef>
            </a:pPr>
            <a:r>
              <a:rPr lang="en-US" sz="1100" spc="-5" dirty="0" err="1">
                <a:solidFill>
                  <a:prstClr val="black"/>
                </a:solidFill>
              </a:rPr>
              <a:t>KDU</a:t>
            </a:r>
            <a:r>
              <a:rPr lang="en-US" sz="1100" spc="-5" dirty="0">
                <a:solidFill>
                  <a:prstClr val="black"/>
                </a:solidFill>
              </a:rPr>
              <a:t> </a:t>
            </a:r>
            <a:r>
              <a:rPr lang="en-US" sz="1100" dirty="0">
                <a:solidFill>
                  <a:prstClr val="black"/>
                </a:solidFill>
              </a:rPr>
              <a:t>– </a:t>
            </a:r>
            <a:r>
              <a:rPr lang="en-US" sz="1100" spc="-10" dirty="0">
                <a:solidFill>
                  <a:prstClr val="black"/>
                </a:solidFill>
              </a:rPr>
              <a:t>Prepared </a:t>
            </a:r>
            <a:r>
              <a:rPr lang="en-US" sz="1100" spc="-5" dirty="0">
                <a:solidFill>
                  <a:prstClr val="black"/>
                </a:solidFill>
              </a:rPr>
              <a:t>by Prof </a:t>
            </a:r>
            <a:r>
              <a:rPr lang="en-US" sz="1100" dirty="0">
                <a:solidFill>
                  <a:prstClr val="black"/>
                </a:solidFill>
              </a:rPr>
              <a:t>J R</a:t>
            </a:r>
            <a:r>
              <a:rPr lang="en-US" sz="1100" spc="-155" dirty="0">
                <a:solidFill>
                  <a:prstClr val="black"/>
                </a:solidFill>
              </a:rPr>
              <a:t> </a:t>
            </a:r>
            <a:r>
              <a:rPr lang="en-US" sz="1100" spc="-10" dirty="0">
                <a:solidFill>
                  <a:prstClr val="black"/>
                </a:solidFill>
              </a:rPr>
              <a:t>Lucas/September2020</a:t>
            </a:r>
            <a:endParaRPr lang="en-US" sz="3600" spc="-9" dirty="0">
              <a:solidFill>
                <a:prstClr val="black"/>
              </a:solidFill>
            </a:endParaRPr>
          </a:p>
        </p:txBody>
      </p:sp>
      <p:pic>
        <p:nvPicPr>
          <p:cNvPr id="9" name="Picture 8" descr="A close up of a logo&#10;&#10;Description automatically generated">
            <a:extLst>
              <a:ext uri="{FF2B5EF4-FFF2-40B4-BE49-F238E27FC236}">
                <a16:creationId xmlns:a16="http://schemas.microsoft.com/office/drawing/2014/main" id="{BFB1319B-F2FE-4D02-B2A1-51D353FC804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4309" y="138184"/>
            <a:ext cx="1051611" cy="795982"/>
          </a:xfrm>
          <a:prstGeom prst="rect">
            <a:avLst/>
          </a:prstGeom>
        </p:spPr>
      </p:pic>
      <p:sp>
        <p:nvSpPr>
          <p:cNvPr id="10" name="Slide Number Placeholder 3">
            <a:extLst>
              <a:ext uri="{FF2B5EF4-FFF2-40B4-BE49-F238E27FC236}">
                <a16:creationId xmlns:a16="http://schemas.microsoft.com/office/drawing/2014/main" id="{E3A613AA-8F10-44E5-AAA9-2159C98886DB}"/>
              </a:ext>
            </a:extLst>
          </p:cNvPr>
          <p:cNvSpPr txBox="1">
            <a:spLocks/>
          </p:cNvSpPr>
          <p:nvPr userDrawn="1"/>
        </p:nvSpPr>
        <p:spPr>
          <a:xfrm>
            <a:off x="11637817" y="110691"/>
            <a:ext cx="512853" cy="3077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67F8B81-7D3C-44E4-9993-3F1024D0C961}" type="slidenum">
              <a:rPr lang="en-GB" sz="1400" smtClean="0"/>
              <a:pPr/>
              <a:t>‹#›</a:t>
            </a:fld>
            <a:endParaRPr lang="en-GB" sz="14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6902206-91A7-4F27-8D6F-DA5FC0BA6DA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019169" y="5232400"/>
            <a:ext cx="2172831" cy="162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08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225FC7-0220-494A-9380-3FBEF410EB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1E399F-8B54-4C68-AA8A-F518B4A436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C8808-64BE-459B-935E-D1C096534883}" type="datetimeFigureOut">
              <a:rPr lang="en-GB" smtClean="0"/>
              <a:t>22/09/2020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6E1D7DB-7938-42F5-8AC4-1A18F58150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0C3806-1652-46C9-A784-4DC2410C1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53112-0FCF-4FF3-97FD-CEA299B20DF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808315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333952-F54C-43E4-819D-E16478102B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774AF4-CC19-45AD-BA31-BED4748D7D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C6F291-4585-4782-8547-310F87E4A9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C8808-64BE-459B-935E-D1C096534883}" type="datetimeFigureOut">
              <a:rPr lang="en-GB" smtClean="0"/>
              <a:t>22/09/2020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2327DE-B30C-42C9-B7F5-4107AFDD0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1C9D24-28C4-4CDF-82AB-BFFA36B7DE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53112-0FCF-4FF3-97FD-CEA299B20DF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432181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E80785-4E88-4CA2-86E1-86F019D306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05146F-9A20-4634-9640-DB923FED5F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7E1E9F-3BB5-44DD-A7F5-F54E36A6A1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30C717-C07F-4031-A0F0-BAE1EEFCA1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C8808-64BE-459B-935E-D1C096534883}" type="datetimeFigureOut">
              <a:rPr lang="en-GB" smtClean="0"/>
              <a:t>22/09/2020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3FA273-9C20-4607-AD9E-99C9F5690F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807630-0514-4117-81AB-6B4018D241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53112-0FCF-4FF3-97FD-CEA299B20DF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573400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EAC5A7-54A7-4DDC-BB19-624450B5FC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2D6B91-9629-487B-AA04-CDED3F814C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71CE11-EE39-4B9B-925C-25BE906A88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ACF800F-415A-4BE4-9485-23101109D5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82BBA2A-D453-44D5-90E0-47E5362B073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7280A6E-D560-419B-A121-807D0C7518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C8808-64BE-459B-935E-D1C096534883}" type="datetimeFigureOut">
              <a:rPr lang="en-GB" smtClean="0"/>
              <a:t>22/09/2020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109A7F8-AD71-4A41-A741-E440CD2CEF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0BB6CE-2807-4B5B-B8BB-E21F862A1A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53112-0FCF-4FF3-97FD-CEA299B20DF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403788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4D43D5-1AD2-44DC-A040-294715C333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8D243E-AF43-4039-89E5-CF4D885269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C8808-64BE-459B-935E-D1C096534883}" type="datetimeFigureOut">
              <a:rPr lang="en-GB" smtClean="0"/>
              <a:t>22/09/2020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717C297-C40C-44D3-8032-A4875A955B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1CF6B9-3852-4AB0-9E24-47771C0EE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53112-0FCF-4FF3-97FD-CEA299B20DF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471020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CC6DF0A-F9D7-4518-84D5-290CE4454C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C8808-64BE-459B-935E-D1C096534883}" type="datetimeFigureOut">
              <a:rPr lang="en-GB" smtClean="0"/>
              <a:t>22/09/2020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2CD8973-3D6F-42B1-A1AA-89176276B6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6E5179-0F07-4B63-A286-490693193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53112-0FCF-4FF3-97FD-CEA299B20DF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45385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BBA1F-9150-473A-8179-BB707ACC0D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17237B-6B76-456F-A365-74A8010A5A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CD164E-D222-4FEB-B058-997535A224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1AD164-BB85-4771-B7C0-3CEEC9A352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C8808-64BE-459B-935E-D1C096534883}" type="datetimeFigureOut">
              <a:rPr lang="en-GB" smtClean="0"/>
              <a:t>22/09/2020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1253B4-F02B-474A-B457-522B68AB95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D8DA2B-F10B-4BE0-A4CB-E0D3DF97A6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53112-0FCF-4FF3-97FD-CEA299B20DF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81688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E355D-14D5-4CE8-BB15-D9137835D5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50DCF38-A697-4AC3-AFA1-21F44E5ECAD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F2E1C3-C4B0-4713-BDD3-7F6ADF9460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B44945-6CC2-49CB-9F2B-64AF3DFF25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C8808-64BE-459B-935E-D1C096534883}" type="datetimeFigureOut">
              <a:rPr lang="en-GB" smtClean="0"/>
              <a:t>22/09/2020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813277-DD44-44D3-956A-3948B0CF70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39D035-B381-4A65-98B9-23F2454C6F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53112-0FCF-4FF3-97FD-CEA299B20DF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261676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96D4A1-573C-456E-BAEE-0617E37674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A35CBB-1999-49D0-BC17-D62602C06D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A771CE-65C1-49EF-9BB0-45D9315044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C8808-64BE-459B-935E-D1C096534883}" type="datetimeFigureOut">
              <a:rPr lang="en-GB" smtClean="0"/>
              <a:t>22/09/2020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07AAD9-C744-4ED3-9B87-A10F28CC6F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01EE95-F3AB-4292-B883-9FAD20BD7E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53112-0FCF-4FF3-97FD-CEA299B20DF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81746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37A9D67-6881-40C8-BAAE-17422572D0E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0F3D56-53A9-471F-A0FB-A30BC215A6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532E34-4E88-42F4-8442-4C31BEEA83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C8808-64BE-459B-935E-D1C096534883}" type="datetimeFigureOut">
              <a:rPr lang="en-GB" smtClean="0"/>
              <a:t>22/09/2020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6EDB72-6935-4C96-80FE-AF9B3EA3B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53DF53-2727-4665-9B73-B2DDACA06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53112-0FCF-4FF3-97FD-CEA299B20DF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796991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FA2A1-591B-4525-9A26-A18AED4DC7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5E6A4F-729B-4436-8F5E-55DFD4A144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E25BD1-818C-4266-A714-74055694B6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FAEEA-68D7-4B77-8C31-8040F6854DA5}" type="datetimeFigureOut">
              <a:rPr lang="en-GB" smtClean="0"/>
              <a:t>22/09/2020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2A9F59-2071-42B4-974A-410C755148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A12B14-469F-42C5-9784-59A4F89FC3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35758-0501-428A-A833-B23CBD0F728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7984310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E651A8-FDF3-4778-B628-0633EA827A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0725"/>
          </a:xfrm>
        </p:spPr>
        <p:txBody>
          <a:bodyPr>
            <a:normAutofit/>
          </a:bodyPr>
          <a:lstStyle>
            <a:lvl1pPr algn="ctr">
              <a:defRPr lang="en-GB" sz="3600" b="1" kern="1200" dirty="0">
                <a:solidFill>
                  <a:srgbClr val="C00000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5599F8-A323-410E-962C-BADABB0980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3291" y="1257300"/>
            <a:ext cx="11514859" cy="4919663"/>
          </a:xfrm>
        </p:spPr>
        <p:txBody>
          <a:bodyPr>
            <a:normAutofit/>
          </a:bodyPr>
          <a:lstStyle>
            <a:lvl1pPr>
              <a:defRPr sz="3200">
                <a:solidFill>
                  <a:srgbClr val="002060"/>
                </a:solidFill>
              </a:defRPr>
            </a:lvl1pPr>
            <a:lvl2pPr>
              <a:defRPr sz="2800">
                <a:solidFill>
                  <a:srgbClr val="002060"/>
                </a:solidFill>
              </a:defRPr>
            </a:lvl2pPr>
            <a:lvl3pPr>
              <a:defRPr sz="2400">
                <a:solidFill>
                  <a:srgbClr val="002060"/>
                </a:solidFill>
              </a:defRPr>
            </a:lvl3pPr>
            <a:lvl4pPr>
              <a:defRPr sz="2000">
                <a:solidFill>
                  <a:srgbClr val="002060"/>
                </a:solidFill>
              </a:defRPr>
            </a:lvl4pPr>
            <a:lvl5pPr>
              <a:defRPr sz="2000">
                <a:solidFill>
                  <a:srgbClr val="00206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88C8AB-55D8-450E-B38C-9B132FC0F1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F0894F9-5A70-4F72-9BD0-F1E7EEE0F927}"/>
              </a:ext>
            </a:extLst>
          </p:cNvPr>
          <p:cNvSpPr txBox="1"/>
          <p:nvPr userDrawn="1"/>
        </p:nvSpPr>
        <p:spPr>
          <a:xfrm>
            <a:off x="143740" y="6480729"/>
            <a:ext cx="26480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Prof J Rohan Lucas/April 2020</a:t>
            </a:r>
            <a:endParaRPr lang="en-GB" sz="16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C812622-06DF-4C31-A9A3-DB231A498E7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9150" y="0"/>
            <a:ext cx="723810" cy="55238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7854FF0-A8F4-4774-BAD1-37B4DF796C39}"/>
              </a:ext>
            </a:extLst>
          </p:cNvPr>
          <p:cNvSpPr txBox="1"/>
          <p:nvPr userDrawn="1"/>
        </p:nvSpPr>
        <p:spPr>
          <a:xfrm>
            <a:off x="554182" y="53395"/>
            <a:ext cx="110005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04825" indent="0">
              <a:tabLst>
                <a:tab pos="5029200" algn="ctr"/>
                <a:tab pos="10683875" algn="r"/>
              </a:tabLst>
            </a:pPr>
            <a:r>
              <a:rPr lang="en-US" sz="1600" dirty="0"/>
              <a:t>High Voltage Engineering 1	</a:t>
            </a:r>
            <a:r>
              <a:rPr lang="en-GB" sz="18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High Voltage Cables	</a:t>
            </a:r>
            <a:endParaRPr lang="en-GB" sz="1600" b="0" dirty="0"/>
          </a:p>
        </p:txBody>
      </p:sp>
      <p:sp>
        <p:nvSpPr>
          <p:cNvPr id="11" name="Slide Number Placeholder 3">
            <a:extLst>
              <a:ext uri="{FF2B5EF4-FFF2-40B4-BE49-F238E27FC236}">
                <a16:creationId xmlns:a16="http://schemas.microsoft.com/office/drawing/2014/main" id="{92F4B8B1-3073-4763-B6CE-A6611013B9DE}"/>
              </a:ext>
            </a:extLst>
          </p:cNvPr>
          <p:cNvSpPr txBox="1">
            <a:spLocks/>
          </p:cNvSpPr>
          <p:nvPr userDrawn="1"/>
        </p:nvSpPr>
        <p:spPr>
          <a:xfrm>
            <a:off x="11637818" y="110690"/>
            <a:ext cx="432304" cy="3120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67F8B81-7D3C-44E4-9993-3F1024D0C961}" type="slidenum">
              <a:rPr lang="en-GB" sz="1400" smtClean="0"/>
              <a:pPr/>
              <a:t>‹#›</a:t>
            </a:fld>
            <a:endParaRPr lang="en-GB" sz="14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6687116-A6FA-4EC4-948A-D5634ECDB42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019169" y="5232400"/>
            <a:ext cx="2172831" cy="162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71226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BB74FA-E26A-46D6-B929-7C613C0256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2B014E-7DE2-42F2-8765-04FB4315EC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5DD7B5-4E82-4D07-B029-61A00ECC13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FAEEA-68D7-4B77-8C31-8040F6854DA5}" type="datetimeFigureOut">
              <a:rPr lang="en-GB" smtClean="0"/>
              <a:t>22/09/2020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47D658-8E41-4E37-939A-0B2CA6CDC7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3FF8D6-07DA-48D8-AD18-D0A4207FD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35758-0501-428A-A833-B23CBD0F728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0273692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8A24BB-E08A-475F-A889-2C85385F82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DC726D-4738-401F-83C1-3D2FC8A65B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3B8BD1-B507-4610-8F81-599055BEA1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97EE15-D73D-47C9-A475-65326FE6B5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FAEEA-68D7-4B77-8C31-8040F6854DA5}" type="datetimeFigureOut">
              <a:rPr lang="en-GB" smtClean="0"/>
              <a:t>22/09/2020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F6A158-340E-492B-96F4-52E6D7714F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308F35-AA19-42B6-BCF9-412E28085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35758-0501-428A-A833-B23CBD0F728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7308771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94EA92-B2E9-48AC-B4F8-BC4E24D30F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DE20C0-AE32-4E35-9EBB-0FF6C92304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816D27-7723-45F1-836F-7E8EFC3AF2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8635F67-EE6A-4834-9E32-DA60C54247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B73E882-BBD2-46E6-8452-EE99AF7A85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B52560D-52A9-4A51-A6D3-19198DF972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FAEEA-68D7-4B77-8C31-8040F6854DA5}" type="datetimeFigureOut">
              <a:rPr lang="en-GB" smtClean="0"/>
              <a:t>22/09/2020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E7E41DA-510B-4EDC-9016-B9BE55085E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2655B01-722C-46E7-9A92-319889599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35758-0501-428A-A833-B23CBD0F728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7893011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36D5DD-50BE-4538-9755-1B5CE79B9B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1216EF5-F518-4D8F-ACAA-1C6F0912A6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FAEEA-68D7-4B77-8C31-8040F6854DA5}" type="datetimeFigureOut">
              <a:rPr lang="en-GB" smtClean="0"/>
              <a:t>22/09/2020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B1DA837-E573-4AFA-9AC2-49D7071843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97314E-E4DE-4A9B-9CFB-F543408919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35758-0501-428A-A833-B23CBD0F728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5610495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49A4D9F-3842-4C3A-AEFC-01B03C3B3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FAEEA-68D7-4B77-8C31-8040F6854DA5}" type="datetimeFigureOut">
              <a:rPr lang="en-GB" smtClean="0"/>
              <a:t>22/09/2020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9BC0069-0AF0-4465-96F0-D7270CE992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B8CEB6-044C-4FC9-ADBC-1D11BE21D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35758-0501-428A-A833-B23CBD0F728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7293405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751AEB-D33F-4EAD-8CA0-87B8E8F47B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A63AE9-01D9-48D7-B5CB-57ED1822A8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30CEF0-5868-43E6-BEB2-097B0E4AD6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C5C560-2623-4603-A6A1-8614FDE984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FAEEA-68D7-4B77-8C31-8040F6854DA5}" type="datetimeFigureOut">
              <a:rPr lang="en-GB" smtClean="0"/>
              <a:t>22/09/2020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7C8641-D0C0-40F8-BE2B-B72395C45A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2D1BC4-C0F9-491C-ADCF-A858A0ED25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35758-0501-428A-A833-B23CBD0F728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7449144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F8E6EF-6F8D-487C-AF39-D8AAB5B5FF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8493A3A-E94A-4380-8589-4570807DB4F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802534-C727-408D-ABD2-825C1D2861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CD1941-7764-49DA-B982-7D13931B2E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FAEEA-68D7-4B77-8C31-8040F6854DA5}" type="datetimeFigureOut">
              <a:rPr lang="en-GB" smtClean="0"/>
              <a:t>22/09/2020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5E193D-2426-4637-866B-85A4B78264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C56C82-5DCB-4DBE-9E04-DE8850D2DC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35758-0501-428A-A833-B23CBD0F728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7910694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F16FCA-C8A0-450D-8598-11900CCBC6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2FAAD8-BD77-45BD-81A6-3AEDC1F817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DABCCD-B3E7-40A3-8FA2-5E4D883BC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FAEEA-68D7-4B77-8C31-8040F6854DA5}" type="datetimeFigureOut">
              <a:rPr lang="en-GB" smtClean="0"/>
              <a:t>22/09/2020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EF2CD6-9931-4769-8A66-6D1326D65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E8A456-274C-4878-8F46-E30F7F8452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35758-0501-428A-A833-B23CBD0F728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368022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CFBC83E-2BBC-4268-931E-5E665CB5E1E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6460F5-020D-4420-AD3A-13BE41E223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8F72C6-35B3-489D-97CB-3E931F42F9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FAEEA-68D7-4B77-8C31-8040F6854DA5}" type="datetimeFigureOut">
              <a:rPr lang="en-GB" smtClean="0"/>
              <a:t>22/09/2020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82E2DE-5E4B-4C7A-9BD0-33CE19732F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FB8065-7935-4361-B392-4F7C091990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35758-0501-428A-A833-B23CBD0F728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411021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25A80AE-56DA-4AB7-9F2F-CAF70E8B64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6876FA-7FD7-48E2-9162-474962FFEC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2D6BE8-40DB-4B93-B86D-D09A1134D3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DC8808-64BE-459B-935E-D1C096534883}" type="datetimeFigureOut">
              <a:rPr lang="en-GB" smtClean="0"/>
              <a:t>22/09/2020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C6C5ED-8273-4F75-992D-3AE99237DC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81DED9-22D4-402C-BD05-2B367BB21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053112-0FCF-4FF3-97FD-CEA299B20DF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777230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2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0D0B399-2484-4E11-AB1D-336B7A94CB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832A8F-ABED-4C45-AB22-31F9BCA258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F5EFC3-8B1C-4A71-B826-F69E2780CE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BFAEEA-68D7-4B77-8C31-8040F6854DA5}" type="datetimeFigureOut">
              <a:rPr lang="en-GB" smtClean="0"/>
              <a:t>22/09/2020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B3293F-9F6A-49A9-B93F-35FDCF5825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C94848-02A4-4E8A-8941-4F7E81352B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135758-0501-428A-A833-B23CBD0F728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302200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6.w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wmf"/><Relationship Id="rId3" Type="http://schemas.openxmlformats.org/officeDocument/2006/relationships/oleObject" Target="../embeddings/oleObject2.bin"/><Relationship Id="rId7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8.wmf"/><Relationship Id="rId5" Type="http://schemas.openxmlformats.org/officeDocument/2006/relationships/oleObject" Target="../embeddings/oleObject3.bin"/><Relationship Id="rId10" Type="http://schemas.openxmlformats.org/officeDocument/2006/relationships/image" Target="../media/image10.wmf"/><Relationship Id="rId4" Type="http://schemas.openxmlformats.org/officeDocument/2006/relationships/image" Target="../media/image7.wmf"/><Relationship Id="rId9" Type="http://schemas.openxmlformats.org/officeDocument/2006/relationships/oleObject" Target="../embeddings/oleObject5.bin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wmf"/><Relationship Id="rId3" Type="http://schemas.openxmlformats.org/officeDocument/2006/relationships/oleObject" Target="../embeddings/oleObject6.bin"/><Relationship Id="rId7" Type="http://schemas.openxmlformats.org/officeDocument/2006/relationships/oleObject" Target="../embeddings/oleObject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2.wmf"/><Relationship Id="rId5" Type="http://schemas.openxmlformats.org/officeDocument/2006/relationships/oleObject" Target="../embeddings/oleObject7.bin"/><Relationship Id="rId4" Type="http://schemas.openxmlformats.org/officeDocument/2006/relationships/image" Target="../media/image11.w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14.w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wmf"/><Relationship Id="rId3" Type="http://schemas.openxmlformats.org/officeDocument/2006/relationships/oleObject" Target="../embeddings/oleObject10.bin"/><Relationship Id="rId7" Type="http://schemas.openxmlformats.org/officeDocument/2006/relationships/oleObject" Target="../embeddings/oleObject1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16.wmf"/><Relationship Id="rId5" Type="http://schemas.openxmlformats.org/officeDocument/2006/relationships/oleObject" Target="../embeddings/oleObject11.bin"/><Relationship Id="rId4" Type="http://schemas.openxmlformats.org/officeDocument/2006/relationships/image" Target="../media/image15.w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18.w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wmf"/><Relationship Id="rId13" Type="http://schemas.openxmlformats.org/officeDocument/2006/relationships/oleObject" Target="../embeddings/oleObject19.bin"/><Relationship Id="rId3" Type="http://schemas.openxmlformats.org/officeDocument/2006/relationships/oleObject" Target="../embeddings/oleObject14.bin"/><Relationship Id="rId7" Type="http://schemas.openxmlformats.org/officeDocument/2006/relationships/oleObject" Target="../embeddings/oleObject16.bin"/><Relationship Id="rId12" Type="http://schemas.openxmlformats.org/officeDocument/2006/relationships/image" Target="../media/image23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20.wmf"/><Relationship Id="rId11" Type="http://schemas.openxmlformats.org/officeDocument/2006/relationships/oleObject" Target="../embeddings/oleObject18.bin"/><Relationship Id="rId5" Type="http://schemas.openxmlformats.org/officeDocument/2006/relationships/oleObject" Target="../embeddings/oleObject15.bin"/><Relationship Id="rId10" Type="http://schemas.openxmlformats.org/officeDocument/2006/relationships/image" Target="../media/image22.wmf"/><Relationship Id="rId4" Type="http://schemas.openxmlformats.org/officeDocument/2006/relationships/image" Target="../media/image19.wmf"/><Relationship Id="rId9" Type="http://schemas.openxmlformats.org/officeDocument/2006/relationships/oleObject" Target="../embeddings/oleObject17.bin"/><Relationship Id="rId14" Type="http://schemas.openxmlformats.org/officeDocument/2006/relationships/image" Target="../media/image24.w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4" Type="http://schemas.openxmlformats.org/officeDocument/2006/relationships/image" Target="../media/image25.wmf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wmf"/><Relationship Id="rId3" Type="http://schemas.openxmlformats.org/officeDocument/2006/relationships/oleObject" Target="../embeddings/oleObject21.bin"/><Relationship Id="rId7" Type="http://schemas.openxmlformats.org/officeDocument/2006/relationships/oleObject" Target="../embeddings/oleObject2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27.wmf"/><Relationship Id="rId5" Type="http://schemas.openxmlformats.org/officeDocument/2006/relationships/oleObject" Target="../embeddings/oleObject22.bin"/><Relationship Id="rId4" Type="http://schemas.openxmlformats.org/officeDocument/2006/relationships/image" Target="../media/image26.wmf"/><Relationship Id="rId9" Type="http://schemas.openxmlformats.org/officeDocument/2006/relationships/image" Target="../media/image29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wmf"/><Relationship Id="rId3" Type="http://schemas.openxmlformats.org/officeDocument/2006/relationships/oleObject" Target="../embeddings/oleObject24.bin"/><Relationship Id="rId7" Type="http://schemas.openxmlformats.org/officeDocument/2006/relationships/oleObject" Target="../embeddings/oleObject2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31.wmf"/><Relationship Id="rId5" Type="http://schemas.openxmlformats.org/officeDocument/2006/relationships/oleObject" Target="../embeddings/oleObject25.bin"/><Relationship Id="rId10" Type="http://schemas.openxmlformats.org/officeDocument/2006/relationships/image" Target="../media/image33.wmf"/><Relationship Id="rId4" Type="http://schemas.openxmlformats.org/officeDocument/2006/relationships/image" Target="../media/image30.wmf"/><Relationship Id="rId9" Type="http://schemas.openxmlformats.org/officeDocument/2006/relationships/oleObject" Target="../embeddings/oleObject27.bin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wmf"/><Relationship Id="rId13" Type="http://schemas.openxmlformats.org/officeDocument/2006/relationships/image" Target="../media/image38.wmf"/><Relationship Id="rId3" Type="http://schemas.openxmlformats.org/officeDocument/2006/relationships/oleObject" Target="../embeddings/oleObject28.bin"/><Relationship Id="rId7" Type="http://schemas.openxmlformats.org/officeDocument/2006/relationships/oleObject" Target="../embeddings/oleObject30.bin"/><Relationship Id="rId12" Type="http://schemas.openxmlformats.org/officeDocument/2006/relationships/oleObject" Target="../embeddings/oleObject3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35.wmf"/><Relationship Id="rId11" Type="http://schemas.openxmlformats.org/officeDocument/2006/relationships/image" Target="../media/image37.wmf"/><Relationship Id="rId5" Type="http://schemas.openxmlformats.org/officeDocument/2006/relationships/oleObject" Target="../embeddings/oleObject29.bin"/><Relationship Id="rId15" Type="http://schemas.openxmlformats.org/officeDocument/2006/relationships/image" Target="../media/image39.wmf"/><Relationship Id="rId10" Type="http://schemas.openxmlformats.org/officeDocument/2006/relationships/oleObject" Target="../embeddings/oleObject32.bin"/><Relationship Id="rId4" Type="http://schemas.openxmlformats.org/officeDocument/2006/relationships/image" Target="../media/image34.wmf"/><Relationship Id="rId9" Type="http://schemas.openxmlformats.org/officeDocument/2006/relationships/oleObject" Target="../embeddings/oleObject31.bin"/><Relationship Id="rId14" Type="http://schemas.openxmlformats.org/officeDocument/2006/relationships/oleObject" Target="../embeddings/oleObject34.bin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4" Type="http://schemas.openxmlformats.org/officeDocument/2006/relationships/image" Target="../media/image18.wm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E2DD01-B154-455A-B4D9-DFF01AC0C3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90485" y="1926373"/>
            <a:ext cx="7169821" cy="1315844"/>
          </a:xfrm>
        </p:spPr>
        <p:txBody>
          <a:bodyPr>
            <a:normAutofit/>
          </a:bodyPr>
          <a:lstStyle/>
          <a:p>
            <a:pPr algn="ctr">
              <a:lnSpc>
                <a:spcPct val="120000"/>
              </a:lnSpc>
            </a:pPr>
            <a:r>
              <a:rPr lang="en-GB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4.0 </a:t>
            </a:r>
            <a:r>
              <a:rPr lang="en-GB" sz="4000" b="1" spc="-4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Port Theory</a:t>
            </a:r>
            <a:endParaRPr lang="en-GB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2518F5-E001-45B5-84BF-6CF8CE6D04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48267" y="790703"/>
            <a:ext cx="9654258" cy="65659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EE1203 – Theory of Electricity</a:t>
            </a:r>
            <a:endParaRPr lang="en-GB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AC65E412-7FA8-4B5C-8E61-D0C3D1CE11B4}"/>
              </a:ext>
            </a:extLst>
          </p:cNvPr>
          <p:cNvSpPr txBox="1">
            <a:spLocks/>
          </p:cNvSpPr>
          <p:nvPr/>
        </p:nvSpPr>
        <p:spPr>
          <a:xfrm>
            <a:off x="1447123" y="3721298"/>
            <a:ext cx="8197380" cy="286565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 sz="32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556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     Prof J. Rohan Lucas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i="1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lucas@kdu.ac.lk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1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556" b="1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33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Department of Electrical, Electronic &amp; Telecommunication Engineering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44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General Sir John Kotelawala </a:t>
            </a:r>
            <a:r>
              <a:rPr kumimoji="0" lang="en-US" sz="2844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Defence</a:t>
            </a:r>
            <a:r>
              <a:rPr kumimoji="0" lang="en-US" sz="2844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University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33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September 2020</a:t>
            </a:r>
            <a:endParaRPr kumimoji="0" lang="en-GB" sz="2133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217686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2403D9-5BBE-47E4-8F66-CC176CE69F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15" y="582715"/>
            <a:ext cx="10924085" cy="482745"/>
          </a:xfrm>
        </p:spPr>
        <p:txBody>
          <a:bodyPr>
            <a:noAutofit/>
          </a:bodyPr>
          <a:lstStyle/>
          <a:p>
            <a:pPr algn="ctr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 Outcomes</a:t>
            </a:r>
          </a:p>
        </p:txBody>
      </p:sp>
      <p:sp>
        <p:nvSpPr>
          <p:cNvPr id="19" name="Text Box 2347">
            <a:extLst>
              <a:ext uri="{FF2B5EF4-FFF2-40B4-BE49-F238E27FC236}">
                <a16:creationId xmlns:a16="http://schemas.microsoft.com/office/drawing/2014/main" id="{E9381B68-0349-40D5-BA33-56730954E0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18266" y="2607656"/>
            <a:ext cx="442844" cy="3698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GB" sz="240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</a:t>
            </a:r>
            <a:endParaRPr lang="en-GB" sz="80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F9D7BD7-3FA6-4E36-8065-73CFE61DD22E}"/>
              </a:ext>
            </a:extLst>
          </p:cNvPr>
          <p:cNvSpPr/>
          <p:nvPr/>
        </p:nvSpPr>
        <p:spPr>
          <a:xfrm>
            <a:off x="429715" y="944402"/>
            <a:ext cx="11409359" cy="57858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151255" indent="-1151255">
              <a:lnSpc>
                <a:spcPct val="115000"/>
              </a:lnSpc>
            </a:pPr>
            <a:r>
              <a:rPr lang="en-GB" sz="3600" dirty="0">
                <a:solidFill>
                  <a:srgbClr val="00206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Latha" panose="02000400000000000000" pitchFamily="2"/>
              </a:rPr>
              <a:t>On completion of module, student will be able to </a:t>
            </a:r>
            <a:endParaRPr lang="en-GB" sz="1200" dirty="0">
              <a:solidFill>
                <a:srgbClr val="002060"/>
              </a:solidFill>
              <a:latin typeface="Calibri" panose="020F0502020204030204" pitchFamily="34" charset="0"/>
              <a:ea typeface="Calibri" panose="020F0502020204030204" pitchFamily="34" charset="0"/>
              <a:cs typeface="Latha" panose="02000400000000000000" pitchFamily="2"/>
            </a:endParaRPr>
          </a:p>
          <a:p>
            <a:pPr marL="1151255" indent="-1151255">
              <a:lnSpc>
                <a:spcPct val="115000"/>
              </a:lnSpc>
            </a:pPr>
            <a:r>
              <a:rPr lang="en-GB" sz="3600" b="1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LO1</a:t>
            </a:r>
            <a:r>
              <a:rPr lang="en-GB" sz="360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GB" sz="3600" b="1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Analyse</a:t>
            </a:r>
            <a:r>
              <a:rPr lang="en-GB" sz="360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the performances of AC circuits</a:t>
            </a:r>
            <a:r>
              <a:rPr lang="en-GB" sz="3600" b="1" dirty="0">
                <a:solidFill>
                  <a:srgbClr val="C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1151255" indent="-1151255">
              <a:lnSpc>
                <a:spcPct val="115000"/>
              </a:lnSpc>
            </a:pPr>
            <a:r>
              <a:rPr lang="en-GB" dirty="0">
                <a:solidFill>
                  <a:schemeClr val="dk1"/>
                </a:solidFill>
              </a:rPr>
              <a:t>	</a:t>
            </a:r>
            <a:r>
              <a:rPr lang="en-GB" sz="3600" dirty="0">
                <a:solidFill>
                  <a:srgbClr val="002060"/>
                </a:solidFill>
                <a:latin typeface="Times New Roman" panose="02020603050405020304" pitchFamily="18" charset="0"/>
                <a:cs typeface="Latha" panose="02000400000000000000" pitchFamily="2"/>
              </a:rPr>
              <a:t>Analyse circuits</a:t>
            </a:r>
            <a:r>
              <a:rPr lang="en-GB" dirty="0">
                <a:solidFill>
                  <a:srgbClr val="002060"/>
                </a:solidFill>
              </a:rPr>
              <a:t> </a:t>
            </a:r>
            <a:r>
              <a:rPr lang="en-GB" sz="3600" dirty="0">
                <a:solidFill>
                  <a:srgbClr val="002060"/>
                </a:solidFill>
                <a:latin typeface="Times New Roman" panose="02020603050405020304" pitchFamily="18" charset="0"/>
                <a:cs typeface="Latha" panose="02000400000000000000" pitchFamily="2"/>
              </a:rPr>
              <a:t>using nodal and mesh theory</a:t>
            </a:r>
          </a:p>
          <a:p>
            <a:pPr marL="1151255" indent="-1151255">
              <a:lnSpc>
                <a:spcPct val="115000"/>
              </a:lnSpc>
            </a:pPr>
            <a:r>
              <a:rPr lang="en-GB" sz="3600" b="1" dirty="0">
                <a:solidFill>
                  <a:srgbClr val="00206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Latha" panose="02000400000000000000" pitchFamily="2"/>
              </a:rPr>
              <a:t>LO2</a:t>
            </a:r>
            <a:r>
              <a:rPr lang="en-GB" sz="3600" dirty="0">
                <a:solidFill>
                  <a:srgbClr val="00206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Latha" panose="02000400000000000000" pitchFamily="2"/>
              </a:rPr>
              <a:t>: </a:t>
            </a:r>
            <a:r>
              <a:rPr lang="en-GB" sz="3600" dirty="0">
                <a:solidFill>
                  <a:srgbClr val="C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Latha" panose="02000400000000000000" pitchFamily="2"/>
              </a:rPr>
              <a:t>Analyse two port networks using different models.</a:t>
            </a:r>
            <a:r>
              <a:rPr lang="en-GB" sz="3600" dirty="0">
                <a:solidFill>
                  <a:srgbClr val="00206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Latha" panose="02000400000000000000" pitchFamily="2"/>
              </a:rPr>
              <a:t> </a:t>
            </a:r>
            <a:endParaRPr lang="en-GB" sz="1200" dirty="0">
              <a:solidFill>
                <a:srgbClr val="002060"/>
              </a:solidFill>
              <a:latin typeface="Calibri" panose="020F0502020204030204" pitchFamily="34" charset="0"/>
              <a:ea typeface="Calibri" panose="020F0502020204030204" pitchFamily="34" charset="0"/>
              <a:cs typeface="Latha" panose="02000400000000000000" pitchFamily="2"/>
            </a:endParaRPr>
          </a:p>
          <a:p>
            <a:pPr marL="1151255" indent="-1151255">
              <a:lnSpc>
                <a:spcPct val="115000"/>
              </a:lnSpc>
            </a:pPr>
            <a:r>
              <a:rPr lang="en-GB" sz="3600" b="1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LO3</a:t>
            </a:r>
            <a:r>
              <a:rPr lang="en-GB" sz="360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GB" sz="3600" b="1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Analyse</a:t>
            </a:r>
            <a:r>
              <a:rPr lang="en-GB" sz="360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transfer functions of </a:t>
            </a:r>
            <a:r>
              <a:rPr lang="en-GB" sz="3600" dirty="0" err="1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RLC</a:t>
            </a:r>
            <a:r>
              <a:rPr lang="en-GB" sz="360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networks for transients. </a:t>
            </a:r>
            <a:endParaRPr lang="en-GB" sz="1200" dirty="0">
              <a:solidFill>
                <a:srgbClr val="002060"/>
              </a:solidFill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51255" indent="-1151255">
              <a:lnSpc>
                <a:spcPct val="115000"/>
              </a:lnSpc>
            </a:pPr>
            <a:r>
              <a:rPr lang="en-GB" sz="3600" b="1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LO4</a:t>
            </a:r>
            <a:r>
              <a:rPr lang="en-GB" sz="360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GB" sz="3600" b="1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Analyse</a:t>
            </a:r>
            <a:r>
              <a:rPr lang="en-GB" sz="360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waveforms for its harmonics.</a:t>
            </a:r>
          </a:p>
          <a:p>
            <a:pPr marL="1151255" indent="-1151255">
              <a:lnSpc>
                <a:spcPct val="115000"/>
              </a:lnSpc>
            </a:pPr>
            <a:r>
              <a:rPr lang="en-US" sz="3600" b="1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LO5: Perform </a:t>
            </a:r>
            <a:r>
              <a:rPr lang="en-US" sz="360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calculations in three phase circuits    including unbalanced waveforms.</a:t>
            </a:r>
            <a:endParaRPr lang="en-GB" sz="36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396366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49574"/>
    </mc:Choice>
    <mc:Fallback xmlns="">
      <p:transition spd="slow" advTm="149574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4">
            <a:extLst>
              <a:ext uri="{FF2B5EF4-FFF2-40B4-BE49-F238E27FC236}">
                <a16:creationId xmlns:a16="http://schemas.microsoft.com/office/drawing/2014/main" id="{3781FBC1-BFE6-4F1C-8A88-BA387FE170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0192" y="928369"/>
            <a:ext cx="11762285" cy="2062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469900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469900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469900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469900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469900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469900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469900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469900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469900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69900" algn="r"/>
                <a:tab pos="2743200" algn="ctr"/>
                <a:tab pos="5486400" algn="r"/>
              </a:tabLst>
            </a:pP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Pair of nodes across which a device can be connected.  Voltage is measured  across pair of nodes.</a:t>
            </a:r>
            <a:endParaRPr kumimoji="0" lang="en-GB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69900" algn="r"/>
                <a:tab pos="2743200" algn="ctr"/>
                <a:tab pos="5486400" algn="r"/>
              </a:tabLst>
            </a:pP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Current going into one node is the same as the current coming out of the other node in the pair.  </a:t>
            </a:r>
            <a:endParaRPr kumimoji="0" lang="en-GB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Rectangle 8">
            <a:extLst>
              <a:ext uri="{FF2B5EF4-FFF2-40B4-BE49-F238E27FC236}">
                <a16:creationId xmlns:a16="http://schemas.microsoft.com/office/drawing/2014/main" id="{0B868F98-4F0E-49E3-975F-F280631AA2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0192" y="3023849"/>
            <a:ext cx="7357730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</a:pP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These pairs are entry (or exit) points of the network. Compare with an Airport or a Sea Port.  </a:t>
            </a:r>
            <a:endParaRPr kumimoji="0" lang="en-GB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B1BBAC-DEE1-4CF9-9521-6921611D2B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321" y="527210"/>
            <a:ext cx="10924085" cy="482745"/>
          </a:xfrm>
        </p:spPr>
        <p:txBody>
          <a:bodyPr>
            <a:noAutofit/>
          </a:bodyPr>
          <a:lstStyle/>
          <a:p>
            <a:r>
              <a:rPr lang="en-US" dirty="0"/>
              <a:t>Port</a:t>
            </a:r>
            <a:endParaRPr lang="en-GB" dirty="0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23BF00C4-D98A-4916-B62D-95C41FF5A6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"/>
            <a:ext cx="0" cy="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AB2B35E7-74B7-4399-A924-7C2DB90CB8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105025"/>
            <a:ext cx="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	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DD4F9A5-8F88-4B52-8212-0C18C0945E16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CDFFFF"/>
              </a:clrFrom>
              <a:clrTo>
                <a:srgbClr val="CD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808011" y="2605021"/>
            <a:ext cx="2139549" cy="170053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7996834-3016-4799-AC09-C654309959B5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CDFFFF"/>
              </a:clrFrom>
              <a:clrTo>
                <a:srgbClr val="CD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697710" y="2605021"/>
            <a:ext cx="1985429" cy="1573219"/>
          </a:xfrm>
          <a:prstGeom prst="rect">
            <a:avLst/>
          </a:prstGeom>
        </p:spPr>
      </p:pic>
      <p:sp>
        <p:nvSpPr>
          <p:cNvPr id="13" name="Rectangle 8">
            <a:extLst>
              <a:ext uri="{FF2B5EF4-FFF2-40B4-BE49-F238E27FC236}">
                <a16:creationId xmlns:a16="http://schemas.microsoft.com/office/drawing/2014/main" id="{F5C9CFCA-D27D-4A13-B798-71D8169968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0192" y="4761130"/>
            <a:ext cx="9624291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</a:pP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Entry and exit points to a country.</a:t>
            </a:r>
            <a:endParaRPr kumimoji="0" lang="en-GB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</a:pP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Planes that enter at a given port are the ones that take off from same port.</a:t>
            </a:r>
            <a:endParaRPr kumimoji="0" lang="en-GB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5165008-6C06-4933-AA2B-F02515135A7A}"/>
              </a:ext>
            </a:extLst>
          </p:cNvPr>
          <p:cNvSpPr txBox="1"/>
          <p:nvPr/>
        </p:nvSpPr>
        <p:spPr>
          <a:xfrm>
            <a:off x="7944066" y="4293150"/>
            <a:ext cx="14927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Landing</a:t>
            </a:r>
            <a:endParaRPr lang="en-GB" sz="32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044EF9F-B3F3-4625-9BDE-78AF5BCE2ABB}"/>
              </a:ext>
            </a:extLst>
          </p:cNvPr>
          <p:cNvSpPr txBox="1"/>
          <p:nvPr/>
        </p:nvSpPr>
        <p:spPr>
          <a:xfrm>
            <a:off x="9950516" y="4293149"/>
            <a:ext cx="15139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Take-off</a:t>
            </a:r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34136331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B1BBAC-DEE1-4CF9-9521-6921611D2B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15" y="549483"/>
            <a:ext cx="10924085" cy="482745"/>
          </a:xfrm>
        </p:spPr>
        <p:txBody>
          <a:bodyPr>
            <a:noAutofit/>
          </a:bodyPr>
          <a:lstStyle/>
          <a:p>
            <a:r>
              <a:rPr lang="en-GB" dirty="0"/>
              <a:t>Systematic treatment of networks</a:t>
            </a:r>
          </a:p>
        </p:txBody>
      </p:sp>
      <p:sp>
        <p:nvSpPr>
          <p:cNvPr id="4" name="Rectangle 17">
            <a:extLst>
              <a:ext uri="{FF2B5EF4-FFF2-40B4-BE49-F238E27FC236}">
                <a16:creationId xmlns:a16="http://schemas.microsoft.com/office/drawing/2014/main" id="{6D3644E6-3E42-4E75-A045-61E21BEF07F6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522315" y="1374548"/>
            <a:ext cx="10738884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571500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571500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571500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571500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571500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571500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571500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571500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571500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71500" algn="r"/>
                <a:tab pos="2743200" algn="ctr"/>
                <a:tab pos="5486400" algn="r"/>
              </a:tabLst>
            </a:pPr>
            <a:r>
              <a:rPr kumimoji="0" lang="en-GB" altLang="en-US" sz="36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Convenient to develop special methods.  </a:t>
            </a:r>
            <a:endParaRPr kumimoji="0" lang="en-GB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71500" algn="r"/>
                <a:tab pos="2743200" algn="ctr"/>
                <a:tab pos="5486400" algn="r"/>
              </a:tabLst>
            </a:pPr>
            <a:r>
              <a:rPr kumimoji="0" lang="en-GB" altLang="en-US" sz="36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Single-port linear active networks</a:t>
            </a:r>
            <a:endParaRPr kumimoji="0" lang="en-GB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1028700" lvl="1" indent="-571500">
              <a:buFont typeface="Arial" panose="020B0604020202020204" pitchFamily="34" charset="0"/>
              <a:buChar char="−"/>
            </a:pPr>
            <a:r>
              <a:rPr kumimoji="0" lang="en-GB" altLang="en-US" sz="36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Thevenin’s or Norton’s equivalent circuit.</a:t>
            </a:r>
          </a:p>
          <a:p>
            <a:pPr marL="0" lvl="1">
              <a:tabLst>
                <a:tab pos="2743200" algn="ctr"/>
                <a:tab pos="5486400" algn="r"/>
              </a:tabLst>
            </a:pPr>
            <a:r>
              <a:rPr kumimoji="0" lang="en-GB" altLang="en-US" sz="36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Linear passive networks</a:t>
            </a:r>
            <a:endParaRPr lang="en-GB" altLang="en-US" sz="3600" dirty="0"/>
          </a:p>
          <a:p>
            <a:pPr marL="1028700" lvl="1" indent="-571500">
              <a:buFont typeface="Arial" panose="020B0604020202020204" pitchFamily="34" charset="0"/>
              <a:buChar char="−"/>
            </a:pPr>
            <a:r>
              <a:rPr kumimoji="0" lang="en-GB" altLang="en-US" sz="36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Study relative to a pair of designated ports.</a:t>
            </a:r>
            <a:endParaRPr kumimoji="0" lang="en-GB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0AE71F77-54E5-47EF-BE12-552B16930244}"/>
              </a:ext>
            </a:extLst>
          </p:cNvPr>
          <p:cNvGrpSpPr>
            <a:grpSpLocks/>
          </p:cNvGrpSpPr>
          <p:nvPr/>
        </p:nvGrpSpPr>
        <p:grpSpPr bwMode="auto">
          <a:xfrm rot="10800000" flipV="1">
            <a:off x="827655" y="4272412"/>
            <a:ext cx="8571525" cy="2203716"/>
            <a:chOff x="1988" y="3128"/>
            <a:chExt cx="6441" cy="1311"/>
          </a:xfrm>
        </p:grpSpPr>
        <p:sp>
          <p:nvSpPr>
            <p:cNvPr id="6" name="Text Box 1370">
              <a:extLst>
                <a:ext uri="{FF2B5EF4-FFF2-40B4-BE49-F238E27FC236}">
                  <a16:creationId xmlns:a16="http://schemas.microsoft.com/office/drawing/2014/main" id="{AEA1BDCD-C1B9-4292-B80F-C4EE57636D5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5" y="3299"/>
              <a:ext cx="1653" cy="1140"/>
            </a:xfrm>
            <a:prstGeom prst="rect">
              <a:avLst/>
            </a:prstGeom>
            <a:solidFill>
              <a:srgbClr val="FFFFFF"/>
            </a:solidFill>
            <a:ln w="38100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marL="0" marR="0" algn="ctr">
                <a:spcBef>
                  <a:spcPts val="0"/>
                </a:spcBef>
                <a:spcAft>
                  <a:spcPts val="0"/>
                </a:spcAft>
              </a:pPr>
              <a:r>
                <a:rPr lang="en-GB" sz="360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Linear</a:t>
              </a:r>
              <a:endParaRPr lang="en-GB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  <a:p>
              <a:pPr marL="0" marR="0" algn="ctr">
                <a:spcBef>
                  <a:spcPts val="0"/>
                </a:spcBef>
                <a:spcAft>
                  <a:spcPts val="0"/>
                </a:spcAft>
              </a:pPr>
              <a:r>
                <a:rPr lang="en-GB" sz="360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Passive</a:t>
              </a:r>
              <a:endParaRPr lang="en-GB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  <a:p>
              <a:pPr marL="0" marR="0" algn="ctr">
                <a:spcBef>
                  <a:spcPts val="0"/>
                </a:spcBef>
                <a:spcAft>
                  <a:spcPts val="0"/>
                </a:spcAft>
              </a:pPr>
              <a:r>
                <a:rPr lang="en-GB" sz="360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Network</a:t>
              </a:r>
              <a:endParaRPr lang="en-GB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cxnSp>
          <p:nvCxnSpPr>
            <p:cNvPr id="7" name="Line 1371">
              <a:extLst>
                <a:ext uri="{FF2B5EF4-FFF2-40B4-BE49-F238E27FC236}">
                  <a16:creationId xmlns:a16="http://schemas.microsoft.com/office/drawing/2014/main" id="{981D0809-7156-4073-96F5-37E26216427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501" y="3527"/>
              <a:ext cx="741" cy="0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 type="oval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" name="Line 1372">
              <a:extLst>
                <a:ext uri="{FF2B5EF4-FFF2-40B4-BE49-F238E27FC236}">
                  <a16:creationId xmlns:a16="http://schemas.microsoft.com/office/drawing/2014/main" id="{30CAD018-DDE2-4E29-80D1-D3A91D111BD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242" y="3527"/>
              <a:ext cx="1083" cy="0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" name="Line 1373">
              <a:extLst>
                <a:ext uri="{FF2B5EF4-FFF2-40B4-BE49-F238E27FC236}">
                  <a16:creationId xmlns:a16="http://schemas.microsoft.com/office/drawing/2014/main" id="{E81A499D-C25F-4D67-A69B-86D4CF86B2C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7061" y="3527"/>
              <a:ext cx="741" cy="0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 type="oval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" name="Line 1374">
              <a:extLst>
                <a:ext uri="{FF2B5EF4-FFF2-40B4-BE49-F238E27FC236}">
                  <a16:creationId xmlns:a16="http://schemas.microsoft.com/office/drawing/2014/main" id="{4D29D067-9A6E-4E9A-8BAF-BD02959BF55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5978" y="3527"/>
              <a:ext cx="1083" cy="0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" name="Line 1375">
              <a:extLst>
                <a:ext uri="{FF2B5EF4-FFF2-40B4-BE49-F238E27FC236}">
                  <a16:creationId xmlns:a16="http://schemas.microsoft.com/office/drawing/2014/main" id="{E24F2B73-8D55-4828-9989-373EC6EE20C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501" y="4268"/>
              <a:ext cx="1824" cy="0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 type="oval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" name="Line 1376">
              <a:extLst>
                <a:ext uri="{FF2B5EF4-FFF2-40B4-BE49-F238E27FC236}">
                  <a16:creationId xmlns:a16="http://schemas.microsoft.com/office/drawing/2014/main" id="{2D010B3B-D38B-4288-937A-FD5431253F9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978" y="4268"/>
              <a:ext cx="1824" cy="0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3" name="Text Box 1377">
              <a:extLst>
                <a:ext uri="{FF2B5EF4-FFF2-40B4-BE49-F238E27FC236}">
                  <a16:creationId xmlns:a16="http://schemas.microsoft.com/office/drawing/2014/main" id="{8AC23B73-930D-4BA4-9D54-9C0B52E80EC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71" y="3167"/>
              <a:ext cx="360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18000" tIns="10800" rIns="18000" bIns="10800" anchor="t" anchorCtr="0" upright="1">
              <a:noAutofit/>
            </a:bodyPr>
            <a:lstStyle/>
            <a:p>
              <a:pPr marL="0" marR="0">
                <a:spcBef>
                  <a:spcPts val="0"/>
                </a:spcBef>
                <a:spcAft>
                  <a:spcPts val="0"/>
                </a:spcAft>
              </a:pPr>
              <a:r>
                <a:rPr lang="en-GB" sz="2800">
                  <a:solidFill>
                    <a:srgbClr val="00206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I</a:t>
              </a:r>
              <a:r>
                <a:rPr lang="en-GB" sz="2800" baseline="-25000">
                  <a:solidFill>
                    <a:srgbClr val="00206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1</a:t>
              </a:r>
              <a:endParaRPr lang="en-GB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14" name="Text Box 1378">
              <a:extLst>
                <a:ext uri="{FF2B5EF4-FFF2-40B4-BE49-F238E27FC236}">
                  <a16:creationId xmlns:a16="http://schemas.microsoft.com/office/drawing/2014/main" id="{E0059923-EB1E-4D05-B2F1-1715192A88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86" y="3128"/>
              <a:ext cx="360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18000" tIns="10800" rIns="18000" bIns="10800" anchor="t" anchorCtr="0" upright="1">
              <a:noAutofit/>
            </a:bodyPr>
            <a:lstStyle/>
            <a:p>
              <a:pPr marL="0" marR="0">
                <a:spcBef>
                  <a:spcPts val="0"/>
                </a:spcBef>
                <a:spcAft>
                  <a:spcPts val="0"/>
                </a:spcAft>
              </a:pPr>
              <a:r>
                <a:rPr lang="en-GB" sz="2800">
                  <a:solidFill>
                    <a:srgbClr val="00206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I</a:t>
              </a:r>
              <a:r>
                <a:rPr lang="en-GB" sz="2800" baseline="-25000">
                  <a:solidFill>
                    <a:srgbClr val="00206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2</a:t>
              </a:r>
              <a:endParaRPr lang="en-GB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15" name="Text Box 1379">
              <a:extLst>
                <a:ext uri="{FF2B5EF4-FFF2-40B4-BE49-F238E27FC236}">
                  <a16:creationId xmlns:a16="http://schemas.microsoft.com/office/drawing/2014/main" id="{FBCCBCBF-6563-4407-BE56-EDDE711A894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88" y="3584"/>
              <a:ext cx="360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18000" tIns="10800" rIns="18000" bIns="10800" anchor="t" anchorCtr="0" upright="1">
              <a:noAutofit/>
            </a:bodyPr>
            <a:lstStyle/>
            <a:p>
              <a:pPr marL="0" marR="0">
                <a:spcBef>
                  <a:spcPts val="0"/>
                </a:spcBef>
                <a:spcAft>
                  <a:spcPts val="0"/>
                </a:spcAft>
              </a:pPr>
              <a:r>
                <a:rPr lang="en-GB" sz="2800">
                  <a:solidFill>
                    <a:srgbClr val="00206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V</a:t>
              </a:r>
              <a:r>
                <a:rPr lang="en-GB" sz="2800" baseline="-25000">
                  <a:solidFill>
                    <a:srgbClr val="00206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1</a:t>
              </a:r>
              <a:endParaRPr lang="en-GB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cxnSp>
          <p:nvCxnSpPr>
            <p:cNvPr id="16" name="Line 1380">
              <a:extLst>
                <a:ext uri="{FF2B5EF4-FFF2-40B4-BE49-F238E27FC236}">
                  <a16:creationId xmlns:a16="http://schemas.microsoft.com/office/drawing/2014/main" id="{91412CAD-DF3E-490C-A5AE-B26C8B0BDBB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387" y="3632"/>
              <a:ext cx="0" cy="540"/>
            </a:xfrm>
            <a:prstGeom prst="line">
              <a:avLst/>
            </a:prstGeom>
            <a:noFill/>
            <a:ln w="38100">
              <a:solidFill>
                <a:srgbClr val="002060"/>
              </a:solidFill>
              <a:round/>
              <a:headEnd type="arrow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7" name="Text Box 1381">
              <a:extLst>
                <a:ext uri="{FF2B5EF4-FFF2-40B4-BE49-F238E27FC236}">
                  <a16:creationId xmlns:a16="http://schemas.microsoft.com/office/drawing/2014/main" id="{AA7D1973-CA6A-4A4C-8952-D3047DC1C83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069" y="3698"/>
              <a:ext cx="360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18000" tIns="10800" rIns="18000" bIns="10800" anchor="t" anchorCtr="0" upright="1">
              <a:noAutofit/>
            </a:bodyPr>
            <a:lstStyle/>
            <a:p>
              <a:pPr marL="0" marR="0">
                <a:spcBef>
                  <a:spcPts val="0"/>
                </a:spcBef>
                <a:spcAft>
                  <a:spcPts val="0"/>
                </a:spcAft>
              </a:pPr>
              <a:r>
                <a:rPr lang="en-GB" sz="2800">
                  <a:solidFill>
                    <a:srgbClr val="00206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V</a:t>
              </a:r>
              <a:r>
                <a:rPr lang="en-GB" sz="2800" baseline="-25000">
                  <a:solidFill>
                    <a:srgbClr val="00206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2</a:t>
              </a:r>
              <a:endParaRPr lang="en-GB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cxnSp>
          <p:nvCxnSpPr>
            <p:cNvPr id="18" name="Line 1382">
              <a:extLst>
                <a:ext uri="{FF2B5EF4-FFF2-40B4-BE49-F238E27FC236}">
                  <a16:creationId xmlns:a16="http://schemas.microsoft.com/office/drawing/2014/main" id="{3FB015BB-18FE-4D92-8FE7-335D71EA0D08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7916" y="3641"/>
              <a:ext cx="0" cy="540"/>
            </a:xfrm>
            <a:prstGeom prst="line">
              <a:avLst/>
            </a:prstGeom>
            <a:noFill/>
            <a:ln w="38100">
              <a:solidFill>
                <a:srgbClr val="002060"/>
              </a:solidFill>
              <a:round/>
              <a:headEnd type="arrow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9" name="Text Box 1383">
              <a:extLst>
                <a:ext uri="{FF2B5EF4-FFF2-40B4-BE49-F238E27FC236}">
                  <a16:creationId xmlns:a16="http://schemas.microsoft.com/office/drawing/2014/main" id="{1BC0BB44-55E6-4909-BBC5-5DE36993578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2" y="3698"/>
              <a:ext cx="930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18000" tIns="10800" rIns="18000" bIns="10800" anchor="t" anchorCtr="0" upright="1">
              <a:noAutofit/>
            </a:bodyPr>
            <a:lstStyle/>
            <a:p>
              <a:pPr marL="0" marR="0">
                <a:spcBef>
                  <a:spcPts val="0"/>
                </a:spcBef>
                <a:spcAft>
                  <a:spcPts val="0"/>
                </a:spcAft>
              </a:pPr>
              <a:r>
                <a:rPr lang="en-GB" sz="3600" i="1">
                  <a:solidFill>
                    <a:srgbClr val="00206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Port 1</a:t>
              </a:r>
              <a:endParaRPr lang="en-GB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20" name="Text Box 1384">
              <a:extLst>
                <a:ext uri="{FF2B5EF4-FFF2-40B4-BE49-F238E27FC236}">
                  <a16:creationId xmlns:a16="http://schemas.microsoft.com/office/drawing/2014/main" id="{A5E371DE-F4B1-4CD7-BA50-24787CD4FCD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58" y="3698"/>
              <a:ext cx="930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18000" tIns="10800" rIns="18000" bIns="10800" anchor="t" anchorCtr="0" upright="1">
              <a:noAutofit/>
            </a:bodyPr>
            <a:lstStyle/>
            <a:p>
              <a:pPr marL="0" marR="0">
                <a:spcBef>
                  <a:spcPts val="0"/>
                </a:spcBef>
                <a:spcAft>
                  <a:spcPts val="0"/>
                </a:spcAft>
              </a:pPr>
              <a:r>
                <a:rPr lang="en-GB" sz="3600" b="1" i="1">
                  <a:solidFill>
                    <a:srgbClr val="002060"/>
                  </a:solidFill>
                  <a:effectLst/>
                  <a:latin typeface="Times New Roman" panose="02020603050405020304" pitchFamily="18" charset="0"/>
                </a:rPr>
                <a:t>Port 2</a:t>
              </a:r>
              <a:endParaRPr lang="en-GB" sz="1200" b="1" i="1">
                <a:effectLst/>
                <a:latin typeface="Times New Roman" panose="02020603050405020304" pitchFamily="18" charset="0"/>
              </a:endParaRPr>
            </a:p>
          </p:txBody>
        </p:sp>
      </p:grpSp>
      <p:sp>
        <p:nvSpPr>
          <p:cNvPr id="21" name="Rectangle 25">
            <a:extLst>
              <a:ext uri="{FF2B5EF4-FFF2-40B4-BE49-F238E27FC236}">
                <a16:creationId xmlns:a16="http://schemas.microsoft.com/office/drawing/2014/main" id="{761ACC1E-A4EF-4B59-8533-A90AEDEEC2BE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0" y="457199"/>
            <a:ext cx="10738884" cy="903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59307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B1BBAC-DEE1-4CF9-9521-6921611D2B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15" y="549483"/>
            <a:ext cx="10924085" cy="482745"/>
          </a:xfrm>
        </p:spPr>
        <p:txBody>
          <a:bodyPr>
            <a:noAutofit/>
          </a:bodyPr>
          <a:lstStyle/>
          <a:p>
            <a:r>
              <a:rPr lang="en-US" dirty="0"/>
              <a:t>Definitions</a:t>
            </a:r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768B3E9-DD9D-437E-A1F8-E44E594D4CFC}"/>
              </a:ext>
            </a:extLst>
          </p:cNvPr>
          <p:cNvSpPr/>
          <p:nvPr/>
        </p:nvSpPr>
        <p:spPr>
          <a:xfrm>
            <a:off x="10614" y="1032228"/>
            <a:ext cx="11762285" cy="56630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Bef>
                <a:spcPts val="1200"/>
              </a:spcBef>
              <a:tabLst>
                <a:tab pos="2743200" algn="ctr"/>
                <a:tab pos="5486400" algn="r"/>
                <a:tab pos="253365" algn="l"/>
                <a:tab pos="470535" algn="l"/>
                <a:tab pos="687705" algn="l"/>
              </a:tabLst>
            </a:pPr>
            <a:r>
              <a:rPr lang="en-GB" sz="3200" b="1" i="1" dirty="0">
                <a:solidFill>
                  <a:srgbClr val="C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Driving point impedance</a:t>
            </a:r>
            <a:r>
              <a:rPr lang="en-GB" sz="320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is defined as ratio of applied voltage (</a:t>
            </a:r>
            <a:r>
              <a:rPr lang="en-GB" sz="3200" i="1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driving point voltage) </a:t>
            </a:r>
            <a:r>
              <a:rPr lang="en-GB" sz="320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across a node-pair to the current entering at the same port. </a:t>
            </a:r>
            <a:endParaRPr lang="en-GB" sz="32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tabLst>
                <a:tab pos="2743200" algn="ctr"/>
                <a:tab pos="5486400" algn="r"/>
                <a:tab pos="253365" algn="l"/>
                <a:tab pos="470535" algn="l"/>
                <a:tab pos="687705" algn="l"/>
              </a:tabLst>
            </a:pPr>
            <a:r>
              <a:rPr lang="en-GB" sz="320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[</a:t>
            </a:r>
            <a:r>
              <a:rPr lang="en-GB" sz="3200" i="1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input impedance</a:t>
            </a:r>
            <a:r>
              <a:rPr lang="en-GB" sz="320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of network seen from particular port]</a:t>
            </a:r>
            <a:endParaRPr lang="en-GB" sz="32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468313" algn="just">
              <a:tabLst>
                <a:tab pos="2743200" algn="ctr"/>
                <a:tab pos="5486400" algn="r"/>
                <a:tab pos="687705" algn="l"/>
              </a:tabLst>
            </a:pPr>
            <a:r>
              <a:rPr lang="en-GB" sz="320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	Driving point impedance at Port 1	=	V</a:t>
            </a:r>
            <a:r>
              <a:rPr lang="en-GB" sz="3200" baseline="-2500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1</a:t>
            </a:r>
            <a:r>
              <a:rPr lang="en-GB" sz="320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/I</a:t>
            </a:r>
            <a:r>
              <a:rPr lang="en-GB" sz="3200" baseline="-2500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1</a:t>
            </a:r>
            <a:endParaRPr lang="en-GB" sz="32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468313" algn="just">
              <a:tabLst>
                <a:tab pos="2743200" algn="ctr"/>
                <a:tab pos="5486400" algn="r"/>
                <a:tab pos="687705" algn="l"/>
              </a:tabLst>
            </a:pPr>
            <a:r>
              <a:rPr lang="en-GB" sz="320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	Driving point impedance at Port 2	=	V</a:t>
            </a:r>
            <a:r>
              <a:rPr lang="en-GB" sz="3200" baseline="-2500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en-GB" sz="320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/I</a:t>
            </a:r>
            <a:r>
              <a:rPr lang="en-GB" sz="3200" baseline="-2500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endParaRPr lang="en-GB" sz="32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Bef>
                <a:spcPts val="1200"/>
              </a:spcBef>
              <a:tabLst>
                <a:tab pos="2743200" algn="ctr"/>
                <a:tab pos="5486400" algn="r"/>
                <a:tab pos="253365" algn="l"/>
                <a:tab pos="470535" algn="l"/>
                <a:tab pos="687705" algn="l"/>
              </a:tabLst>
            </a:pPr>
            <a:r>
              <a:rPr lang="en-GB" sz="3200" b="1" i="1" dirty="0">
                <a:solidFill>
                  <a:srgbClr val="C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Driving point admittance</a:t>
            </a:r>
            <a:r>
              <a:rPr lang="en-GB" sz="320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is similarly defined as the ratio of the current entering at a port to the applied voltage</a:t>
            </a:r>
            <a:r>
              <a:rPr lang="en-GB" sz="3200" i="1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GB" sz="320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across the same node-pair. </a:t>
            </a:r>
            <a:endParaRPr lang="en-GB" sz="32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468313" algn="just">
              <a:tabLst>
                <a:tab pos="2743200" algn="ctr"/>
                <a:tab pos="5486400" algn="r"/>
                <a:tab pos="687705" algn="l"/>
              </a:tabLst>
            </a:pPr>
            <a:r>
              <a:rPr lang="en-GB" sz="320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	Driving point admittance at Port 1	=	I</a:t>
            </a:r>
            <a:r>
              <a:rPr lang="en-GB" sz="3200" baseline="-2500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1</a:t>
            </a:r>
            <a:r>
              <a:rPr lang="en-GB" sz="320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/V</a:t>
            </a:r>
            <a:r>
              <a:rPr lang="en-GB" sz="3200" baseline="-2500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1</a:t>
            </a:r>
            <a:endParaRPr lang="en-GB" sz="32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468313" algn="just">
              <a:tabLst>
                <a:tab pos="2743200" algn="ctr"/>
                <a:tab pos="5486400" algn="r"/>
                <a:tab pos="687705" algn="l"/>
              </a:tabLst>
            </a:pPr>
            <a:r>
              <a:rPr lang="en-GB" sz="320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	Driving point admittance at Port 2	=	I</a:t>
            </a:r>
            <a:r>
              <a:rPr lang="en-GB" sz="3200" baseline="-2500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en-GB" sz="320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/V</a:t>
            </a:r>
            <a:r>
              <a:rPr lang="en-GB" sz="3200" baseline="-2500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endParaRPr lang="en-GB" sz="3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26840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0FC60F7-43E0-412A-B856-34BF5FBD6FE6}"/>
              </a:ext>
            </a:extLst>
          </p:cNvPr>
          <p:cNvSpPr/>
          <p:nvPr/>
        </p:nvSpPr>
        <p:spPr>
          <a:xfrm>
            <a:off x="386316" y="877378"/>
            <a:ext cx="11419367" cy="54784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300"/>
              </a:spcAft>
              <a:tabLst>
                <a:tab pos="2743200" algn="ctr"/>
                <a:tab pos="5486400" algn="r"/>
                <a:tab pos="253365" algn="l"/>
                <a:tab pos="470535" algn="l"/>
                <a:tab pos="687705" algn="l"/>
              </a:tabLst>
            </a:pPr>
            <a:r>
              <a:rPr lang="en-GB" sz="3400" b="1" i="1" dirty="0">
                <a:solidFill>
                  <a:srgbClr val="C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Immittance</a:t>
            </a:r>
            <a:r>
              <a:rPr lang="en-GB" sz="340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is sometimes used to represent either an impedance or an admittance</a:t>
            </a:r>
            <a:endParaRPr lang="en-GB" sz="3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Aft>
                <a:spcPts val="300"/>
              </a:spcAft>
              <a:tabLst>
                <a:tab pos="2743200" algn="ctr"/>
                <a:tab pos="5486400" algn="r"/>
                <a:tab pos="253365" algn="l"/>
                <a:tab pos="470535" algn="l"/>
                <a:tab pos="687705" algn="l"/>
              </a:tabLst>
            </a:pPr>
            <a:r>
              <a:rPr lang="en-GB" sz="3400" b="1" i="1" dirty="0">
                <a:solidFill>
                  <a:srgbClr val="C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Transfer impedance</a:t>
            </a:r>
            <a:r>
              <a:rPr lang="en-GB" sz="340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is defined as the ratio of the applied voltage across a node-pair to the current entering at the other port.</a:t>
            </a:r>
            <a:endParaRPr lang="en-GB" sz="3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Aft>
                <a:spcPts val="300"/>
              </a:spcAft>
              <a:tabLst>
                <a:tab pos="2743200" algn="ctr"/>
                <a:tab pos="5486400" algn="r"/>
                <a:tab pos="687705" algn="l"/>
              </a:tabLst>
            </a:pPr>
            <a:r>
              <a:rPr lang="en-GB" sz="340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	Transfer impedance	=	V</a:t>
            </a:r>
            <a:r>
              <a:rPr lang="en-GB" sz="3400" baseline="-2500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1</a:t>
            </a:r>
            <a:r>
              <a:rPr lang="en-GB" sz="340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/I</a:t>
            </a:r>
            <a:r>
              <a:rPr lang="en-GB" sz="3400" baseline="-2500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en-GB" sz="340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,  V</a:t>
            </a:r>
            <a:r>
              <a:rPr lang="en-GB" sz="3400" baseline="-2500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en-GB" sz="340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/I</a:t>
            </a:r>
            <a:r>
              <a:rPr lang="en-GB" sz="3400" baseline="-2500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1</a:t>
            </a:r>
            <a:endParaRPr lang="en-GB" sz="3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Aft>
                <a:spcPts val="300"/>
              </a:spcAft>
              <a:tabLst>
                <a:tab pos="2743200" algn="ctr"/>
                <a:tab pos="5486400" algn="r"/>
                <a:tab pos="253365" algn="l"/>
                <a:tab pos="470535" algn="l"/>
                <a:tab pos="687705" algn="l"/>
              </a:tabLst>
            </a:pPr>
            <a:r>
              <a:rPr lang="en-GB" sz="3400" b="1" i="1" dirty="0">
                <a:solidFill>
                  <a:srgbClr val="C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Transfer</a:t>
            </a:r>
            <a:r>
              <a:rPr lang="en-GB" sz="3400" dirty="0">
                <a:solidFill>
                  <a:srgbClr val="C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GB" sz="3400" b="1" i="1" dirty="0">
                <a:solidFill>
                  <a:srgbClr val="C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admittance</a:t>
            </a:r>
            <a:r>
              <a:rPr lang="en-GB" sz="340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is defined as the ratio of the current entering at a port to the voltage appearing</a:t>
            </a:r>
            <a:r>
              <a:rPr lang="en-GB" sz="3400" i="1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GB" sz="340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across the other node-pair. </a:t>
            </a:r>
            <a:endParaRPr lang="en-GB" sz="3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Aft>
                <a:spcPts val="300"/>
              </a:spcAft>
              <a:tabLst>
                <a:tab pos="2743200" algn="ctr"/>
                <a:tab pos="5486400" algn="r"/>
                <a:tab pos="687705" algn="l"/>
              </a:tabLst>
            </a:pPr>
            <a:r>
              <a:rPr lang="en-GB" sz="340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	Transfer admittance	=	I</a:t>
            </a:r>
            <a:r>
              <a:rPr lang="en-GB" sz="3400" baseline="-2500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1</a:t>
            </a:r>
            <a:r>
              <a:rPr lang="en-GB" sz="340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/V</a:t>
            </a:r>
            <a:r>
              <a:rPr lang="en-GB" sz="3400" baseline="-2500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en-GB" sz="340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,   I</a:t>
            </a:r>
            <a:r>
              <a:rPr lang="en-GB" sz="3400" baseline="-2500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en-GB" sz="340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/V</a:t>
            </a:r>
            <a:r>
              <a:rPr lang="en-GB" sz="3400" baseline="-2500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1</a:t>
            </a:r>
            <a:endParaRPr lang="en-GB" sz="3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74621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387E7B5-597F-4692-906E-C86DDE8704D8}"/>
              </a:ext>
            </a:extLst>
          </p:cNvPr>
          <p:cNvSpPr/>
          <p:nvPr/>
        </p:nvSpPr>
        <p:spPr>
          <a:xfrm>
            <a:off x="255181" y="982989"/>
            <a:ext cx="11185451" cy="42780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600"/>
              </a:spcAft>
              <a:tabLst>
                <a:tab pos="2743200" algn="ctr"/>
                <a:tab pos="5486400" algn="r"/>
                <a:tab pos="253365" algn="l"/>
                <a:tab pos="470535" algn="l"/>
                <a:tab pos="687705" algn="l"/>
              </a:tabLst>
            </a:pPr>
            <a:r>
              <a:rPr lang="en-GB" sz="3600" b="1" i="1" dirty="0">
                <a:solidFill>
                  <a:srgbClr val="C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Transfer Voltage gain (or ratio)</a:t>
            </a:r>
            <a:r>
              <a:rPr lang="en-GB" sz="360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is defined as the ratio of the voltage at a node pair to the voltage appearing at the other node-pair.</a:t>
            </a:r>
            <a:endParaRPr lang="en-GB" sz="3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tabLst>
                <a:tab pos="2743200" algn="ctr"/>
                <a:tab pos="5486400" algn="r"/>
                <a:tab pos="687705" algn="l"/>
              </a:tabLst>
            </a:pPr>
            <a:r>
              <a:rPr lang="en-GB" sz="360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	Transfer voltage gain	=	V</a:t>
            </a:r>
            <a:r>
              <a:rPr lang="en-GB" sz="3600" baseline="-2500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1</a:t>
            </a:r>
            <a:r>
              <a:rPr lang="en-GB" sz="360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/V</a:t>
            </a:r>
            <a:r>
              <a:rPr lang="en-GB" sz="3600" baseline="-2500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en-GB" sz="360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,  V</a:t>
            </a:r>
            <a:r>
              <a:rPr lang="en-GB" sz="3600" baseline="-2500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en-GB" sz="360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/V</a:t>
            </a:r>
            <a:r>
              <a:rPr lang="en-GB" sz="3600" baseline="-2500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1</a:t>
            </a:r>
            <a:endParaRPr lang="en-GB" sz="3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Bef>
                <a:spcPts val="1200"/>
              </a:spcBef>
              <a:spcAft>
                <a:spcPts val="600"/>
              </a:spcAft>
              <a:tabLst>
                <a:tab pos="2743200" algn="ctr"/>
                <a:tab pos="5486400" algn="r"/>
                <a:tab pos="253365" algn="l"/>
                <a:tab pos="470535" algn="l"/>
                <a:tab pos="687705" algn="l"/>
              </a:tabLst>
            </a:pPr>
            <a:r>
              <a:rPr lang="en-GB" sz="3600" b="1" i="1" dirty="0">
                <a:solidFill>
                  <a:srgbClr val="C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Transfer Current gain (or ratio)</a:t>
            </a:r>
            <a:r>
              <a:rPr lang="en-GB" sz="360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is similarly defined as the ratio of the current at a port to the current at the other port.</a:t>
            </a:r>
            <a:endParaRPr lang="en-GB" sz="3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tabLst>
                <a:tab pos="2743200" algn="ctr"/>
                <a:tab pos="5486400" algn="r"/>
                <a:tab pos="687705" algn="l"/>
              </a:tabLst>
            </a:pPr>
            <a:r>
              <a:rPr lang="en-GB" sz="360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	Transfer current gain		=	I</a:t>
            </a:r>
            <a:r>
              <a:rPr lang="en-GB" sz="3600" baseline="-2500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1</a:t>
            </a:r>
            <a:r>
              <a:rPr lang="en-GB" sz="360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/I</a:t>
            </a:r>
            <a:r>
              <a:rPr lang="en-GB" sz="3600" baseline="-2500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en-GB" sz="360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,  I</a:t>
            </a:r>
            <a:r>
              <a:rPr lang="en-GB" sz="3600" baseline="-2500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en-GB" sz="360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/I</a:t>
            </a:r>
            <a:r>
              <a:rPr lang="en-GB" sz="3600" baseline="-2500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1</a:t>
            </a:r>
            <a:endParaRPr lang="en-GB" sz="3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14658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B1BBAC-DEE1-4CF9-9521-6921611D2B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15" y="549483"/>
            <a:ext cx="10924085" cy="482745"/>
          </a:xfrm>
        </p:spPr>
        <p:txBody>
          <a:bodyPr>
            <a:noAutofit/>
          </a:bodyPr>
          <a:lstStyle/>
          <a:p>
            <a:r>
              <a:rPr lang="en-GB" dirty="0"/>
              <a:t>Common Two-port parameters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68F9BF7-3DA2-4E81-A2D8-3A649575D2C5}"/>
              </a:ext>
            </a:extLst>
          </p:cNvPr>
          <p:cNvSpPr/>
          <p:nvPr/>
        </p:nvSpPr>
        <p:spPr>
          <a:xfrm>
            <a:off x="429715" y="1032228"/>
            <a:ext cx="11287364" cy="56169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600"/>
              </a:spcAft>
              <a:tabLst>
                <a:tab pos="2743200" algn="ctr"/>
                <a:tab pos="5486400" algn="r"/>
                <a:tab pos="253365" algn="l"/>
                <a:tab pos="470535" algn="l"/>
                <a:tab pos="687705" algn="l"/>
              </a:tabLst>
            </a:pPr>
            <a:r>
              <a:rPr lang="en-GB" sz="360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External conditions of a two-port network can be completely defined by currents and voltages at the 2 ports.  </a:t>
            </a:r>
            <a:endParaRPr lang="en-GB" sz="3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Aft>
                <a:spcPts val="600"/>
              </a:spcAft>
              <a:tabLst>
                <a:tab pos="2743200" algn="ctr"/>
                <a:tab pos="5486400" algn="r"/>
                <a:tab pos="253365" algn="l"/>
                <a:tab pos="470535" algn="l"/>
                <a:tab pos="687705" algn="l"/>
              </a:tabLst>
            </a:pPr>
            <a:r>
              <a:rPr lang="en-GB" sz="360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A general two port network can be characterised by four parameters, derived from the network elements.</a:t>
            </a:r>
            <a:endParaRPr lang="en-GB" sz="3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Aft>
                <a:spcPts val="1200"/>
              </a:spcAft>
              <a:tabLst>
                <a:tab pos="2743200" algn="ctr"/>
                <a:tab pos="5486400" algn="r"/>
                <a:tab pos="253365" algn="l"/>
                <a:tab pos="470535" algn="l"/>
                <a:tab pos="687705" algn="l"/>
              </a:tabLst>
            </a:pPr>
            <a:r>
              <a:rPr lang="en-GB" sz="360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With symmetry, number of parameters will be reduced.</a:t>
            </a:r>
            <a:endParaRPr lang="en-GB" sz="3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404813" marR="0" algn="just">
              <a:spcBef>
                <a:spcPts val="0"/>
              </a:spcBef>
              <a:spcAft>
                <a:spcPts val="600"/>
              </a:spcAft>
              <a:tabLst>
                <a:tab pos="1190625" algn="l"/>
              </a:tabLst>
            </a:pPr>
            <a:r>
              <a:rPr lang="en-GB" sz="360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(a)	Impedance parameters</a:t>
            </a:r>
            <a:endParaRPr lang="en-GB" sz="3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404813" marR="0" algn="just">
              <a:spcBef>
                <a:spcPts val="0"/>
              </a:spcBef>
              <a:spcAft>
                <a:spcPts val="600"/>
              </a:spcAft>
              <a:tabLst>
                <a:tab pos="1190625" algn="l"/>
              </a:tabLst>
            </a:pPr>
            <a:r>
              <a:rPr lang="en-GB" sz="360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(b)	Admittance parameters</a:t>
            </a:r>
            <a:endParaRPr lang="en-GB" sz="3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404813" marR="0" algn="just">
              <a:spcBef>
                <a:spcPts val="0"/>
              </a:spcBef>
              <a:spcAft>
                <a:spcPts val="600"/>
              </a:spcAft>
              <a:tabLst>
                <a:tab pos="1190625" algn="l"/>
              </a:tabLst>
            </a:pPr>
            <a:r>
              <a:rPr lang="en-GB" sz="360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(c)	Transmission Line parameters</a:t>
            </a:r>
            <a:endParaRPr lang="en-GB" sz="3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404813">
              <a:tabLst>
                <a:tab pos="1190625" algn="l"/>
              </a:tabLst>
            </a:pPr>
            <a:r>
              <a:rPr lang="en-GB" sz="360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(d)	Hybrid parameters.</a:t>
            </a:r>
            <a:endParaRPr lang="en-GB" sz="3600" dirty="0"/>
          </a:p>
        </p:txBody>
      </p:sp>
    </p:spTree>
    <p:extLst>
      <p:ext uri="{BB962C8B-B14F-4D97-AF65-F5344CB8AC3E}">
        <p14:creationId xmlns:p14="http://schemas.microsoft.com/office/powerpoint/2010/main" val="8361776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B1BBAC-DEE1-4CF9-9521-6921611D2B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15" y="485688"/>
            <a:ext cx="10924085" cy="981605"/>
          </a:xfrm>
        </p:spPr>
        <p:txBody>
          <a:bodyPr>
            <a:noAutofit/>
          </a:bodyPr>
          <a:lstStyle/>
          <a:p>
            <a:r>
              <a:rPr lang="en-GB" dirty="0"/>
              <a:t>(a) Impedance Parameters (z-parameters)  </a:t>
            </a:r>
            <a:br>
              <a:rPr lang="en-GB" dirty="0"/>
            </a:br>
            <a:r>
              <a:rPr lang="en-GB" dirty="0"/>
              <a:t>or Open-circuit parameters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94EB58F-1A19-4F28-A6C2-D34ADE1320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altLang="en-US" sz="3600" b="0" i="0" u="none" strike="noStrike" cap="none" normalizeH="0" baseline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		</a:t>
            </a:r>
            <a:endParaRPr kumimoji="0" lang="en-GB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4AF50793-F5B3-4D5C-8EE6-9184BF5562D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22211969"/>
              </p:ext>
            </p:extLst>
          </p:nvPr>
        </p:nvGraphicFramePr>
        <p:xfrm>
          <a:off x="3715990" y="3205007"/>
          <a:ext cx="4267200" cy="1457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186" r:id="rId3" imgW="1397000" imgH="482600" progId="Equation.3">
                  <p:embed/>
                </p:oleObj>
              </mc:Choice>
              <mc:Fallback>
                <p:oleObj r:id="rId3" imgW="1397000" imgH="48260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15990" y="3205007"/>
                        <a:ext cx="4267200" cy="14573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3">
            <a:extLst>
              <a:ext uri="{FF2B5EF4-FFF2-40B4-BE49-F238E27FC236}">
                <a16:creationId xmlns:a16="http://schemas.microsoft.com/office/drawing/2014/main" id="{6876904F-340D-42F5-9913-10D924336C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55851" y="4646474"/>
            <a:ext cx="5963410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687388" algn="r"/>
                <a:tab pos="2743200" algn="ctr"/>
                <a:tab pos="5486400" algn="r"/>
              </a:tabLst>
            </a:pPr>
            <a:r>
              <a:rPr kumimoji="0" lang="en-GB" altLang="en-US" sz="36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		V</a:t>
            </a:r>
            <a:r>
              <a:rPr kumimoji="0" lang="en-GB" altLang="en-US" sz="3600" b="0" i="0" u="none" strike="noStrike" cap="none" normalizeH="0" baseline="-3000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1</a:t>
            </a:r>
            <a:r>
              <a:rPr kumimoji="0" lang="en-GB" altLang="en-US" sz="36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= z</a:t>
            </a:r>
            <a:r>
              <a:rPr kumimoji="0" lang="en-GB" altLang="en-US" sz="3600" b="0" i="0" u="none" strike="noStrike" cap="none" normalizeH="0" baseline="-3000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11</a:t>
            </a:r>
            <a:r>
              <a:rPr kumimoji="0" lang="en-GB" altLang="en-US" sz="36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I</a:t>
            </a:r>
            <a:r>
              <a:rPr kumimoji="0" lang="en-GB" altLang="en-US" sz="3600" b="0" i="0" u="none" strike="noStrike" cap="none" normalizeH="0" baseline="-3000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1</a:t>
            </a:r>
            <a:r>
              <a:rPr kumimoji="0" lang="en-GB" altLang="en-US" sz="36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+ z</a:t>
            </a:r>
            <a:r>
              <a:rPr kumimoji="0" lang="en-GB" altLang="en-US" sz="3600" b="0" i="0" u="none" strike="noStrike" cap="none" normalizeH="0" baseline="-3000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12</a:t>
            </a:r>
            <a:r>
              <a:rPr kumimoji="0" lang="en-GB" altLang="en-US" sz="36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I</a:t>
            </a:r>
            <a:r>
              <a:rPr kumimoji="0" lang="en-GB" altLang="en-US" sz="3600" b="0" i="0" u="none" strike="noStrike" cap="none" normalizeH="0" baseline="-3000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2</a:t>
            </a:r>
            <a:endParaRPr kumimoji="0" lang="en-GB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687388" algn="r"/>
                <a:tab pos="2743200" algn="ctr"/>
                <a:tab pos="5486400" algn="r"/>
              </a:tabLst>
            </a:pPr>
            <a:r>
              <a:rPr kumimoji="0" lang="en-GB" altLang="en-US" sz="36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	If  I</a:t>
            </a:r>
            <a:r>
              <a:rPr kumimoji="0" lang="en-GB" altLang="en-US" sz="3600" b="0" i="0" u="none" strike="noStrike" cap="none" normalizeH="0" baseline="-3000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2</a:t>
            </a:r>
            <a:r>
              <a:rPr kumimoji="0" lang="en-GB" altLang="en-US" sz="36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= 0, then  z</a:t>
            </a:r>
            <a:r>
              <a:rPr kumimoji="0" lang="en-GB" altLang="en-US" sz="3600" b="0" i="0" u="none" strike="noStrike" cap="none" normalizeH="0" baseline="-3000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11</a:t>
            </a:r>
            <a:r>
              <a:rPr kumimoji="0" lang="en-GB" altLang="en-US" sz="36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= V</a:t>
            </a:r>
            <a:r>
              <a:rPr kumimoji="0" lang="en-GB" altLang="en-US" sz="3600" b="0" i="0" u="none" strike="noStrike" cap="none" normalizeH="0" baseline="-3000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1</a:t>
            </a:r>
            <a:r>
              <a:rPr kumimoji="0" lang="en-GB" altLang="en-US" sz="36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/I</a:t>
            </a:r>
            <a:r>
              <a:rPr kumimoji="0" lang="en-GB" altLang="en-US" sz="3600" b="0" i="0" u="none" strike="noStrike" cap="none" normalizeH="0" baseline="-3000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1</a:t>
            </a:r>
            <a:endParaRPr kumimoji="0" lang="en-GB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687388" algn="r"/>
                <a:tab pos="2743200" algn="ctr"/>
                <a:tab pos="5486400" algn="r"/>
              </a:tabLst>
            </a:pPr>
            <a:r>
              <a:rPr kumimoji="0" lang="en-GB" altLang="en-US" sz="36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	If  I</a:t>
            </a:r>
            <a:r>
              <a:rPr kumimoji="0" lang="en-GB" altLang="en-US" sz="3600" b="0" i="0" u="none" strike="noStrike" cap="none" normalizeH="0" baseline="-3000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1</a:t>
            </a:r>
            <a:r>
              <a:rPr kumimoji="0" lang="en-GB" altLang="en-US" sz="36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= 0, then  z</a:t>
            </a:r>
            <a:r>
              <a:rPr kumimoji="0" lang="en-GB" altLang="en-US" sz="3600" b="0" i="0" u="none" strike="noStrike" cap="none" normalizeH="0" baseline="-3000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12</a:t>
            </a:r>
            <a:r>
              <a:rPr kumimoji="0" lang="en-GB" altLang="en-US" sz="36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= V</a:t>
            </a:r>
            <a:r>
              <a:rPr kumimoji="0" lang="en-GB" altLang="en-US" sz="3600" b="0" i="0" u="none" strike="noStrike" cap="none" normalizeH="0" baseline="-3000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1</a:t>
            </a:r>
            <a:r>
              <a:rPr kumimoji="0" lang="en-GB" altLang="en-US" sz="36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/I</a:t>
            </a:r>
            <a:r>
              <a:rPr kumimoji="0" lang="en-GB" altLang="en-US" sz="3600" b="0" i="0" u="none" strike="noStrike" cap="none" normalizeH="0" baseline="-3000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2</a:t>
            </a:r>
            <a:endParaRPr kumimoji="0" lang="en-GB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5BD0C8D-B9BA-4FCD-90F6-64FE853B7402}"/>
              </a:ext>
            </a:extLst>
          </p:cNvPr>
          <p:cNvGrpSpPr>
            <a:grpSpLocks/>
          </p:cNvGrpSpPr>
          <p:nvPr/>
        </p:nvGrpSpPr>
        <p:grpSpPr bwMode="auto">
          <a:xfrm>
            <a:off x="2767647" y="1223381"/>
            <a:ext cx="6656705" cy="1911349"/>
            <a:chOff x="6035" y="5066"/>
            <a:chExt cx="4560" cy="1311"/>
          </a:xfrm>
        </p:grpSpPr>
        <p:sp>
          <p:nvSpPr>
            <p:cNvPr id="8" name="Text Box 2226">
              <a:extLst>
                <a:ext uri="{FF2B5EF4-FFF2-40B4-BE49-F238E27FC236}">
                  <a16:creationId xmlns:a16="http://schemas.microsoft.com/office/drawing/2014/main" id="{5CC776A4-74E9-4DFE-AF69-53FE72F0BE6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07" y="5237"/>
              <a:ext cx="1122" cy="1140"/>
            </a:xfrm>
            <a:prstGeom prst="rect">
              <a:avLst/>
            </a:prstGeom>
            <a:solidFill>
              <a:srgbClr val="FFFFFF"/>
            </a:solidFill>
            <a:ln w="38100">
              <a:solidFill>
                <a:srgbClr val="C00000"/>
              </a:solidFill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marL="0" marR="0" algn="ctr">
                <a:spcBef>
                  <a:spcPts val="0"/>
                </a:spcBef>
                <a:spcAft>
                  <a:spcPts val="0"/>
                </a:spcAft>
              </a:pPr>
              <a:r>
                <a:rPr lang="en-GB" sz="300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Linear</a:t>
              </a:r>
              <a:endParaRPr lang="en-GB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  <a:p>
              <a:pPr marL="0" marR="0" algn="ctr">
                <a:spcBef>
                  <a:spcPts val="0"/>
                </a:spcBef>
                <a:spcAft>
                  <a:spcPts val="0"/>
                </a:spcAft>
              </a:pPr>
              <a:r>
                <a:rPr lang="en-GB" sz="300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Passive</a:t>
              </a:r>
              <a:endParaRPr lang="en-GB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  <a:p>
              <a:pPr marL="0" marR="0" algn="ctr">
                <a:spcBef>
                  <a:spcPts val="0"/>
                </a:spcBef>
                <a:spcAft>
                  <a:spcPts val="0"/>
                </a:spcAft>
              </a:pPr>
              <a:r>
                <a:rPr lang="en-GB" sz="300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Network</a:t>
              </a:r>
              <a:endParaRPr lang="en-GB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cxnSp>
          <p:nvCxnSpPr>
            <p:cNvPr id="9" name="Line 2227">
              <a:extLst>
                <a:ext uri="{FF2B5EF4-FFF2-40B4-BE49-F238E27FC236}">
                  <a16:creationId xmlns:a16="http://schemas.microsoft.com/office/drawing/2014/main" id="{EFF3AD6A-9910-400D-BC92-F17A4042BDB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6469" y="5465"/>
              <a:ext cx="503" cy="0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 type="oval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" name="Line 2228">
              <a:extLst>
                <a:ext uri="{FF2B5EF4-FFF2-40B4-BE49-F238E27FC236}">
                  <a16:creationId xmlns:a16="http://schemas.microsoft.com/office/drawing/2014/main" id="{36509743-D23F-437A-BA42-9A10FD5BD137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6972" y="5465"/>
              <a:ext cx="735" cy="0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" name="Line 2229">
              <a:extLst>
                <a:ext uri="{FF2B5EF4-FFF2-40B4-BE49-F238E27FC236}">
                  <a16:creationId xmlns:a16="http://schemas.microsoft.com/office/drawing/2014/main" id="{50BD9766-7763-467D-B971-BB7D8514E3B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9564" y="5465"/>
              <a:ext cx="503" cy="0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 type="oval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" name="Line 2230">
              <a:extLst>
                <a:ext uri="{FF2B5EF4-FFF2-40B4-BE49-F238E27FC236}">
                  <a16:creationId xmlns:a16="http://schemas.microsoft.com/office/drawing/2014/main" id="{EF0017A2-89FF-4CA3-A387-E60BC8CF0F6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8829" y="5465"/>
              <a:ext cx="735" cy="0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3" name="Line 2231">
              <a:extLst>
                <a:ext uri="{FF2B5EF4-FFF2-40B4-BE49-F238E27FC236}">
                  <a16:creationId xmlns:a16="http://schemas.microsoft.com/office/drawing/2014/main" id="{D1B2C5CC-DED0-4D93-A62E-35B9C3F71DF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6469" y="6206"/>
              <a:ext cx="1238" cy="0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 type="oval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4" name="Line 2232">
              <a:extLst>
                <a:ext uri="{FF2B5EF4-FFF2-40B4-BE49-F238E27FC236}">
                  <a16:creationId xmlns:a16="http://schemas.microsoft.com/office/drawing/2014/main" id="{E7F3B486-C460-4EC1-8602-017926EDADD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8829" y="6206"/>
              <a:ext cx="1238" cy="0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5" name="Text Box 2233">
              <a:extLst>
                <a:ext uri="{FF2B5EF4-FFF2-40B4-BE49-F238E27FC236}">
                  <a16:creationId xmlns:a16="http://schemas.microsoft.com/office/drawing/2014/main" id="{3A55A4EC-5CAE-440B-B69F-512A51BF60B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56" y="5105"/>
              <a:ext cx="244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18000" tIns="10800" rIns="18000" bIns="10800" anchor="t" anchorCtr="0" upright="1">
              <a:noAutofit/>
            </a:bodyPr>
            <a:lstStyle/>
            <a:p>
              <a:pPr marL="0" marR="0">
                <a:spcBef>
                  <a:spcPts val="0"/>
                </a:spcBef>
                <a:spcAft>
                  <a:spcPts val="0"/>
                </a:spcAft>
              </a:pPr>
              <a:r>
                <a:rPr lang="en-GB" sz="3000">
                  <a:solidFill>
                    <a:srgbClr val="00206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I</a:t>
              </a:r>
              <a:r>
                <a:rPr lang="en-GB" sz="3000" baseline="-25000">
                  <a:solidFill>
                    <a:srgbClr val="00206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1</a:t>
              </a:r>
              <a:endParaRPr lang="en-GB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16" name="Text Box 2234">
              <a:extLst>
                <a:ext uri="{FF2B5EF4-FFF2-40B4-BE49-F238E27FC236}">
                  <a16:creationId xmlns:a16="http://schemas.microsoft.com/office/drawing/2014/main" id="{AB66E7B3-FF9B-4045-852B-F114D498596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514" y="5066"/>
              <a:ext cx="244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18000" tIns="10800" rIns="18000" bIns="10800" anchor="t" anchorCtr="0" upright="1">
              <a:noAutofit/>
            </a:bodyPr>
            <a:lstStyle/>
            <a:p>
              <a:pPr marL="0" marR="0">
                <a:spcBef>
                  <a:spcPts val="0"/>
                </a:spcBef>
                <a:spcAft>
                  <a:spcPts val="0"/>
                </a:spcAft>
              </a:pPr>
              <a:r>
                <a:rPr lang="en-GB" sz="3000">
                  <a:solidFill>
                    <a:srgbClr val="00206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I</a:t>
              </a:r>
              <a:r>
                <a:rPr lang="en-GB" sz="3000" baseline="-25000">
                  <a:solidFill>
                    <a:srgbClr val="00206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2</a:t>
              </a:r>
              <a:endParaRPr lang="en-GB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17" name="Text Box 2235">
              <a:extLst>
                <a:ext uri="{FF2B5EF4-FFF2-40B4-BE49-F238E27FC236}">
                  <a16:creationId xmlns:a16="http://schemas.microsoft.com/office/drawing/2014/main" id="{EA6266CC-BB51-49BB-B1D5-C4F5BADAC1A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35" y="5522"/>
              <a:ext cx="330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18000" tIns="10800" rIns="18000" bIns="10800" anchor="t" anchorCtr="0" upright="1">
              <a:noAutofit/>
            </a:bodyPr>
            <a:lstStyle/>
            <a:p>
              <a:pPr marL="0" marR="0">
                <a:spcBef>
                  <a:spcPts val="0"/>
                </a:spcBef>
                <a:spcAft>
                  <a:spcPts val="0"/>
                </a:spcAft>
              </a:pPr>
              <a:r>
                <a:rPr lang="en-GB" sz="3000">
                  <a:solidFill>
                    <a:srgbClr val="00206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V</a:t>
              </a:r>
              <a:r>
                <a:rPr lang="en-GB" sz="3000" baseline="-25000">
                  <a:solidFill>
                    <a:srgbClr val="00206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1</a:t>
              </a:r>
              <a:endParaRPr lang="en-GB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cxnSp>
          <p:nvCxnSpPr>
            <p:cNvPr id="18" name="Line 2236">
              <a:extLst>
                <a:ext uri="{FF2B5EF4-FFF2-40B4-BE49-F238E27FC236}">
                  <a16:creationId xmlns:a16="http://schemas.microsoft.com/office/drawing/2014/main" id="{84B7BA8F-414B-45A6-847C-62D05A4C9EF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6392" y="5570"/>
              <a:ext cx="0" cy="540"/>
            </a:xfrm>
            <a:prstGeom prst="line">
              <a:avLst/>
            </a:prstGeom>
            <a:noFill/>
            <a:ln w="38100">
              <a:solidFill>
                <a:srgbClr val="002060"/>
              </a:solidFill>
              <a:round/>
              <a:headEnd type="arrow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9" name="Text Box 2237">
              <a:extLst>
                <a:ext uri="{FF2B5EF4-FFF2-40B4-BE49-F238E27FC236}">
                  <a16:creationId xmlns:a16="http://schemas.microsoft.com/office/drawing/2014/main" id="{B3C22B89-04F3-41A8-831C-716CA9A2D33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249" y="5636"/>
              <a:ext cx="346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18000" tIns="10800" rIns="18000" bIns="10800" anchor="t" anchorCtr="0" upright="1">
              <a:noAutofit/>
            </a:bodyPr>
            <a:lstStyle/>
            <a:p>
              <a:pPr marL="0" marR="0">
                <a:spcBef>
                  <a:spcPts val="0"/>
                </a:spcBef>
                <a:spcAft>
                  <a:spcPts val="0"/>
                </a:spcAft>
              </a:pPr>
              <a:r>
                <a:rPr lang="en-GB" sz="3000">
                  <a:solidFill>
                    <a:srgbClr val="00206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V</a:t>
              </a:r>
              <a:r>
                <a:rPr lang="en-GB" sz="3000" baseline="-25000">
                  <a:solidFill>
                    <a:srgbClr val="00206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2</a:t>
              </a:r>
              <a:endParaRPr lang="en-GB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cxnSp>
          <p:nvCxnSpPr>
            <p:cNvPr id="20" name="Line 2238">
              <a:extLst>
                <a:ext uri="{FF2B5EF4-FFF2-40B4-BE49-F238E27FC236}">
                  <a16:creationId xmlns:a16="http://schemas.microsoft.com/office/drawing/2014/main" id="{401A5AC1-77EC-4D29-A499-BFF8177E990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0145" y="5579"/>
              <a:ext cx="0" cy="540"/>
            </a:xfrm>
            <a:prstGeom prst="line">
              <a:avLst/>
            </a:prstGeom>
            <a:noFill/>
            <a:ln w="38100">
              <a:solidFill>
                <a:srgbClr val="002060"/>
              </a:solidFill>
              <a:round/>
              <a:headEnd type="arrow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1" name="Text Box 2239">
              <a:extLst>
                <a:ext uri="{FF2B5EF4-FFF2-40B4-BE49-F238E27FC236}">
                  <a16:creationId xmlns:a16="http://schemas.microsoft.com/office/drawing/2014/main" id="{43BCED5D-C6FE-40C1-91AA-9A25263509A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05" y="5636"/>
              <a:ext cx="754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18000" tIns="10800" rIns="18000" bIns="10800" anchor="t" anchorCtr="0" upright="1">
              <a:noAutofit/>
            </a:bodyPr>
            <a:lstStyle/>
            <a:p>
              <a:pPr marL="0" marR="0">
                <a:spcBef>
                  <a:spcPts val="0"/>
                </a:spcBef>
                <a:spcAft>
                  <a:spcPts val="0"/>
                </a:spcAft>
              </a:pPr>
              <a:r>
                <a:rPr lang="en-GB" sz="3000" i="1">
                  <a:solidFill>
                    <a:srgbClr val="00206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Port 1</a:t>
              </a:r>
              <a:endParaRPr lang="en-GB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22" name="Text Box 2240">
              <a:extLst>
                <a:ext uri="{FF2B5EF4-FFF2-40B4-BE49-F238E27FC236}">
                  <a16:creationId xmlns:a16="http://schemas.microsoft.com/office/drawing/2014/main" id="{B4830154-F105-4CD0-9204-053BBF0E467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284" y="5636"/>
              <a:ext cx="706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18000" tIns="10800" rIns="18000" bIns="10800" anchor="t" anchorCtr="0" upright="1">
              <a:noAutofit/>
            </a:bodyPr>
            <a:lstStyle/>
            <a:p>
              <a:pPr marL="0" marR="0">
                <a:spcBef>
                  <a:spcPts val="0"/>
                </a:spcBef>
                <a:spcAft>
                  <a:spcPts val="0"/>
                </a:spcAft>
              </a:pPr>
              <a:r>
                <a:rPr lang="en-GB" sz="3000" b="1" i="1">
                  <a:solidFill>
                    <a:srgbClr val="002060"/>
                  </a:solidFill>
                  <a:effectLst/>
                  <a:latin typeface="Times New Roman" panose="02020603050405020304" pitchFamily="18" charset="0"/>
                </a:rPr>
                <a:t>Port 2</a:t>
              </a:r>
              <a:endParaRPr lang="en-GB" sz="1200" b="1" i="1">
                <a:effectLst/>
                <a:latin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569221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8EB099A5-F785-47DE-A046-86C830DA4E8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46926961"/>
              </p:ext>
            </p:extLst>
          </p:nvPr>
        </p:nvGraphicFramePr>
        <p:xfrm>
          <a:off x="673769" y="1133071"/>
          <a:ext cx="2990850" cy="1619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258" r:id="rId3" imgW="863225" imgH="482391" progId="Equation.3">
                  <p:embed/>
                </p:oleObj>
              </mc:Choice>
              <mc:Fallback>
                <p:oleObj r:id="rId3" imgW="863225" imgH="482391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3769" y="1133071"/>
                        <a:ext cx="2990850" cy="16192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D0B3E38A-3D78-4447-890E-4BC6DEF5FAF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31658159"/>
              </p:ext>
            </p:extLst>
          </p:nvPr>
        </p:nvGraphicFramePr>
        <p:xfrm>
          <a:off x="4567989" y="1212697"/>
          <a:ext cx="2724150" cy="1504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259" r:id="rId5" imgW="863225" imgH="482391" progId="Equation.3">
                  <p:embed/>
                </p:oleObj>
              </mc:Choice>
              <mc:Fallback>
                <p:oleObj r:id="rId5" imgW="863225" imgH="482391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67989" y="1212697"/>
                        <a:ext cx="2724150" cy="15049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4E833033-5460-47A3-8441-6A45622345F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60006031"/>
              </p:ext>
            </p:extLst>
          </p:nvPr>
        </p:nvGraphicFramePr>
        <p:xfrm>
          <a:off x="673769" y="2912639"/>
          <a:ext cx="2990850" cy="1571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260" r:id="rId7" imgW="901309" imgH="482391" progId="Equation.3">
                  <p:embed/>
                </p:oleObj>
              </mc:Choice>
              <mc:Fallback>
                <p:oleObj r:id="rId7" imgW="901309" imgH="482391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3769" y="2912639"/>
                        <a:ext cx="2990850" cy="15716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94B0BE9D-9C92-4865-8CC4-F507713E901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57464216"/>
              </p:ext>
            </p:extLst>
          </p:nvPr>
        </p:nvGraphicFramePr>
        <p:xfrm>
          <a:off x="4567989" y="2926289"/>
          <a:ext cx="2809875" cy="1504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261" r:id="rId9" imgW="888614" imgH="482391" progId="Equation.3">
                  <p:embed/>
                </p:oleObj>
              </mc:Choice>
              <mc:Fallback>
                <p:oleObj r:id="rId9" imgW="888614" imgH="482391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67989" y="2926289"/>
                        <a:ext cx="2809875" cy="15049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5">
            <a:extLst>
              <a:ext uri="{FF2B5EF4-FFF2-40B4-BE49-F238E27FC236}">
                <a16:creationId xmlns:a16="http://schemas.microsoft.com/office/drawing/2014/main" id="{47526A2C-D0CD-4E7C-97E9-495880A4A2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1001" y="612923"/>
            <a:ext cx="11478126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</a:pP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It follows that, 	</a:t>
            </a:r>
            <a:endParaRPr kumimoji="0" lang="en-GB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253A29E7-90E9-43D6-BA6B-898C5FC01E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502" y="1647034"/>
            <a:ext cx="673769" cy="666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altLang="en-US" sz="36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,   </a:t>
            </a:r>
            <a:endParaRPr kumimoji="0" lang="en-GB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1DD3A7B7-A8CD-4326-A7E2-6E18A85C26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62812" y="1713619"/>
            <a:ext cx="1010653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</a:pPr>
            <a:r>
              <a:rPr kumimoji="0" lang="en-GB" altLang="en-US" sz="36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,</a:t>
            </a:r>
            <a:endParaRPr kumimoji="0" lang="en-GB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</a:pPr>
            <a:r>
              <a:rPr kumimoji="0" lang="en-GB" altLang="en-US" sz="36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	</a:t>
            </a:r>
            <a:endParaRPr kumimoji="0" lang="en-GB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Rectangle 8">
            <a:extLst>
              <a:ext uri="{FF2B5EF4-FFF2-40B4-BE49-F238E27FC236}">
                <a16:creationId xmlns:a16="http://schemas.microsoft.com/office/drawing/2014/main" id="{E2E4E84C-F925-4961-A1DB-4CBF41A832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502" y="3328118"/>
            <a:ext cx="713874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altLang="en-US" sz="36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,   </a:t>
            </a:r>
            <a:endParaRPr kumimoji="0" lang="en-GB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Rectangle 9">
            <a:extLst>
              <a:ext uri="{FF2B5EF4-FFF2-40B4-BE49-F238E27FC236}">
                <a16:creationId xmlns:a16="http://schemas.microsoft.com/office/drawing/2014/main" id="{AA29C501-1FFE-49FF-BB53-2185D22C47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1001" y="4467546"/>
            <a:ext cx="9963652" cy="2062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</a:pP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ea typeface="Times New Roman" panose="02020603050405020304" pitchFamily="18" charset="0"/>
              </a:rPr>
              <a:t>z-parameters correspond to the </a:t>
            </a:r>
            <a:r>
              <a:rPr kumimoji="0" lang="en-GB" altLang="en-US" sz="3200" b="1" i="1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ea typeface="Times New Roman" panose="02020603050405020304" pitchFamily="18" charset="0"/>
              </a:rPr>
              <a:t>driving point</a:t>
            </a: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ea typeface="Times New Roman" panose="02020603050405020304" pitchFamily="18" charset="0"/>
              </a:rPr>
              <a:t> and </a:t>
            </a:r>
            <a:r>
              <a:rPr kumimoji="0" lang="en-GB" altLang="en-US" sz="3200" b="1" i="1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ea typeface="Times New Roman" panose="02020603050405020304" pitchFamily="18" charset="0"/>
              </a:rPr>
              <a:t>transfer</a:t>
            </a: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ea typeface="Times New Roman" panose="02020603050405020304" pitchFamily="18" charset="0"/>
              </a:rPr>
              <a:t> impedances at each port with the other port having zero current (i.e. open circuit).   </a:t>
            </a:r>
            <a:endParaRPr kumimoji="0" lang="en-GB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</a:pP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ea typeface="Times New Roman" panose="02020603050405020304" pitchFamily="18" charset="0"/>
              </a:rPr>
              <a:t> open circuit parameters.</a:t>
            </a:r>
            <a:endParaRPr kumimoji="0" lang="en-GB" altLang="en-US" sz="3200" b="0" i="0" u="none" strike="noStrike" cap="none" normalizeH="0" baseline="0" dirty="0">
              <a:ln>
                <a:noFill/>
              </a:ln>
              <a:solidFill>
                <a:srgbClr val="00206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sym typeface="Symbol" panose="050501020107060205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5914758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B1BBAC-DEE1-4CF9-9521-6921611D2B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15" y="549483"/>
            <a:ext cx="10924085" cy="482745"/>
          </a:xfrm>
        </p:spPr>
        <p:txBody>
          <a:bodyPr>
            <a:noAutofit/>
          </a:bodyPr>
          <a:lstStyle/>
          <a:p>
            <a:r>
              <a:rPr lang="en-GB" dirty="0"/>
              <a:t>Example 3</a:t>
            </a:r>
          </a:p>
        </p:txBody>
      </p:sp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5666D2FD-9768-444A-B701-3A2EF63AC75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94154935"/>
              </p:ext>
            </p:extLst>
          </p:nvPr>
        </p:nvGraphicFramePr>
        <p:xfrm>
          <a:off x="333621" y="2049433"/>
          <a:ext cx="4152900" cy="1295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7301" r:id="rId3" imgW="1524000" imgH="482600" progId="Equation.3">
                  <p:embed/>
                </p:oleObj>
              </mc:Choice>
              <mc:Fallback>
                <p:oleObj r:id="rId3" imgW="1524000" imgH="4826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3621" y="2049433"/>
                        <a:ext cx="4152900" cy="1295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FB397E2F-8977-44CA-8C56-4C0022FC127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47121002"/>
              </p:ext>
            </p:extLst>
          </p:nvPr>
        </p:nvGraphicFramePr>
        <p:xfrm>
          <a:off x="429715" y="3457009"/>
          <a:ext cx="3067050" cy="1209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7302" r:id="rId5" imgW="1193800" imgH="482600" progId="Equation.3">
                  <p:embed/>
                </p:oleObj>
              </mc:Choice>
              <mc:Fallback>
                <p:oleObj r:id="rId5" imgW="1193800" imgH="4826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9715" y="3457009"/>
                        <a:ext cx="3067050" cy="12096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845DAE00-AF68-4BAC-8EB9-7E9CF738FC1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83419984"/>
              </p:ext>
            </p:extLst>
          </p:nvPr>
        </p:nvGraphicFramePr>
        <p:xfrm>
          <a:off x="4791895" y="5309252"/>
          <a:ext cx="4876800" cy="1314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7303" r:id="rId7" imgW="1777229" imgH="482391" progId="Equation.3">
                  <p:embed/>
                </p:oleObj>
              </mc:Choice>
              <mc:Fallback>
                <p:oleObj r:id="rId7" imgW="1777229" imgH="482391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91895" y="5309252"/>
                        <a:ext cx="4876800" cy="13144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" name="Group 5">
            <a:extLst>
              <a:ext uri="{FF2B5EF4-FFF2-40B4-BE49-F238E27FC236}">
                <a16:creationId xmlns:a16="http://schemas.microsoft.com/office/drawing/2014/main" id="{A9AAC839-56B8-437E-99DE-AAEAE3AFC493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6454777" y="1581785"/>
            <a:ext cx="5340350" cy="2494915"/>
            <a:chOff x="7175" y="9683"/>
            <a:chExt cx="3660" cy="1710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2A7E1830-154D-4D4D-A28B-D0DC81C07ED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5400000">
              <a:off x="8231" y="9501"/>
              <a:ext cx="215" cy="1264"/>
              <a:chOff x="9878" y="1418"/>
              <a:chExt cx="360" cy="1800"/>
            </a:xfrm>
          </p:grpSpPr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E6FD59A5-1274-462D-B6BE-37C5A3E62EF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9878" y="1958"/>
                <a:ext cx="360" cy="720"/>
              </a:xfrm>
              <a:prstGeom prst="rect">
                <a:avLst/>
              </a:prstGeom>
              <a:noFill/>
              <a:ln w="38100">
                <a:solidFill>
                  <a:srgbClr val="C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GB"/>
              </a:p>
            </p:txBody>
          </p:sp>
          <p:cxnSp>
            <p:nvCxnSpPr>
              <p:cNvPr id="31" name="Line 1405">
                <a:extLst>
                  <a:ext uri="{FF2B5EF4-FFF2-40B4-BE49-F238E27FC236}">
                    <a16:creationId xmlns:a16="http://schemas.microsoft.com/office/drawing/2014/main" id="{75BDD320-FEAA-4710-86BF-CBDBCAD8949F}"/>
                  </a:ext>
                </a:extLst>
              </p:cNvPr>
              <p:cNvCxnSpPr>
                <a:cxnSpLocks noChangeAspect="1" noChangeShapeType="1"/>
              </p:cNvCxnSpPr>
              <p:nvPr/>
            </p:nvCxnSpPr>
            <p:spPr bwMode="auto">
              <a:xfrm>
                <a:off x="10058" y="1418"/>
                <a:ext cx="0" cy="540"/>
              </a:xfrm>
              <a:prstGeom prst="line">
                <a:avLst/>
              </a:prstGeom>
              <a:noFill/>
              <a:ln w="38100">
                <a:solidFill>
                  <a:srgbClr val="C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2" name="Line 1406">
                <a:extLst>
                  <a:ext uri="{FF2B5EF4-FFF2-40B4-BE49-F238E27FC236}">
                    <a16:creationId xmlns:a16="http://schemas.microsoft.com/office/drawing/2014/main" id="{555392A9-38FC-4836-987C-46673F385AF0}"/>
                  </a:ext>
                </a:extLst>
              </p:cNvPr>
              <p:cNvCxnSpPr>
                <a:cxnSpLocks noChangeAspect="1" noChangeShapeType="1"/>
              </p:cNvCxnSpPr>
              <p:nvPr/>
            </p:nvCxnSpPr>
            <p:spPr bwMode="auto">
              <a:xfrm>
                <a:off x="10058" y="2678"/>
                <a:ext cx="0" cy="540"/>
              </a:xfrm>
              <a:prstGeom prst="line">
                <a:avLst/>
              </a:prstGeom>
              <a:noFill/>
              <a:ln w="38100">
                <a:solidFill>
                  <a:srgbClr val="C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0F81A29B-97CE-4CC0-9C2E-48214343D4C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5400000">
              <a:off x="9466" y="9501"/>
              <a:ext cx="215" cy="1264"/>
              <a:chOff x="9878" y="1418"/>
              <a:chExt cx="360" cy="1800"/>
            </a:xfrm>
          </p:grpSpPr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AF5CD92E-19CA-4CB6-B88E-C4A869E2CB2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9878" y="1958"/>
                <a:ext cx="360" cy="720"/>
              </a:xfrm>
              <a:prstGeom prst="rect">
                <a:avLst/>
              </a:prstGeom>
              <a:noFill/>
              <a:ln w="38100">
                <a:solidFill>
                  <a:srgbClr val="C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GB"/>
              </a:p>
            </p:txBody>
          </p:sp>
          <p:cxnSp>
            <p:nvCxnSpPr>
              <p:cNvPr id="28" name="Line 1409">
                <a:extLst>
                  <a:ext uri="{FF2B5EF4-FFF2-40B4-BE49-F238E27FC236}">
                    <a16:creationId xmlns:a16="http://schemas.microsoft.com/office/drawing/2014/main" id="{6BA913CF-9B39-415B-9FB2-0D7BF91A0729}"/>
                  </a:ext>
                </a:extLst>
              </p:cNvPr>
              <p:cNvCxnSpPr>
                <a:cxnSpLocks noChangeAspect="1" noChangeShapeType="1"/>
              </p:cNvCxnSpPr>
              <p:nvPr/>
            </p:nvCxnSpPr>
            <p:spPr bwMode="auto">
              <a:xfrm>
                <a:off x="10058" y="1418"/>
                <a:ext cx="0" cy="540"/>
              </a:xfrm>
              <a:prstGeom prst="line">
                <a:avLst/>
              </a:prstGeom>
              <a:noFill/>
              <a:ln w="38100">
                <a:solidFill>
                  <a:srgbClr val="C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9" name="Line 1410">
                <a:extLst>
                  <a:ext uri="{FF2B5EF4-FFF2-40B4-BE49-F238E27FC236}">
                    <a16:creationId xmlns:a16="http://schemas.microsoft.com/office/drawing/2014/main" id="{31333029-41D9-410D-A7BF-F0E733A646C0}"/>
                  </a:ext>
                </a:extLst>
              </p:cNvPr>
              <p:cNvCxnSpPr>
                <a:cxnSpLocks noChangeAspect="1" noChangeShapeType="1"/>
              </p:cNvCxnSpPr>
              <p:nvPr/>
            </p:nvCxnSpPr>
            <p:spPr bwMode="auto">
              <a:xfrm>
                <a:off x="10058" y="2678"/>
                <a:ext cx="0" cy="540"/>
              </a:xfrm>
              <a:prstGeom prst="line">
                <a:avLst/>
              </a:prstGeom>
              <a:noFill/>
              <a:ln w="38100">
                <a:solidFill>
                  <a:srgbClr val="C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C74CD76A-1677-4A11-836E-8971F3E84C4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8829" y="10129"/>
              <a:ext cx="215" cy="1264"/>
              <a:chOff x="9878" y="1418"/>
              <a:chExt cx="360" cy="1800"/>
            </a:xfrm>
          </p:grpSpPr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E01DB69B-7642-4FB0-B75C-C05FCCDB706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9878" y="1958"/>
                <a:ext cx="360" cy="720"/>
              </a:xfrm>
              <a:prstGeom prst="rect">
                <a:avLst/>
              </a:prstGeom>
              <a:noFill/>
              <a:ln w="38100">
                <a:solidFill>
                  <a:srgbClr val="C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GB"/>
              </a:p>
            </p:txBody>
          </p:sp>
          <p:cxnSp>
            <p:nvCxnSpPr>
              <p:cNvPr id="25" name="Line 1413">
                <a:extLst>
                  <a:ext uri="{FF2B5EF4-FFF2-40B4-BE49-F238E27FC236}">
                    <a16:creationId xmlns:a16="http://schemas.microsoft.com/office/drawing/2014/main" id="{B9037415-9C05-437B-836D-30D972DA9CE7}"/>
                  </a:ext>
                </a:extLst>
              </p:cNvPr>
              <p:cNvCxnSpPr>
                <a:cxnSpLocks noChangeAspect="1" noChangeShapeType="1"/>
              </p:cNvCxnSpPr>
              <p:nvPr/>
            </p:nvCxnSpPr>
            <p:spPr bwMode="auto">
              <a:xfrm>
                <a:off x="10058" y="1418"/>
                <a:ext cx="0" cy="540"/>
              </a:xfrm>
              <a:prstGeom prst="line">
                <a:avLst/>
              </a:prstGeom>
              <a:noFill/>
              <a:ln w="38100">
                <a:solidFill>
                  <a:srgbClr val="C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6" name="Line 1414">
                <a:extLst>
                  <a:ext uri="{FF2B5EF4-FFF2-40B4-BE49-F238E27FC236}">
                    <a16:creationId xmlns:a16="http://schemas.microsoft.com/office/drawing/2014/main" id="{A9733904-E2C3-4DD8-9B68-B47AD4824083}"/>
                  </a:ext>
                </a:extLst>
              </p:cNvPr>
              <p:cNvCxnSpPr>
                <a:cxnSpLocks noChangeAspect="1" noChangeShapeType="1"/>
              </p:cNvCxnSpPr>
              <p:nvPr/>
            </p:nvCxnSpPr>
            <p:spPr bwMode="auto">
              <a:xfrm>
                <a:off x="10058" y="2678"/>
                <a:ext cx="0" cy="540"/>
              </a:xfrm>
              <a:prstGeom prst="line">
                <a:avLst/>
              </a:prstGeom>
              <a:noFill/>
              <a:ln w="38100">
                <a:solidFill>
                  <a:srgbClr val="C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cxnSp>
          <p:nvCxnSpPr>
            <p:cNvPr id="10" name="Line 1415">
              <a:extLst>
                <a:ext uri="{FF2B5EF4-FFF2-40B4-BE49-F238E27FC236}">
                  <a16:creationId xmlns:a16="http://schemas.microsoft.com/office/drawing/2014/main" id="{6EC19137-9BF6-4E06-8A2A-BA1B1D89AE99}"/>
                </a:ext>
              </a:extLst>
            </p:cNvPr>
            <p:cNvCxnSpPr>
              <a:cxnSpLocks noChangeAspect="1" noChangeShapeType="1"/>
            </p:cNvCxnSpPr>
            <p:nvPr/>
          </p:nvCxnSpPr>
          <p:spPr bwMode="auto">
            <a:xfrm>
              <a:off x="7707" y="11393"/>
              <a:ext cx="2542" cy="0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1" name="Text Box 1416">
              <a:extLst>
                <a:ext uri="{FF2B5EF4-FFF2-40B4-BE49-F238E27FC236}">
                  <a16:creationId xmlns:a16="http://schemas.microsoft.com/office/drawing/2014/main" id="{F9F31534-DE92-4AD7-9038-094DEF16CC1D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7672" y="9740"/>
              <a:ext cx="244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C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18000" tIns="10800" rIns="18000" bIns="10800" anchor="t" anchorCtr="0" upright="1">
              <a:noAutofit/>
            </a:bodyPr>
            <a:lstStyle/>
            <a:p>
              <a:pPr marL="0" marR="0">
                <a:spcBef>
                  <a:spcPts val="0"/>
                </a:spcBef>
                <a:spcAft>
                  <a:spcPts val="0"/>
                </a:spcAft>
              </a:pPr>
              <a:r>
                <a:rPr lang="en-GB" sz="2800">
                  <a:solidFill>
                    <a:srgbClr val="00206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I</a:t>
              </a:r>
              <a:r>
                <a:rPr lang="en-GB" sz="2800" baseline="-25000">
                  <a:solidFill>
                    <a:srgbClr val="00206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1</a:t>
              </a:r>
              <a:endParaRPr lang="en-GB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12" name="Text Box 1417">
              <a:extLst>
                <a:ext uri="{FF2B5EF4-FFF2-40B4-BE49-F238E27FC236}">
                  <a16:creationId xmlns:a16="http://schemas.microsoft.com/office/drawing/2014/main" id="{711D88DC-CD34-46F1-B4F7-4311249B8DF8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9968" y="9740"/>
              <a:ext cx="244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C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18000" tIns="10800" rIns="18000" bIns="10800" anchor="t" anchorCtr="0" upright="1">
              <a:noAutofit/>
            </a:bodyPr>
            <a:lstStyle/>
            <a:p>
              <a:pPr marL="0" marR="0">
                <a:spcBef>
                  <a:spcPts val="0"/>
                </a:spcBef>
                <a:spcAft>
                  <a:spcPts val="0"/>
                </a:spcAft>
              </a:pPr>
              <a:r>
                <a:rPr lang="en-GB" sz="2800">
                  <a:solidFill>
                    <a:srgbClr val="00206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I</a:t>
              </a:r>
              <a:r>
                <a:rPr lang="en-GB" sz="2800" baseline="-25000">
                  <a:solidFill>
                    <a:srgbClr val="00206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2</a:t>
              </a:r>
              <a:endParaRPr lang="en-GB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13" name="Text Box 1418">
              <a:extLst>
                <a:ext uri="{FF2B5EF4-FFF2-40B4-BE49-F238E27FC236}">
                  <a16:creationId xmlns:a16="http://schemas.microsoft.com/office/drawing/2014/main" id="{7D870941-72C2-4382-9F72-D2B8203B2520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7175" y="10424"/>
              <a:ext cx="330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C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18000" tIns="10800" rIns="18000" bIns="10800" anchor="t" anchorCtr="0" upright="1">
              <a:noAutofit/>
            </a:bodyPr>
            <a:lstStyle/>
            <a:p>
              <a:pPr marL="0" marR="0">
                <a:spcBef>
                  <a:spcPts val="0"/>
                </a:spcBef>
                <a:spcAft>
                  <a:spcPts val="0"/>
                </a:spcAft>
              </a:pPr>
              <a:r>
                <a:rPr lang="en-GB" sz="2800">
                  <a:solidFill>
                    <a:srgbClr val="00206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V</a:t>
              </a:r>
              <a:r>
                <a:rPr lang="en-GB" sz="2800" baseline="-25000">
                  <a:solidFill>
                    <a:srgbClr val="00206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1</a:t>
              </a:r>
              <a:endParaRPr lang="en-GB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cxnSp>
          <p:nvCxnSpPr>
            <p:cNvPr id="14" name="Line 1419">
              <a:extLst>
                <a:ext uri="{FF2B5EF4-FFF2-40B4-BE49-F238E27FC236}">
                  <a16:creationId xmlns:a16="http://schemas.microsoft.com/office/drawing/2014/main" id="{6098C7E7-8B6C-4EB2-BF6F-7E0EC3FB60F9}"/>
                </a:ext>
              </a:extLst>
            </p:cNvPr>
            <p:cNvCxnSpPr>
              <a:cxnSpLocks noChangeAspect="1" noChangeShapeType="1"/>
            </p:cNvCxnSpPr>
            <p:nvPr/>
          </p:nvCxnSpPr>
          <p:spPr bwMode="auto">
            <a:xfrm>
              <a:off x="7532" y="10472"/>
              <a:ext cx="0" cy="540"/>
            </a:xfrm>
            <a:prstGeom prst="line">
              <a:avLst/>
            </a:prstGeom>
            <a:noFill/>
            <a:ln w="38100">
              <a:solidFill>
                <a:srgbClr val="002060"/>
              </a:solidFill>
              <a:round/>
              <a:headEnd type="arrow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5" name="Text Box 1420">
              <a:extLst>
                <a:ext uri="{FF2B5EF4-FFF2-40B4-BE49-F238E27FC236}">
                  <a16:creationId xmlns:a16="http://schemas.microsoft.com/office/drawing/2014/main" id="{069B90A4-814F-4F88-8A5A-43F930A09F2A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10489" y="10538"/>
              <a:ext cx="346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C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18000" tIns="10800" rIns="18000" bIns="10800" anchor="t" anchorCtr="0" upright="1">
              <a:noAutofit/>
            </a:bodyPr>
            <a:lstStyle/>
            <a:p>
              <a:pPr marL="0" marR="0">
                <a:spcBef>
                  <a:spcPts val="0"/>
                </a:spcBef>
                <a:spcAft>
                  <a:spcPts val="0"/>
                </a:spcAft>
              </a:pPr>
              <a:r>
                <a:rPr lang="en-GB" sz="2800">
                  <a:solidFill>
                    <a:srgbClr val="00206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V</a:t>
              </a:r>
              <a:r>
                <a:rPr lang="en-GB" sz="2800" baseline="-25000">
                  <a:solidFill>
                    <a:srgbClr val="00206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2</a:t>
              </a:r>
              <a:endParaRPr lang="en-GB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cxnSp>
          <p:nvCxnSpPr>
            <p:cNvPr id="16" name="Line 1421">
              <a:extLst>
                <a:ext uri="{FF2B5EF4-FFF2-40B4-BE49-F238E27FC236}">
                  <a16:creationId xmlns:a16="http://schemas.microsoft.com/office/drawing/2014/main" id="{AE9E9BB3-6B40-48EF-885A-7A057B5FB9CE}"/>
                </a:ext>
              </a:extLst>
            </p:cNvPr>
            <p:cNvCxnSpPr>
              <a:cxnSpLocks noChangeAspect="1" noChangeShapeType="1"/>
            </p:cNvCxnSpPr>
            <p:nvPr/>
          </p:nvCxnSpPr>
          <p:spPr bwMode="auto">
            <a:xfrm>
              <a:off x="10385" y="10481"/>
              <a:ext cx="0" cy="540"/>
            </a:xfrm>
            <a:prstGeom prst="line">
              <a:avLst/>
            </a:prstGeom>
            <a:noFill/>
            <a:ln w="38100">
              <a:solidFill>
                <a:srgbClr val="002060"/>
              </a:solidFill>
              <a:round/>
              <a:headEnd type="arrow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7" name="Text Box 1422">
              <a:extLst>
                <a:ext uri="{FF2B5EF4-FFF2-40B4-BE49-F238E27FC236}">
                  <a16:creationId xmlns:a16="http://schemas.microsoft.com/office/drawing/2014/main" id="{CFA789EA-F2C2-4381-9BB9-089D877D3052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7745" y="10538"/>
              <a:ext cx="754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C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18000" tIns="10800" rIns="18000" bIns="10800" anchor="t" anchorCtr="0" upright="1">
              <a:noAutofit/>
            </a:bodyPr>
            <a:lstStyle/>
            <a:p>
              <a:pPr marL="0" marR="0">
                <a:spcBef>
                  <a:spcPts val="0"/>
                </a:spcBef>
                <a:spcAft>
                  <a:spcPts val="0"/>
                </a:spcAft>
              </a:pPr>
              <a:r>
                <a:rPr lang="en-GB" sz="2800" i="1">
                  <a:solidFill>
                    <a:srgbClr val="00206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Port 1</a:t>
              </a:r>
              <a:endParaRPr lang="en-GB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18" name="Text Box 1423">
              <a:extLst>
                <a:ext uri="{FF2B5EF4-FFF2-40B4-BE49-F238E27FC236}">
                  <a16:creationId xmlns:a16="http://schemas.microsoft.com/office/drawing/2014/main" id="{3AAA752D-A92A-4764-8543-1E6651F95807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9524" y="10538"/>
              <a:ext cx="706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C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18000" tIns="10800" rIns="18000" bIns="10800" anchor="t" anchorCtr="0" upright="1">
              <a:noAutofit/>
            </a:bodyPr>
            <a:lstStyle/>
            <a:p>
              <a:pPr marL="0" marR="0">
                <a:spcBef>
                  <a:spcPts val="0"/>
                </a:spcBef>
                <a:spcAft>
                  <a:spcPts val="0"/>
                </a:spcAft>
              </a:pPr>
              <a:r>
                <a:rPr lang="en-GB" sz="2800" b="1" i="1">
                  <a:solidFill>
                    <a:srgbClr val="002060"/>
                  </a:solidFill>
                  <a:effectLst/>
                  <a:latin typeface="Times New Roman" panose="02020603050405020304" pitchFamily="18" charset="0"/>
                </a:rPr>
                <a:t>Port 2</a:t>
              </a:r>
              <a:endParaRPr lang="en-GB" sz="1200" b="1" i="1">
                <a:effectLst/>
                <a:latin typeface="Times New Roman" panose="02020603050405020304" pitchFamily="18" charset="0"/>
              </a:endParaRPr>
            </a:p>
          </p:txBody>
        </p:sp>
        <p:cxnSp>
          <p:nvCxnSpPr>
            <p:cNvPr id="19" name="Line 1424">
              <a:extLst>
                <a:ext uri="{FF2B5EF4-FFF2-40B4-BE49-F238E27FC236}">
                  <a16:creationId xmlns:a16="http://schemas.microsoft.com/office/drawing/2014/main" id="{090AE4EF-C9DC-48D6-B57E-D4D9493909CC}"/>
                </a:ext>
              </a:extLst>
            </p:cNvPr>
            <p:cNvCxnSpPr>
              <a:cxnSpLocks noChangeAspect="1" noChangeShapeType="1"/>
            </p:cNvCxnSpPr>
            <p:nvPr/>
          </p:nvCxnSpPr>
          <p:spPr bwMode="auto">
            <a:xfrm>
              <a:off x="7859" y="10124"/>
              <a:ext cx="120" cy="0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" name="Line 1425">
              <a:extLst>
                <a:ext uri="{FF2B5EF4-FFF2-40B4-BE49-F238E27FC236}">
                  <a16:creationId xmlns:a16="http://schemas.microsoft.com/office/drawing/2014/main" id="{B19880C0-F479-4E58-AF46-823314B36541}"/>
                </a:ext>
              </a:extLst>
            </p:cNvPr>
            <p:cNvCxnSpPr>
              <a:cxnSpLocks noChangeAspect="1" noChangeShapeType="1"/>
            </p:cNvCxnSpPr>
            <p:nvPr/>
          </p:nvCxnSpPr>
          <p:spPr bwMode="auto">
            <a:xfrm>
              <a:off x="9905" y="10124"/>
              <a:ext cx="120" cy="0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 type="arrow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1" name="Text Box 1427">
              <a:extLst>
                <a:ext uri="{FF2B5EF4-FFF2-40B4-BE49-F238E27FC236}">
                  <a16:creationId xmlns:a16="http://schemas.microsoft.com/office/drawing/2014/main" id="{73064F97-8636-4755-B7E0-1C884BE19904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8201" y="9683"/>
              <a:ext cx="360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C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18000" tIns="10800" rIns="18000" bIns="10800" anchor="t" anchorCtr="0" upright="1">
              <a:noAutofit/>
            </a:bodyPr>
            <a:lstStyle/>
            <a:p>
              <a:pPr marL="0" marR="0">
                <a:spcBef>
                  <a:spcPts val="0"/>
                </a:spcBef>
                <a:spcAft>
                  <a:spcPts val="0"/>
                </a:spcAft>
              </a:pPr>
              <a:r>
                <a:rPr lang="en-GB" sz="2800">
                  <a:solidFill>
                    <a:srgbClr val="00206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Z</a:t>
              </a:r>
              <a:r>
                <a:rPr lang="en-GB" sz="2800" baseline="-25000">
                  <a:solidFill>
                    <a:srgbClr val="00206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a</a:t>
              </a:r>
              <a:endParaRPr lang="en-GB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22" name="Text Box 1428">
              <a:extLst>
                <a:ext uri="{FF2B5EF4-FFF2-40B4-BE49-F238E27FC236}">
                  <a16:creationId xmlns:a16="http://schemas.microsoft.com/office/drawing/2014/main" id="{919DD731-AEF5-4122-B006-636D882CDABC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9437" y="9683"/>
              <a:ext cx="360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C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18000" tIns="10800" rIns="18000" bIns="10800" anchor="t" anchorCtr="0" upright="1">
              <a:noAutofit/>
            </a:bodyPr>
            <a:lstStyle/>
            <a:p>
              <a:pPr marL="0" marR="0">
                <a:spcBef>
                  <a:spcPts val="0"/>
                </a:spcBef>
                <a:spcAft>
                  <a:spcPts val="0"/>
                </a:spcAft>
              </a:pPr>
              <a:r>
                <a:rPr lang="en-GB" sz="2800">
                  <a:solidFill>
                    <a:srgbClr val="00206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Z</a:t>
              </a:r>
              <a:r>
                <a:rPr lang="en-GB" sz="2800" baseline="-25000">
                  <a:solidFill>
                    <a:srgbClr val="00206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c</a:t>
              </a:r>
              <a:endParaRPr lang="en-GB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23" name="Text Box 1429">
              <a:extLst>
                <a:ext uri="{FF2B5EF4-FFF2-40B4-BE49-F238E27FC236}">
                  <a16:creationId xmlns:a16="http://schemas.microsoft.com/office/drawing/2014/main" id="{0C8CBC01-1F35-40F2-BC24-A9714CDD255F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9056" y="10577"/>
              <a:ext cx="360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C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18000" tIns="10800" rIns="18000" bIns="10800" anchor="t" anchorCtr="0" upright="1">
              <a:noAutofit/>
            </a:bodyPr>
            <a:lstStyle/>
            <a:p>
              <a:pPr marL="0" marR="0">
                <a:spcBef>
                  <a:spcPts val="0"/>
                </a:spcBef>
                <a:spcAft>
                  <a:spcPts val="0"/>
                </a:spcAft>
              </a:pPr>
              <a:r>
                <a:rPr lang="en-GB" sz="2800">
                  <a:solidFill>
                    <a:srgbClr val="00206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Z</a:t>
              </a:r>
              <a:r>
                <a:rPr lang="en-GB" sz="2800" baseline="-25000">
                  <a:solidFill>
                    <a:srgbClr val="00206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b</a:t>
              </a:r>
              <a:endParaRPr lang="en-GB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</p:grpSp>
      <p:sp>
        <p:nvSpPr>
          <p:cNvPr id="34" name="Rectangle 32">
            <a:extLst>
              <a:ext uri="{FF2B5EF4-FFF2-40B4-BE49-F238E27FC236}">
                <a16:creationId xmlns:a16="http://schemas.microsoft.com/office/drawing/2014/main" id="{C9344398-20D4-413A-8087-5068D9A387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4857" y="888561"/>
            <a:ext cx="11353800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</a:pP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Find impedance parameters of the two port </a:t>
            </a:r>
            <a:r>
              <a:rPr kumimoji="0" lang="en-GB" altLang="en-US" sz="3200" b="1" i="1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T – network</a:t>
            </a: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. </a:t>
            </a:r>
            <a:endParaRPr kumimoji="0" lang="en-GB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</a:pPr>
            <a:endParaRPr kumimoji="0" lang="en-GB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5" name="Rectangle 42">
            <a:extLst>
              <a:ext uri="{FF2B5EF4-FFF2-40B4-BE49-F238E27FC236}">
                <a16:creationId xmlns:a16="http://schemas.microsoft.com/office/drawing/2014/main" id="{08FF68DE-FA59-415E-AF48-4AD9939B73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753" y="1476032"/>
            <a:ext cx="9882231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</a:pP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With port 2 on open circuit</a:t>
            </a:r>
            <a:endParaRPr kumimoji="0" lang="en-GB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6" name="Rectangle 43">
            <a:extLst>
              <a:ext uri="{FF2B5EF4-FFF2-40B4-BE49-F238E27FC236}">
                <a16:creationId xmlns:a16="http://schemas.microsoft.com/office/drawing/2014/main" id="{56779FE5-385E-4461-85A5-1F5CB6E6BA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75260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sp>
        <p:nvSpPr>
          <p:cNvPr id="37" name="Rectangle 44">
            <a:extLst>
              <a:ext uri="{FF2B5EF4-FFF2-40B4-BE49-F238E27FC236}">
                <a16:creationId xmlns:a16="http://schemas.microsoft.com/office/drawing/2014/main" id="{53C8B9C4-521E-46CD-870E-8BAB08C687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41947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sp>
        <p:nvSpPr>
          <p:cNvPr id="38" name="Rectangle 45">
            <a:extLst>
              <a:ext uri="{FF2B5EF4-FFF2-40B4-BE49-F238E27FC236}">
                <a16:creationId xmlns:a16="http://schemas.microsoft.com/office/drawing/2014/main" id="{EC78C94B-0413-42E9-ADC1-A82C19F548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753" y="4750787"/>
            <a:ext cx="5390147" cy="17235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</a:pPr>
            <a:r>
              <a:rPr kumimoji="0" lang="en-GB" altLang="en-US" sz="34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</a:rPr>
              <a:t>similarly with port 1 open,  </a:t>
            </a:r>
            <a:endParaRPr kumimoji="0" lang="en-GB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</a:pPr>
            <a:r>
              <a:rPr kumimoji="0" lang="en-GB" altLang="en-US" sz="36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	</a:t>
            </a:r>
            <a:r>
              <a:rPr kumimoji="0" lang="en-GB" altLang="en-US" sz="3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z</a:t>
            </a:r>
            <a:r>
              <a:rPr kumimoji="0" lang="en-GB" altLang="en-US" sz="3600" b="0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12</a:t>
            </a:r>
            <a:r>
              <a:rPr kumimoji="0" lang="en-GB" altLang="en-US" sz="3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= </a:t>
            </a:r>
            <a:r>
              <a:rPr kumimoji="0" lang="en-GB" altLang="en-US" sz="36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Z</a:t>
            </a:r>
            <a:r>
              <a:rPr kumimoji="0" lang="en-GB" altLang="en-US" sz="3600" b="0" i="1" u="none" strike="noStrike" cap="none" normalizeH="0" baseline="-3000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b</a:t>
            </a:r>
            <a:r>
              <a:rPr kumimoji="0" lang="en-GB" altLang="en-US" sz="3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 </a:t>
            </a:r>
            <a:endParaRPr kumimoji="0" lang="en-GB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</a:pPr>
            <a:r>
              <a:rPr kumimoji="0" lang="en-GB" altLang="en-US" sz="3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	z</a:t>
            </a:r>
            <a:r>
              <a:rPr kumimoji="0" lang="en-GB" altLang="en-US" sz="3600" b="0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22</a:t>
            </a:r>
            <a:r>
              <a:rPr kumimoji="0" lang="en-GB" altLang="en-US" sz="3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= </a:t>
            </a:r>
            <a:r>
              <a:rPr kumimoji="0" lang="en-GB" altLang="en-US" sz="36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Z</a:t>
            </a:r>
            <a:r>
              <a:rPr kumimoji="0" lang="en-GB" altLang="en-US" sz="3600" b="0" i="1" u="none" strike="noStrike" cap="none" normalizeH="0" baseline="-3000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b</a:t>
            </a:r>
            <a:r>
              <a:rPr kumimoji="0" lang="en-GB" altLang="en-US" sz="3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+ </a:t>
            </a:r>
            <a:r>
              <a:rPr kumimoji="0" lang="en-GB" altLang="en-US" sz="36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Z</a:t>
            </a:r>
            <a:r>
              <a:rPr kumimoji="0" lang="en-GB" altLang="en-US" sz="3600" b="0" i="1" u="none" strike="noStrike" cap="none" normalizeH="0" baseline="-3000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c</a:t>
            </a:r>
            <a:endParaRPr kumimoji="0" lang="en-GB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02347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B1BBAC-DEE1-4CF9-9521-6921611D2B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15" y="549483"/>
            <a:ext cx="10924085" cy="822117"/>
          </a:xfrm>
        </p:spPr>
        <p:txBody>
          <a:bodyPr>
            <a:noAutofit/>
          </a:bodyPr>
          <a:lstStyle/>
          <a:p>
            <a:r>
              <a:rPr lang="en-GB" dirty="0"/>
              <a:t>(b) Admittance Parameters (y-parameters) </a:t>
            </a:r>
            <a:br>
              <a:rPr lang="en-GB" dirty="0"/>
            </a:br>
            <a:r>
              <a:rPr lang="en-GB" dirty="0"/>
              <a:t>		 or Short-circuit parameters</a:t>
            </a:r>
          </a:p>
        </p:txBody>
      </p:sp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0F9B15EA-23A5-478B-BCB1-34E0FD3FA04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31329783"/>
              </p:ext>
            </p:extLst>
          </p:nvPr>
        </p:nvGraphicFramePr>
        <p:xfrm>
          <a:off x="7932271" y="2165756"/>
          <a:ext cx="3790950" cy="1285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8280" r:id="rId3" imgW="1422400" imgH="482600" progId="Equation.3">
                  <p:embed/>
                </p:oleObj>
              </mc:Choice>
              <mc:Fallback>
                <p:oleObj r:id="rId3" imgW="1422400" imgH="48260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32271" y="2165756"/>
                        <a:ext cx="3790950" cy="12858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Group 3">
            <a:extLst>
              <a:ext uri="{FF2B5EF4-FFF2-40B4-BE49-F238E27FC236}">
                <a16:creationId xmlns:a16="http://schemas.microsoft.com/office/drawing/2014/main" id="{A62DA398-AF86-4C61-B94D-1FDC30E72C45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31554" y="1628274"/>
            <a:ext cx="7251065" cy="2084705"/>
            <a:chOff x="6035" y="14129"/>
            <a:chExt cx="4560" cy="1311"/>
          </a:xfrm>
        </p:grpSpPr>
        <p:sp>
          <p:nvSpPr>
            <p:cNvPr id="5" name="Text Box 2242">
              <a:extLst>
                <a:ext uri="{FF2B5EF4-FFF2-40B4-BE49-F238E27FC236}">
                  <a16:creationId xmlns:a16="http://schemas.microsoft.com/office/drawing/2014/main" id="{85A4881B-9404-4B9A-A10A-9AB8240B330B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7707" y="14300"/>
              <a:ext cx="1122" cy="1140"/>
            </a:xfrm>
            <a:prstGeom prst="rect">
              <a:avLst/>
            </a:prstGeom>
            <a:solidFill>
              <a:srgbClr val="FFFFFF"/>
            </a:solidFill>
            <a:ln w="38100">
              <a:solidFill>
                <a:srgbClr val="C00000"/>
              </a:solidFill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marL="0" marR="0" algn="ctr">
                <a:spcBef>
                  <a:spcPts val="0"/>
                </a:spcBef>
                <a:spcAft>
                  <a:spcPts val="0"/>
                </a:spcAft>
              </a:pPr>
              <a:r>
                <a:rPr lang="en-GB" sz="320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Linear</a:t>
              </a:r>
              <a:endParaRPr lang="en-GB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  <a:p>
              <a:pPr marL="0" marR="0" algn="ctr">
                <a:spcBef>
                  <a:spcPts val="0"/>
                </a:spcBef>
                <a:spcAft>
                  <a:spcPts val="0"/>
                </a:spcAft>
              </a:pPr>
              <a:r>
                <a:rPr lang="en-GB" sz="320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Passive</a:t>
              </a:r>
              <a:endParaRPr lang="en-GB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  <a:p>
              <a:pPr marL="0" marR="0" algn="ctr">
                <a:spcBef>
                  <a:spcPts val="0"/>
                </a:spcBef>
                <a:spcAft>
                  <a:spcPts val="0"/>
                </a:spcAft>
              </a:pPr>
              <a:r>
                <a:rPr lang="en-GB" sz="320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Network</a:t>
              </a:r>
              <a:endParaRPr lang="en-GB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cxnSp>
          <p:nvCxnSpPr>
            <p:cNvPr id="6" name="Line 2243">
              <a:extLst>
                <a:ext uri="{FF2B5EF4-FFF2-40B4-BE49-F238E27FC236}">
                  <a16:creationId xmlns:a16="http://schemas.microsoft.com/office/drawing/2014/main" id="{46FAC7E9-C5DB-489E-84A6-96B1D4708E6A}"/>
                </a:ext>
              </a:extLst>
            </p:cNvPr>
            <p:cNvCxnSpPr>
              <a:cxnSpLocks noChangeAspect="1" noChangeShapeType="1"/>
            </p:cNvCxnSpPr>
            <p:nvPr/>
          </p:nvCxnSpPr>
          <p:spPr bwMode="auto">
            <a:xfrm>
              <a:off x="6469" y="14527"/>
              <a:ext cx="503" cy="0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 type="oval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" name="Line 2244">
              <a:extLst>
                <a:ext uri="{FF2B5EF4-FFF2-40B4-BE49-F238E27FC236}">
                  <a16:creationId xmlns:a16="http://schemas.microsoft.com/office/drawing/2014/main" id="{08DCFF50-4822-4052-9268-5721FBF0779A}"/>
                </a:ext>
              </a:extLst>
            </p:cNvPr>
            <p:cNvCxnSpPr>
              <a:cxnSpLocks noChangeAspect="1" noChangeShapeType="1"/>
            </p:cNvCxnSpPr>
            <p:nvPr/>
          </p:nvCxnSpPr>
          <p:spPr bwMode="auto">
            <a:xfrm>
              <a:off x="6972" y="14527"/>
              <a:ext cx="735" cy="0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" name="Line 2245">
              <a:extLst>
                <a:ext uri="{FF2B5EF4-FFF2-40B4-BE49-F238E27FC236}">
                  <a16:creationId xmlns:a16="http://schemas.microsoft.com/office/drawing/2014/main" id="{49C7A5C5-EBAE-45CE-A561-E4069C46F480}"/>
                </a:ext>
              </a:extLst>
            </p:cNvPr>
            <p:cNvCxnSpPr>
              <a:cxnSpLocks noChangeAspect="1" noChangeShapeType="1"/>
            </p:cNvCxnSpPr>
            <p:nvPr/>
          </p:nvCxnSpPr>
          <p:spPr bwMode="auto">
            <a:xfrm flipH="1">
              <a:off x="9564" y="14527"/>
              <a:ext cx="503" cy="0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 type="oval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" name="Line 2246">
              <a:extLst>
                <a:ext uri="{FF2B5EF4-FFF2-40B4-BE49-F238E27FC236}">
                  <a16:creationId xmlns:a16="http://schemas.microsoft.com/office/drawing/2014/main" id="{1E57EF56-BCB3-4573-81C1-52F79EA50FAB}"/>
                </a:ext>
              </a:extLst>
            </p:cNvPr>
            <p:cNvCxnSpPr>
              <a:cxnSpLocks noChangeAspect="1" noChangeShapeType="1"/>
            </p:cNvCxnSpPr>
            <p:nvPr/>
          </p:nvCxnSpPr>
          <p:spPr bwMode="auto">
            <a:xfrm flipH="1">
              <a:off x="8829" y="14527"/>
              <a:ext cx="735" cy="0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" name="Line 2247">
              <a:extLst>
                <a:ext uri="{FF2B5EF4-FFF2-40B4-BE49-F238E27FC236}">
                  <a16:creationId xmlns:a16="http://schemas.microsoft.com/office/drawing/2014/main" id="{D3D90960-CF45-4B49-93BF-438AA38F9B22}"/>
                </a:ext>
              </a:extLst>
            </p:cNvPr>
            <p:cNvCxnSpPr>
              <a:cxnSpLocks noChangeAspect="1" noChangeShapeType="1"/>
            </p:cNvCxnSpPr>
            <p:nvPr/>
          </p:nvCxnSpPr>
          <p:spPr bwMode="auto">
            <a:xfrm>
              <a:off x="6469" y="15261"/>
              <a:ext cx="1238" cy="0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 type="oval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" name="Line 2248">
              <a:extLst>
                <a:ext uri="{FF2B5EF4-FFF2-40B4-BE49-F238E27FC236}">
                  <a16:creationId xmlns:a16="http://schemas.microsoft.com/office/drawing/2014/main" id="{3A1563C9-6523-489C-8AC2-D7A554604F86}"/>
                </a:ext>
              </a:extLst>
            </p:cNvPr>
            <p:cNvCxnSpPr>
              <a:cxnSpLocks noChangeAspect="1" noChangeShapeType="1"/>
            </p:cNvCxnSpPr>
            <p:nvPr/>
          </p:nvCxnSpPr>
          <p:spPr bwMode="auto">
            <a:xfrm>
              <a:off x="8829" y="15261"/>
              <a:ext cx="1238" cy="0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2" name="Text Box 2249">
              <a:extLst>
                <a:ext uri="{FF2B5EF4-FFF2-40B4-BE49-F238E27FC236}">
                  <a16:creationId xmlns:a16="http://schemas.microsoft.com/office/drawing/2014/main" id="{5D24F34D-A225-4CCD-A9B6-269263BDCBD5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6856" y="14168"/>
              <a:ext cx="244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18000" tIns="10800" rIns="18000" bIns="10800" anchor="t" anchorCtr="0" upright="1">
              <a:noAutofit/>
            </a:bodyPr>
            <a:lstStyle/>
            <a:p>
              <a:pPr marL="0" marR="0">
                <a:spcBef>
                  <a:spcPts val="0"/>
                </a:spcBef>
                <a:spcAft>
                  <a:spcPts val="0"/>
                </a:spcAft>
              </a:pPr>
              <a:r>
                <a:rPr lang="en-GB" sz="3000">
                  <a:solidFill>
                    <a:srgbClr val="00206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I</a:t>
              </a:r>
              <a:r>
                <a:rPr lang="en-GB" sz="3000" baseline="-25000">
                  <a:solidFill>
                    <a:srgbClr val="00206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1</a:t>
              </a:r>
              <a:endParaRPr lang="en-GB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13" name="Text Box 2250">
              <a:extLst>
                <a:ext uri="{FF2B5EF4-FFF2-40B4-BE49-F238E27FC236}">
                  <a16:creationId xmlns:a16="http://schemas.microsoft.com/office/drawing/2014/main" id="{24EFC074-11A4-4713-B88A-27CFF4292266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9514" y="14129"/>
              <a:ext cx="244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18000" tIns="10800" rIns="18000" bIns="10800" anchor="t" anchorCtr="0" upright="1">
              <a:noAutofit/>
            </a:bodyPr>
            <a:lstStyle/>
            <a:p>
              <a:pPr marL="0" marR="0">
                <a:spcBef>
                  <a:spcPts val="0"/>
                </a:spcBef>
                <a:spcAft>
                  <a:spcPts val="0"/>
                </a:spcAft>
              </a:pPr>
              <a:r>
                <a:rPr lang="en-GB" sz="3000">
                  <a:solidFill>
                    <a:srgbClr val="00206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I</a:t>
              </a:r>
              <a:r>
                <a:rPr lang="en-GB" sz="3000" baseline="-25000">
                  <a:solidFill>
                    <a:srgbClr val="00206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2</a:t>
              </a:r>
              <a:endParaRPr lang="en-GB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14" name="Text Box 2251">
              <a:extLst>
                <a:ext uri="{FF2B5EF4-FFF2-40B4-BE49-F238E27FC236}">
                  <a16:creationId xmlns:a16="http://schemas.microsoft.com/office/drawing/2014/main" id="{6200BC15-7F2E-49B2-A1A3-932C40284902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6035" y="14642"/>
              <a:ext cx="330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18000" tIns="10800" rIns="18000" bIns="10800" anchor="t" anchorCtr="0" upright="1">
              <a:noAutofit/>
            </a:bodyPr>
            <a:lstStyle/>
            <a:p>
              <a:pPr marL="0" marR="0">
                <a:spcBef>
                  <a:spcPts val="0"/>
                </a:spcBef>
                <a:spcAft>
                  <a:spcPts val="0"/>
                </a:spcAft>
              </a:pPr>
              <a:r>
                <a:rPr lang="en-GB" sz="3000">
                  <a:solidFill>
                    <a:srgbClr val="00206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V</a:t>
              </a:r>
              <a:r>
                <a:rPr lang="en-GB" sz="3000" baseline="-25000">
                  <a:solidFill>
                    <a:srgbClr val="00206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1</a:t>
              </a:r>
              <a:endParaRPr lang="en-GB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cxnSp>
          <p:nvCxnSpPr>
            <p:cNvPr id="15" name="Line 2252">
              <a:extLst>
                <a:ext uri="{FF2B5EF4-FFF2-40B4-BE49-F238E27FC236}">
                  <a16:creationId xmlns:a16="http://schemas.microsoft.com/office/drawing/2014/main" id="{BB694C35-79F6-431C-ACCA-4054379F59BA}"/>
                </a:ext>
              </a:extLst>
            </p:cNvPr>
            <p:cNvCxnSpPr>
              <a:cxnSpLocks noChangeAspect="1" noChangeShapeType="1"/>
            </p:cNvCxnSpPr>
            <p:nvPr/>
          </p:nvCxnSpPr>
          <p:spPr bwMode="auto">
            <a:xfrm>
              <a:off x="6392" y="14632"/>
              <a:ext cx="0" cy="540"/>
            </a:xfrm>
            <a:prstGeom prst="line">
              <a:avLst/>
            </a:prstGeom>
            <a:noFill/>
            <a:ln w="38100">
              <a:solidFill>
                <a:srgbClr val="002060"/>
              </a:solidFill>
              <a:round/>
              <a:headEnd type="arrow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6" name="Text Box 2253">
              <a:extLst>
                <a:ext uri="{FF2B5EF4-FFF2-40B4-BE49-F238E27FC236}">
                  <a16:creationId xmlns:a16="http://schemas.microsoft.com/office/drawing/2014/main" id="{6B1F1CAE-5853-419D-BDFF-24897DC29053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10249" y="14698"/>
              <a:ext cx="346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18000" tIns="10800" rIns="18000" bIns="10800" anchor="t" anchorCtr="0" upright="1">
              <a:noAutofit/>
            </a:bodyPr>
            <a:lstStyle/>
            <a:p>
              <a:pPr marL="0" marR="0">
                <a:spcBef>
                  <a:spcPts val="0"/>
                </a:spcBef>
                <a:spcAft>
                  <a:spcPts val="0"/>
                </a:spcAft>
              </a:pPr>
              <a:r>
                <a:rPr lang="en-GB" sz="3000">
                  <a:solidFill>
                    <a:srgbClr val="00206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V</a:t>
              </a:r>
              <a:r>
                <a:rPr lang="en-GB" sz="3000" baseline="-25000">
                  <a:solidFill>
                    <a:srgbClr val="00206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2</a:t>
              </a:r>
              <a:endParaRPr lang="en-GB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cxnSp>
          <p:nvCxnSpPr>
            <p:cNvPr id="17" name="Line 2254">
              <a:extLst>
                <a:ext uri="{FF2B5EF4-FFF2-40B4-BE49-F238E27FC236}">
                  <a16:creationId xmlns:a16="http://schemas.microsoft.com/office/drawing/2014/main" id="{EC4B764F-161C-403D-A767-1FD7F2D86C59}"/>
                </a:ext>
              </a:extLst>
            </p:cNvPr>
            <p:cNvCxnSpPr>
              <a:cxnSpLocks noChangeAspect="1" noChangeShapeType="1"/>
            </p:cNvCxnSpPr>
            <p:nvPr/>
          </p:nvCxnSpPr>
          <p:spPr bwMode="auto">
            <a:xfrm>
              <a:off x="10145" y="14641"/>
              <a:ext cx="0" cy="540"/>
            </a:xfrm>
            <a:prstGeom prst="line">
              <a:avLst/>
            </a:prstGeom>
            <a:noFill/>
            <a:ln w="38100">
              <a:solidFill>
                <a:srgbClr val="002060"/>
              </a:solidFill>
              <a:round/>
              <a:headEnd type="arrow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8" name="Text Box 2255">
              <a:extLst>
                <a:ext uri="{FF2B5EF4-FFF2-40B4-BE49-F238E27FC236}">
                  <a16:creationId xmlns:a16="http://schemas.microsoft.com/office/drawing/2014/main" id="{001599C1-F3EE-47A6-80F3-58C054FDF2EA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6605" y="14698"/>
              <a:ext cx="754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18000" tIns="10800" rIns="18000" bIns="10800" anchor="t" anchorCtr="0" upright="1">
              <a:noAutofit/>
            </a:bodyPr>
            <a:lstStyle/>
            <a:p>
              <a:pPr marL="0" marR="0">
                <a:spcBef>
                  <a:spcPts val="0"/>
                </a:spcBef>
                <a:spcAft>
                  <a:spcPts val="0"/>
                </a:spcAft>
              </a:pPr>
              <a:r>
                <a:rPr lang="en-GB" sz="3000" i="1">
                  <a:solidFill>
                    <a:srgbClr val="00206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Port 1</a:t>
              </a:r>
              <a:endParaRPr lang="en-GB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19" name="Text Box 2256">
              <a:extLst>
                <a:ext uri="{FF2B5EF4-FFF2-40B4-BE49-F238E27FC236}">
                  <a16:creationId xmlns:a16="http://schemas.microsoft.com/office/drawing/2014/main" id="{576D99B9-B1E9-4742-9A48-9129BA9C35E8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9284" y="14698"/>
              <a:ext cx="706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18000" tIns="10800" rIns="18000" bIns="10800" anchor="t" anchorCtr="0" upright="1">
              <a:noAutofit/>
            </a:bodyPr>
            <a:lstStyle/>
            <a:p>
              <a:pPr marL="0" marR="0">
                <a:spcBef>
                  <a:spcPts val="0"/>
                </a:spcBef>
                <a:spcAft>
                  <a:spcPts val="0"/>
                </a:spcAft>
              </a:pPr>
              <a:r>
                <a:rPr lang="en-GB" sz="3000" b="1" i="1">
                  <a:solidFill>
                    <a:srgbClr val="002060"/>
                  </a:solidFill>
                  <a:effectLst/>
                  <a:latin typeface="Times New Roman" panose="02020603050405020304" pitchFamily="18" charset="0"/>
                </a:rPr>
                <a:t>Port 2</a:t>
              </a:r>
              <a:endParaRPr lang="en-GB" sz="1200" b="1" i="1">
                <a:effectLst/>
                <a:latin typeface="Times New Roman" panose="02020603050405020304" pitchFamily="18" charset="0"/>
              </a:endParaRPr>
            </a:p>
          </p:txBody>
        </p:sp>
      </p:grpSp>
      <p:sp>
        <p:nvSpPr>
          <p:cNvPr id="20" name="Rectangle 18">
            <a:extLst>
              <a:ext uri="{FF2B5EF4-FFF2-40B4-BE49-F238E27FC236}">
                <a16:creationId xmlns:a16="http://schemas.microsoft.com/office/drawing/2014/main" id="{BEFFFE6D-BC4C-4B6C-89F3-5094A10080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6273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sp>
        <p:nvSpPr>
          <p:cNvPr id="21" name="Rectangle 26">
            <a:extLst>
              <a:ext uri="{FF2B5EF4-FFF2-40B4-BE49-F238E27FC236}">
                <a16:creationId xmlns:a16="http://schemas.microsoft.com/office/drawing/2014/main" id="{07D3CD59-E75B-4A06-B326-A87AB042C0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47587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altLang="en-US" sz="3600" b="0" i="0" u="none" strike="noStrike" cap="none" normalizeH="0" baseline="0">
                <a:ln>
                  <a:noFill/>
                </a:ln>
                <a:solidFill>
                  <a:srgbClr val="002060"/>
                </a:solidFill>
                <a:effectLst/>
                <a:ea typeface="Times New Roman" panose="02020603050405020304" pitchFamily="18" charset="0"/>
              </a:rPr>
              <a:t>	</a:t>
            </a:r>
            <a:r>
              <a:rPr kumimoji="0" lang="en-GB" altLang="en-US" sz="3600" b="0" i="0" u="none" strike="noStrike" cap="none" normalizeH="0" baseline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					</a:t>
            </a:r>
            <a:endParaRPr kumimoji="0" lang="en-GB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2" name="Rectangle 27">
            <a:extLst>
              <a:ext uri="{FF2B5EF4-FFF2-40B4-BE49-F238E27FC236}">
                <a16:creationId xmlns:a16="http://schemas.microsoft.com/office/drawing/2014/main" id="{BE7A0A7D-CE3F-4166-B16B-B26487441B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5968" y="3873363"/>
            <a:ext cx="9974681" cy="2761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</a:pP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ea typeface="Times New Roman" panose="02020603050405020304" pitchFamily="18" charset="0"/>
              </a:rPr>
              <a:t>y</a:t>
            </a:r>
            <a:r>
              <a:rPr kumimoji="0" lang="en-GB" altLang="en-US" sz="3200" b="0" i="0" u="none" strike="noStrike" cap="none" normalizeH="0" baseline="-30000" dirty="0">
                <a:ln>
                  <a:noFill/>
                </a:ln>
                <a:solidFill>
                  <a:srgbClr val="002060"/>
                </a:solidFill>
                <a:effectLst/>
                <a:ea typeface="Times New Roman" panose="02020603050405020304" pitchFamily="18" charset="0"/>
              </a:rPr>
              <a:t>11</a:t>
            </a: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ea typeface="Times New Roman" panose="02020603050405020304" pitchFamily="18" charset="0"/>
              </a:rPr>
              <a:t>,</a:t>
            </a:r>
            <a:r>
              <a:rPr kumimoji="0" lang="en-GB" altLang="en-US" sz="3200" b="0" i="0" u="none" strike="noStrike" cap="none" normalizeH="0" baseline="-30000" dirty="0">
                <a:ln>
                  <a:noFill/>
                </a:ln>
                <a:solidFill>
                  <a:srgbClr val="002060"/>
                </a:solidFill>
                <a:effectLst/>
                <a:ea typeface="Times New Roman" panose="02020603050405020304" pitchFamily="18" charset="0"/>
              </a:rPr>
              <a:t> </a:t>
            </a: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ea typeface="Times New Roman" panose="02020603050405020304" pitchFamily="18" charset="0"/>
              </a:rPr>
              <a:t>y</a:t>
            </a:r>
            <a:r>
              <a:rPr kumimoji="0" lang="en-GB" altLang="en-US" sz="3200" b="0" i="0" u="none" strike="noStrike" cap="none" normalizeH="0" baseline="-30000" dirty="0">
                <a:ln>
                  <a:noFill/>
                </a:ln>
                <a:solidFill>
                  <a:srgbClr val="002060"/>
                </a:solidFill>
                <a:effectLst/>
                <a:ea typeface="Times New Roman" panose="02020603050405020304" pitchFamily="18" charset="0"/>
              </a:rPr>
              <a:t>12</a:t>
            </a: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ea typeface="Times New Roman" panose="02020603050405020304" pitchFamily="18" charset="0"/>
              </a:rPr>
              <a:t>, y</a:t>
            </a:r>
            <a:r>
              <a:rPr kumimoji="0" lang="en-GB" altLang="en-US" sz="3200" b="0" i="0" u="none" strike="noStrike" cap="none" normalizeH="0" baseline="-30000" dirty="0">
                <a:ln>
                  <a:noFill/>
                </a:ln>
                <a:solidFill>
                  <a:srgbClr val="002060"/>
                </a:solidFill>
                <a:effectLst/>
                <a:ea typeface="Times New Roman" panose="02020603050405020304" pitchFamily="18" charset="0"/>
              </a:rPr>
              <a:t>21</a:t>
            </a: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ea typeface="Times New Roman" panose="02020603050405020304" pitchFamily="18" charset="0"/>
              </a:rPr>
              <a:t>,  y</a:t>
            </a:r>
            <a:r>
              <a:rPr kumimoji="0" lang="en-GB" altLang="en-US" sz="3200" b="0" i="0" u="none" strike="noStrike" cap="none" normalizeH="0" baseline="-30000" dirty="0">
                <a:ln>
                  <a:noFill/>
                </a:ln>
                <a:solidFill>
                  <a:srgbClr val="002060"/>
                </a:solidFill>
                <a:effectLst/>
                <a:ea typeface="Times New Roman" panose="02020603050405020304" pitchFamily="18" charset="0"/>
              </a:rPr>
              <a:t>22</a:t>
            </a: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ea typeface="Times New Roman" panose="02020603050405020304" pitchFamily="18" charset="0"/>
              </a:rPr>
              <a:t>  defined with either V</a:t>
            </a:r>
            <a:r>
              <a:rPr kumimoji="0" lang="en-GB" altLang="en-US" sz="3200" b="0" i="0" u="none" strike="noStrike" cap="none" normalizeH="0" baseline="-30000" dirty="0">
                <a:ln>
                  <a:noFill/>
                </a:ln>
                <a:solidFill>
                  <a:srgbClr val="002060"/>
                </a:solidFill>
                <a:effectLst/>
                <a:ea typeface="Times New Roman" panose="02020603050405020304" pitchFamily="18" charset="0"/>
              </a:rPr>
              <a:t>1</a:t>
            </a: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ea typeface="Times New Roman" panose="02020603050405020304" pitchFamily="18" charset="0"/>
              </a:rPr>
              <a:t> or V</a:t>
            </a:r>
            <a:r>
              <a:rPr kumimoji="0" lang="en-GB" altLang="en-US" sz="3200" b="0" i="0" u="none" strike="noStrike" cap="none" normalizeH="0" baseline="-30000" dirty="0">
                <a:ln>
                  <a:noFill/>
                </a:ln>
                <a:solidFill>
                  <a:srgbClr val="002060"/>
                </a:solidFill>
                <a:effectLst/>
                <a:ea typeface="Times New Roman" panose="02020603050405020304" pitchFamily="18" charset="0"/>
              </a:rPr>
              <a:t>2</a:t>
            </a: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ea typeface="Times New Roman" panose="02020603050405020304" pitchFamily="18" charset="0"/>
              </a:rPr>
              <a:t> zero.</a:t>
            </a:r>
          </a:p>
          <a:p>
            <a:pPr marL="0" marR="0" lvl="0" indent="0" algn="l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</a:pP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ea typeface="Times New Roman" panose="02020603050405020304" pitchFamily="18" charset="0"/>
              </a:rPr>
              <a:t>y-parameters correspond to </a:t>
            </a:r>
            <a:r>
              <a:rPr kumimoji="0" lang="en-GB" altLang="en-US" sz="3200" b="1" i="1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ea typeface="Times New Roman" panose="02020603050405020304" pitchFamily="18" charset="0"/>
              </a:rPr>
              <a:t>driving point</a:t>
            </a: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ea typeface="Times New Roman" panose="02020603050405020304" pitchFamily="18" charset="0"/>
              </a:rPr>
              <a:t> and </a:t>
            </a:r>
            <a:r>
              <a:rPr kumimoji="0" lang="en-GB" altLang="en-US" sz="3200" b="1" i="1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ea typeface="Times New Roman" panose="02020603050405020304" pitchFamily="18" charset="0"/>
              </a:rPr>
              <a:t>transfer</a:t>
            </a: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ea typeface="Times New Roman" panose="02020603050405020304" pitchFamily="18" charset="0"/>
              </a:rPr>
              <a:t> admittances at each port with the other port having zero voltage (i.e. short circuit) </a:t>
            </a: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ea typeface="Times New Roman" panose="02020603050405020304" pitchFamily="18" charset="0"/>
              </a:rPr>
              <a:t>   </a:t>
            </a: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short circuit parameters.</a:t>
            </a: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endParaRPr kumimoji="0" lang="en-GB" altLang="en-US" sz="3200" b="0" i="0" u="none" strike="noStrike" cap="none" normalizeH="0" baseline="0" dirty="0">
              <a:ln>
                <a:noFill/>
              </a:ln>
              <a:solidFill>
                <a:srgbClr val="00206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2934062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B1BBAC-DEE1-4CF9-9521-6921611D2B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12" y="501191"/>
            <a:ext cx="10924085" cy="482745"/>
          </a:xfrm>
        </p:spPr>
        <p:txBody>
          <a:bodyPr>
            <a:noAutofit/>
          </a:bodyPr>
          <a:lstStyle/>
          <a:p>
            <a:pPr algn="l"/>
            <a:r>
              <a:rPr lang="en-GB" dirty="0"/>
              <a:t>Example 4</a:t>
            </a:r>
          </a:p>
        </p:txBody>
      </p:sp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CC821F7B-0E76-4619-AE8E-A9350556D49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88875879"/>
              </p:ext>
            </p:extLst>
          </p:nvPr>
        </p:nvGraphicFramePr>
        <p:xfrm>
          <a:off x="6561867" y="4820742"/>
          <a:ext cx="3504417" cy="15121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9379" r:id="rId3" imgW="1104900" imgH="482600" progId="Equation.3">
                  <p:embed/>
                </p:oleObj>
              </mc:Choice>
              <mc:Fallback>
                <p:oleObj r:id="rId3" imgW="1104900" imgH="4826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61867" y="4820742"/>
                        <a:ext cx="3504417" cy="151218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9D307E31-71BF-4EC8-9248-F93D46F03CA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60125243"/>
              </p:ext>
            </p:extLst>
          </p:nvPr>
        </p:nvGraphicFramePr>
        <p:xfrm>
          <a:off x="1699839" y="4165061"/>
          <a:ext cx="1448154" cy="12009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9380" r:id="rId5" imgW="571252" imgH="482391" progId="Equation.3">
                  <p:embed/>
                </p:oleObj>
              </mc:Choice>
              <mc:Fallback>
                <p:oleObj r:id="rId5" imgW="571252" imgH="482391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9839" y="4165061"/>
                        <a:ext cx="1448154" cy="120090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93759CEF-4768-46D2-AA9A-98EDE350150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07726970"/>
              </p:ext>
            </p:extLst>
          </p:nvPr>
        </p:nvGraphicFramePr>
        <p:xfrm>
          <a:off x="1736334" y="5373675"/>
          <a:ext cx="1448154" cy="12480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9381" r:id="rId7" imgW="545863" imgH="482391" progId="Equation.3">
                  <p:embed/>
                </p:oleObj>
              </mc:Choice>
              <mc:Fallback>
                <p:oleObj r:id="rId7" imgW="545863" imgH="482391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36334" y="5373675"/>
                        <a:ext cx="1448154" cy="124800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" name="Group 5">
            <a:extLst>
              <a:ext uri="{FF2B5EF4-FFF2-40B4-BE49-F238E27FC236}">
                <a16:creationId xmlns:a16="http://schemas.microsoft.com/office/drawing/2014/main" id="{83AD32E9-9E54-426E-A0DC-162E774D1D59}"/>
              </a:ext>
            </a:extLst>
          </p:cNvPr>
          <p:cNvGrpSpPr>
            <a:grpSpLocks/>
          </p:cNvGrpSpPr>
          <p:nvPr/>
        </p:nvGrpSpPr>
        <p:grpSpPr bwMode="auto">
          <a:xfrm>
            <a:off x="544527" y="1460800"/>
            <a:ext cx="10367010" cy="2736850"/>
            <a:chOff x="327" y="2111"/>
            <a:chExt cx="16326" cy="4310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D369ADA3-565C-438D-9830-B8CA94AE513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327" y="2111"/>
              <a:ext cx="8741" cy="4084"/>
              <a:chOff x="7175" y="4963"/>
              <a:chExt cx="3660" cy="1710"/>
            </a:xfrm>
          </p:grpSpPr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911BB86F-2AA0-4827-9C9E-19A41AA99AF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 rot="5400000">
                <a:off x="8829" y="5160"/>
                <a:ext cx="215" cy="506"/>
              </a:xfrm>
              <a:prstGeom prst="rect">
                <a:avLst/>
              </a:prstGeom>
              <a:noFill/>
              <a:ln w="38100">
                <a:solidFill>
                  <a:srgbClr val="C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GB"/>
              </a:p>
            </p:txBody>
          </p:sp>
          <p:cxnSp>
            <p:nvCxnSpPr>
              <p:cNvPr id="35" name="Line 2283">
                <a:extLst>
                  <a:ext uri="{FF2B5EF4-FFF2-40B4-BE49-F238E27FC236}">
                    <a16:creationId xmlns:a16="http://schemas.microsoft.com/office/drawing/2014/main" id="{B5B28428-908B-4A9F-BCB9-36522D78BC41}"/>
                  </a:ext>
                </a:extLst>
              </p:cNvPr>
              <p:cNvCxnSpPr>
                <a:cxnSpLocks noChangeAspect="1" noChangeShapeType="1"/>
              </p:cNvCxnSpPr>
              <p:nvPr/>
            </p:nvCxnSpPr>
            <p:spPr bwMode="auto">
              <a:xfrm rot="5400000">
                <a:off x="9700" y="4900"/>
                <a:ext cx="0" cy="1024"/>
              </a:xfrm>
              <a:prstGeom prst="line">
                <a:avLst/>
              </a:prstGeom>
              <a:noFill/>
              <a:ln w="38100">
                <a:solidFill>
                  <a:srgbClr val="C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6" name="Line 2284">
                <a:extLst>
                  <a:ext uri="{FF2B5EF4-FFF2-40B4-BE49-F238E27FC236}">
                    <a16:creationId xmlns:a16="http://schemas.microsoft.com/office/drawing/2014/main" id="{2D2BBEA7-8A17-40B6-860D-D18BB40F5A2A}"/>
                  </a:ext>
                </a:extLst>
              </p:cNvPr>
              <p:cNvCxnSpPr>
                <a:cxnSpLocks noChangeAspect="1" noChangeShapeType="1"/>
              </p:cNvCxnSpPr>
              <p:nvPr/>
            </p:nvCxnSpPr>
            <p:spPr bwMode="auto">
              <a:xfrm rot="5400000">
                <a:off x="8177" y="4907"/>
                <a:ext cx="0" cy="1010"/>
              </a:xfrm>
              <a:prstGeom prst="line">
                <a:avLst/>
              </a:prstGeom>
              <a:noFill/>
              <a:ln w="38100">
                <a:solidFill>
                  <a:srgbClr val="C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grpSp>
            <p:nvGrpSpPr>
              <p:cNvPr id="37" name="Group 36">
                <a:extLst>
                  <a:ext uri="{FF2B5EF4-FFF2-40B4-BE49-F238E27FC236}">
                    <a16:creationId xmlns:a16="http://schemas.microsoft.com/office/drawing/2014/main" id="{FD90D4D7-957D-491D-B64A-A6A042050BFF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 rot="10800000">
                <a:off x="8030" y="5409"/>
                <a:ext cx="215" cy="1264"/>
                <a:chOff x="9878" y="1418"/>
                <a:chExt cx="360" cy="1800"/>
              </a:xfrm>
            </p:grpSpPr>
            <p:sp>
              <p:nvSpPr>
                <p:cNvPr id="54" name="Rectangle 53">
                  <a:extLst>
                    <a:ext uri="{FF2B5EF4-FFF2-40B4-BE49-F238E27FC236}">
                      <a16:creationId xmlns:a16="http://schemas.microsoft.com/office/drawing/2014/main" id="{38BB8636-0F0C-48A8-8DF3-5D768FB7F05A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9878" y="1958"/>
                  <a:ext cx="360" cy="720"/>
                </a:xfrm>
                <a:prstGeom prst="rect">
                  <a:avLst/>
                </a:prstGeom>
                <a:noFill/>
                <a:ln w="38100">
                  <a:solidFill>
                    <a:srgbClr val="C0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endParaRPr lang="en-GB"/>
                </a:p>
              </p:txBody>
            </p:sp>
            <p:cxnSp>
              <p:nvCxnSpPr>
                <p:cNvPr id="55" name="Line 2287">
                  <a:extLst>
                    <a:ext uri="{FF2B5EF4-FFF2-40B4-BE49-F238E27FC236}">
                      <a16:creationId xmlns:a16="http://schemas.microsoft.com/office/drawing/2014/main" id="{31386E35-216A-4DB1-84A5-4F311831922E}"/>
                    </a:ext>
                  </a:extLst>
                </p:cNvPr>
                <p:cNvCxnSpPr>
                  <a:cxnSpLocks noChangeAspect="1" noChangeShapeType="1"/>
                </p:cNvCxnSpPr>
                <p:nvPr/>
              </p:nvCxnSpPr>
              <p:spPr bwMode="auto">
                <a:xfrm>
                  <a:off x="10058" y="1418"/>
                  <a:ext cx="0" cy="540"/>
                </a:xfrm>
                <a:prstGeom prst="line">
                  <a:avLst/>
                </a:prstGeom>
                <a:noFill/>
                <a:ln w="38100">
                  <a:solidFill>
                    <a:srgbClr val="C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56" name="Line 2288">
                  <a:extLst>
                    <a:ext uri="{FF2B5EF4-FFF2-40B4-BE49-F238E27FC236}">
                      <a16:creationId xmlns:a16="http://schemas.microsoft.com/office/drawing/2014/main" id="{2EB0D697-1360-4EF2-B5FD-622644CDF35A}"/>
                    </a:ext>
                  </a:extLst>
                </p:cNvPr>
                <p:cNvCxnSpPr>
                  <a:cxnSpLocks noChangeAspect="1" noChangeShapeType="1"/>
                </p:cNvCxnSpPr>
                <p:nvPr/>
              </p:nvCxnSpPr>
              <p:spPr bwMode="auto">
                <a:xfrm>
                  <a:off x="10058" y="2678"/>
                  <a:ext cx="0" cy="540"/>
                </a:xfrm>
                <a:prstGeom prst="line">
                  <a:avLst/>
                </a:prstGeom>
                <a:noFill/>
                <a:ln w="38100">
                  <a:solidFill>
                    <a:srgbClr val="C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  <p:cxnSp>
            <p:nvCxnSpPr>
              <p:cNvPr id="38" name="Line 2289">
                <a:extLst>
                  <a:ext uri="{FF2B5EF4-FFF2-40B4-BE49-F238E27FC236}">
                    <a16:creationId xmlns:a16="http://schemas.microsoft.com/office/drawing/2014/main" id="{19D01D08-0429-4CCC-B454-8D01428A3999}"/>
                  </a:ext>
                </a:extLst>
              </p:cNvPr>
              <p:cNvCxnSpPr>
                <a:cxnSpLocks noChangeAspect="1" noChangeShapeType="1"/>
              </p:cNvCxnSpPr>
              <p:nvPr/>
            </p:nvCxnSpPr>
            <p:spPr bwMode="auto">
              <a:xfrm>
                <a:off x="7707" y="6673"/>
                <a:ext cx="2542" cy="0"/>
              </a:xfrm>
              <a:prstGeom prst="line">
                <a:avLst/>
              </a:prstGeom>
              <a:noFill/>
              <a:ln w="38100">
                <a:solidFill>
                  <a:srgbClr val="C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39" name="Text Box 2290">
                <a:extLst>
                  <a:ext uri="{FF2B5EF4-FFF2-40B4-BE49-F238E27FC236}">
                    <a16:creationId xmlns:a16="http://schemas.microsoft.com/office/drawing/2014/main" id="{B7F00819-CEE2-4EC4-A2D2-0E1008256A06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7672" y="5020"/>
                <a:ext cx="244" cy="36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FFFFFF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rot="0" vert="horz" wrap="square" lIns="18000" tIns="10800" rIns="18000" bIns="10800" anchor="t" anchorCtr="0" upright="1">
                <a:noAutofit/>
              </a:bodyPr>
              <a:lstStyle/>
              <a:p>
                <a:pPr marL="0" marR="0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GB" sz="3200">
                    <a:solidFill>
                      <a:srgbClr val="00206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I</a:t>
                </a:r>
                <a:r>
                  <a:rPr lang="en-GB" sz="3200" baseline="-25000">
                    <a:solidFill>
                      <a:srgbClr val="00206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1</a:t>
                </a:r>
                <a:endParaRPr lang="en-GB" sz="120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  <p:sp>
            <p:nvSpPr>
              <p:cNvPr id="40" name="Text Box 2291">
                <a:extLst>
                  <a:ext uri="{FF2B5EF4-FFF2-40B4-BE49-F238E27FC236}">
                    <a16:creationId xmlns:a16="http://schemas.microsoft.com/office/drawing/2014/main" id="{D4ABFEDC-0611-4213-8CD9-F5F66EA74101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9968" y="5020"/>
                <a:ext cx="244" cy="36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FFFFFF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rot="0" vert="horz" wrap="square" lIns="18000" tIns="10800" rIns="18000" bIns="10800" anchor="t" anchorCtr="0" upright="1">
                <a:noAutofit/>
              </a:bodyPr>
              <a:lstStyle/>
              <a:p>
                <a:pPr marL="0" marR="0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GB" sz="3200">
                    <a:solidFill>
                      <a:srgbClr val="00206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I</a:t>
                </a:r>
                <a:r>
                  <a:rPr lang="en-GB" sz="3200" baseline="-25000">
                    <a:solidFill>
                      <a:srgbClr val="00206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2</a:t>
                </a:r>
                <a:endParaRPr lang="en-GB" sz="120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  <p:sp>
            <p:nvSpPr>
              <p:cNvPr id="41" name="Text Box 2292">
                <a:extLst>
                  <a:ext uri="{FF2B5EF4-FFF2-40B4-BE49-F238E27FC236}">
                    <a16:creationId xmlns:a16="http://schemas.microsoft.com/office/drawing/2014/main" id="{0D24E1C4-D534-4218-8749-77AB1F4EA9D4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7175" y="5704"/>
                <a:ext cx="330" cy="36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FFFFFF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rot="0" vert="horz" wrap="square" lIns="18000" tIns="10800" rIns="18000" bIns="10800" anchor="t" anchorCtr="0" upright="1">
                <a:noAutofit/>
              </a:bodyPr>
              <a:lstStyle/>
              <a:p>
                <a:pPr marL="0" marR="0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GB" sz="3200">
                    <a:solidFill>
                      <a:srgbClr val="00206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V</a:t>
                </a:r>
                <a:r>
                  <a:rPr lang="en-GB" sz="3200" baseline="-25000">
                    <a:solidFill>
                      <a:srgbClr val="00206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1</a:t>
                </a:r>
                <a:endParaRPr lang="en-GB" sz="120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  <p:cxnSp>
            <p:nvCxnSpPr>
              <p:cNvPr id="42" name="Line 2293">
                <a:extLst>
                  <a:ext uri="{FF2B5EF4-FFF2-40B4-BE49-F238E27FC236}">
                    <a16:creationId xmlns:a16="http://schemas.microsoft.com/office/drawing/2014/main" id="{FD050685-078E-4996-973D-982F746480DE}"/>
                  </a:ext>
                </a:extLst>
              </p:cNvPr>
              <p:cNvCxnSpPr>
                <a:cxnSpLocks noChangeAspect="1" noChangeShapeType="1"/>
              </p:cNvCxnSpPr>
              <p:nvPr/>
            </p:nvCxnSpPr>
            <p:spPr bwMode="auto">
              <a:xfrm>
                <a:off x="7532" y="5752"/>
                <a:ext cx="0" cy="540"/>
              </a:xfrm>
              <a:prstGeom prst="line">
                <a:avLst/>
              </a:prstGeom>
              <a:noFill/>
              <a:ln w="38100">
                <a:solidFill>
                  <a:srgbClr val="002060"/>
                </a:solidFill>
                <a:round/>
                <a:headEnd type="arrow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43" name="Text Box 2294">
                <a:extLst>
                  <a:ext uri="{FF2B5EF4-FFF2-40B4-BE49-F238E27FC236}">
                    <a16:creationId xmlns:a16="http://schemas.microsoft.com/office/drawing/2014/main" id="{2424D39C-7CC4-496C-88C5-6C4EAA8D855D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10489" y="5818"/>
                <a:ext cx="346" cy="36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FFFFFF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rot="0" vert="horz" wrap="square" lIns="18000" tIns="10800" rIns="18000" bIns="10800" anchor="t" anchorCtr="0" upright="1">
                <a:noAutofit/>
              </a:bodyPr>
              <a:lstStyle/>
              <a:p>
                <a:pPr marL="0" marR="0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GB" sz="3200">
                    <a:solidFill>
                      <a:srgbClr val="00206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V</a:t>
                </a:r>
                <a:r>
                  <a:rPr lang="en-GB" sz="3200" baseline="-25000">
                    <a:solidFill>
                      <a:srgbClr val="00206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2</a:t>
                </a:r>
                <a:endParaRPr lang="en-GB" sz="120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  <p:cxnSp>
            <p:nvCxnSpPr>
              <p:cNvPr id="44" name="Line 2295">
                <a:extLst>
                  <a:ext uri="{FF2B5EF4-FFF2-40B4-BE49-F238E27FC236}">
                    <a16:creationId xmlns:a16="http://schemas.microsoft.com/office/drawing/2014/main" id="{DC4E5E76-1C43-43E6-ABEE-0CA533E26B6C}"/>
                  </a:ext>
                </a:extLst>
              </p:cNvPr>
              <p:cNvCxnSpPr>
                <a:cxnSpLocks noChangeAspect="1" noChangeShapeType="1"/>
              </p:cNvCxnSpPr>
              <p:nvPr/>
            </p:nvCxnSpPr>
            <p:spPr bwMode="auto">
              <a:xfrm>
                <a:off x="10385" y="5761"/>
                <a:ext cx="0" cy="540"/>
              </a:xfrm>
              <a:prstGeom prst="line">
                <a:avLst/>
              </a:prstGeom>
              <a:noFill/>
              <a:ln w="38100">
                <a:solidFill>
                  <a:srgbClr val="002060"/>
                </a:solidFill>
                <a:round/>
                <a:headEnd type="arrow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45" name="Line 2296">
                <a:extLst>
                  <a:ext uri="{FF2B5EF4-FFF2-40B4-BE49-F238E27FC236}">
                    <a16:creationId xmlns:a16="http://schemas.microsoft.com/office/drawing/2014/main" id="{0F163928-CA00-4106-A810-C7E6AFAB5E49}"/>
                  </a:ext>
                </a:extLst>
              </p:cNvPr>
              <p:cNvCxnSpPr>
                <a:cxnSpLocks noChangeAspect="1" noChangeShapeType="1"/>
              </p:cNvCxnSpPr>
              <p:nvPr/>
            </p:nvCxnSpPr>
            <p:spPr bwMode="auto">
              <a:xfrm>
                <a:off x="7859" y="5404"/>
                <a:ext cx="120" cy="0"/>
              </a:xfrm>
              <a:prstGeom prst="line">
                <a:avLst/>
              </a:prstGeom>
              <a:noFill/>
              <a:ln w="38100">
                <a:solidFill>
                  <a:srgbClr val="C00000"/>
                </a:solidFill>
                <a:round/>
                <a:headEnd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46" name="Line 2297">
                <a:extLst>
                  <a:ext uri="{FF2B5EF4-FFF2-40B4-BE49-F238E27FC236}">
                    <a16:creationId xmlns:a16="http://schemas.microsoft.com/office/drawing/2014/main" id="{0DD380AF-1A03-41AE-B189-4A1F9202228B}"/>
                  </a:ext>
                </a:extLst>
              </p:cNvPr>
              <p:cNvCxnSpPr>
                <a:cxnSpLocks noChangeAspect="1" noChangeShapeType="1"/>
              </p:cNvCxnSpPr>
              <p:nvPr/>
            </p:nvCxnSpPr>
            <p:spPr bwMode="auto">
              <a:xfrm>
                <a:off x="9905" y="5404"/>
                <a:ext cx="120" cy="0"/>
              </a:xfrm>
              <a:prstGeom prst="line">
                <a:avLst/>
              </a:prstGeom>
              <a:noFill/>
              <a:ln w="38100">
                <a:solidFill>
                  <a:srgbClr val="C00000"/>
                </a:solidFill>
                <a:round/>
                <a:headEnd type="arrow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47" name="Text Box 2298">
                <a:extLst>
                  <a:ext uri="{FF2B5EF4-FFF2-40B4-BE49-F238E27FC236}">
                    <a16:creationId xmlns:a16="http://schemas.microsoft.com/office/drawing/2014/main" id="{9DF23CDA-7315-4016-BB6B-AB9D1EF67BA8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8810" y="4963"/>
                <a:ext cx="360" cy="36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FFFFFF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rot="0" vert="horz" wrap="square" lIns="18000" tIns="10800" rIns="18000" bIns="10800" anchor="t" anchorCtr="0" upright="1">
                <a:noAutofit/>
              </a:bodyPr>
              <a:lstStyle/>
              <a:p>
                <a:pPr marL="0" marR="0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GB" sz="3200">
                    <a:solidFill>
                      <a:srgbClr val="00206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Y</a:t>
                </a:r>
                <a:r>
                  <a:rPr lang="en-GB" sz="3200" baseline="-25000">
                    <a:solidFill>
                      <a:srgbClr val="00206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b</a:t>
                </a:r>
                <a:endParaRPr lang="en-GB" sz="120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  <p:sp>
            <p:nvSpPr>
              <p:cNvPr id="48" name="Text Box 2299">
                <a:extLst>
                  <a:ext uri="{FF2B5EF4-FFF2-40B4-BE49-F238E27FC236}">
                    <a16:creationId xmlns:a16="http://schemas.microsoft.com/office/drawing/2014/main" id="{F0C9C7D7-54E1-425C-A65A-364472DD26C0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8257" y="5857"/>
                <a:ext cx="360" cy="36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FFFFFF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rot="0" vert="horz" wrap="square" lIns="18000" tIns="10800" rIns="18000" bIns="10800" anchor="t" anchorCtr="0" upright="1">
                <a:noAutofit/>
              </a:bodyPr>
              <a:lstStyle/>
              <a:p>
                <a:pPr marL="0" marR="0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GB" sz="3200">
                    <a:solidFill>
                      <a:srgbClr val="00206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Y</a:t>
                </a:r>
                <a:r>
                  <a:rPr lang="en-GB" sz="3200" baseline="-25000">
                    <a:solidFill>
                      <a:srgbClr val="00206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a</a:t>
                </a:r>
                <a:endParaRPr lang="en-GB" sz="120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  <p:grpSp>
            <p:nvGrpSpPr>
              <p:cNvPr id="49" name="Group 48">
                <a:extLst>
                  <a:ext uri="{FF2B5EF4-FFF2-40B4-BE49-F238E27FC236}">
                    <a16:creationId xmlns:a16="http://schemas.microsoft.com/office/drawing/2014/main" id="{7C0111FA-4C49-4B33-95DA-9D0E23FAE49D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 rot="10800000">
                <a:off x="9666" y="5408"/>
                <a:ext cx="215" cy="1264"/>
                <a:chOff x="9878" y="1418"/>
                <a:chExt cx="360" cy="1800"/>
              </a:xfrm>
            </p:grpSpPr>
            <p:sp>
              <p:nvSpPr>
                <p:cNvPr id="51" name="Rectangle 50">
                  <a:extLst>
                    <a:ext uri="{FF2B5EF4-FFF2-40B4-BE49-F238E27FC236}">
                      <a16:creationId xmlns:a16="http://schemas.microsoft.com/office/drawing/2014/main" id="{61AED64C-966F-4048-81B3-382B8FCEDEE4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9878" y="1958"/>
                  <a:ext cx="360" cy="720"/>
                </a:xfrm>
                <a:prstGeom prst="rect">
                  <a:avLst/>
                </a:prstGeom>
                <a:noFill/>
                <a:ln w="38100">
                  <a:solidFill>
                    <a:srgbClr val="C0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endParaRPr lang="en-GB"/>
                </a:p>
              </p:txBody>
            </p:sp>
            <p:cxnSp>
              <p:nvCxnSpPr>
                <p:cNvPr id="52" name="Line 2302">
                  <a:extLst>
                    <a:ext uri="{FF2B5EF4-FFF2-40B4-BE49-F238E27FC236}">
                      <a16:creationId xmlns:a16="http://schemas.microsoft.com/office/drawing/2014/main" id="{482B9350-5564-47F3-90E3-A11506E221D7}"/>
                    </a:ext>
                  </a:extLst>
                </p:cNvPr>
                <p:cNvCxnSpPr>
                  <a:cxnSpLocks noChangeAspect="1" noChangeShapeType="1"/>
                </p:cNvCxnSpPr>
                <p:nvPr/>
              </p:nvCxnSpPr>
              <p:spPr bwMode="auto">
                <a:xfrm>
                  <a:off x="10058" y="1418"/>
                  <a:ext cx="0" cy="540"/>
                </a:xfrm>
                <a:prstGeom prst="line">
                  <a:avLst/>
                </a:prstGeom>
                <a:noFill/>
                <a:ln w="38100">
                  <a:solidFill>
                    <a:srgbClr val="C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53" name="Line 2303">
                  <a:extLst>
                    <a:ext uri="{FF2B5EF4-FFF2-40B4-BE49-F238E27FC236}">
                      <a16:creationId xmlns:a16="http://schemas.microsoft.com/office/drawing/2014/main" id="{D3B428C0-4FA5-468F-B1F9-3D8D8C1849DD}"/>
                    </a:ext>
                  </a:extLst>
                </p:cNvPr>
                <p:cNvCxnSpPr>
                  <a:cxnSpLocks noChangeAspect="1" noChangeShapeType="1"/>
                </p:cNvCxnSpPr>
                <p:nvPr/>
              </p:nvCxnSpPr>
              <p:spPr bwMode="auto">
                <a:xfrm>
                  <a:off x="10058" y="2678"/>
                  <a:ext cx="0" cy="540"/>
                </a:xfrm>
                <a:prstGeom prst="line">
                  <a:avLst/>
                </a:prstGeom>
                <a:noFill/>
                <a:ln w="38100">
                  <a:solidFill>
                    <a:srgbClr val="C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  <p:sp>
            <p:nvSpPr>
              <p:cNvPr id="50" name="Text Box 2304">
                <a:extLst>
                  <a:ext uri="{FF2B5EF4-FFF2-40B4-BE49-F238E27FC236}">
                    <a16:creationId xmlns:a16="http://schemas.microsoft.com/office/drawing/2014/main" id="{7532D704-EF05-434D-B554-827598E0086D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9893" y="5856"/>
                <a:ext cx="360" cy="36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FFFFFF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rot="0" vert="horz" wrap="square" lIns="18000" tIns="10800" rIns="18000" bIns="10800" anchor="t" anchorCtr="0" upright="1">
                <a:noAutofit/>
              </a:bodyPr>
              <a:lstStyle/>
              <a:p>
                <a:pPr marL="0" marR="0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GB" sz="3200">
                    <a:solidFill>
                      <a:srgbClr val="00206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Y</a:t>
                </a:r>
                <a:r>
                  <a:rPr lang="en-GB" sz="3200" baseline="-25000">
                    <a:solidFill>
                      <a:srgbClr val="00206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c</a:t>
                </a:r>
                <a:endParaRPr lang="en-GB" sz="120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48217E6D-7461-4888-B57D-A2416675743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141" y="2340"/>
              <a:ext cx="7512" cy="3390"/>
              <a:chOff x="7220" y="5921"/>
              <a:chExt cx="3945" cy="1710"/>
            </a:xfrm>
          </p:grpSpPr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1F035856-D31F-4B3D-8588-2851D38C10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400000">
                <a:off x="8874" y="6118"/>
                <a:ext cx="215" cy="506"/>
              </a:xfrm>
              <a:prstGeom prst="rect">
                <a:avLst/>
              </a:prstGeom>
              <a:noFill/>
              <a:ln w="38100">
                <a:solidFill>
                  <a:srgbClr val="C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GB"/>
              </a:p>
            </p:txBody>
          </p:sp>
          <p:cxnSp>
            <p:nvCxnSpPr>
              <p:cNvPr id="11" name="Line 3197">
                <a:extLst>
                  <a:ext uri="{FF2B5EF4-FFF2-40B4-BE49-F238E27FC236}">
                    <a16:creationId xmlns:a16="http://schemas.microsoft.com/office/drawing/2014/main" id="{7734F57D-7337-4E57-92F4-665F548A8A9E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5400000">
                <a:off x="9745" y="5858"/>
                <a:ext cx="0" cy="1024"/>
              </a:xfrm>
              <a:prstGeom prst="line">
                <a:avLst/>
              </a:prstGeom>
              <a:noFill/>
              <a:ln w="38100">
                <a:solidFill>
                  <a:srgbClr val="C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2" name="Line 3198">
                <a:extLst>
                  <a:ext uri="{FF2B5EF4-FFF2-40B4-BE49-F238E27FC236}">
                    <a16:creationId xmlns:a16="http://schemas.microsoft.com/office/drawing/2014/main" id="{DFBDE3DD-ED63-48D1-8B40-860FD482F03E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5400000">
                <a:off x="8222" y="5865"/>
                <a:ext cx="0" cy="1010"/>
              </a:xfrm>
              <a:prstGeom prst="line">
                <a:avLst/>
              </a:prstGeom>
              <a:noFill/>
              <a:ln w="38100">
                <a:solidFill>
                  <a:srgbClr val="C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09A2E9BD-D08A-4919-91DA-0DA99E61FBD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rot="10800000">
                <a:off x="8075" y="6367"/>
                <a:ext cx="215" cy="1264"/>
                <a:chOff x="9878" y="1418"/>
                <a:chExt cx="360" cy="1800"/>
              </a:xfrm>
            </p:grpSpPr>
            <p:sp>
              <p:nvSpPr>
                <p:cNvPr id="31" name="Rectangle 30">
                  <a:extLst>
                    <a:ext uri="{FF2B5EF4-FFF2-40B4-BE49-F238E27FC236}">
                      <a16:creationId xmlns:a16="http://schemas.microsoft.com/office/drawing/2014/main" id="{5A6950F1-B75F-44DD-94BD-212AC0D701C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878" y="1958"/>
                  <a:ext cx="360" cy="720"/>
                </a:xfrm>
                <a:prstGeom prst="rect">
                  <a:avLst/>
                </a:prstGeom>
                <a:noFill/>
                <a:ln w="38100">
                  <a:solidFill>
                    <a:srgbClr val="C0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endParaRPr lang="en-GB"/>
                </a:p>
              </p:txBody>
            </p:sp>
            <p:cxnSp>
              <p:nvCxnSpPr>
                <p:cNvPr id="32" name="Line 3201">
                  <a:extLst>
                    <a:ext uri="{FF2B5EF4-FFF2-40B4-BE49-F238E27FC236}">
                      <a16:creationId xmlns:a16="http://schemas.microsoft.com/office/drawing/2014/main" id="{E6FA78C3-EE2F-40CB-868B-B015593D8925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>
                  <a:off x="10058" y="1418"/>
                  <a:ext cx="0" cy="540"/>
                </a:xfrm>
                <a:prstGeom prst="line">
                  <a:avLst/>
                </a:prstGeom>
                <a:noFill/>
                <a:ln w="38100">
                  <a:solidFill>
                    <a:srgbClr val="C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33" name="Line 3202">
                  <a:extLst>
                    <a:ext uri="{FF2B5EF4-FFF2-40B4-BE49-F238E27FC236}">
                      <a16:creationId xmlns:a16="http://schemas.microsoft.com/office/drawing/2014/main" id="{1B332948-25DC-45E0-97B0-4B194BF34300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>
                  <a:off x="10058" y="2678"/>
                  <a:ext cx="0" cy="540"/>
                </a:xfrm>
                <a:prstGeom prst="line">
                  <a:avLst/>
                </a:prstGeom>
                <a:noFill/>
                <a:ln w="38100">
                  <a:solidFill>
                    <a:srgbClr val="C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  <p:cxnSp>
            <p:nvCxnSpPr>
              <p:cNvPr id="14" name="Line 3203">
                <a:extLst>
                  <a:ext uri="{FF2B5EF4-FFF2-40B4-BE49-F238E27FC236}">
                    <a16:creationId xmlns:a16="http://schemas.microsoft.com/office/drawing/2014/main" id="{249BA97F-B35F-46E3-86E9-0C65501DBA44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7752" y="7631"/>
                <a:ext cx="2542" cy="0"/>
              </a:xfrm>
              <a:prstGeom prst="line">
                <a:avLst/>
              </a:prstGeom>
              <a:noFill/>
              <a:ln w="38100">
                <a:solidFill>
                  <a:srgbClr val="C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15" name="Text Box 3204">
                <a:extLst>
                  <a:ext uri="{FF2B5EF4-FFF2-40B4-BE49-F238E27FC236}">
                    <a16:creationId xmlns:a16="http://schemas.microsoft.com/office/drawing/2014/main" id="{77AA894A-0435-4C45-BAB2-CA8E7D401EA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717" y="5978"/>
                <a:ext cx="244" cy="36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FFFFFF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rot="0" vert="horz" wrap="square" lIns="18000" tIns="10800" rIns="18000" bIns="10800" anchor="t" anchorCtr="0" upright="1">
                <a:noAutofit/>
              </a:bodyPr>
              <a:lstStyle/>
              <a:p>
                <a:pPr marL="0" marR="0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GB" sz="2400">
                    <a:solidFill>
                      <a:srgbClr val="00206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I</a:t>
                </a:r>
                <a:r>
                  <a:rPr lang="en-GB" sz="2400" baseline="-25000">
                    <a:solidFill>
                      <a:srgbClr val="00206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1</a:t>
                </a:r>
                <a:endParaRPr lang="en-GB" sz="120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  <p:sp>
            <p:nvSpPr>
              <p:cNvPr id="16" name="Text Box 3205">
                <a:extLst>
                  <a:ext uri="{FF2B5EF4-FFF2-40B4-BE49-F238E27FC236}">
                    <a16:creationId xmlns:a16="http://schemas.microsoft.com/office/drawing/2014/main" id="{4E7442E1-6C1C-4F30-9F61-0FF68E2DC12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013" y="5978"/>
                <a:ext cx="244" cy="36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FFFFFF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rot="0" vert="horz" wrap="square" lIns="18000" tIns="10800" rIns="18000" bIns="10800" anchor="t" anchorCtr="0" upright="1">
                <a:noAutofit/>
              </a:bodyPr>
              <a:lstStyle/>
              <a:p>
                <a:pPr marL="0" marR="0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GB" sz="2400">
                    <a:solidFill>
                      <a:srgbClr val="00206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I</a:t>
                </a:r>
                <a:r>
                  <a:rPr lang="en-GB" sz="2400" baseline="-25000">
                    <a:solidFill>
                      <a:srgbClr val="00206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2</a:t>
                </a:r>
                <a:endParaRPr lang="en-GB" sz="120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  <p:sp>
            <p:nvSpPr>
              <p:cNvPr id="17" name="Text Box 3206">
                <a:extLst>
                  <a:ext uri="{FF2B5EF4-FFF2-40B4-BE49-F238E27FC236}">
                    <a16:creationId xmlns:a16="http://schemas.microsoft.com/office/drawing/2014/main" id="{1259819D-9B9D-49BD-AA07-F08F591D038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220" y="6662"/>
                <a:ext cx="330" cy="36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FFFFFF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rot="0" vert="horz" wrap="square" lIns="18000" tIns="10800" rIns="18000" bIns="10800" anchor="t" anchorCtr="0" upright="1">
                <a:noAutofit/>
              </a:bodyPr>
              <a:lstStyle/>
              <a:p>
                <a:pPr marL="0" marR="0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GB" sz="2400">
                    <a:solidFill>
                      <a:srgbClr val="00206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V</a:t>
                </a:r>
                <a:r>
                  <a:rPr lang="en-GB" sz="2400" baseline="-25000">
                    <a:solidFill>
                      <a:srgbClr val="00206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1</a:t>
                </a:r>
                <a:endParaRPr lang="en-GB" sz="120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  <p:cxnSp>
            <p:nvCxnSpPr>
              <p:cNvPr id="18" name="Line 3207">
                <a:extLst>
                  <a:ext uri="{FF2B5EF4-FFF2-40B4-BE49-F238E27FC236}">
                    <a16:creationId xmlns:a16="http://schemas.microsoft.com/office/drawing/2014/main" id="{4AF32AD1-034C-455D-99D8-E84B51168409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7577" y="6710"/>
                <a:ext cx="0" cy="540"/>
              </a:xfrm>
              <a:prstGeom prst="line">
                <a:avLst/>
              </a:prstGeom>
              <a:noFill/>
              <a:ln w="38100">
                <a:solidFill>
                  <a:srgbClr val="002060"/>
                </a:solidFill>
                <a:round/>
                <a:headEnd type="arrow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19" name="Text Box 3208">
                <a:extLst>
                  <a:ext uri="{FF2B5EF4-FFF2-40B4-BE49-F238E27FC236}">
                    <a16:creationId xmlns:a16="http://schemas.microsoft.com/office/drawing/2014/main" id="{53090EE7-2251-44E7-B8F2-4503FBF58D7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534" y="6776"/>
                <a:ext cx="631" cy="36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FFFFFF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rot="0" vert="horz" wrap="square" lIns="18000" tIns="10800" rIns="18000" bIns="10800" anchor="t" anchorCtr="0" upright="1">
                <a:noAutofit/>
              </a:bodyPr>
              <a:lstStyle/>
              <a:p>
                <a:pPr marL="0" marR="0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GB" sz="2400">
                    <a:solidFill>
                      <a:srgbClr val="00206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V</a:t>
                </a:r>
                <a:r>
                  <a:rPr lang="en-GB" sz="2400" baseline="-25000">
                    <a:solidFill>
                      <a:srgbClr val="00206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2</a:t>
                </a:r>
                <a:r>
                  <a:rPr lang="en-GB" sz="2400">
                    <a:solidFill>
                      <a:srgbClr val="00206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=0</a:t>
                </a:r>
                <a:endParaRPr lang="en-GB" sz="120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  <p:cxnSp>
            <p:nvCxnSpPr>
              <p:cNvPr id="20" name="Line 3209">
                <a:extLst>
                  <a:ext uri="{FF2B5EF4-FFF2-40B4-BE49-F238E27FC236}">
                    <a16:creationId xmlns:a16="http://schemas.microsoft.com/office/drawing/2014/main" id="{BBF7E759-6EBF-4230-80F8-049C5FE5A94E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10430" y="6719"/>
                <a:ext cx="0" cy="540"/>
              </a:xfrm>
              <a:prstGeom prst="line">
                <a:avLst/>
              </a:prstGeom>
              <a:noFill/>
              <a:ln w="38100">
                <a:solidFill>
                  <a:srgbClr val="002060"/>
                </a:solidFill>
                <a:round/>
                <a:headEnd type="arrow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1" name="Line 3210">
                <a:extLst>
                  <a:ext uri="{FF2B5EF4-FFF2-40B4-BE49-F238E27FC236}">
                    <a16:creationId xmlns:a16="http://schemas.microsoft.com/office/drawing/2014/main" id="{F50C0D3B-3B74-4D9A-9587-63961A974A23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7904" y="6362"/>
                <a:ext cx="120" cy="0"/>
              </a:xfrm>
              <a:prstGeom prst="line">
                <a:avLst/>
              </a:prstGeom>
              <a:noFill/>
              <a:ln w="38100">
                <a:solidFill>
                  <a:srgbClr val="C00000"/>
                </a:solidFill>
                <a:round/>
                <a:headEnd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2" name="Line 3211">
                <a:extLst>
                  <a:ext uri="{FF2B5EF4-FFF2-40B4-BE49-F238E27FC236}">
                    <a16:creationId xmlns:a16="http://schemas.microsoft.com/office/drawing/2014/main" id="{A8EF35B5-5AB8-47DA-89F2-39EB01F51943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9950" y="6362"/>
                <a:ext cx="120" cy="0"/>
              </a:xfrm>
              <a:prstGeom prst="line">
                <a:avLst/>
              </a:prstGeom>
              <a:noFill/>
              <a:ln w="38100">
                <a:solidFill>
                  <a:srgbClr val="C00000"/>
                </a:solidFill>
                <a:round/>
                <a:headEnd type="arrow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23" name="Text Box 3212">
                <a:extLst>
                  <a:ext uri="{FF2B5EF4-FFF2-40B4-BE49-F238E27FC236}">
                    <a16:creationId xmlns:a16="http://schemas.microsoft.com/office/drawing/2014/main" id="{801F163F-7646-4D16-A800-6068ABA68D5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855" y="5921"/>
                <a:ext cx="360" cy="36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FFFFFF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rot="0" vert="horz" wrap="square" lIns="18000" tIns="10800" rIns="18000" bIns="10800" anchor="t" anchorCtr="0" upright="1">
                <a:noAutofit/>
              </a:bodyPr>
              <a:lstStyle/>
              <a:p>
                <a:pPr marL="0" marR="0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GB" sz="2400">
                    <a:solidFill>
                      <a:srgbClr val="00206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Y</a:t>
                </a:r>
                <a:r>
                  <a:rPr lang="en-GB" sz="2400" baseline="-25000">
                    <a:solidFill>
                      <a:srgbClr val="00206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b</a:t>
                </a:r>
                <a:endParaRPr lang="en-GB" sz="120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  <p:sp>
            <p:nvSpPr>
              <p:cNvPr id="24" name="Text Box 3213">
                <a:extLst>
                  <a:ext uri="{FF2B5EF4-FFF2-40B4-BE49-F238E27FC236}">
                    <a16:creationId xmlns:a16="http://schemas.microsoft.com/office/drawing/2014/main" id="{EEDCB737-DFBC-4449-8952-87219B8027E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302" y="6815"/>
                <a:ext cx="360" cy="36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FFFFFF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rot="0" vert="horz" wrap="square" lIns="18000" tIns="10800" rIns="18000" bIns="10800" anchor="t" anchorCtr="0" upright="1">
                <a:noAutofit/>
              </a:bodyPr>
              <a:lstStyle/>
              <a:p>
                <a:pPr marL="0" marR="0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GB" sz="2400">
                    <a:solidFill>
                      <a:srgbClr val="00206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Y</a:t>
                </a:r>
                <a:r>
                  <a:rPr lang="en-GB" sz="2400" baseline="-25000">
                    <a:solidFill>
                      <a:srgbClr val="00206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a</a:t>
                </a:r>
                <a:endParaRPr lang="en-GB" sz="120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  <p:grpSp>
            <p:nvGrpSpPr>
              <p:cNvPr id="25" name="Group 24">
                <a:extLst>
                  <a:ext uri="{FF2B5EF4-FFF2-40B4-BE49-F238E27FC236}">
                    <a16:creationId xmlns:a16="http://schemas.microsoft.com/office/drawing/2014/main" id="{2BE9F5E6-1EA1-45FF-8A95-0EF8317FA6D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rot="10800000">
                <a:off x="9711" y="6366"/>
                <a:ext cx="215" cy="1264"/>
                <a:chOff x="9878" y="1418"/>
                <a:chExt cx="360" cy="1800"/>
              </a:xfrm>
            </p:grpSpPr>
            <p:sp>
              <p:nvSpPr>
                <p:cNvPr id="28" name="Rectangle 27">
                  <a:extLst>
                    <a:ext uri="{FF2B5EF4-FFF2-40B4-BE49-F238E27FC236}">
                      <a16:creationId xmlns:a16="http://schemas.microsoft.com/office/drawing/2014/main" id="{DDE27F3B-560D-4CFF-8601-93FDDEFC91B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878" y="1958"/>
                  <a:ext cx="360" cy="720"/>
                </a:xfrm>
                <a:prstGeom prst="rect">
                  <a:avLst/>
                </a:prstGeom>
                <a:noFill/>
                <a:ln w="38100">
                  <a:solidFill>
                    <a:srgbClr val="C0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endParaRPr lang="en-GB"/>
                </a:p>
              </p:txBody>
            </p:sp>
            <p:cxnSp>
              <p:nvCxnSpPr>
                <p:cNvPr id="29" name="Line 3216">
                  <a:extLst>
                    <a:ext uri="{FF2B5EF4-FFF2-40B4-BE49-F238E27FC236}">
                      <a16:creationId xmlns:a16="http://schemas.microsoft.com/office/drawing/2014/main" id="{0899B7F8-DEF6-4103-8F8D-D1EA79448AD7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>
                  <a:off x="10058" y="1418"/>
                  <a:ext cx="0" cy="540"/>
                </a:xfrm>
                <a:prstGeom prst="line">
                  <a:avLst/>
                </a:prstGeom>
                <a:noFill/>
                <a:ln w="38100">
                  <a:solidFill>
                    <a:srgbClr val="C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30" name="Line 3217">
                  <a:extLst>
                    <a:ext uri="{FF2B5EF4-FFF2-40B4-BE49-F238E27FC236}">
                      <a16:creationId xmlns:a16="http://schemas.microsoft.com/office/drawing/2014/main" id="{5352E919-435F-4EB3-A3A8-664739DDA7A6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>
                  <a:off x="10058" y="2678"/>
                  <a:ext cx="0" cy="540"/>
                </a:xfrm>
                <a:prstGeom prst="line">
                  <a:avLst/>
                </a:prstGeom>
                <a:noFill/>
                <a:ln w="38100">
                  <a:solidFill>
                    <a:srgbClr val="C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  <p:sp>
            <p:nvSpPr>
              <p:cNvPr id="26" name="Text Box 3218">
                <a:extLst>
                  <a:ext uri="{FF2B5EF4-FFF2-40B4-BE49-F238E27FC236}">
                    <a16:creationId xmlns:a16="http://schemas.microsoft.com/office/drawing/2014/main" id="{C35DA15B-F55B-45B5-B740-C20B90DA691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938" y="6814"/>
                <a:ext cx="360" cy="36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FFFFFF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rot="0" vert="horz" wrap="square" lIns="18000" tIns="10800" rIns="18000" bIns="10800" anchor="t" anchorCtr="0" upright="1">
                <a:noAutofit/>
              </a:bodyPr>
              <a:lstStyle/>
              <a:p>
                <a:pPr marL="0" marR="0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GB" sz="2400">
                    <a:solidFill>
                      <a:srgbClr val="00206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Y</a:t>
                </a:r>
                <a:r>
                  <a:rPr lang="en-GB" sz="2400" baseline="-25000">
                    <a:solidFill>
                      <a:srgbClr val="00206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c</a:t>
                </a:r>
                <a:endParaRPr lang="en-GB" sz="120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  <p:cxnSp>
            <p:nvCxnSpPr>
              <p:cNvPr id="27" name="Line 3219">
                <a:extLst>
                  <a:ext uri="{FF2B5EF4-FFF2-40B4-BE49-F238E27FC236}">
                    <a16:creationId xmlns:a16="http://schemas.microsoft.com/office/drawing/2014/main" id="{5E248ABC-DE8D-4FFF-9BD1-EFED28A10B83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10257" y="6370"/>
                <a:ext cx="0" cy="1261"/>
              </a:xfrm>
              <a:prstGeom prst="line">
                <a:avLst/>
              </a:prstGeom>
              <a:noFill/>
              <a:ln w="38100">
                <a:solidFill>
                  <a:srgbClr val="62242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sp>
          <p:nvSpPr>
            <p:cNvPr id="9" name="Text Box 3220">
              <a:extLst>
                <a:ext uri="{FF2B5EF4-FFF2-40B4-BE49-F238E27FC236}">
                  <a16:creationId xmlns:a16="http://schemas.microsoft.com/office/drawing/2014/main" id="{516754F8-4695-4652-9176-5B4F7A76BF6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462" y="5603"/>
              <a:ext cx="5989" cy="8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none" lIns="0" tIns="0" rIns="0" bIns="0" anchor="t" anchorCtr="0" upright="1">
              <a:noAutofit/>
            </a:bodyPr>
            <a:lstStyle/>
            <a:p>
              <a:pPr marL="0" marR="0" algn="just">
                <a:spcBef>
                  <a:spcPts val="1200"/>
                </a:spcBef>
                <a:spcAft>
                  <a:spcPts val="0"/>
                </a:spcAft>
                <a:tabLst>
                  <a:tab pos="2743200" algn="ctr"/>
                  <a:tab pos="5486400" algn="r"/>
                  <a:tab pos="253365" algn="l"/>
                  <a:tab pos="470535" algn="l"/>
                  <a:tab pos="687705" algn="l"/>
                  <a:tab pos="2743200" algn="ctr"/>
                  <a:tab pos="5486400" algn="r"/>
                </a:tabLst>
              </a:pPr>
              <a:r>
                <a:rPr lang="en-GB" sz="2800">
                  <a:solidFill>
                    <a:srgbClr val="00206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with port 2 on short circuit</a:t>
              </a:r>
              <a:endParaRPr lang="en-GB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</p:grpSp>
      <p:sp>
        <p:nvSpPr>
          <p:cNvPr id="57" name="Text Box 3222">
            <a:extLst>
              <a:ext uri="{FF2B5EF4-FFF2-40B4-BE49-F238E27FC236}">
                <a16:creationId xmlns:a16="http://schemas.microsoft.com/office/drawing/2014/main" id="{5307F7BB-FCCA-4ABA-87FA-3C0840FE17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74539" y="5303260"/>
            <a:ext cx="213724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altLang="en-US" sz="36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kumimoji="0" lang="en-GB" altLang="en-US" sz="36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ea typeface="Times New Roman" panose="02020603050405020304" pitchFamily="18" charset="0"/>
              </a:rPr>
              <a:t>[Y]</a:t>
            </a:r>
            <a:r>
              <a:rPr kumimoji="0" lang="en-GB" altLang="en-US" sz="36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  =  </a:t>
            </a:r>
          </a:p>
        </p:txBody>
      </p:sp>
      <p:sp>
        <p:nvSpPr>
          <p:cNvPr id="58" name="Rectangle 56">
            <a:extLst>
              <a:ext uri="{FF2B5EF4-FFF2-40B4-BE49-F238E27FC236}">
                <a16:creationId xmlns:a16="http://schemas.microsoft.com/office/drawing/2014/main" id="{82052ACA-879D-4B15-BB6B-09956884A2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sp>
        <p:nvSpPr>
          <p:cNvPr id="59" name="Rectangle 72">
            <a:extLst>
              <a:ext uri="{FF2B5EF4-FFF2-40B4-BE49-F238E27FC236}">
                <a16:creationId xmlns:a16="http://schemas.microsoft.com/office/drawing/2014/main" id="{97307A6E-D80C-453B-87FB-B0C238BD37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" y="885028"/>
            <a:ext cx="10284446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</a:pP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ea typeface="Times New Roman" panose="02020603050405020304" pitchFamily="18" charset="0"/>
              </a:rPr>
              <a:t>Find admittance parameters of the 2 port </a:t>
            </a:r>
            <a:r>
              <a:rPr kumimoji="0" lang="en-GB" altLang="en-US" sz="3200" b="1" i="1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Symbol" panose="05050102010706020507" pitchFamily="18" charset="2"/>
                <a:ea typeface="Times New Roman" panose="02020603050405020304" pitchFamily="18" charset="0"/>
              </a:rPr>
              <a:t>p</a:t>
            </a:r>
            <a:r>
              <a:rPr kumimoji="0" lang="en-GB" altLang="en-US" sz="3200" b="1" i="1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ea typeface="Times New Roman" panose="02020603050405020304" pitchFamily="18" charset="0"/>
              </a:rPr>
              <a:t>–network.</a:t>
            </a: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ea typeface="Times New Roman" panose="02020603050405020304" pitchFamily="18" charset="0"/>
              </a:rPr>
              <a:t> </a:t>
            </a:r>
            <a:endParaRPr kumimoji="0" lang="en-GB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60" name="Rectangle 73">
            <a:extLst>
              <a:ext uri="{FF2B5EF4-FFF2-40B4-BE49-F238E27FC236}">
                <a16:creationId xmlns:a16="http://schemas.microsoft.com/office/drawing/2014/main" id="{9B4C7C14-59DE-48FF-8140-1486C5935D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995" y="4498419"/>
            <a:ext cx="146877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altLang="en-US" sz="36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</a:rPr>
              <a:t>y</a:t>
            </a:r>
            <a:r>
              <a:rPr kumimoji="0" lang="en-GB" altLang="en-US" sz="3600" b="0" i="0" u="none" strike="noStrike" cap="none" normalizeH="0" baseline="-3000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</a:rPr>
              <a:t>11</a:t>
            </a:r>
            <a:r>
              <a:rPr kumimoji="0" lang="en-GB" altLang="en-US" sz="36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</a:rPr>
              <a:t> = </a:t>
            </a:r>
            <a:endParaRPr kumimoji="0" lang="en-GB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1" name="Rectangle 74">
            <a:extLst>
              <a:ext uri="{FF2B5EF4-FFF2-40B4-BE49-F238E27FC236}">
                <a16:creationId xmlns:a16="http://schemas.microsoft.com/office/drawing/2014/main" id="{C170C314-FC6B-4320-91B0-52129B3BB5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3405" y="5657823"/>
            <a:ext cx="1726518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altLang="en-US" sz="36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y</a:t>
            </a:r>
            <a:r>
              <a:rPr kumimoji="0" lang="en-GB" altLang="en-US" sz="3600" b="0" i="0" u="none" strike="noStrike" cap="none" normalizeH="0" baseline="-3000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21</a:t>
            </a:r>
            <a:r>
              <a:rPr kumimoji="0" lang="en-GB" altLang="en-US" sz="36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= </a:t>
            </a:r>
            <a:endParaRPr kumimoji="0" lang="en-GB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2" name="Rectangle 75">
            <a:extLst>
              <a:ext uri="{FF2B5EF4-FFF2-40B4-BE49-F238E27FC236}">
                <a16:creationId xmlns:a16="http://schemas.microsoft.com/office/drawing/2014/main" id="{96CB9742-8A54-4111-A2AB-63D97F2AA7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8758" y="5736394"/>
            <a:ext cx="1687907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</a:pPr>
            <a:r>
              <a:rPr kumimoji="0" lang="en-GB" altLang="en-US" sz="36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= – </a:t>
            </a:r>
            <a:r>
              <a:rPr kumimoji="0" lang="en-GB" altLang="en-US" sz="3600" b="0" i="0" u="none" strike="noStrike" cap="none" normalizeH="0" baseline="0" dirty="0" err="1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Y</a:t>
            </a:r>
            <a:r>
              <a:rPr kumimoji="0" lang="en-GB" altLang="en-US" sz="3600" b="0" i="0" u="none" strike="noStrike" cap="none" normalizeH="0" baseline="-30000" dirty="0" err="1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b</a:t>
            </a:r>
            <a:endParaRPr kumimoji="0" lang="en-GB" altLang="en-US" sz="3600" b="1" i="1" u="none" strike="noStrike" cap="none" normalizeH="0" baseline="0" dirty="0">
              <a:ln>
                <a:noFill/>
              </a:ln>
              <a:solidFill>
                <a:srgbClr val="002060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</p:txBody>
      </p:sp>
      <p:sp>
        <p:nvSpPr>
          <p:cNvPr id="63" name="Rectangle 74">
            <a:extLst>
              <a:ext uri="{FF2B5EF4-FFF2-40B4-BE49-F238E27FC236}">
                <a16:creationId xmlns:a16="http://schemas.microsoft.com/office/drawing/2014/main" id="{D24D4BD9-DF63-4926-A54B-0A1EAA2609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68615" y="4633754"/>
            <a:ext cx="2903414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altLang="en-US" sz="36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</a:rPr>
              <a:t>= </a:t>
            </a:r>
            <a:r>
              <a:rPr kumimoji="0" lang="en-GB" altLang="en-US" sz="3600" b="0" i="0" u="none" strike="noStrike" cap="none" normalizeH="0" baseline="0" dirty="0" err="1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</a:rPr>
              <a:t>Y</a:t>
            </a:r>
            <a:r>
              <a:rPr kumimoji="0" lang="en-GB" altLang="en-US" sz="3600" b="0" i="0" u="none" strike="noStrike" cap="none" normalizeH="0" baseline="-30000" dirty="0" err="1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</a:rPr>
              <a:t>a</a:t>
            </a:r>
            <a:r>
              <a:rPr kumimoji="0" lang="en-GB" altLang="en-US" sz="36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</a:rPr>
              <a:t> + </a:t>
            </a:r>
            <a:r>
              <a:rPr kumimoji="0" lang="en-GB" altLang="en-US" sz="3600" b="0" i="0" u="none" strike="noStrike" cap="none" normalizeH="0" baseline="0" dirty="0" err="1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</a:rPr>
              <a:t>Y</a:t>
            </a:r>
            <a:r>
              <a:rPr kumimoji="0" lang="en-GB" altLang="en-US" sz="3600" b="0" i="0" u="none" strike="noStrike" cap="none" normalizeH="0" baseline="-30000" dirty="0" err="1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</a:rPr>
              <a:t>b</a:t>
            </a:r>
            <a:endParaRPr kumimoji="0" lang="en-GB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46714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B1BBAC-DEE1-4CF9-9521-6921611D2B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15" y="549483"/>
            <a:ext cx="10924085" cy="482745"/>
          </a:xfrm>
        </p:spPr>
        <p:txBody>
          <a:bodyPr>
            <a:noAutofit/>
          </a:bodyPr>
          <a:lstStyle/>
          <a:p>
            <a:r>
              <a:rPr lang="en-GB" dirty="0"/>
              <a:t>(c) Transmission Line Parameters  (</a:t>
            </a:r>
            <a:r>
              <a:rPr lang="en-GB" dirty="0" err="1"/>
              <a:t>ABCD</a:t>
            </a:r>
            <a:r>
              <a:rPr lang="en-GB" dirty="0"/>
              <a:t>-parameters)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CB6CA41-CB71-48DE-B4E2-FCF16F63729A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2199005" y="994410"/>
            <a:ext cx="7251065" cy="2084705"/>
            <a:chOff x="6035" y="10104"/>
            <a:chExt cx="4560" cy="1311"/>
          </a:xfrm>
        </p:grpSpPr>
        <p:sp>
          <p:nvSpPr>
            <p:cNvPr id="4" name="Text Box 2330">
              <a:extLst>
                <a:ext uri="{FF2B5EF4-FFF2-40B4-BE49-F238E27FC236}">
                  <a16:creationId xmlns:a16="http://schemas.microsoft.com/office/drawing/2014/main" id="{49BA9632-6048-4C1B-962D-B53B9A379E4A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7707" y="10275"/>
              <a:ext cx="1122" cy="1140"/>
            </a:xfrm>
            <a:prstGeom prst="rect">
              <a:avLst/>
            </a:prstGeom>
            <a:solidFill>
              <a:srgbClr val="FFFFFF"/>
            </a:solidFill>
            <a:ln w="38100">
              <a:solidFill>
                <a:srgbClr val="C00000"/>
              </a:solidFill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marL="0" marR="0" algn="ctr">
                <a:spcBef>
                  <a:spcPts val="0"/>
                </a:spcBef>
                <a:spcAft>
                  <a:spcPts val="0"/>
                </a:spcAft>
              </a:pPr>
              <a:r>
                <a:rPr lang="en-GB" sz="340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Linear</a:t>
              </a:r>
              <a:endParaRPr lang="en-GB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  <a:p>
              <a:pPr marL="0" marR="0" algn="ctr">
                <a:spcBef>
                  <a:spcPts val="0"/>
                </a:spcBef>
                <a:spcAft>
                  <a:spcPts val="0"/>
                </a:spcAft>
              </a:pPr>
              <a:r>
                <a:rPr lang="en-GB" sz="340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Passive</a:t>
              </a:r>
              <a:endParaRPr lang="en-GB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  <a:p>
              <a:pPr marL="0" marR="0" algn="ctr">
                <a:spcBef>
                  <a:spcPts val="0"/>
                </a:spcBef>
                <a:spcAft>
                  <a:spcPts val="0"/>
                </a:spcAft>
              </a:pPr>
              <a:r>
                <a:rPr lang="en-GB" sz="340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Network</a:t>
              </a:r>
              <a:endParaRPr lang="en-GB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cxnSp>
          <p:nvCxnSpPr>
            <p:cNvPr id="5" name="Line 2331">
              <a:extLst>
                <a:ext uri="{FF2B5EF4-FFF2-40B4-BE49-F238E27FC236}">
                  <a16:creationId xmlns:a16="http://schemas.microsoft.com/office/drawing/2014/main" id="{98AF81C6-60CD-4C83-9FBC-08A7AA50FE86}"/>
                </a:ext>
              </a:extLst>
            </p:cNvPr>
            <p:cNvCxnSpPr>
              <a:cxnSpLocks noChangeAspect="1" noChangeShapeType="1"/>
            </p:cNvCxnSpPr>
            <p:nvPr/>
          </p:nvCxnSpPr>
          <p:spPr bwMode="auto">
            <a:xfrm>
              <a:off x="6469" y="10503"/>
              <a:ext cx="503" cy="0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 type="oval" w="sm" len="sm"/>
              <a:tailEnd type="arrow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" name="Line 2332">
              <a:extLst>
                <a:ext uri="{FF2B5EF4-FFF2-40B4-BE49-F238E27FC236}">
                  <a16:creationId xmlns:a16="http://schemas.microsoft.com/office/drawing/2014/main" id="{C134E390-81BC-4455-A6D1-F6D9D3D3932F}"/>
                </a:ext>
              </a:extLst>
            </p:cNvPr>
            <p:cNvCxnSpPr>
              <a:cxnSpLocks noChangeAspect="1" noChangeShapeType="1"/>
            </p:cNvCxnSpPr>
            <p:nvPr/>
          </p:nvCxnSpPr>
          <p:spPr bwMode="auto">
            <a:xfrm>
              <a:off x="6972" y="10503"/>
              <a:ext cx="735" cy="0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" name="Line 2333">
              <a:extLst>
                <a:ext uri="{FF2B5EF4-FFF2-40B4-BE49-F238E27FC236}">
                  <a16:creationId xmlns:a16="http://schemas.microsoft.com/office/drawing/2014/main" id="{13FDA673-B0E8-409A-8513-B960CE7BE647}"/>
                </a:ext>
              </a:extLst>
            </p:cNvPr>
            <p:cNvCxnSpPr>
              <a:cxnSpLocks noChangeAspect="1" noChangeShapeType="1"/>
            </p:cNvCxnSpPr>
            <p:nvPr/>
          </p:nvCxnSpPr>
          <p:spPr bwMode="auto">
            <a:xfrm flipH="1">
              <a:off x="9564" y="10506"/>
              <a:ext cx="503" cy="0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 type="oval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" name="Line 2334">
              <a:extLst>
                <a:ext uri="{FF2B5EF4-FFF2-40B4-BE49-F238E27FC236}">
                  <a16:creationId xmlns:a16="http://schemas.microsoft.com/office/drawing/2014/main" id="{806B2301-BDA9-4EC6-A6C3-12C9D26DE0ED}"/>
                </a:ext>
              </a:extLst>
            </p:cNvPr>
            <p:cNvCxnSpPr>
              <a:cxnSpLocks noChangeAspect="1" noChangeShapeType="1"/>
            </p:cNvCxnSpPr>
            <p:nvPr/>
          </p:nvCxnSpPr>
          <p:spPr bwMode="auto">
            <a:xfrm flipH="1">
              <a:off x="8829" y="10503"/>
              <a:ext cx="735" cy="0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 type="arrow" w="lg" len="lg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" name="Line 2335">
              <a:extLst>
                <a:ext uri="{FF2B5EF4-FFF2-40B4-BE49-F238E27FC236}">
                  <a16:creationId xmlns:a16="http://schemas.microsoft.com/office/drawing/2014/main" id="{BA02E00D-2CC5-43B0-AE6A-3A1CFBA504CB}"/>
                </a:ext>
              </a:extLst>
            </p:cNvPr>
            <p:cNvCxnSpPr>
              <a:cxnSpLocks noChangeAspect="1" noChangeShapeType="1"/>
            </p:cNvCxnSpPr>
            <p:nvPr/>
          </p:nvCxnSpPr>
          <p:spPr bwMode="auto">
            <a:xfrm>
              <a:off x="6469" y="11165"/>
              <a:ext cx="1238" cy="0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 type="oval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" name="Line 2336">
              <a:extLst>
                <a:ext uri="{FF2B5EF4-FFF2-40B4-BE49-F238E27FC236}">
                  <a16:creationId xmlns:a16="http://schemas.microsoft.com/office/drawing/2014/main" id="{7D69ABC2-099A-48C2-A329-3DD1C60B6504}"/>
                </a:ext>
              </a:extLst>
            </p:cNvPr>
            <p:cNvCxnSpPr>
              <a:cxnSpLocks noChangeAspect="1" noChangeShapeType="1"/>
            </p:cNvCxnSpPr>
            <p:nvPr/>
          </p:nvCxnSpPr>
          <p:spPr bwMode="auto">
            <a:xfrm>
              <a:off x="8829" y="11165"/>
              <a:ext cx="1238" cy="0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1" name="Text Box 2337">
              <a:extLst>
                <a:ext uri="{FF2B5EF4-FFF2-40B4-BE49-F238E27FC236}">
                  <a16:creationId xmlns:a16="http://schemas.microsoft.com/office/drawing/2014/main" id="{CDD5507B-9008-4A0A-BCC4-85127C0D1AE5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6856" y="10143"/>
              <a:ext cx="244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18000" tIns="10800" rIns="18000" bIns="10800" anchor="t" anchorCtr="0" upright="1">
              <a:noAutofit/>
            </a:bodyPr>
            <a:lstStyle/>
            <a:p>
              <a:pPr marL="0" marR="0">
                <a:spcBef>
                  <a:spcPts val="0"/>
                </a:spcBef>
                <a:spcAft>
                  <a:spcPts val="0"/>
                </a:spcAft>
              </a:pPr>
              <a:r>
                <a:rPr lang="en-GB" sz="2800">
                  <a:solidFill>
                    <a:srgbClr val="00206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I</a:t>
              </a:r>
              <a:r>
                <a:rPr lang="en-GB" sz="2800" baseline="-25000">
                  <a:solidFill>
                    <a:srgbClr val="00206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1</a:t>
              </a:r>
              <a:endParaRPr lang="en-GB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12" name="Text Box 2338">
              <a:extLst>
                <a:ext uri="{FF2B5EF4-FFF2-40B4-BE49-F238E27FC236}">
                  <a16:creationId xmlns:a16="http://schemas.microsoft.com/office/drawing/2014/main" id="{26E15085-5BEA-4F1C-A17C-EF106B89C263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9514" y="10104"/>
              <a:ext cx="244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18000" tIns="10800" rIns="18000" bIns="10800" anchor="t" anchorCtr="0" upright="1">
              <a:noAutofit/>
            </a:bodyPr>
            <a:lstStyle/>
            <a:p>
              <a:pPr marL="0" marR="0">
                <a:spcBef>
                  <a:spcPts val="0"/>
                </a:spcBef>
                <a:spcAft>
                  <a:spcPts val="0"/>
                </a:spcAft>
              </a:pPr>
              <a:r>
                <a:rPr lang="en-GB" sz="2800">
                  <a:solidFill>
                    <a:srgbClr val="00206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I</a:t>
              </a:r>
              <a:r>
                <a:rPr lang="en-GB" sz="2800" baseline="-25000">
                  <a:solidFill>
                    <a:srgbClr val="00206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2</a:t>
              </a:r>
              <a:endParaRPr lang="en-GB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13" name="Text Box 2339">
              <a:extLst>
                <a:ext uri="{FF2B5EF4-FFF2-40B4-BE49-F238E27FC236}">
                  <a16:creationId xmlns:a16="http://schemas.microsoft.com/office/drawing/2014/main" id="{440AC514-9C85-4220-A6DB-D556DE6E14AA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6035" y="10560"/>
              <a:ext cx="330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18000" tIns="10800" rIns="18000" bIns="10800" anchor="t" anchorCtr="0" upright="1">
              <a:noAutofit/>
            </a:bodyPr>
            <a:lstStyle/>
            <a:p>
              <a:pPr marL="0" marR="0">
                <a:spcBef>
                  <a:spcPts val="0"/>
                </a:spcBef>
                <a:spcAft>
                  <a:spcPts val="0"/>
                </a:spcAft>
              </a:pPr>
              <a:r>
                <a:rPr lang="en-GB" sz="2800">
                  <a:solidFill>
                    <a:srgbClr val="00206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V</a:t>
              </a:r>
              <a:r>
                <a:rPr lang="en-GB" sz="2800" baseline="-25000">
                  <a:solidFill>
                    <a:srgbClr val="00206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1</a:t>
              </a:r>
              <a:endParaRPr lang="en-GB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cxnSp>
          <p:nvCxnSpPr>
            <p:cNvPr id="14" name="Line 2340">
              <a:extLst>
                <a:ext uri="{FF2B5EF4-FFF2-40B4-BE49-F238E27FC236}">
                  <a16:creationId xmlns:a16="http://schemas.microsoft.com/office/drawing/2014/main" id="{2DD5EAE6-C541-4B65-9B56-A40AECC3408F}"/>
                </a:ext>
              </a:extLst>
            </p:cNvPr>
            <p:cNvCxnSpPr>
              <a:cxnSpLocks noChangeAspect="1" noChangeShapeType="1"/>
            </p:cNvCxnSpPr>
            <p:nvPr/>
          </p:nvCxnSpPr>
          <p:spPr bwMode="auto">
            <a:xfrm>
              <a:off x="6392" y="10608"/>
              <a:ext cx="0" cy="540"/>
            </a:xfrm>
            <a:prstGeom prst="line">
              <a:avLst/>
            </a:prstGeom>
            <a:noFill/>
            <a:ln w="38100">
              <a:solidFill>
                <a:srgbClr val="002060"/>
              </a:solidFill>
              <a:round/>
              <a:headEnd type="arrow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5" name="Text Box 2341">
              <a:extLst>
                <a:ext uri="{FF2B5EF4-FFF2-40B4-BE49-F238E27FC236}">
                  <a16:creationId xmlns:a16="http://schemas.microsoft.com/office/drawing/2014/main" id="{74495713-9C8F-4974-9CDD-46C4F80E9865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10249" y="10674"/>
              <a:ext cx="346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18000" tIns="10800" rIns="18000" bIns="10800" anchor="t" anchorCtr="0" upright="1">
              <a:noAutofit/>
            </a:bodyPr>
            <a:lstStyle/>
            <a:p>
              <a:pPr marL="0" marR="0">
                <a:spcBef>
                  <a:spcPts val="0"/>
                </a:spcBef>
                <a:spcAft>
                  <a:spcPts val="0"/>
                </a:spcAft>
              </a:pPr>
              <a:r>
                <a:rPr lang="en-GB" sz="2800">
                  <a:solidFill>
                    <a:srgbClr val="00206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V</a:t>
              </a:r>
              <a:r>
                <a:rPr lang="en-GB" sz="2800" baseline="-25000">
                  <a:solidFill>
                    <a:srgbClr val="00206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2</a:t>
              </a:r>
              <a:endParaRPr lang="en-GB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cxnSp>
          <p:nvCxnSpPr>
            <p:cNvPr id="16" name="Line 2342">
              <a:extLst>
                <a:ext uri="{FF2B5EF4-FFF2-40B4-BE49-F238E27FC236}">
                  <a16:creationId xmlns:a16="http://schemas.microsoft.com/office/drawing/2014/main" id="{F4A23008-D204-4283-92D1-27FE299753A0}"/>
                </a:ext>
              </a:extLst>
            </p:cNvPr>
            <p:cNvCxnSpPr>
              <a:cxnSpLocks noChangeAspect="1" noChangeShapeType="1"/>
            </p:cNvCxnSpPr>
            <p:nvPr/>
          </p:nvCxnSpPr>
          <p:spPr bwMode="auto">
            <a:xfrm>
              <a:off x="10145" y="10617"/>
              <a:ext cx="0" cy="540"/>
            </a:xfrm>
            <a:prstGeom prst="line">
              <a:avLst/>
            </a:prstGeom>
            <a:noFill/>
            <a:ln w="38100">
              <a:solidFill>
                <a:srgbClr val="002060"/>
              </a:solidFill>
              <a:round/>
              <a:headEnd type="arrow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7" name="Text Box 2343">
              <a:extLst>
                <a:ext uri="{FF2B5EF4-FFF2-40B4-BE49-F238E27FC236}">
                  <a16:creationId xmlns:a16="http://schemas.microsoft.com/office/drawing/2014/main" id="{67742176-DB92-4A2F-9C3A-5284AAC61357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6605" y="10674"/>
              <a:ext cx="754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18000" tIns="10800" rIns="18000" bIns="10800" anchor="t" anchorCtr="0" upright="1">
              <a:noAutofit/>
            </a:bodyPr>
            <a:lstStyle/>
            <a:p>
              <a:pPr marL="0" marR="0">
                <a:spcBef>
                  <a:spcPts val="0"/>
                </a:spcBef>
                <a:spcAft>
                  <a:spcPts val="0"/>
                </a:spcAft>
              </a:pPr>
              <a:r>
                <a:rPr lang="en-GB" sz="2800" i="1">
                  <a:solidFill>
                    <a:srgbClr val="00206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Port 1</a:t>
              </a:r>
              <a:endParaRPr lang="en-GB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18" name="Text Box 2344">
              <a:extLst>
                <a:ext uri="{FF2B5EF4-FFF2-40B4-BE49-F238E27FC236}">
                  <a16:creationId xmlns:a16="http://schemas.microsoft.com/office/drawing/2014/main" id="{954AA56A-EFBD-495F-9F10-71D93537BF38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9284" y="10674"/>
              <a:ext cx="706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18000" tIns="10800" rIns="18000" bIns="10800" anchor="t" anchorCtr="0" upright="1">
              <a:noAutofit/>
            </a:bodyPr>
            <a:lstStyle/>
            <a:p>
              <a:pPr marL="0" marR="0">
                <a:spcBef>
                  <a:spcPts val="0"/>
                </a:spcBef>
                <a:spcAft>
                  <a:spcPts val="0"/>
                </a:spcAft>
              </a:pPr>
              <a:r>
                <a:rPr lang="en-GB" sz="2800" b="1" i="1">
                  <a:solidFill>
                    <a:srgbClr val="002060"/>
                  </a:solidFill>
                  <a:effectLst/>
                  <a:latin typeface="Times New Roman" panose="02020603050405020304" pitchFamily="18" charset="0"/>
                </a:rPr>
                <a:t>Port 2</a:t>
              </a:r>
              <a:endParaRPr lang="en-GB" sz="1200" b="1" i="1">
                <a:effectLst/>
                <a:latin typeface="Times New Roman" panose="02020603050405020304" pitchFamily="18" charset="0"/>
              </a:endParaRPr>
            </a:p>
          </p:txBody>
        </p:sp>
      </p:grpSp>
      <p:graphicFrame>
        <p:nvGraphicFramePr>
          <p:cNvPr id="19" name="Object 18">
            <a:extLst>
              <a:ext uri="{FF2B5EF4-FFF2-40B4-BE49-F238E27FC236}">
                <a16:creationId xmlns:a16="http://schemas.microsoft.com/office/drawing/2014/main" id="{BAB0A0E8-57C3-44F5-814B-928C128B403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56109977"/>
              </p:ext>
            </p:extLst>
          </p:nvPr>
        </p:nvGraphicFramePr>
        <p:xfrm>
          <a:off x="3491255" y="3071020"/>
          <a:ext cx="4124325" cy="1576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0327" r:id="rId3" imgW="1218671" imgH="482391" progId="Equation.3">
                  <p:embed/>
                </p:oleObj>
              </mc:Choice>
              <mc:Fallback>
                <p:oleObj r:id="rId3" imgW="1218671" imgH="482391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91255" y="3071020"/>
                        <a:ext cx="4124325" cy="15763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Rectangle 18">
            <a:extLst>
              <a:ext uri="{FF2B5EF4-FFF2-40B4-BE49-F238E27FC236}">
                <a16:creationId xmlns:a16="http://schemas.microsoft.com/office/drawing/2014/main" id="{E5BC4433-934C-4463-ABD3-C27202D889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sp>
        <p:nvSpPr>
          <p:cNvPr id="21" name="Rectangle 26">
            <a:extLst>
              <a:ext uri="{FF2B5EF4-FFF2-40B4-BE49-F238E27FC236}">
                <a16:creationId xmlns:a16="http://schemas.microsoft.com/office/drawing/2014/main" id="{AEDE7B25-BA94-4E78-BEB5-9D9E294CC9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6096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sp>
        <p:nvSpPr>
          <p:cNvPr id="22" name="Rectangle 27">
            <a:extLst>
              <a:ext uri="{FF2B5EF4-FFF2-40B4-BE49-F238E27FC236}">
                <a16:creationId xmlns:a16="http://schemas.microsoft.com/office/drawing/2014/main" id="{F9B0E1F6-6D86-4333-9A5A-136476BCBE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4590" y="4576951"/>
            <a:ext cx="11782926" cy="2062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</a:pP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ea typeface="Times New Roman" panose="02020603050405020304" pitchFamily="18" charset="0"/>
              </a:rPr>
              <a:t>Parameters can be defined using either port 2 on short circuit or port 2 on open circuit.  </a:t>
            </a:r>
            <a:endParaRPr kumimoji="0" lang="en-GB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</a:pP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ea typeface="Times New Roman" panose="02020603050405020304" pitchFamily="18" charset="0"/>
              </a:rPr>
              <a:t>In case of symmetrical system, parameter A = 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</a:pP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ea typeface="Times New Roman" panose="02020603050405020304" pitchFamily="18" charset="0"/>
              </a:rPr>
              <a:t>For a reciprocal system,  </a:t>
            </a:r>
            <a:r>
              <a:rPr kumimoji="0" lang="en-GB" altLang="en-US" sz="3200" b="0" i="0" u="none" strike="noStrike" cap="none" normalizeH="0" baseline="0" dirty="0" err="1">
                <a:ln>
                  <a:noFill/>
                </a:ln>
                <a:solidFill>
                  <a:srgbClr val="002060"/>
                </a:solidFill>
                <a:effectLst/>
                <a:ea typeface="Times New Roman" panose="02020603050405020304" pitchFamily="18" charset="0"/>
              </a:rPr>
              <a:t>A.D</a:t>
            </a: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ea typeface="Times New Roman" panose="02020603050405020304" pitchFamily="18" charset="0"/>
              </a:rPr>
              <a:t> – </a:t>
            </a:r>
            <a:r>
              <a:rPr kumimoji="0" lang="en-GB" altLang="en-US" sz="3200" b="0" i="0" u="none" strike="noStrike" cap="none" normalizeH="0" baseline="0" dirty="0" err="1">
                <a:ln>
                  <a:noFill/>
                </a:ln>
                <a:solidFill>
                  <a:srgbClr val="002060"/>
                </a:solidFill>
                <a:effectLst/>
                <a:ea typeface="Times New Roman" panose="02020603050405020304" pitchFamily="18" charset="0"/>
              </a:rPr>
              <a:t>B.C</a:t>
            </a: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ea typeface="Times New Roman" panose="02020603050405020304" pitchFamily="18" charset="0"/>
              </a:rPr>
              <a:t> = 1</a:t>
            </a: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5288927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B1BBAC-DEE1-4CF9-9521-6921611D2B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15" y="549483"/>
            <a:ext cx="10924085" cy="482745"/>
          </a:xfrm>
        </p:spPr>
        <p:txBody>
          <a:bodyPr>
            <a:noAutofit/>
          </a:bodyPr>
          <a:lstStyle/>
          <a:p>
            <a:pPr algn="l"/>
            <a:r>
              <a:rPr lang="en-US" dirty="0"/>
              <a:t>Example 5</a:t>
            </a:r>
            <a:endParaRPr lang="en-GB" dirty="0"/>
          </a:p>
        </p:txBody>
      </p:sp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D6E5CB9A-FAEF-462A-83E0-FEB0A8D4E55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0998756"/>
              </p:ext>
            </p:extLst>
          </p:nvPr>
        </p:nvGraphicFramePr>
        <p:xfrm>
          <a:off x="6071286" y="2621653"/>
          <a:ext cx="1171575" cy="1076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1430" r:id="rId3" imgW="469696" imgH="431613" progId="Equation.3">
                  <p:embed/>
                </p:oleObj>
              </mc:Choice>
              <mc:Fallback>
                <p:oleObj r:id="rId3" imgW="469696" imgH="431613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71286" y="2621653"/>
                        <a:ext cx="1171575" cy="10763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BFCAA3CE-9D8B-47F7-AED7-8E55DB354A8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44120131"/>
              </p:ext>
            </p:extLst>
          </p:nvPr>
        </p:nvGraphicFramePr>
        <p:xfrm>
          <a:off x="3924669" y="1606586"/>
          <a:ext cx="476250" cy="1076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1431" r:id="rId5" imgW="203112" imgH="431613" progId="Equation.3">
                  <p:embed/>
                </p:oleObj>
              </mc:Choice>
              <mc:Fallback>
                <p:oleObj r:id="rId5" imgW="203112" imgH="431613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24669" y="1606586"/>
                        <a:ext cx="476250" cy="10763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8D0DC696-E800-4E7D-AF54-373807C3BE4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44898173"/>
              </p:ext>
            </p:extLst>
          </p:nvPr>
        </p:nvGraphicFramePr>
        <p:xfrm>
          <a:off x="1205291" y="2682911"/>
          <a:ext cx="2895600" cy="1114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1432" r:id="rId7" imgW="1167893" imgH="444307" progId="Equation.3">
                  <p:embed/>
                </p:oleObj>
              </mc:Choice>
              <mc:Fallback>
                <p:oleObj r:id="rId7" imgW="1167893" imgH="444307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05291" y="2682911"/>
                        <a:ext cx="2895600" cy="1114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90796C81-B0F9-4B63-92CB-4549C8D26AE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15225021"/>
              </p:ext>
            </p:extLst>
          </p:nvPr>
        </p:nvGraphicFramePr>
        <p:xfrm>
          <a:off x="1324044" y="1677989"/>
          <a:ext cx="1257300" cy="1114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1433" r:id="rId9" imgW="507780" imgH="444307" progId="Equation.3">
                  <p:embed/>
                </p:oleObj>
              </mc:Choice>
              <mc:Fallback>
                <p:oleObj r:id="rId9" imgW="507780" imgH="444307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24044" y="1677989"/>
                        <a:ext cx="1257300" cy="1114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967759AD-3D7A-4C98-A436-71C8ACAFF7A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02535823"/>
              </p:ext>
            </p:extLst>
          </p:nvPr>
        </p:nvGraphicFramePr>
        <p:xfrm>
          <a:off x="3067980" y="4311257"/>
          <a:ext cx="6731059" cy="10554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1434" r:id="rId11" imgW="2540000" imgH="444500" progId="Equation.3">
                  <p:embed/>
                </p:oleObj>
              </mc:Choice>
              <mc:Fallback>
                <p:oleObj r:id="rId11" imgW="2540000" imgH="4445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67980" y="4311257"/>
                        <a:ext cx="6731059" cy="105543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5B3FB89E-72E6-48B5-B213-3BA01669050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09784336"/>
              </p:ext>
            </p:extLst>
          </p:nvPr>
        </p:nvGraphicFramePr>
        <p:xfrm>
          <a:off x="1064274" y="5196567"/>
          <a:ext cx="8558207" cy="13967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1435" r:id="rId13" imgW="2832100" imgH="457200" progId="Equation.3">
                  <p:embed/>
                </p:oleObj>
              </mc:Choice>
              <mc:Fallback>
                <p:oleObj r:id="rId13" imgW="2832100" imgH="45720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4274" y="5196567"/>
                        <a:ext cx="8558207" cy="139674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" name="Group 8">
            <a:extLst>
              <a:ext uri="{FF2B5EF4-FFF2-40B4-BE49-F238E27FC236}">
                <a16:creationId xmlns:a16="http://schemas.microsoft.com/office/drawing/2014/main" id="{414124AB-D185-4F11-99A5-DFD53FCA01E4}"/>
              </a:ext>
            </a:extLst>
          </p:cNvPr>
          <p:cNvGrpSpPr>
            <a:grpSpLocks/>
          </p:cNvGrpSpPr>
          <p:nvPr/>
        </p:nvGrpSpPr>
        <p:grpSpPr bwMode="auto">
          <a:xfrm>
            <a:off x="7062270" y="722348"/>
            <a:ext cx="5129731" cy="2715260"/>
            <a:chOff x="7115" y="810"/>
            <a:chExt cx="8570" cy="4276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B0D1AF97-F1B5-4627-9855-5F41C72AB214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 rot="5400000">
              <a:off x="10812" y="1301"/>
              <a:ext cx="538" cy="1265"/>
            </a:xfrm>
            <a:prstGeom prst="rect">
              <a:avLst/>
            </a:prstGeom>
            <a:noFill/>
            <a:ln w="38100">
              <a:solidFill>
                <a:srgbClr val="C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GB"/>
            </a:p>
          </p:txBody>
        </p:sp>
        <p:cxnSp>
          <p:nvCxnSpPr>
            <p:cNvPr id="11" name="Line 1524">
              <a:extLst>
                <a:ext uri="{FF2B5EF4-FFF2-40B4-BE49-F238E27FC236}">
                  <a16:creationId xmlns:a16="http://schemas.microsoft.com/office/drawing/2014/main" id="{2506443A-7BA2-4F38-AE8F-B62650286CFF}"/>
                </a:ext>
              </a:extLst>
            </p:cNvPr>
            <p:cNvCxnSpPr>
              <a:cxnSpLocks noChangeAspect="1" noChangeShapeType="1"/>
            </p:cNvCxnSpPr>
            <p:nvPr/>
          </p:nvCxnSpPr>
          <p:spPr bwMode="auto">
            <a:xfrm rot="5400000">
              <a:off x="12989" y="652"/>
              <a:ext cx="0" cy="2561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" name="Line 1525">
              <a:extLst>
                <a:ext uri="{FF2B5EF4-FFF2-40B4-BE49-F238E27FC236}">
                  <a16:creationId xmlns:a16="http://schemas.microsoft.com/office/drawing/2014/main" id="{7DCA3C19-F466-4A82-8EB7-7637A3F2E695}"/>
                </a:ext>
              </a:extLst>
            </p:cNvPr>
            <p:cNvCxnSpPr>
              <a:cxnSpLocks noChangeAspect="1" noChangeShapeType="1"/>
            </p:cNvCxnSpPr>
            <p:nvPr/>
          </p:nvCxnSpPr>
          <p:spPr bwMode="auto">
            <a:xfrm rot="5400000">
              <a:off x="9181" y="670"/>
              <a:ext cx="0" cy="2525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ECC33613-47D2-43C9-9BAB-84FBD722F99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8813" y="1925"/>
              <a:ext cx="537" cy="3161"/>
              <a:chOff x="9878" y="1418"/>
              <a:chExt cx="360" cy="1800"/>
            </a:xfrm>
          </p:grpSpPr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CF352637-795F-43E2-B8EE-1E08DBF317F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9878" y="1958"/>
                <a:ext cx="360" cy="720"/>
              </a:xfrm>
              <a:prstGeom prst="rect">
                <a:avLst/>
              </a:prstGeom>
              <a:noFill/>
              <a:ln w="38100">
                <a:solidFill>
                  <a:srgbClr val="C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GB"/>
              </a:p>
            </p:txBody>
          </p:sp>
          <p:cxnSp>
            <p:nvCxnSpPr>
              <p:cNvPr id="31" name="Line 1528">
                <a:extLst>
                  <a:ext uri="{FF2B5EF4-FFF2-40B4-BE49-F238E27FC236}">
                    <a16:creationId xmlns:a16="http://schemas.microsoft.com/office/drawing/2014/main" id="{75CC3698-98F2-4D32-B9AA-D5D339DD9094}"/>
                  </a:ext>
                </a:extLst>
              </p:cNvPr>
              <p:cNvCxnSpPr>
                <a:cxnSpLocks noChangeAspect="1" noChangeShapeType="1"/>
              </p:cNvCxnSpPr>
              <p:nvPr/>
            </p:nvCxnSpPr>
            <p:spPr bwMode="auto">
              <a:xfrm>
                <a:off x="10058" y="1418"/>
                <a:ext cx="0" cy="540"/>
              </a:xfrm>
              <a:prstGeom prst="line">
                <a:avLst/>
              </a:prstGeom>
              <a:noFill/>
              <a:ln w="38100">
                <a:solidFill>
                  <a:srgbClr val="C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2" name="Line 1529">
                <a:extLst>
                  <a:ext uri="{FF2B5EF4-FFF2-40B4-BE49-F238E27FC236}">
                    <a16:creationId xmlns:a16="http://schemas.microsoft.com/office/drawing/2014/main" id="{8DFAC2F2-3F74-4DC4-9476-EDB40FB0B362}"/>
                  </a:ext>
                </a:extLst>
              </p:cNvPr>
              <p:cNvCxnSpPr>
                <a:cxnSpLocks noChangeAspect="1" noChangeShapeType="1"/>
              </p:cNvCxnSpPr>
              <p:nvPr/>
            </p:nvCxnSpPr>
            <p:spPr bwMode="auto">
              <a:xfrm>
                <a:off x="10058" y="2678"/>
                <a:ext cx="0" cy="540"/>
              </a:xfrm>
              <a:prstGeom prst="line">
                <a:avLst/>
              </a:prstGeom>
              <a:noFill/>
              <a:ln w="38100">
                <a:solidFill>
                  <a:srgbClr val="C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cxnSp>
          <p:nvCxnSpPr>
            <p:cNvPr id="14" name="Line 1530">
              <a:extLst>
                <a:ext uri="{FF2B5EF4-FFF2-40B4-BE49-F238E27FC236}">
                  <a16:creationId xmlns:a16="http://schemas.microsoft.com/office/drawing/2014/main" id="{53AF1168-3F46-4BAE-9703-2A287033C87B}"/>
                </a:ext>
              </a:extLst>
            </p:cNvPr>
            <p:cNvCxnSpPr>
              <a:cxnSpLocks noChangeAspect="1" noChangeShapeType="1"/>
            </p:cNvCxnSpPr>
            <p:nvPr/>
          </p:nvCxnSpPr>
          <p:spPr bwMode="auto">
            <a:xfrm>
              <a:off x="8005" y="5086"/>
              <a:ext cx="6356" cy="0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5" name="Text Box 1531">
              <a:extLst>
                <a:ext uri="{FF2B5EF4-FFF2-40B4-BE49-F238E27FC236}">
                  <a16:creationId xmlns:a16="http://schemas.microsoft.com/office/drawing/2014/main" id="{36AEA209-2608-441E-8215-1D2961EB72E5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7918" y="953"/>
              <a:ext cx="610" cy="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18000" tIns="10800" rIns="18000" bIns="10800" anchor="t" anchorCtr="0" upright="1">
              <a:noAutofit/>
            </a:bodyPr>
            <a:lstStyle/>
            <a:p>
              <a:pPr marL="0" marR="0">
                <a:spcBef>
                  <a:spcPts val="0"/>
                </a:spcBef>
                <a:spcAft>
                  <a:spcPts val="0"/>
                </a:spcAft>
              </a:pPr>
              <a:r>
                <a:rPr lang="en-GB" sz="3000">
                  <a:solidFill>
                    <a:srgbClr val="00206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I</a:t>
              </a:r>
              <a:r>
                <a:rPr lang="en-GB" sz="3000" baseline="-25000">
                  <a:solidFill>
                    <a:srgbClr val="00206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1</a:t>
              </a:r>
              <a:endParaRPr lang="en-GB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16" name="Text Box 1532">
              <a:extLst>
                <a:ext uri="{FF2B5EF4-FFF2-40B4-BE49-F238E27FC236}">
                  <a16:creationId xmlns:a16="http://schemas.microsoft.com/office/drawing/2014/main" id="{97D30AD3-9B5B-4C81-9CAF-B3060508C48D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13659" y="953"/>
              <a:ext cx="610" cy="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18000" tIns="10800" rIns="18000" bIns="10800" anchor="t" anchorCtr="0" upright="1">
              <a:noAutofit/>
            </a:bodyPr>
            <a:lstStyle/>
            <a:p>
              <a:pPr marL="0" marR="0">
                <a:spcBef>
                  <a:spcPts val="0"/>
                </a:spcBef>
                <a:spcAft>
                  <a:spcPts val="0"/>
                </a:spcAft>
              </a:pPr>
              <a:r>
                <a:rPr lang="en-GB" sz="3000">
                  <a:solidFill>
                    <a:srgbClr val="00206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I</a:t>
              </a:r>
              <a:r>
                <a:rPr lang="en-GB" sz="3000" baseline="-25000">
                  <a:solidFill>
                    <a:srgbClr val="00206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2</a:t>
              </a:r>
              <a:endParaRPr lang="en-GB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17" name="Text Box 1533">
              <a:extLst>
                <a:ext uri="{FF2B5EF4-FFF2-40B4-BE49-F238E27FC236}">
                  <a16:creationId xmlns:a16="http://schemas.microsoft.com/office/drawing/2014/main" id="{55B3A09D-058A-4691-85B9-F02B8B10F95F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7115" y="2663"/>
              <a:ext cx="825" cy="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18000" tIns="10800" rIns="18000" bIns="10800" anchor="t" anchorCtr="0" upright="1">
              <a:noAutofit/>
            </a:bodyPr>
            <a:lstStyle/>
            <a:p>
              <a:pPr marL="0" marR="0">
                <a:spcBef>
                  <a:spcPts val="0"/>
                </a:spcBef>
                <a:spcAft>
                  <a:spcPts val="0"/>
                </a:spcAft>
              </a:pPr>
              <a:r>
                <a:rPr lang="en-GB" sz="3000" dirty="0">
                  <a:solidFill>
                    <a:srgbClr val="00206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V</a:t>
              </a:r>
              <a:r>
                <a:rPr lang="en-GB" sz="3000" baseline="-25000" dirty="0">
                  <a:solidFill>
                    <a:srgbClr val="00206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1</a:t>
              </a:r>
              <a:endParaRPr lang="en-GB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cxnSp>
          <p:nvCxnSpPr>
            <p:cNvPr id="18" name="Line 1534">
              <a:extLst>
                <a:ext uri="{FF2B5EF4-FFF2-40B4-BE49-F238E27FC236}">
                  <a16:creationId xmlns:a16="http://schemas.microsoft.com/office/drawing/2014/main" id="{294833C0-E3D7-47E4-8F3A-099589DD8369}"/>
                </a:ext>
              </a:extLst>
            </p:cNvPr>
            <p:cNvCxnSpPr>
              <a:cxnSpLocks noChangeAspect="1" noChangeShapeType="1"/>
            </p:cNvCxnSpPr>
            <p:nvPr/>
          </p:nvCxnSpPr>
          <p:spPr bwMode="auto">
            <a:xfrm>
              <a:off x="8048" y="2783"/>
              <a:ext cx="0" cy="1350"/>
            </a:xfrm>
            <a:prstGeom prst="line">
              <a:avLst/>
            </a:prstGeom>
            <a:noFill/>
            <a:ln w="38100">
              <a:solidFill>
                <a:srgbClr val="002060"/>
              </a:solidFill>
              <a:round/>
              <a:headEnd type="arrow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9" name="Text Box 1535">
              <a:extLst>
                <a:ext uri="{FF2B5EF4-FFF2-40B4-BE49-F238E27FC236}">
                  <a16:creationId xmlns:a16="http://schemas.microsoft.com/office/drawing/2014/main" id="{A1A404EF-0B69-42C3-A119-F14C7835BF57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14650" y="2948"/>
              <a:ext cx="1035" cy="12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18000" tIns="10800" rIns="18000" bIns="10800" anchor="t" anchorCtr="0" upright="1">
              <a:noAutofit/>
            </a:bodyPr>
            <a:lstStyle/>
            <a:p>
              <a:pPr marL="0" marR="0">
                <a:spcBef>
                  <a:spcPts val="0"/>
                </a:spcBef>
                <a:spcAft>
                  <a:spcPts val="0"/>
                </a:spcAft>
              </a:pPr>
              <a:r>
                <a:rPr lang="en-GB" sz="3000" dirty="0">
                  <a:solidFill>
                    <a:srgbClr val="00206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V</a:t>
              </a:r>
              <a:r>
                <a:rPr lang="en-GB" sz="3000" baseline="-25000" dirty="0">
                  <a:solidFill>
                    <a:srgbClr val="00206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2</a:t>
              </a:r>
              <a:endParaRPr lang="en-GB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cxnSp>
          <p:nvCxnSpPr>
            <p:cNvPr id="20" name="Line 1536">
              <a:extLst>
                <a:ext uri="{FF2B5EF4-FFF2-40B4-BE49-F238E27FC236}">
                  <a16:creationId xmlns:a16="http://schemas.microsoft.com/office/drawing/2014/main" id="{49FC8EF0-D6CB-43E5-82C8-81A6AAC944BF}"/>
                </a:ext>
              </a:extLst>
            </p:cNvPr>
            <p:cNvCxnSpPr>
              <a:cxnSpLocks noChangeAspect="1" noChangeShapeType="1"/>
            </p:cNvCxnSpPr>
            <p:nvPr/>
          </p:nvCxnSpPr>
          <p:spPr bwMode="auto">
            <a:xfrm>
              <a:off x="14381" y="2805"/>
              <a:ext cx="0" cy="1351"/>
            </a:xfrm>
            <a:prstGeom prst="line">
              <a:avLst/>
            </a:prstGeom>
            <a:noFill/>
            <a:ln w="38100">
              <a:solidFill>
                <a:srgbClr val="002060"/>
              </a:solidFill>
              <a:round/>
              <a:headEnd type="arrow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" name="Line 1537">
              <a:extLst>
                <a:ext uri="{FF2B5EF4-FFF2-40B4-BE49-F238E27FC236}">
                  <a16:creationId xmlns:a16="http://schemas.microsoft.com/office/drawing/2014/main" id="{4E43FFC2-F612-4D65-98E8-3A9D39DD4C6F}"/>
                </a:ext>
              </a:extLst>
            </p:cNvPr>
            <p:cNvCxnSpPr>
              <a:cxnSpLocks noChangeAspect="1" noChangeShapeType="1"/>
            </p:cNvCxnSpPr>
            <p:nvPr/>
          </p:nvCxnSpPr>
          <p:spPr bwMode="auto">
            <a:xfrm>
              <a:off x="8385" y="1913"/>
              <a:ext cx="300" cy="0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" name="Line 1538">
              <a:extLst>
                <a:ext uri="{FF2B5EF4-FFF2-40B4-BE49-F238E27FC236}">
                  <a16:creationId xmlns:a16="http://schemas.microsoft.com/office/drawing/2014/main" id="{C05C0CE2-09F0-4CFE-A7F7-14FCC2A8A716}"/>
                </a:ext>
              </a:extLst>
            </p:cNvPr>
            <p:cNvCxnSpPr>
              <a:cxnSpLocks noChangeAspect="1" noChangeShapeType="1"/>
            </p:cNvCxnSpPr>
            <p:nvPr/>
          </p:nvCxnSpPr>
          <p:spPr bwMode="auto">
            <a:xfrm flipH="1">
              <a:off x="13501" y="1913"/>
              <a:ext cx="300" cy="0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 type="arrow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3" name="Text Box 1539">
              <a:extLst>
                <a:ext uri="{FF2B5EF4-FFF2-40B4-BE49-F238E27FC236}">
                  <a16:creationId xmlns:a16="http://schemas.microsoft.com/office/drawing/2014/main" id="{157650F1-56AA-495B-81A5-2E23B7CD7A5A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10763" y="810"/>
              <a:ext cx="900" cy="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18000" tIns="10800" rIns="18000" bIns="10800" anchor="t" anchorCtr="0" upright="1">
              <a:noAutofit/>
            </a:bodyPr>
            <a:lstStyle/>
            <a:p>
              <a:pPr marL="0" marR="0">
                <a:spcBef>
                  <a:spcPts val="0"/>
                </a:spcBef>
                <a:spcAft>
                  <a:spcPts val="0"/>
                </a:spcAft>
              </a:pPr>
              <a:r>
                <a:rPr lang="en-GB" sz="3000">
                  <a:solidFill>
                    <a:srgbClr val="00206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Y</a:t>
              </a:r>
              <a:r>
                <a:rPr lang="en-GB" sz="3000" baseline="-25000">
                  <a:solidFill>
                    <a:srgbClr val="00206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c</a:t>
              </a:r>
              <a:endParaRPr lang="en-GB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24" name="Text Box 1540">
              <a:extLst>
                <a:ext uri="{FF2B5EF4-FFF2-40B4-BE49-F238E27FC236}">
                  <a16:creationId xmlns:a16="http://schemas.microsoft.com/office/drawing/2014/main" id="{4F29980A-4DED-4D97-968B-61EEFFBCC46B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9380" y="3046"/>
              <a:ext cx="901" cy="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18000" tIns="10800" rIns="18000" bIns="10800" anchor="t" anchorCtr="0" upright="1">
              <a:noAutofit/>
            </a:bodyPr>
            <a:lstStyle/>
            <a:p>
              <a:pPr marL="0" marR="0">
                <a:spcBef>
                  <a:spcPts val="0"/>
                </a:spcBef>
                <a:spcAft>
                  <a:spcPts val="0"/>
                </a:spcAft>
              </a:pPr>
              <a:r>
                <a:rPr lang="en-GB" sz="3000">
                  <a:solidFill>
                    <a:srgbClr val="00206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Y</a:t>
              </a:r>
              <a:r>
                <a:rPr lang="en-GB" sz="3000" baseline="-25000">
                  <a:solidFill>
                    <a:srgbClr val="00206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a</a:t>
              </a:r>
              <a:endParaRPr lang="en-GB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8128FC57-70E4-4508-A8F4-8E628BE9268A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2903" y="1923"/>
              <a:ext cx="538" cy="3160"/>
              <a:chOff x="9878" y="1418"/>
              <a:chExt cx="360" cy="1800"/>
            </a:xfrm>
          </p:grpSpPr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AEAEDDE6-CD5D-4668-AAE6-34B9BBDD2CA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9878" y="1958"/>
                <a:ext cx="360" cy="720"/>
              </a:xfrm>
              <a:prstGeom prst="rect">
                <a:avLst/>
              </a:prstGeom>
              <a:noFill/>
              <a:ln w="38100">
                <a:solidFill>
                  <a:srgbClr val="C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GB"/>
              </a:p>
            </p:txBody>
          </p:sp>
          <p:cxnSp>
            <p:nvCxnSpPr>
              <p:cNvPr id="28" name="Line 1543">
                <a:extLst>
                  <a:ext uri="{FF2B5EF4-FFF2-40B4-BE49-F238E27FC236}">
                    <a16:creationId xmlns:a16="http://schemas.microsoft.com/office/drawing/2014/main" id="{EAC1B81C-568C-43E6-8EEE-7EFAA34B2BAD}"/>
                  </a:ext>
                </a:extLst>
              </p:cNvPr>
              <p:cNvCxnSpPr>
                <a:cxnSpLocks noChangeAspect="1" noChangeShapeType="1"/>
              </p:cNvCxnSpPr>
              <p:nvPr/>
            </p:nvCxnSpPr>
            <p:spPr bwMode="auto">
              <a:xfrm>
                <a:off x="10058" y="1418"/>
                <a:ext cx="0" cy="540"/>
              </a:xfrm>
              <a:prstGeom prst="line">
                <a:avLst/>
              </a:prstGeom>
              <a:noFill/>
              <a:ln w="38100">
                <a:solidFill>
                  <a:srgbClr val="C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9" name="Line 1544">
                <a:extLst>
                  <a:ext uri="{FF2B5EF4-FFF2-40B4-BE49-F238E27FC236}">
                    <a16:creationId xmlns:a16="http://schemas.microsoft.com/office/drawing/2014/main" id="{9C0CE401-76D2-4139-82FF-6539FE359458}"/>
                  </a:ext>
                </a:extLst>
              </p:cNvPr>
              <p:cNvCxnSpPr>
                <a:cxnSpLocks noChangeAspect="1" noChangeShapeType="1"/>
              </p:cNvCxnSpPr>
              <p:nvPr/>
            </p:nvCxnSpPr>
            <p:spPr bwMode="auto">
              <a:xfrm>
                <a:off x="10058" y="2678"/>
                <a:ext cx="0" cy="540"/>
              </a:xfrm>
              <a:prstGeom prst="line">
                <a:avLst/>
              </a:prstGeom>
              <a:noFill/>
              <a:ln w="38100">
                <a:solidFill>
                  <a:srgbClr val="C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sp>
          <p:nvSpPr>
            <p:cNvPr id="26" name="Text Box 1545">
              <a:extLst>
                <a:ext uri="{FF2B5EF4-FFF2-40B4-BE49-F238E27FC236}">
                  <a16:creationId xmlns:a16="http://schemas.microsoft.com/office/drawing/2014/main" id="{3FCA1606-A6FC-477E-AD1C-3965FB28A00D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13471" y="3043"/>
              <a:ext cx="900" cy="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18000" tIns="10800" rIns="18000" bIns="10800" anchor="t" anchorCtr="0" upright="1">
              <a:noAutofit/>
            </a:bodyPr>
            <a:lstStyle/>
            <a:p>
              <a:pPr marL="0" marR="0">
                <a:spcBef>
                  <a:spcPts val="0"/>
                </a:spcBef>
                <a:spcAft>
                  <a:spcPts val="0"/>
                </a:spcAft>
              </a:pPr>
              <a:r>
                <a:rPr lang="en-GB" sz="3000">
                  <a:solidFill>
                    <a:srgbClr val="00206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Y</a:t>
              </a:r>
              <a:r>
                <a:rPr lang="en-GB" sz="3000" baseline="-25000">
                  <a:solidFill>
                    <a:srgbClr val="00206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b</a:t>
              </a:r>
              <a:endParaRPr lang="en-GB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</p:grpSp>
      <p:sp>
        <p:nvSpPr>
          <p:cNvPr id="33" name="Rectangle 31">
            <a:extLst>
              <a:ext uri="{FF2B5EF4-FFF2-40B4-BE49-F238E27FC236}">
                <a16:creationId xmlns:a16="http://schemas.microsoft.com/office/drawing/2014/main" id="{4CBDAEAC-4392-4810-B316-5EEF8737D0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sp>
        <p:nvSpPr>
          <p:cNvPr id="34" name="Rectangle 39">
            <a:extLst>
              <a:ext uri="{FF2B5EF4-FFF2-40B4-BE49-F238E27FC236}">
                <a16:creationId xmlns:a16="http://schemas.microsoft.com/office/drawing/2014/main" id="{AF0DECE5-E1BE-4462-AF01-99FC829ACA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8125" y="1008245"/>
            <a:ext cx="515498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</a:pP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Find </a:t>
            </a:r>
            <a:r>
              <a:rPr kumimoji="0" lang="en-GB" altLang="en-US" sz="3200" b="0" i="0" u="none" strike="noStrike" cap="none" normalizeH="0" baseline="0" dirty="0" err="1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ABCD</a:t>
            </a: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parameters.</a:t>
            </a:r>
            <a:endParaRPr kumimoji="0" lang="en-GB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5" name="Rectangle 40">
            <a:extLst>
              <a:ext uri="{FF2B5EF4-FFF2-40B4-BE49-F238E27FC236}">
                <a16:creationId xmlns:a16="http://schemas.microsoft.com/office/drawing/2014/main" id="{8E2E1DD0-BDC3-4CCC-AE8F-D5D96D0D3F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15592" y="1755424"/>
            <a:ext cx="195067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altLang="en-US" sz="36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,  B = </a:t>
            </a:r>
            <a:endParaRPr kumimoji="0" lang="en-GB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6" name="Rectangle 41">
            <a:extLst>
              <a:ext uri="{FF2B5EF4-FFF2-40B4-BE49-F238E27FC236}">
                <a16:creationId xmlns:a16="http://schemas.microsoft.com/office/drawing/2014/main" id="{BD631DC9-5156-4A98-AAE3-1766EB51A3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910" y="2904421"/>
            <a:ext cx="1800458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</a:pPr>
            <a:r>
              <a:rPr kumimoji="0" lang="en-GB" altLang="en-US" sz="36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C = </a:t>
            </a:r>
            <a:endParaRPr kumimoji="0" lang="en-GB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7" name="Rectangle 42">
            <a:extLst>
              <a:ext uri="{FF2B5EF4-FFF2-40B4-BE49-F238E27FC236}">
                <a16:creationId xmlns:a16="http://schemas.microsoft.com/office/drawing/2014/main" id="{49B41D21-ED95-48EA-8B03-512CB48BBA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35012" y="2845315"/>
            <a:ext cx="289560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altLang="en-US" sz="36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and  D = </a:t>
            </a:r>
            <a:endParaRPr kumimoji="0" lang="en-GB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8" name="Rectangle 43">
            <a:extLst>
              <a:ext uri="{FF2B5EF4-FFF2-40B4-BE49-F238E27FC236}">
                <a16:creationId xmlns:a16="http://schemas.microsoft.com/office/drawing/2014/main" id="{3489D78A-5B88-4D5A-8290-5534FEF2BE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6045" y="3611063"/>
            <a:ext cx="7942948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</a:pPr>
            <a:r>
              <a:rPr kumimoji="0" lang="en-GB" altLang="en-US" sz="36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[</a:t>
            </a:r>
            <a:r>
              <a:rPr kumimoji="0" lang="en-GB" altLang="en-US" sz="28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For symmetrical network</a:t>
            </a: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, </a:t>
            </a:r>
            <a:r>
              <a:rPr kumimoji="0" lang="en-GB" altLang="en-US" sz="3200" b="0" i="0" u="none" strike="noStrike" cap="none" normalizeH="0" baseline="0" dirty="0" err="1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Y</a:t>
            </a:r>
            <a:r>
              <a:rPr kumimoji="0" lang="en-GB" altLang="en-US" sz="3200" b="0" i="0" u="none" strike="noStrike" cap="none" normalizeH="0" baseline="-30000" dirty="0" err="1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a</a:t>
            </a: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= </a:t>
            </a:r>
            <a:r>
              <a:rPr kumimoji="0" lang="en-GB" altLang="en-US" sz="3200" b="0" i="0" u="none" strike="noStrike" cap="none" normalizeH="0" baseline="0" dirty="0" err="1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Y</a:t>
            </a:r>
            <a:r>
              <a:rPr kumimoji="0" lang="en-GB" altLang="en-US" sz="3200" b="0" i="0" u="none" strike="noStrike" cap="none" normalizeH="0" baseline="-30000" dirty="0" err="1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b</a:t>
            </a: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,  A = D</a:t>
            </a:r>
            <a:r>
              <a:rPr kumimoji="0" lang="en-GB" altLang="en-US" sz="36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].</a:t>
            </a:r>
            <a:endParaRPr kumimoji="0" lang="en-GB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9" name="Rectangle 44">
            <a:extLst>
              <a:ext uri="{FF2B5EF4-FFF2-40B4-BE49-F238E27FC236}">
                <a16:creationId xmlns:a16="http://schemas.microsoft.com/office/drawing/2014/main" id="{2575A2D6-75BD-4A45-B8D7-7B29BDAFB3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0160" y="5493528"/>
            <a:ext cx="58221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altLang="en-US" sz="36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= </a:t>
            </a:r>
            <a:endParaRPr kumimoji="0" lang="en-GB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0" name="Rectangle 45">
            <a:extLst>
              <a:ext uri="{FF2B5EF4-FFF2-40B4-BE49-F238E27FC236}">
                <a16:creationId xmlns:a16="http://schemas.microsoft.com/office/drawing/2014/main" id="{A59ECB69-993E-4F06-B010-356A98BBCC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489" y="6075804"/>
            <a:ext cx="125730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</a:pPr>
            <a:r>
              <a:rPr kumimoji="0" lang="en-GB" altLang="en-US" sz="36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=1</a:t>
            </a:r>
            <a:endParaRPr kumimoji="0" lang="en-GB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1" name="Rectangle 39">
            <a:extLst>
              <a:ext uri="{FF2B5EF4-FFF2-40B4-BE49-F238E27FC236}">
                <a16:creationId xmlns:a16="http://schemas.microsoft.com/office/drawing/2014/main" id="{CEB6E4A1-7379-45C8-AEC2-C410B0BF71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438" y="1793760"/>
            <a:ext cx="1143362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</a:pPr>
            <a:r>
              <a:rPr kumimoji="0" lang="en-GB" altLang="en-US" sz="36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A = </a:t>
            </a:r>
            <a:endParaRPr kumimoji="0" lang="en-GB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2" name="Rectangle 43">
            <a:extLst>
              <a:ext uri="{FF2B5EF4-FFF2-40B4-BE49-F238E27FC236}">
                <a16:creationId xmlns:a16="http://schemas.microsoft.com/office/drawing/2014/main" id="{4F075681-F964-463C-83C2-1F78490954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977" y="4429676"/>
            <a:ext cx="338495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</a:pPr>
            <a:r>
              <a:rPr kumimoji="0" lang="en-GB" altLang="en-US" sz="36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	</a:t>
            </a:r>
            <a:r>
              <a:rPr kumimoji="0" lang="en-GB" altLang="en-US" sz="3600" b="0" i="0" u="none" strike="noStrike" cap="none" normalizeH="0" baseline="0" dirty="0" err="1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A.D</a:t>
            </a:r>
            <a:r>
              <a:rPr kumimoji="0" lang="en-GB" altLang="en-US" sz="36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– </a:t>
            </a:r>
            <a:r>
              <a:rPr kumimoji="0" lang="en-GB" altLang="en-US" sz="3600" b="0" i="0" u="none" strike="noStrike" cap="none" normalizeH="0" baseline="0" dirty="0" err="1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B.C</a:t>
            </a:r>
            <a:r>
              <a:rPr kumimoji="0" lang="en-GB" altLang="en-US" sz="36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 =  </a:t>
            </a:r>
            <a:endParaRPr kumimoji="0" lang="en-GB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42609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B1BBAC-DEE1-4CF9-9521-6921611D2B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15" y="549483"/>
            <a:ext cx="10924085" cy="482745"/>
          </a:xfrm>
        </p:spPr>
        <p:txBody>
          <a:bodyPr>
            <a:noAutofit/>
          </a:bodyPr>
          <a:lstStyle/>
          <a:p>
            <a:r>
              <a:rPr lang="en-GB" dirty="0"/>
              <a:t>(d) Hybrid Parameters (h-parameters)</a:t>
            </a:r>
          </a:p>
        </p:txBody>
      </p:sp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6AE2DB38-265A-4EEC-82B9-F061FDBEB7F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12944176"/>
              </p:ext>
            </p:extLst>
          </p:nvPr>
        </p:nvGraphicFramePr>
        <p:xfrm>
          <a:off x="1942237" y="3570293"/>
          <a:ext cx="5562812" cy="19981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2374" r:id="rId3" imgW="1346200" imgH="482600" progId="Equation.3">
                  <p:embed/>
                </p:oleObj>
              </mc:Choice>
              <mc:Fallback>
                <p:oleObj r:id="rId3" imgW="1346200" imgH="48260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42237" y="3570293"/>
                        <a:ext cx="5562812" cy="199817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Group 3">
            <a:extLst>
              <a:ext uri="{FF2B5EF4-FFF2-40B4-BE49-F238E27FC236}">
                <a16:creationId xmlns:a16="http://schemas.microsoft.com/office/drawing/2014/main" id="{9BF60B74-1981-449A-A861-9E75AD681419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795145" y="913130"/>
            <a:ext cx="7251065" cy="2084705"/>
            <a:chOff x="6035" y="7868"/>
            <a:chExt cx="4560" cy="1311"/>
          </a:xfrm>
        </p:grpSpPr>
        <p:sp>
          <p:nvSpPr>
            <p:cNvPr id="5" name="Text Box 2348">
              <a:extLst>
                <a:ext uri="{FF2B5EF4-FFF2-40B4-BE49-F238E27FC236}">
                  <a16:creationId xmlns:a16="http://schemas.microsoft.com/office/drawing/2014/main" id="{9946CD9A-63CE-419A-81EE-B7CCFC819A26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7707" y="8039"/>
              <a:ext cx="1122" cy="1140"/>
            </a:xfrm>
            <a:prstGeom prst="rect">
              <a:avLst/>
            </a:prstGeom>
            <a:solidFill>
              <a:srgbClr val="FFFFFF"/>
            </a:solidFill>
            <a:ln w="38100">
              <a:solidFill>
                <a:srgbClr val="C00000"/>
              </a:solidFill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marL="0" marR="0" algn="ctr">
                <a:spcBef>
                  <a:spcPts val="0"/>
                </a:spcBef>
                <a:spcAft>
                  <a:spcPts val="0"/>
                </a:spcAft>
              </a:pPr>
              <a:r>
                <a:rPr lang="en-GB" sz="340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Linear</a:t>
              </a:r>
              <a:endParaRPr lang="en-GB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  <a:p>
              <a:pPr marL="0" marR="0" algn="ctr">
                <a:spcBef>
                  <a:spcPts val="0"/>
                </a:spcBef>
                <a:spcAft>
                  <a:spcPts val="0"/>
                </a:spcAft>
              </a:pPr>
              <a:r>
                <a:rPr lang="en-GB" sz="340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Passive</a:t>
              </a:r>
              <a:endParaRPr lang="en-GB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  <a:p>
              <a:pPr marL="0" marR="0" algn="ctr">
                <a:spcBef>
                  <a:spcPts val="0"/>
                </a:spcBef>
                <a:spcAft>
                  <a:spcPts val="0"/>
                </a:spcAft>
              </a:pPr>
              <a:r>
                <a:rPr lang="en-GB" sz="340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Network</a:t>
              </a:r>
              <a:endParaRPr lang="en-GB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cxnSp>
          <p:nvCxnSpPr>
            <p:cNvPr id="6" name="Line 2349">
              <a:extLst>
                <a:ext uri="{FF2B5EF4-FFF2-40B4-BE49-F238E27FC236}">
                  <a16:creationId xmlns:a16="http://schemas.microsoft.com/office/drawing/2014/main" id="{A668E3EA-FA22-4E8F-8480-1F366E8532FA}"/>
                </a:ext>
              </a:extLst>
            </p:cNvPr>
            <p:cNvCxnSpPr>
              <a:cxnSpLocks noChangeAspect="1" noChangeShapeType="1"/>
            </p:cNvCxnSpPr>
            <p:nvPr/>
          </p:nvCxnSpPr>
          <p:spPr bwMode="auto">
            <a:xfrm>
              <a:off x="6469" y="8267"/>
              <a:ext cx="503" cy="0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 type="oval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" name="Line 2350">
              <a:extLst>
                <a:ext uri="{FF2B5EF4-FFF2-40B4-BE49-F238E27FC236}">
                  <a16:creationId xmlns:a16="http://schemas.microsoft.com/office/drawing/2014/main" id="{C228DB1B-8975-46A9-B2F2-C589E9E0495F}"/>
                </a:ext>
              </a:extLst>
            </p:cNvPr>
            <p:cNvCxnSpPr>
              <a:cxnSpLocks noChangeAspect="1" noChangeShapeType="1"/>
            </p:cNvCxnSpPr>
            <p:nvPr/>
          </p:nvCxnSpPr>
          <p:spPr bwMode="auto">
            <a:xfrm>
              <a:off x="6972" y="8267"/>
              <a:ext cx="735" cy="0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" name="Line 2351">
              <a:extLst>
                <a:ext uri="{FF2B5EF4-FFF2-40B4-BE49-F238E27FC236}">
                  <a16:creationId xmlns:a16="http://schemas.microsoft.com/office/drawing/2014/main" id="{704F2BB6-E900-45E4-9E67-F7D608FEEF5B}"/>
                </a:ext>
              </a:extLst>
            </p:cNvPr>
            <p:cNvCxnSpPr>
              <a:cxnSpLocks noChangeAspect="1" noChangeShapeType="1"/>
            </p:cNvCxnSpPr>
            <p:nvPr/>
          </p:nvCxnSpPr>
          <p:spPr bwMode="auto">
            <a:xfrm flipH="1">
              <a:off x="9564" y="8267"/>
              <a:ext cx="503" cy="0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 type="oval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" name="Line 2352">
              <a:extLst>
                <a:ext uri="{FF2B5EF4-FFF2-40B4-BE49-F238E27FC236}">
                  <a16:creationId xmlns:a16="http://schemas.microsoft.com/office/drawing/2014/main" id="{6F11CD5D-A96C-445B-B45D-9BFD53CE6B89}"/>
                </a:ext>
              </a:extLst>
            </p:cNvPr>
            <p:cNvCxnSpPr>
              <a:cxnSpLocks noChangeAspect="1" noChangeShapeType="1"/>
            </p:cNvCxnSpPr>
            <p:nvPr/>
          </p:nvCxnSpPr>
          <p:spPr bwMode="auto">
            <a:xfrm flipH="1">
              <a:off x="8829" y="8267"/>
              <a:ext cx="735" cy="0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" name="Line 2353">
              <a:extLst>
                <a:ext uri="{FF2B5EF4-FFF2-40B4-BE49-F238E27FC236}">
                  <a16:creationId xmlns:a16="http://schemas.microsoft.com/office/drawing/2014/main" id="{ECCB1BF5-7B85-4DFA-A6B0-8418458BA900}"/>
                </a:ext>
              </a:extLst>
            </p:cNvPr>
            <p:cNvCxnSpPr>
              <a:cxnSpLocks noChangeAspect="1" noChangeShapeType="1"/>
            </p:cNvCxnSpPr>
            <p:nvPr/>
          </p:nvCxnSpPr>
          <p:spPr bwMode="auto">
            <a:xfrm>
              <a:off x="6469" y="9008"/>
              <a:ext cx="1238" cy="0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 type="oval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" name="Line 2354">
              <a:extLst>
                <a:ext uri="{FF2B5EF4-FFF2-40B4-BE49-F238E27FC236}">
                  <a16:creationId xmlns:a16="http://schemas.microsoft.com/office/drawing/2014/main" id="{4F8C9381-38CC-4B48-AE46-F423DDCF4BA6}"/>
                </a:ext>
              </a:extLst>
            </p:cNvPr>
            <p:cNvCxnSpPr>
              <a:cxnSpLocks noChangeAspect="1" noChangeShapeType="1"/>
            </p:cNvCxnSpPr>
            <p:nvPr/>
          </p:nvCxnSpPr>
          <p:spPr bwMode="auto">
            <a:xfrm>
              <a:off x="8829" y="9008"/>
              <a:ext cx="1238" cy="0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2" name="Text Box 2355">
              <a:extLst>
                <a:ext uri="{FF2B5EF4-FFF2-40B4-BE49-F238E27FC236}">
                  <a16:creationId xmlns:a16="http://schemas.microsoft.com/office/drawing/2014/main" id="{22175A93-725A-46D5-94DB-05F09FD64FFD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6856" y="7907"/>
              <a:ext cx="244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18000" tIns="10800" rIns="18000" bIns="10800" anchor="t" anchorCtr="0" upright="1">
              <a:noAutofit/>
            </a:bodyPr>
            <a:lstStyle/>
            <a:p>
              <a:pPr marL="0" marR="0">
                <a:spcBef>
                  <a:spcPts val="0"/>
                </a:spcBef>
                <a:spcAft>
                  <a:spcPts val="0"/>
                </a:spcAft>
              </a:pPr>
              <a:r>
                <a:rPr lang="en-GB" sz="3000">
                  <a:solidFill>
                    <a:srgbClr val="00206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I</a:t>
              </a:r>
              <a:r>
                <a:rPr lang="en-GB" sz="3000" baseline="-25000">
                  <a:solidFill>
                    <a:srgbClr val="00206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1</a:t>
              </a:r>
              <a:endParaRPr lang="en-GB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13" name="Text Box 2356">
              <a:extLst>
                <a:ext uri="{FF2B5EF4-FFF2-40B4-BE49-F238E27FC236}">
                  <a16:creationId xmlns:a16="http://schemas.microsoft.com/office/drawing/2014/main" id="{42A739E6-E1E5-42D9-A735-5E39ECC11B0B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9514" y="7868"/>
              <a:ext cx="244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18000" tIns="10800" rIns="18000" bIns="10800" anchor="t" anchorCtr="0" upright="1">
              <a:noAutofit/>
            </a:bodyPr>
            <a:lstStyle/>
            <a:p>
              <a:pPr marL="0" marR="0">
                <a:spcBef>
                  <a:spcPts val="0"/>
                </a:spcBef>
                <a:spcAft>
                  <a:spcPts val="0"/>
                </a:spcAft>
              </a:pPr>
              <a:r>
                <a:rPr lang="en-GB" sz="3000">
                  <a:solidFill>
                    <a:srgbClr val="00206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I</a:t>
              </a:r>
              <a:r>
                <a:rPr lang="en-GB" sz="3000" baseline="-25000">
                  <a:solidFill>
                    <a:srgbClr val="00206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2</a:t>
              </a:r>
              <a:endParaRPr lang="en-GB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14" name="Text Box 2357">
              <a:extLst>
                <a:ext uri="{FF2B5EF4-FFF2-40B4-BE49-F238E27FC236}">
                  <a16:creationId xmlns:a16="http://schemas.microsoft.com/office/drawing/2014/main" id="{320C9F9E-F32F-474F-BC1A-80C4B0FF30CF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6035" y="8324"/>
              <a:ext cx="330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18000" tIns="10800" rIns="18000" bIns="10800" anchor="t" anchorCtr="0" upright="1">
              <a:noAutofit/>
            </a:bodyPr>
            <a:lstStyle/>
            <a:p>
              <a:pPr marL="0" marR="0">
                <a:spcBef>
                  <a:spcPts val="0"/>
                </a:spcBef>
                <a:spcAft>
                  <a:spcPts val="0"/>
                </a:spcAft>
              </a:pPr>
              <a:r>
                <a:rPr lang="en-GB" sz="3000">
                  <a:solidFill>
                    <a:srgbClr val="00206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V</a:t>
              </a:r>
              <a:r>
                <a:rPr lang="en-GB" sz="3000" baseline="-25000">
                  <a:solidFill>
                    <a:srgbClr val="00206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1</a:t>
              </a:r>
              <a:endParaRPr lang="en-GB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cxnSp>
          <p:nvCxnSpPr>
            <p:cNvPr id="15" name="Line 2358">
              <a:extLst>
                <a:ext uri="{FF2B5EF4-FFF2-40B4-BE49-F238E27FC236}">
                  <a16:creationId xmlns:a16="http://schemas.microsoft.com/office/drawing/2014/main" id="{6D3A1588-42AA-4CE4-82E7-56B43B750096}"/>
                </a:ext>
              </a:extLst>
            </p:cNvPr>
            <p:cNvCxnSpPr>
              <a:cxnSpLocks noChangeAspect="1" noChangeShapeType="1"/>
            </p:cNvCxnSpPr>
            <p:nvPr/>
          </p:nvCxnSpPr>
          <p:spPr bwMode="auto">
            <a:xfrm>
              <a:off x="6392" y="8372"/>
              <a:ext cx="0" cy="540"/>
            </a:xfrm>
            <a:prstGeom prst="line">
              <a:avLst/>
            </a:prstGeom>
            <a:noFill/>
            <a:ln w="38100">
              <a:solidFill>
                <a:srgbClr val="002060"/>
              </a:solidFill>
              <a:round/>
              <a:headEnd type="arrow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6" name="Text Box 2359">
              <a:extLst>
                <a:ext uri="{FF2B5EF4-FFF2-40B4-BE49-F238E27FC236}">
                  <a16:creationId xmlns:a16="http://schemas.microsoft.com/office/drawing/2014/main" id="{C0A978F0-E817-4D1B-8316-C228964AAECF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10249" y="8438"/>
              <a:ext cx="346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18000" tIns="10800" rIns="18000" bIns="10800" anchor="t" anchorCtr="0" upright="1">
              <a:noAutofit/>
            </a:bodyPr>
            <a:lstStyle/>
            <a:p>
              <a:pPr marL="0" marR="0">
                <a:spcBef>
                  <a:spcPts val="0"/>
                </a:spcBef>
                <a:spcAft>
                  <a:spcPts val="0"/>
                </a:spcAft>
              </a:pPr>
              <a:r>
                <a:rPr lang="en-GB" sz="3000">
                  <a:solidFill>
                    <a:srgbClr val="00206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V</a:t>
              </a:r>
              <a:r>
                <a:rPr lang="en-GB" sz="3000" baseline="-25000">
                  <a:solidFill>
                    <a:srgbClr val="00206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2</a:t>
              </a:r>
              <a:endParaRPr lang="en-GB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cxnSp>
          <p:nvCxnSpPr>
            <p:cNvPr id="17" name="Line 2360">
              <a:extLst>
                <a:ext uri="{FF2B5EF4-FFF2-40B4-BE49-F238E27FC236}">
                  <a16:creationId xmlns:a16="http://schemas.microsoft.com/office/drawing/2014/main" id="{B98DE707-EB67-4F41-A006-EA661BC91485}"/>
                </a:ext>
              </a:extLst>
            </p:cNvPr>
            <p:cNvCxnSpPr>
              <a:cxnSpLocks noChangeAspect="1" noChangeShapeType="1"/>
            </p:cNvCxnSpPr>
            <p:nvPr/>
          </p:nvCxnSpPr>
          <p:spPr bwMode="auto">
            <a:xfrm>
              <a:off x="10145" y="8381"/>
              <a:ext cx="0" cy="540"/>
            </a:xfrm>
            <a:prstGeom prst="line">
              <a:avLst/>
            </a:prstGeom>
            <a:noFill/>
            <a:ln w="38100">
              <a:solidFill>
                <a:srgbClr val="002060"/>
              </a:solidFill>
              <a:round/>
              <a:headEnd type="arrow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8" name="Text Box 2361">
              <a:extLst>
                <a:ext uri="{FF2B5EF4-FFF2-40B4-BE49-F238E27FC236}">
                  <a16:creationId xmlns:a16="http://schemas.microsoft.com/office/drawing/2014/main" id="{84EAA74F-C5F7-4F7B-B70E-020071824A96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6605" y="8438"/>
              <a:ext cx="754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18000" tIns="10800" rIns="18000" bIns="10800" anchor="t" anchorCtr="0" upright="1">
              <a:noAutofit/>
            </a:bodyPr>
            <a:lstStyle/>
            <a:p>
              <a:pPr marL="0" marR="0">
                <a:spcBef>
                  <a:spcPts val="0"/>
                </a:spcBef>
                <a:spcAft>
                  <a:spcPts val="0"/>
                </a:spcAft>
              </a:pPr>
              <a:r>
                <a:rPr lang="en-GB" sz="3000" i="1">
                  <a:solidFill>
                    <a:srgbClr val="00206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Port 1</a:t>
              </a:r>
              <a:endParaRPr lang="en-GB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19" name="Text Box 2362">
              <a:extLst>
                <a:ext uri="{FF2B5EF4-FFF2-40B4-BE49-F238E27FC236}">
                  <a16:creationId xmlns:a16="http://schemas.microsoft.com/office/drawing/2014/main" id="{D696F725-2117-4788-9397-8B12A4CFF398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9284" y="8438"/>
              <a:ext cx="706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18000" tIns="10800" rIns="18000" bIns="10800" anchor="t" anchorCtr="0" upright="1">
              <a:noAutofit/>
            </a:bodyPr>
            <a:lstStyle/>
            <a:p>
              <a:pPr marL="0" marR="0">
                <a:spcBef>
                  <a:spcPts val="0"/>
                </a:spcBef>
                <a:spcAft>
                  <a:spcPts val="0"/>
                </a:spcAft>
              </a:pPr>
              <a:r>
                <a:rPr lang="en-GB" sz="3000" b="1" i="1">
                  <a:solidFill>
                    <a:srgbClr val="002060"/>
                  </a:solidFill>
                  <a:effectLst/>
                  <a:latin typeface="Times New Roman" panose="02020603050405020304" pitchFamily="18" charset="0"/>
                </a:rPr>
                <a:t>Port 2</a:t>
              </a:r>
              <a:endParaRPr lang="en-GB" sz="1200" b="1" i="1">
                <a:effectLst/>
                <a:latin typeface="Times New Roman" panose="02020603050405020304" pitchFamily="18" charset="0"/>
              </a:endParaRPr>
            </a:p>
          </p:txBody>
        </p:sp>
      </p:grpSp>
      <p:sp>
        <p:nvSpPr>
          <p:cNvPr id="20" name="Rectangle 18">
            <a:extLst>
              <a:ext uri="{FF2B5EF4-FFF2-40B4-BE49-F238E27FC236}">
                <a16:creationId xmlns:a16="http://schemas.microsoft.com/office/drawing/2014/main" id="{90AE8AA1-715B-4B9D-97A6-43049210A4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sp>
        <p:nvSpPr>
          <p:cNvPr id="21" name="Rectangle 26">
            <a:extLst>
              <a:ext uri="{FF2B5EF4-FFF2-40B4-BE49-F238E27FC236}">
                <a16:creationId xmlns:a16="http://schemas.microsoft.com/office/drawing/2014/main" id="{AF2F42FD-5C01-4419-8163-6885CE02C3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027830"/>
            <a:ext cx="10151659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  <a:tab pos="8686800" algn="r"/>
                <a:tab pos="9486900" algn="r"/>
                <a:tab pos="99441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  <a:tab pos="8686800" algn="r"/>
                <a:tab pos="9486900" algn="r"/>
                <a:tab pos="99441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  <a:tab pos="8686800" algn="r"/>
                <a:tab pos="9486900" algn="r"/>
                <a:tab pos="99441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  <a:tab pos="8686800" algn="r"/>
                <a:tab pos="9486900" algn="r"/>
                <a:tab pos="99441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  <a:tab pos="8686800" algn="r"/>
                <a:tab pos="9486900" algn="r"/>
                <a:tab pos="99441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  <a:tab pos="8686800" algn="r"/>
                <a:tab pos="9486900" algn="r"/>
                <a:tab pos="99441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  <a:tab pos="8686800" algn="r"/>
                <a:tab pos="9486900" algn="r"/>
                <a:tab pos="99441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  <a:tab pos="8686800" algn="r"/>
                <a:tab pos="9486900" algn="r"/>
                <a:tab pos="99441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  <a:tab pos="8686800" algn="r"/>
                <a:tab pos="9486900" algn="r"/>
                <a:tab pos="99441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  <a:tab pos="8686800" algn="r"/>
                <a:tab pos="9486900" algn="r"/>
                <a:tab pos="9944100" algn="r"/>
              </a:tabLst>
            </a:pP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ea typeface="Times New Roman" panose="02020603050405020304" pitchFamily="18" charset="0"/>
              </a:rPr>
              <a:t>The hybrid parameter matrix may be written as</a:t>
            </a:r>
            <a:endParaRPr kumimoji="0" lang="en-GB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22" name="Rectangle 27">
            <a:extLst>
              <a:ext uri="{FF2B5EF4-FFF2-40B4-BE49-F238E27FC236}">
                <a16:creationId xmlns:a16="http://schemas.microsoft.com/office/drawing/2014/main" id="{A224981B-FFF7-4D8F-AD86-6C2755C360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323582"/>
            <a:ext cx="10748204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h-parameters can be defined as in other examples, and are commonly used in some electronic circuit analysis.</a:t>
            </a: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156240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55">
            <a:extLst>
              <a:ext uri="{FF2B5EF4-FFF2-40B4-BE49-F238E27FC236}">
                <a16:creationId xmlns:a16="http://schemas.microsoft.com/office/drawing/2014/main" id="{87CB37F8-333E-4BA3-BFD5-5D5E21A1D8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452" y="731898"/>
            <a:ext cx="9848336" cy="61863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</a:pPr>
            <a:r>
              <a:rPr kumimoji="0" lang="en-GB" altLang="en-US" sz="3200" b="0" i="1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(a) Series connection of two-port networks</a:t>
            </a:r>
            <a:endParaRPr kumimoji="0" lang="en-GB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</a:pPr>
            <a:endParaRPr kumimoji="0" lang="en-GB" altLang="en-US" sz="2800" b="0" i="0" u="none" strike="noStrike" cap="none" normalizeH="0" baseline="0" dirty="0">
              <a:ln>
                <a:noFill/>
              </a:ln>
              <a:solidFill>
                <a:srgbClr val="002060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</a:pPr>
            <a:endParaRPr lang="en-GB" altLang="en-US" sz="2800" dirty="0">
              <a:solidFill>
                <a:srgbClr val="002060"/>
              </a:solidFill>
              <a:ea typeface="Times New Roman" panose="02020603050405020304" pitchFamily="18" charset="0"/>
            </a:endParaRP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</a:pPr>
            <a:endParaRPr kumimoji="0" lang="en-GB" altLang="en-US" sz="2800" b="0" i="0" u="none" strike="noStrike" cap="none" normalizeH="0" baseline="0" dirty="0">
              <a:ln>
                <a:noFill/>
              </a:ln>
              <a:solidFill>
                <a:srgbClr val="002060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</a:pPr>
            <a:endParaRPr lang="en-GB" altLang="en-US" sz="2800" dirty="0">
              <a:solidFill>
                <a:srgbClr val="002060"/>
              </a:solidFill>
              <a:ea typeface="Times New Roman" panose="02020603050405020304" pitchFamily="18" charset="0"/>
            </a:endParaRP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</a:pPr>
            <a:endParaRPr kumimoji="0" lang="en-GB" altLang="en-US" sz="2800" b="0" i="0" u="none" strike="noStrike" cap="none" normalizeH="0" baseline="0" dirty="0">
              <a:ln>
                <a:noFill/>
              </a:ln>
              <a:solidFill>
                <a:srgbClr val="002060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</a:pPr>
            <a:endParaRPr lang="en-GB" altLang="en-US" sz="2800" dirty="0">
              <a:solidFill>
                <a:srgbClr val="002060"/>
              </a:solidFill>
              <a:ea typeface="Times New Roman" panose="02020603050405020304" pitchFamily="18" charset="0"/>
            </a:endParaRP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</a:pPr>
            <a:endParaRPr kumimoji="0" lang="en-GB" altLang="en-US" sz="2800" b="0" i="0" u="none" strike="noStrike" cap="none" normalizeH="0" baseline="0" dirty="0">
              <a:ln>
                <a:noFill/>
              </a:ln>
              <a:solidFill>
                <a:srgbClr val="002060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</a:pPr>
            <a:endParaRPr kumimoji="0" lang="en-GB" altLang="en-US" sz="2800" b="0" i="0" u="none" strike="noStrike" cap="none" normalizeH="0" baseline="0" dirty="0">
              <a:ln>
                <a:noFill/>
              </a:ln>
              <a:solidFill>
                <a:srgbClr val="002060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743200" algn="ctr"/>
                <a:tab pos="5486400" algn="r"/>
              </a:tabLst>
            </a:pPr>
            <a:r>
              <a:rPr kumimoji="0" lang="en-GB" altLang="en-US" sz="28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Series properties are applied to each port</a:t>
            </a:r>
            <a:r>
              <a:rPr kumimoji="0" lang="en-GB" altLang="en-US" sz="36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	</a:t>
            </a:r>
            <a:endParaRPr kumimoji="0" lang="en-GB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54000" algn="r"/>
                <a:tab pos="469900" algn="r"/>
                <a:tab pos="687388" algn="r"/>
                <a:tab pos="2743200" algn="l"/>
                <a:tab pos="5486400" algn="r"/>
              </a:tabLst>
            </a:pPr>
            <a:r>
              <a:rPr kumimoji="0" lang="en-GB" altLang="en-US" sz="36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	</a:t>
            </a:r>
            <a:r>
              <a:rPr kumimoji="0" lang="en-GB" altLang="en-US" sz="30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at port 1,  I</a:t>
            </a:r>
            <a:r>
              <a:rPr kumimoji="0" lang="en-GB" altLang="en-US" sz="3000" b="0" i="0" u="none" strike="noStrike" cap="none" normalizeH="0" baseline="-3000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r1</a:t>
            </a:r>
            <a:r>
              <a:rPr kumimoji="0" lang="en-GB" altLang="en-US" sz="30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= I</a:t>
            </a:r>
            <a:r>
              <a:rPr kumimoji="0" lang="en-GB" altLang="en-US" sz="3000" b="0" i="0" u="none" strike="noStrike" cap="none" normalizeH="0" baseline="-3000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s1</a:t>
            </a:r>
            <a:r>
              <a:rPr kumimoji="0" lang="en-GB" altLang="en-US" sz="30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= I</a:t>
            </a:r>
            <a:r>
              <a:rPr kumimoji="0" lang="en-GB" altLang="en-US" sz="3000" b="0" i="0" u="none" strike="noStrike" cap="none" normalizeH="0" baseline="-3000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1</a:t>
            </a:r>
            <a:r>
              <a:rPr kumimoji="0" lang="en-GB" altLang="en-US" sz="30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,    and     V</a:t>
            </a:r>
            <a:r>
              <a:rPr kumimoji="0" lang="en-GB" altLang="en-US" sz="3000" b="0" i="0" u="none" strike="noStrike" cap="none" normalizeH="0" baseline="-3000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r1</a:t>
            </a:r>
            <a:r>
              <a:rPr kumimoji="0" lang="en-GB" altLang="en-US" sz="30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+ V</a:t>
            </a:r>
            <a:r>
              <a:rPr kumimoji="0" lang="en-GB" altLang="en-US" sz="3000" b="0" i="0" u="none" strike="noStrike" cap="none" normalizeH="0" baseline="-3000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s1</a:t>
            </a:r>
            <a:r>
              <a:rPr kumimoji="0" lang="en-GB" altLang="en-US" sz="30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= V</a:t>
            </a:r>
            <a:r>
              <a:rPr kumimoji="0" lang="en-GB" altLang="en-US" sz="3000" b="0" i="0" u="none" strike="noStrike" cap="none" normalizeH="0" baseline="-3000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1</a:t>
            </a:r>
            <a:r>
              <a:rPr kumimoji="0" lang="en-GB" altLang="en-US" sz="30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endParaRPr kumimoji="0" lang="en-GB" altLang="en-US" sz="3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54000" algn="r"/>
                <a:tab pos="469900" algn="r"/>
                <a:tab pos="687388" algn="r"/>
                <a:tab pos="2333625" algn="l"/>
                <a:tab pos="5486400" algn="r"/>
              </a:tabLst>
            </a:pPr>
            <a:r>
              <a:rPr kumimoji="0" lang="en-GB" altLang="en-US" sz="30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	at port 2		I</a:t>
            </a:r>
            <a:r>
              <a:rPr kumimoji="0" lang="en-GB" altLang="en-US" sz="3000" b="0" i="0" u="none" strike="noStrike" cap="none" normalizeH="0" baseline="-3000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r2</a:t>
            </a:r>
            <a:r>
              <a:rPr kumimoji="0" lang="en-GB" altLang="en-US" sz="30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= I</a:t>
            </a:r>
            <a:r>
              <a:rPr kumimoji="0" lang="en-GB" altLang="en-US" sz="3000" b="0" i="0" u="none" strike="noStrike" cap="none" normalizeH="0" baseline="-3000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s2</a:t>
            </a:r>
            <a:r>
              <a:rPr kumimoji="0" lang="en-GB" altLang="en-US" sz="30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= I</a:t>
            </a:r>
            <a:r>
              <a:rPr kumimoji="0" lang="en-GB" altLang="en-US" sz="3000" b="0" i="0" u="none" strike="noStrike" cap="none" normalizeH="0" baseline="-3000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2</a:t>
            </a:r>
            <a:r>
              <a:rPr kumimoji="0" lang="en-GB" altLang="en-US" sz="30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,    and     V</a:t>
            </a:r>
            <a:r>
              <a:rPr kumimoji="0" lang="en-GB" altLang="en-US" sz="3000" b="0" i="0" u="none" strike="noStrike" cap="none" normalizeH="0" baseline="-3000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r2</a:t>
            </a:r>
            <a:r>
              <a:rPr kumimoji="0" lang="en-GB" altLang="en-US" sz="30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+ V</a:t>
            </a:r>
            <a:r>
              <a:rPr kumimoji="0" lang="en-GB" altLang="en-US" sz="3000" b="0" i="0" u="none" strike="noStrike" cap="none" normalizeH="0" baseline="-3000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s2</a:t>
            </a:r>
            <a:r>
              <a:rPr kumimoji="0" lang="en-GB" altLang="en-US" sz="30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= V</a:t>
            </a:r>
            <a:r>
              <a:rPr kumimoji="0" lang="en-GB" altLang="en-US" sz="3000" b="0" i="0" u="none" strike="noStrike" cap="none" normalizeH="0" baseline="-3000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2</a:t>
            </a:r>
            <a:endParaRPr kumimoji="0" lang="en-GB" altLang="en-US" sz="3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</a:pP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	[Z] =  [</a:t>
            </a:r>
            <a:r>
              <a:rPr kumimoji="0" lang="en-US" altLang="en-US" sz="3000" b="0" i="0" u="none" strike="noStrike" cap="none" normalizeH="0" baseline="0" dirty="0" err="1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Z</a:t>
            </a:r>
            <a:r>
              <a:rPr kumimoji="0" lang="en-US" altLang="en-US" sz="3000" b="0" i="0" u="none" strike="noStrike" cap="none" normalizeH="0" baseline="-30000" dirty="0" err="1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r</a:t>
            </a: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]  +  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[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Z</a:t>
            </a:r>
            <a:r>
              <a:rPr kumimoji="0" lang="en-US" altLang="en-US" sz="3200" b="0" i="0" u="none" strike="noStrike" cap="none" normalizeH="0" baseline="-30000" dirty="0" err="1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]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B1BBAC-DEE1-4CF9-9521-6921611D2B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15" y="429168"/>
            <a:ext cx="10924085" cy="482745"/>
          </a:xfrm>
        </p:spPr>
        <p:txBody>
          <a:bodyPr>
            <a:noAutofit/>
          </a:bodyPr>
          <a:lstStyle/>
          <a:p>
            <a:r>
              <a:rPr lang="en-GB" dirty="0"/>
              <a:t>Interconnection of two-port networks</a:t>
            </a:r>
          </a:p>
        </p:txBody>
      </p:sp>
      <p:sp>
        <p:nvSpPr>
          <p:cNvPr id="3" name="Rectangle 38">
            <a:extLst>
              <a:ext uri="{FF2B5EF4-FFF2-40B4-BE49-F238E27FC236}">
                <a16:creationId xmlns:a16="http://schemas.microsoft.com/office/drawing/2014/main" id="{820B97E0-D7AC-41BC-974A-8720D44C51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8F0A3E04-C04F-4027-A3DD-F69CF11993EC}"/>
              </a:ext>
            </a:extLst>
          </p:cNvPr>
          <p:cNvGrpSpPr>
            <a:grpSpLocks/>
          </p:cNvGrpSpPr>
          <p:nvPr/>
        </p:nvGrpSpPr>
        <p:grpSpPr bwMode="auto">
          <a:xfrm>
            <a:off x="554990" y="1226587"/>
            <a:ext cx="9585325" cy="3495040"/>
            <a:chOff x="5351" y="905"/>
            <a:chExt cx="5985" cy="2736"/>
          </a:xfrm>
        </p:grpSpPr>
        <p:sp>
          <p:nvSpPr>
            <p:cNvPr id="5" name="Text Box 3224">
              <a:extLst>
                <a:ext uri="{FF2B5EF4-FFF2-40B4-BE49-F238E27FC236}">
                  <a16:creationId xmlns:a16="http://schemas.microsoft.com/office/drawing/2014/main" id="{B1F4E0C5-F08A-4A15-8315-DDB36457AE8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07" y="1076"/>
              <a:ext cx="1122" cy="1140"/>
            </a:xfrm>
            <a:prstGeom prst="rect">
              <a:avLst/>
            </a:prstGeom>
            <a:solidFill>
              <a:srgbClr val="FFFFFF"/>
            </a:solidFill>
            <a:ln w="38100">
              <a:solidFill>
                <a:srgbClr val="C00000"/>
              </a:solidFill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marL="0" marR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GB" sz="260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Linear</a:t>
              </a:r>
              <a:endParaRPr lang="en-GB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  <a:p>
              <a:pPr marL="0" marR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GB" sz="260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Passive</a:t>
              </a:r>
              <a:endParaRPr lang="en-GB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  <a:p>
              <a:pPr marL="0" marR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GB" sz="260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Network</a:t>
              </a:r>
              <a:endParaRPr lang="en-GB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  <a:p>
              <a:pPr marL="0" marR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GB" sz="2800" b="1" i="1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r</a:t>
              </a:r>
              <a:endParaRPr lang="en-GB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cxnSp>
          <p:nvCxnSpPr>
            <p:cNvPr id="6" name="Line 3225">
              <a:extLst>
                <a:ext uri="{FF2B5EF4-FFF2-40B4-BE49-F238E27FC236}">
                  <a16:creationId xmlns:a16="http://schemas.microsoft.com/office/drawing/2014/main" id="{A30139F6-4699-4B70-ADAD-5BDDEF65E1F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6469" y="1304"/>
              <a:ext cx="503" cy="0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 type="oval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" name="Line 3226">
              <a:extLst>
                <a:ext uri="{FF2B5EF4-FFF2-40B4-BE49-F238E27FC236}">
                  <a16:creationId xmlns:a16="http://schemas.microsoft.com/office/drawing/2014/main" id="{777F049D-9704-4B39-A19B-F2D49CB1360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6972" y="1304"/>
              <a:ext cx="735" cy="0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" name="Line 3227">
              <a:extLst>
                <a:ext uri="{FF2B5EF4-FFF2-40B4-BE49-F238E27FC236}">
                  <a16:creationId xmlns:a16="http://schemas.microsoft.com/office/drawing/2014/main" id="{DE2FFFA4-368D-4B18-9892-223B3DC65B17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9564" y="1304"/>
              <a:ext cx="503" cy="0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 type="oval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" name="Line 3228">
              <a:extLst>
                <a:ext uri="{FF2B5EF4-FFF2-40B4-BE49-F238E27FC236}">
                  <a16:creationId xmlns:a16="http://schemas.microsoft.com/office/drawing/2014/main" id="{8551A465-590F-4E88-8AF1-797E3EB3D05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8829" y="1304"/>
              <a:ext cx="735" cy="0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" name="Line 3229">
              <a:extLst>
                <a:ext uri="{FF2B5EF4-FFF2-40B4-BE49-F238E27FC236}">
                  <a16:creationId xmlns:a16="http://schemas.microsoft.com/office/drawing/2014/main" id="{2E59DA25-F9EF-44DA-852C-1AFA3EE287A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6843" y="2045"/>
              <a:ext cx="864" cy="0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 type="oval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" name="Line 3230">
              <a:extLst>
                <a:ext uri="{FF2B5EF4-FFF2-40B4-BE49-F238E27FC236}">
                  <a16:creationId xmlns:a16="http://schemas.microsoft.com/office/drawing/2014/main" id="{8E2E73E4-CE96-4CD2-95F2-7672714EE10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8829" y="2045"/>
              <a:ext cx="894" cy="0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2" name="Text Box 3231">
              <a:extLst>
                <a:ext uri="{FF2B5EF4-FFF2-40B4-BE49-F238E27FC236}">
                  <a16:creationId xmlns:a16="http://schemas.microsoft.com/office/drawing/2014/main" id="{AAD3D36A-CDE1-4C66-AB4D-D44E838E9A3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56" y="944"/>
              <a:ext cx="376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18000" tIns="10800" rIns="18000" bIns="10800" anchor="t" anchorCtr="0" upright="1">
              <a:noAutofit/>
            </a:bodyPr>
            <a:lstStyle/>
            <a:p>
              <a:pPr marL="0" marR="0">
                <a:spcBef>
                  <a:spcPts val="0"/>
                </a:spcBef>
                <a:spcAft>
                  <a:spcPts val="0"/>
                </a:spcAft>
              </a:pPr>
              <a:r>
                <a:rPr lang="en-GB" sz="3000">
                  <a:solidFill>
                    <a:srgbClr val="00206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I</a:t>
              </a:r>
              <a:r>
                <a:rPr lang="en-GB" sz="3000" baseline="-25000">
                  <a:solidFill>
                    <a:srgbClr val="00206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r1</a:t>
              </a:r>
              <a:endParaRPr lang="en-GB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13" name="Text Box 3232">
              <a:extLst>
                <a:ext uri="{FF2B5EF4-FFF2-40B4-BE49-F238E27FC236}">
                  <a16:creationId xmlns:a16="http://schemas.microsoft.com/office/drawing/2014/main" id="{32269F07-0B06-45F5-88C5-7DA159B19BC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514" y="905"/>
              <a:ext cx="340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18000" tIns="10800" rIns="18000" bIns="10800" anchor="t" anchorCtr="0" upright="1">
              <a:noAutofit/>
            </a:bodyPr>
            <a:lstStyle/>
            <a:p>
              <a:pPr marL="0" marR="0">
                <a:spcBef>
                  <a:spcPts val="0"/>
                </a:spcBef>
                <a:spcAft>
                  <a:spcPts val="0"/>
                </a:spcAft>
              </a:pPr>
              <a:r>
                <a:rPr lang="en-GB" sz="3000">
                  <a:solidFill>
                    <a:srgbClr val="00206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I</a:t>
              </a:r>
              <a:r>
                <a:rPr lang="en-GB" sz="3000" baseline="-25000">
                  <a:solidFill>
                    <a:srgbClr val="00206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r2</a:t>
              </a:r>
              <a:endParaRPr lang="en-GB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14" name="Text Box 3233">
              <a:extLst>
                <a:ext uri="{FF2B5EF4-FFF2-40B4-BE49-F238E27FC236}">
                  <a16:creationId xmlns:a16="http://schemas.microsoft.com/office/drawing/2014/main" id="{2399528B-1280-4930-9900-81C4D0499B5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64" y="1361"/>
              <a:ext cx="501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18000" tIns="10800" rIns="18000" bIns="10800" anchor="t" anchorCtr="0" upright="1">
              <a:noAutofit/>
            </a:bodyPr>
            <a:lstStyle/>
            <a:p>
              <a:pPr marL="0" marR="0">
                <a:spcBef>
                  <a:spcPts val="0"/>
                </a:spcBef>
                <a:spcAft>
                  <a:spcPts val="0"/>
                </a:spcAft>
              </a:pPr>
              <a:r>
                <a:rPr lang="en-GB" sz="3000">
                  <a:solidFill>
                    <a:srgbClr val="00206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  V</a:t>
              </a:r>
              <a:r>
                <a:rPr lang="en-GB" sz="3000" baseline="-25000">
                  <a:solidFill>
                    <a:srgbClr val="00206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r1</a:t>
              </a:r>
              <a:endParaRPr lang="en-GB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cxnSp>
          <p:nvCxnSpPr>
            <p:cNvPr id="15" name="Line 3234">
              <a:extLst>
                <a:ext uri="{FF2B5EF4-FFF2-40B4-BE49-F238E27FC236}">
                  <a16:creationId xmlns:a16="http://schemas.microsoft.com/office/drawing/2014/main" id="{F7AB98D5-F5FC-45D2-B598-32C7DD9FBDD7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6392" y="1409"/>
              <a:ext cx="0" cy="540"/>
            </a:xfrm>
            <a:prstGeom prst="line">
              <a:avLst/>
            </a:prstGeom>
            <a:noFill/>
            <a:ln w="38100">
              <a:solidFill>
                <a:srgbClr val="002060"/>
              </a:solidFill>
              <a:round/>
              <a:headEnd type="arrow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6" name="Text Box 3235">
              <a:extLst>
                <a:ext uri="{FF2B5EF4-FFF2-40B4-BE49-F238E27FC236}">
                  <a16:creationId xmlns:a16="http://schemas.microsoft.com/office/drawing/2014/main" id="{435B6A70-2612-4FF1-8889-A416FADE6E1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249" y="1475"/>
              <a:ext cx="517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18000" tIns="10800" rIns="18000" bIns="10800" anchor="t" anchorCtr="0" upright="1">
              <a:noAutofit/>
            </a:bodyPr>
            <a:lstStyle/>
            <a:p>
              <a:pPr marL="0" marR="0">
                <a:spcBef>
                  <a:spcPts val="0"/>
                </a:spcBef>
                <a:spcAft>
                  <a:spcPts val="0"/>
                </a:spcAft>
              </a:pPr>
              <a:r>
                <a:rPr lang="en-GB" sz="3000">
                  <a:solidFill>
                    <a:srgbClr val="00206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V</a:t>
              </a:r>
              <a:r>
                <a:rPr lang="en-GB" sz="3000" baseline="-25000">
                  <a:solidFill>
                    <a:srgbClr val="00206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r2</a:t>
              </a:r>
              <a:endParaRPr lang="en-GB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cxnSp>
          <p:nvCxnSpPr>
            <p:cNvPr id="17" name="Line 3236">
              <a:extLst>
                <a:ext uri="{FF2B5EF4-FFF2-40B4-BE49-F238E27FC236}">
                  <a16:creationId xmlns:a16="http://schemas.microsoft.com/office/drawing/2014/main" id="{43F11DCD-C82B-4E7F-9553-6E0CA84FA38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0145" y="1418"/>
              <a:ext cx="0" cy="540"/>
            </a:xfrm>
            <a:prstGeom prst="line">
              <a:avLst/>
            </a:prstGeom>
            <a:noFill/>
            <a:ln w="38100">
              <a:solidFill>
                <a:srgbClr val="002060"/>
              </a:solidFill>
              <a:round/>
              <a:headEnd type="arrow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8" name="Text Box 3237">
              <a:extLst>
                <a:ext uri="{FF2B5EF4-FFF2-40B4-BE49-F238E27FC236}">
                  <a16:creationId xmlns:a16="http://schemas.microsoft.com/office/drawing/2014/main" id="{1F30C30A-7A74-4C77-A94F-BA962FC8973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05" y="1475"/>
              <a:ext cx="912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18000" tIns="10800" rIns="18000" bIns="10800" anchor="t" anchorCtr="0" upright="1">
              <a:noAutofit/>
            </a:bodyPr>
            <a:lstStyle/>
            <a:p>
              <a:pPr marL="0" marR="0">
                <a:spcBef>
                  <a:spcPts val="0"/>
                </a:spcBef>
                <a:spcAft>
                  <a:spcPts val="0"/>
                </a:spcAft>
              </a:pPr>
              <a:r>
                <a:rPr lang="en-GB" sz="3000" i="1">
                  <a:solidFill>
                    <a:srgbClr val="00206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Port  r</a:t>
              </a:r>
              <a:r>
                <a:rPr lang="en-GB" sz="3000" i="1" baseline="-25000">
                  <a:solidFill>
                    <a:srgbClr val="00206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1</a:t>
              </a:r>
              <a:endParaRPr lang="en-GB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19" name="Text Box 3238">
              <a:extLst>
                <a:ext uri="{FF2B5EF4-FFF2-40B4-BE49-F238E27FC236}">
                  <a16:creationId xmlns:a16="http://schemas.microsoft.com/office/drawing/2014/main" id="{0A21C02C-A5B3-4248-8494-A6511741934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70" y="1475"/>
              <a:ext cx="820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18000" tIns="10800" rIns="18000" bIns="10800" anchor="t" anchorCtr="0" upright="1">
              <a:noAutofit/>
            </a:bodyPr>
            <a:lstStyle/>
            <a:p>
              <a:pPr marL="0" marR="0">
                <a:spcBef>
                  <a:spcPts val="0"/>
                </a:spcBef>
                <a:spcAft>
                  <a:spcPts val="0"/>
                </a:spcAft>
              </a:pPr>
              <a:r>
                <a:rPr lang="en-GB" sz="3000" b="1" i="1">
                  <a:solidFill>
                    <a:srgbClr val="002060"/>
                  </a:solidFill>
                  <a:effectLst/>
                  <a:latin typeface="Times New Roman" panose="02020603050405020304" pitchFamily="18" charset="0"/>
                </a:rPr>
                <a:t>Port  r</a:t>
              </a:r>
              <a:r>
                <a:rPr lang="en-GB" sz="3000" b="1" i="1" baseline="-25000">
                  <a:solidFill>
                    <a:srgbClr val="002060"/>
                  </a:solidFill>
                  <a:effectLst/>
                  <a:latin typeface="Times New Roman" panose="02020603050405020304" pitchFamily="18" charset="0"/>
                </a:rPr>
                <a:t>2</a:t>
              </a:r>
              <a:endParaRPr lang="en-GB" sz="1200" b="1" i="1">
                <a:effectLst/>
                <a:latin typeface="Times New Roman" panose="02020603050405020304" pitchFamily="18" charset="0"/>
              </a:endParaRPr>
            </a:p>
          </p:txBody>
        </p:sp>
        <p:sp>
          <p:nvSpPr>
            <p:cNvPr id="20" name="Text Box 3239">
              <a:extLst>
                <a:ext uri="{FF2B5EF4-FFF2-40B4-BE49-F238E27FC236}">
                  <a16:creationId xmlns:a16="http://schemas.microsoft.com/office/drawing/2014/main" id="{AD7A830A-F857-4DF5-A12A-6F20183945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07" y="2501"/>
              <a:ext cx="1122" cy="1140"/>
            </a:xfrm>
            <a:prstGeom prst="rect">
              <a:avLst/>
            </a:prstGeom>
            <a:solidFill>
              <a:srgbClr val="FFFFFF"/>
            </a:solidFill>
            <a:ln w="38100">
              <a:solidFill>
                <a:srgbClr val="C00000"/>
              </a:solidFill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marL="0" marR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GB" sz="240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Linear</a:t>
              </a:r>
              <a:endParaRPr lang="en-GB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  <a:p>
              <a:pPr marL="0" marR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GB" sz="240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Passive</a:t>
              </a:r>
              <a:endParaRPr lang="en-GB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  <a:p>
              <a:pPr marL="0" marR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GB" sz="240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Network</a:t>
              </a:r>
              <a:endParaRPr lang="en-GB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  <a:p>
              <a:pPr marL="0" marR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GB" sz="2800" b="1" i="1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s</a:t>
              </a:r>
              <a:endParaRPr lang="en-GB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cxnSp>
          <p:nvCxnSpPr>
            <p:cNvPr id="21" name="Line 3240">
              <a:extLst>
                <a:ext uri="{FF2B5EF4-FFF2-40B4-BE49-F238E27FC236}">
                  <a16:creationId xmlns:a16="http://schemas.microsoft.com/office/drawing/2014/main" id="{6D142D98-D44D-4079-8311-D2495E7E962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6843" y="2729"/>
              <a:ext cx="503" cy="0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 type="oval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" name="Line 3241">
              <a:extLst>
                <a:ext uri="{FF2B5EF4-FFF2-40B4-BE49-F238E27FC236}">
                  <a16:creationId xmlns:a16="http://schemas.microsoft.com/office/drawing/2014/main" id="{F0E8DB71-DA45-4531-BBB8-2A04A7A0BB2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7359" y="2729"/>
              <a:ext cx="348" cy="0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3" name="Line 3242">
              <a:extLst>
                <a:ext uri="{FF2B5EF4-FFF2-40B4-BE49-F238E27FC236}">
                  <a16:creationId xmlns:a16="http://schemas.microsoft.com/office/drawing/2014/main" id="{586D7B3E-9859-421D-AA30-D2EEC8887E68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9220" y="2729"/>
              <a:ext cx="503" cy="0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 type="oval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4" name="Line 3243">
              <a:extLst>
                <a:ext uri="{FF2B5EF4-FFF2-40B4-BE49-F238E27FC236}">
                  <a16:creationId xmlns:a16="http://schemas.microsoft.com/office/drawing/2014/main" id="{6C2B45D3-68D5-4A48-879B-085C33E8924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8829" y="2729"/>
              <a:ext cx="455" cy="0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5" name="Line 3244">
              <a:extLst>
                <a:ext uri="{FF2B5EF4-FFF2-40B4-BE49-F238E27FC236}">
                  <a16:creationId xmlns:a16="http://schemas.microsoft.com/office/drawing/2014/main" id="{A7BAB634-253C-47F0-ACCD-3ADD8361A19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6469" y="3470"/>
              <a:ext cx="1238" cy="0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 type="oval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6" name="Line 3245">
              <a:extLst>
                <a:ext uri="{FF2B5EF4-FFF2-40B4-BE49-F238E27FC236}">
                  <a16:creationId xmlns:a16="http://schemas.microsoft.com/office/drawing/2014/main" id="{3FE425D7-9F50-461F-95BE-24FE4D8486F8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8829" y="3470"/>
              <a:ext cx="1238" cy="0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7" name="Text Box 3246">
              <a:extLst>
                <a:ext uri="{FF2B5EF4-FFF2-40B4-BE49-F238E27FC236}">
                  <a16:creationId xmlns:a16="http://schemas.microsoft.com/office/drawing/2014/main" id="{B4F243AF-B57C-46AC-B83C-0BE7F7D396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41" y="2369"/>
              <a:ext cx="376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18000" tIns="10800" rIns="18000" bIns="10800" anchor="t" anchorCtr="0" upright="1">
              <a:noAutofit/>
            </a:bodyPr>
            <a:lstStyle/>
            <a:p>
              <a:pPr marL="0" marR="0">
                <a:spcBef>
                  <a:spcPts val="0"/>
                </a:spcBef>
                <a:spcAft>
                  <a:spcPts val="0"/>
                </a:spcAft>
              </a:pPr>
              <a:r>
                <a:rPr lang="en-GB" sz="3000">
                  <a:solidFill>
                    <a:srgbClr val="00206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I</a:t>
              </a:r>
              <a:r>
                <a:rPr lang="en-GB" sz="3000" baseline="-25000">
                  <a:solidFill>
                    <a:srgbClr val="00206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s1</a:t>
              </a:r>
              <a:endParaRPr lang="en-GB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28" name="Text Box 3247">
              <a:extLst>
                <a:ext uri="{FF2B5EF4-FFF2-40B4-BE49-F238E27FC236}">
                  <a16:creationId xmlns:a16="http://schemas.microsoft.com/office/drawing/2014/main" id="{0005878B-D08C-46C3-A21C-35A94E8AA95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70" y="2330"/>
              <a:ext cx="340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18000" tIns="10800" rIns="18000" bIns="10800" anchor="t" anchorCtr="0" upright="1">
              <a:noAutofit/>
            </a:bodyPr>
            <a:lstStyle/>
            <a:p>
              <a:pPr marL="0" marR="0">
                <a:spcBef>
                  <a:spcPts val="0"/>
                </a:spcBef>
                <a:spcAft>
                  <a:spcPts val="0"/>
                </a:spcAft>
              </a:pPr>
              <a:r>
                <a:rPr lang="en-GB" sz="3000">
                  <a:solidFill>
                    <a:srgbClr val="00206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I</a:t>
              </a:r>
              <a:r>
                <a:rPr lang="en-GB" sz="3000" baseline="-25000">
                  <a:solidFill>
                    <a:srgbClr val="00206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s2</a:t>
              </a:r>
              <a:endParaRPr lang="en-GB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29" name="Text Box 3248">
              <a:extLst>
                <a:ext uri="{FF2B5EF4-FFF2-40B4-BE49-F238E27FC236}">
                  <a16:creationId xmlns:a16="http://schemas.microsoft.com/office/drawing/2014/main" id="{8023938A-EB47-4F53-A8EF-9D18BC431A3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64" y="2786"/>
              <a:ext cx="501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18000" tIns="10800" rIns="18000" bIns="10800" anchor="t" anchorCtr="0" upright="1">
              <a:noAutofit/>
            </a:bodyPr>
            <a:lstStyle/>
            <a:p>
              <a:pPr marL="0" marR="0">
                <a:spcBef>
                  <a:spcPts val="0"/>
                </a:spcBef>
                <a:spcAft>
                  <a:spcPts val="0"/>
                </a:spcAft>
              </a:pPr>
              <a:r>
                <a:rPr lang="en-GB" sz="3000">
                  <a:solidFill>
                    <a:srgbClr val="00206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  V</a:t>
              </a:r>
              <a:r>
                <a:rPr lang="en-GB" sz="3000" baseline="-25000">
                  <a:solidFill>
                    <a:srgbClr val="00206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s1</a:t>
              </a:r>
              <a:endParaRPr lang="en-GB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cxnSp>
          <p:nvCxnSpPr>
            <p:cNvPr id="30" name="Line 3249">
              <a:extLst>
                <a:ext uri="{FF2B5EF4-FFF2-40B4-BE49-F238E27FC236}">
                  <a16:creationId xmlns:a16="http://schemas.microsoft.com/office/drawing/2014/main" id="{7690F67B-6659-445C-A562-082A37220E5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6392" y="2834"/>
              <a:ext cx="0" cy="540"/>
            </a:xfrm>
            <a:prstGeom prst="line">
              <a:avLst/>
            </a:prstGeom>
            <a:noFill/>
            <a:ln w="38100">
              <a:solidFill>
                <a:srgbClr val="002060"/>
              </a:solidFill>
              <a:round/>
              <a:headEnd type="arrow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1" name="Text Box 3250">
              <a:extLst>
                <a:ext uri="{FF2B5EF4-FFF2-40B4-BE49-F238E27FC236}">
                  <a16:creationId xmlns:a16="http://schemas.microsoft.com/office/drawing/2014/main" id="{B1CB75AF-4B8F-4BC3-BD42-39A0CC2B2CA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249" y="2900"/>
              <a:ext cx="517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18000" tIns="10800" rIns="18000" bIns="10800" anchor="t" anchorCtr="0" upright="1">
              <a:noAutofit/>
            </a:bodyPr>
            <a:lstStyle/>
            <a:p>
              <a:pPr marL="0" marR="0">
                <a:spcBef>
                  <a:spcPts val="0"/>
                </a:spcBef>
                <a:spcAft>
                  <a:spcPts val="0"/>
                </a:spcAft>
              </a:pPr>
              <a:r>
                <a:rPr lang="en-GB" sz="3000">
                  <a:solidFill>
                    <a:srgbClr val="00206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V</a:t>
              </a:r>
              <a:r>
                <a:rPr lang="en-GB" sz="3000" baseline="-25000">
                  <a:solidFill>
                    <a:srgbClr val="00206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s2</a:t>
              </a:r>
              <a:endParaRPr lang="en-GB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cxnSp>
          <p:nvCxnSpPr>
            <p:cNvPr id="32" name="Line 3251">
              <a:extLst>
                <a:ext uri="{FF2B5EF4-FFF2-40B4-BE49-F238E27FC236}">
                  <a16:creationId xmlns:a16="http://schemas.microsoft.com/office/drawing/2014/main" id="{1E60D342-9FBD-4D3D-8BBF-AA9D6DE4988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0145" y="2843"/>
              <a:ext cx="0" cy="540"/>
            </a:xfrm>
            <a:prstGeom prst="line">
              <a:avLst/>
            </a:prstGeom>
            <a:noFill/>
            <a:ln w="38100">
              <a:solidFill>
                <a:srgbClr val="002060"/>
              </a:solidFill>
              <a:round/>
              <a:headEnd type="arrow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3" name="Text Box 3252">
              <a:extLst>
                <a:ext uri="{FF2B5EF4-FFF2-40B4-BE49-F238E27FC236}">
                  <a16:creationId xmlns:a16="http://schemas.microsoft.com/office/drawing/2014/main" id="{A98F2903-2451-4B27-A133-D0C17029789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05" y="2900"/>
              <a:ext cx="912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18000" tIns="10800" rIns="18000" bIns="10800" anchor="t" anchorCtr="0" upright="1">
              <a:noAutofit/>
            </a:bodyPr>
            <a:lstStyle/>
            <a:p>
              <a:pPr marL="0" marR="0">
                <a:spcBef>
                  <a:spcPts val="0"/>
                </a:spcBef>
                <a:spcAft>
                  <a:spcPts val="0"/>
                </a:spcAft>
              </a:pPr>
              <a:r>
                <a:rPr lang="en-GB" sz="3000" i="1">
                  <a:solidFill>
                    <a:srgbClr val="00206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Port  s</a:t>
              </a:r>
              <a:r>
                <a:rPr lang="en-GB" sz="3000" i="1" baseline="-25000">
                  <a:solidFill>
                    <a:srgbClr val="00206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1</a:t>
              </a:r>
              <a:endParaRPr lang="en-GB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34" name="Text Box 3253">
              <a:extLst>
                <a:ext uri="{FF2B5EF4-FFF2-40B4-BE49-F238E27FC236}">
                  <a16:creationId xmlns:a16="http://schemas.microsoft.com/office/drawing/2014/main" id="{0E6168EE-65EA-4CE7-BACE-C69ED33A6CB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70" y="2900"/>
              <a:ext cx="820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18000" tIns="10800" rIns="18000" bIns="10800" anchor="t" anchorCtr="0" upright="1">
              <a:noAutofit/>
            </a:bodyPr>
            <a:lstStyle/>
            <a:p>
              <a:pPr marL="0" marR="0">
                <a:spcBef>
                  <a:spcPts val="0"/>
                </a:spcBef>
                <a:spcAft>
                  <a:spcPts val="0"/>
                </a:spcAft>
              </a:pPr>
              <a:r>
                <a:rPr lang="en-GB" sz="3000" b="1" i="1">
                  <a:solidFill>
                    <a:srgbClr val="002060"/>
                  </a:solidFill>
                  <a:effectLst/>
                  <a:latin typeface="Times New Roman" panose="02020603050405020304" pitchFamily="18" charset="0"/>
                </a:rPr>
                <a:t>Port  s</a:t>
              </a:r>
              <a:r>
                <a:rPr lang="en-GB" sz="3000" b="1" i="1" baseline="-25000">
                  <a:solidFill>
                    <a:srgbClr val="002060"/>
                  </a:solidFill>
                  <a:effectLst/>
                  <a:latin typeface="Times New Roman" panose="02020603050405020304" pitchFamily="18" charset="0"/>
                </a:rPr>
                <a:t>2</a:t>
              </a:r>
              <a:endParaRPr lang="en-GB" sz="1200" b="1" i="1">
                <a:effectLst/>
                <a:latin typeface="Times New Roman" panose="02020603050405020304" pitchFamily="18" charset="0"/>
              </a:endParaRPr>
            </a:p>
          </p:txBody>
        </p:sp>
        <p:cxnSp>
          <p:nvCxnSpPr>
            <p:cNvPr id="35" name="Line 3254">
              <a:extLst>
                <a:ext uri="{FF2B5EF4-FFF2-40B4-BE49-F238E27FC236}">
                  <a16:creationId xmlns:a16="http://schemas.microsoft.com/office/drawing/2014/main" id="{0F83197C-D1C2-4B55-BBA6-271DD6186B1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6843" y="2045"/>
              <a:ext cx="0" cy="741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6" name="Line 3255">
              <a:extLst>
                <a:ext uri="{FF2B5EF4-FFF2-40B4-BE49-F238E27FC236}">
                  <a16:creationId xmlns:a16="http://schemas.microsoft.com/office/drawing/2014/main" id="{46A67899-42C0-4E5E-A2D0-D95C24710A5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9740" y="2018"/>
              <a:ext cx="0" cy="741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7" name="Line 3256">
              <a:extLst>
                <a:ext uri="{FF2B5EF4-FFF2-40B4-BE49-F238E27FC236}">
                  <a16:creationId xmlns:a16="http://schemas.microsoft.com/office/drawing/2014/main" id="{0C840F1D-71AD-4ECD-8AA8-FFE3A8A73087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0766" y="1475"/>
              <a:ext cx="0" cy="1899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 type="arrow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8" name="Text Box 3257">
              <a:extLst>
                <a:ext uri="{FF2B5EF4-FFF2-40B4-BE49-F238E27FC236}">
                  <a16:creationId xmlns:a16="http://schemas.microsoft.com/office/drawing/2014/main" id="{797570D9-DCC4-4C31-850C-C8F7D49039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819" y="1715"/>
              <a:ext cx="517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18000" tIns="10800" rIns="18000" bIns="10800" anchor="t" anchorCtr="0" upright="1">
              <a:noAutofit/>
            </a:bodyPr>
            <a:lstStyle/>
            <a:p>
              <a:pPr marL="0" marR="0">
                <a:spcBef>
                  <a:spcPts val="0"/>
                </a:spcBef>
                <a:spcAft>
                  <a:spcPts val="0"/>
                </a:spcAft>
              </a:pPr>
              <a:r>
                <a:rPr lang="en-GB" sz="3000">
                  <a:solidFill>
                    <a:srgbClr val="00206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V</a:t>
              </a:r>
              <a:r>
                <a:rPr lang="en-GB" sz="3000" baseline="-25000">
                  <a:solidFill>
                    <a:srgbClr val="00206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2</a:t>
              </a:r>
              <a:endParaRPr lang="en-GB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cxnSp>
          <p:nvCxnSpPr>
            <p:cNvPr id="39" name="Line 3258">
              <a:extLst>
                <a:ext uri="{FF2B5EF4-FFF2-40B4-BE49-F238E27FC236}">
                  <a16:creationId xmlns:a16="http://schemas.microsoft.com/office/drawing/2014/main" id="{092C9C6D-CBFC-4841-81FD-BBBDEC16180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693" y="1361"/>
              <a:ext cx="0" cy="1899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 type="arrow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40" name="Text Box 3259">
              <a:extLst>
                <a:ext uri="{FF2B5EF4-FFF2-40B4-BE49-F238E27FC236}">
                  <a16:creationId xmlns:a16="http://schemas.microsoft.com/office/drawing/2014/main" id="{10F75516-B8CD-4BB8-9D2D-AE40F09853A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51" y="1601"/>
              <a:ext cx="517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18000" tIns="10800" rIns="18000" bIns="10800" anchor="t" anchorCtr="0" upright="1">
              <a:noAutofit/>
            </a:bodyPr>
            <a:lstStyle/>
            <a:p>
              <a:pPr marL="0" marR="0">
                <a:spcBef>
                  <a:spcPts val="0"/>
                </a:spcBef>
                <a:spcAft>
                  <a:spcPts val="0"/>
                </a:spcAft>
              </a:pPr>
              <a:r>
                <a:rPr lang="en-GB" sz="3000">
                  <a:solidFill>
                    <a:srgbClr val="00206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V</a:t>
              </a:r>
              <a:r>
                <a:rPr lang="en-GB" sz="3000" baseline="-25000">
                  <a:solidFill>
                    <a:srgbClr val="00206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1</a:t>
              </a:r>
              <a:endParaRPr lang="en-GB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728708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40">
            <a:extLst>
              <a:ext uri="{FF2B5EF4-FFF2-40B4-BE49-F238E27FC236}">
                <a16:creationId xmlns:a16="http://schemas.microsoft.com/office/drawing/2014/main" id="{041DBB8C-6BF8-4711-9C8A-CE70F989A6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8936" y="491883"/>
            <a:ext cx="9432756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</a:pPr>
            <a:r>
              <a:rPr kumimoji="0" lang="en-GB" altLang="en-US" sz="3200" b="1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(b) Parallel connection of two-port networks</a:t>
            </a:r>
            <a:endParaRPr kumimoji="0" lang="en-GB" altLang="en-US" sz="1050" b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7E06B4A-E678-490E-8E83-254E95F50A98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271068" y="794085"/>
            <a:ext cx="8893810" cy="4227195"/>
            <a:chOff x="5461" y="7232"/>
            <a:chExt cx="4307" cy="2767"/>
          </a:xfrm>
        </p:grpSpPr>
        <p:sp>
          <p:nvSpPr>
            <p:cNvPr id="5" name="Text Box 3261">
              <a:extLst>
                <a:ext uri="{FF2B5EF4-FFF2-40B4-BE49-F238E27FC236}">
                  <a16:creationId xmlns:a16="http://schemas.microsoft.com/office/drawing/2014/main" id="{94EA1D0D-4D15-40F1-A295-B07597860A46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7251" y="7403"/>
              <a:ext cx="1122" cy="1223"/>
            </a:xfrm>
            <a:prstGeom prst="rect">
              <a:avLst/>
            </a:prstGeom>
            <a:solidFill>
              <a:srgbClr val="FFFFFF"/>
            </a:solidFill>
            <a:ln w="38100">
              <a:solidFill>
                <a:srgbClr val="C00000"/>
              </a:solidFill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marL="0" marR="0" algn="ctr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GB" sz="30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Linear</a:t>
              </a:r>
            </a:p>
            <a:p>
              <a:pPr marL="0" marR="0" algn="ctr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GB" sz="30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Passive</a:t>
              </a:r>
            </a:p>
            <a:p>
              <a:pPr marL="0" marR="0" algn="ctr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GB" sz="30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Network </a:t>
              </a:r>
            </a:p>
            <a:p>
              <a:pPr marL="0" marR="0" algn="ctr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GB" sz="3000" b="1" i="1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r</a:t>
              </a:r>
              <a:endParaRPr lang="en-GB" sz="3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cxnSp>
          <p:nvCxnSpPr>
            <p:cNvPr id="6" name="Line 3262">
              <a:extLst>
                <a:ext uri="{FF2B5EF4-FFF2-40B4-BE49-F238E27FC236}">
                  <a16:creationId xmlns:a16="http://schemas.microsoft.com/office/drawing/2014/main" id="{2F907665-14A8-48E8-BC50-9CCC488AAD89}"/>
                </a:ext>
              </a:extLst>
            </p:cNvPr>
            <p:cNvCxnSpPr>
              <a:cxnSpLocks noChangeAspect="1" noChangeShapeType="1"/>
            </p:cNvCxnSpPr>
            <p:nvPr/>
          </p:nvCxnSpPr>
          <p:spPr bwMode="auto">
            <a:xfrm>
              <a:off x="5693" y="7631"/>
              <a:ext cx="1083" cy="0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 type="oval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" name="Line 3263">
              <a:extLst>
                <a:ext uri="{FF2B5EF4-FFF2-40B4-BE49-F238E27FC236}">
                  <a16:creationId xmlns:a16="http://schemas.microsoft.com/office/drawing/2014/main" id="{C4731885-4C05-4773-8721-D51FF1093E33}"/>
                </a:ext>
              </a:extLst>
            </p:cNvPr>
            <p:cNvCxnSpPr>
              <a:cxnSpLocks noChangeAspect="1" noChangeShapeType="1"/>
            </p:cNvCxnSpPr>
            <p:nvPr/>
          </p:nvCxnSpPr>
          <p:spPr bwMode="auto">
            <a:xfrm>
              <a:off x="6776" y="7631"/>
              <a:ext cx="475" cy="0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" name="Line 3264">
              <a:extLst>
                <a:ext uri="{FF2B5EF4-FFF2-40B4-BE49-F238E27FC236}">
                  <a16:creationId xmlns:a16="http://schemas.microsoft.com/office/drawing/2014/main" id="{53EEDE26-0D0F-44FF-88D8-3417B4580531}"/>
                </a:ext>
              </a:extLst>
            </p:cNvPr>
            <p:cNvCxnSpPr>
              <a:cxnSpLocks noChangeAspect="1" noChangeShapeType="1"/>
            </p:cNvCxnSpPr>
            <p:nvPr/>
          </p:nvCxnSpPr>
          <p:spPr bwMode="auto">
            <a:xfrm flipH="1">
              <a:off x="8764" y="7631"/>
              <a:ext cx="847" cy="0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 type="oval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" name="Line 3265">
              <a:extLst>
                <a:ext uri="{FF2B5EF4-FFF2-40B4-BE49-F238E27FC236}">
                  <a16:creationId xmlns:a16="http://schemas.microsoft.com/office/drawing/2014/main" id="{42EC8AC8-D819-49BA-9D0F-FC52A3FFC990}"/>
                </a:ext>
              </a:extLst>
            </p:cNvPr>
            <p:cNvCxnSpPr>
              <a:cxnSpLocks noChangeAspect="1" noChangeShapeType="1"/>
            </p:cNvCxnSpPr>
            <p:nvPr/>
          </p:nvCxnSpPr>
          <p:spPr bwMode="auto">
            <a:xfrm flipH="1">
              <a:off x="8373" y="7631"/>
              <a:ext cx="391" cy="0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" name="Line 3266">
              <a:extLst>
                <a:ext uri="{FF2B5EF4-FFF2-40B4-BE49-F238E27FC236}">
                  <a16:creationId xmlns:a16="http://schemas.microsoft.com/office/drawing/2014/main" id="{753F8129-01ED-4AC4-8156-94F6D1AAD783}"/>
                </a:ext>
              </a:extLst>
            </p:cNvPr>
            <p:cNvCxnSpPr>
              <a:cxnSpLocks noChangeAspect="1" noChangeShapeType="1"/>
            </p:cNvCxnSpPr>
            <p:nvPr/>
          </p:nvCxnSpPr>
          <p:spPr bwMode="auto">
            <a:xfrm>
              <a:off x="6149" y="8372"/>
              <a:ext cx="1102" cy="0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 type="oval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" name="Line 3267">
              <a:extLst>
                <a:ext uri="{FF2B5EF4-FFF2-40B4-BE49-F238E27FC236}">
                  <a16:creationId xmlns:a16="http://schemas.microsoft.com/office/drawing/2014/main" id="{CB056CFB-6753-4C4F-BE2A-C57EF0D7C480}"/>
                </a:ext>
              </a:extLst>
            </p:cNvPr>
            <p:cNvCxnSpPr>
              <a:cxnSpLocks noChangeAspect="1" noChangeShapeType="1"/>
            </p:cNvCxnSpPr>
            <p:nvPr/>
          </p:nvCxnSpPr>
          <p:spPr bwMode="auto">
            <a:xfrm>
              <a:off x="8373" y="8372"/>
              <a:ext cx="1025" cy="0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2" name="Text Box 3268">
              <a:extLst>
                <a:ext uri="{FF2B5EF4-FFF2-40B4-BE49-F238E27FC236}">
                  <a16:creationId xmlns:a16="http://schemas.microsoft.com/office/drawing/2014/main" id="{C97EB5FA-9206-40C8-94BE-A267D7B6F5A3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6571" y="7271"/>
              <a:ext cx="376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18000" tIns="10800" rIns="18000" bIns="10800" anchor="t" anchorCtr="0" upright="1">
              <a:noAutofit/>
            </a:bodyPr>
            <a:lstStyle/>
            <a:p>
              <a:pPr marL="0" marR="0">
                <a:spcBef>
                  <a:spcPts val="0"/>
                </a:spcBef>
                <a:spcAft>
                  <a:spcPts val="0"/>
                </a:spcAft>
              </a:pPr>
              <a:r>
                <a:rPr lang="en-GB" sz="3600">
                  <a:solidFill>
                    <a:srgbClr val="00206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I</a:t>
              </a:r>
              <a:r>
                <a:rPr lang="en-GB" sz="3600" baseline="-25000">
                  <a:solidFill>
                    <a:srgbClr val="00206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r1</a:t>
              </a:r>
              <a:endParaRPr lang="en-GB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13" name="Text Box 3269">
              <a:extLst>
                <a:ext uri="{FF2B5EF4-FFF2-40B4-BE49-F238E27FC236}">
                  <a16:creationId xmlns:a16="http://schemas.microsoft.com/office/drawing/2014/main" id="{1E591746-EDD5-490F-BE93-56B72D3B0362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8714" y="7232"/>
              <a:ext cx="340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18000" tIns="10800" rIns="18000" bIns="10800" anchor="t" anchorCtr="0" upright="1">
              <a:noAutofit/>
            </a:bodyPr>
            <a:lstStyle/>
            <a:p>
              <a:pPr marL="0" marR="0">
                <a:spcBef>
                  <a:spcPts val="0"/>
                </a:spcBef>
                <a:spcAft>
                  <a:spcPts val="0"/>
                </a:spcAft>
              </a:pPr>
              <a:r>
                <a:rPr lang="en-GB" sz="3600">
                  <a:solidFill>
                    <a:srgbClr val="00206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I</a:t>
              </a:r>
              <a:r>
                <a:rPr lang="en-GB" sz="3600" baseline="-25000">
                  <a:solidFill>
                    <a:srgbClr val="00206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r2</a:t>
              </a:r>
              <a:endParaRPr lang="en-GB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14" name="Text Box 3270">
              <a:extLst>
                <a:ext uri="{FF2B5EF4-FFF2-40B4-BE49-F238E27FC236}">
                  <a16:creationId xmlns:a16="http://schemas.microsoft.com/office/drawing/2014/main" id="{4D17459A-B061-4111-BA71-095C154DF4BC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6605" y="7898"/>
              <a:ext cx="501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18000" tIns="10800" rIns="18000" bIns="10800" anchor="t" anchorCtr="0" upright="1">
              <a:noAutofit/>
            </a:bodyPr>
            <a:lstStyle/>
            <a:p>
              <a:pPr marL="0" marR="0">
                <a:spcBef>
                  <a:spcPts val="0"/>
                </a:spcBef>
                <a:spcAft>
                  <a:spcPts val="0"/>
                </a:spcAft>
              </a:pPr>
              <a:r>
                <a:rPr lang="en-GB" sz="3600">
                  <a:solidFill>
                    <a:srgbClr val="00206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V</a:t>
              </a:r>
              <a:r>
                <a:rPr lang="en-GB" sz="3600" baseline="-25000">
                  <a:solidFill>
                    <a:srgbClr val="00206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r1</a:t>
              </a:r>
              <a:endParaRPr lang="en-GB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cxnSp>
          <p:nvCxnSpPr>
            <p:cNvPr id="15" name="Line 3271">
              <a:extLst>
                <a:ext uri="{FF2B5EF4-FFF2-40B4-BE49-F238E27FC236}">
                  <a16:creationId xmlns:a16="http://schemas.microsoft.com/office/drawing/2014/main" id="{86A7FEE3-6E16-42E2-AA3A-2782377A4812}"/>
                </a:ext>
              </a:extLst>
            </p:cNvPr>
            <p:cNvCxnSpPr>
              <a:cxnSpLocks noChangeAspect="1" noChangeShapeType="1"/>
            </p:cNvCxnSpPr>
            <p:nvPr/>
          </p:nvCxnSpPr>
          <p:spPr bwMode="auto">
            <a:xfrm>
              <a:off x="6548" y="7736"/>
              <a:ext cx="0" cy="540"/>
            </a:xfrm>
            <a:prstGeom prst="line">
              <a:avLst/>
            </a:prstGeom>
            <a:noFill/>
            <a:ln w="38100">
              <a:solidFill>
                <a:srgbClr val="002060"/>
              </a:solidFill>
              <a:round/>
              <a:headEnd type="arrow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6" name="Text Box 3272">
              <a:extLst>
                <a:ext uri="{FF2B5EF4-FFF2-40B4-BE49-F238E27FC236}">
                  <a16:creationId xmlns:a16="http://schemas.microsoft.com/office/drawing/2014/main" id="{312541F5-F51E-4224-B6B6-1E80EA2132C6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8704" y="7802"/>
              <a:ext cx="517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18000" tIns="10800" rIns="18000" bIns="10800" anchor="t" anchorCtr="0" upright="1">
              <a:noAutofit/>
            </a:bodyPr>
            <a:lstStyle/>
            <a:p>
              <a:pPr marL="0" marR="0">
                <a:spcBef>
                  <a:spcPts val="0"/>
                </a:spcBef>
                <a:spcAft>
                  <a:spcPts val="0"/>
                </a:spcAft>
              </a:pPr>
              <a:r>
                <a:rPr lang="en-GB" sz="3600">
                  <a:solidFill>
                    <a:srgbClr val="00206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V</a:t>
              </a:r>
              <a:r>
                <a:rPr lang="en-GB" sz="3600" baseline="-25000">
                  <a:solidFill>
                    <a:srgbClr val="00206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r2</a:t>
              </a:r>
              <a:endParaRPr lang="en-GB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cxnSp>
          <p:nvCxnSpPr>
            <p:cNvPr id="17" name="Line 3273">
              <a:extLst>
                <a:ext uri="{FF2B5EF4-FFF2-40B4-BE49-F238E27FC236}">
                  <a16:creationId xmlns:a16="http://schemas.microsoft.com/office/drawing/2014/main" id="{16207658-49F1-4532-BF89-A8928F1560F8}"/>
                </a:ext>
              </a:extLst>
            </p:cNvPr>
            <p:cNvCxnSpPr>
              <a:cxnSpLocks noChangeAspect="1" noChangeShapeType="1"/>
            </p:cNvCxnSpPr>
            <p:nvPr/>
          </p:nvCxnSpPr>
          <p:spPr bwMode="auto">
            <a:xfrm>
              <a:off x="8600" y="7745"/>
              <a:ext cx="0" cy="540"/>
            </a:xfrm>
            <a:prstGeom prst="line">
              <a:avLst/>
            </a:prstGeom>
            <a:noFill/>
            <a:ln w="38100">
              <a:solidFill>
                <a:srgbClr val="002060"/>
              </a:solidFill>
              <a:round/>
              <a:headEnd type="arrow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8" name="Text Box 3274">
              <a:extLst>
                <a:ext uri="{FF2B5EF4-FFF2-40B4-BE49-F238E27FC236}">
                  <a16:creationId xmlns:a16="http://schemas.microsoft.com/office/drawing/2014/main" id="{7A63DFF2-EBF1-48F5-B9E6-45BE364170EC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7251" y="8828"/>
              <a:ext cx="1122" cy="1171"/>
            </a:xfrm>
            <a:prstGeom prst="rect">
              <a:avLst/>
            </a:prstGeom>
            <a:solidFill>
              <a:srgbClr val="FFFFFF"/>
            </a:solidFill>
            <a:ln w="38100">
              <a:solidFill>
                <a:srgbClr val="C00000"/>
              </a:solidFill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marL="0" marR="0" algn="ctr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GB" sz="30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Linear</a:t>
              </a:r>
            </a:p>
            <a:p>
              <a:pPr marL="0" marR="0" algn="ctr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GB" sz="30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Passive</a:t>
              </a:r>
            </a:p>
            <a:p>
              <a:pPr marL="0" marR="0" algn="ctr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GB" sz="30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Network </a:t>
              </a:r>
            </a:p>
            <a:p>
              <a:pPr marL="0" marR="0" algn="ctr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GB" sz="3000" b="1" i="1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s</a:t>
              </a:r>
              <a:endParaRPr lang="en-GB" sz="3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cxnSp>
          <p:nvCxnSpPr>
            <p:cNvPr id="19" name="Line 3275">
              <a:extLst>
                <a:ext uri="{FF2B5EF4-FFF2-40B4-BE49-F238E27FC236}">
                  <a16:creationId xmlns:a16="http://schemas.microsoft.com/office/drawing/2014/main" id="{1B04906C-7926-4547-B1F1-E4249EE4E41A}"/>
                </a:ext>
              </a:extLst>
            </p:cNvPr>
            <p:cNvCxnSpPr>
              <a:cxnSpLocks noChangeAspect="1" noChangeShapeType="1"/>
            </p:cNvCxnSpPr>
            <p:nvPr/>
          </p:nvCxnSpPr>
          <p:spPr bwMode="auto">
            <a:xfrm>
              <a:off x="6387" y="9056"/>
              <a:ext cx="503" cy="0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 type="oval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" name="Line 3276">
              <a:extLst>
                <a:ext uri="{FF2B5EF4-FFF2-40B4-BE49-F238E27FC236}">
                  <a16:creationId xmlns:a16="http://schemas.microsoft.com/office/drawing/2014/main" id="{95CC7A8A-EB92-4E60-8288-46C5EB4FBC58}"/>
                </a:ext>
              </a:extLst>
            </p:cNvPr>
            <p:cNvCxnSpPr>
              <a:cxnSpLocks noChangeAspect="1" noChangeShapeType="1"/>
            </p:cNvCxnSpPr>
            <p:nvPr/>
          </p:nvCxnSpPr>
          <p:spPr bwMode="auto">
            <a:xfrm>
              <a:off x="6903" y="9056"/>
              <a:ext cx="348" cy="0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" name="Line 3277">
              <a:extLst>
                <a:ext uri="{FF2B5EF4-FFF2-40B4-BE49-F238E27FC236}">
                  <a16:creationId xmlns:a16="http://schemas.microsoft.com/office/drawing/2014/main" id="{C1E38BCA-70EE-4593-BB14-024B3CF4928C}"/>
                </a:ext>
              </a:extLst>
            </p:cNvPr>
            <p:cNvCxnSpPr>
              <a:cxnSpLocks noChangeAspect="1" noChangeShapeType="1"/>
            </p:cNvCxnSpPr>
            <p:nvPr/>
          </p:nvCxnSpPr>
          <p:spPr bwMode="auto">
            <a:xfrm flipH="1">
              <a:off x="8764" y="9056"/>
              <a:ext cx="406" cy="0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 type="oval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" name="Line 3278">
              <a:extLst>
                <a:ext uri="{FF2B5EF4-FFF2-40B4-BE49-F238E27FC236}">
                  <a16:creationId xmlns:a16="http://schemas.microsoft.com/office/drawing/2014/main" id="{286CAC28-E7D5-4EDB-914A-CEF3A8EAC4D8}"/>
                </a:ext>
              </a:extLst>
            </p:cNvPr>
            <p:cNvCxnSpPr>
              <a:cxnSpLocks noChangeAspect="1" noChangeShapeType="1"/>
            </p:cNvCxnSpPr>
            <p:nvPr/>
          </p:nvCxnSpPr>
          <p:spPr bwMode="auto">
            <a:xfrm flipH="1">
              <a:off x="8373" y="9056"/>
              <a:ext cx="455" cy="0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3" name="Line 3279">
              <a:extLst>
                <a:ext uri="{FF2B5EF4-FFF2-40B4-BE49-F238E27FC236}">
                  <a16:creationId xmlns:a16="http://schemas.microsoft.com/office/drawing/2014/main" id="{47EF5917-223E-4C5F-AD5A-3B0AA6786523}"/>
                </a:ext>
              </a:extLst>
            </p:cNvPr>
            <p:cNvCxnSpPr>
              <a:cxnSpLocks noChangeAspect="1" noChangeShapeType="1"/>
            </p:cNvCxnSpPr>
            <p:nvPr/>
          </p:nvCxnSpPr>
          <p:spPr bwMode="auto">
            <a:xfrm>
              <a:off x="5693" y="9797"/>
              <a:ext cx="1558" cy="0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 type="oval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4" name="Line 3280">
              <a:extLst>
                <a:ext uri="{FF2B5EF4-FFF2-40B4-BE49-F238E27FC236}">
                  <a16:creationId xmlns:a16="http://schemas.microsoft.com/office/drawing/2014/main" id="{23A6B151-E10B-44E7-872B-B5EEB1BED3FE}"/>
                </a:ext>
              </a:extLst>
            </p:cNvPr>
            <p:cNvCxnSpPr>
              <a:cxnSpLocks noChangeAspect="1" noChangeShapeType="1"/>
            </p:cNvCxnSpPr>
            <p:nvPr/>
          </p:nvCxnSpPr>
          <p:spPr bwMode="auto">
            <a:xfrm>
              <a:off x="8373" y="9797"/>
              <a:ext cx="1238" cy="0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5" name="Text Box 3281">
              <a:extLst>
                <a:ext uri="{FF2B5EF4-FFF2-40B4-BE49-F238E27FC236}">
                  <a16:creationId xmlns:a16="http://schemas.microsoft.com/office/drawing/2014/main" id="{4ABD5C80-A5FB-4C1F-B293-DEAE69F085A7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6685" y="8696"/>
              <a:ext cx="376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18000" tIns="10800" rIns="18000" bIns="10800" anchor="t" anchorCtr="0" upright="1">
              <a:noAutofit/>
            </a:bodyPr>
            <a:lstStyle/>
            <a:p>
              <a:pPr marL="0" marR="0">
                <a:spcBef>
                  <a:spcPts val="0"/>
                </a:spcBef>
                <a:spcAft>
                  <a:spcPts val="0"/>
                </a:spcAft>
              </a:pPr>
              <a:r>
                <a:rPr lang="en-GB" sz="3600">
                  <a:solidFill>
                    <a:srgbClr val="00206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I</a:t>
              </a:r>
              <a:r>
                <a:rPr lang="en-GB" sz="3600" baseline="-25000">
                  <a:solidFill>
                    <a:srgbClr val="00206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s1</a:t>
              </a:r>
              <a:endParaRPr lang="en-GB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26" name="Text Box 3282">
              <a:extLst>
                <a:ext uri="{FF2B5EF4-FFF2-40B4-BE49-F238E27FC236}">
                  <a16:creationId xmlns:a16="http://schemas.microsoft.com/office/drawing/2014/main" id="{48802224-AC34-47EA-8BB4-C4D62BACFB85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8714" y="8657"/>
              <a:ext cx="340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18000" tIns="10800" rIns="18000" bIns="10800" anchor="t" anchorCtr="0" upright="1">
              <a:noAutofit/>
            </a:bodyPr>
            <a:lstStyle/>
            <a:p>
              <a:pPr marL="0" marR="0">
                <a:spcBef>
                  <a:spcPts val="0"/>
                </a:spcBef>
                <a:spcAft>
                  <a:spcPts val="0"/>
                </a:spcAft>
              </a:pPr>
              <a:r>
                <a:rPr lang="en-GB" sz="3600">
                  <a:solidFill>
                    <a:srgbClr val="00206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I</a:t>
              </a:r>
              <a:r>
                <a:rPr lang="en-GB" sz="3600" baseline="-25000">
                  <a:solidFill>
                    <a:srgbClr val="00206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s2</a:t>
              </a:r>
              <a:endParaRPr lang="en-GB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27" name="Text Box 3283">
              <a:extLst>
                <a:ext uri="{FF2B5EF4-FFF2-40B4-BE49-F238E27FC236}">
                  <a16:creationId xmlns:a16="http://schemas.microsoft.com/office/drawing/2014/main" id="{173807F2-0DB6-49A7-AF35-E8D8F23311F3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6662" y="9323"/>
              <a:ext cx="501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18000" tIns="10800" rIns="18000" bIns="10800" anchor="t" anchorCtr="0" upright="1">
              <a:noAutofit/>
            </a:bodyPr>
            <a:lstStyle/>
            <a:p>
              <a:pPr marL="0" marR="0">
                <a:spcBef>
                  <a:spcPts val="0"/>
                </a:spcBef>
                <a:spcAft>
                  <a:spcPts val="0"/>
                </a:spcAft>
              </a:pPr>
              <a:r>
                <a:rPr lang="en-GB" sz="3600">
                  <a:solidFill>
                    <a:srgbClr val="00206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V</a:t>
              </a:r>
              <a:r>
                <a:rPr lang="en-GB" sz="3600" baseline="-25000">
                  <a:solidFill>
                    <a:srgbClr val="00206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s1</a:t>
              </a:r>
              <a:endParaRPr lang="en-GB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cxnSp>
          <p:nvCxnSpPr>
            <p:cNvPr id="28" name="Line 3284">
              <a:extLst>
                <a:ext uri="{FF2B5EF4-FFF2-40B4-BE49-F238E27FC236}">
                  <a16:creationId xmlns:a16="http://schemas.microsoft.com/office/drawing/2014/main" id="{B519BEC2-CA1F-41AA-A328-4922FACF03C8}"/>
                </a:ext>
              </a:extLst>
            </p:cNvPr>
            <p:cNvCxnSpPr>
              <a:cxnSpLocks noChangeAspect="1" noChangeShapeType="1"/>
            </p:cNvCxnSpPr>
            <p:nvPr/>
          </p:nvCxnSpPr>
          <p:spPr bwMode="auto">
            <a:xfrm>
              <a:off x="6605" y="9161"/>
              <a:ext cx="0" cy="540"/>
            </a:xfrm>
            <a:prstGeom prst="line">
              <a:avLst/>
            </a:prstGeom>
            <a:noFill/>
            <a:ln w="38100">
              <a:solidFill>
                <a:srgbClr val="002060"/>
              </a:solidFill>
              <a:round/>
              <a:headEnd type="arrow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9" name="Text Box 3285">
              <a:extLst>
                <a:ext uri="{FF2B5EF4-FFF2-40B4-BE49-F238E27FC236}">
                  <a16:creationId xmlns:a16="http://schemas.microsoft.com/office/drawing/2014/main" id="{B5F73E88-950B-47C2-A9F4-33420E7C4323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8704" y="9227"/>
              <a:ext cx="517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18000" tIns="10800" rIns="18000" bIns="10800" anchor="t" anchorCtr="0" upright="1">
              <a:noAutofit/>
            </a:bodyPr>
            <a:lstStyle/>
            <a:p>
              <a:pPr marL="0" marR="0">
                <a:spcBef>
                  <a:spcPts val="0"/>
                </a:spcBef>
                <a:spcAft>
                  <a:spcPts val="0"/>
                </a:spcAft>
              </a:pPr>
              <a:r>
                <a:rPr lang="en-GB" sz="3600">
                  <a:solidFill>
                    <a:srgbClr val="00206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V</a:t>
              </a:r>
              <a:r>
                <a:rPr lang="en-GB" sz="3600" baseline="-25000">
                  <a:solidFill>
                    <a:srgbClr val="00206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s2</a:t>
              </a:r>
              <a:endParaRPr lang="en-GB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cxnSp>
          <p:nvCxnSpPr>
            <p:cNvPr id="30" name="Line 3286">
              <a:extLst>
                <a:ext uri="{FF2B5EF4-FFF2-40B4-BE49-F238E27FC236}">
                  <a16:creationId xmlns:a16="http://schemas.microsoft.com/office/drawing/2014/main" id="{EEFB78EC-AAE8-46C8-B552-9504EDA0A651}"/>
                </a:ext>
              </a:extLst>
            </p:cNvPr>
            <p:cNvCxnSpPr>
              <a:cxnSpLocks noChangeAspect="1" noChangeShapeType="1"/>
            </p:cNvCxnSpPr>
            <p:nvPr/>
          </p:nvCxnSpPr>
          <p:spPr bwMode="auto">
            <a:xfrm>
              <a:off x="8600" y="9170"/>
              <a:ext cx="0" cy="540"/>
            </a:xfrm>
            <a:prstGeom prst="line">
              <a:avLst/>
            </a:prstGeom>
            <a:noFill/>
            <a:ln w="38100">
              <a:solidFill>
                <a:srgbClr val="002060"/>
              </a:solidFill>
              <a:round/>
              <a:headEnd type="arrow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1" name="Line 3287">
              <a:extLst>
                <a:ext uri="{FF2B5EF4-FFF2-40B4-BE49-F238E27FC236}">
                  <a16:creationId xmlns:a16="http://schemas.microsoft.com/office/drawing/2014/main" id="{75DFCADA-4E51-4359-81D1-730B55647B51}"/>
                </a:ext>
              </a:extLst>
            </p:cNvPr>
            <p:cNvCxnSpPr>
              <a:cxnSpLocks noChangeAspect="1" noChangeShapeType="1"/>
            </p:cNvCxnSpPr>
            <p:nvPr/>
          </p:nvCxnSpPr>
          <p:spPr bwMode="auto">
            <a:xfrm>
              <a:off x="6149" y="8372"/>
              <a:ext cx="0" cy="1425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2" name="Line 3288">
              <a:extLst>
                <a:ext uri="{FF2B5EF4-FFF2-40B4-BE49-F238E27FC236}">
                  <a16:creationId xmlns:a16="http://schemas.microsoft.com/office/drawing/2014/main" id="{9692E0D5-72CB-4160-B747-153A2DA875D9}"/>
                </a:ext>
              </a:extLst>
            </p:cNvPr>
            <p:cNvCxnSpPr>
              <a:cxnSpLocks noChangeAspect="1" noChangeShapeType="1"/>
            </p:cNvCxnSpPr>
            <p:nvPr/>
          </p:nvCxnSpPr>
          <p:spPr bwMode="auto">
            <a:xfrm>
              <a:off x="9170" y="7631"/>
              <a:ext cx="0" cy="1455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 type="oval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3" name="Line 3289">
              <a:extLst>
                <a:ext uri="{FF2B5EF4-FFF2-40B4-BE49-F238E27FC236}">
                  <a16:creationId xmlns:a16="http://schemas.microsoft.com/office/drawing/2014/main" id="{357DDF1D-AA93-4F56-A2D3-83B5D650962F}"/>
                </a:ext>
              </a:extLst>
            </p:cNvPr>
            <p:cNvCxnSpPr>
              <a:cxnSpLocks noChangeAspect="1" noChangeShapeType="1"/>
            </p:cNvCxnSpPr>
            <p:nvPr/>
          </p:nvCxnSpPr>
          <p:spPr bwMode="auto">
            <a:xfrm>
              <a:off x="9683" y="7841"/>
              <a:ext cx="0" cy="1899"/>
            </a:xfrm>
            <a:prstGeom prst="line">
              <a:avLst/>
            </a:prstGeom>
            <a:noFill/>
            <a:ln w="38100">
              <a:solidFill>
                <a:srgbClr val="002060"/>
              </a:solidFill>
              <a:round/>
              <a:headEnd type="arrow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4" name="Text Box 3290">
              <a:extLst>
                <a:ext uri="{FF2B5EF4-FFF2-40B4-BE49-F238E27FC236}">
                  <a16:creationId xmlns:a16="http://schemas.microsoft.com/office/drawing/2014/main" id="{6BFA15D2-D880-4B9D-8F98-3C82705006EC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9379" y="7855"/>
              <a:ext cx="389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18000" tIns="10800" rIns="18000" bIns="10800" anchor="t" anchorCtr="0" upright="1">
              <a:noAutofit/>
            </a:bodyPr>
            <a:lstStyle/>
            <a:p>
              <a:pPr marL="0" marR="0">
                <a:spcBef>
                  <a:spcPts val="0"/>
                </a:spcBef>
                <a:spcAft>
                  <a:spcPts val="0"/>
                </a:spcAft>
              </a:pPr>
              <a:r>
                <a:rPr lang="en-GB" sz="4000">
                  <a:solidFill>
                    <a:srgbClr val="00206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V</a:t>
              </a:r>
              <a:r>
                <a:rPr lang="en-GB" sz="4000" baseline="-25000">
                  <a:solidFill>
                    <a:srgbClr val="00206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2</a:t>
              </a:r>
              <a:endParaRPr lang="en-GB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cxnSp>
          <p:nvCxnSpPr>
            <p:cNvPr id="35" name="Line 3291">
              <a:extLst>
                <a:ext uri="{FF2B5EF4-FFF2-40B4-BE49-F238E27FC236}">
                  <a16:creationId xmlns:a16="http://schemas.microsoft.com/office/drawing/2014/main" id="{2908DAB8-EC82-4A6A-93B1-232FA111661E}"/>
                </a:ext>
              </a:extLst>
            </p:cNvPr>
            <p:cNvCxnSpPr>
              <a:cxnSpLocks noChangeAspect="1" noChangeShapeType="1"/>
            </p:cNvCxnSpPr>
            <p:nvPr/>
          </p:nvCxnSpPr>
          <p:spPr bwMode="auto">
            <a:xfrm>
              <a:off x="5803" y="7727"/>
              <a:ext cx="0" cy="1899"/>
            </a:xfrm>
            <a:prstGeom prst="line">
              <a:avLst/>
            </a:prstGeom>
            <a:noFill/>
            <a:ln w="38100">
              <a:solidFill>
                <a:srgbClr val="002060"/>
              </a:solidFill>
              <a:round/>
              <a:headEnd type="arrow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6" name="Text Box 3292">
              <a:extLst>
                <a:ext uri="{FF2B5EF4-FFF2-40B4-BE49-F238E27FC236}">
                  <a16:creationId xmlns:a16="http://schemas.microsoft.com/office/drawing/2014/main" id="{38F6C885-30A2-469E-B38F-52B1076B7643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5461" y="7967"/>
              <a:ext cx="517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18000" tIns="10800" rIns="18000" bIns="10800" anchor="t" anchorCtr="0" upright="1">
              <a:noAutofit/>
            </a:bodyPr>
            <a:lstStyle/>
            <a:p>
              <a:pPr marL="0" marR="0">
                <a:spcBef>
                  <a:spcPts val="0"/>
                </a:spcBef>
                <a:spcAft>
                  <a:spcPts val="0"/>
                </a:spcAft>
              </a:pPr>
              <a:r>
                <a:rPr lang="en-GB" sz="4000">
                  <a:solidFill>
                    <a:srgbClr val="00206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V</a:t>
              </a:r>
              <a:r>
                <a:rPr lang="en-GB" sz="4000" baseline="-25000">
                  <a:solidFill>
                    <a:srgbClr val="00206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1</a:t>
              </a:r>
              <a:endParaRPr lang="en-GB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cxnSp>
          <p:nvCxnSpPr>
            <p:cNvPr id="37" name="Line 3293">
              <a:extLst>
                <a:ext uri="{FF2B5EF4-FFF2-40B4-BE49-F238E27FC236}">
                  <a16:creationId xmlns:a16="http://schemas.microsoft.com/office/drawing/2014/main" id="{4FBB9677-76F3-485E-840A-67FF2EBB311A}"/>
                </a:ext>
              </a:extLst>
            </p:cNvPr>
            <p:cNvCxnSpPr>
              <a:cxnSpLocks noChangeAspect="1" noChangeShapeType="1"/>
            </p:cNvCxnSpPr>
            <p:nvPr/>
          </p:nvCxnSpPr>
          <p:spPr bwMode="auto">
            <a:xfrm>
              <a:off x="6387" y="7631"/>
              <a:ext cx="0" cy="1455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 type="oval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8" name="Line 3294">
              <a:extLst>
                <a:ext uri="{FF2B5EF4-FFF2-40B4-BE49-F238E27FC236}">
                  <a16:creationId xmlns:a16="http://schemas.microsoft.com/office/drawing/2014/main" id="{DE61F835-6AA5-40C5-84F1-630F2DD81B9C}"/>
                </a:ext>
              </a:extLst>
            </p:cNvPr>
            <p:cNvCxnSpPr>
              <a:cxnSpLocks noChangeAspect="1" noChangeShapeType="1"/>
            </p:cNvCxnSpPr>
            <p:nvPr/>
          </p:nvCxnSpPr>
          <p:spPr bwMode="auto">
            <a:xfrm>
              <a:off x="5915" y="7631"/>
              <a:ext cx="120" cy="0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9" name="Text Box 3295">
              <a:extLst>
                <a:ext uri="{FF2B5EF4-FFF2-40B4-BE49-F238E27FC236}">
                  <a16:creationId xmlns:a16="http://schemas.microsoft.com/office/drawing/2014/main" id="{286FA5A7-3D04-4EF1-A9F8-6DC3CA9FFC25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5921" y="7289"/>
              <a:ext cx="376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18000" tIns="10800" rIns="18000" bIns="10800" anchor="t" anchorCtr="0" upright="1">
              <a:noAutofit/>
            </a:bodyPr>
            <a:lstStyle/>
            <a:p>
              <a:pPr marL="0" marR="0">
                <a:spcBef>
                  <a:spcPts val="0"/>
                </a:spcBef>
                <a:spcAft>
                  <a:spcPts val="0"/>
                </a:spcAft>
              </a:pPr>
              <a:r>
                <a:rPr lang="en-GB" sz="4000">
                  <a:solidFill>
                    <a:srgbClr val="00206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I</a:t>
              </a:r>
              <a:r>
                <a:rPr lang="en-GB" sz="4000" baseline="-25000">
                  <a:solidFill>
                    <a:srgbClr val="00206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1</a:t>
              </a:r>
              <a:endParaRPr lang="en-GB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cxnSp>
          <p:nvCxnSpPr>
            <p:cNvPr id="40" name="Line 3296">
              <a:extLst>
                <a:ext uri="{FF2B5EF4-FFF2-40B4-BE49-F238E27FC236}">
                  <a16:creationId xmlns:a16="http://schemas.microsoft.com/office/drawing/2014/main" id="{4810EEF0-4BB4-4E68-8CFE-CD8AEA65A4B0}"/>
                </a:ext>
              </a:extLst>
            </p:cNvPr>
            <p:cNvCxnSpPr>
              <a:cxnSpLocks noChangeAspect="1" noChangeShapeType="1"/>
            </p:cNvCxnSpPr>
            <p:nvPr/>
          </p:nvCxnSpPr>
          <p:spPr bwMode="auto">
            <a:xfrm>
              <a:off x="9398" y="8372"/>
              <a:ext cx="0" cy="1425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1" name="Line 3297">
              <a:extLst>
                <a:ext uri="{FF2B5EF4-FFF2-40B4-BE49-F238E27FC236}">
                  <a16:creationId xmlns:a16="http://schemas.microsoft.com/office/drawing/2014/main" id="{49FF7643-BAEC-45AA-AB62-32DB1B336463}"/>
                </a:ext>
              </a:extLst>
            </p:cNvPr>
            <p:cNvCxnSpPr>
              <a:cxnSpLocks noChangeAspect="1" noChangeShapeType="1"/>
            </p:cNvCxnSpPr>
            <p:nvPr/>
          </p:nvCxnSpPr>
          <p:spPr bwMode="auto">
            <a:xfrm>
              <a:off x="9341" y="7631"/>
              <a:ext cx="120" cy="0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 type="arrow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42" name="Text Box 3298">
              <a:extLst>
                <a:ext uri="{FF2B5EF4-FFF2-40B4-BE49-F238E27FC236}">
                  <a16:creationId xmlns:a16="http://schemas.microsoft.com/office/drawing/2014/main" id="{AAA6C9FE-8C03-4651-8C72-273EFA86ACAF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9221" y="7271"/>
              <a:ext cx="376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18000" tIns="10800" rIns="18000" bIns="10800" anchor="t" anchorCtr="0" upright="1">
              <a:noAutofit/>
            </a:bodyPr>
            <a:lstStyle/>
            <a:p>
              <a:pPr marL="0" marR="0">
                <a:spcBef>
                  <a:spcPts val="0"/>
                </a:spcBef>
                <a:spcAft>
                  <a:spcPts val="0"/>
                </a:spcAft>
              </a:pPr>
              <a:r>
                <a:rPr lang="en-GB" sz="4000">
                  <a:solidFill>
                    <a:srgbClr val="00206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I</a:t>
              </a:r>
              <a:r>
                <a:rPr lang="en-GB" sz="4000" baseline="-25000">
                  <a:solidFill>
                    <a:srgbClr val="00206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2</a:t>
              </a:r>
              <a:endParaRPr lang="en-GB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</p:grpSp>
      <p:sp>
        <p:nvSpPr>
          <p:cNvPr id="43" name="Rectangle 55">
            <a:extLst>
              <a:ext uri="{FF2B5EF4-FFF2-40B4-BE49-F238E27FC236}">
                <a16:creationId xmlns:a16="http://schemas.microsoft.com/office/drawing/2014/main" id="{2890C5ED-7C57-4369-87CB-C8E7B694D7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4" y="5043098"/>
            <a:ext cx="9841828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</a:pP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at port 1,  I</a:t>
            </a:r>
            <a:r>
              <a:rPr kumimoji="0" lang="en-GB" altLang="en-US" sz="3200" b="0" i="0" u="none" strike="noStrike" cap="none" normalizeH="0" baseline="-3000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r1</a:t>
            </a: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+ I</a:t>
            </a:r>
            <a:r>
              <a:rPr kumimoji="0" lang="en-GB" altLang="en-US" sz="3200" b="0" i="0" u="none" strike="noStrike" cap="none" normalizeH="0" baseline="-3000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s1</a:t>
            </a: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= I</a:t>
            </a:r>
            <a:r>
              <a:rPr kumimoji="0" lang="en-GB" altLang="en-US" sz="3200" b="0" i="0" u="none" strike="noStrike" cap="none" normalizeH="0" baseline="-3000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1</a:t>
            </a: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,  and  V</a:t>
            </a:r>
            <a:r>
              <a:rPr kumimoji="0" lang="en-GB" altLang="en-US" sz="3200" b="0" i="0" u="none" strike="noStrike" cap="none" normalizeH="0" baseline="-3000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r1</a:t>
            </a: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= V</a:t>
            </a:r>
            <a:r>
              <a:rPr kumimoji="0" lang="en-GB" altLang="en-US" sz="3200" b="0" i="0" u="none" strike="noStrike" cap="none" normalizeH="0" baseline="-3000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s1</a:t>
            </a: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= V</a:t>
            </a:r>
            <a:r>
              <a:rPr kumimoji="0" lang="en-GB" altLang="en-US" sz="3200" b="0" i="0" u="none" strike="noStrike" cap="none" normalizeH="0" baseline="-3000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1</a:t>
            </a: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endParaRPr kumimoji="0" lang="en-GB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</a:pP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at port 2,  I</a:t>
            </a:r>
            <a:r>
              <a:rPr kumimoji="0" lang="en-GB" altLang="en-US" sz="3200" b="0" i="0" u="none" strike="noStrike" cap="none" normalizeH="0" baseline="-3000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r2</a:t>
            </a: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+ I</a:t>
            </a:r>
            <a:r>
              <a:rPr kumimoji="0" lang="en-GB" altLang="en-US" sz="3200" b="0" i="0" u="none" strike="noStrike" cap="none" normalizeH="0" baseline="-3000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s2</a:t>
            </a: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= I</a:t>
            </a:r>
            <a:r>
              <a:rPr kumimoji="0" lang="en-GB" altLang="en-US" sz="3200" b="0" i="0" u="none" strike="noStrike" cap="none" normalizeH="0" baseline="-3000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2</a:t>
            </a: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,  and  V</a:t>
            </a:r>
            <a:r>
              <a:rPr kumimoji="0" lang="en-GB" altLang="en-US" sz="3200" b="0" i="0" u="none" strike="noStrike" cap="none" normalizeH="0" baseline="-3000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r2</a:t>
            </a: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= V</a:t>
            </a:r>
            <a:r>
              <a:rPr kumimoji="0" lang="en-GB" altLang="en-US" sz="3200" b="0" i="0" u="none" strike="noStrike" cap="none" normalizeH="0" baseline="-3000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s2</a:t>
            </a: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= V</a:t>
            </a:r>
            <a:r>
              <a:rPr kumimoji="0" lang="en-GB" altLang="en-US" sz="3200" b="0" i="0" u="none" strike="noStrike" cap="none" normalizeH="0" baseline="-3000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2</a:t>
            </a:r>
            <a:endParaRPr kumimoji="0" lang="en-GB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[Y] =  [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Y</a:t>
            </a:r>
            <a:r>
              <a:rPr kumimoji="0" lang="en-US" altLang="en-US" sz="3200" b="0" i="0" u="none" strike="noStrike" cap="none" normalizeH="0" baseline="-30000" dirty="0" err="1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r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]  +  [Y</a:t>
            </a:r>
            <a:r>
              <a:rPr kumimoji="0" lang="en-US" altLang="en-US" sz="3200" b="0" i="0" u="none" strike="noStrike" cap="none" normalizeH="0" baseline="-3000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]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06169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B1BBAC-DEE1-4CF9-9521-6921611D2B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15" y="549483"/>
            <a:ext cx="10924085" cy="482745"/>
          </a:xfrm>
        </p:spPr>
        <p:txBody>
          <a:bodyPr>
            <a:noAutofit/>
          </a:bodyPr>
          <a:lstStyle/>
          <a:p>
            <a:r>
              <a:rPr lang="en-US" dirty="0"/>
              <a:t>(c) Cascade connection of networks</a:t>
            </a:r>
            <a:endParaRPr lang="en-GB" dirty="0"/>
          </a:p>
        </p:txBody>
      </p:sp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58AF463C-A3B2-4F95-9DDC-485D5F4DAC0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61863879"/>
              </p:ext>
            </p:extLst>
          </p:nvPr>
        </p:nvGraphicFramePr>
        <p:xfrm>
          <a:off x="406400" y="3656231"/>
          <a:ext cx="4095750" cy="1343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490" r:id="rId3" imgW="1459866" imgH="482391" progId="Equation.3">
                  <p:embed/>
                </p:oleObj>
              </mc:Choice>
              <mc:Fallback>
                <p:oleObj r:id="rId3" imgW="1459866" imgH="482391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6400" y="3656231"/>
                        <a:ext cx="4095750" cy="13430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3E747D7D-D1C1-40DE-9D7B-EE68C0C4658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06510280"/>
              </p:ext>
            </p:extLst>
          </p:nvPr>
        </p:nvGraphicFramePr>
        <p:xfrm>
          <a:off x="5473382" y="3652988"/>
          <a:ext cx="4410075" cy="144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491" r:id="rId5" imgW="1459866" imgH="482391" progId="Equation.3">
                  <p:embed/>
                </p:oleObj>
              </mc:Choice>
              <mc:Fallback>
                <p:oleObj r:id="rId5" imgW="1459866" imgH="482391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73382" y="3652988"/>
                        <a:ext cx="4410075" cy="1447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2C08B866-E231-4EC6-84C8-12E346612CA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63150022"/>
              </p:ext>
            </p:extLst>
          </p:nvPr>
        </p:nvGraphicFramePr>
        <p:xfrm>
          <a:off x="406400" y="5182935"/>
          <a:ext cx="5743575" cy="1390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492" r:id="rId7" imgW="1993900" imgH="482600" progId="Equation.3">
                  <p:embed/>
                </p:oleObj>
              </mc:Choice>
              <mc:Fallback>
                <p:oleObj r:id="rId7" imgW="1993900" imgH="48260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6400" y="5182935"/>
                        <a:ext cx="5743575" cy="13906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" name="Group 5">
            <a:extLst>
              <a:ext uri="{FF2B5EF4-FFF2-40B4-BE49-F238E27FC236}">
                <a16:creationId xmlns:a16="http://schemas.microsoft.com/office/drawing/2014/main" id="{263EFD78-8369-48DB-9777-097B2C417855}"/>
              </a:ext>
            </a:extLst>
          </p:cNvPr>
          <p:cNvGrpSpPr>
            <a:grpSpLocks/>
          </p:cNvGrpSpPr>
          <p:nvPr/>
        </p:nvGrpSpPr>
        <p:grpSpPr bwMode="auto">
          <a:xfrm>
            <a:off x="225993" y="2126819"/>
            <a:ext cx="10118725" cy="1419225"/>
            <a:chOff x="318" y="4329"/>
            <a:chExt cx="15935" cy="2235"/>
          </a:xfrm>
        </p:grpSpPr>
        <p:sp>
          <p:nvSpPr>
            <p:cNvPr id="7" name="Text Box 1686">
              <a:extLst>
                <a:ext uri="{FF2B5EF4-FFF2-40B4-BE49-F238E27FC236}">
                  <a16:creationId xmlns:a16="http://schemas.microsoft.com/office/drawing/2014/main" id="{692F513C-1310-4870-8AF5-37D3F5A97F0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136" y="4621"/>
              <a:ext cx="1912" cy="1943"/>
            </a:xfrm>
            <a:prstGeom prst="rect">
              <a:avLst/>
            </a:prstGeom>
            <a:solidFill>
              <a:srgbClr val="FFFFFF"/>
            </a:solidFill>
            <a:ln w="38100">
              <a:solidFill>
                <a:srgbClr val="C00000"/>
              </a:solidFill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marL="0" marR="0" algn="ctr">
                <a:spcBef>
                  <a:spcPts val="0"/>
                </a:spcBef>
                <a:spcAft>
                  <a:spcPts val="0"/>
                </a:spcAft>
              </a:pPr>
              <a:r>
                <a:rPr lang="en-GB" sz="220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Linear</a:t>
              </a:r>
              <a:endParaRPr lang="en-GB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  <a:p>
              <a:pPr marL="0" marR="0" algn="ctr">
                <a:spcBef>
                  <a:spcPts val="0"/>
                </a:spcBef>
                <a:spcAft>
                  <a:spcPts val="0"/>
                </a:spcAft>
              </a:pPr>
              <a:r>
                <a:rPr lang="en-GB" sz="220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Passive</a:t>
              </a:r>
              <a:endParaRPr lang="en-GB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  <a:p>
              <a:pPr marL="0" marR="0" algn="ctr">
                <a:spcBef>
                  <a:spcPts val="0"/>
                </a:spcBef>
                <a:spcAft>
                  <a:spcPts val="0"/>
                </a:spcAft>
              </a:pPr>
              <a:r>
                <a:rPr lang="en-GB" sz="220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Network</a:t>
              </a:r>
              <a:endParaRPr lang="en-GB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cxnSp>
          <p:nvCxnSpPr>
            <p:cNvPr id="8" name="Line 1687">
              <a:extLst>
                <a:ext uri="{FF2B5EF4-FFF2-40B4-BE49-F238E27FC236}">
                  <a16:creationId xmlns:a16="http://schemas.microsoft.com/office/drawing/2014/main" id="{69349EBA-3D99-43AE-8F86-2A36482BCBA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9025" y="5009"/>
              <a:ext cx="858" cy="0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 type="oval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" name="Line 1688">
              <a:extLst>
                <a:ext uri="{FF2B5EF4-FFF2-40B4-BE49-F238E27FC236}">
                  <a16:creationId xmlns:a16="http://schemas.microsoft.com/office/drawing/2014/main" id="{7247CD85-B558-422C-8E68-32340676DBB8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9883" y="5009"/>
              <a:ext cx="1253" cy="0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" name="Line 1689">
              <a:extLst>
                <a:ext uri="{FF2B5EF4-FFF2-40B4-BE49-F238E27FC236}">
                  <a16:creationId xmlns:a16="http://schemas.microsoft.com/office/drawing/2014/main" id="{917B92C8-3573-4725-B77C-12B1FB9DCBD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14301" y="5014"/>
              <a:ext cx="858" cy="0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 type="oval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" name="Line 1690">
              <a:extLst>
                <a:ext uri="{FF2B5EF4-FFF2-40B4-BE49-F238E27FC236}">
                  <a16:creationId xmlns:a16="http://schemas.microsoft.com/office/drawing/2014/main" id="{F9CDEB05-283E-4A5C-A704-B2CBFE04A47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13048" y="5009"/>
              <a:ext cx="1253" cy="0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 type="arrow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" name="Line 1691">
              <a:extLst>
                <a:ext uri="{FF2B5EF4-FFF2-40B4-BE49-F238E27FC236}">
                  <a16:creationId xmlns:a16="http://schemas.microsoft.com/office/drawing/2014/main" id="{02A25AF0-B51E-41BE-B946-6FB5F8FDDD37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9025" y="6138"/>
              <a:ext cx="2111" cy="0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 type="oval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3" name="Line 1692">
              <a:extLst>
                <a:ext uri="{FF2B5EF4-FFF2-40B4-BE49-F238E27FC236}">
                  <a16:creationId xmlns:a16="http://schemas.microsoft.com/office/drawing/2014/main" id="{AA5EF1BA-EAD6-4290-B37A-6A90B46C289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3048" y="6138"/>
              <a:ext cx="2111" cy="0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4" name="Text Box 1693">
              <a:extLst>
                <a:ext uri="{FF2B5EF4-FFF2-40B4-BE49-F238E27FC236}">
                  <a16:creationId xmlns:a16="http://schemas.microsoft.com/office/drawing/2014/main" id="{4623BF63-C102-4046-ABA8-4CA4B062163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85" y="4395"/>
              <a:ext cx="544" cy="6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18000" tIns="10800" rIns="18000" bIns="10800" anchor="t" anchorCtr="0" upright="1">
              <a:noAutofit/>
            </a:bodyPr>
            <a:lstStyle/>
            <a:p>
              <a:pPr marL="0" marR="0">
                <a:spcBef>
                  <a:spcPts val="0"/>
                </a:spcBef>
                <a:spcAft>
                  <a:spcPts val="0"/>
                </a:spcAft>
              </a:pPr>
              <a:r>
                <a:rPr lang="en-GB" sz="2400">
                  <a:solidFill>
                    <a:srgbClr val="00206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I</a:t>
              </a:r>
              <a:r>
                <a:rPr lang="en-GB" sz="2400" baseline="-25000">
                  <a:solidFill>
                    <a:srgbClr val="00206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s1</a:t>
              </a:r>
              <a:endParaRPr lang="en-GB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15" name="Text Box 1694">
              <a:extLst>
                <a:ext uri="{FF2B5EF4-FFF2-40B4-BE49-F238E27FC236}">
                  <a16:creationId xmlns:a16="http://schemas.microsoft.com/office/drawing/2014/main" id="{3BB000EA-ADD3-4BF0-9916-FD2FAF0968B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216" y="4329"/>
              <a:ext cx="554" cy="6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18000" tIns="10800" rIns="18000" bIns="10800" anchor="t" anchorCtr="0" upright="1">
              <a:noAutofit/>
            </a:bodyPr>
            <a:lstStyle/>
            <a:p>
              <a:pPr marL="0" marR="0">
                <a:spcBef>
                  <a:spcPts val="0"/>
                </a:spcBef>
                <a:spcAft>
                  <a:spcPts val="0"/>
                </a:spcAft>
              </a:pPr>
              <a:r>
                <a:rPr lang="en-GB" sz="2400">
                  <a:solidFill>
                    <a:srgbClr val="00206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I</a:t>
              </a:r>
              <a:r>
                <a:rPr lang="en-GB" sz="2400" baseline="-25000">
                  <a:solidFill>
                    <a:srgbClr val="00206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s2</a:t>
              </a:r>
              <a:endParaRPr lang="en-GB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16" name="Text Box 1695">
              <a:extLst>
                <a:ext uri="{FF2B5EF4-FFF2-40B4-BE49-F238E27FC236}">
                  <a16:creationId xmlns:a16="http://schemas.microsoft.com/office/drawing/2014/main" id="{6D74F04F-C63F-4C9D-B3BD-407459A53B1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86" y="5270"/>
              <a:ext cx="765" cy="6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18000" tIns="10800" rIns="18000" bIns="10800" anchor="t" anchorCtr="0" upright="1">
              <a:noAutofit/>
            </a:bodyPr>
            <a:lstStyle/>
            <a:p>
              <a:pPr marL="0" marR="0">
                <a:spcBef>
                  <a:spcPts val="0"/>
                </a:spcBef>
                <a:spcAft>
                  <a:spcPts val="0"/>
                </a:spcAft>
              </a:pPr>
              <a:r>
                <a:rPr lang="en-GB" sz="2400">
                  <a:solidFill>
                    <a:srgbClr val="00206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V</a:t>
              </a:r>
              <a:r>
                <a:rPr lang="en-GB" sz="2400" baseline="-25000">
                  <a:solidFill>
                    <a:srgbClr val="00206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s1</a:t>
              </a:r>
              <a:endParaRPr lang="en-GB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cxnSp>
          <p:nvCxnSpPr>
            <p:cNvPr id="17" name="Line 1696">
              <a:extLst>
                <a:ext uri="{FF2B5EF4-FFF2-40B4-BE49-F238E27FC236}">
                  <a16:creationId xmlns:a16="http://schemas.microsoft.com/office/drawing/2014/main" id="{88E8D2BD-DC47-413A-A87B-FBE07EFE019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8960" y="5188"/>
              <a:ext cx="0" cy="921"/>
            </a:xfrm>
            <a:prstGeom prst="line">
              <a:avLst/>
            </a:prstGeom>
            <a:noFill/>
            <a:ln w="38100">
              <a:solidFill>
                <a:srgbClr val="002060"/>
              </a:solidFill>
              <a:round/>
              <a:headEnd type="arrow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8" name="Text Box 1697">
              <a:extLst>
                <a:ext uri="{FF2B5EF4-FFF2-40B4-BE49-F238E27FC236}">
                  <a16:creationId xmlns:a16="http://schemas.microsoft.com/office/drawing/2014/main" id="{334AEF48-748F-4592-9C0F-DE68456ED58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469" y="5301"/>
              <a:ext cx="784" cy="6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18000" tIns="10800" rIns="18000" bIns="10800" anchor="t" anchorCtr="0" upright="1">
              <a:noAutofit/>
            </a:bodyPr>
            <a:lstStyle/>
            <a:p>
              <a:pPr marL="0" marR="0">
                <a:spcBef>
                  <a:spcPts val="0"/>
                </a:spcBef>
                <a:spcAft>
                  <a:spcPts val="0"/>
                </a:spcAft>
              </a:pPr>
              <a:r>
                <a:rPr lang="en-GB" sz="2400">
                  <a:solidFill>
                    <a:srgbClr val="00206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V</a:t>
              </a:r>
              <a:r>
                <a:rPr lang="en-GB" sz="2400" baseline="-25000">
                  <a:solidFill>
                    <a:srgbClr val="00206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s2</a:t>
              </a:r>
              <a:endParaRPr lang="en-GB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cxnSp>
          <p:nvCxnSpPr>
            <p:cNvPr id="19" name="Line 1698">
              <a:extLst>
                <a:ext uri="{FF2B5EF4-FFF2-40B4-BE49-F238E27FC236}">
                  <a16:creationId xmlns:a16="http://schemas.microsoft.com/office/drawing/2014/main" id="{F97FAC44-E1D3-4B27-B7FA-21461009DE7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5292" y="5204"/>
              <a:ext cx="0" cy="920"/>
            </a:xfrm>
            <a:prstGeom prst="line">
              <a:avLst/>
            </a:prstGeom>
            <a:noFill/>
            <a:ln w="38100">
              <a:solidFill>
                <a:srgbClr val="002060"/>
              </a:solidFill>
              <a:round/>
              <a:headEnd type="arrow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0" name="Text Box 1699">
              <a:extLst>
                <a:ext uri="{FF2B5EF4-FFF2-40B4-BE49-F238E27FC236}">
                  <a16:creationId xmlns:a16="http://schemas.microsoft.com/office/drawing/2014/main" id="{D5846A29-9744-494A-A824-5A26AFC7CBA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257" y="5301"/>
              <a:ext cx="1473" cy="6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18000" tIns="10800" rIns="18000" bIns="10800" anchor="t" anchorCtr="0" upright="1">
              <a:noAutofit/>
            </a:bodyPr>
            <a:lstStyle/>
            <a:p>
              <a:pPr marL="0" marR="0">
                <a:spcBef>
                  <a:spcPts val="0"/>
                </a:spcBef>
                <a:spcAft>
                  <a:spcPts val="0"/>
                </a:spcAft>
              </a:pPr>
              <a:r>
                <a:rPr lang="en-GB" sz="2400" i="1">
                  <a:solidFill>
                    <a:srgbClr val="00206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Port s1</a:t>
              </a:r>
              <a:endParaRPr lang="en-GB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21" name="Text Box 1700">
              <a:extLst>
                <a:ext uri="{FF2B5EF4-FFF2-40B4-BE49-F238E27FC236}">
                  <a16:creationId xmlns:a16="http://schemas.microsoft.com/office/drawing/2014/main" id="{B8BD4D5C-0357-4E56-811D-2A3E06EC515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492" y="5301"/>
              <a:ext cx="1535" cy="6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18000" tIns="10800" rIns="18000" bIns="10800" anchor="t" anchorCtr="0" upright="1">
              <a:noAutofit/>
            </a:bodyPr>
            <a:lstStyle/>
            <a:p>
              <a:pPr marL="0" marR="0"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1" i="1">
                  <a:solidFill>
                    <a:srgbClr val="002060"/>
                  </a:solidFill>
                  <a:effectLst/>
                  <a:latin typeface="Times New Roman" panose="02020603050405020304" pitchFamily="18" charset="0"/>
                </a:rPr>
                <a:t>Port s2</a:t>
              </a:r>
              <a:endParaRPr lang="en-GB" sz="1200" b="1" i="1">
                <a:effectLst/>
                <a:latin typeface="Times New Roman" panose="02020603050405020304" pitchFamily="18" charset="0"/>
              </a:endParaRPr>
            </a:p>
          </p:txBody>
        </p:sp>
        <p:sp>
          <p:nvSpPr>
            <p:cNvPr id="22" name="Text Box 1702">
              <a:extLst>
                <a:ext uri="{FF2B5EF4-FFF2-40B4-BE49-F238E27FC236}">
                  <a16:creationId xmlns:a16="http://schemas.microsoft.com/office/drawing/2014/main" id="{D2F0741A-DCA3-4FEB-9303-B85298F44B8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60" y="4621"/>
              <a:ext cx="1912" cy="1943"/>
            </a:xfrm>
            <a:prstGeom prst="rect">
              <a:avLst/>
            </a:prstGeom>
            <a:solidFill>
              <a:srgbClr val="FFFFFF"/>
            </a:solidFill>
            <a:ln w="38100">
              <a:solidFill>
                <a:srgbClr val="C00000"/>
              </a:solidFill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marL="0" marR="0" algn="ctr">
                <a:spcBef>
                  <a:spcPts val="0"/>
                </a:spcBef>
                <a:spcAft>
                  <a:spcPts val="0"/>
                </a:spcAft>
              </a:pPr>
              <a:r>
                <a:rPr lang="en-GB" sz="220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Linear</a:t>
              </a:r>
              <a:endParaRPr lang="en-GB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  <a:p>
              <a:pPr marL="0" marR="0" algn="ctr">
                <a:spcBef>
                  <a:spcPts val="0"/>
                </a:spcBef>
                <a:spcAft>
                  <a:spcPts val="0"/>
                </a:spcAft>
              </a:pPr>
              <a:r>
                <a:rPr lang="en-GB" sz="220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Passive</a:t>
              </a:r>
              <a:endParaRPr lang="en-GB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  <a:p>
              <a:pPr marL="0" marR="0" algn="ctr">
                <a:spcBef>
                  <a:spcPts val="0"/>
                </a:spcBef>
                <a:spcAft>
                  <a:spcPts val="0"/>
                </a:spcAft>
              </a:pPr>
              <a:r>
                <a:rPr lang="en-GB" sz="220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Network</a:t>
              </a:r>
              <a:endParaRPr lang="en-GB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cxnSp>
          <p:nvCxnSpPr>
            <p:cNvPr id="23" name="Line 1703">
              <a:extLst>
                <a:ext uri="{FF2B5EF4-FFF2-40B4-BE49-F238E27FC236}">
                  <a16:creationId xmlns:a16="http://schemas.microsoft.com/office/drawing/2014/main" id="{616DFFE2-293F-436F-A231-27ACB1D15E4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349" y="5009"/>
              <a:ext cx="858" cy="0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 type="oval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4" name="Line 1704">
              <a:extLst>
                <a:ext uri="{FF2B5EF4-FFF2-40B4-BE49-F238E27FC236}">
                  <a16:creationId xmlns:a16="http://schemas.microsoft.com/office/drawing/2014/main" id="{9E464B1D-58BF-4062-BEBD-CE4AC3D2C85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207" y="5009"/>
              <a:ext cx="1253" cy="0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5" name="Line 1705">
              <a:extLst>
                <a:ext uri="{FF2B5EF4-FFF2-40B4-BE49-F238E27FC236}">
                  <a16:creationId xmlns:a16="http://schemas.microsoft.com/office/drawing/2014/main" id="{9B9415F6-1E90-404B-AF52-82A4608DA02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6625" y="5014"/>
              <a:ext cx="858" cy="0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 type="oval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6" name="Line 1706">
              <a:extLst>
                <a:ext uri="{FF2B5EF4-FFF2-40B4-BE49-F238E27FC236}">
                  <a16:creationId xmlns:a16="http://schemas.microsoft.com/office/drawing/2014/main" id="{30278951-0781-4A91-BF96-C5CFF56A0BC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5372" y="5009"/>
              <a:ext cx="1253" cy="0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 type="arrow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7" name="Line 1707">
              <a:extLst>
                <a:ext uri="{FF2B5EF4-FFF2-40B4-BE49-F238E27FC236}">
                  <a16:creationId xmlns:a16="http://schemas.microsoft.com/office/drawing/2014/main" id="{244E3093-B81F-46F3-ABF6-44EB96B0ED7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349" y="6138"/>
              <a:ext cx="2111" cy="0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 type="oval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8" name="Line 1708">
              <a:extLst>
                <a:ext uri="{FF2B5EF4-FFF2-40B4-BE49-F238E27FC236}">
                  <a16:creationId xmlns:a16="http://schemas.microsoft.com/office/drawing/2014/main" id="{AE7D7CF8-733C-4889-A2F6-CF96C7B9EF1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372" y="6138"/>
              <a:ext cx="2111" cy="0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9" name="Text Box 1709">
              <a:extLst>
                <a:ext uri="{FF2B5EF4-FFF2-40B4-BE49-F238E27FC236}">
                  <a16:creationId xmlns:a16="http://schemas.microsoft.com/office/drawing/2014/main" id="{382E5D46-F6F8-4B6F-81A9-C05F40EDF2B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09" y="4395"/>
              <a:ext cx="641" cy="6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18000" tIns="10800" rIns="18000" bIns="10800" anchor="t" anchorCtr="0" upright="1">
              <a:noAutofit/>
            </a:bodyPr>
            <a:lstStyle/>
            <a:p>
              <a:pPr marL="0" marR="0">
                <a:spcBef>
                  <a:spcPts val="0"/>
                </a:spcBef>
                <a:spcAft>
                  <a:spcPts val="0"/>
                </a:spcAft>
              </a:pPr>
              <a:r>
                <a:rPr lang="en-GB" sz="2400">
                  <a:solidFill>
                    <a:srgbClr val="00206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I</a:t>
              </a:r>
              <a:r>
                <a:rPr lang="en-GB" sz="2400" baseline="-25000">
                  <a:solidFill>
                    <a:srgbClr val="00206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r1</a:t>
              </a:r>
              <a:endParaRPr lang="en-GB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30" name="Text Box 1710">
              <a:extLst>
                <a:ext uri="{FF2B5EF4-FFF2-40B4-BE49-F238E27FC236}">
                  <a16:creationId xmlns:a16="http://schemas.microsoft.com/office/drawing/2014/main" id="{FB83A9B1-8C49-4D78-8644-33D10FF9E6F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40" y="4329"/>
              <a:ext cx="774" cy="6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18000" tIns="10800" rIns="18000" bIns="10800" anchor="t" anchorCtr="0" upright="1">
              <a:noAutofit/>
            </a:bodyPr>
            <a:lstStyle/>
            <a:p>
              <a:pPr marL="0" marR="0">
                <a:spcBef>
                  <a:spcPts val="0"/>
                </a:spcBef>
                <a:spcAft>
                  <a:spcPts val="0"/>
                </a:spcAft>
              </a:pPr>
              <a:r>
                <a:rPr lang="en-GB" sz="2400">
                  <a:solidFill>
                    <a:srgbClr val="00206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I</a:t>
              </a:r>
              <a:r>
                <a:rPr lang="en-GB" sz="2400" baseline="-25000">
                  <a:solidFill>
                    <a:srgbClr val="00206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r2</a:t>
              </a:r>
              <a:endParaRPr lang="en-GB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31" name="Text Box 1711">
              <a:extLst>
                <a:ext uri="{FF2B5EF4-FFF2-40B4-BE49-F238E27FC236}">
                  <a16:creationId xmlns:a16="http://schemas.microsoft.com/office/drawing/2014/main" id="{6F7EE463-5B9E-49B6-87CC-098352EBEAF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8" y="5173"/>
              <a:ext cx="854" cy="6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18000" tIns="10800" rIns="18000" bIns="10800" anchor="t" anchorCtr="0" upright="1">
              <a:noAutofit/>
            </a:bodyPr>
            <a:lstStyle/>
            <a:p>
              <a:pPr marL="0" marR="0">
                <a:spcBef>
                  <a:spcPts val="0"/>
                </a:spcBef>
                <a:spcAft>
                  <a:spcPts val="0"/>
                </a:spcAft>
              </a:pPr>
              <a:r>
                <a:rPr lang="en-GB" sz="2400">
                  <a:solidFill>
                    <a:srgbClr val="00206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V</a:t>
              </a:r>
              <a:r>
                <a:rPr lang="en-GB" sz="2400" baseline="-25000">
                  <a:solidFill>
                    <a:srgbClr val="00206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r1</a:t>
              </a:r>
              <a:endParaRPr lang="en-GB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cxnSp>
          <p:nvCxnSpPr>
            <p:cNvPr id="32" name="Line 1712">
              <a:extLst>
                <a:ext uri="{FF2B5EF4-FFF2-40B4-BE49-F238E27FC236}">
                  <a16:creationId xmlns:a16="http://schemas.microsoft.com/office/drawing/2014/main" id="{F83567C5-21B5-4632-B915-4913991F06D8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218" y="5188"/>
              <a:ext cx="0" cy="921"/>
            </a:xfrm>
            <a:prstGeom prst="line">
              <a:avLst/>
            </a:prstGeom>
            <a:noFill/>
            <a:ln w="38100">
              <a:solidFill>
                <a:srgbClr val="002060"/>
              </a:solidFill>
              <a:round/>
              <a:headEnd type="arrow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3" name="Text Box 1713">
              <a:extLst>
                <a:ext uri="{FF2B5EF4-FFF2-40B4-BE49-F238E27FC236}">
                  <a16:creationId xmlns:a16="http://schemas.microsoft.com/office/drawing/2014/main" id="{AE107D8C-DA82-4A0C-BBEB-BF68FD02DA3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16" y="5301"/>
              <a:ext cx="767" cy="6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18000" tIns="10800" rIns="18000" bIns="10800" anchor="t" anchorCtr="0" upright="1">
              <a:noAutofit/>
            </a:bodyPr>
            <a:lstStyle/>
            <a:p>
              <a:pPr marL="0" marR="0">
                <a:spcBef>
                  <a:spcPts val="0"/>
                </a:spcBef>
                <a:spcAft>
                  <a:spcPts val="0"/>
                </a:spcAft>
              </a:pPr>
              <a:r>
                <a:rPr lang="en-GB" sz="2400">
                  <a:solidFill>
                    <a:srgbClr val="00206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V</a:t>
              </a:r>
              <a:r>
                <a:rPr lang="en-GB" sz="2400" baseline="-25000">
                  <a:solidFill>
                    <a:srgbClr val="00206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r2</a:t>
              </a:r>
              <a:endParaRPr lang="en-GB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cxnSp>
          <p:nvCxnSpPr>
            <p:cNvPr id="34" name="Line 1714">
              <a:extLst>
                <a:ext uri="{FF2B5EF4-FFF2-40B4-BE49-F238E27FC236}">
                  <a16:creationId xmlns:a16="http://schemas.microsoft.com/office/drawing/2014/main" id="{41CF2873-95C0-46CE-8FD5-5C1FB5C69467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7616" y="5204"/>
              <a:ext cx="0" cy="920"/>
            </a:xfrm>
            <a:prstGeom prst="line">
              <a:avLst/>
            </a:prstGeom>
            <a:noFill/>
            <a:ln w="38100">
              <a:solidFill>
                <a:srgbClr val="002060"/>
              </a:solidFill>
              <a:round/>
              <a:headEnd type="arrow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5" name="Text Box 1715">
              <a:extLst>
                <a:ext uri="{FF2B5EF4-FFF2-40B4-BE49-F238E27FC236}">
                  <a16:creationId xmlns:a16="http://schemas.microsoft.com/office/drawing/2014/main" id="{8D33A67A-728A-44BD-A311-80968755B23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81" y="5301"/>
              <a:ext cx="1458" cy="6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18000" tIns="10800" rIns="18000" bIns="10800" anchor="t" anchorCtr="0" upright="1">
              <a:noAutofit/>
            </a:bodyPr>
            <a:lstStyle/>
            <a:p>
              <a:pPr marL="0" marR="0">
                <a:spcBef>
                  <a:spcPts val="0"/>
                </a:spcBef>
                <a:spcAft>
                  <a:spcPts val="0"/>
                </a:spcAft>
              </a:pPr>
              <a:r>
                <a:rPr lang="en-GB" sz="2400" i="1">
                  <a:solidFill>
                    <a:srgbClr val="00206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Port r1</a:t>
              </a:r>
              <a:endParaRPr lang="en-GB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36" name="Text Box 1716">
              <a:extLst>
                <a:ext uri="{FF2B5EF4-FFF2-40B4-BE49-F238E27FC236}">
                  <a16:creationId xmlns:a16="http://schemas.microsoft.com/office/drawing/2014/main" id="{AAC46A7B-FFDD-4E09-8BE6-0DDDBF483C8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60" y="5301"/>
              <a:ext cx="1591" cy="6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18000" tIns="10800" rIns="18000" bIns="10800" anchor="t" anchorCtr="0" upright="1">
              <a:noAutofit/>
            </a:bodyPr>
            <a:lstStyle/>
            <a:p>
              <a:pPr marL="0" marR="0"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1" i="1">
                  <a:solidFill>
                    <a:srgbClr val="002060"/>
                  </a:solidFill>
                  <a:effectLst/>
                  <a:latin typeface="Times New Roman" panose="02020603050405020304" pitchFamily="18" charset="0"/>
                </a:rPr>
                <a:t>Port r2</a:t>
              </a:r>
              <a:endParaRPr lang="en-GB" sz="1200" b="1" i="1">
                <a:effectLst/>
                <a:latin typeface="Times New Roman" panose="02020603050405020304" pitchFamily="18" charset="0"/>
              </a:endParaRPr>
            </a:p>
          </p:txBody>
        </p:sp>
        <p:cxnSp>
          <p:nvCxnSpPr>
            <p:cNvPr id="37" name="Line 1717">
              <a:extLst>
                <a:ext uri="{FF2B5EF4-FFF2-40B4-BE49-F238E27FC236}">
                  <a16:creationId xmlns:a16="http://schemas.microsoft.com/office/drawing/2014/main" id="{042E4A0B-BFD1-45B2-AB29-67932C51B96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7483" y="5014"/>
              <a:ext cx="1542" cy="0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8" name="Line 1718">
              <a:extLst>
                <a:ext uri="{FF2B5EF4-FFF2-40B4-BE49-F238E27FC236}">
                  <a16:creationId xmlns:a16="http://schemas.microsoft.com/office/drawing/2014/main" id="{450475EF-670F-4FB0-8ABE-499C7B3ADEA8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7508" y="6175"/>
              <a:ext cx="1543" cy="0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39" name="Rectangle 37">
            <a:extLst>
              <a:ext uri="{FF2B5EF4-FFF2-40B4-BE49-F238E27FC236}">
                <a16:creationId xmlns:a16="http://schemas.microsoft.com/office/drawing/2014/main" id="{ED329776-E008-4489-9F4A-268DA4EF0F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054" y="1001990"/>
            <a:ext cx="10320655" cy="14157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687388" algn="r"/>
                <a:tab pos="2743200" algn="ctr"/>
                <a:tab pos="5486400" algn="r"/>
              </a:tabLst>
            </a:pP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Output of one network becomes input to next.</a:t>
            </a:r>
            <a:endParaRPr kumimoji="0" lang="en-GB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687388" algn="r"/>
                <a:tab pos="2743200" algn="ctr"/>
                <a:tab pos="5486400" algn="r"/>
              </a:tabLst>
            </a:pPr>
            <a:r>
              <a:rPr kumimoji="0" lang="en-GB" altLang="en-US" sz="36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	I</a:t>
            </a:r>
            <a:r>
              <a:rPr kumimoji="0" lang="en-GB" altLang="en-US" sz="3600" b="0" i="0" u="none" strike="noStrike" cap="none" normalizeH="0" baseline="-3000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r2</a:t>
            </a:r>
            <a:r>
              <a:rPr kumimoji="0" lang="en-GB" altLang="en-US" sz="36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= I</a:t>
            </a:r>
            <a:r>
              <a:rPr kumimoji="0" lang="en-GB" altLang="en-US" sz="3600" b="0" i="0" u="none" strike="noStrike" cap="none" normalizeH="0" baseline="-3000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s1</a:t>
            </a:r>
            <a:r>
              <a:rPr kumimoji="0" lang="en-GB" altLang="en-US" sz="36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  	V</a:t>
            </a:r>
            <a:r>
              <a:rPr kumimoji="0" lang="en-GB" altLang="en-US" sz="3600" b="0" i="0" u="none" strike="noStrike" cap="none" normalizeH="0" baseline="-3000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r2</a:t>
            </a:r>
            <a:r>
              <a:rPr kumimoji="0" lang="en-GB" altLang="en-US" sz="36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= V</a:t>
            </a:r>
            <a:r>
              <a:rPr kumimoji="0" lang="en-GB" altLang="en-US" sz="3600" b="0" i="0" u="none" strike="noStrike" cap="none" normalizeH="0" baseline="-3000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s1</a:t>
            </a:r>
            <a:endParaRPr kumimoji="0" lang="en-GB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687388" algn="r"/>
                <a:tab pos="2743200" algn="ctr"/>
                <a:tab pos="5486400" algn="r"/>
              </a:tabLst>
            </a:pPr>
            <a:endParaRPr kumimoji="0" lang="en-GB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0" name="Rectangle 52">
            <a:extLst>
              <a:ext uri="{FF2B5EF4-FFF2-40B4-BE49-F238E27FC236}">
                <a16:creationId xmlns:a16="http://schemas.microsoft.com/office/drawing/2014/main" id="{0C6A693A-C870-4F2D-AE84-C6543E4807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GB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endParaRPr kumimoji="0" lang="en-GB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altLang="en-US" sz="3600" b="0" i="0" u="none" strike="noStrike" cap="none" normalizeH="0" baseline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			</a:t>
            </a:r>
            <a:endParaRPr kumimoji="0" lang="en-GB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1" name="Rectangle 53">
            <a:extLst>
              <a:ext uri="{FF2B5EF4-FFF2-40B4-BE49-F238E27FC236}">
                <a16:creationId xmlns:a16="http://schemas.microsoft.com/office/drawing/2014/main" id="{554DFDDD-B5CC-43BC-AAB9-A74394F34E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97114" y="1454753"/>
            <a:ext cx="1175068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altLang="en-US" sz="36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,	</a:t>
            </a:r>
            <a:endParaRPr kumimoji="0" lang="en-GB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2" name="Rectangle 54">
            <a:extLst>
              <a:ext uri="{FF2B5EF4-FFF2-40B4-BE49-F238E27FC236}">
                <a16:creationId xmlns:a16="http://schemas.microsoft.com/office/drawing/2014/main" id="{99DE8D19-20EB-477B-9977-DD9F5DF3BF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4802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altLang="en-US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altLang="en-US" sz="3600" b="0" i="0" u="none" strike="noStrike" cap="none" normalizeH="0" baseline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			</a:t>
            </a:r>
            <a:endParaRPr kumimoji="0" lang="en-GB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0A652513-A7DD-4018-87D6-813AF72FD313}"/>
              </a:ext>
            </a:extLst>
          </p:cNvPr>
          <p:cNvPicPr>
            <a:picLocks noChangeAspect="1"/>
          </p:cNvPicPr>
          <p:nvPr/>
        </p:nvPicPr>
        <p:blipFill>
          <a:blip r:embed="rId9">
            <a:clrChange>
              <a:clrFrom>
                <a:srgbClr val="CDFFFF"/>
              </a:clrFrom>
              <a:clrTo>
                <a:srgbClr val="CD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294886" y="1847577"/>
            <a:ext cx="1847619" cy="2533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90956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B1BBAC-DEE1-4CF9-9521-6921611D2B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15" y="549483"/>
            <a:ext cx="10924085" cy="482745"/>
          </a:xfrm>
        </p:spPr>
        <p:txBody>
          <a:bodyPr>
            <a:noAutofit/>
          </a:bodyPr>
          <a:lstStyle/>
          <a:p>
            <a:r>
              <a:rPr lang="en-US" dirty="0" err="1"/>
              <a:t>ABCD</a:t>
            </a:r>
            <a:r>
              <a:rPr lang="en-US" dirty="0"/>
              <a:t> matrix of component networks</a:t>
            </a:r>
            <a:endParaRPr lang="en-GB" dirty="0"/>
          </a:p>
        </p:txBody>
      </p:sp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C3C4AAD6-06D0-4C12-88B3-50349F39287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52939885"/>
              </p:ext>
            </p:extLst>
          </p:nvPr>
        </p:nvGraphicFramePr>
        <p:xfrm>
          <a:off x="1547240" y="2927812"/>
          <a:ext cx="1123950" cy="962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474" r:id="rId3" imgW="558558" imgH="482391" progId="Equation.3">
                  <p:embed/>
                </p:oleObj>
              </mc:Choice>
              <mc:Fallback>
                <p:oleObj r:id="rId3" imgW="558558" imgH="482391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7240" y="2927812"/>
                        <a:ext cx="1123950" cy="9620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97E64CF6-23F1-4D86-882F-C6A88ED9F7A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59933623"/>
              </p:ext>
            </p:extLst>
          </p:nvPr>
        </p:nvGraphicFramePr>
        <p:xfrm>
          <a:off x="1561838" y="3834910"/>
          <a:ext cx="1123950" cy="981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475" r:id="rId5" imgW="558558" imgH="482391" progId="Equation.3">
                  <p:embed/>
                </p:oleObj>
              </mc:Choice>
              <mc:Fallback>
                <p:oleObj r:id="rId5" imgW="558558" imgH="482391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61838" y="3834910"/>
                        <a:ext cx="1123950" cy="9810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586BCF3D-616B-4190-885A-7C1B87A9557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41316085"/>
              </p:ext>
            </p:extLst>
          </p:nvPr>
        </p:nvGraphicFramePr>
        <p:xfrm>
          <a:off x="1525174" y="4714656"/>
          <a:ext cx="1162050" cy="981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476" r:id="rId7" imgW="558558" imgH="482391" progId="Equation.3">
                  <p:embed/>
                </p:oleObj>
              </mc:Choice>
              <mc:Fallback>
                <p:oleObj r:id="rId7" imgW="558558" imgH="482391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5174" y="4714656"/>
                        <a:ext cx="1162050" cy="9810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239AF378-B38C-4EBA-B0D0-F134F740ACF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15958812"/>
              </p:ext>
            </p:extLst>
          </p:nvPr>
        </p:nvGraphicFramePr>
        <p:xfrm>
          <a:off x="1563151" y="5629020"/>
          <a:ext cx="1152525" cy="1009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477" r:id="rId9" imgW="545863" imgH="482391" progId="Equation.3">
                  <p:embed/>
                </p:oleObj>
              </mc:Choice>
              <mc:Fallback>
                <p:oleObj r:id="rId9" imgW="545863" imgH="482391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63151" y="5629020"/>
                        <a:ext cx="1152525" cy="10096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5">
            <a:extLst>
              <a:ext uri="{FF2B5EF4-FFF2-40B4-BE49-F238E27FC236}">
                <a16:creationId xmlns:a16="http://schemas.microsoft.com/office/drawing/2014/main" id="{E6E9C750-F41C-4E8E-9EB0-7395406EC7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8019" y="3216003"/>
            <a:ext cx="116205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altLang="en-US" sz="28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A = </a:t>
            </a:r>
            <a:endParaRPr kumimoji="0" lang="en-GB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F3882809-61FA-424F-86CF-E239EE1F9D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7112" y="4096512"/>
            <a:ext cx="235818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1374775" algn="r"/>
                <a:tab pos="2743200" algn="ctr"/>
                <a:tab pos="3429000" algn="r"/>
                <a:tab pos="5486400" algn="r"/>
                <a:tab pos="73152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1374775" algn="r"/>
                <a:tab pos="2743200" algn="ctr"/>
                <a:tab pos="3429000" algn="r"/>
                <a:tab pos="5486400" algn="r"/>
                <a:tab pos="73152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1374775" algn="r"/>
                <a:tab pos="2743200" algn="ctr"/>
                <a:tab pos="3429000" algn="r"/>
                <a:tab pos="5486400" algn="r"/>
                <a:tab pos="73152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1374775" algn="r"/>
                <a:tab pos="2743200" algn="ctr"/>
                <a:tab pos="3429000" algn="r"/>
                <a:tab pos="5486400" algn="r"/>
                <a:tab pos="73152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1374775" algn="r"/>
                <a:tab pos="2743200" algn="ctr"/>
                <a:tab pos="3429000" algn="r"/>
                <a:tab pos="5486400" algn="r"/>
                <a:tab pos="73152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1374775" algn="r"/>
                <a:tab pos="2743200" algn="ctr"/>
                <a:tab pos="3429000" algn="r"/>
                <a:tab pos="5486400" algn="r"/>
                <a:tab pos="73152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1374775" algn="r"/>
                <a:tab pos="2743200" algn="ctr"/>
                <a:tab pos="3429000" algn="r"/>
                <a:tab pos="5486400" algn="r"/>
                <a:tab pos="73152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1374775" algn="r"/>
                <a:tab pos="2743200" algn="ctr"/>
                <a:tab pos="3429000" algn="r"/>
                <a:tab pos="5486400" algn="r"/>
                <a:tab pos="73152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1374775" algn="r"/>
                <a:tab pos="2743200" algn="ctr"/>
                <a:tab pos="3429000" algn="r"/>
                <a:tab pos="5486400" algn="r"/>
                <a:tab pos="73152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54000" algn="r"/>
                <a:tab pos="469900" algn="r"/>
                <a:tab pos="687388" algn="r"/>
                <a:tab pos="1374775" algn="r"/>
                <a:tab pos="2743200" algn="ctr"/>
                <a:tab pos="3429000" algn="r"/>
                <a:tab pos="5486400" algn="r"/>
                <a:tab pos="7315200" algn="r"/>
              </a:tabLst>
            </a:pPr>
            <a:r>
              <a:rPr kumimoji="0" lang="en-GB" altLang="en-US" sz="28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	B = </a:t>
            </a:r>
            <a:endParaRPr kumimoji="0" lang="en-GB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B5B3BC3C-24A0-4902-A296-84C3746693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31844" y="4248089"/>
            <a:ext cx="6145878" cy="5199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1374775" algn="r"/>
                <a:tab pos="2743200" algn="ctr"/>
                <a:tab pos="3429000" algn="r"/>
                <a:tab pos="5486400" algn="r"/>
                <a:tab pos="73152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1374775" algn="r"/>
                <a:tab pos="2743200" algn="ctr"/>
                <a:tab pos="3429000" algn="r"/>
                <a:tab pos="5486400" algn="r"/>
                <a:tab pos="73152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1374775" algn="r"/>
                <a:tab pos="2743200" algn="ctr"/>
                <a:tab pos="3429000" algn="r"/>
                <a:tab pos="5486400" algn="r"/>
                <a:tab pos="73152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1374775" algn="r"/>
                <a:tab pos="2743200" algn="ctr"/>
                <a:tab pos="3429000" algn="r"/>
                <a:tab pos="5486400" algn="r"/>
                <a:tab pos="73152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1374775" algn="r"/>
                <a:tab pos="2743200" algn="ctr"/>
                <a:tab pos="3429000" algn="r"/>
                <a:tab pos="5486400" algn="r"/>
                <a:tab pos="73152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1374775" algn="r"/>
                <a:tab pos="2743200" algn="ctr"/>
                <a:tab pos="3429000" algn="r"/>
                <a:tab pos="5486400" algn="r"/>
                <a:tab pos="73152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1374775" algn="r"/>
                <a:tab pos="2743200" algn="ctr"/>
                <a:tab pos="3429000" algn="r"/>
                <a:tab pos="5486400" algn="r"/>
                <a:tab pos="73152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1374775" algn="r"/>
                <a:tab pos="2743200" algn="ctr"/>
                <a:tab pos="3429000" algn="r"/>
                <a:tab pos="5486400" algn="r"/>
                <a:tab pos="73152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1374775" algn="r"/>
                <a:tab pos="2743200" algn="ctr"/>
                <a:tab pos="3429000" algn="r"/>
                <a:tab pos="5486400" algn="r"/>
                <a:tab pos="73152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54000" algn="r"/>
                <a:tab pos="469900" algn="r"/>
                <a:tab pos="687388" algn="r"/>
                <a:tab pos="1374775" algn="r"/>
                <a:tab pos="2743200" algn="ctr"/>
                <a:tab pos="3429000" algn="r"/>
                <a:tab pos="5486400" algn="r"/>
                <a:tab pos="7315200" algn="r"/>
              </a:tabLst>
            </a:pPr>
            <a:r>
              <a:rPr kumimoji="0" lang="en-GB" altLang="en-US" sz="28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	= Z,					= 0</a:t>
            </a:r>
            <a:endParaRPr kumimoji="0" lang="en-GB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Rectangle 8">
            <a:extLst>
              <a:ext uri="{FF2B5EF4-FFF2-40B4-BE49-F238E27FC236}">
                <a16:creationId xmlns:a16="http://schemas.microsoft.com/office/drawing/2014/main" id="{6DE78925-E064-4253-9A11-5E5CC1EA8B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42956" y="5160527"/>
            <a:ext cx="597450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1374775" algn="r"/>
                <a:tab pos="2743200" algn="ctr"/>
                <a:tab pos="3429000" algn="r"/>
                <a:tab pos="5486400" algn="r"/>
                <a:tab pos="73152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1374775" algn="r"/>
                <a:tab pos="2743200" algn="ctr"/>
                <a:tab pos="3429000" algn="r"/>
                <a:tab pos="5486400" algn="r"/>
                <a:tab pos="73152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1374775" algn="r"/>
                <a:tab pos="2743200" algn="ctr"/>
                <a:tab pos="3429000" algn="r"/>
                <a:tab pos="5486400" algn="r"/>
                <a:tab pos="73152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1374775" algn="r"/>
                <a:tab pos="2743200" algn="ctr"/>
                <a:tab pos="3429000" algn="r"/>
                <a:tab pos="5486400" algn="r"/>
                <a:tab pos="73152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1374775" algn="r"/>
                <a:tab pos="2743200" algn="ctr"/>
                <a:tab pos="3429000" algn="r"/>
                <a:tab pos="5486400" algn="r"/>
                <a:tab pos="73152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1374775" algn="r"/>
                <a:tab pos="2743200" algn="ctr"/>
                <a:tab pos="3429000" algn="r"/>
                <a:tab pos="5486400" algn="r"/>
                <a:tab pos="73152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1374775" algn="r"/>
                <a:tab pos="2743200" algn="ctr"/>
                <a:tab pos="3429000" algn="r"/>
                <a:tab pos="5486400" algn="r"/>
                <a:tab pos="73152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1374775" algn="r"/>
                <a:tab pos="2743200" algn="ctr"/>
                <a:tab pos="3429000" algn="r"/>
                <a:tab pos="5486400" algn="r"/>
                <a:tab pos="73152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1374775" algn="r"/>
                <a:tab pos="2743200" algn="ctr"/>
                <a:tab pos="3429000" algn="r"/>
                <a:tab pos="5486400" algn="r"/>
                <a:tab pos="73152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54000" algn="r"/>
                <a:tab pos="469900" algn="r"/>
                <a:tab pos="687388" algn="r"/>
                <a:tab pos="1374775" algn="r"/>
                <a:tab pos="2743200" algn="ctr"/>
                <a:tab pos="3429000" algn="r"/>
                <a:tab pos="5486400" algn="r"/>
                <a:tab pos="7315200" algn="r"/>
              </a:tabLst>
            </a:pPr>
            <a:r>
              <a:rPr kumimoji="0" lang="en-GB" altLang="en-US" sz="28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	= 0,					=Y</a:t>
            </a:r>
            <a:endParaRPr kumimoji="0" lang="en-GB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Rectangle 9">
            <a:extLst>
              <a:ext uri="{FF2B5EF4-FFF2-40B4-BE49-F238E27FC236}">
                <a16:creationId xmlns:a16="http://schemas.microsoft.com/office/drawing/2014/main" id="{000989CC-3E84-459A-9614-2D8E582665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09698" y="3397943"/>
            <a:ext cx="614587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1374775" algn="r"/>
                <a:tab pos="2743200" algn="ctr"/>
                <a:tab pos="3429000" algn="r"/>
                <a:tab pos="5486400" algn="r"/>
                <a:tab pos="73152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1374775" algn="r"/>
                <a:tab pos="2743200" algn="ctr"/>
                <a:tab pos="3429000" algn="r"/>
                <a:tab pos="5486400" algn="r"/>
                <a:tab pos="73152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1374775" algn="r"/>
                <a:tab pos="2743200" algn="ctr"/>
                <a:tab pos="3429000" algn="r"/>
                <a:tab pos="5486400" algn="r"/>
                <a:tab pos="73152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1374775" algn="r"/>
                <a:tab pos="2743200" algn="ctr"/>
                <a:tab pos="3429000" algn="r"/>
                <a:tab pos="5486400" algn="r"/>
                <a:tab pos="73152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1374775" algn="r"/>
                <a:tab pos="2743200" algn="ctr"/>
                <a:tab pos="3429000" algn="r"/>
                <a:tab pos="5486400" algn="r"/>
                <a:tab pos="73152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1374775" algn="r"/>
                <a:tab pos="2743200" algn="ctr"/>
                <a:tab pos="3429000" algn="r"/>
                <a:tab pos="5486400" algn="r"/>
                <a:tab pos="73152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1374775" algn="r"/>
                <a:tab pos="2743200" algn="ctr"/>
                <a:tab pos="3429000" algn="r"/>
                <a:tab pos="5486400" algn="r"/>
                <a:tab pos="73152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1374775" algn="r"/>
                <a:tab pos="2743200" algn="ctr"/>
                <a:tab pos="3429000" algn="r"/>
                <a:tab pos="5486400" algn="r"/>
                <a:tab pos="73152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1374775" algn="r"/>
                <a:tab pos="2743200" algn="ctr"/>
                <a:tab pos="3429000" algn="r"/>
                <a:tab pos="5486400" algn="r"/>
                <a:tab pos="73152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54000" algn="r"/>
                <a:tab pos="469900" algn="r"/>
                <a:tab pos="687388" algn="r"/>
                <a:tab pos="1374775" algn="r"/>
                <a:tab pos="2743200" algn="ctr"/>
                <a:tab pos="3429000" algn="r"/>
                <a:tab pos="5486400" algn="r"/>
                <a:tab pos="7315200" algn="r"/>
              </a:tabLst>
            </a:pPr>
            <a:r>
              <a:rPr kumimoji="0" lang="en-GB" altLang="en-US" sz="28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	= 1,					= 1</a:t>
            </a:r>
            <a:endParaRPr kumimoji="0" lang="en-GB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94D58DC-F3FE-4E70-B7B1-FDFC58CEA469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2438081" y="1017928"/>
            <a:ext cx="3609975" cy="1959265"/>
            <a:chOff x="2786" y="3785"/>
            <a:chExt cx="2274" cy="1234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390B3E86-DCC4-440E-83FA-2A5E973E6964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5400000">
              <a:off x="3706" y="3465"/>
              <a:ext cx="215" cy="1367"/>
              <a:chOff x="9878" y="1418"/>
              <a:chExt cx="360" cy="1800"/>
            </a:xfrm>
          </p:grpSpPr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DAD228E5-5AAA-44EE-B7F0-18503934083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9878" y="1958"/>
                <a:ext cx="360" cy="720"/>
              </a:xfrm>
              <a:prstGeom prst="rect">
                <a:avLst/>
              </a:prstGeom>
              <a:noFill/>
              <a:ln w="38100">
                <a:solidFill>
                  <a:srgbClr val="C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GB"/>
              </a:p>
            </p:txBody>
          </p:sp>
          <p:cxnSp>
            <p:nvCxnSpPr>
              <p:cNvPr id="25" name="Line 2446">
                <a:extLst>
                  <a:ext uri="{FF2B5EF4-FFF2-40B4-BE49-F238E27FC236}">
                    <a16:creationId xmlns:a16="http://schemas.microsoft.com/office/drawing/2014/main" id="{D4835D01-98E0-45A6-BBCD-762A587F85F3}"/>
                  </a:ext>
                </a:extLst>
              </p:cNvPr>
              <p:cNvCxnSpPr>
                <a:cxnSpLocks noChangeAspect="1" noChangeShapeType="1"/>
              </p:cNvCxnSpPr>
              <p:nvPr/>
            </p:nvCxnSpPr>
            <p:spPr bwMode="auto">
              <a:xfrm>
                <a:off x="10058" y="1418"/>
                <a:ext cx="0" cy="540"/>
              </a:xfrm>
              <a:prstGeom prst="line">
                <a:avLst/>
              </a:prstGeom>
              <a:noFill/>
              <a:ln w="38100">
                <a:solidFill>
                  <a:srgbClr val="C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6" name="Line 2447">
                <a:extLst>
                  <a:ext uri="{FF2B5EF4-FFF2-40B4-BE49-F238E27FC236}">
                    <a16:creationId xmlns:a16="http://schemas.microsoft.com/office/drawing/2014/main" id="{D73203FB-7C80-4333-B1B0-4237F2030AB1}"/>
                  </a:ext>
                </a:extLst>
              </p:cNvPr>
              <p:cNvCxnSpPr>
                <a:cxnSpLocks noChangeAspect="1" noChangeShapeType="1"/>
              </p:cNvCxnSpPr>
              <p:nvPr/>
            </p:nvCxnSpPr>
            <p:spPr bwMode="auto">
              <a:xfrm>
                <a:off x="10058" y="2678"/>
                <a:ext cx="0" cy="540"/>
              </a:xfrm>
              <a:prstGeom prst="line">
                <a:avLst/>
              </a:prstGeom>
              <a:noFill/>
              <a:ln w="38100">
                <a:solidFill>
                  <a:srgbClr val="C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cxnSp>
          <p:nvCxnSpPr>
            <p:cNvPr id="14" name="Line 2448">
              <a:extLst>
                <a:ext uri="{FF2B5EF4-FFF2-40B4-BE49-F238E27FC236}">
                  <a16:creationId xmlns:a16="http://schemas.microsoft.com/office/drawing/2014/main" id="{D8CB29A4-13EF-4BF6-83A3-4BD7232C772B}"/>
                </a:ext>
              </a:extLst>
            </p:cNvPr>
            <p:cNvCxnSpPr>
              <a:cxnSpLocks noChangeAspect="1" noChangeShapeType="1"/>
            </p:cNvCxnSpPr>
            <p:nvPr/>
          </p:nvCxnSpPr>
          <p:spPr bwMode="auto">
            <a:xfrm>
              <a:off x="3126" y="5019"/>
              <a:ext cx="1370" cy="0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5" name="Text Box 2449">
              <a:extLst>
                <a:ext uri="{FF2B5EF4-FFF2-40B4-BE49-F238E27FC236}">
                  <a16:creationId xmlns:a16="http://schemas.microsoft.com/office/drawing/2014/main" id="{695DD3F6-0E89-4E2B-B8EB-6EF5858E1C92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2786" y="4394"/>
              <a:ext cx="501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18000" tIns="10800" rIns="18000" bIns="10800" anchor="t" anchorCtr="0" upright="1">
              <a:noAutofit/>
            </a:bodyPr>
            <a:lstStyle/>
            <a:p>
              <a:pPr marL="0" marR="0">
                <a:spcBef>
                  <a:spcPts val="0"/>
                </a:spcBef>
                <a:spcAft>
                  <a:spcPts val="0"/>
                </a:spcAft>
              </a:pPr>
              <a:r>
                <a:rPr lang="en-GB" sz="3600">
                  <a:solidFill>
                    <a:srgbClr val="00206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V</a:t>
              </a:r>
              <a:r>
                <a:rPr lang="en-GB" sz="3600" baseline="-25000">
                  <a:solidFill>
                    <a:srgbClr val="00206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1</a:t>
              </a:r>
              <a:endParaRPr lang="en-GB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cxnSp>
          <p:nvCxnSpPr>
            <p:cNvPr id="16" name="Line 2450">
              <a:extLst>
                <a:ext uri="{FF2B5EF4-FFF2-40B4-BE49-F238E27FC236}">
                  <a16:creationId xmlns:a16="http://schemas.microsoft.com/office/drawing/2014/main" id="{0E972EA7-EA53-4414-8E04-8CC8DCC0468C}"/>
                </a:ext>
              </a:extLst>
            </p:cNvPr>
            <p:cNvCxnSpPr>
              <a:cxnSpLocks noChangeAspect="1" noChangeShapeType="1"/>
            </p:cNvCxnSpPr>
            <p:nvPr/>
          </p:nvCxnSpPr>
          <p:spPr bwMode="auto">
            <a:xfrm>
              <a:off x="3128" y="4355"/>
              <a:ext cx="0" cy="540"/>
            </a:xfrm>
            <a:prstGeom prst="line">
              <a:avLst/>
            </a:prstGeom>
            <a:noFill/>
            <a:ln w="38100">
              <a:solidFill>
                <a:srgbClr val="002060"/>
              </a:solidFill>
              <a:round/>
              <a:headEnd type="arrow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7" name="Text Box 2451">
              <a:extLst>
                <a:ext uri="{FF2B5EF4-FFF2-40B4-BE49-F238E27FC236}">
                  <a16:creationId xmlns:a16="http://schemas.microsoft.com/office/drawing/2014/main" id="{72312E9E-8E43-4FD3-BF3B-0790380656B2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4543" y="4469"/>
              <a:ext cx="517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18000" tIns="10800" rIns="18000" bIns="10800" anchor="t" anchorCtr="0" upright="1">
              <a:noAutofit/>
            </a:bodyPr>
            <a:lstStyle/>
            <a:p>
              <a:pPr marL="0" marR="0">
                <a:spcBef>
                  <a:spcPts val="0"/>
                </a:spcBef>
                <a:spcAft>
                  <a:spcPts val="0"/>
                </a:spcAft>
              </a:pPr>
              <a:r>
                <a:rPr lang="en-GB" sz="3600">
                  <a:solidFill>
                    <a:srgbClr val="00206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V</a:t>
              </a:r>
              <a:r>
                <a:rPr lang="en-GB" sz="3600" baseline="-25000">
                  <a:solidFill>
                    <a:srgbClr val="00206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2</a:t>
              </a:r>
              <a:endParaRPr lang="en-GB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cxnSp>
          <p:nvCxnSpPr>
            <p:cNvPr id="18" name="Line 2452">
              <a:extLst>
                <a:ext uri="{FF2B5EF4-FFF2-40B4-BE49-F238E27FC236}">
                  <a16:creationId xmlns:a16="http://schemas.microsoft.com/office/drawing/2014/main" id="{B8790DF1-BDB7-4D81-920B-779FF48CEF21}"/>
                </a:ext>
              </a:extLst>
            </p:cNvPr>
            <p:cNvCxnSpPr>
              <a:cxnSpLocks noChangeAspect="1" noChangeShapeType="1"/>
            </p:cNvCxnSpPr>
            <p:nvPr/>
          </p:nvCxnSpPr>
          <p:spPr bwMode="auto">
            <a:xfrm>
              <a:off x="4439" y="4412"/>
              <a:ext cx="0" cy="540"/>
            </a:xfrm>
            <a:prstGeom prst="line">
              <a:avLst/>
            </a:prstGeom>
            <a:noFill/>
            <a:ln w="38100">
              <a:solidFill>
                <a:srgbClr val="002060"/>
              </a:solidFill>
              <a:round/>
              <a:headEnd type="arrow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9" name="Line 2453">
              <a:extLst>
                <a:ext uri="{FF2B5EF4-FFF2-40B4-BE49-F238E27FC236}">
                  <a16:creationId xmlns:a16="http://schemas.microsoft.com/office/drawing/2014/main" id="{8E8574D5-2600-4EE0-B62F-5F50FEDCFD36}"/>
                </a:ext>
              </a:extLst>
            </p:cNvPr>
            <p:cNvCxnSpPr>
              <a:cxnSpLocks noChangeAspect="1" noChangeShapeType="1"/>
            </p:cNvCxnSpPr>
            <p:nvPr/>
          </p:nvCxnSpPr>
          <p:spPr bwMode="auto">
            <a:xfrm>
              <a:off x="3236" y="4143"/>
              <a:ext cx="120" cy="0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0" name="Text Box 2454">
              <a:extLst>
                <a:ext uri="{FF2B5EF4-FFF2-40B4-BE49-F238E27FC236}">
                  <a16:creationId xmlns:a16="http://schemas.microsoft.com/office/drawing/2014/main" id="{1D579ACC-DBF5-4D6F-BF66-D18E7F165198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3161" y="3785"/>
              <a:ext cx="376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18000" tIns="10800" rIns="18000" bIns="10800" anchor="t" anchorCtr="0" upright="1">
              <a:noAutofit/>
            </a:bodyPr>
            <a:lstStyle/>
            <a:p>
              <a:pPr marL="0" marR="0">
                <a:spcBef>
                  <a:spcPts val="0"/>
                </a:spcBef>
                <a:spcAft>
                  <a:spcPts val="0"/>
                </a:spcAft>
              </a:pPr>
              <a:r>
                <a:rPr lang="en-GB" sz="3600">
                  <a:solidFill>
                    <a:srgbClr val="00206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I</a:t>
              </a:r>
              <a:r>
                <a:rPr lang="en-GB" sz="3600" baseline="-25000">
                  <a:solidFill>
                    <a:srgbClr val="00206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1</a:t>
              </a:r>
              <a:endParaRPr lang="en-GB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21" name="Text Box 2455">
              <a:extLst>
                <a:ext uri="{FF2B5EF4-FFF2-40B4-BE49-F238E27FC236}">
                  <a16:creationId xmlns:a16="http://schemas.microsoft.com/office/drawing/2014/main" id="{333DA860-1E5B-43CA-8DF6-9F9264CE4461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4211" y="3794"/>
              <a:ext cx="376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C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18000" tIns="10800" rIns="18000" bIns="10800" anchor="t" anchorCtr="0" upright="1">
              <a:noAutofit/>
            </a:bodyPr>
            <a:lstStyle/>
            <a:p>
              <a:pPr marL="0" marR="0">
                <a:spcBef>
                  <a:spcPts val="0"/>
                </a:spcBef>
                <a:spcAft>
                  <a:spcPts val="0"/>
                </a:spcAft>
              </a:pPr>
              <a:r>
                <a:rPr lang="en-GB" sz="3600">
                  <a:solidFill>
                    <a:srgbClr val="00206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I</a:t>
              </a:r>
              <a:r>
                <a:rPr lang="en-GB" sz="3600" baseline="-25000">
                  <a:solidFill>
                    <a:srgbClr val="00206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2</a:t>
              </a:r>
              <a:endParaRPr lang="en-GB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cxnSp>
          <p:nvCxnSpPr>
            <p:cNvPr id="22" name="Line 2456">
              <a:extLst>
                <a:ext uri="{FF2B5EF4-FFF2-40B4-BE49-F238E27FC236}">
                  <a16:creationId xmlns:a16="http://schemas.microsoft.com/office/drawing/2014/main" id="{DDA39B09-91FD-4F00-9000-6B8D84369B01}"/>
                </a:ext>
              </a:extLst>
            </p:cNvPr>
            <p:cNvCxnSpPr>
              <a:cxnSpLocks noChangeAspect="1" noChangeShapeType="1"/>
            </p:cNvCxnSpPr>
            <p:nvPr/>
          </p:nvCxnSpPr>
          <p:spPr bwMode="auto">
            <a:xfrm>
              <a:off x="4178" y="4151"/>
              <a:ext cx="120" cy="0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3" name="Text Box 2457">
              <a:extLst>
                <a:ext uri="{FF2B5EF4-FFF2-40B4-BE49-F238E27FC236}">
                  <a16:creationId xmlns:a16="http://schemas.microsoft.com/office/drawing/2014/main" id="{7A0CA747-395E-4AB3-9804-01BD5B4ABF7A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3737" y="4250"/>
              <a:ext cx="360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18000" tIns="10800" rIns="18000" bIns="10800" anchor="t" anchorCtr="0" upright="1">
              <a:noAutofit/>
            </a:bodyPr>
            <a:lstStyle/>
            <a:p>
              <a:pPr marL="0" marR="0">
                <a:spcBef>
                  <a:spcPts val="0"/>
                </a:spcBef>
                <a:spcAft>
                  <a:spcPts val="0"/>
                </a:spcAft>
              </a:pPr>
              <a:r>
                <a:rPr lang="en-GB" sz="3600">
                  <a:solidFill>
                    <a:srgbClr val="00206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Z</a:t>
              </a:r>
              <a:endParaRPr lang="en-GB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7173C061-F381-4AC2-A3B7-59C663782068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7055273" y="843873"/>
            <a:ext cx="3609980" cy="2130002"/>
            <a:chOff x="5528" y="3509"/>
            <a:chExt cx="2274" cy="1529"/>
          </a:xfrm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D6515BEC-18F0-43F8-84A8-AB35D97437E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6387" y="3882"/>
              <a:ext cx="215" cy="1123"/>
              <a:chOff x="9878" y="1593"/>
              <a:chExt cx="360" cy="1602"/>
            </a:xfrm>
          </p:grpSpPr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8DEE39EE-EBFF-4BB0-92D0-59FA30F0F55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9878" y="2033"/>
                <a:ext cx="360" cy="720"/>
              </a:xfrm>
              <a:prstGeom prst="rect">
                <a:avLst/>
              </a:prstGeom>
              <a:noFill/>
              <a:ln w="38100">
                <a:solidFill>
                  <a:srgbClr val="C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GB"/>
              </a:p>
            </p:txBody>
          </p:sp>
          <p:cxnSp>
            <p:nvCxnSpPr>
              <p:cNvPr id="41" name="Line 2461">
                <a:extLst>
                  <a:ext uri="{FF2B5EF4-FFF2-40B4-BE49-F238E27FC236}">
                    <a16:creationId xmlns:a16="http://schemas.microsoft.com/office/drawing/2014/main" id="{0913500D-A161-4FFB-B65F-2023560FF38C}"/>
                  </a:ext>
                </a:extLst>
              </p:cNvPr>
              <p:cNvCxnSpPr>
                <a:cxnSpLocks noChangeAspect="1" noChangeShapeType="1"/>
              </p:cNvCxnSpPr>
              <p:nvPr/>
            </p:nvCxnSpPr>
            <p:spPr bwMode="auto">
              <a:xfrm>
                <a:off x="10058" y="1593"/>
                <a:ext cx="0" cy="467"/>
              </a:xfrm>
              <a:prstGeom prst="line">
                <a:avLst/>
              </a:prstGeom>
              <a:noFill/>
              <a:ln w="38100">
                <a:solidFill>
                  <a:srgbClr val="C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42" name="Line 2462">
                <a:extLst>
                  <a:ext uri="{FF2B5EF4-FFF2-40B4-BE49-F238E27FC236}">
                    <a16:creationId xmlns:a16="http://schemas.microsoft.com/office/drawing/2014/main" id="{653A48B1-8B49-4759-8E75-090AA760E794}"/>
                  </a:ext>
                </a:extLst>
              </p:cNvPr>
              <p:cNvCxnSpPr>
                <a:cxnSpLocks noChangeAspect="1" noChangeShapeType="1"/>
              </p:cNvCxnSpPr>
              <p:nvPr/>
            </p:nvCxnSpPr>
            <p:spPr bwMode="auto">
              <a:xfrm>
                <a:off x="10058" y="2728"/>
                <a:ext cx="0" cy="467"/>
              </a:xfrm>
              <a:prstGeom prst="line">
                <a:avLst/>
              </a:prstGeom>
              <a:noFill/>
              <a:ln w="38100">
                <a:solidFill>
                  <a:srgbClr val="C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cxnSp>
          <p:nvCxnSpPr>
            <p:cNvPr id="29" name="Line 2463">
              <a:extLst>
                <a:ext uri="{FF2B5EF4-FFF2-40B4-BE49-F238E27FC236}">
                  <a16:creationId xmlns:a16="http://schemas.microsoft.com/office/drawing/2014/main" id="{BCE0F833-173F-40D2-9C44-94801B39344C}"/>
                </a:ext>
              </a:extLst>
            </p:cNvPr>
            <p:cNvCxnSpPr>
              <a:cxnSpLocks noChangeAspect="1" noChangeShapeType="1"/>
            </p:cNvCxnSpPr>
            <p:nvPr/>
          </p:nvCxnSpPr>
          <p:spPr bwMode="auto">
            <a:xfrm>
              <a:off x="5860" y="5038"/>
              <a:ext cx="1370" cy="0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0" name="Line 2464">
              <a:extLst>
                <a:ext uri="{FF2B5EF4-FFF2-40B4-BE49-F238E27FC236}">
                  <a16:creationId xmlns:a16="http://schemas.microsoft.com/office/drawing/2014/main" id="{2C3FDAA0-75B8-40C1-ADA8-0BF9B7C102F2}"/>
                </a:ext>
              </a:extLst>
            </p:cNvPr>
            <p:cNvCxnSpPr>
              <a:cxnSpLocks noChangeAspect="1" noChangeShapeType="1"/>
            </p:cNvCxnSpPr>
            <p:nvPr/>
          </p:nvCxnSpPr>
          <p:spPr bwMode="auto">
            <a:xfrm>
              <a:off x="5862" y="3869"/>
              <a:ext cx="1370" cy="0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1" name="Text Box 2465">
              <a:extLst>
                <a:ext uri="{FF2B5EF4-FFF2-40B4-BE49-F238E27FC236}">
                  <a16:creationId xmlns:a16="http://schemas.microsoft.com/office/drawing/2014/main" id="{17DB069D-C940-4492-8E66-69FA4D05641A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5528" y="4193"/>
              <a:ext cx="501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18000" tIns="10800" rIns="18000" bIns="10800" anchor="t" anchorCtr="0" upright="1">
              <a:noAutofit/>
            </a:bodyPr>
            <a:lstStyle/>
            <a:p>
              <a:pPr marL="0" marR="0">
                <a:spcBef>
                  <a:spcPts val="0"/>
                </a:spcBef>
                <a:spcAft>
                  <a:spcPts val="0"/>
                </a:spcAft>
              </a:pPr>
              <a:r>
                <a:rPr lang="en-GB" sz="3600">
                  <a:solidFill>
                    <a:srgbClr val="00206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V</a:t>
              </a:r>
              <a:r>
                <a:rPr lang="en-GB" sz="3600" baseline="-25000">
                  <a:solidFill>
                    <a:srgbClr val="00206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1</a:t>
              </a:r>
              <a:endParaRPr lang="en-GB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cxnSp>
          <p:nvCxnSpPr>
            <p:cNvPr id="32" name="Line 2466">
              <a:extLst>
                <a:ext uri="{FF2B5EF4-FFF2-40B4-BE49-F238E27FC236}">
                  <a16:creationId xmlns:a16="http://schemas.microsoft.com/office/drawing/2014/main" id="{FC0CF0AC-5FEB-48FF-BC70-EFF89E03611C}"/>
                </a:ext>
              </a:extLst>
            </p:cNvPr>
            <p:cNvCxnSpPr>
              <a:cxnSpLocks noChangeAspect="1" noChangeShapeType="1"/>
            </p:cNvCxnSpPr>
            <p:nvPr/>
          </p:nvCxnSpPr>
          <p:spPr bwMode="auto">
            <a:xfrm>
              <a:off x="5870" y="4127"/>
              <a:ext cx="0" cy="540"/>
            </a:xfrm>
            <a:prstGeom prst="line">
              <a:avLst/>
            </a:prstGeom>
            <a:noFill/>
            <a:ln w="38100">
              <a:solidFill>
                <a:srgbClr val="002060"/>
              </a:solidFill>
              <a:round/>
              <a:headEnd type="arrow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3" name="Text Box 2467">
              <a:extLst>
                <a:ext uri="{FF2B5EF4-FFF2-40B4-BE49-F238E27FC236}">
                  <a16:creationId xmlns:a16="http://schemas.microsoft.com/office/drawing/2014/main" id="{16EFB9AF-0F22-4BF2-B481-11C6397A56EE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7285" y="4250"/>
              <a:ext cx="517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18000" tIns="10800" rIns="18000" bIns="10800" anchor="t" anchorCtr="0" upright="1">
              <a:noAutofit/>
            </a:bodyPr>
            <a:lstStyle/>
            <a:p>
              <a:pPr marL="0" marR="0">
                <a:spcBef>
                  <a:spcPts val="0"/>
                </a:spcBef>
                <a:spcAft>
                  <a:spcPts val="0"/>
                </a:spcAft>
              </a:pPr>
              <a:r>
                <a:rPr lang="en-GB" sz="3600">
                  <a:solidFill>
                    <a:srgbClr val="00206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V</a:t>
              </a:r>
              <a:r>
                <a:rPr lang="en-GB" sz="3600" baseline="-25000">
                  <a:solidFill>
                    <a:srgbClr val="00206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2</a:t>
              </a:r>
              <a:endParaRPr lang="en-GB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cxnSp>
          <p:nvCxnSpPr>
            <p:cNvPr id="34" name="Line 2468">
              <a:extLst>
                <a:ext uri="{FF2B5EF4-FFF2-40B4-BE49-F238E27FC236}">
                  <a16:creationId xmlns:a16="http://schemas.microsoft.com/office/drawing/2014/main" id="{CB86AA44-5DBB-4B7E-A388-333352FB3455}"/>
                </a:ext>
              </a:extLst>
            </p:cNvPr>
            <p:cNvCxnSpPr>
              <a:cxnSpLocks noChangeAspect="1" noChangeShapeType="1"/>
            </p:cNvCxnSpPr>
            <p:nvPr/>
          </p:nvCxnSpPr>
          <p:spPr bwMode="auto">
            <a:xfrm>
              <a:off x="7181" y="4154"/>
              <a:ext cx="0" cy="540"/>
            </a:xfrm>
            <a:prstGeom prst="line">
              <a:avLst/>
            </a:prstGeom>
            <a:noFill/>
            <a:ln w="38100">
              <a:solidFill>
                <a:srgbClr val="002060"/>
              </a:solidFill>
              <a:round/>
              <a:headEnd type="arrow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5" name="Line 2469">
              <a:extLst>
                <a:ext uri="{FF2B5EF4-FFF2-40B4-BE49-F238E27FC236}">
                  <a16:creationId xmlns:a16="http://schemas.microsoft.com/office/drawing/2014/main" id="{1B026839-C235-44DF-B04D-214E0A9AFF2D}"/>
                </a:ext>
              </a:extLst>
            </p:cNvPr>
            <p:cNvCxnSpPr>
              <a:cxnSpLocks noChangeAspect="1" noChangeShapeType="1"/>
            </p:cNvCxnSpPr>
            <p:nvPr/>
          </p:nvCxnSpPr>
          <p:spPr bwMode="auto">
            <a:xfrm>
              <a:off x="5978" y="3869"/>
              <a:ext cx="120" cy="0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6" name="Text Box 2470">
              <a:extLst>
                <a:ext uri="{FF2B5EF4-FFF2-40B4-BE49-F238E27FC236}">
                  <a16:creationId xmlns:a16="http://schemas.microsoft.com/office/drawing/2014/main" id="{9723D329-D862-405B-8231-7ED37257422B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6001" y="3509"/>
              <a:ext cx="376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18000" tIns="10800" rIns="18000" bIns="10800" anchor="t" anchorCtr="0" upright="1">
              <a:noAutofit/>
            </a:bodyPr>
            <a:lstStyle/>
            <a:p>
              <a:pPr marL="0" marR="0">
                <a:spcBef>
                  <a:spcPts val="0"/>
                </a:spcBef>
                <a:spcAft>
                  <a:spcPts val="0"/>
                </a:spcAft>
              </a:pPr>
              <a:r>
                <a:rPr lang="en-GB" sz="3600">
                  <a:solidFill>
                    <a:srgbClr val="00206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I</a:t>
              </a:r>
              <a:r>
                <a:rPr lang="en-GB" sz="3600" baseline="-25000">
                  <a:solidFill>
                    <a:srgbClr val="00206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1</a:t>
              </a:r>
              <a:endParaRPr lang="en-GB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37" name="Text Box 2471">
              <a:extLst>
                <a:ext uri="{FF2B5EF4-FFF2-40B4-BE49-F238E27FC236}">
                  <a16:creationId xmlns:a16="http://schemas.microsoft.com/office/drawing/2014/main" id="{57425CDF-ACFA-4509-AF75-862EA909E814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6953" y="3509"/>
              <a:ext cx="376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18000" tIns="10800" rIns="18000" bIns="10800" anchor="t" anchorCtr="0" upright="1">
              <a:noAutofit/>
            </a:bodyPr>
            <a:lstStyle/>
            <a:p>
              <a:pPr marL="0" marR="0">
                <a:spcBef>
                  <a:spcPts val="0"/>
                </a:spcBef>
                <a:spcAft>
                  <a:spcPts val="0"/>
                </a:spcAft>
              </a:pPr>
              <a:r>
                <a:rPr lang="en-GB" sz="3600">
                  <a:solidFill>
                    <a:srgbClr val="00206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I</a:t>
              </a:r>
              <a:r>
                <a:rPr lang="en-GB" sz="3600" baseline="-25000">
                  <a:solidFill>
                    <a:srgbClr val="00206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2</a:t>
              </a:r>
              <a:endParaRPr lang="en-GB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cxnSp>
          <p:nvCxnSpPr>
            <p:cNvPr id="38" name="Line 2472">
              <a:extLst>
                <a:ext uri="{FF2B5EF4-FFF2-40B4-BE49-F238E27FC236}">
                  <a16:creationId xmlns:a16="http://schemas.microsoft.com/office/drawing/2014/main" id="{AAB1D382-D6B4-46AC-A076-B4767A5C4463}"/>
                </a:ext>
              </a:extLst>
            </p:cNvPr>
            <p:cNvCxnSpPr>
              <a:cxnSpLocks noChangeAspect="1" noChangeShapeType="1"/>
            </p:cNvCxnSpPr>
            <p:nvPr/>
          </p:nvCxnSpPr>
          <p:spPr bwMode="auto">
            <a:xfrm>
              <a:off x="6920" y="3869"/>
              <a:ext cx="120" cy="0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9" name="Text Box 2473">
              <a:extLst>
                <a:ext uri="{FF2B5EF4-FFF2-40B4-BE49-F238E27FC236}">
                  <a16:creationId xmlns:a16="http://schemas.microsoft.com/office/drawing/2014/main" id="{7D002649-35D7-481B-928F-09DB65B38DC5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6188" y="4325"/>
              <a:ext cx="360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18000" tIns="10800" rIns="18000" bIns="10800" anchor="t" anchorCtr="0" upright="1">
              <a:noAutofit/>
            </a:bodyPr>
            <a:lstStyle/>
            <a:p>
              <a:pPr marL="0" marR="0">
                <a:spcBef>
                  <a:spcPts val="0"/>
                </a:spcBef>
                <a:spcAft>
                  <a:spcPts val="0"/>
                </a:spcAft>
              </a:pPr>
              <a:r>
                <a:rPr lang="en-GB" sz="3600">
                  <a:solidFill>
                    <a:srgbClr val="00206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Y</a:t>
              </a:r>
              <a:endParaRPr lang="en-GB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</p:grpSp>
      <p:sp>
        <p:nvSpPr>
          <p:cNvPr id="43" name="Rectangle 6">
            <a:extLst>
              <a:ext uri="{FF2B5EF4-FFF2-40B4-BE49-F238E27FC236}">
                <a16:creationId xmlns:a16="http://schemas.microsoft.com/office/drawing/2014/main" id="{76EDAD5F-4202-4E7F-B709-FE1A81680F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47706" y="5954686"/>
            <a:ext cx="643170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1374775" algn="r"/>
                <a:tab pos="2743200" algn="ctr"/>
                <a:tab pos="3429000" algn="r"/>
                <a:tab pos="5486400" algn="r"/>
                <a:tab pos="73152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1374775" algn="r"/>
                <a:tab pos="2743200" algn="ctr"/>
                <a:tab pos="3429000" algn="r"/>
                <a:tab pos="5486400" algn="r"/>
                <a:tab pos="73152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1374775" algn="r"/>
                <a:tab pos="2743200" algn="ctr"/>
                <a:tab pos="3429000" algn="r"/>
                <a:tab pos="5486400" algn="r"/>
                <a:tab pos="73152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1374775" algn="r"/>
                <a:tab pos="2743200" algn="ctr"/>
                <a:tab pos="3429000" algn="r"/>
                <a:tab pos="5486400" algn="r"/>
                <a:tab pos="73152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1374775" algn="r"/>
                <a:tab pos="2743200" algn="ctr"/>
                <a:tab pos="3429000" algn="r"/>
                <a:tab pos="5486400" algn="r"/>
                <a:tab pos="73152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1374775" algn="r"/>
                <a:tab pos="2743200" algn="ctr"/>
                <a:tab pos="3429000" algn="r"/>
                <a:tab pos="5486400" algn="r"/>
                <a:tab pos="73152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1374775" algn="r"/>
                <a:tab pos="2743200" algn="ctr"/>
                <a:tab pos="3429000" algn="r"/>
                <a:tab pos="5486400" algn="r"/>
                <a:tab pos="73152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1374775" algn="r"/>
                <a:tab pos="2743200" algn="ctr"/>
                <a:tab pos="3429000" algn="r"/>
                <a:tab pos="5486400" algn="r"/>
                <a:tab pos="73152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1374775" algn="r"/>
                <a:tab pos="2743200" algn="ctr"/>
                <a:tab pos="3429000" algn="r"/>
                <a:tab pos="5486400" algn="r"/>
                <a:tab pos="73152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54000" algn="r"/>
                <a:tab pos="469900" algn="r"/>
                <a:tab pos="687388" algn="r"/>
                <a:tab pos="1374775" algn="r"/>
                <a:tab pos="2743200" algn="ctr"/>
                <a:tab pos="3429000" algn="r"/>
                <a:tab pos="5607050" algn="r"/>
                <a:tab pos="7315200" algn="r"/>
              </a:tabLst>
            </a:pPr>
            <a:r>
              <a:rPr kumimoji="0" lang="en-GB" altLang="en-US" sz="28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	= 1,				  = 1</a:t>
            </a:r>
            <a:endParaRPr kumimoji="0" lang="en-GB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4" name="Rectangle 5">
            <a:extLst>
              <a:ext uri="{FF2B5EF4-FFF2-40B4-BE49-F238E27FC236}">
                <a16:creationId xmlns:a16="http://schemas.microsoft.com/office/drawing/2014/main" id="{F38B56EE-1CB9-4282-902E-291D8AD0CC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2282" y="5827176"/>
            <a:ext cx="116205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altLang="en-US" sz="28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D = </a:t>
            </a:r>
            <a:endParaRPr kumimoji="0" lang="en-GB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5" name="Rectangle 5">
            <a:extLst>
              <a:ext uri="{FF2B5EF4-FFF2-40B4-BE49-F238E27FC236}">
                <a16:creationId xmlns:a16="http://schemas.microsoft.com/office/drawing/2014/main" id="{33F86A84-F770-46BE-868E-394BAF1927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7706" y="4946667"/>
            <a:ext cx="96795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altLang="en-US" sz="28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C = </a:t>
            </a:r>
            <a:endParaRPr kumimoji="0" lang="en-GB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38667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C8DD207F-16EC-4281-97AC-FAB6D6CA7CE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10531645"/>
              </p:ext>
            </p:extLst>
          </p:nvPr>
        </p:nvGraphicFramePr>
        <p:xfrm>
          <a:off x="480395" y="913007"/>
          <a:ext cx="1685925" cy="142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7585" r:id="rId3" imgW="545863" imgH="457002" progId="Equation.3">
                  <p:embed/>
                </p:oleObj>
              </mc:Choice>
              <mc:Fallback>
                <p:oleObj r:id="rId3" imgW="545863" imgH="457002" progId="Equation.3">
                  <p:embed/>
                  <p:pic>
                    <p:nvPicPr>
                      <p:cNvPr id="0" name="Object 5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395" y="913007"/>
                        <a:ext cx="1685925" cy="1428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C9E7ECC0-70BC-485B-B3C4-39A6EF5BE74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50673848"/>
              </p:ext>
            </p:extLst>
          </p:nvPr>
        </p:nvGraphicFramePr>
        <p:xfrm>
          <a:off x="3565239" y="875404"/>
          <a:ext cx="1476375" cy="1390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7586" r:id="rId5" imgW="495085" imgH="457002" progId="Equation.3">
                  <p:embed/>
                </p:oleObj>
              </mc:Choice>
              <mc:Fallback>
                <p:oleObj r:id="rId5" imgW="495085" imgH="457002" progId="Equation.3">
                  <p:embed/>
                  <p:pic>
                    <p:nvPicPr>
                      <p:cNvPr id="0" name="Object 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65239" y="875404"/>
                        <a:ext cx="1476375" cy="13906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A90D0587-428A-4B52-806D-3D002C8BCAF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07035361"/>
              </p:ext>
            </p:extLst>
          </p:nvPr>
        </p:nvGraphicFramePr>
        <p:xfrm>
          <a:off x="6537648" y="824429"/>
          <a:ext cx="1495425" cy="142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7587" r:id="rId7" imgW="495085" imgH="457002" progId="Equation.3">
                  <p:embed/>
                </p:oleObj>
              </mc:Choice>
              <mc:Fallback>
                <p:oleObj r:id="rId7" imgW="495085" imgH="457002" progId="Equation.3">
                  <p:embed/>
                  <p:pic>
                    <p:nvPicPr>
                      <p:cNvPr id="0" name="Object 5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37648" y="824429"/>
                        <a:ext cx="1495425" cy="1428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B6F1DC9D-A114-462C-868E-2EC4CE63C77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04273515"/>
              </p:ext>
            </p:extLst>
          </p:nvPr>
        </p:nvGraphicFramePr>
        <p:xfrm>
          <a:off x="624195" y="4663480"/>
          <a:ext cx="1638300" cy="1381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7588" r:id="rId9" imgW="545863" imgH="457002" progId="Equation.3">
                  <p:embed/>
                </p:oleObj>
              </mc:Choice>
              <mc:Fallback>
                <p:oleObj r:id="rId9" imgW="545863" imgH="457002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4195" y="4663480"/>
                        <a:ext cx="1638300" cy="13811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E209EBB1-593E-4F62-8ED7-05F3AFA51FE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46845056"/>
              </p:ext>
            </p:extLst>
          </p:nvPr>
        </p:nvGraphicFramePr>
        <p:xfrm>
          <a:off x="3389151" y="4663938"/>
          <a:ext cx="1619250" cy="1438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7589" r:id="rId10" imgW="533169" imgH="482391" progId="Equation.3">
                  <p:embed/>
                </p:oleObj>
              </mc:Choice>
              <mc:Fallback>
                <p:oleObj r:id="rId10" imgW="533169" imgH="482391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89151" y="4663938"/>
                        <a:ext cx="1619250" cy="14382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F0B40C24-3934-432B-BEE6-87DEABCFC6B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24605759"/>
              </p:ext>
            </p:extLst>
          </p:nvPr>
        </p:nvGraphicFramePr>
        <p:xfrm>
          <a:off x="4942298" y="4710491"/>
          <a:ext cx="1762125" cy="1438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7590" r:id="rId12" imgW="660113" imgH="533169" progId="Equation.3">
                  <p:embed/>
                </p:oleObj>
              </mc:Choice>
              <mc:Fallback>
                <p:oleObj r:id="rId12" imgW="660113" imgH="533169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42298" y="4710491"/>
                        <a:ext cx="1762125" cy="14382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7DAFB50E-69F8-4097-809F-96D3E1B38A1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32729777"/>
              </p:ext>
            </p:extLst>
          </p:nvPr>
        </p:nvGraphicFramePr>
        <p:xfrm>
          <a:off x="6655549" y="4700955"/>
          <a:ext cx="1581150" cy="1438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7591" r:id="rId14" imgW="520474" imgH="482391" progId="Equation.3">
                  <p:embed/>
                </p:oleObj>
              </mc:Choice>
              <mc:Fallback>
                <p:oleObj r:id="rId14" imgW="520474" imgH="482391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55549" y="4700955"/>
                        <a:ext cx="1581150" cy="14382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" name="Group 9">
            <a:extLst>
              <a:ext uri="{FF2B5EF4-FFF2-40B4-BE49-F238E27FC236}">
                <a16:creationId xmlns:a16="http://schemas.microsoft.com/office/drawing/2014/main" id="{D683AAF7-7E48-41EF-B9C4-9B14C4948AA7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221615" y="2185807"/>
            <a:ext cx="10140950" cy="2176780"/>
            <a:chOff x="1537" y="10880"/>
            <a:chExt cx="7975" cy="1712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A604B40B-6631-4771-8BDD-776DC393DDE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537" y="10880"/>
              <a:ext cx="3945" cy="1710"/>
              <a:chOff x="6935" y="1532"/>
              <a:chExt cx="3945" cy="1710"/>
            </a:xfrm>
          </p:grpSpPr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4D71124D-4335-44F8-8015-3523E5A3D28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 rot="5400000">
                <a:off x="8589" y="1729"/>
                <a:ext cx="215" cy="506"/>
              </a:xfrm>
              <a:prstGeom prst="rect">
                <a:avLst/>
              </a:prstGeom>
              <a:noFill/>
              <a:ln w="38100">
                <a:solidFill>
                  <a:srgbClr val="C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GB"/>
              </a:p>
            </p:txBody>
          </p:sp>
          <p:cxnSp>
            <p:nvCxnSpPr>
              <p:cNvPr id="33" name="Line 2508">
                <a:extLst>
                  <a:ext uri="{FF2B5EF4-FFF2-40B4-BE49-F238E27FC236}">
                    <a16:creationId xmlns:a16="http://schemas.microsoft.com/office/drawing/2014/main" id="{58E9851D-B844-4B8D-B165-70152771DCB9}"/>
                  </a:ext>
                </a:extLst>
              </p:cNvPr>
              <p:cNvCxnSpPr>
                <a:cxnSpLocks noChangeAspect="1" noChangeShapeType="1"/>
              </p:cNvCxnSpPr>
              <p:nvPr/>
            </p:nvCxnSpPr>
            <p:spPr bwMode="auto">
              <a:xfrm rot="5400000">
                <a:off x="9460" y="1469"/>
                <a:ext cx="0" cy="1024"/>
              </a:xfrm>
              <a:prstGeom prst="line">
                <a:avLst/>
              </a:prstGeom>
              <a:noFill/>
              <a:ln w="38100">
                <a:solidFill>
                  <a:srgbClr val="C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4" name="Line 2509">
                <a:extLst>
                  <a:ext uri="{FF2B5EF4-FFF2-40B4-BE49-F238E27FC236}">
                    <a16:creationId xmlns:a16="http://schemas.microsoft.com/office/drawing/2014/main" id="{9955AD82-8E3C-4601-AE06-FFF7C527BD08}"/>
                  </a:ext>
                </a:extLst>
              </p:cNvPr>
              <p:cNvCxnSpPr>
                <a:cxnSpLocks noChangeAspect="1" noChangeShapeType="1"/>
              </p:cNvCxnSpPr>
              <p:nvPr/>
            </p:nvCxnSpPr>
            <p:spPr bwMode="auto">
              <a:xfrm rot="5400000">
                <a:off x="7937" y="1476"/>
                <a:ext cx="0" cy="1010"/>
              </a:xfrm>
              <a:prstGeom prst="line">
                <a:avLst/>
              </a:prstGeom>
              <a:noFill/>
              <a:ln w="38100">
                <a:solidFill>
                  <a:srgbClr val="C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1811D7E7-2AAE-4767-8F5A-9B5E7E8A3BF5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 rot="10800000">
                <a:off x="7790" y="1978"/>
                <a:ext cx="215" cy="1264"/>
                <a:chOff x="9878" y="1418"/>
                <a:chExt cx="360" cy="1800"/>
              </a:xfrm>
            </p:grpSpPr>
            <p:sp>
              <p:nvSpPr>
                <p:cNvPr id="52" name="Rectangle 51">
                  <a:extLst>
                    <a:ext uri="{FF2B5EF4-FFF2-40B4-BE49-F238E27FC236}">
                      <a16:creationId xmlns:a16="http://schemas.microsoft.com/office/drawing/2014/main" id="{41F7A2F7-AFD9-441D-A463-2DB1E0537F46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9878" y="1958"/>
                  <a:ext cx="360" cy="720"/>
                </a:xfrm>
                <a:prstGeom prst="rect">
                  <a:avLst/>
                </a:prstGeom>
                <a:noFill/>
                <a:ln w="38100">
                  <a:solidFill>
                    <a:srgbClr val="C0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endParaRPr lang="en-GB"/>
                </a:p>
              </p:txBody>
            </p:sp>
            <p:cxnSp>
              <p:nvCxnSpPr>
                <p:cNvPr id="53" name="Line 2512">
                  <a:extLst>
                    <a:ext uri="{FF2B5EF4-FFF2-40B4-BE49-F238E27FC236}">
                      <a16:creationId xmlns:a16="http://schemas.microsoft.com/office/drawing/2014/main" id="{53096BE6-4C34-477B-81F0-D85CE712DEED}"/>
                    </a:ext>
                  </a:extLst>
                </p:cNvPr>
                <p:cNvCxnSpPr>
                  <a:cxnSpLocks noChangeAspect="1" noChangeShapeType="1"/>
                </p:cNvCxnSpPr>
                <p:nvPr/>
              </p:nvCxnSpPr>
              <p:spPr bwMode="auto">
                <a:xfrm>
                  <a:off x="10058" y="1418"/>
                  <a:ext cx="0" cy="540"/>
                </a:xfrm>
                <a:prstGeom prst="line">
                  <a:avLst/>
                </a:prstGeom>
                <a:noFill/>
                <a:ln w="38100">
                  <a:solidFill>
                    <a:srgbClr val="C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54" name="Line 2513">
                  <a:extLst>
                    <a:ext uri="{FF2B5EF4-FFF2-40B4-BE49-F238E27FC236}">
                      <a16:creationId xmlns:a16="http://schemas.microsoft.com/office/drawing/2014/main" id="{13F079C5-0FCD-4990-BEE4-581B7C44EB31}"/>
                    </a:ext>
                  </a:extLst>
                </p:cNvPr>
                <p:cNvCxnSpPr>
                  <a:cxnSpLocks noChangeAspect="1" noChangeShapeType="1"/>
                </p:cNvCxnSpPr>
                <p:nvPr/>
              </p:nvCxnSpPr>
              <p:spPr bwMode="auto">
                <a:xfrm>
                  <a:off x="10058" y="2678"/>
                  <a:ext cx="0" cy="540"/>
                </a:xfrm>
                <a:prstGeom prst="line">
                  <a:avLst/>
                </a:prstGeom>
                <a:noFill/>
                <a:ln w="38100">
                  <a:solidFill>
                    <a:srgbClr val="C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  <p:cxnSp>
            <p:nvCxnSpPr>
              <p:cNvPr id="36" name="Line 2514">
                <a:extLst>
                  <a:ext uri="{FF2B5EF4-FFF2-40B4-BE49-F238E27FC236}">
                    <a16:creationId xmlns:a16="http://schemas.microsoft.com/office/drawing/2014/main" id="{7C54F455-C4D2-41F8-9058-7F2D3CC81C3B}"/>
                  </a:ext>
                </a:extLst>
              </p:cNvPr>
              <p:cNvCxnSpPr>
                <a:cxnSpLocks noChangeAspect="1" noChangeShapeType="1"/>
              </p:cNvCxnSpPr>
              <p:nvPr/>
            </p:nvCxnSpPr>
            <p:spPr bwMode="auto">
              <a:xfrm>
                <a:off x="7467" y="3242"/>
                <a:ext cx="2542" cy="0"/>
              </a:xfrm>
              <a:prstGeom prst="line">
                <a:avLst/>
              </a:prstGeom>
              <a:noFill/>
              <a:ln w="38100">
                <a:solidFill>
                  <a:srgbClr val="C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37" name="Text Box 2515">
                <a:extLst>
                  <a:ext uri="{FF2B5EF4-FFF2-40B4-BE49-F238E27FC236}">
                    <a16:creationId xmlns:a16="http://schemas.microsoft.com/office/drawing/2014/main" id="{3D0F6459-BDD9-43D3-A53D-0F6FC5ACC653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7432" y="1589"/>
                <a:ext cx="244" cy="36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C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rot="0" vert="horz" wrap="square" lIns="18000" tIns="10800" rIns="18000" bIns="10800" anchor="t" anchorCtr="0" upright="1">
                <a:noAutofit/>
              </a:bodyPr>
              <a:lstStyle/>
              <a:p>
                <a:pPr marL="0" marR="0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GB" sz="2600">
                    <a:solidFill>
                      <a:srgbClr val="00206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I</a:t>
                </a:r>
                <a:r>
                  <a:rPr lang="en-GB" sz="2600" baseline="-25000">
                    <a:solidFill>
                      <a:srgbClr val="00206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1</a:t>
                </a:r>
                <a:endParaRPr lang="en-GB" sz="120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  <p:sp>
            <p:nvSpPr>
              <p:cNvPr id="38" name="Text Box 2516">
                <a:extLst>
                  <a:ext uri="{FF2B5EF4-FFF2-40B4-BE49-F238E27FC236}">
                    <a16:creationId xmlns:a16="http://schemas.microsoft.com/office/drawing/2014/main" id="{3EBE6512-A3FC-4F06-9E78-DEC21933F478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9728" y="1589"/>
                <a:ext cx="244" cy="36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C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rot="0" vert="horz" wrap="square" lIns="18000" tIns="10800" rIns="18000" bIns="10800" anchor="t" anchorCtr="0" upright="1">
                <a:noAutofit/>
              </a:bodyPr>
              <a:lstStyle/>
              <a:p>
                <a:pPr marL="0" marR="0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GB" sz="2400">
                    <a:solidFill>
                      <a:srgbClr val="00206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I</a:t>
                </a:r>
                <a:r>
                  <a:rPr lang="en-GB" sz="2400" baseline="-25000">
                    <a:solidFill>
                      <a:srgbClr val="00206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2</a:t>
                </a:r>
                <a:endParaRPr lang="en-GB" sz="120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  <p:sp>
            <p:nvSpPr>
              <p:cNvPr id="39" name="Text Box 2517">
                <a:extLst>
                  <a:ext uri="{FF2B5EF4-FFF2-40B4-BE49-F238E27FC236}">
                    <a16:creationId xmlns:a16="http://schemas.microsoft.com/office/drawing/2014/main" id="{B509ED46-B10B-4982-B6BA-C5271297F9B7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6935" y="2273"/>
                <a:ext cx="330" cy="36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C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rot="0" vert="horz" wrap="square" lIns="18000" tIns="10800" rIns="18000" bIns="10800" anchor="t" anchorCtr="0" upright="1">
                <a:noAutofit/>
              </a:bodyPr>
              <a:lstStyle/>
              <a:p>
                <a:pPr marL="0" marR="0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GB" sz="2400">
                    <a:solidFill>
                      <a:srgbClr val="00206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V</a:t>
                </a:r>
                <a:r>
                  <a:rPr lang="en-GB" sz="2400" baseline="-25000">
                    <a:solidFill>
                      <a:srgbClr val="00206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1</a:t>
                </a:r>
                <a:endParaRPr lang="en-GB" sz="120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  <p:cxnSp>
            <p:nvCxnSpPr>
              <p:cNvPr id="40" name="Line 2518">
                <a:extLst>
                  <a:ext uri="{FF2B5EF4-FFF2-40B4-BE49-F238E27FC236}">
                    <a16:creationId xmlns:a16="http://schemas.microsoft.com/office/drawing/2014/main" id="{A3B08EF3-B79C-4235-BA42-A62275448F77}"/>
                  </a:ext>
                </a:extLst>
              </p:cNvPr>
              <p:cNvCxnSpPr>
                <a:cxnSpLocks noChangeAspect="1" noChangeShapeType="1"/>
              </p:cNvCxnSpPr>
              <p:nvPr/>
            </p:nvCxnSpPr>
            <p:spPr bwMode="auto">
              <a:xfrm>
                <a:off x="7292" y="2321"/>
                <a:ext cx="0" cy="540"/>
              </a:xfrm>
              <a:prstGeom prst="line">
                <a:avLst/>
              </a:prstGeom>
              <a:noFill/>
              <a:ln w="38100">
                <a:solidFill>
                  <a:srgbClr val="002060"/>
                </a:solidFill>
                <a:round/>
                <a:headEnd type="arrow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41" name="Text Box 2519">
                <a:extLst>
                  <a:ext uri="{FF2B5EF4-FFF2-40B4-BE49-F238E27FC236}">
                    <a16:creationId xmlns:a16="http://schemas.microsoft.com/office/drawing/2014/main" id="{9356132D-07C2-4894-A6DD-C4951B717091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10249" y="2387"/>
                <a:ext cx="631" cy="36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C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rot="0" vert="horz" wrap="square" lIns="18000" tIns="10800" rIns="18000" bIns="10800" anchor="t" anchorCtr="0" upright="1">
                <a:noAutofit/>
              </a:bodyPr>
              <a:lstStyle/>
              <a:p>
                <a:pPr marL="0" marR="0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GB" sz="2400">
                    <a:solidFill>
                      <a:srgbClr val="00206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V</a:t>
                </a:r>
                <a:r>
                  <a:rPr lang="en-GB" sz="2400" baseline="-25000">
                    <a:solidFill>
                      <a:srgbClr val="00206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2</a:t>
                </a:r>
                <a:endParaRPr lang="en-GB" sz="120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  <p:cxnSp>
            <p:nvCxnSpPr>
              <p:cNvPr id="42" name="Line 2520">
                <a:extLst>
                  <a:ext uri="{FF2B5EF4-FFF2-40B4-BE49-F238E27FC236}">
                    <a16:creationId xmlns:a16="http://schemas.microsoft.com/office/drawing/2014/main" id="{2BC2A0F6-A915-41AC-88D1-D84FDDA46525}"/>
                  </a:ext>
                </a:extLst>
              </p:cNvPr>
              <p:cNvCxnSpPr>
                <a:cxnSpLocks noChangeAspect="1" noChangeShapeType="1"/>
              </p:cNvCxnSpPr>
              <p:nvPr/>
            </p:nvCxnSpPr>
            <p:spPr bwMode="auto">
              <a:xfrm>
                <a:off x="10145" y="2330"/>
                <a:ext cx="0" cy="540"/>
              </a:xfrm>
              <a:prstGeom prst="line">
                <a:avLst/>
              </a:prstGeom>
              <a:noFill/>
              <a:ln w="38100">
                <a:solidFill>
                  <a:srgbClr val="002060"/>
                </a:solidFill>
                <a:round/>
                <a:headEnd type="arrow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43" name="Line 2521">
                <a:extLst>
                  <a:ext uri="{FF2B5EF4-FFF2-40B4-BE49-F238E27FC236}">
                    <a16:creationId xmlns:a16="http://schemas.microsoft.com/office/drawing/2014/main" id="{B19A0D9E-37F5-4BCF-BCFA-4AC55C570600}"/>
                  </a:ext>
                </a:extLst>
              </p:cNvPr>
              <p:cNvCxnSpPr>
                <a:cxnSpLocks noChangeAspect="1" noChangeShapeType="1"/>
              </p:cNvCxnSpPr>
              <p:nvPr/>
            </p:nvCxnSpPr>
            <p:spPr bwMode="auto">
              <a:xfrm>
                <a:off x="7619" y="1973"/>
                <a:ext cx="120" cy="0"/>
              </a:xfrm>
              <a:prstGeom prst="line">
                <a:avLst/>
              </a:prstGeom>
              <a:noFill/>
              <a:ln w="38100">
                <a:solidFill>
                  <a:srgbClr val="C00000"/>
                </a:solidFill>
                <a:round/>
                <a:headEnd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44" name="Line 2522">
                <a:extLst>
                  <a:ext uri="{FF2B5EF4-FFF2-40B4-BE49-F238E27FC236}">
                    <a16:creationId xmlns:a16="http://schemas.microsoft.com/office/drawing/2014/main" id="{EAAC5393-5A11-45FD-A536-4164C88FCA6D}"/>
                  </a:ext>
                </a:extLst>
              </p:cNvPr>
              <p:cNvCxnSpPr>
                <a:cxnSpLocks noChangeAspect="1" noChangeShapeType="1"/>
              </p:cNvCxnSpPr>
              <p:nvPr/>
            </p:nvCxnSpPr>
            <p:spPr bwMode="auto">
              <a:xfrm>
                <a:off x="9665" y="1973"/>
                <a:ext cx="120" cy="0"/>
              </a:xfrm>
              <a:prstGeom prst="line">
                <a:avLst/>
              </a:prstGeom>
              <a:noFill/>
              <a:ln w="38100">
                <a:solidFill>
                  <a:srgbClr val="C00000"/>
                </a:solidFill>
                <a:round/>
                <a:headEnd type="arrow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45" name="Text Box 2523">
                <a:extLst>
                  <a:ext uri="{FF2B5EF4-FFF2-40B4-BE49-F238E27FC236}">
                    <a16:creationId xmlns:a16="http://schemas.microsoft.com/office/drawing/2014/main" id="{5CA7ECCF-4295-4B2C-98F7-8410F1A774D4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8570" y="1532"/>
                <a:ext cx="360" cy="36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C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rot="0" vert="horz" wrap="square" lIns="18000" tIns="10800" rIns="18000" bIns="10800" anchor="t" anchorCtr="0" upright="1">
                <a:noAutofit/>
              </a:bodyPr>
              <a:lstStyle/>
              <a:p>
                <a:pPr marL="0" marR="0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GB" sz="2400">
                    <a:solidFill>
                      <a:srgbClr val="00206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Y</a:t>
                </a:r>
                <a:r>
                  <a:rPr lang="en-GB" sz="2400" baseline="-25000">
                    <a:solidFill>
                      <a:srgbClr val="00206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b</a:t>
                </a:r>
                <a:endParaRPr lang="en-GB" sz="120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  <p:sp>
            <p:nvSpPr>
              <p:cNvPr id="46" name="Text Box 2524">
                <a:extLst>
                  <a:ext uri="{FF2B5EF4-FFF2-40B4-BE49-F238E27FC236}">
                    <a16:creationId xmlns:a16="http://schemas.microsoft.com/office/drawing/2014/main" id="{263D394B-890B-4989-A11E-944AC56F6F9C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8017" y="2426"/>
                <a:ext cx="360" cy="36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C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rot="0" vert="horz" wrap="square" lIns="18000" tIns="10800" rIns="18000" bIns="10800" anchor="t" anchorCtr="0" upright="1">
                <a:noAutofit/>
              </a:bodyPr>
              <a:lstStyle/>
              <a:p>
                <a:pPr marL="0" marR="0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GB" sz="2400">
                    <a:solidFill>
                      <a:srgbClr val="00206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Y</a:t>
                </a:r>
                <a:r>
                  <a:rPr lang="en-GB" sz="2400" baseline="-25000">
                    <a:solidFill>
                      <a:srgbClr val="00206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a</a:t>
                </a:r>
                <a:endParaRPr lang="en-GB" sz="120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  <p:grpSp>
            <p:nvGrpSpPr>
              <p:cNvPr id="47" name="Group 46">
                <a:extLst>
                  <a:ext uri="{FF2B5EF4-FFF2-40B4-BE49-F238E27FC236}">
                    <a16:creationId xmlns:a16="http://schemas.microsoft.com/office/drawing/2014/main" id="{93BCF5D2-5CE3-45F0-AE7A-AF6D788A061B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 rot="10800000">
                <a:off x="9426" y="1977"/>
                <a:ext cx="215" cy="1264"/>
                <a:chOff x="9878" y="1418"/>
                <a:chExt cx="360" cy="1800"/>
              </a:xfrm>
            </p:grpSpPr>
            <p:sp>
              <p:nvSpPr>
                <p:cNvPr id="49" name="Rectangle 48">
                  <a:extLst>
                    <a:ext uri="{FF2B5EF4-FFF2-40B4-BE49-F238E27FC236}">
                      <a16:creationId xmlns:a16="http://schemas.microsoft.com/office/drawing/2014/main" id="{3FD239DB-9B1A-4B71-933C-23498AF2D11B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9878" y="1958"/>
                  <a:ext cx="360" cy="720"/>
                </a:xfrm>
                <a:prstGeom prst="rect">
                  <a:avLst/>
                </a:prstGeom>
                <a:noFill/>
                <a:ln w="38100">
                  <a:solidFill>
                    <a:srgbClr val="C0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endParaRPr lang="en-GB"/>
                </a:p>
              </p:txBody>
            </p:sp>
            <p:cxnSp>
              <p:nvCxnSpPr>
                <p:cNvPr id="50" name="Line 2527">
                  <a:extLst>
                    <a:ext uri="{FF2B5EF4-FFF2-40B4-BE49-F238E27FC236}">
                      <a16:creationId xmlns:a16="http://schemas.microsoft.com/office/drawing/2014/main" id="{23FB1235-D716-4C33-BC57-8CE7514F9AB1}"/>
                    </a:ext>
                  </a:extLst>
                </p:cNvPr>
                <p:cNvCxnSpPr>
                  <a:cxnSpLocks noChangeAspect="1" noChangeShapeType="1"/>
                </p:cNvCxnSpPr>
                <p:nvPr/>
              </p:nvCxnSpPr>
              <p:spPr bwMode="auto">
                <a:xfrm>
                  <a:off x="10058" y="1418"/>
                  <a:ext cx="0" cy="540"/>
                </a:xfrm>
                <a:prstGeom prst="line">
                  <a:avLst/>
                </a:prstGeom>
                <a:noFill/>
                <a:ln w="38100">
                  <a:solidFill>
                    <a:srgbClr val="C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51" name="Line 2528">
                  <a:extLst>
                    <a:ext uri="{FF2B5EF4-FFF2-40B4-BE49-F238E27FC236}">
                      <a16:creationId xmlns:a16="http://schemas.microsoft.com/office/drawing/2014/main" id="{67A8C364-66FA-42EF-9D30-C3FF13499655}"/>
                    </a:ext>
                  </a:extLst>
                </p:cNvPr>
                <p:cNvCxnSpPr>
                  <a:cxnSpLocks noChangeAspect="1" noChangeShapeType="1"/>
                </p:cNvCxnSpPr>
                <p:nvPr/>
              </p:nvCxnSpPr>
              <p:spPr bwMode="auto">
                <a:xfrm>
                  <a:off x="10058" y="2678"/>
                  <a:ext cx="0" cy="540"/>
                </a:xfrm>
                <a:prstGeom prst="line">
                  <a:avLst/>
                </a:prstGeom>
                <a:noFill/>
                <a:ln w="38100">
                  <a:solidFill>
                    <a:srgbClr val="C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  <p:sp>
            <p:nvSpPr>
              <p:cNvPr id="48" name="Text Box 2529">
                <a:extLst>
                  <a:ext uri="{FF2B5EF4-FFF2-40B4-BE49-F238E27FC236}">
                    <a16:creationId xmlns:a16="http://schemas.microsoft.com/office/drawing/2014/main" id="{ADB67D15-B51B-448D-B9B7-691776EEC6F8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9653" y="2425"/>
                <a:ext cx="360" cy="36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C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rot="0" vert="horz" wrap="square" lIns="18000" tIns="10800" rIns="18000" bIns="10800" anchor="t" anchorCtr="0" upright="1">
                <a:noAutofit/>
              </a:bodyPr>
              <a:lstStyle/>
              <a:p>
                <a:pPr marL="0" marR="0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GB" sz="2400">
                    <a:solidFill>
                      <a:srgbClr val="00206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Y</a:t>
                </a:r>
                <a:r>
                  <a:rPr lang="en-GB" sz="2400" baseline="-25000">
                    <a:solidFill>
                      <a:srgbClr val="00206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c</a:t>
                </a:r>
                <a:endParaRPr lang="en-GB" sz="120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p:grpSp>
        <p:sp>
          <p:nvSpPr>
            <p:cNvPr id="12" name="Text Box 2530">
              <a:extLst>
                <a:ext uri="{FF2B5EF4-FFF2-40B4-BE49-F238E27FC236}">
                  <a16:creationId xmlns:a16="http://schemas.microsoft.com/office/drawing/2014/main" id="{E5E505B2-AB57-4EC8-B75C-D5D031177A58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5482" y="11603"/>
              <a:ext cx="360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C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18000" tIns="10800" rIns="18000" bIns="10800" anchor="t" anchorCtr="0" upright="1">
              <a:noAutofit/>
            </a:bodyPr>
            <a:lstStyle/>
            <a:p>
              <a:pPr marL="0" marR="0">
                <a:spcBef>
                  <a:spcPts val="0"/>
                </a:spcBef>
                <a:spcAft>
                  <a:spcPts val="0"/>
                </a:spcAft>
              </a:pPr>
              <a:r>
                <a:rPr lang="en-GB" sz="3400">
                  <a:solidFill>
                    <a:srgbClr val="00206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sym typeface="Symbol" panose="05050102010706020507" pitchFamily="18" charset="2"/>
                </a:rPr>
                <a:t></a:t>
              </a:r>
              <a:endParaRPr lang="en-GB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CB323D11-CE17-49E3-81DD-8B92FFCD7966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 rot="5400000">
              <a:off x="7449" y="11077"/>
              <a:ext cx="215" cy="506"/>
            </a:xfrm>
            <a:prstGeom prst="rect">
              <a:avLst/>
            </a:prstGeom>
            <a:noFill/>
            <a:ln w="38100">
              <a:solidFill>
                <a:srgbClr val="C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GB"/>
            </a:p>
          </p:txBody>
        </p:sp>
        <p:cxnSp>
          <p:nvCxnSpPr>
            <p:cNvPr id="14" name="Line 2532">
              <a:extLst>
                <a:ext uri="{FF2B5EF4-FFF2-40B4-BE49-F238E27FC236}">
                  <a16:creationId xmlns:a16="http://schemas.microsoft.com/office/drawing/2014/main" id="{1BD5CF37-EBC2-4FD5-A195-4377B4E3AB09}"/>
                </a:ext>
              </a:extLst>
            </p:cNvPr>
            <p:cNvCxnSpPr>
              <a:cxnSpLocks noChangeAspect="1" noChangeShapeType="1"/>
            </p:cNvCxnSpPr>
            <p:nvPr/>
          </p:nvCxnSpPr>
          <p:spPr bwMode="auto">
            <a:xfrm rot="5400000">
              <a:off x="8047" y="11090"/>
              <a:ext cx="0" cy="478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" name="Line 2533">
              <a:extLst>
                <a:ext uri="{FF2B5EF4-FFF2-40B4-BE49-F238E27FC236}">
                  <a16:creationId xmlns:a16="http://schemas.microsoft.com/office/drawing/2014/main" id="{4FC8B609-73C7-4C7F-80E5-92A3500A1B52}"/>
                </a:ext>
              </a:extLst>
            </p:cNvPr>
            <p:cNvCxnSpPr>
              <a:cxnSpLocks noChangeAspect="1" noChangeShapeType="1"/>
            </p:cNvCxnSpPr>
            <p:nvPr/>
          </p:nvCxnSpPr>
          <p:spPr bwMode="auto">
            <a:xfrm rot="5400000">
              <a:off x="6248" y="10994"/>
              <a:ext cx="8" cy="661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D52E98C2-688E-4F71-9BBD-D134FDA07CC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6171" y="11326"/>
              <a:ext cx="215" cy="1264"/>
              <a:chOff x="9878" y="1418"/>
              <a:chExt cx="360" cy="1800"/>
            </a:xfrm>
          </p:grpSpPr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A904FB35-46E7-4D92-A608-D0B52E6C580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9878" y="1958"/>
                <a:ext cx="360" cy="720"/>
              </a:xfrm>
              <a:prstGeom prst="rect">
                <a:avLst/>
              </a:prstGeom>
              <a:noFill/>
              <a:ln w="38100">
                <a:solidFill>
                  <a:srgbClr val="C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GB"/>
              </a:p>
            </p:txBody>
          </p:sp>
          <p:cxnSp>
            <p:nvCxnSpPr>
              <p:cNvPr id="30" name="Line 2536">
                <a:extLst>
                  <a:ext uri="{FF2B5EF4-FFF2-40B4-BE49-F238E27FC236}">
                    <a16:creationId xmlns:a16="http://schemas.microsoft.com/office/drawing/2014/main" id="{3BA52620-B13E-4A50-A64D-2E2430514090}"/>
                  </a:ext>
                </a:extLst>
              </p:cNvPr>
              <p:cNvCxnSpPr>
                <a:cxnSpLocks noChangeAspect="1" noChangeShapeType="1"/>
              </p:cNvCxnSpPr>
              <p:nvPr/>
            </p:nvCxnSpPr>
            <p:spPr bwMode="auto">
              <a:xfrm>
                <a:off x="10058" y="1418"/>
                <a:ext cx="0" cy="540"/>
              </a:xfrm>
              <a:prstGeom prst="line">
                <a:avLst/>
              </a:prstGeom>
              <a:noFill/>
              <a:ln w="38100">
                <a:solidFill>
                  <a:srgbClr val="C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1" name="Line 2537">
                <a:extLst>
                  <a:ext uri="{FF2B5EF4-FFF2-40B4-BE49-F238E27FC236}">
                    <a16:creationId xmlns:a16="http://schemas.microsoft.com/office/drawing/2014/main" id="{BFA4C47E-3A65-4FB0-980B-E80D142BCFB9}"/>
                  </a:ext>
                </a:extLst>
              </p:cNvPr>
              <p:cNvCxnSpPr>
                <a:cxnSpLocks noChangeAspect="1" noChangeShapeType="1"/>
              </p:cNvCxnSpPr>
              <p:nvPr/>
            </p:nvCxnSpPr>
            <p:spPr bwMode="auto">
              <a:xfrm>
                <a:off x="10058" y="2678"/>
                <a:ext cx="0" cy="540"/>
              </a:xfrm>
              <a:prstGeom prst="line">
                <a:avLst/>
              </a:prstGeom>
              <a:noFill/>
              <a:ln w="38100">
                <a:solidFill>
                  <a:srgbClr val="C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cxnSp>
          <p:nvCxnSpPr>
            <p:cNvPr id="17" name="Line 2538">
              <a:extLst>
                <a:ext uri="{FF2B5EF4-FFF2-40B4-BE49-F238E27FC236}">
                  <a16:creationId xmlns:a16="http://schemas.microsoft.com/office/drawing/2014/main" id="{9BB92EB3-ADEF-44A5-AB57-BA9A2543CB50}"/>
                </a:ext>
              </a:extLst>
            </p:cNvPr>
            <p:cNvCxnSpPr>
              <a:cxnSpLocks noChangeAspect="1" noChangeShapeType="1"/>
            </p:cNvCxnSpPr>
            <p:nvPr/>
          </p:nvCxnSpPr>
          <p:spPr bwMode="auto">
            <a:xfrm flipV="1">
              <a:off x="5962" y="12588"/>
              <a:ext cx="677" cy="2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8" name="Text Box 2539">
              <a:extLst>
                <a:ext uri="{FF2B5EF4-FFF2-40B4-BE49-F238E27FC236}">
                  <a16:creationId xmlns:a16="http://schemas.microsoft.com/office/drawing/2014/main" id="{BB837C9F-DC72-43F0-B4F7-C060EDD830A3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7430" y="10880"/>
              <a:ext cx="360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C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18000" tIns="10800" rIns="18000" bIns="10800" anchor="t" anchorCtr="0" upright="1">
              <a:noAutofit/>
            </a:bodyPr>
            <a:lstStyle/>
            <a:p>
              <a:pPr marL="0" marR="0">
                <a:spcBef>
                  <a:spcPts val="0"/>
                </a:spcBef>
                <a:spcAft>
                  <a:spcPts val="0"/>
                </a:spcAft>
              </a:pPr>
              <a:r>
                <a:rPr lang="en-GB" sz="2600">
                  <a:solidFill>
                    <a:srgbClr val="00206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Y</a:t>
              </a:r>
              <a:r>
                <a:rPr lang="en-GB" sz="2600" baseline="-25000">
                  <a:solidFill>
                    <a:srgbClr val="00206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b</a:t>
              </a:r>
              <a:endParaRPr lang="en-GB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19" name="Text Box 2540">
              <a:extLst>
                <a:ext uri="{FF2B5EF4-FFF2-40B4-BE49-F238E27FC236}">
                  <a16:creationId xmlns:a16="http://schemas.microsoft.com/office/drawing/2014/main" id="{877EE980-F50F-458C-9295-24A22AB44C7D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6398" y="11774"/>
              <a:ext cx="360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C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18000" tIns="10800" rIns="18000" bIns="10800" anchor="t" anchorCtr="0" upright="1">
              <a:noAutofit/>
            </a:bodyPr>
            <a:lstStyle/>
            <a:p>
              <a:pPr marL="0" marR="0">
                <a:spcBef>
                  <a:spcPts val="0"/>
                </a:spcBef>
                <a:spcAft>
                  <a:spcPts val="0"/>
                </a:spcAft>
              </a:pPr>
              <a:r>
                <a:rPr lang="en-GB" sz="2600">
                  <a:solidFill>
                    <a:srgbClr val="00206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Y</a:t>
              </a:r>
              <a:r>
                <a:rPr lang="en-GB" sz="2600" baseline="-25000">
                  <a:solidFill>
                    <a:srgbClr val="00206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a</a:t>
              </a:r>
              <a:endParaRPr lang="en-GB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F49369BB-0D21-4EF8-A6A4-1548F752733D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8925" y="11325"/>
              <a:ext cx="215" cy="1264"/>
              <a:chOff x="9878" y="1418"/>
              <a:chExt cx="360" cy="1800"/>
            </a:xfrm>
          </p:grpSpPr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F3BAA772-A42D-4BFB-9C15-DE35A8A212D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9878" y="1958"/>
                <a:ext cx="360" cy="720"/>
              </a:xfrm>
              <a:prstGeom prst="rect">
                <a:avLst/>
              </a:prstGeom>
              <a:noFill/>
              <a:ln w="38100">
                <a:solidFill>
                  <a:srgbClr val="C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GB"/>
              </a:p>
            </p:txBody>
          </p:sp>
          <p:cxnSp>
            <p:nvCxnSpPr>
              <p:cNvPr id="27" name="Line 2543">
                <a:extLst>
                  <a:ext uri="{FF2B5EF4-FFF2-40B4-BE49-F238E27FC236}">
                    <a16:creationId xmlns:a16="http://schemas.microsoft.com/office/drawing/2014/main" id="{255673DA-5165-4402-9268-66FEF282EBEF}"/>
                  </a:ext>
                </a:extLst>
              </p:cNvPr>
              <p:cNvCxnSpPr>
                <a:cxnSpLocks noChangeAspect="1" noChangeShapeType="1"/>
              </p:cNvCxnSpPr>
              <p:nvPr/>
            </p:nvCxnSpPr>
            <p:spPr bwMode="auto">
              <a:xfrm>
                <a:off x="10058" y="1418"/>
                <a:ext cx="0" cy="540"/>
              </a:xfrm>
              <a:prstGeom prst="line">
                <a:avLst/>
              </a:prstGeom>
              <a:noFill/>
              <a:ln w="38100">
                <a:solidFill>
                  <a:srgbClr val="C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8" name="Line 2544">
                <a:extLst>
                  <a:ext uri="{FF2B5EF4-FFF2-40B4-BE49-F238E27FC236}">
                    <a16:creationId xmlns:a16="http://schemas.microsoft.com/office/drawing/2014/main" id="{A2745B42-F733-49A9-9AF5-1994B9E550E6}"/>
                  </a:ext>
                </a:extLst>
              </p:cNvPr>
              <p:cNvCxnSpPr>
                <a:cxnSpLocks noChangeAspect="1" noChangeShapeType="1"/>
              </p:cNvCxnSpPr>
              <p:nvPr/>
            </p:nvCxnSpPr>
            <p:spPr bwMode="auto">
              <a:xfrm>
                <a:off x="10058" y="2678"/>
                <a:ext cx="0" cy="540"/>
              </a:xfrm>
              <a:prstGeom prst="line">
                <a:avLst/>
              </a:prstGeom>
              <a:noFill/>
              <a:ln w="38100">
                <a:solidFill>
                  <a:srgbClr val="C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sp>
          <p:nvSpPr>
            <p:cNvPr id="21" name="Text Box 2545">
              <a:extLst>
                <a:ext uri="{FF2B5EF4-FFF2-40B4-BE49-F238E27FC236}">
                  <a16:creationId xmlns:a16="http://schemas.microsoft.com/office/drawing/2014/main" id="{249B4079-5CAC-44C3-9B1C-162B2DCF3C12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9152" y="11773"/>
              <a:ext cx="360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C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18000" tIns="10800" rIns="18000" bIns="10800" anchor="t" anchorCtr="0" upright="1">
              <a:noAutofit/>
            </a:bodyPr>
            <a:lstStyle/>
            <a:p>
              <a:pPr marL="0" marR="0">
                <a:spcBef>
                  <a:spcPts val="0"/>
                </a:spcBef>
                <a:spcAft>
                  <a:spcPts val="0"/>
                </a:spcAft>
              </a:pPr>
              <a:r>
                <a:rPr lang="en-GB" sz="2600">
                  <a:solidFill>
                    <a:srgbClr val="00206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Y</a:t>
              </a:r>
              <a:r>
                <a:rPr lang="en-GB" sz="2600" baseline="-25000">
                  <a:solidFill>
                    <a:srgbClr val="00206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c</a:t>
              </a:r>
              <a:endParaRPr lang="en-GB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cxnSp>
          <p:nvCxnSpPr>
            <p:cNvPr id="22" name="Line 2546">
              <a:extLst>
                <a:ext uri="{FF2B5EF4-FFF2-40B4-BE49-F238E27FC236}">
                  <a16:creationId xmlns:a16="http://schemas.microsoft.com/office/drawing/2014/main" id="{AF6300BD-365F-41E8-AC4F-B346F25F3404}"/>
                </a:ext>
              </a:extLst>
            </p:cNvPr>
            <p:cNvCxnSpPr>
              <a:cxnSpLocks noChangeAspect="1" noChangeShapeType="1"/>
            </p:cNvCxnSpPr>
            <p:nvPr/>
          </p:nvCxnSpPr>
          <p:spPr bwMode="auto">
            <a:xfrm rot="5400000">
              <a:off x="9007" y="10994"/>
              <a:ext cx="8" cy="661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3" name="Line 2547">
              <a:extLst>
                <a:ext uri="{FF2B5EF4-FFF2-40B4-BE49-F238E27FC236}">
                  <a16:creationId xmlns:a16="http://schemas.microsoft.com/office/drawing/2014/main" id="{874E6D0A-D06B-41C6-AFC2-796CCEC4B13C}"/>
                </a:ext>
              </a:extLst>
            </p:cNvPr>
            <p:cNvCxnSpPr>
              <a:cxnSpLocks noChangeAspect="1" noChangeShapeType="1"/>
            </p:cNvCxnSpPr>
            <p:nvPr/>
          </p:nvCxnSpPr>
          <p:spPr bwMode="auto">
            <a:xfrm flipV="1">
              <a:off x="8721" y="12588"/>
              <a:ext cx="677" cy="2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4" name="Line 2548">
              <a:extLst>
                <a:ext uri="{FF2B5EF4-FFF2-40B4-BE49-F238E27FC236}">
                  <a16:creationId xmlns:a16="http://schemas.microsoft.com/office/drawing/2014/main" id="{B10CA996-B0FC-4775-B71E-8D4F6519D724}"/>
                </a:ext>
              </a:extLst>
            </p:cNvPr>
            <p:cNvCxnSpPr>
              <a:cxnSpLocks noChangeAspect="1" noChangeShapeType="1"/>
            </p:cNvCxnSpPr>
            <p:nvPr/>
          </p:nvCxnSpPr>
          <p:spPr bwMode="auto">
            <a:xfrm rot="5400000">
              <a:off x="7072" y="11082"/>
              <a:ext cx="0" cy="478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5" name="Line 2549">
              <a:extLst>
                <a:ext uri="{FF2B5EF4-FFF2-40B4-BE49-F238E27FC236}">
                  <a16:creationId xmlns:a16="http://schemas.microsoft.com/office/drawing/2014/main" id="{3381427F-6AB0-433F-AA14-1B23180A42F4}"/>
                </a:ext>
              </a:extLst>
            </p:cNvPr>
            <p:cNvCxnSpPr>
              <a:cxnSpLocks noChangeAspect="1" noChangeShapeType="1"/>
            </p:cNvCxnSpPr>
            <p:nvPr/>
          </p:nvCxnSpPr>
          <p:spPr bwMode="auto">
            <a:xfrm flipV="1">
              <a:off x="6897" y="12588"/>
              <a:ext cx="1389" cy="4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55" name="Rectangle 53">
            <a:extLst>
              <a:ext uri="{FF2B5EF4-FFF2-40B4-BE49-F238E27FC236}">
                <a16:creationId xmlns:a16="http://schemas.microsoft.com/office/drawing/2014/main" id="{8725D620-6DAB-4501-9953-2466C33427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4147" y="515461"/>
            <a:ext cx="366254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1374775" algn="r"/>
                <a:tab pos="2743200" algn="ctr"/>
                <a:tab pos="4017963" algn="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1374775" algn="r"/>
                <a:tab pos="2743200" algn="ctr"/>
                <a:tab pos="4017963" algn="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1374775" algn="r"/>
                <a:tab pos="2743200" algn="ctr"/>
                <a:tab pos="4017963" algn="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1374775" algn="r"/>
                <a:tab pos="2743200" algn="ctr"/>
                <a:tab pos="4017963" algn="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1374775" algn="r"/>
                <a:tab pos="2743200" algn="ctr"/>
                <a:tab pos="4017963" algn="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1374775" algn="r"/>
                <a:tab pos="2743200" algn="ctr"/>
                <a:tab pos="4017963" algn="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1374775" algn="r"/>
                <a:tab pos="2743200" algn="ctr"/>
                <a:tab pos="4017963" algn="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1374775" algn="r"/>
                <a:tab pos="2743200" algn="ctr"/>
                <a:tab pos="4017963" algn="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1374775" algn="r"/>
                <a:tab pos="2743200" algn="ctr"/>
                <a:tab pos="4017963" algn="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54000" algn="r"/>
                <a:tab pos="469900" algn="r"/>
                <a:tab pos="687388" algn="r"/>
                <a:tab pos="1374775" algn="r"/>
                <a:tab pos="2743200" algn="ctr"/>
                <a:tab pos="4017963" algn="r"/>
                <a:tab pos="5486400" algn="r"/>
              </a:tabLst>
            </a:pPr>
            <a:r>
              <a:rPr kumimoji="0" lang="en-GB" altLang="en-US" sz="24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In matrix form	</a:t>
            </a:r>
            <a:endParaRPr kumimoji="0" lang="en-GB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6" name="Rectangle 54">
            <a:extLst>
              <a:ext uri="{FF2B5EF4-FFF2-40B4-BE49-F238E27FC236}">
                <a16:creationId xmlns:a16="http://schemas.microsoft.com/office/drawing/2014/main" id="{BD3FFAFC-3405-4A52-8250-4D1C1A064F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6364" y="1247564"/>
            <a:ext cx="213790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altLang="en-US" sz="36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	= </a:t>
            </a:r>
            <a:endParaRPr kumimoji="0" lang="en-GB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7" name="Rectangle 55">
            <a:extLst>
              <a:ext uri="{FF2B5EF4-FFF2-40B4-BE49-F238E27FC236}">
                <a16:creationId xmlns:a16="http://schemas.microsoft.com/office/drawing/2014/main" id="{6C73FA82-56D3-4BEE-9A08-619FDB3890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241" y="1190890"/>
            <a:ext cx="200311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altLang="en-US" sz="36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,	= </a:t>
            </a:r>
            <a:endParaRPr kumimoji="0" lang="en-GB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9" name="Rectangle 68">
            <a:extLst>
              <a:ext uri="{FF2B5EF4-FFF2-40B4-BE49-F238E27FC236}">
                <a16:creationId xmlns:a16="http://schemas.microsoft.com/office/drawing/2014/main" id="{60E235C6-358D-4D48-BB8E-AB9C7A556B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695" y="4351038"/>
            <a:ext cx="551046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Consider</a:t>
            </a:r>
            <a:r>
              <a:rPr kumimoji="0" lang="en-GB" altLang="en-US" sz="24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example 5 again	</a:t>
            </a:r>
            <a:endParaRPr kumimoji="0" lang="en-GB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0" name="Rectangle 69">
            <a:extLst>
              <a:ext uri="{FF2B5EF4-FFF2-40B4-BE49-F238E27FC236}">
                <a16:creationId xmlns:a16="http://schemas.microsoft.com/office/drawing/2014/main" id="{235FD337-FA1F-4553-B954-5D89B88C1C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4296" y="4987064"/>
            <a:ext cx="1303999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altLang="en-US" sz="36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 =  </a:t>
            </a:r>
            <a:endParaRPr kumimoji="0" lang="en-GB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3" name="Rectangle 72">
            <a:extLst>
              <a:ext uri="{FF2B5EF4-FFF2-40B4-BE49-F238E27FC236}">
                <a16:creationId xmlns:a16="http://schemas.microsoft.com/office/drawing/2014/main" id="{600ED843-BA2A-415B-96AE-197D98D8CA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4883" y="5925425"/>
            <a:ext cx="968991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</a:pPr>
            <a:r>
              <a:rPr kumimoji="0" lang="en-GB" altLang="en-US" sz="24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Simplification of  matrix product would  give the same answer as in example 5.</a:t>
            </a:r>
            <a:endParaRPr kumimoji="0" lang="en-GB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526310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B1BBAC-DEE1-4CF9-9521-6921611D2B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15" y="549483"/>
            <a:ext cx="10924085" cy="482745"/>
          </a:xfrm>
        </p:spPr>
        <p:txBody>
          <a:bodyPr>
            <a:noAutofit/>
          </a:bodyPr>
          <a:lstStyle/>
          <a:p>
            <a:r>
              <a:rPr lang="en-US" dirty="0"/>
              <a:t>Input Impedance of Two-Port Network </a:t>
            </a:r>
            <a:r>
              <a:rPr lang="en-US" dirty="0" err="1"/>
              <a:t>Z</a:t>
            </a:r>
            <a:r>
              <a:rPr lang="en-US" baseline="-25000" dirty="0" err="1"/>
              <a:t>Input</a:t>
            </a:r>
            <a:endParaRPr lang="en-GB" baseline="-25000" dirty="0"/>
          </a:p>
        </p:txBody>
      </p:sp>
      <p:sp>
        <p:nvSpPr>
          <p:cNvPr id="3" name="Rectangle 16">
            <a:extLst>
              <a:ext uri="{FF2B5EF4-FFF2-40B4-BE49-F238E27FC236}">
                <a16:creationId xmlns:a16="http://schemas.microsoft.com/office/drawing/2014/main" id="{2C93AD1D-B605-48D0-9046-0B313AE501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9715" y="2334440"/>
            <a:ext cx="1135380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254000" algn="r"/>
                <a:tab pos="469900" algn="r"/>
                <a:tab pos="687388" algn="r"/>
                <a:tab pos="2743200" algn="ctr"/>
                <a:tab pos="5486400" algn="r"/>
              </a:tabLst>
            </a:pPr>
            <a:r>
              <a:rPr kumimoji="0" lang="en-GB" altLang="en-US" sz="3600" b="0" i="0" u="none" strike="noStrike" cap="none" normalizeH="0" baseline="0" dirty="0" err="1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Z</a:t>
            </a:r>
            <a:r>
              <a:rPr kumimoji="0" lang="en-GB" altLang="en-US" sz="3600" b="0" i="0" u="none" strike="noStrike" cap="none" normalizeH="0" baseline="-30000" dirty="0" err="1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Input</a:t>
            </a:r>
            <a:r>
              <a:rPr kumimoji="0" lang="en-GB" altLang="en-US" sz="34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kumimoji="0" lang="en-GB" altLang="en-US" sz="3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depends on Input Port and on Load</a:t>
            </a:r>
            <a:r>
              <a:rPr kumimoji="0" lang="en-GB" altLang="en-US" sz="34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kumimoji="0" lang="en-GB" altLang="en-US" sz="3600" b="0" i="0" u="none" strike="noStrike" cap="none" normalizeH="0" baseline="0" dirty="0" err="1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Z</a:t>
            </a:r>
            <a:r>
              <a:rPr kumimoji="0" lang="en-GB" altLang="en-US" sz="3600" b="0" i="0" u="none" strike="noStrike" cap="none" normalizeH="0" baseline="-30000" dirty="0" err="1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Load</a:t>
            </a:r>
            <a:endParaRPr kumimoji="0" lang="en-GB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759969F6-0CF2-4850-8242-ADE27E25717F}"/>
              </a:ext>
            </a:extLst>
          </p:cNvPr>
          <p:cNvGrpSpPr>
            <a:grpSpLocks/>
          </p:cNvGrpSpPr>
          <p:nvPr/>
        </p:nvGrpSpPr>
        <p:grpSpPr bwMode="auto">
          <a:xfrm>
            <a:off x="8567305" y="2779540"/>
            <a:ext cx="3382010" cy="2374900"/>
            <a:chOff x="10628" y="5661"/>
            <a:chExt cx="5596" cy="393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DC9ADF68-CBE1-4494-B8BD-A408DE25683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5400000">
              <a:off x="12316" y="5241"/>
              <a:ext cx="494" cy="2905"/>
              <a:chOff x="9878" y="1418"/>
              <a:chExt cx="360" cy="1800"/>
            </a:xfrm>
          </p:grpSpPr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E5EF76B0-CB2E-4641-9ED8-4516EDD3DEB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9878" y="1958"/>
                <a:ext cx="360" cy="720"/>
              </a:xfrm>
              <a:prstGeom prst="rect">
                <a:avLst/>
              </a:prstGeom>
              <a:noFill/>
              <a:ln w="38100">
                <a:solidFill>
                  <a:srgbClr val="C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GB"/>
              </a:p>
            </p:txBody>
          </p:sp>
          <p:cxnSp>
            <p:nvCxnSpPr>
              <p:cNvPr id="17" name="Line 3383">
                <a:extLst>
                  <a:ext uri="{FF2B5EF4-FFF2-40B4-BE49-F238E27FC236}">
                    <a16:creationId xmlns:a16="http://schemas.microsoft.com/office/drawing/2014/main" id="{1D03F0DC-0B57-4A9E-9A4F-E3A100AA2869}"/>
                  </a:ext>
                </a:extLst>
              </p:cNvPr>
              <p:cNvCxnSpPr>
                <a:cxnSpLocks noChangeAspect="1" noChangeShapeType="1"/>
              </p:cNvCxnSpPr>
              <p:nvPr/>
            </p:nvCxnSpPr>
            <p:spPr bwMode="auto">
              <a:xfrm>
                <a:off x="10058" y="1418"/>
                <a:ext cx="0" cy="540"/>
              </a:xfrm>
              <a:prstGeom prst="line">
                <a:avLst/>
              </a:prstGeom>
              <a:noFill/>
              <a:ln w="38100">
                <a:solidFill>
                  <a:srgbClr val="C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8" name="Line 3384">
                <a:extLst>
                  <a:ext uri="{FF2B5EF4-FFF2-40B4-BE49-F238E27FC236}">
                    <a16:creationId xmlns:a16="http://schemas.microsoft.com/office/drawing/2014/main" id="{ADFD4F64-FCFE-47EC-A68F-27ED073695ED}"/>
                  </a:ext>
                </a:extLst>
              </p:cNvPr>
              <p:cNvCxnSpPr>
                <a:cxnSpLocks noChangeAspect="1" noChangeShapeType="1"/>
              </p:cNvCxnSpPr>
              <p:nvPr/>
            </p:nvCxnSpPr>
            <p:spPr bwMode="auto">
              <a:xfrm>
                <a:off x="10058" y="2678"/>
                <a:ext cx="0" cy="540"/>
              </a:xfrm>
              <a:prstGeom prst="line">
                <a:avLst/>
              </a:prstGeom>
              <a:noFill/>
              <a:ln w="38100">
                <a:solidFill>
                  <a:srgbClr val="C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8B38899D-4FFA-4A06-B375-4A586CE21B6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3689" y="6686"/>
              <a:ext cx="494" cy="2904"/>
              <a:chOff x="9878" y="1418"/>
              <a:chExt cx="360" cy="1800"/>
            </a:xfrm>
          </p:grpSpPr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B34DB38B-345E-4D82-95AC-B5500F85019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9878" y="1958"/>
                <a:ext cx="360" cy="720"/>
              </a:xfrm>
              <a:prstGeom prst="rect">
                <a:avLst/>
              </a:prstGeom>
              <a:noFill/>
              <a:ln w="38100">
                <a:solidFill>
                  <a:srgbClr val="C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GB"/>
              </a:p>
            </p:txBody>
          </p:sp>
          <p:cxnSp>
            <p:nvCxnSpPr>
              <p:cNvPr id="14" name="Line 3391">
                <a:extLst>
                  <a:ext uri="{FF2B5EF4-FFF2-40B4-BE49-F238E27FC236}">
                    <a16:creationId xmlns:a16="http://schemas.microsoft.com/office/drawing/2014/main" id="{78ABAA31-33A0-48C2-903C-60C0545103A1}"/>
                  </a:ext>
                </a:extLst>
              </p:cNvPr>
              <p:cNvCxnSpPr>
                <a:cxnSpLocks noChangeAspect="1" noChangeShapeType="1"/>
              </p:cNvCxnSpPr>
              <p:nvPr/>
            </p:nvCxnSpPr>
            <p:spPr bwMode="auto">
              <a:xfrm>
                <a:off x="10058" y="1418"/>
                <a:ext cx="0" cy="540"/>
              </a:xfrm>
              <a:prstGeom prst="line">
                <a:avLst/>
              </a:prstGeom>
              <a:noFill/>
              <a:ln w="38100">
                <a:solidFill>
                  <a:srgbClr val="C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5" name="Line 3392">
                <a:extLst>
                  <a:ext uri="{FF2B5EF4-FFF2-40B4-BE49-F238E27FC236}">
                    <a16:creationId xmlns:a16="http://schemas.microsoft.com/office/drawing/2014/main" id="{7B93A9AC-23AA-47F0-BCB3-E79D34D43169}"/>
                  </a:ext>
                </a:extLst>
              </p:cNvPr>
              <p:cNvCxnSpPr>
                <a:cxnSpLocks noChangeAspect="1" noChangeShapeType="1"/>
              </p:cNvCxnSpPr>
              <p:nvPr/>
            </p:nvCxnSpPr>
            <p:spPr bwMode="auto">
              <a:xfrm>
                <a:off x="10058" y="2678"/>
                <a:ext cx="0" cy="540"/>
              </a:xfrm>
              <a:prstGeom prst="line">
                <a:avLst/>
              </a:prstGeom>
              <a:noFill/>
              <a:ln w="38100">
                <a:solidFill>
                  <a:srgbClr val="C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cxnSp>
          <p:nvCxnSpPr>
            <p:cNvPr id="7" name="Line 3393">
              <a:extLst>
                <a:ext uri="{FF2B5EF4-FFF2-40B4-BE49-F238E27FC236}">
                  <a16:creationId xmlns:a16="http://schemas.microsoft.com/office/drawing/2014/main" id="{00FCEA0C-7F55-4A62-95BF-435B251B28AB}"/>
                </a:ext>
              </a:extLst>
            </p:cNvPr>
            <p:cNvCxnSpPr>
              <a:cxnSpLocks noChangeAspect="1" noChangeShapeType="1"/>
            </p:cNvCxnSpPr>
            <p:nvPr/>
          </p:nvCxnSpPr>
          <p:spPr bwMode="auto">
            <a:xfrm>
              <a:off x="11110" y="9590"/>
              <a:ext cx="3744" cy="1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8" name="Text Box 3400">
              <a:extLst>
                <a:ext uri="{FF2B5EF4-FFF2-40B4-BE49-F238E27FC236}">
                  <a16:creationId xmlns:a16="http://schemas.microsoft.com/office/drawing/2014/main" id="{1E98024D-6FCD-47E6-93EB-4102894231B3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10628" y="7626"/>
              <a:ext cx="1732" cy="8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C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18000" tIns="10800" rIns="18000" bIns="10800" anchor="t" anchorCtr="0" upright="1">
              <a:noAutofit/>
            </a:bodyPr>
            <a:lstStyle/>
            <a:p>
              <a:pPr marL="0" marR="0">
                <a:spcBef>
                  <a:spcPts val="0"/>
                </a:spcBef>
                <a:spcAft>
                  <a:spcPts val="0"/>
                </a:spcAft>
              </a:pPr>
              <a:r>
                <a:rPr lang="en-GB" sz="2800" i="1">
                  <a:solidFill>
                    <a:srgbClr val="00206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Port 1</a:t>
              </a:r>
              <a:endParaRPr lang="en-GB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9" name="Text Box 3401">
              <a:extLst>
                <a:ext uri="{FF2B5EF4-FFF2-40B4-BE49-F238E27FC236}">
                  <a16:creationId xmlns:a16="http://schemas.microsoft.com/office/drawing/2014/main" id="{80126C56-32B5-46FD-A955-A7E98C552AFF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14602" y="7626"/>
              <a:ext cx="1622" cy="8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C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18000" tIns="10800" rIns="18000" bIns="10800" anchor="t" anchorCtr="0" upright="1">
              <a:noAutofit/>
            </a:bodyPr>
            <a:lstStyle/>
            <a:p>
              <a:pPr marL="0" marR="0">
                <a:spcBef>
                  <a:spcPts val="0"/>
                </a:spcBef>
                <a:spcAft>
                  <a:spcPts val="0"/>
                </a:spcAft>
              </a:pPr>
              <a:r>
                <a:rPr lang="en-GB" sz="2800" b="1" i="1">
                  <a:solidFill>
                    <a:srgbClr val="002060"/>
                  </a:solidFill>
                  <a:effectLst/>
                  <a:latin typeface="Times New Roman" panose="02020603050405020304" pitchFamily="18" charset="0"/>
                </a:rPr>
                <a:t>Port 2</a:t>
              </a:r>
              <a:endParaRPr lang="en-GB" sz="1200" b="1" i="1">
                <a:effectLst/>
                <a:latin typeface="Times New Roman" panose="02020603050405020304" pitchFamily="18" charset="0"/>
              </a:endParaRPr>
            </a:p>
          </p:txBody>
        </p:sp>
        <p:sp>
          <p:nvSpPr>
            <p:cNvPr id="10" name="Text Box 3404">
              <a:extLst>
                <a:ext uri="{FF2B5EF4-FFF2-40B4-BE49-F238E27FC236}">
                  <a16:creationId xmlns:a16="http://schemas.microsoft.com/office/drawing/2014/main" id="{5358B326-5DC4-4F3F-A780-95C890AD9F24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12246" y="5661"/>
              <a:ext cx="827" cy="8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C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18000" tIns="10800" rIns="18000" bIns="10800" anchor="t" anchorCtr="0" upright="1">
              <a:noAutofit/>
            </a:bodyPr>
            <a:lstStyle/>
            <a:p>
              <a:pPr marL="0" marR="0">
                <a:spcBef>
                  <a:spcPts val="0"/>
                </a:spcBef>
                <a:spcAft>
                  <a:spcPts val="0"/>
                </a:spcAft>
              </a:pPr>
              <a:r>
                <a:rPr lang="en-GB" sz="2800">
                  <a:solidFill>
                    <a:srgbClr val="00206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Z</a:t>
              </a:r>
              <a:endParaRPr lang="en-GB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11" name="Text Box 3406">
              <a:extLst>
                <a:ext uri="{FF2B5EF4-FFF2-40B4-BE49-F238E27FC236}">
                  <a16:creationId xmlns:a16="http://schemas.microsoft.com/office/drawing/2014/main" id="{E5568D1F-A2A0-4D48-A0F7-4A42BCF98A74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12975" y="7715"/>
              <a:ext cx="827" cy="8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C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18000" tIns="10800" rIns="18000" bIns="10800" anchor="t" anchorCtr="0" upright="1">
              <a:noAutofit/>
            </a:bodyPr>
            <a:lstStyle/>
            <a:p>
              <a:pPr marL="0" marR="0">
                <a:spcBef>
                  <a:spcPts val="0"/>
                </a:spcBef>
                <a:spcAft>
                  <a:spcPts val="0"/>
                </a:spcAft>
              </a:pPr>
              <a:r>
                <a:rPr lang="en-GB" sz="2800">
                  <a:solidFill>
                    <a:srgbClr val="00206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4Z</a:t>
              </a:r>
              <a:endParaRPr lang="en-GB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cxnSp>
          <p:nvCxnSpPr>
            <p:cNvPr id="12" name="Line 3387">
              <a:extLst>
                <a:ext uri="{FF2B5EF4-FFF2-40B4-BE49-F238E27FC236}">
                  <a16:creationId xmlns:a16="http://schemas.microsoft.com/office/drawing/2014/main" id="{B62D6528-164F-4F75-B7A5-FCC301D90E19}"/>
                </a:ext>
              </a:extLst>
            </p:cNvPr>
            <p:cNvCxnSpPr>
              <a:cxnSpLocks noChangeAspect="1" noChangeShapeType="1"/>
            </p:cNvCxnSpPr>
            <p:nvPr/>
          </p:nvCxnSpPr>
          <p:spPr bwMode="auto">
            <a:xfrm rot="5400000">
              <a:off x="14451" y="6257"/>
              <a:ext cx="0" cy="872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19" name="Rectangle 21">
            <a:extLst>
              <a:ext uri="{FF2B5EF4-FFF2-40B4-BE49-F238E27FC236}">
                <a16:creationId xmlns:a16="http://schemas.microsoft.com/office/drawing/2014/main" id="{5D2A28F9-376A-426E-8122-3DA7E48A23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6706" y="2504592"/>
            <a:ext cx="8567305" cy="40318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342900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342900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342900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342900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342900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342900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342900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342900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342900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42900" algn="r"/>
                <a:tab pos="2743200" algn="ctr"/>
                <a:tab pos="5486400" algn="r"/>
              </a:tabLst>
            </a:pPr>
            <a:endParaRPr kumimoji="0" lang="en-GB" altLang="en-US" sz="2800" b="1" i="0" u="none" strike="noStrike" cap="none" normalizeH="0" baseline="0" dirty="0">
              <a:ln>
                <a:noFill/>
              </a:ln>
              <a:solidFill>
                <a:srgbClr val="C00000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42900" algn="r"/>
                <a:tab pos="2743200" algn="ctr"/>
                <a:tab pos="5486400" algn="r"/>
              </a:tabLst>
            </a:pPr>
            <a:r>
              <a:rPr kumimoji="0" lang="en-GB" altLang="en-US" sz="28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Example:</a:t>
            </a:r>
            <a:endParaRPr kumimoji="0" lang="en-GB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342900" algn="r"/>
                <a:tab pos="2743200" algn="ctr"/>
                <a:tab pos="5486400" algn="r"/>
              </a:tabLst>
            </a:pPr>
            <a:r>
              <a:rPr kumimoji="0" lang="en-GB" altLang="en-US" sz="28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With Load = 4Z at Port 2</a:t>
            </a:r>
            <a:endParaRPr kumimoji="0" lang="en-GB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42900" algn="r"/>
                <a:tab pos="2743200" algn="ctr"/>
                <a:tab pos="5486400" algn="r"/>
              </a:tabLst>
            </a:pPr>
            <a:r>
              <a:rPr kumimoji="0" lang="en-GB" altLang="en-US" sz="4000" b="0" i="0" u="none" strike="noStrike" cap="none" normalizeH="0" baseline="0" dirty="0" err="1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Z</a:t>
            </a:r>
            <a:r>
              <a:rPr kumimoji="0" lang="en-GB" altLang="en-US" sz="4000" b="0" i="0" u="none" strike="noStrike" cap="none" normalizeH="0" baseline="-30000" dirty="0" err="1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Input</a:t>
            </a:r>
            <a:r>
              <a:rPr kumimoji="0" lang="en-GB" altLang="en-US" sz="4000" b="0" i="0" u="none" strike="noStrike" cap="none" normalizeH="0" baseline="-3000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, Port 1</a:t>
            </a:r>
            <a:r>
              <a:rPr kumimoji="0" lang="en-GB" altLang="en-US" sz="3600" b="0" i="0" u="none" strike="noStrike" cap="none" normalizeH="0" baseline="-3000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kumimoji="0" lang="en-GB" altLang="en-US" sz="36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= Z + 4Z//4Z = 3Z </a:t>
            </a:r>
            <a:endParaRPr kumimoji="0" lang="en-GB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342900" algn="r"/>
                <a:tab pos="2743200" algn="ctr"/>
                <a:tab pos="5486400" algn="r"/>
              </a:tabLst>
            </a:pPr>
            <a:r>
              <a:rPr kumimoji="0" lang="en-GB" altLang="en-US" sz="28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With Load = 4Z at Port 1</a:t>
            </a:r>
            <a:endParaRPr kumimoji="0" lang="en-GB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42900" algn="r"/>
                <a:tab pos="2743200" algn="ctr"/>
                <a:tab pos="5486400" algn="r"/>
              </a:tabLst>
            </a:pPr>
            <a:r>
              <a:rPr kumimoji="0" lang="en-GB" altLang="en-US" sz="4000" b="0" i="0" u="none" strike="noStrike" cap="none" normalizeH="0" baseline="0" dirty="0" err="1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Z</a:t>
            </a:r>
            <a:r>
              <a:rPr kumimoji="0" lang="en-GB" altLang="en-US" sz="4000" b="0" i="0" u="none" strike="noStrike" cap="none" normalizeH="0" baseline="-30000" dirty="0" err="1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Input</a:t>
            </a:r>
            <a:r>
              <a:rPr kumimoji="0" lang="en-GB" altLang="en-US" sz="4000" b="0" i="0" u="none" strike="noStrike" cap="none" normalizeH="0" baseline="-3000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, Port 2</a:t>
            </a:r>
            <a:r>
              <a:rPr kumimoji="0" lang="en-GB" altLang="en-US" sz="3600" b="0" i="0" u="none" strike="noStrike" cap="none" normalizeH="0" baseline="-3000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kumimoji="0" lang="en-GB" altLang="en-US" sz="36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= 4Z//(Z+4Z) = 2.222 Z </a:t>
            </a:r>
            <a:endParaRPr kumimoji="0" lang="en-GB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342900" algn="r"/>
                <a:tab pos="2743200" algn="ctr"/>
                <a:tab pos="5486400" algn="r"/>
              </a:tabLst>
            </a:pPr>
            <a:r>
              <a:rPr kumimoji="0" lang="en-GB" altLang="en-US" sz="28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With Load = 6Z</a:t>
            </a:r>
            <a:endParaRPr kumimoji="0" lang="en-GB" altLang="en-US" sz="3600" b="0" i="0" u="none" strike="noStrike" cap="none" normalizeH="0" baseline="0" dirty="0">
              <a:ln>
                <a:noFill/>
              </a:ln>
              <a:solidFill>
                <a:srgbClr val="002060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42900" algn="r"/>
                <a:tab pos="2743200" algn="ctr"/>
                <a:tab pos="5486400" algn="r"/>
              </a:tabLst>
            </a:pPr>
            <a:r>
              <a:rPr kumimoji="0" lang="en-GB" altLang="en-US" sz="3600" b="0" i="0" u="none" strike="noStrike" cap="none" normalizeH="0" baseline="0" dirty="0" err="1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Z</a:t>
            </a:r>
            <a:r>
              <a:rPr kumimoji="0" lang="en-GB" altLang="en-US" sz="3600" b="0" i="0" u="none" strike="noStrike" cap="none" normalizeH="0" baseline="-30000" dirty="0" err="1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Input</a:t>
            </a:r>
            <a:r>
              <a:rPr kumimoji="0" lang="en-GB" altLang="en-US" sz="3600" b="0" i="0" u="none" strike="noStrike" cap="none" normalizeH="0" baseline="-3000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, Port 1 </a:t>
            </a:r>
            <a:r>
              <a:rPr kumimoji="0" lang="en-GB" altLang="en-US" sz="36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= 3.4 Z, </a:t>
            </a:r>
            <a:r>
              <a:rPr kumimoji="0" lang="en-GB" altLang="en-US" sz="3600" b="0" i="0" u="none" strike="noStrike" cap="none" normalizeH="0" baseline="0" dirty="0" err="1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Z</a:t>
            </a:r>
            <a:r>
              <a:rPr kumimoji="0" lang="en-GB" altLang="en-US" sz="3600" b="0" i="0" u="none" strike="noStrike" cap="none" normalizeH="0" baseline="-30000" dirty="0" err="1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Input</a:t>
            </a:r>
            <a:r>
              <a:rPr kumimoji="0" lang="en-GB" altLang="en-US" sz="3600" b="0" i="0" u="none" strike="noStrike" cap="none" normalizeH="0" baseline="-3000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, Port 2 </a:t>
            </a:r>
            <a:r>
              <a:rPr kumimoji="0" lang="en-GB" altLang="en-US" sz="36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= 2.545 Z</a:t>
            </a:r>
            <a:r>
              <a:rPr kumimoji="0" lang="en-GB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endParaRPr kumimoji="0" lang="en-GB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0ACCD111-8858-4711-8D6C-479E88953957}"/>
              </a:ext>
            </a:extLst>
          </p:cNvPr>
          <p:cNvGrpSpPr>
            <a:grpSpLocks/>
          </p:cNvGrpSpPr>
          <p:nvPr/>
        </p:nvGrpSpPr>
        <p:grpSpPr bwMode="auto">
          <a:xfrm>
            <a:off x="1699577" y="525982"/>
            <a:ext cx="8792845" cy="1808480"/>
            <a:chOff x="1581" y="1678"/>
            <a:chExt cx="13847" cy="2848"/>
          </a:xfrm>
        </p:grpSpPr>
        <p:sp>
          <p:nvSpPr>
            <p:cNvPr id="21" name="Text Box 3360">
              <a:extLst>
                <a:ext uri="{FF2B5EF4-FFF2-40B4-BE49-F238E27FC236}">
                  <a16:creationId xmlns:a16="http://schemas.microsoft.com/office/drawing/2014/main" id="{1FC373A5-541C-48E1-880A-DCFC10E7821F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7254" y="2353"/>
              <a:ext cx="2810" cy="2173"/>
            </a:xfrm>
            <a:prstGeom prst="rect">
              <a:avLst/>
            </a:prstGeom>
            <a:solidFill>
              <a:srgbClr val="FFFFFF"/>
            </a:solidFill>
            <a:ln w="38100">
              <a:solidFill>
                <a:srgbClr val="C00000"/>
              </a:solidFill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marL="0" marR="0" algn="ctr">
                <a:spcBef>
                  <a:spcPts val="1200"/>
                </a:spcBef>
                <a:spcAft>
                  <a:spcPts val="0"/>
                </a:spcAft>
              </a:pPr>
              <a:r>
                <a:rPr lang="en-GB" sz="320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Two-Port</a:t>
              </a:r>
              <a:endParaRPr lang="en-GB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  <a:p>
              <a:pPr marL="0" marR="0" algn="ctr">
                <a:spcBef>
                  <a:spcPts val="1200"/>
                </a:spcBef>
                <a:spcAft>
                  <a:spcPts val="0"/>
                </a:spcAft>
              </a:pPr>
              <a:r>
                <a:rPr lang="en-GB" sz="320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Network</a:t>
              </a:r>
              <a:endParaRPr lang="en-GB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cxnSp>
          <p:nvCxnSpPr>
            <p:cNvPr id="22" name="Line 3361">
              <a:extLst>
                <a:ext uri="{FF2B5EF4-FFF2-40B4-BE49-F238E27FC236}">
                  <a16:creationId xmlns:a16="http://schemas.microsoft.com/office/drawing/2014/main" id="{86F74ED7-BB89-454A-9DD3-9871AA94AC0C}"/>
                </a:ext>
              </a:extLst>
            </p:cNvPr>
            <p:cNvCxnSpPr>
              <a:cxnSpLocks noChangeAspect="1" noChangeShapeType="1"/>
            </p:cNvCxnSpPr>
            <p:nvPr/>
          </p:nvCxnSpPr>
          <p:spPr bwMode="auto">
            <a:xfrm>
              <a:off x="4154" y="2677"/>
              <a:ext cx="1259" cy="0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 type="oval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3" name="Line 3362">
              <a:extLst>
                <a:ext uri="{FF2B5EF4-FFF2-40B4-BE49-F238E27FC236}">
                  <a16:creationId xmlns:a16="http://schemas.microsoft.com/office/drawing/2014/main" id="{9767C686-6ED5-4447-BA33-D963AF0FBF39}"/>
                </a:ext>
              </a:extLst>
            </p:cNvPr>
            <p:cNvCxnSpPr>
              <a:cxnSpLocks noChangeAspect="1" noChangeShapeType="1"/>
            </p:cNvCxnSpPr>
            <p:nvPr/>
          </p:nvCxnSpPr>
          <p:spPr bwMode="auto">
            <a:xfrm>
              <a:off x="5413" y="2677"/>
              <a:ext cx="1841" cy="0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4" name="Line 3363">
              <a:extLst>
                <a:ext uri="{FF2B5EF4-FFF2-40B4-BE49-F238E27FC236}">
                  <a16:creationId xmlns:a16="http://schemas.microsoft.com/office/drawing/2014/main" id="{D04D355B-5BF3-40EA-8EBD-D7769A464AA5}"/>
                </a:ext>
              </a:extLst>
            </p:cNvPr>
            <p:cNvCxnSpPr>
              <a:cxnSpLocks noChangeAspect="1" noChangeShapeType="1"/>
            </p:cNvCxnSpPr>
            <p:nvPr/>
          </p:nvCxnSpPr>
          <p:spPr bwMode="auto">
            <a:xfrm flipH="1">
              <a:off x="11904" y="2677"/>
              <a:ext cx="1260" cy="0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 type="oval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5" name="Line 3364">
              <a:extLst>
                <a:ext uri="{FF2B5EF4-FFF2-40B4-BE49-F238E27FC236}">
                  <a16:creationId xmlns:a16="http://schemas.microsoft.com/office/drawing/2014/main" id="{03749029-86BD-424A-9FF2-61FDCD94B6BD}"/>
                </a:ext>
              </a:extLst>
            </p:cNvPr>
            <p:cNvCxnSpPr>
              <a:cxnSpLocks noChangeAspect="1" noChangeShapeType="1"/>
            </p:cNvCxnSpPr>
            <p:nvPr/>
          </p:nvCxnSpPr>
          <p:spPr bwMode="auto">
            <a:xfrm flipH="1">
              <a:off x="10064" y="2677"/>
              <a:ext cx="1840" cy="0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6" name="Line 3365">
              <a:extLst>
                <a:ext uri="{FF2B5EF4-FFF2-40B4-BE49-F238E27FC236}">
                  <a16:creationId xmlns:a16="http://schemas.microsoft.com/office/drawing/2014/main" id="{6F4F77E2-6B94-439F-9158-94988BCBF76B}"/>
                </a:ext>
              </a:extLst>
            </p:cNvPr>
            <p:cNvCxnSpPr>
              <a:cxnSpLocks noChangeAspect="1" noChangeShapeType="1"/>
            </p:cNvCxnSpPr>
            <p:nvPr/>
          </p:nvCxnSpPr>
          <p:spPr bwMode="auto">
            <a:xfrm>
              <a:off x="4154" y="4267"/>
              <a:ext cx="3100" cy="0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 type="oval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7" name="Line 3366">
              <a:extLst>
                <a:ext uri="{FF2B5EF4-FFF2-40B4-BE49-F238E27FC236}">
                  <a16:creationId xmlns:a16="http://schemas.microsoft.com/office/drawing/2014/main" id="{D29E232E-3032-401F-AF65-FFE1675CEBD1}"/>
                </a:ext>
              </a:extLst>
            </p:cNvPr>
            <p:cNvCxnSpPr>
              <a:cxnSpLocks noChangeAspect="1" noChangeShapeType="1"/>
            </p:cNvCxnSpPr>
            <p:nvPr/>
          </p:nvCxnSpPr>
          <p:spPr bwMode="auto">
            <a:xfrm>
              <a:off x="10064" y="4267"/>
              <a:ext cx="3100" cy="0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8" name="Text Box 3367">
              <a:extLst>
                <a:ext uri="{FF2B5EF4-FFF2-40B4-BE49-F238E27FC236}">
                  <a16:creationId xmlns:a16="http://schemas.microsoft.com/office/drawing/2014/main" id="{F512BCDA-CB3D-4E34-B5ED-C90422B7CDAE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5123" y="1776"/>
              <a:ext cx="611" cy="9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18000" tIns="10800" rIns="18000" bIns="10800" anchor="t" anchorCtr="0" upright="1">
              <a:noAutofit/>
            </a:bodyPr>
            <a:lstStyle/>
            <a:p>
              <a:pPr marL="0" marR="0">
                <a:spcBef>
                  <a:spcPts val="0"/>
                </a:spcBef>
                <a:spcAft>
                  <a:spcPts val="0"/>
                </a:spcAft>
              </a:pPr>
              <a:r>
                <a:rPr lang="en-GB" sz="3000">
                  <a:solidFill>
                    <a:srgbClr val="00206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I</a:t>
              </a:r>
              <a:r>
                <a:rPr lang="en-GB" sz="3000" baseline="-25000">
                  <a:solidFill>
                    <a:srgbClr val="00206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1</a:t>
              </a:r>
              <a:endParaRPr lang="en-GB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29" name="Text Box 3368">
              <a:extLst>
                <a:ext uri="{FF2B5EF4-FFF2-40B4-BE49-F238E27FC236}">
                  <a16:creationId xmlns:a16="http://schemas.microsoft.com/office/drawing/2014/main" id="{5C6E564E-4070-4462-867D-657703D98CCF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11779" y="1678"/>
              <a:ext cx="611" cy="9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18000" tIns="10800" rIns="18000" bIns="10800" anchor="t" anchorCtr="0" upright="1">
              <a:noAutofit/>
            </a:bodyPr>
            <a:lstStyle/>
            <a:p>
              <a:pPr marL="0" marR="0">
                <a:spcBef>
                  <a:spcPts val="0"/>
                </a:spcBef>
                <a:spcAft>
                  <a:spcPts val="0"/>
                </a:spcAft>
              </a:pPr>
              <a:r>
                <a:rPr lang="en-GB" sz="3000">
                  <a:solidFill>
                    <a:srgbClr val="00206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I</a:t>
              </a:r>
              <a:r>
                <a:rPr lang="en-GB" sz="3000" baseline="-25000">
                  <a:solidFill>
                    <a:srgbClr val="00206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2</a:t>
              </a:r>
              <a:endParaRPr lang="en-GB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30" name="Text Box 3369">
              <a:extLst>
                <a:ext uri="{FF2B5EF4-FFF2-40B4-BE49-F238E27FC236}">
                  <a16:creationId xmlns:a16="http://schemas.microsoft.com/office/drawing/2014/main" id="{DD3B6C08-04CF-46DC-B2F9-D8DB37803402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5974" y="2820"/>
              <a:ext cx="826" cy="9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18000" tIns="10800" rIns="18000" bIns="10800" anchor="t" anchorCtr="0" upright="1">
              <a:noAutofit/>
            </a:bodyPr>
            <a:lstStyle/>
            <a:p>
              <a:pPr marL="0" marR="0">
                <a:spcBef>
                  <a:spcPts val="0"/>
                </a:spcBef>
                <a:spcAft>
                  <a:spcPts val="0"/>
                </a:spcAft>
              </a:pPr>
              <a:r>
                <a:rPr lang="en-GB" sz="3000">
                  <a:solidFill>
                    <a:srgbClr val="00206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V</a:t>
              </a:r>
              <a:r>
                <a:rPr lang="en-GB" sz="3000" baseline="-25000">
                  <a:solidFill>
                    <a:srgbClr val="00206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1</a:t>
              </a:r>
              <a:endParaRPr lang="en-GB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cxnSp>
          <p:nvCxnSpPr>
            <p:cNvPr id="31" name="Line 3370">
              <a:extLst>
                <a:ext uri="{FF2B5EF4-FFF2-40B4-BE49-F238E27FC236}">
                  <a16:creationId xmlns:a16="http://schemas.microsoft.com/office/drawing/2014/main" id="{D52E5212-DE24-407D-BCC8-CF5B4980C02F}"/>
                </a:ext>
              </a:extLst>
            </p:cNvPr>
            <p:cNvCxnSpPr>
              <a:cxnSpLocks noChangeAspect="1" noChangeShapeType="1"/>
            </p:cNvCxnSpPr>
            <p:nvPr/>
          </p:nvCxnSpPr>
          <p:spPr bwMode="auto">
            <a:xfrm>
              <a:off x="6868" y="2940"/>
              <a:ext cx="0" cy="1152"/>
            </a:xfrm>
            <a:prstGeom prst="line">
              <a:avLst/>
            </a:prstGeom>
            <a:noFill/>
            <a:ln w="38100">
              <a:solidFill>
                <a:srgbClr val="002060"/>
              </a:solidFill>
              <a:round/>
              <a:headEnd type="arrow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2" name="Text Box 3371">
              <a:extLst>
                <a:ext uri="{FF2B5EF4-FFF2-40B4-BE49-F238E27FC236}">
                  <a16:creationId xmlns:a16="http://schemas.microsoft.com/office/drawing/2014/main" id="{CEA81A90-AA3F-4DD3-831A-5082BD4B0CB5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10732" y="2801"/>
              <a:ext cx="866" cy="9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18000" tIns="10800" rIns="18000" bIns="10800" anchor="t" anchorCtr="0" upright="1">
              <a:noAutofit/>
            </a:bodyPr>
            <a:lstStyle/>
            <a:p>
              <a:pPr marL="0" marR="0">
                <a:spcBef>
                  <a:spcPts val="0"/>
                </a:spcBef>
                <a:spcAft>
                  <a:spcPts val="0"/>
                </a:spcAft>
              </a:pPr>
              <a:r>
                <a:rPr lang="en-GB" sz="3000">
                  <a:solidFill>
                    <a:srgbClr val="00206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V</a:t>
              </a:r>
              <a:r>
                <a:rPr lang="en-GB" sz="3000" baseline="-25000">
                  <a:solidFill>
                    <a:srgbClr val="00206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2</a:t>
              </a:r>
              <a:endParaRPr lang="en-GB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cxnSp>
          <p:nvCxnSpPr>
            <p:cNvPr id="33" name="Line 3372">
              <a:extLst>
                <a:ext uri="{FF2B5EF4-FFF2-40B4-BE49-F238E27FC236}">
                  <a16:creationId xmlns:a16="http://schemas.microsoft.com/office/drawing/2014/main" id="{2347B856-D03C-4B44-8B2E-54B46B28FF97}"/>
                </a:ext>
              </a:extLst>
            </p:cNvPr>
            <p:cNvCxnSpPr>
              <a:cxnSpLocks noChangeAspect="1" noChangeShapeType="1"/>
            </p:cNvCxnSpPr>
            <p:nvPr/>
          </p:nvCxnSpPr>
          <p:spPr bwMode="auto">
            <a:xfrm>
              <a:off x="10554" y="2940"/>
              <a:ext cx="0" cy="1152"/>
            </a:xfrm>
            <a:prstGeom prst="line">
              <a:avLst/>
            </a:prstGeom>
            <a:noFill/>
            <a:ln w="38100">
              <a:solidFill>
                <a:srgbClr val="002060"/>
              </a:solidFill>
              <a:round/>
              <a:headEnd type="arrow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4" name="Text Box 3373">
              <a:extLst>
                <a:ext uri="{FF2B5EF4-FFF2-40B4-BE49-F238E27FC236}">
                  <a16:creationId xmlns:a16="http://schemas.microsoft.com/office/drawing/2014/main" id="{80AC9C7C-7FF7-429C-A750-5DF894B873ED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4285" y="3238"/>
              <a:ext cx="1889" cy="9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18000" tIns="10800" rIns="18000" bIns="10800" anchor="t" anchorCtr="0" upright="1">
              <a:noAutofit/>
            </a:bodyPr>
            <a:lstStyle/>
            <a:p>
              <a:pPr marL="0" marR="0">
                <a:spcBef>
                  <a:spcPts val="0"/>
                </a:spcBef>
                <a:spcAft>
                  <a:spcPts val="0"/>
                </a:spcAft>
              </a:pPr>
              <a:r>
                <a:rPr lang="en-GB" sz="2600" i="1">
                  <a:solidFill>
                    <a:srgbClr val="00206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Port 1</a:t>
              </a:r>
              <a:endParaRPr lang="en-GB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35" name="Text Box 3374">
              <a:extLst>
                <a:ext uri="{FF2B5EF4-FFF2-40B4-BE49-F238E27FC236}">
                  <a16:creationId xmlns:a16="http://schemas.microsoft.com/office/drawing/2014/main" id="{6836633E-8852-4C54-A691-2FD25FBFA835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11583" y="3219"/>
              <a:ext cx="1768" cy="9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18000" tIns="10800" rIns="18000" bIns="10800" anchor="t" anchorCtr="0" upright="1">
              <a:noAutofit/>
            </a:bodyPr>
            <a:lstStyle/>
            <a:p>
              <a:pPr marL="0" marR="0">
                <a:spcBef>
                  <a:spcPts val="0"/>
                </a:spcBef>
                <a:spcAft>
                  <a:spcPts val="0"/>
                </a:spcAft>
              </a:pPr>
              <a:r>
                <a:rPr lang="en-GB" sz="2600" b="1" i="1">
                  <a:solidFill>
                    <a:srgbClr val="002060"/>
                  </a:solidFill>
                  <a:effectLst/>
                  <a:latin typeface="Times New Roman" panose="02020603050405020304" pitchFamily="18" charset="0"/>
                </a:rPr>
                <a:t>Port 2</a:t>
              </a:r>
              <a:endParaRPr lang="en-GB" sz="1200" b="1" i="1">
                <a:effectLst/>
                <a:latin typeface="Times New Roman" panose="02020603050405020304" pitchFamily="18" charset="0"/>
              </a:endParaRPr>
            </a:p>
          </p:txBody>
        </p:sp>
        <p:sp>
          <p:nvSpPr>
            <p:cNvPr id="36" name="Text Box 3375">
              <a:extLst>
                <a:ext uri="{FF2B5EF4-FFF2-40B4-BE49-F238E27FC236}">
                  <a16:creationId xmlns:a16="http://schemas.microsoft.com/office/drawing/2014/main" id="{658A5B81-7685-4ACF-83D8-45693E073EA9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13628" y="3173"/>
              <a:ext cx="1800" cy="902"/>
            </a:xfrm>
            <a:prstGeom prst="rect">
              <a:avLst/>
            </a:prstGeom>
            <a:solidFill>
              <a:srgbClr val="FFFFFF"/>
            </a:solidFill>
            <a:ln w="38100">
              <a:solidFill>
                <a:srgbClr val="C00000"/>
              </a:solidFill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marL="0" marR="0" algn="ctr">
                <a:spcBef>
                  <a:spcPts val="0"/>
                </a:spcBef>
                <a:spcAft>
                  <a:spcPts val="0"/>
                </a:spcAft>
              </a:pPr>
              <a:r>
                <a:rPr lang="en-GB" sz="340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Z</a:t>
              </a:r>
              <a:r>
                <a:rPr lang="en-GB" sz="3400" baseline="-2500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Load</a:t>
              </a:r>
              <a:endParaRPr lang="en-GB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  <a:p>
              <a:pPr marL="0" marR="0" algn="ctr">
                <a:spcBef>
                  <a:spcPts val="0"/>
                </a:spcBef>
                <a:spcAft>
                  <a:spcPts val="0"/>
                </a:spcAft>
              </a:pPr>
              <a:r>
                <a:rPr lang="en-GB" sz="340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 </a:t>
              </a:r>
              <a:endParaRPr lang="en-GB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37" name="Freeform 3376">
              <a:extLst>
                <a:ext uri="{FF2B5EF4-FFF2-40B4-BE49-F238E27FC236}">
                  <a16:creationId xmlns:a16="http://schemas.microsoft.com/office/drawing/2014/main" id="{7E7067E9-A1BB-4468-9205-8BE7555044BE}"/>
                </a:ext>
              </a:extLst>
            </p:cNvPr>
            <p:cNvSpPr>
              <a:spLocks/>
            </p:cNvSpPr>
            <p:nvPr/>
          </p:nvSpPr>
          <p:spPr bwMode="auto">
            <a:xfrm>
              <a:off x="13502" y="2656"/>
              <a:ext cx="935" cy="486"/>
            </a:xfrm>
            <a:custGeom>
              <a:avLst/>
              <a:gdLst>
                <a:gd name="T0" fmla="*/ 0 w 935"/>
                <a:gd name="T1" fmla="*/ 0 h 486"/>
                <a:gd name="T2" fmla="*/ 917 w 935"/>
                <a:gd name="T3" fmla="*/ 0 h 486"/>
                <a:gd name="T4" fmla="*/ 935 w 935"/>
                <a:gd name="T5" fmla="*/ 486 h 4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35" h="486">
                  <a:moveTo>
                    <a:pt x="0" y="0"/>
                  </a:moveTo>
                  <a:lnTo>
                    <a:pt x="917" y="0"/>
                  </a:lnTo>
                  <a:lnTo>
                    <a:pt x="935" y="486"/>
                  </a:lnTo>
                </a:path>
              </a:pathLst>
            </a:custGeom>
            <a:noFill/>
            <a:ln w="28575">
              <a:solidFill>
                <a:srgbClr val="C00000"/>
              </a:solidFill>
              <a:prstDash val="dash"/>
              <a:round/>
              <a:headEnd type="stealth" w="lg" len="lg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GB"/>
            </a:p>
          </p:txBody>
        </p:sp>
        <p:sp>
          <p:nvSpPr>
            <p:cNvPr id="38" name="Freeform 3377">
              <a:extLst>
                <a:ext uri="{FF2B5EF4-FFF2-40B4-BE49-F238E27FC236}">
                  <a16:creationId xmlns:a16="http://schemas.microsoft.com/office/drawing/2014/main" id="{DA788B6F-21D3-4EB0-A2D3-F1ADEBC37393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13536" y="3969"/>
              <a:ext cx="935" cy="386"/>
            </a:xfrm>
            <a:custGeom>
              <a:avLst/>
              <a:gdLst>
                <a:gd name="T0" fmla="*/ 0 w 935"/>
                <a:gd name="T1" fmla="*/ 0 h 486"/>
                <a:gd name="T2" fmla="*/ 917 w 935"/>
                <a:gd name="T3" fmla="*/ 0 h 486"/>
                <a:gd name="T4" fmla="*/ 935 w 935"/>
                <a:gd name="T5" fmla="*/ 486 h 4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35" h="486">
                  <a:moveTo>
                    <a:pt x="0" y="0"/>
                  </a:moveTo>
                  <a:lnTo>
                    <a:pt x="917" y="0"/>
                  </a:lnTo>
                  <a:lnTo>
                    <a:pt x="935" y="486"/>
                  </a:lnTo>
                </a:path>
              </a:pathLst>
            </a:custGeom>
            <a:noFill/>
            <a:ln w="28575">
              <a:solidFill>
                <a:srgbClr val="C00000"/>
              </a:solidFill>
              <a:prstDash val="dash"/>
              <a:round/>
              <a:headEnd type="stealth" w="lg" len="lg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GB"/>
            </a:p>
          </p:txBody>
        </p:sp>
        <p:cxnSp>
          <p:nvCxnSpPr>
            <p:cNvPr id="39" name="AutoShape 3378">
              <a:extLst>
                <a:ext uri="{FF2B5EF4-FFF2-40B4-BE49-F238E27FC236}">
                  <a16:creationId xmlns:a16="http://schemas.microsoft.com/office/drawing/2014/main" id="{F434A9DD-6BDD-49F2-BC45-1273E9C26A1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908" y="3497"/>
              <a:ext cx="1421" cy="0"/>
            </a:xfrm>
            <a:prstGeom prst="straightConnector1">
              <a:avLst/>
            </a:prstGeom>
            <a:noFill/>
            <a:ln w="28575">
              <a:solidFill>
                <a:srgbClr val="C00000"/>
              </a:solidFill>
              <a:prstDash val="dash"/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40" name="Text Box 3379">
              <a:extLst>
                <a:ext uri="{FF2B5EF4-FFF2-40B4-BE49-F238E27FC236}">
                  <a16:creationId xmlns:a16="http://schemas.microsoft.com/office/drawing/2014/main" id="{4F7EAC65-7938-4058-9E26-1A29C4E50DF6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1581" y="2465"/>
              <a:ext cx="1800" cy="9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C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marL="0" marR="0" algn="ctr">
                <a:spcBef>
                  <a:spcPts val="0"/>
                </a:spcBef>
                <a:spcAft>
                  <a:spcPts val="0"/>
                </a:spcAft>
              </a:pPr>
              <a:r>
                <a:rPr lang="en-GB" sz="340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Z</a:t>
              </a:r>
              <a:r>
                <a:rPr lang="en-GB" sz="3400" baseline="-2500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Input</a:t>
              </a:r>
              <a:endParaRPr lang="en-GB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  <a:p>
              <a:pPr marL="0" marR="0" algn="ctr">
                <a:spcBef>
                  <a:spcPts val="0"/>
                </a:spcBef>
                <a:spcAft>
                  <a:spcPts val="0"/>
                </a:spcAft>
              </a:pPr>
              <a:r>
                <a:rPr lang="en-GB" sz="340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 </a:t>
              </a:r>
              <a:endParaRPr lang="en-GB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3315781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B1BBAC-DEE1-4CF9-9521-6921611D2B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15" y="549483"/>
            <a:ext cx="10924085" cy="482745"/>
          </a:xfrm>
        </p:spPr>
        <p:txBody>
          <a:bodyPr>
            <a:noAutofit/>
          </a:bodyPr>
          <a:lstStyle/>
          <a:p>
            <a:r>
              <a:rPr lang="en-GB" dirty="0"/>
              <a:t>Image Impedance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96DE91A-80FF-4591-B0F8-5D8906F0D761}"/>
              </a:ext>
            </a:extLst>
          </p:cNvPr>
          <p:cNvSpPr/>
          <p:nvPr/>
        </p:nvSpPr>
        <p:spPr>
          <a:xfrm>
            <a:off x="216567" y="2800809"/>
            <a:ext cx="9914021" cy="39087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600"/>
              <a:buFont typeface="Wingdings" panose="05000000000000000000" pitchFamily="2" charset="2"/>
              <a:buChar char=""/>
            </a:pPr>
            <a:r>
              <a:rPr lang="en-GB" sz="320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Pair of Image impedances unique to Network</a:t>
            </a:r>
            <a:endParaRPr lang="en-GB" sz="32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600"/>
              <a:buFont typeface="Wingdings" panose="05000000000000000000" pitchFamily="2" charset="2"/>
              <a:buChar char=""/>
            </a:pPr>
            <a:r>
              <a:rPr lang="en-GB" sz="320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When load = Z</a:t>
            </a:r>
            <a:r>
              <a:rPr lang="en-GB" sz="3200" baseline="-2500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I2 </a:t>
            </a:r>
            <a:r>
              <a:rPr lang="en-GB" sz="320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at Port 2</a:t>
            </a:r>
            <a:r>
              <a:rPr lang="en-GB" sz="3200" baseline="-2500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endParaRPr lang="en-GB" sz="32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457200" marR="0" indent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320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GB" sz="320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Input = Z</a:t>
            </a:r>
            <a:r>
              <a:rPr lang="en-GB" sz="3200" baseline="-2500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I1 </a:t>
            </a:r>
            <a:r>
              <a:rPr lang="en-GB" sz="320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at Port 1</a:t>
            </a:r>
            <a:endParaRPr lang="en-GB" sz="32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600"/>
              <a:buFont typeface="Wingdings" panose="05000000000000000000" pitchFamily="2" charset="2"/>
              <a:buChar char=""/>
            </a:pPr>
            <a:r>
              <a:rPr lang="en-GB" sz="320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Then with load = Z</a:t>
            </a:r>
            <a:r>
              <a:rPr lang="en-GB" sz="3200" baseline="-2500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I1 </a:t>
            </a:r>
            <a:r>
              <a:rPr lang="en-GB" sz="320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at Port 1</a:t>
            </a:r>
            <a:r>
              <a:rPr lang="en-GB" sz="3200" baseline="-2500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endParaRPr lang="en-GB" sz="32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457200" marR="0" indent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320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GB" sz="320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Input = Z</a:t>
            </a:r>
            <a:r>
              <a:rPr lang="en-GB" sz="3200" baseline="-2500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I2 </a:t>
            </a:r>
            <a:r>
              <a:rPr lang="en-GB" sz="320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at Port 2</a:t>
            </a:r>
            <a:endParaRPr lang="en-GB" sz="32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GB" sz="320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Best analysed by considering two such circuits in reverse cascade connection to reduce variables</a:t>
            </a:r>
            <a:endParaRPr lang="en-GB" sz="3200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C140433A-F3E3-475A-8279-28BDE341B476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5109" y="999775"/>
            <a:ext cx="6144258" cy="1682115"/>
            <a:chOff x="1219" y="1399"/>
            <a:chExt cx="8530" cy="2203"/>
          </a:xfrm>
        </p:grpSpPr>
        <p:sp>
          <p:nvSpPr>
            <p:cNvPr id="25" name="Text Box 3453">
              <a:extLst>
                <a:ext uri="{FF2B5EF4-FFF2-40B4-BE49-F238E27FC236}">
                  <a16:creationId xmlns:a16="http://schemas.microsoft.com/office/drawing/2014/main" id="{2C241C82-6863-4F88-BB05-B90BDD7CCDF3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4467" y="1870"/>
              <a:ext cx="1967" cy="1732"/>
            </a:xfrm>
            <a:prstGeom prst="rect">
              <a:avLst/>
            </a:prstGeom>
            <a:solidFill>
              <a:srgbClr val="FFFFFF"/>
            </a:solidFill>
            <a:ln w="38100">
              <a:solidFill>
                <a:srgbClr val="C00000"/>
              </a:solidFill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marL="0" marR="0" algn="ctr">
                <a:spcBef>
                  <a:spcPts val="1200"/>
                </a:spcBef>
                <a:spcAft>
                  <a:spcPts val="0"/>
                </a:spcAft>
              </a:pPr>
              <a:r>
                <a:rPr lang="en-GB" sz="220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Two-Port</a:t>
              </a:r>
              <a:endParaRPr lang="en-GB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  <a:p>
              <a:pPr marL="0" marR="0" algn="ctr">
                <a:spcBef>
                  <a:spcPts val="1200"/>
                </a:spcBef>
                <a:spcAft>
                  <a:spcPts val="0"/>
                </a:spcAft>
              </a:pPr>
              <a:r>
                <a:rPr lang="en-GB" sz="220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Network</a:t>
              </a:r>
              <a:endParaRPr lang="en-GB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cxnSp>
          <p:nvCxnSpPr>
            <p:cNvPr id="26" name="Line 3454">
              <a:extLst>
                <a:ext uri="{FF2B5EF4-FFF2-40B4-BE49-F238E27FC236}">
                  <a16:creationId xmlns:a16="http://schemas.microsoft.com/office/drawing/2014/main" id="{6043D44B-6082-4520-83D7-C70ED92328CB}"/>
                </a:ext>
              </a:extLst>
            </p:cNvPr>
            <p:cNvCxnSpPr>
              <a:cxnSpLocks noChangeAspect="1" noChangeShapeType="1"/>
            </p:cNvCxnSpPr>
            <p:nvPr/>
          </p:nvCxnSpPr>
          <p:spPr bwMode="auto">
            <a:xfrm>
              <a:off x="2298" y="2096"/>
              <a:ext cx="881" cy="0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 type="oval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7" name="Line 3455">
              <a:extLst>
                <a:ext uri="{FF2B5EF4-FFF2-40B4-BE49-F238E27FC236}">
                  <a16:creationId xmlns:a16="http://schemas.microsoft.com/office/drawing/2014/main" id="{ADE024B5-8C72-4CB4-83C9-F101372919AE}"/>
                </a:ext>
              </a:extLst>
            </p:cNvPr>
            <p:cNvCxnSpPr>
              <a:cxnSpLocks noChangeAspect="1" noChangeShapeType="1"/>
            </p:cNvCxnSpPr>
            <p:nvPr/>
          </p:nvCxnSpPr>
          <p:spPr bwMode="auto">
            <a:xfrm>
              <a:off x="3179" y="2096"/>
              <a:ext cx="1288" cy="0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8" name="Line 3456">
              <a:extLst>
                <a:ext uri="{FF2B5EF4-FFF2-40B4-BE49-F238E27FC236}">
                  <a16:creationId xmlns:a16="http://schemas.microsoft.com/office/drawing/2014/main" id="{D2F28385-65FB-4FA6-A314-13215A52EABC}"/>
                </a:ext>
              </a:extLst>
            </p:cNvPr>
            <p:cNvCxnSpPr>
              <a:cxnSpLocks noChangeAspect="1" noChangeShapeType="1"/>
            </p:cNvCxnSpPr>
            <p:nvPr/>
          </p:nvCxnSpPr>
          <p:spPr bwMode="auto">
            <a:xfrm flipH="1">
              <a:off x="7722" y="2096"/>
              <a:ext cx="882" cy="0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 type="oval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9" name="Line 3457">
              <a:extLst>
                <a:ext uri="{FF2B5EF4-FFF2-40B4-BE49-F238E27FC236}">
                  <a16:creationId xmlns:a16="http://schemas.microsoft.com/office/drawing/2014/main" id="{352F394B-BB02-47CE-9C2D-25291B4553DD}"/>
                </a:ext>
              </a:extLst>
            </p:cNvPr>
            <p:cNvCxnSpPr>
              <a:cxnSpLocks noChangeAspect="1" noChangeShapeType="1"/>
            </p:cNvCxnSpPr>
            <p:nvPr/>
          </p:nvCxnSpPr>
          <p:spPr bwMode="auto">
            <a:xfrm flipH="1">
              <a:off x="6434" y="2096"/>
              <a:ext cx="1288" cy="0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0" name="Line 3458">
              <a:extLst>
                <a:ext uri="{FF2B5EF4-FFF2-40B4-BE49-F238E27FC236}">
                  <a16:creationId xmlns:a16="http://schemas.microsoft.com/office/drawing/2014/main" id="{9DEDAB84-5AE5-49A1-920F-256A493823A9}"/>
                </a:ext>
              </a:extLst>
            </p:cNvPr>
            <p:cNvCxnSpPr>
              <a:cxnSpLocks noChangeAspect="1" noChangeShapeType="1"/>
            </p:cNvCxnSpPr>
            <p:nvPr/>
          </p:nvCxnSpPr>
          <p:spPr bwMode="auto">
            <a:xfrm>
              <a:off x="2298" y="3392"/>
              <a:ext cx="2169" cy="0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 type="oval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1" name="Line 3459">
              <a:extLst>
                <a:ext uri="{FF2B5EF4-FFF2-40B4-BE49-F238E27FC236}">
                  <a16:creationId xmlns:a16="http://schemas.microsoft.com/office/drawing/2014/main" id="{69D0889F-A99A-4E78-9D41-FC5CBD9D1FA4}"/>
                </a:ext>
              </a:extLst>
            </p:cNvPr>
            <p:cNvCxnSpPr>
              <a:cxnSpLocks noChangeAspect="1" noChangeShapeType="1"/>
            </p:cNvCxnSpPr>
            <p:nvPr/>
          </p:nvCxnSpPr>
          <p:spPr bwMode="auto">
            <a:xfrm>
              <a:off x="6434" y="3392"/>
              <a:ext cx="2170" cy="0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2" name="Text Box 3460">
              <a:extLst>
                <a:ext uri="{FF2B5EF4-FFF2-40B4-BE49-F238E27FC236}">
                  <a16:creationId xmlns:a16="http://schemas.microsoft.com/office/drawing/2014/main" id="{CDD02F99-E358-4353-87FF-2CDC5E4ED5E9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2976" y="1467"/>
              <a:ext cx="428" cy="6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18000" tIns="10800" rIns="18000" bIns="10800" anchor="t" anchorCtr="0" upright="1">
              <a:noAutofit/>
            </a:bodyPr>
            <a:lstStyle/>
            <a:p>
              <a:pPr marL="0" marR="0">
                <a:spcBef>
                  <a:spcPts val="0"/>
                </a:spcBef>
                <a:spcAft>
                  <a:spcPts val="0"/>
                </a:spcAft>
              </a:pPr>
              <a:r>
                <a:rPr lang="en-GB" sz="2200">
                  <a:solidFill>
                    <a:srgbClr val="00206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I</a:t>
              </a:r>
              <a:r>
                <a:rPr lang="en-GB" sz="2200" baseline="-25000">
                  <a:solidFill>
                    <a:srgbClr val="00206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1</a:t>
              </a:r>
              <a:endParaRPr lang="en-GB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33" name="Text Box 3461">
              <a:extLst>
                <a:ext uri="{FF2B5EF4-FFF2-40B4-BE49-F238E27FC236}">
                  <a16:creationId xmlns:a16="http://schemas.microsoft.com/office/drawing/2014/main" id="{BBC77791-7BF0-4D86-BFE4-83A72A07AACB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7634" y="1399"/>
              <a:ext cx="428" cy="6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18000" tIns="10800" rIns="18000" bIns="10800" anchor="t" anchorCtr="0" upright="1">
              <a:noAutofit/>
            </a:bodyPr>
            <a:lstStyle/>
            <a:p>
              <a:pPr marL="0" marR="0">
                <a:spcBef>
                  <a:spcPts val="0"/>
                </a:spcBef>
                <a:spcAft>
                  <a:spcPts val="0"/>
                </a:spcAft>
              </a:pPr>
              <a:r>
                <a:rPr lang="en-GB" sz="2200">
                  <a:solidFill>
                    <a:srgbClr val="00206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I</a:t>
              </a:r>
              <a:r>
                <a:rPr lang="en-GB" sz="2200" baseline="-25000">
                  <a:solidFill>
                    <a:srgbClr val="00206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2</a:t>
              </a:r>
              <a:endParaRPr lang="en-GB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34" name="Text Box 3462">
              <a:extLst>
                <a:ext uri="{FF2B5EF4-FFF2-40B4-BE49-F238E27FC236}">
                  <a16:creationId xmlns:a16="http://schemas.microsoft.com/office/drawing/2014/main" id="{AB689609-1598-4BD0-AFFE-77D4CB0FEA19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3571" y="2196"/>
              <a:ext cx="579" cy="6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18000" tIns="10800" rIns="18000" bIns="10800" anchor="t" anchorCtr="0" upright="1">
              <a:noAutofit/>
            </a:bodyPr>
            <a:lstStyle/>
            <a:p>
              <a:pPr marL="0" marR="0">
                <a:spcBef>
                  <a:spcPts val="0"/>
                </a:spcBef>
                <a:spcAft>
                  <a:spcPts val="0"/>
                </a:spcAft>
              </a:pPr>
              <a:r>
                <a:rPr lang="en-GB" sz="2200">
                  <a:solidFill>
                    <a:srgbClr val="00206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V</a:t>
              </a:r>
              <a:r>
                <a:rPr lang="en-GB" sz="2200" baseline="-25000">
                  <a:solidFill>
                    <a:srgbClr val="00206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1</a:t>
              </a:r>
              <a:endParaRPr lang="en-GB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cxnSp>
          <p:nvCxnSpPr>
            <p:cNvPr id="35" name="Line 3463">
              <a:extLst>
                <a:ext uri="{FF2B5EF4-FFF2-40B4-BE49-F238E27FC236}">
                  <a16:creationId xmlns:a16="http://schemas.microsoft.com/office/drawing/2014/main" id="{6724671C-6CCA-41EA-AE62-6C6E8E603906}"/>
                </a:ext>
              </a:extLst>
            </p:cNvPr>
            <p:cNvCxnSpPr>
              <a:cxnSpLocks noChangeAspect="1" noChangeShapeType="1"/>
            </p:cNvCxnSpPr>
            <p:nvPr/>
          </p:nvCxnSpPr>
          <p:spPr bwMode="auto">
            <a:xfrm>
              <a:off x="4197" y="2280"/>
              <a:ext cx="0" cy="944"/>
            </a:xfrm>
            <a:prstGeom prst="line">
              <a:avLst/>
            </a:prstGeom>
            <a:noFill/>
            <a:ln w="38100">
              <a:solidFill>
                <a:srgbClr val="002060"/>
              </a:solidFill>
              <a:round/>
              <a:headEnd type="arrow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6" name="Text Box 3464">
              <a:extLst>
                <a:ext uri="{FF2B5EF4-FFF2-40B4-BE49-F238E27FC236}">
                  <a16:creationId xmlns:a16="http://schemas.microsoft.com/office/drawing/2014/main" id="{ED9A8039-AFAB-44F2-AE9D-151CBC58A3A7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6901" y="2183"/>
              <a:ext cx="607" cy="6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18000" tIns="10800" rIns="18000" bIns="10800" anchor="t" anchorCtr="0" upright="1">
              <a:noAutofit/>
            </a:bodyPr>
            <a:lstStyle/>
            <a:p>
              <a:pPr marL="0" marR="0">
                <a:spcBef>
                  <a:spcPts val="0"/>
                </a:spcBef>
                <a:spcAft>
                  <a:spcPts val="0"/>
                </a:spcAft>
              </a:pPr>
              <a:r>
                <a:rPr lang="en-GB" sz="2200">
                  <a:solidFill>
                    <a:srgbClr val="00206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V</a:t>
              </a:r>
              <a:r>
                <a:rPr lang="en-GB" sz="2200" baseline="-25000">
                  <a:solidFill>
                    <a:srgbClr val="00206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2</a:t>
              </a:r>
              <a:endParaRPr lang="en-GB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cxnSp>
          <p:nvCxnSpPr>
            <p:cNvPr id="37" name="Line 3465">
              <a:extLst>
                <a:ext uri="{FF2B5EF4-FFF2-40B4-BE49-F238E27FC236}">
                  <a16:creationId xmlns:a16="http://schemas.microsoft.com/office/drawing/2014/main" id="{433BFF30-5B23-43EC-B6C3-70FB809E805F}"/>
                </a:ext>
              </a:extLst>
            </p:cNvPr>
            <p:cNvCxnSpPr>
              <a:cxnSpLocks noChangeAspect="1" noChangeShapeType="1"/>
            </p:cNvCxnSpPr>
            <p:nvPr/>
          </p:nvCxnSpPr>
          <p:spPr bwMode="auto">
            <a:xfrm>
              <a:off x="6777" y="2280"/>
              <a:ext cx="0" cy="944"/>
            </a:xfrm>
            <a:prstGeom prst="line">
              <a:avLst/>
            </a:prstGeom>
            <a:noFill/>
            <a:ln w="38100">
              <a:solidFill>
                <a:srgbClr val="002060"/>
              </a:solidFill>
              <a:round/>
              <a:headEnd type="arrow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8" name="Text Box 3466">
              <a:extLst>
                <a:ext uri="{FF2B5EF4-FFF2-40B4-BE49-F238E27FC236}">
                  <a16:creationId xmlns:a16="http://schemas.microsoft.com/office/drawing/2014/main" id="{458106FE-E591-40D7-BE80-371636E2C50F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2389" y="2488"/>
              <a:ext cx="1322" cy="6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18000" tIns="10800" rIns="18000" bIns="10800" anchor="t" anchorCtr="0" upright="1">
              <a:noAutofit/>
            </a:bodyPr>
            <a:lstStyle/>
            <a:p>
              <a:pPr marL="0" marR="0">
                <a:spcBef>
                  <a:spcPts val="0"/>
                </a:spcBef>
                <a:spcAft>
                  <a:spcPts val="0"/>
                </a:spcAft>
              </a:pPr>
              <a:r>
                <a:rPr lang="en-GB" sz="2200" i="1">
                  <a:solidFill>
                    <a:srgbClr val="00206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  Port 1</a:t>
              </a:r>
              <a:endParaRPr lang="en-GB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39" name="Text Box 3467">
              <a:extLst>
                <a:ext uri="{FF2B5EF4-FFF2-40B4-BE49-F238E27FC236}">
                  <a16:creationId xmlns:a16="http://schemas.microsoft.com/office/drawing/2014/main" id="{21AED802-C038-4E59-85E9-FFD02A1AFD7E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7497" y="2475"/>
              <a:ext cx="1237" cy="6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18000" tIns="10800" rIns="18000" bIns="10800" anchor="t" anchorCtr="0" upright="1">
              <a:noAutofit/>
            </a:bodyPr>
            <a:lstStyle/>
            <a:p>
              <a:pPr marL="0" marR="0">
                <a:spcBef>
                  <a:spcPts val="0"/>
                </a:spcBef>
                <a:spcAft>
                  <a:spcPts val="0"/>
                </a:spcAft>
              </a:pPr>
              <a:r>
                <a:rPr lang="en-GB" sz="2200" b="1" i="1">
                  <a:solidFill>
                    <a:srgbClr val="002060"/>
                  </a:solidFill>
                  <a:effectLst/>
                  <a:latin typeface="Times New Roman" panose="02020603050405020304" pitchFamily="18" charset="0"/>
                </a:rPr>
                <a:t>Port 2</a:t>
              </a:r>
              <a:endParaRPr lang="en-GB" sz="1200" b="1" i="1">
                <a:effectLst/>
                <a:latin typeface="Times New Roman" panose="02020603050405020304" pitchFamily="18" charset="0"/>
              </a:endParaRPr>
            </a:p>
          </p:txBody>
        </p:sp>
        <p:cxnSp>
          <p:nvCxnSpPr>
            <p:cNvPr id="40" name="AutoShape 3468">
              <a:extLst>
                <a:ext uri="{FF2B5EF4-FFF2-40B4-BE49-F238E27FC236}">
                  <a16:creationId xmlns:a16="http://schemas.microsoft.com/office/drawing/2014/main" id="{12EC2C6C-5289-43C7-B7E0-9D1DC8C0DC6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448" y="2935"/>
              <a:ext cx="720" cy="0"/>
            </a:xfrm>
            <a:prstGeom prst="straightConnector1">
              <a:avLst/>
            </a:prstGeom>
            <a:noFill/>
            <a:ln w="28575">
              <a:solidFill>
                <a:srgbClr val="C00000"/>
              </a:solidFill>
              <a:prstDash val="dash"/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41" name="Text Box 3469">
              <a:extLst>
                <a:ext uri="{FF2B5EF4-FFF2-40B4-BE49-F238E27FC236}">
                  <a16:creationId xmlns:a16="http://schemas.microsoft.com/office/drawing/2014/main" id="{03B33F85-37DE-4BFA-A7D1-F0548FD083AC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1219" y="2214"/>
              <a:ext cx="1260" cy="6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C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marL="0" marR="0" algn="ctr">
                <a:spcBef>
                  <a:spcPts val="0"/>
                </a:spcBef>
                <a:spcAft>
                  <a:spcPts val="0"/>
                </a:spcAft>
              </a:pPr>
              <a:r>
                <a:rPr lang="en-GB" sz="220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Z</a:t>
              </a:r>
              <a:r>
                <a:rPr lang="en-GB" sz="2200" baseline="-2500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I1</a:t>
              </a:r>
              <a:endParaRPr lang="en-GB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  <a:p>
              <a:pPr marL="0" marR="0" algn="ctr">
                <a:spcBef>
                  <a:spcPts val="0"/>
                </a:spcBef>
                <a:spcAft>
                  <a:spcPts val="0"/>
                </a:spcAft>
              </a:pPr>
              <a:r>
                <a:rPr lang="en-GB" sz="220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 </a:t>
              </a:r>
              <a:endParaRPr lang="en-GB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cxnSp>
          <p:nvCxnSpPr>
            <p:cNvPr id="42" name="AutoShape 3470">
              <a:extLst>
                <a:ext uri="{FF2B5EF4-FFF2-40B4-BE49-F238E27FC236}">
                  <a16:creationId xmlns:a16="http://schemas.microsoft.com/office/drawing/2014/main" id="{DC64805C-184C-47FC-A07E-D28F504BBCD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8756" y="2966"/>
              <a:ext cx="720" cy="0"/>
            </a:xfrm>
            <a:prstGeom prst="straightConnector1">
              <a:avLst/>
            </a:prstGeom>
            <a:noFill/>
            <a:ln w="28575">
              <a:solidFill>
                <a:srgbClr val="C00000"/>
              </a:solidFill>
              <a:prstDash val="dash"/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43" name="Text Box 3471">
              <a:extLst>
                <a:ext uri="{FF2B5EF4-FFF2-40B4-BE49-F238E27FC236}">
                  <a16:creationId xmlns:a16="http://schemas.microsoft.com/office/drawing/2014/main" id="{EE6530E7-7F5E-43C0-909E-5B771D97AC71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8489" y="2245"/>
              <a:ext cx="1260" cy="6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C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marL="0" marR="0" algn="ctr">
                <a:spcBef>
                  <a:spcPts val="0"/>
                </a:spcBef>
                <a:spcAft>
                  <a:spcPts val="0"/>
                </a:spcAft>
              </a:pPr>
              <a:r>
                <a:rPr lang="en-GB" sz="220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Z</a:t>
              </a:r>
              <a:r>
                <a:rPr lang="en-GB" sz="2200" baseline="-2500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I2</a:t>
              </a:r>
              <a:endParaRPr lang="en-GB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  <a:p>
              <a:pPr marL="0" marR="0" algn="ctr">
                <a:spcBef>
                  <a:spcPts val="0"/>
                </a:spcBef>
                <a:spcAft>
                  <a:spcPts val="0"/>
                </a:spcAft>
              </a:pPr>
              <a:r>
                <a:rPr lang="en-GB" sz="220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 </a:t>
              </a:r>
              <a:endParaRPr lang="en-GB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763DBDB1-0266-471C-8460-5F098666CC7B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6060758" y="999775"/>
            <a:ext cx="6245102" cy="1682115"/>
            <a:chOff x="1219" y="1399"/>
            <a:chExt cx="8670" cy="2203"/>
          </a:xfrm>
        </p:grpSpPr>
        <p:sp>
          <p:nvSpPr>
            <p:cNvPr id="6" name="Text Box 3473">
              <a:extLst>
                <a:ext uri="{FF2B5EF4-FFF2-40B4-BE49-F238E27FC236}">
                  <a16:creationId xmlns:a16="http://schemas.microsoft.com/office/drawing/2014/main" id="{C9EBC75B-0D5F-4A84-AD97-69C56D1C349C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4467" y="1870"/>
              <a:ext cx="1967" cy="1732"/>
            </a:xfrm>
            <a:prstGeom prst="rect">
              <a:avLst/>
            </a:prstGeom>
            <a:solidFill>
              <a:srgbClr val="FFFFFF"/>
            </a:solidFill>
            <a:ln w="38100">
              <a:solidFill>
                <a:srgbClr val="C00000"/>
              </a:solidFill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marL="0" marR="0" algn="ctr">
                <a:spcBef>
                  <a:spcPts val="1200"/>
                </a:spcBef>
                <a:spcAft>
                  <a:spcPts val="0"/>
                </a:spcAft>
              </a:pPr>
              <a:r>
                <a:rPr lang="en-GB" sz="220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Two-Port</a:t>
              </a:r>
              <a:endParaRPr lang="en-GB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  <a:p>
              <a:pPr marL="0" marR="0" algn="ctr">
                <a:spcBef>
                  <a:spcPts val="1200"/>
                </a:spcBef>
                <a:spcAft>
                  <a:spcPts val="0"/>
                </a:spcAft>
              </a:pPr>
              <a:r>
                <a:rPr lang="en-GB" sz="220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Network</a:t>
              </a:r>
              <a:endParaRPr lang="en-GB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cxnSp>
          <p:nvCxnSpPr>
            <p:cNvPr id="7" name="Line 3474">
              <a:extLst>
                <a:ext uri="{FF2B5EF4-FFF2-40B4-BE49-F238E27FC236}">
                  <a16:creationId xmlns:a16="http://schemas.microsoft.com/office/drawing/2014/main" id="{D5F6444D-9C2C-45B7-A662-BD8C505AE215}"/>
                </a:ext>
              </a:extLst>
            </p:cNvPr>
            <p:cNvCxnSpPr>
              <a:cxnSpLocks noChangeAspect="1" noChangeShapeType="1"/>
            </p:cNvCxnSpPr>
            <p:nvPr/>
          </p:nvCxnSpPr>
          <p:spPr bwMode="auto">
            <a:xfrm>
              <a:off x="2298" y="2096"/>
              <a:ext cx="881" cy="0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 type="oval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" name="Line 3475">
              <a:extLst>
                <a:ext uri="{FF2B5EF4-FFF2-40B4-BE49-F238E27FC236}">
                  <a16:creationId xmlns:a16="http://schemas.microsoft.com/office/drawing/2014/main" id="{CC8BE953-81F5-4F79-AFEC-6D4E40977CC4}"/>
                </a:ext>
              </a:extLst>
            </p:cNvPr>
            <p:cNvCxnSpPr>
              <a:cxnSpLocks noChangeAspect="1" noChangeShapeType="1"/>
            </p:cNvCxnSpPr>
            <p:nvPr/>
          </p:nvCxnSpPr>
          <p:spPr bwMode="auto">
            <a:xfrm>
              <a:off x="3179" y="2096"/>
              <a:ext cx="1288" cy="0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" name="Line 3476">
              <a:extLst>
                <a:ext uri="{FF2B5EF4-FFF2-40B4-BE49-F238E27FC236}">
                  <a16:creationId xmlns:a16="http://schemas.microsoft.com/office/drawing/2014/main" id="{A7944B16-B7A2-407B-B307-37648D8F44CD}"/>
                </a:ext>
              </a:extLst>
            </p:cNvPr>
            <p:cNvCxnSpPr>
              <a:cxnSpLocks noChangeAspect="1" noChangeShapeType="1"/>
            </p:cNvCxnSpPr>
            <p:nvPr/>
          </p:nvCxnSpPr>
          <p:spPr bwMode="auto">
            <a:xfrm flipH="1">
              <a:off x="7722" y="2096"/>
              <a:ext cx="882" cy="0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 type="oval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" name="Line 3477">
              <a:extLst>
                <a:ext uri="{FF2B5EF4-FFF2-40B4-BE49-F238E27FC236}">
                  <a16:creationId xmlns:a16="http://schemas.microsoft.com/office/drawing/2014/main" id="{6EAA531F-AB33-4023-A5CB-7BA1D52C1138}"/>
                </a:ext>
              </a:extLst>
            </p:cNvPr>
            <p:cNvCxnSpPr>
              <a:cxnSpLocks noChangeAspect="1" noChangeShapeType="1"/>
            </p:cNvCxnSpPr>
            <p:nvPr/>
          </p:nvCxnSpPr>
          <p:spPr bwMode="auto">
            <a:xfrm flipH="1">
              <a:off x="6434" y="2096"/>
              <a:ext cx="1288" cy="0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" name="Line 3478">
              <a:extLst>
                <a:ext uri="{FF2B5EF4-FFF2-40B4-BE49-F238E27FC236}">
                  <a16:creationId xmlns:a16="http://schemas.microsoft.com/office/drawing/2014/main" id="{EA3D2C13-7727-4E9B-B88F-4AF40C1A9E56}"/>
                </a:ext>
              </a:extLst>
            </p:cNvPr>
            <p:cNvCxnSpPr>
              <a:cxnSpLocks noChangeAspect="1" noChangeShapeType="1"/>
            </p:cNvCxnSpPr>
            <p:nvPr/>
          </p:nvCxnSpPr>
          <p:spPr bwMode="auto">
            <a:xfrm>
              <a:off x="2298" y="3392"/>
              <a:ext cx="2169" cy="0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 type="oval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" name="Line 3479">
              <a:extLst>
                <a:ext uri="{FF2B5EF4-FFF2-40B4-BE49-F238E27FC236}">
                  <a16:creationId xmlns:a16="http://schemas.microsoft.com/office/drawing/2014/main" id="{B04BCA6C-E740-4F87-BF64-022D93225376}"/>
                </a:ext>
              </a:extLst>
            </p:cNvPr>
            <p:cNvCxnSpPr>
              <a:cxnSpLocks noChangeAspect="1" noChangeShapeType="1"/>
            </p:cNvCxnSpPr>
            <p:nvPr/>
          </p:nvCxnSpPr>
          <p:spPr bwMode="auto">
            <a:xfrm>
              <a:off x="6434" y="3392"/>
              <a:ext cx="2170" cy="0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3" name="Text Box 3480">
              <a:extLst>
                <a:ext uri="{FF2B5EF4-FFF2-40B4-BE49-F238E27FC236}">
                  <a16:creationId xmlns:a16="http://schemas.microsoft.com/office/drawing/2014/main" id="{FF8A369D-92FE-4D95-B87B-26BA7F32BA38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2976" y="1467"/>
              <a:ext cx="428" cy="6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18000" tIns="10800" rIns="18000" bIns="10800" anchor="t" anchorCtr="0" upright="1">
              <a:noAutofit/>
            </a:bodyPr>
            <a:lstStyle/>
            <a:p>
              <a:pPr marL="0" marR="0">
                <a:spcBef>
                  <a:spcPts val="0"/>
                </a:spcBef>
                <a:spcAft>
                  <a:spcPts val="0"/>
                </a:spcAft>
              </a:pPr>
              <a:r>
                <a:rPr lang="en-GB" sz="2200">
                  <a:solidFill>
                    <a:srgbClr val="00206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I</a:t>
              </a:r>
              <a:r>
                <a:rPr lang="en-GB" sz="2200" baseline="-25000">
                  <a:solidFill>
                    <a:srgbClr val="00206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1</a:t>
              </a:r>
              <a:endParaRPr lang="en-GB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14" name="Text Box 3481">
              <a:extLst>
                <a:ext uri="{FF2B5EF4-FFF2-40B4-BE49-F238E27FC236}">
                  <a16:creationId xmlns:a16="http://schemas.microsoft.com/office/drawing/2014/main" id="{83A5ECCE-CB0D-4EAC-A99C-62AA4A656071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7634" y="1399"/>
              <a:ext cx="428" cy="6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18000" tIns="10800" rIns="18000" bIns="10800" anchor="t" anchorCtr="0" upright="1">
              <a:noAutofit/>
            </a:bodyPr>
            <a:lstStyle/>
            <a:p>
              <a:pPr marL="0" marR="0">
                <a:spcBef>
                  <a:spcPts val="0"/>
                </a:spcBef>
                <a:spcAft>
                  <a:spcPts val="0"/>
                </a:spcAft>
              </a:pPr>
              <a:r>
                <a:rPr lang="en-GB" sz="2200">
                  <a:solidFill>
                    <a:srgbClr val="00206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I</a:t>
              </a:r>
              <a:r>
                <a:rPr lang="en-GB" sz="2200" baseline="-25000">
                  <a:solidFill>
                    <a:srgbClr val="00206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2</a:t>
              </a:r>
              <a:endParaRPr lang="en-GB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15" name="Text Box 3482">
              <a:extLst>
                <a:ext uri="{FF2B5EF4-FFF2-40B4-BE49-F238E27FC236}">
                  <a16:creationId xmlns:a16="http://schemas.microsoft.com/office/drawing/2014/main" id="{B55ABE29-8E94-4C86-BE70-A5BA2C2AB6C8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3571" y="2196"/>
              <a:ext cx="579" cy="6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18000" tIns="10800" rIns="18000" bIns="10800" anchor="t" anchorCtr="0" upright="1">
              <a:noAutofit/>
            </a:bodyPr>
            <a:lstStyle/>
            <a:p>
              <a:pPr marL="0" marR="0">
                <a:spcBef>
                  <a:spcPts val="0"/>
                </a:spcBef>
                <a:spcAft>
                  <a:spcPts val="0"/>
                </a:spcAft>
              </a:pPr>
              <a:r>
                <a:rPr lang="en-GB" sz="2200">
                  <a:solidFill>
                    <a:srgbClr val="00206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V</a:t>
              </a:r>
              <a:r>
                <a:rPr lang="en-GB" sz="2200" baseline="-25000">
                  <a:solidFill>
                    <a:srgbClr val="00206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1</a:t>
              </a:r>
              <a:endParaRPr lang="en-GB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cxnSp>
          <p:nvCxnSpPr>
            <p:cNvPr id="16" name="Line 3483">
              <a:extLst>
                <a:ext uri="{FF2B5EF4-FFF2-40B4-BE49-F238E27FC236}">
                  <a16:creationId xmlns:a16="http://schemas.microsoft.com/office/drawing/2014/main" id="{D62E73FF-73E3-4A90-9DA5-4B3E4AB69C0B}"/>
                </a:ext>
              </a:extLst>
            </p:cNvPr>
            <p:cNvCxnSpPr>
              <a:cxnSpLocks noChangeAspect="1" noChangeShapeType="1"/>
            </p:cNvCxnSpPr>
            <p:nvPr/>
          </p:nvCxnSpPr>
          <p:spPr bwMode="auto">
            <a:xfrm>
              <a:off x="4197" y="2280"/>
              <a:ext cx="0" cy="944"/>
            </a:xfrm>
            <a:prstGeom prst="line">
              <a:avLst/>
            </a:prstGeom>
            <a:noFill/>
            <a:ln w="38100">
              <a:solidFill>
                <a:srgbClr val="002060"/>
              </a:solidFill>
              <a:round/>
              <a:headEnd type="arrow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7" name="Text Box 3484">
              <a:extLst>
                <a:ext uri="{FF2B5EF4-FFF2-40B4-BE49-F238E27FC236}">
                  <a16:creationId xmlns:a16="http://schemas.microsoft.com/office/drawing/2014/main" id="{8F892AE2-EB8C-4CDB-9EC4-AA343A2429A3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6901" y="2183"/>
              <a:ext cx="607" cy="6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18000" tIns="10800" rIns="18000" bIns="10800" anchor="t" anchorCtr="0" upright="1">
              <a:noAutofit/>
            </a:bodyPr>
            <a:lstStyle/>
            <a:p>
              <a:pPr marL="0" marR="0">
                <a:spcBef>
                  <a:spcPts val="0"/>
                </a:spcBef>
                <a:spcAft>
                  <a:spcPts val="0"/>
                </a:spcAft>
              </a:pPr>
              <a:r>
                <a:rPr lang="en-GB" sz="2200">
                  <a:solidFill>
                    <a:srgbClr val="00206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V</a:t>
              </a:r>
              <a:r>
                <a:rPr lang="en-GB" sz="2200" baseline="-25000">
                  <a:solidFill>
                    <a:srgbClr val="00206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2</a:t>
              </a:r>
              <a:endParaRPr lang="en-GB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cxnSp>
          <p:nvCxnSpPr>
            <p:cNvPr id="18" name="Line 3485">
              <a:extLst>
                <a:ext uri="{FF2B5EF4-FFF2-40B4-BE49-F238E27FC236}">
                  <a16:creationId xmlns:a16="http://schemas.microsoft.com/office/drawing/2014/main" id="{595400A9-2719-4556-BF66-B12DEFA4D1A3}"/>
                </a:ext>
              </a:extLst>
            </p:cNvPr>
            <p:cNvCxnSpPr>
              <a:cxnSpLocks noChangeAspect="1" noChangeShapeType="1"/>
            </p:cNvCxnSpPr>
            <p:nvPr/>
          </p:nvCxnSpPr>
          <p:spPr bwMode="auto">
            <a:xfrm>
              <a:off x="6777" y="2280"/>
              <a:ext cx="0" cy="944"/>
            </a:xfrm>
            <a:prstGeom prst="line">
              <a:avLst/>
            </a:prstGeom>
            <a:noFill/>
            <a:ln w="38100">
              <a:solidFill>
                <a:srgbClr val="002060"/>
              </a:solidFill>
              <a:round/>
              <a:headEnd type="arrow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9" name="Text Box 3486">
              <a:extLst>
                <a:ext uri="{FF2B5EF4-FFF2-40B4-BE49-F238E27FC236}">
                  <a16:creationId xmlns:a16="http://schemas.microsoft.com/office/drawing/2014/main" id="{773E4FC2-D3B0-45DE-9340-E254F6C89D7A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2389" y="2488"/>
              <a:ext cx="1322" cy="6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18000" tIns="10800" rIns="18000" bIns="10800" anchor="t" anchorCtr="0" upright="1">
              <a:noAutofit/>
            </a:bodyPr>
            <a:lstStyle/>
            <a:p>
              <a:pPr marL="0" marR="0">
                <a:spcBef>
                  <a:spcPts val="0"/>
                </a:spcBef>
                <a:spcAft>
                  <a:spcPts val="0"/>
                </a:spcAft>
              </a:pPr>
              <a:r>
                <a:rPr lang="en-GB" sz="2200" i="1">
                  <a:solidFill>
                    <a:srgbClr val="00206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  Port 1</a:t>
              </a:r>
              <a:endParaRPr lang="en-GB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20" name="Text Box 3487">
              <a:extLst>
                <a:ext uri="{FF2B5EF4-FFF2-40B4-BE49-F238E27FC236}">
                  <a16:creationId xmlns:a16="http://schemas.microsoft.com/office/drawing/2014/main" id="{5C463543-1254-4406-B32C-FB61EB4BBD4D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7497" y="2475"/>
              <a:ext cx="1237" cy="6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18000" tIns="10800" rIns="18000" bIns="10800" anchor="t" anchorCtr="0" upright="1">
              <a:noAutofit/>
            </a:bodyPr>
            <a:lstStyle/>
            <a:p>
              <a:pPr marL="0" marR="0">
                <a:spcBef>
                  <a:spcPts val="0"/>
                </a:spcBef>
                <a:spcAft>
                  <a:spcPts val="0"/>
                </a:spcAft>
              </a:pPr>
              <a:r>
                <a:rPr lang="en-GB" sz="2200" b="1" i="1">
                  <a:solidFill>
                    <a:srgbClr val="002060"/>
                  </a:solidFill>
                  <a:effectLst/>
                  <a:latin typeface="Times New Roman" panose="02020603050405020304" pitchFamily="18" charset="0"/>
                </a:rPr>
                <a:t>Port 2</a:t>
              </a:r>
              <a:endParaRPr lang="en-GB" sz="1200" b="1" i="1">
                <a:effectLst/>
                <a:latin typeface="Times New Roman" panose="02020603050405020304" pitchFamily="18" charset="0"/>
              </a:endParaRPr>
            </a:p>
          </p:txBody>
        </p:sp>
        <p:cxnSp>
          <p:nvCxnSpPr>
            <p:cNvPr id="21" name="AutoShape 3488">
              <a:extLst>
                <a:ext uri="{FF2B5EF4-FFF2-40B4-BE49-F238E27FC236}">
                  <a16:creationId xmlns:a16="http://schemas.microsoft.com/office/drawing/2014/main" id="{A363697D-7339-4F21-9982-90F009A6CE5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448" y="2935"/>
              <a:ext cx="720" cy="0"/>
            </a:xfrm>
            <a:prstGeom prst="straightConnector1">
              <a:avLst/>
            </a:prstGeom>
            <a:noFill/>
            <a:ln w="28575">
              <a:solidFill>
                <a:srgbClr val="C00000"/>
              </a:solidFill>
              <a:prstDash val="dash"/>
              <a:round/>
              <a:headEnd type="arrow" w="lg" len="lg"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2" name="Text Box 3489">
              <a:extLst>
                <a:ext uri="{FF2B5EF4-FFF2-40B4-BE49-F238E27FC236}">
                  <a16:creationId xmlns:a16="http://schemas.microsoft.com/office/drawing/2014/main" id="{6B3F06C0-CA60-4C8E-839D-5011A573DE54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1219" y="2214"/>
              <a:ext cx="1260" cy="6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C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marL="0" marR="0" algn="ctr">
                <a:spcBef>
                  <a:spcPts val="0"/>
                </a:spcBef>
                <a:spcAft>
                  <a:spcPts val="0"/>
                </a:spcAft>
              </a:pPr>
              <a:r>
                <a:rPr lang="en-GB" sz="220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Z</a:t>
              </a:r>
              <a:r>
                <a:rPr lang="en-GB" sz="2200" baseline="-2500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I1</a:t>
              </a:r>
              <a:endParaRPr lang="en-GB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  <a:p>
              <a:pPr marL="0" marR="0" algn="ctr">
                <a:spcBef>
                  <a:spcPts val="0"/>
                </a:spcBef>
                <a:spcAft>
                  <a:spcPts val="0"/>
                </a:spcAft>
              </a:pPr>
              <a:r>
                <a:rPr lang="en-GB" sz="220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 </a:t>
              </a:r>
              <a:endParaRPr lang="en-GB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cxnSp>
          <p:nvCxnSpPr>
            <p:cNvPr id="23" name="AutoShape 3490">
              <a:extLst>
                <a:ext uri="{FF2B5EF4-FFF2-40B4-BE49-F238E27FC236}">
                  <a16:creationId xmlns:a16="http://schemas.microsoft.com/office/drawing/2014/main" id="{3662EB69-5047-4DD2-A991-BDEB65471DA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8756" y="2966"/>
              <a:ext cx="720" cy="0"/>
            </a:xfrm>
            <a:prstGeom prst="straightConnector1">
              <a:avLst/>
            </a:prstGeom>
            <a:noFill/>
            <a:ln w="28575">
              <a:solidFill>
                <a:srgbClr val="C00000"/>
              </a:solidFill>
              <a:prstDash val="dash"/>
              <a:round/>
              <a:headEnd type="arrow" w="lg" len="lg"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4" name="Text Box 3491">
              <a:extLst>
                <a:ext uri="{FF2B5EF4-FFF2-40B4-BE49-F238E27FC236}">
                  <a16:creationId xmlns:a16="http://schemas.microsoft.com/office/drawing/2014/main" id="{EFBEDA04-3F33-4049-8D9A-BF99AAF4FA54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8489" y="2245"/>
              <a:ext cx="1400" cy="7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C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marL="0" marR="0" algn="ctr">
                <a:spcBef>
                  <a:spcPts val="0"/>
                </a:spcBef>
                <a:spcAft>
                  <a:spcPts val="0"/>
                </a:spcAft>
              </a:pPr>
              <a:r>
                <a:rPr lang="en-GB" sz="220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Z</a:t>
              </a:r>
              <a:r>
                <a:rPr lang="en-GB" sz="2200" baseline="-2500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I2</a:t>
              </a:r>
              <a:endParaRPr lang="en-GB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  <a:p>
              <a:pPr marL="0" marR="0" algn="ctr">
                <a:spcBef>
                  <a:spcPts val="0"/>
                </a:spcBef>
                <a:spcAft>
                  <a:spcPts val="0"/>
                </a:spcAft>
              </a:pPr>
              <a:r>
                <a:rPr lang="en-GB" sz="220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 </a:t>
              </a:r>
              <a:endParaRPr lang="en-GB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4630827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B1BBAC-DEE1-4CF9-9521-6921611D2B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3359" y="109708"/>
            <a:ext cx="2157676" cy="506254"/>
          </a:xfrm>
        </p:spPr>
        <p:txBody>
          <a:bodyPr>
            <a:noAutofit/>
          </a:bodyPr>
          <a:lstStyle/>
          <a:p>
            <a:pPr algn="l"/>
            <a:r>
              <a:rPr lang="en-US" dirty="0"/>
              <a:t>Example</a:t>
            </a:r>
            <a:endParaRPr lang="en-GB" dirty="0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350A200E-C13B-4CF3-8022-83C820BECADB}"/>
              </a:ext>
            </a:extLst>
          </p:cNvPr>
          <p:cNvGrpSpPr/>
          <p:nvPr/>
        </p:nvGrpSpPr>
        <p:grpSpPr>
          <a:xfrm>
            <a:off x="8451389" y="593324"/>
            <a:ext cx="2767794" cy="2338704"/>
            <a:chOff x="119431" y="35649"/>
            <a:chExt cx="3550173" cy="2339244"/>
          </a:xfrm>
        </p:grpSpPr>
        <p:grpSp>
          <p:nvGrpSpPr>
            <p:cNvPr id="90" name="Group 89">
              <a:extLst>
                <a:ext uri="{FF2B5EF4-FFF2-40B4-BE49-F238E27FC236}">
                  <a16:creationId xmlns:a16="http://schemas.microsoft.com/office/drawing/2014/main" id="{D20AC730-C7EF-4856-973B-F3D052180A4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9431" y="35649"/>
              <a:ext cx="3550173" cy="2339244"/>
              <a:chOff x="11109" y="5720"/>
              <a:chExt cx="5975" cy="3871"/>
            </a:xfrm>
          </p:grpSpPr>
          <p:grpSp>
            <p:nvGrpSpPr>
              <p:cNvPr id="94" name="Group 93">
                <a:extLst>
                  <a:ext uri="{FF2B5EF4-FFF2-40B4-BE49-F238E27FC236}">
                    <a16:creationId xmlns:a16="http://schemas.microsoft.com/office/drawing/2014/main" id="{F69A6CDF-BC14-4DFC-BACB-666EAF5773FC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 rot="5400000">
                <a:off x="12315" y="5241"/>
                <a:ext cx="494" cy="2906"/>
                <a:chOff x="9878" y="1418"/>
                <a:chExt cx="360" cy="1800"/>
              </a:xfrm>
            </p:grpSpPr>
            <p:sp>
              <p:nvSpPr>
                <p:cNvPr id="105" name="Rectangle 104">
                  <a:extLst>
                    <a:ext uri="{FF2B5EF4-FFF2-40B4-BE49-F238E27FC236}">
                      <a16:creationId xmlns:a16="http://schemas.microsoft.com/office/drawing/2014/main" id="{75379309-7569-4F31-A039-97B7B7D05381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9878" y="1958"/>
                  <a:ext cx="360" cy="720"/>
                </a:xfrm>
                <a:prstGeom prst="rect">
                  <a:avLst/>
                </a:prstGeom>
                <a:noFill/>
                <a:ln w="38100">
                  <a:solidFill>
                    <a:srgbClr val="C0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endParaRPr lang="en-GB"/>
                </a:p>
              </p:txBody>
            </p:sp>
            <p:cxnSp>
              <p:nvCxnSpPr>
                <p:cNvPr id="106" name="Line 3517">
                  <a:extLst>
                    <a:ext uri="{FF2B5EF4-FFF2-40B4-BE49-F238E27FC236}">
                      <a16:creationId xmlns:a16="http://schemas.microsoft.com/office/drawing/2014/main" id="{F115F45D-0982-49CA-B200-093E544881F2}"/>
                    </a:ext>
                  </a:extLst>
                </p:cNvPr>
                <p:cNvCxnSpPr>
                  <a:cxnSpLocks noChangeAspect="1" noChangeShapeType="1"/>
                </p:cNvCxnSpPr>
                <p:nvPr/>
              </p:nvCxnSpPr>
              <p:spPr bwMode="auto">
                <a:xfrm>
                  <a:off x="10058" y="1418"/>
                  <a:ext cx="0" cy="540"/>
                </a:xfrm>
                <a:prstGeom prst="line">
                  <a:avLst/>
                </a:prstGeom>
                <a:noFill/>
                <a:ln w="38100">
                  <a:solidFill>
                    <a:srgbClr val="C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107" name="Line 3518">
                  <a:extLst>
                    <a:ext uri="{FF2B5EF4-FFF2-40B4-BE49-F238E27FC236}">
                      <a16:creationId xmlns:a16="http://schemas.microsoft.com/office/drawing/2014/main" id="{84562DC9-7E97-4302-8C2D-F9720818431B}"/>
                    </a:ext>
                  </a:extLst>
                </p:cNvPr>
                <p:cNvCxnSpPr>
                  <a:cxnSpLocks noChangeAspect="1" noChangeShapeType="1"/>
                </p:cNvCxnSpPr>
                <p:nvPr/>
              </p:nvCxnSpPr>
              <p:spPr bwMode="auto">
                <a:xfrm>
                  <a:off x="10058" y="2678"/>
                  <a:ext cx="0" cy="540"/>
                </a:xfrm>
                <a:prstGeom prst="line">
                  <a:avLst/>
                </a:prstGeom>
                <a:noFill/>
                <a:ln w="38100">
                  <a:solidFill>
                    <a:srgbClr val="C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  <p:grpSp>
            <p:nvGrpSpPr>
              <p:cNvPr id="95" name="Group 94">
                <a:extLst>
                  <a:ext uri="{FF2B5EF4-FFF2-40B4-BE49-F238E27FC236}">
                    <a16:creationId xmlns:a16="http://schemas.microsoft.com/office/drawing/2014/main" id="{AC6F96A2-B079-4F96-A98F-D21F0BBB6E24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 rot="10800000">
                <a:off x="13689" y="6683"/>
                <a:ext cx="494" cy="2906"/>
                <a:chOff x="9878" y="1418"/>
                <a:chExt cx="360" cy="1800"/>
              </a:xfrm>
            </p:grpSpPr>
            <p:sp>
              <p:nvSpPr>
                <p:cNvPr id="102" name="Rectangle 101">
                  <a:extLst>
                    <a:ext uri="{FF2B5EF4-FFF2-40B4-BE49-F238E27FC236}">
                      <a16:creationId xmlns:a16="http://schemas.microsoft.com/office/drawing/2014/main" id="{9EE08E29-A43D-47D4-B248-45A4E0A03CBA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9878" y="1958"/>
                  <a:ext cx="360" cy="720"/>
                </a:xfrm>
                <a:prstGeom prst="rect">
                  <a:avLst/>
                </a:prstGeom>
                <a:noFill/>
                <a:ln w="38100">
                  <a:solidFill>
                    <a:srgbClr val="C0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endParaRPr lang="en-GB"/>
                </a:p>
              </p:txBody>
            </p:sp>
            <p:cxnSp>
              <p:nvCxnSpPr>
                <p:cNvPr id="103" name="Line 3521">
                  <a:extLst>
                    <a:ext uri="{FF2B5EF4-FFF2-40B4-BE49-F238E27FC236}">
                      <a16:creationId xmlns:a16="http://schemas.microsoft.com/office/drawing/2014/main" id="{BEECB281-0338-4D1F-98B6-6F683AFE0CF9}"/>
                    </a:ext>
                  </a:extLst>
                </p:cNvPr>
                <p:cNvCxnSpPr>
                  <a:cxnSpLocks noChangeAspect="1" noChangeShapeType="1"/>
                </p:cNvCxnSpPr>
                <p:nvPr/>
              </p:nvCxnSpPr>
              <p:spPr bwMode="auto">
                <a:xfrm>
                  <a:off x="10058" y="1418"/>
                  <a:ext cx="0" cy="540"/>
                </a:xfrm>
                <a:prstGeom prst="line">
                  <a:avLst/>
                </a:prstGeom>
                <a:noFill/>
                <a:ln w="38100">
                  <a:solidFill>
                    <a:srgbClr val="C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104" name="Line 3522">
                  <a:extLst>
                    <a:ext uri="{FF2B5EF4-FFF2-40B4-BE49-F238E27FC236}">
                      <a16:creationId xmlns:a16="http://schemas.microsoft.com/office/drawing/2014/main" id="{489CFEE7-B13A-4FF1-9801-81C887136EF4}"/>
                    </a:ext>
                  </a:extLst>
                </p:cNvPr>
                <p:cNvCxnSpPr>
                  <a:cxnSpLocks noChangeAspect="1" noChangeShapeType="1"/>
                </p:cNvCxnSpPr>
                <p:nvPr/>
              </p:nvCxnSpPr>
              <p:spPr bwMode="auto">
                <a:xfrm>
                  <a:off x="10058" y="2678"/>
                  <a:ext cx="0" cy="540"/>
                </a:xfrm>
                <a:prstGeom prst="line">
                  <a:avLst/>
                </a:prstGeom>
                <a:noFill/>
                <a:ln w="38100">
                  <a:solidFill>
                    <a:srgbClr val="C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  <p:cxnSp>
            <p:nvCxnSpPr>
              <p:cNvPr id="96" name="Line 3523">
                <a:extLst>
                  <a:ext uri="{FF2B5EF4-FFF2-40B4-BE49-F238E27FC236}">
                    <a16:creationId xmlns:a16="http://schemas.microsoft.com/office/drawing/2014/main" id="{6BBFCB73-9B10-4DDE-BC2B-DA6C3BB416DA}"/>
                  </a:ext>
                </a:extLst>
              </p:cNvPr>
              <p:cNvCxnSpPr>
                <a:cxnSpLocks noChangeAspect="1" noChangeShapeType="1"/>
              </p:cNvCxnSpPr>
              <p:nvPr/>
            </p:nvCxnSpPr>
            <p:spPr bwMode="auto">
              <a:xfrm>
                <a:off x="11110" y="9590"/>
                <a:ext cx="5848" cy="1"/>
              </a:xfrm>
              <a:prstGeom prst="line">
                <a:avLst/>
              </a:prstGeom>
              <a:noFill/>
              <a:ln w="38100">
                <a:solidFill>
                  <a:srgbClr val="C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97" name="Text Box 3524">
                <a:extLst>
                  <a:ext uri="{FF2B5EF4-FFF2-40B4-BE49-F238E27FC236}">
                    <a16:creationId xmlns:a16="http://schemas.microsoft.com/office/drawing/2014/main" id="{EA4C47C3-6D6F-45C2-9324-DCC477CCC993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11216" y="7626"/>
                <a:ext cx="1424" cy="8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C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rot="0" vert="horz" wrap="square" lIns="18000" tIns="10800" rIns="18000" bIns="10800" anchor="t" anchorCtr="0" upright="1">
                <a:noAutofit/>
              </a:bodyPr>
              <a:lstStyle/>
              <a:p>
                <a:pPr marL="0" marR="0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GB" sz="2800" i="1">
                    <a:solidFill>
                      <a:srgbClr val="00206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Z</a:t>
                </a:r>
                <a:r>
                  <a:rPr lang="en-GB" sz="2800" i="1" baseline="-25000">
                    <a:solidFill>
                      <a:srgbClr val="00206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I1</a:t>
                </a:r>
                <a:endParaRPr lang="en-GB" sz="120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marL="0" marR="0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GB" sz="2800" i="1" baseline="-25000">
                    <a:solidFill>
                      <a:srgbClr val="00206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 </a:t>
                </a:r>
                <a:endParaRPr lang="en-GB" sz="120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  <p:sp>
            <p:nvSpPr>
              <p:cNvPr id="98" name="Text Box 3525">
                <a:extLst>
                  <a:ext uri="{FF2B5EF4-FFF2-40B4-BE49-F238E27FC236}">
                    <a16:creationId xmlns:a16="http://schemas.microsoft.com/office/drawing/2014/main" id="{D6B8FFF6-66A5-468B-A56D-64590AC9AF70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15892" y="7626"/>
                <a:ext cx="1192" cy="8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C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rot="0" vert="horz" wrap="square" lIns="18000" tIns="10800" rIns="18000" bIns="10800" anchor="t" anchorCtr="0" upright="1">
                <a:noAutofit/>
              </a:bodyPr>
              <a:lstStyle/>
              <a:p>
                <a:pPr marL="0" marR="0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GB" sz="2800" i="1">
                    <a:solidFill>
                      <a:srgbClr val="00206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Z</a:t>
                </a:r>
                <a:r>
                  <a:rPr lang="en-GB" sz="2800" i="1" baseline="-25000">
                    <a:solidFill>
                      <a:srgbClr val="00206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I1</a:t>
                </a:r>
                <a:endParaRPr lang="en-GB" sz="120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marL="0" marR="0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GB" sz="2800" b="1" i="1" baseline="-25000">
                    <a:solidFill>
                      <a:srgbClr val="002060"/>
                    </a:solidFill>
                    <a:effectLst/>
                    <a:latin typeface="Times New Roman" panose="02020603050405020304" pitchFamily="18" charset="0"/>
                  </a:rPr>
                  <a:t> </a:t>
                </a:r>
                <a:endParaRPr lang="en-GB" sz="1200" b="1" i="1">
                  <a:effectLst/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9" name="Text Box 3526">
                <a:extLst>
                  <a:ext uri="{FF2B5EF4-FFF2-40B4-BE49-F238E27FC236}">
                    <a16:creationId xmlns:a16="http://schemas.microsoft.com/office/drawing/2014/main" id="{496537F8-6336-4A09-A4B4-B7CAA5BFD6C3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12349" y="5720"/>
                <a:ext cx="1080" cy="8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C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rot="0" vert="horz" wrap="square" lIns="18000" tIns="10800" rIns="18000" bIns="10800" anchor="t" anchorCtr="0" upright="1">
                <a:noAutofit/>
              </a:bodyPr>
              <a:lstStyle/>
              <a:p>
                <a:pPr marL="0" marR="0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GB" sz="2800">
                    <a:solidFill>
                      <a:srgbClr val="00206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Z</a:t>
                </a:r>
                <a:endParaRPr lang="en-GB" sz="120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  <p:sp>
            <p:nvSpPr>
              <p:cNvPr id="100" name="Text Box 3527">
                <a:extLst>
                  <a:ext uri="{FF2B5EF4-FFF2-40B4-BE49-F238E27FC236}">
                    <a16:creationId xmlns:a16="http://schemas.microsoft.com/office/drawing/2014/main" id="{01B7937A-0786-411D-A96B-49D0F60A0DCB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12640" y="7715"/>
                <a:ext cx="1068" cy="8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C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rot="0" vert="horz" wrap="square" lIns="18000" tIns="10800" rIns="18000" bIns="10800" anchor="t" anchorCtr="0" upright="1">
                <a:noAutofit/>
              </a:bodyPr>
              <a:lstStyle/>
              <a:p>
                <a:pPr marL="0" marR="0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GB" sz="2800">
                    <a:solidFill>
                      <a:srgbClr val="00206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2Y</a:t>
                </a:r>
                <a:endParaRPr lang="en-GB" sz="120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  <p:cxnSp>
            <p:nvCxnSpPr>
              <p:cNvPr id="101" name="Line 3528">
                <a:extLst>
                  <a:ext uri="{FF2B5EF4-FFF2-40B4-BE49-F238E27FC236}">
                    <a16:creationId xmlns:a16="http://schemas.microsoft.com/office/drawing/2014/main" id="{BD4EF7D1-D846-4682-9010-8E241E553C47}"/>
                  </a:ext>
                </a:extLst>
              </p:cNvPr>
              <p:cNvCxnSpPr>
                <a:cxnSpLocks noChangeAspect="1" noChangeShapeType="1"/>
              </p:cNvCxnSpPr>
              <p:nvPr/>
            </p:nvCxnSpPr>
            <p:spPr bwMode="auto">
              <a:xfrm rot="5400000">
                <a:off x="14451" y="6257"/>
                <a:ext cx="0" cy="872"/>
              </a:xfrm>
              <a:prstGeom prst="line">
                <a:avLst/>
              </a:prstGeom>
              <a:noFill/>
              <a:ln w="38100">
                <a:solidFill>
                  <a:srgbClr val="C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FC3DBC23-AA55-4090-A3BA-6C64D2881CB0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 rot="5400000">
              <a:off x="2559132" y="302821"/>
              <a:ext cx="298503" cy="690488"/>
            </a:xfrm>
            <a:prstGeom prst="rect">
              <a:avLst/>
            </a:prstGeom>
            <a:noFill/>
            <a:ln w="38100">
              <a:solidFill>
                <a:srgbClr val="C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GB"/>
            </a:p>
          </p:txBody>
        </p:sp>
        <p:cxnSp>
          <p:nvCxnSpPr>
            <p:cNvPr id="92" name="Line 3517">
              <a:extLst>
                <a:ext uri="{FF2B5EF4-FFF2-40B4-BE49-F238E27FC236}">
                  <a16:creationId xmlns:a16="http://schemas.microsoft.com/office/drawing/2014/main" id="{C9C03189-71BF-4C3F-BF55-F0EFE7A7843C}"/>
                </a:ext>
              </a:extLst>
            </p:cNvPr>
            <p:cNvCxnSpPr>
              <a:cxnSpLocks noChangeAspect="1" noChangeShapeType="1"/>
            </p:cNvCxnSpPr>
            <p:nvPr/>
          </p:nvCxnSpPr>
          <p:spPr bwMode="auto">
            <a:xfrm rot="5400000">
              <a:off x="3307278" y="385948"/>
              <a:ext cx="0" cy="517525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93" name="Text Box 3526">
              <a:extLst>
                <a:ext uri="{FF2B5EF4-FFF2-40B4-BE49-F238E27FC236}">
                  <a16:creationId xmlns:a16="http://schemas.microsoft.com/office/drawing/2014/main" id="{EA565A8A-4371-458D-930E-13EC43EB892C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2588820" y="83127"/>
              <a:ext cx="688769" cy="4997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C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18000" tIns="10800" rIns="18000" bIns="10800" anchor="t" anchorCtr="0" upright="1">
              <a:noAutofit/>
            </a:bodyPr>
            <a:lstStyle/>
            <a:p>
              <a:pPr marL="0" marR="0">
                <a:spcBef>
                  <a:spcPts val="0"/>
                </a:spcBef>
                <a:spcAft>
                  <a:spcPts val="0"/>
                </a:spcAft>
              </a:pPr>
              <a:r>
                <a:rPr lang="en-GB" sz="2800">
                  <a:solidFill>
                    <a:srgbClr val="00206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Z</a:t>
              </a:r>
              <a:endParaRPr lang="en-GB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6720EC33-7C48-4146-9CBA-EC56EC42A63D}"/>
              </a:ext>
            </a:extLst>
          </p:cNvPr>
          <p:cNvGrpSpPr/>
          <p:nvPr/>
        </p:nvGrpSpPr>
        <p:grpSpPr>
          <a:xfrm>
            <a:off x="972820" y="545700"/>
            <a:ext cx="2362835" cy="2362198"/>
            <a:chOff x="0" y="-3"/>
            <a:chExt cx="2607180" cy="2362812"/>
          </a:xfrm>
        </p:grpSpPr>
        <p:grpSp>
          <p:nvGrpSpPr>
            <p:cNvPr id="73" name="Group 72">
              <a:extLst>
                <a:ext uri="{FF2B5EF4-FFF2-40B4-BE49-F238E27FC236}">
                  <a16:creationId xmlns:a16="http://schemas.microsoft.com/office/drawing/2014/main" id="{9DC8828B-65E9-45CA-8189-91E66280E48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752" y="-3"/>
              <a:ext cx="2564806" cy="2362812"/>
              <a:chOff x="11068" y="5681"/>
              <a:chExt cx="4300" cy="3910"/>
            </a:xfrm>
          </p:grpSpPr>
          <p:grpSp>
            <p:nvGrpSpPr>
              <p:cNvPr id="76" name="Group 75">
                <a:extLst>
                  <a:ext uri="{FF2B5EF4-FFF2-40B4-BE49-F238E27FC236}">
                    <a16:creationId xmlns:a16="http://schemas.microsoft.com/office/drawing/2014/main" id="{10CCFE9F-33F9-4EAD-8EDC-6643F81797EC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 rot="5400000">
                <a:off x="12315" y="5241"/>
                <a:ext cx="494" cy="2906"/>
                <a:chOff x="9878" y="1418"/>
                <a:chExt cx="360" cy="1800"/>
              </a:xfrm>
            </p:grpSpPr>
            <p:sp>
              <p:nvSpPr>
                <p:cNvPr id="87" name="Rectangle 86">
                  <a:extLst>
                    <a:ext uri="{FF2B5EF4-FFF2-40B4-BE49-F238E27FC236}">
                      <a16:creationId xmlns:a16="http://schemas.microsoft.com/office/drawing/2014/main" id="{41CCDED8-93FE-4492-BB01-108011CDD8A9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9878" y="1958"/>
                  <a:ext cx="360" cy="720"/>
                </a:xfrm>
                <a:prstGeom prst="rect">
                  <a:avLst/>
                </a:prstGeom>
                <a:noFill/>
                <a:ln w="38100">
                  <a:solidFill>
                    <a:srgbClr val="C0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endParaRPr lang="en-GB"/>
                </a:p>
              </p:txBody>
            </p:sp>
            <p:cxnSp>
              <p:nvCxnSpPr>
                <p:cNvPr id="88" name="Line 3517">
                  <a:extLst>
                    <a:ext uri="{FF2B5EF4-FFF2-40B4-BE49-F238E27FC236}">
                      <a16:creationId xmlns:a16="http://schemas.microsoft.com/office/drawing/2014/main" id="{1F055567-E7CE-440A-881F-F8AF38E65898}"/>
                    </a:ext>
                  </a:extLst>
                </p:cNvPr>
                <p:cNvCxnSpPr>
                  <a:cxnSpLocks noChangeAspect="1" noChangeShapeType="1"/>
                </p:cNvCxnSpPr>
                <p:nvPr/>
              </p:nvCxnSpPr>
              <p:spPr bwMode="auto">
                <a:xfrm>
                  <a:off x="10058" y="1418"/>
                  <a:ext cx="0" cy="540"/>
                </a:xfrm>
                <a:prstGeom prst="line">
                  <a:avLst/>
                </a:prstGeom>
                <a:noFill/>
                <a:ln w="38100">
                  <a:solidFill>
                    <a:srgbClr val="C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89" name="Line 3518">
                  <a:extLst>
                    <a:ext uri="{FF2B5EF4-FFF2-40B4-BE49-F238E27FC236}">
                      <a16:creationId xmlns:a16="http://schemas.microsoft.com/office/drawing/2014/main" id="{B3998CDA-C792-4FE8-9C63-C8EFF144A178}"/>
                    </a:ext>
                  </a:extLst>
                </p:cNvPr>
                <p:cNvCxnSpPr>
                  <a:cxnSpLocks noChangeAspect="1" noChangeShapeType="1"/>
                </p:cNvCxnSpPr>
                <p:nvPr/>
              </p:nvCxnSpPr>
              <p:spPr bwMode="auto">
                <a:xfrm>
                  <a:off x="10058" y="2678"/>
                  <a:ext cx="0" cy="540"/>
                </a:xfrm>
                <a:prstGeom prst="line">
                  <a:avLst/>
                </a:prstGeom>
                <a:noFill/>
                <a:ln w="38100">
                  <a:solidFill>
                    <a:srgbClr val="C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  <p:grpSp>
            <p:nvGrpSpPr>
              <p:cNvPr id="77" name="Group 76">
                <a:extLst>
                  <a:ext uri="{FF2B5EF4-FFF2-40B4-BE49-F238E27FC236}">
                    <a16:creationId xmlns:a16="http://schemas.microsoft.com/office/drawing/2014/main" id="{1EA7D6CE-4140-45EF-B89D-5D29B98EF46F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 rot="10800000">
                <a:off x="13689" y="6683"/>
                <a:ext cx="494" cy="2906"/>
                <a:chOff x="9878" y="1418"/>
                <a:chExt cx="360" cy="1800"/>
              </a:xfrm>
            </p:grpSpPr>
            <p:sp>
              <p:nvSpPr>
                <p:cNvPr id="84" name="Rectangle 83">
                  <a:extLst>
                    <a:ext uri="{FF2B5EF4-FFF2-40B4-BE49-F238E27FC236}">
                      <a16:creationId xmlns:a16="http://schemas.microsoft.com/office/drawing/2014/main" id="{1674CDA0-DAA7-4668-9642-1F30C4E2B216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9878" y="1958"/>
                  <a:ext cx="360" cy="720"/>
                </a:xfrm>
                <a:prstGeom prst="rect">
                  <a:avLst/>
                </a:prstGeom>
                <a:noFill/>
                <a:ln w="38100">
                  <a:solidFill>
                    <a:srgbClr val="C0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endParaRPr lang="en-GB"/>
                </a:p>
              </p:txBody>
            </p:sp>
            <p:cxnSp>
              <p:nvCxnSpPr>
                <p:cNvPr id="85" name="Line 3521">
                  <a:extLst>
                    <a:ext uri="{FF2B5EF4-FFF2-40B4-BE49-F238E27FC236}">
                      <a16:creationId xmlns:a16="http://schemas.microsoft.com/office/drawing/2014/main" id="{53C8D9C0-9596-47A6-9421-F9B20FD7D9EE}"/>
                    </a:ext>
                  </a:extLst>
                </p:cNvPr>
                <p:cNvCxnSpPr>
                  <a:cxnSpLocks noChangeAspect="1" noChangeShapeType="1"/>
                </p:cNvCxnSpPr>
                <p:nvPr/>
              </p:nvCxnSpPr>
              <p:spPr bwMode="auto">
                <a:xfrm>
                  <a:off x="10058" y="1418"/>
                  <a:ext cx="0" cy="540"/>
                </a:xfrm>
                <a:prstGeom prst="line">
                  <a:avLst/>
                </a:prstGeom>
                <a:noFill/>
                <a:ln w="38100">
                  <a:solidFill>
                    <a:srgbClr val="C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86" name="Line 3522">
                  <a:extLst>
                    <a:ext uri="{FF2B5EF4-FFF2-40B4-BE49-F238E27FC236}">
                      <a16:creationId xmlns:a16="http://schemas.microsoft.com/office/drawing/2014/main" id="{628ABDB0-D934-4639-9533-6514701238D7}"/>
                    </a:ext>
                  </a:extLst>
                </p:cNvPr>
                <p:cNvCxnSpPr>
                  <a:cxnSpLocks noChangeAspect="1" noChangeShapeType="1"/>
                </p:cNvCxnSpPr>
                <p:nvPr/>
              </p:nvCxnSpPr>
              <p:spPr bwMode="auto">
                <a:xfrm>
                  <a:off x="10058" y="2678"/>
                  <a:ext cx="0" cy="540"/>
                </a:xfrm>
                <a:prstGeom prst="line">
                  <a:avLst/>
                </a:prstGeom>
                <a:noFill/>
                <a:ln w="38100">
                  <a:solidFill>
                    <a:srgbClr val="C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  <p:cxnSp>
            <p:nvCxnSpPr>
              <p:cNvPr id="78" name="Line 3523">
                <a:extLst>
                  <a:ext uri="{FF2B5EF4-FFF2-40B4-BE49-F238E27FC236}">
                    <a16:creationId xmlns:a16="http://schemas.microsoft.com/office/drawing/2014/main" id="{49B5D4FE-B066-4D06-8172-92E00E7275A0}"/>
                  </a:ext>
                </a:extLst>
              </p:cNvPr>
              <p:cNvCxnSpPr>
                <a:cxnSpLocks noChangeAspect="1" noChangeShapeType="1"/>
              </p:cNvCxnSpPr>
              <p:nvPr/>
            </p:nvCxnSpPr>
            <p:spPr bwMode="auto">
              <a:xfrm>
                <a:off x="11110" y="9590"/>
                <a:ext cx="3693" cy="1"/>
              </a:xfrm>
              <a:prstGeom prst="line">
                <a:avLst/>
              </a:prstGeom>
              <a:noFill/>
              <a:ln w="38100">
                <a:solidFill>
                  <a:srgbClr val="C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79" name="Text Box 3524">
                <a:extLst>
                  <a:ext uri="{FF2B5EF4-FFF2-40B4-BE49-F238E27FC236}">
                    <a16:creationId xmlns:a16="http://schemas.microsoft.com/office/drawing/2014/main" id="{32478559-B642-4D9E-B8AB-8CD4FB957916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11068" y="7444"/>
                <a:ext cx="914" cy="8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C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rot="0" vert="horz" wrap="square" lIns="18000" tIns="10800" rIns="18000" bIns="10800" anchor="t" anchorCtr="0" upright="1">
                <a:noAutofit/>
              </a:bodyPr>
              <a:lstStyle/>
              <a:p>
                <a:pPr marL="0" marR="0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GB" sz="2800" i="1">
                    <a:solidFill>
                      <a:srgbClr val="00206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Z</a:t>
                </a:r>
                <a:r>
                  <a:rPr lang="en-GB" sz="2800" i="1" baseline="-25000">
                    <a:solidFill>
                      <a:srgbClr val="00206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I1</a:t>
                </a:r>
                <a:endParaRPr lang="en-GB" sz="120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  <p:sp>
            <p:nvSpPr>
              <p:cNvPr id="80" name="Text Box 3525">
                <a:extLst>
                  <a:ext uri="{FF2B5EF4-FFF2-40B4-BE49-F238E27FC236}">
                    <a16:creationId xmlns:a16="http://schemas.microsoft.com/office/drawing/2014/main" id="{8892DE27-FC5A-459A-ADAB-6349E1CCC95C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14502" y="7423"/>
                <a:ext cx="866" cy="8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C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rot="0" vert="horz" wrap="square" lIns="18000" tIns="10800" rIns="18000" bIns="10800" anchor="t" anchorCtr="0" upright="1">
                <a:noAutofit/>
              </a:bodyPr>
              <a:lstStyle/>
              <a:p>
                <a:pPr marL="0" marR="0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GB" sz="2800" i="1">
                    <a:solidFill>
                      <a:srgbClr val="00206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Z</a:t>
                </a:r>
                <a:r>
                  <a:rPr lang="en-GB" sz="2800" i="1" baseline="-25000">
                    <a:solidFill>
                      <a:srgbClr val="00206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I2</a:t>
                </a:r>
                <a:endParaRPr lang="en-GB" sz="120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marL="0" marR="0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GB" sz="2800" b="1" i="1" baseline="-25000">
                    <a:solidFill>
                      <a:srgbClr val="002060"/>
                    </a:solidFill>
                    <a:effectLst/>
                    <a:latin typeface="Times New Roman" panose="02020603050405020304" pitchFamily="18" charset="0"/>
                  </a:rPr>
                  <a:t> </a:t>
                </a:r>
                <a:endParaRPr lang="en-GB" sz="1200" b="1" i="1">
                  <a:effectLst/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1" name="Text Box 3526">
                <a:extLst>
                  <a:ext uri="{FF2B5EF4-FFF2-40B4-BE49-F238E27FC236}">
                    <a16:creationId xmlns:a16="http://schemas.microsoft.com/office/drawing/2014/main" id="{D87D72A6-3961-435F-9876-84960E33E8FB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12404" y="5681"/>
                <a:ext cx="1080" cy="8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C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rot="0" vert="horz" wrap="square" lIns="18000" tIns="10800" rIns="18000" bIns="10800" anchor="t" anchorCtr="0" upright="1">
                <a:noAutofit/>
              </a:bodyPr>
              <a:lstStyle/>
              <a:p>
                <a:pPr marL="0" marR="0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GB" sz="2800">
                    <a:solidFill>
                      <a:srgbClr val="00206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Z</a:t>
                </a:r>
                <a:endParaRPr lang="en-GB" sz="120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  <p:sp>
            <p:nvSpPr>
              <p:cNvPr id="82" name="Text Box 3527">
                <a:extLst>
                  <a:ext uri="{FF2B5EF4-FFF2-40B4-BE49-F238E27FC236}">
                    <a16:creationId xmlns:a16="http://schemas.microsoft.com/office/drawing/2014/main" id="{96C9BBD3-8829-4ADF-A939-98DABDF3DD4F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12975" y="7715"/>
                <a:ext cx="827" cy="8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C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rot="0" vert="horz" wrap="square" lIns="18000" tIns="10800" rIns="18000" bIns="10800" anchor="t" anchorCtr="0" upright="1">
                <a:noAutofit/>
              </a:bodyPr>
              <a:lstStyle/>
              <a:p>
                <a:pPr marL="0" marR="0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GB" sz="2800">
                    <a:solidFill>
                      <a:srgbClr val="00206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Y</a:t>
                </a:r>
                <a:endParaRPr lang="en-GB" sz="120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  <p:cxnSp>
            <p:nvCxnSpPr>
              <p:cNvPr id="83" name="Line 3528">
                <a:extLst>
                  <a:ext uri="{FF2B5EF4-FFF2-40B4-BE49-F238E27FC236}">
                    <a16:creationId xmlns:a16="http://schemas.microsoft.com/office/drawing/2014/main" id="{2FB6269A-9B2D-4B9F-B3A6-7710FC6B6ED7}"/>
                  </a:ext>
                </a:extLst>
              </p:cNvPr>
              <p:cNvCxnSpPr>
                <a:cxnSpLocks noChangeAspect="1" noChangeShapeType="1"/>
              </p:cNvCxnSpPr>
              <p:nvPr/>
            </p:nvCxnSpPr>
            <p:spPr bwMode="auto">
              <a:xfrm rot="5400000">
                <a:off x="14451" y="6257"/>
                <a:ext cx="0" cy="872"/>
              </a:xfrm>
              <a:prstGeom prst="line">
                <a:avLst/>
              </a:prstGeom>
              <a:noFill/>
              <a:ln w="38100">
                <a:solidFill>
                  <a:srgbClr val="C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sp>
          <p:nvSpPr>
            <p:cNvPr id="74" name="Text Box 529">
              <a:extLst>
                <a:ext uri="{FF2B5EF4-FFF2-40B4-BE49-F238E27FC236}">
                  <a16:creationId xmlns:a16="http://schemas.microsoft.com/office/drawing/2014/main" id="{3DA3A64A-E202-45B1-B421-69BD8F6CB3B9}"/>
                </a:ext>
              </a:extLst>
            </p:cNvPr>
            <p:cNvSpPr txBox="1"/>
            <p:nvPr/>
          </p:nvSpPr>
          <p:spPr>
            <a:xfrm>
              <a:off x="0" y="1282202"/>
              <a:ext cx="566234" cy="545607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non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>
                <a:spcBef>
                  <a:spcPts val="0"/>
                </a:spcBef>
                <a:spcAft>
                  <a:spcPts val="0"/>
                </a:spcAft>
              </a:pPr>
              <a:r>
                <a:rPr lang="en-GB" sz="2600">
                  <a:solidFill>
                    <a:srgbClr val="C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sym typeface="Symbol" panose="05050102010706020507" pitchFamily="18" charset="2"/>
                </a:rPr>
                <a:t></a:t>
              </a:r>
              <a:endParaRPr lang="en-GB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75" name="Text Box 530">
              <a:extLst>
                <a:ext uri="{FF2B5EF4-FFF2-40B4-BE49-F238E27FC236}">
                  <a16:creationId xmlns:a16="http://schemas.microsoft.com/office/drawing/2014/main" id="{DD7CF59B-0555-4740-BF96-B90917A6CD55}"/>
                </a:ext>
              </a:extLst>
            </p:cNvPr>
            <p:cNvSpPr txBox="1"/>
            <p:nvPr/>
          </p:nvSpPr>
          <p:spPr>
            <a:xfrm>
              <a:off x="2040946" y="1270329"/>
              <a:ext cx="566234" cy="545607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non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>
                <a:spcBef>
                  <a:spcPts val="0"/>
                </a:spcBef>
                <a:spcAft>
                  <a:spcPts val="0"/>
                </a:spcAft>
              </a:pPr>
              <a:r>
                <a:rPr lang="en-GB" sz="2600">
                  <a:solidFill>
                    <a:srgbClr val="C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sym typeface="Symbol" panose="05050102010706020507" pitchFamily="18" charset="2"/>
                </a:rPr>
                <a:t></a:t>
              </a:r>
              <a:endParaRPr lang="en-GB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344B9B95-331A-40EF-A6C9-491CAE463B08}"/>
              </a:ext>
            </a:extLst>
          </p:cNvPr>
          <p:cNvGrpSpPr/>
          <p:nvPr/>
        </p:nvGrpSpPr>
        <p:grpSpPr>
          <a:xfrm>
            <a:off x="3970020" y="581260"/>
            <a:ext cx="3858894" cy="2362198"/>
            <a:chOff x="0" y="-3"/>
            <a:chExt cx="4577623" cy="2362812"/>
          </a:xfrm>
        </p:grpSpPr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F8A47C10-A008-4F07-AC15-613EF49319F1}"/>
                </a:ext>
              </a:extLst>
            </p:cNvPr>
            <p:cNvGrpSpPr/>
            <p:nvPr/>
          </p:nvGrpSpPr>
          <p:grpSpPr>
            <a:xfrm>
              <a:off x="0" y="-3"/>
              <a:ext cx="2650151" cy="2362812"/>
              <a:chOff x="0" y="-3"/>
              <a:chExt cx="2650151" cy="2362812"/>
            </a:xfrm>
          </p:grpSpPr>
          <p:grpSp>
            <p:nvGrpSpPr>
              <p:cNvPr id="56" name="Group 55">
                <a:extLst>
                  <a:ext uri="{FF2B5EF4-FFF2-40B4-BE49-F238E27FC236}">
                    <a16:creationId xmlns:a16="http://schemas.microsoft.com/office/drawing/2014/main" id="{970742B2-A781-4B90-94CB-575217A7F19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752" y="-3"/>
                <a:ext cx="2564806" cy="2362812"/>
                <a:chOff x="11068" y="5681"/>
                <a:chExt cx="4300" cy="3910"/>
              </a:xfrm>
            </p:grpSpPr>
            <p:grpSp>
              <p:nvGrpSpPr>
                <p:cNvPr id="59" name="Group 58">
                  <a:extLst>
                    <a:ext uri="{FF2B5EF4-FFF2-40B4-BE49-F238E27FC236}">
                      <a16:creationId xmlns:a16="http://schemas.microsoft.com/office/drawing/2014/main" id="{4DE63053-F6C8-4B35-A648-37DE9E0BE080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 rot="5400000">
                  <a:off x="12315" y="5241"/>
                  <a:ext cx="494" cy="2906"/>
                  <a:chOff x="9878" y="1418"/>
                  <a:chExt cx="360" cy="1800"/>
                </a:xfrm>
              </p:grpSpPr>
              <p:sp>
                <p:nvSpPr>
                  <p:cNvPr id="70" name="Rectangle 69">
                    <a:extLst>
                      <a:ext uri="{FF2B5EF4-FFF2-40B4-BE49-F238E27FC236}">
                        <a16:creationId xmlns:a16="http://schemas.microsoft.com/office/drawing/2014/main" id="{0905DE06-3E43-4968-A5B9-84B184F07A5F}"/>
                      </a:ext>
                    </a:extLst>
                  </p:cNvPr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9878" y="1958"/>
                    <a:ext cx="360" cy="720"/>
                  </a:xfrm>
                  <a:prstGeom prst="rect">
                    <a:avLst/>
                  </a:prstGeom>
                  <a:noFill/>
                  <a:ln w="38100">
                    <a:solidFill>
                      <a:srgbClr val="C00000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rot="0" vert="horz" wrap="square" lIns="91440" tIns="45720" rIns="91440" bIns="45720" anchor="t" anchorCtr="0" upright="1">
                    <a:noAutofit/>
                  </a:bodyPr>
                  <a:lstStyle/>
                  <a:p>
                    <a:endParaRPr lang="en-GB"/>
                  </a:p>
                </p:txBody>
              </p:sp>
              <p:cxnSp>
                <p:nvCxnSpPr>
                  <p:cNvPr id="71" name="Line 3517">
                    <a:extLst>
                      <a:ext uri="{FF2B5EF4-FFF2-40B4-BE49-F238E27FC236}">
                        <a16:creationId xmlns:a16="http://schemas.microsoft.com/office/drawing/2014/main" id="{F504FFB3-1536-4E19-9B68-104DE605123B}"/>
                      </a:ext>
                    </a:extLst>
                  </p:cNvPr>
                  <p:cNvCxnSpPr>
                    <a:cxnSpLocks noChangeAspect="1" noChangeShapeType="1"/>
                  </p:cNvCxnSpPr>
                  <p:nvPr/>
                </p:nvCxnSpPr>
                <p:spPr bwMode="auto">
                  <a:xfrm>
                    <a:off x="10058" y="1418"/>
                    <a:ext cx="0" cy="540"/>
                  </a:xfrm>
                  <a:prstGeom prst="line">
                    <a:avLst/>
                  </a:prstGeom>
                  <a:noFill/>
                  <a:ln w="38100">
                    <a:solidFill>
                      <a:srgbClr val="C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72" name="Line 3518">
                    <a:extLst>
                      <a:ext uri="{FF2B5EF4-FFF2-40B4-BE49-F238E27FC236}">
                        <a16:creationId xmlns:a16="http://schemas.microsoft.com/office/drawing/2014/main" id="{A22D3D4D-208C-49A6-AFA0-7D10C4C2641A}"/>
                      </a:ext>
                    </a:extLst>
                  </p:cNvPr>
                  <p:cNvCxnSpPr>
                    <a:cxnSpLocks noChangeAspect="1" noChangeShapeType="1"/>
                  </p:cNvCxnSpPr>
                  <p:nvPr/>
                </p:nvCxnSpPr>
                <p:spPr bwMode="auto">
                  <a:xfrm>
                    <a:off x="10058" y="2678"/>
                    <a:ext cx="0" cy="540"/>
                  </a:xfrm>
                  <a:prstGeom prst="line">
                    <a:avLst/>
                  </a:prstGeom>
                  <a:noFill/>
                  <a:ln w="38100">
                    <a:solidFill>
                      <a:srgbClr val="C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</p:grpSp>
            <p:grpSp>
              <p:nvGrpSpPr>
                <p:cNvPr id="60" name="Group 59">
                  <a:extLst>
                    <a:ext uri="{FF2B5EF4-FFF2-40B4-BE49-F238E27FC236}">
                      <a16:creationId xmlns:a16="http://schemas.microsoft.com/office/drawing/2014/main" id="{36857523-79B8-4D23-A76F-9EDA2D21A308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 rot="10800000">
                  <a:off x="13689" y="6683"/>
                  <a:ext cx="494" cy="2906"/>
                  <a:chOff x="9878" y="1418"/>
                  <a:chExt cx="360" cy="1800"/>
                </a:xfrm>
              </p:grpSpPr>
              <p:sp>
                <p:nvSpPr>
                  <p:cNvPr id="67" name="Rectangle 66">
                    <a:extLst>
                      <a:ext uri="{FF2B5EF4-FFF2-40B4-BE49-F238E27FC236}">
                        <a16:creationId xmlns:a16="http://schemas.microsoft.com/office/drawing/2014/main" id="{5BCE9B1B-4D17-416F-8E81-46CABE393E06}"/>
                      </a:ext>
                    </a:extLst>
                  </p:cNvPr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9878" y="1958"/>
                    <a:ext cx="360" cy="720"/>
                  </a:xfrm>
                  <a:prstGeom prst="rect">
                    <a:avLst/>
                  </a:prstGeom>
                  <a:noFill/>
                  <a:ln w="38100">
                    <a:solidFill>
                      <a:srgbClr val="C00000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rot="0" vert="horz" wrap="square" lIns="91440" tIns="45720" rIns="91440" bIns="45720" anchor="t" anchorCtr="0" upright="1">
                    <a:noAutofit/>
                  </a:bodyPr>
                  <a:lstStyle/>
                  <a:p>
                    <a:endParaRPr lang="en-GB"/>
                  </a:p>
                </p:txBody>
              </p:sp>
              <p:cxnSp>
                <p:nvCxnSpPr>
                  <p:cNvPr id="68" name="Line 3521">
                    <a:extLst>
                      <a:ext uri="{FF2B5EF4-FFF2-40B4-BE49-F238E27FC236}">
                        <a16:creationId xmlns:a16="http://schemas.microsoft.com/office/drawing/2014/main" id="{353618C3-432D-43AC-94A0-AB90C5634CBD}"/>
                      </a:ext>
                    </a:extLst>
                  </p:cNvPr>
                  <p:cNvCxnSpPr>
                    <a:cxnSpLocks noChangeAspect="1" noChangeShapeType="1"/>
                  </p:cNvCxnSpPr>
                  <p:nvPr/>
                </p:nvCxnSpPr>
                <p:spPr bwMode="auto">
                  <a:xfrm>
                    <a:off x="10058" y="1418"/>
                    <a:ext cx="0" cy="540"/>
                  </a:xfrm>
                  <a:prstGeom prst="line">
                    <a:avLst/>
                  </a:prstGeom>
                  <a:noFill/>
                  <a:ln w="38100">
                    <a:solidFill>
                      <a:srgbClr val="C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69" name="Line 3522">
                    <a:extLst>
                      <a:ext uri="{FF2B5EF4-FFF2-40B4-BE49-F238E27FC236}">
                        <a16:creationId xmlns:a16="http://schemas.microsoft.com/office/drawing/2014/main" id="{F6C3A329-0A13-4655-A24C-5748DB9CCE7C}"/>
                      </a:ext>
                    </a:extLst>
                  </p:cNvPr>
                  <p:cNvCxnSpPr>
                    <a:cxnSpLocks noChangeAspect="1" noChangeShapeType="1"/>
                  </p:cNvCxnSpPr>
                  <p:nvPr/>
                </p:nvCxnSpPr>
                <p:spPr bwMode="auto">
                  <a:xfrm>
                    <a:off x="10058" y="2678"/>
                    <a:ext cx="0" cy="540"/>
                  </a:xfrm>
                  <a:prstGeom prst="line">
                    <a:avLst/>
                  </a:prstGeom>
                  <a:noFill/>
                  <a:ln w="38100">
                    <a:solidFill>
                      <a:srgbClr val="C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</p:grpSp>
            <p:cxnSp>
              <p:nvCxnSpPr>
                <p:cNvPr id="61" name="Line 3523">
                  <a:extLst>
                    <a:ext uri="{FF2B5EF4-FFF2-40B4-BE49-F238E27FC236}">
                      <a16:creationId xmlns:a16="http://schemas.microsoft.com/office/drawing/2014/main" id="{C72E54E4-15B6-4D82-9486-2CF0A94B6328}"/>
                    </a:ext>
                  </a:extLst>
                </p:cNvPr>
                <p:cNvCxnSpPr>
                  <a:cxnSpLocks noChangeAspect="1" noChangeShapeType="1"/>
                </p:cNvCxnSpPr>
                <p:nvPr/>
              </p:nvCxnSpPr>
              <p:spPr bwMode="auto">
                <a:xfrm>
                  <a:off x="11110" y="9590"/>
                  <a:ext cx="3693" cy="1"/>
                </a:xfrm>
                <a:prstGeom prst="line">
                  <a:avLst/>
                </a:prstGeom>
                <a:noFill/>
                <a:ln w="38100">
                  <a:solidFill>
                    <a:srgbClr val="C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sp>
              <p:nvSpPr>
                <p:cNvPr id="62" name="Text Box 3524">
                  <a:extLst>
                    <a:ext uri="{FF2B5EF4-FFF2-40B4-BE49-F238E27FC236}">
                      <a16:creationId xmlns:a16="http://schemas.microsoft.com/office/drawing/2014/main" id="{BA9923B1-87A6-4695-A1FA-2F320661F527}"/>
                    </a:ext>
                  </a:extLst>
                </p:cNvPr>
                <p:cNvSpPr txBox="1">
                  <a:spLocks noChangeAspect="1" noChangeArrowheads="1"/>
                </p:cNvSpPr>
                <p:nvPr/>
              </p:nvSpPr>
              <p:spPr bwMode="auto">
                <a:xfrm>
                  <a:off x="11068" y="7444"/>
                  <a:ext cx="914" cy="82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8100">
                      <a:solidFill>
                        <a:srgbClr val="C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rot="0" vert="horz" wrap="square" lIns="18000" tIns="10800" rIns="18000" bIns="10800" anchor="t" anchorCtr="0" upright="1">
                  <a:noAutofit/>
                </a:bodyPr>
                <a:lstStyle/>
                <a:p>
                  <a:pPr marL="0" marR="0"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lang="en-GB" sz="2800" i="1">
                      <a:solidFill>
                        <a:srgbClr val="002060"/>
                      </a:solidFill>
                      <a:effectLst/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Z</a:t>
                  </a:r>
                  <a:r>
                    <a:rPr lang="en-GB" sz="2800" i="1" baseline="-25000">
                      <a:solidFill>
                        <a:srgbClr val="002060"/>
                      </a:solidFill>
                      <a:effectLst/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I1</a:t>
                  </a:r>
                  <a:endParaRPr lang="en-GB" sz="120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endParaRPr>
                </a:p>
              </p:txBody>
            </p:sp>
            <p:sp>
              <p:nvSpPr>
                <p:cNvPr id="63" name="Text Box 3525">
                  <a:extLst>
                    <a:ext uri="{FF2B5EF4-FFF2-40B4-BE49-F238E27FC236}">
                      <a16:creationId xmlns:a16="http://schemas.microsoft.com/office/drawing/2014/main" id="{1568C75C-F885-4C31-BA99-E9938C4DDBB2}"/>
                    </a:ext>
                  </a:extLst>
                </p:cNvPr>
                <p:cNvSpPr txBox="1">
                  <a:spLocks noChangeAspect="1" noChangeArrowheads="1"/>
                </p:cNvSpPr>
                <p:nvPr/>
              </p:nvSpPr>
              <p:spPr bwMode="auto">
                <a:xfrm>
                  <a:off x="14502" y="7423"/>
                  <a:ext cx="866" cy="82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8100">
                      <a:solidFill>
                        <a:srgbClr val="C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rot="0" vert="horz" wrap="square" lIns="18000" tIns="10800" rIns="18000" bIns="10800" anchor="t" anchorCtr="0" upright="1">
                  <a:noAutofit/>
                </a:bodyPr>
                <a:lstStyle/>
                <a:p>
                  <a:pPr marL="0" marR="0"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lang="en-GB" sz="2800" i="1">
                      <a:solidFill>
                        <a:srgbClr val="002060"/>
                      </a:solidFill>
                      <a:effectLst/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Z</a:t>
                  </a:r>
                  <a:r>
                    <a:rPr lang="en-GB" sz="2800" i="1" baseline="-25000">
                      <a:solidFill>
                        <a:srgbClr val="002060"/>
                      </a:solidFill>
                      <a:effectLst/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I2</a:t>
                  </a:r>
                  <a:endParaRPr lang="en-GB" sz="120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endParaRPr>
                </a:p>
                <a:p>
                  <a:pPr marL="0" marR="0"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lang="en-GB" sz="2800" b="1" i="1" baseline="-25000">
                      <a:solidFill>
                        <a:srgbClr val="002060"/>
                      </a:solidFill>
                      <a:effectLst/>
                      <a:latin typeface="Times New Roman" panose="02020603050405020304" pitchFamily="18" charset="0"/>
                    </a:rPr>
                    <a:t> </a:t>
                  </a:r>
                  <a:endParaRPr lang="en-GB" sz="1200" b="1" i="1">
                    <a:effectLst/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64" name="Text Box 3526">
                  <a:extLst>
                    <a:ext uri="{FF2B5EF4-FFF2-40B4-BE49-F238E27FC236}">
                      <a16:creationId xmlns:a16="http://schemas.microsoft.com/office/drawing/2014/main" id="{313D4384-20A2-4B7A-9933-90A598080D85}"/>
                    </a:ext>
                  </a:extLst>
                </p:cNvPr>
                <p:cNvSpPr txBox="1">
                  <a:spLocks noChangeAspect="1" noChangeArrowheads="1"/>
                </p:cNvSpPr>
                <p:nvPr/>
              </p:nvSpPr>
              <p:spPr bwMode="auto">
                <a:xfrm>
                  <a:off x="12404" y="5681"/>
                  <a:ext cx="1080" cy="82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8100">
                      <a:solidFill>
                        <a:srgbClr val="C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rot="0" vert="horz" wrap="square" lIns="18000" tIns="10800" rIns="18000" bIns="10800" anchor="t" anchorCtr="0" upright="1">
                  <a:noAutofit/>
                </a:bodyPr>
                <a:lstStyle/>
                <a:p>
                  <a:pPr marL="0" marR="0"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lang="en-GB" sz="2800">
                      <a:solidFill>
                        <a:srgbClr val="002060"/>
                      </a:solidFill>
                      <a:effectLst/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Z</a:t>
                  </a:r>
                  <a:endParaRPr lang="en-GB" sz="120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endParaRPr>
                </a:p>
              </p:txBody>
            </p:sp>
            <p:sp>
              <p:nvSpPr>
                <p:cNvPr id="65" name="Text Box 3527">
                  <a:extLst>
                    <a:ext uri="{FF2B5EF4-FFF2-40B4-BE49-F238E27FC236}">
                      <a16:creationId xmlns:a16="http://schemas.microsoft.com/office/drawing/2014/main" id="{DB0356C6-9996-46B4-B375-D2DE50843250}"/>
                    </a:ext>
                  </a:extLst>
                </p:cNvPr>
                <p:cNvSpPr txBox="1">
                  <a:spLocks noChangeAspect="1" noChangeArrowheads="1"/>
                </p:cNvSpPr>
                <p:nvPr/>
              </p:nvSpPr>
              <p:spPr bwMode="auto">
                <a:xfrm>
                  <a:off x="12975" y="7715"/>
                  <a:ext cx="827" cy="82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8100">
                      <a:solidFill>
                        <a:srgbClr val="C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rot="0" vert="horz" wrap="square" lIns="18000" tIns="10800" rIns="18000" bIns="10800" anchor="t" anchorCtr="0" upright="1">
                  <a:noAutofit/>
                </a:bodyPr>
                <a:lstStyle/>
                <a:p>
                  <a:pPr marL="0" marR="0"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lang="en-GB" sz="2800">
                      <a:solidFill>
                        <a:srgbClr val="002060"/>
                      </a:solidFill>
                      <a:effectLst/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Y</a:t>
                  </a:r>
                  <a:endParaRPr lang="en-GB" sz="120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endParaRPr>
                </a:p>
              </p:txBody>
            </p:sp>
            <p:cxnSp>
              <p:nvCxnSpPr>
                <p:cNvPr id="66" name="Line 3528">
                  <a:extLst>
                    <a:ext uri="{FF2B5EF4-FFF2-40B4-BE49-F238E27FC236}">
                      <a16:creationId xmlns:a16="http://schemas.microsoft.com/office/drawing/2014/main" id="{18E7B472-76C4-4ACE-B96E-74336EB6C0F2}"/>
                    </a:ext>
                  </a:extLst>
                </p:cNvPr>
                <p:cNvCxnSpPr>
                  <a:cxnSpLocks noChangeAspect="1" noChangeShapeType="1"/>
                </p:cNvCxnSpPr>
                <p:nvPr/>
              </p:nvCxnSpPr>
              <p:spPr bwMode="auto">
                <a:xfrm rot="5400000">
                  <a:off x="14451" y="6257"/>
                  <a:ext cx="0" cy="872"/>
                </a:xfrm>
                <a:prstGeom prst="line">
                  <a:avLst/>
                </a:prstGeom>
                <a:noFill/>
                <a:ln w="38100">
                  <a:solidFill>
                    <a:srgbClr val="C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  <p:sp>
            <p:nvSpPr>
              <p:cNvPr id="57" name="Text Box 549">
                <a:extLst>
                  <a:ext uri="{FF2B5EF4-FFF2-40B4-BE49-F238E27FC236}">
                    <a16:creationId xmlns:a16="http://schemas.microsoft.com/office/drawing/2014/main" id="{9A5D7A2E-2845-492B-9C74-E38F560245B1}"/>
                  </a:ext>
                </a:extLst>
              </p:cNvPr>
              <p:cNvSpPr txBox="1"/>
              <p:nvPr/>
            </p:nvSpPr>
            <p:spPr>
              <a:xfrm>
                <a:off x="0" y="1279205"/>
                <a:ext cx="609292" cy="543560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rot="0" spcFirstLastPara="0" vert="horz" wrap="non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GB" sz="2600">
                    <a:solidFill>
                      <a:srgbClr val="C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sym typeface="Symbol" panose="05050102010706020507" pitchFamily="18" charset="2"/>
                  </a:rPr>
                  <a:t></a:t>
                </a:r>
                <a:endParaRPr lang="en-GB" sz="120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  <p:sp>
            <p:nvSpPr>
              <p:cNvPr id="58" name="Text Box 550">
                <a:extLst>
                  <a:ext uri="{FF2B5EF4-FFF2-40B4-BE49-F238E27FC236}">
                    <a16:creationId xmlns:a16="http://schemas.microsoft.com/office/drawing/2014/main" id="{EBE40084-F3EF-4BB1-8D75-833ACB02C5D7}"/>
                  </a:ext>
                </a:extLst>
              </p:cNvPr>
              <p:cNvSpPr txBox="1"/>
              <p:nvPr/>
            </p:nvSpPr>
            <p:spPr>
              <a:xfrm>
                <a:off x="2040859" y="1267360"/>
                <a:ext cx="609292" cy="545465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rot="0" spcFirstLastPara="0" vert="horz" wrap="non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GB" sz="2600">
                    <a:solidFill>
                      <a:srgbClr val="C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sym typeface="Symbol" panose="05050102010706020507" pitchFamily="18" charset="2"/>
                  </a:rPr>
                  <a:t></a:t>
                </a:r>
                <a:endParaRPr lang="en-GB" sz="120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p:grp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334C5385-D6A0-4999-AAB0-B3685765495D}"/>
                </a:ext>
              </a:extLst>
            </p:cNvPr>
            <p:cNvGrpSpPr/>
            <p:nvPr/>
          </p:nvGrpSpPr>
          <p:grpSpPr>
            <a:xfrm flipH="1">
              <a:off x="2185061" y="-3"/>
              <a:ext cx="2392562" cy="2362812"/>
              <a:chOff x="-90905" y="-3"/>
              <a:chExt cx="2392562" cy="2362812"/>
            </a:xfrm>
          </p:grpSpPr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8EDD4C4E-8196-473C-AAF7-4C67CCB2DB3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751" y="-3"/>
                <a:ext cx="2277906" cy="2362812"/>
                <a:chOff x="11068" y="5681"/>
                <a:chExt cx="3819" cy="3910"/>
              </a:xfrm>
            </p:grpSpPr>
            <p:grpSp>
              <p:nvGrpSpPr>
                <p:cNvPr id="43" name="Group 42">
                  <a:extLst>
                    <a:ext uri="{FF2B5EF4-FFF2-40B4-BE49-F238E27FC236}">
                      <a16:creationId xmlns:a16="http://schemas.microsoft.com/office/drawing/2014/main" id="{D75E2BEE-EA41-443A-B17E-07AA805D7FF0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 rot="5400000">
                  <a:off x="12315" y="5241"/>
                  <a:ext cx="494" cy="2906"/>
                  <a:chOff x="9878" y="1418"/>
                  <a:chExt cx="360" cy="1800"/>
                </a:xfrm>
              </p:grpSpPr>
              <p:sp>
                <p:nvSpPr>
                  <p:cNvPr id="53" name="Rectangle 52">
                    <a:extLst>
                      <a:ext uri="{FF2B5EF4-FFF2-40B4-BE49-F238E27FC236}">
                        <a16:creationId xmlns:a16="http://schemas.microsoft.com/office/drawing/2014/main" id="{75A705F0-E907-4FEC-BB4D-7B89ECEBEBC2}"/>
                      </a:ext>
                    </a:extLst>
                  </p:cNvPr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9878" y="1958"/>
                    <a:ext cx="360" cy="720"/>
                  </a:xfrm>
                  <a:prstGeom prst="rect">
                    <a:avLst/>
                  </a:prstGeom>
                  <a:noFill/>
                  <a:ln w="38100">
                    <a:solidFill>
                      <a:srgbClr val="C00000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rot="0" vert="horz" wrap="square" lIns="91440" tIns="45720" rIns="91440" bIns="45720" anchor="t" anchorCtr="0" upright="1">
                    <a:noAutofit/>
                  </a:bodyPr>
                  <a:lstStyle/>
                  <a:p>
                    <a:endParaRPr lang="en-GB"/>
                  </a:p>
                </p:txBody>
              </p:sp>
              <p:cxnSp>
                <p:nvCxnSpPr>
                  <p:cNvPr id="54" name="Line 3517">
                    <a:extLst>
                      <a:ext uri="{FF2B5EF4-FFF2-40B4-BE49-F238E27FC236}">
                        <a16:creationId xmlns:a16="http://schemas.microsoft.com/office/drawing/2014/main" id="{AB22B080-9959-48B9-B27C-9A02331E3819}"/>
                      </a:ext>
                    </a:extLst>
                  </p:cNvPr>
                  <p:cNvCxnSpPr>
                    <a:cxnSpLocks noChangeAspect="1" noChangeShapeType="1"/>
                  </p:cNvCxnSpPr>
                  <p:nvPr/>
                </p:nvCxnSpPr>
                <p:spPr bwMode="auto">
                  <a:xfrm>
                    <a:off x="10058" y="1418"/>
                    <a:ext cx="0" cy="540"/>
                  </a:xfrm>
                  <a:prstGeom prst="line">
                    <a:avLst/>
                  </a:prstGeom>
                  <a:noFill/>
                  <a:ln w="38100">
                    <a:solidFill>
                      <a:srgbClr val="C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55" name="Line 3518">
                    <a:extLst>
                      <a:ext uri="{FF2B5EF4-FFF2-40B4-BE49-F238E27FC236}">
                        <a16:creationId xmlns:a16="http://schemas.microsoft.com/office/drawing/2014/main" id="{0BBEB50F-BB20-4706-A870-0B4F36F0EF03}"/>
                      </a:ext>
                    </a:extLst>
                  </p:cNvPr>
                  <p:cNvCxnSpPr>
                    <a:cxnSpLocks noChangeAspect="1" noChangeShapeType="1"/>
                  </p:cNvCxnSpPr>
                  <p:nvPr/>
                </p:nvCxnSpPr>
                <p:spPr bwMode="auto">
                  <a:xfrm>
                    <a:off x="10058" y="2678"/>
                    <a:ext cx="0" cy="540"/>
                  </a:xfrm>
                  <a:prstGeom prst="line">
                    <a:avLst/>
                  </a:prstGeom>
                  <a:noFill/>
                  <a:ln w="38100">
                    <a:solidFill>
                      <a:srgbClr val="C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</p:grpSp>
            <p:grpSp>
              <p:nvGrpSpPr>
                <p:cNvPr id="44" name="Group 43">
                  <a:extLst>
                    <a:ext uri="{FF2B5EF4-FFF2-40B4-BE49-F238E27FC236}">
                      <a16:creationId xmlns:a16="http://schemas.microsoft.com/office/drawing/2014/main" id="{E569EDA5-2EEB-4B9B-AF53-71154FDF76AF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 rot="10800000">
                  <a:off x="13689" y="6683"/>
                  <a:ext cx="494" cy="2906"/>
                  <a:chOff x="9878" y="1418"/>
                  <a:chExt cx="360" cy="1800"/>
                </a:xfrm>
              </p:grpSpPr>
              <p:sp>
                <p:nvSpPr>
                  <p:cNvPr id="50" name="Rectangle 49">
                    <a:extLst>
                      <a:ext uri="{FF2B5EF4-FFF2-40B4-BE49-F238E27FC236}">
                        <a16:creationId xmlns:a16="http://schemas.microsoft.com/office/drawing/2014/main" id="{F608D3B6-EDBB-4BC4-9570-CA61823BCD35}"/>
                      </a:ext>
                    </a:extLst>
                  </p:cNvPr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9878" y="1958"/>
                    <a:ext cx="360" cy="720"/>
                  </a:xfrm>
                  <a:prstGeom prst="rect">
                    <a:avLst/>
                  </a:prstGeom>
                  <a:noFill/>
                  <a:ln w="38100">
                    <a:solidFill>
                      <a:srgbClr val="C00000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rot="0" vert="horz" wrap="square" lIns="91440" tIns="45720" rIns="91440" bIns="45720" anchor="t" anchorCtr="0" upright="1">
                    <a:noAutofit/>
                  </a:bodyPr>
                  <a:lstStyle/>
                  <a:p>
                    <a:endParaRPr lang="en-GB"/>
                  </a:p>
                </p:txBody>
              </p:sp>
              <p:cxnSp>
                <p:nvCxnSpPr>
                  <p:cNvPr id="51" name="Line 3521">
                    <a:extLst>
                      <a:ext uri="{FF2B5EF4-FFF2-40B4-BE49-F238E27FC236}">
                        <a16:creationId xmlns:a16="http://schemas.microsoft.com/office/drawing/2014/main" id="{E2D750C9-1167-4801-9A35-C2A3170225DA}"/>
                      </a:ext>
                    </a:extLst>
                  </p:cNvPr>
                  <p:cNvCxnSpPr>
                    <a:cxnSpLocks noChangeAspect="1" noChangeShapeType="1"/>
                  </p:cNvCxnSpPr>
                  <p:nvPr/>
                </p:nvCxnSpPr>
                <p:spPr bwMode="auto">
                  <a:xfrm>
                    <a:off x="10058" y="1418"/>
                    <a:ext cx="0" cy="540"/>
                  </a:xfrm>
                  <a:prstGeom prst="line">
                    <a:avLst/>
                  </a:prstGeom>
                  <a:noFill/>
                  <a:ln w="38100">
                    <a:solidFill>
                      <a:srgbClr val="C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52" name="Line 3522">
                    <a:extLst>
                      <a:ext uri="{FF2B5EF4-FFF2-40B4-BE49-F238E27FC236}">
                        <a16:creationId xmlns:a16="http://schemas.microsoft.com/office/drawing/2014/main" id="{7045EFB1-C08D-498D-9EBC-1D022167AA64}"/>
                      </a:ext>
                    </a:extLst>
                  </p:cNvPr>
                  <p:cNvCxnSpPr>
                    <a:cxnSpLocks noChangeAspect="1" noChangeShapeType="1"/>
                  </p:cNvCxnSpPr>
                  <p:nvPr/>
                </p:nvCxnSpPr>
                <p:spPr bwMode="auto">
                  <a:xfrm>
                    <a:off x="10058" y="2678"/>
                    <a:ext cx="0" cy="540"/>
                  </a:xfrm>
                  <a:prstGeom prst="line">
                    <a:avLst/>
                  </a:prstGeom>
                  <a:noFill/>
                  <a:ln w="38100">
                    <a:solidFill>
                      <a:srgbClr val="C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</p:grpSp>
            <p:cxnSp>
              <p:nvCxnSpPr>
                <p:cNvPr id="45" name="Line 3523">
                  <a:extLst>
                    <a:ext uri="{FF2B5EF4-FFF2-40B4-BE49-F238E27FC236}">
                      <a16:creationId xmlns:a16="http://schemas.microsoft.com/office/drawing/2014/main" id="{CC8179F0-34FF-4193-B3DA-7C96EF0388C0}"/>
                    </a:ext>
                  </a:extLst>
                </p:cNvPr>
                <p:cNvCxnSpPr>
                  <a:cxnSpLocks noChangeAspect="1" noChangeShapeType="1"/>
                </p:cNvCxnSpPr>
                <p:nvPr/>
              </p:nvCxnSpPr>
              <p:spPr bwMode="auto">
                <a:xfrm>
                  <a:off x="11110" y="9590"/>
                  <a:ext cx="3693" cy="1"/>
                </a:xfrm>
                <a:prstGeom prst="line">
                  <a:avLst/>
                </a:prstGeom>
                <a:noFill/>
                <a:ln w="38100">
                  <a:solidFill>
                    <a:srgbClr val="C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sp>
              <p:nvSpPr>
                <p:cNvPr id="46" name="Text Box 3524">
                  <a:extLst>
                    <a:ext uri="{FF2B5EF4-FFF2-40B4-BE49-F238E27FC236}">
                      <a16:creationId xmlns:a16="http://schemas.microsoft.com/office/drawing/2014/main" id="{B8070867-D439-46ED-A420-82B53BB0C2EF}"/>
                    </a:ext>
                  </a:extLst>
                </p:cNvPr>
                <p:cNvSpPr txBox="1">
                  <a:spLocks noChangeAspect="1" noChangeArrowheads="1"/>
                </p:cNvSpPr>
                <p:nvPr/>
              </p:nvSpPr>
              <p:spPr bwMode="auto">
                <a:xfrm>
                  <a:off x="11068" y="7444"/>
                  <a:ext cx="914" cy="82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8100">
                      <a:solidFill>
                        <a:srgbClr val="C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rot="0" vert="horz" wrap="square" lIns="18000" tIns="10800" rIns="18000" bIns="10800" anchor="t" anchorCtr="0" upright="1">
                  <a:noAutofit/>
                </a:bodyPr>
                <a:lstStyle/>
                <a:p>
                  <a:pPr marL="0" marR="0"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lang="en-GB" sz="2800" i="1">
                      <a:solidFill>
                        <a:srgbClr val="002060"/>
                      </a:solidFill>
                      <a:effectLst/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Z</a:t>
                  </a:r>
                  <a:r>
                    <a:rPr lang="en-GB" sz="2800" i="1" baseline="-25000">
                      <a:solidFill>
                        <a:srgbClr val="002060"/>
                      </a:solidFill>
                      <a:effectLst/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I1</a:t>
                  </a:r>
                  <a:endParaRPr lang="en-GB" sz="120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endParaRPr>
                </a:p>
              </p:txBody>
            </p:sp>
            <p:sp>
              <p:nvSpPr>
                <p:cNvPr id="47" name="Text Box 3526">
                  <a:extLst>
                    <a:ext uri="{FF2B5EF4-FFF2-40B4-BE49-F238E27FC236}">
                      <a16:creationId xmlns:a16="http://schemas.microsoft.com/office/drawing/2014/main" id="{8E5C1B4A-2081-4B62-9215-93F5403F8D47}"/>
                    </a:ext>
                  </a:extLst>
                </p:cNvPr>
                <p:cNvSpPr txBox="1">
                  <a:spLocks noChangeAspect="1" noChangeArrowheads="1"/>
                </p:cNvSpPr>
                <p:nvPr/>
              </p:nvSpPr>
              <p:spPr bwMode="auto">
                <a:xfrm>
                  <a:off x="12404" y="5681"/>
                  <a:ext cx="1080" cy="82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8100">
                      <a:solidFill>
                        <a:srgbClr val="C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rot="0" vert="horz" wrap="square" lIns="18000" tIns="10800" rIns="18000" bIns="10800" anchor="t" anchorCtr="0" upright="1">
                  <a:noAutofit/>
                </a:bodyPr>
                <a:lstStyle/>
                <a:p>
                  <a:pPr marL="0" marR="0"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lang="en-GB" sz="2800">
                      <a:solidFill>
                        <a:srgbClr val="002060"/>
                      </a:solidFill>
                      <a:effectLst/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Z</a:t>
                  </a:r>
                  <a:endParaRPr lang="en-GB" sz="120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endParaRPr>
                </a:p>
              </p:txBody>
            </p:sp>
            <p:sp>
              <p:nvSpPr>
                <p:cNvPr id="48" name="Text Box 3527">
                  <a:extLst>
                    <a:ext uri="{FF2B5EF4-FFF2-40B4-BE49-F238E27FC236}">
                      <a16:creationId xmlns:a16="http://schemas.microsoft.com/office/drawing/2014/main" id="{EB60AAB9-59FE-4A37-A616-8505344587A7}"/>
                    </a:ext>
                  </a:extLst>
                </p:cNvPr>
                <p:cNvSpPr txBox="1">
                  <a:spLocks noChangeAspect="1" noChangeArrowheads="1"/>
                </p:cNvSpPr>
                <p:nvPr/>
              </p:nvSpPr>
              <p:spPr bwMode="auto">
                <a:xfrm>
                  <a:off x="12695" y="7715"/>
                  <a:ext cx="827" cy="82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8100">
                      <a:solidFill>
                        <a:srgbClr val="C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rot="0" vert="horz" wrap="square" lIns="18000" tIns="10800" rIns="18000" bIns="10800" anchor="t" anchorCtr="0" upright="1">
                  <a:noAutofit/>
                </a:bodyPr>
                <a:lstStyle/>
                <a:p>
                  <a:pPr marL="0" marR="0"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lang="en-GB" sz="2800">
                      <a:solidFill>
                        <a:srgbClr val="002060"/>
                      </a:solidFill>
                      <a:effectLst/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Y</a:t>
                  </a:r>
                  <a:endParaRPr lang="en-GB" sz="120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endParaRPr>
                </a:p>
              </p:txBody>
            </p:sp>
            <p:cxnSp>
              <p:nvCxnSpPr>
                <p:cNvPr id="49" name="Line 3528">
                  <a:extLst>
                    <a:ext uri="{FF2B5EF4-FFF2-40B4-BE49-F238E27FC236}">
                      <a16:creationId xmlns:a16="http://schemas.microsoft.com/office/drawing/2014/main" id="{A84B927C-47DF-41B9-B4C5-991CF3126BFA}"/>
                    </a:ext>
                  </a:extLst>
                </p:cNvPr>
                <p:cNvCxnSpPr>
                  <a:cxnSpLocks noChangeAspect="1" noChangeShapeType="1"/>
                </p:cNvCxnSpPr>
                <p:nvPr/>
              </p:nvCxnSpPr>
              <p:spPr bwMode="auto">
                <a:xfrm rot="5400000">
                  <a:off x="14451" y="6257"/>
                  <a:ext cx="0" cy="872"/>
                </a:xfrm>
                <a:prstGeom prst="line">
                  <a:avLst/>
                </a:prstGeom>
                <a:noFill/>
                <a:ln w="38100">
                  <a:solidFill>
                    <a:srgbClr val="C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  <p:sp>
            <p:nvSpPr>
              <p:cNvPr id="42" name="Text Box 567">
                <a:extLst>
                  <a:ext uri="{FF2B5EF4-FFF2-40B4-BE49-F238E27FC236}">
                    <a16:creationId xmlns:a16="http://schemas.microsoft.com/office/drawing/2014/main" id="{CD5B3A75-4293-46E9-982C-DFA426508E36}"/>
                  </a:ext>
                </a:extLst>
              </p:cNvPr>
              <p:cNvSpPr txBox="1"/>
              <p:nvPr/>
            </p:nvSpPr>
            <p:spPr>
              <a:xfrm>
                <a:off x="-90905" y="1279205"/>
                <a:ext cx="609292" cy="543560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rot="0" spcFirstLastPara="0" vert="horz" wrap="non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GB" sz="2600">
                    <a:solidFill>
                      <a:srgbClr val="C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sym typeface="Symbol" panose="05050102010706020507" pitchFamily="18" charset="2"/>
                  </a:rPr>
                  <a:t></a:t>
                </a:r>
                <a:endParaRPr lang="en-GB" sz="120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p:grpSp>
      </p:grpSp>
      <p:sp>
        <p:nvSpPr>
          <p:cNvPr id="108" name="Text Box 532">
            <a:extLst>
              <a:ext uri="{FF2B5EF4-FFF2-40B4-BE49-F238E27FC236}">
                <a16:creationId xmlns:a16="http://schemas.microsoft.com/office/drawing/2014/main" id="{ABF0B94A-A901-415C-AFC8-580A12592EF6}"/>
              </a:ext>
            </a:extLst>
          </p:cNvPr>
          <p:cNvSpPr txBox="1"/>
          <p:nvPr/>
        </p:nvSpPr>
        <p:spPr>
          <a:xfrm>
            <a:off x="3359488" y="1560885"/>
            <a:ext cx="630555" cy="633730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GB" sz="3600"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</a:t>
            </a:r>
            <a:endParaRPr lang="en-GB" sz="120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09" name="Text Box 570">
            <a:extLst>
              <a:ext uri="{FF2B5EF4-FFF2-40B4-BE49-F238E27FC236}">
                <a16:creationId xmlns:a16="http://schemas.microsoft.com/office/drawing/2014/main" id="{C84DDD26-04AC-44CE-910A-EBC15EBB52DB}"/>
              </a:ext>
            </a:extLst>
          </p:cNvPr>
          <p:cNvSpPr txBox="1"/>
          <p:nvPr/>
        </p:nvSpPr>
        <p:spPr>
          <a:xfrm>
            <a:off x="7816553" y="1633910"/>
            <a:ext cx="630555" cy="633730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GB" sz="3600"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</a:t>
            </a:r>
            <a:endParaRPr lang="en-GB" sz="120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DC83E053-D6C4-480E-B30E-E066645387AF}"/>
              </a:ext>
            </a:extLst>
          </p:cNvPr>
          <p:cNvSpPr/>
          <p:nvPr/>
        </p:nvSpPr>
        <p:spPr>
          <a:xfrm>
            <a:off x="410073" y="2860004"/>
            <a:ext cx="843692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80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Reverse back-to-back networks are connected in cascade.</a:t>
            </a: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5" name="Rectangle 134">
                <a:extLst>
                  <a:ext uri="{FF2B5EF4-FFF2-40B4-BE49-F238E27FC236}">
                    <a16:creationId xmlns:a16="http://schemas.microsoft.com/office/drawing/2014/main" id="{F309556A-5D27-44BF-B102-B8F8CA4ACB31}"/>
                  </a:ext>
                </a:extLst>
              </p:cNvPr>
              <p:cNvSpPr/>
              <p:nvPr/>
            </p:nvSpPr>
            <p:spPr>
              <a:xfrm>
                <a:off x="316979" y="3174405"/>
                <a:ext cx="11260559" cy="118006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spcAft>
                    <a:spcPts val="600"/>
                  </a:spcAft>
                </a:pPr>
                <a:r>
                  <a:rPr lang="en-GB" sz="3200" dirty="0">
                    <a:solidFill>
                      <a:srgbClr val="00206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GB" sz="32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Z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GB" sz="3200" baseline="-250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I</m:t>
                        </m:r>
                        <m:r>
                          <a:rPr lang="en-GB" sz="3200" baseline="-250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GB" sz="320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= </m:t>
                    </m:r>
                    <m:r>
                      <m:rPr>
                        <m:sty m:val="p"/>
                      </m:rPr>
                      <a:rPr lang="en-GB" sz="320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Z</m:t>
                    </m:r>
                    <m:r>
                      <a:rPr lang="en-GB" sz="320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 + 2</m:t>
                    </m:r>
                    <m:r>
                      <m:rPr>
                        <m:sty m:val="p"/>
                      </m:rPr>
                      <a:rPr lang="en-GB" sz="320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Y</m:t>
                    </m:r>
                    <m:r>
                      <a:rPr lang="en-GB" sz="320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//(</m:t>
                    </m:r>
                    <m:r>
                      <m:rPr>
                        <m:sty m:val="p"/>
                      </m:rPr>
                      <a:rPr lang="en-GB" sz="320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Z</m:t>
                    </m:r>
                    <m:r>
                      <a:rPr lang="en-GB" sz="320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+</m:t>
                    </m:r>
                    <m:sSub>
                      <m:sSubPr>
                        <m:ctrlPr>
                          <a:rPr lang="en-GB" sz="32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GB" sz="32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Z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GB" sz="3200" baseline="-250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I</m:t>
                        </m:r>
                        <m:r>
                          <a:rPr lang="en-GB" sz="3200" baseline="-250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GB" sz="320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) </m:t>
                    </m:r>
                  </m:oMath>
                </a14:m>
                <a:r>
                  <a:rPr lang="en-GB" sz="3200" dirty="0">
                    <a:solidFill>
                      <a:srgbClr val="00206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GB" sz="320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Z</m:t>
                    </m:r>
                    <m:r>
                      <a:rPr lang="en-GB" sz="320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+ </m:t>
                    </m:r>
                    <m:f>
                      <m:fPr>
                        <m:ctrlPr>
                          <a:rPr lang="en-GB" sz="32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fPr>
                      <m:num>
                        <m:f>
                          <m:fPr>
                            <m:ctrlPr>
                              <a:rPr lang="en-GB" sz="32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GB" sz="32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GB" sz="32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2</m:t>
                            </m:r>
                            <m:r>
                              <a:rPr lang="en-GB" sz="32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𝑌</m:t>
                            </m:r>
                          </m:den>
                        </m:f>
                        <m:r>
                          <a:rPr lang="en-GB" sz="32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×(</m:t>
                        </m:r>
                        <m:r>
                          <a:rPr lang="en-GB" sz="32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𝑍</m:t>
                        </m:r>
                        <m:r>
                          <a:rPr lang="en-GB" sz="32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GB" sz="32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en-GB" sz="32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𝐼</m:t>
                            </m:r>
                            <m:r>
                              <a:rPr lang="en-GB" sz="32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GB" sz="32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)</m:t>
                        </m:r>
                      </m:num>
                      <m:den>
                        <m:f>
                          <m:fPr>
                            <m:ctrlPr>
                              <a:rPr lang="en-GB" sz="32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GB" sz="32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GB" sz="32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2</m:t>
                            </m:r>
                            <m:r>
                              <a:rPr lang="en-GB" sz="32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𝑌</m:t>
                            </m:r>
                          </m:den>
                        </m:f>
                        <m:r>
                          <a:rPr lang="en-GB" sz="32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+</m:t>
                        </m:r>
                        <m:r>
                          <a:rPr lang="en-GB" sz="32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𝑍</m:t>
                        </m:r>
                        <m:r>
                          <a:rPr lang="en-GB" sz="32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GB" sz="32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en-GB" sz="32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𝐼</m:t>
                            </m:r>
                            <m:r>
                              <a:rPr lang="en-GB" sz="32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a:rPr lang="en-GB" sz="320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GB" sz="320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Z</m:t>
                    </m:r>
                    <m:r>
                      <a:rPr lang="en-GB" sz="320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+ </m:t>
                    </m:r>
                    <m:f>
                      <m:fPr>
                        <m:ctrlPr>
                          <a:rPr lang="en-GB" sz="32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GB" sz="32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(</m:t>
                        </m:r>
                        <m:r>
                          <a:rPr lang="en-GB" sz="32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𝑍</m:t>
                        </m:r>
                        <m:r>
                          <a:rPr lang="en-GB" sz="32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GB" sz="32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en-GB" sz="32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𝐼</m:t>
                            </m:r>
                            <m:r>
                              <a:rPr lang="en-GB" sz="32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GB" sz="32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)</m:t>
                        </m:r>
                      </m:num>
                      <m:den>
                        <m:r>
                          <a:rPr lang="en-GB" sz="32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1+2</m:t>
                        </m:r>
                        <m:r>
                          <a:rPr lang="en-GB" sz="32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𝑍𝑌</m:t>
                        </m:r>
                        <m:r>
                          <a:rPr lang="en-GB" sz="32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GB" sz="32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2</m:t>
                            </m:r>
                            <m:r>
                              <a:rPr lang="en-GB" sz="32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en-GB" sz="32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𝐼</m:t>
                            </m:r>
                            <m:r>
                              <a:rPr lang="en-GB" sz="32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GB" sz="32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𝑌</m:t>
                        </m:r>
                      </m:den>
                    </m:f>
                  </m:oMath>
                </a14:m>
                <a:endParaRPr lang="en-GB" sz="32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5" name="Rectangle 134">
                <a:extLst>
                  <a:ext uri="{FF2B5EF4-FFF2-40B4-BE49-F238E27FC236}">
                    <a16:creationId xmlns:a16="http://schemas.microsoft.com/office/drawing/2014/main" id="{F309556A-5D27-44BF-B102-B8F8CA4ACB3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979" y="3174405"/>
                <a:ext cx="11260559" cy="118006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6" name="Straight Connector 135">
            <a:extLst>
              <a:ext uri="{FF2B5EF4-FFF2-40B4-BE49-F238E27FC236}">
                <a16:creationId xmlns:a16="http://schemas.microsoft.com/office/drawing/2014/main" id="{4B3E8AFE-2539-4C73-8972-87F5316615B5}"/>
              </a:ext>
            </a:extLst>
          </p:cNvPr>
          <p:cNvCxnSpPr/>
          <p:nvPr/>
        </p:nvCxnSpPr>
        <p:spPr>
          <a:xfrm flipV="1">
            <a:off x="1752079" y="6940033"/>
            <a:ext cx="427355" cy="1"/>
          </a:xfrm>
          <a:prstGeom prst="line">
            <a:avLst/>
          </a:prstGeom>
          <a:noFill/>
          <a:ln w="28575" cap="flat" cmpd="sng" algn="ctr">
            <a:solidFill>
              <a:srgbClr val="0070C0"/>
            </a:solidFill>
            <a:prstDash val="solid"/>
            <a:miter lim="800000"/>
          </a:ln>
          <a:effectLst/>
        </p:spPr>
      </p:cxnSp>
      <p:cxnSp>
        <p:nvCxnSpPr>
          <p:cNvPr id="137" name="Straight Connector 136">
            <a:extLst>
              <a:ext uri="{FF2B5EF4-FFF2-40B4-BE49-F238E27FC236}">
                <a16:creationId xmlns:a16="http://schemas.microsoft.com/office/drawing/2014/main" id="{D8221FC4-806B-4E5F-8518-893B198C4334}"/>
              </a:ext>
            </a:extLst>
          </p:cNvPr>
          <p:cNvCxnSpPr/>
          <p:nvPr/>
        </p:nvCxnSpPr>
        <p:spPr>
          <a:xfrm flipV="1">
            <a:off x="8744064" y="6893043"/>
            <a:ext cx="427355" cy="1"/>
          </a:xfrm>
          <a:prstGeom prst="line">
            <a:avLst/>
          </a:prstGeom>
          <a:noFill/>
          <a:ln w="28575" cap="flat" cmpd="sng" algn="ctr">
            <a:solidFill>
              <a:srgbClr val="0070C0"/>
            </a:solidFill>
            <a:prstDash val="solid"/>
            <a:miter lim="800000"/>
          </a:ln>
          <a:effectLst/>
        </p:spPr>
      </p:cxnSp>
      <p:cxnSp>
        <p:nvCxnSpPr>
          <p:cNvPr id="138" name="Straight Connector 137">
            <a:extLst>
              <a:ext uri="{FF2B5EF4-FFF2-40B4-BE49-F238E27FC236}">
                <a16:creationId xmlns:a16="http://schemas.microsoft.com/office/drawing/2014/main" id="{DEB76EDB-F28B-4572-9957-EE35C5DE07CA}"/>
              </a:ext>
            </a:extLst>
          </p:cNvPr>
          <p:cNvCxnSpPr/>
          <p:nvPr/>
        </p:nvCxnSpPr>
        <p:spPr>
          <a:xfrm flipV="1">
            <a:off x="1512912" y="4355595"/>
            <a:ext cx="1198880" cy="260987"/>
          </a:xfrm>
          <a:prstGeom prst="line">
            <a:avLst/>
          </a:prstGeom>
          <a:noFill/>
          <a:ln w="38100" cap="flat" cmpd="sng" algn="ctr">
            <a:solidFill>
              <a:srgbClr val="FF0000"/>
            </a:solidFill>
            <a:prstDash val="solid"/>
            <a:miter lim="800000"/>
          </a:ln>
          <a:effectLst/>
        </p:spPr>
      </p:cxn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DDED95C2-A708-4C8C-9509-C7D05C5BAB16}"/>
              </a:ext>
            </a:extLst>
          </p:cNvPr>
          <p:cNvCxnSpPr/>
          <p:nvPr/>
        </p:nvCxnSpPr>
        <p:spPr>
          <a:xfrm flipV="1">
            <a:off x="6183252" y="4310161"/>
            <a:ext cx="1198880" cy="260987"/>
          </a:xfrm>
          <a:prstGeom prst="line">
            <a:avLst/>
          </a:prstGeom>
          <a:noFill/>
          <a:ln w="38100" cap="flat" cmpd="sng" algn="ctr">
            <a:solidFill>
              <a:srgbClr val="FF0000"/>
            </a:solidFill>
            <a:prstDash val="solid"/>
            <a:miter lim="800000"/>
          </a:ln>
          <a:effectLst/>
        </p:spPr>
      </p:cxnSp>
      <p:sp>
        <p:nvSpPr>
          <p:cNvPr id="140" name="Rectangle 44">
            <a:extLst>
              <a:ext uri="{FF2B5EF4-FFF2-40B4-BE49-F238E27FC236}">
                <a16:creationId xmlns:a16="http://schemas.microsoft.com/office/drawing/2014/main" id="{DB4C8C9D-DABB-48D2-B9DC-AA9D9B1D8E4B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316979" y="3850760"/>
            <a:ext cx="12191995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sp>
        <p:nvSpPr>
          <p:cNvPr id="141" name="Rectangle 45">
            <a:extLst>
              <a:ext uri="{FF2B5EF4-FFF2-40B4-BE49-F238E27FC236}">
                <a16:creationId xmlns:a16="http://schemas.microsoft.com/office/drawing/2014/main" id="{3A1A2791-7439-47B7-B4C7-AC5C4E91E7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6979" y="4239868"/>
            <a:ext cx="12191995" cy="492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altLang="en-US" sz="2600" b="0" i="0" u="none" strike="noStrike" cap="none" normalizeH="0" baseline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i.e. Z</a:t>
            </a:r>
            <a:r>
              <a:rPr kumimoji="0" lang="en-GB" altLang="en-US" sz="2600" b="0" i="0" u="none" strike="noStrike" cap="none" normalizeH="0" baseline="-3000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I1</a:t>
            </a:r>
            <a:r>
              <a:rPr kumimoji="0" lang="en-GB" altLang="en-US" sz="2600" b="0" i="0" u="none" strike="noStrike" cap="none" normalizeH="0" baseline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+ 2 Z</a:t>
            </a:r>
            <a:r>
              <a:rPr kumimoji="0" lang="en-GB" altLang="en-US" sz="2600" b="0" i="0" u="none" strike="noStrike" cap="none" normalizeH="0" baseline="-3000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I1</a:t>
            </a:r>
            <a:r>
              <a:rPr kumimoji="0" lang="en-GB" altLang="en-US" sz="2600" b="0" i="0" u="none" strike="noStrike" cap="none" normalizeH="0" baseline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ZY + 2 Z</a:t>
            </a:r>
            <a:r>
              <a:rPr kumimoji="0" lang="en-GB" altLang="en-US" sz="2600" b="0" i="0" u="none" strike="noStrike" cap="none" normalizeH="0" baseline="-3000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I1</a:t>
            </a:r>
            <a:r>
              <a:rPr kumimoji="0" lang="en-GB" altLang="en-US" sz="2600" b="0" i="0" u="none" strike="noStrike" cap="none" normalizeH="0" baseline="3000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2</a:t>
            </a:r>
            <a:r>
              <a:rPr kumimoji="0" lang="en-GB" altLang="en-US" sz="2600" b="0" i="0" u="none" strike="noStrike" cap="none" normalizeH="0" baseline="-3000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kumimoji="0" lang="en-GB" altLang="en-US" sz="2600" b="0" i="0" u="none" strike="noStrike" cap="none" normalizeH="0" baseline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Y = Z+ 2 Z</a:t>
            </a:r>
            <a:r>
              <a:rPr kumimoji="0" lang="en-GB" altLang="en-US" sz="2600" b="0" i="0" u="none" strike="noStrike" cap="none" normalizeH="0" baseline="3000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2</a:t>
            </a:r>
            <a:r>
              <a:rPr kumimoji="0" lang="en-GB" altLang="en-US" sz="2600" b="0" i="0" u="none" strike="noStrike" cap="none" normalizeH="0" baseline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Y + 2 Z</a:t>
            </a:r>
            <a:r>
              <a:rPr kumimoji="0" lang="en-GB" altLang="en-US" sz="2600" b="0" i="0" u="none" strike="noStrike" cap="none" normalizeH="0" baseline="-3000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I1 </a:t>
            </a:r>
            <a:r>
              <a:rPr kumimoji="0" lang="en-GB" altLang="en-US" sz="2600" b="0" i="0" u="none" strike="noStrike" cap="none" normalizeH="0" baseline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ZY + Z + Z</a:t>
            </a:r>
            <a:r>
              <a:rPr kumimoji="0" lang="en-GB" altLang="en-US" sz="2600" b="0" i="0" u="none" strike="noStrike" cap="none" normalizeH="0" baseline="-3000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I1</a:t>
            </a:r>
            <a:endParaRPr kumimoji="0" lang="en-GB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146" name="Straight Connector 145">
            <a:extLst>
              <a:ext uri="{FF2B5EF4-FFF2-40B4-BE49-F238E27FC236}">
                <a16:creationId xmlns:a16="http://schemas.microsoft.com/office/drawing/2014/main" id="{9FEA4728-FCF9-4B65-96E8-B3A4FC0F048A}"/>
              </a:ext>
            </a:extLst>
          </p:cNvPr>
          <p:cNvCxnSpPr>
            <a:cxnSpLocks/>
          </p:cNvCxnSpPr>
          <p:nvPr/>
        </p:nvCxnSpPr>
        <p:spPr>
          <a:xfrm>
            <a:off x="972820" y="4352836"/>
            <a:ext cx="238083" cy="156202"/>
          </a:xfrm>
          <a:prstGeom prst="line">
            <a:avLst/>
          </a:prstGeom>
          <a:noFill/>
          <a:ln w="38100" cap="flat" cmpd="sng" algn="ctr">
            <a:solidFill>
              <a:srgbClr val="FF0000"/>
            </a:solidFill>
            <a:prstDash val="solid"/>
            <a:miter lim="800000"/>
          </a:ln>
          <a:effectLst/>
        </p:spPr>
      </p:cxnSp>
      <p:cxnSp>
        <p:nvCxnSpPr>
          <p:cNvPr id="147" name="Straight Connector 146">
            <a:extLst>
              <a:ext uri="{FF2B5EF4-FFF2-40B4-BE49-F238E27FC236}">
                <a16:creationId xmlns:a16="http://schemas.microsoft.com/office/drawing/2014/main" id="{8E93227D-ADA5-4714-95C4-A49AFAF215F0}"/>
              </a:ext>
            </a:extLst>
          </p:cNvPr>
          <p:cNvCxnSpPr>
            <a:cxnSpLocks/>
          </p:cNvCxnSpPr>
          <p:nvPr/>
        </p:nvCxnSpPr>
        <p:spPr>
          <a:xfrm>
            <a:off x="8222909" y="4424905"/>
            <a:ext cx="387871" cy="168267"/>
          </a:xfrm>
          <a:prstGeom prst="line">
            <a:avLst/>
          </a:prstGeom>
          <a:noFill/>
          <a:ln w="38100" cap="flat" cmpd="sng" algn="ctr">
            <a:solidFill>
              <a:srgbClr val="FF0000"/>
            </a:solidFill>
            <a:prstDash val="solid"/>
            <a:miter lim="800000"/>
          </a:ln>
          <a:effectLst/>
        </p:spPr>
      </p:cxnSp>
      <p:sp>
        <p:nvSpPr>
          <p:cNvPr id="148" name="Rectangle 48">
            <a:extLst>
              <a:ext uri="{FF2B5EF4-FFF2-40B4-BE49-F238E27FC236}">
                <a16:creationId xmlns:a16="http://schemas.microsoft.com/office/drawing/2014/main" id="{B5F40D5F-C5DD-4AF0-B28E-ED21FFF06372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316979" y="4358005"/>
            <a:ext cx="12191988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sp>
        <p:nvSpPr>
          <p:cNvPr id="149" name="Rectangle 49">
            <a:extLst>
              <a:ext uri="{FF2B5EF4-FFF2-40B4-BE49-F238E27FC236}">
                <a16:creationId xmlns:a16="http://schemas.microsoft.com/office/drawing/2014/main" id="{71102FEF-4B6A-468F-B1EF-BEEC3CFC96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6979" y="5133415"/>
            <a:ext cx="5047763" cy="492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altLang="en-US" sz="26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gives  2Y Z</a:t>
            </a:r>
            <a:r>
              <a:rPr kumimoji="0" lang="en-GB" altLang="en-US" sz="2600" b="0" i="0" u="none" strike="noStrike" cap="none" normalizeH="0" baseline="-3000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I1</a:t>
            </a:r>
            <a:r>
              <a:rPr kumimoji="0" lang="en-GB" altLang="en-US" sz="2600" b="0" i="0" u="none" strike="noStrike" cap="none" normalizeH="0" baseline="3000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2</a:t>
            </a:r>
            <a:r>
              <a:rPr kumimoji="0" lang="en-GB" altLang="en-US" sz="26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= 2Z (1+ZY)  </a:t>
            </a:r>
            <a:r>
              <a:rPr kumimoji="0" lang="en-GB" altLang="en-US" sz="26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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2" name="Rectangle 151">
                <a:extLst>
                  <a:ext uri="{FF2B5EF4-FFF2-40B4-BE49-F238E27FC236}">
                    <a16:creationId xmlns:a16="http://schemas.microsoft.com/office/drawing/2014/main" id="{A3F6DA24-FA31-45D8-86A0-B77D103F96A6}"/>
                  </a:ext>
                </a:extLst>
              </p:cNvPr>
              <p:cNvSpPr/>
              <p:nvPr/>
            </p:nvSpPr>
            <p:spPr>
              <a:xfrm>
                <a:off x="4920065" y="4642792"/>
                <a:ext cx="3156570" cy="136537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𝐼</m:t>
                          </m:r>
                          <m:r>
                            <a:rPr lang="en-GB" sz="2800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2800" i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d>
                            <m:dPr>
                              <m:begChr m:val=""/>
                              <m:ctrlPr>
                                <a:rPr lang="en-GB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GB" sz="28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2800" i="1">
                                      <a:latin typeface="Cambria Math" panose="02040503050406030204" pitchFamily="18" charset="0"/>
                                    </a:rPr>
                                    <m:t>𝑍</m:t>
                                  </m:r>
                                </m:num>
                                <m:den>
                                  <m:r>
                                    <a:rPr lang="en-GB" sz="2800" i="1"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den>
                              </m:f>
                              <m:r>
                                <a:rPr lang="en-GB" sz="2800" i="0">
                                  <a:latin typeface="Cambria Math" panose="02040503050406030204" pitchFamily="18" charset="0"/>
                                </a:rPr>
                                <m:t>(1+</m:t>
                              </m:r>
                              <m:r>
                                <a:rPr lang="en-GB" sz="2800" i="1">
                                  <a:latin typeface="Cambria Math" panose="02040503050406030204" pitchFamily="18" charset="0"/>
                                </a:rPr>
                                <m:t>𝑍𝑌</m:t>
                              </m:r>
                            </m:e>
                          </m:d>
                        </m:e>
                      </m:rad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52" name="Rectangle 151">
                <a:extLst>
                  <a:ext uri="{FF2B5EF4-FFF2-40B4-BE49-F238E27FC236}">
                    <a16:creationId xmlns:a16="http://schemas.microsoft.com/office/drawing/2014/main" id="{A3F6DA24-FA31-45D8-86A0-B77D103F96A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20065" y="4642792"/>
                <a:ext cx="3156570" cy="136537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3" name="Rectangle 152">
                <a:extLst>
                  <a:ext uri="{FF2B5EF4-FFF2-40B4-BE49-F238E27FC236}">
                    <a16:creationId xmlns:a16="http://schemas.microsoft.com/office/drawing/2014/main" id="{CB2393B8-837D-45E5-88B1-7A3A48698137}"/>
                  </a:ext>
                </a:extLst>
              </p:cNvPr>
              <p:cNvSpPr/>
              <p:nvPr/>
            </p:nvSpPr>
            <p:spPr>
              <a:xfrm>
                <a:off x="292413" y="5675165"/>
                <a:ext cx="6040436" cy="104323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GB" sz="2800" dirty="0">
                    <a:solidFill>
                      <a:srgbClr val="00206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Z</a:t>
                </a:r>
                <a:r>
                  <a:rPr lang="en-GB" sz="2800" baseline="-25000" dirty="0">
                    <a:solidFill>
                      <a:srgbClr val="00206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I2 </a:t>
                </a:r>
                <a:r>
                  <a:rPr lang="en-GB" sz="2800" dirty="0">
                    <a:solidFill>
                      <a:srgbClr val="00206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= Y//(Z+Z</a:t>
                </a:r>
                <a:r>
                  <a:rPr lang="en-GB" sz="2800" baseline="-25000" dirty="0">
                    <a:solidFill>
                      <a:srgbClr val="00206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I1</a:t>
                </a:r>
                <a:r>
                  <a:rPr lang="en-GB" sz="2800" dirty="0">
                    <a:solidFill>
                      <a:srgbClr val="00206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ctrlPr>
                              <a:rPr lang="en-GB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GB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𝑌</m:t>
                            </m:r>
                          </m:den>
                        </m:f>
                        <m:r>
                          <a:rPr lang="en-GB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×(</m:t>
                        </m:r>
                        <m:r>
                          <a:rPr lang="en-GB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𝑍</m:t>
                        </m:r>
                        <m:r>
                          <a:rPr lang="en-GB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GB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en-GB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𝐼</m:t>
                            </m:r>
                            <m:r>
                              <a:rPr lang="en-GB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GB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</m:num>
                      <m:den>
                        <m:f>
                          <m:fPr>
                            <m:ctrlPr>
                              <a:rPr lang="en-GB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GB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𝑌</m:t>
                            </m:r>
                          </m:den>
                        </m:f>
                        <m:r>
                          <a:rPr lang="en-GB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+(</m:t>
                        </m:r>
                        <m:r>
                          <a:rPr lang="en-GB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𝑍</m:t>
                        </m:r>
                        <m:r>
                          <a:rPr lang="en-GB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GB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en-GB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𝐼</m:t>
                            </m:r>
                            <m:r>
                              <a:rPr lang="en-GB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GB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lang="en-GB" sz="2800" dirty="0">
                    <a:solidFill>
                      <a:srgbClr val="00206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𝑍</m:t>
                        </m:r>
                        <m:r>
                          <a:rPr lang="en-GB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GB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en-GB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𝐼</m:t>
                            </m:r>
                            <m:r>
                              <a:rPr lang="en-GB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en-GB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1+(</m:t>
                        </m:r>
                        <m:r>
                          <a:rPr lang="en-GB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𝑍</m:t>
                        </m:r>
                        <m:r>
                          <a:rPr lang="en-GB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GB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en-GB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𝐼</m:t>
                            </m:r>
                            <m:r>
                              <a:rPr lang="en-GB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GB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  <m:r>
                          <a:rPr lang="en-GB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𝑌</m:t>
                        </m:r>
                      </m:den>
                    </m:f>
                  </m:oMath>
                </a14:m>
                <a:endParaRPr lang="en-GB" sz="2800" dirty="0"/>
              </a:p>
            </p:txBody>
          </p:sp>
        </mc:Choice>
        <mc:Fallback xmlns="">
          <p:sp>
            <p:nvSpPr>
              <p:cNvPr id="153" name="Rectangle 152">
                <a:extLst>
                  <a:ext uri="{FF2B5EF4-FFF2-40B4-BE49-F238E27FC236}">
                    <a16:creationId xmlns:a16="http://schemas.microsoft.com/office/drawing/2014/main" id="{CB2393B8-837D-45E5-88B1-7A3A4869813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413" y="5675165"/>
                <a:ext cx="6040436" cy="1043234"/>
              </a:xfrm>
              <a:prstGeom prst="rect">
                <a:avLst/>
              </a:prstGeom>
              <a:blipFill>
                <a:blip r:embed="rId4"/>
                <a:stretch>
                  <a:fillRect l="-211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4" name="Rectangle 153">
            <a:extLst>
              <a:ext uri="{FF2B5EF4-FFF2-40B4-BE49-F238E27FC236}">
                <a16:creationId xmlns:a16="http://schemas.microsoft.com/office/drawing/2014/main" id="{E22F6CE9-612C-4373-A008-EEBBDD767528}"/>
              </a:ext>
            </a:extLst>
          </p:cNvPr>
          <p:cNvSpPr/>
          <p:nvPr/>
        </p:nvSpPr>
        <p:spPr>
          <a:xfrm>
            <a:off x="6355570" y="5940788"/>
            <a:ext cx="366158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400" dirty="0">
                <a:solidFill>
                  <a:srgbClr val="C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(substitute for Z</a:t>
            </a:r>
            <a:r>
              <a:rPr lang="en-GB" sz="2400" baseline="-25000" dirty="0">
                <a:solidFill>
                  <a:srgbClr val="C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I1 </a:t>
            </a:r>
            <a:r>
              <a:rPr lang="en-GB" sz="2400" dirty="0">
                <a:solidFill>
                  <a:srgbClr val="C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and solve)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147920382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B1BBAC-DEE1-4CF9-9521-6921611D2B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15" y="549483"/>
            <a:ext cx="10924085" cy="482745"/>
          </a:xfrm>
        </p:spPr>
        <p:txBody>
          <a:bodyPr>
            <a:noAutofit/>
          </a:bodyPr>
          <a:lstStyle/>
          <a:p>
            <a:r>
              <a:rPr lang="en-GB" dirty="0"/>
              <a:t>Characteristic Impedance Z</a:t>
            </a:r>
            <a:r>
              <a:rPr lang="en-GB" baseline="-25000" dirty="0"/>
              <a:t>0</a:t>
            </a:r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B3E60C3-BD4B-4D40-8872-62923BC970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446" y="2608912"/>
            <a:ext cx="11140247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5143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5143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5143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5143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5143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5143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5143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5143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5143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514350" algn="l"/>
              </a:tabLst>
            </a:pPr>
            <a:r>
              <a:rPr kumimoji="0" lang="en-GB" altLang="en-US" sz="28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When 2-port network is symmetric, the image impedances become equal and is defined as Characteristic Impedance</a:t>
            </a:r>
            <a:endParaRPr kumimoji="0" lang="en-GB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514350" algn="l"/>
              </a:tabLst>
            </a:pPr>
            <a:r>
              <a:rPr kumimoji="0" lang="en-GB" altLang="en-US" sz="28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Evaluated using </a:t>
            </a:r>
            <a:r>
              <a:rPr kumimoji="0" lang="en-GB" altLang="en-US" sz="2800" b="0" i="0" u="none" strike="noStrike" cap="none" normalizeH="0" baseline="0" dirty="0" err="1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ABCD</a:t>
            </a:r>
            <a:r>
              <a:rPr kumimoji="0" lang="en-GB" altLang="en-US" sz="28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or other  2 port parameters.</a:t>
            </a:r>
            <a:endParaRPr kumimoji="0" lang="en-GB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3B17ACFA-8F12-4DEE-9F2B-AE69A14F264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4772742"/>
              </p:ext>
            </p:extLst>
          </p:nvPr>
        </p:nvGraphicFramePr>
        <p:xfrm>
          <a:off x="7410450" y="3900656"/>
          <a:ext cx="3943350" cy="1390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0536" r:id="rId3" imgW="1218671" imgH="482391" progId="Equation.3">
                  <p:embed/>
                </p:oleObj>
              </mc:Choice>
              <mc:Fallback>
                <p:oleObj r:id="rId3" imgW="1218671" imgH="482391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10450" y="3900656"/>
                        <a:ext cx="3943350" cy="13906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3">
            <a:extLst>
              <a:ext uri="{FF2B5EF4-FFF2-40B4-BE49-F238E27FC236}">
                <a16:creationId xmlns:a16="http://schemas.microsoft.com/office/drawing/2014/main" id="{E62D6235-9979-4336-B984-CAD2D1E971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9715" y="3900656"/>
            <a:ext cx="7812992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5143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5143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5143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5143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5143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5143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5143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5143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5143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14350" algn="l"/>
              </a:tabLst>
            </a:pPr>
            <a:r>
              <a:rPr kumimoji="0" lang="en-GB" altLang="en-US" sz="28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ea typeface="Times New Roman" panose="02020603050405020304" pitchFamily="18" charset="0"/>
              </a:rPr>
              <a:t>At Port 1,  V</a:t>
            </a:r>
            <a:r>
              <a:rPr kumimoji="0" lang="en-GB" altLang="en-US" sz="2800" b="0" i="0" u="none" strike="noStrike" cap="none" normalizeH="0" baseline="-30000" dirty="0">
                <a:ln>
                  <a:noFill/>
                </a:ln>
                <a:solidFill>
                  <a:srgbClr val="002060"/>
                </a:solidFill>
                <a:effectLst/>
                <a:ea typeface="Times New Roman" panose="02020603050405020304" pitchFamily="18" charset="0"/>
              </a:rPr>
              <a:t>1 </a:t>
            </a:r>
            <a:r>
              <a:rPr kumimoji="0" lang="en-GB" altLang="en-US" sz="28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ea typeface="Times New Roman" panose="02020603050405020304" pitchFamily="18" charset="0"/>
              </a:rPr>
              <a:t>= Z</a:t>
            </a:r>
            <a:r>
              <a:rPr kumimoji="0" lang="en-GB" altLang="en-US" sz="2800" b="0" i="0" u="none" strike="noStrike" cap="none" normalizeH="0" baseline="-30000" dirty="0">
                <a:ln>
                  <a:noFill/>
                </a:ln>
                <a:solidFill>
                  <a:srgbClr val="002060"/>
                </a:solidFill>
                <a:effectLst/>
                <a:ea typeface="Times New Roman" panose="02020603050405020304" pitchFamily="18" charset="0"/>
              </a:rPr>
              <a:t>0 </a:t>
            </a:r>
            <a:r>
              <a:rPr kumimoji="0" lang="en-GB" altLang="en-US" sz="28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ea typeface="Times New Roman" panose="02020603050405020304" pitchFamily="18" charset="0"/>
              </a:rPr>
              <a:t>I</a:t>
            </a:r>
            <a:r>
              <a:rPr kumimoji="0" lang="en-GB" altLang="en-US" sz="2800" b="0" i="0" u="none" strike="noStrike" cap="none" normalizeH="0" baseline="-30000" dirty="0">
                <a:ln>
                  <a:noFill/>
                </a:ln>
                <a:solidFill>
                  <a:srgbClr val="002060"/>
                </a:solidFill>
                <a:effectLst/>
                <a:ea typeface="Times New Roman" panose="02020603050405020304" pitchFamily="18" charset="0"/>
              </a:rPr>
              <a:t>1</a:t>
            </a:r>
            <a:endParaRPr kumimoji="0" lang="en-GB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14350" algn="l"/>
              </a:tabLst>
            </a:pPr>
            <a:r>
              <a:rPr kumimoji="0" lang="en-GB" altLang="en-US" sz="28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ea typeface="Times New Roman" panose="02020603050405020304" pitchFamily="18" charset="0"/>
              </a:rPr>
              <a:t>At Port 2,  V</a:t>
            </a:r>
            <a:r>
              <a:rPr kumimoji="0" lang="en-GB" altLang="en-US" sz="2800" b="0" i="0" u="none" strike="noStrike" cap="none" normalizeH="0" baseline="-30000" dirty="0">
                <a:ln>
                  <a:noFill/>
                </a:ln>
                <a:solidFill>
                  <a:srgbClr val="002060"/>
                </a:solidFill>
                <a:effectLst/>
                <a:ea typeface="Times New Roman" panose="02020603050405020304" pitchFamily="18" charset="0"/>
              </a:rPr>
              <a:t>2 </a:t>
            </a:r>
            <a:r>
              <a:rPr kumimoji="0" lang="en-GB" altLang="en-US" sz="28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ea typeface="Times New Roman" panose="02020603050405020304" pitchFamily="18" charset="0"/>
              </a:rPr>
              <a:t>= Z</a:t>
            </a:r>
            <a:r>
              <a:rPr kumimoji="0" lang="en-GB" altLang="en-US" sz="2800" b="0" i="0" u="none" strike="noStrike" cap="none" normalizeH="0" baseline="-30000" dirty="0">
                <a:ln>
                  <a:noFill/>
                </a:ln>
                <a:solidFill>
                  <a:srgbClr val="002060"/>
                </a:solidFill>
                <a:effectLst/>
                <a:ea typeface="Times New Roman" panose="02020603050405020304" pitchFamily="18" charset="0"/>
              </a:rPr>
              <a:t>0 </a:t>
            </a:r>
            <a:r>
              <a:rPr kumimoji="0" lang="en-GB" altLang="en-US" sz="28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ea typeface="Times New Roman" panose="02020603050405020304" pitchFamily="18" charset="0"/>
              </a:rPr>
              <a:t>I</a:t>
            </a:r>
            <a:r>
              <a:rPr kumimoji="0" lang="en-GB" altLang="en-US" sz="2800" b="0" i="0" u="none" strike="noStrike" cap="none" normalizeH="0" baseline="-30000" dirty="0">
                <a:ln>
                  <a:noFill/>
                </a:ln>
                <a:solidFill>
                  <a:srgbClr val="002060"/>
                </a:solidFill>
                <a:effectLst/>
                <a:ea typeface="Times New Roman" panose="02020603050405020304" pitchFamily="18" charset="0"/>
              </a:rPr>
              <a:t>2</a:t>
            </a:r>
            <a:endParaRPr kumimoji="0" lang="en-GB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514350" algn="l"/>
              </a:tabLst>
            </a:pPr>
            <a:r>
              <a:rPr kumimoji="0" lang="en-GB" altLang="en-US" sz="28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ea typeface="Times New Roman" panose="02020603050405020304" pitchFamily="18" charset="0"/>
              </a:rPr>
              <a:t>Matrix equation can be expanded as</a:t>
            </a:r>
            <a:endParaRPr kumimoji="0" lang="en-GB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14350" algn="l"/>
              </a:tabLst>
            </a:pPr>
            <a:r>
              <a:rPr kumimoji="0" lang="en-GB" altLang="en-US" sz="28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ea typeface="Times New Roman" panose="02020603050405020304" pitchFamily="18" charset="0"/>
              </a:rPr>
              <a:t>V</a:t>
            </a:r>
            <a:r>
              <a:rPr kumimoji="0" lang="en-GB" altLang="en-US" sz="2800" b="0" i="0" u="none" strike="noStrike" cap="none" normalizeH="0" baseline="-30000" dirty="0">
                <a:ln>
                  <a:noFill/>
                </a:ln>
                <a:solidFill>
                  <a:srgbClr val="002060"/>
                </a:solidFill>
                <a:effectLst/>
                <a:ea typeface="Times New Roman" panose="02020603050405020304" pitchFamily="18" charset="0"/>
              </a:rPr>
              <a:t>1</a:t>
            </a:r>
            <a:r>
              <a:rPr kumimoji="0" lang="en-GB" altLang="en-US" sz="28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ea typeface="Times New Roman" panose="02020603050405020304" pitchFamily="18" charset="0"/>
              </a:rPr>
              <a:t> = A V</a:t>
            </a:r>
            <a:r>
              <a:rPr kumimoji="0" lang="en-GB" altLang="en-US" sz="2800" b="0" i="0" u="none" strike="noStrike" cap="none" normalizeH="0" baseline="-30000" dirty="0">
                <a:ln>
                  <a:noFill/>
                </a:ln>
                <a:solidFill>
                  <a:srgbClr val="002060"/>
                </a:solidFill>
                <a:effectLst/>
                <a:ea typeface="Times New Roman" panose="02020603050405020304" pitchFamily="18" charset="0"/>
              </a:rPr>
              <a:t>2</a:t>
            </a:r>
            <a:r>
              <a:rPr kumimoji="0" lang="en-GB" altLang="en-US" sz="28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ea typeface="Times New Roman" panose="02020603050405020304" pitchFamily="18" charset="0"/>
              </a:rPr>
              <a:t> + B I</a:t>
            </a:r>
            <a:r>
              <a:rPr kumimoji="0" lang="en-GB" altLang="en-US" sz="2800" b="0" i="0" u="none" strike="noStrike" cap="none" normalizeH="0" baseline="-30000" dirty="0">
                <a:ln>
                  <a:noFill/>
                </a:ln>
                <a:solidFill>
                  <a:srgbClr val="002060"/>
                </a:solidFill>
                <a:effectLst/>
                <a:ea typeface="Times New Roman" panose="02020603050405020304" pitchFamily="18" charset="0"/>
              </a:rPr>
              <a:t>2</a:t>
            </a:r>
            <a:r>
              <a:rPr kumimoji="0" lang="en-GB" altLang="en-US" sz="28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ea typeface="Times New Roman" panose="02020603050405020304" pitchFamily="18" charset="0"/>
              </a:rPr>
              <a:t> = A Z</a:t>
            </a:r>
            <a:r>
              <a:rPr kumimoji="0" lang="en-GB" altLang="en-US" sz="2800" b="0" i="0" u="none" strike="noStrike" cap="none" normalizeH="0" baseline="-30000" dirty="0">
                <a:ln>
                  <a:noFill/>
                </a:ln>
                <a:solidFill>
                  <a:srgbClr val="002060"/>
                </a:solidFill>
                <a:effectLst/>
                <a:ea typeface="Times New Roman" panose="02020603050405020304" pitchFamily="18" charset="0"/>
              </a:rPr>
              <a:t>0 </a:t>
            </a:r>
            <a:r>
              <a:rPr kumimoji="0" lang="en-GB" altLang="en-US" sz="28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ea typeface="Times New Roman" panose="02020603050405020304" pitchFamily="18" charset="0"/>
              </a:rPr>
              <a:t>I</a:t>
            </a:r>
            <a:r>
              <a:rPr kumimoji="0" lang="en-GB" altLang="en-US" sz="2800" b="0" i="0" u="none" strike="noStrike" cap="none" normalizeH="0" baseline="-30000" dirty="0">
                <a:ln>
                  <a:noFill/>
                </a:ln>
                <a:solidFill>
                  <a:srgbClr val="002060"/>
                </a:solidFill>
                <a:effectLst/>
                <a:ea typeface="Times New Roman" panose="02020603050405020304" pitchFamily="18" charset="0"/>
              </a:rPr>
              <a:t>2 </a:t>
            </a:r>
            <a:r>
              <a:rPr kumimoji="0" lang="en-GB" altLang="en-US" sz="28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ea typeface="Times New Roman" panose="02020603050405020304" pitchFamily="18" charset="0"/>
              </a:rPr>
              <a:t>+ B I</a:t>
            </a:r>
            <a:r>
              <a:rPr kumimoji="0" lang="en-GB" altLang="en-US" sz="2800" b="0" i="0" u="none" strike="noStrike" cap="none" normalizeH="0" baseline="-30000" dirty="0">
                <a:ln>
                  <a:noFill/>
                </a:ln>
                <a:solidFill>
                  <a:srgbClr val="002060"/>
                </a:solidFill>
                <a:effectLst/>
                <a:ea typeface="Times New Roman" panose="02020603050405020304" pitchFamily="18" charset="0"/>
              </a:rPr>
              <a:t>2</a:t>
            </a:r>
            <a:r>
              <a:rPr kumimoji="0" lang="en-GB" altLang="en-US" sz="28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ea typeface="Times New Roman" panose="02020603050405020304" pitchFamily="18" charset="0"/>
              </a:rPr>
              <a:t> = (A Z</a:t>
            </a:r>
            <a:r>
              <a:rPr kumimoji="0" lang="en-GB" altLang="en-US" sz="2800" b="0" i="0" u="none" strike="noStrike" cap="none" normalizeH="0" baseline="-30000" dirty="0">
                <a:ln>
                  <a:noFill/>
                </a:ln>
                <a:solidFill>
                  <a:srgbClr val="002060"/>
                </a:solidFill>
                <a:effectLst/>
                <a:ea typeface="Times New Roman" panose="02020603050405020304" pitchFamily="18" charset="0"/>
              </a:rPr>
              <a:t>0 </a:t>
            </a:r>
            <a:r>
              <a:rPr kumimoji="0" lang="en-GB" altLang="en-US" sz="28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ea typeface="Times New Roman" panose="02020603050405020304" pitchFamily="18" charset="0"/>
              </a:rPr>
              <a:t>+ B) I</a:t>
            </a:r>
            <a:r>
              <a:rPr kumimoji="0" lang="en-GB" altLang="en-US" sz="2800" b="0" i="0" u="none" strike="noStrike" cap="none" normalizeH="0" baseline="-30000" dirty="0">
                <a:ln>
                  <a:noFill/>
                </a:ln>
                <a:solidFill>
                  <a:srgbClr val="002060"/>
                </a:solidFill>
                <a:effectLst/>
                <a:ea typeface="Times New Roman" panose="02020603050405020304" pitchFamily="18" charset="0"/>
              </a:rPr>
              <a:t>2</a:t>
            </a:r>
            <a:endParaRPr kumimoji="0" lang="en-GB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14350" algn="l"/>
              </a:tabLst>
            </a:pPr>
            <a:r>
              <a:rPr kumimoji="0" lang="en-GB" altLang="en-US" sz="28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ea typeface="Times New Roman" panose="02020603050405020304" pitchFamily="18" charset="0"/>
              </a:rPr>
              <a:t>I</a:t>
            </a:r>
            <a:r>
              <a:rPr kumimoji="0" lang="en-GB" altLang="en-US" sz="2800" b="0" i="0" u="none" strike="noStrike" cap="none" normalizeH="0" baseline="-30000" dirty="0">
                <a:ln>
                  <a:noFill/>
                </a:ln>
                <a:solidFill>
                  <a:srgbClr val="002060"/>
                </a:solidFill>
                <a:effectLst/>
                <a:ea typeface="Times New Roman" panose="02020603050405020304" pitchFamily="18" charset="0"/>
              </a:rPr>
              <a:t>1</a:t>
            </a:r>
            <a:r>
              <a:rPr kumimoji="0" lang="en-GB" altLang="en-US" sz="28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ea typeface="Times New Roman" panose="02020603050405020304" pitchFamily="18" charset="0"/>
              </a:rPr>
              <a:t> = C V</a:t>
            </a:r>
            <a:r>
              <a:rPr kumimoji="0" lang="en-GB" altLang="en-US" sz="2800" b="0" i="0" u="none" strike="noStrike" cap="none" normalizeH="0" baseline="-30000" dirty="0">
                <a:ln>
                  <a:noFill/>
                </a:ln>
                <a:solidFill>
                  <a:srgbClr val="002060"/>
                </a:solidFill>
                <a:effectLst/>
                <a:ea typeface="Times New Roman" panose="02020603050405020304" pitchFamily="18" charset="0"/>
              </a:rPr>
              <a:t>2</a:t>
            </a:r>
            <a:r>
              <a:rPr kumimoji="0" lang="en-GB" altLang="en-US" sz="28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ea typeface="Times New Roman" panose="02020603050405020304" pitchFamily="18" charset="0"/>
              </a:rPr>
              <a:t> + D I</a:t>
            </a:r>
            <a:r>
              <a:rPr kumimoji="0" lang="en-GB" altLang="en-US" sz="2800" b="0" i="0" u="none" strike="noStrike" cap="none" normalizeH="0" baseline="-30000" dirty="0">
                <a:ln>
                  <a:noFill/>
                </a:ln>
                <a:solidFill>
                  <a:srgbClr val="002060"/>
                </a:solidFill>
                <a:effectLst/>
                <a:ea typeface="Times New Roman" panose="02020603050405020304" pitchFamily="18" charset="0"/>
              </a:rPr>
              <a:t>2</a:t>
            </a:r>
            <a:r>
              <a:rPr kumimoji="0" lang="en-GB" altLang="en-US" sz="28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ea typeface="Times New Roman" panose="02020603050405020304" pitchFamily="18" charset="0"/>
              </a:rPr>
              <a:t> = C Z</a:t>
            </a:r>
            <a:r>
              <a:rPr kumimoji="0" lang="en-GB" altLang="en-US" sz="2800" b="0" i="0" u="none" strike="noStrike" cap="none" normalizeH="0" baseline="-30000" dirty="0">
                <a:ln>
                  <a:noFill/>
                </a:ln>
                <a:solidFill>
                  <a:srgbClr val="002060"/>
                </a:solidFill>
                <a:effectLst/>
                <a:ea typeface="Times New Roman" panose="02020603050405020304" pitchFamily="18" charset="0"/>
              </a:rPr>
              <a:t>0 </a:t>
            </a:r>
            <a:r>
              <a:rPr kumimoji="0" lang="en-GB" altLang="en-US" sz="28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ea typeface="Times New Roman" panose="02020603050405020304" pitchFamily="18" charset="0"/>
              </a:rPr>
              <a:t>I</a:t>
            </a:r>
            <a:r>
              <a:rPr kumimoji="0" lang="en-GB" altLang="en-US" sz="2800" b="0" i="0" u="none" strike="noStrike" cap="none" normalizeH="0" baseline="-30000" dirty="0">
                <a:ln>
                  <a:noFill/>
                </a:ln>
                <a:solidFill>
                  <a:srgbClr val="002060"/>
                </a:solidFill>
                <a:effectLst/>
                <a:ea typeface="Times New Roman" panose="02020603050405020304" pitchFamily="18" charset="0"/>
              </a:rPr>
              <a:t>2</a:t>
            </a:r>
            <a:r>
              <a:rPr kumimoji="0" lang="en-GB" altLang="en-US" sz="28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ea typeface="Times New Roman" panose="02020603050405020304" pitchFamily="18" charset="0"/>
              </a:rPr>
              <a:t> + D I</a:t>
            </a:r>
            <a:r>
              <a:rPr kumimoji="0" lang="en-GB" altLang="en-US" sz="2800" b="0" i="0" u="none" strike="noStrike" cap="none" normalizeH="0" baseline="-30000" dirty="0">
                <a:ln>
                  <a:noFill/>
                </a:ln>
                <a:solidFill>
                  <a:srgbClr val="002060"/>
                </a:solidFill>
                <a:effectLst/>
                <a:ea typeface="Times New Roman" panose="02020603050405020304" pitchFamily="18" charset="0"/>
              </a:rPr>
              <a:t>2</a:t>
            </a:r>
            <a:r>
              <a:rPr kumimoji="0" lang="en-GB" altLang="en-US" sz="28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ea typeface="Times New Roman" panose="02020603050405020304" pitchFamily="18" charset="0"/>
              </a:rPr>
              <a:t> = (C Z</a:t>
            </a:r>
            <a:r>
              <a:rPr kumimoji="0" lang="en-GB" altLang="en-US" sz="2800" b="0" i="0" u="none" strike="noStrike" cap="none" normalizeH="0" baseline="-30000" dirty="0">
                <a:ln>
                  <a:noFill/>
                </a:ln>
                <a:solidFill>
                  <a:srgbClr val="002060"/>
                </a:solidFill>
                <a:effectLst/>
                <a:ea typeface="Times New Roman" panose="02020603050405020304" pitchFamily="18" charset="0"/>
              </a:rPr>
              <a:t>0 </a:t>
            </a:r>
            <a:r>
              <a:rPr kumimoji="0" lang="en-GB" altLang="en-US" sz="28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ea typeface="Times New Roman" panose="02020603050405020304" pitchFamily="18" charset="0"/>
              </a:rPr>
              <a:t>+ D) I</a:t>
            </a:r>
            <a:r>
              <a:rPr kumimoji="0" lang="en-GB" altLang="en-US" sz="2800" b="0" i="0" u="none" strike="noStrike" cap="none" normalizeH="0" baseline="-30000" dirty="0">
                <a:ln>
                  <a:noFill/>
                </a:ln>
                <a:solidFill>
                  <a:srgbClr val="002060"/>
                </a:solidFill>
                <a:effectLst/>
                <a:ea typeface="Times New Roman" panose="02020603050405020304" pitchFamily="18" charset="0"/>
              </a:rPr>
              <a:t>2</a:t>
            </a:r>
            <a:endParaRPr kumimoji="0" lang="en-GB" altLang="en-US" sz="2800" b="0" i="0" u="none" strike="noStrike" cap="none" normalizeH="0" baseline="0" dirty="0">
              <a:ln>
                <a:noFill/>
              </a:ln>
              <a:solidFill>
                <a:srgbClr val="00206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14350" algn="l"/>
              </a:tabLst>
            </a:pPr>
            <a:r>
              <a:rPr kumimoji="0" lang="en-GB" altLang="en-US" sz="28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</a:t>
            </a:r>
            <a:r>
              <a:rPr kumimoji="0" lang="en-GB" altLang="en-US" sz="28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ea typeface="Times New Roman" panose="02020603050405020304" pitchFamily="18" charset="0"/>
              </a:rPr>
              <a:t>	</a:t>
            </a:r>
            <a:r>
              <a:rPr kumimoji="0" lang="en-GB" altLang="en-US" sz="28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V</a:t>
            </a:r>
            <a:r>
              <a:rPr kumimoji="0" lang="en-GB" altLang="en-US" sz="2800" b="0" i="0" u="none" strike="noStrike" cap="none" normalizeH="0" baseline="-30000" dirty="0">
                <a:ln>
                  <a:noFill/>
                </a:ln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1 </a:t>
            </a:r>
            <a:r>
              <a:rPr kumimoji="0" lang="en-GB" altLang="en-US" sz="28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= Z</a:t>
            </a:r>
            <a:r>
              <a:rPr kumimoji="0" lang="en-GB" altLang="en-US" sz="2800" b="0" i="0" u="none" strike="noStrike" cap="none" normalizeH="0" baseline="-30000" dirty="0">
                <a:ln>
                  <a:noFill/>
                </a:ln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0 </a:t>
            </a:r>
            <a:r>
              <a:rPr kumimoji="0" lang="en-GB" altLang="en-US" sz="28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kumimoji="0" lang="en-GB" altLang="en-US" sz="2800" b="0" i="0" u="none" strike="noStrike" cap="none" normalizeH="0" baseline="-30000" dirty="0">
                <a:ln>
                  <a:noFill/>
                </a:ln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1 </a:t>
            </a:r>
            <a:r>
              <a:rPr kumimoji="0" lang="en-GB" altLang="en-US" sz="28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kumimoji="0" lang="en-GB" altLang="en-US" sz="28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ea typeface="Times New Roman" panose="02020603050405020304" pitchFamily="18" charset="0"/>
              </a:rPr>
              <a:t>  </a:t>
            </a:r>
            <a:r>
              <a:rPr kumimoji="0" lang="en-GB" altLang="en-US" sz="28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(A Z</a:t>
            </a:r>
            <a:r>
              <a:rPr kumimoji="0" lang="en-GB" altLang="en-US" sz="2800" b="0" i="0" u="none" strike="noStrike" cap="none" normalizeH="0" baseline="-30000" dirty="0">
                <a:ln>
                  <a:noFill/>
                </a:ln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0 </a:t>
            </a:r>
            <a:r>
              <a:rPr kumimoji="0" lang="en-GB" altLang="en-US" sz="28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+ B) I</a:t>
            </a:r>
            <a:r>
              <a:rPr kumimoji="0" lang="en-GB" altLang="en-US" sz="2800" b="0" i="0" u="none" strike="noStrike" cap="none" normalizeH="0" baseline="-30000" dirty="0">
                <a:ln>
                  <a:noFill/>
                </a:ln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kumimoji="0" lang="en-GB" altLang="en-US" sz="28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= Z</a:t>
            </a:r>
            <a:r>
              <a:rPr kumimoji="0" lang="en-GB" altLang="en-US" sz="2800" b="0" i="0" u="none" strike="noStrike" cap="none" normalizeH="0" baseline="-30000" dirty="0">
                <a:ln>
                  <a:noFill/>
                </a:ln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0 </a:t>
            </a:r>
            <a:r>
              <a:rPr kumimoji="0" lang="en-GB" altLang="en-US" sz="28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(C Z</a:t>
            </a:r>
            <a:r>
              <a:rPr kumimoji="0" lang="en-GB" altLang="en-US" sz="2800" b="0" i="0" u="none" strike="noStrike" cap="none" normalizeH="0" baseline="-30000" dirty="0">
                <a:ln>
                  <a:noFill/>
                </a:ln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0 </a:t>
            </a:r>
            <a:r>
              <a:rPr kumimoji="0" lang="en-GB" altLang="en-US" sz="28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+ D) I</a:t>
            </a:r>
            <a:r>
              <a:rPr kumimoji="0" lang="en-GB" altLang="en-US" sz="2800" b="0" i="0" u="none" strike="noStrike" cap="none" normalizeH="0" baseline="-30000" dirty="0">
                <a:ln>
                  <a:noFill/>
                </a:ln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kumimoji="0" lang="en-GB" altLang="en-US" sz="28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90B77ACD-BC3F-406C-8712-883429049419}"/>
              </a:ext>
            </a:extLst>
          </p:cNvPr>
          <p:cNvGrpSpPr>
            <a:grpSpLocks/>
          </p:cNvGrpSpPr>
          <p:nvPr/>
        </p:nvGrpSpPr>
        <p:grpSpPr bwMode="auto">
          <a:xfrm>
            <a:off x="1338070" y="585581"/>
            <a:ext cx="8792845" cy="2004060"/>
            <a:chOff x="1581" y="1678"/>
            <a:chExt cx="13847" cy="3156"/>
          </a:xfrm>
        </p:grpSpPr>
        <p:sp>
          <p:nvSpPr>
            <p:cNvPr id="7" name="Text Box 3493">
              <a:extLst>
                <a:ext uri="{FF2B5EF4-FFF2-40B4-BE49-F238E27FC236}">
                  <a16:creationId xmlns:a16="http://schemas.microsoft.com/office/drawing/2014/main" id="{44BFA97E-A6FC-466C-9038-4C580FDE7C4E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7254" y="2353"/>
              <a:ext cx="2810" cy="2481"/>
            </a:xfrm>
            <a:prstGeom prst="rect">
              <a:avLst/>
            </a:prstGeom>
            <a:solidFill>
              <a:srgbClr val="FFFFFF"/>
            </a:solidFill>
            <a:ln w="38100">
              <a:solidFill>
                <a:srgbClr val="C00000"/>
              </a:solidFill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marL="0" marR="0" algn="ctr">
                <a:spcBef>
                  <a:spcPts val="1200"/>
                </a:spcBef>
                <a:spcAft>
                  <a:spcPts val="0"/>
                </a:spcAft>
              </a:pPr>
              <a:r>
                <a:rPr lang="en-GB" sz="320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Two-Port</a:t>
              </a:r>
              <a:endParaRPr lang="en-GB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  <a:p>
              <a:pPr marL="0" marR="0" algn="ctr">
                <a:spcBef>
                  <a:spcPts val="1200"/>
                </a:spcBef>
                <a:spcAft>
                  <a:spcPts val="0"/>
                </a:spcAft>
              </a:pPr>
              <a:r>
                <a:rPr lang="en-GB" sz="320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Network</a:t>
              </a:r>
              <a:endParaRPr lang="en-GB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cxnSp>
          <p:nvCxnSpPr>
            <p:cNvPr id="8" name="Line 3494">
              <a:extLst>
                <a:ext uri="{FF2B5EF4-FFF2-40B4-BE49-F238E27FC236}">
                  <a16:creationId xmlns:a16="http://schemas.microsoft.com/office/drawing/2014/main" id="{A6785A2D-908E-4BAC-BDE9-F1B595730322}"/>
                </a:ext>
              </a:extLst>
            </p:cNvPr>
            <p:cNvCxnSpPr>
              <a:cxnSpLocks noChangeAspect="1" noChangeShapeType="1"/>
            </p:cNvCxnSpPr>
            <p:nvPr/>
          </p:nvCxnSpPr>
          <p:spPr bwMode="auto">
            <a:xfrm>
              <a:off x="4154" y="2677"/>
              <a:ext cx="1259" cy="0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 type="oval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" name="Line 3495">
              <a:extLst>
                <a:ext uri="{FF2B5EF4-FFF2-40B4-BE49-F238E27FC236}">
                  <a16:creationId xmlns:a16="http://schemas.microsoft.com/office/drawing/2014/main" id="{977E3B17-DF0E-4D27-8EC3-551485E8B8FE}"/>
                </a:ext>
              </a:extLst>
            </p:cNvPr>
            <p:cNvCxnSpPr>
              <a:cxnSpLocks noChangeAspect="1" noChangeShapeType="1"/>
            </p:cNvCxnSpPr>
            <p:nvPr/>
          </p:nvCxnSpPr>
          <p:spPr bwMode="auto">
            <a:xfrm>
              <a:off x="5413" y="2677"/>
              <a:ext cx="1841" cy="0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" name="Line 3496">
              <a:extLst>
                <a:ext uri="{FF2B5EF4-FFF2-40B4-BE49-F238E27FC236}">
                  <a16:creationId xmlns:a16="http://schemas.microsoft.com/office/drawing/2014/main" id="{52013BF7-C736-4ACD-95E2-86FAE8010E60}"/>
                </a:ext>
              </a:extLst>
            </p:cNvPr>
            <p:cNvCxnSpPr>
              <a:cxnSpLocks noChangeAspect="1" noChangeShapeType="1"/>
            </p:cNvCxnSpPr>
            <p:nvPr/>
          </p:nvCxnSpPr>
          <p:spPr bwMode="auto">
            <a:xfrm flipH="1">
              <a:off x="11904" y="2677"/>
              <a:ext cx="1260" cy="0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 type="oval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" name="Line 3497">
              <a:extLst>
                <a:ext uri="{FF2B5EF4-FFF2-40B4-BE49-F238E27FC236}">
                  <a16:creationId xmlns:a16="http://schemas.microsoft.com/office/drawing/2014/main" id="{50F9B71B-6395-41D3-8FF8-11DC7682E533}"/>
                </a:ext>
              </a:extLst>
            </p:cNvPr>
            <p:cNvCxnSpPr>
              <a:cxnSpLocks noChangeAspect="1" noChangeShapeType="1"/>
            </p:cNvCxnSpPr>
            <p:nvPr/>
          </p:nvCxnSpPr>
          <p:spPr bwMode="auto">
            <a:xfrm flipH="1">
              <a:off x="10064" y="2677"/>
              <a:ext cx="1840" cy="0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 type="arrow" w="med" len="med"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" name="Line 3498">
              <a:extLst>
                <a:ext uri="{FF2B5EF4-FFF2-40B4-BE49-F238E27FC236}">
                  <a16:creationId xmlns:a16="http://schemas.microsoft.com/office/drawing/2014/main" id="{A2DEDBF1-B660-4BF2-9C70-974ED4638533}"/>
                </a:ext>
              </a:extLst>
            </p:cNvPr>
            <p:cNvCxnSpPr>
              <a:cxnSpLocks noChangeAspect="1" noChangeShapeType="1"/>
            </p:cNvCxnSpPr>
            <p:nvPr/>
          </p:nvCxnSpPr>
          <p:spPr bwMode="auto">
            <a:xfrm>
              <a:off x="4154" y="4533"/>
              <a:ext cx="3100" cy="0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 type="oval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3" name="Line 3499">
              <a:extLst>
                <a:ext uri="{FF2B5EF4-FFF2-40B4-BE49-F238E27FC236}">
                  <a16:creationId xmlns:a16="http://schemas.microsoft.com/office/drawing/2014/main" id="{249A6AEE-4AB7-4B5D-AE9E-32E65A0E3BFF}"/>
                </a:ext>
              </a:extLst>
            </p:cNvPr>
            <p:cNvCxnSpPr>
              <a:cxnSpLocks noChangeAspect="1" noChangeShapeType="1"/>
            </p:cNvCxnSpPr>
            <p:nvPr/>
          </p:nvCxnSpPr>
          <p:spPr bwMode="auto">
            <a:xfrm>
              <a:off x="10064" y="4533"/>
              <a:ext cx="3100" cy="0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4" name="Text Box 3500">
              <a:extLst>
                <a:ext uri="{FF2B5EF4-FFF2-40B4-BE49-F238E27FC236}">
                  <a16:creationId xmlns:a16="http://schemas.microsoft.com/office/drawing/2014/main" id="{D9ADB23C-3BDA-4105-93D9-44E8D9FE471C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5123" y="1776"/>
              <a:ext cx="611" cy="9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18000" tIns="10800" rIns="18000" bIns="10800" anchor="t" anchorCtr="0" upright="1">
              <a:noAutofit/>
            </a:bodyPr>
            <a:lstStyle/>
            <a:p>
              <a:pPr marL="0" marR="0">
                <a:spcBef>
                  <a:spcPts val="0"/>
                </a:spcBef>
                <a:spcAft>
                  <a:spcPts val="0"/>
                </a:spcAft>
              </a:pPr>
              <a:r>
                <a:rPr lang="en-GB" sz="3000">
                  <a:solidFill>
                    <a:srgbClr val="00206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I</a:t>
              </a:r>
              <a:r>
                <a:rPr lang="en-GB" sz="3000" baseline="-25000">
                  <a:solidFill>
                    <a:srgbClr val="00206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1</a:t>
              </a:r>
              <a:endParaRPr lang="en-GB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15" name="Text Box 3501">
              <a:extLst>
                <a:ext uri="{FF2B5EF4-FFF2-40B4-BE49-F238E27FC236}">
                  <a16:creationId xmlns:a16="http://schemas.microsoft.com/office/drawing/2014/main" id="{6ACC0319-5AAB-40D5-A1C3-76DF0F562086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11779" y="1678"/>
              <a:ext cx="611" cy="9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18000" tIns="10800" rIns="18000" bIns="10800" anchor="t" anchorCtr="0" upright="1">
              <a:noAutofit/>
            </a:bodyPr>
            <a:lstStyle/>
            <a:p>
              <a:pPr marL="0" marR="0">
                <a:spcBef>
                  <a:spcPts val="0"/>
                </a:spcBef>
                <a:spcAft>
                  <a:spcPts val="0"/>
                </a:spcAft>
              </a:pPr>
              <a:r>
                <a:rPr lang="en-GB" sz="3000">
                  <a:solidFill>
                    <a:srgbClr val="00206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I</a:t>
              </a:r>
              <a:r>
                <a:rPr lang="en-GB" sz="3000" baseline="-25000">
                  <a:solidFill>
                    <a:srgbClr val="00206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2</a:t>
              </a:r>
              <a:endParaRPr lang="en-GB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16" name="Text Box 3502">
              <a:extLst>
                <a:ext uri="{FF2B5EF4-FFF2-40B4-BE49-F238E27FC236}">
                  <a16:creationId xmlns:a16="http://schemas.microsoft.com/office/drawing/2014/main" id="{FC05B346-91DF-4C16-AF39-03FF9FD56639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5974" y="2820"/>
              <a:ext cx="826" cy="9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18000" tIns="10800" rIns="18000" bIns="10800" anchor="t" anchorCtr="0" upright="1">
              <a:noAutofit/>
            </a:bodyPr>
            <a:lstStyle/>
            <a:p>
              <a:pPr marL="0" marR="0">
                <a:spcBef>
                  <a:spcPts val="0"/>
                </a:spcBef>
                <a:spcAft>
                  <a:spcPts val="0"/>
                </a:spcAft>
              </a:pPr>
              <a:r>
                <a:rPr lang="en-GB" sz="3000">
                  <a:solidFill>
                    <a:srgbClr val="00206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V</a:t>
              </a:r>
              <a:r>
                <a:rPr lang="en-GB" sz="3000" baseline="-25000">
                  <a:solidFill>
                    <a:srgbClr val="00206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1</a:t>
              </a:r>
              <a:endParaRPr lang="en-GB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cxnSp>
          <p:nvCxnSpPr>
            <p:cNvPr id="17" name="Line 3503">
              <a:extLst>
                <a:ext uri="{FF2B5EF4-FFF2-40B4-BE49-F238E27FC236}">
                  <a16:creationId xmlns:a16="http://schemas.microsoft.com/office/drawing/2014/main" id="{615667BD-8EEE-40FF-A9A6-68BC4375C1FF}"/>
                </a:ext>
              </a:extLst>
            </p:cNvPr>
            <p:cNvCxnSpPr>
              <a:cxnSpLocks noChangeAspect="1" noChangeShapeType="1"/>
            </p:cNvCxnSpPr>
            <p:nvPr/>
          </p:nvCxnSpPr>
          <p:spPr bwMode="auto">
            <a:xfrm>
              <a:off x="6868" y="2940"/>
              <a:ext cx="0" cy="1352"/>
            </a:xfrm>
            <a:prstGeom prst="line">
              <a:avLst/>
            </a:prstGeom>
            <a:noFill/>
            <a:ln w="38100">
              <a:solidFill>
                <a:srgbClr val="002060"/>
              </a:solidFill>
              <a:round/>
              <a:headEnd type="arrow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8" name="Text Box 3504">
              <a:extLst>
                <a:ext uri="{FF2B5EF4-FFF2-40B4-BE49-F238E27FC236}">
                  <a16:creationId xmlns:a16="http://schemas.microsoft.com/office/drawing/2014/main" id="{0CC873BD-EFC0-4014-9C70-8F634E74B94F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10732" y="2801"/>
              <a:ext cx="866" cy="9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18000" tIns="10800" rIns="18000" bIns="10800" anchor="t" anchorCtr="0" upright="1">
              <a:noAutofit/>
            </a:bodyPr>
            <a:lstStyle/>
            <a:p>
              <a:pPr marL="0" marR="0">
                <a:spcBef>
                  <a:spcPts val="0"/>
                </a:spcBef>
                <a:spcAft>
                  <a:spcPts val="0"/>
                </a:spcAft>
              </a:pPr>
              <a:r>
                <a:rPr lang="en-GB" sz="3000">
                  <a:solidFill>
                    <a:srgbClr val="00206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V</a:t>
              </a:r>
              <a:r>
                <a:rPr lang="en-GB" sz="3000" baseline="-25000">
                  <a:solidFill>
                    <a:srgbClr val="00206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2</a:t>
              </a:r>
              <a:endParaRPr lang="en-GB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cxnSp>
          <p:nvCxnSpPr>
            <p:cNvPr id="19" name="Line 3505">
              <a:extLst>
                <a:ext uri="{FF2B5EF4-FFF2-40B4-BE49-F238E27FC236}">
                  <a16:creationId xmlns:a16="http://schemas.microsoft.com/office/drawing/2014/main" id="{2E084CB7-AA9F-45AC-BBCB-4671833A1B5B}"/>
                </a:ext>
              </a:extLst>
            </p:cNvPr>
            <p:cNvCxnSpPr>
              <a:cxnSpLocks noChangeAspect="1" noChangeShapeType="1"/>
            </p:cNvCxnSpPr>
            <p:nvPr/>
          </p:nvCxnSpPr>
          <p:spPr bwMode="auto">
            <a:xfrm>
              <a:off x="10554" y="2940"/>
              <a:ext cx="0" cy="1352"/>
            </a:xfrm>
            <a:prstGeom prst="line">
              <a:avLst/>
            </a:prstGeom>
            <a:noFill/>
            <a:ln w="38100">
              <a:solidFill>
                <a:srgbClr val="002060"/>
              </a:solidFill>
              <a:round/>
              <a:headEnd type="arrow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0" name="Text Box 3506">
              <a:extLst>
                <a:ext uri="{FF2B5EF4-FFF2-40B4-BE49-F238E27FC236}">
                  <a16:creationId xmlns:a16="http://schemas.microsoft.com/office/drawing/2014/main" id="{F03321DB-BA00-45C8-9BF7-CF46F703DF2F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4285" y="3238"/>
              <a:ext cx="1889" cy="9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18000" tIns="10800" rIns="18000" bIns="10800" anchor="t" anchorCtr="0" upright="1">
              <a:noAutofit/>
            </a:bodyPr>
            <a:lstStyle/>
            <a:p>
              <a:pPr marL="0" marR="0">
                <a:spcBef>
                  <a:spcPts val="0"/>
                </a:spcBef>
                <a:spcAft>
                  <a:spcPts val="0"/>
                </a:spcAft>
              </a:pPr>
              <a:r>
                <a:rPr lang="en-GB" sz="2600" i="1">
                  <a:solidFill>
                    <a:srgbClr val="00206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Port 1</a:t>
              </a:r>
              <a:endParaRPr lang="en-GB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21" name="Text Box 3507">
              <a:extLst>
                <a:ext uri="{FF2B5EF4-FFF2-40B4-BE49-F238E27FC236}">
                  <a16:creationId xmlns:a16="http://schemas.microsoft.com/office/drawing/2014/main" id="{74F77633-5A2D-4229-855F-0E7890CA7438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11583" y="3219"/>
              <a:ext cx="1768" cy="9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18000" tIns="10800" rIns="18000" bIns="10800" anchor="t" anchorCtr="0" upright="1">
              <a:noAutofit/>
            </a:bodyPr>
            <a:lstStyle/>
            <a:p>
              <a:pPr marL="0" marR="0">
                <a:spcBef>
                  <a:spcPts val="0"/>
                </a:spcBef>
                <a:spcAft>
                  <a:spcPts val="0"/>
                </a:spcAft>
              </a:pPr>
              <a:r>
                <a:rPr lang="en-GB" sz="2600" b="1" i="1">
                  <a:solidFill>
                    <a:srgbClr val="002060"/>
                  </a:solidFill>
                  <a:effectLst/>
                  <a:latin typeface="Times New Roman" panose="02020603050405020304" pitchFamily="18" charset="0"/>
                </a:rPr>
                <a:t>Port 2</a:t>
              </a:r>
              <a:endParaRPr lang="en-GB" sz="1200" b="1" i="1">
                <a:effectLst/>
                <a:latin typeface="Times New Roman" panose="02020603050405020304" pitchFamily="18" charset="0"/>
              </a:endParaRPr>
            </a:p>
          </p:txBody>
        </p:sp>
        <p:sp>
          <p:nvSpPr>
            <p:cNvPr id="22" name="Text Box 3508">
              <a:extLst>
                <a:ext uri="{FF2B5EF4-FFF2-40B4-BE49-F238E27FC236}">
                  <a16:creationId xmlns:a16="http://schemas.microsoft.com/office/drawing/2014/main" id="{02D38FBE-4295-4D0B-8098-681FE7F41649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13628" y="3173"/>
              <a:ext cx="1800" cy="929"/>
            </a:xfrm>
            <a:prstGeom prst="rect">
              <a:avLst/>
            </a:prstGeom>
            <a:solidFill>
              <a:srgbClr val="FFFFFF"/>
            </a:solidFill>
            <a:ln w="38100">
              <a:solidFill>
                <a:srgbClr val="C00000"/>
              </a:solidFill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marL="0" marR="0" algn="ctr">
                <a:spcBef>
                  <a:spcPts val="0"/>
                </a:spcBef>
                <a:spcAft>
                  <a:spcPts val="0"/>
                </a:spcAft>
              </a:pPr>
              <a:r>
                <a:rPr lang="en-GB" sz="340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Z</a:t>
              </a:r>
              <a:r>
                <a:rPr lang="en-GB" sz="3400" baseline="-2500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0</a:t>
              </a:r>
              <a:endParaRPr lang="en-GB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  <a:p>
              <a:pPr marL="0" marR="0" algn="ctr">
                <a:spcBef>
                  <a:spcPts val="0"/>
                </a:spcBef>
                <a:spcAft>
                  <a:spcPts val="0"/>
                </a:spcAft>
              </a:pPr>
              <a:r>
                <a:rPr lang="en-GB" sz="340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 </a:t>
              </a:r>
              <a:endParaRPr lang="en-GB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23" name="Freeform 3509">
              <a:extLst>
                <a:ext uri="{FF2B5EF4-FFF2-40B4-BE49-F238E27FC236}">
                  <a16:creationId xmlns:a16="http://schemas.microsoft.com/office/drawing/2014/main" id="{491705F9-4635-444F-A433-0BA5048044AE}"/>
                </a:ext>
              </a:extLst>
            </p:cNvPr>
            <p:cNvSpPr>
              <a:spLocks/>
            </p:cNvSpPr>
            <p:nvPr/>
          </p:nvSpPr>
          <p:spPr bwMode="auto">
            <a:xfrm>
              <a:off x="13502" y="2656"/>
              <a:ext cx="935" cy="486"/>
            </a:xfrm>
            <a:custGeom>
              <a:avLst/>
              <a:gdLst>
                <a:gd name="T0" fmla="*/ 0 w 935"/>
                <a:gd name="T1" fmla="*/ 0 h 486"/>
                <a:gd name="T2" fmla="*/ 917 w 935"/>
                <a:gd name="T3" fmla="*/ 0 h 486"/>
                <a:gd name="T4" fmla="*/ 935 w 935"/>
                <a:gd name="T5" fmla="*/ 486 h 4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35" h="486">
                  <a:moveTo>
                    <a:pt x="0" y="0"/>
                  </a:moveTo>
                  <a:lnTo>
                    <a:pt x="917" y="0"/>
                  </a:lnTo>
                  <a:lnTo>
                    <a:pt x="935" y="486"/>
                  </a:lnTo>
                </a:path>
              </a:pathLst>
            </a:custGeom>
            <a:noFill/>
            <a:ln w="28575">
              <a:solidFill>
                <a:srgbClr val="C00000"/>
              </a:solidFill>
              <a:prstDash val="dash"/>
              <a:round/>
              <a:headEnd type="stealth" w="lg" len="lg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GB"/>
            </a:p>
          </p:txBody>
        </p:sp>
        <p:sp>
          <p:nvSpPr>
            <p:cNvPr id="24" name="Freeform 3510">
              <a:extLst>
                <a:ext uri="{FF2B5EF4-FFF2-40B4-BE49-F238E27FC236}">
                  <a16:creationId xmlns:a16="http://schemas.microsoft.com/office/drawing/2014/main" id="{A7C3CC57-C4DD-4DF0-BA0C-4262A3F8A5FE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13536" y="4121"/>
              <a:ext cx="935" cy="386"/>
            </a:xfrm>
            <a:custGeom>
              <a:avLst/>
              <a:gdLst>
                <a:gd name="T0" fmla="*/ 0 w 935"/>
                <a:gd name="T1" fmla="*/ 0 h 486"/>
                <a:gd name="T2" fmla="*/ 917 w 935"/>
                <a:gd name="T3" fmla="*/ 0 h 486"/>
                <a:gd name="T4" fmla="*/ 935 w 935"/>
                <a:gd name="T5" fmla="*/ 486 h 4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35" h="486">
                  <a:moveTo>
                    <a:pt x="0" y="0"/>
                  </a:moveTo>
                  <a:lnTo>
                    <a:pt x="917" y="0"/>
                  </a:lnTo>
                  <a:lnTo>
                    <a:pt x="935" y="486"/>
                  </a:lnTo>
                </a:path>
              </a:pathLst>
            </a:custGeom>
            <a:noFill/>
            <a:ln w="28575">
              <a:solidFill>
                <a:srgbClr val="C00000"/>
              </a:solidFill>
              <a:prstDash val="dash"/>
              <a:round/>
              <a:headEnd type="stealth" w="lg" len="lg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GB"/>
            </a:p>
          </p:txBody>
        </p:sp>
        <p:cxnSp>
          <p:nvCxnSpPr>
            <p:cNvPr id="25" name="AutoShape 3511">
              <a:extLst>
                <a:ext uri="{FF2B5EF4-FFF2-40B4-BE49-F238E27FC236}">
                  <a16:creationId xmlns:a16="http://schemas.microsoft.com/office/drawing/2014/main" id="{A256707B-661D-4427-B927-D000D816BB6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908" y="3497"/>
              <a:ext cx="1421" cy="0"/>
            </a:xfrm>
            <a:prstGeom prst="straightConnector1">
              <a:avLst/>
            </a:prstGeom>
            <a:noFill/>
            <a:ln w="28575">
              <a:solidFill>
                <a:srgbClr val="C00000"/>
              </a:solidFill>
              <a:prstDash val="dash"/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6" name="Text Box 3512">
              <a:extLst>
                <a:ext uri="{FF2B5EF4-FFF2-40B4-BE49-F238E27FC236}">
                  <a16:creationId xmlns:a16="http://schemas.microsoft.com/office/drawing/2014/main" id="{B782C295-D01E-4B18-BD99-0BB28F79B4ED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1581" y="2465"/>
              <a:ext cx="1800" cy="9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C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marL="0" marR="0" algn="ctr">
                <a:spcBef>
                  <a:spcPts val="0"/>
                </a:spcBef>
                <a:spcAft>
                  <a:spcPts val="0"/>
                </a:spcAft>
              </a:pPr>
              <a:r>
                <a:rPr lang="en-GB" sz="340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Z</a:t>
              </a:r>
              <a:r>
                <a:rPr lang="en-GB" sz="3400" baseline="-2500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0</a:t>
              </a:r>
              <a:endParaRPr lang="en-GB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  <a:p>
              <a:pPr marL="0" marR="0" algn="ctr">
                <a:spcBef>
                  <a:spcPts val="0"/>
                </a:spcBef>
                <a:spcAft>
                  <a:spcPts val="0"/>
                </a:spcAft>
              </a:pPr>
              <a:r>
                <a:rPr lang="en-GB" sz="340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 </a:t>
              </a:r>
              <a:endParaRPr lang="en-GB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1588839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0">
            <a:extLst>
              <a:ext uri="{FF2B5EF4-FFF2-40B4-BE49-F238E27FC236}">
                <a16:creationId xmlns:a16="http://schemas.microsoft.com/office/drawing/2014/main" id="{EC97A79F-0BFE-4F8A-B13D-6E98CB4B16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3710" y="478457"/>
            <a:ext cx="9864107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1371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1371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1371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1371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1371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1371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1371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1371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1371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371600" algn="l"/>
              </a:tabLst>
            </a:pPr>
            <a:r>
              <a:rPr kumimoji="0" lang="en-GB" altLang="en-US" sz="28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</a:t>
            </a:r>
            <a:r>
              <a:rPr kumimoji="0" lang="en-GB" altLang="en-US" sz="28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ea typeface="Times New Roman" panose="02020603050405020304" pitchFamily="18" charset="0"/>
              </a:rPr>
              <a:t>	</a:t>
            </a:r>
            <a:r>
              <a:rPr kumimoji="0" lang="en-GB" altLang="en-US" sz="28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A Z</a:t>
            </a:r>
            <a:r>
              <a:rPr kumimoji="0" lang="en-GB" altLang="en-US" sz="2800" b="0" i="0" u="none" strike="noStrike" cap="none" normalizeH="0" baseline="-30000" dirty="0">
                <a:ln>
                  <a:noFill/>
                </a:ln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0 </a:t>
            </a:r>
            <a:r>
              <a:rPr kumimoji="0" lang="en-GB" altLang="en-US" sz="28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+ B = Z</a:t>
            </a:r>
            <a:r>
              <a:rPr kumimoji="0" lang="en-GB" altLang="en-US" sz="2800" b="0" i="0" u="none" strike="noStrike" cap="none" normalizeH="0" baseline="-30000" dirty="0">
                <a:ln>
                  <a:noFill/>
                </a:ln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0 </a:t>
            </a:r>
            <a:r>
              <a:rPr kumimoji="0" lang="en-GB" altLang="en-US" sz="28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(C Z</a:t>
            </a:r>
            <a:r>
              <a:rPr kumimoji="0" lang="en-GB" altLang="en-US" sz="2800" b="0" i="0" u="none" strike="noStrike" cap="none" normalizeH="0" baseline="-30000" dirty="0">
                <a:ln>
                  <a:noFill/>
                </a:ln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0 </a:t>
            </a:r>
            <a:r>
              <a:rPr kumimoji="0" lang="en-GB" altLang="en-US" sz="28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+ D) </a:t>
            </a:r>
            <a:endParaRPr kumimoji="0" lang="en-GB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371600" algn="l"/>
              </a:tabLst>
            </a:pPr>
            <a:r>
              <a:rPr kumimoji="0" lang="en-GB" altLang="en-US" sz="28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kumimoji="0" lang="en-GB" altLang="en-US" sz="28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ea typeface="Times New Roman" panose="02020603050405020304" pitchFamily="18" charset="0"/>
              </a:rPr>
              <a:t> </a:t>
            </a:r>
            <a:r>
              <a:rPr kumimoji="0" lang="en-GB" altLang="en-US" sz="28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	C Z</a:t>
            </a:r>
            <a:r>
              <a:rPr kumimoji="0" lang="en-GB" altLang="en-US" sz="2800" b="0" i="0" u="none" strike="noStrike" cap="none" normalizeH="0" baseline="-30000" dirty="0">
                <a:ln>
                  <a:noFill/>
                </a:ln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0</a:t>
            </a:r>
            <a:r>
              <a:rPr kumimoji="0" lang="en-GB" altLang="en-US" sz="2800" b="0" i="0" u="none" strike="noStrike" cap="none" normalizeH="0" baseline="30000" dirty="0">
                <a:ln>
                  <a:noFill/>
                </a:ln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kumimoji="0" lang="en-GB" altLang="en-US" sz="2800" b="0" i="0" u="none" strike="noStrike" cap="none" normalizeH="0" baseline="-30000" dirty="0">
                <a:ln>
                  <a:noFill/>
                </a:ln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kumimoji="0" lang="en-GB" altLang="en-US" sz="28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+ D Z</a:t>
            </a:r>
            <a:r>
              <a:rPr kumimoji="0" lang="en-GB" altLang="en-US" sz="2800" b="0" i="0" u="none" strike="noStrike" cap="none" normalizeH="0" baseline="-30000" dirty="0">
                <a:ln>
                  <a:noFill/>
                </a:ln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0</a:t>
            </a:r>
            <a:r>
              <a:rPr kumimoji="0" lang="en-GB" altLang="en-US" sz="28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 = A Z</a:t>
            </a:r>
            <a:r>
              <a:rPr kumimoji="0" lang="en-GB" altLang="en-US" sz="2800" b="0" i="0" u="none" strike="noStrike" cap="none" normalizeH="0" baseline="-30000" dirty="0">
                <a:ln>
                  <a:noFill/>
                </a:ln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0 </a:t>
            </a:r>
            <a:r>
              <a:rPr kumimoji="0" lang="en-GB" altLang="en-US" sz="28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+ B, i.e.	C Z</a:t>
            </a:r>
            <a:r>
              <a:rPr kumimoji="0" lang="en-GB" altLang="en-US" sz="2800" b="0" i="0" u="none" strike="noStrike" cap="none" normalizeH="0" baseline="-30000" dirty="0">
                <a:ln>
                  <a:noFill/>
                </a:ln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0</a:t>
            </a:r>
            <a:r>
              <a:rPr kumimoji="0" lang="en-GB" altLang="en-US" sz="2800" b="0" i="0" u="none" strike="noStrike" cap="none" normalizeH="0" baseline="30000" dirty="0">
                <a:ln>
                  <a:noFill/>
                </a:ln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kumimoji="0" lang="en-GB" altLang="en-US" sz="2800" b="0" i="0" u="none" strike="noStrike" cap="none" normalizeH="0" baseline="-30000" dirty="0">
                <a:ln>
                  <a:noFill/>
                </a:ln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kumimoji="0" lang="en-GB" altLang="en-US" sz="28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+ (D – A) Z</a:t>
            </a:r>
            <a:r>
              <a:rPr kumimoji="0" lang="en-GB" altLang="en-US" sz="2800" b="0" i="0" u="none" strike="noStrike" cap="none" normalizeH="0" baseline="-30000" dirty="0">
                <a:ln>
                  <a:noFill/>
                </a:ln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0</a:t>
            </a:r>
            <a:r>
              <a:rPr kumimoji="0" lang="en-GB" altLang="en-US" sz="28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 – B = 0</a:t>
            </a:r>
            <a:endParaRPr kumimoji="0" lang="en-GB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371600" algn="l"/>
              </a:tabLst>
            </a:pPr>
            <a:r>
              <a:rPr kumimoji="0" lang="en-GB" altLang="en-US" sz="28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For symmetrical network, A=D </a:t>
            </a:r>
            <a:r>
              <a:rPr kumimoji="0" lang="en-GB" altLang="en-US" sz="28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ea typeface="Times New Roman" panose="02020603050405020304" pitchFamily="18" charset="0"/>
              </a:rPr>
              <a:t> Z</a:t>
            </a:r>
            <a:r>
              <a:rPr kumimoji="0" lang="en-GB" altLang="en-US" sz="2800" b="0" i="0" u="none" strike="noStrike" cap="none" normalizeH="0" baseline="-30000" dirty="0">
                <a:ln>
                  <a:noFill/>
                </a:ln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0</a:t>
            </a:r>
            <a:r>
              <a:rPr kumimoji="0" lang="en-GB" altLang="en-US" sz="28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= </a:t>
            </a:r>
            <a:r>
              <a:rPr kumimoji="0" lang="en-GB" altLang="en-US" sz="28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ea typeface="Times New Roman" panose="02020603050405020304" pitchFamily="18" charset="0"/>
              </a:rPr>
              <a:t>B/C</a:t>
            </a:r>
            <a:endParaRPr kumimoji="0" lang="en-GB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2ED2A2A-F87D-45DB-8332-FC3FF69B078E}"/>
              </a:ext>
            </a:extLst>
          </p:cNvPr>
          <p:cNvGrpSpPr/>
          <p:nvPr/>
        </p:nvGrpSpPr>
        <p:grpSpPr>
          <a:xfrm>
            <a:off x="8274537" y="1454745"/>
            <a:ext cx="3594735" cy="2374900"/>
            <a:chOff x="0" y="0"/>
            <a:chExt cx="3594735" cy="237490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D8D3716A-F93B-4041-99DF-825DFD18E44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12086"/>
              <a:ext cx="3594735" cy="2362814"/>
              <a:chOff x="10908" y="5681"/>
              <a:chExt cx="6050" cy="3910"/>
            </a:xfrm>
          </p:grpSpPr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A55E13B8-76B0-45E1-A442-1EA22C393412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 rot="5400000">
                <a:off x="12316" y="5241"/>
                <a:ext cx="494" cy="2905"/>
                <a:chOff x="9878" y="1418"/>
                <a:chExt cx="360" cy="1800"/>
              </a:xfrm>
            </p:grpSpPr>
            <p:sp>
              <p:nvSpPr>
                <p:cNvPr id="20" name="Rectangle 19">
                  <a:extLst>
                    <a:ext uri="{FF2B5EF4-FFF2-40B4-BE49-F238E27FC236}">
                      <a16:creationId xmlns:a16="http://schemas.microsoft.com/office/drawing/2014/main" id="{151E9B3A-9C37-4A17-A0A1-88244A39D748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9878" y="1958"/>
                  <a:ext cx="360" cy="720"/>
                </a:xfrm>
                <a:prstGeom prst="rect">
                  <a:avLst/>
                </a:prstGeom>
                <a:noFill/>
                <a:ln w="38100">
                  <a:solidFill>
                    <a:srgbClr val="C0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endParaRPr lang="en-GB"/>
                </a:p>
              </p:txBody>
            </p:sp>
            <p:cxnSp>
              <p:nvCxnSpPr>
                <p:cNvPr id="21" name="Line 3517">
                  <a:extLst>
                    <a:ext uri="{FF2B5EF4-FFF2-40B4-BE49-F238E27FC236}">
                      <a16:creationId xmlns:a16="http://schemas.microsoft.com/office/drawing/2014/main" id="{A1AB2029-BE8D-4A60-8EB2-08DF0696A177}"/>
                    </a:ext>
                  </a:extLst>
                </p:cNvPr>
                <p:cNvCxnSpPr>
                  <a:cxnSpLocks noChangeAspect="1" noChangeShapeType="1"/>
                </p:cNvCxnSpPr>
                <p:nvPr/>
              </p:nvCxnSpPr>
              <p:spPr bwMode="auto">
                <a:xfrm>
                  <a:off x="10058" y="1418"/>
                  <a:ext cx="0" cy="540"/>
                </a:xfrm>
                <a:prstGeom prst="line">
                  <a:avLst/>
                </a:prstGeom>
                <a:noFill/>
                <a:ln w="38100">
                  <a:solidFill>
                    <a:srgbClr val="C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22" name="Line 3518">
                  <a:extLst>
                    <a:ext uri="{FF2B5EF4-FFF2-40B4-BE49-F238E27FC236}">
                      <a16:creationId xmlns:a16="http://schemas.microsoft.com/office/drawing/2014/main" id="{C91C49B3-6FCC-4905-B88C-5744BF05CD8F}"/>
                    </a:ext>
                  </a:extLst>
                </p:cNvPr>
                <p:cNvCxnSpPr>
                  <a:cxnSpLocks noChangeAspect="1" noChangeShapeType="1"/>
                </p:cNvCxnSpPr>
                <p:nvPr/>
              </p:nvCxnSpPr>
              <p:spPr bwMode="auto">
                <a:xfrm>
                  <a:off x="10058" y="2678"/>
                  <a:ext cx="0" cy="540"/>
                </a:xfrm>
                <a:prstGeom prst="line">
                  <a:avLst/>
                </a:prstGeom>
                <a:noFill/>
                <a:ln w="38100">
                  <a:solidFill>
                    <a:srgbClr val="C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A12F1F08-2D5C-4100-AAEA-EEDA349C50D6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 rot="10800000">
                <a:off x="13689" y="6686"/>
                <a:ext cx="494" cy="2904"/>
                <a:chOff x="9878" y="1418"/>
                <a:chExt cx="360" cy="1800"/>
              </a:xfrm>
            </p:grpSpPr>
            <p:sp>
              <p:nvSpPr>
                <p:cNvPr id="17" name="Rectangle 16">
                  <a:extLst>
                    <a:ext uri="{FF2B5EF4-FFF2-40B4-BE49-F238E27FC236}">
                      <a16:creationId xmlns:a16="http://schemas.microsoft.com/office/drawing/2014/main" id="{C7B3BE29-03E3-43D3-AD81-15CA5C36BB66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9878" y="1958"/>
                  <a:ext cx="360" cy="720"/>
                </a:xfrm>
                <a:prstGeom prst="rect">
                  <a:avLst/>
                </a:prstGeom>
                <a:noFill/>
                <a:ln w="38100">
                  <a:solidFill>
                    <a:srgbClr val="C0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endParaRPr lang="en-GB"/>
                </a:p>
              </p:txBody>
            </p:sp>
            <p:cxnSp>
              <p:nvCxnSpPr>
                <p:cNvPr id="18" name="Line 3521">
                  <a:extLst>
                    <a:ext uri="{FF2B5EF4-FFF2-40B4-BE49-F238E27FC236}">
                      <a16:creationId xmlns:a16="http://schemas.microsoft.com/office/drawing/2014/main" id="{CF7F1444-D010-4373-AE9C-F1F6371828A5}"/>
                    </a:ext>
                  </a:extLst>
                </p:cNvPr>
                <p:cNvCxnSpPr>
                  <a:cxnSpLocks noChangeAspect="1" noChangeShapeType="1"/>
                </p:cNvCxnSpPr>
                <p:nvPr/>
              </p:nvCxnSpPr>
              <p:spPr bwMode="auto">
                <a:xfrm>
                  <a:off x="10058" y="1418"/>
                  <a:ext cx="0" cy="540"/>
                </a:xfrm>
                <a:prstGeom prst="line">
                  <a:avLst/>
                </a:prstGeom>
                <a:noFill/>
                <a:ln w="38100">
                  <a:solidFill>
                    <a:srgbClr val="C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19" name="Line 3522">
                  <a:extLst>
                    <a:ext uri="{FF2B5EF4-FFF2-40B4-BE49-F238E27FC236}">
                      <a16:creationId xmlns:a16="http://schemas.microsoft.com/office/drawing/2014/main" id="{98304DA0-3112-49B3-A25F-38E74116E6CA}"/>
                    </a:ext>
                  </a:extLst>
                </p:cNvPr>
                <p:cNvCxnSpPr>
                  <a:cxnSpLocks noChangeAspect="1" noChangeShapeType="1"/>
                </p:cNvCxnSpPr>
                <p:nvPr/>
              </p:nvCxnSpPr>
              <p:spPr bwMode="auto">
                <a:xfrm>
                  <a:off x="10058" y="2678"/>
                  <a:ext cx="0" cy="540"/>
                </a:xfrm>
                <a:prstGeom prst="line">
                  <a:avLst/>
                </a:prstGeom>
                <a:noFill/>
                <a:ln w="38100">
                  <a:solidFill>
                    <a:srgbClr val="C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  <p:cxnSp>
            <p:nvCxnSpPr>
              <p:cNvPr id="11" name="Line 3523">
                <a:extLst>
                  <a:ext uri="{FF2B5EF4-FFF2-40B4-BE49-F238E27FC236}">
                    <a16:creationId xmlns:a16="http://schemas.microsoft.com/office/drawing/2014/main" id="{02A88E37-9D09-43D3-9891-B1AF0C2CB858}"/>
                  </a:ext>
                </a:extLst>
              </p:cNvPr>
              <p:cNvCxnSpPr>
                <a:cxnSpLocks noChangeAspect="1" noChangeShapeType="1"/>
              </p:cNvCxnSpPr>
              <p:nvPr/>
            </p:nvCxnSpPr>
            <p:spPr bwMode="auto">
              <a:xfrm>
                <a:off x="11110" y="9590"/>
                <a:ext cx="5848" cy="1"/>
              </a:xfrm>
              <a:prstGeom prst="line">
                <a:avLst/>
              </a:prstGeom>
              <a:noFill/>
              <a:ln w="38100">
                <a:solidFill>
                  <a:srgbClr val="C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12" name="Text Box 3524">
                <a:extLst>
                  <a:ext uri="{FF2B5EF4-FFF2-40B4-BE49-F238E27FC236}">
                    <a16:creationId xmlns:a16="http://schemas.microsoft.com/office/drawing/2014/main" id="{D4D29476-1DDE-4F27-9623-DCFFC3DE560F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10908" y="7626"/>
                <a:ext cx="1732" cy="8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C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rot="0" vert="horz" wrap="square" lIns="18000" tIns="10800" rIns="18000" bIns="10800" anchor="t" anchorCtr="0" upright="1">
                <a:noAutofit/>
              </a:bodyPr>
              <a:lstStyle/>
              <a:p>
                <a:pPr marL="0" marR="0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GB" sz="2800" i="1">
                    <a:solidFill>
                      <a:srgbClr val="00206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Port 1</a:t>
                </a:r>
                <a:endParaRPr lang="en-GB" sz="120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  <p:sp>
            <p:nvSpPr>
              <p:cNvPr id="13" name="Text Box 3525">
                <a:extLst>
                  <a:ext uri="{FF2B5EF4-FFF2-40B4-BE49-F238E27FC236}">
                    <a16:creationId xmlns:a16="http://schemas.microsoft.com/office/drawing/2014/main" id="{D729195C-7D3F-4B5E-9D38-579AAA1DF3A0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15302" y="7626"/>
                <a:ext cx="1622" cy="8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C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rot="0" vert="horz" wrap="square" lIns="18000" tIns="10800" rIns="18000" bIns="10800" anchor="t" anchorCtr="0" upright="1">
                <a:noAutofit/>
              </a:bodyPr>
              <a:lstStyle/>
              <a:p>
                <a:pPr marL="0" marR="0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GB" sz="2800" b="1" i="1">
                    <a:solidFill>
                      <a:srgbClr val="002060"/>
                    </a:solidFill>
                    <a:effectLst/>
                    <a:latin typeface="Times New Roman" panose="02020603050405020304" pitchFamily="18" charset="0"/>
                  </a:rPr>
                  <a:t>Port 2</a:t>
                </a:r>
                <a:endParaRPr lang="en-GB" sz="1200" b="1" i="1">
                  <a:effectLst/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4" name="Text Box 3526">
                <a:extLst>
                  <a:ext uri="{FF2B5EF4-FFF2-40B4-BE49-F238E27FC236}">
                    <a16:creationId xmlns:a16="http://schemas.microsoft.com/office/drawing/2014/main" id="{D759CA0E-9F4B-4AF2-83E6-DD799D057754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12064" y="5681"/>
                <a:ext cx="1080" cy="8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C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rot="0" vert="horz" wrap="square" lIns="18000" tIns="10800" rIns="18000" bIns="10800" anchor="t" anchorCtr="0" upright="1">
                <a:noAutofit/>
              </a:bodyPr>
              <a:lstStyle/>
              <a:p>
                <a:pPr marL="0" marR="0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GB" sz="2800">
                    <a:solidFill>
                      <a:srgbClr val="00206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½ Z</a:t>
                </a:r>
                <a:endParaRPr lang="en-GB" sz="120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  <p:sp>
            <p:nvSpPr>
              <p:cNvPr id="15" name="Text Box 3527">
                <a:extLst>
                  <a:ext uri="{FF2B5EF4-FFF2-40B4-BE49-F238E27FC236}">
                    <a16:creationId xmlns:a16="http://schemas.microsoft.com/office/drawing/2014/main" id="{28BCD363-99F8-44DB-8B4A-571CFCF4CFA1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12975" y="7715"/>
                <a:ext cx="827" cy="8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C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rot="0" vert="horz" wrap="square" lIns="18000" tIns="10800" rIns="18000" bIns="10800" anchor="t" anchorCtr="0" upright="1">
                <a:noAutofit/>
              </a:bodyPr>
              <a:lstStyle/>
              <a:p>
                <a:pPr marL="0" marR="0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GB" sz="2800">
                    <a:solidFill>
                      <a:srgbClr val="00206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Y</a:t>
                </a:r>
                <a:endParaRPr lang="en-GB" sz="120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  <p:cxnSp>
            <p:nvCxnSpPr>
              <p:cNvPr id="16" name="Line 3528">
                <a:extLst>
                  <a:ext uri="{FF2B5EF4-FFF2-40B4-BE49-F238E27FC236}">
                    <a16:creationId xmlns:a16="http://schemas.microsoft.com/office/drawing/2014/main" id="{612301DE-410C-4E01-A227-EBA3C8D06F24}"/>
                  </a:ext>
                </a:extLst>
              </p:cNvPr>
              <p:cNvCxnSpPr>
                <a:cxnSpLocks noChangeAspect="1" noChangeShapeType="1"/>
              </p:cNvCxnSpPr>
              <p:nvPr/>
            </p:nvCxnSpPr>
            <p:spPr bwMode="auto">
              <a:xfrm rot="5400000">
                <a:off x="14451" y="6257"/>
                <a:ext cx="0" cy="872"/>
              </a:xfrm>
              <a:prstGeom prst="line">
                <a:avLst/>
              </a:prstGeom>
              <a:noFill/>
              <a:ln w="38100">
                <a:solidFill>
                  <a:srgbClr val="C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EB7C458B-982F-4E33-8653-CD824B70BDAF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 rot="5400000">
              <a:off x="2559132" y="302821"/>
              <a:ext cx="298503" cy="690488"/>
            </a:xfrm>
            <a:prstGeom prst="rect">
              <a:avLst/>
            </a:prstGeom>
            <a:noFill/>
            <a:ln w="38100">
              <a:solidFill>
                <a:srgbClr val="C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GB"/>
            </a:p>
          </p:txBody>
        </p:sp>
        <p:cxnSp>
          <p:nvCxnSpPr>
            <p:cNvPr id="7" name="Line 3517">
              <a:extLst>
                <a:ext uri="{FF2B5EF4-FFF2-40B4-BE49-F238E27FC236}">
                  <a16:creationId xmlns:a16="http://schemas.microsoft.com/office/drawing/2014/main" id="{B7F026C4-7F47-4596-9E28-2B7F63EF9C01}"/>
                </a:ext>
              </a:extLst>
            </p:cNvPr>
            <p:cNvCxnSpPr>
              <a:cxnSpLocks noChangeAspect="1" noChangeShapeType="1"/>
            </p:cNvCxnSpPr>
            <p:nvPr/>
          </p:nvCxnSpPr>
          <p:spPr bwMode="auto">
            <a:xfrm rot="5400000">
              <a:off x="3307278" y="385948"/>
              <a:ext cx="0" cy="517525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8" name="Text Box 3526">
              <a:extLst>
                <a:ext uri="{FF2B5EF4-FFF2-40B4-BE49-F238E27FC236}">
                  <a16:creationId xmlns:a16="http://schemas.microsoft.com/office/drawing/2014/main" id="{73C0BBE3-159A-4EDF-B75A-FFF8138244F0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2422566" y="0"/>
              <a:ext cx="688769" cy="4997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C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18000" tIns="10800" rIns="18000" bIns="10800" anchor="t" anchorCtr="0" upright="1">
              <a:noAutofit/>
            </a:bodyPr>
            <a:lstStyle/>
            <a:p>
              <a:pPr marL="0" marR="0">
                <a:spcBef>
                  <a:spcPts val="0"/>
                </a:spcBef>
                <a:spcAft>
                  <a:spcPts val="0"/>
                </a:spcAft>
              </a:pPr>
              <a:r>
                <a:rPr lang="en-GB" sz="2800">
                  <a:solidFill>
                    <a:srgbClr val="00206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½ Z</a:t>
              </a:r>
              <a:endParaRPr lang="en-GB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</p:grpSp>
      <p:sp>
        <p:nvSpPr>
          <p:cNvPr id="23" name="Rectangle 26">
            <a:extLst>
              <a:ext uri="{FF2B5EF4-FFF2-40B4-BE49-F238E27FC236}">
                <a16:creationId xmlns:a16="http://schemas.microsoft.com/office/drawing/2014/main" id="{8C394675-049C-4B47-BE10-4B7F588040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3710" y="1824496"/>
            <a:ext cx="198636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1371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1371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1371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1371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1371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1371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1371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1371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1371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371600" algn="l"/>
              </a:tabLst>
            </a:pPr>
            <a:r>
              <a:rPr kumimoji="0" lang="en-GB" altLang="en-US" sz="28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Example: </a:t>
            </a:r>
            <a:endParaRPr kumimoji="0" lang="en-GB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AB85AF57-FE41-444A-A902-0E0DF797F942}"/>
                  </a:ext>
                </a:extLst>
              </p:cNvPr>
              <p:cNvSpPr/>
              <p:nvPr/>
            </p:nvSpPr>
            <p:spPr>
              <a:xfrm>
                <a:off x="2175978" y="1629674"/>
                <a:ext cx="6096000" cy="2221377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 algn="just">
                  <a:lnSpc>
                    <a:spcPct val="110000"/>
                  </a:lnSpc>
                  <a:tabLst>
                    <a:tab pos="2743200" algn="ctr"/>
                    <a:tab pos="5486400" algn="r"/>
                    <a:tab pos="253365" algn="l"/>
                    <a:tab pos="470535" algn="l"/>
                    <a:tab pos="687705" algn="l"/>
                  </a:tabLst>
                </a:pP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GB" sz="2800" i="1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GB" sz="2800" i="1">
                                <a:solidFill>
                                  <a:srgbClr val="00206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GB" sz="2800" i="1">
                                  <a:solidFill>
                                    <a:srgbClr val="00206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𝐴</m:t>
                              </m:r>
                            </m:e>
                            <m:e>
                              <m:r>
                                <a:rPr lang="en-GB" sz="2800" i="1">
                                  <a:solidFill>
                                    <a:srgbClr val="00206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𝐵</m:t>
                              </m:r>
                            </m:e>
                          </m:mr>
                          <m:mr>
                            <m:e>
                              <m:r>
                                <a:rPr lang="en-GB" sz="2800" i="1">
                                  <a:solidFill>
                                    <a:srgbClr val="00206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𝐶</m:t>
                              </m:r>
                            </m:e>
                            <m:e>
                              <m:r>
                                <a:rPr lang="en-GB" sz="2800" i="1">
                                  <a:solidFill>
                                    <a:srgbClr val="00206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𝐷</m:t>
                              </m:r>
                            </m:e>
                          </m:mr>
                        </m:m>
                      </m:e>
                    </m:d>
                    <m:r>
                      <a:rPr lang="en-GB" sz="2800" i="1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GB" sz="2800" dirty="0">
                    <a:solidFill>
                      <a:srgbClr val="00206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=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GB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GB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GB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1</m:t>
                              </m:r>
                            </m:e>
                            <m:e>
                              <m:f>
                                <m:fPr>
                                  <m:ctrlPr>
                                    <a:rPr lang="en-GB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GB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en-GB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𝑍</m:t>
                              </m:r>
                            </m:e>
                          </m:mr>
                          <m:mr>
                            <m:e>
                              <m:r>
                                <a:rPr lang="en-GB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GB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GB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GB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GB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GB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GB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𝑌</m:t>
                              </m:r>
                            </m:e>
                            <m:e>
                              <m:r>
                                <a:rPr lang="en-GB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GB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GB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GB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1</m:t>
                              </m:r>
                            </m:e>
                            <m:e>
                              <m:f>
                                <m:fPr>
                                  <m:ctrlPr>
                                    <a:rPr lang="en-GB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GB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en-GB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𝑍</m:t>
                              </m:r>
                            </m:e>
                          </m:mr>
                          <m:mr>
                            <m:e>
                              <m:r>
                                <a:rPr lang="en-GB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GB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GB" sz="28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just">
                  <a:lnSpc>
                    <a:spcPct val="110000"/>
                  </a:lnSpc>
                  <a:tabLst>
                    <a:tab pos="2743200" algn="ctr"/>
                    <a:tab pos="5486400" algn="r"/>
                    <a:tab pos="253365" algn="l"/>
                    <a:tab pos="470535" algn="l"/>
                    <a:tab pos="687705" algn="l"/>
                  </a:tabLst>
                </a:pPr>
                <a:r>
                  <a:rPr lang="en-GB" sz="2800" dirty="0">
                    <a:solidFill>
                      <a:srgbClr val="00206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=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GB" sz="2800" i="1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GB" sz="2800" i="1">
                                <a:solidFill>
                                  <a:srgbClr val="00206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GB" sz="2800" i="1">
                                  <a:solidFill>
                                    <a:srgbClr val="00206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1+</m:t>
                              </m:r>
                              <m:f>
                                <m:fPr>
                                  <m:ctrlPr>
                                    <a:rPr lang="en-GB" sz="2800" i="1">
                                      <a:solidFill>
                                        <a:srgbClr val="00206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2800" i="1">
                                      <a:solidFill>
                                        <a:srgbClr val="00206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GB" sz="2800" i="1">
                                      <a:solidFill>
                                        <a:srgbClr val="00206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en-GB" sz="2800" i="1">
                                  <a:solidFill>
                                    <a:srgbClr val="00206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𝑍𝑌</m:t>
                              </m:r>
                            </m:e>
                            <m:e>
                              <m:f>
                                <m:fPr>
                                  <m:ctrlPr>
                                    <a:rPr lang="en-GB" sz="2800" i="1">
                                      <a:solidFill>
                                        <a:srgbClr val="00206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2800" i="1">
                                      <a:solidFill>
                                        <a:srgbClr val="00206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GB" sz="2800" i="1">
                                      <a:solidFill>
                                        <a:srgbClr val="00206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en-GB" sz="2800" i="1">
                                  <a:solidFill>
                                    <a:srgbClr val="00206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𝑍</m:t>
                              </m:r>
                            </m:e>
                          </m:mr>
                          <m:mr>
                            <m:e>
                              <m:r>
                                <a:rPr lang="en-GB" sz="2800" i="1">
                                  <a:solidFill>
                                    <a:srgbClr val="00206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𝑌</m:t>
                              </m:r>
                            </m:e>
                            <m:e>
                              <m:r>
                                <a:rPr lang="en-GB" sz="2800" i="1">
                                  <a:solidFill>
                                    <a:srgbClr val="00206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GB" sz="2800" i="1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GB" sz="2800" i="1">
                                <a:solidFill>
                                  <a:srgbClr val="00206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GB" sz="2800" i="1">
                                  <a:solidFill>
                                    <a:srgbClr val="00206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1</m:t>
                              </m:r>
                            </m:e>
                            <m:e>
                              <m:f>
                                <m:fPr>
                                  <m:ctrlPr>
                                    <a:rPr lang="en-GB" sz="2800" i="1">
                                      <a:solidFill>
                                        <a:srgbClr val="00206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2800" i="1">
                                      <a:solidFill>
                                        <a:srgbClr val="00206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GB" sz="2800" i="1">
                                      <a:solidFill>
                                        <a:srgbClr val="00206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en-GB" sz="2800" i="1">
                                  <a:solidFill>
                                    <a:srgbClr val="00206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𝑍</m:t>
                              </m:r>
                            </m:e>
                          </m:mr>
                          <m:mr>
                            <m:e>
                              <m:r>
                                <a:rPr lang="en-GB" sz="2800" i="1">
                                  <a:solidFill>
                                    <a:srgbClr val="00206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GB" sz="2800" i="1">
                                  <a:solidFill>
                                    <a:srgbClr val="00206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GB" sz="28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AB85AF57-FE41-444A-A902-0E0DF797F94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75978" y="1629674"/>
                <a:ext cx="6096000" cy="2221377"/>
              </a:xfrm>
              <a:prstGeom prst="rect">
                <a:avLst/>
              </a:prstGeom>
              <a:blipFill>
                <a:blip r:embed="rId2"/>
                <a:stretch>
                  <a:fillRect l="-21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67503E12-3266-4C3A-A694-46F2104409B9}"/>
                  </a:ext>
                </a:extLst>
              </p:cNvPr>
              <p:cNvSpPr/>
              <p:nvPr/>
            </p:nvSpPr>
            <p:spPr>
              <a:xfrm>
                <a:off x="148862" y="3770604"/>
                <a:ext cx="10736463" cy="298081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10000"/>
                  </a:lnSpc>
                  <a:tabLst>
                    <a:tab pos="2743200" algn="ctr"/>
                    <a:tab pos="5486400" algn="r"/>
                    <a:tab pos="253365" algn="l"/>
                    <a:tab pos="470535" algn="l"/>
                    <a:tab pos="687705" algn="l"/>
                  </a:tabLst>
                </a:pPr>
                <a:r>
                  <a:rPr lang="en-GB" sz="2600" dirty="0">
                    <a:solidFill>
                      <a:srgbClr val="00206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=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GB" sz="26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GB" sz="26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GB" sz="26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1+</m:t>
                              </m:r>
                              <m:f>
                                <m:fPr>
                                  <m:ctrlPr>
                                    <a:rPr lang="en-GB" sz="26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26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GB" sz="26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en-GB" sz="26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𝑍𝑌</m:t>
                              </m:r>
                            </m:e>
                            <m:e>
                              <m:r>
                                <a:rPr lang="en-GB" sz="26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𝑍</m:t>
                              </m:r>
                              <m:r>
                                <a:rPr lang="en-GB" sz="26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(1+</m:t>
                              </m:r>
                              <m:f>
                                <m:fPr>
                                  <m:ctrlPr>
                                    <a:rPr lang="en-GB" sz="26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26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GB" sz="26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en-GB" sz="26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𝑍𝑌</m:t>
                              </m:r>
                              <m:r>
                                <a:rPr lang="en-GB" sz="26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)</m:t>
                              </m:r>
                            </m:e>
                          </m:mr>
                          <m:mr>
                            <m:e>
                              <m:r>
                                <a:rPr lang="en-GB" sz="26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𝑌</m:t>
                              </m:r>
                            </m:e>
                            <m:e>
                              <m:r>
                                <a:rPr lang="en-GB" sz="26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1+</m:t>
                              </m:r>
                              <m:f>
                                <m:fPr>
                                  <m:ctrlPr>
                                    <a:rPr lang="en-GB" sz="26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26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GB" sz="26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en-GB" sz="26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𝑍𝑌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GB" sz="2600" dirty="0">
                    <a:solidFill>
                      <a:srgbClr val="00206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GB" sz="2600" dirty="0">
                    <a:solidFill>
                      <a:srgbClr val="00206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  <a:sym typeface="Symbol" panose="05050102010706020507" pitchFamily="18" charset="2"/>
                  </a:rPr>
                  <a:t></a:t>
                </a:r>
                <a:r>
                  <a:rPr lang="en-GB" sz="2600" dirty="0">
                    <a:solidFill>
                      <a:srgbClr val="00206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A=D=1+½ZY, B=Z(1+½ZY), C=Y</a:t>
                </a:r>
                <a:endParaRPr lang="en-GB" sz="2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marL="285750" marR="0">
                  <a:lnSpc>
                    <a:spcPct val="110000"/>
                  </a:lnSpc>
                  <a:spcBef>
                    <a:spcPts val="600"/>
                  </a:spcBef>
                  <a:spcAft>
                    <a:spcPts val="0"/>
                  </a:spcAft>
                  <a:tabLst>
                    <a:tab pos="1371600" algn="l"/>
                  </a:tabLst>
                </a:pPr>
                <a:r>
                  <a:rPr lang="en-GB" sz="2600" dirty="0">
                    <a:solidFill>
                      <a:srgbClr val="00206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i.e. Y Z</a:t>
                </a:r>
                <a:r>
                  <a:rPr lang="en-GB" sz="2600" baseline="-25000" dirty="0">
                    <a:solidFill>
                      <a:srgbClr val="00206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0</a:t>
                </a:r>
                <a:r>
                  <a:rPr lang="en-GB" sz="2600" baseline="30000" dirty="0">
                    <a:solidFill>
                      <a:srgbClr val="00206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2</a:t>
                </a:r>
                <a:r>
                  <a:rPr lang="en-GB" sz="2600" baseline="-25000" dirty="0">
                    <a:solidFill>
                      <a:srgbClr val="00206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GB" sz="2600" dirty="0">
                    <a:solidFill>
                      <a:srgbClr val="00206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+ (1+½ZY – 1 – ½ZY) Z</a:t>
                </a:r>
                <a:r>
                  <a:rPr lang="en-GB" sz="2600" baseline="-25000" dirty="0">
                    <a:solidFill>
                      <a:srgbClr val="00206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0</a:t>
                </a:r>
                <a:r>
                  <a:rPr lang="en-GB" sz="2600" dirty="0">
                    <a:solidFill>
                      <a:srgbClr val="00206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– Z(1+½ZY) = YZ</a:t>
                </a:r>
                <a:r>
                  <a:rPr lang="en-GB" sz="2600" baseline="-25000" dirty="0">
                    <a:solidFill>
                      <a:srgbClr val="00206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0</a:t>
                </a:r>
                <a:r>
                  <a:rPr lang="en-GB" sz="2600" baseline="30000" dirty="0">
                    <a:solidFill>
                      <a:srgbClr val="00206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2</a:t>
                </a:r>
                <a:r>
                  <a:rPr lang="en-GB" sz="2600" baseline="-25000" dirty="0">
                    <a:solidFill>
                      <a:srgbClr val="00206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GB" sz="2600" dirty="0">
                    <a:solidFill>
                      <a:srgbClr val="00206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= Z(1+½ZY)</a:t>
                </a:r>
                <a:r>
                  <a:rPr lang="en-GB" sz="2600" dirty="0">
                    <a:solidFill>
                      <a:srgbClr val="00206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endParaRPr lang="en-GB" sz="2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marL="285750" marR="0">
                  <a:lnSpc>
                    <a:spcPct val="110000"/>
                  </a:lnSpc>
                  <a:spcBef>
                    <a:spcPts val="600"/>
                  </a:spcBef>
                  <a:spcAft>
                    <a:spcPts val="0"/>
                  </a:spcAft>
                  <a:tabLst>
                    <a:tab pos="1371600" algn="l"/>
                  </a:tabLst>
                </a:pPr>
                <a:r>
                  <a:rPr lang="en-GB" sz="2600" dirty="0">
                    <a:solidFill>
                      <a:srgbClr val="00206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sym typeface="Symbol" panose="05050102010706020507" pitchFamily="18" charset="2"/>
                  </a:rPr>
                  <a:t>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6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26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𝑍</m:t>
                        </m:r>
                      </m:e>
                      <m:sub>
                        <m:r>
                          <a:rPr lang="en-GB" sz="26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a:rPr lang="en-GB" sz="26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= </m:t>
                    </m:r>
                    <m:rad>
                      <m:radPr>
                        <m:degHide m:val="on"/>
                        <m:ctrlPr>
                          <a:rPr lang="en-GB" sz="26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GB" sz="26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GB" sz="26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𝑍</m:t>
                            </m:r>
                          </m:num>
                          <m:den>
                            <m:r>
                              <a:rPr lang="en-GB" sz="26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𝑌</m:t>
                            </m:r>
                          </m:den>
                        </m:f>
                        <m:r>
                          <a:rPr lang="en-GB" sz="26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(1+</m:t>
                        </m:r>
                        <m:f>
                          <m:fPr>
                            <m:ctrlPr>
                              <a:rPr lang="en-GB" sz="26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GB" sz="26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GB" sz="26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GB" sz="26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𝑍𝑌</m:t>
                        </m:r>
                        <m:r>
                          <a:rPr lang="en-GB" sz="26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)</m:t>
                        </m:r>
                      </m:e>
                    </m:rad>
                  </m:oMath>
                </a14:m>
                <a:endParaRPr lang="en-GB" sz="2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67503E12-3266-4C3A-A694-46F2104409B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862" y="3770604"/>
                <a:ext cx="10736463" cy="2980816"/>
              </a:xfrm>
              <a:prstGeom prst="rect">
                <a:avLst/>
              </a:prstGeom>
              <a:blipFill>
                <a:blip r:embed="rId3"/>
                <a:stretch>
                  <a:fillRect l="-102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4088224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9992F8-88A1-42A6-84C9-2DD244D156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End of Presentation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9137035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|26.6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3|2.8|4|40.3|24.9|5.6|5.5|5.6|1.8|6.8|7.9|4.8|15.4|8.8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14143</TotalTime>
  <Words>1934</Words>
  <Application>Microsoft Office PowerPoint</Application>
  <PresentationFormat>Widescreen</PresentationFormat>
  <Paragraphs>433</Paragraphs>
  <Slides>27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7" baseType="lpstr">
      <vt:lpstr>Arial</vt:lpstr>
      <vt:lpstr>Calibri</vt:lpstr>
      <vt:lpstr>Calibri Light</vt:lpstr>
      <vt:lpstr>Cambria Math</vt:lpstr>
      <vt:lpstr>Symbol</vt:lpstr>
      <vt:lpstr>Times New Roman</vt:lpstr>
      <vt:lpstr>Wingdings</vt:lpstr>
      <vt:lpstr>Office Theme</vt:lpstr>
      <vt:lpstr>Custom Design</vt:lpstr>
      <vt:lpstr>Equation.3</vt:lpstr>
      <vt:lpstr>4.0 Two Port Theory</vt:lpstr>
      <vt:lpstr>Learning Outcomes</vt:lpstr>
      <vt:lpstr>Port</vt:lpstr>
      <vt:lpstr>Systematic treatment of networks</vt:lpstr>
      <vt:lpstr>Definitions</vt:lpstr>
      <vt:lpstr>PowerPoint Presentation</vt:lpstr>
      <vt:lpstr>PowerPoint Presentation</vt:lpstr>
      <vt:lpstr>Common Two-port parameters</vt:lpstr>
      <vt:lpstr>(a) Impedance Parameters (z-parameters)   or Open-circuit parameters</vt:lpstr>
      <vt:lpstr>PowerPoint Presentation</vt:lpstr>
      <vt:lpstr>Example 3</vt:lpstr>
      <vt:lpstr>(b) Admittance Parameters (y-parameters)     or Short-circuit parameters</vt:lpstr>
      <vt:lpstr>Example 4</vt:lpstr>
      <vt:lpstr>(c) Transmission Line Parameters  (ABCD-parameters)</vt:lpstr>
      <vt:lpstr>Example 5</vt:lpstr>
      <vt:lpstr>(d) Hybrid Parameters (h-parameters)</vt:lpstr>
      <vt:lpstr>Interconnection of two-port networks</vt:lpstr>
      <vt:lpstr>PowerPoint Presentation</vt:lpstr>
      <vt:lpstr>(c) Cascade connection of networks</vt:lpstr>
      <vt:lpstr>ABCD matrix of component networks</vt:lpstr>
      <vt:lpstr>PowerPoint Presentation</vt:lpstr>
      <vt:lpstr>Input Impedance of Two-Port Network ZInput</vt:lpstr>
      <vt:lpstr>Image Impedance</vt:lpstr>
      <vt:lpstr>Example</vt:lpstr>
      <vt:lpstr>Characteristic Impedance Z0</vt:lpstr>
      <vt:lpstr>PowerPoint Presentation</vt:lpstr>
      <vt:lpstr>End of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5.0 Waveform Characteristics</dc:title>
  <dc:creator>Lucas</dc:creator>
  <cp:lastModifiedBy>Lucas</cp:lastModifiedBy>
  <cp:revision>369</cp:revision>
  <dcterms:created xsi:type="dcterms:W3CDTF">2020-04-15T07:17:18Z</dcterms:created>
  <dcterms:modified xsi:type="dcterms:W3CDTF">2020-09-23T03:20:24Z</dcterms:modified>
</cp:coreProperties>
</file>