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omments/comment1.xml" ContentType="application/vnd.openxmlformats-officedocument.presentationml.comments+xml"/>
  <Override PartName="/ppt/tags/tag1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omments/comment2.xml" ContentType="application/vnd.openxmlformats-officedocument.presentationml.comments+xml"/>
  <Override PartName="/ppt/comments/comment3.xml" ContentType="application/vnd.openxmlformats-officedocument.presentationml.comments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4" r:id="rId1"/>
  </p:sldMasterIdLst>
  <p:notesMasterIdLst>
    <p:notesMasterId r:id="rId42"/>
  </p:notesMasterIdLst>
  <p:sldIdLst>
    <p:sldId id="371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7" r:id="rId12"/>
    <p:sldId id="265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7" r:id="rId21"/>
    <p:sldId id="278" r:id="rId22"/>
    <p:sldId id="279" r:id="rId23"/>
    <p:sldId id="280" r:id="rId24"/>
    <p:sldId id="281" r:id="rId25"/>
    <p:sldId id="282" r:id="rId26"/>
    <p:sldId id="283" r:id="rId27"/>
    <p:sldId id="285" r:id="rId28"/>
    <p:sldId id="284" r:id="rId29"/>
    <p:sldId id="286" r:id="rId30"/>
    <p:sldId id="367" r:id="rId31"/>
    <p:sldId id="368" r:id="rId32"/>
    <p:sldId id="369" r:id="rId33"/>
    <p:sldId id="370" r:id="rId34"/>
    <p:sldId id="294" r:id="rId35"/>
    <p:sldId id="298" r:id="rId36"/>
    <p:sldId id="372" r:id="rId37"/>
    <p:sldId id="295" r:id="rId38"/>
    <p:sldId id="296" r:id="rId39"/>
    <p:sldId id="297" r:id="rId40"/>
    <p:sldId id="314" r:id="rId4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ahiru Gunathilake" initials="LG" lastIdx="7" clrIdx="0">
    <p:extLst>
      <p:ext uri="{19B8F6BF-5375-455C-9EA6-DF929625EA0E}">
        <p15:presenceInfo xmlns:p15="http://schemas.microsoft.com/office/powerpoint/2012/main" userId="5cae493a0eeed56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588" autoAdjust="0"/>
    <p:restoredTop sz="94660"/>
  </p:normalViewPr>
  <p:slideViewPr>
    <p:cSldViewPr>
      <p:cViewPr varScale="1">
        <p:scale>
          <a:sx n="74" d="100"/>
          <a:sy n="74" d="100"/>
        </p:scale>
        <p:origin x="1944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commentAuthors" Target="commentAuthor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16-02-17T22:41:51.684" idx="1">
    <p:pos x="10" y="10"/>
    <p:text/>
    <p:extLst>
      <p:ext uri="{C676402C-5697-4E1C-873F-D02D1690AC5C}">
        <p15:threadingInfo xmlns:p15="http://schemas.microsoft.com/office/powerpoint/2012/main" timeZoneBias="-330"/>
      </p:ext>
    </p:extLst>
  </p:cm>
  <p:cm authorId="1" dt="2016-02-17T22:44:44.937" idx="2">
    <p:pos x="4873" y="966"/>
    <p:text/>
    <p:extLst>
      <p:ext uri="{C676402C-5697-4E1C-873F-D02D1690AC5C}">
        <p15:threadingInfo xmlns:p15="http://schemas.microsoft.com/office/powerpoint/2012/main" timeZoneBias="-330"/>
      </p:ext>
    </p:extLst>
  </p:cm>
  <p:cm authorId="1" dt="2016-02-17T22:44:57.065" idx="3">
    <p:pos x="106" y="106"/>
    <p:text>Why the theory of demand and supply is not practicel-----</p:text>
    <p:extLst>
      <p:ext uri="{C676402C-5697-4E1C-873F-D02D1690AC5C}">
        <p15:threadingInfo xmlns:p15="http://schemas.microsoft.com/office/powerpoint/2012/main" timeZoneBias="-330"/>
      </p:ext>
    </p:extLst>
  </p:cm>
  <p:cm authorId="1" dt="2016-02-17T22:45:38.136" idx="4">
    <p:pos x="106" y="202"/>
    <p:text>Theory and Practice Gap</p:text>
    <p:extLst>
      <p:ext uri="{C676402C-5697-4E1C-873F-D02D1690AC5C}">
        <p15:threadingInfo xmlns:p15="http://schemas.microsoft.com/office/powerpoint/2012/main" timeZoneBias="-330">
          <p15:parentCm authorId="1" idx="3"/>
        </p15:threadingInfo>
      </p:ext>
    </p:extLst>
  </p:cm>
</p:cmLst>
</file>

<file path=ppt/comments/comment2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16-02-17T22:45:47.944" idx="5">
    <p:pos x="10" y="10"/>
    <p:text/>
    <p:extLst>
      <p:ext uri="{C676402C-5697-4E1C-873F-D02D1690AC5C}">
        <p15:threadingInfo xmlns:p15="http://schemas.microsoft.com/office/powerpoint/2012/main" timeZoneBias="-330"/>
      </p:ext>
    </p:extLst>
  </p:cm>
  <p:cm authorId="1" dt="2016-02-17T22:46:24.327" idx="6">
    <p:pos x="106" y="106"/>
    <p:text>What are the possible ways to face short term demand requirements...Outsourcing...</p:text>
    <p:extLst>
      <p:ext uri="{C676402C-5697-4E1C-873F-D02D1690AC5C}">
        <p15:threadingInfo xmlns:p15="http://schemas.microsoft.com/office/powerpoint/2012/main" timeZoneBias="-330"/>
      </p:ext>
    </p:extLst>
  </p:cm>
</p:cmLst>
</file>

<file path=ppt/comments/comment3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16-02-17T22:47:12.319" idx="7">
    <p:pos x="10" y="10"/>
    <p:text>Case on Ice Cream demand patterns and supply patterns</p:text>
    <p:extLst>
      <p:ext uri="{C676402C-5697-4E1C-873F-D02D1690AC5C}">
        <p15:threadingInfo xmlns:p15="http://schemas.microsoft.com/office/powerpoint/2012/main" timeZoneBias="-330"/>
      </p:ext>
    </p:extLst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32297B-5224-4E25-9D9A-4F9A83400FCE}" type="datetimeFigureOut">
              <a:rPr lang="en-US" smtClean="0"/>
              <a:pPr/>
              <a:t>1/26/2023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19596C7-2E8D-49DD-9EB8-49C19FD2216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29778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5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93C83DE6-299F-4AC7-BE42-2ABBA8E20EEC}" type="slidenum">
              <a:rPr lang="en-US" altLang="en-US"/>
              <a:pPr fontAlgn="base">
                <a:spcBef>
                  <a:spcPct val="0"/>
                </a:spcBef>
                <a:spcAft>
                  <a:spcPct val="0"/>
                </a:spcAft>
              </a:pPr>
              <a:t>3</a:t>
            </a:fld>
            <a:endParaRPr lang="en-US" altLang="en-US"/>
          </a:p>
        </p:txBody>
      </p:sp>
      <p:sp>
        <p:nvSpPr>
          <p:cNvPr id="62467" name="Rectangle 2"/>
          <p:cNvSpPr>
            <a:spLocks noChangeArrowheads="1"/>
          </p:cNvSpPr>
          <p:nvPr/>
        </p:nvSpPr>
        <p:spPr bwMode="auto">
          <a:xfrm>
            <a:off x="3884613" y="0"/>
            <a:ext cx="2973387" cy="455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62468" name="Rectangle 3"/>
          <p:cNvSpPr>
            <a:spLocks noChangeArrowheads="1"/>
          </p:cNvSpPr>
          <p:nvPr/>
        </p:nvSpPr>
        <p:spPr bwMode="auto">
          <a:xfrm>
            <a:off x="3884613" y="8685213"/>
            <a:ext cx="2973387" cy="458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9049" tIns="0" rIns="19049" bIns="0" anchor="b"/>
          <a:lstStyle/>
          <a:p>
            <a:pPr algn="r" eaLnBrk="0" hangingPunct="0"/>
            <a:r>
              <a:rPr lang="en-US" altLang="en-US" sz="1000" i="1">
                <a:latin typeface="Times New Roman" pitchFamily="18" charset="0"/>
              </a:rPr>
              <a:t>25</a:t>
            </a:r>
          </a:p>
        </p:txBody>
      </p:sp>
      <p:sp>
        <p:nvSpPr>
          <p:cNvPr id="62469" name="Rectangle 4"/>
          <p:cNvSpPr>
            <a:spLocks noChangeArrowheads="1"/>
          </p:cNvSpPr>
          <p:nvPr/>
        </p:nvSpPr>
        <p:spPr bwMode="auto">
          <a:xfrm>
            <a:off x="-1588" y="8685213"/>
            <a:ext cx="2971801" cy="458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62470" name="Rectangle 5"/>
          <p:cNvSpPr>
            <a:spLocks noChangeArrowheads="1"/>
          </p:cNvSpPr>
          <p:nvPr/>
        </p:nvSpPr>
        <p:spPr bwMode="auto">
          <a:xfrm>
            <a:off x="-1588" y="0"/>
            <a:ext cx="2971801" cy="455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62471" name="Rectangle 6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52525" y="692150"/>
            <a:ext cx="4554538" cy="3416300"/>
          </a:xfrm>
          <a:solidFill>
            <a:srgbClr val="FFFFFF"/>
          </a:solidFill>
          <a:ln cap="flat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2472" name="Rectangle 7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066" tIns="46033" rIns="92066" bIns="46033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011161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19596C7-2E8D-49DD-9EB8-49C19FD22160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793709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5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46F2D700-695C-43CF-B4A1-D15F1B93FE2F}" type="slidenum">
              <a:rPr lang="en-US" altLang="en-US"/>
              <a:pPr fontAlgn="base">
                <a:spcBef>
                  <a:spcPct val="0"/>
                </a:spcBef>
                <a:spcAft>
                  <a:spcPct val="0"/>
                </a:spcAft>
              </a:pPr>
              <a:t>9</a:t>
            </a:fld>
            <a:endParaRPr lang="en-US" altLang="en-US"/>
          </a:p>
        </p:txBody>
      </p:sp>
      <p:sp>
        <p:nvSpPr>
          <p:cNvPr id="63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50938" y="692150"/>
            <a:ext cx="4556125" cy="34163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59549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5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E1D75766-64C8-46EA-A4DF-1327290DCDE5}" type="slidenum">
              <a:rPr lang="en-US" altLang="en-US"/>
              <a:pPr fontAlgn="base">
                <a:spcBef>
                  <a:spcPct val="0"/>
                </a:spcBef>
                <a:spcAft>
                  <a:spcPct val="0"/>
                </a:spcAft>
              </a:pPr>
              <a:t>10</a:t>
            </a:fld>
            <a:endParaRPr lang="en-US" altLang="en-US"/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50938" y="692150"/>
            <a:ext cx="4556125" cy="34163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441301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5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01008C13-11A8-4AAC-9AFB-7E4E10ACB42E}" type="slidenum">
              <a:rPr lang="en-US" altLang="en-US"/>
              <a:pPr fontAlgn="base">
                <a:spcBef>
                  <a:spcPct val="0"/>
                </a:spcBef>
                <a:spcAft>
                  <a:spcPct val="0"/>
                </a:spcAft>
              </a:pPr>
              <a:t>11</a:t>
            </a:fld>
            <a:endParaRPr lang="en-US" altLang="en-US"/>
          </a:p>
        </p:txBody>
      </p:sp>
      <p:sp>
        <p:nvSpPr>
          <p:cNvPr id="65539" name="Rectangle 2"/>
          <p:cNvSpPr>
            <a:spLocks noChangeArrowheads="1"/>
          </p:cNvSpPr>
          <p:nvPr/>
        </p:nvSpPr>
        <p:spPr bwMode="auto">
          <a:xfrm>
            <a:off x="3884613" y="0"/>
            <a:ext cx="2973387" cy="455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65540" name="Rectangle 3"/>
          <p:cNvSpPr>
            <a:spLocks noChangeArrowheads="1"/>
          </p:cNvSpPr>
          <p:nvPr/>
        </p:nvSpPr>
        <p:spPr bwMode="auto">
          <a:xfrm>
            <a:off x="3884613" y="8685213"/>
            <a:ext cx="2973387" cy="458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9049" tIns="0" rIns="19049" bIns="0" anchor="b"/>
          <a:lstStyle/>
          <a:p>
            <a:pPr algn="r" eaLnBrk="0" hangingPunct="0"/>
            <a:r>
              <a:rPr lang="en-US" altLang="en-US" sz="1000" i="1">
                <a:latin typeface="Times New Roman" pitchFamily="18" charset="0"/>
              </a:rPr>
              <a:t>27</a:t>
            </a:r>
          </a:p>
        </p:txBody>
      </p:sp>
      <p:sp>
        <p:nvSpPr>
          <p:cNvPr id="65541" name="Rectangle 4"/>
          <p:cNvSpPr>
            <a:spLocks noChangeArrowheads="1"/>
          </p:cNvSpPr>
          <p:nvPr/>
        </p:nvSpPr>
        <p:spPr bwMode="auto">
          <a:xfrm>
            <a:off x="-1588" y="8685213"/>
            <a:ext cx="2971801" cy="458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65542" name="Rectangle 5"/>
          <p:cNvSpPr>
            <a:spLocks noChangeArrowheads="1"/>
          </p:cNvSpPr>
          <p:nvPr/>
        </p:nvSpPr>
        <p:spPr bwMode="auto">
          <a:xfrm>
            <a:off x="-1588" y="0"/>
            <a:ext cx="2971801" cy="455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65543" name="Rectangle 6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52525" y="692150"/>
            <a:ext cx="4554538" cy="3416300"/>
          </a:xfrm>
          <a:solidFill>
            <a:srgbClr val="FFFFFF"/>
          </a:solidFill>
          <a:ln cap="flat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5544" name="Rectangle 7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066" tIns="46033" rIns="92066" bIns="46033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147364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5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368ECEC1-8958-4D1A-9BBE-B25C4828A18F}" type="slidenum">
              <a:rPr lang="en-US" altLang="en-US"/>
              <a:pPr fontAlgn="base">
                <a:spcBef>
                  <a:spcPct val="0"/>
                </a:spcBef>
                <a:spcAft>
                  <a:spcPct val="0"/>
                </a:spcAft>
              </a:pPr>
              <a:t>23</a:t>
            </a:fld>
            <a:endParaRPr lang="en-US" altLang="en-US"/>
          </a:p>
        </p:txBody>
      </p:sp>
      <p:sp>
        <p:nvSpPr>
          <p:cNvPr id="66563" name="Rectangle 2"/>
          <p:cNvSpPr>
            <a:spLocks noChangeArrowheads="1"/>
          </p:cNvSpPr>
          <p:nvPr/>
        </p:nvSpPr>
        <p:spPr bwMode="auto">
          <a:xfrm>
            <a:off x="3884613" y="0"/>
            <a:ext cx="2973387" cy="455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66564" name="Rectangle 3"/>
          <p:cNvSpPr>
            <a:spLocks noChangeArrowheads="1"/>
          </p:cNvSpPr>
          <p:nvPr/>
        </p:nvSpPr>
        <p:spPr bwMode="auto">
          <a:xfrm>
            <a:off x="3884613" y="8685213"/>
            <a:ext cx="2973387" cy="458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9049" tIns="0" rIns="19049" bIns="0" anchor="b"/>
          <a:lstStyle/>
          <a:p>
            <a:pPr algn="r" eaLnBrk="0" hangingPunct="0"/>
            <a:r>
              <a:rPr lang="en-US" altLang="en-US" sz="1000" i="1">
                <a:latin typeface="Times New Roman" pitchFamily="18" charset="0"/>
              </a:rPr>
              <a:t>36</a:t>
            </a:r>
          </a:p>
        </p:txBody>
      </p:sp>
      <p:sp>
        <p:nvSpPr>
          <p:cNvPr id="66565" name="Rectangle 4"/>
          <p:cNvSpPr>
            <a:spLocks noChangeArrowheads="1"/>
          </p:cNvSpPr>
          <p:nvPr/>
        </p:nvSpPr>
        <p:spPr bwMode="auto">
          <a:xfrm>
            <a:off x="-1588" y="8685213"/>
            <a:ext cx="2971801" cy="458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66566" name="Rectangle 5"/>
          <p:cNvSpPr>
            <a:spLocks noChangeArrowheads="1"/>
          </p:cNvSpPr>
          <p:nvPr/>
        </p:nvSpPr>
        <p:spPr bwMode="auto">
          <a:xfrm>
            <a:off x="-1588" y="0"/>
            <a:ext cx="2971801" cy="455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66567" name="Rectangle 6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52525" y="692150"/>
            <a:ext cx="4554538" cy="3416300"/>
          </a:xfrm>
          <a:solidFill>
            <a:srgbClr val="FFFFFF"/>
          </a:solidFill>
          <a:ln cap="flat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6568" name="Rectangle 7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066" tIns="46033" rIns="92066" bIns="46033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6886290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79A91C4-A438-429F-AA99-F42385454554}" type="slidenum">
              <a:rPr lang="en-US"/>
              <a:pPr/>
              <a:t>30</a:t>
            </a:fld>
            <a:endParaRPr lang="en-US"/>
          </a:p>
        </p:txBody>
      </p:sp>
      <p:sp>
        <p:nvSpPr>
          <p:cNvPr id="317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162318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3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2525" y="692150"/>
            <a:ext cx="4554538" cy="3416300"/>
          </a:xfrm>
          <a:ln cap="flat"/>
        </p:spPr>
      </p:sp>
      <p:sp>
        <p:nvSpPr>
          <p:cNvPr id="226307" name="Rectangle 3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800894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5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2525" y="692150"/>
            <a:ext cx="4554538" cy="3416300"/>
          </a:xfrm>
          <a:ln cap="flat"/>
        </p:spPr>
      </p:sp>
      <p:sp>
        <p:nvSpPr>
          <p:cNvPr id="322563" name="Rectangle 3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903437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50047A1-9781-471F-825A-9621163EF9B8}" type="slidenum">
              <a:rPr lang="en-US"/>
              <a:pPr/>
              <a:t>33</a:t>
            </a:fld>
            <a:endParaRPr lang="en-US"/>
          </a:p>
        </p:txBody>
      </p:sp>
      <p:sp>
        <p:nvSpPr>
          <p:cNvPr id="327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60133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4485">
              <a:defRPr sz="3000">
                <a:solidFill>
                  <a:schemeClr val="tx1"/>
                </a:solidFill>
                <a:latin typeface="Times New Roman" pitchFamily="-109" charset="0"/>
                <a:ea typeface="ＭＳ Ｐゴシック" pitchFamily="-109" charset="-128"/>
              </a:defRPr>
            </a:lvl1pPr>
            <a:lvl2pPr marL="35879619" indent="-35447153" defTabSz="914485">
              <a:defRPr sz="3000">
                <a:solidFill>
                  <a:schemeClr val="tx1"/>
                </a:solidFill>
                <a:latin typeface="Times New Roman" pitchFamily="-109" charset="0"/>
                <a:ea typeface="ＭＳ Ｐゴシック" pitchFamily="-109" charset="-128"/>
              </a:defRPr>
            </a:lvl2pPr>
            <a:lvl3pPr>
              <a:defRPr sz="3000">
                <a:solidFill>
                  <a:schemeClr val="tx1"/>
                </a:solidFill>
                <a:latin typeface="Times New Roman" pitchFamily="-109" charset="0"/>
                <a:ea typeface="ＭＳ Ｐゴシック" pitchFamily="-109" charset="-128"/>
              </a:defRPr>
            </a:lvl3pPr>
            <a:lvl4pPr>
              <a:defRPr sz="3000">
                <a:solidFill>
                  <a:schemeClr val="tx1"/>
                </a:solidFill>
                <a:latin typeface="Times New Roman" pitchFamily="-109" charset="0"/>
                <a:ea typeface="ＭＳ Ｐゴシック" pitchFamily="-109" charset="-128"/>
              </a:defRPr>
            </a:lvl4pPr>
            <a:lvl5pPr>
              <a:defRPr sz="3000">
                <a:solidFill>
                  <a:schemeClr val="tx1"/>
                </a:solidFill>
                <a:latin typeface="Times New Roman" pitchFamily="-109" charset="0"/>
                <a:ea typeface="ＭＳ Ｐゴシック" pitchFamily="-109" charset="-128"/>
              </a:defRPr>
            </a:lvl5pPr>
            <a:lvl6pPr marL="432465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Times New Roman" pitchFamily="-109" charset="0"/>
                <a:ea typeface="ＭＳ Ｐゴシック" pitchFamily="-109" charset="-128"/>
              </a:defRPr>
            </a:lvl6pPr>
            <a:lvl7pPr marL="864931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Times New Roman" pitchFamily="-109" charset="0"/>
                <a:ea typeface="ＭＳ Ｐゴシック" pitchFamily="-109" charset="-128"/>
              </a:defRPr>
            </a:lvl7pPr>
            <a:lvl8pPr marL="1297396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Times New Roman" pitchFamily="-109" charset="0"/>
                <a:ea typeface="ＭＳ Ｐゴシック" pitchFamily="-109" charset="-128"/>
              </a:defRPr>
            </a:lvl8pPr>
            <a:lvl9pPr marL="1729862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Times New Roman" pitchFamily="-109" charset="0"/>
                <a:ea typeface="ＭＳ Ｐゴシック" pitchFamily="-109" charset="-128"/>
              </a:defRPr>
            </a:lvl9pPr>
          </a:lstStyle>
          <a:p>
            <a:fld id="{3D46E375-B7BB-42C9-8802-EC12D00C7796}" type="slidenum">
              <a:rPr lang="en-US" sz="900"/>
              <a:pPr/>
              <a:t>34</a:t>
            </a:fld>
            <a:endParaRPr lang="en-US" sz="900"/>
          </a:p>
        </p:txBody>
      </p:sp>
      <p:sp>
        <p:nvSpPr>
          <p:cNvPr id="18435" name="Rectangle 1026"/>
          <p:cNvSpPr>
            <a:spLocks noChangeArrowheads="1"/>
          </p:cNvSpPr>
          <p:nvPr/>
        </p:nvSpPr>
        <p:spPr bwMode="auto">
          <a:xfrm>
            <a:off x="3885903" y="1"/>
            <a:ext cx="2972097" cy="4565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6493" tIns="43247" rIns="86493" bIns="43247" anchor="ctr"/>
          <a:lstStyle/>
          <a:p>
            <a:endParaRPr lang="en-US"/>
          </a:p>
        </p:txBody>
      </p:sp>
      <p:sp>
        <p:nvSpPr>
          <p:cNvPr id="18436" name="Rectangle 1027"/>
          <p:cNvSpPr>
            <a:spLocks noChangeArrowheads="1"/>
          </p:cNvSpPr>
          <p:nvPr/>
        </p:nvSpPr>
        <p:spPr bwMode="auto">
          <a:xfrm>
            <a:off x="3885903" y="8687405"/>
            <a:ext cx="2972097" cy="4565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9049" tIns="0" rIns="19049" bIns="0" anchor="b"/>
          <a:lstStyle/>
          <a:p>
            <a:pPr algn="r" defTabSz="914485"/>
            <a:r>
              <a:rPr lang="en-US" sz="900" i="1"/>
              <a:t>2</a:t>
            </a:r>
          </a:p>
        </p:txBody>
      </p:sp>
      <p:sp>
        <p:nvSpPr>
          <p:cNvPr id="18437" name="Rectangle 1028"/>
          <p:cNvSpPr>
            <a:spLocks noChangeArrowheads="1"/>
          </p:cNvSpPr>
          <p:nvPr/>
        </p:nvSpPr>
        <p:spPr bwMode="auto">
          <a:xfrm>
            <a:off x="0" y="8687405"/>
            <a:ext cx="2972098" cy="4565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6493" tIns="43247" rIns="86493" bIns="43247" anchor="ctr"/>
          <a:lstStyle/>
          <a:p>
            <a:endParaRPr lang="en-US"/>
          </a:p>
        </p:txBody>
      </p:sp>
      <p:sp>
        <p:nvSpPr>
          <p:cNvPr id="18438" name="Rectangle 1029"/>
          <p:cNvSpPr>
            <a:spLocks noChangeArrowheads="1"/>
          </p:cNvSpPr>
          <p:nvPr/>
        </p:nvSpPr>
        <p:spPr bwMode="auto">
          <a:xfrm>
            <a:off x="0" y="1"/>
            <a:ext cx="2972098" cy="4565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6493" tIns="43247" rIns="86493" bIns="43247" anchor="ctr"/>
          <a:lstStyle/>
          <a:p>
            <a:endParaRPr lang="en-US"/>
          </a:p>
        </p:txBody>
      </p:sp>
      <p:sp>
        <p:nvSpPr>
          <p:cNvPr id="18439" name="Rectangle 1030"/>
          <p:cNvSpPr>
            <a:spLocks noChangeArrowheads="1"/>
          </p:cNvSpPr>
          <p:nvPr/>
        </p:nvSpPr>
        <p:spPr bwMode="auto">
          <a:xfrm>
            <a:off x="3884415" y="0"/>
            <a:ext cx="2973586" cy="4550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6493" tIns="43247" rIns="86493" bIns="43247" anchor="ctr"/>
          <a:lstStyle/>
          <a:p>
            <a:endParaRPr lang="en-US"/>
          </a:p>
        </p:txBody>
      </p:sp>
      <p:sp>
        <p:nvSpPr>
          <p:cNvPr id="18440" name="Rectangle 1031"/>
          <p:cNvSpPr>
            <a:spLocks noChangeArrowheads="1"/>
          </p:cNvSpPr>
          <p:nvPr/>
        </p:nvSpPr>
        <p:spPr bwMode="auto">
          <a:xfrm>
            <a:off x="3884415" y="8685893"/>
            <a:ext cx="2973586" cy="458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9049" tIns="0" rIns="19049" bIns="0" anchor="b"/>
          <a:lstStyle/>
          <a:p>
            <a:pPr algn="r" defTabSz="914485"/>
            <a:r>
              <a:rPr lang="en-US" sz="900" i="1"/>
              <a:t>2</a:t>
            </a:r>
          </a:p>
        </p:txBody>
      </p:sp>
      <p:sp>
        <p:nvSpPr>
          <p:cNvPr id="18441" name="Rectangle 1032"/>
          <p:cNvSpPr>
            <a:spLocks noChangeArrowheads="1"/>
          </p:cNvSpPr>
          <p:nvPr/>
        </p:nvSpPr>
        <p:spPr bwMode="auto">
          <a:xfrm>
            <a:off x="-1489" y="8685893"/>
            <a:ext cx="2972098" cy="458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6493" tIns="43247" rIns="86493" bIns="43247" anchor="ctr"/>
          <a:lstStyle/>
          <a:p>
            <a:endParaRPr lang="en-US"/>
          </a:p>
        </p:txBody>
      </p:sp>
      <p:sp>
        <p:nvSpPr>
          <p:cNvPr id="18442" name="Rectangle 1033"/>
          <p:cNvSpPr>
            <a:spLocks noChangeArrowheads="1"/>
          </p:cNvSpPr>
          <p:nvPr/>
        </p:nvSpPr>
        <p:spPr bwMode="auto">
          <a:xfrm>
            <a:off x="-1489" y="0"/>
            <a:ext cx="2972098" cy="4550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6493" tIns="43247" rIns="86493" bIns="43247" anchor="ctr"/>
          <a:lstStyle/>
          <a:p>
            <a:endParaRPr lang="en-US"/>
          </a:p>
        </p:txBody>
      </p:sp>
      <p:sp>
        <p:nvSpPr>
          <p:cNvPr id="18443" name="Rectangle 1034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  <p:sp>
        <p:nvSpPr>
          <p:cNvPr id="18444" name="Rectangle 1035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23068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4485">
              <a:defRPr sz="3000">
                <a:solidFill>
                  <a:schemeClr val="tx1"/>
                </a:solidFill>
                <a:latin typeface="Times New Roman" pitchFamily="-109" charset="0"/>
                <a:ea typeface="ＭＳ Ｐゴシック" pitchFamily="-109" charset="-128"/>
              </a:defRPr>
            </a:lvl1pPr>
            <a:lvl2pPr marL="35879619" indent="-35447153" defTabSz="914485">
              <a:defRPr sz="3000">
                <a:solidFill>
                  <a:schemeClr val="tx1"/>
                </a:solidFill>
                <a:latin typeface="Times New Roman" pitchFamily="-109" charset="0"/>
                <a:ea typeface="ＭＳ Ｐゴシック" pitchFamily="-109" charset="-128"/>
              </a:defRPr>
            </a:lvl2pPr>
            <a:lvl3pPr>
              <a:defRPr sz="3000">
                <a:solidFill>
                  <a:schemeClr val="tx1"/>
                </a:solidFill>
                <a:latin typeface="Times New Roman" pitchFamily="-109" charset="0"/>
                <a:ea typeface="ＭＳ Ｐゴシック" pitchFamily="-109" charset="-128"/>
              </a:defRPr>
            </a:lvl3pPr>
            <a:lvl4pPr>
              <a:defRPr sz="3000">
                <a:solidFill>
                  <a:schemeClr val="tx1"/>
                </a:solidFill>
                <a:latin typeface="Times New Roman" pitchFamily="-109" charset="0"/>
                <a:ea typeface="ＭＳ Ｐゴシック" pitchFamily="-109" charset="-128"/>
              </a:defRPr>
            </a:lvl4pPr>
            <a:lvl5pPr>
              <a:defRPr sz="3000">
                <a:solidFill>
                  <a:schemeClr val="tx1"/>
                </a:solidFill>
                <a:latin typeface="Times New Roman" pitchFamily="-109" charset="0"/>
                <a:ea typeface="ＭＳ Ｐゴシック" pitchFamily="-109" charset="-128"/>
              </a:defRPr>
            </a:lvl5pPr>
            <a:lvl6pPr marL="432465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Times New Roman" pitchFamily="-109" charset="0"/>
                <a:ea typeface="ＭＳ Ｐゴシック" pitchFamily="-109" charset="-128"/>
              </a:defRPr>
            </a:lvl6pPr>
            <a:lvl7pPr marL="864931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Times New Roman" pitchFamily="-109" charset="0"/>
                <a:ea typeface="ＭＳ Ｐゴシック" pitchFamily="-109" charset="-128"/>
              </a:defRPr>
            </a:lvl7pPr>
            <a:lvl8pPr marL="1297396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Times New Roman" pitchFamily="-109" charset="0"/>
                <a:ea typeface="ＭＳ Ｐゴシック" pitchFamily="-109" charset="-128"/>
              </a:defRPr>
            </a:lvl8pPr>
            <a:lvl9pPr marL="1729862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Times New Roman" pitchFamily="-109" charset="0"/>
                <a:ea typeface="ＭＳ Ｐゴシック" pitchFamily="-109" charset="-128"/>
              </a:defRPr>
            </a:lvl9pPr>
          </a:lstStyle>
          <a:p>
            <a:fld id="{DE51F58E-6E8B-44B4-A5D8-DEBE0D9A013F}" type="slidenum">
              <a:rPr lang="en-US" sz="900"/>
              <a:pPr/>
              <a:t>37</a:t>
            </a:fld>
            <a:endParaRPr lang="en-US" sz="900"/>
          </a:p>
        </p:txBody>
      </p:sp>
      <p:sp>
        <p:nvSpPr>
          <p:cNvPr id="20483" name="Rectangle 1026"/>
          <p:cNvSpPr>
            <a:spLocks noChangeArrowheads="1"/>
          </p:cNvSpPr>
          <p:nvPr/>
        </p:nvSpPr>
        <p:spPr bwMode="auto">
          <a:xfrm>
            <a:off x="3885903" y="1"/>
            <a:ext cx="2972097" cy="4565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6493" tIns="43247" rIns="86493" bIns="43247" anchor="ctr"/>
          <a:lstStyle/>
          <a:p>
            <a:endParaRPr lang="en-US"/>
          </a:p>
        </p:txBody>
      </p:sp>
      <p:sp>
        <p:nvSpPr>
          <p:cNvPr id="20484" name="Rectangle 1027"/>
          <p:cNvSpPr>
            <a:spLocks noChangeArrowheads="1"/>
          </p:cNvSpPr>
          <p:nvPr/>
        </p:nvSpPr>
        <p:spPr bwMode="auto">
          <a:xfrm>
            <a:off x="3885903" y="8687405"/>
            <a:ext cx="2972097" cy="4565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9049" tIns="0" rIns="19049" bIns="0" anchor="b"/>
          <a:lstStyle/>
          <a:p>
            <a:pPr algn="r" defTabSz="914485"/>
            <a:r>
              <a:rPr lang="en-US" sz="900" i="1"/>
              <a:t>3</a:t>
            </a:r>
          </a:p>
        </p:txBody>
      </p:sp>
      <p:sp>
        <p:nvSpPr>
          <p:cNvPr id="20485" name="Rectangle 1028"/>
          <p:cNvSpPr>
            <a:spLocks noChangeArrowheads="1"/>
          </p:cNvSpPr>
          <p:nvPr/>
        </p:nvSpPr>
        <p:spPr bwMode="auto">
          <a:xfrm>
            <a:off x="0" y="8687405"/>
            <a:ext cx="2972098" cy="4565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6493" tIns="43247" rIns="86493" bIns="43247" anchor="ctr"/>
          <a:lstStyle/>
          <a:p>
            <a:endParaRPr lang="en-US"/>
          </a:p>
        </p:txBody>
      </p:sp>
      <p:sp>
        <p:nvSpPr>
          <p:cNvPr id="20486" name="Rectangle 1029"/>
          <p:cNvSpPr>
            <a:spLocks noChangeArrowheads="1"/>
          </p:cNvSpPr>
          <p:nvPr/>
        </p:nvSpPr>
        <p:spPr bwMode="auto">
          <a:xfrm>
            <a:off x="0" y="1"/>
            <a:ext cx="2972098" cy="4565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6493" tIns="43247" rIns="86493" bIns="43247" anchor="ctr"/>
          <a:lstStyle/>
          <a:p>
            <a:endParaRPr lang="en-US"/>
          </a:p>
        </p:txBody>
      </p:sp>
      <p:sp>
        <p:nvSpPr>
          <p:cNvPr id="20487" name="Rectangle 1030"/>
          <p:cNvSpPr>
            <a:spLocks noChangeArrowheads="1"/>
          </p:cNvSpPr>
          <p:nvPr/>
        </p:nvSpPr>
        <p:spPr bwMode="auto">
          <a:xfrm>
            <a:off x="3884415" y="0"/>
            <a:ext cx="2973586" cy="4550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6493" tIns="43247" rIns="86493" bIns="43247" anchor="ctr"/>
          <a:lstStyle/>
          <a:p>
            <a:endParaRPr lang="en-US"/>
          </a:p>
        </p:txBody>
      </p:sp>
      <p:sp>
        <p:nvSpPr>
          <p:cNvPr id="20488" name="Rectangle 1031"/>
          <p:cNvSpPr>
            <a:spLocks noChangeArrowheads="1"/>
          </p:cNvSpPr>
          <p:nvPr/>
        </p:nvSpPr>
        <p:spPr bwMode="auto">
          <a:xfrm>
            <a:off x="3884415" y="8685893"/>
            <a:ext cx="2973586" cy="458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9049" tIns="0" rIns="19049" bIns="0" anchor="b"/>
          <a:lstStyle/>
          <a:p>
            <a:pPr algn="r" defTabSz="914485"/>
            <a:r>
              <a:rPr lang="en-US" sz="900" i="1"/>
              <a:t>3</a:t>
            </a:r>
          </a:p>
        </p:txBody>
      </p:sp>
      <p:sp>
        <p:nvSpPr>
          <p:cNvPr id="20489" name="Rectangle 1032"/>
          <p:cNvSpPr>
            <a:spLocks noChangeArrowheads="1"/>
          </p:cNvSpPr>
          <p:nvPr/>
        </p:nvSpPr>
        <p:spPr bwMode="auto">
          <a:xfrm>
            <a:off x="-1489" y="8685893"/>
            <a:ext cx="2972098" cy="458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6493" tIns="43247" rIns="86493" bIns="43247" anchor="ctr"/>
          <a:lstStyle/>
          <a:p>
            <a:endParaRPr lang="en-US"/>
          </a:p>
        </p:txBody>
      </p:sp>
      <p:sp>
        <p:nvSpPr>
          <p:cNvPr id="20490" name="Rectangle 1033"/>
          <p:cNvSpPr>
            <a:spLocks noChangeArrowheads="1"/>
          </p:cNvSpPr>
          <p:nvPr/>
        </p:nvSpPr>
        <p:spPr bwMode="auto">
          <a:xfrm>
            <a:off x="-1489" y="0"/>
            <a:ext cx="2972098" cy="4550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6493" tIns="43247" rIns="86493" bIns="43247" anchor="ctr"/>
          <a:lstStyle/>
          <a:p>
            <a:endParaRPr lang="en-US"/>
          </a:p>
        </p:txBody>
      </p:sp>
      <p:sp>
        <p:nvSpPr>
          <p:cNvPr id="20491" name="Rectangle 1034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  <p:sp>
        <p:nvSpPr>
          <p:cNvPr id="20492" name="Rectangle 1035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326237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4485">
              <a:defRPr sz="3000">
                <a:solidFill>
                  <a:schemeClr val="tx1"/>
                </a:solidFill>
                <a:latin typeface="Times New Roman" pitchFamily="-109" charset="0"/>
                <a:ea typeface="ＭＳ Ｐゴシック" pitchFamily="-109" charset="-128"/>
              </a:defRPr>
            </a:lvl1pPr>
            <a:lvl2pPr marL="35879619" indent="-35447153" defTabSz="914485">
              <a:defRPr sz="3000">
                <a:solidFill>
                  <a:schemeClr val="tx1"/>
                </a:solidFill>
                <a:latin typeface="Times New Roman" pitchFamily="-109" charset="0"/>
                <a:ea typeface="ＭＳ Ｐゴシック" pitchFamily="-109" charset="-128"/>
              </a:defRPr>
            </a:lvl2pPr>
            <a:lvl3pPr>
              <a:defRPr sz="3000">
                <a:solidFill>
                  <a:schemeClr val="tx1"/>
                </a:solidFill>
                <a:latin typeface="Times New Roman" pitchFamily="-109" charset="0"/>
                <a:ea typeface="ＭＳ Ｐゴシック" pitchFamily="-109" charset="-128"/>
              </a:defRPr>
            </a:lvl3pPr>
            <a:lvl4pPr>
              <a:defRPr sz="3000">
                <a:solidFill>
                  <a:schemeClr val="tx1"/>
                </a:solidFill>
                <a:latin typeface="Times New Roman" pitchFamily="-109" charset="0"/>
                <a:ea typeface="ＭＳ Ｐゴシック" pitchFamily="-109" charset="-128"/>
              </a:defRPr>
            </a:lvl4pPr>
            <a:lvl5pPr>
              <a:defRPr sz="3000">
                <a:solidFill>
                  <a:schemeClr val="tx1"/>
                </a:solidFill>
                <a:latin typeface="Times New Roman" pitchFamily="-109" charset="0"/>
                <a:ea typeface="ＭＳ Ｐゴシック" pitchFamily="-109" charset="-128"/>
              </a:defRPr>
            </a:lvl5pPr>
            <a:lvl6pPr marL="432465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Times New Roman" pitchFamily="-109" charset="0"/>
                <a:ea typeface="ＭＳ Ｐゴシック" pitchFamily="-109" charset="-128"/>
              </a:defRPr>
            </a:lvl6pPr>
            <a:lvl7pPr marL="864931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Times New Roman" pitchFamily="-109" charset="0"/>
                <a:ea typeface="ＭＳ Ｐゴシック" pitchFamily="-109" charset="-128"/>
              </a:defRPr>
            </a:lvl7pPr>
            <a:lvl8pPr marL="1297396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Times New Roman" pitchFamily="-109" charset="0"/>
                <a:ea typeface="ＭＳ Ｐゴシック" pitchFamily="-109" charset="-128"/>
              </a:defRPr>
            </a:lvl8pPr>
            <a:lvl9pPr marL="1729862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Times New Roman" pitchFamily="-109" charset="0"/>
                <a:ea typeface="ＭＳ Ｐゴシック" pitchFamily="-109" charset="-128"/>
              </a:defRPr>
            </a:lvl9pPr>
          </a:lstStyle>
          <a:p>
            <a:fld id="{E6C33F15-F265-43ED-B0A3-19B332198B51}" type="slidenum">
              <a:rPr lang="en-US" sz="900"/>
              <a:pPr/>
              <a:t>38</a:t>
            </a:fld>
            <a:endParaRPr lang="en-US" sz="900"/>
          </a:p>
        </p:txBody>
      </p:sp>
      <p:sp>
        <p:nvSpPr>
          <p:cNvPr id="22531" name="Rectangle 1026"/>
          <p:cNvSpPr>
            <a:spLocks noChangeArrowheads="1"/>
          </p:cNvSpPr>
          <p:nvPr/>
        </p:nvSpPr>
        <p:spPr bwMode="auto">
          <a:xfrm>
            <a:off x="3885903" y="1"/>
            <a:ext cx="2972097" cy="4565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6493" tIns="43247" rIns="86493" bIns="43247" anchor="ctr"/>
          <a:lstStyle/>
          <a:p>
            <a:endParaRPr lang="en-US"/>
          </a:p>
        </p:txBody>
      </p:sp>
      <p:sp>
        <p:nvSpPr>
          <p:cNvPr id="22532" name="Rectangle 1027"/>
          <p:cNvSpPr>
            <a:spLocks noChangeArrowheads="1"/>
          </p:cNvSpPr>
          <p:nvPr/>
        </p:nvSpPr>
        <p:spPr bwMode="auto">
          <a:xfrm>
            <a:off x="3885903" y="8687405"/>
            <a:ext cx="2972097" cy="4565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9049" tIns="0" rIns="19049" bIns="0" anchor="b"/>
          <a:lstStyle/>
          <a:p>
            <a:pPr algn="r" defTabSz="914485"/>
            <a:r>
              <a:rPr lang="en-US" sz="900" i="1"/>
              <a:t>4</a:t>
            </a:r>
          </a:p>
        </p:txBody>
      </p:sp>
      <p:sp>
        <p:nvSpPr>
          <p:cNvPr id="22533" name="Rectangle 1028"/>
          <p:cNvSpPr>
            <a:spLocks noChangeArrowheads="1"/>
          </p:cNvSpPr>
          <p:nvPr/>
        </p:nvSpPr>
        <p:spPr bwMode="auto">
          <a:xfrm>
            <a:off x="0" y="8687405"/>
            <a:ext cx="2972098" cy="4565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6493" tIns="43247" rIns="86493" bIns="43247" anchor="ctr"/>
          <a:lstStyle/>
          <a:p>
            <a:endParaRPr lang="en-US"/>
          </a:p>
        </p:txBody>
      </p:sp>
      <p:sp>
        <p:nvSpPr>
          <p:cNvPr id="22534" name="Rectangle 1029"/>
          <p:cNvSpPr>
            <a:spLocks noChangeArrowheads="1"/>
          </p:cNvSpPr>
          <p:nvPr/>
        </p:nvSpPr>
        <p:spPr bwMode="auto">
          <a:xfrm>
            <a:off x="0" y="1"/>
            <a:ext cx="2972098" cy="4565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6493" tIns="43247" rIns="86493" bIns="43247" anchor="ctr"/>
          <a:lstStyle/>
          <a:p>
            <a:endParaRPr lang="en-US"/>
          </a:p>
        </p:txBody>
      </p:sp>
      <p:sp>
        <p:nvSpPr>
          <p:cNvPr id="22535" name="Rectangle 1030"/>
          <p:cNvSpPr>
            <a:spLocks noChangeArrowheads="1"/>
          </p:cNvSpPr>
          <p:nvPr/>
        </p:nvSpPr>
        <p:spPr bwMode="auto">
          <a:xfrm>
            <a:off x="3884415" y="0"/>
            <a:ext cx="2973586" cy="4550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6493" tIns="43247" rIns="86493" bIns="43247" anchor="ctr"/>
          <a:lstStyle/>
          <a:p>
            <a:endParaRPr lang="en-US"/>
          </a:p>
        </p:txBody>
      </p:sp>
      <p:sp>
        <p:nvSpPr>
          <p:cNvPr id="22536" name="Rectangle 1031"/>
          <p:cNvSpPr>
            <a:spLocks noChangeArrowheads="1"/>
          </p:cNvSpPr>
          <p:nvPr/>
        </p:nvSpPr>
        <p:spPr bwMode="auto">
          <a:xfrm>
            <a:off x="3884415" y="8685893"/>
            <a:ext cx="2973586" cy="458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9049" tIns="0" rIns="19049" bIns="0" anchor="b"/>
          <a:lstStyle/>
          <a:p>
            <a:pPr algn="r" defTabSz="914485"/>
            <a:r>
              <a:rPr lang="en-US" sz="900" i="1"/>
              <a:t>4</a:t>
            </a:r>
          </a:p>
        </p:txBody>
      </p:sp>
      <p:sp>
        <p:nvSpPr>
          <p:cNvPr id="22537" name="Rectangle 1032"/>
          <p:cNvSpPr>
            <a:spLocks noChangeArrowheads="1"/>
          </p:cNvSpPr>
          <p:nvPr/>
        </p:nvSpPr>
        <p:spPr bwMode="auto">
          <a:xfrm>
            <a:off x="-1489" y="8685893"/>
            <a:ext cx="2972098" cy="458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6493" tIns="43247" rIns="86493" bIns="43247" anchor="ctr"/>
          <a:lstStyle/>
          <a:p>
            <a:endParaRPr lang="en-US"/>
          </a:p>
        </p:txBody>
      </p:sp>
      <p:sp>
        <p:nvSpPr>
          <p:cNvPr id="22538" name="Rectangle 1033"/>
          <p:cNvSpPr>
            <a:spLocks noChangeArrowheads="1"/>
          </p:cNvSpPr>
          <p:nvPr/>
        </p:nvSpPr>
        <p:spPr bwMode="auto">
          <a:xfrm>
            <a:off x="-1489" y="0"/>
            <a:ext cx="2972098" cy="4550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6493" tIns="43247" rIns="86493" bIns="43247" anchor="ctr"/>
          <a:lstStyle/>
          <a:p>
            <a:endParaRPr lang="en-US"/>
          </a:p>
        </p:txBody>
      </p:sp>
      <p:sp>
        <p:nvSpPr>
          <p:cNvPr id="22539" name="Rectangle 1034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  <p:sp>
        <p:nvSpPr>
          <p:cNvPr id="22540" name="Rectangle 1035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087833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4485">
              <a:defRPr sz="3000">
                <a:solidFill>
                  <a:schemeClr val="tx1"/>
                </a:solidFill>
                <a:latin typeface="Times New Roman" pitchFamily="-109" charset="0"/>
                <a:ea typeface="ＭＳ Ｐゴシック" pitchFamily="-109" charset="-128"/>
              </a:defRPr>
            </a:lvl1pPr>
            <a:lvl2pPr marL="35879619" indent="-35447153" defTabSz="914485">
              <a:defRPr sz="3000">
                <a:solidFill>
                  <a:schemeClr val="tx1"/>
                </a:solidFill>
                <a:latin typeface="Times New Roman" pitchFamily="-109" charset="0"/>
                <a:ea typeface="ＭＳ Ｐゴシック" pitchFamily="-109" charset="-128"/>
              </a:defRPr>
            </a:lvl2pPr>
            <a:lvl3pPr>
              <a:defRPr sz="3000">
                <a:solidFill>
                  <a:schemeClr val="tx1"/>
                </a:solidFill>
                <a:latin typeface="Times New Roman" pitchFamily="-109" charset="0"/>
                <a:ea typeface="ＭＳ Ｐゴシック" pitchFamily="-109" charset="-128"/>
              </a:defRPr>
            </a:lvl3pPr>
            <a:lvl4pPr>
              <a:defRPr sz="3000">
                <a:solidFill>
                  <a:schemeClr val="tx1"/>
                </a:solidFill>
                <a:latin typeface="Times New Roman" pitchFamily="-109" charset="0"/>
                <a:ea typeface="ＭＳ Ｐゴシック" pitchFamily="-109" charset="-128"/>
              </a:defRPr>
            </a:lvl4pPr>
            <a:lvl5pPr>
              <a:defRPr sz="3000">
                <a:solidFill>
                  <a:schemeClr val="tx1"/>
                </a:solidFill>
                <a:latin typeface="Times New Roman" pitchFamily="-109" charset="0"/>
                <a:ea typeface="ＭＳ Ｐゴシック" pitchFamily="-109" charset="-128"/>
              </a:defRPr>
            </a:lvl5pPr>
            <a:lvl6pPr marL="432465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Times New Roman" pitchFamily="-109" charset="0"/>
                <a:ea typeface="ＭＳ Ｐゴシック" pitchFamily="-109" charset="-128"/>
              </a:defRPr>
            </a:lvl6pPr>
            <a:lvl7pPr marL="864931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Times New Roman" pitchFamily="-109" charset="0"/>
                <a:ea typeface="ＭＳ Ｐゴシック" pitchFamily="-109" charset="-128"/>
              </a:defRPr>
            </a:lvl7pPr>
            <a:lvl8pPr marL="1297396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Times New Roman" pitchFamily="-109" charset="0"/>
                <a:ea typeface="ＭＳ Ｐゴシック" pitchFamily="-109" charset="-128"/>
              </a:defRPr>
            </a:lvl8pPr>
            <a:lvl9pPr marL="1729862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Times New Roman" pitchFamily="-109" charset="0"/>
                <a:ea typeface="ＭＳ Ｐゴシック" pitchFamily="-109" charset="-128"/>
              </a:defRPr>
            </a:lvl9pPr>
          </a:lstStyle>
          <a:p>
            <a:fld id="{A89D27C1-4E25-4F87-B06C-F1605851ED3C}" type="slidenum">
              <a:rPr lang="en-US" sz="900"/>
              <a:pPr/>
              <a:t>39</a:t>
            </a:fld>
            <a:endParaRPr lang="en-US" sz="900"/>
          </a:p>
        </p:txBody>
      </p:sp>
      <p:sp>
        <p:nvSpPr>
          <p:cNvPr id="24579" name="Rectangle 2050"/>
          <p:cNvSpPr>
            <a:spLocks noChangeArrowheads="1"/>
          </p:cNvSpPr>
          <p:nvPr/>
        </p:nvSpPr>
        <p:spPr bwMode="auto">
          <a:xfrm>
            <a:off x="3885903" y="1"/>
            <a:ext cx="2972097" cy="4565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6493" tIns="43247" rIns="86493" bIns="43247" anchor="ctr"/>
          <a:lstStyle/>
          <a:p>
            <a:endParaRPr lang="en-US"/>
          </a:p>
        </p:txBody>
      </p:sp>
      <p:sp>
        <p:nvSpPr>
          <p:cNvPr id="24580" name="Rectangle 2051"/>
          <p:cNvSpPr>
            <a:spLocks noChangeArrowheads="1"/>
          </p:cNvSpPr>
          <p:nvPr/>
        </p:nvSpPr>
        <p:spPr bwMode="auto">
          <a:xfrm>
            <a:off x="3885903" y="8687405"/>
            <a:ext cx="2972097" cy="4565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9049" tIns="0" rIns="19049" bIns="0" anchor="b"/>
          <a:lstStyle/>
          <a:p>
            <a:pPr algn="r" defTabSz="914485"/>
            <a:r>
              <a:rPr lang="en-US" sz="900" i="1"/>
              <a:t>5</a:t>
            </a:r>
          </a:p>
        </p:txBody>
      </p:sp>
      <p:sp>
        <p:nvSpPr>
          <p:cNvPr id="24581" name="Rectangle 2052"/>
          <p:cNvSpPr>
            <a:spLocks noChangeArrowheads="1"/>
          </p:cNvSpPr>
          <p:nvPr/>
        </p:nvSpPr>
        <p:spPr bwMode="auto">
          <a:xfrm>
            <a:off x="0" y="8687405"/>
            <a:ext cx="2972098" cy="4565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6493" tIns="43247" rIns="86493" bIns="43247" anchor="ctr"/>
          <a:lstStyle/>
          <a:p>
            <a:endParaRPr lang="en-US"/>
          </a:p>
        </p:txBody>
      </p:sp>
      <p:sp>
        <p:nvSpPr>
          <p:cNvPr id="24582" name="Rectangle 2053"/>
          <p:cNvSpPr>
            <a:spLocks noChangeArrowheads="1"/>
          </p:cNvSpPr>
          <p:nvPr/>
        </p:nvSpPr>
        <p:spPr bwMode="auto">
          <a:xfrm>
            <a:off x="0" y="1"/>
            <a:ext cx="2972098" cy="4565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6493" tIns="43247" rIns="86493" bIns="43247" anchor="ctr"/>
          <a:lstStyle/>
          <a:p>
            <a:endParaRPr lang="en-US"/>
          </a:p>
        </p:txBody>
      </p:sp>
      <p:sp>
        <p:nvSpPr>
          <p:cNvPr id="24583" name="Rectangle 2054"/>
          <p:cNvSpPr>
            <a:spLocks noChangeArrowheads="1"/>
          </p:cNvSpPr>
          <p:nvPr/>
        </p:nvSpPr>
        <p:spPr bwMode="auto">
          <a:xfrm>
            <a:off x="3884415" y="0"/>
            <a:ext cx="2973586" cy="4550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6493" tIns="43247" rIns="86493" bIns="43247" anchor="ctr"/>
          <a:lstStyle/>
          <a:p>
            <a:endParaRPr lang="en-US"/>
          </a:p>
        </p:txBody>
      </p:sp>
      <p:sp>
        <p:nvSpPr>
          <p:cNvPr id="24584" name="Rectangle 2055"/>
          <p:cNvSpPr>
            <a:spLocks noChangeArrowheads="1"/>
          </p:cNvSpPr>
          <p:nvPr/>
        </p:nvSpPr>
        <p:spPr bwMode="auto">
          <a:xfrm>
            <a:off x="3884415" y="8685893"/>
            <a:ext cx="2973586" cy="458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9049" tIns="0" rIns="19049" bIns="0" anchor="b"/>
          <a:lstStyle/>
          <a:p>
            <a:pPr algn="r" defTabSz="914485"/>
            <a:r>
              <a:rPr lang="en-US" sz="900" i="1"/>
              <a:t>5</a:t>
            </a:r>
          </a:p>
        </p:txBody>
      </p:sp>
      <p:sp>
        <p:nvSpPr>
          <p:cNvPr id="24585" name="Rectangle 2056"/>
          <p:cNvSpPr>
            <a:spLocks noChangeArrowheads="1"/>
          </p:cNvSpPr>
          <p:nvPr/>
        </p:nvSpPr>
        <p:spPr bwMode="auto">
          <a:xfrm>
            <a:off x="-1489" y="8685893"/>
            <a:ext cx="2972098" cy="458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6493" tIns="43247" rIns="86493" bIns="43247" anchor="ctr"/>
          <a:lstStyle/>
          <a:p>
            <a:endParaRPr lang="en-US"/>
          </a:p>
        </p:txBody>
      </p:sp>
      <p:sp>
        <p:nvSpPr>
          <p:cNvPr id="24586" name="Rectangle 2057"/>
          <p:cNvSpPr>
            <a:spLocks noChangeArrowheads="1"/>
          </p:cNvSpPr>
          <p:nvPr/>
        </p:nvSpPr>
        <p:spPr bwMode="auto">
          <a:xfrm>
            <a:off x="-1489" y="0"/>
            <a:ext cx="2972098" cy="4550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6493" tIns="43247" rIns="86493" bIns="43247" anchor="ctr"/>
          <a:lstStyle/>
          <a:p>
            <a:endParaRPr lang="en-US"/>
          </a:p>
        </p:txBody>
      </p:sp>
      <p:sp>
        <p:nvSpPr>
          <p:cNvPr id="24587" name="Rectangle 2058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  <p:sp>
        <p:nvSpPr>
          <p:cNvPr id="24588" name="Rectangle 2059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60826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803405"/>
            <a:ext cx="73152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3632201"/>
            <a:ext cx="73152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932170" y="4323845"/>
            <a:ext cx="2297429" cy="365125"/>
          </a:xfr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1/26/2023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914400" y="4323846"/>
            <a:ext cx="488061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057900" y="1430867"/>
            <a:ext cx="21717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09219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08342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753534"/>
            <a:ext cx="7955280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3641726"/>
            <a:ext cx="7955281" cy="1354134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562176" y="381001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1D8BD707-D9CF-40AE-B4C6-C98DA3205C09}" type="datetimeFigureOut">
              <a:rPr lang="en-US" smtClean="0"/>
              <a:pPr/>
              <a:t>1/26/2023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94360" y="381001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3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70962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94360" y="2194560"/>
            <a:ext cx="3910579" cy="40690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2099" y="2194560"/>
            <a:ext cx="3907540" cy="40690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1/26/2023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19990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71700" y="762000"/>
            <a:ext cx="637794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1279" y="2183802"/>
            <a:ext cx="3683659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4359" y="3132667"/>
            <a:ext cx="3910579" cy="31309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69018" y="2183802"/>
            <a:ext cx="368062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2098" y="3132667"/>
            <a:ext cx="3907541" cy="31309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1/26/2023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62680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1/26/2023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20359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1/26/2023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51142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1524000"/>
            <a:ext cx="30861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6200" y="746760"/>
            <a:ext cx="4663440" cy="551688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4360" y="3124200"/>
            <a:ext cx="3086100" cy="313944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1/26/2023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88802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1524000"/>
            <a:ext cx="407573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77524" y="751242"/>
            <a:ext cx="3674234" cy="5512398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4360" y="3124200"/>
            <a:ext cx="4075730" cy="313944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1/26/2023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33992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55" y="4697361"/>
            <a:ext cx="7956482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94355" y="977035"/>
            <a:ext cx="7950260" cy="3406972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4360" y="5516716"/>
            <a:ext cx="7955280" cy="746924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1/26/2023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39686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753533"/>
            <a:ext cx="795528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649134"/>
            <a:ext cx="7772400" cy="1330852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562176" y="381001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1D8BD707-D9CF-40AE-B4C6-C98DA3205C09}" type="datetimeFigureOut">
              <a:rPr lang="en-US" smtClean="0"/>
              <a:pPr/>
              <a:t>1/26/2023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4360" y="381001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4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55251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351" y="753534"/>
            <a:ext cx="7613650" cy="2756234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977899" y="3509768"/>
            <a:ext cx="7194552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4174597"/>
            <a:ext cx="7778752" cy="821265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562176" y="381001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1D8BD707-D9CF-40AE-B4C6-C98DA3205C09}" type="datetimeFigureOut">
              <a:rPr lang="en-US" smtClean="0"/>
              <a:pPr/>
              <a:t>1/26/2023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4360" y="379438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4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231458" y="807720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46733" y="3021330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55526892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124702"/>
            <a:ext cx="7774782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792" y="3648316"/>
            <a:ext cx="7773608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562176" y="378884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1D8BD707-D9CF-40AE-B4C6-C98DA3205C09}" type="datetimeFigureOut">
              <a:rPr lang="en-US" smtClean="0"/>
              <a:pPr/>
              <a:t>1/26/2023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4360" y="378884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4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634351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171701" y="762000"/>
            <a:ext cx="6377939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594361" y="2202080"/>
            <a:ext cx="2560320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594360" y="2904564"/>
            <a:ext cx="2560320" cy="335907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02237" y="2201333"/>
            <a:ext cx="2560320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00781" y="2904068"/>
            <a:ext cx="2560320" cy="335957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89319" y="2192866"/>
            <a:ext cx="2560320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89320" y="2904564"/>
            <a:ext cx="2560320" cy="335907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1/26/2023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988883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171702" y="762000"/>
            <a:ext cx="6381984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594360" y="4113340"/>
            <a:ext cx="2560320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594360" y="2331720"/>
            <a:ext cx="2560320" cy="15073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594360" y="4796103"/>
            <a:ext cx="2560320" cy="1467537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291873" y="4113340"/>
            <a:ext cx="2560320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291872" y="2331720"/>
            <a:ext cx="2560320" cy="1509862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290858" y="4796102"/>
            <a:ext cx="2560320" cy="1467537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93365" y="4113340"/>
            <a:ext cx="2560320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993364" y="2331721"/>
            <a:ext cx="2560320" cy="1508919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93272" y="4796100"/>
            <a:ext cx="2560320" cy="1467537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1/26/2023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913663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94360" y="2194560"/>
            <a:ext cx="7955280" cy="40690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727465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06590" y="747183"/>
            <a:ext cx="1543050" cy="4248675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94360" y="746126"/>
            <a:ext cx="6278035" cy="424973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562176" y="381001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1D8BD707-D9CF-40AE-B4C6-C98DA3205C09}" type="datetimeFigureOut">
              <a:rPr lang="en-US" smtClean="0"/>
              <a:pPr/>
              <a:t>1/26/2023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94360" y="381001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4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137644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685800"/>
            <a:ext cx="8839200" cy="533400"/>
          </a:xfrm>
          <a:prstGeom prst="rect">
            <a:avLst/>
          </a:prstGeom>
        </p:spPr>
        <p:txBody>
          <a:bodyPr/>
          <a:lstStyle>
            <a:lvl1pPr algn="l">
              <a:defRPr sz="2800">
                <a:solidFill>
                  <a:srgbClr val="7E0000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1371600" y="0"/>
            <a:ext cx="762000" cy="533400"/>
          </a:xfrm>
          <a:prstGeom prst="rect">
            <a:avLst/>
          </a:prstGeom>
          <a:ln w="3175">
            <a:solidFill>
              <a:srgbClr val="800080"/>
            </a:solidFill>
            <a:prstDash val="sysDot"/>
          </a:ln>
        </p:spPr>
        <p:txBody>
          <a:bodyPr/>
          <a:lstStyle>
            <a:lvl1pPr algn="ctr">
              <a:buNone/>
              <a:defRPr sz="2800">
                <a:solidFill>
                  <a:srgbClr val="800080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defRPr>
            </a:lvl1pPr>
            <a:lvl2pPr algn="l">
              <a:buNone/>
              <a:defRPr sz="2800">
                <a:solidFill>
                  <a:srgbClr val="004800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defRPr>
            </a:lvl2pPr>
            <a:lvl3pPr algn="l">
              <a:buNone/>
              <a:defRPr sz="2800">
                <a:solidFill>
                  <a:srgbClr val="004800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defRPr>
            </a:lvl3pPr>
            <a:lvl4pPr algn="l">
              <a:buNone/>
              <a:defRPr sz="2800">
                <a:solidFill>
                  <a:srgbClr val="004800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defRPr>
            </a:lvl4pPr>
            <a:lvl5pPr algn="l">
              <a:buNone/>
              <a:defRPr sz="2800">
                <a:solidFill>
                  <a:srgbClr val="004800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4"/>
          </p:nvPr>
        </p:nvSpPr>
        <p:spPr>
          <a:xfrm>
            <a:off x="8534400" y="6416675"/>
            <a:ext cx="609600" cy="365125"/>
          </a:xfrm>
        </p:spPr>
        <p:txBody>
          <a:bodyPr/>
          <a:lstStyle>
            <a:lvl1pPr algn="ctr"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fld id="{8C5625DB-42FE-4095-9872-399860F3AC9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36694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685800"/>
            <a:ext cx="8839200" cy="533400"/>
          </a:xfrm>
          <a:prstGeom prst="rect">
            <a:avLst/>
          </a:prstGeom>
        </p:spPr>
        <p:txBody>
          <a:bodyPr/>
          <a:lstStyle>
            <a:lvl1pPr algn="l">
              <a:defRPr sz="2800">
                <a:solidFill>
                  <a:srgbClr val="7E0000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1371600" y="0"/>
            <a:ext cx="762000" cy="533400"/>
          </a:xfrm>
          <a:prstGeom prst="rect">
            <a:avLst/>
          </a:prstGeom>
          <a:ln w="3175">
            <a:solidFill>
              <a:srgbClr val="800080"/>
            </a:solidFill>
            <a:prstDash val="sysDot"/>
          </a:ln>
        </p:spPr>
        <p:txBody>
          <a:bodyPr/>
          <a:lstStyle>
            <a:lvl1pPr algn="ctr">
              <a:buNone/>
              <a:defRPr sz="2800">
                <a:solidFill>
                  <a:srgbClr val="800080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defRPr>
            </a:lvl1pPr>
            <a:lvl2pPr algn="l">
              <a:buNone/>
              <a:defRPr sz="2800">
                <a:solidFill>
                  <a:srgbClr val="004800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defRPr>
            </a:lvl2pPr>
            <a:lvl3pPr algn="l">
              <a:buNone/>
              <a:defRPr sz="2800">
                <a:solidFill>
                  <a:srgbClr val="004800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defRPr>
            </a:lvl3pPr>
            <a:lvl4pPr algn="l">
              <a:buNone/>
              <a:defRPr sz="2800">
                <a:solidFill>
                  <a:srgbClr val="004800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defRPr>
            </a:lvl4pPr>
            <a:lvl5pPr algn="l">
              <a:buNone/>
              <a:defRPr sz="2800">
                <a:solidFill>
                  <a:srgbClr val="004800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4"/>
          </p:nvPr>
        </p:nvSpPr>
        <p:spPr>
          <a:xfrm>
            <a:off x="8534400" y="6416675"/>
            <a:ext cx="609600" cy="365125"/>
          </a:xfrm>
        </p:spPr>
        <p:txBody>
          <a:bodyPr/>
          <a:lstStyle>
            <a:lvl1pPr algn="ctr"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fld id="{FFC5792E-DFFD-458C-9148-D037B84467F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325146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685800"/>
            <a:ext cx="8839200" cy="533400"/>
          </a:xfrm>
          <a:prstGeom prst="rect">
            <a:avLst/>
          </a:prstGeom>
        </p:spPr>
        <p:txBody>
          <a:bodyPr/>
          <a:lstStyle>
            <a:lvl1pPr algn="l">
              <a:defRPr sz="2800">
                <a:solidFill>
                  <a:srgbClr val="7E0000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1371600" y="0"/>
            <a:ext cx="762000" cy="533400"/>
          </a:xfrm>
          <a:prstGeom prst="rect">
            <a:avLst/>
          </a:prstGeom>
          <a:ln w="3175">
            <a:solidFill>
              <a:srgbClr val="800080"/>
            </a:solidFill>
            <a:prstDash val="sysDot"/>
          </a:ln>
        </p:spPr>
        <p:txBody>
          <a:bodyPr/>
          <a:lstStyle>
            <a:lvl1pPr algn="ctr">
              <a:buNone/>
              <a:defRPr sz="2800">
                <a:solidFill>
                  <a:srgbClr val="800080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defRPr>
            </a:lvl1pPr>
            <a:lvl2pPr algn="l">
              <a:buNone/>
              <a:defRPr sz="2800">
                <a:solidFill>
                  <a:srgbClr val="004800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defRPr>
            </a:lvl2pPr>
            <a:lvl3pPr algn="l">
              <a:buNone/>
              <a:defRPr sz="2800">
                <a:solidFill>
                  <a:srgbClr val="004800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defRPr>
            </a:lvl3pPr>
            <a:lvl4pPr algn="l">
              <a:buNone/>
              <a:defRPr sz="2800">
                <a:solidFill>
                  <a:srgbClr val="004800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defRPr>
            </a:lvl4pPr>
            <a:lvl5pPr algn="l">
              <a:buNone/>
              <a:defRPr sz="2800">
                <a:solidFill>
                  <a:srgbClr val="004800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4"/>
          </p:nvPr>
        </p:nvSpPr>
        <p:spPr>
          <a:xfrm>
            <a:off x="8534400" y="6416675"/>
            <a:ext cx="609600" cy="365125"/>
          </a:xfrm>
        </p:spPr>
        <p:txBody>
          <a:bodyPr/>
          <a:lstStyle>
            <a:lvl1pPr algn="ctr"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fld id="{B9A8CB09-BFC8-4462-8854-DA283BB8071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700540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94A8EED-E05B-4D11-B1B1-5F4F3C51EB14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23430836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74104EB-D441-4A90-8BBE-C01F55FE2FA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226001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685800"/>
            <a:ext cx="8839200" cy="533400"/>
          </a:xfrm>
          <a:prstGeom prst="rect">
            <a:avLst/>
          </a:prstGeom>
        </p:spPr>
        <p:txBody>
          <a:bodyPr/>
          <a:lstStyle>
            <a:lvl1pPr algn="l">
              <a:defRPr sz="2800">
                <a:solidFill>
                  <a:srgbClr val="7E0000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1371600" y="0"/>
            <a:ext cx="762000" cy="533400"/>
          </a:xfrm>
          <a:prstGeom prst="rect">
            <a:avLst/>
          </a:prstGeom>
          <a:ln w="3175">
            <a:solidFill>
              <a:srgbClr val="800080"/>
            </a:solidFill>
            <a:prstDash val="sysDot"/>
          </a:ln>
        </p:spPr>
        <p:txBody>
          <a:bodyPr/>
          <a:lstStyle>
            <a:lvl1pPr algn="ctr">
              <a:buNone/>
              <a:defRPr sz="2800">
                <a:solidFill>
                  <a:srgbClr val="800080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defRPr>
            </a:lvl1pPr>
            <a:lvl2pPr algn="l">
              <a:buNone/>
              <a:defRPr sz="2800">
                <a:solidFill>
                  <a:srgbClr val="004800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defRPr>
            </a:lvl2pPr>
            <a:lvl3pPr algn="l">
              <a:buNone/>
              <a:defRPr sz="2800">
                <a:solidFill>
                  <a:srgbClr val="004800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defRPr>
            </a:lvl3pPr>
            <a:lvl4pPr algn="l">
              <a:buNone/>
              <a:defRPr sz="2800">
                <a:solidFill>
                  <a:srgbClr val="004800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defRPr>
            </a:lvl4pPr>
            <a:lvl5pPr algn="l">
              <a:buNone/>
              <a:defRPr sz="2800">
                <a:solidFill>
                  <a:srgbClr val="004800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4"/>
          </p:nvPr>
        </p:nvSpPr>
        <p:spPr>
          <a:xfrm>
            <a:off x="8534400" y="6416675"/>
            <a:ext cx="609600" cy="365125"/>
          </a:xfrm>
        </p:spPr>
        <p:txBody>
          <a:bodyPr/>
          <a:lstStyle>
            <a:lvl1pPr algn="ctr"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fld id="{B79C9F04-75F2-434D-9F7B-598E08D6607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97003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2-HD-TOP.png"/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081088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171700" y="764373"/>
            <a:ext cx="637794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2194560"/>
            <a:ext cx="7955280" cy="40690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412230" y="6356351"/>
            <a:ext cx="21374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1/26/2023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4360" y="6355846"/>
            <a:ext cx="56807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72250" y="381001"/>
            <a:ext cx="19773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68634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  <p:sldLayoutId id="2147483726" r:id="rId12"/>
    <p:sldLayoutId id="2147483727" r:id="rId13"/>
    <p:sldLayoutId id="2147483728" r:id="rId14"/>
    <p:sldLayoutId id="2147483729" r:id="rId15"/>
    <p:sldLayoutId id="2147483730" r:id="rId16"/>
    <p:sldLayoutId id="2147483731" r:id="rId17"/>
    <p:sldLayoutId id="2147483732" r:id="rId18"/>
    <p:sldLayoutId id="2147483733" r:id="rId19"/>
    <p:sldLayoutId id="2147483734" r:id="rId20"/>
    <p:sldLayoutId id="2147483735" r:id="rId21"/>
    <p:sldLayoutId id="2147483736" r:id="rId22"/>
    <p:sldLayoutId id="2147483737" r:id="rId23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omments" Target="../comments/comment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1.xml"/><Relationship Id="rId1" Type="http://schemas.openxmlformats.org/officeDocument/2006/relationships/tags" Target="../tags/tag1.xml"/><Relationship Id="rId4" Type="http://schemas.openxmlformats.org/officeDocument/2006/relationships/image" Target="../media/image4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2.xml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comments" Target="../comments/comment3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8.wmf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26368" y="1186265"/>
            <a:ext cx="6517482" cy="2020957"/>
          </a:xfrm>
        </p:spPr>
        <p:txBody>
          <a:bodyPr/>
          <a:lstStyle/>
          <a:p>
            <a:r>
              <a:rPr lang="en-US" dirty="0"/>
              <a:t> Fundamentals of Economics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84709" y="3429000"/>
            <a:ext cx="6400800" cy="2209800"/>
          </a:xfrm>
        </p:spPr>
        <p:txBody>
          <a:bodyPr>
            <a:noAutofit/>
          </a:bodyPr>
          <a:lstStyle/>
          <a:p>
            <a:r>
              <a:rPr lang="en-US" sz="2000" b="1" dirty="0" err="1"/>
              <a:t>M.M.L.C.Gunathilake</a:t>
            </a:r>
            <a:endParaRPr lang="en-US" sz="2000" b="1" dirty="0"/>
          </a:p>
          <a:p>
            <a:r>
              <a:rPr lang="en-US" sz="2000" b="1" dirty="0"/>
              <a:t>Senior Lecturer gr ii</a:t>
            </a:r>
          </a:p>
          <a:p>
            <a:r>
              <a:rPr lang="en-US" sz="2000" b="1" dirty="0"/>
              <a:t>Department of Management and Finance</a:t>
            </a:r>
          </a:p>
          <a:p>
            <a:r>
              <a:rPr lang="en-US" sz="2000" b="1" dirty="0"/>
              <a:t>General Sir John </a:t>
            </a:r>
            <a:r>
              <a:rPr lang="en-US" sz="2000" b="1" dirty="0" err="1"/>
              <a:t>Kotelawala</a:t>
            </a:r>
            <a:r>
              <a:rPr lang="en-US" sz="2000" b="1" dirty="0"/>
              <a:t> </a:t>
            </a:r>
            <a:r>
              <a:rPr lang="en-US" sz="2000" b="1" dirty="0" err="1"/>
              <a:t>Defence</a:t>
            </a:r>
            <a:r>
              <a:rPr lang="en-US" sz="2000" b="1" dirty="0"/>
              <a:t> University</a:t>
            </a:r>
          </a:p>
          <a:p>
            <a:r>
              <a:rPr lang="en-US" sz="2000" b="1" dirty="0"/>
              <a:t> </a:t>
            </a:r>
            <a:r>
              <a:rPr lang="en-US" sz="2000" b="1" dirty="0" err="1"/>
              <a:t>Ratmalana</a:t>
            </a:r>
            <a:endParaRPr lang="en-US" sz="2000" b="1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BE99D-ECB1-4FCE-9054-66FB2E623C70}" type="slidenum">
              <a:rPr lang="en-US" smtClean="0"/>
              <a:pPr/>
              <a:t>1</a:t>
            </a:fld>
            <a:endParaRPr lang="en-US" dirty="0"/>
          </a:p>
        </p:txBody>
      </p:sp>
      <p:pic>
        <p:nvPicPr>
          <p:cNvPr id="4" name="Picture 3" descr="5"/>
          <p:cNvPicPr/>
          <p:nvPr/>
        </p:nvPicPr>
        <p:blipFill>
          <a:blip r:embed="rId2" cstate="print">
            <a:clrChange>
              <a:clrFrom>
                <a:srgbClr val="F8F8F0"/>
              </a:clrFrom>
              <a:clrTo>
                <a:srgbClr val="F8F8F0">
                  <a:alpha val="0"/>
                </a:srgbClr>
              </a:clrTo>
            </a:clrChange>
            <a:lum bright="-20000" contrast="20000"/>
          </a:blip>
          <a:srcRect/>
          <a:stretch>
            <a:fillRect/>
          </a:stretch>
        </p:blipFill>
        <p:spPr bwMode="auto">
          <a:xfrm>
            <a:off x="3618309" y="0"/>
            <a:ext cx="2133600" cy="16764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966049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0574" y="1524000"/>
            <a:ext cx="8229600" cy="2925762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Lesson 04</a:t>
            </a:r>
            <a:br>
              <a:rPr lang="en-US" b="1" dirty="0">
                <a:solidFill>
                  <a:srgbClr val="FF0000"/>
                </a:solidFill>
              </a:rPr>
            </a:br>
            <a:br>
              <a:rPr lang="en-US" b="1" dirty="0">
                <a:solidFill>
                  <a:srgbClr val="FF0000"/>
                </a:solidFill>
              </a:rPr>
            </a:br>
            <a:r>
              <a:rPr lang="en-US" sz="7200" b="1" dirty="0"/>
              <a:t>Law of Supply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DCDE8-D88C-416B-90F0-F63B5615757D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3235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dirty="0"/>
              <a:t>SUPPLY</a:t>
            </a:r>
          </a:p>
        </p:txBody>
      </p:sp>
      <p:sp>
        <p:nvSpPr>
          <p:cNvPr id="445445" name="Rectangle 5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algn="just">
              <a:buClr>
                <a:schemeClr val="tx1"/>
              </a:buClr>
            </a:pPr>
            <a:r>
              <a:rPr lang="en-US" altLang="en-US" i="1" dirty="0">
                <a:solidFill>
                  <a:srgbClr val="25A9A6"/>
                </a:solidFill>
              </a:rPr>
              <a:t>Supply</a:t>
            </a:r>
            <a:r>
              <a:rPr lang="en-US" altLang="en-US" dirty="0"/>
              <a:t> is the amount of a good that sellers are </a:t>
            </a:r>
            <a:r>
              <a:rPr lang="en-US" altLang="en-US" dirty="0">
                <a:solidFill>
                  <a:srgbClr val="FF0000"/>
                </a:solidFill>
              </a:rPr>
              <a:t>willing</a:t>
            </a:r>
            <a:r>
              <a:rPr lang="en-US" altLang="en-US" dirty="0"/>
              <a:t> and </a:t>
            </a:r>
            <a:r>
              <a:rPr lang="en-US" altLang="en-US" dirty="0">
                <a:solidFill>
                  <a:srgbClr val="FF0000"/>
                </a:solidFill>
              </a:rPr>
              <a:t>able</a:t>
            </a:r>
            <a:r>
              <a:rPr lang="en-US" altLang="en-US" dirty="0"/>
              <a:t> to sell.</a:t>
            </a:r>
          </a:p>
          <a:p>
            <a:pPr marL="0" indent="0">
              <a:buClr>
                <a:schemeClr val="tx1"/>
              </a:buClr>
              <a:buNone/>
            </a:pPr>
            <a:endParaRPr lang="en-US" altLang="en-US" dirty="0"/>
          </a:p>
          <a:p>
            <a:pPr algn="just">
              <a:buClr>
                <a:schemeClr val="tx1"/>
              </a:buClr>
            </a:pPr>
            <a:r>
              <a:rPr lang="en-US" altLang="en-US" i="1" dirty="0">
                <a:solidFill>
                  <a:srgbClr val="25A9A6"/>
                </a:solidFill>
              </a:rPr>
              <a:t>Quantity supplied</a:t>
            </a:r>
            <a:r>
              <a:rPr lang="en-US" altLang="en-US" dirty="0"/>
              <a:t> is a full description of how the quantity supplied of a commodity responds to changes </a:t>
            </a:r>
            <a:r>
              <a:rPr lang="en-US" altLang="en-US" dirty="0">
                <a:solidFill>
                  <a:srgbClr val="FF0000"/>
                </a:solidFill>
              </a:rPr>
              <a:t>in its price</a:t>
            </a:r>
            <a:r>
              <a:rPr lang="en-US" alt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299B76A-6301-49A9-B4DE-2425F8B06400}" type="slidenum">
              <a:rPr lang="en-US"/>
              <a:pPr>
                <a:defRPr/>
              </a:pPr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3073739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4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4454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44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" dur="500"/>
                                        <p:tgtEl>
                                          <p:spTgt spid="44544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5445" grpId="0" build="p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itle 1"/>
          <p:cNvSpPr>
            <a:spLocks noGrp="1"/>
          </p:cNvSpPr>
          <p:nvPr>
            <p:ph type="title"/>
          </p:nvPr>
        </p:nvSpPr>
        <p:spPr>
          <a:xfrm>
            <a:off x="2178050" y="654966"/>
            <a:ext cx="7086600" cy="533400"/>
          </a:xfrm>
        </p:spPr>
        <p:txBody>
          <a:bodyPr anchor="t">
            <a:normAutofit fontScale="90000"/>
          </a:bodyPr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Calibri" pitchFamily="34" charset="0"/>
              </a:rPr>
              <a:t>Individual firm’s supply schedule and supply curve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pPr>
              <a:defRPr/>
            </a:pPr>
            <a:fld id="{AD18BC3E-F484-448C-9CEE-29681551ECEA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4572000" y="1458913"/>
            <a:ext cx="4038600" cy="3429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grpSp>
        <p:nvGrpSpPr>
          <p:cNvPr id="2" name="Group 5"/>
          <p:cNvGrpSpPr>
            <a:grpSpLocks/>
          </p:cNvGrpSpPr>
          <p:nvPr/>
        </p:nvGrpSpPr>
        <p:grpSpPr bwMode="auto">
          <a:xfrm>
            <a:off x="4572000" y="1600200"/>
            <a:ext cx="2889250" cy="2863850"/>
            <a:chOff x="4571747" y="1512332"/>
            <a:chExt cx="2890217" cy="2863335"/>
          </a:xfrm>
        </p:grpSpPr>
        <p:cxnSp>
          <p:nvCxnSpPr>
            <p:cNvPr id="7" name="Straight Connector 6"/>
            <p:cNvCxnSpPr/>
            <p:nvPr/>
          </p:nvCxnSpPr>
          <p:spPr>
            <a:xfrm rot="5400000" flipH="1" flipV="1">
              <a:off x="4168987" y="2448397"/>
              <a:ext cx="2330031" cy="1524510"/>
            </a:xfrm>
            <a:prstGeom prst="line">
              <a:avLst/>
            </a:prstGeom>
            <a:ln w="38100">
              <a:solidFill>
                <a:srgbClr val="00007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819" name="TextBox 7"/>
            <p:cNvSpPr txBox="1">
              <a:spLocks noChangeArrowheads="1"/>
            </p:cNvSpPr>
            <p:nvPr/>
          </p:nvSpPr>
          <p:spPr bwMode="auto">
            <a:xfrm>
              <a:off x="5943600" y="1512332"/>
              <a:ext cx="1518364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r>
                <a:rPr lang="en-US"/>
                <a:t>Supply curve</a:t>
              </a:r>
            </a:p>
          </p:txBody>
        </p:sp>
      </p:grp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0" y="2301875"/>
          <a:ext cx="3513138" cy="292603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557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574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39927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000070"/>
                          </a:solidFill>
                        </a:rPr>
                        <a:t>Price of</a:t>
                      </a:r>
                    </a:p>
                    <a:p>
                      <a:pPr algn="ctr"/>
                      <a:r>
                        <a:rPr lang="en-US" sz="1800" dirty="0">
                          <a:solidFill>
                            <a:srgbClr val="000070"/>
                          </a:solidFill>
                        </a:rPr>
                        <a:t>Ice-cream</a:t>
                      </a:r>
                      <a:r>
                        <a:rPr lang="en-US" sz="1800" baseline="0" dirty="0">
                          <a:solidFill>
                            <a:srgbClr val="000070"/>
                          </a:solidFill>
                        </a:rPr>
                        <a:t> cone</a:t>
                      </a:r>
                      <a:endParaRPr lang="en-US" sz="1800" dirty="0">
                        <a:solidFill>
                          <a:srgbClr val="000070"/>
                        </a:solidFill>
                      </a:endParaRPr>
                    </a:p>
                  </a:txBody>
                  <a:tcPr marL="91427" marR="91427" marT="45709" marB="45709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000070"/>
                          </a:solidFill>
                        </a:rPr>
                        <a:t>Quantity of</a:t>
                      </a:r>
                    </a:p>
                    <a:p>
                      <a:pPr algn="ctr"/>
                      <a:r>
                        <a:rPr lang="en-US" sz="1800" dirty="0">
                          <a:solidFill>
                            <a:srgbClr val="000070"/>
                          </a:solidFill>
                        </a:rPr>
                        <a:t>Cones supplied</a:t>
                      </a:r>
                    </a:p>
                  </a:txBody>
                  <a:tcPr marL="91427" marR="91427" marT="45709" marB="45709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11198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$0.00</a:t>
                      </a:r>
                    </a:p>
                    <a:p>
                      <a:pPr algn="ctr"/>
                      <a:r>
                        <a:rPr lang="en-US" sz="1800" dirty="0"/>
                        <a:t>0.50</a:t>
                      </a:r>
                    </a:p>
                    <a:p>
                      <a:pPr algn="ctr"/>
                      <a:r>
                        <a:rPr lang="en-US" sz="1800" dirty="0"/>
                        <a:t>1.00</a:t>
                      </a:r>
                    </a:p>
                    <a:p>
                      <a:pPr algn="ctr"/>
                      <a:r>
                        <a:rPr lang="en-US" sz="1800" dirty="0"/>
                        <a:t>1.50</a:t>
                      </a:r>
                    </a:p>
                    <a:p>
                      <a:pPr algn="ctr"/>
                      <a:r>
                        <a:rPr lang="en-US" sz="1800" dirty="0"/>
                        <a:t>2.00</a:t>
                      </a:r>
                    </a:p>
                    <a:p>
                      <a:pPr algn="ctr"/>
                      <a:r>
                        <a:rPr lang="en-US" sz="1800" dirty="0"/>
                        <a:t>2.50</a:t>
                      </a:r>
                    </a:p>
                    <a:p>
                      <a:pPr algn="ctr"/>
                      <a:r>
                        <a:rPr lang="en-US" sz="1800" dirty="0"/>
                        <a:t>3.00</a:t>
                      </a:r>
                    </a:p>
                  </a:txBody>
                  <a:tcPr marL="91427" marR="91427" marT="45709" marB="45709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 cones</a:t>
                      </a:r>
                    </a:p>
                    <a:p>
                      <a:pPr algn="ctr"/>
                      <a:r>
                        <a:rPr lang="en-US" sz="1800" dirty="0"/>
                        <a:t>0</a:t>
                      </a:r>
                    </a:p>
                    <a:p>
                      <a:pPr algn="ctr"/>
                      <a:r>
                        <a:rPr lang="en-US" sz="1800" dirty="0"/>
                        <a:t>1</a:t>
                      </a:r>
                    </a:p>
                    <a:p>
                      <a:pPr algn="ctr"/>
                      <a:r>
                        <a:rPr lang="en-US" sz="1800" dirty="0"/>
                        <a:t>2</a:t>
                      </a:r>
                    </a:p>
                    <a:p>
                      <a:pPr algn="ctr"/>
                      <a:r>
                        <a:rPr lang="en-US" sz="1800" dirty="0"/>
                        <a:t>3</a:t>
                      </a:r>
                    </a:p>
                    <a:p>
                      <a:pPr algn="ctr"/>
                      <a:r>
                        <a:rPr lang="en-US" sz="1800" dirty="0"/>
                        <a:t>4</a:t>
                      </a:r>
                    </a:p>
                    <a:p>
                      <a:pPr algn="ctr"/>
                      <a:r>
                        <a:rPr lang="en-US" sz="1800" dirty="0"/>
                        <a:t>5</a:t>
                      </a:r>
                    </a:p>
                  </a:txBody>
                  <a:tcPr marL="91427" marR="91427" marT="45709" marB="45709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3" name="Group 10"/>
          <p:cNvGrpSpPr>
            <a:grpSpLocks/>
          </p:cNvGrpSpPr>
          <p:nvPr/>
        </p:nvGrpSpPr>
        <p:grpSpPr bwMode="auto">
          <a:xfrm>
            <a:off x="4343400" y="4735513"/>
            <a:ext cx="4343400" cy="827087"/>
            <a:chOff x="4343400" y="4648200"/>
            <a:chExt cx="4343400" cy="826532"/>
          </a:xfrm>
        </p:grpSpPr>
        <p:cxnSp>
          <p:nvCxnSpPr>
            <p:cNvPr id="12" name="Straight Connector 11"/>
            <p:cNvCxnSpPr/>
            <p:nvPr/>
          </p:nvCxnSpPr>
          <p:spPr>
            <a:xfrm>
              <a:off x="4572000" y="4800498"/>
              <a:ext cx="4114800" cy="1586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780" name="TextBox 12"/>
            <p:cNvSpPr txBox="1">
              <a:spLocks noChangeArrowheads="1"/>
            </p:cNvSpPr>
            <p:nvPr/>
          </p:nvSpPr>
          <p:spPr bwMode="auto">
            <a:xfrm>
              <a:off x="4343400" y="4800600"/>
              <a:ext cx="31290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r>
                <a:rPr lang="en-US"/>
                <a:t>0</a:t>
              </a:r>
            </a:p>
          </p:txBody>
        </p:sp>
        <p:grpSp>
          <p:nvGrpSpPr>
            <p:cNvPr id="30781" name="Group 14"/>
            <p:cNvGrpSpPr>
              <a:grpSpLocks/>
            </p:cNvGrpSpPr>
            <p:nvPr/>
          </p:nvGrpSpPr>
          <p:grpSpPr bwMode="auto">
            <a:xfrm>
              <a:off x="8001000" y="4648200"/>
              <a:ext cx="441146" cy="521732"/>
              <a:chOff x="8001000" y="4648200"/>
              <a:chExt cx="441146" cy="521732"/>
            </a:xfrm>
          </p:grpSpPr>
          <p:cxnSp>
            <p:nvCxnSpPr>
              <p:cNvPr id="49" name="Straight Connector 12"/>
              <p:cNvCxnSpPr/>
              <p:nvPr/>
            </p:nvCxnSpPr>
            <p:spPr>
              <a:xfrm rot="5400000">
                <a:off x="8152658" y="4723555"/>
                <a:ext cx="152298" cy="158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0817" name="TextBox 13"/>
              <p:cNvSpPr txBox="1">
                <a:spLocks noChangeArrowheads="1"/>
              </p:cNvSpPr>
              <p:nvPr/>
            </p:nvSpPr>
            <p:spPr bwMode="auto">
              <a:xfrm>
                <a:off x="8001000" y="4800600"/>
                <a:ext cx="441146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itchFamily="34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</a:defRPr>
                </a:lvl9pPr>
              </a:lstStyle>
              <a:p>
                <a:r>
                  <a:rPr lang="en-US"/>
                  <a:t>12</a:t>
                </a:r>
              </a:p>
            </p:txBody>
          </p:sp>
        </p:grpSp>
        <p:grpSp>
          <p:nvGrpSpPr>
            <p:cNvPr id="30782" name="Group 15"/>
            <p:cNvGrpSpPr>
              <a:grpSpLocks/>
            </p:cNvGrpSpPr>
            <p:nvPr/>
          </p:nvGrpSpPr>
          <p:grpSpPr bwMode="auto">
            <a:xfrm>
              <a:off x="7391400" y="4648200"/>
              <a:ext cx="441146" cy="521732"/>
              <a:chOff x="8001000" y="4648200"/>
              <a:chExt cx="441146" cy="521732"/>
            </a:xfrm>
          </p:grpSpPr>
          <p:cxnSp>
            <p:nvCxnSpPr>
              <p:cNvPr id="47" name="Straight Connector 16"/>
              <p:cNvCxnSpPr/>
              <p:nvPr/>
            </p:nvCxnSpPr>
            <p:spPr>
              <a:xfrm rot="5400000">
                <a:off x="8152658" y="4723555"/>
                <a:ext cx="152298" cy="158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0815" name="TextBox 17"/>
              <p:cNvSpPr txBox="1">
                <a:spLocks noChangeArrowheads="1"/>
              </p:cNvSpPr>
              <p:nvPr/>
            </p:nvSpPr>
            <p:spPr bwMode="auto">
              <a:xfrm>
                <a:off x="8001000" y="4800600"/>
                <a:ext cx="441146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itchFamily="34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</a:defRPr>
                </a:lvl9pPr>
              </a:lstStyle>
              <a:p>
                <a:r>
                  <a:rPr lang="en-US"/>
                  <a:t>10</a:t>
                </a:r>
              </a:p>
            </p:txBody>
          </p:sp>
        </p:grpSp>
        <p:grpSp>
          <p:nvGrpSpPr>
            <p:cNvPr id="30783" name="Group 18"/>
            <p:cNvGrpSpPr>
              <a:grpSpLocks/>
            </p:cNvGrpSpPr>
            <p:nvPr/>
          </p:nvGrpSpPr>
          <p:grpSpPr bwMode="auto">
            <a:xfrm>
              <a:off x="7696200" y="4648200"/>
              <a:ext cx="424027" cy="521732"/>
              <a:chOff x="8001000" y="4648200"/>
              <a:chExt cx="424027" cy="521732"/>
            </a:xfrm>
          </p:grpSpPr>
          <p:cxnSp>
            <p:nvCxnSpPr>
              <p:cNvPr id="45" name="Straight Connector 19"/>
              <p:cNvCxnSpPr/>
              <p:nvPr/>
            </p:nvCxnSpPr>
            <p:spPr>
              <a:xfrm rot="5400000">
                <a:off x="8152658" y="4723555"/>
                <a:ext cx="152298" cy="158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0813" name="TextBox 20"/>
              <p:cNvSpPr txBox="1">
                <a:spLocks noChangeArrowheads="1"/>
              </p:cNvSpPr>
              <p:nvPr/>
            </p:nvSpPr>
            <p:spPr bwMode="auto">
              <a:xfrm>
                <a:off x="8001000" y="4800600"/>
                <a:ext cx="424027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itchFamily="34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</a:defRPr>
                </a:lvl9pPr>
              </a:lstStyle>
              <a:p>
                <a:r>
                  <a:rPr lang="en-US"/>
                  <a:t>11</a:t>
                </a:r>
              </a:p>
            </p:txBody>
          </p:sp>
        </p:grpSp>
        <p:grpSp>
          <p:nvGrpSpPr>
            <p:cNvPr id="30784" name="Group 21"/>
            <p:cNvGrpSpPr>
              <a:grpSpLocks/>
            </p:cNvGrpSpPr>
            <p:nvPr/>
          </p:nvGrpSpPr>
          <p:grpSpPr bwMode="auto">
            <a:xfrm>
              <a:off x="7154694" y="4648200"/>
              <a:ext cx="312906" cy="521732"/>
              <a:chOff x="8069094" y="4648200"/>
              <a:chExt cx="312906" cy="521732"/>
            </a:xfrm>
          </p:grpSpPr>
          <p:cxnSp>
            <p:nvCxnSpPr>
              <p:cNvPr id="43" name="Straight Connector 22"/>
              <p:cNvCxnSpPr/>
              <p:nvPr/>
            </p:nvCxnSpPr>
            <p:spPr>
              <a:xfrm rot="5400000">
                <a:off x="8152658" y="4723555"/>
                <a:ext cx="152298" cy="158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0811" name="TextBox 43"/>
              <p:cNvSpPr txBox="1">
                <a:spLocks noChangeArrowheads="1"/>
              </p:cNvSpPr>
              <p:nvPr/>
            </p:nvSpPr>
            <p:spPr bwMode="auto">
              <a:xfrm>
                <a:off x="8069094" y="4800600"/>
                <a:ext cx="312906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itchFamily="34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</a:defRPr>
                </a:lvl9pPr>
              </a:lstStyle>
              <a:p>
                <a:r>
                  <a:rPr lang="en-US"/>
                  <a:t>9</a:t>
                </a:r>
              </a:p>
            </p:txBody>
          </p:sp>
        </p:grpSp>
        <p:grpSp>
          <p:nvGrpSpPr>
            <p:cNvPr id="30785" name="Group 27"/>
            <p:cNvGrpSpPr>
              <a:grpSpLocks/>
            </p:cNvGrpSpPr>
            <p:nvPr/>
          </p:nvGrpSpPr>
          <p:grpSpPr bwMode="auto">
            <a:xfrm>
              <a:off x="4716294" y="4648200"/>
              <a:ext cx="312906" cy="521732"/>
              <a:chOff x="8069094" y="4648200"/>
              <a:chExt cx="312906" cy="521732"/>
            </a:xfrm>
          </p:grpSpPr>
          <p:cxnSp>
            <p:nvCxnSpPr>
              <p:cNvPr id="41" name="Straight Connector 40"/>
              <p:cNvCxnSpPr/>
              <p:nvPr/>
            </p:nvCxnSpPr>
            <p:spPr>
              <a:xfrm rot="5400000">
                <a:off x="8152658" y="4723555"/>
                <a:ext cx="152298" cy="158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0809" name="TextBox 41"/>
              <p:cNvSpPr txBox="1">
                <a:spLocks noChangeArrowheads="1"/>
              </p:cNvSpPr>
              <p:nvPr/>
            </p:nvSpPr>
            <p:spPr bwMode="auto">
              <a:xfrm>
                <a:off x="8069094" y="4800600"/>
                <a:ext cx="312906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itchFamily="34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</a:defRPr>
                </a:lvl9pPr>
              </a:lstStyle>
              <a:p>
                <a:r>
                  <a:rPr lang="en-US"/>
                  <a:t>1</a:t>
                </a:r>
              </a:p>
            </p:txBody>
          </p:sp>
        </p:grpSp>
        <p:grpSp>
          <p:nvGrpSpPr>
            <p:cNvPr id="30786" name="Group 30"/>
            <p:cNvGrpSpPr>
              <a:grpSpLocks/>
            </p:cNvGrpSpPr>
            <p:nvPr/>
          </p:nvGrpSpPr>
          <p:grpSpPr bwMode="auto">
            <a:xfrm>
              <a:off x="5021094" y="4648200"/>
              <a:ext cx="312906" cy="521732"/>
              <a:chOff x="8069094" y="4648200"/>
              <a:chExt cx="312906" cy="521732"/>
            </a:xfrm>
          </p:grpSpPr>
          <p:cxnSp>
            <p:nvCxnSpPr>
              <p:cNvPr id="39" name="Straight Connector 38"/>
              <p:cNvCxnSpPr/>
              <p:nvPr/>
            </p:nvCxnSpPr>
            <p:spPr>
              <a:xfrm rot="5400000">
                <a:off x="8152658" y="4723555"/>
                <a:ext cx="152298" cy="158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0807" name="TextBox 39"/>
              <p:cNvSpPr txBox="1">
                <a:spLocks noChangeArrowheads="1"/>
              </p:cNvSpPr>
              <p:nvPr/>
            </p:nvSpPr>
            <p:spPr bwMode="auto">
              <a:xfrm>
                <a:off x="8069094" y="4800600"/>
                <a:ext cx="312906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itchFamily="34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</a:defRPr>
                </a:lvl9pPr>
              </a:lstStyle>
              <a:p>
                <a:r>
                  <a:rPr lang="en-US"/>
                  <a:t>2</a:t>
                </a:r>
              </a:p>
            </p:txBody>
          </p:sp>
        </p:grpSp>
        <p:grpSp>
          <p:nvGrpSpPr>
            <p:cNvPr id="30787" name="Group 33"/>
            <p:cNvGrpSpPr>
              <a:grpSpLocks/>
            </p:cNvGrpSpPr>
            <p:nvPr/>
          </p:nvGrpSpPr>
          <p:grpSpPr bwMode="auto">
            <a:xfrm>
              <a:off x="5325894" y="4648200"/>
              <a:ext cx="312906" cy="521732"/>
              <a:chOff x="8069094" y="4648200"/>
              <a:chExt cx="312906" cy="521732"/>
            </a:xfrm>
          </p:grpSpPr>
          <p:cxnSp>
            <p:nvCxnSpPr>
              <p:cNvPr id="37" name="Straight Connector 36"/>
              <p:cNvCxnSpPr/>
              <p:nvPr/>
            </p:nvCxnSpPr>
            <p:spPr>
              <a:xfrm rot="5400000">
                <a:off x="8152658" y="4723555"/>
                <a:ext cx="152298" cy="158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0805" name="TextBox 37"/>
              <p:cNvSpPr txBox="1">
                <a:spLocks noChangeArrowheads="1"/>
              </p:cNvSpPr>
              <p:nvPr/>
            </p:nvSpPr>
            <p:spPr bwMode="auto">
              <a:xfrm>
                <a:off x="8069094" y="4800600"/>
                <a:ext cx="312906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itchFamily="34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</a:defRPr>
                </a:lvl9pPr>
              </a:lstStyle>
              <a:p>
                <a:r>
                  <a:rPr lang="en-US"/>
                  <a:t>3</a:t>
                </a:r>
              </a:p>
            </p:txBody>
          </p:sp>
        </p:grpSp>
        <p:grpSp>
          <p:nvGrpSpPr>
            <p:cNvPr id="30788" name="Group 36"/>
            <p:cNvGrpSpPr>
              <a:grpSpLocks/>
            </p:cNvGrpSpPr>
            <p:nvPr/>
          </p:nvGrpSpPr>
          <p:grpSpPr bwMode="auto">
            <a:xfrm>
              <a:off x="5630694" y="4648200"/>
              <a:ext cx="312906" cy="521732"/>
              <a:chOff x="8069094" y="4648200"/>
              <a:chExt cx="312906" cy="521732"/>
            </a:xfrm>
          </p:grpSpPr>
          <p:cxnSp>
            <p:nvCxnSpPr>
              <p:cNvPr id="35" name="Straight Connector 34"/>
              <p:cNvCxnSpPr/>
              <p:nvPr/>
            </p:nvCxnSpPr>
            <p:spPr>
              <a:xfrm rot="5400000">
                <a:off x="8152658" y="4723555"/>
                <a:ext cx="152298" cy="158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0803" name="TextBox 35"/>
              <p:cNvSpPr txBox="1">
                <a:spLocks noChangeArrowheads="1"/>
              </p:cNvSpPr>
              <p:nvPr/>
            </p:nvSpPr>
            <p:spPr bwMode="auto">
              <a:xfrm>
                <a:off x="8069094" y="4800600"/>
                <a:ext cx="312906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itchFamily="34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</a:defRPr>
                </a:lvl9pPr>
              </a:lstStyle>
              <a:p>
                <a:r>
                  <a:rPr lang="en-US"/>
                  <a:t>4</a:t>
                </a:r>
              </a:p>
            </p:txBody>
          </p:sp>
        </p:grpSp>
        <p:grpSp>
          <p:nvGrpSpPr>
            <p:cNvPr id="30789" name="Group 39"/>
            <p:cNvGrpSpPr>
              <a:grpSpLocks/>
            </p:cNvGrpSpPr>
            <p:nvPr/>
          </p:nvGrpSpPr>
          <p:grpSpPr bwMode="auto">
            <a:xfrm>
              <a:off x="5935494" y="4648200"/>
              <a:ext cx="312906" cy="521732"/>
              <a:chOff x="8069094" y="4648200"/>
              <a:chExt cx="312906" cy="521732"/>
            </a:xfrm>
          </p:grpSpPr>
          <p:cxnSp>
            <p:nvCxnSpPr>
              <p:cNvPr id="33" name="Straight Connector 32"/>
              <p:cNvCxnSpPr/>
              <p:nvPr/>
            </p:nvCxnSpPr>
            <p:spPr>
              <a:xfrm rot="5400000">
                <a:off x="8152658" y="4723555"/>
                <a:ext cx="152298" cy="158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0801" name="TextBox 33"/>
              <p:cNvSpPr txBox="1">
                <a:spLocks noChangeArrowheads="1"/>
              </p:cNvSpPr>
              <p:nvPr/>
            </p:nvSpPr>
            <p:spPr bwMode="auto">
              <a:xfrm>
                <a:off x="8069094" y="4800600"/>
                <a:ext cx="312906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itchFamily="34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</a:defRPr>
                </a:lvl9pPr>
              </a:lstStyle>
              <a:p>
                <a:r>
                  <a:rPr lang="en-US"/>
                  <a:t>5</a:t>
                </a:r>
              </a:p>
            </p:txBody>
          </p:sp>
        </p:grpSp>
        <p:grpSp>
          <p:nvGrpSpPr>
            <p:cNvPr id="30790" name="Group 42"/>
            <p:cNvGrpSpPr>
              <a:grpSpLocks/>
            </p:cNvGrpSpPr>
            <p:nvPr/>
          </p:nvGrpSpPr>
          <p:grpSpPr bwMode="auto">
            <a:xfrm>
              <a:off x="6240294" y="4648200"/>
              <a:ext cx="312906" cy="521732"/>
              <a:chOff x="8069094" y="4648200"/>
              <a:chExt cx="312906" cy="521732"/>
            </a:xfrm>
          </p:grpSpPr>
          <p:cxnSp>
            <p:nvCxnSpPr>
              <p:cNvPr id="31" name="Straight Connector 30"/>
              <p:cNvCxnSpPr/>
              <p:nvPr/>
            </p:nvCxnSpPr>
            <p:spPr>
              <a:xfrm rot="5400000">
                <a:off x="8152658" y="4723555"/>
                <a:ext cx="152298" cy="158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0799" name="TextBox 31"/>
              <p:cNvSpPr txBox="1">
                <a:spLocks noChangeArrowheads="1"/>
              </p:cNvSpPr>
              <p:nvPr/>
            </p:nvSpPr>
            <p:spPr bwMode="auto">
              <a:xfrm>
                <a:off x="8069094" y="4800600"/>
                <a:ext cx="312906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itchFamily="34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</a:defRPr>
                </a:lvl9pPr>
              </a:lstStyle>
              <a:p>
                <a:r>
                  <a:rPr lang="en-US"/>
                  <a:t>6</a:t>
                </a:r>
              </a:p>
            </p:txBody>
          </p:sp>
        </p:grpSp>
        <p:grpSp>
          <p:nvGrpSpPr>
            <p:cNvPr id="30791" name="Group 45"/>
            <p:cNvGrpSpPr>
              <a:grpSpLocks/>
            </p:cNvGrpSpPr>
            <p:nvPr/>
          </p:nvGrpSpPr>
          <p:grpSpPr bwMode="auto">
            <a:xfrm>
              <a:off x="6545094" y="4648200"/>
              <a:ext cx="312906" cy="521732"/>
              <a:chOff x="8069094" y="4648200"/>
              <a:chExt cx="312906" cy="521732"/>
            </a:xfrm>
          </p:grpSpPr>
          <p:cxnSp>
            <p:nvCxnSpPr>
              <p:cNvPr id="29" name="Straight Connector 28"/>
              <p:cNvCxnSpPr/>
              <p:nvPr/>
            </p:nvCxnSpPr>
            <p:spPr>
              <a:xfrm rot="5400000">
                <a:off x="8152658" y="4723555"/>
                <a:ext cx="152298" cy="158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0797" name="TextBox 29"/>
              <p:cNvSpPr txBox="1">
                <a:spLocks noChangeArrowheads="1"/>
              </p:cNvSpPr>
              <p:nvPr/>
            </p:nvSpPr>
            <p:spPr bwMode="auto">
              <a:xfrm>
                <a:off x="8069094" y="4800600"/>
                <a:ext cx="312906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itchFamily="34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</a:defRPr>
                </a:lvl9pPr>
              </a:lstStyle>
              <a:p>
                <a:r>
                  <a:rPr lang="en-US"/>
                  <a:t>7</a:t>
                </a:r>
              </a:p>
            </p:txBody>
          </p:sp>
        </p:grpSp>
        <p:grpSp>
          <p:nvGrpSpPr>
            <p:cNvPr id="30792" name="Group 48"/>
            <p:cNvGrpSpPr>
              <a:grpSpLocks/>
            </p:cNvGrpSpPr>
            <p:nvPr/>
          </p:nvGrpSpPr>
          <p:grpSpPr bwMode="auto">
            <a:xfrm>
              <a:off x="6849894" y="4648200"/>
              <a:ext cx="312906" cy="521732"/>
              <a:chOff x="8069094" y="4648200"/>
              <a:chExt cx="312906" cy="521732"/>
            </a:xfrm>
          </p:grpSpPr>
          <p:cxnSp>
            <p:nvCxnSpPr>
              <p:cNvPr id="27" name="Straight Connector 26"/>
              <p:cNvCxnSpPr/>
              <p:nvPr/>
            </p:nvCxnSpPr>
            <p:spPr>
              <a:xfrm rot="5400000">
                <a:off x="8152658" y="4723555"/>
                <a:ext cx="152298" cy="158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0795" name="TextBox 27"/>
              <p:cNvSpPr txBox="1">
                <a:spLocks noChangeArrowheads="1"/>
              </p:cNvSpPr>
              <p:nvPr/>
            </p:nvSpPr>
            <p:spPr bwMode="auto">
              <a:xfrm>
                <a:off x="8069094" y="4800600"/>
                <a:ext cx="312906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itchFamily="34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</a:defRPr>
                </a:lvl9pPr>
              </a:lstStyle>
              <a:p>
                <a:r>
                  <a:rPr lang="en-US"/>
                  <a:t>8</a:t>
                </a:r>
              </a:p>
            </p:txBody>
          </p:sp>
        </p:grpSp>
        <p:sp>
          <p:nvSpPr>
            <p:cNvPr id="30793" name="TextBox 25"/>
            <p:cNvSpPr txBox="1">
              <a:spLocks noChangeArrowheads="1"/>
            </p:cNvSpPr>
            <p:nvPr/>
          </p:nvSpPr>
          <p:spPr bwMode="auto">
            <a:xfrm>
              <a:off x="5105400" y="5105400"/>
              <a:ext cx="3236784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r>
                <a:rPr lang="en-US"/>
                <a:t>Quantity of Ice-Cream Cones </a:t>
              </a:r>
            </a:p>
          </p:txBody>
        </p:sp>
      </p:grpSp>
      <p:grpSp>
        <p:nvGrpSpPr>
          <p:cNvPr id="21" name="Group 50"/>
          <p:cNvGrpSpPr>
            <a:grpSpLocks/>
          </p:cNvGrpSpPr>
          <p:nvPr/>
        </p:nvGrpSpPr>
        <p:grpSpPr bwMode="auto">
          <a:xfrm>
            <a:off x="3309938" y="1054100"/>
            <a:ext cx="1414462" cy="3822700"/>
            <a:chOff x="3309689" y="978932"/>
            <a:chExt cx="1414458" cy="3822462"/>
          </a:xfrm>
        </p:grpSpPr>
        <p:cxnSp>
          <p:nvCxnSpPr>
            <p:cNvPr id="52" name="Straight Connector 7"/>
            <p:cNvCxnSpPr/>
            <p:nvPr/>
          </p:nvCxnSpPr>
          <p:spPr>
            <a:xfrm rot="5400000">
              <a:off x="2896246" y="3124304"/>
              <a:ext cx="3352591" cy="1588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0760" name="Group 56"/>
            <p:cNvGrpSpPr>
              <a:grpSpLocks/>
            </p:cNvGrpSpPr>
            <p:nvPr/>
          </p:nvGrpSpPr>
          <p:grpSpPr bwMode="auto">
            <a:xfrm>
              <a:off x="3810000" y="1828800"/>
              <a:ext cx="914147" cy="369332"/>
              <a:chOff x="5943853" y="2286000"/>
              <a:chExt cx="914147" cy="369332"/>
            </a:xfrm>
          </p:grpSpPr>
          <p:sp>
            <p:nvSpPr>
              <p:cNvPr id="30777" name="TextBox 53"/>
              <p:cNvSpPr txBox="1">
                <a:spLocks noChangeArrowheads="1"/>
              </p:cNvSpPr>
              <p:nvPr/>
            </p:nvSpPr>
            <p:spPr bwMode="auto">
              <a:xfrm>
                <a:off x="5943853" y="2286000"/>
                <a:ext cx="761747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itchFamily="34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</a:defRPr>
                </a:lvl9pPr>
              </a:lstStyle>
              <a:p>
                <a:r>
                  <a:rPr lang="en-US"/>
                  <a:t>$3.00</a:t>
                </a:r>
              </a:p>
            </p:txBody>
          </p:sp>
          <p:cxnSp>
            <p:nvCxnSpPr>
              <p:cNvPr id="71" name="Straight Connector 55"/>
              <p:cNvCxnSpPr/>
              <p:nvPr/>
            </p:nvCxnSpPr>
            <p:spPr>
              <a:xfrm>
                <a:off x="6705601" y="2513978"/>
                <a:ext cx="152399" cy="158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0761" name="Group 57"/>
            <p:cNvGrpSpPr>
              <a:grpSpLocks/>
            </p:cNvGrpSpPr>
            <p:nvPr/>
          </p:nvGrpSpPr>
          <p:grpSpPr bwMode="auto">
            <a:xfrm>
              <a:off x="3938240" y="2297668"/>
              <a:ext cx="785907" cy="369332"/>
              <a:chOff x="6072093" y="2286000"/>
              <a:chExt cx="785907" cy="369332"/>
            </a:xfrm>
          </p:grpSpPr>
          <p:sp>
            <p:nvSpPr>
              <p:cNvPr id="30775" name="TextBox 58"/>
              <p:cNvSpPr txBox="1">
                <a:spLocks noChangeArrowheads="1"/>
              </p:cNvSpPr>
              <p:nvPr/>
            </p:nvSpPr>
            <p:spPr bwMode="auto">
              <a:xfrm>
                <a:off x="6072093" y="2286000"/>
                <a:ext cx="633507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itchFamily="34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</a:defRPr>
                </a:lvl9pPr>
              </a:lstStyle>
              <a:p>
                <a:r>
                  <a:rPr lang="en-US"/>
                  <a:t>2.50</a:t>
                </a:r>
              </a:p>
            </p:txBody>
          </p:sp>
          <p:cxnSp>
            <p:nvCxnSpPr>
              <p:cNvPr id="69" name="Straight Connector 68"/>
              <p:cNvCxnSpPr/>
              <p:nvPr/>
            </p:nvCxnSpPr>
            <p:spPr>
              <a:xfrm>
                <a:off x="6705600" y="2514981"/>
                <a:ext cx="152400" cy="158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0762" name="Group 60"/>
            <p:cNvGrpSpPr>
              <a:grpSpLocks/>
            </p:cNvGrpSpPr>
            <p:nvPr/>
          </p:nvGrpSpPr>
          <p:grpSpPr bwMode="auto">
            <a:xfrm>
              <a:off x="3938240" y="2754868"/>
              <a:ext cx="785907" cy="369332"/>
              <a:chOff x="6072093" y="2286000"/>
              <a:chExt cx="785907" cy="369332"/>
            </a:xfrm>
          </p:grpSpPr>
          <p:sp>
            <p:nvSpPr>
              <p:cNvPr id="30773" name="TextBox 65"/>
              <p:cNvSpPr txBox="1">
                <a:spLocks noChangeArrowheads="1"/>
              </p:cNvSpPr>
              <p:nvPr/>
            </p:nvSpPr>
            <p:spPr bwMode="auto">
              <a:xfrm>
                <a:off x="6072093" y="2286000"/>
                <a:ext cx="633507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itchFamily="34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</a:defRPr>
                </a:lvl9pPr>
              </a:lstStyle>
              <a:p>
                <a:r>
                  <a:rPr lang="en-US"/>
                  <a:t>2.00</a:t>
                </a:r>
              </a:p>
            </p:txBody>
          </p:sp>
          <p:cxnSp>
            <p:nvCxnSpPr>
              <p:cNvPr id="67" name="Straight Connector 66"/>
              <p:cNvCxnSpPr/>
              <p:nvPr/>
            </p:nvCxnSpPr>
            <p:spPr>
              <a:xfrm>
                <a:off x="6705600" y="2514952"/>
                <a:ext cx="152400" cy="158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0763" name="Group 63"/>
            <p:cNvGrpSpPr>
              <a:grpSpLocks/>
            </p:cNvGrpSpPr>
            <p:nvPr/>
          </p:nvGrpSpPr>
          <p:grpSpPr bwMode="auto">
            <a:xfrm>
              <a:off x="3938240" y="3212068"/>
              <a:ext cx="785907" cy="369332"/>
              <a:chOff x="6072093" y="2286000"/>
              <a:chExt cx="785907" cy="369332"/>
            </a:xfrm>
          </p:grpSpPr>
          <p:sp>
            <p:nvSpPr>
              <p:cNvPr id="30771" name="TextBox 63"/>
              <p:cNvSpPr txBox="1">
                <a:spLocks noChangeArrowheads="1"/>
              </p:cNvSpPr>
              <p:nvPr/>
            </p:nvSpPr>
            <p:spPr bwMode="auto">
              <a:xfrm>
                <a:off x="6072093" y="2286000"/>
                <a:ext cx="633507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itchFamily="34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</a:defRPr>
                </a:lvl9pPr>
              </a:lstStyle>
              <a:p>
                <a:r>
                  <a:rPr lang="en-US"/>
                  <a:t>1.50</a:t>
                </a:r>
              </a:p>
            </p:txBody>
          </p:sp>
          <p:cxnSp>
            <p:nvCxnSpPr>
              <p:cNvPr id="65" name="Straight Connector 64"/>
              <p:cNvCxnSpPr/>
              <p:nvPr/>
            </p:nvCxnSpPr>
            <p:spPr>
              <a:xfrm>
                <a:off x="6705600" y="2514924"/>
                <a:ext cx="152400" cy="158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0764" name="Group 66"/>
            <p:cNvGrpSpPr>
              <a:grpSpLocks/>
            </p:cNvGrpSpPr>
            <p:nvPr/>
          </p:nvGrpSpPr>
          <p:grpSpPr bwMode="auto">
            <a:xfrm>
              <a:off x="3938240" y="3669268"/>
              <a:ext cx="785907" cy="369332"/>
              <a:chOff x="6072093" y="2286000"/>
              <a:chExt cx="785907" cy="369332"/>
            </a:xfrm>
          </p:grpSpPr>
          <p:sp>
            <p:nvSpPr>
              <p:cNvPr id="30769" name="TextBox 61"/>
              <p:cNvSpPr txBox="1">
                <a:spLocks noChangeArrowheads="1"/>
              </p:cNvSpPr>
              <p:nvPr/>
            </p:nvSpPr>
            <p:spPr bwMode="auto">
              <a:xfrm>
                <a:off x="6072093" y="2286000"/>
                <a:ext cx="633507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itchFamily="34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</a:defRPr>
                </a:lvl9pPr>
              </a:lstStyle>
              <a:p>
                <a:r>
                  <a:rPr lang="en-US"/>
                  <a:t>1.00</a:t>
                </a:r>
              </a:p>
            </p:txBody>
          </p:sp>
          <p:cxnSp>
            <p:nvCxnSpPr>
              <p:cNvPr id="63" name="Straight Connector 62"/>
              <p:cNvCxnSpPr/>
              <p:nvPr/>
            </p:nvCxnSpPr>
            <p:spPr>
              <a:xfrm>
                <a:off x="6705600" y="2514895"/>
                <a:ext cx="152400" cy="158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0765" name="Group 69"/>
            <p:cNvGrpSpPr>
              <a:grpSpLocks/>
            </p:cNvGrpSpPr>
            <p:nvPr/>
          </p:nvGrpSpPr>
          <p:grpSpPr bwMode="auto">
            <a:xfrm>
              <a:off x="3938240" y="4126468"/>
              <a:ext cx="785907" cy="369332"/>
              <a:chOff x="6072093" y="2286000"/>
              <a:chExt cx="785907" cy="369332"/>
            </a:xfrm>
          </p:grpSpPr>
          <p:sp>
            <p:nvSpPr>
              <p:cNvPr id="30767" name="TextBox 59"/>
              <p:cNvSpPr txBox="1">
                <a:spLocks noChangeArrowheads="1"/>
              </p:cNvSpPr>
              <p:nvPr/>
            </p:nvSpPr>
            <p:spPr bwMode="auto">
              <a:xfrm>
                <a:off x="6072093" y="2286000"/>
                <a:ext cx="633507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itchFamily="34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</a:defRPr>
                </a:lvl9pPr>
              </a:lstStyle>
              <a:p>
                <a:r>
                  <a:rPr lang="en-US"/>
                  <a:t>0.50</a:t>
                </a:r>
              </a:p>
            </p:txBody>
          </p:sp>
          <p:cxnSp>
            <p:nvCxnSpPr>
              <p:cNvPr id="61" name="Straight Connector 60"/>
              <p:cNvCxnSpPr/>
              <p:nvPr/>
            </p:nvCxnSpPr>
            <p:spPr>
              <a:xfrm>
                <a:off x="6705600" y="2514867"/>
                <a:ext cx="152400" cy="158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0766" name="TextBox 58"/>
            <p:cNvSpPr txBox="1">
              <a:spLocks noChangeArrowheads="1"/>
            </p:cNvSpPr>
            <p:nvPr/>
          </p:nvSpPr>
          <p:spPr bwMode="auto">
            <a:xfrm>
              <a:off x="3309689" y="978932"/>
              <a:ext cx="1326004" cy="923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algn="r"/>
              <a:r>
                <a:rPr lang="en-US"/>
                <a:t>Price of</a:t>
              </a:r>
            </a:p>
            <a:p>
              <a:pPr algn="r"/>
              <a:r>
                <a:rPr lang="en-US"/>
                <a:t> Ice-Cream</a:t>
              </a:r>
            </a:p>
            <a:p>
              <a:pPr algn="r"/>
              <a:r>
                <a:rPr lang="en-US"/>
                <a:t>Cones </a:t>
              </a:r>
            </a:p>
          </p:txBody>
        </p:sp>
      </p:grpSp>
      <p:cxnSp>
        <p:nvCxnSpPr>
          <p:cNvPr id="73" name="Straight Connector 72"/>
          <p:cNvCxnSpPr/>
          <p:nvPr/>
        </p:nvCxnSpPr>
        <p:spPr>
          <a:xfrm flipV="1">
            <a:off x="4572000" y="3962400"/>
            <a:ext cx="304800" cy="11113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/>
          <p:cNvCxnSpPr/>
          <p:nvPr/>
        </p:nvCxnSpPr>
        <p:spPr>
          <a:xfrm>
            <a:off x="4572000" y="3048000"/>
            <a:ext cx="914400" cy="1588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/>
          <p:cNvCxnSpPr/>
          <p:nvPr/>
        </p:nvCxnSpPr>
        <p:spPr>
          <a:xfrm>
            <a:off x="4572000" y="2590800"/>
            <a:ext cx="1219200" cy="1588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/>
          <p:cNvCxnSpPr/>
          <p:nvPr/>
        </p:nvCxnSpPr>
        <p:spPr>
          <a:xfrm>
            <a:off x="4572000" y="3505200"/>
            <a:ext cx="609600" cy="1588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/>
          <p:cNvCxnSpPr/>
          <p:nvPr/>
        </p:nvCxnSpPr>
        <p:spPr>
          <a:xfrm rot="5400000" flipH="1" flipV="1">
            <a:off x="4490245" y="4196556"/>
            <a:ext cx="1382712" cy="3175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/>
          <p:cNvCxnSpPr/>
          <p:nvPr/>
        </p:nvCxnSpPr>
        <p:spPr>
          <a:xfrm rot="5400000" flipH="1" flipV="1">
            <a:off x="4457701" y="4457700"/>
            <a:ext cx="838200" cy="3175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79"/>
          <p:cNvCxnSpPr/>
          <p:nvPr/>
        </p:nvCxnSpPr>
        <p:spPr>
          <a:xfrm rot="5400000" flipH="1" flipV="1">
            <a:off x="4572001" y="3962400"/>
            <a:ext cx="1828800" cy="3175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Freeform 183"/>
          <p:cNvSpPr>
            <a:spLocks/>
          </p:cNvSpPr>
          <p:nvPr/>
        </p:nvSpPr>
        <p:spPr bwMode="auto">
          <a:xfrm>
            <a:off x="6026150" y="2068513"/>
            <a:ext cx="146050" cy="138112"/>
          </a:xfrm>
          <a:custGeom>
            <a:avLst/>
            <a:gdLst>
              <a:gd name="T0" fmla="*/ 2147483647 w 106"/>
              <a:gd name="T1" fmla="*/ 2147483647 h 68"/>
              <a:gd name="T2" fmla="*/ 2147483647 w 106"/>
              <a:gd name="T3" fmla="*/ 2147483647 h 68"/>
              <a:gd name="T4" fmla="*/ 2147483647 w 106"/>
              <a:gd name="T5" fmla="*/ 2147483647 h 68"/>
              <a:gd name="T6" fmla="*/ 2147483647 w 106"/>
              <a:gd name="T7" fmla="*/ 2147483647 h 68"/>
              <a:gd name="T8" fmla="*/ 2147483647 w 106"/>
              <a:gd name="T9" fmla="*/ 2147483647 h 68"/>
              <a:gd name="T10" fmla="*/ 2147483647 w 106"/>
              <a:gd name="T11" fmla="*/ 2147483647 h 68"/>
              <a:gd name="T12" fmla="*/ 2147483647 w 106"/>
              <a:gd name="T13" fmla="*/ 2147483647 h 68"/>
              <a:gd name="T14" fmla="*/ 2147483647 w 106"/>
              <a:gd name="T15" fmla="*/ 2147483647 h 68"/>
              <a:gd name="T16" fmla="*/ 2147483647 w 106"/>
              <a:gd name="T17" fmla="*/ 2147483647 h 68"/>
              <a:gd name="T18" fmla="*/ 2147483647 w 106"/>
              <a:gd name="T19" fmla="*/ 2147483647 h 68"/>
              <a:gd name="T20" fmla="*/ 2147483647 w 106"/>
              <a:gd name="T21" fmla="*/ 0 h 68"/>
              <a:gd name="T22" fmla="*/ 2147483647 w 106"/>
              <a:gd name="T23" fmla="*/ 0 h 68"/>
              <a:gd name="T24" fmla="*/ 2147483647 w 106"/>
              <a:gd name="T25" fmla="*/ 2147483647 h 68"/>
              <a:gd name="T26" fmla="*/ 2147483647 w 106"/>
              <a:gd name="T27" fmla="*/ 2147483647 h 68"/>
              <a:gd name="T28" fmla="*/ 2147483647 w 106"/>
              <a:gd name="T29" fmla="*/ 2147483647 h 68"/>
              <a:gd name="T30" fmla="*/ 0 w 106"/>
              <a:gd name="T31" fmla="*/ 2147483647 h 68"/>
              <a:gd name="T32" fmla="*/ 0 w 106"/>
              <a:gd name="T33" fmla="*/ 2147483647 h 68"/>
              <a:gd name="T34" fmla="*/ 2147483647 w 106"/>
              <a:gd name="T35" fmla="*/ 2147483647 h 68"/>
              <a:gd name="T36" fmla="*/ 2147483647 w 106"/>
              <a:gd name="T37" fmla="*/ 2147483647 h 68"/>
              <a:gd name="T38" fmla="*/ 2147483647 w 106"/>
              <a:gd name="T39" fmla="*/ 2147483647 h 68"/>
              <a:gd name="T40" fmla="*/ 2147483647 w 106"/>
              <a:gd name="T41" fmla="*/ 2147483647 h 68"/>
              <a:gd name="T42" fmla="*/ 2147483647 w 106"/>
              <a:gd name="T43" fmla="*/ 2147483647 h 68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w 106"/>
              <a:gd name="T67" fmla="*/ 0 h 68"/>
              <a:gd name="T68" fmla="*/ 106 w 106"/>
              <a:gd name="T69" fmla="*/ 68 h 68"/>
            </a:gdLst>
            <a:ahLst/>
            <a:cxnLst>
              <a:cxn ang="T44">
                <a:pos x="T0" y="T1"/>
              </a:cxn>
              <a:cxn ang="T45">
                <a:pos x="T2" y="T3"/>
              </a:cxn>
              <a:cxn ang="T46">
                <a:pos x="T4" y="T5"/>
              </a:cxn>
              <a:cxn ang="T47">
                <a:pos x="T6" y="T7"/>
              </a:cxn>
              <a:cxn ang="T48">
                <a:pos x="T8" y="T9"/>
              </a:cxn>
              <a:cxn ang="T49">
                <a:pos x="T10" y="T11"/>
              </a:cxn>
              <a:cxn ang="T50">
                <a:pos x="T12" y="T13"/>
              </a:cxn>
              <a:cxn ang="T51">
                <a:pos x="T14" y="T15"/>
              </a:cxn>
              <a:cxn ang="T52">
                <a:pos x="T16" y="T17"/>
              </a:cxn>
              <a:cxn ang="T53">
                <a:pos x="T18" y="T19"/>
              </a:cxn>
              <a:cxn ang="T54">
                <a:pos x="T20" y="T21"/>
              </a:cxn>
              <a:cxn ang="T55">
                <a:pos x="T22" y="T23"/>
              </a:cxn>
              <a:cxn ang="T56">
                <a:pos x="T24" y="T25"/>
              </a:cxn>
              <a:cxn ang="T57">
                <a:pos x="T26" y="T27"/>
              </a:cxn>
              <a:cxn ang="T58">
                <a:pos x="T28" y="T29"/>
              </a:cxn>
              <a:cxn ang="T59">
                <a:pos x="T30" y="T31"/>
              </a:cxn>
              <a:cxn ang="T60">
                <a:pos x="T32" y="T33"/>
              </a:cxn>
              <a:cxn ang="T61">
                <a:pos x="T34" y="T35"/>
              </a:cxn>
              <a:cxn ang="T62">
                <a:pos x="T36" y="T37"/>
              </a:cxn>
              <a:cxn ang="T63">
                <a:pos x="T38" y="T39"/>
              </a:cxn>
              <a:cxn ang="T64">
                <a:pos x="T40" y="T41"/>
              </a:cxn>
              <a:cxn ang="T65">
                <a:pos x="T42" y="T43"/>
              </a:cxn>
            </a:cxnLst>
            <a:rect l="T66" t="T67" r="T68" b="T69"/>
            <a:pathLst>
              <a:path w="106" h="68">
                <a:moveTo>
                  <a:pt x="56" y="68"/>
                </a:moveTo>
                <a:lnTo>
                  <a:pt x="56" y="68"/>
                </a:lnTo>
                <a:lnTo>
                  <a:pt x="76" y="65"/>
                </a:lnTo>
                <a:lnTo>
                  <a:pt x="91" y="58"/>
                </a:lnTo>
                <a:lnTo>
                  <a:pt x="101" y="45"/>
                </a:lnTo>
                <a:lnTo>
                  <a:pt x="106" y="32"/>
                </a:lnTo>
                <a:lnTo>
                  <a:pt x="101" y="19"/>
                </a:lnTo>
                <a:lnTo>
                  <a:pt x="91" y="9"/>
                </a:lnTo>
                <a:lnTo>
                  <a:pt x="76" y="3"/>
                </a:lnTo>
                <a:lnTo>
                  <a:pt x="56" y="0"/>
                </a:lnTo>
                <a:lnTo>
                  <a:pt x="36" y="3"/>
                </a:lnTo>
                <a:lnTo>
                  <a:pt x="15" y="9"/>
                </a:lnTo>
                <a:lnTo>
                  <a:pt x="5" y="19"/>
                </a:lnTo>
                <a:lnTo>
                  <a:pt x="0" y="32"/>
                </a:lnTo>
                <a:lnTo>
                  <a:pt x="5" y="45"/>
                </a:lnTo>
                <a:lnTo>
                  <a:pt x="15" y="58"/>
                </a:lnTo>
                <a:lnTo>
                  <a:pt x="36" y="65"/>
                </a:lnTo>
                <a:lnTo>
                  <a:pt x="56" y="6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3" name="Freeform 183"/>
          <p:cNvSpPr>
            <a:spLocks/>
          </p:cNvSpPr>
          <p:nvPr/>
        </p:nvSpPr>
        <p:spPr bwMode="auto">
          <a:xfrm>
            <a:off x="5721350" y="2525713"/>
            <a:ext cx="146050" cy="138112"/>
          </a:xfrm>
          <a:custGeom>
            <a:avLst/>
            <a:gdLst>
              <a:gd name="T0" fmla="*/ 2147483647 w 106"/>
              <a:gd name="T1" fmla="*/ 2147483647 h 68"/>
              <a:gd name="T2" fmla="*/ 2147483647 w 106"/>
              <a:gd name="T3" fmla="*/ 2147483647 h 68"/>
              <a:gd name="T4" fmla="*/ 2147483647 w 106"/>
              <a:gd name="T5" fmla="*/ 2147483647 h 68"/>
              <a:gd name="T6" fmla="*/ 2147483647 w 106"/>
              <a:gd name="T7" fmla="*/ 2147483647 h 68"/>
              <a:gd name="T8" fmla="*/ 2147483647 w 106"/>
              <a:gd name="T9" fmla="*/ 2147483647 h 68"/>
              <a:gd name="T10" fmla="*/ 2147483647 w 106"/>
              <a:gd name="T11" fmla="*/ 2147483647 h 68"/>
              <a:gd name="T12" fmla="*/ 2147483647 w 106"/>
              <a:gd name="T13" fmla="*/ 2147483647 h 68"/>
              <a:gd name="T14" fmla="*/ 2147483647 w 106"/>
              <a:gd name="T15" fmla="*/ 2147483647 h 68"/>
              <a:gd name="T16" fmla="*/ 2147483647 w 106"/>
              <a:gd name="T17" fmla="*/ 2147483647 h 68"/>
              <a:gd name="T18" fmla="*/ 2147483647 w 106"/>
              <a:gd name="T19" fmla="*/ 2147483647 h 68"/>
              <a:gd name="T20" fmla="*/ 2147483647 w 106"/>
              <a:gd name="T21" fmla="*/ 0 h 68"/>
              <a:gd name="T22" fmla="*/ 2147483647 w 106"/>
              <a:gd name="T23" fmla="*/ 0 h 68"/>
              <a:gd name="T24" fmla="*/ 2147483647 w 106"/>
              <a:gd name="T25" fmla="*/ 2147483647 h 68"/>
              <a:gd name="T26" fmla="*/ 2147483647 w 106"/>
              <a:gd name="T27" fmla="*/ 2147483647 h 68"/>
              <a:gd name="T28" fmla="*/ 2147483647 w 106"/>
              <a:gd name="T29" fmla="*/ 2147483647 h 68"/>
              <a:gd name="T30" fmla="*/ 0 w 106"/>
              <a:gd name="T31" fmla="*/ 2147483647 h 68"/>
              <a:gd name="T32" fmla="*/ 0 w 106"/>
              <a:gd name="T33" fmla="*/ 2147483647 h 68"/>
              <a:gd name="T34" fmla="*/ 2147483647 w 106"/>
              <a:gd name="T35" fmla="*/ 2147483647 h 68"/>
              <a:gd name="T36" fmla="*/ 2147483647 w 106"/>
              <a:gd name="T37" fmla="*/ 2147483647 h 68"/>
              <a:gd name="T38" fmla="*/ 2147483647 w 106"/>
              <a:gd name="T39" fmla="*/ 2147483647 h 68"/>
              <a:gd name="T40" fmla="*/ 2147483647 w 106"/>
              <a:gd name="T41" fmla="*/ 2147483647 h 68"/>
              <a:gd name="T42" fmla="*/ 2147483647 w 106"/>
              <a:gd name="T43" fmla="*/ 2147483647 h 68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w 106"/>
              <a:gd name="T67" fmla="*/ 0 h 68"/>
              <a:gd name="T68" fmla="*/ 106 w 106"/>
              <a:gd name="T69" fmla="*/ 68 h 68"/>
            </a:gdLst>
            <a:ahLst/>
            <a:cxnLst>
              <a:cxn ang="T44">
                <a:pos x="T0" y="T1"/>
              </a:cxn>
              <a:cxn ang="T45">
                <a:pos x="T2" y="T3"/>
              </a:cxn>
              <a:cxn ang="T46">
                <a:pos x="T4" y="T5"/>
              </a:cxn>
              <a:cxn ang="T47">
                <a:pos x="T6" y="T7"/>
              </a:cxn>
              <a:cxn ang="T48">
                <a:pos x="T8" y="T9"/>
              </a:cxn>
              <a:cxn ang="T49">
                <a:pos x="T10" y="T11"/>
              </a:cxn>
              <a:cxn ang="T50">
                <a:pos x="T12" y="T13"/>
              </a:cxn>
              <a:cxn ang="T51">
                <a:pos x="T14" y="T15"/>
              </a:cxn>
              <a:cxn ang="T52">
                <a:pos x="T16" y="T17"/>
              </a:cxn>
              <a:cxn ang="T53">
                <a:pos x="T18" y="T19"/>
              </a:cxn>
              <a:cxn ang="T54">
                <a:pos x="T20" y="T21"/>
              </a:cxn>
              <a:cxn ang="T55">
                <a:pos x="T22" y="T23"/>
              </a:cxn>
              <a:cxn ang="T56">
                <a:pos x="T24" y="T25"/>
              </a:cxn>
              <a:cxn ang="T57">
                <a:pos x="T26" y="T27"/>
              </a:cxn>
              <a:cxn ang="T58">
                <a:pos x="T28" y="T29"/>
              </a:cxn>
              <a:cxn ang="T59">
                <a:pos x="T30" y="T31"/>
              </a:cxn>
              <a:cxn ang="T60">
                <a:pos x="T32" y="T33"/>
              </a:cxn>
              <a:cxn ang="T61">
                <a:pos x="T34" y="T35"/>
              </a:cxn>
              <a:cxn ang="T62">
                <a:pos x="T36" y="T37"/>
              </a:cxn>
              <a:cxn ang="T63">
                <a:pos x="T38" y="T39"/>
              </a:cxn>
              <a:cxn ang="T64">
                <a:pos x="T40" y="T41"/>
              </a:cxn>
              <a:cxn ang="T65">
                <a:pos x="T42" y="T43"/>
              </a:cxn>
            </a:cxnLst>
            <a:rect l="T66" t="T67" r="T68" b="T69"/>
            <a:pathLst>
              <a:path w="106" h="68">
                <a:moveTo>
                  <a:pt x="56" y="68"/>
                </a:moveTo>
                <a:lnTo>
                  <a:pt x="56" y="68"/>
                </a:lnTo>
                <a:lnTo>
                  <a:pt x="76" y="65"/>
                </a:lnTo>
                <a:lnTo>
                  <a:pt x="91" y="58"/>
                </a:lnTo>
                <a:lnTo>
                  <a:pt x="101" y="45"/>
                </a:lnTo>
                <a:lnTo>
                  <a:pt x="106" y="32"/>
                </a:lnTo>
                <a:lnTo>
                  <a:pt x="101" y="19"/>
                </a:lnTo>
                <a:lnTo>
                  <a:pt x="91" y="9"/>
                </a:lnTo>
                <a:lnTo>
                  <a:pt x="76" y="3"/>
                </a:lnTo>
                <a:lnTo>
                  <a:pt x="56" y="0"/>
                </a:lnTo>
                <a:lnTo>
                  <a:pt x="36" y="3"/>
                </a:lnTo>
                <a:lnTo>
                  <a:pt x="15" y="9"/>
                </a:lnTo>
                <a:lnTo>
                  <a:pt x="5" y="19"/>
                </a:lnTo>
                <a:lnTo>
                  <a:pt x="0" y="32"/>
                </a:lnTo>
                <a:lnTo>
                  <a:pt x="5" y="45"/>
                </a:lnTo>
                <a:lnTo>
                  <a:pt x="15" y="58"/>
                </a:lnTo>
                <a:lnTo>
                  <a:pt x="36" y="65"/>
                </a:lnTo>
                <a:lnTo>
                  <a:pt x="56" y="6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4" name="Freeform 183"/>
          <p:cNvSpPr>
            <a:spLocks/>
          </p:cNvSpPr>
          <p:nvPr/>
        </p:nvSpPr>
        <p:spPr bwMode="auto">
          <a:xfrm>
            <a:off x="5410200" y="2982913"/>
            <a:ext cx="146050" cy="138112"/>
          </a:xfrm>
          <a:custGeom>
            <a:avLst/>
            <a:gdLst>
              <a:gd name="T0" fmla="*/ 2147483647 w 106"/>
              <a:gd name="T1" fmla="*/ 2147483647 h 68"/>
              <a:gd name="T2" fmla="*/ 2147483647 w 106"/>
              <a:gd name="T3" fmla="*/ 2147483647 h 68"/>
              <a:gd name="T4" fmla="*/ 2147483647 w 106"/>
              <a:gd name="T5" fmla="*/ 2147483647 h 68"/>
              <a:gd name="T6" fmla="*/ 2147483647 w 106"/>
              <a:gd name="T7" fmla="*/ 2147483647 h 68"/>
              <a:gd name="T8" fmla="*/ 2147483647 w 106"/>
              <a:gd name="T9" fmla="*/ 2147483647 h 68"/>
              <a:gd name="T10" fmla="*/ 2147483647 w 106"/>
              <a:gd name="T11" fmla="*/ 2147483647 h 68"/>
              <a:gd name="T12" fmla="*/ 2147483647 w 106"/>
              <a:gd name="T13" fmla="*/ 2147483647 h 68"/>
              <a:gd name="T14" fmla="*/ 2147483647 w 106"/>
              <a:gd name="T15" fmla="*/ 2147483647 h 68"/>
              <a:gd name="T16" fmla="*/ 2147483647 w 106"/>
              <a:gd name="T17" fmla="*/ 2147483647 h 68"/>
              <a:gd name="T18" fmla="*/ 2147483647 w 106"/>
              <a:gd name="T19" fmla="*/ 2147483647 h 68"/>
              <a:gd name="T20" fmla="*/ 2147483647 w 106"/>
              <a:gd name="T21" fmla="*/ 0 h 68"/>
              <a:gd name="T22" fmla="*/ 2147483647 w 106"/>
              <a:gd name="T23" fmla="*/ 0 h 68"/>
              <a:gd name="T24" fmla="*/ 2147483647 w 106"/>
              <a:gd name="T25" fmla="*/ 2147483647 h 68"/>
              <a:gd name="T26" fmla="*/ 2147483647 w 106"/>
              <a:gd name="T27" fmla="*/ 2147483647 h 68"/>
              <a:gd name="T28" fmla="*/ 2147483647 w 106"/>
              <a:gd name="T29" fmla="*/ 2147483647 h 68"/>
              <a:gd name="T30" fmla="*/ 0 w 106"/>
              <a:gd name="T31" fmla="*/ 2147483647 h 68"/>
              <a:gd name="T32" fmla="*/ 0 w 106"/>
              <a:gd name="T33" fmla="*/ 2147483647 h 68"/>
              <a:gd name="T34" fmla="*/ 2147483647 w 106"/>
              <a:gd name="T35" fmla="*/ 2147483647 h 68"/>
              <a:gd name="T36" fmla="*/ 2147483647 w 106"/>
              <a:gd name="T37" fmla="*/ 2147483647 h 68"/>
              <a:gd name="T38" fmla="*/ 2147483647 w 106"/>
              <a:gd name="T39" fmla="*/ 2147483647 h 68"/>
              <a:gd name="T40" fmla="*/ 2147483647 w 106"/>
              <a:gd name="T41" fmla="*/ 2147483647 h 68"/>
              <a:gd name="T42" fmla="*/ 2147483647 w 106"/>
              <a:gd name="T43" fmla="*/ 2147483647 h 68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w 106"/>
              <a:gd name="T67" fmla="*/ 0 h 68"/>
              <a:gd name="T68" fmla="*/ 106 w 106"/>
              <a:gd name="T69" fmla="*/ 68 h 68"/>
            </a:gdLst>
            <a:ahLst/>
            <a:cxnLst>
              <a:cxn ang="T44">
                <a:pos x="T0" y="T1"/>
              </a:cxn>
              <a:cxn ang="T45">
                <a:pos x="T2" y="T3"/>
              </a:cxn>
              <a:cxn ang="T46">
                <a:pos x="T4" y="T5"/>
              </a:cxn>
              <a:cxn ang="T47">
                <a:pos x="T6" y="T7"/>
              </a:cxn>
              <a:cxn ang="T48">
                <a:pos x="T8" y="T9"/>
              </a:cxn>
              <a:cxn ang="T49">
                <a:pos x="T10" y="T11"/>
              </a:cxn>
              <a:cxn ang="T50">
                <a:pos x="T12" y="T13"/>
              </a:cxn>
              <a:cxn ang="T51">
                <a:pos x="T14" y="T15"/>
              </a:cxn>
              <a:cxn ang="T52">
                <a:pos x="T16" y="T17"/>
              </a:cxn>
              <a:cxn ang="T53">
                <a:pos x="T18" y="T19"/>
              </a:cxn>
              <a:cxn ang="T54">
                <a:pos x="T20" y="T21"/>
              </a:cxn>
              <a:cxn ang="T55">
                <a:pos x="T22" y="T23"/>
              </a:cxn>
              <a:cxn ang="T56">
                <a:pos x="T24" y="T25"/>
              </a:cxn>
              <a:cxn ang="T57">
                <a:pos x="T26" y="T27"/>
              </a:cxn>
              <a:cxn ang="T58">
                <a:pos x="T28" y="T29"/>
              </a:cxn>
              <a:cxn ang="T59">
                <a:pos x="T30" y="T31"/>
              </a:cxn>
              <a:cxn ang="T60">
                <a:pos x="T32" y="T33"/>
              </a:cxn>
              <a:cxn ang="T61">
                <a:pos x="T34" y="T35"/>
              </a:cxn>
              <a:cxn ang="T62">
                <a:pos x="T36" y="T37"/>
              </a:cxn>
              <a:cxn ang="T63">
                <a:pos x="T38" y="T39"/>
              </a:cxn>
              <a:cxn ang="T64">
                <a:pos x="T40" y="T41"/>
              </a:cxn>
              <a:cxn ang="T65">
                <a:pos x="T42" y="T43"/>
              </a:cxn>
            </a:cxnLst>
            <a:rect l="T66" t="T67" r="T68" b="T69"/>
            <a:pathLst>
              <a:path w="106" h="68">
                <a:moveTo>
                  <a:pt x="56" y="68"/>
                </a:moveTo>
                <a:lnTo>
                  <a:pt x="56" y="68"/>
                </a:lnTo>
                <a:lnTo>
                  <a:pt x="76" y="65"/>
                </a:lnTo>
                <a:lnTo>
                  <a:pt x="91" y="58"/>
                </a:lnTo>
                <a:lnTo>
                  <a:pt x="101" y="45"/>
                </a:lnTo>
                <a:lnTo>
                  <a:pt x="106" y="32"/>
                </a:lnTo>
                <a:lnTo>
                  <a:pt x="101" y="19"/>
                </a:lnTo>
                <a:lnTo>
                  <a:pt x="91" y="9"/>
                </a:lnTo>
                <a:lnTo>
                  <a:pt x="76" y="3"/>
                </a:lnTo>
                <a:lnTo>
                  <a:pt x="56" y="0"/>
                </a:lnTo>
                <a:lnTo>
                  <a:pt x="36" y="3"/>
                </a:lnTo>
                <a:lnTo>
                  <a:pt x="15" y="9"/>
                </a:lnTo>
                <a:lnTo>
                  <a:pt x="5" y="19"/>
                </a:lnTo>
                <a:lnTo>
                  <a:pt x="0" y="32"/>
                </a:lnTo>
                <a:lnTo>
                  <a:pt x="5" y="45"/>
                </a:lnTo>
                <a:lnTo>
                  <a:pt x="15" y="58"/>
                </a:lnTo>
                <a:lnTo>
                  <a:pt x="36" y="65"/>
                </a:lnTo>
                <a:lnTo>
                  <a:pt x="56" y="6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5" name="Freeform 183"/>
          <p:cNvSpPr>
            <a:spLocks/>
          </p:cNvSpPr>
          <p:nvPr/>
        </p:nvSpPr>
        <p:spPr bwMode="auto">
          <a:xfrm>
            <a:off x="5105400" y="3455988"/>
            <a:ext cx="146050" cy="136525"/>
          </a:xfrm>
          <a:custGeom>
            <a:avLst/>
            <a:gdLst>
              <a:gd name="T0" fmla="*/ 2147483647 w 106"/>
              <a:gd name="T1" fmla="*/ 2147483647 h 68"/>
              <a:gd name="T2" fmla="*/ 2147483647 w 106"/>
              <a:gd name="T3" fmla="*/ 2147483647 h 68"/>
              <a:gd name="T4" fmla="*/ 2147483647 w 106"/>
              <a:gd name="T5" fmla="*/ 2147483647 h 68"/>
              <a:gd name="T6" fmla="*/ 2147483647 w 106"/>
              <a:gd name="T7" fmla="*/ 2147483647 h 68"/>
              <a:gd name="T8" fmla="*/ 2147483647 w 106"/>
              <a:gd name="T9" fmla="*/ 2147483647 h 68"/>
              <a:gd name="T10" fmla="*/ 2147483647 w 106"/>
              <a:gd name="T11" fmla="*/ 2147483647 h 68"/>
              <a:gd name="T12" fmla="*/ 2147483647 w 106"/>
              <a:gd name="T13" fmla="*/ 2147483647 h 68"/>
              <a:gd name="T14" fmla="*/ 2147483647 w 106"/>
              <a:gd name="T15" fmla="*/ 2147483647 h 68"/>
              <a:gd name="T16" fmla="*/ 2147483647 w 106"/>
              <a:gd name="T17" fmla="*/ 2147483647 h 68"/>
              <a:gd name="T18" fmla="*/ 2147483647 w 106"/>
              <a:gd name="T19" fmla="*/ 2147483647 h 68"/>
              <a:gd name="T20" fmla="*/ 2147483647 w 106"/>
              <a:gd name="T21" fmla="*/ 0 h 68"/>
              <a:gd name="T22" fmla="*/ 2147483647 w 106"/>
              <a:gd name="T23" fmla="*/ 0 h 68"/>
              <a:gd name="T24" fmla="*/ 2147483647 w 106"/>
              <a:gd name="T25" fmla="*/ 2147483647 h 68"/>
              <a:gd name="T26" fmla="*/ 2147483647 w 106"/>
              <a:gd name="T27" fmla="*/ 2147483647 h 68"/>
              <a:gd name="T28" fmla="*/ 2147483647 w 106"/>
              <a:gd name="T29" fmla="*/ 2147483647 h 68"/>
              <a:gd name="T30" fmla="*/ 0 w 106"/>
              <a:gd name="T31" fmla="*/ 2147483647 h 68"/>
              <a:gd name="T32" fmla="*/ 0 w 106"/>
              <a:gd name="T33" fmla="*/ 2147483647 h 68"/>
              <a:gd name="T34" fmla="*/ 2147483647 w 106"/>
              <a:gd name="T35" fmla="*/ 2147483647 h 68"/>
              <a:gd name="T36" fmla="*/ 2147483647 w 106"/>
              <a:gd name="T37" fmla="*/ 2147483647 h 68"/>
              <a:gd name="T38" fmla="*/ 2147483647 w 106"/>
              <a:gd name="T39" fmla="*/ 2147483647 h 68"/>
              <a:gd name="T40" fmla="*/ 2147483647 w 106"/>
              <a:gd name="T41" fmla="*/ 2147483647 h 68"/>
              <a:gd name="T42" fmla="*/ 2147483647 w 106"/>
              <a:gd name="T43" fmla="*/ 2147483647 h 68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w 106"/>
              <a:gd name="T67" fmla="*/ 0 h 68"/>
              <a:gd name="T68" fmla="*/ 106 w 106"/>
              <a:gd name="T69" fmla="*/ 68 h 68"/>
            </a:gdLst>
            <a:ahLst/>
            <a:cxnLst>
              <a:cxn ang="T44">
                <a:pos x="T0" y="T1"/>
              </a:cxn>
              <a:cxn ang="T45">
                <a:pos x="T2" y="T3"/>
              </a:cxn>
              <a:cxn ang="T46">
                <a:pos x="T4" y="T5"/>
              </a:cxn>
              <a:cxn ang="T47">
                <a:pos x="T6" y="T7"/>
              </a:cxn>
              <a:cxn ang="T48">
                <a:pos x="T8" y="T9"/>
              </a:cxn>
              <a:cxn ang="T49">
                <a:pos x="T10" y="T11"/>
              </a:cxn>
              <a:cxn ang="T50">
                <a:pos x="T12" y="T13"/>
              </a:cxn>
              <a:cxn ang="T51">
                <a:pos x="T14" y="T15"/>
              </a:cxn>
              <a:cxn ang="T52">
                <a:pos x="T16" y="T17"/>
              </a:cxn>
              <a:cxn ang="T53">
                <a:pos x="T18" y="T19"/>
              </a:cxn>
              <a:cxn ang="T54">
                <a:pos x="T20" y="T21"/>
              </a:cxn>
              <a:cxn ang="T55">
                <a:pos x="T22" y="T23"/>
              </a:cxn>
              <a:cxn ang="T56">
                <a:pos x="T24" y="T25"/>
              </a:cxn>
              <a:cxn ang="T57">
                <a:pos x="T26" y="T27"/>
              </a:cxn>
              <a:cxn ang="T58">
                <a:pos x="T28" y="T29"/>
              </a:cxn>
              <a:cxn ang="T59">
                <a:pos x="T30" y="T31"/>
              </a:cxn>
              <a:cxn ang="T60">
                <a:pos x="T32" y="T33"/>
              </a:cxn>
              <a:cxn ang="T61">
                <a:pos x="T34" y="T35"/>
              </a:cxn>
              <a:cxn ang="T62">
                <a:pos x="T36" y="T37"/>
              </a:cxn>
              <a:cxn ang="T63">
                <a:pos x="T38" y="T39"/>
              </a:cxn>
              <a:cxn ang="T64">
                <a:pos x="T40" y="T41"/>
              </a:cxn>
              <a:cxn ang="T65">
                <a:pos x="T42" y="T43"/>
              </a:cxn>
            </a:cxnLst>
            <a:rect l="T66" t="T67" r="T68" b="T69"/>
            <a:pathLst>
              <a:path w="106" h="68">
                <a:moveTo>
                  <a:pt x="56" y="68"/>
                </a:moveTo>
                <a:lnTo>
                  <a:pt x="56" y="68"/>
                </a:lnTo>
                <a:lnTo>
                  <a:pt x="76" y="65"/>
                </a:lnTo>
                <a:lnTo>
                  <a:pt x="91" y="58"/>
                </a:lnTo>
                <a:lnTo>
                  <a:pt x="101" y="45"/>
                </a:lnTo>
                <a:lnTo>
                  <a:pt x="106" y="32"/>
                </a:lnTo>
                <a:lnTo>
                  <a:pt x="101" y="19"/>
                </a:lnTo>
                <a:lnTo>
                  <a:pt x="91" y="9"/>
                </a:lnTo>
                <a:lnTo>
                  <a:pt x="76" y="3"/>
                </a:lnTo>
                <a:lnTo>
                  <a:pt x="56" y="0"/>
                </a:lnTo>
                <a:lnTo>
                  <a:pt x="36" y="3"/>
                </a:lnTo>
                <a:lnTo>
                  <a:pt x="15" y="9"/>
                </a:lnTo>
                <a:lnTo>
                  <a:pt x="5" y="19"/>
                </a:lnTo>
                <a:lnTo>
                  <a:pt x="0" y="32"/>
                </a:lnTo>
                <a:lnTo>
                  <a:pt x="5" y="45"/>
                </a:lnTo>
                <a:lnTo>
                  <a:pt x="15" y="58"/>
                </a:lnTo>
                <a:lnTo>
                  <a:pt x="36" y="65"/>
                </a:lnTo>
                <a:lnTo>
                  <a:pt x="56" y="6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6" name="Freeform 183"/>
          <p:cNvSpPr>
            <a:spLocks/>
          </p:cNvSpPr>
          <p:nvPr/>
        </p:nvSpPr>
        <p:spPr bwMode="auto">
          <a:xfrm>
            <a:off x="4800600" y="3913188"/>
            <a:ext cx="146050" cy="136525"/>
          </a:xfrm>
          <a:custGeom>
            <a:avLst/>
            <a:gdLst>
              <a:gd name="T0" fmla="*/ 2147483647 w 106"/>
              <a:gd name="T1" fmla="*/ 2147483647 h 68"/>
              <a:gd name="T2" fmla="*/ 2147483647 w 106"/>
              <a:gd name="T3" fmla="*/ 2147483647 h 68"/>
              <a:gd name="T4" fmla="*/ 2147483647 w 106"/>
              <a:gd name="T5" fmla="*/ 2147483647 h 68"/>
              <a:gd name="T6" fmla="*/ 2147483647 w 106"/>
              <a:gd name="T7" fmla="*/ 2147483647 h 68"/>
              <a:gd name="T8" fmla="*/ 2147483647 w 106"/>
              <a:gd name="T9" fmla="*/ 2147483647 h 68"/>
              <a:gd name="T10" fmla="*/ 2147483647 w 106"/>
              <a:gd name="T11" fmla="*/ 2147483647 h 68"/>
              <a:gd name="T12" fmla="*/ 2147483647 w 106"/>
              <a:gd name="T13" fmla="*/ 2147483647 h 68"/>
              <a:gd name="T14" fmla="*/ 2147483647 w 106"/>
              <a:gd name="T15" fmla="*/ 2147483647 h 68"/>
              <a:gd name="T16" fmla="*/ 2147483647 w 106"/>
              <a:gd name="T17" fmla="*/ 2147483647 h 68"/>
              <a:gd name="T18" fmla="*/ 2147483647 w 106"/>
              <a:gd name="T19" fmla="*/ 2147483647 h 68"/>
              <a:gd name="T20" fmla="*/ 2147483647 w 106"/>
              <a:gd name="T21" fmla="*/ 0 h 68"/>
              <a:gd name="T22" fmla="*/ 2147483647 w 106"/>
              <a:gd name="T23" fmla="*/ 0 h 68"/>
              <a:gd name="T24" fmla="*/ 2147483647 w 106"/>
              <a:gd name="T25" fmla="*/ 2147483647 h 68"/>
              <a:gd name="T26" fmla="*/ 2147483647 w 106"/>
              <a:gd name="T27" fmla="*/ 2147483647 h 68"/>
              <a:gd name="T28" fmla="*/ 2147483647 w 106"/>
              <a:gd name="T29" fmla="*/ 2147483647 h 68"/>
              <a:gd name="T30" fmla="*/ 0 w 106"/>
              <a:gd name="T31" fmla="*/ 2147483647 h 68"/>
              <a:gd name="T32" fmla="*/ 0 w 106"/>
              <a:gd name="T33" fmla="*/ 2147483647 h 68"/>
              <a:gd name="T34" fmla="*/ 2147483647 w 106"/>
              <a:gd name="T35" fmla="*/ 2147483647 h 68"/>
              <a:gd name="T36" fmla="*/ 2147483647 w 106"/>
              <a:gd name="T37" fmla="*/ 2147483647 h 68"/>
              <a:gd name="T38" fmla="*/ 2147483647 w 106"/>
              <a:gd name="T39" fmla="*/ 2147483647 h 68"/>
              <a:gd name="T40" fmla="*/ 2147483647 w 106"/>
              <a:gd name="T41" fmla="*/ 2147483647 h 68"/>
              <a:gd name="T42" fmla="*/ 2147483647 w 106"/>
              <a:gd name="T43" fmla="*/ 2147483647 h 68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w 106"/>
              <a:gd name="T67" fmla="*/ 0 h 68"/>
              <a:gd name="T68" fmla="*/ 106 w 106"/>
              <a:gd name="T69" fmla="*/ 68 h 68"/>
            </a:gdLst>
            <a:ahLst/>
            <a:cxnLst>
              <a:cxn ang="T44">
                <a:pos x="T0" y="T1"/>
              </a:cxn>
              <a:cxn ang="T45">
                <a:pos x="T2" y="T3"/>
              </a:cxn>
              <a:cxn ang="T46">
                <a:pos x="T4" y="T5"/>
              </a:cxn>
              <a:cxn ang="T47">
                <a:pos x="T6" y="T7"/>
              </a:cxn>
              <a:cxn ang="T48">
                <a:pos x="T8" y="T9"/>
              </a:cxn>
              <a:cxn ang="T49">
                <a:pos x="T10" y="T11"/>
              </a:cxn>
              <a:cxn ang="T50">
                <a:pos x="T12" y="T13"/>
              </a:cxn>
              <a:cxn ang="T51">
                <a:pos x="T14" y="T15"/>
              </a:cxn>
              <a:cxn ang="T52">
                <a:pos x="T16" y="T17"/>
              </a:cxn>
              <a:cxn ang="T53">
                <a:pos x="T18" y="T19"/>
              </a:cxn>
              <a:cxn ang="T54">
                <a:pos x="T20" y="T21"/>
              </a:cxn>
              <a:cxn ang="T55">
                <a:pos x="T22" y="T23"/>
              </a:cxn>
              <a:cxn ang="T56">
                <a:pos x="T24" y="T25"/>
              </a:cxn>
              <a:cxn ang="T57">
                <a:pos x="T26" y="T27"/>
              </a:cxn>
              <a:cxn ang="T58">
                <a:pos x="T28" y="T29"/>
              </a:cxn>
              <a:cxn ang="T59">
                <a:pos x="T30" y="T31"/>
              </a:cxn>
              <a:cxn ang="T60">
                <a:pos x="T32" y="T33"/>
              </a:cxn>
              <a:cxn ang="T61">
                <a:pos x="T34" y="T35"/>
              </a:cxn>
              <a:cxn ang="T62">
                <a:pos x="T36" y="T37"/>
              </a:cxn>
              <a:cxn ang="T63">
                <a:pos x="T38" y="T39"/>
              </a:cxn>
              <a:cxn ang="T64">
                <a:pos x="T40" y="T41"/>
              </a:cxn>
              <a:cxn ang="T65">
                <a:pos x="T42" y="T43"/>
              </a:cxn>
            </a:cxnLst>
            <a:rect l="T66" t="T67" r="T68" b="T69"/>
            <a:pathLst>
              <a:path w="106" h="68">
                <a:moveTo>
                  <a:pt x="56" y="68"/>
                </a:moveTo>
                <a:lnTo>
                  <a:pt x="56" y="68"/>
                </a:lnTo>
                <a:lnTo>
                  <a:pt x="76" y="65"/>
                </a:lnTo>
                <a:lnTo>
                  <a:pt x="91" y="58"/>
                </a:lnTo>
                <a:lnTo>
                  <a:pt x="101" y="45"/>
                </a:lnTo>
                <a:lnTo>
                  <a:pt x="106" y="32"/>
                </a:lnTo>
                <a:lnTo>
                  <a:pt x="101" y="19"/>
                </a:lnTo>
                <a:lnTo>
                  <a:pt x="91" y="9"/>
                </a:lnTo>
                <a:lnTo>
                  <a:pt x="76" y="3"/>
                </a:lnTo>
                <a:lnTo>
                  <a:pt x="56" y="0"/>
                </a:lnTo>
                <a:lnTo>
                  <a:pt x="36" y="3"/>
                </a:lnTo>
                <a:lnTo>
                  <a:pt x="15" y="9"/>
                </a:lnTo>
                <a:lnTo>
                  <a:pt x="5" y="19"/>
                </a:lnTo>
                <a:lnTo>
                  <a:pt x="0" y="32"/>
                </a:lnTo>
                <a:lnTo>
                  <a:pt x="5" y="45"/>
                </a:lnTo>
                <a:lnTo>
                  <a:pt x="15" y="58"/>
                </a:lnTo>
                <a:lnTo>
                  <a:pt x="36" y="65"/>
                </a:lnTo>
                <a:lnTo>
                  <a:pt x="56" y="6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7" name="Freeform 183"/>
          <p:cNvSpPr>
            <a:spLocks/>
          </p:cNvSpPr>
          <p:nvPr/>
        </p:nvSpPr>
        <p:spPr bwMode="auto">
          <a:xfrm>
            <a:off x="4495800" y="4370388"/>
            <a:ext cx="146050" cy="136525"/>
          </a:xfrm>
          <a:custGeom>
            <a:avLst/>
            <a:gdLst>
              <a:gd name="T0" fmla="*/ 2147483647 w 106"/>
              <a:gd name="T1" fmla="*/ 2147483647 h 68"/>
              <a:gd name="T2" fmla="*/ 2147483647 w 106"/>
              <a:gd name="T3" fmla="*/ 2147483647 h 68"/>
              <a:gd name="T4" fmla="*/ 2147483647 w 106"/>
              <a:gd name="T5" fmla="*/ 2147483647 h 68"/>
              <a:gd name="T6" fmla="*/ 2147483647 w 106"/>
              <a:gd name="T7" fmla="*/ 2147483647 h 68"/>
              <a:gd name="T8" fmla="*/ 2147483647 w 106"/>
              <a:gd name="T9" fmla="*/ 2147483647 h 68"/>
              <a:gd name="T10" fmla="*/ 2147483647 w 106"/>
              <a:gd name="T11" fmla="*/ 2147483647 h 68"/>
              <a:gd name="T12" fmla="*/ 2147483647 w 106"/>
              <a:gd name="T13" fmla="*/ 2147483647 h 68"/>
              <a:gd name="T14" fmla="*/ 2147483647 w 106"/>
              <a:gd name="T15" fmla="*/ 2147483647 h 68"/>
              <a:gd name="T16" fmla="*/ 2147483647 w 106"/>
              <a:gd name="T17" fmla="*/ 2147483647 h 68"/>
              <a:gd name="T18" fmla="*/ 2147483647 w 106"/>
              <a:gd name="T19" fmla="*/ 2147483647 h 68"/>
              <a:gd name="T20" fmla="*/ 2147483647 w 106"/>
              <a:gd name="T21" fmla="*/ 0 h 68"/>
              <a:gd name="T22" fmla="*/ 2147483647 w 106"/>
              <a:gd name="T23" fmla="*/ 0 h 68"/>
              <a:gd name="T24" fmla="*/ 2147483647 w 106"/>
              <a:gd name="T25" fmla="*/ 2147483647 h 68"/>
              <a:gd name="T26" fmla="*/ 2147483647 w 106"/>
              <a:gd name="T27" fmla="*/ 2147483647 h 68"/>
              <a:gd name="T28" fmla="*/ 2147483647 w 106"/>
              <a:gd name="T29" fmla="*/ 2147483647 h 68"/>
              <a:gd name="T30" fmla="*/ 0 w 106"/>
              <a:gd name="T31" fmla="*/ 2147483647 h 68"/>
              <a:gd name="T32" fmla="*/ 0 w 106"/>
              <a:gd name="T33" fmla="*/ 2147483647 h 68"/>
              <a:gd name="T34" fmla="*/ 2147483647 w 106"/>
              <a:gd name="T35" fmla="*/ 2147483647 h 68"/>
              <a:gd name="T36" fmla="*/ 2147483647 w 106"/>
              <a:gd name="T37" fmla="*/ 2147483647 h 68"/>
              <a:gd name="T38" fmla="*/ 2147483647 w 106"/>
              <a:gd name="T39" fmla="*/ 2147483647 h 68"/>
              <a:gd name="T40" fmla="*/ 2147483647 w 106"/>
              <a:gd name="T41" fmla="*/ 2147483647 h 68"/>
              <a:gd name="T42" fmla="*/ 2147483647 w 106"/>
              <a:gd name="T43" fmla="*/ 2147483647 h 68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w 106"/>
              <a:gd name="T67" fmla="*/ 0 h 68"/>
              <a:gd name="T68" fmla="*/ 106 w 106"/>
              <a:gd name="T69" fmla="*/ 68 h 68"/>
            </a:gdLst>
            <a:ahLst/>
            <a:cxnLst>
              <a:cxn ang="T44">
                <a:pos x="T0" y="T1"/>
              </a:cxn>
              <a:cxn ang="T45">
                <a:pos x="T2" y="T3"/>
              </a:cxn>
              <a:cxn ang="T46">
                <a:pos x="T4" y="T5"/>
              </a:cxn>
              <a:cxn ang="T47">
                <a:pos x="T6" y="T7"/>
              </a:cxn>
              <a:cxn ang="T48">
                <a:pos x="T8" y="T9"/>
              </a:cxn>
              <a:cxn ang="T49">
                <a:pos x="T10" y="T11"/>
              </a:cxn>
              <a:cxn ang="T50">
                <a:pos x="T12" y="T13"/>
              </a:cxn>
              <a:cxn ang="T51">
                <a:pos x="T14" y="T15"/>
              </a:cxn>
              <a:cxn ang="T52">
                <a:pos x="T16" y="T17"/>
              </a:cxn>
              <a:cxn ang="T53">
                <a:pos x="T18" y="T19"/>
              </a:cxn>
              <a:cxn ang="T54">
                <a:pos x="T20" y="T21"/>
              </a:cxn>
              <a:cxn ang="T55">
                <a:pos x="T22" y="T23"/>
              </a:cxn>
              <a:cxn ang="T56">
                <a:pos x="T24" y="T25"/>
              </a:cxn>
              <a:cxn ang="T57">
                <a:pos x="T26" y="T27"/>
              </a:cxn>
              <a:cxn ang="T58">
                <a:pos x="T28" y="T29"/>
              </a:cxn>
              <a:cxn ang="T59">
                <a:pos x="T30" y="T31"/>
              </a:cxn>
              <a:cxn ang="T60">
                <a:pos x="T32" y="T33"/>
              </a:cxn>
              <a:cxn ang="T61">
                <a:pos x="T34" y="T35"/>
              </a:cxn>
              <a:cxn ang="T62">
                <a:pos x="T36" y="T37"/>
              </a:cxn>
              <a:cxn ang="T63">
                <a:pos x="T38" y="T39"/>
              </a:cxn>
              <a:cxn ang="T64">
                <a:pos x="T40" y="T41"/>
              </a:cxn>
              <a:cxn ang="T65">
                <a:pos x="T42" y="T43"/>
              </a:cxn>
            </a:cxnLst>
            <a:rect l="T66" t="T67" r="T68" b="T69"/>
            <a:pathLst>
              <a:path w="106" h="68">
                <a:moveTo>
                  <a:pt x="56" y="68"/>
                </a:moveTo>
                <a:lnTo>
                  <a:pt x="56" y="68"/>
                </a:lnTo>
                <a:lnTo>
                  <a:pt x="76" y="65"/>
                </a:lnTo>
                <a:lnTo>
                  <a:pt x="91" y="58"/>
                </a:lnTo>
                <a:lnTo>
                  <a:pt x="101" y="45"/>
                </a:lnTo>
                <a:lnTo>
                  <a:pt x="106" y="32"/>
                </a:lnTo>
                <a:lnTo>
                  <a:pt x="101" y="19"/>
                </a:lnTo>
                <a:lnTo>
                  <a:pt x="91" y="9"/>
                </a:lnTo>
                <a:lnTo>
                  <a:pt x="76" y="3"/>
                </a:lnTo>
                <a:lnTo>
                  <a:pt x="56" y="0"/>
                </a:lnTo>
                <a:lnTo>
                  <a:pt x="36" y="3"/>
                </a:lnTo>
                <a:lnTo>
                  <a:pt x="15" y="9"/>
                </a:lnTo>
                <a:lnTo>
                  <a:pt x="5" y="19"/>
                </a:lnTo>
                <a:lnTo>
                  <a:pt x="0" y="32"/>
                </a:lnTo>
                <a:lnTo>
                  <a:pt x="5" y="45"/>
                </a:lnTo>
                <a:lnTo>
                  <a:pt x="15" y="58"/>
                </a:lnTo>
                <a:lnTo>
                  <a:pt x="36" y="65"/>
                </a:lnTo>
                <a:lnTo>
                  <a:pt x="56" y="6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cxnSp>
        <p:nvCxnSpPr>
          <p:cNvPr id="89" name="Straight Arrow Connector 88"/>
          <p:cNvCxnSpPr/>
          <p:nvPr/>
        </p:nvCxnSpPr>
        <p:spPr>
          <a:xfrm rot="5400000">
            <a:off x="4420394" y="2829719"/>
            <a:ext cx="457200" cy="1588"/>
          </a:xfrm>
          <a:prstGeom prst="straightConnector1">
            <a:avLst/>
          </a:prstGeom>
          <a:ln w="19050">
            <a:solidFill>
              <a:srgbClr val="80008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Arrow Connector 89"/>
          <p:cNvCxnSpPr/>
          <p:nvPr/>
        </p:nvCxnSpPr>
        <p:spPr>
          <a:xfrm>
            <a:off x="5486400" y="4724400"/>
            <a:ext cx="303213" cy="1588"/>
          </a:xfrm>
          <a:prstGeom prst="straightConnector1">
            <a:avLst/>
          </a:prstGeom>
          <a:ln w="19050">
            <a:solidFill>
              <a:srgbClr val="80008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0" name="Group 90"/>
          <p:cNvGrpSpPr>
            <a:grpSpLocks/>
          </p:cNvGrpSpPr>
          <p:nvPr/>
        </p:nvGrpSpPr>
        <p:grpSpPr bwMode="auto">
          <a:xfrm>
            <a:off x="4648200" y="2362200"/>
            <a:ext cx="3236913" cy="584200"/>
            <a:chOff x="4648200" y="2743200"/>
            <a:chExt cx="3237174" cy="584775"/>
          </a:xfrm>
        </p:grpSpPr>
        <p:sp>
          <p:nvSpPr>
            <p:cNvPr id="30757" name="TextBox 91"/>
            <p:cNvSpPr txBox="1">
              <a:spLocks noChangeArrowheads="1"/>
            </p:cNvSpPr>
            <p:nvPr/>
          </p:nvSpPr>
          <p:spPr bwMode="auto">
            <a:xfrm>
              <a:off x="6400800" y="2743200"/>
              <a:ext cx="1484574" cy="584775"/>
            </a:xfrm>
            <a:prstGeom prst="rect">
              <a:avLst/>
            </a:prstGeom>
            <a:solidFill>
              <a:srgbClr val="F8EDE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r>
                <a:rPr lang="en-US" sz="1600">
                  <a:solidFill>
                    <a:srgbClr val="800080"/>
                  </a:solidFill>
                </a:rPr>
                <a:t>1. An increase</a:t>
              </a:r>
            </a:p>
            <a:p>
              <a:r>
                <a:rPr lang="en-US" sz="1600">
                  <a:solidFill>
                    <a:srgbClr val="800080"/>
                  </a:solidFill>
                </a:rPr>
                <a:t>in price . . .</a:t>
              </a:r>
            </a:p>
          </p:txBody>
        </p:sp>
        <p:cxnSp>
          <p:nvCxnSpPr>
            <p:cNvPr id="93" name="Straight Connector 92"/>
            <p:cNvCxnSpPr/>
            <p:nvPr/>
          </p:nvCxnSpPr>
          <p:spPr>
            <a:xfrm flipV="1">
              <a:off x="4648200" y="3048300"/>
              <a:ext cx="1828947" cy="152550"/>
            </a:xfrm>
            <a:prstGeom prst="line">
              <a:avLst/>
            </a:prstGeom>
            <a:ln>
              <a:solidFill>
                <a:srgbClr val="80008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2" name="Group 93"/>
          <p:cNvGrpSpPr>
            <a:grpSpLocks/>
          </p:cNvGrpSpPr>
          <p:nvPr/>
        </p:nvGrpSpPr>
        <p:grpSpPr bwMode="auto">
          <a:xfrm>
            <a:off x="5562600" y="3505200"/>
            <a:ext cx="3352800" cy="1219200"/>
            <a:chOff x="4343400" y="2438400"/>
            <a:chExt cx="3352800" cy="1219200"/>
          </a:xfrm>
        </p:grpSpPr>
        <p:sp>
          <p:nvSpPr>
            <p:cNvPr id="30755" name="TextBox 94"/>
            <p:cNvSpPr txBox="1">
              <a:spLocks noChangeArrowheads="1"/>
            </p:cNvSpPr>
            <p:nvPr/>
          </p:nvSpPr>
          <p:spPr bwMode="auto">
            <a:xfrm>
              <a:off x="5283360" y="2438400"/>
              <a:ext cx="2412840" cy="584775"/>
            </a:xfrm>
            <a:prstGeom prst="rect">
              <a:avLst/>
            </a:prstGeom>
            <a:solidFill>
              <a:srgbClr val="F8EDE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r>
                <a:rPr lang="en-US" sz="1600">
                  <a:solidFill>
                    <a:srgbClr val="800080"/>
                  </a:solidFill>
                </a:rPr>
                <a:t>2. . . . increases quantity</a:t>
              </a:r>
            </a:p>
            <a:p>
              <a:r>
                <a:rPr lang="en-US" sz="1600">
                  <a:solidFill>
                    <a:srgbClr val="800080"/>
                  </a:solidFill>
                </a:rPr>
                <a:t>of cones supplied.</a:t>
              </a:r>
            </a:p>
          </p:txBody>
        </p:sp>
        <p:cxnSp>
          <p:nvCxnSpPr>
            <p:cNvPr id="96" name="Straight Connector 95"/>
            <p:cNvCxnSpPr/>
            <p:nvPr/>
          </p:nvCxnSpPr>
          <p:spPr>
            <a:xfrm flipV="1">
              <a:off x="4343400" y="2895600"/>
              <a:ext cx="914400" cy="762000"/>
            </a:xfrm>
            <a:prstGeom prst="line">
              <a:avLst/>
            </a:prstGeom>
            <a:ln>
              <a:solidFill>
                <a:srgbClr val="80008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02" name="Straight Connector 101"/>
          <p:cNvCxnSpPr/>
          <p:nvPr/>
        </p:nvCxnSpPr>
        <p:spPr>
          <a:xfrm rot="5400000" flipH="1" flipV="1">
            <a:off x="4609307" y="3694906"/>
            <a:ext cx="2362200" cy="1587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Connector 103"/>
          <p:cNvCxnSpPr/>
          <p:nvPr/>
        </p:nvCxnSpPr>
        <p:spPr>
          <a:xfrm rot="5400000" flipH="1" flipV="1">
            <a:off x="4685507" y="3542506"/>
            <a:ext cx="2819400" cy="1587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Connector 105"/>
          <p:cNvCxnSpPr/>
          <p:nvPr/>
        </p:nvCxnSpPr>
        <p:spPr>
          <a:xfrm>
            <a:off x="4572000" y="2133600"/>
            <a:ext cx="1524000" cy="1588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604060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3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3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3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4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4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5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 nodeType="afterGroup">
                            <p:stCondLst>
                              <p:cond delay="5500"/>
                            </p:stCondLst>
                            <p:childTnLst>
                              <p:par>
                                <p:cTn id="5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5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 nodeType="afterGroup">
                            <p:stCondLst>
                              <p:cond delay="6500"/>
                            </p:stCondLst>
                            <p:childTnLst>
                              <p:par>
                                <p:cTn id="6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 nodeType="afterGroup">
                            <p:stCondLst>
                              <p:cond delay="7000"/>
                            </p:stCondLst>
                            <p:childTnLst>
                              <p:par>
                                <p:cTn id="6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9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 nodeType="afterGroup">
                            <p:stCondLst>
                              <p:cond delay="7500"/>
                            </p:stCondLst>
                            <p:childTnLst>
                              <p:par>
                                <p:cTn id="7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 nodeType="afterGroup">
                            <p:stCondLst>
                              <p:cond delay="8000"/>
                            </p:stCondLst>
                            <p:childTnLst>
                              <p:par>
                                <p:cTn id="7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 nodeType="afterGroup">
                            <p:stCondLst>
                              <p:cond delay="8500"/>
                            </p:stCondLst>
                            <p:childTnLst>
                              <p:par>
                                <p:cTn id="7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1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 nodeType="afterGroup">
                            <p:stCondLst>
                              <p:cond delay="9000"/>
                            </p:stCondLst>
                            <p:childTnLst>
                              <p:par>
                                <p:cTn id="8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 nodeType="afterGroup">
                            <p:stCondLst>
                              <p:cond delay="9500"/>
                            </p:stCondLst>
                            <p:childTnLst>
                              <p:par>
                                <p:cTn id="8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9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 nodeType="afterGroup">
                            <p:stCondLst>
                              <p:cond delay="10000"/>
                            </p:stCondLst>
                            <p:childTnLst>
                              <p:par>
                                <p:cTn id="9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 nodeType="afterGroup">
                            <p:stCondLst>
                              <p:cond delay="10500"/>
                            </p:stCondLst>
                            <p:childTnLst>
                              <p:par>
                                <p:cTn id="9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 nodeType="afterGroup">
                            <p:stCondLst>
                              <p:cond delay="11000"/>
                            </p:stCondLst>
                            <p:childTnLst>
                              <p:par>
                                <p:cTn id="9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82" grpId="0" animBg="1"/>
      <p:bldP spid="83" grpId="0" animBg="1"/>
      <p:bldP spid="84" grpId="0" animBg="1"/>
      <p:bldP spid="85" grpId="0" animBg="1"/>
      <p:bldP spid="86" grpId="0" animBg="1"/>
      <p:bldP spid="87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itle 1"/>
          <p:cNvSpPr>
            <a:spLocks noGrp="1"/>
          </p:cNvSpPr>
          <p:nvPr>
            <p:ph type="title"/>
          </p:nvPr>
        </p:nvSpPr>
        <p:spPr>
          <a:xfrm>
            <a:off x="304800" y="1113183"/>
            <a:ext cx="8534400" cy="1371600"/>
          </a:xfrm>
        </p:spPr>
        <p:txBody>
          <a:bodyPr anchor="t">
            <a:normAutofit/>
          </a:bodyPr>
          <a:lstStyle/>
          <a:p>
            <a:pPr algn="ctr"/>
            <a:r>
              <a:rPr lang="en-US" sz="4400" b="1" dirty="0">
                <a:solidFill>
                  <a:schemeClr val="tx1"/>
                </a:solidFill>
                <a:latin typeface="Calibri" pitchFamily="34" charset="0"/>
              </a:rPr>
              <a:t>Market supply and individual supplies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pPr>
              <a:defRPr/>
            </a:pPr>
            <a:fld id="{E2749101-C992-4989-8918-BA35E88962DF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3151213"/>
              </p:ext>
            </p:extLst>
          </p:nvPr>
        </p:nvGraphicFramePr>
        <p:xfrm>
          <a:off x="1295400" y="2514600"/>
          <a:ext cx="6334125" cy="265204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065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9507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95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7653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4953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5684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89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000070"/>
                          </a:solidFill>
                        </a:rPr>
                        <a:t>Price of ice-cream</a:t>
                      </a:r>
                      <a:r>
                        <a:rPr lang="en-US" sz="1800" baseline="0" dirty="0">
                          <a:solidFill>
                            <a:srgbClr val="000070"/>
                          </a:solidFill>
                        </a:rPr>
                        <a:t> cone</a:t>
                      </a:r>
                      <a:endParaRPr lang="en-US" sz="1800" dirty="0">
                        <a:solidFill>
                          <a:srgbClr val="000070"/>
                        </a:solidFill>
                      </a:endParaRPr>
                    </a:p>
                  </a:txBody>
                  <a:tcPr marL="91431" marR="91431" marT="45726" marB="45726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 err="1">
                          <a:solidFill>
                            <a:srgbClr val="000070"/>
                          </a:solidFill>
                        </a:rPr>
                        <a:t>Amal</a:t>
                      </a:r>
                      <a:endParaRPr lang="en-US" sz="1800" b="1" dirty="0">
                        <a:solidFill>
                          <a:srgbClr val="000070"/>
                        </a:solidFill>
                      </a:endParaRPr>
                    </a:p>
                  </a:txBody>
                  <a:tcPr marL="91431" marR="91431" marT="45726" marB="45726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>
                        <a:solidFill>
                          <a:srgbClr val="000070"/>
                        </a:solidFill>
                      </a:endParaRPr>
                    </a:p>
                  </a:txBody>
                  <a:tcPr marL="91431" marR="91431" marT="45726" marB="45726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 err="1">
                          <a:solidFill>
                            <a:srgbClr val="000070"/>
                          </a:solidFill>
                        </a:rPr>
                        <a:t>Neela</a:t>
                      </a:r>
                      <a:endParaRPr lang="en-US" sz="1800" b="1" dirty="0">
                        <a:solidFill>
                          <a:srgbClr val="000070"/>
                        </a:solidFill>
                      </a:endParaRPr>
                    </a:p>
                  </a:txBody>
                  <a:tcPr marL="91431" marR="91431" marT="45726" marB="45726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>
                        <a:solidFill>
                          <a:srgbClr val="000070"/>
                        </a:solidFill>
                      </a:endParaRPr>
                    </a:p>
                  </a:txBody>
                  <a:tcPr marL="91431" marR="91431" marT="45726" marB="45726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000070"/>
                          </a:solidFill>
                        </a:rPr>
                        <a:t>Market </a:t>
                      </a:r>
                    </a:p>
                  </a:txBody>
                  <a:tcPr marL="91431" marR="91431" marT="45726" marB="45726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11949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$0.00</a:t>
                      </a:r>
                    </a:p>
                    <a:p>
                      <a:pPr algn="ctr"/>
                      <a:r>
                        <a:rPr lang="en-US" sz="1800" dirty="0"/>
                        <a:t>0.50</a:t>
                      </a:r>
                    </a:p>
                    <a:p>
                      <a:pPr algn="ctr"/>
                      <a:r>
                        <a:rPr lang="en-US" sz="1800" dirty="0"/>
                        <a:t>1.00</a:t>
                      </a:r>
                    </a:p>
                    <a:p>
                      <a:pPr algn="ctr"/>
                      <a:r>
                        <a:rPr lang="en-US" sz="1800" dirty="0"/>
                        <a:t>1.50</a:t>
                      </a:r>
                    </a:p>
                    <a:p>
                      <a:pPr algn="ctr"/>
                      <a:r>
                        <a:rPr lang="en-US" sz="1800" dirty="0"/>
                        <a:t>2.00</a:t>
                      </a:r>
                    </a:p>
                    <a:p>
                      <a:pPr algn="ctr"/>
                      <a:r>
                        <a:rPr lang="en-US" sz="1800" dirty="0"/>
                        <a:t>2.50</a:t>
                      </a:r>
                    </a:p>
                    <a:p>
                      <a:pPr algn="ctr"/>
                      <a:r>
                        <a:rPr lang="en-US" sz="1800" dirty="0"/>
                        <a:t>3.00</a:t>
                      </a:r>
                    </a:p>
                  </a:txBody>
                  <a:tcPr marL="91431" marR="91431" marT="45726" marB="45726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  <a:p>
                      <a:pPr algn="ctr"/>
                      <a:r>
                        <a:rPr lang="en-US" sz="1800" dirty="0"/>
                        <a:t>0</a:t>
                      </a:r>
                    </a:p>
                    <a:p>
                      <a:pPr algn="ctr"/>
                      <a:r>
                        <a:rPr lang="en-US" sz="1800" dirty="0"/>
                        <a:t>1</a:t>
                      </a:r>
                    </a:p>
                    <a:p>
                      <a:pPr algn="ctr"/>
                      <a:r>
                        <a:rPr lang="en-US" sz="1800" dirty="0"/>
                        <a:t>2</a:t>
                      </a:r>
                    </a:p>
                    <a:p>
                      <a:pPr algn="ctr"/>
                      <a:r>
                        <a:rPr lang="en-US" sz="1800" dirty="0"/>
                        <a:t>3</a:t>
                      </a:r>
                    </a:p>
                    <a:p>
                      <a:pPr algn="ctr"/>
                      <a:r>
                        <a:rPr lang="en-US" sz="1800" dirty="0"/>
                        <a:t>4</a:t>
                      </a:r>
                    </a:p>
                    <a:p>
                      <a:pPr algn="ctr"/>
                      <a:r>
                        <a:rPr lang="en-US" sz="1800" dirty="0"/>
                        <a:t>5</a:t>
                      </a:r>
                    </a:p>
                  </a:txBody>
                  <a:tcPr marL="91431" marR="91431" marT="45726" marB="45726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+</a:t>
                      </a:r>
                    </a:p>
                  </a:txBody>
                  <a:tcPr marL="91431" marR="91431" marT="45726" marB="45726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  <a:p>
                      <a:pPr algn="ctr"/>
                      <a:r>
                        <a:rPr lang="en-US" sz="1800" dirty="0"/>
                        <a:t>0</a:t>
                      </a:r>
                    </a:p>
                    <a:p>
                      <a:pPr algn="ctr"/>
                      <a:r>
                        <a:rPr lang="en-US" sz="1800" dirty="0"/>
                        <a:t>0</a:t>
                      </a:r>
                    </a:p>
                    <a:p>
                      <a:pPr algn="ctr"/>
                      <a:r>
                        <a:rPr lang="en-US" sz="1800" dirty="0"/>
                        <a:t>2</a:t>
                      </a:r>
                    </a:p>
                    <a:p>
                      <a:pPr algn="ctr"/>
                      <a:r>
                        <a:rPr lang="en-US" sz="1800" dirty="0"/>
                        <a:t>4</a:t>
                      </a:r>
                    </a:p>
                    <a:p>
                      <a:pPr algn="ctr"/>
                      <a:r>
                        <a:rPr lang="en-US" sz="1800" dirty="0"/>
                        <a:t>6</a:t>
                      </a:r>
                    </a:p>
                    <a:p>
                      <a:pPr algn="ctr"/>
                      <a:r>
                        <a:rPr lang="en-US" sz="1800" dirty="0"/>
                        <a:t>8</a:t>
                      </a:r>
                    </a:p>
                  </a:txBody>
                  <a:tcPr marL="91431" marR="91431" marT="45726" marB="45726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=</a:t>
                      </a:r>
                    </a:p>
                  </a:txBody>
                  <a:tcPr marL="91431" marR="91431" marT="45726" marB="45726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  <a:p>
                      <a:pPr algn="ctr"/>
                      <a:r>
                        <a:rPr lang="en-US" sz="1800" dirty="0"/>
                        <a:t>0</a:t>
                      </a:r>
                    </a:p>
                    <a:p>
                      <a:pPr algn="ctr"/>
                      <a:r>
                        <a:rPr lang="en-US" sz="1800" dirty="0"/>
                        <a:t>1</a:t>
                      </a:r>
                    </a:p>
                    <a:p>
                      <a:pPr algn="ctr"/>
                      <a:r>
                        <a:rPr lang="en-US" sz="1800" dirty="0"/>
                        <a:t>4</a:t>
                      </a:r>
                    </a:p>
                    <a:p>
                      <a:pPr algn="ctr"/>
                      <a:r>
                        <a:rPr lang="en-US" sz="1800" dirty="0"/>
                        <a:t>7</a:t>
                      </a:r>
                    </a:p>
                    <a:p>
                      <a:pPr algn="ctr"/>
                      <a:r>
                        <a:rPr lang="en-US" sz="1800" dirty="0"/>
                        <a:t>10</a:t>
                      </a:r>
                    </a:p>
                    <a:p>
                      <a:pPr algn="ctr"/>
                      <a:r>
                        <a:rPr lang="en-US" sz="1800" dirty="0"/>
                        <a:t>13</a:t>
                      </a:r>
                    </a:p>
                  </a:txBody>
                  <a:tcPr marL="91431" marR="91431" marT="45726" marB="45726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650254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itle 1"/>
          <p:cNvSpPr>
            <a:spLocks noGrp="1"/>
          </p:cNvSpPr>
          <p:nvPr>
            <p:ph type="title"/>
          </p:nvPr>
        </p:nvSpPr>
        <p:spPr>
          <a:xfrm>
            <a:off x="3450990" y="355744"/>
            <a:ext cx="6858000" cy="533400"/>
          </a:xfrm>
        </p:spPr>
        <p:txBody>
          <a:bodyPr anchor="t">
            <a:normAutofit fontScale="90000"/>
          </a:bodyPr>
          <a:lstStyle/>
          <a:p>
            <a:r>
              <a:rPr lang="en-US" b="1" dirty="0">
                <a:solidFill>
                  <a:schemeClr val="tx1"/>
                </a:solidFill>
              </a:rPr>
              <a:t>Market supply and individual supplies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pPr>
              <a:defRPr/>
            </a:pPr>
            <a:fld id="{ACCD6934-81BB-4670-B991-33C64218A52A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649288" y="2100263"/>
            <a:ext cx="2749550" cy="3429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600"/>
          </a:p>
        </p:txBody>
      </p:sp>
      <p:grpSp>
        <p:nvGrpSpPr>
          <p:cNvPr id="2" name="Group 7"/>
          <p:cNvGrpSpPr>
            <a:grpSpLocks/>
          </p:cNvGrpSpPr>
          <p:nvPr/>
        </p:nvGrpSpPr>
        <p:grpSpPr bwMode="auto">
          <a:xfrm>
            <a:off x="635000" y="2252663"/>
            <a:ext cx="1600200" cy="2852737"/>
            <a:chOff x="4412430" y="1481554"/>
            <a:chExt cx="1600199" cy="2853160"/>
          </a:xfrm>
        </p:grpSpPr>
        <p:cxnSp>
          <p:nvCxnSpPr>
            <p:cNvPr id="9" name="Straight Connector 8"/>
            <p:cNvCxnSpPr/>
            <p:nvPr/>
          </p:nvCxnSpPr>
          <p:spPr>
            <a:xfrm rot="5400000" flipH="1" flipV="1">
              <a:off x="3840766" y="2696251"/>
              <a:ext cx="2210128" cy="1066799"/>
            </a:xfrm>
            <a:prstGeom prst="line">
              <a:avLst/>
            </a:prstGeom>
            <a:ln w="38100">
              <a:solidFill>
                <a:srgbClr val="00007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963" name="TextBox 9"/>
            <p:cNvSpPr txBox="1">
              <a:spLocks noChangeArrowheads="1"/>
            </p:cNvSpPr>
            <p:nvPr/>
          </p:nvSpPr>
          <p:spPr bwMode="auto">
            <a:xfrm>
              <a:off x="5449654" y="1481554"/>
              <a:ext cx="562975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r>
                <a:rPr lang="en-US" sz="1600"/>
                <a:t>S</a:t>
              </a:r>
              <a:r>
                <a:rPr lang="en-US" sz="1600" baseline="-25000"/>
                <a:t>Ben</a:t>
              </a:r>
            </a:p>
          </p:txBody>
        </p:sp>
      </p:grpSp>
      <p:grpSp>
        <p:nvGrpSpPr>
          <p:cNvPr id="3" name="Group 10"/>
          <p:cNvGrpSpPr>
            <a:grpSpLocks/>
          </p:cNvGrpSpPr>
          <p:nvPr/>
        </p:nvGrpSpPr>
        <p:grpSpPr bwMode="auto">
          <a:xfrm>
            <a:off x="420688" y="5376863"/>
            <a:ext cx="3109912" cy="841375"/>
            <a:chOff x="680076" y="5147846"/>
            <a:chExt cx="3109908" cy="841177"/>
          </a:xfrm>
        </p:grpSpPr>
        <p:sp>
          <p:nvSpPr>
            <p:cNvPr id="32921" name="TextBox 11"/>
            <p:cNvSpPr txBox="1">
              <a:spLocks noChangeArrowheads="1"/>
            </p:cNvSpPr>
            <p:nvPr/>
          </p:nvSpPr>
          <p:spPr bwMode="auto">
            <a:xfrm>
              <a:off x="680076" y="5300246"/>
              <a:ext cx="284052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r>
                <a:rPr lang="en-US" sz="1400"/>
                <a:t>0</a:t>
              </a:r>
            </a:p>
          </p:txBody>
        </p:sp>
        <p:grpSp>
          <p:nvGrpSpPr>
            <p:cNvPr id="32922" name="Group 99"/>
            <p:cNvGrpSpPr>
              <a:grpSpLocks/>
            </p:cNvGrpSpPr>
            <p:nvPr/>
          </p:nvGrpSpPr>
          <p:grpSpPr bwMode="auto">
            <a:xfrm>
              <a:off x="914400" y="5147846"/>
              <a:ext cx="2875584" cy="460177"/>
              <a:chOff x="936854" y="5147846"/>
              <a:chExt cx="2875584" cy="460177"/>
            </a:xfrm>
          </p:grpSpPr>
          <p:cxnSp>
            <p:nvCxnSpPr>
              <p:cNvPr id="15" name="Straight Connector 14"/>
              <p:cNvCxnSpPr/>
              <p:nvPr/>
            </p:nvCxnSpPr>
            <p:spPr>
              <a:xfrm>
                <a:off x="937480" y="5300210"/>
                <a:ext cx="2719383" cy="1587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2925" name="Group 96"/>
              <p:cNvGrpSpPr>
                <a:grpSpLocks/>
              </p:cNvGrpSpPr>
              <p:nvPr/>
            </p:nvGrpSpPr>
            <p:grpSpPr bwMode="auto">
              <a:xfrm>
                <a:off x="996920" y="5147846"/>
                <a:ext cx="2815518" cy="460177"/>
                <a:chOff x="996920" y="5147846"/>
                <a:chExt cx="2815518" cy="460177"/>
              </a:xfrm>
            </p:grpSpPr>
            <p:grpSp>
              <p:nvGrpSpPr>
                <p:cNvPr id="32926" name="Group 14"/>
                <p:cNvGrpSpPr>
                  <a:grpSpLocks/>
                </p:cNvGrpSpPr>
                <p:nvPr/>
              </p:nvGrpSpPr>
              <p:grpSpPr bwMode="auto">
                <a:xfrm>
                  <a:off x="3429000" y="5147846"/>
                  <a:ext cx="383438" cy="460177"/>
                  <a:chOff x="8001000" y="4648200"/>
                  <a:chExt cx="383438" cy="460177"/>
                </a:xfrm>
              </p:grpSpPr>
              <p:cxnSp>
                <p:nvCxnSpPr>
                  <p:cNvPr id="51" name="Straight Connector 12"/>
                  <p:cNvCxnSpPr/>
                  <p:nvPr/>
                </p:nvCxnSpPr>
                <p:spPr>
                  <a:xfrm rot="5400000">
                    <a:off x="8153475" y="4723588"/>
                    <a:ext cx="152364" cy="1588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32961" name="TextBox 13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8001000" y="4800600"/>
                    <a:ext cx="383438" cy="307777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defRPr>
                        <a:solidFill>
                          <a:schemeClr val="tx1"/>
                        </a:solidFill>
                        <a:latin typeface="Calibri" pitchFamily="34" charset="0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Calibri" pitchFamily="34" charset="0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Calibri" pitchFamily="34" charset="0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Calibri" pitchFamily="34" charset="0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Calibri" pitchFamily="34" charset="0"/>
                      </a:defRPr>
                    </a:lvl5pPr>
                    <a:lvl6pPr marL="25146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alibri" pitchFamily="34" charset="0"/>
                      </a:defRPr>
                    </a:lvl6pPr>
                    <a:lvl7pPr marL="29718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alibri" pitchFamily="34" charset="0"/>
                      </a:defRPr>
                    </a:lvl7pPr>
                    <a:lvl8pPr marL="34290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alibri" pitchFamily="34" charset="0"/>
                      </a:defRPr>
                    </a:lvl8pPr>
                    <a:lvl9pPr marL="38862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alibri" pitchFamily="34" charset="0"/>
                      </a:defRPr>
                    </a:lvl9pPr>
                  </a:lstStyle>
                  <a:p>
                    <a:r>
                      <a:rPr lang="en-US" sz="1400"/>
                      <a:t>12</a:t>
                    </a:r>
                  </a:p>
                </p:txBody>
              </p:sp>
            </p:grpSp>
            <p:grpSp>
              <p:nvGrpSpPr>
                <p:cNvPr id="32927" name="Group 15"/>
                <p:cNvGrpSpPr>
                  <a:grpSpLocks/>
                </p:cNvGrpSpPr>
                <p:nvPr/>
              </p:nvGrpSpPr>
              <p:grpSpPr bwMode="auto">
                <a:xfrm>
                  <a:off x="2971800" y="5147846"/>
                  <a:ext cx="383438" cy="460177"/>
                  <a:chOff x="8001000" y="4648200"/>
                  <a:chExt cx="383438" cy="460177"/>
                </a:xfrm>
              </p:grpSpPr>
              <p:cxnSp>
                <p:nvCxnSpPr>
                  <p:cNvPr id="49" name="Straight Connector 16"/>
                  <p:cNvCxnSpPr/>
                  <p:nvPr/>
                </p:nvCxnSpPr>
                <p:spPr>
                  <a:xfrm rot="5400000">
                    <a:off x="8153475" y="4723588"/>
                    <a:ext cx="152364" cy="1588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32959" name="TextBox 17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8001000" y="4800600"/>
                    <a:ext cx="383438" cy="307777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defRPr>
                        <a:solidFill>
                          <a:schemeClr val="tx1"/>
                        </a:solidFill>
                        <a:latin typeface="Calibri" pitchFamily="34" charset="0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Calibri" pitchFamily="34" charset="0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Calibri" pitchFamily="34" charset="0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Calibri" pitchFamily="34" charset="0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Calibri" pitchFamily="34" charset="0"/>
                      </a:defRPr>
                    </a:lvl5pPr>
                    <a:lvl6pPr marL="25146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alibri" pitchFamily="34" charset="0"/>
                      </a:defRPr>
                    </a:lvl6pPr>
                    <a:lvl7pPr marL="29718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alibri" pitchFamily="34" charset="0"/>
                      </a:defRPr>
                    </a:lvl7pPr>
                    <a:lvl8pPr marL="34290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alibri" pitchFamily="34" charset="0"/>
                      </a:defRPr>
                    </a:lvl8pPr>
                    <a:lvl9pPr marL="38862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alibri" pitchFamily="34" charset="0"/>
                      </a:defRPr>
                    </a:lvl9pPr>
                  </a:lstStyle>
                  <a:p>
                    <a:r>
                      <a:rPr lang="en-US" sz="1400"/>
                      <a:t>10</a:t>
                    </a:r>
                  </a:p>
                </p:txBody>
              </p:sp>
            </p:grpSp>
            <p:grpSp>
              <p:nvGrpSpPr>
                <p:cNvPr id="32928" name="Group 18"/>
                <p:cNvGrpSpPr>
                  <a:grpSpLocks/>
                </p:cNvGrpSpPr>
                <p:nvPr/>
              </p:nvGrpSpPr>
              <p:grpSpPr bwMode="auto">
                <a:xfrm>
                  <a:off x="3200400" y="5147846"/>
                  <a:ext cx="370101" cy="460177"/>
                  <a:chOff x="8001000" y="4648200"/>
                  <a:chExt cx="370101" cy="460177"/>
                </a:xfrm>
              </p:grpSpPr>
              <p:cxnSp>
                <p:nvCxnSpPr>
                  <p:cNvPr id="47" name="Straight Connector 19"/>
                  <p:cNvCxnSpPr/>
                  <p:nvPr/>
                </p:nvCxnSpPr>
                <p:spPr>
                  <a:xfrm rot="5400000">
                    <a:off x="8153475" y="4723588"/>
                    <a:ext cx="152364" cy="1588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32957" name="TextBox 20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8001000" y="4800600"/>
                    <a:ext cx="370101" cy="307777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defRPr>
                        <a:solidFill>
                          <a:schemeClr val="tx1"/>
                        </a:solidFill>
                        <a:latin typeface="Calibri" pitchFamily="34" charset="0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Calibri" pitchFamily="34" charset="0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Calibri" pitchFamily="34" charset="0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Calibri" pitchFamily="34" charset="0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Calibri" pitchFamily="34" charset="0"/>
                      </a:defRPr>
                    </a:lvl5pPr>
                    <a:lvl6pPr marL="25146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alibri" pitchFamily="34" charset="0"/>
                      </a:defRPr>
                    </a:lvl6pPr>
                    <a:lvl7pPr marL="29718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alibri" pitchFamily="34" charset="0"/>
                      </a:defRPr>
                    </a:lvl7pPr>
                    <a:lvl8pPr marL="34290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alibri" pitchFamily="34" charset="0"/>
                      </a:defRPr>
                    </a:lvl8pPr>
                    <a:lvl9pPr marL="38862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alibri" pitchFamily="34" charset="0"/>
                      </a:defRPr>
                    </a:lvl9pPr>
                  </a:lstStyle>
                  <a:p>
                    <a:r>
                      <a:rPr lang="en-US" sz="1400"/>
                      <a:t>11</a:t>
                    </a:r>
                  </a:p>
                </p:txBody>
              </p:sp>
            </p:grpSp>
            <p:grpSp>
              <p:nvGrpSpPr>
                <p:cNvPr id="32929" name="Group 21"/>
                <p:cNvGrpSpPr>
                  <a:grpSpLocks/>
                </p:cNvGrpSpPr>
                <p:nvPr/>
              </p:nvGrpSpPr>
              <p:grpSpPr bwMode="auto">
                <a:xfrm>
                  <a:off x="2825720" y="5147846"/>
                  <a:ext cx="284052" cy="460177"/>
                  <a:chOff x="8069094" y="4648200"/>
                  <a:chExt cx="284052" cy="460177"/>
                </a:xfrm>
              </p:grpSpPr>
              <p:cxnSp>
                <p:nvCxnSpPr>
                  <p:cNvPr id="45" name="Straight Connector 44"/>
                  <p:cNvCxnSpPr/>
                  <p:nvPr/>
                </p:nvCxnSpPr>
                <p:spPr>
                  <a:xfrm rot="5400000">
                    <a:off x="8158100" y="4723588"/>
                    <a:ext cx="152364" cy="1588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32955" name="TextBox 45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8069094" y="4800600"/>
                    <a:ext cx="284052" cy="307777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defRPr>
                        <a:solidFill>
                          <a:schemeClr val="tx1"/>
                        </a:solidFill>
                        <a:latin typeface="Calibri" pitchFamily="34" charset="0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Calibri" pitchFamily="34" charset="0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Calibri" pitchFamily="34" charset="0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Calibri" pitchFamily="34" charset="0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Calibri" pitchFamily="34" charset="0"/>
                      </a:defRPr>
                    </a:lvl5pPr>
                    <a:lvl6pPr marL="25146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alibri" pitchFamily="34" charset="0"/>
                      </a:defRPr>
                    </a:lvl6pPr>
                    <a:lvl7pPr marL="29718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alibri" pitchFamily="34" charset="0"/>
                      </a:defRPr>
                    </a:lvl7pPr>
                    <a:lvl8pPr marL="34290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alibri" pitchFamily="34" charset="0"/>
                      </a:defRPr>
                    </a:lvl8pPr>
                    <a:lvl9pPr marL="38862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alibri" pitchFamily="34" charset="0"/>
                      </a:defRPr>
                    </a:lvl9pPr>
                  </a:lstStyle>
                  <a:p>
                    <a:r>
                      <a:rPr lang="en-US" sz="1400"/>
                      <a:t>9</a:t>
                    </a:r>
                  </a:p>
                </p:txBody>
              </p:sp>
            </p:grpSp>
            <p:grpSp>
              <p:nvGrpSpPr>
                <p:cNvPr id="32930" name="Group 27"/>
                <p:cNvGrpSpPr>
                  <a:grpSpLocks/>
                </p:cNvGrpSpPr>
                <p:nvPr/>
              </p:nvGrpSpPr>
              <p:grpSpPr bwMode="auto">
                <a:xfrm>
                  <a:off x="996920" y="5147846"/>
                  <a:ext cx="284052" cy="460177"/>
                  <a:chOff x="8069094" y="4648200"/>
                  <a:chExt cx="284052" cy="460177"/>
                </a:xfrm>
              </p:grpSpPr>
              <p:cxnSp>
                <p:nvCxnSpPr>
                  <p:cNvPr id="43" name="Straight Connector 42"/>
                  <p:cNvCxnSpPr/>
                  <p:nvPr/>
                </p:nvCxnSpPr>
                <p:spPr>
                  <a:xfrm rot="5400000">
                    <a:off x="8158103" y="4723588"/>
                    <a:ext cx="152364" cy="1588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32953" name="TextBox 43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8069094" y="4800600"/>
                    <a:ext cx="284052" cy="307777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defRPr>
                        <a:solidFill>
                          <a:schemeClr val="tx1"/>
                        </a:solidFill>
                        <a:latin typeface="Calibri" pitchFamily="34" charset="0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Calibri" pitchFamily="34" charset="0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Calibri" pitchFamily="34" charset="0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Calibri" pitchFamily="34" charset="0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Calibri" pitchFamily="34" charset="0"/>
                      </a:defRPr>
                    </a:lvl5pPr>
                    <a:lvl6pPr marL="25146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alibri" pitchFamily="34" charset="0"/>
                      </a:defRPr>
                    </a:lvl6pPr>
                    <a:lvl7pPr marL="29718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alibri" pitchFamily="34" charset="0"/>
                      </a:defRPr>
                    </a:lvl7pPr>
                    <a:lvl8pPr marL="34290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alibri" pitchFamily="34" charset="0"/>
                      </a:defRPr>
                    </a:lvl8pPr>
                    <a:lvl9pPr marL="38862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alibri" pitchFamily="34" charset="0"/>
                      </a:defRPr>
                    </a:lvl9pPr>
                  </a:lstStyle>
                  <a:p>
                    <a:r>
                      <a:rPr lang="en-US" sz="1400"/>
                      <a:t>1</a:t>
                    </a:r>
                  </a:p>
                </p:txBody>
              </p:sp>
            </p:grpSp>
            <p:grpSp>
              <p:nvGrpSpPr>
                <p:cNvPr id="32931" name="Group 30"/>
                <p:cNvGrpSpPr>
                  <a:grpSpLocks/>
                </p:cNvGrpSpPr>
                <p:nvPr/>
              </p:nvGrpSpPr>
              <p:grpSpPr bwMode="auto">
                <a:xfrm>
                  <a:off x="1225520" y="5147846"/>
                  <a:ext cx="284052" cy="460177"/>
                  <a:chOff x="8069094" y="4648200"/>
                  <a:chExt cx="284052" cy="460177"/>
                </a:xfrm>
              </p:grpSpPr>
              <p:cxnSp>
                <p:nvCxnSpPr>
                  <p:cNvPr id="41" name="Straight Connector 40"/>
                  <p:cNvCxnSpPr/>
                  <p:nvPr/>
                </p:nvCxnSpPr>
                <p:spPr>
                  <a:xfrm rot="5400000">
                    <a:off x="8158103" y="4723588"/>
                    <a:ext cx="152364" cy="1588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32951" name="TextBox 41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8069094" y="4800600"/>
                    <a:ext cx="284052" cy="307777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defRPr>
                        <a:solidFill>
                          <a:schemeClr val="tx1"/>
                        </a:solidFill>
                        <a:latin typeface="Calibri" pitchFamily="34" charset="0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Calibri" pitchFamily="34" charset="0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Calibri" pitchFamily="34" charset="0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Calibri" pitchFamily="34" charset="0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Calibri" pitchFamily="34" charset="0"/>
                      </a:defRPr>
                    </a:lvl5pPr>
                    <a:lvl6pPr marL="25146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alibri" pitchFamily="34" charset="0"/>
                      </a:defRPr>
                    </a:lvl6pPr>
                    <a:lvl7pPr marL="29718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alibri" pitchFamily="34" charset="0"/>
                      </a:defRPr>
                    </a:lvl7pPr>
                    <a:lvl8pPr marL="34290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alibri" pitchFamily="34" charset="0"/>
                      </a:defRPr>
                    </a:lvl8pPr>
                    <a:lvl9pPr marL="38862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alibri" pitchFamily="34" charset="0"/>
                      </a:defRPr>
                    </a:lvl9pPr>
                  </a:lstStyle>
                  <a:p>
                    <a:r>
                      <a:rPr lang="en-US" sz="1400"/>
                      <a:t>2</a:t>
                    </a:r>
                  </a:p>
                </p:txBody>
              </p:sp>
            </p:grpSp>
            <p:grpSp>
              <p:nvGrpSpPr>
                <p:cNvPr id="32932" name="Group 33"/>
                <p:cNvGrpSpPr>
                  <a:grpSpLocks/>
                </p:cNvGrpSpPr>
                <p:nvPr/>
              </p:nvGrpSpPr>
              <p:grpSpPr bwMode="auto">
                <a:xfrm>
                  <a:off x="1454120" y="5147846"/>
                  <a:ext cx="284052" cy="460177"/>
                  <a:chOff x="8069094" y="4648200"/>
                  <a:chExt cx="284052" cy="460177"/>
                </a:xfrm>
              </p:grpSpPr>
              <p:cxnSp>
                <p:nvCxnSpPr>
                  <p:cNvPr id="39" name="Straight Connector 38"/>
                  <p:cNvCxnSpPr/>
                  <p:nvPr/>
                </p:nvCxnSpPr>
                <p:spPr>
                  <a:xfrm rot="5400000">
                    <a:off x="8158102" y="4723588"/>
                    <a:ext cx="152364" cy="1588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32949" name="TextBox 39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8069094" y="4800600"/>
                    <a:ext cx="284052" cy="307777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defRPr>
                        <a:solidFill>
                          <a:schemeClr val="tx1"/>
                        </a:solidFill>
                        <a:latin typeface="Calibri" pitchFamily="34" charset="0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Calibri" pitchFamily="34" charset="0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Calibri" pitchFamily="34" charset="0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Calibri" pitchFamily="34" charset="0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Calibri" pitchFamily="34" charset="0"/>
                      </a:defRPr>
                    </a:lvl5pPr>
                    <a:lvl6pPr marL="25146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alibri" pitchFamily="34" charset="0"/>
                      </a:defRPr>
                    </a:lvl6pPr>
                    <a:lvl7pPr marL="29718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alibri" pitchFamily="34" charset="0"/>
                      </a:defRPr>
                    </a:lvl7pPr>
                    <a:lvl8pPr marL="34290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alibri" pitchFamily="34" charset="0"/>
                      </a:defRPr>
                    </a:lvl8pPr>
                    <a:lvl9pPr marL="38862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alibri" pitchFamily="34" charset="0"/>
                      </a:defRPr>
                    </a:lvl9pPr>
                  </a:lstStyle>
                  <a:p>
                    <a:r>
                      <a:rPr lang="en-US" sz="1400"/>
                      <a:t>3</a:t>
                    </a:r>
                  </a:p>
                </p:txBody>
              </p:sp>
            </p:grpSp>
            <p:grpSp>
              <p:nvGrpSpPr>
                <p:cNvPr id="32933" name="Group 36"/>
                <p:cNvGrpSpPr>
                  <a:grpSpLocks/>
                </p:cNvGrpSpPr>
                <p:nvPr/>
              </p:nvGrpSpPr>
              <p:grpSpPr bwMode="auto">
                <a:xfrm>
                  <a:off x="1682720" y="5147846"/>
                  <a:ext cx="284052" cy="460177"/>
                  <a:chOff x="8069094" y="4648200"/>
                  <a:chExt cx="284052" cy="460177"/>
                </a:xfrm>
              </p:grpSpPr>
              <p:cxnSp>
                <p:nvCxnSpPr>
                  <p:cNvPr id="37" name="Straight Connector 36"/>
                  <p:cNvCxnSpPr/>
                  <p:nvPr/>
                </p:nvCxnSpPr>
                <p:spPr>
                  <a:xfrm rot="5400000">
                    <a:off x="8158102" y="4723588"/>
                    <a:ext cx="152364" cy="1588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32947" name="TextBox 37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8069094" y="4800600"/>
                    <a:ext cx="284052" cy="307777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defRPr>
                        <a:solidFill>
                          <a:schemeClr val="tx1"/>
                        </a:solidFill>
                        <a:latin typeface="Calibri" pitchFamily="34" charset="0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Calibri" pitchFamily="34" charset="0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Calibri" pitchFamily="34" charset="0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Calibri" pitchFamily="34" charset="0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Calibri" pitchFamily="34" charset="0"/>
                      </a:defRPr>
                    </a:lvl5pPr>
                    <a:lvl6pPr marL="25146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alibri" pitchFamily="34" charset="0"/>
                      </a:defRPr>
                    </a:lvl6pPr>
                    <a:lvl7pPr marL="29718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alibri" pitchFamily="34" charset="0"/>
                      </a:defRPr>
                    </a:lvl7pPr>
                    <a:lvl8pPr marL="34290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alibri" pitchFamily="34" charset="0"/>
                      </a:defRPr>
                    </a:lvl8pPr>
                    <a:lvl9pPr marL="38862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alibri" pitchFamily="34" charset="0"/>
                      </a:defRPr>
                    </a:lvl9pPr>
                  </a:lstStyle>
                  <a:p>
                    <a:r>
                      <a:rPr lang="en-US" sz="1400"/>
                      <a:t>4</a:t>
                    </a:r>
                  </a:p>
                </p:txBody>
              </p:sp>
            </p:grpSp>
            <p:grpSp>
              <p:nvGrpSpPr>
                <p:cNvPr id="32934" name="Group 39"/>
                <p:cNvGrpSpPr>
                  <a:grpSpLocks/>
                </p:cNvGrpSpPr>
                <p:nvPr/>
              </p:nvGrpSpPr>
              <p:grpSpPr bwMode="auto">
                <a:xfrm>
                  <a:off x="1911320" y="5147846"/>
                  <a:ext cx="284052" cy="460177"/>
                  <a:chOff x="8069094" y="4648200"/>
                  <a:chExt cx="284052" cy="460177"/>
                </a:xfrm>
              </p:grpSpPr>
              <p:cxnSp>
                <p:nvCxnSpPr>
                  <p:cNvPr id="35" name="Straight Connector 34"/>
                  <p:cNvCxnSpPr/>
                  <p:nvPr/>
                </p:nvCxnSpPr>
                <p:spPr>
                  <a:xfrm rot="5400000">
                    <a:off x="8158102" y="4723588"/>
                    <a:ext cx="152364" cy="1588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32945" name="TextBox 35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8069094" y="4800600"/>
                    <a:ext cx="284052" cy="307777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defRPr>
                        <a:solidFill>
                          <a:schemeClr val="tx1"/>
                        </a:solidFill>
                        <a:latin typeface="Calibri" pitchFamily="34" charset="0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Calibri" pitchFamily="34" charset="0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Calibri" pitchFamily="34" charset="0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Calibri" pitchFamily="34" charset="0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Calibri" pitchFamily="34" charset="0"/>
                      </a:defRPr>
                    </a:lvl5pPr>
                    <a:lvl6pPr marL="25146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alibri" pitchFamily="34" charset="0"/>
                      </a:defRPr>
                    </a:lvl6pPr>
                    <a:lvl7pPr marL="29718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alibri" pitchFamily="34" charset="0"/>
                      </a:defRPr>
                    </a:lvl7pPr>
                    <a:lvl8pPr marL="34290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alibri" pitchFamily="34" charset="0"/>
                      </a:defRPr>
                    </a:lvl8pPr>
                    <a:lvl9pPr marL="38862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alibri" pitchFamily="34" charset="0"/>
                      </a:defRPr>
                    </a:lvl9pPr>
                  </a:lstStyle>
                  <a:p>
                    <a:r>
                      <a:rPr lang="en-US" sz="1400"/>
                      <a:t>5</a:t>
                    </a:r>
                  </a:p>
                </p:txBody>
              </p:sp>
            </p:grpSp>
            <p:grpSp>
              <p:nvGrpSpPr>
                <p:cNvPr id="32935" name="Group 42"/>
                <p:cNvGrpSpPr>
                  <a:grpSpLocks/>
                </p:cNvGrpSpPr>
                <p:nvPr/>
              </p:nvGrpSpPr>
              <p:grpSpPr bwMode="auto">
                <a:xfrm>
                  <a:off x="2139920" y="5147846"/>
                  <a:ext cx="284052" cy="460177"/>
                  <a:chOff x="8069094" y="4648200"/>
                  <a:chExt cx="284052" cy="460177"/>
                </a:xfrm>
              </p:grpSpPr>
              <p:cxnSp>
                <p:nvCxnSpPr>
                  <p:cNvPr id="33" name="Straight Connector 32"/>
                  <p:cNvCxnSpPr/>
                  <p:nvPr/>
                </p:nvCxnSpPr>
                <p:spPr>
                  <a:xfrm rot="5400000">
                    <a:off x="8158101" y="4723588"/>
                    <a:ext cx="152364" cy="1588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32943" name="TextBox 33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8069094" y="4800600"/>
                    <a:ext cx="284052" cy="307777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defRPr>
                        <a:solidFill>
                          <a:schemeClr val="tx1"/>
                        </a:solidFill>
                        <a:latin typeface="Calibri" pitchFamily="34" charset="0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Calibri" pitchFamily="34" charset="0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Calibri" pitchFamily="34" charset="0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Calibri" pitchFamily="34" charset="0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Calibri" pitchFamily="34" charset="0"/>
                      </a:defRPr>
                    </a:lvl5pPr>
                    <a:lvl6pPr marL="25146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alibri" pitchFamily="34" charset="0"/>
                      </a:defRPr>
                    </a:lvl6pPr>
                    <a:lvl7pPr marL="29718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alibri" pitchFamily="34" charset="0"/>
                      </a:defRPr>
                    </a:lvl7pPr>
                    <a:lvl8pPr marL="34290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alibri" pitchFamily="34" charset="0"/>
                      </a:defRPr>
                    </a:lvl8pPr>
                    <a:lvl9pPr marL="38862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alibri" pitchFamily="34" charset="0"/>
                      </a:defRPr>
                    </a:lvl9pPr>
                  </a:lstStyle>
                  <a:p>
                    <a:r>
                      <a:rPr lang="en-US" sz="1400"/>
                      <a:t>6</a:t>
                    </a:r>
                  </a:p>
                </p:txBody>
              </p:sp>
            </p:grpSp>
            <p:grpSp>
              <p:nvGrpSpPr>
                <p:cNvPr id="32936" name="Group 45"/>
                <p:cNvGrpSpPr>
                  <a:grpSpLocks/>
                </p:cNvGrpSpPr>
                <p:nvPr/>
              </p:nvGrpSpPr>
              <p:grpSpPr bwMode="auto">
                <a:xfrm>
                  <a:off x="2368520" y="5147846"/>
                  <a:ext cx="284052" cy="460177"/>
                  <a:chOff x="8069094" y="4648200"/>
                  <a:chExt cx="284052" cy="460177"/>
                </a:xfrm>
              </p:grpSpPr>
              <p:cxnSp>
                <p:nvCxnSpPr>
                  <p:cNvPr id="31" name="Straight Connector 30"/>
                  <p:cNvCxnSpPr/>
                  <p:nvPr/>
                </p:nvCxnSpPr>
                <p:spPr>
                  <a:xfrm rot="5400000">
                    <a:off x="8158101" y="4723588"/>
                    <a:ext cx="152364" cy="1588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32941" name="TextBox 31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8069094" y="4800600"/>
                    <a:ext cx="284052" cy="307777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defRPr>
                        <a:solidFill>
                          <a:schemeClr val="tx1"/>
                        </a:solidFill>
                        <a:latin typeface="Calibri" pitchFamily="34" charset="0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Calibri" pitchFamily="34" charset="0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Calibri" pitchFamily="34" charset="0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Calibri" pitchFamily="34" charset="0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Calibri" pitchFamily="34" charset="0"/>
                      </a:defRPr>
                    </a:lvl5pPr>
                    <a:lvl6pPr marL="25146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alibri" pitchFamily="34" charset="0"/>
                      </a:defRPr>
                    </a:lvl6pPr>
                    <a:lvl7pPr marL="29718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alibri" pitchFamily="34" charset="0"/>
                      </a:defRPr>
                    </a:lvl7pPr>
                    <a:lvl8pPr marL="34290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alibri" pitchFamily="34" charset="0"/>
                      </a:defRPr>
                    </a:lvl8pPr>
                    <a:lvl9pPr marL="38862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alibri" pitchFamily="34" charset="0"/>
                      </a:defRPr>
                    </a:lvl9pPr>
                  </a:lstStyle>
                  <a:p>
                    <a:r>
                      <a:rPr lang="en-US" sz="1400"/>
                      <a:t>7</a:t>
                    </a:r>
                  </a:p>
                </p:txBody>
              </p:sp>
            </p:grpSp>
            <p:grpSp>
              <p:nvGrpSpPr>
                <p:cNvPr id="32937" name="Group 48"/>
                <p:cNvGrpSpPr>
                  <a:grpSpLocks/>
                </p:cNvGrpSpPr>
                <p:nvPr/>
              </p:nvGrpSpPr>
              <p:grpSpPr bwMode="auto">
                <a:xfrm>
                  <a:off x="2597120" y="5147846"/>
                  <a:ext cx="284052" cy="460177"/>
                  <a:chOff x="8069094" y="4648200"/>
                  <a:chExt cx="284052" cy="460177"/>
                </a:xfrm>
              </p:grpSpPr>
              <p:cxnSp>
                <p:nvCxnSpPr>
                  <p:cNvPr id="29" name="Straight Connector 24"/>
                  <p:cNvCxnSpPr/>
                  <p:nvPr/>
                </p:nvCxnSpPr>
                <p:spPr>
                  <a:xfrm rot="5400000">
                    <a:off x="8158101" y="4723588"/>
                    <a:ext cx="152364" cy="1588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32939" name="TextBox 29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8069094" y="4800600"/>
                    <a:ext cx="284052" cy="307777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defRPr>
                        <a:solidFill>
                          <a:schemeClr val="tx1"/>
                        </a:solidFill>
                        <a:latin typeface="Calibri" pitchFamily="34" charset="0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Calibri" pitchFamily="34" charset="0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Calibri" pitchFamily="34" charset="0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Calibri" pitchFamily="34" charset="0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Calibri" pitchFamily="34" charset="0"/>
                      </a:defRPr>
                    </a:lvl5pPr>
                    <a:lvl6pPr marL="25146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alibri" pitchFamily="34" charset="0"/>
                      </a:defRPr>
                    </a:lvl6pPr>
                    <a:lvl7pPr marL="29718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alibri" pitchFamily="34" charset="0"/>
                      </a:defRPr>
                    </a:lvl7pPr>
                    <a:lvl8pPr marL="34290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alibri" pitchFamily="34" charset="0"/>
                      </a:defRPr>
                    </a:lvl8pPr>
                    <a:lvl9pPr marL="38862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alibri" pitchFamily="34" charset="0"/>
                      </a:defRPr>
                    </a:lvl9pPr>
                  </a:lstStyle>
                  <a:p>
                    <a:r>
                      <a:rPr lang="en-US" sz="1400"/>
                      <a:t>8</a:t>
                    </a:r>
                  </a:p>
                </p:txBody>
              </p:sp>
            </p:grpSp>
          </p:grpSp>
        </p:grpSp>
        <p:sp>
          <p:nvSpPr>
            <p:cNvPr id="32923" name="TextBox 13"/>
            <p:cNvSpPr txBox="1">
              <a:spLocks noChangeArrowheads="1"/>
            </p:cNvSpPr>
            <p:nvPr/>
          </p:nvSpPr>
          <p:spPr bwMode="auto">
            <a:xfrm>
              <a:off x="914400" y="5681246"/>
              <a:ext cx="2552302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r>
                <a:rPr lang="en-US" sz="1400"/>
                <a:t>Quantity of Ice-Cream Cones </a:t>
              </a:r>
            </a:p>
          </p:txBody>
        </p:sp>
      </p:grpSp>
      <p:grpSp>
        <p:nvGrpSpPr>
          <p:cNvPr id="22" name="Group 52"/>
          <p:cNvGrpSpPr>
            <a:grpSpLocks/>
          </p:cNvGrpSpPr>
          <p:nvPr/>
        </p:nvGrpSpPr>
        <p:grpSpPr bwMode="auto">
          <a:xfrm>
            <a:off x="-100013" y="1655763"/>
            <a:ext cx="901701" cy="3873500"/>
            <a:chOff x="3821556" y="927821"/>
            <a:chExt cx="902591" cy="3873572"/>
          </a:xfrm>
        </p:grpSpPr>
        <p:cxnSp>
          <p:nvCxnSpPr>
            <p:cNvPr id="54" name="Straight Connector 53"/>
            <p:cNvCxnSpPr/>
            <p:nvPr/>
          </p:nvCxnSpPr>
          <p:spPr>
            <a:xfrm rot="5400000">
              <a:off x="2895960" y="3124167"/>
              <a:ext cx="3352862" cy="158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2902" name="Group 56"/>
            <p:cNvGrpSpPr>
              <a:grpSpLocks/>
            </p:cNvGrpSpPr>
            <p:nvPr/>
          </p:nvGrpSpPr>
          <p:grpSpPr bwMode="auto">
            <a:xfrm>
              <a:off x="3983925" y="1828800"/>
              <a:ext cx="740222" cy="307777"/>
              <a:chOff x="6117778" y="2286000"/>
              <a:chExt cx="740222" cy="307777"/>
            </a:xfrm>
          </p:grpSpPr>
          <p:sp>
            <p:nvSpPr>
              <p:cNvPr id="32919" name="TextBox 53"/>
              <p:cNvSpPr txBox="1">
                <a:spLocks noChangeArrowheads="1"/>
              </p:cNvSpPr>
              <p:nvPr/>
            </p:nvSpPr>
            <p:spPr bwMode="auto">
              <a:xfrm>
                <a:off x="6117778" y="2286000"/>
                <a:ext cx="631904" cy="3077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itchFamily="34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</a:defRPr>
                </a:lvl9pPr>
              </a:lstStyle>
              <a:p>
                <a:r>
                  <a:rPr lang="en-US" sz="1400"/>
                  <a:t>$3.00</a:t>
                </a:r>
              </a:p>
            </p:txBody>
          </p:sp>
          <p:cxnSp>
            <p:nvCxnSpPr>
              <p:cNvPr id="73" name="Straight Connector 55"/>
              <p:cNvCxnSpPr/>
              <p:nvPr/>
            </p:nvCxnSpPr>
            <p:spPr>
              <a:xfrm>
                <a:off x="6705450" y="2513754"/>
                <a:ext cx="152550" cy="1588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2903" name="Group 57"/>
            <p:cNvGrpSpPr>
              <a:grpSpLocks/>
            </p:cNvGrpSpPr>
            <p:nvPr/>
          </p:nvGrpSpPr>
          <p:grpSpPr bwMode="auto">
            <a:xfrm>
              <a:off x="4097738" y="2297668"/>
              <a:ext cx="626409" cy="307777"/>
              <a:chOff x="6231591" y="2286000"/>
              <a:chExt cx="626409" cy="307777"/>
            </a:xfrm>
          </p:grpSpPr>
          <p:sp>
            <p:nvSpPr>
              <p:cNvPr id="32917" name="TextBox 69"/>
              <p:cNvSpPr txBox="1">
                <a:spLocks noChangeArrowheads="1"/>
              </p:cNvSpPr>
              <p:nvPr/>
            </p:nvSpPr>
            <p:spPr bwMode="auto">
              <a:xfrm>
                <a:off x="6231591" y="2286000"/>
                <a:ext cx="532518" cy="3077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itchFamily="34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</a:defRPr>
                </a:lvl9pPr>
              </a:lstStyle>
              <a:p>
                <a:r>
                  <a:rPr lang="en-US" sz="1400"/>
                  <a:t>2.50</a:t>
                </a:r>
              </a:p>
            </p:txBody>
          </p:sp>
          <p:cxnSp>
            <p:nvCxnSpPr>
              <p:cNvPr id="71" name="Straight Connector 70"/>
              <p:cNvCxnSpPr/>
              <p:nvPr/>
            </p:nvCxnSpPr>
            <p:spPr>
              <a:xfrm>
                <a:off x="6705449" y="2514794"/>
                <a:ext cx="152551" cy="1588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2904" name="Group 60"/>
            <p:cNvGrpSpPr>
              <a:grpSpLocks/>
            </p:cNvGrpSpPr>
            <p:nvPr/>
          </p:nvGrpSpPr>
          <p:grpSpPr bwMode="auto">
            <a:xfrm>
              <a:off x="4097738" y="2754868"/>
              <a:ext cx="626409" cy="307777"/>
              <a:chOff x="6231591" y="2286000"/>
              <a:chExt cx="626409" cy="307777"/>
            </a:xfrm>
          </p:grpSpPr>
          <p:sp>
            <p:nvSpPr>
              <p:cNvPr id="32915" name="TextBox 67"/>
              <p:cNvSpPr txBox="1">
                <a:spLocks noChangeArrowheads="1"/>
              </p:cNvSpPr>
              <p:nvPr/>
            </p:nvSpPr>
            <p:spPr bwMode="auto">
              <a:xfrm>
                <a:off x="6231591" y="2286000"/>
                <a:ext cx="532518" cy="3077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itchFamily="34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</a:defRPr>
                </a:lvl9pPr>
              </a:lstStyle>
              <a:p>
                <a:r>
                  <a:rPr lang="en-US" sz="1400"/>
                  <a:t>2.00</a:t>
                </a:r>
              </a:p>
            </p:txBody>
          </p:sp>
          <p:cxnSp>
            <p:nvCxnSpPr>
              <p:cNvPr id="69" name="Straight Connector 68"/>
              <p:cNvCxnSpPr/>
              <p:nvPr/>
            </p:nvCxnSpPr>
            <p:spPr>
              <a:xfrm>
                <a:off x="6705449" y="2514803"/>
                <a:ext cx="152551" cy="1588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2905" name="Group 63"/>
            <p:cNvGrpSpPr>
              <a:grpSpLocks/>
            </p:cNvGrpSpPr>
            <p:nvPr/>
          </p:nvGrpSpPr>
          <p:grpSpPr bwMode="auto">
            <a:xfrm>
              <a:off x="4097738" y="3212068"/>
              <a:ext cx="626409" cy="307777"/>
              <a:chOff x="6231591" y="2286000"/>
              <a:chExt cx="626409" cy="307777"/>
            </a:xfrm>
          </p:grpSpPr>
          <p:sp>
            <p:nvSpPr>
              <p:cNvPr id="32913" name="TextBox 65"/>
              <p:cNvSpPr txBox="1">
                <a:spLocks noChangeArrowheads="1"/>
              </p:cNvSpPr>
              <p:nvPr/>
            </p:nvSpPr>
            <p:spPr bwMode="auto">
              <a:xfrm>
                <a:off x="6231591" y="2286000"/>
                <a:ext cx="532518" cy="3077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itchFamily="34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</a:defRPr>
                </a:lvl9pPr>
              </a:lstStyle>
              <a:p>
                <a:r>
                  <a:rPr lang="en-US" sz="1400"/>
                  <a:t>1.50</a:t>
                </a:r>
              </a:p>
            </p:txBody>
          </p:sp>
          <p:cxnSp>
            <p:nvCxnSpPr>
              <p:cNvPr id="67" name="Straight Connector 66"/>
              <p:cNvCxnSpPr/>
              <p:nvPr/>
            </p:nvCxnSpPr>
            <p:spPr>
              <a:xfrm>
                <a:off x="6705449" y="2514811"/>
                <a:ext cx="152551" cy="1588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2906" name="Group 66"/>
            <p:cNvGrpSpPr>
              <a:grpSpLocks/>
            </p:cNvGrpSpPr>
            <p:nvPr/>
          </p:nvGrpSpPr>
          <p:grpSpPr bwMode="auto">
            <a:xfrm>
              <a:off x="4097738" y="3669268"/>
              <a:ext cx="626409" cy="307777"/>
              <a:chOff x="6231591" y="2286000"/>
              <a:chExt cx="626409" cy="307777"/>
            </a:xfrm>
          </p:grpSpPr>
          <p:sp>
            <p:nvSpPr>
              <p:cNvPr id="32911" name="TextBox 63"/>
              <p:cNvSpPr txBox="1">
                <a:spLocks noChangeArrowheads="1"/>
              </p:cNvSpPr>
              <p:nvPr/>
            </p:nvSpPr>
            <p:spPr bwMode="auto">
              <a:xfrm>
                <a:off x="6231591" y="2286000"/>
                <a:ext cx="532518" cy="3077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itchFamily="34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</a:defRPr>
                </a:lvl9pPr>
              </a:lstStyle>
              <a:p>
                <a:r>
                  <a:rPr lang="en-US" sz="1400"/>
                  <a:t>1.00</a:t>
                </a:r>
              </a:p>
            </p:txBody>
          </p:sp>
          <p:cxnSp>
            <p:nvCxnSpPr>
              <p:cNvPr id="65" name="Straight Connector 64"/>
              <p:cNvCxnSpPr/>
              <p:nvPr/>
            </p:nvCxnSpPr>
            <p:spPr>
              <a:xfrm>
                <a:off x="6705449" y="2514820"/>
                <a:ext cx="152551" cy="1588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2907" name="Group 69"/>
            <p:cNvGrpSpPr>
              <a:grpSpLocks/>
            </p:cNvGrpSpPr>
            <p:nvPr/>
          </p:nvGrpSpPr>
          <p:grpSpPr bwMode="auto">
            <a:xfrm>
              <a:off x="4097738" y="4126468"/>
              <a:ext cx="626409" cy="307777"/>
              <a:chOff x="6231591" y="2286000"/>
              <a:chExt cx="626409" cy="307777"/>
            </a:xfrm>
          </p:grpSpPr>
          <p:sp>
            <p:nvSpPr>
              <p:cNvPr id="32909" name="TextBox 61"/>
              <p:cNvSpPr txBox="1">
                <a:spLocks noChangeArrowheads="1"/>
              </p:cNvSpPr>
              <p:nvPr/>
            </p:nvSpPr>
            <p:spPr bwMode="auto">
              <a:xfrm>
                <a:off x="6231591" y="2286000"/>
                <a:ext cx="532518" cy="3077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itchFamily="34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</a:defRPr>
                </a:lvl9pPr>
              </a:lstStyle>
              <a:p>
                <a:r>
                  <a:rPr lang="en-US" sz="1400"/>
                  <a:t>0.50</a:t>
                </a:r>
              </a:p>
            </p:txBody>
          </p:sp>
          <p:cxnSp>
            <p:nvCxnSpPr>
              <p:cNvPr id="63" name="Straight Connector 62"/>
              <p:cNvCxnSpPr/>
              <p:nvPr/>
            </p:nvCxnSpPr>
            <p:spPr>
              <a:xfrm>
                <a:off x="6705449" y="2514828"/>
                <a:ext cx="152551" cy="1588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2908" name="TextBox 60"/>
            <p:cNvSpPr txBox="1">
              <a:spLocks noChangeArrowheads="1"/>
            </p:cNvSpPr>
            <p:nvPr/>
          </p:nvSpPr>
          <p:spPr bwMode="auto">
            <a:xfrm>
              <a:off x="3821556" y="927821"/>
              <a:ext cx="802418" cy="9540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algn="r"/>
              <a:r>
                <a:rPr lang="en-US" sz="1400"/>
                <a:t>Price of</a:t>
              </a:r>
            </a:p>
            <a:p>
              <a:pPr algn="r"/>
              <a:r>
                <a:rPr lang="en-US" sz="1400"/>
                <a:t> Ice</a:t>
              </a:r>
            </a:p>
            <a:p>
              <a:pPr algn="r"/>
              <a:r>
                <a:rPr lang="en-US" sz="1400"/>
                <a:t>Cream</a:t>
              </a:r>
            </a:p>
            <a:p>
              <a:pPr algn="r"/>
              <a:r>
                <a:rPr lang="en-US" sz="1400"/>
                <a:t>Cones</a:t>
              </a:r>
            </a:p>
          </p:txBody>
        </p:sp>
      </p:grpSp>
      <p:cxnSp>
        <p:nvCxnSpPr>
          <p:cNvPr id="74" name="Straight Connector 73"/>
          <p:cNvCxnSpPr/>
          <p:nvPr/>
        </p:nvCxnSpPr>
        <p:spPr>
          <a:xfrm>
            <a:off x="655638" y="3721100"/>
            <a:ext cx="665162" cy="1588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/>
          <p:cNvCxnSpPr/>
          <p:nvPr/>
        </p:nvCxnSpPr>
        <p:spPr>
          <a:xfrm rot="5400000" flipH="1" flipV="1">
            <a:off x="419894" y="4647406"/>
            <a:ext cx="1828800" cy="1588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Freeform 183"/>
          <p:cNvSpPr>
            <a:spLocks/>
          </p:cNvSpPr>
          <p:nvPr/>
        </p:nvSpPr>
        <p:spPr bwMode="auto">
          <a:xfrm>
            <a:off x="1244600" y="3657600"/>
            <a:ext cx="146050" cy="136525"/>
          </a:xfrm>
          <a:custGeom>
            <a:avLst/>
            <a:gdLst>
              <a:gd name="T0" fmla="*/ 2147483647 w 106"/>
              <a:gd name="T1" fmla="*/ 2147483647 h 68"/>
              <a:gd name="T2" fmla="*/ 2147483647 w 106"/>
              <a:gd name="T3" fmla="*/ 2147483647 h 68"/>
              <a:gd name="T4" fmla="*/ 2147483647 w 106"/>
              <a:gd name="T5" fmla="*/ 2147483647 h 68"/>
              <a:gd name="T6" fmla="*/ 2147483647 w 106"/>
              <a:gd name="T7" fmla="*/ 2147483647 h 68"/>
              <a:gd name="T8" fmla="*/ 2147483647 w 106"/>
              <a:gd name="T9" fmla="*/ 2147483647 h 68"/>
              <a:gd name="T10" fmla="*/ 2147483647 w 106"/>
              <a:gd name="T11" fmla="*/ 2147483647 h 68"/>
              <a:gd name="T12" fmla="*/ 2147483647 w 106"/>
              <a:gd name="T13" fmla="*/ 2147483647 h 68"/>
              <a:gd name="T14" fmla="*/ 2147483647 w 106"/>
              <a:gd name="T15" fmla="*/ 2147483647 h 68"/>
              <a:gd name="T16" fmla="*/ 2147483647 w 106"/>
              <a:gd name="T17" fmla="*/ 2147483647 h 68"/>
              <a:gd name="T18" fmla="*/ 2147483647 w 106"/>
              <a:gd name="T19" fmla="*/ 2147483647 h 68"/>
              <a:gd name="T20" fmla="*/ 2147483647 w 106"/>
              <a:gd name="T21" fmla="*/ 0 h 68"/>
              <a:gd name="T22" fmla="*/ 2147483647 w 106"/>
              <a:gd name="T23" fmla="*/ 0 h 68"/>
              <a:gd name="T24" fmla="*/ 2147483647 w 106"/>
              <a:gd name="T25" fmla="*/ 2147483647 h 68"/>
              <a:gd name="T26" fmla="*/ 2147483647 w 106"/>
              <a:gd name="T27" fmla="*/ 2147483647 h 68"/>
              <a:gd name="T28" fmla="*/ 2147483647 w 106"/>
              <a:gd name="T29" fmla="*/ 2147483647 h 68"/>
              <a:gd name="T30" fmla="*/ 0 w 106"/>
              <a:gd name="T31" fmla="*/ 2147483647 h 68"/>
              <a:gd name="T32" fmla="*/ 0 w 106"/>
              <a:gd name="T33" fmla="*/ 2147483647 h 68"/>
              <a:gd name="T34" fmla="*/ 2147483647 w 106"/>
              <a:gd name="T35" fmla="*/ 2147483647 h 68"/>
              <a:gd name="T36" fmla="*/ 2147483647 w 106"/>
              <a:gd name="T37" fmla="*/ 2147483647 h 68"/>
              <a:gd name="T38" fmla="*/ 2147483647 w 106"/>
              <a:gd name="T39" fmla="*/ 2147483647 h 68"/>
              <a:gd name="T40" fmla="*/ 2147483647 w 106"/>
              <a:gd name="T41" fmla="*/ 2147483647 h 68"/>
              <a:gd name="T42" fmla="*/ 2147483647 w 106"/>
              <a:gd name="T43" fmla="*/ 2147483647 h 68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w 106"/>
              <a:gd name="T67" fmla="*/ 0 h 68"/>
              <a:gd name="T68" fmla="*/ 106 w 106"/>
              <a:gd name="T69" fmla="*/ 68 h 68"/>
            </a:gdLst>
            <a:ahLst/>
            <a:cxnLst>
              <a:cxn ang="T44">
                <a:pos x="T0" y="T1"/>
              </a:cxn>
              <a:cxn ang="T45">
                <a:pos x="T2" y="T3"/>
              </a:cxn>
              <a:cxn ang="T46">
                <a:pos x="T4" y="T5"/>
              </a:cxn>
              <a:cxn ang="T47">
                <a:pos x="T6" y="T7"/>
              </a:cxn>
              <a:cxn ang="T48">
                <a:pos x="T8" y="T9"/>
              </a:cxn>
              <a:cxn ang="T49">
                <a:pos x="T10" y="T11"/>
              </a:cxn>
              <a:cxn ang="T50">
                <a:pos x="T12" y="T13"/>
              </a:cxn>
              <a:cxn ang="T51">
                <a:pos x="T14" y="T15"/>
              </a:cxn>
              <a:cxn ang="T52">
                <a:pos x="T16" y="T17"/>
              </a:cxn>
              <a:cxn ang="T53">
                <a:pos x="T18" y="T19"/>
              </a:cxn>
              <a:cxn ang="T54">
                <a:pos x="T20" y="T21"/>
              </a:cxn>
              <a:cxn ang="T55">
                <a:pos x="T22" y="T23"/>
              </a:cxn>
              <a:cxn ang="T56">
                <a:pos x="T24" y="T25"/>
              </a:cxn>
              <a:cxn ang="T57">
                <a:pos x="T26" y="T27"/>
              </a:cxn>
              <a:cxn ang="T58">
                <a:pos x="T28" y="T29"/>
              </a:cxn>
              <a:cxn ang="T59">
                <a:pos x="T30" y="T31"/>
              </a:cxn>
              <a:cxn ang="T60">
                <a:pos x="T32" y="T33"/>
              </a:cxn>
              <a:cxn ang="T61">
                <a:pos x="T34" y="T35"/>
              </a:cxn>
              <a:cxn ang="T62">
                <a:pos x="T36" y="T37"/>
              </a:cxn>
              <a:cxn ang="T63">
                <a:pos x="T38" y="T39"/>
              </a:cxn>
              <a:cxn ang="T64">
                <a:pos x="T40" y="T41"/>
              </a:cxn>
              <a:cxn ang="T65">
                <a:pos x="T42" y="T43"/>
              </a:cxn>
            </a:cxnLst>
            <a:rect l="T66" t="T67" r="T68" b="T69"/>
            <a:pathLst>
              <a:path w="106" h="68">
                <a:moveTo>
                  <a:pt x="56" y="68"/>
                </a:moveTo>
                <a:lnTo>
                  <a:pt x="56" y="68"/>
                </a:lnTo>
                <a:lnTo>
                  <a:pt x="76" y="65"/>
                </a:lnTo>
                <a:lnTo>
                  <a:pt x="91" y="58"/>
                </a:lnTo>
                <a:lnTo>
                  <a:pt x="101" y="45"/>
                </a:lnTo>
                <a:lnTo>
                  <a:pt x="106" y="32"/>
                </a:lnTo>
                <a:lnTo>
                  <a:pt x="101" y="19"/>
                </a:lnTo>
                <a:lnTo>
                  <a:pt x="91" y="9"/>
                </a:lnTo>
                <a:lnTo>
                  <a:pt x="76" y="3"/>
                </a:lnTo>
                <a:lnTo>
                  <a:pt x="56" y="0"/>
                </a:lnTo>
                <a:lnTo>
                  <a:pt x="36" y="3"/>
                </a:lnTo>
                <a:lnTo>
                  <a:pt x="15" y="9"/>
                </a:lnTo>
                <a:lnTo>
                  <a:pt x="5" y="19"/>
                </a:lnTo>
                <a:lnTo>
                  <a:pt x="0" y="32"/>
                </a:lnTo>
                <a:lnTo>
                  <a:pt x="5" y="45"/>
                </a:lnTo>
                <a:lnTo>
                  <a:pt x="15" y="58"/>
                </a:lnTo>
                <a:lnTo>
                  <a:pt x="36" y="65"/>
                </a:lnTo>
                <a:lnTo>
                  <a:pt x="56" y="6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7" name="TextBox 76"/>
          <p:cNvSpPr txBox="1">
            <a:spLocks noChangeArrowheads="1"/>
          </p:cNvSpPr>
          <p:nvPr/>
        </p:nvSpPr>
        <p:spPr bwMode="auto">
          <a:xfrm>
            <a:off x="1579066" y="1271588"/>
            <a:ext cx="726481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/>
            <a:r>
              <a:rPr lang="en-US" sz="1600" dirty="0" err="1">
                <a:solidFill>
                  <a:srgbClr val="800080"/>
                </a:solidFill>
              </a:rPr>
              <a:t>Amal’s</a:t>
            </a:r>
            <a:endParaRPr lang="en-US" sz="1600" dirty="0">
              <a:solidFill>
                <a:srgbClr val="800080"/>
              </a:solidFill>
            </a:endParaRPr>
          </a:p>
          <a:p>
            <a:pPr algn="ctr"/>
            <a:r>
              <a:rPr lang="en-US" sz="1600" dirty="0">
                <a:solidFill>
                  <a:srgbClr val="800080"/>
                </a:solidFill>
              </a:rPr>
              <a:t>supply</a:t>
            </a:r>
          </a:p>
        </p:txBody>
      </p:sp>
      <p:sp>
        <p:nvSpPr>
          <p:cNvPr id="78" name="Rectangle 77"/>
          <p:cNvSpPr/>
          <p:nvPr/>
        </p:nvSpPr>
        <p:spPr>
          <a:xfrm>
            <a:off x="4164013" y="2109788"/>
            <a:ext cx="1738312" cy="3429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600"/>
          </a:p>
        </p:txBody>
      </p:sp>
      <p:grpSp>
        <p:nvGrpSpPr>
          <p:cNvPr id="30" name="Group 78"/>
          <p:cNvGrpSpPr>
            <a:grpSpLocks/>
          </p:cNvGrpSpPr>
          <p:nvPr/>
        </p:nvGrpSpPr>
        <p:grpSpPr bwMode="auto">
          <a:xfrm>
            <a:off x="4149725" y="2667000"/>
            <a:ext cx="1614488" cy="1981200"/>
            <a:chOff x="4459054" y="1928336"/>
            <a:chExt cx="1614489" cy="1981202"/>
          </a:xfrm>
        </p:grpSpPr>
        <p:cxnSp>
          <p:nvCxnSpPr>
            <p:cNvPr id="80" name="Straight Connector 79"/>
            <p:cNvCxnSpPr/>
            <p:nvPr/>
          </p:nvCxnSpPr>
          <p:spPr>
            <a:xfrm rot="5400000" flipH="1" flipV="1">
              <a:off x="4459054" y="2309337"/>
              <a:ext cx="1600202" cy="1600201"/>
            </a:xfrm>
            <a:prstGeom prst="line">
              <a:avLst/>
            </a:prstGeom>
            <a:ln w="38100">
              <a:solidFill>
                <a:srgbClr val="00007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900" name="TextBox 80"/>
            <p:cNvSpPr txBox="1">
              <a:spLocks noChangeArrowheads="1"/>
            </p:cNvSpPr>
            <p:nvPr/>
          </p:nvSpPr>
          <p:spPr bwMode="auto">
            <a:xfrm>
              <a:off x="5449654" y="1928336"/>
              <a:ext cx="623889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r>
                <a:rPr lang="en-US" sz="1600"/>
                <a:t>S</a:t>
              </a:r>
              <a:r>
                <a:rPr lang="en-US" sz="1600" baseline="-25000"/>
                <a:t>Jerry</a:t>
              </a:r>
            </a:p>
          </p:txBody>
        </p:sp>
      </p:grpSp>
      <p:grpSp>
        <p:nvGrpSpPr>
          <p:cNvPr id="32" name="Group 81"/>
          <p:cNvGrpSpPr>
            <a:grpSpLocks/>
          </p:cNvGrpSpPr>
          <p:nvPr/>
        </p:nvGrpSpPr>
        <p:grpSpPr bwMode="auto">
          <a:xfrm>
            <a:off x="3935413" y="5386388"/>
            <a:ext cx="1966912" cy="1057275"/>
            <a:chOff x="680076" y="5147846"/>
            <a:chExt cx="1966908" cy="1056620"/>
          </a:xfrm>
        </p:grpSpPr>
        <p:sp>
          <p:nvSpPr>
            <p:cNvPr id="32873" name="TextBox 82"/>
            <p:cNvSpPr txBox="1">
              <a:spLocks noChangeArrowheads="1"/>
            </p:cNvSpPr>
            <p:nvPr/>
          </p:nvSpPr>
          <p:spPr bwMode="auto">
            <a:xfrm>
              <a:off x="680076" y="5300246"/>
              <a:ext cx="284052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r>
                <a:rPr lang="en-US" sz="1400"/>
                <a:t>0</a:t>
              </a:r>
            </a:p>
          </p:txBody>
        </p:sp>
        <p:grpSp>
          <p:nvGrpSpPr>
            <p:cNvPr id="32874" name="Group 99"/>
            <p:cNvGrpSpPr>
              <a:grpSpLocks/>
            </p:cNvGrpSpPr>
            <p:nvPr/>
          </p:nvGrpSpPr>
          <p:grpSpPr bwMode="auto">
            <a:xfrm>
              <a:off x="914400" y="5147846"/>
              <a:ext cx="1732584" cy="460177"/>
              <a:chOff x="936854" y="5147846"/>
              <a:chExt cx="1732584" cy="460177"/>
            </a:xfrm>
          </p:grpSpPr>
          <p:cxnSp>
            <p:nvCxnSpPr>
              <p:cNvPr id="86" name="Straight Connector 85"/>
              <p:cNvCxnSpPr/>
              <p:nvPr/>
            </p:nvCxnSpPr>
            <p:spPr>
              <a:xfrm>
                <a:off x="937480" y="5300152"/>
                <a:ext cx="1731958" cy="23797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2877" name="Group 96"/>
              <p:cNvGrpSpPr>
                <a:grpSpLocks/>
              </p:cNvGrpSpPr>
              <p:nvPr/>
            </p:nvGrpSpPr>
            <p:grpSpPr bwMode="auto">
              <a:xfrm>
                <a:off x="996920" y="5147846"/>
                <a:ext cx="1655652" cy="460177"/>
                <a:chOff x="996920" y="5147846"/>
                <a:chExt cx="1655652" cy="460177"/>
              </a:xfrm>
            </p:grpSpPr>
            <p:grpSp>
              <p:nvGrpSpPr>
                <p:cNvPr id="32878" name="Group 27"/>
                <p:cNvGrpSpPr>
                  <a:grpSpLocks/>
                </p:cNvGrpSpPr>
                <p:nvPr/>
              </p:nvGrpSpPr>
              <p:grpSpPr bwMode="auto">
                <a:xfrm>
                  <a:off x="996920" y="5147846"/>
                  <a:ext cx="284052" cy="460177"/>
                  <a:chOff x="8069094" y="4648200"/>
                  <a:chExt cx="284052" cy="460177"/>
                </a:xfrm>
              </p:grpSpPr>
              <p:cxnSp>
                <p:nvCxnSpPr>
                  <p:cNvPr id="107" name="Straight Connector 106"/>
                  <p:cNvCxnSpPr/>
                  <p:nvPr/>
                </p:nvCxnSpPr>
                <p:spPr>
                  <a:xfrm rot="5400000">
                    <a:off x="8158132" y="4723559"/>
                    <a:ext cx="152306" cy="1588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32898" name="TextBox 107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8069094" y="4800600"/>
                    <a:ext cx="284052" cy="307777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defRPr>
                        <a:solidFill>
                          <a:schemeClr val="tx1"/>
                        </a:solidFill>
                        <a:latin typeface="Calibri" pitchFamily="34" charset="0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Calibri" pitchFamily="34" charset="0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Calibri" pitchFamily="34" charset="0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Calibri" pitchFamily="34" charset="0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Calibri" pitchFamily="34" charset="0"/>
                      </a:defRPr>
                    </a:lvl5pPr>
                    <a:lvl6pPr marL="25146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alibri" pitchFamily="34" charset="0"/>
                      </a:defRPr>
                    </a:lvl6pPr>
                    <a:lvl7pPr marL="29718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alibri" pitchFamily="34" charset="0"/>
                      </a:defRPr>
                    </a:lvl7pPr>
                    <a:lvl8pPr marL="34290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alibri" pitchFamily="34" charset="0"/>
                      </a:defRPr>
                    </a:lvl8pPr>
                    <a:lvl9pPr marL="38862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alibri" pitchFamily="34" charset="0"/>
                      </a:defRPr>
                    </a:lvl9pPr>
                  </a:lstStyle>
                  <a:p>
                    <a:r>
                      <a:rPr lang="en-US" sz="1400"/>
                      <a:t>1</a:t>
                    </a:r>
                  </a:p>
                </p:txBody>
              </p:sp>
            </p:grpSp>
            <p:grpSp>
              <p:nvGrpSpPr>
                <p:cNvPr id="32879" name="Group 30"/>
                <p:cNvGrpSpPr>
                  <a:grpSpLocks/>
                </p:cNvGrpSpPr>
                <p:nvPr/>
              </p:nvGrpSpPr>
              <p:grpSpPr bwMode="auto">
                <a:xfrm>
                  <a:off x="1225520" y="5147846"/>
                  <a:ext cx="284052" cy="460177"/>
                  <a:chOff x="8069094" y="4648200"/>
                  <a:chExt cx="284052" cy="460177"/>
                </a:xfrm>
              </p:grpSpPr>
              <p:cxnSp>
                <p:nvCxnSpPr>
                  <p:cNvPr id="105" name="Straight Connector 104"/>
                  <p:cNvCxnSpPr/>
                  <p:nvPr/>
                </p:nvCxnSpPr>
                <p:spPr>
                  <a:xfrm rot="5400000">
                    <a:off x="8158131" y="4723559"/>
                    <a:ext cx="152306" cy="1588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32896" name="TextBox 105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8069094" y="4800600"/>
                    <a:ext cx="284052" cy="307777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defRPr>
                        <a:solidFill>
                          <a:schemeClr val="tx1"/>
                        </a:solidFill>
                        <a:latin typeface="Calibri" pitchFamily="34" charset="0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Calibri" pitchFamily="34" charset="0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Calibri" pitchFamily="34" charset="0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Calibri" pitchFamily="34" charset="0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Calibri" pitchFamily="34" charset="0"/>
                      </a:defRPr>
                    </a:lvl5pPr>
                    <a:lvl6pPr marL="25146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alibri" pitchFamily="34" charset="0"/>
                      </a:defRPr>
                    </a:lvl6pPr>
                    <a:lvl7pPr marL="29718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alibri" pitchFamily="34" charset="0"/>
                      </a:defRPr>
                    </a:lvl7pPr>
                    <a:lvl8pPr marL="34290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alibri" pitchFamily="34" charset="0"/>
                      </a:defRPr>
                    </a:lvl8pPr>
                    <a:lvl9pPr marL="38862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alibri" pitchFamily="34" charset="0"/>
                      </a:defRPr>
                    </a:lvl9pPr>
                  </a:lstStyle>
                  <a:p>
                    <a:r>
                      <a:rPr lang="en-US" sz="1400"/>
                      <a:t>2</a:t>
                    </a:r>
                  </a:p>
                </p:txBody>
              </p:sp>
            </p:grpSp>
            <p:grpSp>
              <p:nvGrpSpPr>
                <p:cNvPr id="32880" name="Group 33"/>
                <p:cNvGrpSpPr>
                  <a:grpSpLocks/>
                </p:cNvGrpSpPr>
                <p:nvPr/>
              </p:nvGrpSpPr>
              <p:grpSpPr bwMode="auto">
                <a:xfrm>
                  <a:off x="1454120" y="5147846"/>
                  <a:ext cx="284052" cy="460177"/>
                  <a:chOff x="8069094" y="4648200"/>
                  <a:chExt cx="284052" cy="460177"/>
                </a:xfrm>
              </p:grpSpPr>
              <p:cxnSp>
                <p:nvCxnSpPr>
                  <p:cNvPr id="103" name="Straight Connector 102"/>
                  <p:cNvCxnSpPr/>
                  <p:nvPr/>
                </p:nvCxnSpPr>
                <p:spPr>
                  <a:xfrm rot="5400000">
                    <a:off x="8158131" y="4723559"/>
                    <a:ext cx="152306" cy="1588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32894" name="TextBox 103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8069094" y="4800600"/>
                    <a:ext cx="284052" cy="307777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defRPr>
                        <a:solidFill>
                          <a:schemeClr val="tx1"/>
                        </a:solidFill>
                        <a:latin typeface="Calibri" pitchFamily="34" charset="0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Calibri" pitchFamily="34" charset="0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Calibri" pitchFamily="34" charset="0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Calibri" pitchFamily="34" charset="0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Calibri" pitchFamily="34" charset="0"/>
                      </a:defRPr>
                    </a:lvl5pPr>
                    <a:lvl6pPr marL="25146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alibri" pitchFamily="34" charset="0"/>
                      </a:defRPr>
                    </a:lvl6pPr>
                    <a:lvl7pPr marL="29718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alibri" pitchFamily="34" charset="0"/>
                      </a:defRPr>
                    </a:lvl7pPr>
                    <a:lvl8pPr marL="34290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alibri" pitchFamily="34" charset="0"/>
                      </a:defRPr>
                    </a:lvl8pPr>
                    <a:lvl9pPr marL="38862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alibri" pitchFamily="34" charset="0"/>
                      </a:defRPr>
                    </a:lvl9pPr>
                  </a:lstStyle>
                  <a:p>
                    <a:r>
                      <a:rPr lang="en-US" sz="1400"/>
                      <a:t>3</a:t>
                    </a:r>
                  </a:p>
                </p:txBody>
              </p:sp>
            </p:grpSp>
            <p:grpSp>
              <p:nvGrpSpPr>
                <p:cNvPr id="32881" name="Group 36"/>
                <p:cNvGrpSpPr>
                  <a:grpSpLocks/>
                </p:cNvGrpSpPr>
                <p:nvPr/>
              </p:nvGrpSpPr>
              <p:grpSpPr bwMode="auto">
                <a:xfrm>
                  <a:off x="1682720" y="5147846"/>
                  <a:ext cx="284052" cy="460177"/>
                  <a:chOff x="8069094" y="4648200"/>
                  <a:chExt cx="284052" cy="460177"/>
                </a:xfrm>
              </p:grpSpPr>
              <p:cxnSp>
                <p:nvCxnSpPr>
                  <p:cNvPr id="101" name="Straight Connector 100"/>
                  <p:cNvCxnSpPr/>
                  <p:nvPr/>
                </p:nvCxnSpPr>
                <p:spPr>
                  <a:xfrm rot="5400000">
                    <a:off x="8153368" y="4723559"/>
                    <a:ext cx="152306" cy="1587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32892" name="TextBox 101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8069094" y="4800600"/>
                    <a:ext cx="284052" cy="307777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defRPr>
                        <a:solidFill>
                          <a:schemeClr val="tx1"/>
                        </a:solidFill>
                        <a:latin typeface="Calibri" pitchFamily="34" charset="0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Calibri" pitchFamily="34" charset="0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Calibri" pitchFamily="34" charset="0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Calibri" pitchFamily="34" charset="0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Calibri" pitchFamily="34" charset="0"/>
                      </a:defRPr>
                    </a:lvl5pPr>
                    <a:lvl6pPr marL="25146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alibri" pitchFamily="34" charset="0"/>
                      </a:defRPr>
                    </a:lvl6pPr>
                    <a:lvl7pPr marL="29718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alibri" pitchFamily="34" charset="0"/>
                      </a:defRPr>
                    </a:lvl7pPr>
                    <a:lvl8pPr marL="34290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alibri" pitchFamily="34" charset="0"/>
                      </a:defRPr>
                    </a:lvl8pPr>
                    <a:lvl9pPr marL="38862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alibri" pitchFamily="34" charset="0"/>
                      </a:defRPr>
                    </a:lvl9pPr>
                  </a:lstStyle>
                  <a:p>
                    <a:r>
                      <a:rPr lang="en-US" sz="1400"/>
                      <a:t>4</a:t>
                    </a:r>
                  </a:p>
                </p:txBody>
              </p:sp>
            </p:grpSp>
            <p:grpSp>
              <p:nvGrpSpPr>
                <p:cNvPr id="32882" name="Group 39"/>
                <p:cNvGrpSpPr>
                  <a:grpSpLocks/>
                </p:cNvGrpSpPr>
                <p:nvPr/>
              </p:nvGrpSpPr>
              <p:grpSpPr bwMode="auto">
                <a:xfrm>
                  <a:off x="1911320" y="5147846"/>
                  <a:ext cx="284052" cy="460177"/>
                  <a:chOff x="8069094" y="4648200"/>
                  <a:chExt cx="284052" cy="460177"/>
                </a:xfrm>
              </p:grpSpPr>
              <p:cxnSp>
                <p:nvCxnSpPr>
                  <p:cNvPr id="99" name="Straight Connector 98"/>
                  <p:cNvCxnSpPr/>
                  <p:nvPr/>
                </p:nvCxnSpPr>
                <p:spPr>
                  <a:xfrm rot="5400000">
                    <a:off x="8151780" y="4723559"/>
                    <a:ext cx="152306" cy="1588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32890" name="TextBox 99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8069094" y="4800600"/>
                    <a:ext cx="284052" cy="307777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defRPr>
                        <a:solidFill>
                          <a:schemeClr val="tx1"/>
                        </a:solidFill>
                        <a:latin typeface="Calibri" pitchFamily="34" charset="0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Calibri" pitchFamily="34" charset="0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Calibri" pitchFamily="34" charset="0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Calibri" pitchFamily="34" charset="0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Calibri" pitchFamily="34" charset="0"/>
                      </a:defRPr>
                    </a:lvl5pPr>
                    <a:lvl6pPr marL="25146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alibri" pitchFamily="34" charset="0"/>
                      </a:defRPr>
                    </a:lvl6pPr>
                    <a:lvl7pPr marL="29718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alibri" pitchFamily="34" charset="0"/>
                      </a:defRPr>
                    </a:lvl7pPr>
                    <a:lvl8pPr marL="34290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alibri" pitchFamily="34" charset="0"/>
                      </a:defRPr>
                    </a:lvl8pPr>
                    <a:lvl9pPr marL="38862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alibri" pitchFamily="34" charset="0"/>
                      </a:defRPr>
                    </a:lvl9pPr>
                  </a:lstStyle>
                  <a:p>
                    <a:r>
                      <a:rPr lang="en-US" sz="1400"/>
                      <a:t>5</a:t>
                    </a:r>
                  </a:p>
                </p:txBody>
              </p:sp>
            </p:grpSp>
            <p:grpSp>
              <p:nvGrpSpPr>
                <p:cNvPr id="32883" name="Group 42"/>
                <p:cNvGrpSpPr>
                  <a:grpSpLocks/>
                </p:cNvGrpSpPr>
                <p:nvPr/>
              </p:nvGrpSpPr>
              <p:grpSpPr bwMode="auto">
                <a:xfrm>
                  <a:off x="2139920" y="5147846"/>
                  <a:ext cx="284052" cy="460177"/>
                  <a:chOff x="8069094" y="4648200"/>
                  <a:chExt cx="284052" cy="460177"/>
                </a:xfrm>
              </p:grpSpPr>
              <p:cxnSp>
                <p:nvCxnSpPr>
                  <p:cNvPr id="97" name="Straight Connector 96"/>
                  <p:cNvCxnSpPr/>
                  <p:nvPr/>
                </p:nvCxnSpPr>
                <p:spPr>
                  <a:xfrm rot="5400000">
                    <a:off x="8151779" y="4723559"/>
                    <a:ext cx="152306" cy="1588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32888" name="TextBox 97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8069094" y="4800600"/>
                    <a:ext cx="284052" cy="307777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defRPr>
                        <a:solidFill>
                          <a:schemeClr val="tx1"/>
                        </a:solidFill>
                        <a:latin typeface="Calibri" pitchFamily="34" charset="0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Calibri" pitchFamily="34" charset="0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Calibri" pitchFamily="34" charset="0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Calibri" pitchFamily="34" charset="0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Calibri" pitchFamily="34" charset="0"/>
                      </a:defRPr>
                    </a:lvl5pPr>
                    <a:lvl6pPr marL="25146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alibri" pitchFamily="34" charset="0"/>
                      </a:defRPr>
                    </a:lvl6pPr>
                    <a:lvl7pPr marL="29718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alibri" pitchFamily="34" charset="0"/>
                      </a:defRPr>
                    </a:lvl7pPr>
                    <a:lvl8pPr marL="34290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alibri" pitchFamily="34" charset="0"/>
                      </a:defRPr>
                    </a:lvl8pPr>
                    <a:lvl9pPr marL="38862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alibri" pitchFamily="34" charset="0"/>
                      </a:defRPr>
                    </a:lvl9pPr>
                  </a:lstStyle>
                  <a:p>
                    <a:r>
                      <a:rPr lang="en-US" sz="1400"/>
                      <a:t>6</a:t>
                    </a:r>
                  </a:p>
                </p:txBody>
              </p:sp>
            </p:grpSp>
            <p:grpSp>
              <p:nvGrpSpPr>
                <p:cNvPr id="32884" name="Group 45"/>
                <p:cNvGrpSpPr>
                  <a:grpSpLocks/>
                </p:cNvGrpSpPr>
                <p:nvPr/>
              </p:nvGrpSpPr>
              <p:grpSpPr bwMode="auto">
                <a:xfrm>
                  <a:off x="2368520" y="5147846"/>
                  <a:ext cx="284052" cy="460177"/>
                  <a:chOff x="8069094" y="4648200"/>
                  <a:chExt cx="284052" cy="460177"/>
                </a:xfrm>
              </p:grpSpPr>
              <p:cxnSp>
                <p:nvCxnSpPr>
                  <p:cNvPr id="95" name="Straight Connector 94"/>
                  <p:cNvCxnSpPr/>
                  <p:nvPr/>
                </p:nvCxnSpPr>
                <p:spPr>
                  <a:xfrm rot="5400000">
                    <a:off x="8151779" y="4723559"/>
                    <a:ext cx="152306" cy="1588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32886" name="TextBox 95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8069094" y="4800600"/>
                    <a:ext cx="284052" cy="307777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defRPr>
                        <a:solidFill>
                          <a:schemeClr val="tx1"/>
                        </a:solidFill>
                        <a:latin typeface="Calibri" pitchFamily="34" charset="0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Calibri" pitchFamily="34" charset="0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Calibri" pitchFamily="34" charset="0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Calibri" pitchFamily="34" charset="0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Calibri" pitchFamily="34" charset="0"/>
                      </a:defRPr>
                    </a:lvl5pPr>
                    <a:lvl6pPr marL="25146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alibri" pitchFamily="34" charset="0"/>
                      </a:defRPr>
                    </a:lvl6pPr>
                    <a:lvl7pPr marL="29718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alibri" pitchFamily="34" charset="0"/>
                      </a:defRPr>
                    </a:lvl7pPr>
                    <a:lvl8pPr marL="34290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alibri" pitchFamily="34" charset="0"/>
                      </a:defRPr>
                    </a:lvl8pPr>
                    <a:lvl9pPr marL="38862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alibri" pitchFamily="34" charset="0"/>
                      </a:defRPr>
                    </a:lvl9pPr>
                  </a:lstStyle>
                  <a:p>
                    <a:r>
                      <a:rPr lang="en-US" sz="1400"/>
                      <a:t>7</a:t>
                    </a:r>
                  </a:p>
                </p:txBody>
              </p:sp>
            </p:grpSp>
          </p:grpSp>
        </p:grpSp>
        <p:sp>
          <p:nvSpPr>
            <p:cNvPr id="32875" name="TextBox 84"/>
            <p:cNvSpPr txBox="1">
              <a:spLocks noChangeArrowheads="1"/>
            </p:cNvSpPr>
            <p:nvPr/>
          </p:nvSpPr>
          <p:spPr bwMode="auto">
            <a:xfrm>
              <a:off x="884104" y="5681246"/>
              <a:ext cx="1686680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algn="ctr"/>
              <a:r>
                <a:rPr lang="en-US" sz="1400"/>
                <a:t>Quantity of</a:t>
              </a:r>
            </a:p>
            <a:p>
              <a:pPr algn="ctr"/>
              <a:r>
                <a:rPr lang="en-US" sz="1400"/>
                <a:t> Ice-Cream Cones </a:t>
              </a:r>
            </a:p>
          </p:txBody>
        </p:sp>
      </p:grpSp>
      <p:grpSp>
        <p:nvGrpSpPr>
          <p:cNvPr id="52" name="Group 108"/>
          <p:cNvGrpSpPr>
            <a:grpSpLocks/>
          </p:cNvGrpSpPr>
          <p:nvPr/>
        </p:nvGrpSpPr>
        <p:grpSpPr bwMode="auto">
          <a:xfrm>
            <a:off x="3402013" y="1677988"/>
            <a:ext cx="914400" cy="3862387"/>
            <a:chOff x="3809653" y="939702"/>
            <a:chExt cx="914494" cy="3861691"/>
          </a:xfrm>
        </p:grpSpPr>
        <p:cxnSp>
          <p:nvCxnSpPr>
            <p:cNvPr id="110" name="Straight Connector 109"/>
            <p:cNvCxnSpPr/>
            <p:nvPr/>
          </p:nvCxnSpPr>
          <p:spPr>
            <a:xfrm rot="5400000">
              <a:off x="2896428" y="3124501"/>
              <a:ext cx="3352196" cy="1587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2854" name="Group 56"/>
            <p:cNvGrpSpPr>
              <a:grpSpLocks/>
            </p:cNvGrpSpPr>
            <p:nvPr/>
          </p:nvGrpSpPr>
          <p:grpSpPr bwMode="auto">
            <a:xfrm>
              <a:off x="3983925" y="1828800"/>
              <a:ext cx="740222" cy="307777"/>
              <a:chOff x="6117778" y="2286000"/>
              <a:chExt cx="740222" cy="307777"/>
            </a:xfrm>
          </p:grpSpPr>
          <p:sp>
            <p:nvSpPr>
              <p:cNvPr id="32871" name="TextBox 53"/>
              <p:cNvSpPr txBox="1">
                <a:spLocks noChangeArrowheads="1"/>
              </p:cNvSpPr>
              <p:nvPr/>
            </p:nvSpPr>
            <p:spPr bwMode="auto">
              <a:xfrm>
                <a:off x="6117778" y="2286000"/>
                <a:ext cx="631904" cy="3077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itchFamily="34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</a:defRPr>
                </a:lvl9pPr>
              </a:lstStyle>
              <a:p>
                <a:r>
                  <a:rPr lang="en-US" sz="1400"/>
                  <a:t>$3.00</a:t>
                </a:r>
              </a:p>
            </p:txBody>
          </p:sp>
          <p:cxnSp>
            <p:nvCxnSpPr>
              <p:cNvPr id="129" name="Straight Connector 55"/>
              <p:cNvCxnSpPr/>
              <p:nvPr/>
            </p:nvCxnSpPr>
            <p:spPr>
              <a:xfrm>
                <a:off x="6705584" y="2514301"/>
                <a:ext cx="152416" cy="158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2855" name="Group 57"/>
            <p:cNvGrpSpPr>
              <a:grpSpLocks/>
            </p:cNvGrpSpPr>
            <p:nvPr/>
          </p:nvGrpSpPr>
          <p:grpSpPr bwMode="auto">
            <a:xfrm>
              <a:off x="4097738" y="2297668"/>
              <a:ext cx="626409" cy="307777"/>
              <a:chOff x="6231591" y="2286000"/>
              <a:chExt cx="626409" cy="307777"/>
            </a:xfrm>
          </p:grpSpPr>
          <p:sp>
            <p:nvSpPr>
              <p:cNvPr id="32869" name="TextBox 125"/>
              <p:cNvSpPr txBox="1">
                <a:spLocks noChangeArrowheads="1"/>
              </p:cNvSpPr>
              <p:nvPr/>
            </p:nvSpPr>
            <p:spPr bwMode="auto">
              <a:xfrm>
                <a:off x="6231591" y="2286000"/>
                <a:ext cx="532518" cy="3077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itchFamily="34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</a:defRPr>
                </a:lvl9pPr>
              </a:lstStyle>
              <a:p>
                <a:r>
                  <a:rPr lang="en-US" sz="1400"/>
                  <a:t>2.50</a:t>
                </a:r>
              </a:p>
            </p:txBody>
          </p:sp>
          <p:cxnSp>
            <p:nvCxnSpPr>
              <p:cNvPr id="127" name="Straight Connector 126"/>
              <p:cNvCxnSpPr/>
              <p:nvPr/>
            </p:nvCxnSpPr>
            <p:spPr>
              <a:xfrm>
                <a:off x="6705584" y="2515248"/>
                <a:ext cx="152416" cy="158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2856" name="Group 60"/>
            <p:cNvGrpSpPr>
              <a:grpSpLocks/>
            </p:cNvGrpSpPr>
            <p:nvPr/>
          </p:nvGrpSpPr>
          <p:grpSpPr bwMode="auto">
            <a:xfrm>
              <a:off x="4097738" y="2754868"/>
              <a:ext cx="626409" cy="307777"/>
              <a:chOff x="6231591" y="2286000"/>
              <a:chExt cx="626409" cy="307777"/>
            </a:xfrm>
          </p:grpSpPr>
          <p:sp>
            <p:nvSpPr>
              <p:cNvPr id="32867" name="TextBox 123"/>
              <p:cNvSpPr txBox="1">
                <a:spLocks noChangeArrowheads="1"/>
              </p:cNvSpPr>
              <p:nvPr/>
            </p:nvSpPr>
            <p:spPr bwMode="auto">
              <a:xfrm>
                <a:off x="6231591" y="2286000"/>
                <a:ext cx="532518" cy="3077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itchFamily="34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</a:defRPr>
                </a:lvl9pPr>
              </a:lstStyle>
              <a:p>
                <a:r>
                  <a:rPr lang="en-US" sz="1400"/>
                  <a:t>2.00</a:t>
                </a:r>
              </a:p>
            </p:txBody>
          </p:sp>
          <p:cxnSp>
            <p:nvCxnSpPr>
              <p:cNvPr id="125" name="Straight Connector 124"/>
              <p:cNvCxnSpPr/>
              <p:nvPr/>
            </p:nvCxnSpPr>
            <p:spPr>
              <a:xfrm>
                <a:off x="6705584" y="2515166"/>
                <a:ext cx="152416" cy="158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2857" name="Group 63"/>
            <p:cNvGrpSpPr>
              <a:grpSpLocks/>
            </p:cNvGrpSpPr>
            <p:nvPr/>
          </p:nvGrpSpPr>
          <p:grpSpPr bwMode="auto">
            <a:xfrm>
              <a:off x="4097738" y="3212068"/>
              <a:ext cx="626409" cy="307777"/>
              <a:chOff x="6231591" y="2286000"/>
              <a:chExt cx="626409" cy="307777"/>
            </a:xfrm>
          </p:grpSpPr>
          <p:sp>
            <p:nvSpPr>
              <p:cNvPr id="32865" name="TextBox 121"/>
              <p:cNvSpPr txBox="1">
                <a:spLocks noChangeArrowheads="1"/>
              </p:cNvSpPr>
              <p:nvPr/>
            </p:nvSpPr>
            <p:spPr bwMode="auto">
              <a:xfrm>
                <a:off x="6231591" y="2286000"/>
                <a:ext cx="532518" cy="3077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itchFamily="34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</a:defRPr>
                </a:lvl9pPr>
              </a:lstStyle>
              <a:p>
                <a:r>
                  <a:rPr lang="en-US" sz="1400"/>
                  <a:t>1.50</a:t>
                </a:r>
              </a:p>
            </p:txBody>
          </p:sp>
          <p:cxnSp>
            <p:nvCxnSpPr>
              <p:cNvPr id="123" name="Straight Connector 122"/>
              <p:cNvCxnSpPr/>
              <p:nvPr/>
            </p:nvCxnSpPr>
            <p:spPr>
              <a:xfrm>
                <a:off x="6705584" y="2515083"/>
                <a:ext cx="152416" cy="158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2858" name="Group 66"/>
            <p:cNvGrpSpPr>
              <a:grpSpLocks/>
            </p:cNvGrpSpPr>
            <p:nvPr/>
          </p:nvGrpSpPr>
          <p:grpSpPr bwMode="auto">
            <a:xfrm>
              <a:off x="4097738" y="3669268"/>
              <a:ext cx="626409" cy="307777"/>
              <a:chOff x="6231591" y="2286000"/>
              <a:chExt cx="626409" cy="307777"/>
            </a:xfrm>
          </p:grpSpPr>
          <p:sp>
            <p:nvSpPr>
              <p:cNvPr id="32863" name="TextBox 119"/>
              <p:cNvSpPr txBox="1">
                <a:spLocks noChangeArrowheads="1"/>
              </p:cNvSpPr>
              <p:nvPr/>
            </p:nvSpPr>
            <p:spPr bwMode="auto">
              <a:xfrm>
                <a:off x="6231591" y="2286000"/>
                <a:ext cx="532518" cy="3077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itchFamily="34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</a:defRPr>
                </a:lvl9pPr>
              </a:lstStyle>
              <a:p>
                <a:r>
                  <a:rPr lang="en-US" sz="1400"/>
                  <a:t>1.00</a:t>
                </a:r>
              </a:p>
            </p:txBody>
          </p:sp>
          <p:cxnSp>
            <p:nvCxnSpPr>
              <p:cNvPr id="121" name="Straight Connector 120"/>
              <p:cNvCxnSpPr/>
              <p:nvPr/>
            </p:nvCxnSpPr>
            <p:spPr>
              <a:xfrm>
                <a:off x="6705584" y="2515001"/>
                <a:ext cx="152416" cy="158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2859" name="Group 69"/>
            <p:cNvGrpSpPr>
              <a:grpSpLocks/>
            </p:cNvGrpSpPr>
            <p:nvPr/>
          </p:nvGrpSpPr>
          <p:grpSpPr bwMode="auto">
            <a:xfrm>
              <a:off x="4097738" y="4126468"/>
              <a:ext cx="626409" cy="307777"/>
              <a:chOff x="6231591" y="2286000"/>
              <a:chExt cx="626409" cy="307777"/>
            </a:xfrm>
          </p:grpSpPr>
          <p:sp>
            <p:nvSpPr>
              <p:cNvPr id="32861" name="TextBox 117"/>
              <p:cNvSpPr txBox="1">
                <a:spLocks noChangeArrowheads="1"/>
              </p:cNvSpPr>
              <p:nvPr/>
            </p:nvSpPr>
            <p:spPr bwMode="auto">
              <a:xfrm>
                <a:off x="6231591" y="2286000"/>
                <a:ext cx="532518" cy="3077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itchFamily="34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</a:defRPr>
                </a:lvl9pPr>
              </a:lstStyle>
              <a:p>
                <a:r>
                  <a:rPr lang="en-US" sz="1400"/>
                  <a:t>0.50</a:t>
                </a:r>
              </a:p>
            </p:txBody>
          </p:sp>
          <p:cxnSp>
            <p:nvCxnSpPr>
              <p:cNvPr id="119" name="Straight Connector 118"/>
              <p:cNvCxnSpPr/>
              <p:nvPr/>
            </p:nvCxnSpPr>
            <p:spPr>
              <a:xfrm>
                <a:off x="6705584" y="2514919"/>
                <a:ext cx="152416" cy="158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2860" name="TextBox 116"/>
            <p:cNvSpPr txBox="1">
              <a:spLocks noChangeArrowheads="1"/>
            </p:cNvSpPr>
            <p:nvPr/>
          </p:nvSpPr>
          <p:spPr bwMode="auto">
            <a:xfrm>
              <a:off x="3809653" y="939702"/>
              <a:ext cx="802417" cy="9540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algn="r"/>
              <a:r>
                <a:rPr lang="en-US" sz="1400"/>
                <a:t>Price of</a:t>
              </a:r>
            </a:p>
            <a:p>
              <a:pPr algn="r"/>
              <a:r>
                <a:rPr lang="en-US" sz="1400"/>
                <a:t> Ice</a:t>
              </a:r>
            </a:p>
            <a:p>
              <a:pPr algn="r"/>
              <a:r>
                <a:rPr lang="en-US" sz="1400"/>
                <a:t>Cream</a:t>
              </a:r>
            </a:p>
            <a:p>
              <a:pPr algn="r"/>
              <a:r>
                <a:rPr lang="en-US" sz="1400"/>
                <a:t>Cones</a:t>
              </a:r>
            </a:p>
          </p:txBody>
        </p:sp>
      </p:grpSp>
      <p:cxnSp>
        <p:nvCxnSpPr>
          <p:cNvPr id="130" name="Straight Connector 129"/>
          <p:cNvCxnSpPr/>
          <p:nvPr/>
        </p:nvCxnSpPr>
        <p:spPr>
          <a:xfrm flipV="1">
            <a:off x="4175125" y="3721100"/>
            <a:ext cx="885825" cy="1588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Straight Connector 130"/>
          <p:cNvCxnSpPr/>
          <p:nvPr/>
        </p:nvCxnSpPr>
        <p:spPr>
          <a:xfrm rot="5400000" flipH="1" flipV="1">
            <a:off x="4160044" y="4658519"/>
            <a:ext cx="1828800" cy="1588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2" name="Freeform 183"/>
          <p:cNvSpPr>
            <a:spLocks/>
          </p:cNvSpPr>
          <p:nvPr/>
        </p:nvSpPr>
        <p:spPr bwMode="auto">
          <a:xfrm>
            <a:off x="4994275" y="3668713"/>
            <a:ext cx="146050" cy="136525"/>
          </a:xfrm>
          <a:custGeom>
            <a:avLst/>
            <a:gdLst>
              <a:gd name="T0" fmla="*/ 2147483647 w 106"/>
              <a:gd name="T1" fmla="*/ 2147483647 h 68"/>
              <a:gd name="T2" fmla="*/ 2147483647 w 106"/>
              <a:gd name="T3" fmla="*/ 2147483647 h 68"/>
              <a:gd name="T4" fmla="*/ 2147483647 w 106"/>
              <a:gd name="T5" fmla="*/ 2147483647 h 68"/>
              <a:gd name="T6" fmla="*/ 2147483647 w 106"/>
              <a:gd name="T7" fmla="*/ 2147483647 h 68"/>
              <a:gd name="T8" fmla="*/ 2147483647 w 106"/>
              <a:gd name="T9" fmla="*/ 2147483647 h 68"/>
              <a:gd name="T10" fmla="*/ 2147483647 w 106"/>
              <a:gd name="T11" fmla="*/ 2147483647 h 68"/>
              <a:gd name="T12" fmla="*/ 2147483647 w 106"/>
              <a:gd name="T13" fmla="*/ 2147483647 h 68"/>
              <a:gd name="T14" fmla="*/ 2147483647 w 106"/>
              <a:gd name="T15" fmla="*/ 2147483647 h 68"/>
              <a:gd name="T16" fmla="*/ 2147483647 w 106"/>
              <a:gd name="T17" fmla="*/ 2147483647 h 68"/>
              <a:gd name="T18" fmla="*/ 2147483647 w 106"/>
              <a:gd name="T19" fmla="*/ 2147483647 h 68"/>
              <a:gd name="T20" fmla="*/ 2147483647 w 106"/>
              <a:gd name="T21" fmla="*/ 0 h 68"/>
              <a:gd name="T22" fmla="*/ 2147483647 w 106"/>
              <a:gd name="T23" fmla="*/ 0 h 68"/>
              <a:gd name="T24" fmla="*/ 2147483647 w 106"/>
              <a:gd name="T25" fmla="*/ 2147483647 h 68"/>
              <a:gd name="T26" fmla="*/ 2147483647 w 106"/>
              <a:gd name="T27" fmla="*/ 2147483647 h 68"/>
              <a:gd name="T28" fmla="*/ 2147483647 w 106"/>
              <a:gd name="T29" fmla="*/ 2147483647 h 68"/>
              <a:gd name="T30" fmla="*/ 0 w 106"/>
              <a:gd name="T31" fmla="*/ 2147483647 h 68"/>
              <a:gd name="T32" fmla="*/ 0 w 106"/>
              <a:gd name="T33" fmla="*/ 2147483647 h 68"/>
              <a:gd name="T34" fmla="*/ 2147483647 w 106"/>
              <a:gd name="T35" fmla="*/ 2147483647 h 68"/>
              <a:gd name="T36" fmla="*/ 2147483647 w 106"/>
              <a:gd name="T37" fmla="*/ 2147483647 h 68"/>
              <a:gd name="T38" fmla="*/ 2147483647 w 106"/>
              <a:gd name="T39" fmla="*/ 2147483647 h 68"/>
              <a:gd name="T40" fmla="*/ 2147483647 w 106"/>
              <a:gd name="T41" fmla="*/ 2147483647 h 68"/>
              <a:gd name="T42" fmla="*/ 2147483647 w 106"/>
              <a:gd name="T43" fmla="*/ 2147483647 h 68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w 106"/>
              <a:gd name="T67" fmla="*/ 0 h 68"/>
              <a:gd name="T68" fmla="*/ 106 w 106"/>
              <a:gd name="T69" fmla="*/ 68 h 68"/>
            </a:gdLst>
            <a:ahLst/>
            <a:cxnLst>
              <a:cxn ang="T44">
                <a:pos x="T0" y="T1"/>
              </a:cxn>
              <a:cxn ang="T45">
                <a:pos x="T2" y="T3"/>
              </a:cxn>
              <a:cxn ang="T46">
                <a:pos x="T4" y="T5"/>
              </a:cxn>
              <a:cxn ang="T47">
                <a:pos x="T6" y="T7"/>
              </a:cxn>
              <a:cxn ang="T48">
                <a:pos x="T8" y="T9"/>
              </a:cxn>
              <a:cxn ang="T49">
                <a:pos x="T10" y="T11"/>
              </a:cxn>
              <a:cxn ang="T50">
                <a:pos x="T12" y="T13"/>
              </a:cxn>
              <a:cxn ang="T51">
                <a:pos x="T14" y="T15"/>
              </a:cxn>
              <a:cxn ang="T52">
                <a:pos x="T16" y="T17"/>
              </a:cxn>
              <a:cxn ang="T53">
                <a:pos x="T18" y="T19"/>
              </a:cxn>
              <a:cxn ang="T54">
                <a:pos x="T20" y="T21"/>
              </a:cxn>
              <a:cxn ang="T55">
                <a:pos x="T22" y="T23"/>
              </a:cxn>
              <a:cxn ang="T56">
                <a:pos x="T24" y="T25"/>
              </a:cxn>
              <a:cxn ang="T57">
                <a:pos x="T26" y="T27"/>
              </a:cxn>
              <a:cxn ang="T58">
                <a:pos x="T28" y="T29"/>
              </a:cxn>
              <a:cxn ang="T59">
                <a:pos x="T30" y="T31"/>
              </a:cxn>
              <a:cxn ang="T60">
                <a:pos x="T32" y="T33"/>
              </a:cxn>
              <a:cxn ang="T61">
                <a:pos x="T34" y="T35"/>
              </a:cxn>
              <a:cxn ang="T62">
                <a:pos x="T36" y="T37"/>
              </a:cxn>
              <a:cxn ang="T63">
                <a:pos x="T38" y="T39"/>
              </a:cxn>
              <a:cxn ang="T64">
                <a:pos x="T40" y="T41"/>
              </a:cxn>
              <a:cxn ang="T65">
                <a:pos x="T42" y="T43"/>
              </a:cxn>
            </a:cxnLst>
            <a:rect l="T66" t="T67" r="T68" b="T69"/>
            <a:pathLst>
              <a:path w="106" h="68">
                <a:moveTo>
                  <a:pt x="56" y="68"/>
                </a:moveTo>
                <a:lnTo>
                  <a:pt x="56" y="68"/>
                </a:lnTo>
                <a:lnTo>
                  <a:pt x="76" y="65"/>
                </a:lnTo>
                <a:lnTo>
                  <a:pt x="91" y="58"/>
                </a:lnTo>
                <a:lnTo>
                  <a:pt x="101" y="45"/>
                </a:lnTo>
                <a:lnTo>
                  <a:pt x="106" y="32"/>
                </a:lnTo>
                <a:lnTo>
                  <a:pt x="101" y="19"/>
                </a:lnTo>
                <a:lnTo>
                  <a:pt x="91" y="9"/>
                </a:lnTo>
                <a:lnTo>
                  <a:pt x="76" y="3"/>
                </a:lnTo>
                <a:lnTo>
                  <a:pt x="56" y="0"/>
                </a:lnTo>
                <a:lnTo>
                  <a:pt x="36" y="3"/>
                </a:lnTo>
                <a:lnTo>
                  <a:pt x="15" y="9"/>
                </a:lnTo>
                <a:lnTo>
                  <a:pt x="5" y="19"/>
                </a:lnTo>
                <a:lnTo>
                  <a:pt x="0" y="32"/>
                </a:lnTo>
                <a:lnTo>
                  <a:pt x="5" y="45"/>
                </a:lnTo>
                <a:lnTo>
                  <a:pt x="15" y="58"/>
                </a:lnTo>
                <a:lnTo>
                  <a:pt x="36" y="65"/>
                </a:lnTo>
                <a:lnTo>
                  <a:pt x="56" y="6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" name="TextBox 132"/>
          <p:cNvSpPr txBox="1">
            <a:spLocks noChangeArrowheads="1"/>
          </p:cNvSpPr>
          <p:nvPr/>
        </p:nvSpPr>
        <p:spPr bwMode="auto">
          <a:xfrm>
            <a:off x="4437706" y="1271588"/>
            <a:ext cx="786114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/>
            <a:r>
              <a:rPr lang="en-US" sz="1600" dirty="0" err="1">
                <a:solidFill>
                  <a:srgbClr val="800080"/>
                </a:solidFill>
              </a:rPr>
              <a:t>Neela’s</a:t>
            </a:r>
            <a:endParaRPr lang="en-US" sz="1600" dirty="0">
              <a:solidFill>
                <a:srgbClr val="800080"/>
              </a:solidFill>
            </a:endParaRPr>
          </a:p>
          <a:p>
            <a:pPr algn="ctr"/>
            <a:r>
              <a:rPr lang="en-US" sz="1600" dirty="0">
                <a:solidFill>
                  <a:srgbClr val="800080"/>
                </a:solidFill>
              </a:rPr>
              <a:t>supply</a:t>
            </a:r>
          </a:p>
        </p:txBody>
      </p:sp>
      <p:sp>
        <p:nvSpPr>
          <p:cNvPr id="134" name="TextBox 133"/>
          <p:cNvSpPr txBox="1">
            <a:spLocks noChangeArrowheads="1"/>
          </p:cNvSpPr>
          <p:nvPr/>
        </p:nvSpPr>
        <p:spPr bwMode="auto">
          <a:xfrm>
            <a:off x="3171825" y="1271588"/>
            <a:ext cx="39528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/>
            <a:r>
              <a:rPr lang="en-US" sz="2800">
                <a:solidFill>
                  <a:srgbClr val="800080"/>
                </a:solidFill>
              </a:rPr>
              <a:t>+</a:t>
            </a:r>
          </a:p>
        </p:txBody>
      </p:sp>
      <p:sp>
        <p:nvSpPr>
          <p:cNvPr id="135" name="TextBox 134"/>
          <p:cNvSpPr txBox="1">
            <a:spLocks noChangeArrowheads="1"/>
          </p:cNvSpPr>
          <p:nvPr/>
        </p:nvSpPr>
        <p:spPr bwMode="auto">
          <a:xfrm>
            <a:off x="5735638" y="1271588"/>
            <a:ext cx="395287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/>
            <a:r>
              <a:rPr lang="en-US" sz="2800">
                <a:solidFill>
                  <a:srgbClr val="800080"/>
                </a:solidFill>
              </a:rPr>
              <a:t>=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6672263" y="2133600"/>
            <a:ext cx="2270125" cy="3429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600"/>
          </a:p>
        </p:txBody>
      </p:sp>
      <p:grpSp>
        <p:nvGrpSpPr>
          <p:cNvPr id="60" name="Group 136"/>
          <p:cNvGrpSpPr>
            <a:grpSpLocks/>
          </p:cNvGrpSpPr>
          <p:nvPr/>
        </p:nvGrpSpPr>
        <p:grpSpPr bwMode="auto">
          <a:xfrm>
            <a:off x="6734175" y="2481263"/>
            <a:ext cx="1882775" cy="2166937"/>
            <a:chOff x="4535256" y="1718953"/>
            <a:chExt cx="1882636" cy="2167247"/>
          </a:xfrm>
        </p:grpSpPr>
        <p:cxnSp>
          <p:nvCxnSpPr>
            <p:cNvPr id="138" name="Straight Connector 137"/>
            <p:cNvCxnSpPr/>
            <p:nvPr/>
          </p:nvCxnSpPr>
          <p:spPr>
            <a:xfrm rot="5400000" flipH="1" flipV="1">
              <a:off x="4382677" y="2285928"/>
              <a:ext cx="1752851" cy="1447693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852" name="TextBox 138"/>
            <p:cNvSpPr txBox="1">
              <a:spLocks noChangeArrowheads="1"/>
            </p:cNvSpPr>
            <p:nvPr/>
          </p:nvSpPr>
          <p:spPr bwMode="auto">
            <a:xfrm>
              <a:off x="5680190" y="1718953"/>
              <a:ext cx="737702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r>
                <a:rPr lang="en-US" sz="1600"/>
                <a:t>S</a:t>
              </a:r>
              <a:r>
                <a:rPr lang="en-US" sz="1600" baseline="-25000"/>
                <a:t>Market</a:t>
              </a:r>
            </a:p>
          </p:txBody>
        </p:sp>
      </p:grpSp>
      <p:grpSp>
        <p:nvGrpSpPr>
          <p:cNvPr id="61" name="Group 139"/>
          <p:cNvGrpSpPr>
            <a:grpSpLocks/>
          </p:cNvGrpSpPr>
          <p:nvPr/>
        </p:nvGrpSpPr>
        <p:grpSpPr bwMode="auto">
          <a:xfrm>
            <a:off x="6443663" y="5410200"/>
            <a:ext cx="2786062" cy="841375"/>
            <a:chOff x="680076" y="5147846"/>
            <a:chExt cx="2786626" cy="841177"/>
          </a:xfrm>
        </p:grpSpPr>
        <p:sp>
          <p:nvSpPr>
            <p:cNvPr id="32819" name="TextBox 140"/>
            <p:cNvSpPr txBox="1">
              <a:spLocks noChangeArrowheads="1"/>
            </p:cNvSpPr>
            <p:nvPr/>
          </p:nvSpPr>
          <p:spPr bwMode="auto">
            <a:xfrm>
              <a:off x="680076" y="5300246"/>
              <a:ext cx="284052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r>
                <a:rPr lang="en-US" sz="1400"/>
                <a:t>0</a:t>
              </a:r>
            </a:p>
          </p:txBody>
        </p:sp>
        <p:grpSp>
          <p:nvGrpSpPr>
            <p:cNvPr id="32820" name="Group 99"/>
            <p:cNvGrpSpPr>
              <a:grpSpLocks/>
            </p:cNvGrpSpPr>
            <p:nvPr/>
          </p:nvGrpSpPr>
          <p:grpSpPr bwMode="auto">
            <a:xfrm>
              <a:off x="915084" y="5147846"/>
              <a:ext cx="2369859" cy="460177"/>
              <a:chOff x="937538" y="5147846"/>
              <a:chExt cx="2369859" cy="460177"/>
            </a:xfrm>
          </p:grpSpPr>
          <p:cxnSp>
            <p:nvCxnSpPr>
              <p:cNvPr id="144" name="Straight Connector 143"/>
              <p:cNvCxnSpPr/>
              <p:nvPr/>
            </p:nvCxnSpPr>
            <p:spPr>
              <a:xfrm>
                <a:off x="937528" y="5300210"/>
                <a:ext cx="2370617" cy="6349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2823" name="Group 96"/>
              <p:cNvGrpSpPr>
                <a:grpSpLocks/>
              </p:cNvGrpSpPr>
              <p:nvPr/>
            </p:nvGrpSpPr>
            <p:grpSpPr bwMode="auto">
              <a:xfrm>
                <a:off x="996920" y="5147846"/>
                <a:ext cx="2212238" cy="460177"/>
                <a:chOff x="996920" y="5147846"/>
                <a:chExt cx="2212238" cy="460177"/>
              </a:xfrm>
            </p:grpSpPr>
            <p:grpSp>
              <p:nvGrpSpPr>
                <p:cNvPr id="32824" name="Group 21"/>
                <p:cNvGrpSpPr>
                  <a:grpSpLocks/>
                </p:cNvGrpSpPr>
                <p:nvPr/>
              </p:nvGrpSpPr>
              <p:grpSpPr bwMode="auto">
                <a:xfrm>
                  <a:off x="2825720" y="5147846"/>
                  <a:ext cx="383438" cy="460177"/>
                  <a:chOff x="8069094" y="4648200"/>
                  <a:chExt cx="383438" cy="460177"/>
                </a:xfrm>
              </p:grpSpPr>
              <p:cxnSp>
                <p:nvCxnSpPr>
                  <p:cNvPr id="172" name="Straight Connector 171"/>
                  <p:cNvCxnSpPr/>
                  <p:nvPr/>
                </p:nvCxnSpPr>
                <p:spPr>
                  <a:xfrm rot="5400000">
                    <a:off x="8153804" y="4723588"/>
                    <a:ext cx="152364" cy="1587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32850" name="TextBox 172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8069094" y="4800600"/>
                    <a:ext cx="383438" cy="307777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defRPr>
                        <a:solidFill>
                          <a:schemeClr val="tx1"/>
                        </a:solidFill>
                        <a:latin typeface="Calibri" pitchFamily="34" charset="0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Calibri" pitchFamily="34" charset="0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Calibri" pitchFamily="34" charset="0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Calibri" pitchFamily="34" charset="0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Calibri" pitchFamily="34" charset="0"/>
                      </a:defRPr>
                    </a:lvl5pPr>
                    <a:lvl6pPr marL="25146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alibri" pitchFamily="34" charset="0"/>
                      </a:defRPr>
                    </a:lvl6pPr>
                    <a:lvl7pPr marL="29718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alibri" pitchFamily="34" charset="0"/>
                      </a:defRPr>
                    </a:lvl7pPr>
                    <a:lvl8pPr marL="34290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alibri" pitchFamily="34" charset="0"/>
                      </a:defRPr>
                    </a:lvl8pPr>
                    <a:lvl9pPr marL="38862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alibri" pitchFamily="34" charset="0"/>
                      </a:defRPr>
                    </a:lvl9pPr>
                  </a:lstStyle>
                  <a:p>
                    <a:r>
                      <a:rPr lang="en-US" sz="1400"/>
                      <a:t>18</a:t>
                    </a:r>
                  </a:p>
                </p:txBody>
              </p:sp>
            </p:grpSp>
            <p:grpSp>
              <p:nvGrpSpPr>
                <p:cNvPr id="32825" name="Group 27"/>
                <p:cNvGrpSpPr>
                  <a:grpSpLocks/>
                </p:cNvGrpSpPr>
                <p:nvPr/>
              </p:nvGrpSpPr>
              <p:grpSpPr bwMode="auto">
                <a:xfrm>
                  <a:off x="996920" y="5147846"/>
                  <a:ext cx="284052" cy="460177"/>
                  <a:chOff x="8069094" y="4648200"/>
                  <a:chExt cx="284052" cy="460177"/>
                </a:xfrm>
              </p:grpSpPr>
              <p:cxnSp>
                <p:nvCxnSpPr>
                  <p:cNvPr id="170" name="Straight Connector 169"/>
                  <p:cNvCxnSpPr/>
                  <p:nvPr/>
                </p:nvCxnSpPr>
                <p:spPr>
                  <a:xfrm rot="5400000">
                    <a:off x="8153434" y="4723588"/>
                    <a:ext cx="152364" cy="1587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32848" name="TextBox 170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8069094" y="4800600"/>
                    <a:ext cx="284052" cy="307777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defRPr>
                        <a:solidFill>
                          <a:schemeClr val="tx1"/>
                        </a:solidFill>
                        <a:latin typeface="Calibri" pitchFamily="34" charset="0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Calibri" pitchFamily="34" charset="0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Calibri" pitchFamily="34" charset="0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Calibri" pitchFamily="34" charset="0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Calibri" pitchFamily="34" charset="0"/>
                      </a:defRPr>
                    </a:lvl5pPr>
                    <a:lvl6pPr marL="25146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alibri" pitchFamily="34" charset="0"/>
                      </a:defRPr>
                    </a:lvl6pPr>
                    <a:lvl7pPr marL="29718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alibri" pitchFamily="34" charset="0"/>
                      </a:defRPr>
                    </a:lvl7pPr>
                    <a:lvl8pPr marL="34290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alibri" pitchFamily="34" charset="0"/>
                      </a:defRPr>
                    </a:lvl8pPr>
                    <a:lvl9pPr marL="38862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alibri" pitchFamily="34" charset="0"/>
                      </a:defRPr>
                    </a:lvl9pPr>
                  </a:lstStyle>
                  <a:p>
                    <a:r>
                      <a:rPr lang="en-US" sz="1400"/>
                      <a:t>2</a:t>
                    </a:r>
                  </a:p>
                </p:txBody>
              </p:sp>
            </p:grpSp>
            <p:grpSp>
              <p:nvGrpSpPr>
                <p:cNvPr id="32826" name="Group 30"/>
                <p:cNvGrpSpPr>
                  <a:grpSpLocks/>
                </p:cNvGrpSpPr>
                <p:nvPr/>
              </p:nvGrpSpPr>
              <p:grpSpPr bwMode="auto">
                <a:xfrm>
                  <a:off x="1225520" y="5147846"/>
                  <a:ext cx="284052" cy="460177"/>
                  <a:chOff x="8069094" y="4648200"/>
                  <a:chExt cx="284052" cy="460177"/>
                </a:xfrm>
              </p:grpSpPr>
              <p:cxnSp>
                <p:nvCxnSpPr>
                  <p:cNvPr id="168" name="Straight Connector 167"/>
                  <p:cNvCxnSpPr/>
                  <p:nvPr/>
                </p:nvCxnSpPr>
                <p:spPr>
                  <a:xfrm rot="5400000">
                    <a:off x="8153480" y="4723588"/>
                    <a:ext cx="152364" cy="1587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32846" name="TextBox 168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8069094" y="4800600"/>
                    <a:ext cx="284052" cy="307777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defRPr>
                        <a:solidFill>
                          <a:schemeClr val="tx1"/>
                        </a:solidFill>
                        <a:latin typeface="Calibri" pitchFamily="34" charset="0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Calibri" pitchFamily="34" charset="0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Calibri" pitchFamily="34" charset="0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Calibri" pitchFamily="34" charset="0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Calibri" pitchFamily="34" charset="0"/>
                      </a:defRPr>
                    </a:lvl5pPr>
                    <a:lvl6pPr marL="25146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alibri" pitchFamily="34" charset="0"/>
                      </a:defRPr>
                    </a:lvl6pPr>
                    <a:lvl7pPr marL="29718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alibri" pitchFamily="34" charset="0"/>
                      </a:defRPr>
                    </a:lvl7pPr>
                    <a:lvl8pPr marL="34290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alibri" pitchFamily="34" charset="0"/>
                      </a:defRPr>
                    </a:lvl8pPr>
                    <a:lvl9pPr marL="38862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alibri" pitchFamily="34" charset="0"/>
                      </a:defRPr>
                    </a:lvl9pPr>
                  </a:lstStyle>
                  <a:p>
                    <a:r>
                      <a:rPr lang="en-US" sz="1400"/>
                      <a:t>4</a:t>
                    </a:r>
                  </a:p>
                </p:txBody>
              </p:sp>
            </p:grpSp>
            <p:grpSp>
              <p:nvGrpSpPr>
                <p:cNvPr id="32827" name="Group 33"/>
                <p:cNvGrpSpPr>
                  <a:grpSpLocks/>
                </p:cNvGrpSpPr>
                <p:nvPr/>
              </p:nvGrpSpPr>
              <p:grpSpPr bwMode="auto">
                <a:xfrm>
                  <a:off x="1454120" y="5147846"/>
                  <a:ext cx="284052" cy="460177"/>
                  <a:chOff x="8069094" y="4648200"/>
                  <a:chExt cx="284052" cy="460177"/>
                </a:xfrm>
              </p:grpSpPr>
              <p:cxnSp>
                <p:nvCxnSpPr>
                  <p:cNvPr id="166" name="Straight Connector 165"/>
                  <p:cNvCxnSpPr/>
                  <p:nvPr/>
                </p:nvCxnSpPr>
                <p:spPr>
                  <a:xfrm rot="5400000">
                    <a:off x="8153527" y="4723588"/>
                    <a:ext cx="152364" cy="1587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32844" name="TextBox 166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8069094" y="4800600"/>
                    <a:ext cx="284052" cy="307777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defRPr>
                        <a:solidFill>
                          <a:schemeClr val="tx1"/>
                        </a:solidFill>
                        <a:latin typeface="Calibri" pitchFamily="34" charset="0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Calibri" pitchFamily="34" charset="0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Calibri" pitchFamily="34" charset="0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Calibri" pitchFamily="34" charset="0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Calibri" pitchFamily="34" charset="0"/>
                      </a:defRPr>
                    </a:lvl5pPr>
                    <a:lvl6pPr marL="25146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alibri" pitchFamily="34" charset="0"/>
                      </a:defRPr>
                    </a:lvl6pPr>
                    <a:lvl7pPr marL="29718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alibri" pitchFamily="34" charset="0"/>
                      </a:defRPr>
                    </a:lvl7pPr>
                    <a:lvl8pPr marL="34290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alibri" pitchFamily="34" charset="0"/>
                      </a:defRPr>
                    </a:lvl8pPr>
                    <a:lvl9pPr marL="38862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alibri" pitchFamily="34" charset="0"/>
                      </a:defRPr>
                    </a:lvl9pPr>
                  </a:lstStyle>
                  <a:p>
                    <a:r>
                      <a:rPr lang="en-US" sz="1400"/>
                      <a:t>6</a:t>
                    </a:r>
                  </a:p>
                </p:txBody>
              </p:sp>
            </p:grpSp>
            <p:grpSp>
              <p:nvGrpSpPr>
                <p:cNvPr id="32828" name="Group 36"/>
                <p:cNvGrpSpPr>
                  <a:grpSpLocks/>
                </p:cNvGrpSpPr>
                <p:nvPr/>
              </p:nvGrpSpPr>
              <p:grpSpPr bwMode="auto">
                <a:xfrm>
                  <a:off x="1682720" y="5147846"/>
                  <a:ext cx="284052" cy="460177"/>
                  <a:chOff x="8069094" y="4648200"/>
                  <a:chExt cx="284052" cy="460177"/>
                </a:xfrm>
              </p:grpSpPr>
              <p:cxnSp>
                <p:nvCxnSpPr>
                  <p:cNvPr id="164" name="Straight Connector 163"/>
                  <p:cNvCxnSpPr/>
                  <p:nvPr/>
                </p:nvCxnSpPr>
                <p:spPr>
                  <a:xfrm rot="5400000">
                    <a:off x="8153573" y="4723588"/>
                    <a:ext cx="152364" cy="1587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32842" name="TextBox 164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8069094" y="4800600"/>
                    <a:ext cx="284052" cy="307777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defRPr>
                        <a:solidFill>
                          <a:schemeClr val="tx1"/>
                        </a:solidFill>
                        <a:latin typeface="Calibri" pitchFamily="34" charset="0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Calibri" pitchFamily="34" charset="0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Calibri" pitchFamily="34" charset="0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Calibri" pitchFamily="34" charset="0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Calibri" pitchFamily="34" charset="0"/>
                      </a:defRPr>
                    </a:lvl5pPr>
                    <a:lvl6pPr marL="25146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alibri" pitchFamily="34" charset="0"/>
                      </a:defRPr>
                    </a:lvl6pPr>
                    <a:lvl7pPr marL="29718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alibri" pitchFamily="34" charset="0"/>
                      </a:defRPr>
                    </a:lvl7pPr>
                    <a:lvl8pPr marL="34290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alibri" pitchFamily="34" charset="0"/>
                      </a:defRPr>
                    </a:lvl8pPr>
                    <a:lvl9pPr marL="38862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alibri" pitchFamily="34" charset="0"/>
                      </a:defRPr>
                    </a:lvl9pPr>
                  </a:lstStyle>
                  <a:p>
                    <a:r>
                      <a:rPr lang="en-US" sz="1400"/>
                      <a:t>8</a:t>
                    </a:r>
                  </a:p>
                </p:txBody>
              </p:sp>
            </p:grpSp>
            <p:grpSp>
              <p:nvGrpSpPr>
                <p:cNvPr id="32829" name="Group 39"/>
                <p:cNvGrpSpPr>
                  <a:grpSpLocks/>
                </p:cNvGrpSpPr>
                <p:nvPr/>
              </p:nvGrpSpPr>
              <p:grpSpPr bwMode="auto">
                <a:xfrm>
                  <a:off x="1905000" y="5147846"/>
                  <a:ext cx="383438" cy="460177"/>
                  <a:chOff x="8062774" y="4648200"/>
                  <a:chExt cx="383438" cy="460177"/>
                </a:xfrm>
              </p:grpSpPr>
              <p:cxnSp>
                <p:nvCxnSpPr>
                  <p:cNvPr id="162" name="Straight Connector 161"/>
                  <p:cNvCxnSpPr/>
                  <p:nvPr/>
                </p:nvCxnSpPr>
                <p:spPr>
                  <a:xfrm rot="5400000">
                    <a:off x="8153619" y="4723588"/>
                    <a:ext cx="152364" cy="1587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32840" name="TextBox 162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8062774" y="4800600"/>
                    <a:ext cx="383438" cy="307777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defRPr>
                        <a:solidFill>
                          <a:schemeClr val="tx1"/>
                        </a:solidFill>
                        <a:latin typeface="Calibri" pitchFamily="34" charset="0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Calibri" pitchFamily="34" charset="0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Calibri" pitchFamily="34" charset="0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Calibri" pitchFamily="34" charset="0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Calibri" pitchFamily="34" charset="0"/>
                      </a:defRPr>
                    </a:lvl5pPr>
                    <a:lvl6pPr marL="25146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alibri" pitchFamily="34" charset="0"/>
                      </a:defRPr>
                    </a:lvl6pPr>
                    <a:lvl7pPr marL="29718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alibri" pitchFamily="34" charset="0"/>
                      </a:defRPr>
                    </a:lvl7pPr>
                    <a:lvl8pPr marL="34290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alibri" pitchFamily="34" charset="0"/>
                      </a:defRPr>
                    </a:lvl8pPr>
                    <a:lvl9pPr marL="38862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alibri" pitchFamily="34" charset="0"/>
                      </a:defRPr>
                    </a:lvl9pPr>
                  </a:lstStyle>
                  <a:p>
                    <a:r>
                      <a:rPr lang="en-US" sz="1400"/>
                      <a:t>10</a:t>
                    </a:r>
                  </a:p>
                </p:txBody>
              </p:sp>
            </p:grpSp>
            <p:grpSp>
              <p:nvGrpSpPr>
                <p:cNvPr id="32830" name="Group 42"/>
                <p:cNvGrpSpPr>
                  <a:grpSpLocks/>
                </p:cNvGrpSpPr>
                <p:nvPr/>
              </p:nvGrpSpPr>
              <p:grpSpPr bwMode="auto">
                <a:xfrm>
                  <a:off x="2139920" y="5147846"/>
                  <a:ext cx="383438" cy="460177"/>
                  <a:chOff x="8069094" y="4648200"/>
                  <a:chExt cx="383438" cy="460177"/>
                </a:xfrm>
              </p:grpSpPr>
              <p:cxnSp>
                <p:nvCxnSpPr>
                  <p:cNvPr id="160" name="Straight Connector 159"/>
                  <p:cNvCxnSpPr/>
                  <p:nvPr/>
                </p:nvCxnSpPr>
                <p:spPr>
                  <a:xfrm rot="5400000">
                    <a:off x="8153665" y="4723588"/>
                    <a:ext cx="152364" cy="1587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32838" name="TextBox 160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8069094" y="4800600"/>
                    <a:ext cx="383438" cy="307777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defRPr>
                        <a:solidFill>
                          <a:schemeClr val="tx1"/>
                        </a:solidFill>
                        <a:latin typeface="Calibri" pitchFamily="34" charset="0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Calibri" pitchFamily="34" charset="0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Calibri" pitchFamily="34" charset="0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Calibri" pitchFamily="34" charset="0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Calibri" pitchFamily="34" charset="0"/>
                      </a:defRPr>
                    </a:lvl5pPr>
                    <a:lvl6pPr marL="25146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alibri" pitchFamily="34" charset="0"/>
                      </a:defRPr>
                    </a:lvl6pPr>
                    <a:lvl7pPr marL="29718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alibri" pitchFamily="34" charset="0"/>
                      </a:defRPr>
                    </a:lvl7pPr>
                    <a:lvl8pPr marL="34290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alibri" pitchFamily="34" charset="0"/>
                      </a:defRPr>
                    </a:lvl8pPr>
                    <a:lvl9pPr marL="38862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alibri" pitchFamily="34" charset="0"/>
                      </a:defRPr>
                    </a:lvl9pPr>
                  </a:lstStyle>
                  <a:p>
                    <a:r>
                      <a:rPr lang="en-US" sz="1400"/>
                      <a:t>12</a:t>
                    </a:r>
                  </a:p>
                </p:txBody>
              </p:sp>
            </p:grpSp>
            <p:grpSp>
              <p:nvGrpSpPr>
                <p:cNvPr id="32831" name="Group 45"/>
                <p:cNvGrpSpPr>
                  <a:grpSpLocks/>
                </p:cNvGrpSpPr>
                <p:nvPr/>
              </p:nvGrpSpPr>
              <p:grpSpPr bwMode="auto">
                <a:xfrm>
                  <a:off x="2368520" y="5147846"/>
                  <a:ext cx="383438" cy="460177"/>
                  <a:chOff x="8069094" y="4648200"/>
                  <a:chExt cx="383438" cy="460177"/>
                </a:xfrm>
              </p:grpSpPr>
              <p:cxnSp>
                <p:nvCxnSpPr>
                  <p:cNvPr id="158" name="Straight Connector 157"/>
                  <p:cNvCxnSpPr/>
                  <p:nvPr/>
                </p:nvCxnSpPr>
                <p:spPr>
                  <a:xfrm rot="5400000">
                    <a:off x="8153712" y="4723588"/>
                    <a:ext cx="152364" cy="1587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32836" name="TextBox 158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8069094" y="4800600"/>
                    <a:ext cx="383438" cy="307777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defRPr>
                        <a:solidFill>
                          <a:schemeClr val="tx1"/>
                        </a:solidFill>
                        <a:latin typeface="Calibri" pitchFamily="34" charset="0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Calibri" pitchFamily="34" charset="0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Calibri" pitchFamily="34" charset="0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Calibri" pitchFamily="34" charset="0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Calibri" pitchFamily="34" charset="0"/>
                      </a:defRPr>
                    </a:lvl5pPr>
                    <a:lvl6pPr marL="25146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alibri" pitchFamily="34" charset="0"/>
                      </a:defRPr>
                    </a:lvl6pPr>
                    <a:lvl7pPr marL="29718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alibri" pitchFamily="34" charset="0"/>
                      </a:defRPr>
                    </a:lvl7pPr>
                    <a:lvl8pPr marL="34290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alibri" pitchFamily="34" charset="0"/>
                      </a:defRPr>
                    </a:lvl8pPr>
                    <a:lvl9pPr marL="38862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alibri" pitchFamily="34" charset="0"/>
                      </a:defRPr>
                    </a:lvl9pPr>
                  </a:lstStyle>
                  <a:p>
                    <a:r>
                      <a:rPr lang="en-US" sz="1400"/>
                      <a:t>14</a:t>
                    </a:r>
                  </a:p>
                </p:txBody>
              </p:sp>
            </p:grpSp>
            <p:grpSp>
              <p:nvGrpSpPr>
                <p:cNvPr id="32832" name="Group 48"/>
                <p:cNvGrpSpPr>
                  <a:grpSpLocks/>
                </p:cNvGrpSpPr>
                <p:nvPr/>
              </p:nvGrpSpPr>
              <p:grpSpPr bwMode="auto">
                <a:xfrm>
                  <a:off x="2597120" y="5147846"/>
                  <a:ext cx="383438" cy="460177"/>
                  <a:chOff x="8069094" y="4648200"/>
                  <a:chExt cx="383438" cy="460177"/>
                </a:xfrm>
              </p:grpSpPr>
              <p:cxnSp>
                <p:nvCxnSpPr>
                  <p:cNvPr id="156" name="Straight Connector 24"/>
                  <p:cNvCxnSpPr/>
                  <p:nvPr/>
                </p:nvCxnSpPr>
                <p:spPr>
                  <a:xfrm rot="5400000">
                    <a:off x="8153758" y="4723588"/>
                    <a:ext cx="152364" cy="1587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32834" name="TextBox 156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8069094" y="4800600"/>
                    <a:ext cx="383438" cy="307777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defRPr>
                        <a:solidFill>
                          <a:schemeClr val="tx1"/>
                        </a:solidFill>
                        <a:latin typeface="Calibri" pitchFamily="34" charset="0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Calibri" pitchFamily="34" charset="0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Calibri" pitchFamily="34" charset="0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Calibri" pitchFamily="34" charset="0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Calibri" pitchFamily="34" charset="0"/>
                      </a:defRPr>
                    </a:lvl5pPr>
                    <a:lvl6pPr marL="25146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alibri" pitchFamily="34" charset="0"/>
                      </a:defRPr>
                    </a:lvl6pPr>
                    <a:lvl7pPr marL="29718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alibri" pitchFamily="34" charset="0"/>
                      </a:defRPr>
                    </a:lvl7pPr>
                    <a:lvl8pPr marL="34290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alibri" pitchFamily="34" charset="0"/>
                      </a:defRPr>
                    </a:lvl8pPr>
                    <a:lvl9pPr marL="38862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alibri" pitchFamily="34" charset="0"/>
                      </a:defRPr>
                    </a:lvl9pPr>
                  </a:lstStyle>
                  <a:p>
                    <a:r>
                      <a:rPr lang="en-US" sz="1400"/>
                      <a:t>16</a:t>
                    </a:r>
                  </a:p>
                </p:txBody>
              </p:sp>
            </p:grpSp>
          </p:grpSp>
        </p:grpSp>
        <p:sp>
          <p:nvSpPr>
            <p:cNvPr id="32821" name="TextBox 142"/>
            <p:cNvSpPr txBox="1">
              <a:spLocks noChangeArrowheads="1"/>
            </p:cNvSpPr>
            <p:nvPr/>
          </p:nvSpPr>
          <p:spPr bwMode="auto">
            <a:xfrm>
              <a:off x="914400" y="5681246"/>
              <a:ext cx="2552302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r>
                <a:rPr lang="en-US" sz="1400"/>
                <a:t>Quantity of Ice-Cream Cones </a:t>
              </a:r>
            </a:p>
          </p:txBody>
        </p:sp>
      </p:grpSp>
      <p:grpSp>
        <p:nvGrpSpPr>
          <p:cNvPr id="85" name="Group 173"/>
          <p:cNvGrpSpPr>
            <a:grpSpLocks/>
          </p:cNvGrpSpPr>
          <p:nvPr/>
        </p:nvGrpSpPr>
        <p:grpSpPr bwMode="auto">
          <a:xfrm>
            <a:off x="5899150" y="1666875"/>
            <a:ext cx="925513" cy="3897313"/>
            <a:chOff x="3797775" y="904083"/>
            <a:chExt cx="926372" cy="3897310"/>
          </a:xfrm>
        </p:grpSpPr>
        <p:cxnSp>
          <p:nvCxnSpPr>
            <p:cNvPr id="175" name="Straight Connector 174"/>
            <p:cNvCxnSpPr/>
            <p:nvPr/>
          </p:nvCxnSpPr>
          <p:spPr>
            <a:xfrm rot="5400000">
              <a:off x="2896002" y="3124200"/>
              <a:ext cx="3352797" cy="1588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2800" name="Group 56"/>
            <p:cNvGrpSpPr>
              <a:grpSpLocks/>
            </p:cNvGrpSpPr>
            <p:nvPr/>
          </p:nvGrpSpPr>
          <p:grpSpPr bwMode="auto">
            <a:xfrm>
              <a:off x="3983925" y="1828800"/>
              <a:ext cx="740222" cy="307777"/>
              <a:chOff x="6117778" y="2286000"/>
              <a:chExt cx="740222" cy="307777"/>
            </a:xfrm>
          </p:grpSpPr>
          <p:sp>
            <p:nvSpPr>
              <p:cNvPr id="32817" name="TextBox 53"/>
              <p:cNvSpPr txBox="1">
                <a:spLocks noChangeArrowheads="1"/>
              </p:cNvSpPr>
              <p:nvPr/>
            </p:nvSpPr>
            <p:spPr bwMode="auto">
              <a:xfrm>
                <a:off x="6117778" y="2286000"/>
                <a:ext cx="631904" cy="3077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itchFamily="34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</a:defRPr>
                </a:lvl9pPr>
              </a:lstStyle>
              <a:p>
                <a:r>
                  <a:rPr lang="en-US" sz="1400"/>
                  <a:t>$3.00</a:t>
                </a:r>
              </a:p>
            </p:txBody>
          </p:sp>
          <p:cxnSp>
            <p:nvCxnSpPr>
              <p:cNvPr id="194" name="Straight Connector 55"/>
              <p:cNvCxnSpPr/>
              <p:nvPr/>
            </p:nvCxnSpPr>
            <p:spPr>
              <a:xfrm>
                <a:off x="6705459" y="2513807"/>
                <a:ext cx="152541" cy="1588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2801" name="Group 57"/>
            <p:cNvGrpSpPr>
              <a:grpSpLocks/>
            </p:cNvGrpSpPr>
            <p:nvPr/>
          </p:nvGrpSpPr>
          <p:grpSpPr bwMode="auto">
            <a:xfrm>
              <a:off x="4097738" y="2297668"/>
              <a:ext cx="626409" cy="307777"/>
              <a:chOff x="6231591" y="2286000"/>
              <a:chExt cx="626409" cy="307777"/>
            </a:xfrm>
          </p:grpSpPr>
          <p:sp>
            <p:nvSpPr>
              <p:cNvPr id="32815" name="TextBox 190"/>
              <p:cNvSpPr txBox="1">
                <a:spLocks noChangeArrowheads="1"/>
              </p:cNvSpPr>
              <p:nvPr/>
            </p:nvSpPr>
            <p:spPr bwMode="auto">
              <a:xfrm>
                <a:off x="6231591" y="2286000"/>
                <a:ext cx="532518" cy="3077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itchFamily="34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</a:defRPr>
                </a:lvl9pPr>
              </a:lstStyle>
              <a:p>
                <a:r>
                  <a:rPr lang="en-US" sz="1400"/>
                  <a:t>2.50</a:t>
                </a:r>
              </a:p>
            </p:txBody>
          </p:sp>
          <p:cxnSp>
            <p:nvCxnSpPr>
              <p:cNvPr id="192" name="Straight Connector 191"/>
              <p:cNvCxnSpPr/>
              <p:nvPr/>
            </p:nvCxnSpPr>
            <p:spPr>
              <a:xfrm>
                <a:off x="6705459" y="2514839"/>
                <a:ext cx="152541" cy="1588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2802" name="Group 60"/>
            <p:cNvGrpSpPr>
              <a:grpSpLocks/>
            </p:cNvGrpSpPr>
            <p:nvPr/>
          </p:nvGrpSpPr>
          <p:grpSpPr bwMode="auto">
            <a:xfrm>
              <a:off x="4097738" y="2754868"/>
              <a:ext cx="626409" cy="307777"/>
              <a:chOff x="6231591" y="2286000"/>
              <a:chExt cx="626409" cy="307777"/>
            </a:xfrm>
          </p:grpSpPr>
          <p:sp>
            <p:nvSpPr>
              <p:cNvPr id="32813" name="TextBox 188"/>
              <p:cNvSpPr txBox="1">
                <a:spLocks noChangeArrowheads="1"/>
              </p:cNvSpPr>
              <p:nvPr/>
            </p:nvSpPr>
            <p:spPr bwMode="auto">
              <a:xfrm>
                <a:off x="6231591" y="2286000"/>
                <a:ext cx="532518" cy="3077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itchFamily="34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</a:defRPr>
                </a:lvl9pPr>
              </a:lstStyle>
              <a:p>
                <a:r>
                  <a:rPr lang="en-US" sz="1400"/>
                  <a:t>2.00</a:t>
                </a:r>
              </a:p>
            </p:txBody>
          </p:sp>
          <p:cxnSp>
            <p:nvCxnSpPr>
              <p:cNvPr id="190" name="Straight Connector 189"/>
              <p:cNvCxnSpPr/>
              <p:nvPr/>
            </p:nvCxnSpPr>
            <p:spPr>
              <a:xfrm>
                <a:off x="6705459" y="2514839"/>
                <a:ext cx="152541" cy="1588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2803" name="Group 63"/>
            <p:cNvGrpSpPr>
              <a:grpSpLocks/>
            </p:cNvGrpSpPr>
            <p:nvPr/>
          </p:nvGrpSpPr>
          <p:grpSpPr bwMode="auto">
            <a:xfrm>
              <a:off x="4097738" y="3212068"/>
              <a:ext cx="626409" cy="307777"/>
              <a:chOff x="6231591" y="2286000"/>
              <a:chExt cx="626409" cy="307777"/>
            </a:xfrm>
          </p:grpSpPr>
          <p:sp>
            <p:nvSpPr>
              <p:cNvPr id="32811" name="TextBox 186"/>
              <p:cNvSpPr txBox="1">
                <a:spLocks noChangeArrowheads="1"/>
              </p:cNvSpPr>
              <p:nvPr/>
            </p:nvSpPr>
            <p:spPr bwMode="auto">
              <a:xfrm>
                <a:off x="6231591" y="2286000"/>
                <a:ext cx="532518" cy="3077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itchFamily="34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</a:defRPr>
                </a:lvl9pPr>
              </a:lstStyle>
              <a:p>
                <a:r>
                  <a:rPr lang="en-US" sz="1400"/>
                  <a:t>1.50</a:t>
                </a:r>
              </a:p>
            </p:txBody>
          </p:sp>
          <p:cxnSp>
            <p:nvCxnSpPr>
              <p:cNvPr id="188" name="Straight Connector 187"/>
              <p:cNvCxnSpPr/>
              <p:nvPr/>
            </p:nvCxnSpPr>
            <p:spPr>
              <a:xfrm>
                <a:off x="6705459" y="2514838"/>
                <a:ext cx="152541" cy="1588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2804" name="Group 66"/>
            <p:cNvGrpSpPr>
              <a:grpSpLocks/>
            </p:cNvGrpSpPr>
            <p:nvPr/>
          </p:nvGrpSpPr>
          <p:grpSpPr bwMode="auto">
            <a:xfrm>
              <a:off x="4097738" y="3669268"/>
              <a:ext cx="626409" cy="307777"/>
              <a:chOff x="6231591" y="2286000"/>
              <a:chExt cx="626409" cy="307777"/>
            </a:xfrm>
          </p:grpSpPr>
          <p:sp>
            <p:nvSpPr>
              <p:cNvPr id="32809" name="TextBox 184"/>
              <p:cNvSpPr txBox="1">
                <a:spLocks noChangeArrowheads="1"/>
              </p:cNvSpPr>
              <p:nvPr/>
            </p:nvSpPr>
            <p:spPr bwMode="auto">
              <a:xfrm>
                <a:off x="6231591" y="2286000"/>
                <a:ext cx="532518" cy="3077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itchFamily="34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</a:defRPr>
                </a:lvl9pPr>
              </a:lstStyle>
              <a:p>
                <a:r>
                  <a:rPr lang="en-US" sz="1400"/>
                  <a:t>1.00</a:t>
                </a:r>
              </a:p>
            </p:txBody>
          </p:sp>
          <p:cxnSp>
            <p:nvCxnSpPr>
              <p:cNvPr id="186" name="Straight Connector 185"/>
              <p:cNvCxnSpPr/>
              <p:nvPr/>
            </p:nvCxnSpPr>
            <p:spPr>
              <a:xfrm>
                <a:off x="6705459" y="2514838"/>
                <a:ext cx="152541" cy="1588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2805" name="Group 69"/>
            <p:cNvGrpSpPr>
              <a:grpSpLocks/>
            </p:cNvGrpSpPr>
            <p:nvPr/>
          </p:nvGrpSpPr>
          <p:grpSpPr bwMode="auto">
            <a:xfrm>
              <a:off x="4097738" y="4126468"/>
              <a:ext cx="626409" cy="307777"/>
              <a:chOff x="6231591" y="2286000"/>
              <a:chExt cx="626409" cy="307777"/>
            </a:xfrm>
          </p:grpSpPr>
          <p:sp>
            <p:nvSpPr>
              <p:cNvPr id="32807" name="TextBox 182"/>
              <p:cNvSpPr txBox="1">
                <a:spLocks noChangeArrowheads="1"/>
              </p:cNvSpPr>
              <p:nvPr/>
            </p:nvSpPr>
            <p:spPr bwMode="auto">
              <a:xfrm>
                <a:off x="6231591" y="2286000"/>
                <a:ext cx="532518" cy="3077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itchFamily="34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</a:defRPr>
                </a:lvl9pPr>
              </a:lstStyle>
              <a:p>
                <a:r>
                  <a:rPr lang="en-US" sz="1400"/>
                  <a:t>0.50</a:t>
                </a:r>
              </a:p>
            </p:txBody>
          </p:sp>
          <p:cxnSp>
            <p:nvCxnSpPr>
              <p:cNvPr id="184" name="Straight Connector 183"/>
              <p:cNvCxnSpPr/>
              <p:nvPr/>
            </p:nvCxnSpPr>
            <p:spPr>
              <a:xfrm>
                <a:off x="6705459" y="2514838"/>
                <a:ext cx="152541" cy="1588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2806" name="TextBox 181"/>
            <p:cNvSpPr txBox="1">
              <a:spLocks noChangeArrowheads="1"/>
            </p:cNvSpPr>
            <p:nvPr/>
          </p:nvSpPr>
          <p:spPr bwMode="auto">
            <a:xfrm>
              <a:off x="3797775" y="904083"/>
              <a:ext cx="802418" cy="9540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algn="r"/>
              <a:r>
                <a:rPr lang="en-US" sz="1400"/>
                <a:t>Price of</a:t>
              </a:r>
            </a:p>
            <a:p>
              <a:pPr algn="r"/>
              <a:r>
                <a:rPr lang="en-US" sz="1400"/>
                <a:t> Ice</a:t>
              </a:r>
            </a:p>
            <a:p>
              <a:pPr algn="r"/>
              <a:r>
                <a:rPr lang="en-US" sz="1400"/>
                <a:t>Cream</a:t>
              </a:r>
            </a:p>
            <a:p>
              <a:pPr algn="r"/>
              <a:r>
                <a:rPr lang="en-US" sz="1400"/>
                <a:t>Cones</a:t>
              </a:r>
            </a:p>
          </p:txBody>
        </p:sp>
      </p:grpSp>
      <p:cxnSp>
        <p:nvCxnSpPr>
          <p:cNvPr id="195" name="Straight Connector 194"/>
          <p:cNvCxnSpPr/>
          <p:nvPr/>
        </p:nvCxnSpPr>
        <p:spPr>
          <a:xfrm>
            <a:off x="6678613" y="3744913"/>
            <a:ext cx="817562" cy="1587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" name="Straight Connector 195"/>
          <p:cNvCxnSpPr/>
          <p:nvPr/>
        </p:nvCxnSpPr>
        <p:spPr>
          <a:xfrm rot="5400000" flipH="1" flipV="1">
            <a:off x="6557169" y="4647406"/>
            <a:ext cx="1828800" cy="1588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7" name="Freeform 183"/>
          <p:cNvSpPr>
            <a:spLocks/>
          </p:cNvSpPr>
          <p:nvPr/>
        </p:nvSpPr>
        <p:spPr bwMode="auto">
          <a:xfrm>
            <a:off x="7408863" y="3690938"/>
            <a:ext cx="146050" cy="136525"/>
          </a:xfrm>
          <a:custGeom>
            <a:avLst/>
            <a:gdLst>
              <a:gd name="T0" fmla="*/ 2147483647 w 106"/>
              <a:gd name="T1" fmla="*/ 2147483647 h 68"/>
              <a:gd name="T2" fmla="*/ 2147483647 w 106"/>
              <a:gd name="T3" fmla="*/ 2147483647 h 68"/>
              <a:gd name="T4" fmla="*/ 2147483647 w 106"/>
              <a:gd name="T5" fmla="*/ 2147483647 h 68"/>
              <a:gd name="T6" fmla="*/ 2147483647 w 106"/>
              <a:gd name="T7" fmla="*/ 2147483647 h 68"/>
              <a:gd name="T8" fmla="*/ 2147483647 w 106"/>
              <a:gd name="T9" fmla="*/ 2147483647 h 68"/>
              <a:gd name="T10" fmla="*/ 2147483647 w 106"/>
              <a:gd name="T11" fmla="*/ 2147483647 h 68"/>
              <a:gd name="T12" fmla="*/ 2147483647 w 106"/>
              <a:gd name="T13" fmla="*/ 2147483647 h 68"/>
              <a:gd name="T14" fmla="*/ 2147483647 w 106"/>
              <a:gd name="T15" fmla="*/ 2147483647 h 68"/>
              <a:gd name="T16" fmla="*/ 2147483647 w 106"/>
              <a:gd name="T17" fmla="*/ 2147483647 h 68"/>
              <a:gd name="T18" fmla="*/ 2147483647 w 106"/>
              <a:gd name="T19" fmla="*/ 2147483647 h 68"/>
              <a:gd name="T20" fmla="*/ 2147483647 w 106"/>
              <a:gd name="T21" fmla="*/ 0 h 68"/>
              <a:gd name="T22" fmla="*/ 2147483647 w 106"/>
              <a:gd name="T23" fmla="*/ 0 h 68"/>
              <a:gd name="T24" fmla="*/ 2147483647 w 106"/>
              <a:gd name="T25" fmla="*/ 2147483647 h 68"/>
              <a:gd name="T26" fmla="*/ 2147483647 w 106"/>
              <a:gd name="T27" fmla="*/ 2147483647 h 68"/>
              <a:gd name="T28" fmla="*/ 2147483647 w 106"/>
              <a:gd name="T29" fmla="*/ 2147483647 h 68"/>
              <a:gd name="T30" fmla="*/ 0 w 106"/>
              <a:gd name="T31" fmla="*/ 2147483647 h 68"/>
              <a:gd name="T32" fmla="*/ 0 w 106"/>
              <a:gd name="T33" fmla="*/ 2147483647 h 68"/>
              <a:gd name="T34" fmla="*/ 2147483647 w 106"/>
              <a:gd name="T35" fmla="*/ 2147483647 h 68"/>
              <a:gd name="T36" fmla="*/ 2147483647 w 106"/>
              <a:gd name="T37" fmla="*/ 2147483647 h 68"/>
              <a:gd name="T38" fmla="*/ 2147483647 w 106"/>
              <a:gd name="T39" fmla="*/ 2147483647 h 68"/>
              <a:gd name="T40" fmla="*/ 2147483647 w 106"/>
              <a:gd name="T41" fmla="*/ 2147483647 h 68"/>
              <a:gd name="T42" fmla="*/ 2147483647 w 106"/>
              <a:gd name="T43" fmla="*/ 2147483647 h 68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w 106"/>
              <a:gd name="T67" fmla="*/ 0 h 68"/>
              <a:gd name="T68" fmla="*/ 106 w 106"/>
              <a:gd name="T69" fmla="*/ 68 h 68"/>
            </a:gdLst>
            <a:ahLst/>
            <a:cxnLst>
              <a:cxn ang="T44">
                <a:pos x="T0" y="T1"/>
              </a:cxn>
              <a:cxn ang="T45">
                <a:pos x="T2" y="T3"/>
              </a:cxn>
              <a:cxn ang="T46">
                <a:pos x="T4" y="T5"/>
              </a:cxn>
              <a:cxn ang="T47">
                <a:pos x="T6" y="T7"/>
              </a:cxn>
              <a:cxn ang="T48">
                <a:pos x="T8" y="T9"/>
              </a:cxn>
              <a:cxn ang="T49">
                <a:pos x="T10" y="T11"/>
              </a:cxn>
              <a:cxn ang="T50">
                <a:pos x="T12" y="T13"/>
              </a:cxn>
              <a:cxn ang="T51">
                <a:pos x="T14" y="T15"/>
              </a:cxn>
              <a:cxn ang="T52">
                <a:pos x="T16" y="T17"/>
              </a:cxn>
              <a:cxn ang="T53">
                <a:pos x="T18" y="T19"/>
              </a:cxn>
              <a:cxn ang="T54">
                <a:pos x="T20" y="T21"/>
              </a:cxn>
              <a:cxn ang="T55">
                <a:pos x="T22" y="T23"/>
              </a:cxn>
              <a:cxn ang="T56">
                <a:pos x="T24" y="T25"/>
              </a:cxn>
              <a:cxn ang="T57">
                <a:pos x="T26" y="T27"/>
              </a:cxn>
              <a:cxn ang="T58">
                <a:pos x="T28" y="T29"/>
              </a:cxn>
              <a:cxn ang="T59">
                <a:pos x="T30" y="T31"/>
              </a:cxn>
              <a:cxn ang="T60">
                <a:pos x="T32" y="T33"/>
              </a:cxn>
              <a:cxn ang="T61">
                <a:pos x="T34" y="T35"/>
              </a:cxn>
              <a:cxn ang="T62">
                <a:pos x="T36" y="T37"/>
              </a:cxn>
              <a:cxn ang="T63">
                <a:pos x="T38" y="T39"/>
              </a:cxn>
              <a:cxn ang="T64">
                <a:pos x="T40" y="T41"/>
              </a:cxn>
              <a:cxn ang="T65">
                <a:pos x="T42" y="T43"/>
              </a:cxn>
            </a:cxnLst>
            <a:rect l="T66" t="T67" r="T68" b="T69"/>
            <a:pathLst>
              <a:path w="106" h="68">
                <a:moveTo>
                  <a:pt x="56" y="68"/>
                </a:moveTo>
                <a:lnTo>
                  <a:pt x="56" y="68"/>
                </a:lnTo>
                <a:lnTo>
                  <a:pt x="76" y="65"/>
                </a:lnTo>
                <a:lnTo>
                  <a:pt x="91" y="58"/>
                </a:lnTo>
                <a:lnTo>
                  <a:pt x="101" y="45"/>
                </a:lnTo>
                <a:lnTo>
                  <a:pt x="106" y="32"/>
                </a:lnTo>
                <a:lnTo>
                  <a:pt x="101" y="19"/>
                </a:lnTo>
                <a:lnTo>
                  <a:pt x="91" y="9"/>
                </a:lnTo>
                <a:lnTo>
                  <a:pt x="76" y="3"/>
                </a:lnTo>
                <a:lnTo>
                  <a:pt x="56" y="0"/>
                </a:lnTo>
                <a:lnTo>
                  <a:pt x="36" y="3"/>
                </a:lnTo>
                <a:lnTo>
                  <a:pt x="15" y="9"/>
                </a:lnTo>
                <a:lnTo>
                  <a:pt x="5" y="19"/>
                </a:lnTo>
                <a:lnTo>
                  <a:pt x="0" y="32"/>
                </a:lnTo>
                <a:lnTo>
                  <a:pt x="5" y="45"/>
                </a:lnTo>
                <a:lnTo>
                  <a:pt x="15" y="58"/>
                </a:lnTo>
                <a:lnTo>
                  <a:pt x="36" y="65"/>
                </a:lnTo>
                <a:lnTo>
                  <a:pt x="56" y="6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8" name="TextBox 197"/>
          <p:cNvSpPr txBox="1">
            <a:spLocks noChangeArrowheads="1"/>
          </p:cNvSpPr>
          <p:nvPr/>
        </p:nvSpPr>
        <p:spPr bwMode="auto">
          <a:xfrm>
            <a:off x="7113588" y="1271588"/>
            <a:ext cx="814387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/>
            <a:r>
              <a:rPr lang="en-US" sz="1600">
                <a:solidFill>
                  <a:srgbClr val="800080"/>
                </a:solidFill>
              </a:rPr>
              <a:t>Market</a:t>
            </a:r>
          </a:p>
          <a:p>
            <a:pPr algn="ctr"/>
            <a:r>
              <a:rPr lang="en-US" sz="1600">
                <a:solidFill>
                  <a:srgbClr val="800080"/>
                </a:solidFill>
              </a:rPr>
              <a:t>supply</a:t>
            </a:r>
          </a:p>
        </p:txBody>
      </p:sp>
    </p:spTree>
    <p:extLst>
      <p:ext uri="{BB962C8B-B14F-4D97-AF65-F5344CB8AC3E}">
        <p14:creationId xmlns:p14="http://schemas.microsoft.com/office/powerpoint/2010/main" val="16174596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3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3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3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4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5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 nodeType="afterGroup">
                            <p:stCondLst>
                              <p:cond delay="5500"/>
                            </p:stCondLst>
                            <p:childTnLst>
                              <p:par>
                                <p:cTn id="5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6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 nodeType="afterGroup">
                            <p:stCondLst>
                              <p:cond delay="6500"/>
                            </p:stCondLst>
                            <p:childTnLst>
                              <p:par>
                                <p:cTn id="6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 nodeType="afterGroup">
                            <p:stCondLst>
                              <p:cond delay="7000"/>
                            </p:stCondLst>
                            <p:childTnLst>
                              <p:par>
                                <p:cTn id="69" presetID="2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10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 nodeType="afterGroup">
                            <p:stCondLst>
                              <p:cond delay="8500"/>
                            </p:stCondLst>
                            <p:childTnLst>
                              <p:par>
                                <p:cTn id="7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 nodeType="afterGroup">
                            <p:stCondLst>
                              <p:cond delay="9000"/>
                            </p:stCondLst>
                            <p:childTnLst>
                              <p:par>
                                <p:cTn id="7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2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5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 nodeType="afterGroup">
                            <p:stCondLst>
                              <p:cond delay="9500"/>
                            </p:stCondLst>
                            <p:childTnLst>
                              <p:par>
                                <p:cTn id="8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 nodeType="afterGroup">
                            <p:stCondLst>
                              <p:cond delay="10000"/>
                            </p:stCondLst>
                            <p:childTnLst>
                              <p:par>
                                <p:cTn id="9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 nodeType="afterGroup">
                            <p:stCondLst>
                              <p:cond delay="10500"/>
                            </p:stCondLst>
                            <p:childTnLst>
                              <p:par>
                                <p:cTn id="9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 nodeType="afterGroup">
                            <p:stCondLst>
                              <p:cond delay="11000"/>
                            </p:stCondLst>
                            <p:childTnLst>
                              <p:par>
                                <p:cTn id="9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1" dur="500"/>
                                        <p:tgtEl>
                                          <p:spTgt spid="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76" grpId="0" animBg="1"/>
      <p:bldP spid="77" grpId="0"/>
      <p:bldP spid="78" grpId="0" animBg="1"/>
      <p:bldP spid="132" grpId="0" animBg="1"/>
      <p:bldP spid="133" grpId="0"/>
      <p:bldP spid="134" grpId="0"/>
      <p:bldP spid="135" grpId="0"/>
      <p:bldP spid="136" grpId="0" animBg="1"/>
      <p:bldP spid="197" grpId="0" animBg="1"/>
      <p:bldP spid="19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/>
              <a:t>Supply determinants/ deciding factors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Price of the product</a:t>
            </a:r>
          </a:p>
          <a:p>
            <a:r>
              <a:rPr lang="en-US" dirty="0"/>
              <a:t>Production Technology</a:t>
            </a:r>
          </a:p>
          <a:p>
            <a:r>
              <a:rPr lang="en-US" dirty="0"/>
              <a:t>Price of the production factors</a:t>
            </a:r>
          </a:p>
          <a:p>
            <a:r>
              <a:rPr lang="en-US" dirty="0"/>
              <a:t>Price of other products (production substitutes)</a:t>
            </a:r>
          </a:p>
          <a:p>
            <a:r>
              <a:rPr lang="en-US" dirty="0"/>
              <a:t>Objective of the firm</a:t>
            </a:r>
          </a:p>
          <a:p>
            <a:r>
              <a:rPr lang="en-US" dirty="0"/>
              <a:t>Number of Producers or firms</a:t>
            </a:r>
          </a:p>
          <a:p>
            <a:r>
              <a:rPr lang="en-US" dirty="0"/>
              <a:t>Future price expectations</a:t>
            </a:r>
          </a:p>
          <a:p>
            <a:r>
              <a:rPr lang="en-US" dirty="0"/>
              <a:t>Taxes and subsidies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9A8CB09-BFC8-4462-8854-DA283BB8071B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65449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dirty="0"/>
              <a:t>Law of Supply</a:t>
            </a:r>
            <a:endParaRPr lang="en-US" b="1" dirty="0"/>
          </a:p>
        </p:txBody>
      </p:sp>
      <p:sp>
        <p:nvSpPr>
          <p:cNvPr id="3379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endParaRPr lang="en-US" altLang="en-US" dirty="0"/>
          </a:p>
          <a:p>
            <a:pPr algn="just"/>
            <a:r>
              <a:rPr lang="en-US" altLang="en-US" sz="2800" dirty="0"/>
              <a:t>The </a:t>
            </a:r>
            <a:r>
              <a:rPr lang="en-US" altLang="en-US" sz="2800" i="1" dirty="0">
                <a:solidFill>
                  <a:srgbClr val="25A9A6"/>
                </a:solidFill>
              </a:rPr>
              <a:t>law of supply</a:t>
            </a:r>
            <a:r>
              <a:rPr lang="en-US" altLang="en-US" sz="2800" dirty="0"/>
              <a:t> states that, </a:t>
            </a:r>
            <a:r>
              <a:rPr lang="en-US" altLang="en-US" sz="2800" b="1" dirty="0"/>
              <a:t>the quantity supplied of a good rises when the price of the good rises</a:t>
            </a:r>
            <a:r>
              <a:rPr lang="en-US" altLang="en-US" sz="2800" dirty="0"/>
              <a:t>, as long as </a:t>
            </a:r>
            <a:r>
              <a:rPr lang="en-US" altLang="en-US" sz="2800" dirty="0">
                <a:solidFill>
                  <a:srgbClr val="FF0000"/>
                </a:solidFill>
              </a:rPr>
              <a:t>all other factors </a:t>
            </a:r>
            <a:r>
              <a:rPr lang="en-US" altLang="en-US" sz="2800" dirty="0"/>
              <a:t>that affect suppliers’ decisions are unchanged.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198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69BCA1F-2FD2-4912-AEC3-824378A8D522}" type="slidenum">
              <a:rPr lang="en-US"/>
              <a:pPr>
                <a:defRPr/>
              </a:pPr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58325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0" name="Rectangle 2"/>
          <p:cNvSpPr>
            <a:spLocks noGrp="1" noChangeArrowheads="1"/>
          </p:cNvSpPr>
          <p:nvPr>
            <p:ph type="title"/>
          </p:nvPr>
        </p:nvSpPr>
        <p:spPr>
          <a:xfrm>
            <a:off x="739775" y="49834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Law of Supply—</a:t>
            </a:r>
            <a:br>
              <a:rPr lang="en-US" b="1" dirty="0"/>
            </a:br>
            <a:r>
              <a:rPr lang="en-US" b="1" dirty="0"/>
              <a:t>Explanation </a:t>
            </a:r>
          </a:p>
        </p:txBody>
      </p:sp>
      <p:sp>
        <p:nvSpPr>
          <p:cNvPr id="60518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23755" y="1192834"/>
            <a:ext cx="4275138" cy="2496516"/>
          </a:xfrm>
        </p:spPr>
        <p:txBody>
          <a:bodyPr>
            <a:normAutofit lnSpcReduction="10000"/>
          </a:bodyPr>
          <a:lstStyle/>
          <a:p>
            <a:pPr algn="just">
              <a:lnSpc>
                <a:spcPct val="90000"/>
              </a:lnSpc>
            </a:pPr>
            <a:r>
              <a:rPr lang="en-US" sz="2400" dirty="0"/>
              <a:t>How can we make sense of the numbers in </a:t>
            </a:r>
            <a:r>
              <a:rPr lang="en-US" sz="2400" dirty="0" err="1"/>
              <a:t>Amal’s</a:t>
            </a:r>
            <a:r>
              <a:rPr lang="en-US" sz="2400" dirty="0"/>
              <a:t> supply schedule?</a:t>
            </a:r>
          </a:p>
          <a:p>
            <a:pPr algn="just">
              <a:lnSpc>
                <a:spcPct val="90000"/>
              </a:lnSpc>
            </a:pPr>
            <a:r>
              <a:rPr lang="en-US" sz="2400" dirty="0"/>
              <a:t>The best guess is that his costs must be something like the cost schedule below.</a:t>
            </a:r>
          </a:p>
        </p:txBody>
      </p:sp>
      <p:graphicFrame>
        <p:nvGraphicFramePr>
          <p:cNvPr id="605191" name="Group 7"/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656078896"/>
              </p:ext>
            </p:extLst>
          </p:nvPr>
        </p:nvGraphicFramePr>
        <p:xfrm>
          <a:off x="812800" y="3652838"/>
          <a:ext cx="3549650" cy="3078410"/>
        </p:xfrm>
        <a:graphic>
          <a:graphicData uri="http://schemas.openxmlformats.org/drawingml/2006/table">
            <a:tbl>
              <a:tblPr/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92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0096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 specific ice-cream cone</a:t>
                      </a:r>
                    </a:p>
                  </a:txBody>
                  <a:tcPr marT="45715" marB="4571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It’s cost ($)</a:t>
                      </a: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19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  <a:r>
                        <a:rPr kumimoji="0" lang="en-US" sz="2000" b="0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st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</a:t>
                      </a:r>
                    </a:p>
                  </a:txBody>
                  <a:tcPr marT="45715" marB="4571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0.75</a:t>
                      </a: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19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  <a:r>
                        <a:rPr kumimoji="0" lang="en-US" sz="2000" b="0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nd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</a:t>
                      </a:r>
                    </a:p>
                  </a:txBody>
                  <a:tcPr marT="45715" marB="4571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1.35</a:t>
                      </a: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19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  <a:r>
                        <a:rPr kumimoji="0" lang="en-US" sz="2000" b="0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rd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</a:t>
                      </a:r>
                    </a:p>
                  </a:txBody>
                  <a:tcPr marT="45715" marB="4571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1.75</a:t>
                      </a: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19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</a:t>
                      </a:r>
                      <a:r>
                        <a:rPr kumimoji="0" lang="en-US" sz="2000" b="0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th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</a:t>
                      </a:r>
                    </a:p>
                  </a:txBody>
                  <a:tcPr marT="45715" marB="4571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2.30</a:t>
                      </a: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619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</a:t>
                      </a:r>
                      <a:r>
                        <a:rPr kumimoji="0" lang="en-US" sz="2000" b="0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th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</a:t>
                      </a:r>
                    </a:p>
                  </a:txBody>
                  <a:tcPr marT="45715" marB="4571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2.85</a:t>
                      </a: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619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6</a:t>
                      </a:r>
                      <a:r>
                        <a:rPr kumimoji="0" lang="en-US" sz="2000" b="0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th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</a:t>
                      </a:r>
                    </a:p>
                  </a:txBody>
                  <a:tcPr marT="45715" marB="4571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3.10</a:t>
                      </a: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4035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81CAB63-B37A-47AE-99EC-716D73E15100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  <p:sp>
        <p:nvSpPr>
          <p:cNvPr id="605217" name="Text Box 33"/>
          <p:cNvSpPr txBox="1">
            <a:spLocks noChangeArrowheads="1"/>
          </p:cNvSpPr>
          <p:nvPr/>
        </p:nvSpPr>
        <p:spPr bwMode="auto">
          <a:xfrm>
            <a:off x="5326063" y="4732338"/>
            <a:ext cx="3643312" cy="1190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0" hangingPunct="0">
              <a:spcBef>
                <a:spcPct val="50000"/>
              </a:spcBef>
            </a:pPr>
            <a:r>
              <a:rPr lang="en-US" b="1">
                <a:solidFill>
                  <a:schemeClr val="accent2"/>
                </a:solidFill>
              </a:rPr>
              <a:t>In this way, the Law of Supply follows from the assumption of Increasing Costs (or, Diminishing Returns)</a:t>
            </a:r>
          </a:p>
        </p:txBody>
      </p:sp>
      <p:pic>
        <p:nvPicPr>
          <p:cNvPr id="34849" name="Picture 7241411" descr="S27Picture 7241411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45012" y="1606343"/>
            <a:ext cx="4424363" cy="3079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6496288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51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51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5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605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5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605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5187" grpId="0" build="p"/>
      <p:bldP spid="605217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Supply Shift</a:t>
            </a:r>
          </a:p>
        </p:txBody>
      </p:sp>
      <p:sp>
        <p:nvSpPr>
          <p:cNvPr id="60723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231775" y="1376363"/>
            <a:ext cx="4114800" cy="1065212"/>
          </a:xfrm>
        </p:spPr>
        <p:txBody>
          <a:bodyPr>
            <a:normAutofit/>
          </a:bodyPr>
          <a:lstStyle/>
          <a:p>
            <a:r>
              <a:rPr lang="en-US" sz="2800" dirty="0"/>
              <a:t>How could  supply have increased?</a:t>
            </a:r>
          </a:p>
        </p:txBody>
      </p:sp>
      <p:graphicFrame>
        <p:nvGraphicFramePr>
          <p:cNvPr id="607236" name="Group 4"/>
          <p:cNvGraphicFramePr>
            <a:graphicFrameLocks noGrp="1"/>
          </p:cNvGraphicFramePr>
          <p:nvPr>
            <p:ph sz="quarter" idx="2"/>
            <p:extLst>
              <p:ext uri="{D42A27DB-BD31-4B8C-83A1-F6EECF244321}">
                <p14:modId xmlns:p14="http://schemas.microsoft.com/office/powerpoint/2010/main" val="1009888802"/>
              </p:ext>
            </p:extLst>
          </p:nvPr>
        </p:nvGraphicFramePr>
        <p:xfrm>
          <a:off x="4605338" y="1371600"/>
          <a:ext cx="4038600" cy="3657600"/>
        </p:xfrm>
        <a:graphic>
          <a:graphicData uri="http://schemas.openxmlformats.org/drawingml/2006/table">
            <a:tbl>
              <a:tblPr/>
              <a:tblGrid>
                <a:gridCol w="1470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49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80975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Supply Schedule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Price ($)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Quantity Supplied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Before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After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0.00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0.50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1.00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1.50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2.00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2.50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3.00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aphicFrame>
        <p:nvGraphicFramePr>
          <p:cNvPr id="607279" name="Group 47"/>
          <p:cNvGraphicFramePr>
            <a:graphicFrameLocks noGrp="1"/>
          </p:cNvGraphicFramePr>
          <p:nvPr>
            <p:ph sz="quarter" idx="3"/>
          </p:nvPr>
        </p:nvGraphicFramePr>
        <p:xfrm>
          <a:off x="228600" y="3048000"/>
          <a:ext cx="4114800" cy="3200400"/>
        </p:xfrm>
        <a:graphic>
          <a:graphicData uri="http://schemas.openxmlformats.org/drawingml/2006/table">
            <a:tbl>
              <a:tblPr/>
              <a:tblGrid>
                <a:gridCol w="14970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430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47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809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Ice-cream cone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It’s cost ($)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Before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After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  <a:r>
                        <a:rPr kumimoji="0" lang="en-US" sz="1800" b="0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st</a:t>
                      </a: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0.75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0.45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  <a:r>
                        <a:rPr kumimoji="0" lang="en-US" sz="1800" b="0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nd</a:t>
                      </a: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1.35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0.85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  <a:r>
                        <a:rPr kumimoji="0" lang="en-US" sz="1800" b="0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rd</a:t>
                      </a: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1.75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1.45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</a:t>
                      </a:r>
                      <a:r>
                        <a:rPr kumimoji="0" lang="en-US" sz="1800" b="0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th</a:t>
                      </a: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2.30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1.95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</a:t>
                      </a:r>
                      <a:r>
                        <a:rPr kumimoji="0" lang="en-US" sz="1800" b="0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th</a:t>
                      </a: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2.85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2.45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6</a:t>
                      </a:r>
                      <a:r>
                        <a:rPr kumimoji="0" lang="en-US" sz="1800" b="0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th</a:t>
                      </a: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3.10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2.90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1203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6F62507-E73D-4029-8479-09CBD7E0DFF0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  <p:sp>
        <p:nvSpPr>
          <p:cNvPr id="607316" name="Text Box 84"/>
          <p:cNvSpPr txBox="1">
            <a:spLocks noChangeArrowheads="1"/>
          </p:cNvSpPr>
          <p:nvPr/>
        </p:nvSpPr>
        <p:spPr bwMode="auto">
          <a:xfrm>
            <a:off x="4572000" y="5334000"/>
            <a:ext cx="2819400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0" hangingPunct="0">
              <a:spcBef>
                <a:spcPct val="50000"/>
              </a:spcBef>
            </a:pPr>
            <a:r>
              <a:rPr lang="en-US" sz="2000" b="1">
                <a:solidFill>
                  <a:schemeClr val="accent2"/>
                </a:solidFill>
              </a:rPr>
              <a:t>Anything that reduces production costs, shifts supply to the right.</a:t>
            </a:r>
          </a:p>
        </p:txBody>
      </p:sp>
      <p:cxnSp>
        <p:nvCxnSpPr>
          <p:cNvPr id="10" name="Straight Arrow Connector 9"/>
          <p:cNvCxnSpPr/>
          <p:nvPr/>
        </p:nvCxnSpPr>
        <p:spPr>
          <a:xfrm rot="5400000">
            <a:off x="6743701" y="5753100"/>
            <a:ext cx="1143000" cy="3175"/>
          </a:xfrm>
          <a:prstGeom prst="straightConnector1">
            <a:avLst/>
          </a:prstGeom>
          <a:ln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>
            <a:off x="7315200" y="6324600"/>
            <a:ext cx="15240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 rot="5400000">
            <a:off x="7467600" y="5410200"/>
            <a:ext cx="838200" cy="533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 rot="5400000">
            <a:off x="7924800" y="5410200"/>
            <a:ext cx="838200" cy="533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>
            <a:off x="8001000" y="5638800"/>
            <a:ext cx="3048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2697404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7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07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72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7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6072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7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7235" grpId="0" build="p"/>
      <p:bldP spid="60731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5"/>
          <p:cNvSpPr>
            <a:spLocks noGrp="1" noChangeArrowheads="1"/>
          </p:cNvSpPr>
          <p:nvPr>
            <p:ph type="title"/>
          </p:nvPr>
        </p:nvSpPr>
        <p:spPr>
          <a:xfrm>
            <a:off x="2454634" y="154771"/>
            <a:ext cx="6377940" cy="1293028"/>
          </a:xfrm>
        </p:spPr>
        <p:txBody>
          <a:bodyPr/>
          <a:lstStyle/>
          <a:p>
            <a:r>
              <a:rPr lang="en-US" altLang="en-US" b="1" dirty="0"/>
              <a:t>Shifts in the Supply Curve</a:t>
            </a:r>
            <a:r>
              <a:rPr lang="en-US" altLang="en-US" b="1" dirty="0">
                <a:cs typeface="Arial" charset="0"/>
              </a:rPr>
              <a:t>…</a:t>
            </a:r>
            <a:r>
              <a:rPr lang="en-US" altLang="en-US" b="1" dirty="0"/>
              <a:t> </a:t>
            </a:r>
          </a:p>
        </p:txBody>
      </p:sp>
      <p:sp>
        <p:nvSpPr>
          <p:cNvPr id="449542" name="Rectangle 6"/>
          <p:cNvSpPr>
            <a:spLocks noGrp="1" noChangeArrowheads="1"/>
          </p:cNvSpPr>
          <p:nvPr>
            <p:ph idx="1"/>
          </p:nvPr>
        </p:nvSpPr>
        <p:spPr>
          <a:xfrm>
            <a:off x="457200" y="1600200"/>
            <a:ext cx="8305800" cy="4525963"/>
          </a:xfrm>
        </p:spPr>
        <p:txBody>
          <a:bodyPr/>
          <a:lstStyle/>
          <a:p>
            <a:r>
              <a:rPr lang="en-US" altLang="en-US" dirty="0">
                <a:cs typeface="Arial" charset="0"/>
              </a:rPr>
              <a:t>… are caused by changes in</a:t>
            </a:r>
            <a:endParaRPr lang="en-US" altLang="en-US" dirty="0"/>
          </a:p>
          <a:p>
            <a:pPr lvl="1"/>
            <a:r>
              <a:rPr lang="en-US" altLang="en-US" dirty="0"/>
              <a:t>Input prices</a:t>
            </a:r>
          </a:p>
          <a:p>
            <a:pPr lvl="1"/>
            <a:r>
              <a:rPr lang="en-US" altLang="en-US" dirty="0"/>
              <a:t>Technology</a:t>
            </a:r>
          </a:p>
          <a:p>
            <a:pPr lvl="1"/>
            <a:r>
              <a:rPr lang="en-US" altLang="en-US" dirty="0"/>
              <a:t>Number of sellers (short run)</a:t>
            </a:r>
          </a:p>
          <a:p>
            <a:r>
              <a:rPr lang="en-US" altLang="en-US" dirty="0"/>
              <a:t>The market supply will shift right if</a:t>
            </a:r>
          </a:p>
          <a:p>
            <a:pPr lvl="1"/>
            <a:r>
              <a:rPr lang="en-US" altLang="en-US" dirty="0"/>
              <a:t>Raw materials or labor becomes cheaper</a:t>
            </a:r>
          </a:p>
          <a:p>
            <a:pPr lvl="1"/>
            <a:r>
              <a:rPr lang="en-US" altLang="en-US" dirty="0"/>
              <a:t>The technology becomes more efficient</a:t>
            </a:r>
          </a:p>
          <a:p>
            <a:pPr lvl="1"/>
            <a:r>
              <a:rPr lang="en-US" altLang="en-US" dirty="0"/>
              <a:t>Number of sellers increases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736D0F8-5399-4144-B125-F114D9C6F34E}" type="slidenum">
              <a:rPr lang="en-US"/>
              <a:pPr>
                <a:defRPr/>
              </a:pPr>
              <a:t>11</a:t>
            </a:fld>
            <a:endParaRPr lang="en-US"/>
          </a:p>
        </p:txBody>
      </p:sp>
      <p:cxnSp>
        <p:nvCxnSpPr>
          <p:cNvPr id="7" name="Straight Arrow Connector 6"/>
          <p:cNvCxnSpPr/>
          <p:nvPr/>
        </p:nvCxnSpPr>
        <p:spPr>
          <a:xfrm rot="5400000">
            <a:off x="6743701" y="2246312"/>
            <a:ext cx="1143000" cy="3175"/>
          </a:xfrm>
          <a:prstGeom prst="straightConnector1">
            <a:avLst/>
          </a:prstGeom>
          <a:ln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>
            <a:off x="7315200" y="2817813"/>
            <a:ext cx="1524000" cy="317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 rot="5400000">
            <a:off x="7467600" y="1903413"/>
            <a:ext cx="838200" cy="533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 rot="5400000">
            <a:off x="7924800" y="1903413"/>
            <a:ext cx="838200" cy="533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>
            <a:off x="8001000" y="2132013"/>
            <a:ext cx="304800" cy="317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6860067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5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495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495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5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4495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495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5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4495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495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54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44954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4954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54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44954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4954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54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44954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4954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54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4954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4954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54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44954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4954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9542" grpId="0" build="p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3"/>
          <p:cNvSpPr>
            <a:spLocks noGrp="1" noChangeArrowheads="1"/>
          </p:cNvSpPr>
          <p:nvPr>
            <p:ph type="title"/>
          </p:nvPr>
        </p:nvSpPr>
        <p:spPr>
          <a:xfrm>
            <a:off x="606425" y="346075"/>
            <a:ext cx="8080375" cy="796925"/>
          </a:xfrm>
        </p:spPr>
        <p:txBody>
          <a:bodyPr>
            <a:normAutofit fontScale="90000"/>
          </a:bodyPr>
          <a:lstStyle/>
          <a:p>
            <a:pPr>
              <a:lnSpc>
                <a:spcPct val="80000"/>
              </a:lnSpc>
            </a:pPr>
            <a:r>
              <a:rPr lang="en-US" sz="3200" b="1" dirty="0"/>
              <a:t>Shifts in the Supply Curve: </a:t>
            </a:r>
            <a:br>
              <a:rPr lang="en-US" sz="3200" b="1" dirty="0"/>
            </a:br>
            <a:r>
              <a:rPr lang="en-US" sz="3200" b="1" dirty="0"/>
              <a:t>What causes them?</a:t>
            </a:r>
          </a:p>
        </p:txBody>
      </p:sp>
      <p:sp>
        <p:nvSpPr>
          <p:cNvPr id="40" name="Slide Number Placeholder 3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84F179D-0D2E-485F-8CD0-8A89A971199A}" type="slidenum">
              <a:rPr lang="en-US"/>
              <a:pPr>
                <a:defRPr/>
              </a:pPr>
              <a:t>12</a:t>
            </a:fld>
            <a:endParaRPr lang="en-US"/>
          </a:p>
        </p:txBody>
      </p:sp>
      <p:sp>
        <p:nvSpPr>
          <p:cNvPr id="35843" name="Freeform 17"/>
          <p:cNvSpPr>
            <a:spLocks/>
          </p:cNvSpPr>
          <p:nvPr/>
        </p:nvSpPr>
        <p:spPr bwMode="auto">
          <a:xfrm>
            <a:off x="1462088" y="1112838"/>
            <a:ext cx="7027862" cy="4806950"/>
          </a:xfrm>
          <a:custGeom>
            <a:avLst/>
            <a:gdLst>
              <a:gd name="T0" fmla="*/ 0 w 4427"/>
              <a:gd name="T1" fmla="*/ 0 h 3028"/>
              <a:gd name="T2" fmla="*/ 0 w 4427"/>
              <a:gd name="T3" fmla="*/ 2147483647 h 3028"/>
              <a:gd name="T4" fmla="*/ 2147483647 w 4427"/>
              <a:gd name="T5" fmla="*/ 2147483647 h 3028"/>
              <a:gd name="T6" fmla="*/ 0 60000 65536"/>
              <a:gd name="T7" fmla="*/ 0 60000 65536"/>
              <a:gd name="T8" fmla="*/ 0 60000 65536"/>
              <a:gd name="T9" fmla="*/ 0 w 4427"/>
              <a:gd name="T10" fmla="*/ 0 h 3028"/>
              <a:gd name="T11" fmla="*/ 4427 w 4427"/>
              <a:gd name="T12" fmla="*/ 3028 h 302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427" h="3028">
                <a:moveTo>
                  <a:pt x="0" y="0"/>
                </a:moveTo>
                <a:lnTo>
                  <a:pt x="0" y="3028"/>
                </a:lnTo>
                <a:lnTo>
                  <a:pt x="4427" y="3028"/>
                </a:lnTo>
              </a:path>
            </a:pathLst>
          </a:custGeom>
          <a:noFill/>
          <a:ln w="222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43762" name="Line 18"/>
          <p:cNvSpPr>
            <a:spLocks noChangeShapeType="1"/>
          </p:cNvSpPr>
          <p:nvPr/>
        </p:nvSpPr>
        <p:spPr bwMode="auto">
          <a:xfrm flipV="1">
            <a:off x="3290888" y="2105025"/>
            <a:ext cx="3282950" cy="3152775"/>
          </a:xfrm>
          <a:prstGeom prst="line">
            <a:avLst/>
          </a:prstGeom>
          <a:noFill/>
          <a:ln w="66675">
            <a:solidFill>
              <a:srgbClr val="004C9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43763" name="Line 19"/>
          <p:cNvSpPr>
            <a:spLocks noChangeShapeType="1"/>
          </p:cNvSpPr>
          <p:nvPr/>
        </p:nvSpPr>
        <p:spPr bwMode="auto">
          <a:xfrm flipH="1">
            <a:off x="3643313" y="3052763"/>
            <a:ext cx="1851025" cy="1587"/>
          </a:xfrm>
          <a:prstGeom prst="line">
            <a:avLst/>
          </a:prstGeom>
          <a:noFill/>
          <a:ln w="22225">
            <a:solidFill>
              <a:srgbClr val="000000"/>
            </a:solidFill>
            <a:round/>
            <a:headEnd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43764" name="Line 20"/>
          <p:cNvSpPr>
            <a:spLocks noChangeShapeType="1"/>
          </p:cNvSpPr>
          <p:nvPr/>
        </p:nvSpPr>
        <p:spPr bwMode="auto">
          <a:xfrm flipH="1">
            <a:off x="4603750" y="4111625"/>
            <a:ext cx="1871663" cy="1588"/>
          </a:xfrm>
          <a:prstGeom prst="line">
            <a:avLst/>
          </a:prstGeom>
          <a:noFill/>
          <a:ln w="22225">
            <a:solidFill>
              <a:srgbClr val="000000"/>
            </a:solidFill>
            <a:round/>
            <a:headEnd type="stealth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847" name="Rectangle 21"/>
          <p:cNvSpPr>
            <a:spLocks noChangeArrowheads="1"/>
          </p:cNvSpPr>
          <p:nvPr/>
        </p:nvSpPr>
        <p:spPr bwMode="auto">
          <a:xfrm>
            <a:off x="477838" y="1135063"/>
            <a:ext cx="995362" cy="331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eaLnBrk="0" hangingPunct="0"/>
            <a:r>
              <a:rPr lang="en-US" sz="1900" b="1">
                <a:solidFill>
                  <a:srgbClr val="000000"/>
                </a:solidFill>
                <a:latin typeface="Calibri" pitchFamily="34" charset="0"/>
              </a:rPr>
              <a:t>Price of</a:t>
            </a:r>
            <a:endParaRPr lang="en-US" sz="2400">
              <a:latin typeface="Times New Roman" pitchFamily="18" charset="0"/>
            </a:endParaRPr>
          </a:p>
        </p:txBody>
      </p:sp>
      <p:sp>
        <p:nvSpPr>
          <p:cNvPr id="35848" name="Rectangle 22"/>
          <p:cNvSpPr>
            <a:spLocks noChangeArrowheads="1"/>
          </p:cNvSpPr>
          <p:nvPr/>
        </p:nvSpPr>
        <p:spPr bwMode="auto">
          <a:xfrm>
            <a:off x="204788" y="1430338"/>
            <a:ext cx="1284287" cy="331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eaLnBrk="0" hangingPunct="0"/>
            <a:r>
              <a:rPr lang="en-US" sz="1900" b="1">
                <a:solidFill>
                  <a:srgbClr val="000000"/>
                </a:solidFill>
                <a:latin typeface="Calibri" pitchFamily="34" charset="0"/>
              </a:rPr>
              <a:t>Ice-Cream</a:t>
            </a:r>
            <a:endParaRPr lang="en-US" sz="2400">
              <a:latin typeface="Times New Roman" pitchFamily="18" charset="0"/>
            </a:endParaRPr>
          </a:p>
        </p:txBody>
      </p:sp>
      <p:sp>
        <p:nvSpPr>
          <p:cNvPr id="35849" name="Rectangle 23"/>
          <p:cNvSpPr>
            <a:spLocks noChangeArrowheads="1"/>
          </p:cNvSpPr>
          <p:nvPr/>
        </p:nvSpPr>
        <p:spPr bwMode="auto">
          <a:xfrm>
            <a:off x="750888" y="1725613"/>
            <a:ext cx="723900" cy="331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eaLnBrk="0" hangingPunct="0"/>
            <a:r>
              <a:rPr lang="en-US" sz="1900" b="1">
                <a:solidFill>
                  <a:srgbClr val="000000"/>
                </a:solidFill>
                <a:latin typeface="Calibri" pitchFamily="34" charset="0"/>
              </a:rPr>
              <a:t>Cone</a:t>
            </a:r>
            <a:endParaRPr lang="en-US" sz="2400">
              <a:latin typeface="Times New Roman" pitchFamily="18" charset="0"/>
            </a:endParaRPr>
          </a:p>
        </p:txBody>
      </p:sp>
      <p:sp>
        <p:nvSpPr>
          <p:cNvPr id="35850" name="Rectangle 24"/>
          <p:cNvSpPr>
            <a:spLocks noChangeArrowheads="1"/>
          </p:cNvSpPr>
          <p:nvPr/>
        </p:nvSpPr>
        <p:spPr bwMode="auto">
          <a:xfrm>
            <a:off x="7265988" y="6005513"/>
            <a:ext cx="1393825" cy="331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eaLnBrk="0" hangingPunct="0"/>
            <a:r>
              <a:rPr lang="en-US" sz="1900" b="1">
                <a:solidFill>
                  <a:srgbClr val="000000"/>
                </a:solidFill>
                <a:latin typeface="Calibri" pitchFamily="34" charset="0"/>
              </a:rPr>
              <a:t>Quantity of</a:t>
            </a:r>
            <a:endParaRPr lang="en-US" sz="2400">
              <a:latin typeface="Times New Roman" pitchFamily="18" charset="0"/>
            </a:endParaRPr>
          </a:p>
        </p:txBody>
      </p:sp>
      <p:sp>
        <p:nvSpPr>
          <p:cNvPr id="35851" name="Rectangle 25"/>
          <p:cNvSpPr>
            <a:spLocks noChangeArrowheads="1"/>
          </p:cNvSpPr>
          <p:nvPr/>
        </p:nvSpPr>
        <p:spPr bwMode="auto">
          <a:xfrm>
            <a:off x="6580188" y="6300788"/>
            <a:ext cx="2087562" cy="331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eaLnBrk="0" hangingPunct="0"/>
            <a:r>
              <a:rPr lang="en-US" sz="1900" b="1">
                <a:solidFill>
                  <a:srgbClr val="000000"/>
                </a:solidFill>
                <a:latin typeface="Calibri" pitchFamily="34" charset="0"/>
              </a:rPr>
              <a:t>Ice-Cream Cones</a:t>
            </a:r>
            <a:endParaRPr lang="en-US" sz="2400">
              <a:latin typeface="Times New Roman" pitchFamily="18" charset="0"/>
            </a:endParaRPr>
          </a:p>
        </p:txBody>
      </p:sp>
      <p:sp>
        <p:nvSpPr>
          <p:cNvPr id="35852" name="Rectangle 26"/>
          <p:cNvSpPr>
            <a:spLocks noChangeArrowheads="1"/>
          </p:cNvSpPr>
          <p:nvPr/>
        </p:nvSpPr>
        <p:spPr bwMode="auto">
          <a:xfrm>
            <a:off x="1414463" y="6011863"/>
            <a:ext cx="242887" cy="331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eaLnBrk="0" hangingPunct="0"/>
            <a:r>
              <a:rPr lang="en-US" sz="1900">
                <a:solidFill>
                  <a:srgbClr val="000000"/>
                </a:solidFill>
                <a:latin typeface="Calibri" pitchFamily="34" charset="0"/>
              </a:rPr>
              <a:t>0</a:t>
            </a:r>
            <a:endParaRPr lang="en-US" sz="2400">
              <a:latin typeface="Times New Roman" pitchFamily="18" charset="0"/>
            </a:endParaRPr>
          </a:p>
        </p:txBody>
      </p:sp>
      <p:grpSp>
        <p:nvGrpSpPr>
          <p:cNvPr id="2" name="Group 27"/>
          <p:cNvGrpSpPr>
            <a:grpSpLocks/>
          </p:cNvGrpSpPr>
          <p:nvPr/>
        </p:nvGrpSpPr>
        <p:grpSpPr bwMode="auto">
          <a:xfrm>
            <a:off x="4610100" y="4200525"/>
            <a:ext cx="1079500" cy="660400"/>
            <a:chOff x="3016" y="2646"/>
            <a:chExt cx="680" cy="416"/>
          </a:xfrm>
        </p:grpSpPr>
        <p:sp>
          <p:nvSpPr>
            <p:cNvPr id="35879" name="Rectangle 28"/>
            <p:cNvSpPr>
              <a:spLocks noChangeArrowheads="1"/>
            </p:cNvSpPr>
            <p:nvPr/>
          </p:nvSpPr>
          <p:spPr bwMode="auto">
            <a:xfrm>
              <a:off x="3016" y="2646"/>
              <a:ext cx="680" cy="416"/>
            </a:xfrm>
            <a:prstGeom prst="rect">
              <a:avLst/>
            </a:prstGeom>
            <a:solidFill>
              <a:srgbClr val="E1E5E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>
                <a:latin typeface="Calibri" pitchFamily="34" charset="0"/>
              </a:endParaRPr>
            </a:p>
          </p:txBody>
        </p:sp>
        <p:sp>
          <p:nvSpPr>
            <p:cNvPr id="35880" name="Rectangle 29"/>
            <p:cNvSpPr>
              <a:spLocks noChangeArrowheads="1"/>
            </p:cNvSpPr>
            <p:nvPr/>
          </p:nvSpPr>
          <p:spPr bwMode="auto">
            <a:xfrm>
              <a:off x="3062" y="2675"/>
              <a:ext cx="585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0" hangingPunct="0"/>
              <a:r>
                <a:rPr lang="en-US" sz="1900">
                  <a:solidFill>
                    <a:srgbClr val="000000"/>
                  </a:solidFill>
                  <a:latin typeface="Calibri" pitchFamily="34" charset="0"/>
                </a:rPr>
                <a:t>Increase</a:t>
              </a:r>
              <a:endParaRPr lang="en-US" sz="2400">
                <a:latin typeface="Times New Roman" pitchFamily="18" charset="0"/>
              </a:endParaRPr>
            </a:p>
          </p:txBody>
        </p:sp>
        <p:sp>
          <p:nvSpPr>
            <p:cNvPr id="35881" name="Rectangle 30"/>
            <p:cNvSpPr>
              <a:spLocks noChangeArrowheads="1"/>
            </p:cNvSpPr>
            <p:nvPr/>
          </p:nvSpPr>
          <p:spPr bwMode="auto">
            <a:xfrm>
              <a:off x="3058" y="2861"/>
              <a:ext cx="602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0" hangingPunct="0"/>
              <a:r>
                <a:rPr lang="en-US" sz="1900">
                  <a:solidFill>
                    <a:srgbClr val="000000"/>
                  </a:solidFill>
                  <a:latin typeface="Calibri" pitchFamily="34" charset="0"/>
                </a:rPr>
                <a:t>in supply</a:t>
              </a:r>
              <a:endParaRPr lang="en-US" sz="2400">
                <a:latin typeface="Times New Roman" pitchFamily="18" charset="0"/>
              </a:endParaRPr>
            </a:p>
          </p:txBody>
        </p:sp>
      </p:grpSp>
      <p:grpSp>
        <p:nvGrpSpPr>
          <p:cNvPr id="3" name="Group 31"/>
          <p:cNvGrpSpPr>
            <a:grpSpLocks/>
          </p:cNvGrpSpPr>
          <p:nvPr/>
        </p:nvGrpSpPr>
        <p:grpSpPr bwMode="auto">
          <a:xfrm>
            <a:off x="4327525" y="2335213"/>
            <a:ext cx="1122363" cy="660400"/>
            <a:chOff x="2642" y="1507"/>
            <a:chExt cx="707" cy="416"/>
          </a:xfrm>
        </p:grpSpPr>
        <p:sp>
          <p:nvSpPr>
            <p:cNvPr id="35876" name="Rectangle 32"/>
            <p:cNvSpPr>
              <a:spLocks noChangeArrowheads="1"/>
            </p:cNvSpPr>
            <p:nvPr/>
          </p:nvSpPr>
          <p:spPr bwMode="auto">
            <a:xfrm>
              <a:off x="2642" y="1507"/>
              <a:ext cx="707" cy="416"/>
            </a:xfrm>
            <a:prstGeom prst="rect">
              <a:avLst/>
            </a:prstGeom>
            <a:solidFill>
              <a:srgbClr val="E1E5E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>
                <a:latin typeface="Calibri" pitchFamily="34" charset="0"/>
              </a:endParaRPr>
            </a:p>
          </p:txBody>
        </p:sp>
        <p:sp>
          <p:nvSpPr>
            <p:cNvPr id="35877" name="Rectangle 33"/>
            <p:cNvSpPr>
              <a:spLocks noChangeArrowheads="1"/>
            </p:cNvSpPr>
            <p:nvPr/>
          </p:nvSpPr>
          <p:spPr bwMode="auto">
            <a:xfrm>
              <a:off x="2675" y="1532"/>
              <a:ext cx="653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0" hangingPunct="0"/>
              <a:r>
                <a:rPr lang="en-US" sz="1900">
                  <a:solidFill>
                    <a:srgbClr val="000000"/>
                  </a:solidFill>
                  <a:latin typeface="Calibri" pitchFamily="34" charset="0"/>
                </a:rPr>
                <a:t>Decrease</a:t>
              </a:r>
              <a:endParaRPr lang="en-US" sz="2400">
                <a:latin typeface="Times New Roman" pitchFamily="18" charset="0"/>
              </a:endParaRPr>
            </a:p>
          </p:txBody>
        </p:sp>
        <p:sp>
          <p:nvSpPr>
            <p:cNvPr id="35878" name="Rectangle 34"/>
            <p:cNvSpPr>
              <a:spLocks noChangeArrowheads="1"/>
            </p:cNvSpPr>
            <p:nvPr/>
          </p:nvSpPr>
          <p:spPr bwMode="auto">
            <a:xfrm>
              <a:off x="2699" y="1718"/>
              <a:ext cx="602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0" hangingPunct="0"/>
              <a:r>
                <a:rPr lang="en-US" sz="1900">
                  <a:solidFill>
                    <a:srgbClr val="000000"/>
                  </a:solidFill>
                  <a:latin typeface="Calibri" pitchFamily="34" charset="0"/>
                </a:rPr>
                <a:t>in supply</a:t>
              </a:r>
              <a:endParaRPr lang="en-US" sz="2400">
                <a:latin typeface="Times New Roman" pitchFamily="18" charset="0"/>
              </a:endParaRPr>
            </a:p>
          </p:txBody>
        </p:sp>
      </p:grpSp>
      <p:grpSp>
        <p:nvGrpSpPr>
          <p:cNvPr id="4" name="Group 35"/>
          <p:cNvGrpSpPr>
            <a:grpSpLocks/>
          </p:cNvGrpSpPr>
          <p:nvPr/>
        </p:nvGrpSpPr>
        <p:grpSpPr bwMode="auto">
          <a:xfrm>
            <a:off x="1725613" y="1317625"/>
            <a:ext cx="4227512" cy="3411538"/>
            <a:chOff x="1087" y="830"/>
            <a:chExt cx="2663" cy="2149"/>
          </a:xfrm>
        </p:grpSpPr>
        <p:sp>
          <p:nvSpPr>
            <p:cNvPr id="35871" name="Line 36"/>
            <p:cNvSpPr>
              <a:spLocks noChangeShapeType="1"/>
            </p:cNvSpPr>
            <p:nvPr/>
          </p:nvSpPr>
          <p:spPr bwMode="auto">
            <a:xfrm flipV="1">
              <a:off x="1087" y="993"/>
              <a:ext cx="2054" cy="1986"/>
            </a:xfrm>
            <a:prstGeom prst="line">
              <a:avLst/>
            </a:prstGeom>
            <a:noFill/>
            <a:ln w="66675">
              <a:solidFill>
                <a:srgbClr val="5F161D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35872" name="Group 37"/>
            <p:cNvGrpSpPr>
              <a:grpSpLocks/>
            </p:cNvGrpSpPr>
            <p:nvPr/>
          </p:nvGrpSpPr>
          <p:grpSpPr bwMode="auto">
            <a:xfrm>
              <a:off x="2597" y="830"/>
              <a:ext cx="1153" cy="228"/>
              <a:chOff x="2597" y="830"/>
              <a:chExt cx="1153" cy="228"/>
            </a:xfrm>
          </p:grpSpPr>
          <p:sp>
            <p:nvSpPr>
              <p:cNvPr id="35873" name="Rectangle 38"/>
              <p:cNvSpPr>
                <a:spLocks noChangeArrowheads="1"/>
              </p:cNvSpPr>
              <p:nvPr/>
            </p:nvSpPr>
            <p:spPr bwMode="auto">
              <a:xfrm>
                <a:off x="2597" y="830"/>
                <a:ext cx="1013" cy="20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 eaLnBrk="0" hangingPunct="0"/>
                <a:r>
                  <a:rPr lang="en-US" sz="1900">
                    <a:solidFill>
                      <a:srgbClr val="000000"/>
                    </a:solidFill>
                    <a:latin typeface="Calibri" pitchFamily="34" charset="0"/>
                  </a:rPr>
                  <a:t>Supply curve, </a:t>
                </a:r>
                <a:endParaRPr lang="en-US" sz="2400">
                  <a:latin typeface="Times New Roman" pitchFamily="18" charset="0"/>
                </a:endParaRPr>
              </a:p>
            </p:txBody>
          </p:sp>
          <p:sp>
            <p:nvSpPr>
              <p:cNvPr id="35874" name="Rectangle 39"/>
              <p:cNvSpPr>
                <a:spLocks noChangeArrowheads="1"/>
              </p:cNvSpPr>
              <p:nvPr/>
            </p:nvSpPr>
            <p:spPr bwMode="auto">
              <a:xfrm>
                <a:off x="3541" y="830"/>
                <a:ext cx="172" cy="21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 eaLnBrk="0" hangingPunct="0"/>
                <a:r>
                  <a:rPr lang="en-US" sz="1900" i="1">
                    <a:solidFill>
                      <a:srgbClr val="000000"/>
                    </a:solidFill>
                    <a:latin typeface="Calibri" pitchFamily="34" charset="0"/>
                  </a:rPr>
                  <a:t>S</a:t>
                </a:r>
                <a:endParaRPr lang="en-US" sz="2400">
                  <a:latin typeface="Times New Roman" pitchFamily="18" charset="0"/>
                </a:endParaRPr>
              </a:p>
            </p:txBody>
          </p:sp>
          <p:sp>
            <p:nvSpPr>
              <p:cNvPr id="35875" name="Rectangle 40"/>
              <p:cNvSpPr>
                <a:spLocks noChangeArrowheads="1"/>
              </p:cNvSpPr>
              <p:nvPr/>
            </p:nvSpPr>
            <p:spPr bwMode="auto">
              <a:xfrm>
                <a:off x="3638" y="905"/>
                <a:ext cx="112" cy="15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 eaLnBrk="0" hangingPunct="0"/>
                <a:r>
                  <a:rPr lang="en-US" sz="1400">
                    <a:solidFill>
                      <a:srgbClr val="000000"/>
                    </a:solidFill>
                    <a:latin typeface="Calibri" pitchFamily="34" charset="0"/>
                  </a:rPr>
                  <a:t>3</a:t>
                </a:r>
                <a:endParaRPr lang="en-US" sz="2400">
                  <a:latin typeface="Times New Roman" pitchFamily="18" charset="0"/>
                </a:endParaRPr>
              </a:p>
            </p:txBody>
          </p:sp>
        </p:grpSp>
      </p:grpSp>
      <p:grpSp>
        <p:nvGrpSpPr>
          <p:cNvPr id="6" name="Group 41"/>
          <p:cNvGrpSpPr>
            <a:grpSpLocks/>
          </p:cNvGrpSpPr>
          <p:nvPr/>
        </p:nvGrpSpPr>
        <p:grpSpPr bwMode="auto">
          <a:xfrm>
            <a:off x="6107113" y="1576388"/>
            <a:ext cx="1041400" cy="655637"/>
            <a:chOff x="3847" y="993"/>
            <a:chExt cx="656" cy="413"/>
          </a:xfrm>
        </p:grpSpPr>
        <p:sp>
          <p:nvSpPr>
            <p:cNvPr id="35866" name="Rectangle 42"/>
            <p:cNvSpPr>
              <a:spLocks noChangeArrowheads="1"/>
            </p:cNvSpPr>
            <p:nvPr/>
          </p:nvSpPr>
          <p:spPr bwMode="auto">
            <a:xfrm>
              <a:off x="3847" y="1179"/>
              <a:ext cx="516" cy="2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0" hangingPunct="0"/>
              <a:r>
                <a:rPr lang="en-US" sz="1900">
                  <a:solidFill>
                    <a:srgbClr val="000000"/>
                  </a:solidFill>
                  <a:latin typeface="Calibri" pitchFamily="34" charset="0"/>
                </a:rPr>
                <a:t>curve, </a:t>
              </a:r>
              <a:endParaRPr lang="en-US" sz="2400">
                <a:latin typeface="Times New Roman" pitchFamily="18" charset="0"/>
              </a:endParaRPr>
            </a:p>
          </p:txBody>
        </p:sp>
        <p:grpSp>
          <p:nvGrpSpPr>
            <p:cNvPr id="35867" name="Group 43"/>
            <p:cNvGrpSpPr>
              <a:grpSpLocks/>
            </p:cNvGrpSpPr>
            <p:nvPr/>
          </p:nvGrpSpPr>
          <p:grpSpPr bwMode="auto">
            <a:xfrm>
              <a:off x="3922" y="993"/>
              <a:ext cx="581" cy="413"/>
              <a:chOff x="3922" y="993"/>
              <a:chExt cx="581" cy="413"/>
            </a:xfrm>
          </p:grpSpPr>
          <p:sp>
            <p:nvSpPr>
              <p:cNvPr id="35868" name="Rectangle 44"/>
              <p:cNvSpPr>
                <a:spLocks noChangeArrowheads="1"/>
              </p:cNvSpPr>
              <p:nvPr/>
            </p:nvSpPr>
            <p:spPr bwMode="auto">
              <a:xfrm>
                <a:off x="3922" y="993"/>
                <a:ext cx="525" cy="20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 eaLnBrk="0" hangingPunct="0"/>
                <a:r>
                  <a:rPr lang="en-US" sz="1900">
                    <a:solidFill>
                      <a:srgbClr val="000000"/>
                    </a:solidFill>
                    <a:latin typeface="Calibri" pitchFamily="34" charset="0"/>
                  </a:rPr>
                  <a:t>Supply</a:t>
                </a:r>
                <a:endParaRPr lang="en-US" sz="2400">
                  <a:latin typeface="Times New Roman" pitchFamily="18" charset="0"/>
                </a:endParaRPr>
              </a:p>
            </p:txBody>
          </p:sp>
          <p:sp>
            <p:nvSpPr>
              <p:cNvPr id="35869" name="Rectangle 45"/>
              <p:cNvSpPr>
                <a:spLocks noChangeArrowheads="1"/>
              </p:cNvSpPr>
              <p:nvPr/>
            </p:nvSpPr>
            <p:spPr bwMode="auto">
              <a:xfrm>
                <a:off x="4294" y="1179"/>
                <a:ext cx="172" cy="21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 eaLnBrk="0" hangingPunct="0"/>
                <a:r>
                  <a:rPr lang="en-US" sz="1900" i="1">
                    <a:solidFill>
                      <a:srgbClr val="000000"/>
                    </a:solidFill>
                    <a:latin typeface="Calibri" pitchFamily="34" charset="0"/>
                  </a:rPr>
                  <a:t>S</a:t>
                </a:r>
                <a:endParaRPr lang="en-US" sz="2400">
                  <a:latin typeface="Times New Roman" pitchFamily="18" charset="0"/>
                </a:endParaRPr>
              </a:p>
            </p:txBody>
          </p:sp>
          <p:sp>
            <p:nvSpPr>
              <p:cNvPr id="35870" name="Rectangle 46"/>
              <p:cNvSpPr>
                <a:spLocks noChangeArrowheads="1"/>
              </p:cNvSpPr>
              <p:nvPr/>
            </p:nvSpPr>
            <p:spPr bwMode="auto">
              <a:xfrm>
                <a:off x="4391" y="1253"/>
                <a:ext cx="112" cy="15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 eaLnBrk="0" hangingPunct="0"/>
                <a:r>
                  <a:rPr lang="en-US" sz="1400">
                    <a:solidFill>
                      <a:srgbClr val="000000"/>
                    </a:solidFill>
                    <a:latin typeface="Calibri" pitchFamily="34" charset="0"/>
                  </a:rPr>
                  <a:t>1</a:t>
                </a:r>
                <a:endParaRPr lang="en-US" sz="2400">
                  <a:latin typeface="Times New Roman" pitchFamily="18" charset="0"/>
                </a:endParaRPr>
              </a:p>
            </p:txBody>
          </p:sp>
        </p:grpSp>
      </p:grpSp>
      <p:grpSp>
        <p:nvGrpSpPr>
          <p:cNvPr id="8" name="Group 47"/>
          <p:cNvGrpSpPr>
            <a:grpSpLocks/>
          </p:cNvGrpSpPr>
          <p:nvPr/>
        </p:nvGrpSpPr>
        <p:grpSpPr bwMode="auto">
          <a:xfrm>
            <a:off x="4854575" y="2108200"/>
            <a:ext cx="3778250" cy="3679825"/>
            <a:chOff x="3058" y="1328"/>
            <a:chExt cx="2380" cy="2318"/>
          </a:xfrm>
        </p:grpSpPr>
        <p:sp>
          <p:nvSpPr>
            <p:cNvPr id="35860" name="Line 48"/>
            <p:cNvSpPr>
              <a:spLocks noChangeShapeType="1"/>
            </p:cNvSpPr>
            <p:nvPr/>
          </p:nvSpPr>
          <p:spPr bwMode="auto">
            <a:xfrm flipV="1">
              <a:off x="3058" y="1660"/>
              <a:ext cx="2068" cy="1986"/>
            </a:xfrm>
            <a:prstGeom prst="line">
              <a:avLst/>
            </a:prstGeom>
            <a:noFill/>
            <a:ln w="66675">
              <a:solidFill>
                <a:srgbClr val="5F161D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35861" name="Group 49"/>
            <p:cNvGrpSpPr>
              <a:grpSpLocks/>
            </p:cNvGrpSpPr>
            <p:nvPr/>
          </p:nvGrpSpPr>
          <p:grpSpPr bwMode="auto">
            <a:xfrm>
              <a:off x="4782" y="1328"/>
              <a:ext cx="656" cy="413"/>
              <a:chOff x="4782" y="1328"/>
              <a:chExt cx="656" cy="413"/>
            </a:xfrm>
          </p:grpSpPr>
          <p:sp>
            <p:nvSpPr>
              <p:cNvPr id="35862" name="Rectangle 50"/>
              <p:cNvSpPr>
                <a:spLocks noChangeArrowheads="1"/>
              </p:cNvSpPr>
              <p:nvPr/>
            </p:nvSpPr>
            <p:spPr bwMode="auto">
              <a:xfrm>
                <a:off x="4856" y="1328"/>
                <a:ext cx="525" cy="20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 eaLnBrk="0" hangingPunct="0"/>
                <a:r>
                  <a:rPr lang="en-US" sz="1900">
                    <a:solidFill>
                      <a:srgbClr val="000000"/>
                    </a:solidFill>
                    <a:latin typeface="Calibri" pitchFamily="34" charset="0"/>
                  </a:rPr>
                  <a:t>Supply</a:t>
                </a:r>
                <a:endParaRPr lang="en-US" sz="2400">
                  <a:latin typeface="Times New Roman" pitchFamily="18" charset="0"/>
                </a:endParaRPr>
              </a:p>
            </p:txBody>
          </p:sp>
          <p:sp>
            <p:nvSpPr>
              <p:cNvPr id="35863" name="Rectangle 51"/>
              <p:cNvSpPr>
                <a:spLocks noChangeArrowheads="1"/>
              </p:cNvSpPr>
              <p:nvPr/>
            </p:nvSpPr>
            <p:spPr bwMode="auto">
              <a:xfrm>
                <a:off x="4782" y="1514"/>
                <a:ext cx="516" cy="20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 eaLnBrk="0" hangingPunct="0"/>
                <a:r>
                  <a:rPr lang="en-US" sz="1900">
                    <a:solidFill>
                      <a:srgbClr val="000000"/>
                    </a:solidFill>
                    <a:latin typeface="Calibri" pitchFamily="34" charset="0"/>
                  </a:rPr>
                  <a:t>curve, </a:t>
                </a:r>
                <a:endParaRPr lang="en-US" sz="2400">
                  <a:latin typeface="Times New Roman" pitchFamily="18" charset="0"/>
                </a:endParaRPr>
              </a:p>
            </p:txBody>
          </p:sp>
          <p:sp>
            <p:nvSpPr>
              <p:cNvPr id="35864" name="Rectangle 52"/>
              <p:cNvSpPr>
                <a:spLocks noChangeArrowheads="1"/>
              </p:cNvSpPr>
              <p:nvPr/>
            </p:nvSpPr>
            <p:spPr bwMode="auto">
              <a:xfrm>
                <a:off x="5228" y="1514"/>
                <a:ext cx="172" cy="21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 eaLnBrk="0" hangingPunct="0"/>
                <a:r>
                  <a:rPr lang="en-US" sz="1900" i="1">
                    <a:solidFill>
                      <a:srgbClr val="000000"/>
                    </a:solidFill>
                    <a:latin typeface="Calibri" pitchFamily="34" charset="0"/>
                  </a:rPr>
                  <a:t>S</a:t>
                </a:r>
                <a:endParaRPr lang="en-US" sz="2400">
                  <a:latin typeface="Times New Roman" pitchFamily="18" charset="0"/>
                </a:endParaRPr>
              </a:p>
            </p:txBody>
          </p:sp>
          <p:sp>
            <p:nvSpPr>
              <p:cNvPr id="35865" name="Rectangle 53"/>
              <p:cNvSpPr>
                <a:spLocks noChangeArrowheads="1"/>
              </p:cNvSpPr>
              <p:nvPr/>
            </p:nvSpPr>
            <p:spPr bwMode="auto">
              <a:xfrm>
                <a:off x="5326" y="1588"/>
                <a:ext cx="112" cy="15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 eaLnBrk="0" hangingPunct="0"/>
                <a:r>
                  <a:rPr lang="en-US" sz="1400">
                    <a:solidFill>
                      <a:srgbClr val="000000"/>
                    </a:solidFill>
                    <a:latin typeface="Calibri" pitchFamily="34" charset="0"/>
                  </a:rPr>
                  <a:t>2</a:t>
                </a:r>
                <a:endParaRPr lang="en-US" sz="2400">
                  <a:latin typeface="Times New Roman" pitchFamily="18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9014600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7" dur="500"/>
                                        <p:tgtEl>
                                          <p:spTgt spid="5437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437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2" dur="500"/>
                                        <p:tgtEl>
                                          <p:spTgt spid="5437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4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3762" grpId="0" animBg="1"/>
      <p:bldP spid="543763" grpId="0" animBg="1"/>
      <p:bldP spid="543764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THE ELASTICITY OF SUPPLY</a:t>
            </a:r>
          </a:p>
        </p:txBody>
      </p:sp>
      <p:sp>
        <p:nvSpPr>
          <p:cNvPr id="48131" name="Rectangle 3"/>
          <p:cNvSpPr>
            <a:spLocks noGrp="1" noChangeArrowheads="1"/>
          </p:cNvSpPr>
          <p:nvPr>
            <p:ph idx="1"/>
          </p:nvPr>
        </p:nvSpPr>
        <p:spPr>
          <a:xfrm>
            <a:off x="228601" y="1899410"/>
            <a:ext cx="8686800" cy="4938712"/>
          </a:xfrm>
        </p:spPr>
        <p:txBody>
          <a:bodyPr/>
          <a:lstStyle/>
          <a:p>
            <a:pPr algn="just">
              <a:buClr>
                <a:schemeClr val="tx1"/>
              </a:buClr>
            </a:pPr>
            <a:r>
              <a:rPr lang="en-US" i="1" dirty="0">
                <a:solidFill>
                  <a:srgbClr val="25A9A6"/>
                </a:solidFill>
              </a:rPr>
              <a:t>Price elasticity of supply</a:t>
            </a:r>
            <a:r>
              <a:rPr lang="en-US" dirty="0"/>
              <a:t> is a measure of how much the </a:t>
            </a:r>
            <a:r>
              <a:rPr lang="en-US" dirty="0">
                <a:solidFill>
                  <a:srgbClr val="FF0000"/>
                </a:solidFill>
              </a:rPr>
              <a:t>quantity supplied </a:t>
            </a:r>
            <a:r>
              <a:rPr lang="en-US" dirty="0"/>
              <a:t>of a good responds to a change in the </a:t>
            </a:r>
            <a:r>
              <a:rPr lang="en-US" dirty="0">
                <a:solidFill>
                  <a:srgbClr val="FF0000"/>
                </a:solidFill>
              </a:rPr>
              <a:t>price</a:t>
            </a:r>
            <a:r>
              <a:rPr lang="en-US" dirty="0"/>
              <a:t> of that good.</a:t>
            </a:r>
          </a:p>
          <a:p>
            <a:pPr marL="0" indent="0">
              <a:buClr>
                <a:schemeClr val="tx1"/>
              </a:buClr>
              <a:buNone/>
            </a:pPr>
            <a:endParaRPr lang="en-US" dirty="0"/>
          </a:p>
          <a:p>
            <a:pPr algn="just"/>
            <a:r>
              <a:rPr lang="en-US" dirty="0"/>
              <a:t>Price elasticity of supply is the percentage change in quantity supplied resulting from a </a:t>
            </a:r>
            <a:r>
              <a:rPr 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percent change </a:t>
            </a:r>
            <a:r>
              <a:rPr lang="en-US" dirty="0"/>
              <a:t>in price.</a:t>
            </a:r>
          </a:p>
          <a:p>
            <a:endParaRPr lang="en-US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DCDE8-D88C-416B-90F0-F63B5615757D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8469996"/>
      </p:ext>
    </p:extLst>
  </p:cSld>
  <p:clrMapOvr>
    <a:masterClrMapping/>
  </p:clrMapOvr>
  <p:transition>
    <p:zoom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898" name="Picture 2" descr="E:\Mankiw\Mankiw PPT\narrow aqua button bckgrd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688"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0899" name="Rectangle 3"/>
          <p:cNvSpPr>
            <a:spLocks noGrp="1" noChangeArrowheads="1"/>
          </p:cNvSpPr>
          <p:nvPr>
            <p:ph type="title"/>
          </p:nvPr>
        </p:nvSpPr>
        <p:spPr>
          <a:xfrm>
            <a:off x="609600" y="50800"/>
            <a:ext cx="8229600" cy="685800"/>
          </a:xfrm>
        </p:spPr>
        <p:txBody>
          <a:bodyPr/>
          <a:lstStyle/>
          <a:p>
            <a:pPr algn="l">
              <a:lnSpc>
                <a:spcPct val="80000"/>
              </a:lnSpc>
            </a:pPr>
            <a:r>
              <a:rPr lang="en-US" sz="2400" dirty="0">
                <a:solidFill>
                  <a:schemeClr val="bg1"/>
                </a:solidFill>
              </a:rPr>
              <a:t>The Price Elasticity of Supply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DCDE8-D88C-416B-90F0-F63B5615757D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80901" name="Rectangle 5"/>
          <p:cNvSpPr>
            <a:spLocks noChangeArrowheads="1"/>
          </p:cNvSpPr>
          <p:nvPr/>
        </p:nvSpPr>
        <p:spPr bwMode="auto">
          <a:xfrm>
            <a:off x="2043113" y="1911350"/>
            <a:ext cx="5322887" cy="3335338"/>
          </a:xfrm>
          <a:prstGeom prst="rect">
            <a:avLst/>
          </a:prstGeom>
          <a:solidFill>
            <a:srgbClr val="F3F6F9"/>
          </a:solidFill>
          <a:ln w="238125">
            <a:solidFill>
              <a:srgbClr val="F3F6F9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0902" name="Rectangle 6"/>
          <p:cNvSpPr>
            <a:spLocks noChangeArrowheads="1"/>
          </p:cNvSpPr>
          <p:nvPr/>
        </p:nvSpPr>
        <p:spPr bwMode="auto">
          <a:xfrm>
            <a:off x="2043113" y="1911350"/>
            <a:ext cx="5322887" cy="3335338"/>
          </a:xfrm>
          <a:prstGeom prst="rect">
            <a:avLst/>
          </a:prstGeom>
          <a:solidFill>
            <a:srgbClr val="F2F4F8"/>
          </a:solidFill>
          <a:ln w="215900">
            <a:solidFill>
              <a:srgbClr val="F2F4F8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0903" name="Rectangle 7"/>
          <p:cNvSpPr>
            <a:spLocks noChangeArrowheads="1"/>
          </p:cNvSpPr>
          <p:nvPr/>
        </p:nvSpPr>
        <p:spPr bwMode="auto">
          <a:xfrm>
            <a:off x="2043113" y="1911350"/>
            <a:ext cx="5322887" cy="3335338"/>
          </a:xfrm>
          <a:prstGeom prst="rect">
            <a:avLst/>
          </a:prstGeom>
          <a:solidFill>
            <a:srgbClr val="F1F4F7"/>
          </a:solidFill>
          <a:ln w="195263">
            <a:solidFill>
              <a:srgbClr val="F1F4F7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0904" name="Rectangle 8"/>
          <p:cNvSpPr>
            <a:spLocks noChangeArrowheads="1"/>
          </p:cNvSpPr>
          <p:nvPr/>
        </p:nvSpPr>
        <p:spPr bwMode="auto">
          <a:xfrm>
            <a:off x="2043113" y="1911350"/>
            <a:ext cx="5322887" cy="3335338"/>
          </a:xfrm>
          <a:prstGeom prst="rect">
            <a:avLst/>
          </a:prstGeom>
          <a:solidFill>
            <a:srgbClr val="F0F2F5"/>
          </a:solidFill>
          <a:ln w="173038">
            <a:solidFill>
              <a:srgbClr val="F0F2F5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0905" name="Rectangle 9"/>
          <p:cNvSpPr>
            <a:spLocks noChangeArrowheads="1"/>
          </p:cNvSpPr>
          <p:nvPr/>
        </p:nvSpPr>
        <p:spPr bwMode="auto">
          <a:xfrm>
            <a:off x="2043113" y="1911350"/>
            <a:ext cx="5322887" cy="3335338"/>
          </a:xfrm>
          <a:prstGeom prst="rect">
            <a:avLst/>
          </a:prstGeom>
          <a:solidFill>
            <a:srgbClr val="EEF1F4"/>
          </a:solidFill>
          <a:ln w="150813">
            <a:solidFill>
              <a:srgbClr val="EEF1F4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0906" name="Rectangle 10"/>
          <p:cNvSpPr>
            <a:spLocks noChangeArrowheads="1"/>
          </p:cNvSpPr>
          <p:nvPr/>
        </p:nvSpPr>
        <p:spPr bwMode="auto">
          <a:xfrm>
            <a:off x="2043113" y="1911350"/>
            <a:ext cx="5322887" cy="3335338"/>
          </a:xfrm>
          <a:prstGeom prst="rect">
            <a:avLst/>
          </a:prstGeom>
          <a:solidFill>
            <a:srgbClr val="EDEFF3"/>
          </a:solidFill>
          <a:ln w="130175">
            <a:solidFill>
              <a:srgbClr val="EDEFF3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0907" name="Rectangle 11"/>
          <p:cNvSpPr>
            <a:spLocks noChangeArrowheads="1"/>
          </p:cNvSpPr>
          <p:nvPr/>
        </p:nvSpPr>
        <p:spPr bwMode="auto">
          <a:xfrm>
            <a:off x="2043113" y="1911350"/>
            <a:ext cx="5322887" cy="3335338"/>
          </a:xfrm>
          <a:prstGeom prst="rect">
            <a:avLst/>
          </a:prstGeom>
          <a:solidFill>
            <a:srgbClr val="EBEEF2"/>
          </a:solidFill>
          <a:ln w="107950">
            <a:solidFill>
              <a:srgbClr val="EBEEF2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0908" name="Rectangle 12"/>
          <p:cNvSpPr>
            <a:spLocks noChangeArrowheads="1"/>
          </p:cNvSpPr>
          <p:nvPr/>
        </p:nvSpPr>
        <p:spPr bwMode="auto">
          <a:xfrm>
            <a:off x="2043113" y="1911350"/>
            <a:ext cx="5322887" cy="3335338"/>
          </a:xfrm>
          <a:prstGeom prst="rect">
            <a:avLst/>
          </a:prstGeom>
          <a:solidFill>
            <a:srgbClr val="EAECF1"/>
          </a:solidFill>
          <a:ln w="87313">
            <a:solidFill>
              <a:srgbClr val="EAECF1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0909" name="Rectangle 13"/>
          <p:cNvSpPr>
            <a:spLocks noChangeArrowheads="1"/>
          </p:cNvSpPr>
          <p:nvPr/>
        </p:nvSpPr>
        <p:spPr bwMode="auto">
          <a:xfrm>
            <a:off x="2043113" y="1911350"/>
            <a:ext cx="5322887" cy="3335338"/>
          </a:xfrm>
          <a:prstGeom prst="rect">
            <a:avLst/>
          </a:prstGeom>
          <a:solidFill>
            <a:srgbClr val="E9EBF0"/>
          </a:solidFill>
          <a:ln w="65088">
            <a:solidFill>
              <a:srgbClr val="E9EBF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0910" name="Rectangle 14"/>
          <p:cNvSpPr>
            <a:spLocks noChangeArrowheads="1"/>
          </p:cNvSpPr>
          <p:nvPr/>
        </p:nvSpPr>
        <p:spPr bwMode="auto">
          <a:xfrm>
            <a:off x="2043113" y="1911350"/>
            <a:ext cx="5322887" cy="3335338"/>
          </a:xfrm>
          <a:prstGeom prst="rect">
            <a:avLst/>
          </a:prstGeom>
          <a:solidFill>
            <a:srgbClr val="E7EAEF"/>
          </a:solidFill>
          <a:ln w="42863">
            <a:solidFill>
              <a:srgbClr val="E7EAEF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0911" name="Rectangle 15"/>
          <p:cNvSpPr>
            <a:spLocks noChangeArrowheads="1"/>
          </p:cNvSpPr>
          <p:nvPr/>
        </p:nvSpPr>
        <p:spPr bwMode="auto">
          <a:xfrm>
            <a:off x="2043113" y="1911350"/>
            <a:ext cx="5322887" cy="3335338"/>
          </a:xfrm>
          <a:prstGeom prst="rect">
            <a:avLst/>
          </a:prstGeom>
          <a:solidFill>
            <a:srgbClr val="E6E9EF"/>
          </a:solidFill>
          <a:ln w="22225">
            <a:solidFill>
              <a:srgbClr val="E6E9EF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0912" name="Rectangle 16"/>
          <p:cNvSpPr>
            <a:spLocks noChangeArrowheads="1"/>
          </p:cNvSpPr>
          <p:nvPr/>
        </p:nvSpPr>
        <p:spPr bwMode="auto">
          <a:xfrm>
            <a:off x="1935163" y="1831975"/>
            <a:ext cx="5322887" cy="3316288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0913" name="Freeform 17"/>
          <p:cNvSpPr>
            <a:spLocks/>
          </p:cNvSpPr>
          <p:nvPr/>
        </p:nvSpPr>
        <p:spPr bwMode="auto">
          <a:xfrm>
            <a:off x="1935163" y="1831975"/>
            <a:ext cx="5322887" cy="3316288"/>
          </a:xfrm>
          <a:custGeom>
            <a:avLst/>
            <a:gdLst>
              <a:gd name="T0" fmla="*/ 0 w 3353"/>
              <a:gd name="T1" fmla="*/ 0 h 2089"/>
              <a:gd name="T2" fmla="*/ 0 w 3353"/>
              <a:gd name="T3" fmla="*/ 2089 h 2089"/>
              <a:gd name="T4" fmla="*/ 3353 w 3353"/>
              <a:gd name="T5" fmla="*/ 2089 h 20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3353" h="2089">
                <a:moveTo>
                  <a:pt x="0" y="0"/>
                </a:moveTo>
                <a:lnTo>
                  <a:pt x="0" y="2089"/>
                </a:lnTo>
                <a:lnTo>
                  <a:pt x="3353" y="2089"/>
                </a:lnTo>
              </a:path>
            </a:pathLst>
          </a:custGeom>
          <a:noFill/>
          <a:ln w="22225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0914" name="Line 18"/>
          <p:cNvSpPr>
            <a:spLocks noChangeShapeType="1"/>
          </p:cNvSpPr>
          <p:nvPr/>
        </p:nvSpPr>
        <p:spPr bwMode="auto">
          <a:xfrm>
            <a:off x="1781175" y="3003550"/>
            <a:ext cx="4763" cy="315913"/>
          </a:xfrm>
          <a:prstGeom prst="line">
            <a:avLst/>
          </a:prstGeom>
          <a:noFill/>
          <a:ln w="22225">
            <a:solidFill>
              <a:srgbClr val="000000"/>
            </a:solidFill>
            <a:round/>
            <a:headEnd type="stealth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0915" name="Rectangle 19"/>
          <p:cNvSpPr>
            <a:spLocks noChangeArrowheads="1"/>
          </p:cNvSpPr>
          <p:nvPr/>
        </p:nvSpPr>
        <p:spPr bwMode="auto">
          <a:xfrm>
            <a:off x="2198688" y="1365250"/>
            <a:ext cx="4979987" cy="258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sz="1700" b="1">
                <a:solidFill>
                  <a:srgbClr val="000000"/>
                </a:solidFill>
                <a:latin typeface="Arial" charset="0"/>
              </a:rPr>
              <a:t>(a) Perfectly Inelastic Supply: Elasticity Equals 0</a:t>
            </a:r>
            <a:endParaRPr lang="en-US"/>
          </a:p>
        </p:txBody>
      </p:sp>
      <p:grpSp>
        <p:nvGrpSpPr>
          <p:cNvPr id="80916" name="Group 20"/>
          <p:cNvGrpSpPr>
            <a:grpSpLocks/>
          </p:cNvGrpSpPr>
          <p:nvPr/>
        </p:nvGrpSpPr>
        <p:grpSpPr bwMode="auto">
          <a:xfrm>
            <a:off x="1609725" y="2760663"/>
            <a:ext cx="3354388" cy="258762"/>
            <a:chOff x="1014" y="1739"/>
            <a:chExt cx="2113" cy="163"/>
          </a:xfrm>
        </p:grpSpPr>
        <p:sp>
          <p:nvSpPr>
            <p:cNvPr id="80917" name="Line 21"/>
            <p:cNvSpPr>
              <a:spLocks noChangeShapeType="1"/>
            </p:cNvSpPr>
            <p:nvPr/>
          </p:nvSpPr>
          <p:spPr bwMode="auto">
            <a:xfrm flipH="1">
              <a:off x="1219" y="1829"/>
              <a:ext cx="1908" cy="1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0918" name="Rectangle 22"/>
            <p:cNvSpPr>
              <a:spLocks noChangeArrowheads="1"/>
            </p:cNvSpPr>
            <p:nvPr/>
          </p:nvSpPr>
          <p:spPr bwMode="auto">
            <a:xfrm>
              <a:off x="1014" y="1739"/>
              <a:ext cx="152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700">
                  <a:solidFill>
                    <a:srgbClr val="000000"/>
                  </a:solidFill>
                  <a:latin typeface="Arial" charset="0"/>
                </a:rPr>
                <a:t>$5</a:t>
              </a:r>
              <a:endParaRPr lang="en-US"/>
            </a:p>
          </p:txBody>
        </p:sp>
      </p:grpSp>
      <p:grpSp>
        <p:nvGrpSpPr>
          <p:cNvPr id="80919" name="Group 23"/>
          <p:cNvGrpSpPr>
            <a:grpSpLocks/>
          </p:cNvGrpSpPr>
          <p:nvPr/>
        </p:nvGrpSpPr>
        <p:grpSpPr bwMode="auto">
          <a:xfrm>
            <a:off x="1730375" y="3294063"/>
            <a:ext cx="3233738" cy="258762"/>
            <a:chOff x="1090" y="2075"/>
            <a:chExt cx="2037" cy="163"/>
          </a:xfrm>
        </p:grpSpPr>
        <p:sp>
          <p:nvSpPr>
            <p:cNvPr id="80920" name="Line 24"/>
            <p:cNvSpPr>
              <a:spLocks noChangeShapeType="1"/>
            </p:cNvSpPr>
            <p:nvPr/>
          </p:nvSpPr>
          <p:spPr bwMode="auto">
            <a:xfrm flipH="1">
              <a:off x="1219" y="2104"/>
              <a:ext cx="1908" cy="1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0921" name="Rectangle 25"/>
            <p:cNvSpPr>
              <a:spLocks noChangeArrowheads="1"/>
            </p:cNvSpPr>
            <p:nvPr/>
          </p:nvSpPr>
          <p:spPr bwMode="auto">
            <a:xfrm>
              <a:off x="1090" y="2075"/>
              <a:ext cx="76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700">
                  <a:solidFill>
                    <a:srgbClr val="000000"/>
                  </a:solidFill>
                  <a:latin typeface="Arial" charset="0"/>
                </a:rPr>
                <a:t>4</a:t>
              </a:r>
              <a:endParaRPr lang="en-US"/>
            </a:p>
          </p:txBody>
        </p:sp>
      </p:grpSp>
      <p:grpSp>
        <p:nvGrpSpPr>
          <p:cNvPr id="80922" name="Group 26"/>
          <p:cNvGrpSpPr>
            <a:grpSpLocks/>
          </p:cNvGrpSpPr>
          <p:nvPr/>
        </p:nvGrpSpPr>
        <p:grpSpPr bwMode="auto">
          <a:xfrm>
            <a:off x="4964113" y="2097088"/>
            <a:ext cx="909637" cy="3051175"/>
            <a:chOff x="3127" y="1321"/>
            <a:chExt cx="573" cy="1922"/>
          </a:xfrm>
        </p:grpSpPr>
        <p:sp>
          <p:nvSpPr>
            <p:cNvPr id="80923" name="Line 27"/>
            <p:cNvSpPr>
              <a:spLocks noChangeShapeType="1"/>
            </p:cNvSpPr>
            <p:nvPr/>
          </p:nvSpPr>
          <p:spPr bwMode="auto">
            <a:xfrm flipV="1">
              <a:off x="3127" y="1354"/>
              <a:ext cx="1" cy="1889"/>
            </a:xfrm>
            <a:prstGeom prst="line">
              <a:avLst/>
            </a:prstGeom>
            <a:noFill/>
            <a:ln w="65088">
              <a:solidFill>
                <a:srgbClr val="004C9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0924" name="Rectangle 28"/>
            <p:cNvSpPr>
              <a:spLocks noChangeArrowheads="1"/>
            </p:cNvSpPr>
            <p:nvPr/>
          </p:nvSpPr>
          <p:spPr bwMode="auto">
            <a:xfrm>
              <a:off x="3187" y="1321"/>
              <a:ext cx="513" cy="1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700">
                  <a:solidFill>
                    <a:srgbClr val="000000"/>
                  </a:solidFill>
                  <a:latin typeface="Arial" charset="0"/>
                </a:rPr>
                <a:t>Supply</a:t>
              </a:r>
              <a:endParaRPr lang="en-US"/>
            </a:p>
          </p:txBody>
        </p:sp>
      </p:grpSp>
      <p:sp>
        <p:nvSpPr>
          <p:cNvPr id="80925" name="Rectangle 29"/>
          <p:cNvSpPr>
            <a:spLocks noChangeArrowheads="1"/>
          </p:cNvSpPr>
          <p:nvPr/>
        </p:nvSpPr>
        <p:spPr bwMode="auto">
          <a:xfrm>
            <a:off x="6340475" y="5230813"/>
            <a:ext cx="876300" cy="258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sz="1700" b="1">
                <a:solidFill>
                  <a:srgbClr val="000000"/>
                </a:solidFill>
                <a:latin typeface="Arial" charset="0"/>
              </a:rPr>
              <a:t>Quantity</a:t>
            </a:r>
            <a:endParaRPr lang="en-US"/>
          </a:p>
        </p:txBody>
      </p:sp>
      <p:sp>
        <p:nvSpPr>
          <p:cNvPr id="80926" name="Rectangle 30"/>
          <p:cNvSpPr>
            <a:spLocks noChangeArrowheads="1"/>
          </p:cNvSpPr>
          <p:nvPr/>
        </p:nvSpPr>
        <p:spPr bwMode="auto">
          <a:xfrm>
            <a:off x="4770438" y="5230813"/>
            <a:ext cx="361950" cy="258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sz="1700">
                <a:solidFill>
                  <a:srgbClr val="000000"/>
                </a:solidFill>
                <a:latin typeface="Arial" charset="0"/>
              </a:rPr>
              <a:t>100</a:t>
            </a:r>
            <a:endParaRPr lang="en-US"/>
          </a:p>
        </p:txBody>
      </p:sp>
      <p:sp>
        <p:nvSpPr>
          <p:cNvPr id="80927" name="Rectangle 31"/>
          <p:cNvSpPr>
            <a:spLocks noChangeArrowheads="1"/>
          </p:cNvSpPr>
          <p:nvPr/>
        </p:nvSpPr>
        <p:spPr bwMode="auto">
          <a:xfrm>
            <a:off x="1714500" y="5275263"/>
            <a:ext cx="238125" cy="296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sz="1700">
                <a:solidFill>
                  <a:srgbClr val="000000"/>
                </a:solidFill>
                <a:latin typeface="Arial" charset="0"/>
              </a:rPr>
              <a:t>0</a:t>
            </a:r>
            <a:endParaRPr lang="en-US"/>
          </a:p>
        </p:txBody>
      </p:sp>
      <p:grpSp>
        <p:nvGrpSpPr>
          <p:cNvPr id="80928" name="Group 32"/>
          <p:cNvGrpSpPr>
            <a:grpSpLocks/>
          </p:cNvGrpSpPr>
          <p:nvPr/>
        </p:nvGrpSpPr>
        <p:grpSpPr bwMode="auto">
          <a:xfrm>
            <a:off x="571500" y="3201988"/>
            <a:ext cx="1233488" cy="1230312"/>
            <a:chOff x="360" y="2017"/>
            <a:chExt cx="777" cy="775"/>
          </a:xfrm>
        </p:grpSpPr>
        <p:sp>
          <p:nvSpPr>
            <p:cNvPr id="80929" name="Line 33"/>
            <p:cNvSpPr>
              <a:spLocks noChangeShapeType="1"/>
            </p:cNvSpPr>
            <p:nvPr/>
          </p:nvSpPr>
          <p:spPr bwMode="auto">
            <a:xfrm flipV="1">
              <a:off x="796" y="2017"/>
              <a:ext cx="273" cy="300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80930" name="Group 34"/>
            <p:cNvGrpSpPr>
              <a:grpSpLocks/>
            </p:cNvGrpSpPr>
            <p:nvPr/>
          </p:nvGrpSpPr>
          <p:grpSpPr bwMode="auto">
            <a:xfrm>
              <a:off x="360" y="2267"/>
              <a:ext cx="777" cy="525"/>
              <a:chOff x="360" y="2267"/>
              <a:chExt cx="777" cy="525"/>
            </a:xfrm>
          </p:grpSpPr>
          <p:sp>
            <p:nvSpPr>
              <p:cNvPr id="80931" name="Rectangle 35"/>
              <p:cNvSpPr>
                <a:spLocks noChangeArrowheads="1"/>
              </p:cNvSpPr>
              <p:nvPr/>
            </p:nvSpPr>
            <p:spPr bwMode="auto">
              <a:xfrm>
                <a:off x="360" y="2267"/>
                <a:ext cx="777" cy="525"/>
              </a:xfrm>
              <a:prstGeom prst="rect">
                <a:avLst/>
              </a:prstGeom>
              <a:solidFill>
                <a:srgbClr val="E1E5E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932" name="Rectangle 36"/>
              <p:cNvSpPr>
                <a:spLocks noChangeArrowheads="1"/>
              </p:cNvSpPr>
              <p:nvPr/>
            </p:nvSpPr>
            <p:spPr bwMode="auto">
              <a:xfrm>
                <a:off x="404" y="2276"/>
                <a:ext cx="319" cy="1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700">
                    <a:solidFill>
                      <a:srgbClr val="000000"/>
                    </a:solidFill>
                    <a:latin typeface="Arial" charset="0"/>
                  </a:rPr>
                  <a:t>1. An</a:t>
                </a:r>
                <a:endParaRPr lang="en-US"/>
              </a:p>
            </p:txBody>
          </p:sp>
          <p:sp>
            <p:nvSpPr>
              <p:cNvPr id="80933" name="Rectangle 37"/>
              <p:cNvSpPr>
                <a:spLocks noChangeArrowheads="1"/>
              </p:cNvSpPr>
              <p:nvPr/>
            </p:nvSpPr>
            <p:spPr bwMode="auto">
              <a:xfrm>
                <a:off x="404" y="2443"/>
                <a:ext cx="515" cy="1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700">
                    <a:solidFill>
                      <a:srgbClr val="000000"/>
                    </a:solidFill>
                    <a:latin typeface="Arial" charset="0"/>
                  </a:rPr>
                  <a:t>increase</a:t>
                </a:r>
                <a:endParaRPr lang="en-US"/>
              </a:p>
            </p:txBody>
          </p:sp>
          <p:sp>
            <p:nvSpPr>
              <p:cNvPr id="80934" name="Rectangle 38"/>
              <p:cNvSpPr>
                <a:spLocks noChangeArrowheads="1"/>
              </p:cNvSpPr>
              <p:nvPr/>
            </p:nvSpPr>
            <p:spPr bwMode="auto">
              <a:xfrm>
                <a:off x="404" y="2609"/>
                <a:ext cx="667" cy="1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700">
                    <a:solidFill>
                      <a:srgbClr val="000000"/>
                    </a:solidFill>
                    <a:latin typeface="Arial" charset="0"/>
                  </a:rPr>
                  <a:t>in price . . .</a:t>
                </a:r>
                <a:endParaRPr lang="en-US"/>
              </a:p>
            </p:txBody>
          </p:sp>
        </p:grpSp>
      </p:grpSp>
      <p:grpSp>
        <p:nvGrpSpPr>
          <p:cNvPr id="80935" name="Group 39"/>
          <p:cNvGrpSpPr>
            <a:grpSpLocks/>
          </p:cNvGrpSpPr>
          <p:nvPr/>
        </p:nvGrpSpPr>
        <p:grpSpPr bwMode="auto">
          <a:xfrm>
            <a:off x="2519363" y="5510213"/>
            <a:ext cx="4802187" cy="515937"/>
            <a:chOff x="1587" y="3431"/>
            <a:chExt cx="3025" cy="325"/>
          </a:xfrm>
        </p:grpSpPr>
        <p:sp>
          <p:nvSpPr>
            <p:cNvPr id="80936" name="Line 40"/>
            <p:cNvSpPr>
              <a:spLocks noChangeShapeType="1"/>
            </p:cNvSpPr>
            <p:nvPr/>
          </p:nvSpPr>
          <p:spPr bwMode="auto">
            <a:xfrm flipH="1">
              <a:off x="3086" y="3431"/>
              <a:ext cx="68" cy="175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80937" name="Group 41"/>
            <p:cNvGrpSpPr>
              <a:grpSpLocks/>
            </p:cNvGrpSpPr>
            <p:nvPr/>
          </p:nvGrpSpPr>
          <p:grpSpPr bwMode="auto">
            <a:xfrm>
              <a:off x="1587" y="3556"/>
              <a:ext cx="3025" cy="200"/>
              <a:chOff x="1587" y="3556"/>
              <a:chExt cx="3025" cy="200"/>
            </a:xfrm>
          </p:grpSpPr>
          <p:sp>
            <p:nvSpPr>
              <p:cNvPr id="80938" name="Rectangle 42"/>
              <p:cNvSpPr>
                <a:spLocks noChangeArrowheads="1"/>
              </p:cNvSpPr>
              <p:nvPr/>
            </p:nvSpPr>
            <p:spPr bwMode="auto">
              <a:xfrm>
                <a:off x="1587" y="3556"/>
                <a:ext cx="3025" cy="200"/>
              </a:xfrm>
              <a:prstGeom prst="rect">
                <a:avLst/>
              </a:prstGeom>
              <a:solidFill>
                <a:srgbClr val="E1E5E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939" name="Rectangle 43"/>
              <p:cNvSpPr>
                <a:spLocks noChangeArrowheads="1"/>
              </p:cNvSpPr>
              <p:nvPr/>
            </p:nvSpPr>
            <p:spPr bwMode="auto">
              <a:xfrm>
                <a:off x="1618" y="3571"/>
                <a:ext cx="2816" cy="1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700">
                    <a:solidFill>
                      <a:srgbClr val="000000"/>
                    </a:solidFill>
                    <a:latin typeface="Arial" charset="0"/>
                  </a:rPr>
                  <a:t>2. . . . leaves the quantity supplied unchanged.</a:t>
                </a:r>
                <a:endParaRPr lang="en-US"/>
              </a:p>
            </p:txBody>
          </p:sp>
        </p:grpSp>
      </p:grpSp>
      <p:sp>
        <p:nvSpPr>
          <p:cNvPr id="80940" name="Rectangle 44"/>
          <p:cNvSpPr>
            <a:spLocks noChangeArrowheads="1"/>
          </p:cNvSpPr>
          <p:nvPr/>
        </p:nvSpPr>
        <p:spPr bwMode="auto">
          <a:xfrm>
            <a:off x="1320800" y="1833563"/>
            <a:ext cx="530225" cy="258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sz="1700" b="1">
                <a:solidFill>
                  <a:srgbClr val="000000"/>
                </a:solidFill>
                <a:latin typeface="Arial" charset="0"/>
              </a:rPr>
              <a:t>Price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8923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809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09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3" presetClass="entr" presetSubtype="28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809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809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809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809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809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0914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874" name="Picture 2" descr="E:\Mankiw\Mankiw PPT\narrow aqua button bckgrd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688"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9875" name="Rectangle 3"/>
          <p:cNvSpPr>
            <a:spLocks noGrp="1" noChangeArrowheads="1"/>
          </p:cNvSpPr>
          <p:nvPr>
            <p:ph type="title"/>
          </p:nvPr>
        </p:nvSpPr>
        <p:spPr>
          <a:xfrm>
            <a:off x="609600" y="50800"/>
            <a:ext cx="8229600" cy="685800"/>
          </a:xfrm>
        </p:spPr>
        <p:txBody>
          <a:bodyPr/>
          <a:lstStyle/>
          <a:p>
            <a:pPr algn="l">
              <a:lnSpc>
                <a:spcPct val="80000"/>
              </a:lnSpc>
            </a:pPr>
            <a:r>
              <a:rPr lang="en-US" sz="2400" dirty="0">
                <a:solidFill>
                  <a:schemeClr val="bg1"/>
                </a:solidFill>
              </a:rPr>
              <a:t>The Price Elasticity of Supply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DCDE8-D88C-416B-90F0-F63B5615757D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79877" name="Rectangle 5"/>
          <p:cNvSpPr>
            <a:spLocks noChangeArrowheads="1"/>
          </p:cNvSpPr>
          <p:nvPr/>
        </p:nvSpPr>
        <p:spPr bwMode="auto">
          <a:xfrm>
            <a:off x="2266950" y="1911350"/>
            <a:ext cx="5322888" cy="3335338"/>
          </a:xfrm>
          <a:prstGeom prst="rect">
            <a:avLst/>
          </a:prstGeom>
          <a:solidFill>
            <a:srgbClr val="F3F6F9"/>
          </a:solidFill>
          <a:ln w="238125">
            <a:solidFill>
              <a:srgbClr val="F3F6F9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79878" name="Rectangle 6"/>
          <p:cNvSpPr>
            <a:spLocks noChangeArrowheads="1"/>
          </p:cNvSpPr>
          <p:nvPr/>
        </p:nvSpPr>
        <p:spPr bwMode="auto">
          <a:xfrm>
            <a:off x="2266950" y="1911350"/>
            <a:ext cx="5322888" cy="3335338"/>
          </a:xfrm>
          <a:prstGeom prst="rect">
            <a:avLst/>
          </a:prstGeom>
          <a:solidFill>
            <a:srgbClr val="F2F4F8"/>
          </a:solidFill>
          <a:ln w="215900">
            <a:solidFill>
              <a:srgbClr val="F2F4F8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79879" name="Rectangle 7"/>
          <p:cNvSpPr>
            <a:spLocks noChangeArrowheads="1"/>
          </p:cNvSpPr>
          <p:nvPr/>
        </p:nvSpPr>
        <p:spPr bwMode="auto">
          <a:xfrm>
            <a:off x="2266950" y="1911350"/>
            <a:ext cx="5322888" cy="3335338"/>
          </a:xfrm>
          <a:prstGeom prst="rect">
            <a:avLst/>
          </a:prstGeom>
          <a:solidFill>
            <a:srgbClr val="F1F4F7"/>
          </a:solidFill>
          <a:ln w="195263">
            <a:solidFill>
              <a:srgbClr val="F1F4F7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79880" name="Rectangle 8"/>
          <p:cNvSpPr>
            <a:spLocks noChangeArrowheads="1"/>
          </p:cNvSpPr>
          <p:nvPr/>
        </p:nvSpPr>
        <p:spPr bwMode="auto">
          <a:xfrm>
            <a:off x="2266950" y="1911350"/>
            <a:ext cx="5322888" cy="3335338"/>
          </a:xfrm>
          <a:prstGeom prst="rect">
            <a:avLst/>
          </a:prstGeom>
          <a:solidFill>
            <a:srgbClr val="F0F2F5"/>
          </a:solidFill>
          <a:ln w="173038">
            <a:solidFill>
              <a:srgbClr val="F0F2F5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79881" name="Rectangle 9"/>
          <p:cNvSpPr>
            <a:spLocks noChangeArrowheads="1"/>
          </p:cNvSpPr>
          <p:nvPr/>
        </p:nvSpPr>
        <p:spPr bwMode="auto">
          <a:xfrm>
            <a:off x="2266950" y="1911350"/>
            <a:ext cx="5322888" cy="3335338"/>
          </a:xfrm>
          <a:prstGeom prst="rect">
            <a:avLst/>
          </a:prstGeom>
          <a:solidFill>
            <a:srgbClr val="EEF1F4"/>
          </a:solidFill>
          <a:ln w="150813">
            <a:solidFill>
              <a:srgbClr val="EEF1F4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79882" name="Rectangle 10"/>
          <p:cNvSpPr>
            <a:spLocks noChangeArrowheads="1"/>
          </p:cNvSpPr>
          <p:nvPr/>
        </p:nvSpPr>
        <p:spPr bwMode="auto">
          <a:xfrm>
            <a:off x="2266950" y="1911350"/>
            <a:ext cx="5322888" cy="3335338"/>
          </a:xfrm>
          <a:prstGeom prst="rect">
            <a:avLst/>
          </a:prstGeom>
          <a:solidFill>
            <a:srgbClr val="EDEFF3"/>
          </a:solidFill>
          <a:ln w="130175">
            <a:solidFill>
              <a:srgbClr val="EDEFF3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79883" name="Rectangle 11"/>
          <p:cNvSpPr>
            <a:spLocks noChangeArrowheads="1"/>
          </p:cNvSpPr>
          <p:nvPr/>
        </p:nvSpPr>
        <p:spPr bwMode="auto">
          <a:xfrm>
            <a:off x="2266950" y="1911350"/>
            <a:ext cx="5322888" cy="3335338"/>
          </a:xfrm>
          <a:prstGeom prst="rect">
            <a:avLst/>
          </a:prstGeom>
          <a:solidFill>
            <a:srgbClr val="EBEEF2"/>
          </a:solidFill>
          <a:ln w="107950">
            <a:solidFill>
              <a:srgbClr val="EBEEF2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79884" name="Rectangle 12"/>
          <p:cNvSpPr>
            <a:spLocks noChangeArrowheads="1"/>
          </p:cNvSpPr>
          <p:nvPr/>
        </p:nvSpPr>
        <p:spPr bwMode="auto">
          <a:xfrm>
            <a:off x="2266950" y="1911350"/>
            <a:ext cx="5322888" cy="3335338"/>
          </a:xfrm>
          <a:prstGeom prst="rect">
            <a:avLst/>
          </a:prstGeom>
          <a:solidFill>
            <a:srgbClr val="EAECF1"/>
          </a:solidFill>
          <a:ln w="87313">
            <a:solidFill>
              <a:srgbClr val="EAECF1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79885" name="Rectangle 13"/>
          <p:cNvSpPr>
            <a:spLocks noChangeArrowheads="1"/>
          </p:cNvSpPr>
          <p:nvPr/>
        </p:nvSpPr>
        <p:spPr bwMode="auto">
          <a:xfrm>
            <a:off x="2266950" y="1911350"/>
            <a:ext cx="5322888" cy="3335338"/>
          </a:xfrm>
          <a:prstGeom prst="rect">
            <a:avLst/>
          </a:prstGeom>
          <a:solidFill>
            <a:srgbClr val="E9EBF0"/>
          </a:solidFill>
          <a:ln w="65088">
            <a:solidFill>
              <a:srgbClr val="E9EBF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79886" name="Rectangle 14"/>
          <p:cNvSpPr>
            <a:spLocks noChangeArrowheads="1"/>
          </p:cNvSpPr>
          <p:nvPr/>
        </p:nvSpPr>
        <p:spPr bwMode="auto">
          <a:xfrm>
            <a:off x="2266950" y="1911350"/>
            <a:ext cx="5322888" cy="3335338"/>
          </a:xfrm>
          <a:prstGeom prst="rect">
            <a:avLst/>
          </a:prstGeom>
          <a:solidFill>
            <a:srgbClr val="E7EAEF"/>
          </a:solidFill>
          <a:ln w="42863">
            <a:solidFill>
              <a:srgbClr val="E7EAEF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79887" name="Rectangle 15"/>
          <p:cNvSpPr>
            <a:spLocks noChangeArrowheads="1"/>
          </p:cNvSpPr>
          <p:nvPr/>
        </p:nvSpPr>
        <p:spPr bwMode="auto">
          <a:xfrm>
            <a:off x="2266950" y="1911350"/>
            <a:ext cx="5322888" cy="3335338"/>
          </a:xfrm>
          <a:prstGeom prst="rect">
            <a:avLst/>
          </a:prstGeom>
          <a:solidFill>
            <a:srgbClr val="E6E9EF"/>
          </a:solidFill>
          <a:ln w="22225">
            <a:solidFill>
              <a:srgbClr val="E6E9EF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79888" name="Line 16"/>
          <p:cNvSpPr>
            <a:spLocks noChangeShapeType="1"/>
          </p:cNvSpPr>
          <p:nvPr/>
        </p:nvSpPr>
        <p:spPr bwMode="auto">
          <a:xfrm flipH="1">
            <a:off x="5233988" y="5345113"/>
            <a:ext cx="252412" cy="3175"/>
          </a:xfrm>
          <a:prstGeom prst="line">
            <a:avLst/>
          </a:prstGeom>
          <a:noFill/>
          <a:ln w="22225">
            <a:solidFill>
              <a:srgbClr val="000000"/>
            </a:solidFill>
            <a:round/>
            <a:headEnd type="stealth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9889" name="Rectangle 17"/>
          <p:cNvSpPr>
            <a:spLocks noChangeArrowheads="1"/>
          </p:cNvSpPr>
          <p:nvPr/>
        </p:nvSpPr>
        <p:spPr bwMode="auto">
          <a:xfrm>
            <a:off x="2179638" y="1811338"/>
            <a:ext cx="5322887" cy="3336925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9890" name="Line 18"/>
          <p:cNvSpPr>
            <a:spLocks noChangeShapeType="1"/>
          </p:cNvSpPr>
          <p:nvPr/>
        </p:nvSpPr>
        <p:spPr bwMode="auto">
          <a:xfrm>
            <a:off x="2006600" y="3052763"/>
            <a:ext cx="1588" cy="255587"/>
          </a:xfrm>
          <a:prstGeom prst="line">
            <a:avLst/>
          </a:prstGeom>
          <a:noFill/>
          <a:ln w="22225">
            <a:solidFill>
              <a:srgbClr val="000000"/>
            </a:solidFill>
            <a:round/>
            <a:headEnd type="stealth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9891" name="Freeform 19"/>
          <p:cNvSpPr>
            <a:spLocks/>
          </p:cNvSpPr>
          <p:nvPr/>
        </p:nvSpPr>
        <p:spPr bwMode="auto">
          <a:xfrm>
            <a:off x="2160588" y="1811338"/>
            <a:ext cx="5322887" cy="3336925"/>
          </a:xfrm>
          <a:custGeom>
            <a:avLst/>
            <a:gdLst>
              <a:gd name="T0" fmla="*/ 0 w 3353"/>
              <a:gd name="T1" fmla="*/ 0 h 2102"/>
              <a:gd name="T2" fmla="*/ 0 w 3353"/>
              <a:gd name="T3" fmla="*/ 2102 h 2102"/>
              <a:gd name="T4" fmla="*/ 3353 w 3353"/>
              <a:gd name="T5" fmla="*/ 2102 h 210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3353" h="2102">
                <a:moveTo>
                  <a:pt x="0" y="0"/>
                </a:moveTo>
                <a:lnTo>
                  <a:pt x="0" y="2102"/>
                </a:lnTo>
                <a:lnTo>
                  <a:pt x="3353" y="2102"/>
                </a:lnTo>
              </a:path>
            </a:pathLst>
          </a:custGeom>
          <a:noFill/>
          <a:ln w="22225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9892" name="Rectangle 20"/>
          <p:cNvSpPr>
            <a:spLocks noChangeArrowheads="1"/>
          </p:cNvSpPr>
          <p:nvPr/>
        </p:nvSpPr>
        <p:spPr bwMode="auto">
          <a:xfrm>
            <a:off x="2505075" y="1365250"/>
            <a:ext cx="4618038" cy="258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sz="1700" b="1">
                <a:solidFill>
                  <a:srgbClr val="000000"/>
                </a:solidFill>
                <a:latin typeface="Arial" charset="0"/>
              </a:rPr>
              <a:t>(b) Inelastic Supply: Elasticity Is Less Than 1</a:t>
            </a:r>
            <a:endParaRPr lang="en-US"/>
          </a:p>
        </p:txBody>
      </p:sp>
      <p:grpSp>
        <p:nvGrpSpPr>
          <p:cNvPr id="79893" name="Group 21"/>
          <p:cNvGrpSpPr>
            <a:grpSpLocks/>
          </p:cNvGrpSpPr>
          <p:nvPr/>
        </p:nvGrpSpPr>
        <p:grpSpPr bwMode="auto">
          <a:xfrm>
            <a:off x="1811338" y="2760663"/>
            <a:ext cx="4065587" cy="2735262"/>
            <a:chOff x="1141" y="1739"/>
            <a:chExt cx="2561" cy="1723"/>
          </a:xfrm>
        </p:grpSpPr>
        <p:sp>
          <p:nvSpPr>
            <p:cNvPr id="79894" name="Freeform 22"/>
            <p:cNvSpPr>
              <a:spLocks/>
            </p:cNvSpPr>
            <p:nvPr/>
          </p:nvSpPr>
          <p:spPr bwMode="auto">
            <a:xfrm>
              <a:off x="1373" y="1817"/>
              <a:ext cx="2086" cy="1426"/>
            </a:xfrm>
            <a:custGeom>
              <a:avLst/>
              <a:gdLst>
                <a:gd name="T0" fmla="*/ 2086 w 2086"/>
                <a:gd name="T1" fmla="*/ 1426 h 1426"/>
                <a:gd name="T2" fmla="*/ 2086 w 2086"/>
                <a:gd name="T3" fmla="*/ 0 h 1426"/>
                <a:gd name="T4" fmla="*/ 0 w 2086"/>
                <a:gd name="T5" fmla="*/ 0 h 14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86" h="1426">
                  <a:moveTo>
                    <a:pt x="2086" y="1426"/>
                  </a:moveTo>
                  <a:lnTo>
                    <a:pt x="2086" y="0"/>
                  </a:lnTo>
                  <a:lnTo>
                    <a:pt x="0" y="0"/>
                  </a:lnTo>
                </a:path>
              </a:pathLst>
            </a:custGeom>
            <a:noFill/>
            <a:ln w="22225" cap="flat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9895" name="Rectangle 23"/>
            <p:cNvSpPr>
              <a:spLocks noChangeArrowheads="1"/>
            </p:cNvSpPr>
            <p:nvPr/>
          </p:nvSpPr>
          <p:spPr bwMode="auto">
            <a:xfrm>
              <a:off x="3474" y="3299"/>
              <a:ext cx="228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700">
                  <a:solidFill>
                    <a:srgbClr val="000000"/>
                  </a:solidFill>
                  <a:latin typeface="Arial" charset="0"/>
                </a:rPr>
                <a:t>110</a:t>
              </a:r>
              <a:endParaRPr lang="en-US"/>
            </a:p>
          </p:txBody>
        </p:sp>
        <p:sp>
          <p:nvSpPr>
            <p:cNvPr id="79896" name="Rectangle 24"/>
            <p:cNvSpPr>
              <a:spLocks noChangeArrowheads="1"/>
            </p:cNvSpPr>
            <p:nvPr/>
          </p:nvSpPr>
          <p:spPr bwMode="auto">
            <a:xfrm>
              <a:off x="1141" y="1739"/>
              <a:ext cx="152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700">
                  <a:solidFill>
                    <a:srgbClr val="000000"/>
                  </a:solidFill>
                  <a:latin typeface="Arial" charset="0"/>
                </a:rPr>
                <a:t>$5</a:t>
              </a:r>
              <a:endParaRPr lang="en-US"/>
            </a:p>
          </p:txBody>
        </p:sp>
      </p:grpSp>
      <p:grpSp>
        <p:nvGrpSpPr>
          <p:cNvPr id="79897" name="Group 25"/>
          <p:cNvGrpSpPr>
            <a:grpSpLocks/>
          </p:cNvGrpSpPr>
          <p:nvPr/>
        </p:nvGrpSpPr>
        <p:grpSpPr bwMode="auto">
          <a:xfrm>
            <a:off x="1939925" y="3287713"/>
            <a:ext cx="3268663" cy="2208212"/>
            <a:chOff x="1222" y="2071"/>
            <a:chExt cx="2059" cy="1391"/>
          </a:xfrm>
        </p:grpSpPr>
        <p:sp>
          <p:nvSpPr>
            <p:cNvPr id="79898" name="Freeform 26"/>
            <p:cNvSpPr>
              <a:spLocks/>
            </p:cNvSpPr>
            <p:nvPr/>
          </p:nvSpPr>
          <p:spPr bwMode="auto">
            <a:xfrm>
              <a:off x="1373" y="2104"/>
              <a:ext cx="1908" cy="1139"/>
            </a:xfrm>
            <a:custGeom>
              <a:avLst/>
              <a:gdLst>
                <a:gd name="T0" fmla="*/ 1908 w 1908"/>
                <a:gd name="T1" fmla="*/ 1139 h 1139"/>
                <a:gd name="T2" fmla="*/ 1908 w 1908"/>
                <a:gd name="T3" fmla="*/ 0 h 1139"/>
                <a:gd name="T4" fmla="*/ 0 w 1908"/>
                <a:gd name="T5" fmla="*/ 0 h 1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08" h="1139">
                  <a:moveTo>
                    <a:pt x="1908" y="1139"/>
                  </a:moveTo>
                  <a:lnTo>
                    <a:pt x="1908" y="0"/>
                  </a:lnTo>
                  <a:lnTo>
                    <a:pt x="0" y="0"/>
                  </a:lnTo>
                </a:path>
              </a:pathLst>
            </a:custGeom>
            <a:noFill/>
            <a:ln w="22225" cap="flat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9899" name="Rectangle 27"/>
            <p:cNvSpPr>
              <a:spLocks noChangeArrowheads="1"/>
            </p:cNvSpPr>
            <p:nvPr/>
          </p:nvSpPr>
          <p:spPr bwMode="auto">
            <a:xfrm>
              <a:off x="3015" y="3299"/>
              <a:ext cx="228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700">
                  <a:solidFill>
                    <a:srgbClr val="000000"/>
                  </a:solidFill>
                  <a:latin typeface="Arial" charset="0"/>
                </a:rPr>
                <a:t>100</a:t>
              </a:r>
              <a:endParaRPr lang="en-US"/>
            </a:p>
          </p:txBody>
        </p:sp>
        <p:sp>
          <p:nvSpPr>
            <p:cNvPr id="79900" name="Rectangle 28"/>
            <p:cNvSpPr>
              <a:spLocks noChangeArrowheads="1"/>
            </p:cNvSpPr>
            <p:nvPr/>
          </p:nvSpPr>
          <p:spPr bwMode="auto">
            <a:xfrm>
              <a:off x="1222" y="2071"/>
              <a:ext cx="76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700">
                  <a:solidFill>
                    <a:srgbClr val="000000"/>
                  </a:solidFill>
                  <a:latin typeface="Arial" charset="0"/>
                </a:rPr>
                <a:t>4</a:t>
              </a:r>
              <a:endParaRPr lang="en-US"/>
            </a:p>
          </p:txBody>
        </p:sp>
      </p:grpSp>
      <p:sp>
        <p:nvSpPr>
          <p:cNvPr id="79901" name="Rectangle 29"/>
          <p:cNvSpPr>
            <a:spLocks noChangeArrowheads="1"/>
          </p:cNvSpPr>
          <p:nvPr/>
        </p:nvSpPr>
        <p:spPr bwMode="auto">
          <a:xfrm>
            <a:off x="6559550" y="5230813"/>
            <a:ext cx="876300" cy="258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sz="1700" b="1">
                <a:solidFill>
                  <a:srgbClr val="000000"/>
                </a:solidFill>
                <a:latin typeface="Arial" charset="0"/>
              </a:rPr>
              <a:t>Quantity</a:t>
            </a:r>
            <a:endParaRPr lang="en-US"/>
          </a:p>
        </p:txBody>
      </p:sp>
      <p:sp>
        <p:nvSpPr>
          <p:cNvPr id="79902" name="Rectangle 30"/>
          <p:cNvSpPr>
            <a:spLocks noChangeArrowheads="1"/>
          </p:cNvSpPr>
          <p:nvPr/>
        </p:nvSpPr>
        <p:spPr bwMode="auto">
          <a:xfrm>
            <a:off x="1947863" y="5268913"/>
            <a:ext cx="120650" cy="258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sz="1700">
                <a:solidFill>
                  <a:srgbClr val="000000"/>
                </a:solidFill>
                <a:latin typeface="Arial" charset="0"/>
              </a:rPr>
              <a:t>0</a:t>
            </a:r>
            <a:endParaRPr lang="en-US"/>
          </a:p>
        </p:txBody>
      </p:sp>
      <p:grpSp>
        <p:nvGrpSpPr>
          <p:cNvPr id="79903" name="Group 31"/>
          <p:cNvGrpSpPr>
            <a:grpSpLocks/>
          </p:cNvGrpSpPr>
          <p:nvPr/>
        </p:nvGrpSpPr>
        <p:grpSpPr bwMode="auto">
          <a:xfrm>
            <a:off x="750888" y="3181350"/>
            <a:ext cx="1298575" cy="1250950"/>
            <a:chOff x="473" y="2004"/>
            <a:chExt cx="818" cy="788"/>
          </a:xfrm>
        </p:grpSpPr>
        <p:sp>
          <p:nvSpPr>
            <p:cNvPr id="79904" name="Line 32"/>
            <p:cNvSpPr>
              <a:spLocks noChangeShapeType="1"/>
            </p:cNvSpPr>
            <p:nvPr/>
          </p:nvSpPr>
          <p:spPr bwMode="auto">
            <a:xfrm flipV="1">
              <a:off x="882" y="2004"/>
              <a:ext cx="328" cy="276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79905" name="Group 33"/>
            <p:cNvGrpSpPr>
              <a:grpSpLocks/>
            </p:cNvGrpSpPr>
            <p:nvPr/>
          </p:nvGrpSpPr>
          <p:grpSpPr bwMode="auto">
            <a:xfrm>
              <a:off x="473" y="2267"/>
              <a:ext cx="818" cy="525"/>
              <a:chOff x="473" y="2267"/>
              <a:chExt cx="818" cy="525"/>
            </a:xfrm>
          </p:grpSpPr>
          <p:sp>
            <p:nvSpPr>
              <p:cNvPr id="79906" name="Rectangle 34"/>
              <p:cNvSpPr>
                <a:spLocks noChangeArrowheads="1"/>
              </p:cNvSpPr>
              <p:nvPr/>
            </p:nvSpPr>
            <p:spPr bwMode="auto">
              <a:xfrm>
                <a:off x="473" y="2267"/>
                <a:ext cx="818" cy="525"/>
              </a:xfrm>
              <a:prstGeom prst="rect">
                <a:avLst/>
              </a:prstGeom>
              <a:solidFill>
                <a:srgbClr val="E1E5E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9907" name="Rectangle 35"/>
              <p:cNvSpPr>
                <a:spLocks noChangeArrowheads="1"/>
              </p:cNvSpPr>
              <p:nvPr/>
            </p:nvSpPr>
            <p:spPr bwMode="auto">
              <a:xfrm>
                <a:off x="528" y="2284"/>
                <a:ext cx="554" cy="1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700">
                    <a:solidFill>
                      <a:srgbClr val="000000"/>
                    </a:solidFill>
                    <a:latin typeface="Arial" charset="0"/>
                  </a:rPr>
                  <a:t>1. A 22%</a:t>
                </a:r>
                <a:endParaRPr lang="en-US"/>
              </a:p>
            </p:txBody>
          </p:sp>
          <p:sp>
            <p:nvSpPr>
              <p:cNvPr id="79908" name="Rectangle 36"/>
              <p:cNvSpPr>
                <a:spLocks noChangeArrowheads="1"/>
              </p:cNvSpPr>
              <p:nvPr/>
            </p:nvSpPr>
            <p:spPr bwMode="auto">
              <a:xfrm>
                <a:off x="528" y="2451"/>
                <a:ext cx="515" cy="1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700">
                    <a:solidFill>
                      <a:srgbClr val="000000"/>
                    </a:solidFill>
                    <a:latin typeface="Arial" charset="0"/>
                  </a:rPr>
                  <a:t>increase</a:t>
                </a:r>
                <a:endParaRPr lang="en-US"/>
              </a:p>
            </p:txBody>
          </p:sp>
          <p:sp>
            <p:nvSpPr>
              <p:cNvPr id="79909" name="Rectangle 37"/>
              <p:cNvSpPr>
                <a:spLocks noChangeArrowheads="1"/>
              </p:cNvSpPr>
              <p:nvPr/>
            </p:nvSpPr>
            <p:spPr bwMode="auto">
              <a:xfrm>
                <a:off x="528" y="2617"/>
                <a:ext cx="667" cy="1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700">
                    <a:solidFill>
                      <a:srgbClr val="000000"/>
                    </a:solidFill>
                    <a:latin typeface="Arial" charset="0"/>
                  </a:rPr>
                  <a:t>in price . . .</a:t>
                </a:r>
                <a:endParaRPr lang="en-US"/>
              </a:p>
            </p:txBody>
          </p:sp>
        </p:grpSp>
      </p:grpSp>
      <p:sp>
        <p:nvSpPr>
          <p:cNvPr id="79910" name="Rectangle 38"/>
          <p:cNvSpPr>
            <a:spLocks noChangeArrowheads="1"/>
          </p:cNvSpPr>
          <p:nvPr/>
        </p:nvSpPr>
        <p:spPr bwMode="auto">
          <a:xfrm>
            <a:off x="1500188" y="1833563"/>
            <a:ext cx="530225" cy="258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sz="1700" b="1">
                <a:solidFill>
                  <a:srgbClr val="000000"/>
                </a:solidFill>
                <a:latin typeface="Arial" charset="0"/>
              </a:rPr>
              <a:t>Price</a:t>
            </a:r>
            <a:endParaRPr lang="en-US"/>
          </a:p>
        </p:txBody>
      </p:sp>
      <p:grpSp>
        <p:nvGrpSpPr>
          <p:cNvPr id="79911" name="Group 39"/>
          <p:cNvGrpSpPr>
            <a:grpSpLocks/>
          </p:cNvGrpSpPr>
          <p:nvPr/>
        </p:nvGrpSpPr>
        <p:grpSpPr bwMode="auto">
          <a:xfrm>
            <a:off x="2309813" y="5426075"/>
            <a:ext cx="5040312" cy="536575"/>
            <a:chOff x="1455" y="3418"/>
            <a:chExt cx="3175" cy="338"/>
          </a:xfrm>
        </p:grpSpPr>
        <p:sp>
          <p:nvSpPr>
            <p:cNvPr id="79912" name="Line 40"/>
            <p:cNvSpPr>
              <a:spLocks noChangeShapeType="1"/>
            </p:cNvSpPr>
            <p:nvPr/>
          </p:nvSpPr>
          <p:spPr bwMode="auto">
            <a:xfrm flipH="1">
              <a:off x="3213" y="3418"/>
              <a:ext cx="123" cy="163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79913" name="Group 41"/>
            <p:cNvGrpSpPr>
              <a:grpSpLocks/>
            </p:cNvGrpSpPr>
            <p:nvPr/>
          </p:nvGrpSpPr>
          <p:grpSpPr bwMode="auto">
            <a:xfrm>
              <a:off x="1455" y="3556"/>
              <a:ext cx="3175" cy="200"/>
              <a:chOff x="1455" y="3556"/>
              <a:chExt cx="3175" cy="200"/>
            </a:xfrm>
          </p:grpSpPr>
          <p:sp>
            <p:nvSpPr>
              <p:cNvPr id="79914" name="Rectangle 42"/>
              <p:cNvSpPr>
                <a:spLocks noChangeArrowheads="1"/>
              </p:cNvSpPr>
              <p:nvPr/>
            </p:nvSpPr>
            <p:spPr bwMode="auto">
              <a:xfrm>
                <a:off x="1455" y="3556"/>
                <a:ext cx="3175" cy="200"/>
              </a:xfrm>
              <a:prstGeom prst="rect">
                <a:avLst/>
              </a:prstGeom>
              <a:solidFill>
                <a:srgbClr val="E1E5E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9915" name="Rectangle 43"/>
              <p:cNvSpPr>
                <a:spLocks noChangeArrowheads="1"/>
              </p:cNvSpPr>
              <p:nvPr/>
            </p:nvSpPr>
            <p:spPr bwMode="auto">
              <a:xfrm>
                <a:off x="1490" y="3579"/>
                <a:ext cx="3080" cy="1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700">
                    <a:solidFill>
                      <a:srgbClr val="000000"/>
                    </a:solidFill>
                    <a:latin typeface="Arial" charset="0"/>
                  </a:rPr>
                  <a:t>2. . . . leads to a 10% increase in quantity supplied.</a:t>
                </a:r>
                <a:endParaRPr lang="en-US"/>
              </a:p>
            </p:txBody>
          </p:sp>
        </p:grpSp>
      </p:grpSp>
      <p:grpSp>
        <p:nvGrpSpPr>
          <p:cNvPr id="79916" name="Group 44"/>
          <p:cNvGrpSpPr>
            <a:grpSpLocks/>
          </p:cNvGrpSpPr>
          <p:nvPr/>
        </p:nvGrpSpPr>
        <p:grpSpPr bwMode="auto">
          <a:xfrm>
            <a:off x="4516438" y="2366963"/>
            <a:ext cx="2027237" cy="2006600"/>
            <a:chOff x="2845" y="1491"/>
            <a:chExt cx="1277" cy="1264"/>
          </a:xfrm>
        </p:grpSpPr>
        <p:sp>
          <p:nvSpPr>
            <p:cNvPr id="79917" name="Line 45"/>
            <p:cNvSpPr>
              <a:spLocks noChangeShapeType="1"/>
            </p:cNvSpPr>
            <p:nvPr/>
          </p:nvSpPr>
          <p:spPr bwMode="auto">
            <a:xfrm flipH="1">
              <a:off x="2845" y="1491"/>
              <a:ext cx="832" cy="1264"/>
            </a:xfrm>
            <a:prstGeom prst="line">
              <a:avLst/>
            </a:prstGeom>
            <a:noFill/>
            <a:ln w="65088">
              <a:solidFill>
                <a:srgbClr val="004C9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9918" name="Rectangle 46"/>
            <p:cNvSpPr>
              <a:spLocks noChangeArrowheads="1"/>
            </p:cNvSpPr>
            <p:nvPr/>
          </p:nvSpPr>
          <p:spPr bwMode="auto">
            <a:xfrm>
              <a:off x="3705" y="1496"/>
              <a:ext cx="417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700">
                  <a:solidFill>
                    <a:srgbClr val="000000"/>
                  </a:solidFill>
                  <a:latin typeface="Arial" charset="0"/>
                </a:rPr>
                <a:t>Supply</a:t>
              </a:r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3110760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7" dur="500"/>
                                        <p:tgtEl>
                                          <p:spTgt spid="799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2" dur="500"/>
                                        <p:tgtEl>
                                          <p:spTgt spid="798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3" presetClass="entr" presetSubtype="28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798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798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23" dur="500"/>
                                        <p:tgtEl>
                                          <p:spTgt spid="798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799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3" presetClass="entr" presetSubtype="28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7988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7988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799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888" grpId="0" animBg="1"/>
      <p:bldP spid="79890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850" name="Picture 2" descr="E:\Mankiw\Mankiw PPT\narrow aqua button bckgrd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688"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8851" name="Rectangle 3"/>
          <p:cNvSpPr>
            <a:spLocks noGrp="1" noChangeArrowheads="1"/>
          </p:cNvSpPr>
          <p:nvPr>
            <p:ph type="title"/>
          </p:nvPr>
        </p:nvSpPr>
        <p:spPr>
          <a:xfrm>
            <a:off x="609600" y="50800"/>
            <a:ext cx="8229600" cy="685800"/>
          </a:xfrm>
        </p:spPr>
        <p:txBody>
          <a:bodyPr/>
          <a:lstStyle/>
          <a:p>
            <a:pPr algn="l">
              <a:lnSpc>
                <a:spcPct val="80000"/>
              </a:lnSpc>
            </a:pPr>
            <a:r>
              <a:rPr lang="en-US" sz="2400" dirty="0">
                <a:solidFill>
                  <a:schemeClr val="bg1"/>
                </a:solidFill>
              </a:rPr>
              <a:t> The Price Elasticity of Supply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DCDE8-D88C-416B-90F0-F63B5615757D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78853" name="Rectangle 5"/>
          <p:cNvSpPr>
            <a:spLocks noChangeArrowheads="1"/>
          </p:cNvSpPr>
          <p:nvPr/>
        </p:nvSpPr>
        <p:spPr bwMode="auto">
          <a:xfrm>
            <a:off x="2311400" y="1865313"/>
            <a:ext cx="5322888" cy="3336925"/>
          </a:xfrm>
          <a:prstGeom prst="rect">
            <a:avLst/>
          </a:prstGeom>
          <a:solidFill>
            <a:srgbClr val="F3F6F9"/>
          </a:solidFill>
          <a:ln w="238125">
            <a:solidFill>
              <a:srgbClr val="F3F6F9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78854" name="Rectangle 6"/>
          <p:cNvSpPr>
            <a:spLocks noChangeArrowheads="1"/>
          </p:cNvSpPr>
          <p:nvPr/>
        </p:nvSpPr>
        <p:spPr bwMode="auto">
          <a:xfrm>
            <a:off x="2311400" y="1865313"/>
            <a:ext cx="5322888" cy="3336925"/>
          </a:xfrm>
          <a:prstGeom prst="rect">
            <a:avLst/>
          </a:prstGeom>
          <a:solidFill>
            <a:srgbClr val="F2F4F8"/>
          </a:solidFill>
          <a:ln w="215900">
            <a:solidFill>
              <a:srgbClr val="F2F4F8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78855" name="Rectangle 7"/>
          <p:cNvSpPr>
            <a:spLocks noChangeArrowheads="1"/>
          </p:cNvSpPr>
          <p:nvPr/>
        </p:nvSpPr>
        <p:spPr bwMode="auto">
          <a:xfrm>
            <a:off x="2311400" y="1865313"/>
            <a:ext cx="5322888" cy="3336925"/>
          </a:xfrm>
          <a:prstGeom prst="rect">
            <a:avLst/>
          </a:prstGeom>
          <a:solidFill>
            <a:srgbClr val="F1F4F7"/>
          </a:solidFill>
          <a:ln w="195263">
            <a:solidFill>
              <a:srgbClr val="F1F4F7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78856" name="Rectangle 8"/>
          <p:cNvSpPr>
            <a:spLocks noChangeArrowheads="1"/>
          </p:cNvSpPr>
          <p:nvPr/>
        </p:nvSpPr>
        <p:spPr bwMode="auto">
          <a:xfrm>
            <a:off x="2311400" y="1865313"/>
            <a:ext cx="5322888" cy="3336925"/>
          </a:xfrm>
          <a:prstGeom prst="rect">
            <a:avLst/>
          </a:prstGeom>
          <a:solidFill>
            <a:srgbClr val="F0F2F5"/>
          </a:solidFill>
          <a:ln w="173038">
            <a:solidFill>
              <a:srgbClr val="F0F2F5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78857" name="Rectangle 9"/>
          <p:cNvSpPr>
            <a:spLocks noChangeArrowheads="1"/>
          </p:cNvSpPr>
          <p:nvPr/>
        </p:nvSpPr>
        <p:spPr bwMode="auto">
          <a:xfrm>
            <a:off x="2311400" y="1865313"/>
            <a:ext cx="5322888" cy="3336925"/>
          </a:xfrm>
          <a:prstGeom prst="rect">
            <a:avLst/>
          </a:prstGeom>
          <a:solidFill>
            <a:srgbClr val="EEF1F4"/>
          </a:solidFill>
          <a:ln w="150813">
            <a:solidFill>
              <a:srgbClr val="EEF1F4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78858" name="Rectangle 10"/>
          <p:cNvSpPr>
            <a:spLocks noChangeArrowheads="1"/>
          </p:cNvSpPr>
          <p:nvPr/>
        </p:nvSpPr>
        <p:spPr bwMode="auto">
          <a:xfrm>
            <a:off x="2311400" y="1865313"/>
            <a:ext cx="5322888" cy="3336925"/>
          </a:xfrm>
          <a:prstGeom prst="rect">
            <a:avLst/>
          </a:prstGeom>
          <a:solidFill>
            <a:srgbClr val="EDEFF3"/>
          </a:solidFill>
          <a:ln w="130175">
            <a:solidFill>
              <a:srgbClr val="EDEFF3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78859" name="Rectangle 11"/>
          <p:cNvSpPr>
            <a:spLocks noChangeArrowheads="1"/>
          </p:cNvSpPr>
          <p:nvPr/>
        </p:nvSpPr>
        <p:spPr bwMode="auto">
          <a:xfrm>
            <a:off x="2311400" y="1865313"/>
            <a:ext cx="5322888" cy="3336925"/>
          </a:xfrm>
          <a:prstGeom prst="rect">
            <a:avLst/>
          </a:prstGeom>
          <a:solidFill>
            <a:srgbClr val="EBEEF2"/>
          </a:solidFill>
          <a:ln w="107950">
            <a:solidFill>
              <a:srgbClr val="EBEEF2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78860" name="Rectangle 12"/>
          <p:cNvSpPr>
            <a:spLocks noChangeArrowheads="1"/>
          </p:cNvSpPr>
          <p:nvPr/>
        </p:nvSpPr>
        <p:spPr bwMode="auto">
          <a:xfrm>
            <a:off x="2311400" y="1865313"/>
            <a:ext cx="5322888" cy="3336925"/>
          </a:xfrm>
          <a:prstGeom prst="rect">
            <a:avLst/>
          </a:prstGeom>
          <a:solidFill>
            <a:srgbClr val="EAECF1"/>
          </a:solidFill>
          <a:ln w="87313">
            <a:solidFill>
              <a:srgbClr val="EAECF1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78861" name="Rectangle 13"/>
          <p:cNvSpPr>
            <a:spLocks noChangeArrowheads="1"/>
          </p:cNvSpPr>
          <p:nvPr/>
        </p:nvSpPr>
        <p:spPr bwMode="auto">
          <a:xfrm>
            <a:off x="2311400" y="1865313"/>
            <a:ext cx="5322888" cy="3336925"/>
          </a:xfrm>
          <a:prstGeom prst="rect">
            <a:avLst/>
          </a:prstGeom>
          <a:solidFill>
            <a:srgbClr val="E9EBF0"/>
          </a:solidFill>
          <a:ln w="65088">
            <a:solidFill>
              <a:srgbClr val="E9EBF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78862" name="Rectangle 14"/>
          <p:cNvSpPr>
            <a:spLocks noChangeArrowheads="1"/>
          </p:cNvSpPr>
          <p:nvPr/>
        </p:nvSpPr>
        <p:spPr bwMode="auto">
          <a:xfrm>
            <a:off x="2311400" y="1865313"/>
            <a:ext cx="5322888" cy="3336925"/>
          </a:xfrm>
          <a:prstGeom prst="rect">
            <a:avLst/>
          </a:prstGeom>
          <a:solidFill>
            <a:srgbClr val="E7EAEF"/>
          </a:solidFill>
          <a:ln w="42863">
            <a:solidFill>
              <a:srgbClr val="E7EAEF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78863" name="Rectangle 15"/>
          <p:cNvSpPr>
            <a:spLocks noChangeArrowheads="1"/>
          </p:cNvSpPr>
          <p:nvPr/>
        </p:nvSpPr>
        <p:spPr bwMode="auto">
          <a:xfrm>
            <a:off x="2311400" y="1865313"/>
            <a:ext cx="5322888" cy="3336925"/>
          </a:xfrm>
          <a:prstGeom prst="rect">
            <a:avLst/>
          </a:prstGeom>
          <a:solidFill>
            <a:srgbClr val="E6E9EF"/>
          </a:solidFill>
          <a:ln w="22225">
            <a:solidFill>
              <a:srgbClr val="E6E9EF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78864" name="Line 16"/>
          <p:cNvSpPr>
            <a:spLocks noChangeShapeType="1"/>
          </p:cNvSpPr>
          <p:nvPr/>
        </p:nvSpPr>
        <p:spPr bwMode="auto">
          <a:xfrm flipH="1">
            <a:off x="5448300" y="5299075"/>
            <a:ext cx="346075" cy="3175"/>
          </a:xfrm>
          <a:prstGeom prst="line">
            <a:avLst/>
          </a:prstGeom>
          <a:noFill/>
          <a:ln w="22225">
            <a:solidFill>
              <a:srgbClr val="000000"/>
            </a:solidFill>
            <a:round/>
            <a:headEnd type="stealth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8865" name="Rectangle 17"/>
          <p:cNvSpPr>
            <a:spLocks noChangeArrowheads="1"/>
          </p:cNvSpPr>
          <p:nvPr/>
        </p:nvSpPr>
        <p:spPr bwMode="auto">
          <a:xfrm>
            <a:off x="2203450" y="1785938"/>
            <a:ext cx="5322888" cy="3316287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8866" name="Line 18"/>
          <p:cNvSpPr>
            <a:spLocks noChangeShapeType="1"/>
          </p:cNvSpPr>
          <p:nvPr/>
        </p:nvSpPr>
        <p:spPr bwMode="auto">
          <a:xfrm>
            <a:off x="2030413" y="3006725"/>
            <a:ext cx="1587" cy="250825"/>
          </a:xfrm>
          <a:prstGeom prst="line">
            <a:avLst/>
          </a:prstGeom>
          <a:noFill/>
          <a:ln w="22225">
            <a:solidFill>
              <a:srgbClr val="000000"/>
            </a:solidFill>
            <a:round/>
            <a:headEnd type="stealth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8867" name="Freeform 19"/>
          <p:cNvSpPr>
            <a:spLocks/>
          </p:cNvSpPr>
          <p:nvPr/>
        </p:nvSpPr>
        <p:spPr bwMode="auto">
          <a:xfrm>
            <a:off x="2203450" y="1785938"/>
            <a:ext cx="5322888" cy="3316287"/>
          </a:xfrm>
          <a:custGeom>
            <a:avLst/>
            <a:gdLst>
              <a:gd name="T0" fmla="*/ 0 w 3353"/>
              <a:gd name="T1" fmla="*/ 0 h 2089"/>
              <a:gd name="T2" fmla="*/ 0 w 3353"/>
              <a:gd name="T3" fmla="*/ 2089 h 2089"/>
              <a:gd name="T4" fmla="*/ 3353 w 3353"/>
              <a:gd name="T5" fmla="*/ 2089 h 20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3353" h="2089">
                <a:moveTo>
                  <a:pt x="0" y="0"/>
                </a:moveTo>
                <a:lnTo>
                  <a:pt x="0" y="2089"/>
                </a:lnTo>
                <a:lnTo>
                  <a:pt x="3353" y="2089"/>
                </a:lnTo>
              </a:path>
            </a:pathLst>
          </a:custGeom>
          <a:noFill/>
          <a:ln w="22225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8868" name="Rectangle 20"/>
          <p:cNvSpPr>
            <a:spLocks noChangeArrowheads="1"/>
          </p:cNvSpPr>
          <p:nvPr/>
        </p:nvSpPr>
        <p:spPr bwMode="auto">
          <a:xfrm>
            <a:off x="2557463" y="1374775"/>
            <a:ext cx="4316412" cy="258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sz="1700" b="1">
                <a:solidFill>
                  <a:srgbClr val="000000"/>
                </a:solidFill>
                <a:latin typeface="Arial" charset="0"/>
              </a:rPr>
              <a:t>(c) Unit Elastic Supply: Elasticity Equals 1</a:t>
            </a:r>
            <a:endParaRPr lang="en-US"/>
          </a:p>
        </p:txBody>
      </p:sp>
      <p:grpSp>
        <p:nvGrpSpPr>
          <p:cNvPr id="78869" name="Group 21"/>
          <p:cNvGrpSpPr>
            <a:grpSpLocks/>
          </p:cNvGrpSpPr>
          <p:nvPr/>
        </p:nvGrpSpPr>
        <p:grpSpPr bwMode="auto">
          <a:xfrm>
            <a:off x="1836738" y="2768600"/>
            <a:ext cx="4368800" cy="2703513"/>
            <a:chOff x="1157" y="1744"/>
            <a:chExt cx="2752" cy="1703"/>
          </a:xfrm>
        </p:grpSpPr>
        <p:sp>
          <p:nvSpPr>
            <p:cNvPr id="78870" name="Freeform 22"/>
            <p:cNvSpPr>
              <a:spLocks/>
            </p:cNvSpPr>
            <p:nvPr/>
          </p:nvSpPr>
          <p:spPr bwMode="auto">
            <a:xfrm>
              <a:off x="1388" y="1800"/>
              <a:ext cx="2371" cy="1414"/>
            </a:xfrm>
            <a:custGeom>
              <a:avLst/>
              <a:gdLst>
                <a:gd name="T0" fmla="*/ 2371 w 2371"/>
                <a:gd name="T1" fmla="*/ 1414 h 1414"/>
                <a:gd name="T2" fmla="*/ 2371 w 2371"/>
                <a:gd name="T3" fmla="*/ 0 h 1414"/>
                <a:gd name="T4" fmla="*/ 0 w 2371"/>
                <a:gd name="T5" fmla="*/ 0 h 14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371" h="1414">
                  <a:moveTo>
                    <a:pt x="2371" y="1414"/>
                  </a:moveTo>
                  <a:lnTo>
                    <a:pt x="2371" y="0"/>
                  </a:lnTo>
                  <a:lnTo>
                    <a:pt x="0" y="0"/>
                  </a:lnTo>
                </a:path>
              </a:pathLst>
            </a:custGeom>
            <a:noFill/>
            <a:ln w="22225" cap="flat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8871" name="Rectangle 23"/>
            <p:cNvSpPr>
              <a:spLocks noChangeArrowheads="1"/>
            </p:cNvSpPr>
            <p:nvPr/>
          </p:nvSpPr>
          <p:spPr bwMode="auto">
            <a:xfrm>
              <a:off x="3681" y="3284"/>
              <a:ext cx="228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700">
                  <a:solidFill>
                    <a:srgbClr val="000000"/>
                  </a:solidFill>
                  <a:latin typeface="Arial" charset="0"/>
                </a:rPr>
                <a:t>125</a:t>
              </a:r>
              <a:endParaRPr lang="en-US"/>
            </a:p>
          </p:txBody>
        </p:sp>
        <p:sp>
          <p:nvSpPr>
            <p:cNvPr id="78872" name="Rectangle 24"/>
            <p:cNvSpPr>
              <a:spLocks noChangeArrowheads="1"/>
            </p:cNvSpPr>
            <p:nvPr/>
          </p:nvSpPr>
          <p:spPr bwMode="auto">
            <a:xfrm>
              <a:off x="1157" y="1744"/>
              <a:ext cx="152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700">
                  <a:solidFill>
                    <a:srgbClr val="000000"/>
                  </a:solidFill>
                  <a:latin typeface="Arial" charset="0"/>
                </a:rPr>
                <a:t>$5</a:t>
              </a:r>
              <a:endParaRPr lang="en-US"/>
            </a:p>
          </p:txBody>
        </p:sp>
      </p:grpSp>
      <p:grpSp>
        <p:nvGrpSpPr>
          <p:cNvPr id="78873" name="Group 25"/>
          <p:cNvGrpSpPr>
            <a:grpSpLocks/>
          </p:cNvGrpSpPr>
          <p:nvPr/>
        </p:nvGrpSpPr>
        <p:grpSpPr bwMode="auto">
          <a:xfrm>
            <a:off x="1966913" y="3238500"/>
            <a:ext cx="3373437" cy="2233613"/>
            <a:chOff x="1239" y="2040"/>
            <a:chExt cx="2125" cy="1407"/>
          </a:xfrm>
        </p:grpSpPr>
        <p:sp>
          <p:nvSpPr>
            <p:cNvPr id="78874" name="Freeform 26"/>
            <p:cNvSpPr>
              <a:spLocks/>
            </p:cNvSpPr>
            <p:nvPr/>
          </p:nvSpPr>
          <p:spPr bwMode="auto">
            <a:xfrm>
              <a:off x="1388" y="2076"/>
              <a:ext cx="1908" cy="1138"/>
            </a:xfrm>
            <a:custGeom>
              <a:avLst/>
              <a:gdLst>
                <a:gd name="T0" fmla="*/ 1908 w 1908"/>
                <a:gd name="T1" fmla="*/ 1138 h 1138"/>
                <a:gd name="T2" fmla="*/ 1908 w 1908"/>
                <a:gd name="T3" fmla="*/ 0 h 1138"/>
                <a:gd name="T4" fmla="*/ 0 w 1908"/>
                <a:gd name="T5" fmla="*/ 0 h 11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08" h="1138">
                  <a:moveTo>
                    <a:pt x="1908" y="1138"/>
                  </a:moveTo>
                  <a:lnTo>
                    <a:pt x="1908" y="0"/>
                  </a:lnTo>
                  <a:lnTo>
                    <a:pt x="0" y="0"/>
                  </a:lnTo>
                </a:path>
              </a:pathLst>
            </a:custGeom>
            <a:noFill/>
            <a:ln w="22225" cap="flat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8875" name="Rectangle 27"/>
            <p:cNvSpPr>
              <a:spLocks noChangeArrowheads="1"/>
            </p:cNvSpPr>
            <p:nvPr/>
          </p:nvSpPr>
          <p:spPr bwMode="auto">
            <a:xfrm>
              <a:off x="3136" y="3284"/>
              <a:ext cx="228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700">
                  <a:solidFill>
                    <a:srgbClr val="000000"/>
                  </a:solidFill>
                  <a:latin typeface="Arial" charset="0"/>
                </a:rPr>
                <a:t>100</a:t>
              </a:r>
              <a:endParaRPr lang="en-US"/>
            </a:p>
          </p:txBody>
        </p:sp>
        <p:sp>
          <p:nvSpPr>
            <p:cNvPr id="78876" name="Rectangle 28"/>
            <p:cNvSpPr>
              <a:spLocks noChangeArrowheads="1"/>
            </p:cNvSpPr>
            <p:nvPr/>
          </p:nvSpPr>
          <p:spPr bwMode="auto">
            <a:xfrm>
              <a:off x="1239" y="2040"/>
              <a:ext cx="76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700">
                  <a:solidFill>
                    <a:srgbClr val="000000"/>
                  </a:solidFill>
                  <a:latin typeface="Arial" charset="0"/>
                </a:rPr>
                <a:t>4</a:t>
              </a:r>
              <a:endParaRPr lang="en-US"/>
            </a:p>
          </p:txBody>
        </p:sp>
      </p:grpSp>
      <p:sp>
        <p:nvSpPr>
          <p:cNvPr id="78877" name="Rectangle 29"/>
          <p:cNvSpPr>
            <a:spLocks noChangeArrowheads="1"/>
          </p:cNvSpPr>
          <p:nvPr/>
        </p:nvSpPr>
        <p:spPr bwMode="auto">
          <a:xfrm>
            <a:off x="6586538" y="5207000"/>
            <a:ext cx="876300" cy="258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sz="1700" b="1">
                <a:solidFill>
                  <a:srgbClr val="000000"/>
                </a:solidFill>
                <a:latin typeface="Arial" charset="0"/>
              </a:rPr>
              <a:t>Quantity</a:t>
            </a:r>
            <a:endParaRPr lang="en-US"/>
          </a:p>
        </p:txBody>
      </p:sp>
      <p:sp>
        <p:nvSpPr>
          <p:cNvPr id="78878" name="Rectangle 30"/>
          <p:cNvSpPr>
            <a:spLocks noChangeArrowheads="1"/>
          </p:cNvSpPr>
          <p:nvPr/>
        </p:nvSpPr>
        <p:spPr bwMode="auto">
          <a:xfrm>
            <a:off x="1981200" y="5213350"/>
            <a:ext cx="120650" cy="258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sz="1700">
                <a:solidFill>
                  <a:srgbClr val="000000"/>
                </a:solidFill>
                <a:latin typeface="Arial" charset="0"/>
              </a:rPr>
              <a:t>0</a:t>
            </a:r>
            <a:endParaRPr lang="en-US"/>
          </a:p>
        </p:txBody>
      </p:sp>
      <p:sp>
        <p:nvSpPr>
          <p:cNvPr id="78879" name="Rectangle 31"/>
          <p:cNvSpPr>
            <a:spLocks noChangeArrowheads="1"/>
          </p:cNvSpPr>
          <p:nvPr/>
        </p:nvSpPr>
        <p:spPr bwMode="auto">
          <a:xfrm>
            <a:off x="1535113" y="1758950"/>
            <a:ext cx="530225" cy="258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sz="1700" b="1">
                <a:solidFill>
                  <a:srgbClr val="000000"/>
                </a:solidFill>
                <a:latin typeface="Arial" charset="0"/>
              </a:rPr>
              <a:t>Price</a:t>
            </a:r>
            <a:endParaRPr lang="en-US"/>
          </a:p>
        </p:txBody>
      </p:sp>
      <p:grpSp>
        <p:nvGrpSpPr>
          <p:cNvPr id="78880" name="Group 32"/>
          <p:cNvGrpSpPr>
            <a:grpSpLocks/>
          </p:cNvGrpSpPr>
          <p:nvPr/>
        </p:nvGrpSpPr>
        <p:grpSpPr bwMode="auto">
          <a:xfrm>
            <a:off x="2030413" y="5360988"/>
            <a:ext cx="5151437" cy="555625"/>
            <a:chOff x="1279" y="3377"/>
            <a:chExt cx="3245" cy="350"/>
          </a:xfrm>
        </p:grpSpPr>
        <p:sp>
          <p:nvSpPr>
            <p:cNvPr id="78881" name="Line 33"/>
            <p:cNvSpPr>
              <a:spLocks noChangeShapeType="1"/>
            </p:cNvSpPr>
            <p:nvPr/>
          </p:nvSpPr>
          <p:spPr bwMode="auto">
            <a:xfrm flipH="1">
              <a:off x="2942" y="3377"/>
              <a:ext cx="163" cy="187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78882" name="Group 34"/>
            <p:cNvGrpSpPr>
              <a:grpSpLocks/>
            </p:cNvGrpSpPr>
            <p:nvPr/>
          </p:nvGrpSpPr>
          <p:grpSpPr bwMode="auto">
            <a:xfrm>
              <a:off x="1279" y="3527"/>
              <a:ext cx="3245" cy="200"/>
              <a:chOff x="1279" y="3527"/>
              <a:chExt cx="3245" cy="200"/>
            </a:xfrm>
          </p:grpSpPr>
          <p:sp>
            <p:nvSpPr>
              <p:cNvPr id="78883" name="Rectangle 35"/>
              <p:cNvSpPr>
                <a:spLocks noChangeArrowheads="1"/>
              </p:cNvSpPr>
              <p:nvPr/>
            </p:nvSpPr>
            <p:spPr bwMode="auto">
              <a:xfrm>
                <a:off x="1279" y="3527"/>
                <a:ext cx="3245" cy="200"/>
              </a:xfrm>
              <a:prstGeom prst="rect">
                <a:avLst/>
              </a:prstGeom>
              <a:solidFill>
                <a:srgbClr val="E1E5E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8884" name="Rectangle 36"/>
              <p:cNvSpPr>
                <a:spLocks noChangeArrowheads="1"/>
              </p:cNvSpPr>
              <p:nvPr/>
            </p:nvSpPr>
            <p:spPr bwMode="auto">
              <a:xfrm>
                <a:off x="1343" y="3548"/>
                <a:ext cx="3118" cy="1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700">
                    <a:solidFill>
                      <a:srgbClr val="000000"/>
                    </a:solidFill>
                    <a:latin typeface="Arial" charset="0"/>
                  </a:rPr>
                  <a:t>2.  . . . leads to a 22% increase in quantity supplied.</a:t>
                </a:r>
                <a:endParaRPr lang="en-US"/>
              </a:p>
            </p:txBody>
          </p:sp>
        </p:grpSp>
      </p:grpSp>
      <p:grpSp>
        <p:nvGrpSpPr>
          <p:cNvPr id="78885" name="Group 37"/>
          <p:cNvGrpSpPr>
            <a:grpSpLocks/>
          </p:cNvGrpSpPr>
          <p:nvPr/>
        </p:nvGrpSpPr>
        <p:grpSpPr bwMode="auto">
          <a:xfrm>
            <a:off x="754063" y="3136900"/>
            <a:ext cx="1276350" cy="1250950"/>
            <a:chOff x="475" y="1976"/>
            <a:chExt cx="804" cy="788"/>
          </a:xfrm>
        </p:grpSpPr>
        <p:sp>
          <p:nvSpPr>
            <p:cNvPr id="78886" name="Line 38"/>
            <p:cNvSpPr>
              <a:spLocks noChangeShapeType="1"/>
            </p:cNvSpPr>
            <p:nvPr/>
          </p:nvSpPr>
          <p:spPr bwMode="auto">
            <a:xfrm flipV="1">
              <a:off x="911" y="1976"/>
              <a:ext cx="327" cy="300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78887" name="Group 39"/>
            <p:cNvGrpSpPr>
              <a:grpSpLocks/>
            </p:cNvGrpSpPr>
            <p:nvPr/>
          </p:nvGrpSpPr>
          <p:grpSpPr bwMode="auto">
            <a:xfrm>
              <a:off x="475" y="2226"/>
              <a:ext cx="804" cy="538"/>
              <a:chOff x="475" y="2226"/>
              <a:chExt cx="804" cy="538"/>
            </a:xfrm>
          </p:grpSpPr>
          <p:sp>
            <p:nvSpPr>
              <p:cNvPr id="78888" name="Rectangle 40"/>
              <p:cNvSpPr>
                <a:spLocks noChangeArrowheads="1"/>
              </p:cNvSpPr>
              <p:nvPr/>
            </p:nvSpPr>
            <p:spPr bwMode="auto">
              <a:xfrm>
                <a:off x="475" y="2226"/>
                <a:ext cx="804" cy="538"/>
              </a:xfrm>
              <a:prstGeom prst="rect">
                <a:avLst/>
              </a:prstGeom>
              <a:solidFill>
                <a:srgbClr val="E1E5E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8889" name="Rectangle 41"/>
              <p:cNvSpPr>
                <a:spLocks noChangeArrowheads="1"/>
              </p:cNvSpPr>
              <p:nvPr/>
            </p:nvSpPr>
            <p:spPr bwMode="auto">
              <a:xfrm>
                <a:off x="526" y="2253"/>
                <a:ext cx="554" cy="1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700">
                    <a:solidFill>
                      <a:srgbClr val="000000"/>
                    </a:solidFill>
                    <a:latin typeface="Arial" charset="0"/>
                  </a:rPr>
                  <a:t>1. A 22%</a:t>
                </a:r>
                <a:endParaRPr lang="en-US"/>
              </a:p>
            </p:txBody>
          </p:sp>
          <p:sp>
            <p:nvSpPr>
              <p:cNvPr id="78890" name="Rectangle 42"/>
              <p:cNvSpPr>
                <a:spLocks noChangeArrowheads="1"/>
              </p:cNvSpPr>
              <p:nvPr/>
            </p:nvSpPr>
            <p:spPr bwMode="auto">
              <a:xfrm>
                <a:off x="526" y="2420"/>
                <a:ext cx="515" cy="1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700">
                    <a:solidFill>
                      <a:srgbClr val="000000"/>
                    </a:solidFill>
                    <a:latin typeface="Arial" charset="0"/>
                  </a:rPr>
                  <a:t>increase</a:t>
                </a:r>
                <a:endParaRPr lang="en-US"/>
              </a:p>
            </p:txBody>
          </p:sp>
          <p:sp>
            <p:nvSpPr>
              <p:cNvPr id="78891" name="Rectangle 43"/>
              <p:cNvSpPr>
                <a:spLocks noChangeArrowheads="1"/>
              </p:cNvSpPr>
              <p:nvPr/>
            </p:nvSpPr>
            <p:spPr bwMode="auto">
              <a:xfrm>
                <a:off x="526" y="2586"/>
                <a:ext cx="667" cy="1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700">
                    <a:solidFill>
                      <a:srgbClr val="000000"/>
                    </a:solidFill>
                    <a:latin typeface="Arial" charset="0"/>
                  </a:rPr>
                  <a:t>in price . . .</a:t>
                </a:r>
                <a:endParaRPr lang="en-US"/>
              </a:p>
            </p:txBody>
          </p:sp>
        </p:grpSp>
      </p:grpSp>
      <p:grpSp>
        <p:nvGrpSpPr>
          <p:cNvPr id="78892" name="Group 44"/>
          <p:cNvGrpSpPr>
            <a:grpSpLocks/>
          </p:cNvGrpSpPr>
          <p:nvPr/>
        </p:nvGrpSpPr>
        <p:grpSpPr bwMode="auto">
          <a:xfrm>
            <a:off x="2203450" y="2438400"/>
            <a:ext cx="5008563" cy="2663825"/>
            <a:chOff x="1388" y="1536"/>
            <a:chExt cx="3155" cy="1678"/>
          </a:xfrm>
        </p:grpSpPr>
        <p:sp>
          <p:nvSpPr>
            <p:cNvPr id="78893" name="Line 45"/>
            <p:cNvSpPr>
              <a:spLocks noChangeShapeType="1"/>
            </p:cNvSpPr>
            <p:nvPr/>
          </p:nvSpPr>
          <p:spPr bwMode="auto">
            <a:xfrm flipH="1">
              <a:off x="1388" y="1600"/>
              <a:ext cx="2699" cy="1614"/>
            </a:xfrm>
            <a:prstGeom prst="line">
              <a:avLst/>
            </a:prstGeom>
            <a:noFill/>
            <a:ln w="65088">
              <a:solidFill>
                <a:srgbClr val="004C9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8894" name="Rectangle 46"/>
            <p:cNvSpPr>
              <a:spLocks noChangeArrowheads="1"/>
            </p:cNvSpPr>
            <p:nvPr/>
          </p:nvSpPr>
          <p:spPr bwMode="auto">
            <a:xfrm>
              <a:off x="4126" y="1536"/>
              <a:ext cx="417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700">
                  <a:solidFill>
                    <a:srgbClr val="000000"/>
                  </a:solidFill>
                  <a:latin typeface="Arial" charset="0"/>
                </a:rPr>
                <a:t>Supply</a:t>
              </a:r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7542335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7" dur="500"/>
                                        <p:tgtEl>
                                          <p:spTgt spid="788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2" dur="500"/>
                                        <p:tgtEl>
                                          <p:spTgt spid="788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3" presetClass="entr" presetSubtype="28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788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788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23" dur="500"/>
                                        <p:tgtEl>
                                          <p:spTgt spid="788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788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788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788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8864" grpId="0" animBg="1"/>
      <p:bldP spid="78866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826" name="Picture 2" descr="E:\Mankiw\Mankiw PPT\narrow aqua button bckgrd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688"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7827" name="Rectangle 3"/>
          <p:cNvSpPr>
            <a:spLocks noGrp="1" noChangeArrowheads="1"/>
          </p:cNvSpPr>
          <p:nvPr>
            <p:ph type="title"/>
          </p:nvPr>
        </p:nvSpPr>
        <p:spPr>
          <a:xfrm>
            <a:off x="609600" y="50800"/>
            <a:ext cx="8229600" cy="685800"/>
          </a:xfrm>
        </p:spPr>
        <p:txBody>
          <a:bodyPr/>
          <a:lstStyle/>
          <a:p>
            <a:pPr algn="l">
              <a:lnSpc>
                <a:spcPct val="80000"/>
              </a:lnSpc>
            </a:pPr>
            <a:r>
              <a:rPr lang="en-US" sz="2400" dirty="0">
                <a:solidFill>
                  <a:schemeClr val="bg1"/>
                </a:solidFill>
              </a:rPr>
              <a:t>The Price Elasticity of Supply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DCDE8-D88C-416B-90F0-F63B5615757D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77829" name="Rectangle 5"/>
          <p:cNvSpPr>
            <a:spLocks noChangeArrowheads="1"/>
          </p:cNvSpPr>
          <p:nvPr/>
        </p:nvSpPr>
        <p:spPr bwMode="auto">
          <a:xfrm>
            <a:off x="2443163" y="2047875"/>
            <a:ext cx="5322887" cy="3336925"/>
          </a:xfrm>
          <a:prstGeom prst="rect">
            <a:avLst/>
          </a:prstGeom>
          <a:solidFill>
            <a:srgbClr val="F3F6F9"/>
          </a:solidFill>
          <a:ln w="238125">
            <a:solidFill>
              <a:srgbClr val="F3F6F9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77830" name="Rectangle 6"/>
          <p:cNvSpPr>
            <a:spLocks noChangeArrowheads="1"/>
          </p:cNvSpPr>
          <p:nvPr/>
        </p:nvSpPr>
        <p:spPr bwMode="auto">
          <a:xfrm>
            <a:off x="2443163" y="2047875"/>
            <a:ext cx="5322887" cy="3336925"/>
          </a:xfrm>
          <a:prstGeom prst="rect">
            <a:avLst/>
          </a:prstGeom>
          <a:solidFill>
            <a:srgbClr val="F2F4F8"/>
          </a:solidFill>
          <a:ln w="215900">
            <a:solidFill>
              <a:srgbClr val="F2F4F8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77831" name="Rectangle 7"/>
          <p:cNvSpPr>
            <a:spLocks noChangeArrowheads="1"/>
          </p:cNvSpPr>
          <p:nvPr/>
        </p:nvSpPr>
        <p:spPr bwMode="auto">
          <a:xfrm>
            <a:off x="2443163" y="2047875"/>
            <a:ext cx="5322887" cy="3336925"/>
          </a:xfrm>
          <a:prstGeom prst="rect">
            <a:avLst/>
          </a:prstGeom>
          <a:solidFill>
            <a:srgbClr val="F1F4F7"/>
          </a:solidFill>
          <a:ln w="195263">
            <a:solidFill>
              <a:srgbClr val="F1F4F7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77832" name="Rectangle 8"/>
          <p:cNvSpPr>
            <a:spLocks noChangeArrowheads="1"/>
          </p:cNvSpPr>
          <p:nvPr/>
        </p:nvSpPr>
        <p:spPr bwMode="auto">
          <a:xfrm>
            <a:off x="2443163" y="2047875"/>
            <a:ext cx="5322887" cy="3336925"/>
          </a:xfrm>
          <a:prstGeom prst="rect">
            <a:avLst/>
          </a:prstGeom>
          <a:solidFill>
            <a:srgbClr val="F0F2F5"/>
          </a:solidFill>
          <a:ln w="173038">
            <a:solidFill>
              <a:srgbClr val="F0F2F5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77833" name="Rectangle 9"/>
          <p:cNvSpPr>
            <a:spLocks noChangeArrowheads="1"/>
          </p:cNvSpPr>
          <p:nvPr/>
        </p:nvSpPr>
        <p:spPr bwMode="auto">
          <a:xfrm>
            <a:off x="2443163" y="2047875"/>
            <a:ext cx="5322887" cy="3336925"/>
          </a:xfrm>
          <a:prstGeom prst="rect">
            <a:avLst/>
          </a:prstGeom>
          <a:solidFill>
            <a:srgbClr val="EEF1F4"/>
          </a:solidFill>
          <a:ln w="150813">
            <a:solidFill>
              <a:srgbClr val="EEF1F4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77834" name="Rectangle 10"/>
          <p:cNvSpPr>
            <a:spLocks noChangeArrowheads="1"/>
          </p:cNvSpPr>
          <p:nvPr/>
        </p:nvSpPr>
        <p:spPr bwMode="auto">
          <a:xfrm>
            <a:off x="2443163" y="2047875"/>
            <a:ext cx="5322887" cy="3336925"/>
          </a:xfrm>
          <a:prstGeom prst="rect">
            <a:avLst/>
          </a:prstGeom>
          <a:solidFill>
            <a:srgbClr val="EDEFF3"/>
          </a:solidFill>
          <a:ln w="130175">
            <a:solidFill>
              <a:srgbClr val="EDEFF3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77835" name="Rectangle 11"/>
          <p:cNvSpPr>
            <a:spLocks noChangeArrowheads="1"/>
          </p:cNvSpPr>
          <p:nvPr/>
        </p:nvSpPr>
        <p:spPr bwMode="auto">
          <a:xfrm>
            <a:off x="2443163" y="2047875"/>
            <a:ext cx="5322887" cy="3336925"/>
          </a:xfrm>
          <a:prstGeom prst="rect">
            <a:avLst/>
          </a:prstGeom>
          <a:solidFill>
            <a:srgbClr val="EBEEF2"/>
          </a:solidFill>
          <a:ln w="107950">
            <a:solidFill>
              <a:srgbClr val="EBEEF2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77836" name="Rectangle 12"/>
          <p:cNvSpPr>
            <a:spLocks noChangeArrowheads="1"/>
          </p:cNvSpPr>
          <p:nvPr/>
        </p:nvSpPr>
        <p:spPr bwMode="auto">
          <a:xfrm>
            <a:off x="2443163" y="2047875"/>
            <a:ext cx="5322887" cy="3336925"/>
          </a:xfrm>
          <a:prstGeom prst="rect">
            <a:avLst/>
          </a:prstGeom>
          <a:solidFill>
            <a:srgbClr val="EAECF1"/>
          </a:solidFill>
          <a:ln w="87313">
            <a:solidFill>
              <a:srgbClr val="EAECF1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77837" name="Rectangle 13"/>
          <p:cNvSpPr>
            <a:spLocks noChangeArrowheads="1"/>
          </p:cNvSpPr>
          <p:nvPr/>
        </p:nvSpPr>
        <p:spPr bwMode="auto">
          <a:xfrm>
            <a:off x="2443163" y="2047875"/>
            <a:ext cx="5322887" cy="3336925"/>
          </a:xfrm>
          <a:prstGeom prst="rect">
            <a:avLst/>
          </a:prstGeom>
          <a:solidFill>
            <a:srgbClr val="E9EBF0"/>
          </a:solidFill>
          <a:ln w="65088">
            <a:solidFill>
              <a:srgbClr val="E9EBF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77838" name="Rectangle 14"/>
          <p:cNvSpPr>
            <a:spLocks noChangeArrowheads="1"/>
          </p:cNvSpPr>
          <p:nvPr/>
        </p:nvSpPr>
        <p:spPr bwMode="auto">
          <a:xfrm>
            <a:off x="2443163" y="2047875"/>
            <a:ext cx="5322887" cy="3336925"/>
          </a:xfrm>
          <a:prstGeom prst="rect">
            <a:avLst/>
          </a:prstGeom>
          <a:solidFill>
            <a:srgbClr val="E7EAEF"/>
          </a:solidFill>
          <a:ln w="42863">
            <a:solidFill>
              <a:srgbClr val="E7EAEF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77839" name="Rectangle 15"/>
          <p:cNvSpPr>
            <a:spLocks noChangeArrowheads="1"/>
          </p:cNvSpPr>
          <p:nvPr/>
        </p:nvSpPr>
        <p:spPr bwMode="auto">
          <a:xfrm>
            <a:off x="2443163" y="2047875"/>
            <a:ext cx="5322887" cy="3336925"/>
          </a:xfrm>
          <a:prstGeom prst="rect">
            <a:avLst/>
          </a:prstGeom>
          <a:solidFill>
            <a:srgbClr val="E6E9EF"/>
          </a:solidFill>
          <a:ln w="22225">
            <a:solidFill>
              <a:srgbClr val="E6E9EF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77840" name="Rectangle 16"/>
          <p:cNvSpPr>
            <a:spLocks noChangeArrowheads="1"/>
          </p:cNvSpPr>
          <p:nvPr/>
        </p:nvSpPr>
        <p:spPr bwMode="auto">
          <a:xfrm>
            <a:off x="2335213" y="1949450"/>
            <a:ext cx="5322887" cy="3335338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7841" name="Freeform 17"/>
          <p:cNvSpPr>
            <a:spLocks/>
          </p:cNvSpPr>
          <p:nvPr/>
        </p:nvSpPr>
        <p:spPr bwMode="auto">
          <a:xfrm>
            <a:off x="2335213" y="1949450"/>
            <a:ext cx="5322887" cy="3335338"/>
          </a:xfrm>
          <a:custGeom>
            <a:avLst/>
            <a:gdLst>
              <a:gd name="T0" fmla="*/ 0 w 3353"/>
              <a:gd name="T1" fmla="*/ 0 h 2101"/>
              <a:gd name="T2" fmla="*/ 0 w 3353"/>
              <a:gd name="T3" fmla="*/ 2101 h 2101"/>
              <a:gd name="T4" fmla="*/ 3353 w 3353"/>
              <a:gd name="T5" fmla="*/ 2101 h 21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3353" h="2101">
                <a:moveTo>
                  <a:pt x="0" y="0"/>
                </a:moveTo>
                <a:lnTo>
                  <a:pt x="0" y="2101"/>
                </a:lnTo>
                <a:lnTo>
                  <a:pt x="3353" y="2101"/>
                </a:lnTo>
              </a:path>
            </a:pathLst>
          </a:custGeom>
          <a:noFill/>
          <a:ln w="22225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7842" name="Line 18"/>
          <p:cNvSpPr>
            <a:spLocks noChangeShapeType="1"/>
          </p:cNvSpPr>
          <p:nvPr/>
        </p:nvSpPr>
        <p:spPr bwMode="auto">
          <a:xfrm>
            <a:off x="2182813" y="3189288"/>
            <a:ext cx="3175" cy="222250"/>
          </a:xfrm>
          <a:prstGeom prst="line">
            <a:avLst/>
          </a:prstGeom>
          <a:noFill/>
          <a:ln w="22225">
            <a:solidFill>
              <a:srgbClr val="000000"/>
            </a:solidFill>
            <a:round/>
            <a:headEnd type="stealth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7843" name="Line 19"/>
          <p:cNvSpPr>
            <a:spLocks noChangeShapeType="1"/>
          </p:cNvSpPr>
          <p:nvPr/>
        </p:nvSpPr>
        <p:spPr bwMode="auto">
          <a:xfrm flipH="1">
            <a:off x="4130675" y="5445125"/>
            <a:ext cx="908050" cy="1588"/>
          </a:xfrm>
          <a:prstGeom prst="line">
            <a:avLst/>
          </a:prstGeom>
          <a:noFill/>
          <a:ln w="22225">
            <a:solidFill>
              <a:srgbClr val="000000"/>
            </a:solidFill>
            <a:round/>
            <a:headEnd type="stealth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7844" name="Rectangle 20"/>
          <p:cNvSpPr>
            <a:spLocks noChangeArrowheads="1"/>
          </p:cNvSpPr>
          <p:nvPr/>
        </p:nvSpPr>
        <p:spPr bwMode="auto">
          <a:xfrm>
            <a:off x="2474913" y="1547813"/>
            <a:ext cx="4725987" cy="258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sz="1700" b="1">
                <a:solidFill>
                  <a:srgbClr val="000000"/>
                </a:solidFill>
                <a:latin typeface="Arial" charset="0"/>
              </a:rPr>
              <a:t>(d) Elastic Supply: Elasticity Is Greater Than 1</a:t>
            </a:r>
            <a:endParaRPr lang="en-US"/>
          </a:p>
        </p:txBody>
      </p:sp>
      <p:sp>
        <p:nvSpPr>
          <p:cNvPr id="77845" name="Rectangle 21"/>
          <p:cNvSpPr>
            <a:spLocks noChangeArrowheads="1"/>
          </p:cNvSpPr>
          <p:nvPr/>
        </p:nvSpPr>
        <p:spPr bwMode="auto">
          <a:xfrm>
            <a:off x="6727825" y="5297488"/>
            <a:ext cx="876300" cy="258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sz="1700" b="1">
                <a:solidFill>
                  <a:srgbClr val="000000"/>
                </a:solidFill>
                <a:latin typeface="Arial" charset="0"/>
              </a:rPr>
              <a:t>Quantity</a:t>
            </a:r>
            <a:endParaRPr lang="en-US"/>
          </a:p>
        </p:txBody>
      </p:sp>
      <p:sp>
        <p:nvSpPr>
          <p:cNvPr id="77846" name="Rectangle 22"/>
          <p:cNvSpPr>
            <a:spLocks noChangeArrowheads="1"/>
          </p:cNvSpPr>
          <p:nvPr/>
        </p:nvSpPr>
        <p:spPr bwMode="auto">
          <a:xfrm>
            <a:off x="2114550" y="5386388"/>
            <a:ext cx="120650" cy="258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sz="1700">
                <a:solidFill>
                  <a:srgbClr val="000000"/>
                </a:solidFill>
                <a:latin typeface="Arial" charset="0"/>
              </a:rPr>
              <a:t>0</a:t>
            </a:r>
            <a:endParaRPr lang="en-US"/>
          </a:p>
        </p:txBody>
      </p:sp>
      <p:sp>
        <p:nvSpPr>
          <p:cNvPr id="77847" name="Rectangle 23"/>
          <p:cNvSpPr>
            <a:spLocks noChangeArrowheads="1"/>
          </p:cNvSpPr>
          <p:nvPr/>
        </p:nvSpPr>
        <p:spPr bwMode="auto">
          <a:xfrm>
            <a:off x="1668463" y="1924050"/>
            <a:ext cx="530225" cy="258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sz="1700" b="1">
                <a:solidFill>
                  <a:srgbClr val="000000"/>
                </a:solidFill>
                <a:latin typeface="Arial" charset="0"/>
              </a:rPr>
              <a:t>Price</a:t>
            </a:r>
            <a:endParaRPr lang="en-US"/>
          </a:p>
        </p:txBody>
      </p:sp>
      <p:grpSp>
        <p:nvGrpSpPr>
          <p:cNvPr id="77848" name="Group 24"/>
          <p:cNvGrpSpPr>
            <a:grpSpLocks/>
          </p:cNvGrpSpPr>
          <p:nvPr/>
        </p:nvGrpSpPr>
        <p:grpSpPr bwMode="auto">
          <a:xfrm>
            <a:off x="884238" y="3298825"/>
            <a:ext cx="1255712" cy="1271588"/>
            <a:chOff x="557" y="2078"/>
            <a:chExt cx="791" cy="801"/>
          </a:xfrm>
        </p:grpSpPr>
        <p:sp>
          <p:nvSpPr>
            <p:cNvPr id="77849" name="Line 25"/>
            <p:cNvSpPr>
              <a:spLocks noChangeShapeType="1"/>
            </p:cNvSpPr>
            <p:nvPr/>
          </p:nvSpPr>
          <p:spPr bwMode="auto">
            <a:xfrm flipV="1">
              <a:off x="993" y="2078"/>
              <a:ext cx="328" cy="313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77850" name="Group 26"/>
            <p:cNvGrpSpPr>
              <a:grpSpLocks/>
            </p:cNvGrpSpPr>
            <p:nvPr/>
          </p:nvGrpSpPr>
          <p:grpSpPr bwMode="auto">
            <a:xfrm>
              <a:off x="557" y="2341"/>
              <a:ext cx="791" cy="538"/>
              <a:chOff x="557" y="2341"/>
              <a:chExt cx="791" cy="538"/>
            </a:xfrm>
          </p:grpSpPr>
          <p:sp>
            <p:nvSpPr>
              <p:cNvPr id="77851" name="Rectangle 27"/>
              <p:cNvSpPr>
                <a:spLocks noChangeArrowheads="1"/>
              </p:cNvSpPr>
              <p:nvPr/>
            </p:nvSpPr>
            <p:spPr bwMode="auto">
              <a:xfrm>
                <a:off x="557" y="2341"/>
                <a:ext cx="791" cy="538"/>
              </a:xfrm>
              <a:prstGeom prst="rect">
                <a:avLst/>
              </a:prstGeom>
              <a:solidFill>
                <a:srgbClr val="E1E5E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7852" name="Rectangle 28"/>
              <p:cNvSpPr>
                <a:spLocks noChangeArrowheads="1"/>
              </p:cNvSpPr>
              <p:nvPr/>
            </p:nvSpPr>
            <p:spPr bwMode="auto">
              <a:xfrm>
                <a:off x="606" y="2366"/>
                <a:ext cx="554" cy="1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700">
                    <a:solidFill>
                      <a:srgbClr val="000000"/>
                    </a:solidFill>
                    <a:latin typeface="Arial" charset="0"/>
                  </a:rPr>
                  <a:t>1. A 22%</a:t>
                </a:r>
                <a:endParaRPr lang="en-US"/>
              </a:p>
            </p:txBody>
          </p:sp>
          <p:sp>
            <p:nvSpPr>
              <p:cNvPr id="77853" name="Rectangle 29"/>
              <p:cNvSpPr>
                <a:spLocks noChangeArrowheads="1"/>
              </p:cNvSpPr>
              <p:nvPr/>
            </p:nvSpPr>
            <p:spPr bwMode="auto">
              <a:xfrm>
                <a:off x="606" y="2533"/>
                <a:ext cx="515" cy="1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700">
                    <a:solidFill>
                      <a:srgbClr val="000000"/>
                    </a:solidFill>
                    <a:latin typeface="Arial" charset="0"/>
                  </a:rPr>
                  <a:t>increase</a:t>
                </a:r>
                <a:endParaRPr lang="en-US"/>
              </a:p>
            </p:txBody>
          </p:sp>
          <p:sp>
            <p:nvSpPr>
              <p:cNvPr id="77854" name="Rectangle 30"/>
              <p:cNvSpPr>
                <a:spLocks noChangeArrowheads="1"/>
              </p:cNvSpPr>
              <p:nvPr/>
            </p:nvSpPr>
            <p:spPr bwMode="auto">
              <a:xfrm>
                <a:off x="606" y="2699"/>
                <a:ext cx="667" cy="1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700">
                    <a:solidFill>
                      <a:srgbClr val="000000"/>
                    </a:solidFill>
                    <a:latin typeface="Arial" charset="0"/>
                  </a:rPr>
                  <a:t>in price . . .</a:t>
                </a:r>
                <a:endParaRPr lang="en-US"/>
              </a:p>
            </p:txBody>
          </p:sp>
        </p:grpSp>
      </p:grpSp>
      <p:grpSp>
        <p:nvGrpSpPr>
          <p:cNvPr id="77855" name="Group 31"/>
          <p:cNvGrpSpPr>
            <a:grpSpLocks/>
          </p:cNvGrpSpPr>
          <p:nvPr/>
        </p:nvGrpSpPr>
        <p:grpSpPr bwMode="auto">
          <a:xfrm>
            <a:off x="2290763" y="5524500"/>
            <a:ext cx="5018087" cy="574675"/>
            <a:chOff x="1443" y="3480"/>
            <a:chExt cx="3161" cy="362"/>
          </a:xfrm>
        </p:grpSpPr>
        <p:sp>
          <p:nvSpPr>
            <p:cNvPr id="77856" name="Line 32"/>
            <p:cNvSpPr>
              <a:spLocks noChangeShapeType="1"/>
            </p:cNvSpPr>
            <p:nvPr/>
          </p:nvSpPr>
          <p:spPr bwMode="auto">
            <a:xfrm>
              <a:off x="2929" y="3480"/>
              <a:ext cx="150" cy="175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77857" name="Group 33"/>
            <p:cNvGrpSpPr>
              <a:grpSpLocks/>
            </p:cNvGrpSpPr>
            <p:nvPr/>
          </p:nvGrpSpPr>
          <p:grpSpPr bwMode="auto">
            <a:xfrm>
              <a:off x="1443" y="3642"/>
              <a:ext cx="3161" cy="200"/>
              <a:chOff x="1443" y="3642"/>
              <a:chExt cx="3161" cy="200"/>
            </a:xfrm>
          </p:grpSpPr>
          <p:sp>
            <p:nvSpPr>
              <p:cNvPr id="77858" name="Rectangle 34"/>
              <p:cNvSpPr>
                <a:spLocks noChangeArrowheads="1"/>
              </p:cNvSpPr>
              <p:nvPr/>
            </p:nvSpPr>
            <p:spPr bwMode="auto">
              <a:xfrm>
                <a:off x="1443" y="3642"/>
                <a:ext cx="3161" cy="200"/>
              </a:xfrm>
              <a:prstGeom prst="rect">
                <a:avLst/>
              </a:prstGeom>
              <a:solidFill>
                <a:srgbClr val="E1E5E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7859" name="Rectangle 35"/>
              <p:cNvSpPr>
                <a:spLocks noChangeArrowheads="1"/>
              </p:cNvSpPr>
              <p:nvPr/>
            </p:nvSpPr>
            <p:spPr bwMode="auto">
              <a:xfrm>
                <a:off x="1473" y="3661"/>
                <a:ext cx="3080" cy="1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700">
                    <a:solidFill>
                      <a:srgbClr val="000000"/>
                    </a:solidFill>
                    <a:latin typeface="Arial" charset="0"/>
                  </a:rPr>
                  <a:t>2. . . . leads to a 67% increase in quantity supplied.</a:t>
                </a:r>
                <a:endParaRPr lang="en-US"/>
              </a:p>
            </p:txBody>
          </p:sp>
        </p:grpSp>
      </p:grpSp>
      <p:grpSp>
        <p:nvGrpSpPr>
          <p:cNvPr id="77860" name="Group 36"/>
          <p:cNvGrpSpPr>
            <a:grpSpLocks/>
          </p:cNvGrpSpPr>
          <p:nvPr/>
        </p:nvGrpSpPr>
        <p:grpSpPr bwMode="auto">
          <a:xfrm>
            <a:off x="2108200" y="3384550"/>
            <a:ext cx="1911350" cy="2178050"/>
            <a:chOff x="1328" y="2132"/>
            <a:chExt cx="1204" cy="1372"/>
          </a:xfrm>
        </p:grpSpPr>
        <p:sp>
          <p:nvSpPr>
            <p:cNvPr id="77861" name="Freeform 37"/>
            <p:cNvSpPr>
              <a:spLocks/>
            </p:cNvSpPr>
            <p:nvPr/>
          </p:nvSpPr>
          <p:spPr bwMode="auto">
            <a:xfrm>
              <a:off x="1471" y="2191"/>
              <a:ext cx="954" cy="1138"/>
            </a:xfrm>
            <a:custGeom>
              <a:avLst/>
              <a:gdLst>
                <a:gd name="T0" fmla="*/ 954 w 954"/>
                <a:gd name="T1" fmla="*/ 1138 h 1138"/>
                <a:gd name="T2" fmla="*/ 954 w 954"/>
                <a:gd name="T3" fmla="*/ 0 h 1138"/>
                <a:gd name="T4" fmla="*/ 0 w 954"/>
                <a:gd name="T5" fmla="*/ 0 h 11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954" h="1138">
                  <a:moveTo>
                    <a:pt x="954" y="1138"/>
                  </a:moveTo>
                  <a:lnTo>
                    <a:pt x="954" y="0"/>
                  </a:lnTo>
                  <a:lnTo>
                    <a:pt x="0" y="0"/>
                  </a:lnTo>
                </a:path>
              </a:pathLst>
            </a:custGeom>
            <a:noFill/>
            <a:ln w="22225" cap="flat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7862" name="Rectangle 38"/>
            <p:cNvSpPr>
              <a:spLocks noChangeArrowheads="1"/>
            </p:cNvSpPr>
            <p:nvPr/>
          </p:nvSpPr>
          <p:spPr bwMode="auto">
            <a:xfrm>
              <a:off x="1328" y="2132"/>
              <a:ext cx="76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700">
                  <a:solidFill>
                    <a:srgbClr val="000000"/>
                  </a:solidFill>
                  <a:latin typeface="Arial" charset="0"/>
                </a:rPr>
                <a:t>4</a:t>
              </a:r>
              <a:endParaRPr lang="en-US"/>
            </a:p>
          </p:txBody>
        </p:sp>
        <p:sp>
          <p:nvSpPr>
            <p:cNvPr id="77863" name="Rectangle 39"/>
            <p:cNvSpPr>
              <a:spLocks noChangeArrowheads="1"/>
            </p:cNvSpPr>
            <p:nvPr/>
          </p:nvSpPr>
          <p:spPr bwMode="auto">
            <a:xfrm>
              <a:off x="2304" y="3341"/>
              <a:ext cx="228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700">
                  <a:solidFill>
                    <a:srgbClr val="000000"/>
                  </a:solidFill>
                  <a:latin typeface="Arial" charset="0"/>
                </a:rPr>
                <a:t>100</a:t>
              </a:r>
              <a:endParaRPr lang="en-US"/>
            </a:p>
          </p:txBody>
        </p:sp>
      </p:grpSp>
      <p:grpSp>
        <p:nvGrpSpPr>
          <p:cNvPr id="77864" name="Group 40"/>
          <p:cNvGrpSpPr>
            <a:grpSpLocks/>
          </p:cNvGrpSpPr>
          <p:nvPr/>
        </p:nvGrpSpPr>
        <p:grpSpPr bwMode="auto">
          <a:xfrm>
            <a:off x="1978025" y="2941638"/>
            <a:ext cx="3554413" cy="2620962"/>
            <a:chOff x="1246" y="1853"/>
            <a:chExt cx="2239" cy="1651"/>
          </a:xfrm>
        </p:grpSpPr>
        <p:sp>
          <p:nvSpPr>
            <p:cNvPr id="77865" name="Freeform 41"/>
            <p:cNvSpPr>
              <a:spLocks/>
            </p:cNvSpPr>
            <p:nvPr/>
          </p:nvSpPr>
          <p:spPr bwMode="auto">
            <a:xfrm>
              <a:off x="1471" y="1916"/>
              <a:ext cx="1908" cy="1413"/>
            </a:xfrm>
            <a:custGeom>
              <a:avLst/>
              <a:gdLst>
                <a:gd name="T0" fmla="*/ 1908 w 1908"/>
                <a:gd name="T1" fmla="*/ 1413 h 1413"/>
                <a:gd name="T2" fmla="*/ 1908 w 1908"/>
                <a:gd name="T3" fmla="*/ 0 h 1413"/>
                <a:gd name="T4" fmla="*/ 0 w 1908"/>
                <a:gd name="T5" fmla="*/ 0 h 1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08" h="1413">
                  <a:moveTo>
                    <a:pt x="1908" y="1413"/>
                  </a:moveTo>
                  <a:lnTo>
                    <a:pt x="1908" y="0"/>
                  </a:lnTo>
                  <a:lnTo>
                    <a:pt x="0" y="0"/>
                  </a:lnTo>
                </a:path>
              </a:pathLst>
            </a:custGeom>
            <a:noFill/>
            <a:ln w="22225" cap="flat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7866" name="Rectangle 42"/>
            <p:cNvSpPr>
              <a:spLocks noChangeArrowheads="1"/>
            </p:cNvSpPr>
            <p:nvPr/>
          </p:nvSpPr>
          <p:spPr bwMode="auto">
            <a:xfrm>
              <a:off x="1246" y="1853"/>
              <a:ext cx="152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700">
                  <a:solidFill>
                    <a:srgbClr val="000000"/>
                  </a:solidFill>
                  <a:latin typeface="Arial" charset="0"/>
                </a:rPr>
                <a:t>$5</a:t>
              </a:r>
              <a:endParaRPr lang="en-US"/>
            </a:p>
          </p:txBody>
        </p:sp>
        <p:sp>
          <p:nvSpPr>
            <p:cNvPr id="77867" name="Rectangle 43"/>
            <p:cNvSpPr>
              <a:spLocks noChangeArrowheads="1"/>
            </p:cNvSpPr>
            <p:nvPr/>
          </p:nvSpPr>
          <p:spPr bwMode="auto">
            <a:xfrm>
              <a:off x="3257" y="3341"/>
              <a:ext cx="228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700">
                  <a:solidFill>
                    <a:srgbClr val="000000"/>
                  </a:solidFill>
                  <a:latin typeface="Arial" charset="0"/>
                </a:rPr>
                <a:t>200</a:t>
              </a:r>
              <a:endParaRPr lang="en-US"/>
            </a:p>
          </p:txBody>
        </p:sp>
      </p:grpSp>
      <p:grpSp>
        <p:nvGrpSpPr>
          <p:cNvPr id="77868" name="Group 44"/>
          <p:cNvGrpSpPr>
            <a:grpSpLocks/>
          </p:cNvGrpSpPr>
          <p:nvPr/>
        </p:nvGrpSpPr>
        <p:grpSpPr bwMode="auto">
          <a:xfrm>
            <a:off x="2551113" y="2479675"/>
            <a:ext cx="5011737" cy="1395413"/>
            <a:chOff x="1607" y="1562"/>
            <a:chExt cx="3157" cy="879"/>
          </a:xfrm>
        </p:grpSpPr>
        <p:sp>
          <p:nvSpPr>
            <p:cNvPr id="77869" name="Line 45"/>
            <p:cNvSpPr>
              <a:spLocks noChangeShapeType="1"/>
            </p:cNvSpPr>
            <p:nvPr/>
          </p:nvSpPr>
          <p:spPr bwMode="auto">
            <a:xfrm flipH="1">
              <a:off x="1607" y="1640"/>
              <a:ext cx="2699" cy="801"/>
            </a:xfrm>
            <a:prstGeom prst="line">
              <a:avLst/>
            </a:prstGeom>
            <a:noFill/>
            <a:ln w="65088">
              <a:solidFill>
                <a:srgbClr val="004C9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7870" name="Rectangle 46"/>
            <p:cNvSpPr>
              <a:spLocks noChangeArrowheads="1"/>
            </p:cNvSpPr>
            <p:nvPr/>
          </p:nvSpPr>
          <p:spPr bwMode="auto">
            <a:xfrm>
              <a:off x="4347" y="1562"/>
              <a:ext cx="417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700">
                  <a:solidFill>
                    <a:srgbClr val="000000"/>
                  </a:solidFill>
                  <a:latin typeface="Arial" charset="0"/>
                </a:rPr>
                <a:t>Supply</a:t>
              </a:r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2354975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7" dur="500"/>
                                        <p:tgtEl>
                                          <p:spTgt spid="778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2" dur="500"/>
                                        <p:tgtEl>
                                          <p:spTgt spid="778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3" presetClass="entr" presetSubtype="28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778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778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23" dur="500"/>
                                        <p:tgtEl>
                                          <p:spTgt spid="778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778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778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778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842" grpId="0" animBg="1"/>
      <p:bldP spid="77843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802" name="Picture 2" descr="E:\Mankiw\Mankiw PPT\narrow aqua button bckgrd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688"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6803" name="Rectangle 3"/>
          <p:cNvSpPr>
            <a:spLocks noGrp="1" noChangeArrowheads="1"/>
          </p:cNvSpPr>
          <p:nvPr>
            <p:ph type="title"/>
          </p:nvPr>
        </p:nvSpPr>
        <p:spPr>
          <a:xfrm>
            <a:off x="609600" y="50800"/>
            <a:ext cx="8229600" cy="685800"/>
          </a:xfrm>
        </p:spPr>
        <p:txBody>
          <a:bodyPr/>
          <a:lstStyle/>
          <a:p>
            <a:pPr algn="l">
              <a:lnSpc>
                <a:spcPct val="80000"/>
              </a:lnSpc>
            </a:pPr>
            <a:r>
              <a:rPr lang="en-US" sz="2400" dirty="0">
                <a:solidFill>
                  <a:schemeClr val="bg1"/>
                </a:solidFill>
              </a:rPr>
              <a:t>The Price Elasticity of Supply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DCDE8-D88C-416B-90F0-F63B5615757D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76805" name="Rectangle 5"/>
          <p:cNvSpPr>
            <a:spLocks noChangeArrowheads="1"/>
          </p:cNvSpPr>
          <p:nvPr/>
        </p:nvSpPr>
        <p:spPr bwMode="auto">
          <a:xfrm>
            <a:off x="2057400" y="2124075"/>
            <a:ext cx="5322888" cy="3336925"/>
          </a:xfrm>
          <a:prstGeom prst="rect">
            <a:avLst/>
          </a:prstGeom>
          <a:solidFill>
            <a:srgbClr val="F3F6F9"/>
          </a:solidFill>
          <a:ln w="238125">
            <a:solidFill>
              <a:srgbClr val="F3F6F9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76806" name="Rectangle 6"/>
          <p:cNvSpPr>
            <a:spLocks noChangeArrowheads="1"/>
          </p:cNvSpPr>
          <p:nvPr/>
        </p:nvSpPr>
        <p:spPr bwMode="auto">
          <a:xfrm>
            <a:off x="2057400" y="2124075"/>
            <a:ext cx="5322888" cy="3336925"/>
          </a:xfrm>
          <a:prstGeom prst="rect">
            <a:avLst/>
          </a:prstGeom>
          <a:solidFill>
            <a:srgbClr val="F2F4F8"/>
          </a:solidFill>
          <a:ln w="215900">
            <a:solidFill>
              <a:srgbClr val="F2F4F8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76807" name="Rectangle 7"/>
          <p:cNvSpPr>
            <a:spLocks noChangeArrowheads="1"/>
          </p:cNvSpPr>
          <p:nvPr/>
        </p:nvSpPr>
        <p:spPr bwMode="auto">
          <a:xfrm>
            <a:off x="2057400" y="2124075"/>
            <a:ext cx="5322888" cy="3336925"/>
          </a:xfrm>
          <a:prstGeom prst="rect">
            <a:avLst/>
          </a:prstGeom>
          <a:solidFill>
            <a:srgbClr val="F1F4F7"/>
          </a:solidFill>
          <a:ln w="195263">
            <a:solidFill>
              <a:srgbClr val="F1F4F7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76808" name="Rectangle 8"/>
          <p:cNvSpPr>
            <a:spLocks noChangeArrowheads="1"/>
          </p:cNvSpPr>
          <p:nvPr/>
        </p:nvSpPr>
        <p:spPr bwMode="auto">
          <a:xfrm>
            <a:off x="2057400" y="2124075"/>
            <a:ext cx="5322888" cy="3336925"/>
          </a:xfrm>
          <a:prstGeom prst="rect">
            <a:avLst/>
          </a:prstGeom>
          <a:solidFill>
            <a:srgbClr val="F0F2F5"/>
          </a:solidFill>
          <a:ln w="173038">
            <a:solidFill>
              <a:srgbClr val="F0F2F5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76809" name="Rectangle 9"/>
          <p:cNvSpPr>
            <a:spLocks noChangeArrowheads="1"/>
          </p:cNvSpPr>
          <p:nvPr/>
        </p:nvSpPr>
        <p:spPr bwMode="auto">
          <a:xfrm>
            <a:off x="2057400" y="2124075"/>
            <a:ext cx="5322888" cy="3336925"/>
          </a:xfrm>
          <a:prstGeom prst="rect">
            <a:avLst/>
          </a:prstGeom>
          <a:solidFill>
            <a:srgbClr val="EEF1F4"/>
          </a:solidFill>
          <a:ln w="150813">
            <a:solidFill>
              <a:srgbClr val="EEF1F4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76810" name="Rectangle 10"/>
          <p:cNvSpPr>
            <a:spLocks noChangeArrowheads="1"/>
          </p:cNvSpPr>
          <p:nvPr/>
        </p:nvSpPr>
        <p:spPr bwMode="auto">
          <a:xfrm>
            <a:off x="2057400" y="2124075"/>
            <a:ext cx="5322888" cy="3336925"/>
          </a:xfrm>
          <a:prstGeom prst="rect">
            <a:avLst/>
          </a:prstGeom>
          <a:solidFill>
            <a:srgbClr val="EDEFF3"/>
          </a:solidFill>
          <a:ln w="130175">
            <a:solidFill>
              <a:srgbClr val="EDEFF3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76811" name="Rectangle 11"/>
          <p:cNvSpPr>
            <a:spLocks noChangeArrowheads="1"/>
          </p:cNvSpPr>
          <p:nvPr/>
        </p:nvSpPr>
        <p:spPr bwMode="auto">
          <a:xfrm>
            <a:off x="2057400" y="2124075"/>
            <a:ext cx="5322888" cy="3336925"/>
          </a:xfrm>
          <a:prstGeom prst="rect">
            <a:avLst/>
          </a:prstGeom>
          <a:solidFill>
            <a:srgbClr val="EBEEF2"/>
          </a:solidFill>
          <a:ln w="107950">
            <a:solidFill>
              <a:srgbClr val="EBEEF2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76812" name="Rectangle 12"/>
          <p:cNvSpPr>
            <a:spLocks noChangeArrowheads="1"/>
          </p:cNvSpPr>
          <p:nvPr/>
        </p:nvSpPr>
        <p:spPr bwMode="auto">
          <a:xfrm>
            <a:off x="2057400" y="2124075"/>
            <a:ext cx="5322888" cy="3336925"/>
          </a:xfrm>
          <a:prstGeom prst="rect">
            <a:avLst/>
          </a:prstGeom>
          <a:solidFill>
            <a:srgbClr val="EAECF1"/>
          </a:solidFill>
          <a:ln w="87313">
            <a:solidFill>
              <a:srgbClr val="EAECF1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76813" name="Rectangle 13"/>
          <p:cNvSpPr>
            <a:spLocks noChangeArrowheads="1"/>
          </p:cNvSpPr>
          <p:nvPr/>
        </p:nvSpPr>
        <p:spPr bwMode="auto">
          <a:xfrm>
            <a:off x="2057400" y="2124075"/>
            <a:ext cx="5322888" cy="3336925"/>
          </a:xfrm>
          <a:prstGeom prst="rect">
            <a:avLst/>
          </a:prstGeom>
          <a:solidFill>
            <a:srgbClr val="E9EBF0"/>
          </a:solidFill>
          <a:ln w="65088">
            <a:solidFill>
              <a:srgbClr val="E9EBF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76814" name="Rectangle 14"/>
          <p:cNvSpPr>
            <a:spLocks noChangeArrowheads="1"/>
          </p:cNvSpPr>
          <p:nvPr/>
        </p:nvSpPr>
        <p:spPr bwMode="auto">
          <a:xfrm>
            <a:off x="2057400" y="2124075"/>
            <a:ext cx="5322888" cy="3336925"/>
          </a:xfrm>
          <a:prstGeom prst="rect">
            <a:avLst/>
          </a:prstGeom>
          <a:solidFill>
            <a:srgbClr val="E7EAEF"/>
          </a:solidFill>
          <a:ln w="42863">
            <a:solidFill>
              <a:srgbClr val="E7EAEF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76815" name="Rectangle 15"/>
          <p:cNvSpPr>
            <a:spLocks noChangeArrowheads="1"/>
          </p:cNvSpPr>
          <p:nvPr/>
        </p:nvSpPr>
        <p:spPr bwMode="auto">
          <a:xfrm>
            <a:off x="2057400" y="2124075"/>
            <a:ext cx="5322888" cy="3336925"/>
          </a:xfrm>
          <a:prstGeom prst="rect">
            <a:avLst/>
          </a:prstGeom>
          <a:solidFill>
            <a:srgbClr val="E6E9EF"/>
          </a:solidFill>
          <a:ln w="22225">
            <a:solidFill>
              <a:srgbClr val="E6E9EF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76816" name="Rectangle 16"/>
          <p:cNvSpPr>
            <a:spLocks noChangeArrowheads="1"/>
          </p:cNvSpPr>
          <p:nvPr/>
        </p:nvSpPr>
        <p:spPr bwMode="auto">
          <a:xfrm>
            <a:off x="1970088" y="2025650"/>
            <a:ext cx="5322887" cy="3335338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6817" name="Freeform 17"/>
          <p:cNvSpPr>
            <a:spLocks/>
          </p:cNvSpPr>
          <p:nvPr/>
        </p:nvSpPr>
        <p:spPr bwMode="auto">
          <a:xfrm>
            <a:off x="1957388" y="2025650"/>
            <a:ext cx="5322887" cy="3335338"/>
          </a:xfrm>
          <a:custGeom>
            <a:avLst/>
            <a:gdLst>
              <a:gd name="T0" fmla="*/ 0 w 3353"/>
              <a:gd name="T1" fmla="*/ 0 h 2101"/>
              <a:gd name="T2" fmla="*/ 0 w 3353"/>
              <a:gd name="T3" fmla="*/ 2101 h 2101"/>
              <a:gd name="T4" fmla="*/ 3353 w 3353"/>
              <a:gd name="T5" fmla="*/ 2101 h 21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3353" h="2101">
                <a:moveTo>
                  <a:pt x="0" y="0"/>
                </a:moveTo>
                <a:lnTo>
                  <a:pt x="0" y="2101"/>
                </a:lnTo>
                <a:lnTo>
                  <a:pt x="3353" y="2101"/>
                </a:lnTo>
              </a:path>
            </a:pathLst>
          </a:custGeom>
          <a:noFill/>
          <a:ln w="22225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6818" name="Rectangle 18"/>
          <p:cNvSpPr>
            <a:spLocks noChangeArrowheads="1"/>
          </p:cNvSpPr>
          <p:nvPr/>
        </p:nvSpPr>
        <p:spPr bwMode="auto">
          <a:xfrm>
            <a:off x="1744663" y="1624013"/>
            <a:ext cx="5399087" cy="258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sz="1700" b="1">
                <a:solidFill>
                  <a:srgbClr val="000000"/>
                </a:solidFill>
                <a:latin typeface="Arial" charset="0"/>
              </a:rPr>
              <a:t>(e) Perfectly Elastic Supply: Elasticity Equals Infinity</a:t>
            </a:r>
            <a:endParaRPr lang="en-US"/>
          </a:p>
        </p:txBody>
      </p:sp>
      <p:sp>
        <p:nvSpPr>
          <p:cNvPr id="76819" name="Rectangle 19"/>
          <p:cNvSpPr>
            <a:spLocks noChangeArrowheads="1"/>
          </p:cNvSpPr>
          <p:nvPr/>
        </p:nvSpPr>
        <p:spPr bwMode="auto">
          <a:xfrm>
            <a:off x="6350000" y="5456238"/>
            <a:ext cx="876300" cy="258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sz="1700" b="1">
                <a:solidFill>
                  <a:srgbClr val="000000"/>
                </a:solidFill>
                <a:latin typeface="Arial" charset="0"/>
              </a:rPr>
              <a:t>Quantity</a:t>
            </a:r>
            <a:endParaRPr lang="en-US"/>
          </a:p>
        </p:txBody>
      </p:sp>
      <p:sp>
        <p:nvSpPr>
          <p:cNvPr id="76820" name="Rectangle 20"/>
          <p:cNvSpPr>
            <a:spLocks noChangeArrowheads="1"/>
          </p:cNvSpPr>
          <p:nvPr/>
        </p:nvSpPr>
        <p:spPr bwMode="auto">
          <a:xfrm>
            <a:off x="1766888" y="5462588"/>
            <a:ext cx="120650" cy="258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sz="1700">
                <a:solidFill>
                  <a:srgbClr val="000000"/>
                </a:solidFill>
                <a:latin typeface="Arial" charset="0"/>
              </a:rPr>
              <a:t>0</a:t>
            </a:r>
            <a:endParaRPr lang="en-US"/>
          </a:p>
        </p:txBody>
      </p:sp>
      <p:sp>
        <p:nvSpPr>
          <p:cNvPr id="76821" name="Rectangle 21"/>
          <p:cNvSpPr>
            <a:spLocks noChangeArrowheads="1"/>
          </p:cNvSpPr>
          <p:nvPr/>
        </p:nvSpPr>
        <p:spPr bwMode="auto">
          <a:xfrm>
            <a:off x="1319213" y="2000250"/>
            <a:ext cx="530225" cy="258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sz="1700" b="1">
                <a:solidFill>
                  <a:srgbClr val="000000"/>
                </a:solidFill>
                <a:latin typeface="Arial" charset="0"/>
              </a:rPr>
              <a:t>Price</a:t>
            </a:r>
            <a:endParaRPr lang="en-US"/>
          </a:p>
        </p:txBody>
      </p:sp>
      <p:grpSp>
        <p:nvGrpSpPr>
          <p:cNvPr id="76822" name="Group 22"/>
          <p:cNvGrpSpPr>
            <a:grpSpLocks/>
          </p:cNvGrpSpPr>
          <p:nvPr/>
        </p:nvGrpSpPr>
        <p:grpSpPr bwMode="auto">
          <a:xfrm>
            <a:off x="1630363" y="3460750"/>
            <a:ext cx="5086350" cy="265113"/>
            <a:chOff x="1027" y="2180"/>
            <a:chExt cx="3204" cy="167"/>
          </a:xfrm>
        </p:grpSpPr>
        <p:sp>
          <p:nvSpPr>
            <p:cNvPr id="76823" name="Rectangle 23"/>
            <p:cNvSpPr>
              <a:spLocks noChangeArrowheads="1"/>
            </p:cNvSpPr>
            <p:nvPr/>
          </p:nvSpPr>
          <p:spPr bwMode="auto">
            <a:xfrm>
              <a:off x="1027" y="2180"/>
              <a:ext cx="152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700">
                  <a:solidFill>
                    <a:srgbClr val="000000"/>
                  </a:solidFill>
                  <a:latin typeface="Arial" charset="0"/>
                </a:rPr>
                <a:t>$4</a:t>
              </a:r>
              <a:endParaRPr lang="en-US"/>
            </a:p>
          </p:txBody>
        </p:sp>
        <p:grpSp>
          <p:nvGrpSpPr>
            <p:cNvPr id="76824" name="Group 24"/>
            <p:cNvGrpSpPr>
              <a:grpSpLocks/>
            </p:cNvGrpSpPr>
            <p:nvPr/>
          </p:nvGrpSpPr>
          <p:grpSpPr bwMode="auto">
            <a:xfrm>
              <a:off x="1241" y="2184"/>
              <a:ext cx="2990" cy="163"/>
              <a:chOff x="1241" y="2184"/>
              <a:chExt cx="2990" cy="163"/>
            </a:xfrm>
          </p:grpSpPr>
          <p:sp>
            <p:nvSpPr>
              <p:cNvPr id="76825" name="Line 25"/>
              <p:cNvSpPr>
                <a:spLocks noChangeShapeType="1"/>
              </p:cNvSpPr>
              <p:nvPr/>
            </p:nvSpPr>
            <p:spPr bwMode="auto">
              <a:xfrm flipH="1">
                <a:off x="1241" y="2239"/>
                <a:ext cx="2467" cy="1"/>
              </a:xfrm>
              <a:prstGeom prst="line">
                <a:avLst/>
              </a:prstGeom>
              <a:noFill/>
              <a:ln w="65088">
                <a:solidFill>
                  <a:srgbClr val="004C9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826" name="Rectangle 26"/>
              <p:cNvSpPr>
                <a:spLocks noChangeArrowheads="1"/>
              </p:cNvSpPr>
              <p:nvPr/>
            </p:nvSpPr>
            <p:spPr bwMode="auto">
              <a:xfrm>
                <a:off x="3814" y="2184"/>
                <a:ext cx="417" cy="1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700">
                    <a:solidFill>
                      <a:srgbClr val="000000"/>
                    </a:solidFill>
                    <a:latin typeface="Arial" charset="0"/>
                  </a:rPr>
                  <a:t>Supply</a:t>
                </a:r>
                <a:endParaRPr lang="en-US"/>
              </a:p>
            </p:txBody>
          </p:sp>
        </p:grpSp>
      </p:grpSp>
      <p:grpSp>
        <p:nvGrpSpPr>
          <p:cNvPr id="76827" name="Group 27"/>
          <p:cNvGrpSpPr>
            <a:grpSpLocks/>
          </p:cNvGrpSpPr>
          <p:nvPr/>
        </p:nvGrpSpPr>
        <p:grpSpPr bwMode="auto">
          <a:xfrm>
            <a:off x="650875" y="4308475"/>
            <a:ext cx="2876550" cy="1966913"/>
            <a:chOff x="410" y="2714"/>
            <a:chExt cx="1812" cy="1239"/>
          </a:xfrm>
        </p:grpSpPr>
        <p:sp>
          <p:nvSpPr>
            <p:cNvPr id="76828" name="Line 28"/>
            <p:cNvSpPr>
              <a:spLocks noChangeShapeType="1"/>
            </p:cNvSpPr>
            <p:nvPr/>
          </p:nvSpPr>
          <p:spPr bwMode="auto">
            <a:xfrm flipV="1">
              <a:off x="560" y="2714"/>
              <a:ext cx="627" cy="889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76829" name="Group 29"/>
            <p:cNvGrpSpPr>
              <a:grpSpLocks/>
            </p:cNvGrpSpPr>
            <p:nvPr/>
          </p:nvGrpSpPr>
          <p:grpSpPr bwMode="auto">
            <a:xfrm>
              <a:off x="410" y="3578"/>
              <a:ext cx="1812" cy="375"/>
              <a:chOff x="410" y="3578"/>
              <a:chExt cx="1812" cy="375"/>
            </a:xfrm>
          </p:grpSpPr>
          <p:sp>
            <p:nvSpPr>
              <p:cNvPr id="76830" name="Rectangle 30"/>
              <p:cNvSpPr>
                <a:spLocks noChangeArrowheads="1"/>
              </p:cNvSpPr>
              <p:nvPr/>
            </p:nvSpPr>
            <p:spPr bwMode="auto">
              <a:xfrm>
                <a:off x="410" y="3578"/>
                <a:ext cx="1812" cy="375"/>
              </a:xfrm>
              <a:prstGeom prst="rect">
                <a:avLst/>
              </a:prstGeom>
              <a:solidFill>
                <a:srgbClr val="E1E5E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831" name="Rectangle 31"/>
              <p:cNvSpPr>
                <a:spLocks noChangeArrowheads="1"/>
              </p:cNvSpPr>
              <p:nvPr/>
            </p:nvSpPr>
            <p:spPr bwMode="auto">
              <a:xfrm>
                <a:off x="464" y="3596"/>
                <a:ext cx="1350" cy="1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700">
                    <a:solidFill>
                      <a:srgbClr val="000000"/>
                    </a:solidFill>
                    <a:latin typeface="Arial" charset="0"/>
                  </a:rPr>
                  <a:t>3. At a price below $4,</a:t>
                </a:r>
                <a:endParaRPr lang="en-US"/>
              </a:p>
            </p:txBody>
          </p:sp>
          <p:sp>
            <p:nvSpPr>
              <p:cNvPr id="76832" name="Rectangle 32"/>
              <p:cNvSpPr>
                <a:spLocks noChangeArrowheads="1"/>
              </p:cNvSpPr>
              <p:nvPr/>
            </p:nvSpPr>
            <p:spPr bwMode="auto">
              <a:xfrm>
                <a:off x="464" y="3763"/>
                <a:ext cx="1501" cy="1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700">
                    <a:solidFill>
                      <a:srgbClr val="000000"/>
                    </a:solidFill>
                    <a:latin typeface="Arial" charset="0"/>
                  </a:rPr>
                  <a:t>quantity supplied is zero.</a:t>
                </a:r>
                <a:endParaRPr lang="en-US"/>
              </a:p>
            </p:txBody>
          </p:sp>
        </p:grpSp>
      </p:grpSp>
      <p:grpSp>
        <p:nvGrpSpPr>
          <p:cNvPr id="76833" name="Group 33"/>
          <p:cNvGrpSpPr>
            <a:grpSpLocks/>
          </p:cNvGrpSpPr>
          <p:nvPr/>
        </p:nvGrpSpPr>
        <p:grpSpPr bwMode="auto">
          <a:xfrm>
            <a:off x="3895725" y="3633788"/>
            <a:ext cx="2143125" cy="1171575"/>
            <a:chOff x="2454" y="2289"/>
            <a:chExt cx="1350" cy="738"/>
          </a:xfrm>
        </p:grpSpPr>
        <p:sp>
          <p:nvSpPr>
            <p:cNvPr id="76834" name="Line 34"/>
            <p:cNvSpPr>
              <a:spLocks noChangeShapeType="1"/>
            </p:cNvSpPr>
            <p:nvPr/>
          </p:nvSpPr>
          <p:spPr bwMode="auto">
            <a:xfrm>
              <a:off x="2877" y="2289"/>
              <a:ext cx="163" cy="250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76835" name="Group 35"/>
            <p:cNvGrpSpPr>
              <a:grpSpLocks/>
            </p:cNvGrpSpPr>
            <p:nvPr/>
          </p:nvGrpSpPr>
          <p:grpSpPr bwMode="auto">
            <a:xfrm>
              <a:off x="2454" y="2489"/>
              <a:ext cx="1350" cy="538"/>
              <a:chOff x="2454" y="2489"/>
              <a:chExt cx="1350" cy="538"/>
            </a:xfrm>
          </p:grpSpPr>
          <p:sp>
            <p:nvSpPr>
              <p:cNvPr id="76836" name="Rectangle 36"/>
              <p:cNvSpPr>
                <a:spLocks noChangeArrowheads="1"/>
              </p:cNvSpPr>
              <p:nvPr/>
            </p:nvSpPr>
            <p:spPr bwMode="auto">
              <a:xfrm>
                <a:off x="2454" y="2489"/>
                <a:ext cx="1350" cy="538"/>
              </a:xfrm>
              <a:prstGeom prst="rect">
                <a:avLst/>
              </a:prstGeom>
              <a:solidFill>
                <a:srgbClr val="E1E5E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837" name="Rectangle 37"/>
              <p:cNvSpPr>
                <a:spLocks noChangeArrowheads="1"/>
              </p:cNvSpPr>
              <p:nvPr/>
            </p:nvSpPr>
            <p:spPr bwMode="auto">
              <a:xfrm>
                <a:off x="2493" y="2514"/>
                <a:ext cx="971" cy="1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700">
                    <a:solidFill>
                      <a:srgbClr val="000000"/>
                    </a:solidFill>
                    <a:latin typeface="Arial" charset="0"/>
                  </a:rPr>
                  <a:t>2. At exactly $4,</a:t>
                </a:r>
                <a:endParaRPr lang="en-US"/>
              </a:p>
            </p:txBody>
          </p:sp>
          <p:sp>
            <p:nvSpPr>
              <p:cNvPr id="76838" name="Rectangle 38"/>
              <p:cNvSpPr>
                <a:spLocks noChangeArrowheads="1"/>
              </p:cNvSpPr>
              <p:nvPr/>
            </p:nvSpPr>
            <p:spPr bwMode="auto">
              <a:xfrm>
                <a:off x="2493" y="2680"/>
                <a:ext cx="832" cy="1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700">
                    <a:solidFill>
                      <a:srgbClr val="000000"/>
                    </a:solidFill>
                    <a:latin typeface="Arial" charset="0"/>
                  </a:rPr>
                  <a:t>producers will</a:t>
                </a:r>
                <a:endParaRPr lang="en-US"/>
              </a:p>
            </p:txBody>
          </p:sp>
          <p:sp>
            <p:nvSpPr>
              <p:cNvPr id="76839" name="Rectangle 39"/>
              <p:cNvSpPr>
                <a:spLocks noChangeArrowheads="1"/>
              </p:cNvSpPr>
              <p:nvPr/>
            </p:nvSpPr>
            <p:spPr bwMode="auto">
              <a:xfrm>
                <a:off x="2493" y="2847"/>
                <a:ext cx="1206" cy="1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700">
                    <a:solidFill>
                      <a:srgbClr val="000000"/>
                    </a:solidFill>
                    <a:latin typeface="Arial" charset="0"/>
                  </a:rPr>
                  <a:t>supply any quantity.</a:t>
                </a:r>
                <a:endParaRPr lang="en-US"/>
              </a:p>
            </p:txBody>
          </p:sp>
        </p:grpSp>
      </p:grpSp>
      <p:grpSp>
        <p:nvGrpSpPr>
          <p:cNvPr id="76840" name="Group 40"/>
          <p:cNvGrpSpPr>
            <a:grpSpLocks/>
          </p:cNvGrpSpPr>
          <p:nvPr/>
        </p:nvGrpSpPr>
        <p:grpSpPr bwMode="auto">
          <a:xfrm>
            <a:off x="2035175" y="2441575"/>
            <a:ext cx="2444750" cy="854075"/>
            <a:chOff x="1282" y="1538"/>
            <a:chExt cx="1540" cy="538"/>
          </a:xfrm>
        </p:grpSpPr>
        <p:sp>
          <p:nvSpPr>
            <p:cNvPr id="76841" name="Line 41"/>
            <p:cNvSpPr>
              <a:spLocks noChangeShapeType="1"/>
            </p:cNvSpPr>
            <p:nvPr/>
          </p:nvSpPr>
          <p:spPr bwMode="auto">
            <a:xfrm flipV="1">
              <a:off x="1282" y="1688"/>
              <a:ext cx="259" cy="63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76842" name="Group 42"/>
            <p:cNvGrpSpPr>
              <a:grpSpLocks/>
            </p:cNvGrpSpPr>
            <p:nvPr/>
          </p:nvGrpSpPr>
          <p:grpSpPr bwMode="auto">
            <a:xfrm>
              <a:off x="1514" y="1538"/>
              <a:ext cx="1308" cy="538"/>
              <a:chOff x="1514" y="1538"/>
              <a:chExt cx="1308" cy="538"/>
            </a:xfrm>
          </p:grpSpPr>
          <p:sp>
            <p:nvSpPr>
              <p:cNvPr id="76843" name="Rectangle 43"/>
              <p:cNvSpPr>
                <a:spLocks noChangeArrowheads="1"/>
              </p:cNvSpPr>
              <p:nvPr/>
            </p:nvSpPr>
            <p:spPr bwMode="auto">
              <a:xfrm>
                <a:off x="1514" y="1538"/>
                <a:ext cx="1308" cy="538"/>
              </a:xfrm>
              <a:prstGeom prst="rect">
                <a:avLst/>
              </a:prstGeom>
              <a:solidFill>
                <a:srgbClr val="E1E5E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844" name="Rectangle 44"/>
              <p:cNvSpPr>
                <a:spLocks noChangeArrowheads="1"/>
              </p:cNvSpPr>
              <p:nvPr/>
            </p:nvSpPr>
            <p:spPr bwMode="auto">
              <a:xfrm>
                <a:off x="1562" y="1569"/>
                <a:ext cx="872" cy="1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700">
                    <a:solidFill>
                      <a:srgbClr val="000000"/>
                    </a:solidFill>
                    <a:latin typeface="Arial" charset="0"/>
                  </a:rPr>
                  <a:t>1. At any price</a:t>
                </a:r>
                <a:endParaRPr lang="en-US"/>
              </a:p>
            </p:txBody>
          </p:sp>
          <p:sp>
            <p:nvSpPr>
              <p:cNvPr id="76845" name="Rectangle 45"/>
              <p:cNvSpPr>
                <a:spLocks noChangeArrowheads="1"/>
              </p:cNvSpPr>
              <p:nvPr/>
            </p:nvSpPr>
            <p:spPr bwMode="auto">
              <a:xfrm>
                <a:off x="1562" y="1736"/>
                <a:ext cx="1116" cy="1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700">
                    <a:solidFill>
                      <a:srgbClr val="000000"/>
                    </a:solidFill>
                    <a:latin typeface="Arial" charset="0"/>
                  </a:rPr>
                  <a:t>above $4, quantity</a:t>
                </a:r>
                <a:endParaRPr lang="en-US"/>
              </a:p>
            </p:txBody>
          </p:sp>
          <p:sp>
            <p:nvSpPr>
              <p:cNvPr id="76846" name="Rectangle 46"/>
              <p:cNvSpPr>
                <a:spLocks noChangeArrowheads="1"/>
              </p:cNvSpPr>
              <p:nvPr/>
            </p:nvSpPr>
            <p:spPr bwMode="auto">
              <a:xfrm>
                <a:off x="1562" y="1902"/>
                <a:ext cx="1114" cy="1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700">
                    <a:solidFill>
                      <a:srgbClr val="000000"/>
                    </a:solidFill>
                    <a:latin typeface="Arial" charset="0"/>
                  </a:rPr>
                  <a:t>supplied is infinite.</a:t>
                </a:r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1284304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68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68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768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768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3200">
                <a:solidFill>
                  <a:schemeClr val="bg1"/>
                </a:solidFill>
              </a:rPr>
              <a:t>Determinants of Elasticity of Supply</a:t>
            </a:r>
            <a:endParaRPr lang="en-US"/>
          </a:p>
        </p:txBody>
      </p:sp>
      <p:sp>
        <p:nvSpPr>
          <p:cNvPr id="55299" name="Rectangle 3"/>
          <p:cNvSpPr>
            <a:spLocks noGrp="1" noChangeArrowheads="1"/>
          </p:cNvSpPr>
          <p:nvPr>
            <p:ph idx="1"/>
          </p:nvPr>
        </p:nvSpPr>
        <p:spPr>
          <a:xfrm>
            <a:off x="594360" y="1524000"/>
            <a:ext cx="7955280" cy="4739640"/>
          </a:xfrm>
        </p:spPr>
        <p:txBody>
          <a:bodyPr>
            <a:normAutofit/>
          </a:bodyPr>
          <a:lstStyle/>
          <a:p>
            <a:r>
              <a:rPr lang="en-US" sz="2400" dirty="0"/>
              <a:t>Ability of sellers to change the amount of the good they produce.</a:t>
            </a:r>
          </a:p>
          <a:p>
            <a:pPr lvl="1"/>
            <a:r>
              <a:rPr lang="en-US" sz="2400" dirty="0"/>
              <a:t>Beach-front land is inelastic.</a:t>
            </a:r>
          </a:p>
          <a:p>
            <a:pPr lvl="1"/>
            <a:r>
              <a:rPr lang="en-US" sz="2400" dirty="0"/>
              <a:t>Books, cars, or manufactured goods are elastic.</a:t>
            </a:r>
          </a:p>
          <a:p>
            <a:pPr marL="457200" lvl="1" indent="0">
              <a:buNone/>
            </a:pPr>
            <a:endParaRPr lang="en-US" sz="2400" dirty="0"/>
          </a:p>
          <a:p>
            <a:r>
              <a:rPr lang="en-US" sz="2400" dirty="0"/>
              <a:t>Time period. </a:t>
            </a:r>
          </a:p>
          <a:p>
            <a:pPr lvl="1"/>
            <a:r>
              <a:rPr lang="en-US" sz="2400" dirty="0"/>
              <a:t>Supply is more elastic in the long run.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DCDE8-D88C-416B-90F0-F63B5615757D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10747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>
          <a:xfrm>
            <a:off x="722313" y="1676401"/>
            <a:ext cx="7772400" cy="1752599"/>
          </a:xfrm>
        </p:spPr>
        <p:txBody>
          <a:bodyPr rtlCol="0">
            <a:normAutofit/>
          </a:bodyPr>
          <a:lstStyle/>
          <a:p>
            <a:pPr algn="ctr">
              <a:defRPr/>
            </a:pPr>
            <a:r>
              <a:rPr lang="en-US" sz="4400" b="1" dirty="0">
                <a:solidFill>
                  <a:srgbClr val="FF0000"/>
                </a:solidFill>
              </a:rPr>
              <a:t> Equilibrium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F39392A-D84E-43A0-BC10-E7F02DAC7D74}" type="slidenum">
              <a:rPr lang="en-US"/>
              <a:pPr>
                <a:defRPr/>
              </a:pPr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416277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Interaction of demand and supply</a:t>
            </a:r>
          </a:p>
        </p:txBody>
      </p:sp>
      <p:sp>
        <p:nvSpPr>
          <p:cNvPr id="3993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We have seen what demand and supply are</a:t>
            </a:r>
          </a:p>
          <a:p>
            <a:pPr algn="just"/>
            <a:r>
              <a:rPr lang="en-US" dirty="0"/>
              <a:t>We have seen why demand and supply may shift</a:t>
            </a:r>
          </a:p>
          <a:p>
            <a:pPr algn="just"/>
            <a:r>
              <a:rPr lang="en-US" sz="2800" dirty="0"/>
              <a:t>Now it is time to say something about how buyers and sellers collectively determine the market </a:t>
            </a:r>
            <a:r>
              <a:rPr lang="en-US" sz="2800" dirty="0" err="1"/>
              <a:t>outcomeTo</a:t>
            </a:r>
            <a:r>
              <a:rPr lang="en-US" sz="2800" dirty="0"/>
              <a:t> do this, we assume </a:t>
            </a:r>
            <a:r>
              <a:rPr lang="en-US" sz="2800" b="1" dirty="0"/>
              <a:t>equilibrium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0BF9E55-8C78-4937-B2A9-06D55E9B7461}" type="slidenum">
              <a:rPr lang="en-US"/>
              <a:pPr>
                <a:defRPr/>
              </a:pPr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99751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Title 1"/>
          <p:cNvSpPr>
            <a:spLocks noGrp="1"/>
          </p:cNvSpPr>
          <p:nvPr>
            <p:ph type="title"/>
          </p:nvPr>
        </p:nvSpPr>
        <p:spPr>
          <a:xfrm>
            <a:off x="483704" y="342107"/>
            <a:ext cx="8229600" cy="1143000"/>
          </a:xfrm>
        </p:spPr>
        <p:txBody>
          <a:bodyPr/>
          <a:lstStyle/>
          <a:p>
            <a:r>
              <a:rPr lang="en-US" b="1" dirty="0"/>
              <a:t>Equilibrium </a:t>
            </a:r>
          </a:p>
        </p:txBody>
      </p:sp>
      <p:sp>
        <p:nvSpPr>
          <p:cNvPr id="4096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3200" dirty="0"/>
              <a:t>We assume that the price will automatically reach a level at which the quantity demanded equals the quantity supplied.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028014B-F995-4C04-9E5C-675D3C52C12A}" type="slidenum">
              <a:rPr lang="en-US"/>
              <a:pPr>
                <a:defRPr/>
              </a:pPr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474662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986" name="Picture 20" descr="marketdemand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1981200"/>
            <a:ext cx="3962400" cy="289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987" name="Picture 21" descr="market supply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3000" y="1905000"/>
            <a:ext cx="3733800" cy="289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1988" name="Rectangle 2"/>
          <p:cNvSpPr>
            <a:spLocks noChangeArrowheads="1"/>
          </p:cNvSpPr>
          <p:nvPr/>
        </p:nvSpPr>
        <p:spPr bwMode="auto">
          <a:xfrm>
            <a:off x="685800" y="60960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41989" name="Rectangle 3"/>
          <p:cNvSpPr>
            <a:spLocks noChangeArrowheads="1"/>
          </p:cNvSpPr>
          <p:nvPr/>
        </p:nvSpPr>
        <p:spPr bwMode="auto">
          <a:xfrm>
            <a:off x="3124200" y="60960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>
              <a:latin typeface="Calibri" pitchFamily="34" charset="0"/>
            </a:endParaRPr>
          </a:p>
        </p:txBody>
      </p:sp>
      <p:grpSp>
        <p:nvGrpSpPr>
          <p:cNvPr id="2" name="Group 9"/>
          <p:cNvGrpSpPr>
            <a:grpSpLocks/>
          </p:cNvGrpSpPr>
          <p:nvPr/>
        </p:nvGrpSpPr>
        <p:grpSpPr bwMode="auto">
          <a:xfrm>
            <a:off x="990600" y="3581400"/>
            <a:ext cx="2819400" cy="1447800"/>
            <a:chOff x="480" y="2496"/>
            <a:chExt cx="2016" cy="1152"/>
          </a:xfrm>
        </p:grpSpPr>
        <p:sp>
          <p:nvSpPr>
            <p:cNvPr id="42000" name="Oval 10"/>
            <p:cNvSpPr>
              <a:spLocks noChangeArrowheads="1"/>
            </p:cNvSpPr>
            <p:nvPr/>
          </p:nvSpPr>
          <p:spPr bwMode="auto">
            <a:xfrm>
              <a:off x="480" y="2496"/>
              <a:ext cx="2016" cy="384"/>
            </a:xfrm>
            <a:prstGeom prst="ellipse">
              <a:avLst/>
            </a:prstGeom>
            <a:noFill/>
            <a:ln w="38100">
              <a:solidFill>
                <a:srgbClr val="FC0128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>
                <a:latin typeface="Calibri" pitchFamily="34" charset="0"/>
              </a:endParaRPr>
            </a:p>
          </p:txBody>
        </p:sp>
        <p:sp>
          <p:nvSpPr>
            <p:cNvPr id="42001" name="Line 11"/>
            <p:cNvSpPr>
              <a:spLocks noChangeShapeType="1"/>
            </p:cNvSpPr>
            <p:nvPr/>
          </p:nvSpPr>
          <p:spPr bwMode="auto">
            <a:xfrm>
              <a:off x="1680" y="2880"/>
              <a:ext cx="480" cy="768"/>
            </a:xfrm>
            <a:prstGeom prst="line">
              <a:avLst/>
            </a:prstGeom>
            <a:noFill/>
            <a:ln w="57150">
              <a:solidFill>
                <a:srgbClr val="FC0128"/>
              </a:solidFill>
              <a:round/>
              <a:headEnd type="triangle" w="med" len="med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3" name="Group 12"/>
          <p:cNvGrpSpPr>
            <a:grpSpLocks/>
          </p:cNvGrpSpPr>
          <p:nvPr/>
        </p:nvGrpSpPr>
        <p:grpSpPr bwMode="auto">
          <a:xfrm>
            <a:off x="5715000" y="3581400"/>
            <a:ext cx="2590800" cy="1600200"/>
            <a:chOff x="3504" y="2448"/>
            <a:chExt cx="1776" cy="1200"/>
          </a:xfrm>
        </p:grpSpPr>
        <p:sp>
          <p:nvSpPr>
            <p:cNvPr id="41998" name="Oval 13"/>
            <p:cNvSpPr>
              <a:spLocks noChangeArrowheads="1"/>
            </p:cNvSpPr>
            <p:nvPr/>
          </p:nvSpPr>
          <p:spPr bwMode="auto">
            <a:xfrm>
              <a:off x="3504" y="2448"/>
              <a:ext cx="1776" cy="432"/>
            </a:xfrm>
            <a:prstGeom prst="ellipse">
              <a:avLst/>
            </a:prstGeom>
            <a:noFill/>
            <a:ln w="38100">
              <a:solidFill>
                <a:srgbClr val="FC0128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>
                <a:latin typeface="Calibri" pitchFamily="34" charset="0"/>
              </a:endParaRPr>
            </a:p>
          </p:txBody>
        </p:sp>
        <p:sp>
          <p:nvSpPr>
            <p:cNvPr id="41999" name="Line 14"/>
            <p:cNvSpPr>
              <a:spLocks noChangeShapeType="1"/>
            </p:cNvSpPr>
            <p:nvPr/>
          </p:nvSpPr>
          <p:spPr bwMode="auto">
            <a:xfrm flipH="1">
              <a:off x="4080" y="2880"/>
              <a:ext cx="240" cy="768"/>
            </a:xfrm>
            <a:prstGeom prst="line">
              <a:avLst/>
            </a:prstGeom>
            <a:noFill/>
            <a:ln w="57150">
              <a:solidFill>
                <a:srgbClr val="FC0128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475151" name="Text Box 15"/>
          <p:cNvSpPr txBox="1">
            <a:spLocks noChangeArrowheads="1"/>
          </p:cNvSpPr>
          <p:nvPr/>
        </p:nvSpPr>
        <p:spPr bwMode="auto">
          <a:xfrm>
            <a:off x="1524000" y="5105400"/>
            <a:ext cx="6400800" cy="10668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0" hangingPunct="0">
              <a:spcBef>
                <a:spcPct val="50000"/>
              </a:spcBef>
            </a:pPr>
            <a:r>
              <a:rPr lang="en-US" altLang="en-US" sz="3200">
                <a:solidFill>
                  <a:srgbClr val="494076"/>
                </a:solidFill>
              </a:rPr>
              <a:t>At $2.00, the quantity demanded is equal to the quantity supplied!</a:t>
            </a:r>
          </a:p>
        </p:txBody>
      </p:sp>
      <p:sp>
        <p:nvSpPr>
          <p:cNvPr id="41993" name="Rectangle 16"/>
          <p:cNvSpPr>
            <a:spLocks noGrp="1" noChangeArrowheads="1"/>
          </p:cNvSpPr>
          <p:nvPr>
            <p:ph type="title"/>
          </p:nvPr>
        </p:nvSpPr>
        <p:spPr>
          <a:xfrm>
            <a:off x="2514600" y="381001"/>
            <a:ext cx="6377940" cy="1293028"/>
          </a:xfrm>
        </p:spPr>
        <p:txBody>
          <a:bodyPr/>
          <a:lstStyle/>
          <a:p>
            <a:r>
              <a:rPr lang="en-US" altLang="en-US" b="1" dirty="0"/>
              <a:t>SUPPLY AND DEMAND TOGETHER</a:t>
            </a:r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089A118-3096-4B17-9FCE-AAF40573AE78}" type="slidenum">
              <a:rPr lang="en-US"/>
              <a:pPr>
                <a:defRPr/>
              </a:pPr>
              <a:t>23</a:t>
            </a:fld>
            <a:endParaRPr lang="en-US"/>
          </a:p>
        </p:txBody>
      </p:sp>
      <p:sp>
        <p:nvSpPr>
          <p:cNvPr id="41994" name="Text Box 7"/>
          <p:cNvSpPr txBox="1">
            <a:spLocks noChangeArrowheads="1"/>
          </p:cNvSpPr>
          <p:nvPr/>
        </p:nvSpPr>
        <p:spPr bwMode="auto">
          <a:xfrm>
            <a:off x="914400" y="1447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0" hangingPunct="0">
              <a:spcBef>
                <a:spcPct val="50000"/>
              </a:spcBef>
            </a:pPr>
            <a:r>
              <a:rPr lang="en-US" altLang="en-US" sz="2400" b="1">
                <a:latin typeface="Tahoma" pitchFamily="34" charset="0"/>
              </a:rPr>
              <a:t>Demand Schedule</a:t>
            </a:r>
          </a:p>
        </p:txBody>
      </p:sp>
      <p:sp>
        <p:nvSpPr>
          <p:cNvPr id="41995" name="Text Box 8"/>
          <p:cNvSpPr txBox="1">
            <a:spLocks noChangeArrowheads="1"/>
          </p:cNvSpPr>
          <p:nvPr/>
        </p:nvSpPr>
        <p:spPr bwMode="auto">
          <a:xfrm>
            <a:off x="5562600" y="1447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0" hangingPunct="0">
              <a:spcBef>
                <a:spcPct val="50000"/>
              </a:spcBef>
            </a:pPr>
            <a:r>
              <a:rPr lang="en-US" altLang="en-US" sz="2400" b="1">
                <a:latin typeface="Tahoma" pitchFamily="34" charset="0"/>
              </a:rPr>
              <a:t>Supply Schedule</a:t>
            </a:r>
          </a:p>
        </p:txBody>
      </p:sp>
    </p:spTree>
    <p:extLst>
      <p:ext uri="{BB962C8B-B14F-4D97-AF65-F5344CB8AC3E}">
        <p14:creationId xmlns:p14="http://schemas.microsoft.com/office/powerpoint/2010/main" val="259320190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4751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4751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5151" grpId="0" animBg="1" autoUpdateAnimBg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Title 1"/>
          <p:cNvSpPr>
            <a:spLocks noGrp="1"/>
          </p:cNvSpPr>
          <p:nvPr>
            <p:ph type="title"/>
          </p:nvPr>
        </p:nvSpPr>
        <p:spPr>
          <a:xfrm>
            <a:off x="1600200" y="164542"/>
            <a:ext cx="8839200" cy="990600"/>
          </a:xfrm>
        </p:spPr>
        <p:txBody>
          <a:bodyPr anchor="t">
            <a:normAutofit fontScale="90000"/>
          </a:bodyPr>
          <a:lstStyle/>
          <a:p>
            <a:pPr algn="ctr"/>
            <a:r>
              <a:rPr lang="en-US" sz="4400" b="1" dirty="0">
                <a:solidFill>
                  <a:schemeClr val="tx1"/>
                </a:solidFill>
                <a:latin typeface="Calibri" pitchFamily="34" charset="0"/>
              </a:rPr>
              <a:t>Equilibrium </a:t>
            </a:r>
            <a:br>
              <a:rPr lang="en-US" sz="4400" b="1" dirty="0">
                <a:solidFill>
                  <a:schemeClr val="tx1"/>
                </a:solidFill>
                <a:latin typeface="Calibri" pitchFamily="34" charset="0"/>
              </a:rPr>
            </a:br>
            <a:r>
              <a:rPr lang="en-US" sz="4400" b="1" dirty="0">
                <a:solidFill>
                  <a:schemeClr val="tx1"/>
                </a:solidFill>
                <a:latin typeface="Calibri" pitchFamily="34" charset="0"/>
              </a:rPr>
              <a:t>of supply and demand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pPr>
              <a:defRPr/>
            </a:pPr>
            <a:fld id="{9384C77B-1677-419E-9DDD-0B921EE995A6}" type="slidenum">
              <a:rPr lang="en-US" smtClean="0"/>
              <a:pPr>
                <a:defRPr/>
              </a:pPr>
              <a:t>24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1828800" y="2171439"/>
            <a:ext cx="4876800" cy="3429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grpSp>
        <p:nvGrpSpPr>
          <p:cNvPr id="2" name="Group 5"/>
          <p:cNvGrpSpPr>
            <a:grpSpLocks/>
          </p:cNvGrpSpPr>
          <p:nvPr/>
        </p:nvGrpSpPr>
        <p:grpSpPr bwMode="auto">
          <a:xfrm>
            <a:off x="2133600" y="1624013"/>
            <a:ext cx="3786188" cy="2787650"/>
            <a:chOff x="4571747" y="1588532"/>
            <a:chExt cx="3785587" cy="2787136"/>
          </a:xfrm>
        </p:grpSpPr>
        <p:cxnSp>
          <p:nvCxnSpPr>
            <p:cNvPr id="7" name="Straight Connector 6"/>
            <p:cNvCxnSpPr/>
            <p:nvPr/>
          </p:nvCxnSpPr>
          <p:spPr>
            <a:xfrm flipV="1">
              <a:off x="4571747" y="1969462"/>
              <a:ext cx="3352268" cy="2406206"/>
            </a:xfrm>
            <a:prstGeom prst="line">
              <a:avLst/>
            </a:prstGeom>
            <a:ln w="38100">
              <a:solidFill>
                <a:srgbClr val="00007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092" name="TextBox 7"/>
            <p:cNvSpPr txBox="1">
              <a:spLocks noChangeArrowheads="1"/>
            </p:cNvSpPr>
            <p:nvPr/>
          </p:nvSpPr>
          <p:spPr bwMode="auto">
            <a:xfrm>
              <a:off x="7467347" y="1588532"/>
              <a:ext cx="889987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r>
                <a:rPr lang="en-US"/>
                <a:t>Supply</a:t>
              </a:r>
            </a:p>
          </p:txBody>
        </p:sp>
      </p:grpSp>
      <p:grpSp>
        <p:nvGrpSpPr>
          <p:cNvPr id="3" name="Group 8"/>
          <p:cNvGrpSpPr>
            <a:grpSpLocks/>
          </p:cNvGrpSpPr>
          <p:nvPr/>
        </p:nvGrpSpPr>
        <p:grpSpPr bwMode="auto">
          <a:xfrm>
            <a:off x="1600200" y="4746626"/>
            <a:ext cx="5105400" cy="827087"/>
            <a:chOff x="4343400" y="4648200"/>
            <a:chExt cx="5105400" cy="826532"/>
          </a:xfrm>
        </p:grpSpPr>
        <p:cxnSp>
          <p:nvCxnSpPr>
            <p:cNvPr id="10" name="Straight Connector 9"/>
            <p:cNvCxnSpPr/>
            <p:nvPr/>
          </p:nvCxnSpPr>
          <p:spPr>
            <a:xfrm>
              <a:off x="4572000" y="4800498"/>
              <a:ext cx="4876800" cy="1586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053" name="TextBox 10"/>
            <p:cNvSpPr txBox="1">
              <a:spLocks noChangeArrowheads="1"/>
            </p:cNvSpPr>
            <p:nvPr/>
          </p:nvSpPr>
          <p:spPr bwMode="auto">
            <a:xfrm>
              <a:off x="4343400" y="4800600"/>
              <a:ext cx="31290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r>
                <a:rPr lang="en-US"/>
                <a:t>0</a:t>
              </a:r>
            </a:p>
          </p:txBody>
        </p:sp>
        <p:grpSp>
          <p:nvGrpSpPr>
            <p:cNvPr id="43054" name="Group 14"/>
            <p:cNvGrpSpPr>
              <a:grpSpLocks/>
            </p:cNvGrpSpPr>
            <p:nvPr/>
          </p:nvGrpSpPr>
          <p:grpSpPr bwMode="auto">
            <a:xfrm>
              <a:off x="8001000" y="4648200"/>
              <a:ext cx="441146" cy="521732"/>
              <a:chOff x="8001000" y="4648200"/>
              <a:chExt cx="441146" cy="521732"/>
            </a:xfrm>
          </p:grpSpPr>
          <p:cxnSp>
            <p:nvCxnSpPr>
              <p:cNvPr id="47" name="Straight Connector 12"/>
              <p:cNvCxnSpPr/>
              <p:nvPr/>
            </p:nvCxnSpPr>
            <p:spPr>
              <a:xfrm rot="5400000">
                <a:off x="8152658" y="4723555"/>
                <a:ext cx="152298" cy="158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3090" name="TextBox 13"/>
              <p:cNvSpPr txBox="1">
                <a:spLocks noChangeArrowheads="1"/>
              </p:cNvSpPr>
              <p:nvPr/>
            </p:nvSpPr>
            <p:spPr bwMode="auto">
              <a:xfrm>
                <a:off x="8001000" y="4800600"/>
                <a:ext cx="441146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itchFamily="34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</a:defRPr>
                </a:lvl9pPr>
              </a:lstStyle>
              <a:p>
                <a:r>
                  <a:rPr lang="en-US"/>
                  <a:t>12</a:t>
                </a:r>
              </a:p>
            </p:txBody>
          </p:sp>
        </p:grpSp>
        <p:grpSp>
          <p:nvGrpSpPr>
            <p:cNvPr id="43055" name="Group 15"/>
            <p:cNvGrpSpPr>
              <a:grpSpLocks/>
            </p:cNvGrpSpPr>
            <p:nvPr/>
          </p:nvGrpSpPr>
          <p:grpSpPr bwMode="auto">
            <a:xfrm>
              <a:off x="7391400" y="4648200"/>
              <a:ext cx="441146" cy="521732"/>
              <a:chOff x="8001000" y="4648200"/>
              <a:chExt cx="441146" cy="521732"/>
            </a:xfrm>
          </p:grpSpPr>
          <p:cxnSp>
            <p:nvCxnSpPr>
              <p:cNvPr id="45" name="Straight Connector 16"/>
              <p:cNvCxnSpPr/>
              <p:nvPr/>
            </p:nvCxnSpPr>
            <p:spPr>
              <a:xfrm rot="5400000">
                <a:off x="8152658" y="4723555"/>
                <a:ext cx="152298" cy="158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3088" name="TextBox 17"/>
              <p:cNvSpPr txBox="1">
                <a:spLocks noChangeArrowheads="1"/>
              </p:cNvSpPr>
              <p:nvPr/>
            </p:nvSpPr>
            <p:spPr bwMode="auto">
              <a:xfrm>
                <a:off x="8001000" y="4800600"/>
                <a:ext cx="441146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itchFamily="34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</a:defRPr>
                </a:lvl9pPr>
              </a:lstStyle>
              <a:p>
                <a:r>
                  <a:rPr lang="en-US"/>
                  <a:t>10</a:t>
                </a:r>
              </a:p>
            </p:txBody>
          </p:sp>
        </p:grpSp>
        <p:grpSp>
          <p:nvGrpSpPr>
            <p:cNvPr id="43056" name="Group 18"/>
            <p:cNvGrpSpPr>
              <a:grpSpLocks/>
            </p:cNvGrpSpPr>
            <p:nvPr/>
          </p:nvGrpSpPr>
          <p:grpSpPr bwMode="auto">
            <a:xfrm>
              <a:off x="7696200" y="4648200"/>
              <a:ext cx="424027" cy="521732"/>
              <a:chOff x="8001000" y="4648200"/>
              <a:chExt cx="424027" cy="521732"/>
            </a:xfrm>
          </p:grpSpPr>
          <p:cxnSp>
            <p:nvCxnSpPr>
              <p:cNvPr id="43" name="Straight Connector 19"/>
              <p:cNvCxnSpPr/>
              <p:nvPr/>
            </p:nvCxnSpPr>
            <p:spPr>
              <a:xfrm rot="5400000">
                <a:off x="8152658" y="4723555"/>
                <a:ext cx="152298" cy="158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3086" name="TextBox 20"/>
              <p:cNvSpPr txBox="1">
                <a:spLocks noChangeArrowheads="1"/>
              </p:cNvSpPr>
              <p:nvPr/>
            </p:nvSpPr>
            <p:spPr bwMode="auto">
              <a:xfrm>
                <a:off x="8001000" y="4800600"/>
                <a:ext cx="424027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itchFamily="34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</a:defRPr>
                </a:lvl9pPr>
              </a:lstStyle>
              <a:p>
                <a:r>
                  <a:rPr lang="en-US"/>
                  <a:t>11</a:t>
                </a:r>
              </a:p>
            </p:txBody>
          </p:sp>
        </p:grpSp>
        <p:grpSp>
          <p:nvGrpSpPr>
            <p:cNvPr id="43057" name="Group 21"/>
            <p:cNvGrpSpPr>
              <a:grpSpLocks/>
            </p:cNvGrpSpPr>
            <p:nvPr/>
          </p:nvGrpSpPr>
          <p:grpSpPr bwMode="auto">
            <a:xfrm>
              <a:off x="7154694" y="4648200"/>
              <a:ext cx="312906" cy="521732"/>
              <a:chOff x="8069094" y="4648200"/>
              <a:chExt cx="312906" cy="521732"/>
            </a:xfrm>
          </p:grpSpPr>
          <p:cxnSp>
            <p:nvCxnSpPr>
              <p:cNvPr id="41" name="Straight Connector 22"/>
              <p:cNvCxnSpPr/>
              <p:nvPr/>
            </p:nvCxnSpPr>
            <p:spPr>
              <a:xfrm rot="5400000">
                <a:off x="8152658" y="4723555"/>
                <a:ext cx="152298" cy="158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3084" name="TextBox 41"/>
              <p:cNvSpPr txBox="1">
                <a:spLocks noChangeArrowheads="1"/>
              </p:cNvSpPr>
              <p:nvPr/>
            </p:nvSpPr>
            <p:spPr bwMode="auto">
              <a:xfrm>
                <a:off x="8069094" y="4800600"/>
                <a:ext cx="312906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itchFamily="34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</a:defRPr>
                </a:lvl9pPr>
              </a:lstStyle>
              <a:p>
                <a:r>
                  <a:rPr lang="en-US"/>
                  <a:t>9</a:t>
                </a:r>
              </a:p>
            </p:txBody>
          </p:sp>
        </p:grpSp>
        <p:grpSp>
          <p:nvGrpSpPr>
            <p:cNvPr id="43058" name="Group 27"/>
            <p:cNvGrpSpPr>
              <a:grpSpLocks/>
            </p:cNvGrpSpPr>
            <p:nvPr/>
          </p:nvGrpSpPr>
          <p:grpSpPr bwMode="auto">
            <a:xfrm>
              <a:off x="4716294" y="4648200"/>
              <a:ext cx="312906" cy="521732"/>
              <a:chOff x="8069094" y="4648200"/>
              <a:chExt cx="312906" cy="521732"/>
            </a:xfrm>
          </p:grpSpPr>
          <p:cxnSp>
            <p:nvCxnSpPr>
              <p:cNvPr id="39" name="Straight Connector 38"/>
              <p:cNvCxnSpPr/>
              <p:nvPr/>
            </p:nvCxnSpPr>
            <p:spPr>
              <a:xfrm rot="5400000">
                <a:off x="8152658" y="4723555"/>
                <a:ext cx="152298" cy="158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3082" name="TextBox 39"/>
              <p:cNvSpPr txBox="1">
                <a:spLocks noChangeArrowheads="1"/>
              </p:cNvSpPr>
              <p:nvPr/>
            </p:nvSpPr>
            <p:spPr bwMode="auto">
              <a:xfrm>
                <a:off x="8069094" y="4800600"/>
                <a:ext cx="312906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itchFamily="34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</a:defRPr>
                </a:lvl9pPr>
              </a:lstStyle>
              <a:p>
                <a:r>
                  <a:rPr lang="en-US"/>
                  <a:t>1</a:t>
                </a:r>
              </a:p>
            </p:txBody>
          </p:sp>
        </p:grpSp>
        <p:grpSp>
          <p:nvGrpSpPr>
            <p:cNvPr id="43059" name="Group 30"/>
            <p:cNvGrpSpPr>
              <a:grpSpLocks/>
            </p:cNvGrpSpPr>
            <p:nvPr/>
          </p:nvGrpSpPr>
          <p:grpSpPr bwMode="auto">
            <a:xfrm>
              <a:off x="5021094" y="4648200"/>
              <a:ext cx="312906" cy="521732"/>
              <a:chOff x="8069094" y="4648200"/>
              <a:chExt cx="312906" cy="521732"/>
            </a:xfrm>
          </p:grpSpPr>
          <p:cxnSp>
            <p:nvCxnSpPr>
              <p:cNvPr id="37" name="Straight Connector 36"/>
              <p:cNvCxnSpPr/>
              <p:nvPr/>
            </p:nvCxnSpPr>
            <p:spPr>
              <a:xfrm rot="5400000">
                <a:off x="8152658" y="4723555"/>
                <a:ext cx="152298" cy="158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3080" name="TextBox 37"/>
              <p:cNvSpPr txBox="1">
                <a:spLocks noChangeArrowheads="1"/>
              </p:cNvSpPr>
              <p:nvPr/>
            </p:nvSpPr>
            <p:spPr bwMode="auto">
              <a:xfrm>
                <a:off x="8069094" y="4800600"/>
                <a:ext cx="312906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itchFamily="34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</a:defRPr>
                </a:lvl9pPr>
              </a:lstStyle>
              <a:p>
                <a:r>
                  <a:rPr lang="en-US"/>
                  <a:t>2</a:t>
                </a:r>
              </a:p>
            </p:txBody>
          </p:sp>
        </p:grpSp>
        <p:grpSp>
          <p:nvGrpSpPr>
            <p:cNvPr id="43060" name="Group 33"/>
            <p:cNvGrpSpPr>
              <a:grpSpLocks/>
            </p:cNvGrpSpPr>
            <p:nvPr/>
          </p:nvGrpSpPr>
          <p:grpSpPr bwMode="auto">
            <a:xfrm>
              <a:off x="5325894" y="4648200"/>
              <a:ext cx="312906" cy="521732"/>
              <a:chOff x="8069094" y="4648200"/>
              <a:chExt cx="312906" cy="521732"/>
            </a:xfrm>
          </p:grpSpPr>
          <p:cxnSp>
            <p:nvCxnSpPr>
              <p:cNvPr id="35" name="Straight Connector 34"/>
              <p:cNvCxnSpPr/>
              <p:nvPr/>
            </p:nvCxnSpPr>
            <p:spPr>
              <a:xfrm rot="5400000">
                <a:off x="8152658" y="4723555"/>
                <a:ext cx="152298" cy="158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3078" name="TextBox 35"/>
              <p:cNvSpPr txBox="1">
                <a:spLocks noChangeArrowheads="1"/>
              </p:cNvSpPr>
              <p:nvPr/>
            </p:nvSpPr>
            <p:spPr bwMode="auto">
              <a:xfrm>
                <a:off x="8069094" y="4800600"/>
                <a:ext cx="312906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itchFamily="34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</a:defRPr>
                </a:lvl9pPr>
              </a:lstStyle>
              <a:p>
                <a:r>
                  <a:rPr lang="en-US"/>
                  <a:t>3</a:t>
                </a:r>
              </a:p>
            </p:txBody>
          </p:sp>
        </p:grpSp>
        <p:grpSp>
          <p:nvGrpSpPr>
            <p:cNvPr id="43061" name="Group 36"/>
            <p:cNvGrpSpPr>
              <a:grpSpLocks/>
            </p:cNvGrpSpPr>
            <p:nvPr/>
          </p:nvGrpSpPr>
          <p:grpSpPr bwMode="auto">
            <a:xfrm>
              <a:off x="5630694" y="4648200"/>
              <a:ext cx="312906" cy="521732"/>
              <a:chOff x="8069094" y="4648200"/>
              <a:chExt cx="312906" cy="521732"/>
            </a:xfrm>
          </p:grpSpPr>
          <p:cxnSp>
            <p:nvCxnSpPr>
              <p:cNvPr id="33" name="Straight Connector 32"/>
              <p:cNvCxnSpPr/>
              <p:nvPr/>
            </p:nvCxnSpPr>
            <p:spPr>
              <a:xfrm rot="5400000">
                <a:off x="8152658" y="4723555"/>
                <a:ext cx="152298" cy="158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3076" name="TextBox 33"/>
              <p:cNvSpPr txBox="1">
                <a:spLocks noChangeArrowheads="1"/>
              </p:cNvSpPr>
              <p:nvPr/>
            </p:nvSpPr>
            <p:spPr bwMode="auto">
              <a:xfrm>
                <a:off x="8069094" y="4800600"/>
                <a:ext cx="312906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itchFamily="34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</a:defRPr>
                </a:lvl9pPr>
              </a:lstStyle>
              <a:p>
                <a:r>
                  <a:rPr lang="en-US"/>
                  <a:t>4</a:t>
                </a:r>
              </a:p>
            </p:txBody>
          </p:sp>
        </p:grpSp>
        <p:grpSp>
          <p:nvGrpSpPr>
            <p:cNvPr id="43062" name="Group 39"/>
            <p:cNvGrpSpPr>
              <a:grpSpLocks/>
            </p:cNvGrpSpPr>
            <p:nvPr/>
          </p:nvGrpSpPr>
          <p:grpSpPr bwMode="auto">
            <a:xfrm>
              <a:off x="5935494" y="4648200"/>
              <a:ext cx="312906" cy="521732"/>
              <a:chOff x="8069094" y="4648200"/>
              <a:chExt cx="312906" cy="521732"/>
            </a:xfrm>
          </p:grpSpPr>
          <p:cxnSp>
            <p:nvCxnSpPr>
              <p:cNvPr id="31" name="Straight Connector 30"/>
              <p:cNvCxnSpPr/>
              <p:nvPr/>
            </p:nvCxnSpPr>
            <p:spPr>
              <a:xfrm rot="5400000">
                <a:off x="8152658" y="4723555"/>
                <a:ext cx="152298" cy="158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3074" name="TextBox 31"/>
              <p:cNvSpPr txBox="1">
                <a:spLocks noChangeArrowheads="1"/>
              </p:cNvSpPr>
              <p:nvPr/>
            </p:nvSpPr>
            <p:spPr bwMode="auto">
              <a:xfrm>
                <a:off x="8069094" y="4800600"/>
                <a:ext cx="312906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itchFamily="34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</a:defRPr>
                </a:lvl9pPr>
              </a:lstStyle>
              <a:p>
                <a:r>
                  <a:rPr lang="en-US"/>
                  <a:t>5</a:t>
                </a:r>
              </a:p>
            </p:txBody>
          </p:sp>
        </p:grpSp>
        <p:grpSp>
          <p:nvGrpSpPr>
            <p:cNvPr id="43063" name="Group 42"/>
            <p:cNvGrpSpPr>
              <a:grpSpLocks/>
            </p:cNvGrpSpPr>
            <p:nvPr/>
          </p:nvGrpSpPr>
          <p:grpSpPr bwMode="auto">
            <a:xfrm>
              <a:off x="6240294" y="4648200"/>
              <a:ext cx="312906" cy="521732"/>
              <a:chOff x="8069094" y="4648200"/>
              <a:chExt cx="312906" cy="521732"/>
            </a:xfrm>
          </p:grpSpPr>
          <p:cxnSp>
            <p:nvCxnSpPr>
              <p:cNvPr id="29" name="Straight Connector 28"/>
              <p:cNvCxnSpPr/>
              <p:nvPr/>
            </p:nvCxnSpPr>
            <p:spPr>
              <a:xfrm rot="5400000">
                <a:off x="8152658" y="4723555"/>
                <a:ext cx="152298" cy="158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3072" name="TextBox 29"/>
              <p:cNvSpPr txBox="1">
                <a:spLocks noChangeArrowheads="1"/>
              </p:cNvSpPr>
              <p:nvPr/>
            </p:nvSpPr>
            <p:spPr bwMode="auto">
              <a:xfrm>
                <a:off x="8069094" y="4800600"/>
                <a:ext cx="312906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itchFamily="34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</a:defRPr>
                </a:lvl9pPr>
              </a:lstStyle>
              <a:p>
                <a:r>
                  <a:rPr lang="en-US"/>
                  <a:t>6</a:t>
                </a:r>
              </a:p>
            </p:txBody>
          </p:sp>
        </p:grpSp>
        <p:grpSp>
          <p:nvGrpSpPr>
            <p:cNvPr id="43064" name="Group 45"/>
            <p:cNvGrpSpPr>
              <a:grpSpLocks/>
            </p:cNvGrpSpPr>
            <p:nvPr/>
          </p:nvGrpSpPr>
          <p:grpSpPr bwMode="auto">
            <a:xfrm>
              <a:off x="6545094" y="4648200"/>
              <a:ext cx="312906" cy="521732"/>
              <a:chOff x="8069094" y="4648200"/>
              <a:chExt cx="312906" cy="521732"/>
            </a:xfrm>
          </p:grpSpPr>
          <p:cxnSp>
            <p:nvCxnSpPr>
              <p:cNvPr id="27" name="Straight Connector 26"/>
              <p:cNvCxnSpPr/>
              <p:nvPr/>
            </p:nvCxnSpPr>
            <p:spPr>
              <a:xfrm rot="5400000">
                <a:off x="8152658" y="4723555"/>
                <a:ext cx="152298" cy="158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3070" name="TextBox 27"/>
              <p:cNvSpPr txBox="1">
                <a:spLocks noChangeArrowheads="1"/>
              </p:cNvSpPr>
              <p:nvPr/>
            </p:nvSpPr>
            <p:spPr bwMode="auto">
              <a:xfrm>
                <a:off x="8069094" y="4800600"/>
                <a:ext cx="312906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itchFamily="34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</a:defRPr>
                </a:lvl9pPr>
              </a:lstStyle>
              <a:p>
                <a:r>
                  <a:rPr lang="en-US"/>
                  <a:t>7</a:t>
                </a:r>
              </a:p>
            </p:txBody>
          </p:sp>
        </p:grpSp>
        <p:grpSp>
          <p:nvGrpSpPr>
            <p:cNvPr id="43065" name="Group 48"/>
            <p:cNvGrpSpPr>
              <a:grpSpLocks/>
            </p:cNvGrpSpPr>
            <p:nvPr/>
          </p:nvGrpSpPr>
          <p:grpSpPr bwMode="auto">
            <a:xfrm>
              <a:off x="6849894" y="4648200"/>
              <a:ext cx="312906" cy="521732"/>
              <a:chOff x="8069094" y="4648200"/>
              <a:chExt cx="312906" cy="521732"/>
            </a:xfrm>
          </p:grpSpPr>
          <p:cxnSp>
            <p:nvCxnSpPr>
              <p:cNvPr id="25" name="Straight Connector 24"/>
              <p:cNvCxnSpPr/>
              <p:nvPr/>
            </p:nvCxnSpPr>
            <p:spPr>
              <a:xfrm rot="5400000">
                <a:off x="8152658" y="4723555"/>
                <a:ext cx="152298" cy="158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3068" name="TextBox 25"/>
              <p:cNvSpPr txBox="1">
                <a:spLocks noChangeArrowheads="1"/>
              </p:cNvSpPr>
              <p:nvPr/>
            </p:nvSpPr>
            <p:spPr bwMode="auto">
              <a:xfrm>
                <a:off x="8069094" y="4800600"/>
                <a:ext cx="312906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itchFamily="34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</a:defRPr>
                </a:lvl9pPr>
              </a:lstStyle>
              <a:p>
                <a:r>
                  <a:rPr lang="en-US"/>
                  <a:t>8</a:t>
                </a:r>
              </a:p>
            </p:txBody>
          </p:sp>
        </p:grpSp>
        <p:sp>
          <p:nvSpPr>
            <p:cNvPr id="43066" name="TextBox 23"/>
            <p:cNvSpPr txBox="1">
              <a:spLocks noChangeArrowheads="1"/>
            </p:cNvSpPr>
            <p:nvPr/>
          </p:nvSpPr>
          <p:spPr bwMode="auto">
            <a:xfrm>
              <a:off x="5105400" y="5105400"/>
              <a:ext cx="3236784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r>
                <a:rPr lang="en-US"/>
                <a:t>Quantity of Ice-Cream Cones </a:t>
              </a:r>
            </a:p>
          </p:txBody>
        </p:sp>
      </p:grpSp>
      <p:grpSp>
        <p:nvGrpSpPr>
          <p:cNvPr id="20" name="Group 48"/>
          <p:cNvGrpSpPr>
            <a:grpSpLocks/>
          </p:cNvGrpSpPr>
          <p:nvPr/>
        </p:nvGrpSpPr>
        <p:grpSpPr bwMode="auto">
          <a:xfrm>
            <a:off x="566738" y="1066800"/>
            <a:ext cx="1414462" cy="3822700"/>
            <a:chOff x="3309689" y="978932"/>
            <a:chExt cx="1414458" cy="3822462"/>
          </a:xfrm>
        </p:grpSpPr>
        <p:cxnSp>
          <p:nvCxnSpPr>
            <p:cNvPr id="50" name="Straight Connector 7"/>
            <p:cNvCxnSpPr/>
            <p:nvPr/>
          </p:nvCxnSpPr>
          <p:spPr>
            <a:xfrm rot="5400000">
              <a:off x="2896246" y="3124304"/>
              <a:ext cx="3352591" cy="1588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3033" name="Group 56"/>
            <p:cNvGrpSpPr>
              <a:grpSpLocks/>
            </p:cNvGrpSpPr>
            <p:nvPr/>
          </p:nvGrpSpPr>
          <p:grpSpPr bwMode="auto">
            <a:xfrm>
              <a:off x="3810000" y="1828800"/>
              <a:ext cx="914147" cy="369332"/>
              <a:chOff x="5943853" y="2286000"/>
              <a:chExt cx="914147" cy="369332"/>
            </a:xfrm>
          </p:grpSpPr>
          <p:sp>
            <p:nvSpPr>
              <p:cNvPr id="43050" name="TextBox 53"/>
              <p:cNvSpPr txBox="1">
                <a:spLocks noChangeArrowheads="1"/>
              </p:cNvSpPr>
              <p:nvPr/>
            </p:nvSpPr>
            <p:spPr bwMode="auto">
              <a:xfrm>
                <a:off x="5943853" y="2286000"/>
                <a:ext cx="761747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itchFamily="34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</a:defRPr>
                </a:lvl9pPr>
              </a:lstStyle>
              <a:p>
                <a:r>
                  <a:rPr lang="en-US"/>
                  <a:t>$3.00</a:t>
                </a:r>
              </a:p>
            </p:txBody>
          </p:sp>
          <p:cxnSp>
            <p:nvCxnSpPr>
              <p:cNvPr id="69" name="Straight Connector 55"/>
              <p:cNvCxnSpPr/>
              <p:nvPr/>
            </p:nvCxnSpPr>
            <p:spPr>
              <a:xfrm>
                <a:off x="6705601" y="2513978"/>
                <a:ext cx="152399" cy="158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3034" name="Group 57"/>
            <p:cNvGrpSpPr>
              <a:grpSpLocks/>
            </p:cNvGrpSpPr>
            <p:nvPr/>
          </p:nvGrpSpPr>
          <p:grpSpPr bwMode="auto">
            <a:xfrm>
              <a:off x="3938240" y="2297668"/>
              <a:ext cx="785907" cy="369332"/>
              <a:chOff x="6072093" y="2286000"/>
              <a:chExt cx="785907" cy="369332"/>
            </a:xfrm>
          </p:grpSpPr>
          <p:sp>
            <p:nvSpPr>
              <p:cNvPr id="43048" name="TextBox 58"/>
              <p:cNvSpPr txBox="1">
                <a:spLocks noChangeArrowheads="1"/>
              </p:cNvSpPr>
              <p:nvPr/>
            </p:nvSpPr>
            <p:spPr bwMode="auto">
              <a:xfrm>
                <a:off x="6072093" y="2286000"/>
                <a:ext cx="633507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itchFamily="34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</a:defRPr>
                </a:lvl9pPr>
              </a:lstStyle>
              <a:p>
                <a:r>
                  <a:rPr lang="en-US"/>
                  <a:t>2.50</a:t>
                </a:r>
              </a:p>
            </p:txBody>
          </p:sp>
          <p:cxnSp>
            <p:nvCxnSpPr>
              <p:cNvPr id="67" name="Straight Connector 66"/>
              <p:cNvCxnSpPr/>
              <p:nvPr/>
            </p:nvCxnSpPr>
            <p:spPr>
              <a:xfrm>
                <a:off x="6705600" y="2514981"/>
                <a:ext cx="152400" cy="158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3035" name="Group 60"/>
            <p:cNvGrpSpPr>
              <a:grpSpLocks/>
            </p:cNvGrpSpPr>
            <p:nvPr/>
          </p:nvGrpSpPr>
          <p:grpSpPr bwMode="auto">
            <a:xfrm>
              <a:off x="3938240" y="2754868"/>
              <a:ext cx="785907" cy="369332"/>
              <a:chOff x="6072093" y="2286000"/>
              <a:chExt cx="785907" cy="369332"/>
            </a:xfrm>
          </p:grpSpPr>
          <p:sp>
            <p:nvSpPr>
              <p:cNvPr id="43046" name="TextBox 63"/>
              <p:cNvSpPr txBox="1">
                <a:spLocks noChangeArrowheads="1"/>
              </p:cNvSpPr>
              <p:nvPr/>
            </p:nvSpPr>
            <p:spPr bwMode="auto">
              <a:xfrm>
                <a:off x="6072093" y="2286000"/>
                <a:ext cx="633507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itchFamily="34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</a:defRPr>
                </a:lvl9pPr>
              </a:lstStyle>
              <a:p>
                <a:r>
                  <a:rPr lang="en-US"/>
                  <a:t>2.00</a:t>
                </a:r>
              </a:p>
            </p:txBody>
          </p:sp>
          <p:cxnSp>
            <p:nvCxnSpPr>
              <p:cNvPr id="65" name="Straight Connector 64"/>
              <p:cNvCxnSpPr/>
              <p:nvPr/>
            </p:nvCxnSpPr>
            <p:spPr>
              <a:xfrm>
                <a:off x="6705600" y="2514952"/>
                <a:ext cx="152400" cy="158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3036" name="Group 63"/>
            <p:cNvGrpSpPr>
              <a:grpSpLocks/>
            </p:cNvGrpSpPr>
            <p:nvPr/>
          </p:nvGrpSpPr>
          <p:grpSpPr bwMode="auto">
            <a:xfrm>
              <a:off x="3938240" y="3212068"/>
              <a:ext cx="785907" cy="369332"/>
              <a:chOff x="6072093" y="2286000"/>
              <a:chExt cx="785907" cy="369332"/>
            </a:xfrm>
          </p:grpSpPr>
          <p:sp>
            <p:nvSpPr>
              <p:cNvPr id="43044" name="TextBox 61"/>
              <p:cNvSpPr txBox="1">
                <a:spLocks noChangeArrowheads="1"/>
              </p:cNvSpPr>
              <p:nvPr/>
            </p:nvSpPr>
            <p:spPr bwMode="auto">
              <a:xfrm>
                <a:off x="6072093" y="2286000"/>
                <a:ext cx="633507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itchFamily="34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</a:defRPr>
                </a:lvl9pPr>
              </a:lstStyle>
              <a:p>
                <a:r>
                  <a:rPr lang="en-US"/>
                  <a:t>1.50</a:t>
                </a:r>
              </a:p>
            </p:txBody>
          </p:sp>
          <p:cxnSp>
            <p:nvCxnSpPr>
              <p:cNvPr id="63" name="Straight Connector 62"/>
              <p:cNvCxnSpPr/>
              <p:nvPr/>
            </p:nvCxnSpPr>
            <p:spPr>
              <a:xfrm>
                <a:off x="6705600" y="2514924"/>
                <a:ext cx="152400" cy="158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3037" name="Group 66"/>
            <p:cNvGrpSpPr>
              <a:grpSpLocks/>
            </p:cNvGrpSpPr>
            <p:nvPr/>
          </p:nvGrpSpPr>
          <p:grpSpPr bwMode="auto">
            <a:xfrm>
              <a:off x="3938240" y="3669268"/>
              <a:ext cx="785907" cy="369332"/>
              <a:chOff x="6072093" y="2286000"/>
              <a:chExt cx="785907" cy="369332"/>
            </a:xfrm>
          </p:grpSpPr>
          <p:sp>
            <p:nvSpPr>
              <p:cNvPr id="43042" name="TextBox 59"/>
              <p:cNvSpPr txBox="1">
                <a:spLocks noChangeArrowheads="1"/>
              </p:cNvSpPr>
              <p:nvPr/>
            </p:nvSpPr>
            <p:spPr bwMode="auto">
              <a:xfrm>
                <a:off x="6072093" y="2286000"/>
                <a:ext cx="633507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itchFamily="34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</a:defRPr>
                </a:lvl9pPr>
              </a:lstStyle>
              <a:p>
                <a:r>
                  <a:rPr lang="en-US"/>
                  <a:t>1.00</a:t>
                </a:r>
              </a:p>
            </p:txBody>
          </p:sp>
          <p:cxnSp>
            <p:nvCxnSpPr>
              <p:cNvPr id="61" name="Straight Connector 60"/>
              <p:cNvCxnSpPr/>
              <p:nvPr/>
            </p:nvCxnSpPr>
            <p:spPr>
              <a:xfrm>
                <a:off x="6705600" y="2514895"/>
                <a:ext cx="152400" cy="158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3038" name="Group 69"/>
            <p:cNvGrpSpPr>
              <a:grpSpLocks/>
            </p:cNvGrpSpPr>
            <p:nvPr/>
          </p:nvGrpSpPr>
          <p:grpSpPr bwMode="auto">
            <a:xfrm>
              <a:off x="3938240" y="4126468"/>
              <a:ext cx="785907" cy="369332"/>
              <a:chOff x="6072093" y="2286000"/>
              <a:chExt cx="785907" cy="369332"/>
            </a:xfrm>
          </p:grpSpPr>
          <p:sp>
            <p:nvSpPr>
              <p:cNvPr id="43040" name="TextBox 57"/>
              <p:cNvSpPr txBox="1">
                <a:spLocks noChangeArrowheads="1"/>
              </p:cNvSpPr>
              <p:nvPr/>
            </p:nvSpPr>
            <p:spPr bwMode="auto">
              <a:xfrm>
                <a:off x="6072093" y="2286000"/>
                <a:ext cx="633507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itchFamily="34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</a:defRPr>
                </a:lvl9pPr>
              </a:lstStyle>
              <a:p>
                <a:r>
                  <a:rPr lang="en-US"/>
                  <a:t>0.50</a:t>
                </a:r>
              </a:p>
            </p:txBody>
          </p:sp>
          <p:cxnSp>
            <p:nvCxnSpPr>
              <p:cNvPr id="59" name="Straight Connector 58"/>
              <p:cNvCxnSpPr/>
              <p:nvPr/>
            </p:nvCxnSpPr>
            <p:spPr>
              <a:xfrm>
                <a:off x="6705600" y="2514867"/>
                <a:ext cx="152400" cy="158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3039" name="TextBox 56"/>
            <p:cNvSpPr txBox="1">
              <a:spLocks noChangeArrowheads="1"/>
            </p:cNvSpPr>
            <p:nvPr/>
          </p:nvSpPr>
          <p:spPr bwMode="auto">
            <a:xfrm>
              <a:off x="3309689" y="978932"/>
              <a:ext cx="1326004" cy="923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algn="r"/>
              <a:r>
                <a:rPr lang="en-US"/>
                <a:t>Price of</a:t>
              </a:r>
            </a:p>
            <a:p>
              <a:pPr algn="r"/>
              <a:r>
                <a:rPr lang="en-US"/>
                <a:t> Ice-Cream</a:t>
              </a:r>
            </a:p>
            <a:p>
              <a:pPr algn="r"/>
              <a:r>
                <a:rPr lang="en-US"/>
                <a:t>Cones </a:t>
              </a:r>
            </a:p>
          </p:txBody>
        </p:sp>
      </p:grpSp>
      <p:cxnSp>
        <p:nvCxnSpPr>
          <p:cNvPr id="76" name="Straight Connector 75"/>
          <p:cNvCxnSpPr/>
          <p:nvPr/>
        </p:nvCxnSpPr>
        <p:spPr>
          <a:xfrm rot="5400000" flipH="1" flipV="1">
            <a:off x="3048794" y="3974306"/>
            <a:ext cx="1828800" cy="1588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0" name="Group 87"/>
          <p:cNvGrpSpPr>
            <a:grpSpLocks/>
          </p:cNvGrpSpPr>
          <p:nvPr/>
        </p:nvGrpSpPr>
        <p:grpSpPr bwMode="auto">
          <a:xfrm>
            <a:off x="4038600" y="2614613"/>
            <a:ext cx="2062163" cy="455612"/>
            <a:chOff x="5562600" y="1535668"/>
            <a:chExt cx="2061727" cy="455711"/>
          </a:xfrm>
        </p:grpSpPr>
        <p:sp>
          <p:nvSpPr>
            <p:cNvPr id="43030" name="TextBox 88"/>
            <p:cNvSpPr txBox="1">
              <a:spLocks noChangeArrowheads="1"/>
            </p:cNvSpPr>
            <p:nvPr/>
          </p:nvSpPr>
          <p:spPr bwMode="auto">
            <a:xfrm>
              <a:off x="6553200" y="1535668"/>
              <a:ext cx="1071127" cy="307777"/>
            </a:xfrm>
            <a:prstGeom prst="rect">
              <a:avLst/>
            </a:prstGeom>
            <a:solidFill>
              <a:srgbClr val="F8EDE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r>
                <a:rPr lang="en-US" sz="1400">
                  <a:solidFill>
                    <a:srgbClr val="800080"/>
                  </a:solidFill>
                </a:rPr>
                <a:t>Equilibrium</a:t>
              </a:r>
            </a:p>
          </p:txBody>
        </p:sp>
        <p:cxnSp>
          <p:nvCxnSpPr>
            <p:cNvPr id="90" name="Straight Connector 89"/>
            <p:cNvCxnSpPr/>
            <p:nvPr/>
          </p:nvCxnSpPr>
          <p:spPr>
            <a:xfrm flipV="1">
              <a:off x="5562600" y="1688101"/>
              <a:ext cx="990391" cy="303278"/>
            </a:xfrm>
            <a:prstGeom prst="line">
              <a:avLst/>
            </a:prstGeom>
            <a:ln>
              <a:solidFill>
                <a:srgbClr val="80008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2" name="Group 93"/>
          <p:cNvGrpSpPr>
            <a:grpSpLocks/>
          </p:cNvGrpSpPr>
          <p:nvPr/>
        </p:nvGrpSpPr>
        <p:grpSpPr bwMode="auto">
          <a:xfrm>
            <a:off x="2133600" y="1700213"/>
            <a:ext cx="4486275" cy="2743200"/>
            <a:chOff x="4572000" y="2057400"/>
            <a:chExt cx="4485700" cy="2743200"/>
          </a:xfrm>
        </p:grpSpPr>
        <p:cxnSp>
          <p:nvCxnSpPr>
            <p:cNvPr id="95" name="Straight Connector 94"/>
            <p:cNvCxnSpPr/>
            <p:nvPr/>
          </p:nvCxnSpPr>
          <p:spPr>
            <a:xfrm>
              <a:off x="4572000" y="2057400"/>
              <a:ext cx="3649195" cy="2743200"/>
            </a:xfrm>
            <a:prstGeom prst="line">
              <a:avLst/>
            </a:prstGeom>
            <a:ln w="38100">
              <a:solidFill>
                <a:srgbClr val="00007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029" name="TextBox 95"/>
            <p:cNvSpPr txBox="1">
              <a:spLocks noChangeArrowheads="1"/>
            </p:cNvSpPr>
            <p:nvPr/>
          </p:nvSpPr>
          <p:spPr bwMode="auto">
            <a:xfrm>
              <a:off x="8001000" y="4343400"/>
              <a:ext cx="105670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r>
                <a:rPr lang="en-US"/>
                <a:t>Demand</a:t>
              </a:r>
            </a:p>
          </p:txBody>
        </p:sp>
      </p:grpSp>
      <p:cxnSp>
        <p:nvCxnSpPr>
          <p:cNvPr id="100" name="Straight Connector 99"/>
          <p:cNvCxnSpPr/>
          <p:nvPr/>
        </p:nvCxnSpPr>
        <p:spPr>
          <a:xfrm rot="10800000">
            <a:off x="1828800" y="3071813"/>
            <a:ext cx="2133600" cy="1587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Freeform 183"/>
          <p:cNvSpPr>
            <a:spLocks/>
          </p:cNvSpPr>
          <p:nvPr/>
        </p:nvSpPr>
        <p:spPr bwMode="auto">
          <a:xfrm>
            <a:off x="3892550" y="2995613"/>
            <a:ext cx="146050" cy="136525"/>
          </a:xfrm>
          <a:custGeom>
            <a:avLst/>
            <a:gdLst>
              <a:gd name="T0" fmla="*/ 2147483647 w 106"/>
              <a:gd name="T1" fmla="*/ 2147483647 h 68"/>
              <a:gd name="T2" fmla="*/ 2147483647 w 106"/>
              <a:gd name="T3" fmla="*/ 2147483647 h 68"/>
              <a:gd name="T4" fmla="*/ 2147483647 w 106"/>
              <a:gd name="T5" fmla="*/ 2147483647 h 68"/>
              <a:gd name="T6" fmla="*/ 2147483647 w 106"/>
              <a:gd name="T7" fmla="*/ 2147483647 h 68"/>
              <a:gd name="T8" fmla="*/ 2147483647 w 106"/>
              <a:gd name="T9" fmla="*/ 2147483647 h 68"/>
              <a:gd name="T10" fmla="*/ 2147483647 w 106"/>
              <a:gd name="T11" fmla="*/ 2147483647 h 68"/>
              <a:gd name="T12" fmla="*/ 2147483647 w 106"/>
              <a:gd name="T13" fmla="*/ 2147483647 h 68"/>
              <a:gd name="T14" fmla="*/ 2147483647 w 106"/>
              <a:gd name="T15" fmla="*/ 2147483647 h 68"/>
              <a:gd name="T16" fmla="*/ 2147483647 w 106"/>
              <a:gd name="T17" fmla="*/ 2147483647 h 68"/>
              <a:gd name="T18" fmla="*/ 2147483647 w 106"/>
              <a:gd name="T19" fmla="*/ 2147483647 h 68"/>
              <a:gd name="T20" fmla="*/ 2147483647 w 106"/>
              <a:gd name="T21" fmla="*/ 0 h 68"/>
              <a:gd name="T22" fmla="*/ 2147483647 w 106"/>
              <a:gd name="T23" fmla="*/ 0 h 68"/>
              <a:gd name="T24" fmla="*/ 2147483647 w 106"/>
              <a:gd name="T25" fmla="*/ 2147483647 h 68"/>
              <a:gd name="T26" fmla="*/ 2147483647 w 106"/>
              <a:gd name="T27" fmla="*/ 2147483647 h 68"/>
              <a:gd name="T28" fmla="*/ 2147483647 w 106"/>
              <a:gd name="T29" fmla="*/ 2147483647 h 68"/>
              <a:gd name="T30" fmla="*/ 0 w 106"/>
              <a:gd name="T31" fmla="*/ 2147483647 h 68"/>
              <a:gd name="T32" fmla="*/ 0 w 106"/>
              <a:gd name="T33" fmla="*/ 2147483647 h 68"/>
              <a:gd name="T34" fmla="*/ 2147483647 w 106"/>
              <a:gd name="T35" fmla="*/ 2147483647 h 68"/>
              <a:gd name="T36" fmla="*/ 2147483647 w 106"/>
              <a:gd name="T37" fmla="*/ 2147483647 h 68"/>
              <a:gd name="T38" fmla="*/ 2147483647 w 106"/>
              <a:gd name="T39" fmla="*/ 2147483647 h 68"/>
              <a:gd name="T40" fmla="*/ 2147483647 w 106"/>
              <a:gd name="T41" fmla="*/ 2147483647 h 68"/>
              <a:gd name="T42" fmla="*/ 2147483647 w 106"/>
              <a:gd name="T43" fmla="*/ 2147483647 h 68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w 106"/>
              <a:gd name="T67" fmla="*/ 0 h 68"/>
              <a:gd name="T68" fmla="*/ 106 w 106"/>
              <a:gd name="T69" fmla="*/ 68 h 68"/>
            </a:gdLst>
            <a:ahLst/>
            <a:cxnLst>
              <a:cxn ang="T44">
                <a:pos x="T0" y="T1"/>
              </a:cxn>
              <a:cxn ang="T45">
                <a:pos x="T2" y="T3"/>
              </a:cxn>
              <a:cxn ang="T46">
                <a:pos x="T4" y="T5"/>
              </a:cxn>
              <a:cxn ang="T47">
                <a:pos x="T6" y="T7"/>
              </a:cxn>
              <a:cxn ang="T48">
                <a:pos x="T8" y="T9"/>
              </a:cxn>
              <a:cxn ang="T49">
                <a:pos x="T10" y="T11"/>
              </a:cxn>
              <a:cxn ang="T50">
                <a:pos x="T12" y="T13"/>
              </a:cxn>
              <a:cxn ang="T51">
                <a:pos x="T14" y="T15"/>
              </a:cxn>
              <a:cxn ang="T52">
                <a:pos x="T16" y="T17"/>
              </a:cxn>
              <a:cxn ang="T53">
                <a:pos x="T18" y="T19"/>
              </a:cxn>
              <a:cxn ang="T54">
                <a:pos x="T20" y="T21"/>
              </a:cxn>
              <a:cxn ang="T55">
                <a:pos x="T22" y="T23"/>
              </a:cxn>
              <a:cxn ang="T56">
                <a:pos x="T24" y="T25"/>
              </a:cxn>
              <a:cxn ang="T57">
                <a:pos x="T26" y="T27"/>
              </a:cxn>
              <a:cxn ang="T58">
                <a:pos x="T28" y="T29"/>
              </a:cxn>
              <a:cxn ang="T59">
                <a:pos x="T30" y="T31"/>
              </a:cxn>
              <a:cxn ang="T60">
                <a:pos x="T32" y="T33"/>
              </a:cxn>
              <a:cxn ang="T61">
                <a:pos x="T34" y="T35"/>
              </a:cxn>
              <a:cxn ang="T62">
                <a:pos x="T36" y="T37"/>
              </a:cxn>
              <a:cxn ang="T63">
                <a:pos x="T38" y="T39"/>
              </a:cxn>
              <a:cxn ang="T64">
                <a:pos x="T40" y="T41"/>
              </a:cxn>
              <a:cxn ang="T65">
                <a:pos x="T42" y="T43"/>
              </a:cxn>
            </a:cxnLst>
            <a:rect l="T66" t="T67" r="T68" b="T69"/>
            <a:pathLst>
              <a:path w="106" h="68">
                <a:moveTo>
                  <a:pt x="56" y="68"/>
                </a:moveTo>
                <a:lnTo>
                  <a:pt x="56" y="68"/>
                </a:lnTo>
                <a:lnTo>
                  <a:pt x="76" y="65"/>
                </a:lnTo>
                <a:lnTo>
                  <a:pt x="91" y="58"/>
                </a:lnTo>
                <a:lnTo>
                  <a:pt x="101" y="45"/>
                </a:lnTo>
                <a:lnTo>
                  <a:pt x="106" y="32"/>
                </a:lnTo>
                <a:lnTo>
                  <a:pt x="101" y="19"/>
                </a:lnTo>
                <a:lnTo>
                  <a:pt x="91" y="9"/>
                </a:lnTo>
                <a:lnTo>
                  <a:pt x="76" y="3"/>
                </a:lnTo>
                <a:lnTo>
                  <a:pt x="56" y="0"/>
                </a:lnTo>
                <a:lnTo>
                  <a:pt x="36" y="3"/>
                </a:lnTo>
                <a:lnTo>
                  <a:pt x="15" y="9"/>
                </a:lnTo>
                <a:lnTo>
                  <a:pt x="5" y="19"/>
                </a:lnTo>
                <a:lnTo>
                  <a:pt x="0" y="32"/>
                </a:lnTo>
                <a:lnTo>
                  <a:pt x="5" y="45"/>
                </a:lnTo>
                <a:lnTo>
                  <a:pt x="15" y="58"/>
                </a:lnTo>
                <a:lnTo>
                  <a:pt x="36" y="65"/>
                </a:lnTo>
                <a:lnTo>
                  <a:pt x="56" y="68"/>
                </a:lnTo>
                <a:close/>
              </a:path>
            </a:pathLst>
          </a:custGeom>
          <a:solidFill>
            <a:srgbClr val="C00000"/>
          </a:solidFill>
          <a:ln w="9525">
            <a:solidFill>
              <a:srgbClr val="C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grpSp>
        <p:nvGrpSpPr>
          <p:cNvPr id="34" name="Group 103"/>
          <p:cNvGrpSpPr>
            <a:grpSpLocks/>
          </p:cNvGrpSpPr>
          <p:nvPr/>
        </p:nvGrpSpPr>
        <p:grpSpPr bwMode="auto">
          <a:xfrm>
            <a:off x="1828800" y="2462213"/>
            <a:ext cx="1223963" cy="609600"/>
            <a:chOff x="6324600" y="1078468"/>
            <a:chExt cx="1223527" cy="609600"/>
          </a:xfrm>
        </p:grpSpPr>
        <p:sp>
          <p:nvSpPr>
            <p:cNvPr id="43026" name="TextBox 104"/>
            <p:cNvSpPr txBox="1">
              <a:spLocks noChangeArrowheads="1"/>
            </p:cNvSpPr>
            <p:nvPr/>
          </p:nvSpPr>
          <p:spPr bwMode="auto">
            <a:xfrm>
              <a:off x="6477000" y="1078468"/>
              <a:ext cx="1071127" cy="523220"/>
            </a:xfrm>
            <a:prstGeom prst="rect">
              <a:avLst/>
            </a:prstGeom>
            <a:solidFill>
              <a:srgbClr val="F8EDE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r>
                <a:rPr lang="en-US" sz="1400">
                  <a:solidFill>
                    <a:srgbClr val="800080"/>
                  </a:solidFill>
                </a:rPr>
                <a:t>Equilibrium</a:t>
              </a:r>
            </a:p>
            <a:p>
              <a:r>
                <a:rPr lang="en-US" sz="1400">
                  <a:solidFill>
                    <a:srgbClr val="800080"/>
                  </a:solidFill>
                </a:rPr>
                <a:t>price</a:t>
              </a:r>
            </a:p>
          </p:txBody>
        </p:sp>
        <p:cxnSp>
          <p:nvCxnSpPr>
            <p:cNvPr id="106" name="Straight Connector 105"/>
            <p:cNvCxnSpPr/>
            <p:nvPr/>
          </p:nvCxnSpPr>
          <p:spPr>
            <a:xfrm flipV="1">
              <a:off x="6324600" y="1535668"/>
              <a:ext cx="533210" cy="152400"/>
            </a:xfrm>
            <a:prstGeom prst="line">
              <a:avLst/>
            </a:prstGeom>
            <a:ln>
              <a:solidFill>
                <a:srgbClr val="80008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6" name="Group 106"/>
          <p:cNvGrpSpPr>
            <a:grpSpLocks/>
          </p:cNvGrpSpPr>
          <p:nvPr/>
        </p:nvGrpSpPr>
        <p:grpSpPr bwMode="auto">
          <a:xfrm>
            <a:off x="2667000" y="4087813"/>
            <a:ext cx="1295400" cy="812800"/>
            <a:chOff x="5029200" y="1789093"/>
            <a:chExt cx="1295399" cy="813375"/>
          </a:xfrm>
        </p:grpSpPr>
        <p:sp>
          <p:nvSpPr>
            <p:cNvPr id="43024" name="TextBox 107"/>
            <p:cNvSpPr txBox="1">
              <a:spLocks noChangeArrowheads="1"/>
            </p:cNvSpPr>
            <p:nvPr/>
          </p:nvSpPr>
          <p:spPr bwMode="auto">
            <a:xfrm>
              <a:off x="5029200" y="1789093"/>
              <a:ext cx="1071127" cy="523220"/>
            </a:xfrm>
            <a:prstGeom prst="rect">
              <a:avLst/>
            </a:prstGeom>
            <a:solidFill>
              <a:srgbClr val="F8EDE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r>
                <a:rPr lang="en-US" sz="1400">
                  <a:solidFill>
                    <a:srgbClr val="800080"/>
                  </a:solidFill>
                </a:rPr>
                <a:t>Equilibrium</a:t>
              </a:r>
            </a:p>
            <a:p>
              <a:r>
                <a:rPr lang="en-US" sz="1400">
                  <a:solidFill>
                    <a:srgbClr val="800080"/>
                  </a:solidFill>
                </a:rPr>
                <a:t>quantity</a:t>
              </a:r>
            </a:p>
          </p:txBody>
        </p:sp>
        <p:cxnSp>
          <p:nvCxnSpPr>
            <p:cNvPr id="109" name="Straight Connector 108"/>
            <p:cNvCxnSpPr/>
            <p:nvPr/>
          </p:nvCxnSpPr>
          <p:spPr>
            <a:xfrm rot="16200000" flipH="1">
              <a:off x="5983946" y="2261814"/>
              <a:ext cx="381270" cy="300037"/>
            </a:xfrm>
            <a:prstGeom prst="line">
              <a:avLst/>
            </a:prstGeom>
            <a:ln>
              <a:solidFill>
                <a:srgbClr val="80008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7256608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3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3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3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4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9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3"/>
          <p:cNvSpPr>
            <a:spLocks noGrp="1" noChangeArrowheads="1"/>
          </p:cNvSpPr>
          <p:nvPr>
            <p:ph type="title"/>
          </p:nvPr>
        </p:nvSpPr>
        <p:spPr>
          <a:xfrm>
            <a:off x="606425" y="346075"/>
            <a:ext cx="8080375" cy="642938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sz="2800" b="1" dirty="0"/>
              <a:t>Markets Not in Equilibrium</a:t>
            </a:r>
          </a:p>
        </p:txBody>
      </p:sp>
      <p:sp>
        <p:nvSpPr>
          <p:cNvPr id="48" name="Slide Number Placeholder 4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D758C26-F249-483F-9035-927EC402CC97}" type="slidenum">
              <a:rPr lang="en-US"/>
              <a:pPr>
                <a:defRPr/>
              </a:pPr>
              <a:t>25</a:t>
            </a:fld>
            <a:endParaRPr lang="en-US"/>
          </a:p>
        </p:txBody>
      </p:sp>
      <p:sp>
        <p:nvSpPr>
          <p:cNvPr id="45059" name="Freeform 17"/>
          <p:cNvSpPr>
            <a:spLocks/>
          </p:cNvSpPr>
          <p:nvPr/>
        </p:nvSpPr>
        <p:spPr bwMode="auto">
          <a:xfrm>
            <a:off x="2038350" y="1836738"/>
            <a:ext cx="5199063" cy="3681412"/>
          </a:xfrm>
          <a:custGeom>
            <a:avLst/>
            <a:gdLst>
              <a:gd name="T0" fmla="*/ 0 w 3275"/>
              <a:gd name="T1" fmla="*/ 0 h 2319"/>
              <a:gd name="T2" fmla="*/ 0 w 3275"/>
              <a:gd name="T3" fmla="*/ 2147483647 h 2319"/>
              <a:gd name="T4" fmla="*/ 2147483647 w 3275"/>
              <a:gd name="T5" fmla="*/ 2147483647 h 2319"/>
              <a:gd name="T6" fmla="*/ 0 60000 65536"/>
              <a:gd name="T7" fmla="*/ 0 60000 65536"/>
              <a:gd name="T8" fmla="*/ 0 60000 65536"/>
              <a:gd name="T9" fmla="*/ 0 w 3275"/>
              <a:gd name="T10" fmla="*/ 0 h 2319"/>
              <a:gd name="T11" fmla="*/ 3275 w 3275"/>
              <a:gd name="T12" fmla="*/ 2319 h 2319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275" h="2319">
                <a:moveTo>
                  <a:pt x="0" y="0"/>
                </a:moveTo>
                <a:lnTo>
                  <a:pt x="0" y="2319"/>
                </a:lnTo>
                <a:lnTo>
                  <a:pt x="3275" y="2319"/>
                </a:lnTo>
              </a:path>
            </a:pathLst>
          </a:custGeom>
          <a:noFill/>
          <a:ln w="206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5060" name="Rectangle 18"/>
          <p:cNvSpPr>
            <a:spLocks noChangeArrowheads="1"/>
          </p:cNvSpPr>
          <p:nvPr/>
        </p:nvSpPr>
        <p:spPr bwMode="auto">
          <a:xfrm>
            <a:off x="1081088" y="1809750"/>
            <a:ext cx="95885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eaLnBrk="0" hangingPunct="0"/>
            <a:r>
              <a:rPr lang="en-US" sz="1700" b="1">
                <a:solidFill>
                  <a:srgbClr val="000000"/>
                </a:solidFill>
                <a:latin typeface="Calibri" pitchFamily="34" charset="0"/>
              </a:rPr>
              <a:t>Price of</a:t>
            </a:r>
            <a:endParaRPr lang="en-US" sz="2400">
              <a:latin typeface="Times New Roman" pitchFamily="18" charset="0"/>
            </a:endParaRPr>
          </a:p>
        </p:txBody>
      </p:sp>
      <p:sp>
        <p:nvSpPr>
          <p:cNvPr id="45061" name="Rectangle 19"/>
          <p:cNvSpPr>
            <a:spLocks noChangeArrowheads="1"/>
          </p:cNvSpPr>
          <p:nvPr/>
        </p:nvSpPr>
        <p:spPr bwMode="auto">
          <a:xfrm>
            <a:off x="817563" y="2084388"/>
            <a:ext cx="1236662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eaLnBrk="0" hangingPunct="0"/>
            <a:r>
              <a:rPr lang="en-US" sz="1700" b="1">
                <a:solidFill>
                  <a:srgbClr val="000000"/>
                </a:solidFill>
                <a:latin typeface="Calibri" pitchFamily="34" charset="0"/>
              </a:rPr>
              <a:t>Ice-Cream</a:t>
            </a:r>
            <a:endParaRPr lang="en-US" sz="2400">
              <a:latin typeface="Times New Roman" pitchFamily="18" charset="0"/>
            </a:endParaRPr>
          </a:p>
        </p:txBody>
      </p:sp>
      <p:sp>
        <p:nvSpPr>
          <p:cNvPr id="45062" name="Rectangle 20"/>
          <p:cNvSpPr>
            <a:spLocks noChangeArrowheads="1"/>
          </p:cNvSpPr>
          <p:nvPr/>
        </p:nvSpPr>
        <p:spPr bwMode="auto">
          <a:xfrm>
            <a:off x="1350963" y="2357438"/>
            <a:ext cx="696912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eaLnBrk="0" hangingPunct="0"/>
            <a:r>
              <a:rPr lang="en-US" sz="1700" b="1">
                <a:solidFill>
                  <a:srgbClr val="000000"/>
                </a:solidFill>
                <a:latin typeface="Calibri" pitchFamily="34" charset="0"/>
              </a:rPr>
              <a:t>Cone</a:t>
            </a:r>
            <a:endParaRPr lang="en-US" sz="2400">
              <a:latin typeface="Times New Roman" pitchFamily="18" charset="0"/>
            </a:endParaRPr>
          </a:p>
        </p:txBody>
      </p:sp>
      <p:sp>
        <p:nvSpPr>
          <p:cNvPr id="45063" name="Rectangle 21"/>
          <p:cNvSpPr>
            <a:spLocks noChangeArrowheads="1"/>
          </p:cNvSpPr>
          <p:nvPr/>
        </p:nvSpPr>
        <p:spPr bwMode="auto">
          <a:xfrm>
            <a:off x="1944688" y="5546725"/>
            <a:ext cx="120650" cy="258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eaLnBrk="0" hangingPunct="0"/>
            <a:r>
              <a:rPr lang="en-US" sz="1700">
                <a:solidFill>
                  <a:srgbClr val="000000"/>
                </a:solidFill>
                <a:latin typeface="Calibri" pitchFamily="34" charset="0"/>
              </a:rPr>
              <a:t>0</a:t>
            </a:r>
            <a:endParaRPr lang="en-US" sz="2400">
              <a:latin typeface="Times New Roman" pitchFamily="18" charset="0"/>
            </a:endParaRPr>
          </a:p>
        </p:txBody>
      </p:sp>
      <p:grpSp>
        <p:nvGrpSpPr>
          <p:cNvPr id="2" name="Group 22"/>
          <p:cNvGrpSpPr>
            <a:grpSpLocks/>
          </p:cNvGrpSpPr>
          <p:nvPr/>
        </p:nvGrpSpPr>
        <p:grpSpPr bwMode="auto">
          <a:xfrm>
            <a:off x="2251075" y="2097088"/>
            <a:ext cx="4705350" cy="2460625"/>
            <a:chOff x="1418" y="1321"/>
            <a:chExt cx="2964" cy="1550"/>
          </a:xfrm>
        </p:grpSpPr>
        <p:sp>
          <p:nvSpPr>
            <p:cNvPr id="45104" name="Line 23"/>
            <p:cNvSpPr>
              <a:spLocks noChangeShapeType="1"/>
            </p:cNvSpPr>
            <p:nvPr/>
          </p:nvSpPr>
          <p:spPr bwMode="auto">
            <a:xfrm flipH="1">
              <a:off x="1418" y="1543"/>
              <a:ext cx="2566" cy="1328"/>
            </a:xfrm>
            <a:prstGeom prst="line">
              <a:avLst/>
            </a:prstGeom>
            <a:noFill/>
            <a:ln w="63500">
              <a:solidFill>
                <a:srgbClr val="004C9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105" name="Rectangle 24"/>
            <p:cNvSpPr>
              <a:spLocks noChangeArrowheads="1"/>
            </p:cNvSpPr>
            <p:nvPr/>
          </p:nvSpPr>
          <p:spPr bwMode="auto">
            <a:xfrm>
              <a:off x="3876" y="1321"/>
              <a:ext cx="506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0" hangingPunct="0"/>
              <a:r>
                <a:rPr lang="en-US" sz="1700">
                  <a:solidFill>
                    <a:srgbClr val="000000"/>
                  </a:solidFill>
                  <a:latin typeface="Calibri" pitchFamily="34" charset="0"/>
                </a:rPr>
                <a:t>Supply</a:t>
              </a:r>
              <a:endParaRPr lang="en-US" sz="2400">
                <a:latin typeface="Times New Roman" pitchFamily="18" charset="0"/>
              </a:endParaRPr>
            </a:p>
          </p:txBody>
        </p:sp>
      </p:grpSp>
      <p:grpSp>
        <p:nvGrpSpPr>
          <p:cNvPr id="3" name="Group 25"/>
          <p:cNvGrpSpPr>
            <a:grpSpLocks/>
          </p:cNvGrpSpPr>
          <p:nvPr/>
        </p:nvGrpSpPr>
        <p:grpSpPr bwMode="auto">
          <a:xfrm>
            <a:off x="2314575" y="2449513"/>
            <a:ext cx="4903788" cy="2590800"/>
            <a:chOff x="1458" y="1543"/>
            <a:chExt cx="3089" cy="1632"/>
          </a:xfrm>
        </p:grpSpPr>
        <p:sp>
          <p:nvSpPr>
            <p:cNvPr id="45102" name="Line 26"/>
            <p:cNvSpPr>
              <a:spLocks noChangeShapeType="1"/>
            </p:cNvSpPr>
            <p:nvPr/>
          </p:nvSpPr>
          <p:spPr bwMode="auto">
            <a:xfrm>
              <a:off x="1458" y="1543"/>
              <a:ext cx="2607" cy="1341"/>
            </a:xfrm>
            <a:prstGeom prst="line">
              <a:avLst/>
            </a:prstGeom>
            <a:noFill/>
            <a:ln w="63500">
              <a:solidFill>
                <a:srgbClr val="004C9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103" name="Rectangle 27"/>
            <p:cNvSpPr>
              <a:spLocks noChangeArrowheads="1"/>
            </p:cNvSpPr>
            <p:nvPr/>
          </p:nvSpPr>
          <p:spPr bwMode="auto">
            <a:xfrm>
              <a:off x="3938" y="2981"/>
              <a:ext cx="609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0" hangingPunct="0"/>
              <a:r>
                <a:rPr lang="en-US" sz="1700">
                  <a:solidFill>
                    <a:srgbClr val="000000"/>
                  </a:solidFill>
                  <a:latin typeface="Calibri" pitchFamily="34" charset="0"/>
                </a:rPr>
                <a:t>Demand</a:t>
              </a:r>
              <a:endParaRPr lang="en-US" sz="2400">
                <a:latin typeface="Times New Roman" pitchFamily="18" charset="0"/>
              </a:endParaRPr>
            </a:p>
          </p:txBody>
        </p:sp>
      </p:grpSp>
      <p:sp>
        <p:nvSpPr>
          <p:cNvPr id="45066" name="Rectangle 28"/>
          <p:cNvSpPr>
            <a:spLocks noChangeArrowheads="1"/>
          </p:cNvSpPr>
          <p:nvPr/>
        </p:nvSpPr>
        <p:spPr bwMode="auto">
          <a:xfrm>
            <a:off x="3587750" y="1468438"/>
            <a:ext cx="2103438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eaLnBrk="0" hangingPunct="0"/>
            <a:r>
              <a:rPr lang="en-US" sz="1700" b="1">
                <a:solidFill>
                  <a:srgbClr val="000000"/>
                </a:solidFill>
                <a:latin typeface="Calibri" pitchFamily="34" charset="0"/>
              </a:rPr>
              <a:t>(a) Excess Supply</a:t>
            </a:r>
            <a:endParaRPr lang="en-US" sz="2400">
              <a:latin typeface="Times New Roman" pitchFamily="18" charset="0"/>
            </a:endParaRPr>
          </a:p>
        </p:txBody>
      </p:sp>
      <p:grpSp>
        <p:nvGrpSpPr>
          <p:cNvPr id="4" name="Group 29"/>
          <p:cNvGrpSpPr>
            <a:grpSpLocks/>
          </p:cNvGrpSpPr>
          <p:nvPr/>
        </p:nvGrpSpPr>
        <p:grpSpPr bwMode="auto">
          <a:xfrm>
            <a:off x="2738438" y="5826125"/>
            <a:ext cx="1189037" cy="571500"/>
            <a:chOff x="1725" y="3670"/>
            <a:chExt cx="749" cy="360"/>
          </a:xfrm>
        </p:grpSpPr>
        <p:sp>
          <p:nvSpPr>
            <p:cNvPr id="45099" name="Rectangle 30"/>
            <p:cNvSpPr>
              <a:spLocks noChangeArrowheads="1"/>
            </p:cNvSpPr>
            <p:nvPr/>
          </p:nvSpPr>
          <p:spPr bwMode="auto">
            <a:xfrm>
              <a:off x="1725" y="3670"/>
              <a:ext cx="749" cy="360"/>
            </a:xfrm>
            <a:prstGeom prst="rect">
              <a:avLst/>
            </a:prstGeom>
            <a:solidFill>
              <a:srgbClr val="E1E5E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>
                <a:latin typeface="Calibri" pitchFamily="34" charset="0"/>
              </a:endParaRPr>
            </a:p>
          </p:txBody>
        </p:sp>
        <p:sp>
          <p:nvSpPr>
            <p:cNvPr id="45100" name="Rectangle 31"/>
            <p:cNvSpPr>
              <a:spLocks noChangeArrowheads="1"/>
            </p:cNvSpPr>
            <p:nvPr/>
          </p:nvSpPr>
          <p:spPr bwMode="auto">
            <a:xfrm>
              <a:off x="1750" y="3682"/>
              <a:ext cx="508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0" hangingPunct="0"/>
              <a:r>
                <a:rPr lang="en-US" sz="1700">
                  <a:solidFill>
                    <a:srgbClr val="000000"/>
                  </a:solidFill>
                  <a:latin typeface="Calibri" pitchFamily="34" charset="0"/>
                </a:rPr>
                <a:t>Quantity</a:t>
              </a:r>
              <a:endParaRPr lang="en-US" sz="2400">
                <a:latin typeface="Times New Roman" pitchFamily="18" charset="0"/>
              </a:endParaRPr>
            </a:p>
          </p:txBody>
        </p:sp>
        <p:sp>
          <p:nvSpPr>
            <p:cNvPr id="45101" name="Rectangle 32"/>
            <p:cNvSpPr>
              <a:spLocks noChangeArrowheads="1"/>
            </p:cNvSpPr>
            <p:nvPr/>
          </p:nvSpPr>
          <p:spPr bwMode="auto">
            <a:xfrm>
              <a:off x="1750" y="3855"/>
              <a:ext cx="645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0" hangingPunct="0"/>
              <a:r>
                <a:rPr lang="en-US" sz="1700">
                  <a:solidFill>
                    <a:srgbClr val="000000"/>
                  </a:solidFill>
                  <a:latin typeface="Calibri" pitchFamily="34" charset="0"/>
                </a:rPr>
                <a:t>demanded</a:t>
              </a:r>
              <a:endParaRPr lang="en-US" sz="2400">
                <a:latin typeface="Times New Roman" pitchFamily="18" charset="0"/>
              </a:endParaRPr>
            </a:p>
          </p:txBody>
        </p:sp>
      </p:grpSp>
      <p:grpSp>
        <p:nvGrpSpPr>
          <p:cNvPr id="5" name="Group 33"/>
          <p:cNvGrpSpPr>
            <a:grpSpLocks/>
          </p:cNvGrpSpPr>
          <p:nvPr/>
        </p:nvGrpSpPr>
        <p:grpSpPr bwMode="auto">
          <a:xfrm>
            <a:off x="4818063" y="5826125"/>
            <a:ext cx="976312" cy="571500"/>
            <a:chOff x="3035" y="3670"/>
            <a:chExt cx="615" cy="360"/>
          </a:xfrm>
        </p:grpSpPr>
        <p:sp>
          <p:nvSpPr>
            <p:cNvPr id="45096" name="Rectangle 34"/>
            <p:cNvSpPr>
              <a:spLocks noChangeArrowheads="1"/>
            </p:cNvSpPr>
            <p:nvPr/>
          </p:nvSpPr>
          <p:spPr bwMode="auto">
            <a:xfrm>
              <a:off x="3035" y="3670"/>
              <a:ext cx="615" cy="360"/>
            </a:xfrm>
            <a:prstGeom prst="rect">
              <a:avLst/>
            </a:prstGeom>
            <a:solidFill>
              <a:srgbClr val="E1E5E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>
                <a:latin typeface="Calibri" pitchFamily="34" charset="0"/>
              </a:endParaRPr>
            </a:p>
          </p:txBody>
        </p:sp>
        <p:sp>
          <p:nvSpPr>
            <p:cNvPr id="45097" name="Rectangle 35"/>
            <p:cNvSpPr>
              <a:spLocks noChangeArrowheads="1"/>
            </p:cNvSpPr>
            <p:nvPr/>
          </p:nvSpPr>
          <p:spPr bwMode="auto">
            <a:xfrm>
              <a:off x="3070" y="3686"/>
              <a:ext cx="508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0" hangingPunct="0"/>
              <a:r>
                <a:rPr lang="en-US" sz="1700">
                  <a:solidFill>
                    <a:srgbClr val="000000"/>
                  </a:solidFill>
                  <a:latin typeface="Calibri" pitchFamily="34" charset="0"/>
                </a:rPr>
                <a:t>Quantity</a:t>
              </a:r>
              <a:endParaRPr lang="en-US" sz="2400">
                <a:latin typeface="Times New Roman" pitchFamily="18" charset="0"/>
              </a:endParaRPr>
            </a:p>
          </p:txBody>
        </p:sp>
        <p:sp>
          <p:nvSpPr>
            <p:cNvPr id="45098" name="Rectangle 36"/>
            <p:cNvSpPr>
              <a:spLocks noChangeArrowheads="1"/>
            </p:cNvSpPr>
            <p:nvPr/>
          </p:nvSpPr>
          <p:spPr bwMode="auto">
            <a:xfrm>
              <a:off x="3070" y="3859"/>
              <a:ext cx="508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0" hangingPunct="0"/>
              <a:r>
                <a:rPr lang="en-US" sz="1700">
                  <a:solidFill>
                    <a:srgbClr val="000000"/>
                  </a:solidFill>
                  <a:latin typeface="Calibri" pitchFamily="34" charset="0"/>
                </a:rPr>
                <a:t>supplied</a:t>
              </a:r>
              <a:endParaRPr lang="en-US" sz="2400">
                <a:latin typeface="Times New Roman" pitchFamily="18" charset="0"/>
              </a:endParaRPr>
            </a:p>
          </p:txBody>
        </p:sp>
      </p:grpSp>
      <p:grpSp>
        <p:nvGrpSpPr>
          <p:cNvPr id="6" name="Group 37"/>
          <p:cNvGrpSpPr>
            <a:grpSpLocks/>
          </p:cNvGrpSpPr>
          <p:nvPr/>
        </p:nvGrpSpPr>
        <p:grpSpPr bwMode="auto">
          <a:xfrm>
            <a:off x="3354388" y="2347913"/>
            <a:ext cx="1952625" cy="511175"/>
            <a:chOff x="2113" y="1479"/>
            <a:chExt cx="1230" cy="322"/>
          </a:xfrm>
        </p:grpSpPr>
        <p:sp>
          <p:nvSpPr>
            <p:cNvPr id="45092" name="Freeform 38"/>
            <p:cNvSpPr>
              <a:spLocks/>
            </p:cNvSpPr>
            <p:nvPr/>
          </p:nvSpPr>
          <p:spPr bwMode="auto">
            <a:xfrm>
              <a:off x="2113" y="1711"/>
              <a:ext cx="1230" cy="90"/>
            </a:xfrm>
            <a:custGeom>
              <a:avLst/>
              <a:gdLst>
                <a:gd name="T0" fmla="*/ 16445 w 92"/>
                <a:gd name="T1" fmla="*/ 1157 h 7"/>
                <a:gd name="T2" fmla="*/ 15549 w 92"/>
                <a:gd name="T3" fmla="*/ 656 h 7"/>
                <a:gd name="T4" fmla="*/ 8757 w 92"/>
                <a:gd name="T5" fmla="*/ 656 h 7"/>
                <a:gd name="T6" fmla="*/ 8048 w 92"/>
                <a:gd name="T7" fmla="*/ 0 h 7"/>
                <a:gd name="T8" fmla="*/ 7514 w 92"/>
                <a:gd name="T9" fmla="*/ 656 h 7"/>
                <a:gd name="T10" fmla="*/ 709 w 92"/>
                <a:gd name="T11" fmla="*/ 656 h 7"/>
                <a:gd name="T12" fmla="*/ 0 w 92"/>
                <a:gd name="T13" fmla="*/ 1157 h 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92"/>
                <a:gd name="T22" fmla="*/ 0 h 7"/>
                <a:gd name="T23" fmla="*/ 92 w 92"/>
                <a:gd name="T24" fmla="*/ 7 h 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92" h="7">
                  <a:moveTo>
                    <a:pt x="92" y="7"/>
                  </a:moveTo>
                  <a:cubicBezTo>
                    <a:pt x="92" y="5"/>
                    <a:pt x="89" y="4"/>
                    <a:pt x="87" y="4"/>
                  </a:cubicBezTo>
                  <a:cubicBezTo>
                    <a:pt x="49" y="4"/>
                    <a:pt x="49" y="4"/>
                    <a:pt x="49" y="4"/>
                  </a:cubicBezTo>
                  <a:cubicBezTo>
                    <a:pt x="47" y="4"/>
                    <a:pt x="45" y="2"/>
                    <a:pt x="45" y="0"/>
                  </a:cubicBezTo>
                  <a:cubicBezTo>
                    <a:pt x="45" y="2"/>
                    <a:pt x="44" y="4"/>
                    <a:pt x="42" y="4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2" y="4"/>
                    <a:pt x="0" y="5"/>
                    <a:pt x="0" y="7"/>
                  </a:cubicBezTo>
                </a:path>
              </a:pathLst>
            </a:custGeom>
            <a:noFill/>
            <a:ln w="20638">
              <a:solidFill>
                <a:srgbClr val="3F002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45093" name="Group 39"/>
            <p:cNvGrpSpPr>
              <a:grpSpLocks/>
            </p:cNvGrpSpPr>
            <p:nvPr/>
          </p:nvGrpSpPr>
          <p:grpSpPr bwMode="auto">
            <a:xfrm>
              <a:off x="2447" y="1479"/>
              <a:ext cx="561" cy="219"/>
              <a:chOff x="2447" y="1479"/>
              <a:chExt cx="561" cy="219"/>
            </a:xfrm>
          </p:grpSpPr>
          <p:sp>
            <p:nvSpPr>
              <p:cNvPr id="45094" name="Rectangle 40"/>
              <p:cNvSpPr>
                <a:spLocks noChangeArrowheads="1"/>
              </p:cNvSpPr>
              <p:nvPr/>
            </p:nvSpPr>
            <p:spPr bwMode="auto">
              <a:xfrm>
                <a:off x="2447" y="1479"/>
                <a:ext cx="561" cy="219"/>
              </a:xfrm>
              <a:prstGeom prst="rect">
                <a:avLst/>
              </a:prstGeom>
              <a:solidFill>
                <a:srgbClr val="E1E5E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>
                  <a:latin typeface="Calibri" pitchFamily="34" charset="0"/>
                </a:endParaRPr>
              </a:p>
            </p:txBody>
          </p:sp>
          <p:sp>
            <p:nvSpPr>
              <p:cNvPr id="45095" name="Rectangle 41"/>
              <p:cNvSpPr>
                <a:spLocks noChangeArrowheads="1"/>
              </p:cNvSpPr>
              <p:nvPr/>
            </p:nvSpPr>
            <p:spPr bwMode="auto">
              <a:xfrm>
                <a:off x="2491" y="1507"/>
                <a:ext cx="462" cy="1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 eaLnBrk="0" hangingPunct="0"/>
                <a:r>
                  <a:rPr lang="en-US" sz="1700">
                    <a:solidFill>
                      <a:srgbClr val="000000"/>
                    </a:solidFill>
                    <a:latin typeface="Calibri" pitchFamily="34" charset="0"/>
                  </a:rPr>
                  <a:t>Surplus</a:t>
                </a:r>
                <a:endParaRPr lang="en-US" sz="2400">
                  <a:latin typeface="Times New Roman" pitchFamily="18" charset="0"/>
                </a:endParaRPr>
              </a:p>
            </p:txBody>
          </p:sp>
        </p:grpSp>
      </p:grpSp>
      <p:sp>
        <p:nvSpPr>
          <p:cNvPr id="45070" name="Rectangle 42"/>
          <p:cNvSpPr>
            <a:spLocks noChangeArrowheads="1"/>
          </p:cNvSpPr>
          <p:nvPr/>
        </p:nvSpPr>
        <p:spPr bwMode="auto">
          <a:xfrm>
            <a:off x="5967413" y="5595938"/>
            <a:ext cx="134302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eaLnBrk="0" hangingPunct="0"/>
            <a:r>
              <a:rPr lang="en-US" sz="1700" b="1">
                <a:solidFill>
                  <a:srgbClr val="000000"/>
                </a:solidFill>
                <a:latin typeface="Calibri" pitchFamily="34" charset="0"/>
              </a:rPr>
              <a:t>Quantity of</a:t>
            </a:r>
            <a:endParaRPr lang="en-US" sz="2400">
              <a:latin typeface="Times New Roman" pitchFamily="18" charset="0"/>
            </a:endParaRPr>
          </a:p>
        </p:txBody>
      </p:sp>
      <p:sp>
        <p:nvSpPr>
          <p:cNvPr id="45071" name="Rectangle 43"/>
          <p:cNvSpPr>
            <a:spLocks noChangeArrowheads="1"/>
          </p:cNvSpPr>
          <p:nvPr/>
        </p:nvSpPr>
        <p:spPr bwMode="auto">
          <a:xfrm>
            <a:off x="6075363" y="5868988"/>
            <a:ext cx="1236662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eaLnBrk="0" hangingPunct="0"/>
            <a:r>
              <a:rPr lang="en-US" sz="1700" b="1">
                <a:solidFill>
                  <a:srgbClr val="000000"/>
                </a:solidFill>
                <a:latin typeface="Calibri" pitchFamily="34" charset="0"/>
              </a:rPr>
              <a:t>Ice-Cream</a:t>
            </a:r>
            <a:endParaRPr lang="en-US" sz="2400">
              <a:latin typeface="Times New Roman" pitchFamily="18" charset="0"/>
            </a:endParaRPr>
          </a:p>
        </p:txBody>
      </p:sp>
      <p:sp>
        <p:nvSpPr>
          <p:cNvPr id="45072" name="Rectangle 44"/>
          <p:cNvSpPr>
            <a:spLocks noChangeArrowheads="1"/>
          </p:cNvSpPr>
          <p:nvPr/>
        </p:nvSpPr>
        <p:spPr bwMode="auto">
          <a:xfrm>
            <a:off x="6480175" y="6143625"/>
            <a:ext cx="823913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eaLnBrk="0" hangingPunct="0"/>
            <a:r>
              <a:rPr lang="en-US" sz="1700" b="1">
                <a:solidFill>
                  <a:srgbClr val="000000"/>
                </a:solidFill>
                <a:latin typeface="Calibri" pitchFamily="34" charset="0"/>
              </a:rPr>
              <a:t>Cones</a:t>
            </a:r>
            <a:endParaRPr lang="en-US" sz="2400">
              <a:latin typeface="Times New Roman" pitchFamily="18" charset="0"/>
            </a:endParaRPr>
          </a:p>
        </p:txBody>
      </p:sp>
      <p:grpSp>
        <p:nvGrpSpPr>
          <p:cNvPr id="8" name="Group 45"/>
          <p:cNvGrpSpPr>
            <a:grpSpLocks/>
          </p:cNvGrpSpPr>
          <p:nvPr/>
        </p:nvGrpSpPr>
        <p:grpSpPr bwMode="auto">
          <a:xfrm>
            <a:off x="3260725" y="2921000"/>
            <a:ext cx="234950" cy="2933700"/>
            <a:chOff x="2054" y="1840"/>
            <a:chExt cx="148" cy="1848"/>
          </a:xfrm>
        </p:grpSpPr>
        <p:sp>
          <p:nvSpPr>
            <p:cNvPr id="45088" name="Rectangle 46"/>
            <p:cNvSpPr>
              <a:spLocks noChangeArrowheads="1"/>
            </p:cNvSpPr>
            <p:nvPr/>
          </p:nvSpPr>
          <p:spPr bwMode="auto">
            <a:xfrm>
              <a:off x="2054" y="3494"/>
              <a:ext cx="148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0" hangingPunct="0"/>
              <a:r>
                <a:rPr lang="en-US" sz="1700">
                  <a:solidFill>
                    <a:srgbClr val="000000"/>
                  </a:solidFill>
                  <a:latin typeface="Calibri" pitchFamily="34" charset="0"/>
                </a:rPr>
                <a:t>4</a:t>
              </a:r>
              <a:endParaRPr lang="en-US" sz="2400">
                <a:latin typeface="Times New Roman" pitchFamily="18" charset="0"/>
              </a:endParaRPr>
            </a:p>
          </p:txBody>
        </p:sp>
        <p:grpSp>
          <p:nvGrpSpPr>
            <p:cNvPr id="45089" name="Group 47"/>
            <p:cNvGrpSpPr>
              <a:grpSpLocks/>
            </p:cNvGrpSpPr>
            <p:nvPr/>
          </p:nvGrpSpPr>
          <p:grpSpPr bwMode="auto">
            <a:xfrm>
              <a:off x="2073" y="1840"/>
              <a:ext cx="66" cy="1623"/>
              <a:chOff x="2073" y="1840"/>
              <a:chExt cx="66" cy="1623"/>
            </a:xfrm>
          </p:grpSpPr>
          <p:sp>
            <p:nvSpPr>
              <p:cNvPr id="45090" name="Line 48"/>
              <p:cNvSpPr>
                <a:spLocks noChangeShapeType="1"/>
              </p:cNvSpPr>
              <p:nvPr/>
            </p:nvSpPr>
            <p:spPr bwMode="auto">
              <a:xfrm>
                <a:off x="2105" y="1866"/>
                <a:ext cx="1" cy="1597"/>
              </a:xfrm>
              <a:prstGeom prst="line">
                <a:avLst/>
              </a:prstGeom>
              <a:noFill/>
              <a:ln w="20638">
                <a:solidFill>
                  <a:schemeClr val="tx1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5091" name="Oval 49"/>
              <p:cNvSpPr>
                <a:spLocks noChangeArrowheads="1"/>
              </p:cNvSpPr>
              <p:nvPr/>
            </p:nvSpPr>
            <p:spPr bwMode="auto">
              <a:xfrm>
                <a:off x="2073" y="1840"/>
                <a:ext cx="66" cy="6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>
                  <a:latin typeface="Calibri" pitchFamily="34" charset="0"/>
                </a:endParaRPr>
              </a:p>
            </p:txBody>
          </p:sp>
        </p:grpSp>
      </p:grpSp>
      <p:grpSp>
        <p:nvGrpSpPr>
          <p:cNvPr id="10" name="Group 50"/>
          <p:cNvGrpSpPr>
            <a:grpSpLocks/>
          </p:cNvGrpSpPr>
          <p:nvPr/>
        </p:nvGrpSpPr>
        <p:grpSpPr bwMode="auto">
          <a:xfrm>
            <a:off x="1343025" y="2817813"/>
            <a:ext cx="4191000" cy="3036887"/>
            <a:chOff x="846" y="1775"/>
            <a:chExt cx="2640" cy="1913"/>
          </a:xfrm>
        </p:grpSpPr>
        <p:sp>
          <p:nvSpPr>
            <p:cNvPr id="45084" name="Rectangle 51"/>
            <p:cNvSpPr>
              <a:spLocks noChangeArrowheads="1"/>
            </p:cNvSpPr>
            <p:nvPr/>
          </p:nvSpPr>
          <p:spPr bwMode="auto">
            <a:xfrm>
              <a:off x="846" y="1775"/>
              <a:ext cx="342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0" hangingPunct="0"/>
              <a:r>
                <a:rPr lang="en-US" sz="1700">
                  <a:solidFill>
                    <a:srgbClr val="000000"/>
                  </a:solidFill>
                  <a:latin typeface="Calibri" pitchFamily="34" charset="0"/>
                </a:rPr>
                <a:t>$2.50</a:t>
              </a:r>
              <a:endParaRPr lang="en-US" sz="2400">
                <a:latin typeface="Times New Roman" pitchFamily="18" charset="0"/>
              </a:endParaRPr>
            </a:p>
          </p:txBody>
        </p:sp>
        <p:sp>
          <p:nvSpPr>
            <p:cNvPr id="45085" name="Rectangle 52"/>
            <p:cNvSpPr>
              <a:spLocks noChangeArrowheads="1"/>
            </p:cNvSpPr>
            <p:nvPr/>
          </p:nvSpPr>
          <p:spPr bwMode="auto">
            <a:xfrm>
              <a:off x="3258" y="3494"/>
              <a:ext cx="228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0" hangingPunct="0"/>
              <a:r>
                <a:rPr lang="en-US" sz="1700">
                  <a:solidFill>
                    <a:srgbClr val="000000"/>
                  </a:solidFill>
                  <a:latin typeface="Calibri" pitchFamily="34" charset="0"/>
                </a:rPr>
                <a:t>10</a:t>
              </a:r>
              <a:endParaRPr lang="en-US" sz="2400">
                <a:latin typeface="Times New Roman" pitchFamily="18" charset="0"/>
              </a:endParaRPr>
            </a:p>
          </p:txBody>
        </p:sp>
        <p:sp>
          <p:nvSpPr>
            <p:cNvPr id="45086" name="Freeform 53"/>
            <p:cNvSpPr>
              <a:spLocks/>
            </p:cNvSpPr>
            <p:nvPr/>
          </p:nvSpPr>
          <p:spPr bwMode="auto">
            <a:xfrm>
              <a:off x="1297" y="1866"/>
              <a:ext cx="2046" cy="1610"/>
            </a:xfrm>
            <a:custGeom>
              <a:avLst/>
              <a:gdLst>
                <a:gd name="T0" fmla="*/ 0 w 2046"/>
                <a:gd name="T1" fmla="*/ 0 h 1610"/>
                <a:gd name="T2" fmla="*/ 2046 w 2046"/>
                <a:gd name="T3" fmla="*/ 0 h 1610"/>
                <a:gd name="T4" fmla="*/ 2046 w 2046"/>
                <a:gd name="T5" fmla="*/ 1610 h 1610"/>
                <a:gd name="T6" fmla="*/ 0 60000 65536"/>
                <a:gd name="T7" fmla="*/ 0 60000 65536"/>
                <a:gd name="T8" fmla="*/ 0 60000 65536"/>
                <a:gd name="T9" fmla="*/ 0 w 2046"/>
                <a:gd name="T10" fmla="*/ 0 h 1610"/>
                <a:gd name="T11" fmla="*/ 2046 w 2046"/>
                <a:gd name="T12" fmla="*/ 1610 h 161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046" h="1610">
                  <a:moveTo>
                    <a:pt x="0" y="0"/>
                  </a:moveTo>
                  <a:lnTo>
                    <a:pt x="2046" y="0"/>
                  </a:lnTo>
                  <a:lnTo>
                    <a:pt x="2046" y="1610"/>
                  </a:lnTo>
                </a:path>
              </a:pathLst>
            </a:custGeom>
            <a:noFill/>
            <a:ln w="20638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087" name="Oval 54"/>
            <p:cNvSpPr>
              <a:spLocks noChangeArrowheads="1"/>
            </p:cNvSpPr>
            <p:nvPr/>
          </p:nvSpPr>
          <p:spPr bwMode="auto">
            <a:xfrm>
              <a:off x="3316" y="1840"/>
              <a:ext cx="67" cy="6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>
                <a:latin typeface="Calibri" pitchFamily="34" charset="0"/>
              </a:endParaRPr>
            </a:p>
          </p:txBody>
        </p:sp>
      </p:grpSp>
      <p:grpSp>
        <p:nvGrpSpPr>
          <p:cNvPr id="11" name="Group 55"/>
          <p:cNvGrpSpPr>
            <a:grpSpLocks/>
          </p:cNvGrpSpPr>
          <p:nvPr/>
        </p:nvGrpSpPr>
        <p:grpSpPr bwMode="auto">
          <a:xfrm>
            <a:off x="1471613" y="3351213"/>
            <a:ext cx="3019425" cy="2503487"/>
            <a:chOff x="927" y="2111"/>
            <a:chExt cx="1902" cy="1577"/>
          </a:xfrm>
        </p:grpSpPr>
        <p:sp>
          <p:nvSpPr>
            <p:cNvPr id="45078" name="Rectangle 56"/>
            <p:cNvSpPr>
              <a:spLocks noChangeArrowheads="1"/>
            </p:cNvSpPr>
            <p:nvPr/>
          </p:nvSpPr>
          <p:spPr bwMode="auto">
            <a:xfrm>
              <a:off x="927" y="2111"/>
              <a:ext cx="266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0" hangingPunct="0"/>
              <a:r>
                <a:rPr lang="en-US" sz="1700">
                  <a:solidFill>
                    <a:srgbClr val="000000"/>
                  </a:solidFill>
                  <a:latin typeface="Calibri" pitchFamily="34" charset="0"/>
                </a:rPr>
                <a:t>2.00</a:t>
              </a:r>
              <a:endParaRPr lang="en-US" sz="2400">
                <a:latin typeface="Times New Roman" pitchFamily="18" charset="0"/>
              </a:endParaRPr>
            </a:p>
          </p:txBody>
        </p:sp>
        <p:sp>
          <p:nvSpPr>
            <p:cNvPr id="45079" name="Rectangle 57"/>
            <p:cNvSpPr>
              <a:spLocks noChangeArrowheads="1"/>
            </p:cNvSpPr>
            <p:nvPr/>
          </p:nvSpPr>
          <p:spPr bwMode="auto">
            <a:xfrm>
              <a:off x="2681" y="3494"/>
              <a:ext cx="148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0" hangingPunct="0"/>
              <a:r>
                <a:rPr lang="en-US" sz="1700">
                  <a:solidFill>
                    <a:srgbClr val="000000"/>
                  </a:solidFill>
                  <a:latin typeface="Calibri" pitchFamily="34" charset="0"/>
                </a:rPr>
                <a:t>7</a:t>
              </a:r>
              <a:endParaRPr lang="en-US" sz="2400">
                <a:latin typeface="Times New Roman" pitchFamily="18" charset="0"/>
              </a:endParaRPr>
            </a:p>
          </p:txBody>
        </p:sp>
        <p:grpSp>
          <p:nvGrpSpPr>
            <p:cNvPr id="45080" name="Group 58"/>
            <p:cNvGrpSpPr>
              <a:grpSpLocks/>
            </p:cNvGrpSpPr>
            <p:nvPr/>
          </p:nvGrpSpPr>
          <p:grpSpPr bwMode="auto">
            <a:xfrm>
              <a:off x="1297" y="2162"/>
              <a:ext cx="1454" cy="1314"/>
              <a:chOff x="1297" y="2162"/>
              <a:chExt cx="1454" cy="1314"/>
            </a:xfrm>
          </p:grpSpPr>
          <p:sp>
            <p:nvSpPr>
              <p:cNvPr id="45081" name="Freeform 59"/>
              <p:cNvSpPr>
                <a:spLocks/>
              </p:cNvSpPr>
              <p:nvPr/>
            </p:nvSpPr>
            <p:spPr bwMode="auto">
              <a:xfrm>
                <a:off x="1297" y="2188"/>
                <a:ext cx="1423" cy="1288"/>
              </a:xfrm>
              <a:custGeom>
                <a:avLst/>
                <a:gdLst>
                  <a:gd name="T0" fmla="*/ 0 w 1431"/>
                  <a:gd name="T1" fmla="*/ 0 h 1288"/>
                  <a:gd name="T2" fmla="*/ 1415 w 1431"/>
                  <a:gd name="T3" fmla="*/ 0 h 1288"/>
                  <a:gd name="T4" fmla="*/ 1415 w 1431"/>
                  <a:gd name="T5" fmla="*/ 1288 h 1288"/>
                  <a:gd name="T6" fmla="*/ 0 60000 65536"/>
                  <a:gd name="T7" fmla="*/ 0 60000 65536"/>
                  <a:gd name="T8" fmla="*/ 0 60000 65536"/>
                  <a:gd name="T9" fmla="*/ 0 w 1431"/>
                  <a:gd name="T10" fmla="*/ 0 h 1288"/>
                  <a:gd name="T11" fmla="*/ 1431 w 1431"/>
                  <a:gd name="T12" fmla="*/ 1288 h 1288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431" h="1288">
                    <a:moveTo>
                      <a:pt x="0" y="0"/>
                    </a:moveTo>
                    <a:lnTo>
                      <a:pt x="1431" y="0"/>
                    </a:lnTo>
                    <a:lnTo>
                      <a:pt x="1431" y="1288"/>
                    </a:lnTo>
                  </a:path>
                </a:pathLst>
              </a:custGeom>
              <a:noFill/>
              <a:ln w="20638">
                <a:solidFill>
                  <a:schemeClr val="tx1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5082" name="Oval 60"/>
              <p:cNvSpPr>
                <a:spLocks noChangeArrowheads="1"/>
              </p:cNvSpPr>
              <p:nvPr/>
            </p:nvSpPr>
            <p:spPr bwMode="auto">
              <a:xfrm>
                <a:off x="2688" y="2162"/>
                <a:ext cx="63" cy="6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>
                  <a:latin typeface="Calibri" pitchFamily="34" charset="0"/>
                </a:endParaRPr>
              </a:p>
            </p:txBody>
          </p:sp>
          <p:sp>
            <p:nvSpPr>
              <p:cNvPr id="45083" name="Line 61"/>
              <p:cNvSpPr>
                <a:spLocks noChangeShapeType="1"/>
              </p:cNvSpPr>
              <p:nvPr/>
            </p:nvSpPr>
            <p:spPr bwMode="auto">
              <a:xfrm>
                <a:off x="1297" y="2188"/>
                <a:ext cx="1431" cy="1"/>
              </a:xfrm>
              <a:prstGeom prst="line">
                <a:avLst/>
              </a:prstGeom>
              <a:noFill/>
              <a:ln w="20638">
                <a:solidFill>
                  <a:schemeClr val="tx1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6931253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/>
              <a:t>Markets Not in Equilibrium</a:t>
            </a:r>
            <a:endParaRPr lang="en-US" altLang="en-US" sz="3600" b="1" dirty="0">
              <a:solidFill>
                <a:schemeClr val="accent2"/>
              </a:solidFill>
            </a:endParaRPr>
          </a:p>
        </p:txBody>
      </p:sp>
      <p:sp>
        <p:nvSpPr>
          <p:cNvPr id="481285" name="Rectangle 5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en-US" sz="2400" i="1" dirty="0">
                <a:solidFill>
                  <a:srgbClr val="25A9A6"/>
                </a:solidFill>
              </a:rPr>
              <a:t>Surplus</a:t>
            </a:r>
            <a:endParaRPr lang="en-US" altLang="en-US" sz="2400" dirty="0"/>
          </a:p>
          <a:p>
            <a:pPr lvl="1" algn="just"/>
            <a:r>
              <a:rPr lang="en-US" altLang="en-US" sz="2400" dirty="0"/>
              <a:t>When price exceeds equilibrium price, then quantity supplied is greater than quantity demanded</a:t>
            </a:r>
          </a:p>
          <a:p>
            <a:pPr lvl="2"/>
            <a:r>
              <a:rPr lang="en-US" altLang="en-US" sz="2400" dirty="0"/>
              <a:t>There is excess supply or a surplus</a:t>
            </a:r>
          </a:p>
          <a:p>
            <a:pPr lvl="2"/>
            <a:r>
              <a:rPr lang="en-US" altLang="en-US" sz="2400" dirty="0"/>
              <a:t>Suppliers will lower the price to increase sales, thereby moving toward equilibrium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3611DD-A49B-4D16-8139-FBD3CE0B823D}" type="slidenum">
              <a:rPr lang="en-US"/>
              <a:pPr>
                <a:defRPr/>
              </a:pPr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65034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2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28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28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28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1285" grpId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/>
              <a:t>Markets Not in Equilibrium</a:t>
            </a:r>
            <a:endParaRPr lang="en-US" altLang="en-US" sz="3600" b="1" dirty="0">
              <a:solidFill>
                <a:schemeClr val="accent2"/>
              </a:solidFill>
            </a:endParaRPr>
          </a:p>
        </p:txBody>
      </p:sp>
      <p:sp>
        <p:nvSpPr>
          <p:cNvPr id="53555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i="1" dirty="0">
                <a:solidFill>
                  <a:srgbClr val="25A9A6"/>
                </a:solidFill>
              </a:rPr>
              <a:t>Shortage</a:t>
            </a:r>
            <a:endParaRPr lang="en-US" altLang="en-US" dirty="0"/>
          </a:p>
          <a:p>
            <a:pPr lvl="1" algn="just"/>
            <a:r>
              <a:rPr lang="en-US" altLang="en-US" sz="2400" dirty="0"/>
              <a:t>When price is less than equilibrium price, then quantity demanded exceeds the quantity supplied.</a:t>
            </a:r>
          </a:p>
          <a:p>
            <a:pPr marL="914400" lvl="2" indent="0">
              <a:buNone/>
            </a:pPr>
            <a:endParaRPr lang="en-US" altLang="en-US" sz="2400" b="1" dirty="0"/>
          </a:p>
          <a:p>
            <a:pPr lvl="2" algn="just"/>
            <a:r>
              <a:rPr lang="en-US" altLang="en-US" sz="2400" dirty="0"/>
              <a:t> Suppliers will raise the price due to too many buyers chasing too few goods, thereby moving toward equilibrium.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2F5F545-2CC5-4E25-9B5C-366E955B3AF8}" type="slidenum">
              <a:rPr lang="en-US"/>
              <a:pPr>
                <a:defRPr/>
              </a:pPr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028579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5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5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5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5555" grpId="0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3"/>
          <p:cNvSpPr>
            <a:spLocks noGrp="1" noChangeArrowheads="1"/>
          </p:cNvSpPr>
          <p:nvPr>
            <p:ph type="title"/>
          </p:nvPr>
        </p:nvSpPr>
        <p:spPr>
          <a:xfrm>
            <a:off x="606425" y="346075"/>
            <a:ext cx="8080375" cy="642938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sz="2800" b="1" dirty="0"/>
              <a:t>Markets Not in Equilibrium</a:t>
            </a:r>
          </a:p>
        </p:txBody>
      </p:sp>
      <p:sp>
        <p:nvSpPr>
          <p:cNvPr id="45" name="Slide Number Placeholder 4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A70D653-6DFA-455E-9CE4-24B5187B9F5A}" type="slidenum">
              <a:rPr lang="en-US"/>
              <a:pPr>
                <a:defRPr/>
              </a:pPr>
              <a:t>28</a:t>
            </a:fld>
            <a:endParaRPr lang="en-US"/>
          </a:p>
        </p:txBody>
      </p:sp>
      <p:sp>
        <p:nvSpPr>
          <p:cNvPr id="47107" name="Freeform 17"/>
          <p:cNvSpPr>
            <a:spLocks/>
          </p:cNvSpPr>
          <p:nvPr/>
        </p:nvSpPr>
        <p:spPr bwMode="auto">
          <a:xfrm>
            <a:off x="2251075" y="1816100"/>
            <a:ext cx="5178425" cy="3702050"/>
          </a:xfrm>
          <a:custGeom>
            <a:avLst/>
            <a:gdLst>
              <a:gd name="T0" fmla="*/ 0 w 3262"/>
              <a:gd name="T1" fmla="*/ 0 h 2332"/>
              <a:gd name="T2" fmla="*/ 0 w 3262"/>
              <a:gd name="T3" fmla="*/ 2147483647 h 2332"/>
              <a:gd name="T4" fmla="*/ 2147483647 w 3262"/>
              <a:gd name="T5" fmla="*/ 2147483647 h 2332"/>
              <a:gd name="T6" fmla="*/ 0 60000 65536"/>
              <a:gd name="T7" fmla="*/ 0 60000 65536"/>
              <a:gd name="T8" fmla="*/ 0 60000 65536"/>
              <a:gd name="T9" fmla="*/ 0 w 3262"/>
              <a:gd name="T10" fmla="*/ 0 h 2332"/>
              <a:gd name="T11" fmla="*/ 3262 w 3262"/>
              <a:gd name="T12" fmla="*/ 2332 h 233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262" h="2332">
                <a:moveTo>
                  <a:pt x="0" y="0"/>
                </a:moveTo>
                <a:lnTo>
                  <a:pt x="0" y="2332"/>
                </a:lnTo>
                <a:lnTo>
                  <a:pt x="3262" y="2332"/>
                </a:lnTo>
              </a:path>
            </a:pathLst>
          </a:custGeom>
          <a:noFill/>
          <a:ln w="206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7108" name="Rectangle 18"/>
          <p:cNvSpPr>
            <a:spLocks noChangeArrowheads="1"/>
          </p:cNvSpPr>
          <p:nvPr/>
        </p:nvSpPr>
        <p:spPr bwMode="auto">
          <a:xfrm>
            <a:off x="1314450" y="1809750"/>
            <a:ext cx="793750" cy="258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eaLnBrk="0" hangingPunct="0"/>
            <a:r>
              <a:rPr lang="en-US" sz="1700" b="1">
                <a:solidFill>
                  <a:srgbClr val="000000"/>
                </a:solidFill>
                <a:latin typeface="Calibri" pitchFamily="34" charset="0"/>
              </a:rPr>
              <a:t>Price of</a:t>
            </a:r>
            <a:endParaRPr lang="en-US" sz="2400">
              <a:latin typeface="Times New Roman" pitchFamily="18" charset="0"/>
            </a:endParaRPr>
          </a:p>
        </p:txBody>
      </p:sp>
      <p:sp>
        <p:nvSpPr>
          <p:cNvPr id="47109" name="Rectangle 19"/>
          <p:cNvSpPr>
            <a:spLocks noChangeArrowheads="1"/>
          </p:cNvSpPr>
          <p:nvPr/>
        </p:nvSpPr>
        <p:spPr bwMode="auto">
          <a:xfrm>
            <a:off x="1052513" y="2084388"/>
            <a:ext cx="1046162" cy="258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eaLnBrk="0" hangingPunct="0"/>
            <a:r>
              <a:rPr lang="en-US" sz="1700" b="1">
                <a:solidFill>
                  <a:srgbClr val="000000"/>
                </a:solidFill>
                <a:latin typeface="Calibri" pitchFamily="34" charset="0"/>
              </a:rPr>
              <a:t>Ice-Cream</a:t>
            </a:r>
            <a:endParaRPr lang="en-US" sz="2400">
              <a:latin typeface="Times New Roman" pitchFamily="18" charset="0"/>
            </a:endParaRPr>
          </a:p>
        </p:txBody>
      </p:sp>
      <p:sp>
        <p:nvSpPr>
          <p:cNvPr id="47110" name="Rectangle 20"/>
          <p:cNvSpPr>
            <a:spLocks noChangeArrowheads="1"/>
          </p:cNvSpPr>
          <p:nvPr/>
        </p:nvSpPr>
        <p:spPr bwMode="auto">
          <a:xfrm>
            <a:off x="1577975" y="2357438"/>
            <a:ext cx="539750" cy="258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eaLnBrk="0" hangingPunct="0"/>
            <a:r>
              <a:rPr lang="en-US" sz="1700" b="1">
                <a:solidFill>
                  <a:srgbClr val="000000"/>
                </a:solidFill>
                <a:latin typeface="Calibri" pitchFamily="34" charset="0"/>
              </a:rPr>
              <a:t>Cone</a:t>
            </a:r>
            <a:endParaRPr lang="en-US" sz="2400">
              <a:latin typeface="Times New Roman" pitchFamily="18" charset="0"/>
            </a:endParaRPr>
          </a:p>
        </p:txBody>
      </p:sp>
      <p:sp>
        <p:nvSpPr>
          <p:cNvPr id="47111" name="Rectangle 21"/>
          <p:cNvSpPr>
            <a:spLocks noChangeArrowheads="1"/>
          </p:cNvSpPr>
          <p:nvPr/>
        </p:nvSpPr>
        <p:spPr bwMode="auto">
          <a:xfrm>
            <a:off x="2166938" y="5546725"/>
            <a:ext cx="120650" cy="258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eaLnBrk="0" hangingPunct="0"/>
            <a:r>
              <a:rPr lang="en-US" sz="1700">
                <a:solidFill>
                  <a:srgbClr val="000000"/>
                </a:solidFill>
                <a:latin typeface="Calibri" pitchFamily="34" charset="0"/>
              </a:rPr>
              <a:t>0</a:t>
            </a:r>
            <a:endParaRPr lang="en-US" sz="2400">
              <a:latin typeface="Times New Roman" pitchFamily="18" charset="0"/>
            </a:endParaRPr>
          </a:p>
        </p:txBody>
      </p:sp>
      <p:sp>
        <p:nvSpPr>
          <p:cNvPr id="47112" name="Rectangle 22"/>
          <p:cNvSpPr>
            <a:spLocks noChangeArrowheads="1"/>
          </p:cNvSpPr>
          <p:nvPr/>
        </p:nvSpPr>
        <p:spPr bwMode="auto">
          <a:xfrm>
            <a:off x="6238875" y="5595938"/>
            <a:ext cx="1139825" cy="258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eaLnBrk="0" hangingPunct="0"/>
            <a:r>
              <a:rPr lang="en-US" sz="1700" b="1">
                <a:solidFill>
                  <a:srgbClr val="000000"/>
                </a:solidFill>
                <a:latin typeface="Calibri" pitchFamily="34" charset="0"/>
              </a:rPr>
              <a:t>Quantity of</a:t>
            </a:r>
            <a:endParaRPr lang="en-US" sz="2400">
              <a:latin typeface="Times New Roman" pitchFamily="18" charset="0"/>
            </a:endParaRPr>
          </a:p>
        </p:txBody>
      </p:sp>
      <p:sp>
        <p:nvSpPr>
          <p:cNvPr id="47113" name="Rectangle 23"/>
          <p:cNvSpPr>
            <a:spLocks noChangeArrowheads="1"/>
          </p:cNvSpPr>
          <p:nvPr/>
        </p:nvSpPr>
        <p:spPr bwMode="auto">
          <a:xfrm>
            <a:off x="6345238" y="5868988"/>
            <a:ext cx="1046162" cy="258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eaLnBrk="0" hangingPunct="0"/>
            <a:r>
              <a:rPr lang="en-US" sz="1700" b="1">
                <a:solidFill>
                  <a:srgbClr val="000000"/>
                </a:solidFill>
                <a:latin typeface="Calibri" pitchFamily="34" charset="0"/>
              </a:rPr>
              <a:t>Ice-Cream</a:t>
            </a:r>
            <a:endParaRPr lang="en-US" sz="2400">
              <a:latin typeface="Times New Roman" pitchFamily="18" charset="0"/>
            </a:endParaRPr>
          </a:p>
        </p:txBody>
      </p:sp>
      <p:sp>
        <p:nvSpPr>
          <p:cNvPr id="47114" name="Rectangle 24"/>
          <p:cNvSpPr>
            <a:spLocks noChangeArrowheads="1"/>
          </p:cNvSpPr>
          <p:nvPr/>
        </p:nvSpPr>
        <p:spPr bwMode="auto">
          <a:xfrm>
            <a:off x="6750050" y="6143625"/>
            <a:ext cx="660400" cy="258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eaLnBrk="0" hangingPunct="0"/>
            <a:r>
              <a:rPr lang="en-US" sz="1700" b="1">
                <a:solidFill>
                  <a:srgbClr val="000000"/>
                </a:solidFill>
                <a:latin typeface="Calibri" pitchFamily="34" charset="0"/>
              </a:rPr>
              <a:t>Cones</a:t>
            </a:r>
            <a:endParaRPr lang="en-US" sz="2400">
              <a:latin typeface="Times New Roman" pitchFamily="18" charset="0"/>
            </a:endParaRPr>
          </a:p>
        </p:txBody>
      </p:sp>
      <p:grpSp>
        <p:nvGrpSpPr>
          <p:cNvPr id="2" name="Group 25"/>
          <p:cNvGrpSpPr>
            <a:grpSpLocks/>
          </p:cNvGrpSpPr>
          <p:nvPr/>
        </p:nvGrpSpPr>
        <p:grpSpPr bwMode="auto">
          <a:xfrm>
            <a:off x="2484438" y="2132013"/>
            <a:ext cx="4672012" cy="2405062"/>
            <a:chOff x="1565" y="1343"/>
            <a:chExt cx="2943" cy="1515"/>
          </a:xfrm>
        </p:grpSpPr>
        <p:sp>
          <p:nvSpPr>
            <p:cNvPr id="47149" name="Line 26"/>
            <p:cNvSpPr>
              <a:spLocks noChangeShapeType="1"/>
            </p:cNvSpPr>
            <p:nvPr/>
          </p:nvSpPr>
          <p:spPr bwMode="auto">
            <a:xfrm flipH="1">
              <a:off x="1565" y="1531"/>
              <a:ext cx="2567" cy="1327"/>
            </a:xfrm>
            <a:prstGeom prst="line">
              <a:avLst/>
            </a:prstGeom>
            <a:noFill/>
            <a:ln w="63500">
              <a:solidFill>
                <a:srgbClr val="004C9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7150" name="Rectangle 27"/>
            <p:cNvSpPr>
              <a:spLocks noChangeArrowheads="1"/>
            </p:cNvSpPr>
            <p:nvPr/>
          </p:nvSpPr>
          <p:spPr bwMode="auto">
            <a:xfrm>
              <a:off x="4091" y="1343"/>
              <a:ext cx="417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0" hangingPunct="0"/>
              <a:r>
                <a:rPr lang="en-US" sz="1700">
                  <a:solidFill>
                    <a:srgbClr val="000000"/>
                  </a:solidFill>
                  <a:latin typeface="Calibri" pitchFamily="34" charset="0"/>
                </a:rPr>
                <a:t>Supply</a:t>
              </a:r>
              <a:endParaRPr lang="en-US" sz="2400">
                <a:latin typeface="Times New Roman" pitchFamily="18" charset="0"/>
              </a:endParaRPr>
            </a:p>
          </p:txBody>
        </p:sp>
      </p:grpSp>
      <p:grpSp>
        <p:nvGrpSpPr>
          <p:cNvPr id="3" name="Group 28"/>
          <p:cNvGrpSpPr>
            <a:grpSpLocks/>
          </p:cNvGrpSpPr>
          <p:nvPr/>
        </p:nvGrpSpPr>
        <p:grpSpPr bwMode="auto">
          <a:xfrm>
            <a:off x="2547938" y="2430463"/>
            <a:ext cx="4756150" cy="2540000"/>
            <a:chOff x="1605" y="1531"/>
            <a:chExt cx="2996" cy="1600"/>
          </a:xfrm>
        </p:grpSpPr>
        <p:sp>
          <p:nvSpPr>
            <p:cNvPr id="47147" name="Line 29"/>
            <p:cNvSpPr>
              <a:spLocks noChangeShapeType="1"/>
            </p:cNvSpPr>
            <p:nvPr/>
          </p:nvSpPr>
          <p:spPr bwMode="auto">
            <a:xfrm>
              <a:off x="1605" y="1531"/>
              <a:ext cx="2607" cy="1353"/>
            </a:xfrm>
            <a:prstGeom prst="line">
              <a:avLst/>
            </a:prstGeom>
            <a:noFill/>
            <a:ln w="63500">
              <a:solidFill>
                <a:srgbClr val="004C9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7148" name="Rectangle 30"/>
            <p:cNvSpPr>
              <a:spLocks noChangeArrowheads="1"/>
            </p:cNvSpPr>
            <p:nvPr/>
          </p:nvSpPr>
          <p:spPr bwMode="auto">
            <a:xfrm>
              <a:off x="4086" y="2968"/>
              <a:ext cx="515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0" hangingPunct="0"/>
              <a:r>
                <a:rPr lang="en-US" sz="1700">
                  <a:solidFill>
                    <a:srgbClr val="000000"/>
                  </a:solidFill>
                  <a:latin typeface="Calibri" pitchFamily="34" charset="0"/>
                </a:rPr>
                <a:t>Demand</a:t>
              </a:r>
              <a:endParaRPr lang="en-US" sz="2400">
                <a:latin typeface="Times New Roman" pitchFamily="18" charset="0"/>
              </a:endParaRPr>
            </a:p>
          </p:txBody>
        </p:sp>
      </p:grpSp>
      <p:sp>
        <p:nvSpPr>
          <p:cNvPr id="47117" name="Rectangle 31"/>
          <p:cNvSpPr>
            <a:spLocks noChangeArrowheads="1"/>
          </p:cNvSpPr>
          <p:nvPr/>
        </p:nvSpPr>
        <p:spPr bwMode="auto">
          <a:xfrm>
            <a:off x="3759200" y="1460500"/>
            <a:ext cx="1995488" cy="258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eaLnBrk="0" hangingPunct="0"/>
            <a:r>
              <a:rPr lang="en-US" sz="1700" b="1">
                <a:solidFill>
                  <a:srgbClr val="000000"/>
                </a:solidFill>
                <a:latin typeface="Calibri" pitchFamily="34" charset="0"/>
              </a:rPr>
              <a:t>(b) Excess Demand</a:t>
            </a:r>
            <a:endParaRPr lang="en-US" sz="2400">
              <a:latin typeface="Times New Roman" pitchFamily="18" charset="0"/>
            </a:endParaRPr>
          </a:p>
        </p:txBody>
      </p:sp>
      <p:grpSp>
        <p:nvGrpSpPr>
          <p:cNvPr id="4" name="Group 32"/>
          <p:cNvGrpSpPr>
            <a:grpSpLocks/>
          </p:cNvGrpSpPr>
          <p:nvPr/>
        </p:nvGrpSpPr>
        <p:grpSpPr bwMode="auto">
          <a:xfrm>
            <a:off x="3057525" y="5805488"/>
            <a:ext cx="976313" cy="592137"/>
            <a:chOff x="1926" y="3657"/>
            <a:chExt cx="615" cy="373"/>
          </a:xfrm>
        </p:grpSpPr>
        <p:sp>
          <p:nvSpPr>
            <p:cNvPr id="47144" name="Rectangle 33"/>
            <p:cNvSpPr>
              <a:spLocks noChangeArrowheads="1"/>
            </p:cNvSpPr>
            <p:nvPr/>
          </p:nvSpPr>
          <p:spPr bwMode="auto">
            <a:xfrm>
              <a:off x="1926" y="3657"/>
              <a:ext cx="615" cy="373"/>
            </a:xfrm>
            <a:prstGeom prst="rect">
              <a:avLst/>
            </a:prstGeom>
            <a:solidFill>
              <a:srgbClr val="E1E5E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>
                <a:latin typeface="Calibri" pitchFamily="34" charset="0"/>
              </a:endParaRPr>
            </a:p>
          </p:txBody>
        </p:sp>
        <p:sp>
          <p:nvSpPr>
            <p:cNvPr id="47145" name="Rectangle 34"/>
            <p:cNvSpPr>
              <a:spLocks noChangeArrowheads="1"/>
            </p:cNvSpPr>
            <p:nvPr/>
          </p:nvSpPr>
          <p:spPr bwMode="auto">
            <a:xfrm>
              <a:off x="1979" y="3674"/>
              <a:ext cx="508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0" hangingPunct="0"/>
              <a:r>
                <a:rPr lang="en-US" sz="1700">
                  <a:solidFill>
                    <a:srgbClr val="000000"/>
                  </a:solidFill>
                  <a:latin typeface="Calibri" pitchFamily="34" charset="0"/>
                </a:rPr>
                <a:t>Quantity</a:t>
              </a:r>
              <a:endParaRPr lang="en-US" sz="2400">
                <a:latin typeface="Times New Roman" pitchFamily="18" charset="0"/>
              </a:endParaRPr>
            </a:p>
          </p:txBody>
        </p:sp>
        <p:sp>
          <p:nvSpPr>
            <p:cNvPr id="47146" name="Rectangle 35"/>
            <p:cNvSpPr>
              <a:spLocks noChangeArrowheads="1"/>
            </p:cNvSpPr>
            <p:nvPr/>
          </p:nvSpPr>
          <p:spPr bwMode="auto">
            <a:xfrm>
              <a:off x="1979" y="3846"/>
              <a:ext cx="508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0" hangingPunct="0"/>
              <a:r>
                <a:rPr lang="en-US" sz="1700">
                  <a:solidFill>
                    <a:srgbClr val="000000"/>
                  </a:solidFill>
                  <a:latin typeface="Calibri" pitchFamily="34" charset="0"/>
                </a:rPr>
                <a:t>supplied</a:t>
              </a:r>
              <a:endParaRPr lang="en-US" sz="2400">
                <a:latin typeface="Times New Roman" pitchFamily="18" charset="0"/>
              </a:endParaRPr>
            </a:p>
          </p:txBody>
        </p:sp>
      </p:grpSp>
      <p:grpSp>
        <p:nvGrpSpPr>
          <p:cNvPr id="5" name="Group 36"/>
          <p:cNvGrpSpPr>
            <a:grpSpLocks/>
          </p:cNvGrpSpPr>
          <p:nvPr/>
        </p:nvGrpSpPr>
        <p:grpSpPr bwMode="auto">
          <a:xfrm>
            <a:off x="4926013" y="5805488"/>
            <a:ext cx="1187450" cy="592137"/>
            <a:chOff x="3103" y="3657"/>
            <a:chExt cx="748" cy="373"/>
          </a:xfrm>
        </p:grpSpPr>
        <p:sp>
          <p:nvSpPr>
            <p:cNvPr id="47141" name="Rectangle 37"/>
            <p:cNvSpPr>
              <a:spLocks noChangeArrowheads="1"/>
            </p:cNvSpPr>
            <p:nvPr/>
          </p:nvSpPr>
          <p:spPr bwMode="auto">
            <a:xfrm>
              <a:off x="3103" y="3657"/>
              <a:ext cx="748" cy="373"/>
            </a:xfrm>
            <a:prstGeom prst="rect">
              <a:avLst/>
            </a:prstGeom>
            <a:solidFill>
              <a:srgbClr val="E1E5E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>
                <a:latin typeface="Calibri" pitchFamily="34" charset="0"/>
              </a:endParaRPr>
            </a:p>
          </p:txBody>
        </p:sp>
        <p:sp>
          <p:nvSpPr>
            <p:cNvPr id="47142" name="Rectangle 38"/>
            <p:cNvSpPr>
              <a:spLocks noChangeArrowheads="1"/>
            </p:cNvSpPr>
            <p:nvPr/>
          </p:nvSpPr>
          <p:spPr bwMode="auto">
            <a:xfrm>
              <a:off x="3156" y="3678"/>
              <a:ext cx="508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0" hangingPunct="0"/>
              <a:r>
                <a:rPr lang="en-US" sz="1700">
                  <a:solidFill>
                    <a:srgbClr val="000000"/>
                  </a:solidFill>
                  <a:latin typeface="Calibri" pitchFamily="34" charset="0"/>
                </a:rPr>
                <a:t>Quantity</a:t>
              </a:r>
              <a:endParaRPr lang="en-US" sz="2400">
                <a:latin typeface="Times New Roman" pitchFamily="18" charset="0"/>
              </a:endParaRPr>
            </a:p>
          </p:txBody>
        </p:sp>
        <p:sp>
          <p:nvSpPr>
            <p:cNvPr id="47143" name="Rectangle 39"/>
            <p:cNvSpPr>
              <a:spLocks noChangeArrowheads="1"/>
            </p:cNvSpPr>
            <p:nvPr/>
          </p:nvSpPr>
          <p:spPr bwMode="auto">
            <a:xfrm>
              <a:off x="3156" y="3851"/>
              <a:ext cx="645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0" hangingPunct="0"/>
              <a:r>
                <a:rPr lang="en-US" sz="1700">
                  <a:solidFill>
                    <a:srgbClr val="000000"/>
                  </a:solidFill>
                  <a:latin typeface="Calibri" pitchFamily="34" charset="0"/>
                </a:rPr>
                <a:t>demanded</a:t>
              </a:r>
              <a:endParaRPr lang="en-US" sz="2400">
                <a:latin typeface="Times New Roman" pitchFamily="18" charset="0"/>
              </a:endParaRPr>
            </a:p>
          </p:txBody>
        </p:sp>
      </p:grpSp>
      <p:grpSp>
        <p:nvGrpSpPr>
          <p:cNvPr id="6" name="Group 40"/>
          <p:cNvGrpSpPr>
            <a:grpSpLocks/>
          </p:cNvGrpSpPr>
          <p:nvPr/>
        </p:nvGrpSpPr>
        <p:grpSpPr bwMode="auto">
          <a:xfrm>
            <a:off x="1720850" y="3876675"/>
            <a:ext cx="3941763" cy="1928813"/>
            <a:chOff x="1084" y="2442"/>
            <a:chExt cx="2483" cy="1215"/>
          </a:xfrm>
        </p:grpSpPr>
        <p:sp>
          <p:nvSpPr>
            <p:cNvPr id="47137" name="Freeform 41"/>
            <p:cNvSpPr>
              <a:spLocks/>
            </p:cNvSpPr>
            <p:nvPr/>
          </p:nvSpPr>
          <p:spPr bwMode="auto">
            <a:xfrm>
              <a:off x="1432" y="2510"/>
              <a:ext cx="2058" cy="966"/>
            </a:xfrm>
            <a:custGeom>
              <a:avLst/>
              <a:gdLst>
                <a:gd name="T0" fmla="*/ 0 w 2058"/>
                <a:gd name="T1" fmla="*/ 0 h 966"/>
                <a:gd name="T2" fmla="*/ 2058 w 2058"/>
                <a:gd name="T3" fmla="*/ 0 h 966"/>
                <a:gd name="T4" fmla="*/ 2058 w 2058"/>
                <a:gd name="T5" fmla="*/ 966 h 966"/>
                <a:gd name="T6" fmla="*/ 0 60000 65536"/>
                <a:gd name="T7" fmla="*/ 0 60000 65536"/>
                <a:gd name="T8" fmla="*/ 0 60000 65536"/>
                <a:gd name="T9" fmla="*/ 0 w 2058"/>
                <a:gd name="T10" fmla="*/ 0 h 966"/>
                <a:gd name="T11" fmla="*/ 2058 w 2058"/>
                <a:gd name="T12" fmla="*/ 966 h 96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058" h="966">
                  <a:moveTo>
                    <a:pt x="0" y="0"/>
                  </a:moveTo>
                  <a:lnTo>
                    <a:pt x="2058" y="0"/>
                  </a:lnTo>
                  <a:lnTo>
                    <a:pt x="2058" y="966"/>
                  </a:lnTo>
                </a:path>
              </a:pathLst>
            </a:custGeom>
            <a:noFill/>
            <a:ln w="20638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7138" name="Oval 42"/>
            <p:cNvSpPr>
              <a:spLocks noChangeArrowheads="1"/>
            </p:cNvSpPr>
            <p:nvPr/>
          </p:nvSpPr>
          <p:spPr bwMode="auto">
            <a:xfrm>
              <a:off x="3450" y="2471"/>
              <a:ext cx="81" cy="78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>
                <a:latin typeface="Calibri" pitchFamily="34" charset="0"/>
              </a:endParaRPr>
            </a:p>
          </p:txBody>
        </p:sp>
        <p:sp>
          <p:nvSpPr>
            <p:cNvPr id="47139" name="Rectangle 43"/>
            <p:cNvSpPr>
              <a:spLocks noChangeArrowheads="1"/>
            </p:cNvSpPr>
            <p:nvPr/>
          </p:nvSpPr>
          <p:spPr bwMode="auto">
            <a:xfrm>
              <a:off x="1084" y="2442"/>
              <a:ext cx="266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0" hangingPunct="0"/>
              <a:r>
                <a:rPr lang="en-US" sz="1700">
                  <a:solidFill>
                    <a:srgbClr val="000000"/>
                  </a:solidFill>
                  <a:latin typeface="Calibri" pitchFamily="34" charset="0"/>
                </a:rPr>
                <a:t>1.50</a:t>
              </a:r>
              <a:endParaRPr lang="en-US" sz="2400">
                <a:latin typeface="Times New Roman" pitchFamily="18" charset="0"/>
              </a:endParaRPr>
            </a:p>
          </p:txBody>
        </p:sp>
        <p:sp>
          <p:nvSpPr>
            <p:cNvPr id="47140" name="Rectangle 44"/>
            <p:cNvSpPr>
              <a:spLocks noChangeArrowheads="1"/>
            </p:cNvSpPr>
            <p:nvPr/>
          </p:nvSpPr>
          <p:spPr bwMode="auto">
            <a:xfrm>
              <a:off x="3415" y="3494"/>
              <a:ext cx="152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0" hangingPunct="0"/>
              <a:r>
                <a:rPr lang="en-US" sz="1700">
                  <a:solidFill>
                    <a:srgbClr val="000000"/>
                  </a:solidFill>
                  <a:latin typeface="Calibri" pitchFamily="34" charset="0"/>
                </a:rPr>
                <a:t>10</a:t>
              </a:r>
              <a:endParaRPr lang="en-US" sz="2400">
                <a:latin typeface="Times New Roman" pitchFamily="18" charset="0"/>
              </a:endParaRPr>
            </a:p>
          </p:txBody>
        </p:sp>
      </p:grpSp>
      <p:grpSp>
        <p:nvGrpSpPr>
          <p:cNvPr id="7" name="Group 45"/>
          <p:cNvGrpSpPr>
            <a:grpSpLocks/>
          </p:cNvGrpSpPr>
          <p:nvPr/>
        </p:nvGrpSpPr>
        <p:grpSpPr bwMode="auto">
          <a:xfrm>
            <a:off x="1592263" y="3376613"/>
            <a:ext cx="3033712" cy="2428875"/>
            <a:chOff x="1003" y="2127"/>
            <a:chExt cx="1911" cy="1530"/>
          </a:xfrm>
        </p:grpSpPr>
        <p:sp>
          <p:nvSpPr>
            <p:cNvPr id="47133" name="Freeform 46"/>
            <p:cNvSpPr>
              <a:spLocks/>
            </p:cNvSpPr>
            <p:nvPr/>
          </p:nvSpPr>
          <p:spPr bwMode="auto">
            <a:xfrm>
              <a:off x="1432" y="2188"/>
              <a:ext cx="1430" cy="1288"/>
            </a:xfrm>
            <a:custGeom>
              <a:avLst/>
              <a:gdLst>
                <a:gd name="T0" fmla="*/ 0 w 1430"/>
                <a:gd name="T1" fmla="*/ 0 h 1288"/>
                <a:gd name="T2" fmla="*/ 1430 w 1430"/>
                <a:gd name="T3" fmla="*/ 0 h 1288"/>
                <a:gd name="T4" fmla="*/ 1430 w 1430"/>
                <a:gd name="T5" fmla="*/ 1288 h 1288"/>
                <a:gd name="T6" fmla="*/ 0 60000 65536"/>
                <a:gd name="T7" fmla="*/ 0 60000 65536"/>
                <a:gd name="T8" fmla="*/ 0 60000 65536"/>
                <a:gd name="T9" fmla="*/ 0 w 1430"/>
                <a:gd name="T10" fmla="*/ 0 h 1288"/>
                <a:gd name="T11" fmla="*/ 1430 w 1430"/>
                <a:gd name="T12" fmla="*/ 1288 h 128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430" h="1288">
                  <a:moveTo>
                    <a:pt x="0" y="0"/>
                  </a:moveTo>
                  <a:lnTo>
                    <a:pt x="1430" y="0"/>
                  </a:lnTo>
                  <a:lnTo>
                    <a:pt x="1430" y="1288"/>
                  </a:lnTo>
                </a:path>
              </a:pathLst>
            </a:custGeom>
            <a:noFill/>
            <a:ln w="20638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7134" name="Oval 47"/>
            <p:cNvSpPr>
              <a:spLocks noChangeArrowheads="1"/>
            </p:cNvSpPr>
            <p:nvPr/>
          </p:nvSpPr>
          <p:spPr bwMode="auto">
            <a:xfrm>
              <a:off x="2835" y="2149"/>
              <a:ext cx="67" cy="7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>
                <a:latin typeface="Calibri" pitchFamily="34" charset="0"/>
              </a:endParaRPr>
            </a:p>
          </p:txBody>
        </p:sp>
        <p:sp>
          <p:nvSpPr>
            <p:cNvPr id="47135" name="Rectangle 48"/>
            <p:cNvSpPr>
              <a:spLocks noChangeArrowheads="1"/>
            </p:cNvSpPr>
            <p:nvPr/>
          </p:nvSpPr>
          <p:spPr bwMode="auto">
            <a:xfrm>
              <a:off x="1003" y="2127"/>
              <a:ext cx="342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0" hangingPunct="0"/>
              <a:r>
                <a:rPr lang="en-US" sz="1700">
                  <a:solidFill>
                    <a:srgbClr val="000000"/>
                  </a:solidFill>
                  <a:latin typeface="Calibri" pitchFamily="34" charset="0"/>
                </a:rPr>
                <a:t>$2.00</a:t>
              </a:r>
              <a:endParaRPr lang="en-US" sz="2400">
                <a:latin typeface="Times New Roman" pitchFamily="18" charset="0"/>
              </a:endParaRPr>
            </a:p>
          </p:txBody>
        </p:sp>
        <p:sp>
          <p:nvSpPr>
            <p:cNvPr id="47136" name="Rectangle 49"/>
            <p:cNvSpPr>
              <a:spLocks noChangeArrowheads="1"/>
            </p:cNvSpPr>
            <p:nvPr/>
          </p:nvSpPr>
          <p:spPr bwMode="auto">
            <a:xfrm>
              <a:off x="2838" y="3494"/>
              <a:ext cx="76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0" hangingPunct="0"/>
              <a:r>
                <a:rPr lang="en-US" sz="1700">
                  <a:solidFill>
                    <a:srgbClr val="000000"/>
                  </a:solidFill>
                  <a:latin typeface="Calibri" pitchFamily="34" charset="0"/>
                </a:rPr>
                <a:t>7</a:t>
              </a:r>
              <a:endParaRPr lang="en-US" sz="2400">
                <a:latin typeface="Times New Roman" pitchFamily="18" charset="0"/>
              </a:endParaRPr>
            </a:p>
          </p:txBody>
        </p:sp>
      </p:grpSp>
      <p:grpSp>
        <p:nvGrpSpPr>
          <p:cNvPr id="8" name="Group 50"/>
          <p:cNvGrpSpPr>
            <a:grpSpLocks/>
          </p:cNvGrpSpPr>
          <p:nvPr/>
        </p:nvGrpSpPr>
        <p:grpSpPr bwMode="auto">
          <a:xfrm>
            <a:off x="3503613" y="3922713"/>
            <a:ext cx="127000" cy="1882775"/>
            <a:chOff x="2207" y="2471"/>
            <a:chExt cx="80" cy="1186"/>
          </a:xfrm>
        </p:grpSpPr>
        <p:sp>
          <p:nvSpPr>
            <p:cNvPr id="47130" name="Line 51"/>
            <p:cNvSpPr>
              <a:spLocks noChangeShapeType="1"/>
            </p:cNvSpPr>
            <p:nvPr/>
          </p:nvSpPr>
          <p:spPr bwMode="auto">
            <a:xfrm>
              <a:off x="2247" y="2510"/>
              <a:ext cx="1" cy="953"/>
            </a:xfrm>
            <a:prstGeom prst="line">
              <a:avLst/>
            </a:prstGeom>
            <a:noFill/>
            <a:ln w="20638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7131" name="Oval 52"/>
            <p:cNvSpPr>
              <a:spLocks noChangeArrowheads="1"/>
            </p:cNvSpPr>
            <p:nvPr/>
          </p:nvSpPr>
          <p:spPr bwMode="auto">
            <a:xfrm>
              <a:off x="2207" y="2471"/>
              <a:ext cx="80" cy="78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>
                <a:latin typeface="Calibri" pitchFamily="34" charset="0"/>
              </a:endParaRPr>
            </a:p>
          </p:txBody>
        </p:sp>
        <p:sp>
          <p:nvSpPr>
            <p:cNvPr id="47132" name="Rectangle 53"/>
            <p:cNvSpPr>
              <a:spLocks noChangeArrowheads="1"/>
            </p:cNvSpPr>
            <p:nvPr/>
          </p:nvSpPr>
          <p:spPr bwMode="auto">
            <a:xfrm>
              <a:off x="2211" y="3494"/>
              <a:ext cx="76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0" hangingPunct="0"/>
              <a:r>
                <a:rPr lang="en-US" sz="1700">
                  <a:solidFill>
                    <a:srgbClr val="000000"/>
                  </a:solidFill>
                  <a:latin typeface="Calibri" pitchFamily="34" charset="0"/>
                </a:rPr>
                <a:t>4</a:t>
              </a:r>
              <a:endParaRPr lang="en-US" sz="2400">
                <a:latin typeface="Times New Roman" pitchFamily="18" charset="0"/>
              </a:endParaRPr>
            </a:p>
          </p:txBody>
        </p:sp>
      </p:grpSp>
      <p:grpSp>
        <p:nvGrpSpPr>
          <p:cNvPr id="9" name="Group 54"/>
          <p:cNvGrpSpPr>
            <a:grpSpLocks/>
          </p:cNvGrpSpPr>
          <p:nvPr/>
        </p:nvGrpSpPr>
        <p:grpSpPr bwMode="auto">
          <a:xfrm>
            <a:off x="3567113" y="4086225"/>
            <a:ext cx="1952625" cy="492125"/>
            <a:chOff x="2247" y="2574"/>
            <a:chExt cx="1230" cy="310"/>
          </a:xfrm>
        </p:grpSpPr>
        <p:sp>
          <p:nvSpPr>
            <p:cNvPr id="47126" name="Freeform 55"/>
            <p:cNvSpPr>
              <a:spLocks/>
            </p:cNvSpPr>
            <p:nvPr/>
          </p:nvSpPr>
          <p:spPr bwMode="auto">
            <a:xfrm>
              <a:off x="2247" y="2574"/>
              <a:ext cx="1230" cy="91"/>
            </a:xfrm>
            <a:custGeom>
              <a:avLst/>
              <a:gdLst>
                <a:gd name="T0" fmla="*/ 0 w 92"/>
                <a:gd name="T1" fmla="*/ 0 h 7"/>
                <a:gd name="T2" fmla="*/ 709 w 92"/>
                <a:gd name="T3" fmla="*/ 507 h 7"/>
                <a:gd name="T4" fmla="*/ 7688 w 92"/>
                <a:gd name="T5" fmla="*/ 507 h 7"/>
                <a:gd name="T6" fmla="*/ 8222 w 92"/>
                <a:gd name="T7" fmla="*/ 1183 h 7"/>
                <a:gd name="T8" fmla="*/ 8757 w 92"/>
                <a:gd name="T9" fmla="*/ 507 h 7"/>
                <a:gd name="T10" fmla="*/ 15549 w 92"/>
                <a:gd name="T11" fmla="*/ 507 h 7"/>
                <a:gd name="T12" fmla="*/ 16445 w 92"/>
                <a:gd name="T13" fmla="*/ 0 h 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92"/>
                <a:gd name="T22" fmla="*/ 0 h 7"/>
                <a:gd name="T23" fmla="*/ 92 w 92"/>
                <a:gd name="T24" fmla="*/ 7 h 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92" h="7">
                  <a:moveTo>
                    <a:pt x="0" y="0"/>
                  </a:moveTo>
                  <a:cubicBezTo>
                    <a:pt x="0" y="2"/>
                    <a:pt x="2" y="3"/>
                    <a:pt x="4" y="3"/>
                  </a:cubicBezTo>
                  <a:cubicBezTo>
                    <a:pt x="43" y="3"/>
                    <a:pt x="43" y="3"/>
                    <a:pt x="43" y="3"/>
                  </a:cubicBezTo>
                  <a:cubicBezTo>
                    <a:pt x="44" y="3"/>
                    <a:pt x="46" y="5"/>
                    <a:pt x="46" y="7"/>
                  </a:cubicBezTo>
                  <a:cubicBezTo>
                    <a:pt x="46" y="5"/>
                    <a:pt x="48" y="3"/>
                    <a:pt x="49" y="3"/>
                  </a:cubicBezTo>
                  <a:cubicBezTo>
                    <a:pt x="87" y="3"/>
                    <a:pt x="87" y="3"/>
                    <a:pt x="87" y="3"/>
                  </a:cubicBezTo>
                  <a:cubicBezTo>
                    <a:pt x="89" y="3"/>
                    <a:pt x="92" y="2"/>
                    <a:pt x="92" y="0"/>
                  </a:cubicBezTo>
                </a:path>
              </a:pathLst>
            </a:custGeom>
            <a:noFill/>
            <a:ln w="20638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47127" name="Group 56"/>
            <p:cNvGrpSpPr>
              <a:grpSpLocks/>
            </p:cNvGrpSpPr>
            <p:nvPr/>
          </p:nvGrpSpPr>
          <p:grpSpPr bwMode="auto">
            <a:xfrm>
              <a:off x="2555" y="2677"/>
              <a:ext cx="628" cy="207"/>
              <a:chOff x="2555" y="2677"/>
              <a:chExt cx="628" cy="207"/>
            </a:xfrm>
          </p:grpSpPr>
          <p:sp>
            <p:nvSpPr>
              <p:cNvPr id="47128" name="Rectangle 57"/>
              <p:cNvSpPr>
                <a:spLocks noChangeArrowheads="1"/>
              </p:cNvSpPr>
              <p:nvPr/>
            </p:nvSpPr>
            <p:spPr bwMode="auto">
              <a:xfrm>
                <a:off x="2555" y="2677"/>
                <a:ext cx="628" cy="207"/>
              </a:xfrm>
              <a:prstGeom prst="rect">
                <a:avLst/>
              </a:prstGeom>
              <a:solidFill>
                <a:srgbClr val="E1E5E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>
                  <a:latin typeface="Calibri" pitchFamily="34" charset="0"/>
                </a:endParaRPr>
              </a:p>
            </p:txBody>
          </p:sp>
          <p:sp>
            <p:nvSpPr>
              <p:cNvPr id="47129" name="Rectangle 58"/>
              <p:cNvSpPr>
                <a:spLocks noChangeArrowheads="1"/>
              </p:cNvSpPr>
              <p:nvPr/>
            </p:nvSpPr>
            <p:spPr bwMode="auto">
              <a:xfrm>
                <a:off x="2601" y="2694"/>
                <a:ext cx="554" cy="1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 eaLnBrk="0" hangingPunct="0"/>
                <a:r>
                  <a:rPr lang="en-US" sz="1700">
                    <a:solidFill>
                      <a:srgbClr val="000000"/>
                    </a:solidFill>
                    <a:latin typeface="Calibri" pitchFamily="34" charset="0"/>
                  </a:rPr>
                  <a:t>Shortage</a:t>
                </a:r>
                <a:endParaRPr lang="en-US" sz="2400">
                  <a:latin typeface="Times New Roman" pitchFamily="18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4593279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dirty="0"/>
              <a:t>Equilibrium</a:t>
            </a:r>
          </a:p>
        </p:txBody>
      </p:sp>
      <p:sp>
        <p:nvSpPr>
          <p:cNvPr id="532485" name="Rectangle 5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800" i="1" dirty="0">
                <a:solidFill>
                  <a:srgbClr val="25A9A6"/>
                </a:solidFill>
              </a:rPr>
              <a:t>Law of supply and demand</a:t>
            </a:r>
          </a:p>
          <a:p>
            <a:pPr marL="0" indent="0">
              <a:lnSpc>
                <a:spcPct val="90000"/>
              </a:lnSpc>
              <a:buNone/>
            </a:pPr>
            <a:endParaRPr lang="en-US" altLang="en-US" sz="3200" dirty="0"/>
          </a:p>
          <a:p>
            <a:pPr lvl="1" algn="just">
              <a:lnSpc>
                <a:spcPct val="90000"/>
              </a:lnSpc>
            </a:pPr>
            <a:r>
              <a:rPr lang="en-US" altLang="en-US" sz="3200" dirty="0"/>
              <a:t>The </a:t>
            </a:r>
            <a:r>
              <a:rPr lang="en-US" altLang="en-US" sz="3200" i="1" dirty="0"/>
              <a:t>price of any good adjusts to bring the quantity supplied and the quantity demanded for that good into balance.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24E18A1-853F-4DCB-88FC-C31990068678}" type="slidenum">
              <a:rPr lang="en-US"/>
              <a:pPr>
                <a:defRPr/>
              </a:pPr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079669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4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48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2485" grpId="0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Producer Surplus</a:t>
            </a:r>
            <a:endParaRPr lang="en-US" b="1" dirty="0"/>
          </a:p>
        </p:txBody>
      </p:sp>
      <p:sp>
        <p:nvSpPr>
          <p:cNvPr id="2048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GB" b="1" dirty="0">
                <a:solidFill>
                  <a:srgbClr val="003366"/>
                </a:solidFill>
              </a:rPr>
              <a:t>Difference between the market price received by the seller and the price they would have been prepared to supply at:</a:t>
            </a:r>
          </a:p>
          <a:p>
            <a:pPr marL="0" indent="0" algn="just">
              <a:buNone/>
            </a:pPr>
            <a:endParaRPr lang="en-GB" b="1" dirty="0">
              <a:solidFill>
                <a:srgbClr val="003366"/>
              </a:solidFill>
            </a:endParaRPr>
          </a:p>
          <a:p>
            <a:pPr algn="just"/>
            <a:r>
              <a:rPr lang="en-GB" dirty="0"/>
              <a:t>Price received – linked to factor cost(Rent, Wages &amp; Interest) + element of normal profit(Entrepreneur’s share).</a:t>
            </a:r>
          </a:p>
          <a:p>
            <a:pPr algn="just"/>
            <a:r>
              <a:rPr lang="en-GB" dirty="0"/>
              <a:t>Producer surplus = abnormal profit.</a:t>
            </a:r>
          </a:p>
          <a:p>
            <a:pPr marL="0" indent="0" algn="just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051714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82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n-US" b="1" dirty="0"/>
              <a:t>Consumer Surplus</a:t>
            </a:r>
          </a:p>
        </p:txBody>
      </p:sp>
      <p:sp>
        <p:nvSpPr>
          <p:cNvPr id="225283" name="Rectangle 3"/>
          <p:cNvSpPr>
            <a:spLocks noGrp="1" noChangeArrowheads="1"/>
          </p:cNvSpPr>
          <p:nvPr>
            <p:ph idx="1"/>
          </p:nvPr>
        </p:nvSpPr>
        <p:spPr>
          <a:noFill/>
          <a:ln/>
        </p:spPr>
        <p:txBody>
          <a:bodyPr/>
          <a:lstStyle/>
          <a:p>
            <a:pPr>
              <a:spcBef>
                <a:spcPct val="70000"/>
              </a:spcBef>
            </a:pPr>
            <a:r>
              <a:rPr lang="en-US" dirty="0">
                <a:solidFill>
                  <a:srgbClr val="FF3300"/>
                </a:solidFill>
              </a:rPr>
              <a:t>Consumer Surplus</a:t>
            </a:r>
            <a:r>
              <a:rPr lang="en-US" dirty="0"/>
              <a:t> </a:t>
            </a:r>
          </a:p>
          <a:p>
            <a:pPr lvl="1" algn="just">
              <a:spcBef>
                <a:spcPct val="70000"/>
              </a:spcBef>
            </a:pPr>
            <a:r>
              <a:rPr lang="en-US" sz="3200" dirty="0"/>
              <a:t>The difference between the maximum amount a consumer is willing to pay for a good and the amount actually paid.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Slide </a:t>
            </a:r>
            <a:fld id="{AE0FA614-4798-4824-B8DA-18E05FEA634A}" type="slidenum">
              <a:rPr lang="en-US"/>
              <a:pPr/>
              <a:t>31</a:t>
            </a:fld>
            <a:endParaRPr lang="en-US" b="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8577211"/>
      </p:ext>
    </p:extLst>
  </p:cSld>
  <p:clrMapOvr>
    <a:masterClrMapping/>
  </p:clrMapOvr>
  <p:transition spd="med">
    <p:zoom dir="in"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548" name="Rectangle 1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n-US" b="1" dirty="0"/>
              <a:t>Consumer Surplus</a:t>
            </a:r>
          </a:p>
        </p:txBody>
      </p:sp>
      <p:sp>
        <p:nvSpPr>
          <p:cNvPr id="42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Slide </a:t>
            </a:r>
            <a:fld id="{B445ACD4-9A1E-45F7-BAA3-71C356C18158}" type="slidenum">
              <a:rPr lang="en-US"/>
              <a:pPr/>
              <a:t>32</a:t>
            </a:fld>
            <a:endParaRPr lang="en-US" b="0">
              <a:latin typeface="Times New Roman" pitchFamily="18" charset="0"/>
            </a:endParaRPr>
          </a:p>
        </p:txBody>
      </p:sp>
      <p:grpSp>
        <p:nvGrpSpPr>
          <p:cNvPr id="321591" name="Group 55"/>
          <p:cNvGrpSpPr>
            <a:grpSpLocks/>
          </p:cNvGrpSpPr>
          <p:nvPr/>
        </p:nvGrpSpPr>
        <p:grpSpPr bwMode="auto">
          <a:xfrm>
            <a:off x="2209800" y="1847850"/>
            <a:ext cx="6076950" cy="3382963"/>
            <a:chOff x="1392" y="1164"/>
            <a:chExt cx="3828" cy="2131"/>
          </a:xfrm>
        </p:grpSpPr>
        <p:sp>
          <p:nvSpPr>
            <p:cNvPr id="321544" name="AutoShape 8"/>
            <p:cNvSpPr>
              <a:spLocks noChangeArrowheads="1"/>
            </p:cNvSpPr>
            <p:nvPr/>
          </p:nvSpPr>
          <p:spPr bwMode="auto">
            <a:xfrm>
              <a:off x="1392" y="1296"/>
              <a:ext cx="2532" cy="1536"/>
            </a:xfrm>
            <a:prstGeom prst="rtTriangle">
              <a:avLst/>
            </a:prstGeom>
            <a:solidFill>
              <a:srgbClr val="FFFF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321590" name="Group 54"/>
            <p:cNvGrpSpPr>
              <a:grpSpLocks/>
            </p:cNvGrpSpPr>
            <p:nvPr/>
          </p:nvGrpSpPr>
          <p:grpSpPr bwMode="auto">
            <a:xfrm>
              <a:off x="1392" y="1164"/>
              <a:ext cx="3828" cy="2131"/>
              <a:chOff x="1392" y="1164"/>
              <a:chExt cx="3828" cy="2131"/>
            </a:xfrm>
          </p:grpSpPr>
          <p:sp>
            <p:nvSpPr>
              <p:cNvPr id="321545" name="Freeform 9"/>
              <p:cNvSpPr>
                <a:spLocks/>
              </p:cNvSpPr>
              <p:nvPr/>
            </p:nvSpPr>
            <p:spPr bwMode="auto">
              <a:xfrm>
                <a:off x="1392" y="1296"/>
                <a:ext cx="2532" cy="1524"/>
              </a:xfrm>
              <a:custGeom>
                <a:avLst/>
                <a:gdLst>
                  <a:gd name="T0" fmla="*/ 0 w 2532"/>
                  <a:gd name="T1" fmla="*/ 0 h 1524"/>
                  <a:gd name="T2" fmla="*/ 336 w 2532"/>
                  <a:gd name="T3" fmla="*/ 0 h 1524"/>
                  <a:gd name="T4" fmla="*/ 336 w 2532"/>
                  <a:gd name="T5" fmla="*/ 240 h 1524"/>
                  <a:gd name="T6" fmla="*/ 768 w 2532"/>
                  <a:gd name="T7" fmla="*/ 240 h 1524"/>
                  <a:gd name="T8" fmla="*/ 768 w 2532"/>
                  <a:gd name="T9" fmla="*/ 528 h 1524"/>
                  <a:gd name="T10" fmla="*/ 1152 w 2532"/>
                  <a:gd name="T11" fmla="*/ 528 h 1524"/>
                  <a:gd name="T12" fmla="*/ 1152 w 2532"/>
                  <a:gd name="T13" fmla="*/ 768 h 1524"/>
                  <a:gd name="T14" fmla="*/ 1536 w 2532"/>
                  <a:gd name="T15" fmla="*/ 768 h 1524"/>
                  <a:gd name="T16" fmla="*/ 1536 w 2532"/>
                  <a:gd name="T17" fmla="*/ 1008 h 1524"/>
                  <a:gd name="T18" fmla="*/ 1968 w 2532"/>
                  <a:gd name="T19" fmla="*/ 1008 h 1524"/>
                  <a:gd name="T20" fmla="*/ 1968 w 2532"/>
                  <a:gd name="T21" fmla="*/ 1248 h 1524"/>
                  <a:gd name="T22" fmla="*/ 2352 w 2532"/>
                  <a:gd name="T23" fmla="*/ 1248 h 1524"/>
                  <a:gd name="T24" fmla="*/ 2352 w 2532"/>
                  <a:gd name="T25" fmla="*/ 1440 h 1524"/>
                  <a:gd name="T26" fmla="*/ 2532 w 2532"/>
                  <a:gd name="T27" fmla="*/ 1440 h 1524"/>
                  <a:gd name="T28" fmla="*/ 2532 w 2532"/>
                  <a:gd name="T29" fmla="*/ 1524 h 15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2532" h="1524">
                    <a:moveTo>
                      <a:pt x="0" y="0"/>
                    </a:moveTo>
                    <a:lnTo>
                      <a:pt x="336" y="0"/>
                    </a:lnTo>
                    <a:lnTo>
                      <a:pt x="336" y="240"/>
                    </a:lnTo>
                    <a:lnTo>
                      <a:pt x="768" y="240"/>
                    </a:lnTo>
                    <a:lnTo>
                      <a:pt x="768" y="528"/>
                    </a:lnTo>
                    <a:lnTo>
                      <a:pt x="1152" y="528"/>
                    </a:lnTo>
                    <a:lnTo>
                      <a:pt x="1152" y="768"/>
                    </a:lnTo>
                    <a:lnTo>
                      <a:pt x="1536" y="768"/>
                    </a:lnTo>
                    <a:lnTo>
                      <a:pt x="1536" y="1008"/>
                    </a:lnTo>
                    <a:lnTo>
                      <a:pt x="1968" y="1008"/>
                    </a:lnTo>
                    <a:lnTo>
                      <a:pt x="1968" y="1248"/>
                    </a:lnTo>
                    <a:lnTo>
                      <a:pt x="2352" y="1248"/>
                    </a:lnTo>
                    <a:lnTo>
                      <a:pt x="2352" y="1440"/>
                    </a:lnTo>
                    <a:lnTo>
                      <a:pt x="2532" y="1440"/>
                    </a:lnTo>
                    <a:lnTo>
                      <a:pt x="2532" y="1524"/>
                    </a:lnTo>
                  </a:path>
                </a:pathLst>
              </a:custGeom>
              <a:solidFill>
                <a:srgbClr val="FFFF00"/>
              </a:solidFill>
              <a:ln w="50800" cap="rnd" cmpd="sng">
                <a:solidFill>
                  <a:srgbClr val="0033CC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1575" name="Line 39"/>
              <p:cNvSpPr>
                <a:spLocks noChangeShapeType="1"/>
              </p:cNvSpPr>
              <p:nvPr/>
            </p:nvSpPr>
            <p:spPr bwMode="auto">
              <a:xfrm>
                <a:off x="1392" y="1164"/>
                <a:ext cx="2904" cy="1918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321576" name="Rectangle 40"/>
              <p:cNvSpPr>
                <a:spLocks noChangeArrowheads="1"/>
              </p:cNvSpPr>
              <p:nvPr/>
            </p:nvSpPr>
            <p:spPr bwMode="auto">
              <a:xfrm>
                <a:off x="4317" y="3105"/>
                <a:ext cx="903" cy="19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/>
              <a:p>
                <a:r>
                  <a:rPr lang="en-US" sz="1400" b="1"/>
                  <a:t>Demand Curve</a:t>
                </a:r>
                <a:endParaRPr lang="en-US" sz="1800" b="1"/>
              </a:p>
            </p:txBody>
          </p:sp>
        </p:grpSp>
      </p:grpSp>
      <p:grpSp>
        <p:nvGrpSpPr>
          <p:cNvPr id="321592" name="Group 56"/>
          <p:cNvGrpSpPr>
            <a:grpSpLocks/>
          </p:cNvGrpSpPr>
          <p:nvPr/>
        </p:nvGrpSpPr>
        <p:grpSpPr bwMode="auto">
          <a:xfrm>
            <a:off x="2057400" y="3513138"/>
            <a:ext cx="4152900" cy="2519362"/>
            <a:chOff x="1296" y="2213"/>
            <a:chExt cx="2616" cy="1587"/>
          </a:xfrm>
        </p:grpSpPr>
        <p:sp>
          <p:nvSpPr>
            <p:cNvPr id="321546" name="Rectangle 10"/>
            <p:cNvSpPr>
              <a:spLocks noChangeArrowheads="1"/>
            </p:cNvSpPr>
            <p:nvPr/>
          </p:nvSpPr>
          <p:spPr bwMode="auto">
            <a:xfrm>
              <a:off x="1968" y="2213"/>
              <a:ext cx="667" cy="32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algn="ctr"/>
              <a:r>
                <a:rPr lang="en-US" sz="1400" b="1"/>
                <a:t>Consumer</a:t>
              </a:r>
            </a:p>
            <a:p>
              <a:pPr algn="ctr"/>
              <a:r>
                <a:rPr lang="en-US" sz="1400" b="1"/>
                <a:t>Surplus</a:t>
              </a:r>
              <a:endParaRPr lang="en-US" sz="1800" b="1"/>
            </a:p>
          </p:txBody>
        </p:sp>
        <p:sp>
          <p:nvSpPr>
            <p:cNvPr id="321540" name="Freeform 4"/>
            <p:cNvSpPr>
              <a:spLocks/>
            </p:cNvSpPr>
            <p:nvPr/>
          </p:nvSpPr>
          <p:spPr bwMode="auto">
            <a:xfrm>
              <a:off x="1296" y="2832"/>
              <a:ext cx="2609" cy="961"/>
            </a:xfrm>
            <a:custGeom>
              <a:avLst/>
              <a:gdLst>
                <a:gd name="T0" fmla="*/ 96 w 2449"/>
                <a:gd name="T1" fmla="*/ 0 h 961"/>
                <a:gd name="T2" fmla="*/ 2448 w 2449"/>
                <a:gd name="T3" fmla="*/ 0 h 961"/>
                <a:gd name="T4" fmla="*/ 2448 w 2449"/>
                <a:gd name="T5" fmla="*/ 960 h 961"/>
                <a:gd name="T6" fmla="*/ 96 w 2449"/>
                <a:gd name="T7" fmla="*/ 960 h 961"/>
                <a:gd name="T8" fmla="*/ 96 w 2449"/>
                <a:gd name="T9" fmla="*/ 816 h 961"/>
                <a:gd name="T10" fmla="*/ 0 w 2449"/>
                <a:gd name="T11" fmla="*/ 816 h 961"/>
                <a:gd name="T12" fmla="*/ 192 w 2449"/>
                <a:gd name="T13" fmla="*/ 576 h 961"/>
                <a:gd name="T14" fmla="*/ 96 w 2449"/>
                <a:gd name="T15" fmla="*/ 576 h 961"/>
                <a:gd name="T16" fmla="*/ 96 w 2449"/>
                <a:gd name="T17" fmla="*/ 0 h 9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49" h="961">
                  <a:moveTo>
                    <a:pt x="96" y="0"/>
                  </a:moveTo>
                  <a:lnTo>
                    <a:pt x="2448" y="0"/>
                  </a:lnTo>
                  <a:lnTo>
                    <a:pt x="2448" y="960"/>
                  </a:lnTo>
                  <a:lnTo>
                    <a:pt x="96" y="960"/>
                  </a:lnTo>
                  <a:lnTo>
                    <a:pt x="96" y="816"/>
                  </a:lnTo>
                  <a:lnTo>
                    <a:pt x="0" y="816"/>
                  </a:lnTo>
                  <a:lnTo>
                    <a:pt x="192" y="576"/>
                  </a:lnTo>
                  <a:lnTo>
                    <a:pt x="96" y="576"/>
                  </a:lnTo>
                  <a:lnTo>
                    <a:pt x="96" y="0"/>
                  </a:lnTo>
                </a:path>
              </a:pathLst>
            </a:custGeom>
            <a:solidFill>
              <a:srgbClr val="99CC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rnd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1542" name="Rectangle 6"/>
            <p:cNvSpPr>
              <a:spLocks noChangeArrowheads="1"/>
            </p:cNvSpPr>
            <p:nvPr/>
          </p:nvSpPr>
          <p:spPr bwMode="auto">
            <a:xfrm>
              <a:off x="2290" y="3174"/>
              <a:ext cx="759" cy="32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algn="ctr"/>
              <a:r>
                <a:rPr lang="en-US" sz="1400" b="1"/>
                <a:t>Actual</a:t>
              </a:r>
            </a:p>
            <a:p>
              <a:pPr algn="ctr"/>
              <a:r>
                <a:rPr lang="en-US" sz="1400" b="1"/>
                <a:t>Expenditure</a:t>
              </a:r>
              <a:endParaRPr lang="en-US" sz="1800" b="1"/>
            </a:p>
          </p:txBody>
        </p:sp>
        <p:graphicFrame>
          <p:nvGraphicFramePr>
            <p:cNvPr id="321574" name="Object 38"/>
            <p:cNvGraphicFramePr>
              <a:graphicFrameLocks noChangeAspect="1"/>
            </p:cNvGraphicFramePr>
            <p:nvPr/>
          </p:nvGraphicFramePr>
          <p:xfrm>
            <a:off x="1398" y="2593"/>
            <a:ext cx="2155" cy="21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" imgW="1765300" imgH="190500" progId="Equation.3">
                    <p:embed/>
                  </p:oleObj>
                </mc:Choice>
                <mc:Fallback>
                  <p:oleObj name="Equation" r:id="rId3" imgW="1765300" imgH="1905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98" y="2593"/>
                          <a:ext cx="2155" cy="219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21539" name="Line 3"/>
            <p:cNvSpPr>
              <a:spLocks noChangeShapeType="1"/>
            </p:cNvSpPr>
            <p:nvPr/>
          </p:nvSpPr>
          <p:spPr bwMode="auto">
            <a:xfrm>
              <a:off x="3912" y="2841"/>
              <a:ext cx="0" cy="959"/>
            </a:xfrm>
            <a:prstGeom prst="line">
              <a:avLst/>
            </a:prstGeom>
            <a:noFill/>
            <a:ln w="50800">
              <a:solidFill>
                <a:srgbClr val="80808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321547" name="Rectangle 11"/>
          <p:cNvSpPr>
            <a:spLocks noChangeArrowheads="1"/>
          </p:cNvSpPr>
          <p:nvPr/>
        </p:nvSpPr>
        <p:spPr bwMode="auto">
          <a:xfrm>
            <a:off x="4849813" y="1677988"/>
            <a:ext cx="2943225" cy="711200"/>
          </a:xfrm>
          <a:prstGeom prst="rect">
            <a:avLst/>
          </a:prstGeom>
          <a:solidFill>
            <a:schemeClr val="hlink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ctr"/>
            <a:r>
              <a:rPr lang="en-US" b="1"/>
              <a:t>Consumer Surplus</a:t>
            </a:r>
          </a:p>
          <a:p>
            <a:pPr algn="ctr"/>
            <a:r>
              <a:rPr lang="en-US" b="1"/>
              <a:t>for the Market Demand</a:t>
            </a:r>
          </a:p>
        </p:txBody>
      </p:sp>
      <p:sp>
        <p:nvSpPr>
          <p:cNvPr id="321549" name="Rectangle 13"/>
          <p:cNvSpPr>
            <a:spLocks noChangeArrowheads="1"/>
          </p:cNvSpPr>
          <p:nvPr/>
        </p:nvSpPr>
        <p:spPr bwMode="auto">
          <a:xfrm>
            <a:off x="3124200" y="62357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21550" name="Line 14"/>
          <p:cNvSpPr>
            <a:spLocks noChangeShapeType="1"/>
          </p:cNvSpPr>
          <p:nvPr/>
        </p:nvSpPr>
        <p:spPr bwMode="auto">
          <a:xfrm>
            <a:off x="2219325" y="6026150"/>
            <a:ext cx="536892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21551" name="Rectangle 15"/>
          <p:cNvSpPr>
            <a:spLocks noChangeArrowheads="1"/>
          </p:cNvSpPr>
          <p:nvPr/>
        </p:nvSpPr>
        <p:spPr bwMode="auto">
          <a:xfrm>
            <a:off x="6242050" y="5976938"/>
            <a:ext cx="25177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800" b="1"/>
              <a:t>Rock Concert Tickets</a:t>
            </a:r>
          </a:p>
        </p:txBody>
      </p:sp>
      <p:sp>
        <p:nvSpPr>
          <p:cNvPr id="321552" name="Rectangle 16"/>
          <p:cNvSpPr>
            <a:spLocks noChangeArrowheads="1"/>
          </p:cNvSpPr>
          <p:nvPr/>
        </p:nvSpPr>
        <p:spPr bwMode="auto">
          <a:xfrm>
            <a:off x="835025" y="1593850"/>
            <a:ext cx="739775" cy="850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r"/>
            <a:r>
              <a:rPr lang="en-US" sz="1800" b="1"/>
              <a:t>Price</a:t>
            </a:r>
          </a:p>
          <a:p>
            <a:pPr algn="r"/>
            <a:r>
              <a:rPr lang="en-US" sz="1800" b="1"/>
              <a:t> </a:t>
            </a:r>
            <a:r>
              <a:rPr lang="en-US" sz="1400" b="1"/>
              <a:t>($ per</a:t>
            </a:r>
          </a:p>
          <a:p>
            <a:pPr algn="r"/>
            <a:r>
              <a:rPr lang="en-US" sz="1400" b="1"/>
              <a:t>ticket)</a:t>
            </a:r>
          </a:p>
        </p:txBody>
      </p:sp>
      <p:sp>
        <p:nvSpPr>
          <p:cNvPr id="321553" name="Rectangle 17"/>
          <p:cNvSpPr>
            <a:spLocks noChangeArrowheads="1"/>
          </p:cNvSpPr>
          <p:nvPr/>
        </p:nvSpPr>
        <p:spPr bwMode="auto">
          <a:xfrm>
            <a:off x="3235325" y="5980113"/>
            <a:ext cx="3079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800" b="1"/>
              <a:t>2</a:t>
            </a:r>
          </a:p>
        </p:txBody>
      </p:sp>
      <p:sp>
        <p:nvSpPr>
          <p:cNvPr id="321554" name="Rectangle 18"/>
          <p:cNvSpPr>
            <a:spLocks noChangeArrowheads="1"/>
          </p:cNvSpPr>
          <p:nvPr/>
        </p:nvSpPr>
        <p:spPr bwMode="auto">
          <a:xfrm>
            <a:off x="3873500" y="5980113"/>
            <a:ext cx="3079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800" b="1"/>
              <a:t>3</a:t>
            </a:r>
          </a:p>
        </p:txBody>
      </p:sp>
      <p:sp>
        <p:nvSpPr>
          <p:cNvPr id="321555" name="Rectangle 19"/>
          <p:cNvSpPr>
            <a:spLocks noChangeArrowheads="1"/>
          </p:cNvSpPr>
          <p:nvPr/>
        </p:nvSpPr>
        <p:spPr bwMode="auto">
          <a:xfrm>
            <a:off x="4510088" y="5980113"/>
            <a:ext cx="3079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800" b="1"/>
              <a:t>4</a:t>
            </a:r>
          </a:p>
        </p:txBody>
      </p:sp>
      <p:sp>
        <p:nvSpPr>
          <p:cNvPr id="321556" name="Rectangle 20"/>
          <p:cNvSpPr>
            <a:spLocks noChangeArrowheads="1"/>
          </p:cNvSpPr>
          <p:nvPr/>
        </p:nvSpPr>
        <p:spPr bwMode="auto">
          <a:xfrm>
            <a:off x="5148263" y="5980113"/>
            <a:ext cx="3079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800" b="1"/>
              <a:t>5</a:t>
            </a:r>
          </a:p>
        </p:txBody>
      </p:sp>
      <p:sp>
        <p:nvSpPr>
          <p:cNvPr id="321557" name="Rectangle 21"/>
          <p:cNvSpPr>
            <a:spLocks noChangeArrowheads="1"/>
          </p:cNvSpPr>
          <p:nvPr/>
        </p:nvSpPr>
        <p:spPr bwMode="auto">
          <a:xfrm>
            <a:off x="5786438" y="5980113"/>
            <a:ext cx="3079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800" b="1"/>
              <a:t>6</a:t>
            </a:r>
          </a:p>
        </p:txBody>
      </p:sp>
      <p:sp>
        <p:nvSpPr>
          <p:cNvPr id="321558" name="Line 22"/>
          <p:cNvSpPr>
            <a:spLocks noChangeShapeType="1"/>
          </p:cNvSpPr>
          <p:nvPr/>
        </p:nvSpPr>
        <p:spPr bwMode="auto">
          <a:xfrm>
            <a:off x="2209800" y="1716088"/>
            <a:ext cx="0" cy="3681412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21559" name="Rectangle 23"/>
          <p:cNvSpPr>
            <a:spLocks noChangeArrowheads="1"/>
          </p:cNvSpPr>
          <p:nvPr/>
        </p:nvSpPr>
        <p:spPr bwMode="auto">
          <a:xfrm>
            <a:off x="1746250" y="4718050"/>
            <a:ext cx="463550" cy="393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b="1"/>
              <a:t>13</a:t>
            </a:r>
          </a:p>
        </p:txBody>
      </p:sp>
      <p:sp>
        <p:nvSpPr>
          <p:cNvPr id="321560" name="Rectangle 24"/>
          <p:cNvSpPr>
            <a:spLocks noChangeArrowheads="1"/>
          </p:cNvSpPr>
          <p:nvPr/>
        </p:nvSpPr>
        <p:spPr bwMode="auto">
          <a:xfrm>
            <a:off x="1960563" y="5980113"/>
            <a:ext cx="3079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800" b="1"/>
              <a:t>0</a:t>
            </a:r>
          </a:p>
        </p:txBody>
      </p:sp>
      <p:sp>
        <p:nvSpPr>
          <p:cNvPr id="321561" name="Rectangle 25"/>
          <p:cNvSpPr>
            <a:spLocks noChangeArrowheads="1"/>
          </p:cNvSpPr>
          <p:nvPr/>
        </p:nvSpPr>
        <p:spPr bwMode="auto">
          <a:xfrm>
            <a:off x="2597150" y="5980113"/>
            <a:ext cx="3079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800" b="1"/>
              <a:t>1</a:t>
            </a:r>
          </a:p>
        </p:txBody>
      </p:sp>
      <p:sp>
        <p:nvSpPr>
          <p:cNvPr id="321562" name="Line 26"/>
          <p:cNvSpPr>
            <a:spLocks noChangeShapeType="1"/>
          </p:cNvSpPr>
          <p:nvPr/>
        </p:nvSpPr>
        <p:spPr bwMode="auto">
          <a:xfrm flipV="1">
            <a:off x="2209800" y="5780088"/>
            <a:ext cx="0" cy="252412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21563" name="Freeform 27"/>
          <p:cNvSpPr>
            <a:spLocks/>
          </p:cNvSpPr>
          <p:nvPr/>
        </p:nvSpPr>
        <p:spPr bwMode="auto">
          <a:xfrm>
            <a:off x="2057400" y="5410200"/>
            <a:ext cx="306388" cy="382588"/>
          </a:xfrm>
          <a:custGeom>
            <a:avLst/>
            <a:gdLst>
              <a:gd name="T0" fmla="*/ 96 w 193"/>
              <a:gd name="T1" fmla="*/ 240 h 241"/>
              <a:gd name="T2" fmla="*/ 0 w 193"/>
              <a:gd name="T3" fmla="*/ 240 h 241"/>
              <a:gd name="T4" fmla="*/ 192 w 193"/>
              <a:gd name="T5" fmla="*/ 0 h 241"/>
              <a:gd name="T6" fmla="*/ 96 w 193"/>
              <a:gd name="T7" fmla="*/ 0 h 2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93" h="241">
                <a:moveTo>
                  <a:pt x="96" y="240"/>
                </a:moveTo>
                <a:lnTo>
                  <a:pt x="0" y="240"/>
                </a:lnTo>
                <a:lnTo>
                  <a:pt x="192" y="0"/>
                </a:lnTo>
                <a:lnTo>
                  <a:pt x="96" y="0"/>
                </a:lnTo>
              </a:path>
            </a:pathLst>
          </a:custGeom>
          <a:noFill/>
          <a:ln w="254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1564" name="Rectangle 28"/>
          <p:cNvSpPr>
            <a:spLocks noChangeArrowheads="1"/>
          </p:cNvSpPr>
          <p:nvPr/>
        </p:nvSpPr>
        <p:spPr bwMode="auto">
          <a:xfrm>
            <a:off x="1746250" y="4305300"/>
            <a:ext cx="463550" cy="393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b="1"/>
              <a:t>14</a:t>
            </a:r>
          </a:p>
        </p:txBody>
      </p:sp>
      <p:sp>
        <p:nvSpPr>
          <p:cNvPr id="321565" name="Rectangle 29"/>
          <p:cNvSpPr>
            <a:spLocks noChangeArrowheads="1"/>
          </p:cNvSpPr>
          <p:nvPr/>
        </p:nvSpPr>
        <p:spPr bwMode="auto">
          <a:xfrm>
            <a:off x="1746250" y="3890963"/>
            <a:ext cx="463550" cy="393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b="1"/>
              <a:t>15</a:t>
            </a:r>
          </a:p>
        </p:txBody>
      </p:sp>
      <p:sp>
        <p:nvSpPr>
          <p:cNvPr id="321566" name="Rectangle 30"/>
          <p:cNvSpPr>
            <a:spLocks noChangeArrowheads="1"/>
          </p:cNvSpPr>
          <p:nvPr/>
        </p:nvSpPr>
        <p:spPr bwMode="auto">
          <a:xfrm>
            <a:off x="1746250" y="3478213"/>
            <a:ext cx="463550" cy="393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b="1"/>
              <a:t>16</a:t>
            </a:r>
          </a:p>
        </p:txBody>
      </p:sp>
      <p:sp>
        <p:nvSpPr>
          <p:cNvPr id="321567" name="Rectangle 31"/>
          <p:cNvSpPr>
            <a:spLocks noChangeArrowheads="1"/>
          </p:cNvSpPr>
          <p:nvPr/>
        </p:nvSpPr>
        <p:spPr bwMode="auto">
          <a:xfrm>
            <a:off x="1746250" y="3063875"/>
            <a:ext cx="463550" cy="393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b="1"/>
              <a:t>17</a:t>
            </a:r>
          </a:p>
        </p:txBody>
      </p:sp>
      <p:sp>
        <p:nvSpPr>
          <p:cNvPr id="321568" name="Rectangle 32"/>
          <p:cNvSpPr>
            <a:spLocks noChangeArrowheads="1"/>
          </p:cNvSpPr>
          <p:nvPr/>
        </p:nvSpPr>
        <p:spPr bwMode="auto">
          <a:xfrm>
            <a:off x="1746250" y="2651125"/>
            <a:ext cx="463550" cy="393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b="1"/>
              <a:t>18</a:t>
            </a:r>
          </a:p>
        </p:txBody>
      </p:sp>
      <p:sp>
        <p:nvSpPr>
          <p:cNvPr id="321569" name="Rectangle 33"/>
          <p:cNvSpPr>
            <a:spLocks noChangeArrowheads="1"/>
          </p:cNvSpPr>
          <p:nvPr/>
        </p:nvSpPr>
        <p:spPr bwMode="auto">
          <a:xfrm>
            <a:off x="1746250" y="2236788"/>
            <a:ext cx="463550" cy="393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b="1"/>
              <a:t>19</a:t>
            </a:r>
          </a:p>
        </p:txBody>
      </p:sp>
      <p:sp>
        <p:nvSpPr>
          <p:cNvPr id="321570" name="Rectangle 34"/>
          <p:cNvSpPr>
            <a:spLocks noChangeArrowheads="1"/>
          </p:cNvSpPr>
          <p:nvPr/>
        </p:nvSpPr>
        <p:spPr bwMode="auto">
          <a:xfrm>
            <a:off x="1746250" y="1822450"/>
            <a:ext cx="463550" cy="393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b="1"/>
              <a:t>20</a:t>
            </a:r>
          </a:p>
        </p:txBody>
      </p:sp>
      <p:grpSp>
        <p:nvGrpSpPr>
          <p:cNvPr id="321584" name="Group 48"/>
          <p:cNvGrpSpPr>
            <a:grpSpLocks/>
          </p:cNvGrpSpPr>
          <p:nvPr/>
        </p:nvGrpSpPr>
        <p:grpSpPr bwMode="auto">
          <a:xfrm>
            <a:off x="2224088" y="4313238"/>
            <a:ext cx="6183312" cy="301625"/>
            <a:chOff x="1401" y="2717"/>
            <a:chExt cx="3895" cy="190"/>
          </a:xfrm>
        </p:grpSpPr>
        <p:sp>
          <p:nvSpPr>
            <p:cNvPr id="321572" name="Line 36"/>
            <p:cNvSpPr>
              <a:spLocks noChangeShapeType="1"/>
            </p:cNvSpPr>
            <p:nvPr/>
          </p:nvSpPr>
          <p:spPr bwMode="auto">
            <a:xfrm>
              <a:off x="1401" y="2832"/>
              <a:ext cx="3103" cy="0"/>
            </a:xfrm>
            <a:prstGeom prst="line">
              <a:avLst/>
            </a:prstGeom>
            <a:noFill/>
            <a:ln w="25400">
              <a:solidFill>
                <a:srgbClr val="777777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1573" name="Rectangle 37"/>
            <p:cNvSpPr>
              <a:spLocks noChangeArrowheads="1"/>
            </p:cNvSpPr>
            <p:nvPr/>
          </p:nvSpPr>
          <p:spPr bwMode="auto">
            <a:xfrm>
              <a:off x="4517" y="2717"/>
              <a:ext cx="779" cy="1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1400" b="1"/>
                <a:t>Market Price</a:t>
              </a:r>
              <a:endParaRPr lang="en-US" sz="1800" b="1"/>
            </a:p>
          </p:txBody>
        </p:sp>
      </p:grpSp>
    </p:spTree>
    <p:extLst>
      <p:ext uri="{BB962C8B-B14F-4D97-AF65-F5344CB8AC3E}">
        <p14:creationId xmlns:p14="http://schemas.microsoft.com/office/powerpoint/2010/main" val="1440817019"/>
      </p:ext>
    </p:extLst>
  </p:cSld>
  <p:clrMapOvr>
    <a:masterClrMapping/>
  </p:clrMapOvr>
  <p:transition spd="med"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215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215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215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Producer Surplus</a:t>
            </a:r>
            <a:endParaRPr lang="en-US" b="1" dirty="0"/>
          </a:p>
        </p:txBody>
      </p:sp>
      <p:sp>
        <p:nvSpPr>
          <p:cNvPr id="21508" name="Line 4"/>
          <p:cNvSpPr>
            <a:spLocks noChangeShapeType="1"/>
          </p:cNvSpPr>
          <p:nvPr/>
        </p:nvSpPr>
        <p:spPr bwMode="auto">
          <a:xfrm>
            <a:off x="1331913" y="1844675"/>
            <a:ext cx="0" cy="3744913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509" name="Text Box 5"/>
          <p:cNvSpPr txBox="1">
            <a:spLocks noChangeArrowheads="1"/>
          </p:cNvSpPr>
          <p:nvPr/>
        </p:nvSpPr>
        <p:spPr bwMode="auto">
          <a:xfrm>
            <a:off x="179388" y="1408113"/>
            <a:ext cx="131478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GB" sz="1800" dirty="0">
                <a:latin typeface="Verdana" pitchFamily="34" charset="0"/>
              </a:rPr>
              <a:t>Price (</a:t>
            </a:r>
            <a:r>
              <a:rPr lang="en-GB" sz="1800" dirty="0" err="1">
                <a:latin typeface="Verdana" pitchFamily="34" charset="0"/>
              </a:rPr>
              <a:t>Rs</a:t>
            </a:r>
            <a:r>
              <a:rPr lang="en-GB" sz="1800" dirty="0">
                <a:latin typeface="Verdana" pitchFamily="34" charset="0"/>
              </a:rPr>
              <a:t>)</a:t>
            </a:r>
            <a:endParaRPr lang="en-US" sz="1800" dirty="0">
              <a:latin typeface="Verdana" pitchFamily="34" charset="0"/>
            </a:endParaRPr>
          </a:p>
        </p:txBody>
      </p:sp>
      <p:sp>
        <p:nvSpPr>
          <p:cNvPr id="21510" name="Line 6"/>
          <p:cNvSpPr>
            <a:spLocks noChangeShapeType="1"/>
          </p:cNvSpPr>
          <p:nvPr/>
        </p:nvSpPr>
        <p:spPr bwMode="auto">
          <a:xfrm>
            <a:off x="1331913" y="5589588"/>
            <a:ext cx="511175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511" name="Text Box 7"/>
          <p:cNvSpPr txBox="1">
            <a:spLocks noChangeArrowheads="1"/>
          </p:cNvSpPr>
          <p:nvPr/>
        </p:nvSpPr>
        <p:spPr bwMode="auto">
          <a:xfrm>
            <a:off x="5867400" y="5656263"/>
            <a:ext cx="22415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GB" sz="1800">
                <a:latin typeface="Verdana" pitchFamily="34" charset="0"/>
              </a:rPr>
              <a:t>Quantity Supplied</a:t>
            </a:r>
            <a:endParaRPr lang="en-US" sz="1800">
              <a:latin typeface="Verdana" pitchFamily="34" charset="0"/>
            </a:endParaRPr>
          </a:p>
        </p:txBody>
      </p:sp>
      <p:sp>
        <p:nvSpPr>
          <p:cNvPr id="21512" name="Line 8"/>
          <p:cNvSpPr>
            <a:spLocks noChangeShapeType="1"/>
          </p:cNvSpPr>
          <p:nvPr/>
        </p:nvSpPr>
        <p:spPr bwMode="auto">
          <a:xfrm flipV="1">
            <a:off x="1357313" y="1905000"/>
            <a:ext cx="3671887" cy="367347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513" name="Text Box 9"/>
          <p:cNvSpPr txBox="1">
            <a:spLocks noChangeArrowheads="1"/>
          </p:cNvSpPr>
          <p:nvPr/>
        </p:nvSpPr>
        <p:spPr bwMode="auto">
          <a:xfrm>
            <a:off x="5003800" y="1624013"/>
            <a:ext cx="33972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GB" sz="1800">
                <a:latin typeface="Verdana" pitchFamily="34" charset="0"/>
              </a:rPr>
              <a:t>S</a:t>
            </a:r>
            <a:endParaRPr lang="en-US" sz="1800">
              <a:latin typeface="Verdana" pitchFamily="34" charset="0"/>
            </a:endParaRPr>
          </a:p>
        </p:txBody>
      </p:sp>
      <p:sp>
        <p:nvSpPr>
          <p:cNvPr id="21515" name="Freeform 11"/>
          <p:cNvSpPr>
            <a:spLocks/>
          </p:cNvSpPr>
          <p:nvPr/>
        </p:nvSpPr>
        <p:spPr bwMode="auto">
          <a:xfrm>
            <a:off x="1331913" y="2492375"/>
            <a:ext cx="3082925" cy="3175"/>
          </a:xfrm>
          <a:custGeom>
            <a:avLst/>
            <a:gdLst>
              <a:gd name="T0" fmla="*/ 0 w 1942"/>
              <a:gd name="T1" fmla="*/ 0 h 2"/>
              <a:gd name="T2" fmla="*/ 1942 w 1942"/>
              <a:gd name="T3" fmla="*/ 2 h 2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1942" h="2">
                <a:moveTo>
                  <a:pt x="0" y="0"/>
                </a:moveTo>
                <a:lnTo>
                  <a:pt x="1942" y="2"/>
                </a:lnTo>
              </a:path>
            </a:pathLst>
          </a:custGeom>
          <a:noFill/>
          <a:ln w="9525">
            <a:solidFill>
              <a:schemeClr val="tx1"/>
            </a:solidFill>
            <a:prstDash val="lg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516" name="Text Box 12"/>
          <p:cNvSpPr txBox="1">
            <a:spLocks noChangeArrowheads="1"/>
          </p:cNvSpPr>
          <p:nvPr/>
        </p:nvSpPr>
        <p:spPr bwMode="auto">
          <a:xfrm>
            <a:off x="755650" y="2205038"/>
            <a:ext cx="4889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GB" sz="1800">
                <a:latin typeface="Verdana" pitchFamily="34" charset="0"/>
              </a:rPr>
              <a:t>10</a:t>
            </a:r>
            <a:endParaRPr lang="en-US" sz="1800">
              <a:latin typeface="Verdana" pitchFamily="34" charset="0"/>
            </a:endParaRPr>
          </a:p>
        </p:txBody>
      </p:sp>
      <p:sp>
        <p:nvSpPr>
          <p:cNvPr id="21517" name="Line 13"/>
          <p:cNvSpPr>
            <a:spLocks noChangeShapeType="1"/>
          </p:cNvSpPr>
          <p:nvPr/>
        </p:nvSpPr>
        <p:spPr bwMode="auto">
          <a:xfrm>
            <a:off x="4427538" y="2492375"/>
            <a:ext cx="0" cy="3097213"/>
          </a:xfrm>
          <a:prstGeom prst="line">
            <a:avLst/>
          </a:prstGeom>
          <a:noFill/>
          <a:ln w="9525">
            <a:solidFill>
              <a:schemeClr val="tx1"/>
            </a:solidFill>
            <a:prstDash val="lg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518" name="Text Box 14"/>
          <p:cNvSpPr txBox="1">
            <a:spLocks noChangeArrowheads="1"/>
          </p:cNvSpPr>
          <p:nvPr/>
        </p:nvSpPr>
        <p:spPr bwMode="auto">
          <a:xfrm>
            <a:off x="4192588" y="5676900"/>
            <a:ext cx="4762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GB" sz="1800">
                <a:latin typeface="Verdana" pitchFamily="34" charset="0"/>
              </a:rPr>
              <a:t>60</a:t>
            </a:r>
            <a:endParaRPr lang="en-US" sz="1800">
              <a:latin typeface="Verdana" pitchFamily="34" charset="0"/>
            </a:endParaRPr>
          </a:p>
        </p:txBody>
      </p:sp>
      <p:sp>
        <p:nvSpPr>
          <p:cNvPr id="21519" name="Text Box 15"/>
          <p:cNvSpPr txBox="1">
            <a:spLocks noChangeArrowheads="1"/>
          </p:cNvSpPr>
          <p:nvPr/>
        </p:nvSpPr>
        <p:spPr bwMode="auto">
          <a:xfrm>
            <a:off x="6443663" y="1576388"/>
            <a:ext cx="2597186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GB" sz="1600" b="1" dirty="0">
                <a:latin typeface="Verdana" pitchFamily="34" charset="0"/>
              </a:rPr>
              <a:t>Market price = Rs.10</a:t>
            </a:r>
            <a:endParaRPr lang="en-US" sz="1600" b="1" dirty="0">
              <a:latin typeface="Verdana" pitchFamily="34" charset="0"/>
            </a:endParaRPr>
          </a:p>
        </p:txBody>
      </p:sp>
      <p:sp>
        <p:nvSpPr>
          <p:cNvPr id="21520" name="Text Box 16"/>
          <p:cNvSpPr txBox="1">
            <a:spLocks noChangeArrowheads="1"/>
          </p:cNvSpPr>
          <p:nvPr/>
        </p:nvSpPr>
        <p:spPr bwMode="auto">
          <a:xfrm>
            <a:off x="5148263" y="2079625"/>
            <a:ext cx="4198585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GB" sz="1600" b="1" dirty="0">
                <a:latin typeface="Verdana" pitchFamily="34" charset="0"/>
              </a:rPr>
              <a:t>At Rs.10, suppliers willing to offer </a:t>
            </a:r>
          </a:p>
          <a:p>
            <a:r>
              <a:rPr lang="en-GB" sz="1600" b="1" dirty="0">
                <a:latin typeface="Verdana" pitchFamily="34" charset="0"/>
              </a:rPr>
              <a:t>60 for sale</a:t>
            </a:r>
            <a:endParaRPr lang="en-US" sz="1600" b="1" dirty="0">
              <a:latin typeface="Verdana" pitchFamily="34" charset="0"/>
            </a:endParaRPr>
          </a:p>
        </p:txBody>
      </p:sp>
      <p:sp>
        <p:nvSpPr>
          <p:cNvPr id="21521" name="Text Box 17"/>
          <p:cNvSpPr txBox="1">
            <a:spLocks noChangeArrowheads="1"/>
          </p:cNvSpPr>
          <p:nvPr/>
        </p:nvSpPr>
        <p:spPr bwMode="auto">
          <a:xfrm>
            <a:off x="5076825" y="2751138"/>
            <a:ext cx="2979738" cy="581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GB" sz="1600" dirty="0">
                <a:latin typeface="Verdana" pitchFamily="34" charset="0"/>
              </a:rPr>
              <a:t>Total Revenue = blue area </a:t>
            </a:r>
          </a:p>
          <a:p>
            <a:r>
              <a:rPr lang="en-GB" sz="1600" dirty="0">
                <a:latin typeface="Verdana" pitchFamily="34" charset="0"/>
              </a:rPr>
              <a:t>Rs.10 x 60 = Rs.600</a:t>
            </a:r>
            <a:endParaRPr lang="en-US" sz="1600" dirty="0">
              <a:latin typeface="Verdana" pitchFamily="34" charset="0"/>
            </a:endParaRPr>
          </a:p>
        </p:txBody>
      </p:sp>
      <p:sp>
        <p:nvSpPr>
          <p:cNvPr id="21522" name="Line 18"/>
          <p:cNvSpPr>
            <a:spLocks noChangeShapeType="1"/>
          </p:cNvSpPr>
          <p:nvPr/>
        </p:nvSpPr>
        <p:spPr bwMode="auto">
          <a:xfrm>
            <a:off x="3276600" y="3644900"/>
            <a:ext cx="0" cy="1944688"/>
          </a:xfrm>
          <a:prstGeom prst="line">
            <a:avLst/>
          </a:prstGeom>
          <a:noFill/>
          <a:ln w="9525">
            <a:solidFill>
              <a:schemeClr val="tx1"/>
            </a:solidFill>
            <a:prstDash val="lgDashDot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523" name="Text Box 19"/>
          <p:cNvSpPr txBox="1">
            <a:spLocks noChangeArrowheads="1"/>
          </p:cNvSpPr>
          <p:nvPr/>
        </p:nvSpPr>
        <p:spPr bwMode="auto">
          <a:xfrm>
            <a:off x="3059113" y="5678488"/>
            <a:ext cx="4762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GB" sz="1800">
                <a:latin typeface="Verdana" pitchFamily="34" charset="0"/>
              </a:rPr>
              <a:t>35</a:t>
            </a:r>
            <a:endParaRPr lang="en-US" sz="1800">
              <a:latin typeface="Verdana" pitchFamily="34" charset="0"/>
            </a:endParaRPr>
          </a:p>
        </p:txBody>
      </p:sp>
      <p:sp>
        <p:nvSpPr>
          <p:cNvPr id="21524" name="Line 20"/>
          <p:cNvSpPr>
            <a:spLocks noChangeShapeType="1"/>
          </p:cNvSpPr>
          <p:nvPr/>
        </p:nvSpPr>
        <p:spPr bwMode="auto">
          <a:xfrm flipH="1">
            <a:off x="1331913" y="3644900"/>
            <a:ext cx="1944687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lgDash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525" name="Text Box 21"/>
          <p:cNvSpPr txBox="1">
            <a:spLocks noChangeArrowheads="1"/>
          </p:cNvSpPr>
          <p:nvPr/>
        </p:nvSpPr>
        <p:spPr bwMode="auto">
          <a:xfrm>
            <a:off x="900113" y="3446463"/>
            <a:ext cx="3302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GB" sz="1800">
                <a:latin typeface="Verdana" pitchFamily="34" charset="0"/>
              </a:rPr>
              <a:t>6</a:t>
            </a:r>
            <a:endParaRPr lang="en-US" sz="1800">
              <a:latin typeface="Verdana" pitchFamily="34" charset="0"/>
            </a:endParaRPr>
          </a:p>
        </p:txBody>
      </p:sp>
      <p:sp>
        <p:nvSpPr>
          <p:cNvPr id="21526" name="Text Box 22"/>
          <p:cNvSpPr txBox="1">
            <a:spLocks noChangeArrowheads="1"/>
          </p:cNvSpPr>
          <p:nvPr/>
        </p:nvSpPr>
        <p:spPr bwMode="auto">
          <a:xfrm>
            <a:off x="5076825" y="3400425"/>
            <a:ext cx="4237057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GB" sz="1600" dirty="0">
                <a:latin typeface="Verdana" pitchFamily="34" charset="0"/>
              </a:rPr>
              <a:t>Some suppliers would have offered </a:t>
            </a:r>
          </a:p>
          <a:p>
            <a:r>
              <a:rPr lang="en-GB" sz="1600" dirty="0">
                <a:latin typeface="Verdana" pitchFamily="34" charset="0"/>
              </a:rPr>
              <a:t>35 for sale at Rs.6:</a:t>
            </a:r>
          </a:p>
          <a:p>
            <a:r>
              <a:rPr lang="en-GB" sz="1600" dirty="0">
                <a:latin typeface="Verdana" pitchFamily="34" charset="0"/>
              </a:rPr>
              <a:t>Producer surplus = 35 x Rs.4 = Rs.140</a:t>
            </a:r>
            <a:endParaRPr lang="en-US" sz="1600" dirty="0">
              <a:latin typeface="Verdana" pitchFamily="34" charset="0"/>
            </a:endParaRPr>
          </a:p>
        </p:txBody>
      </p:sp>
      <p:sp>
        <p:nvSpPr>
          <p:cNvPr id="21527" name="Rectangle 23"/>
          <p:cNvSpPr>
            <a:spLocks noChangeArrowheads="1"/>
          </p:cNvSpPr>
          <p:nvPr/>
        </p:nvSpPr>
        <p:spPr bwMode="auto">
          <a:xfrm>
            <a:off x="1323975" y="2465388"/>
            <a:ext cx="3095625" cy="3097212"/>
          </a:xfrm>
          <a:prstGeom prst="rect">
            <a:avLst/>
          </a:prstGeom>
          <a:solidFill>
            <a:srgbClr val="0000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532" name="Text Box 28"/>
          <p:cNvSpPr txBox="1">
            <a:spLocks noChangeArrowheads="1"/>
          </p:cNvSpPr>
          <p:nvPr/>
        </p:nvSpPr>
        <p:spPr bwMode="auto">
          <a:xfrm>
            <a:off x="5076825" y="4624388"/>
            <a:ext cx="3195638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GB" sz="1600">
                <a:latin typeface="Verdana" pitchFamily="34" charset="0"/>
              </a:rPr>
              <a:t>Gold area = Producer surplus</a:t>
            </a:r>
            <a:endParaRPr lang="en-US" sz="1600">
              <a:latin typeface="Verdana" pitchFamily="34" charset="0"/>
            </a:endParaRPr>
          </a:p>
        </p:txBody>
      </p:sp>
      <p:sp>
        <p:nvSpPr>
          <p:cNvPr id="21533" name="AutoShape 29"/>
          <p:cNvSpPr>
            <a:spLocks noChangeArrowheads="1"/>
          </p:cNvSpPr>
          <p:nvPr/>
        </p:nvSpPr>
        <p:spPr bwMode="auto">
          <a:xfrm flipV="1">
            <a:off x="1371600" y="2465388"/>
            <a:ext cx="3095625" cy="3097212"/>
          </a:xfrm>
          <a:prstGeom prst="rtTriangle">
            <a:avLst/>
          </a:prstGeom>
          <a:solidFill>
            <a:srgbClr val="FFCC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32005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15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15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15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15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215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215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21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215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215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215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215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500"/>
                                        <p:tgtEl>
                                          <p:spTgt spid="215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500"/>
                                        <p:tgtEl>
                                          <p:spTgt spid="215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2" dur="500"/>
                                        <p:tgtEl>
                                          <p:spTgt spid="2152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1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7" dur="500"/>
                                        <p:tgtEl>
                                          <p:spTgt spid="215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2" dur="500"/>
                                        <p:tgtEl>
                                          <p:spTgt spid="215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7" dur="500"/>
                                        <p:tgtEl>
                                          <p:spTgt spid="215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2" dur="500"/>
                                        <p:tgtEl>
                                          <p:spTgt spid="215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7" dur="500"/>
                                        <p:tgtEl>
                                          <p:spTgt spid="215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 nodeType="clickPar">
                      <p:stCondLst>
                        <p:cond delay="indefinite"/>
                      </p:stCondLst>
                      <p:childTnLst>
                        <p:par>
                          <p:cTn id="9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2" dur="500"/>
                                        <p:tgtEl>
                                          <p:spTgt spid="215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 nodeType="clickPar">
                      <p:stCondLst>
                        <p:cond delay="indefinite"/>
                      </p:stCondLst>
                      <p:childTnLst>
                        <p:par>
                          <p:cTn id="1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7" dur="500"/>
                                        <p:tgtEl>
                                          <p:spTgt spid="215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08" grpId="0" animBg="1"/>
      <p:bldP spid="21509" grpId="0" autoUpdateAnimBg="0"/>
      <p:bldP spid="21510" grpId="0" animBg="1"/>
      <p:bldP spid="21511" grpId="0" autoUpdateAnimBg="0"/>
      <p:bldP spid="21512" grpId="0" animBg="1"/>
      <p:bldP spid="21513" grpId="0" autoUpdateAnimBg="0"/>
      <p:bldP spid="21515" grpId="0" animBg="1"/>
      <p:bldP spid="21516" grpId="0" autoUpdateAnimBg="0"/>
      <p:bldP spid="21517" grpId="0" animBg="1"/>
      <p:bldP spid="21518" grpId="0" autoUpdateAnimBg="0"/>
      <p:bldP spid="21519" grpId="0" autoUpdateAnimBg="0"/>
      <p:bldP spid="21520" grpId="0" autoUpdateAnimBg="0"/>
      <p:bldP spid="21521" grpId="0" autoUpdateAnimBg="0"/>
      <p:bldP spid="21522" grpId="0" animBg="1"/>
      <p:bldP spid="21523" grpId="0" autoUpdateAnimBg="0"/>
      <p:bldP spid="21524" grpId="0" animBg="1"/>
      <p:bldP spid="21525" grpId="0" autoUpdateAnimBg="0"/>
      <p:bldP spid="21526" grpId="0" autoUpdateAnimBg="0"/>
      <p:bldP spid="21527" grpId="0" animBg="1"/>
      <p:bldP spid="21532" grpId="0" autoUpdateAnimBg="0"/>
      <p:bldP spid="21533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ChangeArrowheads="1"/>
          </p:cNvSpPr>
          <p:nvPr/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411" name="Rectangle 3"/>
          <p:cNvSpPr>
            <a:spLocks noChangeArrowheads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412" name="Rectangle 4"/>
          <p:cNvSpPr>
            <a:spLocks noChangeArrowheads="1"/>
          </p:cNvSpPr>
          <p:nvPr/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413" name="Rectangle 5"/>
          <p:cNvSpPr>
            <a:spLocks noChangeArrowheads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80326" name="Rectangle 6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b="1" dirty="0"/>
              <a:t>Supply, Demand, and Government Policies</a:t>
            </a:r>
            <a:endParaRPr lang="en-US" sz="4000" b="1" dirty="0">
              <a:effectLst>
                <a:outerShdw blurRad="38100" dist="38100" dir="2700000" algn="tl">
                  <a:srgbClr val="000000"/>
                </a:outerShdw>
              </a:effectLst>
              <a:latin typeface="Tahoma" pitchFamily="-109" charset="0"/>
            </a:endParaRPr>
          </a:p>
        </p:txBody>
      </p:sp>
      <p:sp>
        <p:nvSpPr>
          <p:cNvPr id="1080327" name="Rectangle 7"/>
          <p:cNvSpPr>
            <a:spLocks noGrp="1" noChangeArrowheads="1"/>
          </p:cNvSpPr>
          <p:nvPr>
            <p:ph idx="1"/>
          </p:nvPr>
        </p:nvSpPr>
        <p:spPr>
          <a:xfrm>
            <a:off x="457200" y="2133600"/>
            <a:ext cx="8305800" cy="4038600"/>
          </a:xfrm>
          <a:noFill/>
          <a:ln w="38100">
            <a:solidFill>
              <a:srgbClr val="474A81"/>
            </a:solidFill>
            <a:miter lim="800000"/>
            <a:headEnd/>
            <a:tailEnd/>
          </a:ln>
        </p:spPr>
        <p:txBody>
          <a:bodyPr>
            <a:normAutofit/>
          </a:bodyPr>
          <a:lstStyle/>
          <a:p>
            <a:pPr algn="just">
              <a:lnSpc>
                <a:spcPct val="90000"/>
              </a:lnSpc>
              <a:buClr>
                <a:schemeClr val="bg2"/>
              </a:buClr>
              <a:buFont typeface="Monotype Sorts" pitchFamily="-109" charset="2"/>
              <a:buChar char="u"/>
            </a:pPr>
            <a:r>
              <a:rPr lang="en-US" b="0" dirty="0"/>
              <a:t>In a unregulated market system with open entry and exit, market forces establish equilibrium prices and</a:t>
            </a:r>
            <a:r>
              <a:rPr lang="en-US" b="0" i="1" dirty="0"/>
              <a:t> </a:t>
            </a:r>
            <a:r>
              <a:rPr lang="en-US" b="0" dirty="0"/>
              <a:t>quantities.</a:t>
            </a:r>
          </a:p>
          <a:p>
            <a:pPr algn="just">
              <a:lnSpc>
                <a:spcPct val="90000"/>
              </a:lnSpc>
              <a:buClr>
                <a:schemeClr val="bg2"/>
              </a:buClr>
              <a:buFont typeface="Monotype Sorts" pitchFamily="-109" charset="2"/>
              <a:buChar char="u"/>
            </a:pPr>
            <a:endParaRPr lang="en-US" b="0" dirty="0"/>
          </a:p>
          <a:p>
            <a:pPr algn="just">
              <a:lnSpc>
                <a:spcPct val="90000"/>
              </a:lnSpc>
              <a:buClr>
                <a:schemeClr val="bg2"/>
              </a:buClr>
              <a:buFont typeface="Monotype Sorts" pitchFamily="-109" charset="2"/>
              <a:buChar char="u"/>
            </a:pPr>
            <a:r>
              <a:rPr lang="en-US" b="0" dirty="0">
                <a:solidFill>
                  <a:srgbClr val="FF0000"/>
                </a:solidFill>
              </a:rPr>
              <a:t>While equilibrium conditions may be efficient</a:t>
            </a:r>
            <a:r>
              <a:rPr lang="en-US" b="0" dirty="0"/>
              <a:t>, not everyone will be satisfied with the outcomes.</a:t>
            </a:r>
          </a:p>
          <a:p>
            <a:pPr lvl="1">
              <a:lnSpc>
                <a:spcPct val="90000"/>
              </a:lnSpc>
              <a:buClr>
                <a:schemeClr val="hlink"/>
              </a:buClr>
              <a:buFont typeface="Wingdings" pitchFamily="-109" charset="2"/>
              <a:buChar char="§"/>
            </a:pPr>
            <a:r>
              <a:rPr lang="en-US" b="0" dirty="0"/>
              <a:t>Consumers</a:t>
            </a:r>
          </a:p>
          <a:p>
            <a:pPr lvl="1">
              <a:lnSpc>
                <a:spcPct val="90000"/>
              </a:lnSpc>
              <a:buClr>
                <a:schemeClr val="hlink"/>
              </a:buClr>
              <a:buFont typeface="Wingdings" pitchFamily="-109" charset="2"/>
              <a:buChar char="§"/>
            </a:pPr>
            <a:r>
              <a:rPr lang="en-US" b="0" dirty="0"/>
              <a:t>Producers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DCDE8-D88C-416B-90F0-F63B5615757D}" type="slidenum">
              <a:rPr lang="en-US" smtClean="0"/>
              <a:pPr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43054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03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803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803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803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03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0803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0803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803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5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03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0803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0803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803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9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03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0803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0803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803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80327" grpId="0" build="p" autoUpdateAnimBg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GB" b="1" dirty="0"/>
              <a:t>Government Intervention in Markets</a:t>
            </a:r>
            <a:endParaRPr lang="en-US" b="1" dirty="0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dirty="0"/>
              <a:t>Buffer Stocks</a:t>
            </a:r>
          </a:p>
          <a:p>
            <a:r>
              <a:rPr lang="en-GB" dirty="0"/>
              <a:t>Income Guarantee Schemes and Price Controls</a:t>
            </a:r>
            <a:endParaRPr lang="en-US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DCDE8-D88C-416B-90F0-F63B5615757D}" type="slidenum">
              <a:rPr lang="en-US" smtClean="0"/>
              <a:pPr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107474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CE650F-0941-93F9-A5DA-5FB43F2B1F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594360"/>
            <a:ext cx="4396740" cy="1293028"/>
          </a:xfrm>
        </p:spPr>
        <p:txBody>
          <a:bodyPr/>
          <a:lstStyle/>
          <a:p>
            <a:r>
              <a:rPr lang="en-GB" dirty="0"/>
              <a:t>Buffer Stocks</a:t>
            </a:r>
            <a:br>
              <a:rPr lang="en-GB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2E952A-54C7-15FF-1F8B-31000C861F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4360" y="1219200"/>
            <a:ext cx="8473440" cy="5044440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72915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2374" name="Rectangle 6"/>
          <p:cNvSpPr>
            <a:spLocks noGrp="1" noChangeArrowheads="1"/>
          </p:cNvSpPr>
          <p:nvPr>
            <p:ph type="title"/>
          </p:nvPr>
        </p:nvSpPr>
        <p:spPr>
          <a:xfrm>
            <a:off x="685800" y="533400"/>
            <a:ext cx="7696200" cy="1143000"/>
          </a:xfrm>
        </p:spPr>
        <p:txBody>
          <a:bodyPr/>
          <a:lstStyle/>
          <a:p>
            <a:pPr algn="ctr"/>
            <a:r>
              <a:rPr lang="en-US" sz="4000" dirty="0">
                <a:solidFill>
                  <a:srgbClr val="7A0014"/>
                </a:solidFill>
              </a:rPr>
              <a:t> </a:t>
            </a:r>
            <a:r>
              <a:rPr lang="en-US" sz="4000" b="1" dirty="0"/>
              <a:t>Price Controls...</a:t>
            </a:r>
            <a:endParaRPr lang="en-US" sz="4000" b="1" dirty="0">
              <a:effectLst>
                <a:outerShdw blurRad="38100" dist="38100" dir="2700000" algn="tl">
                  <a:srgbClr val="000000"/>
                </a:outerShdw>
              </a:effectLst>
              <a:latin typeface="Tahoma" pitchFamily="-109" charset="0"/>
            </a:endParaRPr>
          </a:p>
        </p:txBody>
      </p:sp>
      <p:sp>
        <p:nvSpPr>
          <p:cNvPr id="1082375" name="Rectangle 7"/>
          <p:cNvSpPr>
            <a:spLocks noGrp="1" noChangeArrowheads="1"/>
          </p:cNvSpPr>
          <p:nvPr>
            <p:ph idx="1"/>
          </p:nvPr>
        </p:nvSpPr>
        <p:spPr>
          <a:xfrm>
            <a:off x="685800" y="1981200"/>
            <a:ext cx="7772400" cy="3124200"/>
          </a:xfrm>
          <a:noFill/>
        </p:spPr>
        <p:txBody>
          <a:bodyPr>
            <a:normAutofit/>
          </a:bodyPr>
          <a:lstStyle/>
          <a:p>
            <a:pPr algn="just">
              <a:buClr>
                <a:srgbClr val="F09A0E"/>
              </a:buClr>
              <a:buSzPct val="80000"/>
            </a:pPr>
            <a:r>
              <a:rPr lang="en-US" sz="2800" dirty="0"/>
              <a:t>Are usually enacted when policymakers believe the market price is </a:t>
            </a:r>
            <a:r>
              <a:rPr lang="en-US" sz="2800" u="sng" dirty="0"/>
              <a:t>unfair</a:t>
            </a:r>
            <a:r>
              <a:rPr lang="en-US" sz="2800" dirty="0"/>
              <a:t> to buyers or sellers.  </a:t>
            </a:r>
          </a:p>
          <a:p>
            <a:pPr>
              <a:buClr>
                <a:srgbClr val="F09A0E"/>
              </a:buClr>
              <a:buSzPct val="80000"/>
            </a:pPr>
            <a:r>
              <a:rPr lang="en-US" sz="2800" dirty="0"/>
              <a:t>Result in government-created </a:t>
            </a:r>
            <a:r>
              <a:rPr lang="en-US" sz="2800" b="1" dirty="0">
                <a:solidFill>
                  <a:srgbClr val="FF0000"/>
                </a:solidFill>
              </a:rPr>
              <a:t>price ceilings </a:t>
            </a:r>
            <a:r>
              <a:rPr lang="en-US" sz="2800" dirty="0"/>
              <a:t>or </a:t>
            </a:r>
            <a:r>
              <a:rPr lang="en-US" sz="2800" b="1" dirty="0">
                <a:solidFill>
                  <a:srgbClr val="FF0000"/>
                </a:solidFill>
              </a:rPr>
              <a:t>price floors</a:t>
            </a:r>
            <a:r>
              <a:rPr lang="en-US" sz="2800" dirty="0"/>
              <a:t>. 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DCDE8-D88C-416B-90F0-F63B5615757D}" type="slidenum">
              <a:rPr lang="en-US" smtClean="0"/>
              <a:pPr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06444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28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23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823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823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823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F09A0E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3" presetClass="entr" presetSubtype="28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23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0823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0823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823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F09A0E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82375" grpId="0" build="p" autoUpdateAnimBg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4422" name="Rectangle 6"/>
          <p:cNvSpPr>
            <a:spLocks noGrp="1" noChangeArrowheads="1"/>
          </p:cNvSpPr>
          <p:nvPr>
            <p:ph type="title"/>
          </p:nvPr>
        </p:nvSpPr>
        <p:spPr>
          <a:xfrm>
            <a:off x="762000" y="533400"/>
            <a:ext cx="7772400" cy="1143000"/>
          </a:xfrm>
        </p:spPr>
        <p:txBody>
          <a:bodyPr>
            <a:normAutofit fontScale="90000"/>
          </a:bodyPr>
          <a:lstStyle/>
          <a:p>
            <a:pPr algn="ctr"/>
            <a:r>
              <a:rPr lang="en-US" sz="4000" b="1" dirty="0"/>
              <a:t>Price Ceilings &amp; Price Floors</a:t>
            </a:r>
            <a:endParaRPr lang="en-US" sz="4000" b="1" dirty="0">
              <a:effectLst>
                <a:outerShdw blurRad="38100" dist="38100" dir="2700000" algn="tl">
                  <a:srgbClr val="000000"/>
                </a:outerShdw>
              </a:effectLst>
              <a:latin typeface="Tahoma" pitchFamily="-109" charset="0"/>
            </a:endParaRPr>
          </a:p>
        </p:txBody>
      </p:sp>
      <p:sp>
        <p:nvSpPr>
          <p:cNvPr id="1084423" name="Rectangle 7"/>
          <p:cNvSpPr>
            <a:spLocks noGrp="1" noChangeArrowheads="1"/>
          </p:cNvSpPr>
          <p:nvPr>
            <p:ph idx="1"/>
          </p:nvPr>
        </p:nvSpPr>
        <p:spPr>
          <a:xfrm>
            <a:off x="76200" y="1905000"/>
            <a:ext cx="3581400" cy="4375150"/>
          </a:xfrm>
          <a:noFill/>
          <a:ln w="38100">
            <a:solidFill>
              <a:srgbClr val="474A81"/>
            </a:solidFill>
            <a:miter lim="800000"/>
            <a:headEnd/>
            <a:tailEnd/>
          </a:ln>
        </p:spPr>
        <p:txBody>
          <a:bodyPr>
            <a:normAutofit fontScale="92500" lnSpcReduction="20000"/>
          </a:bodyPr>
          <a:lstStyle/>
          <a:p>
            <a:pPr>
              <a:buFont typeface="Monotype Sorts" pitchFamily="-109" charset="2"/>
              <a:buNone/>
              <a:tabLst>
                <a:tab pos="796925" algn="l"/>
              </a:tabLst>
            </a:pPr>
            <a:r>
              <a:rPr lang="en-US" sz="3600" dirty="0">
                <a:solidFill>
                  <a:srgbClr val="B0001D"/>
                </a:solidFill>
              </a:rPr>
              <a:t>Price Ceiling</a:t>
            </a:r>
            <a:r>
              <a:rPr lang="en-US" dirty="0">
                <a:solidFill>
                  <a:srgbClr val="8901F3"/>
                </a:solidFill>
              </a:rPr>
              <a:t> </a:t>
            </a:r>
          </a:p>
          <a:p>
            <a:pPr>
              <a:buClr>
                <a:schemeClr val="bg2"/>
              </a:buClr>
              <a:buFont typeface="Monotype Sorts" pitchFamily="-109" charset="2"/>
              <a:buChar char="u"/>
              <a:tabLst>
                <a:tab pos="796925" algn="l"/>
              </a:tabLst>
            </a:pPr>
            <a:r>
              <a:rPr lang="en-US" sz="2800" dirty="0">
                <a:solidFill>
                  <a:srgbClr val="474A81"/>
                </a:solidFill>
              </a:rPr>
              <a:t>A legally established </a:t>
            </a:r>
            <a:r>
              <a:rPr lang="en-US" sz="2800" u="sng" dirty="0">
                <a:solidFill>
                  <a:srgbClr val="474A81"/>
                </a:solidFill>
              </a:rPr>
              <a:t>maximum</a:t>
            </a:r>
            <a:r>
              <a:rPr lang="en-US" sz="2800" dirty="0">
                <a:solidFill>
                  <a:srgbClr val="474A81"/>
                </a:solidFill>
              </a:rPr>
              <a:t> price at which a good can be sold.</a:t>
            </a:r>
            <a:r>
              <a:rPr lang="en-US" sz="2800" dirty="0"/>
              <a:t> 		</a:t>
            </a:r>
          </a:p>
          <a:p>
            <a:pPr>
              <a:buFont typeface="Monotype Sorts" pitchFamily="-109" charset="2"/>
              <a:buNone/>
              <a:tabLst>
                <a:tab pos="796925" algn="l"/>
              </a:tabLst>
            </a:pPr>
            <a:r>
              <a:rPr lang="en-US" sz="3600" dirty="0">
                <a:solidFill>
                  <a:srgbClr val="B0001D"/>
                </a:solidFill>
              </a:rPr>
              <a:t>Price Floor</a:t>
            </a:r>
            <a:endParaRPr lang="en-US" dirty="0">
              <a:solidFill>
                <a:srgbClr val="8901F3"/>
              </a:solidFill>
            </a:endParaRPr>
          </a:p>
          <a:p>
            <a:pPr>
              <a:buClr>
                <a:schemeClr val="bg2"/>
              </a:buClr>
              <a:buFont typeface="Monotype Sorts" pitchFamily="-109" charset="2"/>
              <a:buChar char="u"/>
              <a:tabLst>
                <a:tab pos="796925" algn="l"/>
              </a:tabLst>
            </a:pPr>
            <a:r>
              <a:rPr lang="en-US" sz="2800" dirty="0">
                <a:solidFill>
                  <a:srgbClr val="474A81"/>
                </a:solidFill>
              </a:rPr>
              <a:t>A legally established </a:t>
            </a:r>
            <a:r>
              <a:rPr lang="en-US" sz="2800" u="sng" dirty="0">
                <a:solidFill>
                  <a:srgbClr val="474A81"/>
                </a:solidFill>
              </a:rPr>
              <a:t>minimum</a:t>
            </a:r>
            <a:r>
              <a:rPr lang="en-US" sz="2800" dirty="0">
                <a:solidFill>
                  <a:srgbClr val="474A81"/>
                </a:solidFill>
              </a:rPr>
              <a:t> price at which a good can be sold.</a:t>
            </a:r>
            <a:r>
              <a:rPr lang="en-US" sz="2800" dirty="0"/>
              <a:t>		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DCDE8-D88C-416B-90F0-F63B5615757D}" type="slidenum">
              <a:rPr lang="en-US" smtClean="0"/>
              <a:pPr/>
              <a:t>38</a:t>
            </a:fld>
            <a:endParaRPr lang="en-US"/>
          </a:p>
        </p:txBody>
      </p:sp>
      <p:pic>
        <p:nvPicPr>
          <p:cNvPr id="5122" name="Picture 2" descr="http://www.personal.psu.edu/~dxl31/econ2/Spring_2006/pricefloor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6200" y="1905000"/>
            <a:ext cx="5091112" cy="4375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770775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44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844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844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0844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10844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844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F09A0E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44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0844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0844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0844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0844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844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F09A0E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44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0844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0844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0844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0844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844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F09A0E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44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0844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0844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0844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0844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844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F09A0E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84423" grpId="0" build="p" autoUpdateAnimBg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6470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4000" dirty="0">
                <a:solidFill>
                  <a:srgbClr val="7A0014"/>
                </a:solidFill>
              </a:rPr>
              <a:t>     </a:t>
            </a:r>
            <a:r>
              <a:rPr lang="en-US" sz="4000" b="1" dirty="0"/>
              <a:t>Price Ceilings</a:t>
            </a:r>
            <a:endParaRPr lang="en-US" sz="4000" b="1" dirty="0">
              <a:effectLst>
                <a:outerShdw blurRad="38100" dist="38100" dir="2700000" algn="tl">
                  <a:srgbClr val="000000"/>
                </a:outerShdw>
              </a:effectLst>
              <a:latin typeface="Tahoma" pitchFamily="-109" charset="0"/>
            </a:endParaRPr>
          </a:p>
        </p:txBody>
      </p:sp>
      <p:sp>
        <p:nvSpPr>
          <p:cNvPr id="1086471" name="Rectangle 7"/>
          <p:cNvSpPr>
            <a:spLocks noGrp="1" noChangeArrowheads="1"/>
          </p:cNvSpPr>
          <p:nvPr>
            <p:ph idx="1"/>
          </p:nvPr>
        </p:nvSpPr>
        <p:spPr>
          <a:xfrm>
            <a:off x="762000" y="1981200"/>
            <a:ext cx="7848600" cy="3733800"/>
          </a:xfrm>
          <a:noFill/>
        </p:spPr>
        <p:txBody>
          <a:bodyPr>
            <a:normAutofit fontScale="92500"/>
          </a:bodyPr>
          <a:lstStyle/>
          <a:p>
            <a:pPr>
              <a:buFont typeface="Monotype Sorts" pitchFamily="-109" charset="2"/>
              <a:buNone/>
              <a:tabLst>
                <a:tab pos="796925" algn="l"/>
              </a:tabLst>
            </a:pPr>
            <a:r>
              <a:rPr lang="en-US" sz="3600" u="sng" dirty="0">
                <a:solidFill>
                  <a:srgbClr val="474A81"/>
                </a:solidFill>
              </a:rPr>
              <a:t>Two outcomes</a:t>
            </a:r>
            <a:r>
              <a:rPr lang="en-US" sz="3600" dirty="0">
                <a:solidFill>
                  <a:srgbClr val="474A81"/>
                </a:solidFill>
              </a:rPr>
              <a:t> are possible when the government imposes a price ceiling:</a:t>
            </a:r>
          </a:p>
          <a:p>
            <a:pPr>
              <a:buFont typeface="Monotype Sorts" pitchFamily="-109" charset="2"/>
              <a:buNone/>
              <a:tabLst>
                <a:tab pos="796925" algn="l"/>
              </a:tabLst>
            </a:pPr>
            <a:endParaRPr lang="en-US" dirty="0"/>
          </a:p>
          <a:p>
            <a:pPr>
              <a:buFont typeface="Monotype Sorts" pitchFamily="-109" charset="2"/>
              <a:buNone/>
              <a:tabLst>
                <a:tab pos="796925" algn="l"/>
              </a:tabLst>
            </a:pPr>
            <a:r>
              <a:rPr lang="en-US" sz="2400" dirty="0">
                <a:solidFill>
                  <a:srgbClr val="F09A0E"/>
                </a:solidFill>
                <a:sym typeface="Monotype Sorts" pitchFamily="-109" charset="2"/>
              </a:rPr>
              <a:t>   </a:t>
            </a:r>
            <a:r>
              <a:rPr lang="en-US" sz="3000" dirty="0">
                <a:solidFill>
                  <a:schemeClr val="tx2"/>
                </a:solidFill>
              </a:rPr>
              <a:t> </a:t>
            </a:r>
            <a:r>
              <a:rPr lang="en-US" sz="2800" dirty="0">
                <a:solidFill>
                  <a:srgbClr val="474A81"/>
                </a:solidFill>
              </a:rPr>
              <a:t>The price ceiling </a:t>
            </a:r>
            <a:r>
              <a:rPr lang="en-US" sz="2800" i="1" u="sng" dirty="0">
                <a:solidFill>
                  <a:srgbClr val="B0001D"/>
                </a:solidFill>
              </a:rPr>
              <a:t>is not</a:t>
            </a:r>
            <a:r>
              <a:rPr lang="en-US" sz="2800" dirty="0">
                <a:solidFill>
                  <a:srgbClr val="B0001D"/>
                </a:solidFill>
              </a:rPr>
              <a:t> binding</a:t>
            </a:r>
            <a:r>
              <a:rPr lang="en-US" sz="2800" dirty="0">
                <a:solidFill>
                  <a:srgbClr val="474A81"/>
                </a:solidFill>
              </a:rPr>
              <a:t> if set </a:t>
            </a:r>
            <a:r>
              <a:rPr lang="en-US" sz="2800" i="1" u="sng" dirty="0">
                <a:solidFill>
                  <a:srgbClr val="B0001D"/>
                </a:solidFill>
              </a:rPr>
              <a:t>above</a:t>
            </a:r>
            <a:r>
              <a:rPr lang="en-US" sz="2800" dirty="0">
                <a:solidFill>
                  <a:srgbClr val="474A81"/>
                </a:solidFill>
              </a:rPr>
              <a:t> the equilibrium price.</a:t>
            </a:r>
            <a:r>
              <a:rPr lang="en-US" sz="2800" dirty="0">
                <a:solidFill>
                  <a:schemeClr val="accent2"/>
                </a:solidFill>
              </a:rPr>
              <a:t> </a:t>
            </a:r>
          </a:p>
          <a:p>
            <a:pPr>
              <a:buFont typeface="Monotype Sorts" pitchFamily="-109" charset="2"/>
              <a:buNone/>
              <a:tabLst>
                <a:tab pos="796925" algn="l"/>
              </a:tabLst>
            </a:pPr>
            <a:r>
              <a:rPr lang="en-US" sz="2800" dirty="0">
                <a:solidFill>
                  <a:srgbClr val="F09A0E"/>
                </a:solidFill>
                <a:sym typeface="Monotype Sorts" pitchFamily="-109" charset="2"/>
              </a:rPr>
              <a:t>   </a:t>
            </a:r>
            <a:r>
              <a:rPr lang="en-US" sz="2800" dirty="0">
                <a:solidFill>
                  <a:schemeClr val="tx2"/>
                </a:solidFill>
              </a:rPr>
              <a:t> </a:t>
            </a:r>
            <a:r>
              <a:rPr lang="en-US" sz="2800" dirty="0">
                <a:solidFill>
                  <a:srgbClr val="474A81"/>
                </a:solidFill>
              </a:rPr>
              <a:t>The price ceiling </a:t>
            </a:r>
            <a:r>
              <a:rPr lang="en-US" sz="2800" i="1" u="sng" dirty="0">
                <a:solidFill>
                  <a:srgbClr val="B0001D"/>
                </a:solidFill>
              </a:rPr>
              <a:t>is</a:t>
            </a:r>
            <a:r>
              <a:rPr lang="en-US" sz="2800" dirty="0">
                <a:solidFill>
                  <a:srgbClr val="B0001D"/>
                </a:solidFill>
              </a:rPr>
              <a:t> binding</a:t>
            </a:r>
            <a:r>
              <a:rPr lang="en-US" sz="2800" dirty="0">
                <a:solidFill>
                  <a:srgbClr val="474A81"/>
                </a:solidFill>
              </a:rPr>
              <a:t> if set </a:t>
            </a:r>
            <a:r>
              <a:rPr lang="en-US" sz="2800" i="1" u="sng" dirty="0">
                <a:solidFill>
                  <a:srgbClr val="B0001D"/>
                </a:solidFill>
              </a:rPr>
              <a:t>below</a:t>
            </a:r>
            <a:r>
              <a:rPr lang="en-US" sz="2800" dirty="0">
                <a:solidFill>
                  <a:srgbClr val="474A81"/>
                </a:solidFill>
              </a:rPr>
              <a:t> the equilibrium price, leading to a </a:t>
            </a:r>
            <a:r>
              <a:rPr lang="en-US" sz="2800" dirty="0">
                <a:solidFill>
                  <a:srgbClr val="474A8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shortage.</a:t>
            </a:r>
            <a:r>
              <a:rPr 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DCDE8-D88C-416B-90F0-F63B5615757D}" type="slidenum">
              <a:rPr lang="en-US" smtClean="0"/>
              <a:pPr/>
              <a:t>39</a:t>
            </a:fld>
            <a:endParaRPr lang="en-US"/>
          </a:p>
        </p:txBody>
      </p:sp>
      <p:sp>
        <p:nvSpPr>
          <p:cNvPr id="1086472" name="Rectangle 8"/>
          <p:cNvSpPr>
            <a:spLocks noChangeArrowheads="1"/>
          </p:cNvSpPr>
          <p:nvPr/>
        </p:nvSpPr>
        <p:spPr bwMode="auto">
          <a:xfrm>
            <a:off x="844826" y="3260976"/>
            <a:ext cx="7772400" cy="2209800"/>
          </a:xfrm>
          <a:prstGeom prst="rect">
            <a:avLst/>
          </a:prstGeom>
          <a:noFill/>
          <a:ln w="38100">
            <a:solidFill>
              <a:srgbClr val="474A8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2075" tIns="46038" rIns="92075" bIns="46038"/>
          <a:lstStyle/>
          <a:p>
            <a:pPr marL="342900" indent="-342900" algn="l">
              <a:spcBef>
                <a:spcPct val="20000"/>
              </a:spcBef>
              <a:buClr>
                <a:schemeClr val="hlink"/>
              </a:buClr>
              <a:buSzPct val="75000"/>
              <a:buFont typeface="Monotype Sorts" pitchFamily="-109" charset="2"/>
              <a:buNone/>
              <a:tabLst>
                <a:tab pos="796925" algn="l"/>
              </a:tabLst>
            </a:pPr>
            <a:r>
              <a:rPr lang="en-US" sz="2800" b="1"/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23339585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64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864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864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64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864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864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64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864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864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64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0864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0864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0864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0864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864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F09A0E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86471" grpId="0" build="p" autoUpdateAnimBg="0"/>
      <p:bldP spid="1086472" grpId="0" build="p" autoUpdateAnimBg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133600"/>
            <a:ext cx="8229600" cy="2697162"/>
          </a:xfrm>
        </p:spPr>
        <p:txBody>
          <a:bodyPr>
            <a:normAutofit/>
          </a:bodyPr>
          <a:lstStyle/>
          <a:p>
            <a:pPr algn="ctr"/>
            <a:r>
              <a:rPr lang="en-US" b="1" dirty="0"/>
              <a:t>Thank you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DCDE8-D88C-416B-90F0-F63B5615757D}" type="slidenum">
              <a:rPr lang="en-US" smtClean="0"/>
              <a:pPr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181712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KIP" val="SKIP"/>
  <p:tag name="RNROPT" val="Picture 15"/>
</p:tagLst>
</file>

<file path=ppt/theme/theme1.xml><?xml version="1.0" encoding="utf-8"?>
<a:theme xmlns:a="http://schemas.openxmlformats.org/drawingml/2006/main" name="Vapor Trail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E5224E"/>
      </a:accent1>
      <a:accent2>
        <a:srgbClr val="9D074E"/>
      </a:accent2>
      <a:accent3>
        <a:srgbClr val="7F2294"/>
      </a:accent3>
      <a:accent4>
        <a:srgbClr val="8D65EA"/>
      </a:accent4>
      <a:accent5>
        <a:srgbClr val="588FE2"/>
      </a:accent5>
      <a:accent6>
        <a:srgbClr val="127CA4"/>
      </a:accent6>
      <a:hlink>
        <a:srgbClr val="FB4AB6"/>
      </a:hlink>
      <a:folHlink>
        <a:srgbClr val="F98FE9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6DB8EB18-3657-4051-A897-2ED38832359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1157</TotalTime>
  <Words>1700</Words>
  <Application>Microsoft Office PowerPoint</Application>
  <PresentationFormat>On-screen Show (4:3)</PresentationFormat>
  <Paragraphs>599</Paragraphs>
  <Slides>40</Slides>
  <Notes>14</Notes>
  <HiddenSlides>0</HiddenSlides>
  <MMClips>0</MMClips>
  <ScaleCrop>false</ScaleCrop>
  <HeadingPairs>
    <vt:vector size="8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51" baseType="lpstr">
      <vt:lpstr>Arial</vt:lpstr>
      <vt:lpstr>Arial Unicode MS</vt:lpstr>
      <vt:lpstr>Calibri</vt:lpstr>
      <vt:lpstr>Century Gothic</vt:lpstr>
      <vt:lpstr>Monotype Sorts</vt:lpstr>
      <vt:lpstr>Tahoma</vt:lpstr>
      <vt:lpstr>Times New Roman</vt:lpstr>
      <vt:lpstr>Verdana</vt:lpstr>
      <vt:lpstr>Wingdings</vt:lpstr>
      <vt:lpstr>Vapor Trail</vt:lpstr>
      <vt:lpstr>Equation</vt:lpstr>
      <vt:lpstr> Fundamentals of Economics</vt:lpstr>
      <vt:lpstr>Lesson 04  Law of Supply</vt:lpstr>
      <vt:lpstr>SUPPLY</vt:lpstr>
      <vt:lpstr>Individual firm’s supply schedule and supply curve</vt:lpstr>
      <vt:lpstr>Market supply and individual supplies</vt:lpstr>
      <vt:lpstr>Market supply and individual supplies</vt:lpstr>
      <vt:lpstr>Supply determinants/ deciding factors</vt:lpstr>
      <vt:lpstr>Law of Supply</vt:lpstr>
      <vt:lpstr>Law of Supply— Explanation </vt:lpstr>
      <vt:lpstr>Supply Shift</vt:lpstr>
      <vt:lpstr>Shifts in the Supply Curve… </vt:lpstr>
      <vt:lpstr>Shifts in the Supply Curve:  What causes them?</vt:lpstr>
      <vt:lpstr>THE ELASTICITY OF SUPPLY</vt:lpstr>
      <vt:lpstr>The Price Elasticity of Supply</vt:lpstr>
      <vt:lpstr>The Price Elasticity of Supply</vt:lpstr>
      <vt:lpstr> The Price Elasticity of Supply</vt:lpstr>
      <vt:lpstr>The Price Elasticity of Supply</vt:lpstr>
      <vt:lpstr>The Price Elasticity of Supply</vt:lpstr>
      <vt:lpstr>Determinants of Elasticity of Supply</vt:lpstr>
      <vt:lpstr>PowerPoint Presentation</vt:lpstr>
      <vt:lpstr>Interaction of demand and supply</vt:lpstr>
      <vt:lpstr>Equilibrium </vt:lpstr>
      <vt:lpstr>SUPPLY AND DEMAND TOGETHER</vt:lpstr>
      <vt:lpstr>Equilibrium  of supply and demand</vt:lpstr>
      <vt:lpstr>Markets Not in Equilibrium</vt:lpstr>
      <vt:lpstr>Markets Not in Equilibrium</vt:lpstr>
      <vt:lpstr>Markets Not in Equilibrium</vt:lpstr>
      <vt:lpstr>Markets Not in Equilibrium</vt:lpstr>
      <vt:lpstr>Equilibrium</vt:lpstr>
      <vt:lpstr>Producer Surplus</vt:lpstr>
      <vt:lpstr>Consumer Surplus</vt:lpstr>
      <vt:lpstr>Consumer Surplus</vt:lpstr>
      <vt:lpstr>Producer Surplus</vt:lpstr>
      <vt:lpstr>Supply, Demand, and Government Policies</vt:lpstr>
      <vt:lpstr>Government Intervention in Markets</vt:lpstr>
      <vt:lpstr>Buffer Stocks </vt:lpstr>
      <vt:lpstr> Price Controls...</vt:lpstr>
      <vt:lpstr>Price Ceilings &amp; Price Floors</vt:lpstr>
      <vt:lpstr>     Price Ceilings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Economics</dc:title>
  <dc:creator>DELL</dc:creator>
  <cp:lastModifiedBy>Lahiru gunathilake</cp:lastModifiedBy>
  <cp:revision>60</cp:revision>
  <dcterms:created xsi:type="dcterms:W3CDTF">2006-08-16T00:00:00Z</dcterms:created>
  <dcterms:modified xsi:type="dcterms:W3CDTF">2023-01-26T06:38:59Z</dcterms:modified>
</cp:coreProperties>
</file>