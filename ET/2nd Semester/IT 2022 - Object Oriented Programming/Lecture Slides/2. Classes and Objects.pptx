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1" roundtripDataSignature="AMtx7mjrr8xusf3+/1H0jQ7dBEuKutoV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296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5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296" y="9721105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ctrTitle"/>
          </p:nvPr>
        </p:nvSpPr>
        <p:spPr>
          <a:xfrm>
            <a:off x="457200" y="2133600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Arial"/>
              <a:buNone/>
              <a:defRPr b="1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" type="subTitle"/>
          </p:nvPr>
        </p:nvSpPr>
        <p:spPr>
          <a:xfrm>
            <a:off x="1295400" y="3581400"/>
            <a:ext cx="6858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title"/>
          </p:nvPr>
        </p:nvSpPr>
        <p:spPr>
          <a:xfrm>
            <a:off x="152401" y="340659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rial"/>
              <a:buNone/>
              <a:defRPr b="1" sz="4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152400" y="16002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  <a:defRPr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Clr>
                <a:srgbClr val="205867"/>
              </a:buClr>
              <a:buSzPts val="2800"/>
              <a:buChar char="•"/>
              <a:defRPr sz="2800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algn="l">
              <a:spcBef>
                <a:spcPts val="560"/>
              </a:spcBef>
              <a:spcAft>
                <a:spcPts val="0"/>
              </a:spcAft>
              <a:buClr>
                <a:srgbClr val="974806"/>
              </a:buClr>
              <a:buSzPts val="2800"/>
              <a:buChar char="–"/>
              <a:defRPr sz="2800">
                <a:solidFill>
                  <a:srgbClr val="97480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»"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152400" y="6400800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1371600" y="6389781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685800" y="24384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0" type="dt"/>
          </p:nvPr>
        </p:nvSpPr>
        <p:spPr>
          <a:xfrm>
            <a:off x="152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1" type="ftr"/>
          </p:nvPr>
        </p:nvSpPr>
        <p:spPr>
          <a:xfrm>
            <a:off x="2362200" y="6324600"/>
            <a:ext cx="563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077200" y="632460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" type="body"/>
          </p:nvPr>
        </p:nvSpPr>
        <p:spPr>
          <a:xfrm rot="5400000">
            <a:off x="2309019" y="-556418"/>
            <a:ext cx="4525963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152400" y="16002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6"/>
          <p:cNvSpPr txBox="1"/>
          <p:nvPr/>
        </p:nvSpPr>
        <p:spPr>
          <a:xfrm rot="10800000">
            <a:off x="-13447" y="1"/>
            <a:ext cx="9144000" cy="457203"/>
          </a:xfrm>
          <a:prstGeom prst="rect">
            <a:avLst/>
          </a:prstGeom>
          <a:gradFill>
            <a:gsLst>
              <a:gs pos="0">
                <a:srgbClr val="000000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6"/>
          <p:cNvSpPr txBox="1"/>
          <p:nvPr/>
        </p:nvSpPr>
        <p:spPr>
          <a:xfrm>
            <a:off x="-13447" y="6315635"/>
            <a:ext cx="9144000" cy="555812"/>
          </a:xfrm>
          <a:prstGeom prst="rect">
            <a:avLst/>
          </a:prstGeom>
          <a:gradFill>
            <a:gsLst>
              <a:gs pos="0">
                <a:srgbClr val="000000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401537" y="3276600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C00000"/>
                </a:solidFill>
              </a:rPr>
              <a:t>Classes and Objects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609600" y="5029200"/>
            <a:ext cx="792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Sandali Goonatilleke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2400">
                <a:solidFill>
                  <a:srgbClr val="0070C0"/>
                </a:solidFill>
              </a:rPr>
              <a:t>Department of Computer Engineering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84263" y="2400300"/>
            <a:ext cx="8763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2022: Object Oriented Programming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people working on computers&#10;&#10;Description automatically generated with medium confidence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25" y="685800"/>
            <a:ext cx="2952750" cy="2011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7467600" y="609600"/>
            <a:ext cx="129772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8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381000" y="264710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Module Content</a:t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28600" y="1447800"/>
            <a:ext cx="8610600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 to Object-Oriented Programming in C++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Classes &amp; Objects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Constructors &amp; Destructors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Abstraction and Encapsulation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 b="0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pic>
        <p:nvPicPr>
          <p:cNvPr descr="Cutting Edge Most Up To Date Syllabus - Icon Clipart - Full Size Clipart  (#2188407) - PinClipart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386320" y="4419600"/>
            <a:ext cx="1524000" cy="16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152400" y="159146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Overview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28600" y="1447800"/>
            <a:ext cx="65532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4764162"/>
            <a:ext cx="1703938" cy="164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0" y="1266287"/>
            <a:ext cx="81534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69723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Define a class and use it to create an object</a:t>
            </a:r>
            <a:endParaRPr/>
          </a:p>
          <a:p>
            <a:pPr indent="-285750" lvl="0" marL="69723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Implement a class’s behaviors as member functions</a:t>
            </a:r>
            <a:endParaRPr/>
          </a:p>
          <a:p>
            <a:pPr indent="-285750" lvl="0" marL="69723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 a class’s attributes as data members</a:t>
            </a:r>
            <a:endParaRPr/>
          </a:p>
          <a:p>
            <a:pPr indent="-285750" lvl="0" marL="69723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Method to call a member function of an object to perform a task</a:t>
            </a:r>
            <a:endParaRPr/>
          </a:p>
          <a:p>
            <a:pPr indent="-285750" lvl="0" marL="69723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differences between data members of a class and local variables of a function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Classes and Objects</a:t>
            </a:r>
            <a:endParaRPr/>
          </a:p>
        </p:txBody>
      </p:sp>
      <p:sp>
        <p:nvSpPr>
          <p:cNvPr id="115" name="Google Shape;115;p4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199" y="1325018"/>
            <a:ext cx="4419600" cy="483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152399" y="90586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152399" y="135041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 u="sng"/>
              <a:t>class</a:t>
            </a:r>
            <a:r>
              <a:rPr lang="en-US"/>
              <a:t> combines the </a:t>
            </a:r>
            <a:r>
              <a:rPr b="1" lang="en-US">
                <a:solidFill>
                  <a:srgbClr val="E36C09"/>
                </a:solidFill>
              </a:rPr>
              <a:t>data</a:t>
            </a:r>
            <a:r>
              <a:rPr lang="en-US">
                <a:solidFill>
                  <a:srgbClr val="E36C09"/>
                </a:solidFill>
              </a:rPr>
              <a:t> </a:t>
            </a:r>
            <a:r>
              <a:rPr lang="en-US"/>
              <a:t>and its associated </a:t>
            </a:r>
            <a:r>
              <a:rPr b="1" lang="en-US">
                <a:solidFill>
                  <a:srgbClr val="E36C09"/>
                </a:solidFill>
              </a:rPr>
              <a:t>functions</a:t>
            </a:r>
            <a:r>
              <a:rPr lang="en-US"/>
              <a:t> together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It allows the data and functions to be hidden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Whenever if necessary, allow to use them externally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When designing a class, we are creating a new </a:t>
            </a:r>
            <a:r>
              <a:rPr b="1" lang="en-US">
                <a:solidFill>
                  <a:srgbClr val="E36C09"/>
                </a:solidFill>
              </a:rPr>
              <a:t>Abstract Data Type (ADT) </a:t>
            </a:r>
            <a:r>
              <a:rPr lang="en-US">
                <a:solidFill>
                  <a:srgbClr val="0070C0"/>
                </a:solidFill>
              </a:rPr>
              <a:t>that can be treated like any other built-in data type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24" name="Google Shape;124;p5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399" y="144722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Classes are user-defined types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Class </a:t>
            </a:r>
            <a:r>
              <a:rPr b="1" lang="en-US">
                <a:solidFill>
                  <a:srgbClr val="E36C09"/>
                </a:solidFill>
              </a:rPr>
              <a:t>specification</a:t>
            </a:r>
            <a:r>
              <a:rPr lang="en-US"/>
              <a:t> has two parts: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Class declaration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Class function definitions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Class declaration describe the </a:t>
            </a:r>
            <a:r>
              <a:rPr b="1" lang="en-US">
                <a:solidFill>
                  <a:srgbClr val="0070C0"/>
                </a:solidFill>
              </a:rPr>
              <a:t>type</a:t>
            </a:r>
            <a:r>
              <a:rPr lang="en-US">
                <a:solidFill>
                  <a:srgbClr val="0070C0"/>
                </a:solidFill>
              </a:rPr>
              <a:t> and </a:t>
            </a:r>
            <a:r>
              <a:rPr b="1" lang="en-US">
                <a:solidFill>
                  <a:srgbClr val="0070C0"/>
                </a:solidFill>
              </a:rPr>
              <a:t>scope</a:t>
            </a:r>
            <a:r>
              <a:rPr lang="en-US">
                <a:solidFill>
                  <a:srgbClr val="0070C0"/>
                </a:solidFill>
              </a:rPr>
              <a:t> of its members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2" name="Google Shape;132;p6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</a:t>
            </a:r>
            <a:endParaRPr/>
          </a:p>
        </p:txBody>
      </p:sp>
      <p:sp>
        <p:nvSpPr>
          <p:cNvPr id="139" name="Google Shape;139;p7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172719" y="1365658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/>
              <a:t>The general form of class declaration</a:t>
            </a:r>
            <a:endParaRPr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993" y="2133600"/>
            <a:ext cx="5204011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 class in C++ is defined using the </a:t>
            </a:r>
            <a:r>
              <a:rPr lang="en-US" u="sng"/>
              <a:t>keyword</a:t>
            </a:r>
            <a:r>
              <a:rPr lang="en-US"/>
              <a:t> </a:t>
            </a:r>
            <a:r>
              <a:rPr b="1" lang="en-US">
                <a:solidFill>
                  <a:srgbClr val="FF0000"/>
                </a:solidFill>
              </a:rPr>
              <a:t>“class” </a:t>
            </a:r>
            <a:r>
              <a:rPr lang="en-US"/>
              <a:t>followed by the name of the class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u="sng">
                <a:solidFill>
                  <a:srgbClr val="0070C0"/>
                </a:solidFill>
              </a:rPr>
              <a:t>Body of the class </a:t>
            </a:r>
            <a:r>
              <a:rPr lang="en-US">
                <a:solidFill>
                  <a:srgbClr val="0070C0"/>
                </a:solidFill>
              </a:rPr>
              <a:t>is defined inside the </a:t>
            </a:r>
            <a:r>
              <a:rPr lang="en-US">
                <a:solidFill>
                  <a:srgbClr val="00B050"/>
                </a:solidFill>
              </a:rPr>
              <a:t>curly brackets (braces)</a:t>
            </a:r>
            <a:r>
              <a:rPr lang="en-US">
                <a:solidFill>
                  <a:srgbClr val="0070C0"/>
                </a:solidFill>
              </a:rPr>
              <a:t> and terminated by a </a:t>
            </a:r>
            <a:r>
              <a:rPr b="1" lang="en-US">
                <a:solidFill>
                  <a:srgbClr val="00B050"/>
                </a:solidFill>
              </a:rPr>
              <a:t>semicolon</a:t>
            </a:r>
            <a:r>
              <a:rPr b="1" lang="en-US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at the end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3620" y="3657600"/>
            <a:ext cx="455676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Both </a:t>
            </a:r>
            <a:r>
              <a:rPr lang="en-US" u="sng">
                <a:solidFill>
                  <a:srgbClr val="0070C0"/>
                </a:solidFill>
              </a:rPr>
              <a:t>variables (data) </a:t>
            </a:r>
            <a:r>
              <a:rPr lang="en-US">
                <a:solidFill>
                  <a:srgbClr val="0070C0"/>
                </a:solidFill>
              </a:rPr>
              <a:t>and </a:t>
            </a:r>
            <a:r>
              <a:rPr lang="en-US" u="sng">
                <a:solidFill>
                  <a:srgbClr val="0070C0"/>
                </a:solidFill>
              </a:rPr>
              <a:t>functions</a:t>
            </a:r>
            <a:r>
              <a:rPr lang="en-US">
                <a:solidFill>
                  <a:srgbClr val="0070C0"/>
                </a:solidFill>
              </a:rPr>
              <a:t> declared in the class body are called </a:t>
            </a:r>
            <a:r>
              <a:rPr b="1" lang="en-US">
                <a:solidFill>
                  <a:srgbClr val="C00000"/>
                </a:solidFill>
              </a:rPr>
              <a:t>class members</a:t>
            </a:r>
            <a:endParaRPr>
              <a:solidFill>
                <a:srgbClr val="C0000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US">
                <a:solidFill>
                  <a:srgbClr val="002060"/>
                </a:solidFill>
              </a:rPr>
              <a:t>The variables are known as </a:t>
            </a:r>
            <a:r>
              <a:rPr b="1" lang="en-US">
                <a:solidFill>
                  <a:srgbClr val="002060"/>
                </a:solidFill>
              </a:rPr>
              <a:t>data members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US">
                <a:solidFill>
                  <a:srgbClr val="002060"/>
                </a:solidFill>
              </a:rPr>
              <a:t>The functions are known as </a:t>
            </a:r>
            <a:r>
              <a:rPr b="1" lang="en-US">
                <a:solidFill>
                  <a:srgbClr val="002060"/>
                </a:solidFill>
              </a:rPr>
              <a:t>member functions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58" name="Google Shape;158;p9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 – Example </a:t>
            </a:r>
            <a:endParaRPr/>
          </a:p>
        </p:txBody>
      </p:sp>
      <p:pic>
        <p:nvPicPr>
          <p:cNvPr id="165" name="Google Shape;16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267" y="1338013"/>
            <a:ext cx="7615465" cy="4925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67" name="Google Shape;167;p10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 - Example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We defined a class named </a:t>
            </a:r>
            <a:r>
              <a:rPr b="1" lang="en-US">
                <a:solidFill>
                  <a:srgbClr val="0070C0"/>
                </a:solidFill>
              </a:rPr>
              <a:t>“Room”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</a:t>
            </a:r>
            <a:r>
              <a:rPr lang="en-US" u="sng"/>
              <a:t>variables or data members </a:t>
            </a:r>
            <a:r>
              <a:rPr lang="en-US"/>
              <a:t>are </a:t>
            </a:r>
            <a:r>
              <a:rPr lang="en-US">
                <a:solidFill>
                  <a:srgbClr val="00B050"/>
                </a:solidFill>
              </a:rPr>
              <a:t>length, breadth </a:t>
            </a:r>
            <a:r>
              <a:rPr lang="en-US"/>
              <a:t>and </a:t>
            </a:r>
            <a:r>
              <a:rPr lang="en-US">
                <a:solidFill>
                  <a:srgbClr val="00B050"/>
                </a:solidFill>
              </a:rPr>
              <a:t>height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</a:t>
            </a:r>
            <a:r>
              <a:rPr lang="en-US" u="sng"/>
              <a:t>functions and member functions </a:t>
            </a:r>
            <a:r>
              <a:rPr lang="en-US"/>
              <a:t>are </a:t>
            </a:r>
            <a:r>
              <a:rPr lang="en-US">
                <a:solidFill>
                  <a:srgbClr val="00B050"/>
                </a:solidFill>
              </a:rPr>
              <a:t>calculateArea() </a:t>
            </a:r>
            <a:r>
              <a:rPr lang="en-US"/>
              <a:t>and </a:t>
            </a:r>
            <a:r>
              <a:rPr lang="en-US">
                <a:solidFill>
                  <a:srgbClr val="00B050"/>
                </a:solidFill>
              </a:rPr>
              <a:t>calculateVolume()</a:t>
            </a:r>
            <a:endParaRPr/>
          </a:p>
        </p:txBody>
      </p:sp>
      <p:sp>
        <p:nvSpPr>
          <p:cNvPr id="174" name="Google Shape;174;p11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75" name="Google Shape;175;p11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Access Specifiers</a:t>
            </a:r>
            <a:endParaRPr/>
          </a:p>
        </p:txBody>
      </p:sp>
      <p:sp>
        <p:nvSpPr>
          <p:cNvPr id="181" name="Google Shape;181;p12"/>
          <p:cNvSpPr txBox="1"/>
          <p:nvPr>
            <p:ph idx="1" type="body"/>
          </p:nvPr>
        </p:nvSpPr>
        <p:spPr>
          <a:xfrm>
            <a:off x="152399" y="134533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Access specifiers define how the members (variables and functions) of a class can be accessed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In C++, there are three access specifiers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E36C09"/>
              </a:buClr>
              <a:buSzPts val="2800"/>
              <a:buFont typeface="Arial"/>
              <a:buChar char="-"/>
            </a:pPr>
            <a:r>
              <a:rPr b="1" lang="en-US">
                <a:solidFill>
                  <a:srgbClr val="E36C09"/>
                </a:solidFill>
              </a:rPr>
              <a:t>public:</a:t>
            </a:r>
            <a:r>
              <a:rPr lang="en-US">
                <a:solidFill>
                  <a:srgbClr val="00B050"/>
                </a:solidFill>
              </a:rPr>
              <a:t> members are accessible from outside the class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E36C09"/>
              </a:buClr>
              <a:buSzPts val="2800"/>
              <a:buFont typeface="Arial"/>
              <a:buChar char="-"/>
            </a:pPr>
            <a:r>
              <a:rPr b="1" lang="en-US">
                <a:solidFill>
                  <a:srgbClr val="E36C09"/>
                </a:solidFill>
              </a:rPr>
              <a:t>private: </a:t>
            </a:r>
            <a:r>
              <a:rPr lang="en-US">
                <a:solidFill>
                  <a:srgbClr val="00B050"/>
                </a:solidFill>
              </a:rPr>
              <a:t>members can’t be accessed from outside the class and the </a:t>
            </a:r>
            <a:r>
              <a:rPr lang="en-US" u="sng">
                <a:solidFill>
                  <a:srgbClr val="00B050"/>
                </a:solidFill>
              </a:rPr>
              <a:t>members are private by default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E36C09"/>
              </a:buClr>
              <a:buSzPts val="2800"/>
              <a:buFont typeface="Arial"/>
              <a:buChar char="-"/>
            </a:pPr>
            <a:r>
              <a:rPr b="1" lang="en-US">
                <a:solidFill>
                  <a:srgbClr val="E36C09"/>
                </a:solidFill>
              </a:rPr>
              <a:t>protected: </a:t>
            </a:r>
            <a:r>
              <a:rPr lang="en-US">
                <a:solidFill>
                  <a:srgbClr val="00B050"/>
                </a:solidFill>
              </a:rPr>
              <a:t>members can’t be accessed from outside the class, however they can be accessed in inherited classes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82" name="Google Shape;182;p12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83" name="Google Shape;183;p12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Access Specifiers – Example </a:t>
            </a:r>
            <a:endParaRPr/>
          </a:p>
        </p:txBody>
      </p:sp>
      <p:sp>
        <p:nvSpPr>
          <p:cNvPr id="189" name="Google Shape;189;p13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468725"/>
            <a:ext cx="5943600" cy="481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Class Methods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>
                <a:solidFill>
                  <a:srgbClr val="C00000"/>
                </a:solidFill>
              </a:rPr>
              <a:t>Methods are </a:t>
            </a:r>
            <a:r>
              <a:rPr b="1" lang="en-US">
                <a:solidFill>
                  <a:srgbClr val="C00000"/>
                </a:solidFill>
              </a:rPr>
              <a:t>functions</a:t>
            </a:r>
            <a:r>
              <a:rPr lang="en-US">
                <a:solidFill>
                  <a:srgbClr val="C00000"/>
                </a:solidFill>
              </a:rPr>
              <a:t> that belongs to the class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There are two ways to define functions that belongs to a class: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/>
              <a:t>           </a:t>
            </a:r>
            <a:r>
              <a:rPr lang="en-US">
                <a:solidFill>
                  <a:srgbClr val="00B0F0"/>
                </a:solidFill>
              </a:rPr>
              <a:t>- Inside class definition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B0F0"/>
              </a:buClr>
              <a:buSzPts val="2800"/>
              <a:buNone/>
            </a:pPr>
            <a:r>
              <a:rPr lang="en-US">
                <a:solidFill>
                  <a:srgbClr val="00B0F0"/>
                </a:solidFill>
              </a:rPr>
              <a:t>           - Outside class definition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In both definitions should perform the same task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00B0F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8" name="Google Shape;198;p14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Inside Class Definition</a:t>
            </a:r>
            <a:endParaRPr/>
          </a:p>
        </p:txBody>
      </p:sp>
      <p:sp>
        <p:nvSpPr>
          <p:cNvPr id="205" name="Google Shape;205;p15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definitions of the function is appeared </a:t>
            </a:r>
            <a:r>
              <a:rPr b="1" lang="en-US">
                <a:solidFill>
                  <a:srgbClr val="FF0000"/>
                </a:solidFill>
              </a:rPr>
              <a:t>inside the body of the class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B0F0"/>
              </a:buClr>
              <a:buSzPts val="2800"/>
              <a:buChar char="–"/>
            </a:pPr>
            <a:r>
              <a:rPr lang="en-US">
                <a:solidFill>
                  <a:srgbClr val="00B0F0"/>
                </a:solidFill>
              </a:rPr>
              <a:t>It is treated as </a:t>
            </a:r>
            <a:r>
              <a:rPr b="1" lang="en-US">
                <a:solidFill>
                  <a:srgbClr val="00B0F0"/>
                </a:solidFill>
              </a:rPr>
              <a:t>inline</a:t>
            </a:r>
            <a:r>
              <a:rPr lang="en-US">
                <a:solidFill>
                  <a:srgbClr val="00B0F0"/>
                </a:solidFill>
              </a:rPr>
              <a:t> functions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Normally, only small functions are defined inside the class definition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Small inline functions have better efficiency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06" name="Google Shape;206;p15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07" name="Google Shape;207;p15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Inside Class Definition - Example</a:t>
            </a:r>
            <a:endParaRPr/>
          </a:p>
        </p:txBody>
      </p:sp>
      <p:sp>
        <p:nvSpPr>
          <p:cNvPr id="213" name="Google Shape;213;p16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5" name="Google Shape;2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62" y="2057400"/>
            <a:ext cx="8490857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Outside Class Definition</a:t>
            </a:r>
            <a:endParaRPr/>
          </a:p>
        </p:txBody>
      </p:sp>
      <p:sp>
        <p:nvSpPr>
          <p:cNvPr id="221" name="Google Shape;221;p17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First declare it inside the class and then define it outside of the class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This is done by specifying the </a:t>
            </a:r>
            <a:r>
              <a:rPr lang="en-US" u="sng">
                <a:solidFill>
                  <a:srgbClr val="0070C0"/>
                </a:solidFill>
              </a:rPr>
              <a:t>name of the class</a:t>
            </a:r>
            <a:r>
              <a:rPr lang="en-US">
                <a:solidFill>
                  <a:srgbClr val="0070C0"/>
                </a:solidFill>
              </a:rPr>
              <a:t>, followed the </a:t>
            </a:r>
            <a:r>
              <a:rPr lang="en-US" u="sng">
                <a:solidFill>
                  <a:srgbClr val="C00000"/>
                </a:solidFill>
              </a:rPr>
              <a:t>scope resolution :: operator</a:t>
            </a:r>
            <a:r>
              <a:rPr lang="en-US">
                <a:solidFill>
                  <a:srgbClr val="0070C0"/>
                </a:solidFill>
              </a:rPr>
              <a:t>, followed by the </a:t>
            </a:r>
            <a:r>
              <a:rPr lang="en-US" u="sng">
                <a:solidFill>
                  <a:srgbClr val="0070C0"/>
                </a:solidFill>
              </a:rPr>
              <a:t>name of the function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Outside Class Definition - Example</a:t>
            </a:r>
            <a:endParaRPr/>
          </a:p>
        </p:txBody>
      </p:sp>
      <p:sp>
        <p:nvSpPr>
          <p:cNvPr id="229" name="Google Shape;229;p18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30" name="Google Shape;230;p18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500" y="1741975"/>
            <a:ext cx="7752261" cy="3652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152399" y="20263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Objects</a:t>
            </a:r>
            <a:endParaRPr/>
          </a:p>
        </p:txBody>
      </p:sp>
      <p:sp>
        <p:nvSpPr>
          <p:cNvPr id="237" name="Google Shape;237;p19"/>
          <p:cNvSpPr txBox="1"/>
          <p:nvPr>
            <p:ph idx="1" type="body"/>
          </p:nvPr>
        </p:nvSpPr>
        <p:spPr>
          <a:xfrm>
            <a:off x="152399" y="1462468"/>
            <a:ext cx="88392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 class is a user defined type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An object is a variable of the class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To create an object of a class, </a:t>
            </a:r>
            <a:r>
              <a:rPr lang="en-US">
                <a:solidFill>
                  <a:srgbClr val="C00000"/>
                </a:solidFill>
              </a:rPr>
              <a:t>specify the class name, followed by the object name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To access the class attributes, use the dot syntax (.) in the object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38" name="Google Shape;238;p19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39" name="Google Shape;239;p19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Objects - Example</a:t>
            </a:r>
            <a:endParaRPr/>
          </a:p>
        </p:txBody>
      </p:sp>
      <p:sp>
        <p:nvSpPr>
          <p:cNvPr id="245" name="Google Shape;245;p20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46" name="Google Shape;246;p20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0"/>
          <p:cNvSpPr txBox="1"/>
          <p:nvPr>
            <p:ph idx="1" type="body"/>
          </p:nvPr>
        </p:nvSpPr>
        <p:spPr>
          <a:xfrm>
            <a:off x="152400" y="16002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Class name: MyClass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Object name: myObj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Variables/Attributes: myNum, myString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Functions: N/A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Objects - Example</a:t>
            </a:r>
            <a:endParaRPr/>
          </a:p>
        </p:txBody>
      </p:sp>
      <p:sp>
        <p:nvSpPr>
          <p:cNvPr id="253" name="Google Shape;253;p21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96" y="1828800"/>
            <a:ext cx="8199606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Objects - Example</a:t>
            </a:r>
            <a:endParaRPr/>
          </a:p>
        </p:txBody>
      </p:sp>
      <p:sp>
        <p:nvSpPr>
          <p:cNvPr id="261" name="Google Shape;261;p22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62" name="Google Shape;262;p22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728" y="2514600"/>
            <a:ext cx="8048542" cy="110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Objects - Example</a:t>
            </a:r>
            <a:endParaRPr/>
          </a:p>
        </p:txBody>
      </p:sp>
      <p:sp>
        <p:nvSpPr>
          <p:cNvPr id="269" name="Google Shape;269;p23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333" y="1752600"/>
            <a:ext cx="6639334" cy="393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type="title"/>
          </p:nvPr>
        </p:nvSpPr>
        <p:spPr>
          <a:xfrm>
            <a:off x="152399" y="243277"/>
            <a:ext cx="8839200" cy="1107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Exercise - Homework</a:t>
            </a:r>
            <a:endParaRPr/>
          </a:p>
        </p:txBody>
      </p:sp>
      <p:sp>
        <p:nvSpPr>
          <p:cNvPr id="277" name="Google Shape;277;p24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4"/>
          <p:cNvSpPr txBox="1"/>
          <p:nvPr>
            <p:ph idx="1" type="body"/>
          </p:nvPr>
        </p:nvSpPr>
        <p:spPr>
          <a:xfrm>
            <a:off x="162559" y="14478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Define a class to interchange the values of X and 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Member Variables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X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Member Functions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getData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setData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lang="en-US"/>
              <a:t>swapValues</a:t>
            </a:r>
            <a:endParaRPr/>
          </a:p>
        </p:txBody>
      </p:sp>
      <p:pic>
        <p:nvPicPr>
          <p:cNvPr descr="Library Books and Coffee Mug | Sharefaith Media"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643636"/>
            <a:ext cx="2400300" cy="146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idx="11" type="ftr"/>
          </p:nvPr>
        </p:nvSpPr>
        <p:spPr>
          <a:xfrm>
            <a:off x="304800" y="6405282"/>
            <a:ext cx="662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Sandali Goonatilleke (goonatillekemast@kdu.ac.lk)</a:t>
            </a:r>
            <a:endParaRPr/>
          </a:p>
        </p:txBody>
      </p:sp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8077200" y="6405282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2286000" y="2743200"/>
            <a:ext cx="5943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2011-11-30T17:12:26Z</dcterms:created>
  <dc:creator>Budditha</dc:creator>
</cp:coreProperties>
</file>