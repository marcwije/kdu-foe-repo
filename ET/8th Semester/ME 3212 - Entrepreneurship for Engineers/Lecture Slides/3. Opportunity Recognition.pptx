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35"/>
  </p:notesMasterIdLst>
  <p:sldIdLst>
    <p:sldId id="256" r:id="rId2"/>
    <p:sldId id="315" r:id="rId3"/>
    <p:sldId id="316" r:id="rId4"/>
    <p:sldId id="317" r:id="rId5"/>
    <p:sldId id="318" r:id="rId6"/>
    <p:sldId id="267" r:id="rId7"/>
    <p:sldId id="268" r:id="rId8"/>
    <p:sldId id="263" r:id="rId9"/>
    <p:sldId id="320" r:id="rId10"/>
    <p:sldId id="321" r:id="rId11"/>
    <p:sldId id="322" r:id="rId12"/>
    <p:sldId id="353" r:id="rId13"/>
    <p:sldId id="323" r:id="rId14"/>
    <p:sldId id="324" r:id="rId15"/>
    <p:sldId id="325" r:id="rId16"/>
    <p:sldId id="326" r:id="rId17"/>
    <p:sldId id="327" r:id="rId18"/>
    <p:sldId id="328" r:id="rId19"/>
    <p:sldId id="329" r:id="rId20"/>
    <p:sldId id="330" r:id="rId21"/>
    <p:sldId id="331" r:id="rId22"/>
    <p:sldId id="332" r:id="rId23"/>
    <p:sldId id="333" r:id="rId24"/>
    <p:sldId id="334" r:id="rId25"/>
    <p:sldId id="335" r:id="rId26"/>
    <p:sldId id="340" r:id="rId27"/>
    <p:sldId id="336" r:id="rId28"/>
    <p:sldId id="337" r:id="rId29"/>
    <p:sldId id="338" r:id="rId30"/>
    <p:sldId id="339" r:id="rId31"/>
    <p:sldId id="342" r:id="rId32"/>
    <p:sldId id="343" r:id="rId33"/>
    <p:sldId id="349"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978"/>
    <p:restoredTop sz="94640"/>
  </p:normalViewPr>
  <p:slideViewPr>
    <p:cSldViewPr snapToGrid="0">
      <p:cViewPr varScale="1">
        <p:scale>
          <a:sx n="116" d="100"/>
          <a:sy n="116" d="100"/>
        </p:scale>
        <p:origin x="77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8520C9-4CA8-435C-A6C9-D55C86F6285C}" type="datetimeFigureOut">
              <a:rPr lang="en-US" smtClean="0"/>
              <a:t>10/7/25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2938EB-AE07-48A4-BA28-BACBA74FCD97}" type="slidenum">
              <a:rPr lang="en-US" smtClean="0"/>
              <a:t>‹#›</a:t>
            </a:fld>
            <a:endParaRPr lang="en-US"/>
          </a:p>
        </p:txBody>
      </p:sp>
    </p:spTree>
    <p:extLst>
      <p:ext uri="{BB962C8B-B14F-4D97-AF65-F5344CB8AC3E}">
        <p14:creationId xmlns:p14="http://schemas.microsoft.com/office/powerpoint/2010/main" val="1864890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18000CD-6497-4677-A36D-146FA5583CE8}"/>
              </a:ext>
            </a:extLst>
          </p:cNvPr>
          <p:cNvSpPr>
            <a:spLocks noGrp="1" noChangeArrowheads="1"/>
          </p:cNvSpPr>
          <p:nvPr>
            <p:ph type="sldNum" sz="quarter" idx="5"/>
          </p:nvPr>
        </p:nvSpPr>
        <p:spPr>
          <a:ln/>
        </p:spPr>
        <p:txBody>
          <a:bodyPr/>
          <a:lstStyle/>
          <a:p>
            <a:fld id="{40BB0055-57E6-49AE-876E-08CAD7F0702E}" type="slidenum">
              <a:rPr lang="en-US" altLang="en-US"/>
              <a:pPr/>
              <a:t>6</a:t>
            </a:fld>
            <a:endParaRPr lang="en-US" altLang="en-US"/>
          </a:p>
        </p:txBody>
      </p:sp>
      <p:sp>
        <p:nvSpPr>
          <p:cNvPr id="29698" name="Rectangle 2">
            <a:extLst>
              <a:ext uri="{FF2B5EF4-FFF2-40B4-BE49-F238E27FC236}">
                <a16:creationId xmlns:a16="http://schemas.microsoft.com/office/drawing/2014/main" id="{7C410E1B-955B-44ED-AA7E-99BC48FACCDF}"/>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D4B189FA-4B62-4F58-90EC-A9FE582D847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B71E0F3-69DC-488F-BCBC-1F824D19F6E9}"/>
              </a:ext>
            </a:extLst>
          </p:cNvPr>
          <p:cNvSpPr>
            <a:spLocks noGrp="1" noChangeArrowheads="1"/>
          </p:cNvSpPr>
          <p:nvPr>
            <p:ph type="sldNum" sz="quarter" idx="5"/>
          </p:nvPr>
        </p:nvSpPr>
        <p:spPr>
          <a:ln/>
        </p:spPr>
        <p:txBody>
          <a:bodyPr/>
          <a:lstStyle/>
          <a:p>
            <a:fld id="{5C466AFC-72BA-4A82-906A-C0842F1FA435}" type="slidenum">
              <a:rPr lang="en-US" altLang="en-US"/>
              <a:pPr/>
              <a:t>7</a:t>
            </a:fld>
            <a:endParaRPr lang="en-US" altLang="en-US"/>
          </a:p>
        </p:txBody>
      </p:sp>
      <p:sp>
        <p:nvSpPr>
          <p:cNvPr id="31746" name="Rectangle 2">
            <a:extLst>
              <a:ext uri="{FF2B5EF4-FFF2-40B4-BE49-F238E27FC236}">
                <a16:creationId xmlns:a16="http://schemas.microsoft.com/office/drawing/2014/main" id="{17D2238A-EDC5-47E3-84A1-14984C3B289C}"/>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8ECEBE8F-97F5-47E4-A388-D44631932720}"/>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355561-779D-4BFA-B472-3006474B9753}" type="datetimeFigureOut">
              <a:rPr lang="en-US" smtClean="0"/>
              <a:t>10/7/25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F4B88F-174E-4E9C-8B92-8B55F6339D9F}" type="slidenum">
              <a:rPr lang="en-US" smtClean="0"/>
              <a:t>‹#›</a:t>
            </a:fld>
            <a:endParaRPr lang="en-US"/>
          </a:p>
        </p:txBody>
      </p:sp>
    </p:spTree>
    <p:extLst>
      <p:ext uri="{BB962C8B-B14F-4D97-AF65-F5344CB8AC3E}">
        <p14:creationId xmlns:p14="http://schemas.microsoft.com/office/powerpoint/2010/main" val="3742743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55561-779D-4BFA-B472-3006474B9753}" type="datetimeFigureOut">
              <a:rPr lang="en-US" smtClean="0"/>
              <a:t>10/7/25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F4B88F-174E-4E9C-8B92-8B55F6339D9F}" type="slidenum">
              <a:rPr lang="en-US" smtClean="0"/>
              <a:t>‹#›</a:t>
            </a:fld>
            <a:endParaRPr lang="en-US"/>
          </a:p>
        </p:txBody>
      </p:sp>
    </p:spTree>
    <p:extLst>
      <p:ext uri="{BB962C8B-B14F-4D97-AF65-F5344CB8AC3E}">
        <p14:creationId xmlns:p14="http://schemas.microsoft.com/office/powerpoint/2010/main" val="1258765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355561-779D-4BFA-B472-3006474B9753}" type="datetimeFigureOut">
              <a:rPr lang="en-US" smtClean="0"/>
              <a:t>10/7/25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F4B88F-174E-4E9C-8B92-8B55F6339D9F}" type="slidenum">
              <a:rPr lang="en-US" smtClean="0"/>
              <a:t>‹#›</a:t>
            </a:fld>
            <a:endParaRPr lang="en-US"/>
          </a:p>
        </p:txBody>
      </p:sp>
    </p:spTree>
    <p:extLst>
      <p:ext uri="{BB962C8B-B14F-4D97-AF65-F5344CB8AC3E}">
        <p14:creationId xmlns:p14="http://schemas.microsoft.com/office/powerpoint/2010/main" val="865077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355561-779D-4BFA-B472-3006474B9753}" type="datetimeFigureOut">
              <a:rPr lang="en-US" smtClean="0"/>
              <a:t>10/7/25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F4B88F-174E-4E9C-8B92-8B55F6339D9F}" type="slidenum">
              <a:rPr lang="en-US" smtClean="0"/>
              <a:t>‹#›</a:t>
            </a:fld>
            <a:endParaRPr lang="en-US"/>
          </a:p>
        </p:txBody>
      </p:sp>
    </p:spTree>
    <p:extLst>
      <p:ext uri="{BB962C8B-B14F-4D97-AF65-F5344CB8AC3E}">
        <p14:creationId xmlns:p14="http://schemas.microsoft.com/office/powerpoint/2010/main" val="3486913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355561-779D-4BFA-B472-3006474B9753}" type="datetimeFigureOut">
              <a:rPr lang="en-US" smtClean="0"/>
              <a:t>10/7/25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DF4B88F-174E-4E9C-8B92-8B55F6339D9F}" type="slidenum">
              <a:rPr lang="en-US" smtClean="0"/>
              <a:t>‹#›</a:t>
            </a:fld>
            <a:endParaRPr lang="en-US"/>
          </a:p>
        </p:txBody>
      </p:sp>
    </p:spTree>
    <p:extLst>
      <p:ext uri="{BB962C8B-B14F-4D97-AF65-F5344CB8AC3E}">
        <p14:creationId xmlns:p14="http://schemas.microsoft.com/office/powerpoint/2010/main" val="417135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355561-779D-4BFA-B472-3006474B9753}" type="datetimeFigureOut">
              <a:rPr lang="en-US" smtClean="0"/>
              <a:t>10/7/25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F4B88F-174E-4E9C-8B92-8B55F6339D9F}" type="slidenum">
              <a:rPr lang="en-US" smtClean="0"/>
              <a:t>‹#›</a:t>
            </a:fld>
            <a:endParaRPr lang="en-US"/>
          </a:p>
        </p:txBody>
      </p:sp>
    </p:spTree>
    <p:extLst>
      <p:ext uri="{BB962C8B-B14F-4D97-AF65-F5344CB8AC3E}">
        <p14:creationId xmlns:p14="http://schemas.microsoft.com/office/powerpoint/2010/main" val="4200091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14355561-779D-4BFA-B472-3006474B9753}" type="datetimeFigureOut">
              <a:rPr lang="en-US" smtClean="0"/>
              <a:t>10/7/25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DF4B88F-174E-4E9C-8B92-8B55F6339D9F}" type="slidenum">
              <a:rPr lang="en-US" smtClean="0"/>
              <a:t>‹#›</a:t>
            </a:fld>
            <a:endParaRPr lang="en-US"/>
          </a:p>
        </p:txBody>
      </p:sp>
    </p:spTree>
    <p:extLst>
      <p:ext uri="{BB962C8B-B14F-4D97-AF65-F5344CB8AC3E}">
        <p14:creationId xmlns:p14="http://schemas.microsoft.com/office/powerpoint/2010/main" val="3824185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355561-779D-4BFA-B472-3006474B9753}" type="datetimeFigureOut">
              <a:rPr lang="en-US" smtClean="0"/>
              <a:t>10/7/25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F4B88F-174E-4E9C-8B92-8B55F6339D9F}" type="slidenum">
              <a:rPr lang="en-US" smtClean="0"/>
              <a:t>‹#›</a:t>
            </a:fld>
            <a:endParaRPr lang="en-US"/>
          </a:p>
        </p:txBody>
      </p:sp>
    </p:spTree>
    <p:extLst>
      <p:ext uri="{BB962C8B-B14F-4D97-AF65-F5344CB8AC3E}">
        <p14:creationId xmlns:p14="http://schemas.microsoft.com/office/powerpoint/2010/main" val="69879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355561-779D-4BFA-B472-3006474B9753}" type="datetimeFigureOut">
              <a:rPr lang="en-US" smtClean="0"/>
              <a:t>10/7/25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F4B88F-174E-4E9C-8B92-8B55F6339D9F}" type="slidenum">
              <a:rPr lang="en-US" smtClean="0"/>
              <a:t>‹#›</a:t>
            </a:fld>
            <a:endParaRPr lang="en-US"/>
          </a:p>
        </p:txBody>
      </p:sp>
    </p:spTree>
    <p:extLst>
      <p:ext uri="{BB962C8B-B14F-4D97-AF65-F5344CB8AC3E}">
        <p14:creationId xmlns:p14="http://schemas.microsoft.com/office/powerpoint/2010/main" val="1516852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355561-779D-4BFA-B472-3006474B9753}" type="datetimeFigureOut">
              <a:rPr lang="en-US" smtClean="0"/>
              <a:t>10/7/25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F4B88F-174E-4E9C-8B92-8B55F6339D9F}" type="slidenum">
              <a:rPr lang="en-US" smtClean="0"/>
              <a:t>‹#›</a:t>
            </a:fld>
            <a:endParaRPr lang="en-US"/>
          </a:p>
        </p:txBody>
      </p:sp>
    </p:spTree>
    <p:extLst>
      <p:ext uri="{BB962C8B-B14F-4D97-AF65-F5344CB8AC3E}">
        <p14:creationId xmlns:p14="http://schemas.microsoft.com/office/powerpoint/2010/main" val="1145918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355561-779D-4BFA-B472-3006474B9753}" type="datetimeFigureOut">
              <a:rPr lang="en-US" smtClean="0"/>
              <a:t>10/7/25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F4B88F-174E-4E9C-8B92-8B55F6339D9F}" type="slidenum">
              <a:rPr lang="en-US" smtClean="0"/>
              <a:t>‹#›</a:t>
            </a:fld>
            <a:endParaRPr lang="en-US"/>
          </a:p>
        </p:txBody>
      </p:sp>
    </p:spTree>
    <p:extLst>
      <p:ext uri="{BB962C8B-B14F-4D97-AF65-F5344CB8AC3E}">
        <p14:creationId xmlns:p14="http://schemas.microsoft.com/office/powerpoint/2010/main" val="15177565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355561-779D-4BFA-B472-3006474B9753}" type="datetimeFigureOut">
              <a:rPr lang="en-US" smtClean="0"/>
              <a:t>10/7/25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F4B88F-174E-4E9C-8B92-8B55F6339D9F}"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864616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355561-779D-4BFA-B472-3006474B9753}" type="datetimeFigureOut">
              <a:rPr lang="en-US" smtClean="0"/>
              <a:t>10/7/25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F4B88F-174E-4E9C-8B92-8B55F6339D9F}" type="slidenum">
              <a:rPr lang="en-US" smtClean="0"/>
              <a:t>‹#›</a:t>
            </a:fld>
            <a:endParaRPr lang="en-US"/>
          </a:p>
        </p:txBody>
      </p:sp>
    </p:spTree>
    <p:extLst>
      <p:ext uri="{BB962C8B-B14F-4D97-AF65-F5344CB8AC3E}">
        <p14:creationId xmlns:p14="http://schemas.microsoft.com/office/powerpoint/2010/main" val="31459220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4355561-779D-4BFA-B472-3006474B9753}" type="datetimeFigureOut">
              <a:rPr lang="en-US" smtClean="0"/>
              <a:t>10/7/25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F4B88F-174E-4E9C-8B92-8B55F6339D9F}" type="slidenum">
              <a:rPr lang="en-US" smtClean="0"/>
              <a:t>‹#›</a:t>
            </a:fld>
            <a:endParaRPr lang="en-US"/>
          </a:p>
        </p:txBody>
      </p:sp>
    </p:spTree>
    <p:extLst>
      <p:ext uri="{BB962C8B-B14F-4D97-AF65-F5344CB8AC3E}">
        <p14:creationId xmlns:p14="http://schemas.microsoft.com/office/powerpoint/2010/main" val="132723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4355561-779D-4BFA-B472-3006474B9753}" type="datetimeFigureOut">
              <a:rPr lang="en-US" smtClean="0"/>
              <a:t>10/7/25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F4B88F-174E-4E9C-8B92-8B55F6339D9F}" type="slidenum">
              <a:rPr lang="en-US" smtClean="0"/>
              <a:t>‹#›</a:t>
            </a:fld>
            <a:endParaRPr lang="en-US"/>
          </a:p>
        </p:txBody>
      </p:sp>
    </p:spTree>
    <p:extLst>
      <p:ext uri="{BB962C8B-B14F-4D97-AF65-F5344CB8AC3E}">
        <p14:creationId xmlns:p14="http://schemas.microsoft.com/office/powerpoint/2010/main" val="31274856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55561-779D-4BFA-B472-3006474B9753}" type="datetimeFigureOut">
              <a:rPr lang="en-US" smtClean="0"/>
              <a:t>10/7/25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F4B88F-174E-4E9C-8B92-8B55F6339D9F}" type="slidenum">
              <a:rPr lang="en-US" smtClean="0"/>
              <a:t>‹#›</a:t>
            </a:fld>
            <a:endParaRPr lang="en-US"/>
          </a:p>
        </p:txBody>
      </p:sp>
    </p:spTree>
    <p:extLst>
      <p:ext uri="{BB962C8B-B14F-4D97-AF65-F5344CB8AC3E}">
        <p14:creationId xmlns:p14="http://schemas.microsoft.com/office/powerpoint/2010/main" val="42322574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55561-779D-4BFA-B472-3006474B9753}" type="datetimeFigureOut">
              <a:rPr lang="en-US" smtClean="0"/>
              <a:t>10/7/25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F4B88F-174E-4E9C-8B92-8B55F6339D9F}" type="slidenum">
              <a:rPr lang="en-US" smtClean="0"/>
              <a:t>‹#›</a:t>
            </a:fld>
            <a:endParaRPr lang="en-US"/>
          </a:p>
        </p:txBody>
      </p:sp>
    </p:spTree>
    <p:extLst>
      <p:ext uri="{BB962C8B-B14F-4D97-AF65-F5344CB8AC3E}">
        <p14:creationId xmlns:p14="http://schemas.microsoft.com/office/powerpoint/2010/main" val="21643293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56919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14355561-779D-4BFA-B472-3006474B9753}" type="datetimeFigureOut">
              <a:rPr lang="en-US" smtClean="0"/>
              <a:t>10/7/25</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EDF4B88F-174E-4E9C-8B92-8B55F6339D9F}" type="slidenum">
              <a:rPr lang="en-US" smtClean="0"/>
              <a:t>‹#›</a:t>
            </a:fld>
            <a:endParaRPr lang="en-US"/>
          </a:p>
        </p:txBody>
      </p:sp>
    </p:spTree>
    <p:extLst>
      <p:ext uri="{BB962C8B-B14F-4D97-AF65-F5344CB8AC3E}">
        <p14:creationId xmlns:p14="http://schemas.microsoft.com/office/powerpoint/2010/main" val="2662819032"/>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FC437-B5A1-C734-2F0C-4ECCD5121E3F}"/>
              </a:ext>
            </a:extLst>
          </p:cNvPr>
          <p:cNvSpPr>
            <a:spLocks noGrp="1"/>
          </p:cNvSpPr>
          <p:nvPr>
            <p:ph type="ctrTitle"/>
          </p:nvPr>
        </p:nvSpPr>
        <p:spPr/>
        <p:txBody>
          <a:bodyPr>
            <a:normAutofit fontScale="90000"/>
          </a:bodyPr>
          <a:lstStyle/>
          <a:p>
            <a:r>
              <a:rPr lang="en-US" altLang="en-US" b="1" dirty="0">
                <a:latin typeface="Times New Roman" panose="02020603050405020304" pitchFamily="18" charset="0"/>
              </a:rPr>
              <a:t>Recognizing Opportunities and Generating Ideas</a:t>
            </a:r>
            <a:br>
              <a:rPr lang="en-US" altLang="en-US" b="1" dirty="0">
                <a:latin typeface="Times New Roman" panose="02020603050405020304" pitchFamily="18" charset="0"/>
              </a:rPr>
            </a:br>
            <a:endParaRPr lang="en-US" dirty="0"/>
          </a:p>
        </p:txBody>
      </p:sp>
      <p:sp>
        <p:nvSpPr>
          <p:cNvPr id="3" name="Subtitle 2">
            <a:extLst>
              <a:ext uri="{FF2B5EF4-FFF2-40B4-BE49-F238E27FC236}">
                <a16:creationId xmlns:a16="http://schemas.microsoft.com/office/drawing/2014/main" id="{1D25D0DD-3D85-DFDD-E6EB-72493004013F}"/>
              </a:ext>
            </a:extLst>
          </p:cNvPr>
          <p:cNvSpPr>
            <a:spLocks noGrp="1"/>
          </p:cNvSpPr>
          <p:nvPr>
            <p:ph type="subTitle" idx="1"/>
          </p:nvPr>
        </p:nvSpPr>
        <p:spPr/>
        <p:txBody>
          <a:bodyPr/>
          <a:lstStyle/>
          <a:p>
            <a:r>
              <a:rPr lang="en-US" sz="2400" dirty="0">
                <a:latin typeface="Arial" panose="020B0604020202020204" pitchFamily="34" charset="0"/>
              </a:rPr>
              <a:t>Session 02</a:t>
            </a:r>
          </a:p>
          <a:p>
            <a:r>
              <a:rPr lang="en-US" sz="2400" dirty="0">
                <a:latin typeface="Arial" panose="020B0604020202020204" pitchFamily="34" charset="0"/>
              </a:rPr>
              <a:t>Dr Kalpana </a:t>
            </a:r>
            <a:r>
              <a:rPr lang="en-US" sz="2400" dirty="0" err="1">
                <a:latin typeface="Arial" panose="020B0604020202020204" pitchFamily="34" charset="0"/>
              </a:rPr>
              <a:t>ambepitiya</a:t>
            </a:r>
            <a:endParaRPr lang="en-US" dirty="0"/>
          </a:p>
        </p:txBody>
      </p:sp>
    </p:spTree>
    <p:extLst>
      <p:ext uri="{BB962C8B-B14F-4D97-AF65-F5344CB8AC3E}">
        <p14:creationId xmlns:p14="http://schemas.microsoft.com/office/powerpoint/2010/main" val="3611161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a:t>2-</a:t>
            </a:r>
            <a:fld id="{FD64D4B5-6BAA-4585-90B8-99A368FC557D}" type="slidenum">
              <a:rPr lang="en-US" altLang="en-US" sz="1400"/>
              <a:pPr>
                <a:spcBef>
                  <a:spcPct val="0"/>
                </a:spcBef>
                <a:buFontTx/>
                <a:buNone/>
              </a:pPr>
              <a:t>2</a:t>
            </a:fld>
            <a:endParaRPr lang="en-US" altLang="en-US" sz="1400"/>
          </a:p>
        </p:txBody>
      </p:sp>
      <p:sp>
        <p:nvSpPr>
          <p:cNvPr id="16386" name="Rectangle 2"/>
          <p:cNvSpPr>
            <a:spLocks noGrp="1" noChangeArrowheads="1"/>
          </p:cNvSpPr>
          <p:nvPr>
            <p:ph type="title"/>
          </p:nvPr>
        </p:nvSpPr>
        <p:spPr>
          <a:xfrm>
            <a:off x="1981200" y="76200"/>
            <a:ext cx="8229600" cy="1143000"/>
          </a:xfrm>
        </p:spPr>
        <p:txBody>
          <a:bodyPr/>
          <a:lstStyle/>
          <a:p>
            <a:pPr eaLnBrk="1" hangingPunct="1"/>
            <a:r>
              <a:rPr lang="en-US" altLang="en-US" dirty="0">
                <a:latin typeface="Times New Roman" panose="02020603050405020304" pitchFamily="18" charset="0"/>
              </a:rPr>
              <a:t>Lesson Objectives</a:t>
            </a:r>
            <a:br>
              <a:rPr lang="en-US" altLang="en-US" dirty="0">
                <a:latin typeface="Times New Roman" panose="02020603050405020304" pitchFamily="18" charset="0"/>
              </a:rPr>
            </a:br>
            <a:endParaRPr lang="en-US" altLang="en-US" sz="2000" dirty="0">
              <a:latin typeface="Times New Roman" panose="02020603050405020304" pitchFamily="18" charset="0"/>
            </a:endParaRPr>
          </a:p>
        </p:txBody>
      </p:sp>
      <p:sp>
        <p:nvSpPr>
          <p:cNvPr id="16387" name="Rectangle 3"/>
          <p:cNvSpPr>
            <a:spLocks noGrp="1" noChangeArrowheads="1"/>
          </p:cNvSpPr>
          <p:nvPr>
            <p:ph type="body" idx="1"/>
          </p:nvPr>
        </p:nvSpPr>
        <p:spPr>
          <a:xfrm>
            <a:off x="1905000" y="1219201"/>
            <a:ext cx="8382000" cy="4525963"/>
          </a:xfrm>
        </p:spPr>
        <p:txBody>
          <a:bodyPr>
            <a:normAutofit fontScale="85000" lnSpcReduction="10000"/>
          </a:bodyPr>
          <a:lstStyle/>
          <a:p>
            <a:pPr marL="609600" indent="-609600">
              <a:buFontTx/>
              <a:buAutoNum type="arabicPeriod"/>
            </a:pPr>
            <a:r>
              <a:rPr lang="en-US" altLang="en-US" sz="2800" cap="none" dirty="0">
                <a:latin typeface="Times New Roman" panose="02020603050405020304" pitchFamily="18" charset="0"/>
              </a:rPr>
              <a:t>Explain why it’s important to start a new firm when its “window of opportunity” is open.</a:t>
            </a:r>
          </a:p>
          <a:p>
            <a:pPr marL="609600" indent="-609600">
              <a:buFontTx/>
              <a:buAutoNum type="arabicPeriod"/>
            </a:pPr>
            <a:r>
              <a:rPr lang="en-US" altLang="en-US" sz="2800" cap="none" dirty="0">
                <a:latin typeface="Times New Roman" panose="02020603050405020304" pitchFamily="18" charset="0"/>
              </a:rPr>
              <a:t>Explain the difference between an opportunity and an idea.</a:t>
            </a:r>
          </a:p>
          <a:p>
            <a:pPr marL="609600" indent="-609600">
              <a:buFontTx/>
              <a:buAutoNum type="arabicPeriod"/>
            </a:pPr>
            <a:r>
              <a:rPr lang="en-US" altLang="en-US" sz="2800" cap="none" dirty="0">
                <a:latin typeface="Times New Roman" panose="02020603050405020304" pitchFamily="18" charset="0"/>
              </a:rPr>
              <a:t>Describe the three general approaches entrepreneurs use to identify opportunities.</a:t>
            </a:r>
          </a:p>
          <a:p>
            <a:pPr marL="609600" indent="-609600">
              <a:buFontTx/>
              <a:buAutoNum type="arabicPeriod"/>
            </a:pPr>
            <a:r>
              <a:rPr lang="en-US" altLang="en-US" sz="2800" cap="none" dirty="0">
                <a:latin typeface="Times New Roman" panose="02020603050405020304" pitchFamily="18" charset="0"/>
              </a:rPr>
              <a:t>Identify the four environmental trends that are most instrumental in creating business opportunities. </a:t>
            </a:r>
          </a:p>
          <a:p>
            <a:pPr marL="609600" indent="-609600">
              <a:buFontTx/>
              <a:buAutoNum type="arabicPeriod"/>
            </a:pPr>
            <a:r>
              <a:rPr lang="en-US" altLang="en-US" sz="2800" cap="none" dirty="0">
                <a:latin typeface="Times New Roman" panose="02020603050405020304" pitchFamily="18" charset="0"/>
              </a:rPr>
              <a:t>List the personal characteristics that make some people better at recognizing business opportunities than others.</a:t>
            </a:r>
          </a:p>
        </p:txBody>
      </p:sp>
      <p:sp>
        <p:nvSpPr>
          <p:cNvPr id="16388" name="Line 4"/>
          <p:cNvSpPr>
            <a:spLocks noChangeShapeType="1"/>
          </p:cNvSpPr>
          <p:nvPr/>
        </p:nvSpPr>
        <p:spPr bwMode="auto">
          <a:xfrm>
            <a:off x="1524000" y="11430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677409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a:t>2-</a:t>
            </a:r>
            <a:fld id="{E13E4927-64A5-4AD5-9548-8E21D7342F1A}" type="slidenum">
              <a:rPr lang="en-US" altLang="en-US" sz="1400"/>
              <a:pPr>
                <a:spcBef>
                  <a:spcPct val="0"/>
                </a:spcBef>
                <a:buFontTx/>
                <a:buNone/>
              </a:pPr>
              <a:t>3</a:t>
            </a:fld>
            <a:endParaRPr lang="en-US" altLang="en-US" sz="1400"/>
          </a:p>
        </p:txBody>
      </p:sp>
      <p:sp>
        <p:nvSpPr>
          <p:cNvPr id="17410" name="Rectangle 2"/>
          <p:cNvSpPr>
            <a:spLocks noGrp="1" noChangeArrowheads="1"/>
          </p:cNvSpPr>
          <p:nvPr>
            <p:ph type="title"/>
          </p:nvPr>
        </p:nvSpPr>
        <p:spPr>
          <a:xfrm>
            <a:off x="1981200" y="152400"/>
            <a:ext cx="8229600" cy="1143000"/>
          </a:xfrm>
        </p:spPr>
        <p:txBody>
          <a:bodyPr/>
          <a:lstStyle/>
          <a:p>
            <a:pPr eaLnBrk="1" hangingPunct="1"/>
            <a:r>
              <a:rPr lang="en-US" altLang="en-US" dirty="0">
                <a:latin typeface="Times New Roman" panose="02020603050405020304" pitchFamily="18" charset="0"/>
              </a:rPr>
              <a:t>Lesson Objectives</a:t>
            </a:r>
            <a:br>
              <a:rPr lang="en-US" altLang="en-US" dirty="0">
                <a:latin typeface="Times New Roman" panose="02020603050405020304" pitchFamily="18" charset="0"/>
              </a:rPr>
            </a:br>
            <a:endParaRPr lang="en-US" altLang="en-US" sz="2000" dirty="0">
              <a:latin typeface="Times New Roman" panose="02020603050405020304" pitchFamily="18" charset="0"/>
            </a:endParaRPr>
          </a:p>
        </p:txBody>
      </p:sp>
      <p:sp>
        <p:nvSpPr>
          <p:cNvPr id="17411" name="Rectangle 3"/>
          <p:cNvSpPr>
            <a:spLocks noGrp="1" noChangeArrowheads="1"/>
          </p:cNvSpPr>
          <p:nvPr>
            <p:ph type="body" idx="1"/>
          </p:nvPr>
        </p:nvSpPr>
        <p:spPr>
          <a:xfrm>
            <a:off x="913774" y="1915383"/>
            <a:ext cx="10364452" cy="3424107"/>
          </a:xfrm>
        </p:spPr>
        <p:txBody>
          <a:bodyPr>
            <a:normAutofit fontScale="92500"/>
          </a:bodyPr>
          <a:lstStyle/>
          <a:p>
            <a:pPr marL="609600" indent="-609600">
              <a:buFontTx/>
              <a:buAutoNum type="arabicPeriod" startAt="6"/>
            </a:pPr>
            <a:r>
              <a:rPr lang="en-US" altLang="en-US" sz="2800" cap="none" dirty="0">
                <a:latin typeface="Times New Roman" panose="02020603050405020304" pitchFamily="18" charset="0"/>
              </a:rPr>
              <a:t>Identify the five steps in the creative process.</a:t>
            </a:r>
          </a:p>
          <a:p>
            <a:pPr marL="609600" indent="-609600">
              <a:buFontTx/>
              <a:buAutoNum type="arabicPeriod" startAt="6"/>
            </a:pPr>
            <a:r>
              <a:rPr lang="en-US" altLang="en-US" sz="2800" cap="none" dirty="0">
                <a:latin typeface="Times New Roman" panose="02020603050405020304" pitchFamily="18" charset="0"/>
              </a:rPr>
              <a:t>Describe the purpose of brainstorming and its use as an idea generator.</a:t>
            </a:r>
          </a:p>
          <a:p>
            <a:pPr marL="609600" indent="-609600">
              <a:buFontTx/>
              <a:buAutoNum type="arabicPeriod" startAt="6"/>
            </a:pPr>
            <a:r>
              <a:rPr lang="en-US" altLang="en-US" sz="2800" cap="none" dirty="0">
                <a:latin typeface="Times New Roman" panose="02020603050405020304" pitchFamily="18" charset="0"/>
              </a:rPr>
              <a:t>Describe how to use library and internet research to generate new business ideas.</a:t>
            </a:r>
          </a:p>
          <a:p>
            <a:pPr marL="609600" indent="-609600">
              <a:buFontTx/>
              <a:buAutoNum type="arabicPeriod" startAt="6"/>
            </a:pPr>
            <a:r>
              <a:rPr lang="en-US" altLang="en-US" sz="2800" cap="none" dirty="0">
                <a:latin typeface="Times New Roman" panose="02020603050405020304" pitchFamily="18" charset="0"/>
              </a:rPr>
              <a:t>Explain the purpose of maintaining an idea bank.</a:t>
            </a:r>
          </a:p>
          <a:p>
            <a:pPr marL="609600" indent="-609600">
              <a:buFontTx/>
              <a:buAutoNum type="arabicPeriod" startAt="6"/>
            </a:pPr>
            <a:r>
              <a:rPr lang="en-US" altLang="en-US" sz="2800" cap="none" dirty="0">
                <a:latin typeface="Times New Roman" panose="02020603050405020304" pitchFamily="18" charset="0"/>
              </a:rPr>
              <a:t>Describe three steps for protecting ideas from being lost or stolen.</a:t>
            </a:r>
          </a:p>
        </p:txBody>
      </p:sp>
      <p:sp>
        <p:nvSpPr>
          <p:cNvPr id="17412" name="Line 4"/>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959845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981200" y="381000"/>
            <a:ext cx="8229600" cy="1143000"/>
          </a:xfrm>
        </p:spPr>
        <p:txBody>
          <a:bodyPr/>
          <a:lstStyle/>
          <a:p>
            <a:pPr eaLnBrk="1" hangingPunct="1"/>
            <a:r>
              <a:rPr lang="en-US" altLang="en-US" dirty="0">
                <a:latin typeface="Times New Roman" panose="02020603050405020304" pitchFamily="18" charset="0"/>
              </a:rPr>
              <a:t>What is an Opportunity?</a:t>
            </a:r>
            <a:br>
              <a:rPr lang="en-US" altLang="en-US" dirty="0">
                <a:latin typeface="Times New Roman" panose="02020603050405020304" pitchFamily="18" charset="0"/>
              </a:rPr>
            </a:br>
            <a:endParaRPr lang="en-US" altLang="en-US" dirty="0">
              <a:latin typeface="Times New Roman" panose="02020603050405020304" pitchFamily="18" charset="0"/>
            </a:endParaRPr>
          </a:p>
        </p:txBody>
      </p:sp>
      <p:sp>
        <p:nvSpPr>
          <p:cNvPr id="18435" name="Line 4"/>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36" name="Text Box 4"/>
          <p:cNvSpPr txBox="1">
            <a:spLocks noChangeArrowheads="1"/>
          </p:cNvSpPr>
          <p:nvPr/>
        </p:nvSpPr>
        <p:spPr bwMode="auto">
          <a:xfrm>
            <a:off x="1828800" y="2971800"/>
            <a:ext cx="3962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a:latin typeface="Times New Roman" panose="02020603050405020304" pitchFamily="18" charset="0"/>
              </a:rPr>
              <a:t>Opportunity Defined</a:t>
            </a:r>
          </a:p>
        </p:txBody>
      </p:sp>
      <p:sp>
        <p:nvSpPr>
          <p:cNvPr id="18437" name="Rectangle 5"/>
          <p:cNvSpPr>
            <a:spLocks noChangeArrowheads="1"/>
          </p:cNvSpPr>
          <p:nvPr/>
        </p:nvSpPr>
        <p:spPr bwMode="auto">
          <a:xfrm>
            <a:off x="5867400" y="1524000"/>
            <a:ext cx="5410826" cy="4191000"/>
          </a:xfrm>
          <a:prstGeom prst="rect">
            <a:avLst/>
          </a:prstGeom>
          <a:solidFill>
            <a:srgbClr val="FFFFCC"/>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400" dirty="0">
                <a:latin typeface="Times New Roman" panose="02020603050405020304" pitchFamily="18" charset="0"/>
              </a:rPr>
              <a:t>An opportunity is </a:t>
            </a:r>
            <a:r>
              <a:rPr lang="en-US" altLang="en-US" sz="2400" b="1" u="sng" dirty="0">
                <a:solidFill>
                  <a:srgbClr val="FF0000"/>
                </a:solidFill>
                <a:latin typeface="Times New Roman" panose="02020603050405020304" pitchFamily="18" charset="0"/>
              </a:rPr>
              <a:t>a favorable</a:t>
            </a:r>
          </a:p>
          <a:p>
            <a:pPr algn="ctr" eaLnBrk="1" hangingPunct="1">
              <a:spcBef>
                <a:spcPct val="0"/>
              </a:spcBef>
              <a:buFontTx/>
              <a:buNone/>
            </a:pPr>
            <a:r>
              <a:rPr lang="en-US" altLang="en-US" sz="2400" b="1" u="sng" dirty="0">
                <a:solidFill>
                  <a:srgbClr val="FF0000"/>
                </a:solidFill>
                <a:latin typeface="Times New Roman" panose="02020603050405020304" pitchFamily="18" charset="0"/>
              </a:rPr>
              <a:t>set of circumstances </a:t>
            </a:r>
            <a:r>
              <a:rPr lang="en-US" altLang="en-US" sz="2400" dirty="0">
                <a:latin typeface="Times New Roman" panose="02020603050405020304" pitchFamily="18" charset="0"/>
              </a:rPr>
              <a:t>that</a:t>
            </a:r>
          </a:p>
          <a:p>
            <a:pPr algn="ctr" eaLnBrk="1" hangingPunct="1">
              <a:spcBef>
                <a:spcPct val="0"/>
              </a:spcBef>
              <a:buFontTx/>
              <a:buNone/>
            </a:pPr>
            <a:r>
              <a:rPr lang="en-US" altLang="en-US" sz="2400" dirty="0">
                <a:latin typeface="Times New Roman" panose="02020603050405020304" pitchFamily="18" charset="0"/>
              </a:rPr>
              <a:t>creates a need for a new</a:t>
            </a:r>
          </a:p>
          <a:p>
            <a:pPr algn="ctr" eaLnBrk="1" hangingPunct="1">
              <a:spcBef>
                <a:spcPct val="0"/>
              </a:spcBef>
              <a:buFontTx/>
              <a:buNone/>
            </a:pPr>
            <a:r>
              <a:rPr lang="en-US" altLang="en-US" sz="2400" dirty="0">
                <a:latin typeface="Times New Roman" panose="02020603050405020304" pitchFamily="18" charset="0"/>
              </a:rPr>
              <a:t>product, service or business.</a:t>
            </a:r>
          </a:p>
        </p:txBody>
      </p:sp>
    </p:spTree>
    <p:extLst>
      <p:ext uri="{BB962C8B-B14F-4D97-AF65-F5344CB8AC3E}">
        <p14:creationId xmlns:p14="http://schemas.microsoft.com/office/powerpoint/2010/main" val="3074480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p:cNvSpPr>
            <a:spLocks noGrp="1" noChangeArrowheads="1"/>
          </p:cNvSpPr>
          <p:nvPr>
            <p:ph type="title"/>
          </p:nvPr>
        </p:nvSpPr>
        <p:spPr/>
        <p:txBody>
          <a:bodyPr/>
          <a:lstStyle/>
          <a:p>
            <a:endParaRPr lang="en-US" altLang="en-US"/>
          </a:p>
        </p:txBody>
      </p:sp>
      <p:pic>
        <p:nvPicPr>
          <p:cNvPr id="55298" name="Content Placeholder 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1" y="375444"/>
            <a:ext cx="8393113" cy="6107112"/>
          </a:xfrm>
        </p:spPr>
      </p:pic>
      <p:sp>
        <p:nvSpPr>
          <p:cNvPr id="55299" name="Slide Number Placeholder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defRPr>
            </a:lvl1pPr>
            <a:lvl2pPr marL="742950" indent="-285750">
              <a:defRPr sz="4000">
                <a:solidFill>
                  <a:schemeClr val="tx1"/>
                </a:solidFill>
                <a:latin typeface="Times New Roman" panose="02020603050405020304" pitchFamily="18" charset="0"/>
              </a:defRPr>
            </a:lvl2pPr>
            <a:lvl3pPr marL="1143000" indent="-228600">
              <a:defRPr sz="4000">
                <a:solidFill>
                  <a:schemeClr val="tx1"/>
                </a:solidFill>
                <a:latin typeface="Times New Roman" panose="02020603050405020304" pitchFamily="18" charset="0"/>
              </a:defRPr>
            </a:lvl3pPr>
            <a:lvl4pPr marL="1600200" indent="-228600">
              <a:defRPr sz="4000">
                <a:solidFill>
                  <a:schemeClr val="tx1"/>
                </a:solidFill>
                <a:latin typeface="Times New Roman" panose="02020603050405020304" pitchFamily="18" charset="0"/>
              </a:defRPr>
            </a:lvl4pPr>
            <a:lvl5pPr marL="2057400" indent="-228600">
              <a:defRPr sz="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defRPr>
            </a:lvl9pPr>
          </a:lstStyle>
          <a:p>
            <a:r>
              <a:rPr lang="en-US" altLang="en-US" sz="1400">
                <a:latin typeface="Arial" panose="020B0604020202020204" pitchFamily="34" charset="0"/>
              </a:rPr>
              <a:t>2-</a:t>
            </a:r>
            <a:fld id="{143CB906-3656-4683-A0A7-6B1AC53BA0CF}" type="slidenum">
              <a:rPr lang="en-US" altLang="en-US" sz="1400">
                <a:latin typeface="Arial" panose="020B0604020202020204" pitchFamily="34" charset="0"/>
              </a:rPr>
              <a:pPr/>
              <a:t>5</a:t>
            </a:fld>
            <a:endParaRPr lang="en-US" altLang="en-US" sz="1400">
              <a:latin typeface="Arial" panose="020B0604020202020204" pitchFamily="34" charset="0"/>
            </a:endParaRPr>
          </a:p>
        </p:txBody>
      </p:sp>
      <p:pic>
        <p:nvPicPr>
          <p:cNvPr id="2" name="Picture 1">
            <a:extLst>
              <a:ext uri="{FF2B5EF4-FFF2-40B4-BE49-F238E27FC236}">
                <a16:creationId xmlns:a16="http://schemas.microsoft.com/office/drawing/2014/main" id="{7583E2D3-E416-C869-CD64-55CA03B0F81E}"/>
              </a:ext>
            </a:extLst>
          </p:cNvPr>
          <p:cNvPicPr>
            <a:picLocks noChangeAspect="1"/>
          </p:cNvPicPr>
          <p:nvPr/>
        </p:nvPicPr>
        <p:blipFill>
          <a:blip r:embed="rId3"/>
          <a:stretch>
            <a:fillRect/>
          </a:stretch>
        </p:blipFill>
        <p:spPr>
          <a:xfrm>
            <a:off x="8662437" y="609600"/>
            <a:ext cx="3529563" cy="5536569"/>
          </a:xfrm>
          <a:prstGeom prst="rect">
            <a:avLst/>
          </a:prstGeom>
        </p:spPr>
      </p:pic>
    </p:spTree>
    <p:extLst>
      <p:ext uri="{BB962C8B-B14F-4D97-AF65-F5344CB8AC3E}">
        <p14:creationId xmlns:p14="http://schemas.microsoft.com/office/powerpoint/2010/main" val="3755469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C4126F4-E0ED-4130-92CE-6B83F9039EC8}"/>
              </a:ext>
            </a:extLst>
          </p:cNvPr>
          <p:cNvSpPr>
            <a:spLocks noGrp="1"/>
          </p:cNvSpPr>
          <p:nvPr>
            <p:ph type="sldNum" sz="quarter" idx="12"/>
          </p:nvPr>
        </p:nvSpPr>
        <p:spPr/>
        <p:txBody>
          <a:bodyPr/>
          <a:lstStyle/>
          <a:p>
            <a:fld id="{CCA7F3EB-CD38-41B8-88EE-6D03B79C33FB}" type="slidenum">
              <a:rPr lang="en-US" altLang="en-US"/>
              <a:pPr/>
              <a:t>6</a:t>
            </a:fld>
            <a:endParaRPr lang="en-US" altLang="en-US"/>
          </a:p>
        </p:txBody>
      </p:sp>
      <p:sp>
        <p:nvSpPr>
          <p:cNvPr id="28675" name="Rectangle 3">
            <a:extLst>
              <a:ext uri="{FF2B5EF4-FFF2-40B4-BE49-F238E27FC236}">
                <a16:creationId xmlns:a16="http://schemas.microsoft.com/office/drawing/2014/main" id="{1ED7D09C-3397-479E-B1B9-C33E29CFB983}"/>
              </a:ext>
            </a:extLst>
          </p:cNvPr>
          <p:cNvSpPr>
            <a:spLocks noGrp="1" noChangeArrowheads="1"/>
          </p:cNvSpPr>
          <p:nvPr>
            <p:ph type="body" idx="1"/>
          </p:nvPr>
        </p:nvSpPr>
        <p:spPr>
          <a:xfrm>
            <a:off x="398207" y="1752601"/>
            <a:ext cx="11371006" cy="4525963"/>
          </a:xfrm>
        </p:spPr>
        <p:txBody>
          <a:bodyPr>
            <a:normAutofit/>
          </a:bodyPr>
          <a:lstStyle/>
          <a:p>
            <a:pPr>
              <a:lnSpc>
                <a:spcPct val="90000"/>
              </a:lnSpc>
            </a:pPr>
            <a:r>
              <a:rPr lang="en-US" altLang="en-US" sz="2800" cap="none" dirty="0">
                <a:latin typeface="Times New Roman" panose="02020603050405020304" pitchFamily="18" charset="0"/>
                <a:cs typeface="Times New Roman" panose="02020603050405020304" pitchFamily="18" charset="0"/>
              </a:rPr>
              <a:t>A new or improved product (material, component, device, machine, system) or process (synthesis, treatment, fabrication, method of manufacturing) discovered as A result of study or experimentation.  Inventions that are novel (unique), useful, and non-obvious to someone skilled in the art can be patented as compositions of matter, process of making, or field of use.</a:t>
            </a:r>
          </a:p>
          <a:p>
            <a:pPr>
              <a:lnSpc>
                <a:spcPct val="90000"/>
              </a:lnSpc>
            </a:pPr>
            <a:r>
              <a:rPr lang="en-US" altLang="en-US" sz="2800" cap="none" dirty="0">
                <a:latin typeface="Times New Roman" panose="02020603050405020304" pitchFamily="18" charset="0"/>
                <a:cs typeface="Times New Roman" panose="02020603050405020304" pitchFamily="18" charset="0"/>
              </a:rPr>
              <a:t>Invention is a completely new product or service, a patent, or a breakthrough. </a:t>
            </a:r>
          </a:p>
        </p:txBody>
      </p:sp>
      <p:sp>
        <p:nvSpPr>
          <p:cNvPr id="5" name="Title 4">
            <a:extLst>
              <a:ext uri="{FF2B5EF4-FFF2-40B4-BE49-F238E27FC236}">
                <a16:creationId xmlns:a16="http://schemas.microsoft.com/office/drawing/2014/main" id="{28E1B5FA-41E4-453B-B919-2E24939369FC}"/>
              </a:ext>
            </a:extLst>
          </p:cNvPr>
          <p:cNvSpPr>
            <a:spLocks noGrp="1"/>
          </p:cNvSpPr>
          <p:nvPr>
            <p:ph type="title"/>
          </p:nvPr>
        </p:nvSpPr>
        <p:spPr>
          <a:xfrm>
            <a:off x="1981200" y="304800"/>
            <a:ext cx="8229600" cy="1143000"/>
          </a:xfrm>
        </p:spPr>
        <p:txBody>
          <a:bodyPr/>
          <a:lstStyle/>
          <a:p>
            <a:r>
              <a:rPr lang="en-US" dirty="0">
                <a:latin typeface="Times New Roman" panose="02020603050405020304" pitchFamily="18" charset="0"/>
                <a:cs typeface="Times New Roman" panose="02020603050405020304" pitchFamily="18" charset="0"/>
              </a:rPr>
              <a:t>Invention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a:extLst>
              <a:ext uri="{FF2B5EF4-FFF2-40B4-BE49-F238E27FC236}">
                <a16:creationId xmlns:a16="http://schemas.microsoft.com/office/drawing/2014/main" id="{8B0D3FCC-36BA-41FA-A0D6-8AF6148817BA}"/>
              </a:ext>
            </a:extLst>
          </p:cNvPr>
          <p:cNvSpPr>
            <a:spLocks noGrp="1" noChangeArrowheads="1"/>
          </p:cNvSpPr>
          <p:nvPr>
            <p:ph type="body" idx="1"/>
          </p:nvPr>
        </p:nvSpPr>
        <p:spPr>
          <a:xfrm>
            <a:off x="634181" y="1600201"/>
            <a:ext cx="11179277" cy="4525963"/>
          </a:xfrm>
        </p:spPr>
        <p:txBody>
          <a:bodyPr>
            <a:normAutofit/>
          </a:bodyPr>
          <a:lstStyle/>
          <a:p>
            <a:pPr>
              <a:lnSpc>
                <a:spcPct val="90000"/>
              </a:lnSpc>
            </a:pPr>
            <a:r>
              <a:rPr lang="en-US" altLang="en-US" sz="2800" cap="none" dirty="0">
                <a:latin typeface="Times New Roman" panose="02020603050405020304" pitchFamily="18" charset="0"/>
                <a:cs typeface="Times New Roman" panose="02020603050405020304" pitchFamily="18" charset="0"/>
              </a:rPr>
              <a:t>The act or process of commercializing an invention or introducing something new or improved that creates value in the form of a commercial product.  </a:t>
            </a:r>
          </a:p>
          <a:p>
            <a:pPr>
              <a:lnSpc>
                <a:spcPct val="90000"/>
              </a:lnSpc>
            </a:pPr>
            <a:r>
              <a:rPr lang="en-US" altLang="en-US" sz="2800" cap="none" dirty="0">
                <a:latin typeface="Times New Roman" panose="02020603050405020304" pitchFamily="18" charset="0"/>
                <a:cs typeface="Times New Roman" panose="02020603050405020304" pitchFamily="18" charset="0"/>
              </a:rPr>
              <a:t>Innovation requires people to use new knowledge and understanding to experiment with new possibilities and use sound collaborative decision-making tools to choose and implement new ideas.</a:t>
            </a:r>
          </a:p>
          <a:p>
            <a:pPr>
              <a:lnSpc>
                <a:spcPct val="90000"/>
              </a:lnSpc>
            </a:pPr>
            <a:r>
              <a:rPr lang="en-US" altLang="en-US" sz="2800" cap="none" dirty="0">
                <a:latin typeface="Times New Roman" panose="02020603050405020304" pitchFamily="18" charset="0"/>
                <a:cs typeface="Times New Roman" panose="02020603050405020304" pitchFamily="18" charset="0"/>
              </a:rPr>
              <a:t>Innovation is the turning of all ideas, big and small, into successful outcomes. It's the implementation of ideas generated as a result of the creativity-supporting culture. </a:t>
            </a:r>
          </a:p>
        </p:txBody>
      </p:sp>
      <p:sp>
        <p:nvSpPr>
          <p:cNvPr id="3" name="Title 2">
            <a:extLst>
              <a:ext uri="{FF2B5EF4-FFF2-40B4-BE49-F238E27FC236}">
                <a16:creationId xmlns:a16="http://schemas.microsoft.com/office/drawing/2014/main" id="{07DF8AF9-CAB5-4F5D-BE2A-9AC7B468F3AA}"/>
              </a:ext>
            </a:extLst>
          </p:cNvPr>
          <p:cNvSpPr>
            <a:spLocks noGrp="1"/>
          </p:cNvSpPr>
          <p:nvPr>
            <p:ph type="title"/>
          </p:nvPr>
        </p:nvSpPr>
        <p:spPr>
          <a:xfrm>
            <a:off x="1981200" y="399100"/>
            <a:ext cx="8229600" cy="665475"/>
          </a:xfrm>
        </p:spPr>
        <p:txBody>
          <a:bodyPr>
            <a:normAutofit/>
          </a:bodyPr>
          <a:lstStyle/>
          <a:p>
            <a:r>
              <a:rPr lang="en-US" dirty="0">
                <a:latin typeface="Times New Roman" panose="02020603050405020304" pitchFamily="18" charset="0"/>
                <a:cs typeface="Times New Roman" panose="02020603050405020304" pitchFamily="18" charset="0"/>
              </a:rPr>
              <a:t>Innovation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540" y="627156"/>
            <a:ext cx="5286756" cy="508216"/>
          </a:xfrm>
          <a:prstGeom prst="rect">
            <a:avLst/>
          </a:prstGeom>
        </p:spPr>
        <p:txBody>
          <a:bodyPr vert="horz" wrap="square" lIns="0" tIns="9525" rIns="0" bIns="0" rtlCol="0" anchor="b">
            <a:spAutoFit/>
          </a:bodyPr>
          <a:lstStyle/>
          <a:p>
            <a:pPr marL="9525">
              <a:spcBef>
                <a:spcPts val="75"/>
              </a:spcBef>
            </a:pPr>
            <a:r>
              <a:rPr spc="-188" dirty="0">
                <a:latin typeface="Times New Roman" panose="02020603050405020304" pitchFamily="18" charset="0"/>
                <a:cs typeface="Times New Roman" panose="02020603050405020304" pitchFamily="18" charset="0"/>
              </a:rPr>
              <a:t>E</a:t>
            </a:r>
            <a:r>
              <a:rPr lang="en-US" spc="-188" dirty="0">
                <a:latin typeface="Times New Roman" panose="02020603050405020304" pitchFamily="18" charset="0"/>
                <a:cs typeface="Times New Roman" panose="02020603050405020304" pitchFamily="18" charset="0"/>
              </a:rPr>
              <a:t>ntrepreneurship</a:t>
            </a:r>
            <a:endParaRPr spc="-188" dirty="0">
              <a:latin typeface="Times New Roman" panose="02020603050405020304" pitchFamily="18" charset="0"/>
              <a:cs typeface="Times New Roman" panose="02020603050405020304" pitchFamily="18" charset="0"/>
            </a:endParaRPr>
          </a:p>
        </p:txBody>
      </p:sp>
      <p:sp>
        <p:nvSpPr>
          <p:cNvPr id="3" name="object 3"/>
          <p:cNvSpPr txBox="1"/>
          <p:nvPr/>
        </p:nvSpPr>
        <p:spPr>
          <a:xfrm>
            <a:off x="1106129" y="1346479"/>
            <a:ext cx="10412361" cy="5233804"/>
          </a:xfrm>
          <a:prstGeom prst="rect">
            <a:avLst/>
          </a:prstGeom>
        </p:spPr>
        <p:txBody>
          <a:bodyPr vert="horz" wrap="square" lIns="0" tIns="82867" rIns="0" bIns="0" rtlCol="0">
            <a:spAutoFit/>
          </a:bodyPr>
          <a:lstStyle/>
          <a:p>
            <a:pPr marL="9525">
              <a:spcBef>
                <a:spcPts val="652"/>
              </a:spcBef>
              <a:tabLst>
                <a:tab pos="5137785" algn="l"/>
              </a:tabLst>
            </a:pPr>
            <a:r>
              <a:rPr lang="en-US" sz="3200" spc="64" dirty="0">
                <a:latin typeface="Times New Roman" panose="02020603050405020304" pitchFamily="18" charset="0"/>
                <a:cs typeface="Times New Roman" panose="02020603050405020304" pitchFamily="18" charset="0"/>
              </a:rPr>
              <a:t>C</a:t>
            </a:r>
            <a:r>
              <a:rPr lang="en-US" sz="3200" spc="23" dirty="0">
                <a:latin typeface="Times New Roman" panose="02020603050405020304" pitchFamily="18" charset="0"/>
                <a:cs typeface="Times New Roman" panose="02020603050405020304" pitchFamily="18" charset="0"/>
              </a:rPr>
              <a:t>r</a:t>
            </a:r>
            <a:r>
              <a:rPr lang="en-US" sz="3200" spc="90" dirty="0">
                <a:latin typeface="Times New Roman" panose="02020603050405020304" pitchFamily="18" charset="0"/>
                <a:cs typeface="Times New Roman" panose="02020603050405020304" pitchFamily="18" charset="0"/>
              </a:rPr>
              <a:t>eatin</a:t>
            </a:r>
            <a:r>
              <a:rPr lang="en-US" sz="3200" spc="124" dirty="0">
                <a:latin typeface="Times New Roman" panose="02020603050405020304" pitchFamily="18" charset="0"/>
                <a:cs typeface="Times New Roman" panose="02020603050405020304" pitchFamily="18" charset="0"/>
              </a:rPr>
              <a:t>g</a:t>
            </a:r>
            <a:r>
              <a:rPr lang="en-US" sz="3200" spc="101" dirty="0">
                <a:latin typeface="Times New Roman" panose="02020603050405020304" pitchFamily="18" charset="0"/>
                <a:cs typeface="Times New Roman" panose="02020603050405020304" pitchFamily="18" charset="0"/>
              </a:rPr>
              <a:t> </a:t>
            </a:r>
            <a:r>
              <a:rPr lang="en-US" sz="3200" spc="98" dirty="0">
                <a:latin typeface="Times New Roman" panose="02020603050405020304" pitchFamily="18" charset="0"/>
                <a:cs typeface="Times New Roman" panose="02020603050405020304" pitchFamily="18" charset="0"/>
              </a:rPr>
              <a:t>th</a:t>
            </a:r>
            <a:r>
              <a:rPr lang="en-US" sz="3200" spc="135" dirty="0">
                <a:latin typeface="Times New Roman" panose="02020603050405020304" pitchFamily="18" charset="0"/>
                <a:cs typeface="Times New Roman" panose="02020603050405020304" pitchFamily="18" charset="0"/>
              </a:rPr>
              <a:t>e</a:t>
            </a:r>
            <a:r>
              <a:rPr lang="en-US" sz="3200" spc="90" dirty="0">
                <a:latin typeface="Times New Roman" panose="02020603050405020304" pitchFamily="18" charset="0"/>
                <a:cs typeface="Times New Roman" panose="02020603050405020304" pitchFamily="18" charset="0"/>
              </a:rPr>
              <a:t> </a:t>
            </a:r>
            <a:r>
              <a:rPr lang="en-US" sz="3200" spc="60" dirty="0">
                <a:latin typeface="Times New Roman" panose="02020603050405020304" pitchFamily="18" charset="0"/>
                <a:cs typeface="Times New Roman" panose="02020603050405020304" pitchFamily="18" charset="0"/>
              </a:rPr>
              <a:t>“new”</a:t>
            </a:r>
            <a:r>
              <a:rPr lang="en-US" sz="3200" spc="86" dirty="0">
                <a:latin typeface="Times New Roman" panose="02020603050405020304" pitchFamily="18" charset="0"/>
                <a:cs typeface="Times New Roman" panose="02020603050405020304" pitchFamily="18" charset="0"/>
              </a:rPr>
              <a:t> an</a:t>
            </a:r>
            <a:r>
              <a:rPr lang="en-US" sz="3200" spc="90" dirty="0">
                <a:latin typeface="Times New Roman" panose="02020603050405020304" pitchFamily="18" charset="0"/>
                <a:cs typeface="Times New Roman" panose="02020603050405020304" pitchFamily="18" charset="0"/>
              </a:rPr>
              <a:t>d</a:t>
            </a:r>
            <a:r>
              <a:rPr lang="en-US" sz="3200" spc="83" dirty="0">
                <a:latin typeface="Times New Roman" panose="02020603050405020304" pitchFamily="18" charset="0"/>
                <a:cs typeface="Times New Roman" panose="02020603050405020304" pitchFamily="18" charset="0"/>
              </a:rPr>
              <a:t> </a:t>
            </a:r>
            <a:r>
              <a:rPr lang="en-US" sz="3200" spc="71" dirty="0">
                <a:latin typeface="Times New Roman" panose="02020603050405020304" pitchFamily="18" charset="0"/>
                <a:cs typeface="Times New Roman" panose="02020603050405020304" pitchFamily="18" charset="0"/>
              </a:rPr>
              <a:t>d</a:t>
            </a:r>
            <a:r>
              <a:rPr lang="en-US" sz="3200" spc="75" dirty="0">
                <a:latin typeface="Times New Roman" panose="02020603050405020304" pitchFamily="18" charset="0"/>
                <a:cs typeface="Times New Roman" panose="02020603050405020304" pitchFamily="18" charset="0"/>
              </a:rPr>
              <a:t>e</a:t>
            </a:r>
            <a:r>
              <a:rPr lang="en-US" sz="3200" spc="109" dirty="0">
                <a:latin typeface="Times New Roman" panose="02020603050405020304" pitchFamily="18" charset="0"/>
                <a:cs typeface="Times New Roman" panose="02020603050405020304" pitchFamily="18" charset="0"/>
              </a:rPr>
              <a:t>str</a:t>
            </a:r>
            <a:r>
              <a:rPr lang="en-US" sz="3200" spc="158" dirty="0">
                <a:latin typeface="Times New Roman" panose="02020603050405020304" pitchFamily="18" charset="0"/>
                <a:cs typeface="Times New Roman" panose="02020603050405020304" pitchFamily="18" charset="0"/>
              </a:rPr>
              <a:t>o</a:t>
            </a:r>
            <a:r>
              <a:rPr lang="en-US" sz="3200" spc="101" dirty="0">
                <a:latin typeface="Times New Roman" panose="02020603050405020304" pitchFamily="18" charset="0"/>
                <a:cs typeface="Times New Roman" panose="02020603050405020304" pitchFamily="18" charset="0"/>
              </a:rPr>
              <a:t>yin</a:t>
            </a:r>
            <a:r>
              <a:rPr lang="en-US" sz="3200" spc="139" dirty="0">
                <a:latin typeface="Times New Roman" panose="02020603050405020304" pitchFamily="18" charset="0"/>
                <a:cs typeface="Times New Roman" panose="02020603050405020304" pitchFamily="18" charset="0"/>
              </a:rPr>
              <a:t>g</a:t>
            </a:r>
            <a:r>
              <a:rPr lang="en-US" sz="3200" spc="120" dirty="0">
                <a:latin typeface="Times New Roman" panose="02020603050405020304" pitchFamily="18" charset="0"/>
                <a:cs typeface="Times New Roman" panose="02020603050405020304" pitchFamily="18" charset="0"/>
              </a:rPr>
              <a:t> </a:t>
            </a:r>
            <a:r>
              <a:rPr lang="en-US" sz="3200" spc="98" dirty="0">
                <a:latin typeface="Times New Roman" panose="02020603050405020304" pitchFamily="18" charset="0"/>
                <a:cs typeface="Times New Roman" panose="02020603050405020304" pitchFamily="18" charset="0"/>
              </a:rPr>
              <a:t>th</a:t>
            </a:r>
            <a:r>
              <a:rPr lang="en-US" sz="3200" spc="135" dirty="0">
                <a:latin typeface="Times New Roman" panose="02020603050405020304" pitchFamily="18" charset="0"/>
                <a:cs typeface="Times New Roman" panose="02020603050405020304" pitchFamily="18" charset="0"/>
              </a:rPr>
              <a:t>e</a:t>
            </a:r>
            <a:r>
              <a:rPr lang="en-US" sz="3200" dirty="0">
                <a:latin typeface="Times New Roman" panose="02020603050405020304" pitchFamily="18" charset="0"/>
                <a:cs typeface="Times New Roman" panose="02020603050405020304" pitchFamily="18" charset="0"/>
              </a:rPr>
              <a:t>	</a:t>
            </a:r>
            <a:r>
              <a:rPr lang="en-US" sz="3200" spc="79" dirty="0">
                <a:latin typeface="Times New Roman" panose="02020603050405020304" pitchFamily="18" charset="0"/>
                <a:cs typeface="Times New Roman" panose="02020603050405020304" pitchFamily="18" charset="0"/>
              </a:rPr>
              <a:t>“</a:t>
            </a:r>
            <a:r>
              <a:rPr lang="en-US" sz="3200" spc="94" dirty="0">
                <a:latin typeface="Times New Roman" panose="02020603050405020304" pitchFamily="18" charset="0"/>
                <a:cs typeface="Times New Roman" panose="02020603050405020304" pitchFamily="18" charset="0"/>
              </a:rPr>
              <a:t>old”,</a:t>
            </a:r>
          </a:p>
          <a:p>
            <a:pPr marL="9525">
              <a:spcBef>
                <a:spcPts val="652"/>
              </a:spcBef>
              <a:tabLst>
                <a:tab pos="5137785" algn="l"/>
              </a:tabLst>
            </a:pPr>
            <a:endParaRPr lang="en-US" sz="3200" dirty="0">
              <a:latin typeface="Times New Roman" panose="02020603050405020304" pitchFamily="18" charset="0"/>
              <a:cs typeface="Times New Roman" panose="02020603050405020304" pitchFamily="18" charset="0"/>
            </a:endParaRPr>
          </a:p>
          <a:p>
            <a:pPr marL="523875" indent="-514350">
              <a:spcBef>
                <a:spcPts val="652"/>
              </a:spcBef>
              <a:buFont typeface="+mj-lt"/>
              <a:buAutoNum type="arabicPeriod"/>
              <a:tabLst>
                <a:tab pos="5137785" algn="l"/>
              </a:tabLst>
            </a:pPr>
            <a:r>
              <a:rPr lang="en-US" sz="3200" spc="41" dirty="0">
                <a:latin typeface="Times New Roman" panose="02020603050405020304" pitchFamily="18" charset="0"/>
                <a:cs typeface="Times New Roman" panose="02020603050405020304" pitchFamily="18" charset="0"/>
              </a:rPr>
              <a:t>New</a:t>
            </a:r>
            <a:r>
              <a:rPr lang="en-US" sz="3200" spc="79" dirty="0">
                <a:latin typeface="Times New Roman" panose="02020603050405020304" pitchFamily="18" charset="0"/>
                <a:cs typeface="Times New Roman" panose="02020603050405020304" pitchFamily="18" charset="0"/>
              </a:rPr>
              <a:t> </a:t>
            </a:r>
            <a:r>
              <a:rPr lang="en-US" sz="3200" spc="101" dirty="0">
                <a:latin typeface="Times New Roman" panose="02020603050405020304" pitchFamily="18" charset="0"/>
                <a:cs typeface="Times New Roman" panose="02020603050405020304" pitchFamily="18" charset="0"/>
              </a:rPr>
              <a:t>knowledge</a:t>
            </a:r>
            <a:endParaRPr lang="en-US" sz="3200" dirty="0">
              <a:latin typeface="Times New Roman" panose="02020603050405020304" pitchFamily="18" charset="0"/>
              <a:cs typeface="Times New Roman" panose="02020603050405020304" pitchFamily="18" charset="0"/>
            </a:endParaRPr>
          </a:p>
          <a:p>
            <a:pPr marL="523875" indent="-514350">
              <a:spcBef>
                <a:spcPts val="652"/>
              </a:spcBef>
              <a:buFont typeface="+mj-lt"/>
              <a:buAutoNum type="arabicPeriod"/>
              <a:tabLst>
                <a:tab pos="5137785" algn="l"/>
              </a:tabLst>
            </a:pPr>
            <a:r>
              <a:rPr lang="en-US" sz="3200" spc="41" dirty="0">
                <a:latin typeface="Times New Roman" panose="02020603050405020304" pitchFamily="18" charset="0"/>
                <a:cs typeface="Times New Roman" panose="02020603050405020304" pitchFamily="18" charset="0"/>
              </a:rPr>
              <a:t>New</a:t>
            </a:r>
            <a:r>
              <a:rPr lang="en-US" sz="3200" spc="79" dirty="0">
                <a:latin typeface="Times New Roman" panose="02020603050405020304" pitchFamily="18" charset="0"/>
                <a:cs typeface="Times New Roman" panose="02020603050405020304" pitchFamily="18" charset="0"/>
              </a:rPr>
              <a:t> </a:t>
            </a:r>
            <a:r>
              <a:rPr lang="en-US" sz="3200" spc="116" dirty="0">
                <a:latin typeface="Times New Roman" panose="02020603050405020304" pitchFamily="18" charset="0"/>
                <a:cs typeface="Times New Roman" panose="02020603050405020304" pitchFamily="18" charset="0"/>
              </a:rPr>
              <a:t>products</a:t>
            </a:r>
            <a:endParaRPr lang="en-US" sz="3200" dirty="0">
              <a:latin typeface="Times New Roman" panose="02020603050405020304" pitchFamily="18" charset="0"/>
              <a:cs typeface="Times New Roman" panose="02020603050405020304" pitchFamily="18" charset="0"/>
            </a:endParaRPr>
          </a:p>
          <a:p>
            <a:pPr marL="523875" indent="-514350">
              <a:spcBef>
                <a:spcPts val="652"/>
              </a:spcBef>
              <a:buFont typeface="+mj-lt"/>
              <a:buAutoNum type="arabicPeriod"/>
              <a:tabLst>
                <a:tab pos="5137785" algn="l"/>
              </a:tabLst>
            </a:pPr>
            <a:r>
              <a:rPr lang="en-US" sz="3200" spc="41" dirty="0">
                <a:latin typeface="Times New Roman" panose="02020603050405020304" pitchFamily="18" charset="0"/>
                <a:cs typeface="Times New Roman" panose="02020603050405020304" pitchFamily="18" charset="0"/>
              </a:rPr>
              <a:t>New</a:t>
            </a:r>
            <a:r>
              <a:rPr lang="en-US" sz="3200" spc="79" dirty="0">
                <a:latin typeface="Times New Roman" panose="02020603050405020304" pitchFamily="18" charset="0"/>
                <a:cs typeface="Times New Roman" panose="02020603050405020304" pitchFamily="18" charset="0"/>
              </a:rPr>
              <a:t> </a:t>
            </a:r>
            <a:r>
              <a:rPr lang="en-US" sz="3200" spc="53" dirty="0">
                <a:latin typeface="Times New Roman" panose="02020603050405020304" pitchFamily="18" charset="0"/>
                <a:cs typeface="Times New Roman" panose="02020603050405020304" pitchFamily="18" charset="0"/>
              </a:rPr>
              <a:t>processes</a:t>
            </a:r>
            <a:endParaRPr lang="en-US" sz="3200" dirty="0">
              <a:latin typeface="Times New Roman" panose="02020603050405020304" pitchFamily="18" charset="0"/>
              <a:cs typeface="Times New Roman" panose="02020603050405020304" pitchFamily="18" charset="0"/>
            </a:endParaRPr>
          </a:p>
          <a:p>
            <a:pPr marL="523875" indent="-514350">
              <a:spcBef>
                <a:spcPts val="652"/>
              </a:spcBef>
              <a:buFont typeface="+mj-lt"/>
              <a:buAutoNum type="arabicPeriod"/>
              <a:tabLst>
                <a:tab pos="5137785" algn="l"/>
              </a:tabLst>
            </a:pPr>
            <a:r>
              <a:rPr lang="en-US" sz="3200" spc="41" dirty="0">
                <a:latin typeface="Times New Roman" panose="02020603050405020304" pitchFamily="18" charset="0"/>
                <a:cs typeface="Times New Roman" panose="02020603050405020304" pitchFamily="18" charset="0"/>
              </a:rPr>
              <a:t>New</a:t>
            </a:r>
            <a:r>
              <a:rPr lang="en-US" sz="3200" spc="23" dirty="0">
                <a:latin typeface="Times New Roman" panose="02020603050405020304" pitchFamily="18" charset="0"/>
                <a:cs typeface="Times New Roman" panose="02020603050405020304" pitchFamily="18" charset="0"/>
              </a:rPr>
              <a:t> </a:t>
            </a:r>
            <a:r>
              <a:rPr lang="en-US" sz="3200" spc="49" dirty="0">
                <a:latin typeface="Times New Roman" panose="02020603050405020304" pitchFamily="18" charset="0"/>
                <a:cs typeface="Times New Roman" panose="02020603050405020304" pitchFamily="18" charset="0"/>
              </a:rPr>
              <a:t>services</a:t>
            </a:r>
            <a:endParaRPr lang="en-US" sz="3200" dirty="0">
              <a:latin typeface="Times New Roman" panose="02020603050405020304" pitchFamily="18" charset="0"/>
              <a:cs typeface="Times New Roman" panose="02020603050405020304" pitchFamily="18" charset="0"/>
            </a:endParaRPr>
          </a:p>
          <a:p>
            <a:pPr marL="523875" indent="-514350">
              <a:spcBef>
                <a:spcPts val="652"/>
              </a:spcBef>
              <a:buFont typeface="+mj-lt"/>
              <a:buAutoNum type="arabicPeriod"/>
              <a:tabLst>
                <a:tab pos="5137785" algn="l"/>
              </a:tabLst>
            </a:pPr>
            <a:r>
              <a:rPr lang="en-US" sz="3200" spc="41" dirty="0">
                <a:latin typeface="Times New Roman" panose="02020603050405020304" pitchFamily="18" charset="0"/>
                <a:cs typeface="Times New Roman" panose="02020603050405020304" pitchFamily="18" charset="0"/>
              </a:rPr>
              <a:t>New</a:t>
            </a:r>
            <a:r>
              <a:rPr lang="en-US" sz="3200" spc="19" dirty="0">
                <a:latin typeface="Times New Roman" panose="02020603050405020304" pitchFamily="18" charset="0"/>
                <a:cs typeface="Times New Roman" panose="02020603050405020304" pitchFamily="18" charset="0"/>
              </a:rPr>
              <a:t> </a:t>
            </a:r>
            <a:r>
              <a:rPr lang="en-US" sz="3200" spc="105" dirty="0">
                <a:latin typeface="Times New Roman" panose="02020603050405020304" pitchFamily="18" charset="0"/>
                <a:cs typeface="Times New Roman" panose="02020603050405020304" pitchFamily="18" charset="0"/>
              </a:rPr>
              <a:t>markets</a:t>
            </a:r>
            <a:endParaRPr lang="en-US" sz="3200" dirty="0">
              <a:latin typeface="Times New Roman" panose="02020603050405020304" pitchFamily="18" charset="0"/>
              <a:cs typeface="Times New Roman" panose="02020603050405020304" pitchFamily="18" charset="0"/>
            </a:endParaRPr>
          </a:p>
          <a:p>
            <a:pPr marL="523875" indent="-514350">
              <a:spcBef>
                <a:spcPts val="652"/>
              </a:spcBef>
              <a:buFont typeface="+mj-lt"/>
              <a:buAutoNum type="arabicPeriod"/>
              <a:tabLst>
                <a:tab pos="5137785" algn="l"/>
              </a:tabLst>
            </a:pPr>
            <a:r>
              <a:rPr lang="en-US" sz="3200" spc="41" dirty="0">
                <a:latin typeface="Times New Roman" panose="02020603050405020304" pitchFamily="18" charset="0"/>
                <a:cs typeface="Times New Roman" panose="02020603050405020304" pitchFamily="18" charset="0"/>
              </a:rPr>
              <a:t>New </a:t>
            </a:r>
            <a:r>
              <a:rPr lang="en-US" sz="3200" spc="75" dirty="0">
                <a:latin typeface="Times New Roman" panose="02020603050405020304" pitchFamily="18" charset="0"/>
                <a:cs typeface="Times New Roman" panose="02020603050405020304" pitchFamily="18" charset="0"/>
              </a:rPr>
              <a:t>business</a:t>
            </a:r>
            <a:r>
              <a:rPr lang="en-US" sz="3200" spc="120" dirty="0">
                <a:latin typeface="Times New Roman" panose="02020603050405020304" pitchFamily="18" charset="0"/>
                <a:cs typeface="Times New Roman" panose="02020603050405020304" pitchFamily="18" charset="0"/>
              </a:rPr>
              <a:t> </a:t>
            </a:r>
            <a:r>
              <a:rPr lang="en-US" sz="3200" spc="101" dirty="0">
                <a:latin typeface="Times New Roman" panose="02020603050405020304" pitchFamily="18" charset="0"/>
                <a:cs typeface="Times New Roman" panose="02020603050405020304" pitchFamily="18" charset="0"/>
              </a:rPr>
              <a:t>models</a:t>
            </a:r>
            <a:endParaRPr lang="en-US" sz="3200" dirty="0">
              <a:latin typeface="Times New Roman" panose="02020603050405020304" pitchFamily="18" charset="0"/>
              <a:cs typeface="Times New Roman" panose="02020603050405020304" pitchFamily="18" charset="0"/>
            </a:endParaRPr>
          </a:p>
          <a:p>
            <a:pPr marL="523875" indent="-514350">
              <a:spcBef>
                <a:spcPts val="652"/>
              </a:spcBef>
              <a:buFont typeface="+mj-lt"/>
              <a:buAutoNum type="arabicPeriod"/>
              <a:tabLst>
                <a:tab pos="5137785" algn="l"/>
              </a:tabLst>
            </a:pPr>
            <a:r>
              <a:rPr lang="en-US" sz="3200" spc="45" dirty="0">
                <a:latin typeface="Times New Roman" panose="02020603050405020304" pitchFamily="18" charset="0"/>
                <a:cs typeface="Times New Roman" panose="02020603050405020304" pitchFamily="18" charset="0"/>
              </a:rPr>
              <a:t>New </a:t>
            </a:r>
            <a:r>
              <a:rPr lang="en-US" sz="3200" spc="79" dirty="0">
                <a:latin typeface="Times New Roman" panose="02020603050405020304" pitchFamily="18" charset="0"/>
                <a:cs typeface="Times New Roman" panose="02020603050405020304" pitchFamily="18" charset="0"/>
              </a:rPr>
              <a:t>raw</a:t>
            </a:r>
            <a:r>
              <a:rPr lang="en-US" sz="3200" spc="116" dirty="0">
                <a:latin typeface="Times New Roman" panose="02020603050405020304" pitchFamily="18" charset="0"/>
                <a:cs typeface="Times New Roman" panose="02020603050405020304" pitchFamily="18" charset="0"/>
              </a:rPr>
              <a:t> </a:t>
            </a:r>
            <a:r>
              <a:rPr lang="en-US" sz="3200" spc="94" dirty="0">
                <a:latin typeface="Times New Roman" panose="02020603050405020304" pitchFamily="18" charset="0"/>
                <a:cs typeface="Times New Roman" panose="02020603050405020304" pitchFamily="18" charset="0"/>
              </a:rPr>
              <a:t>materials</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995055" y="76200"/>
            <a:ext cx="8229600" cy="1143000"/>
          </a:xfrm>
        </p:spPr>
        <p:txBody>
          <a:bodyPr/>
          <a:lstStyle/>
          <a:p>
            <a:pPr eaLnBrk="1" hangingPunct="1"/>
            <a:r>
              <a:rPr lang="en-US" altLang="en-US" dirty="0">
                <a:latin typeface="Times New Roman" panose="02020603050405020304" pitchFamily="18" charset="0"/>
              </a:rPr>
              <a:t>What is an Opportunity?</a:t>
            </a:r>
          </a:p>
        </p:txBody>
      </p:sp>
      <p:sp>
        <p:nvSpPr>
          <p:cNvPr id="19459" name="Line 4"/>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0" name="Text Box 6"/>
          <p:cNvSpPr txBox="1">
            <a:spLocks noChangeArrowheads="1"/>
          </p:cNvSpPr>
          <p:nvPr/>
        </p:nvSpPr>
        <p:spPr bwMode="auto">
          <a:xfrm>
            <a:off x="2743200" y="1447801"/>
            <a:ext cx="6553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800">
                <a:latin typeface="Times New Roman" panose="02020603050405020304" pitchFamily="18" charset="0"/>
              </a:rPr>
              <a:t>An opportunity has four essential qualities</a:t>
            </a:r>
          </a:p>
        </p:txBody>
      </p:sp>
      <p:sp>
        <p:nvSpPr>
          <p:cNvPr id="19461" name="Text Box 20"/>
          <p:cNvSpPr txBox="1">
            <a:spLocks noChangeArrowheads="1"/>
          </p:cNvSpPr>
          <p:nvPr/>
        </p:nvSpPr>
        <p:spPr bwMode="auto">
          <a:xfrm>
            <a:off x="4267200" y="2133601"/>
            <a:ext cx="2895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endParaRPr lang="en-US" altLang="en-US" sz="4000">
              <a:latin typeface="Times New Roman" panose="02020603050405020304" pitchFamily="18" charset="0"/>
            </a:endParaRPr>
          </a:p>
        </p:txBody>
      </p:sp>
      <p:pic>
        <p:nvPicPr>
          <p:cNvPr id="19462"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133600"/>
            <a:ext cx="7239000" cy="444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30000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981200" y="152400"/>
            <a:ext cx="8229600" cy="1143000"/>
          </a:xfrm>
        </p:spPr>
        <p:txBody>
          <a:bodyPr/>
          <a:lstStyle/>
          <a:p>
            <a:pPr eaLnBrk="1" hangingPunct="1"/>
            <a:r>
              <a:rPr lang="en-US" altLang="en-US">
                <a:latin typeface="Times New Roman" panose="02020603050405020304" pitchFamily="18" charset="0"/>
              </a:rPr>
              <a:t>Three Ways to Identify an Opportunity</a:t>
            </a:r>
          </a:p>
        </p:txBody>
      </p:sp>
      <p:sp>
        <p:nvSpPr>
          <p:cNvPr id="20483" name="Line 4"/>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2048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209800"/>
            <a:ext cx="8815388"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6033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960418" y="434341"/>
            <a:ext cx="8229600" cy="1143000"/>
          </a:xfrm>
        </p:spPr>
        <p:txBody>
          <a:bodyPr>
            <a:normAutofit fontScale="90000"/>
          </a:bodyPr>
          <a:lstStyle/>
          <a:p>
            <a:pPr eaLnBrk="1" hangingPunct="1"/>
            <a:r>
              <a:rPr lang="en-US" altLang="en-US" b="1" dirty="0">
                <a:solidFill>
                  <a:srgbClr val="002060"/>
                </a:solidFill>
                <a:latin typeface="Times New Roman" panose="02020603050405020304" pitchFamily="18" charset="0"/>
              </a:rPr>
              <a:t>First Approach: Observing Trends</a:t>
            </a:r>
            <a:br>
              <a:rPr lang="en-US" altLang="en-US" b="1" dirty="0">
                <a:solidFill>
                  <a:srgbClr val="002060"/>
                </a:solidFill>
                <a:latin typeface="Times New Roman" panose="02020603050405020304" pitchFamily="18" charset="0"/>
              </a:rPr>
            </a:br>
            <a:endParaRPr lang="en-US" altLang="en-US" b="1" dirty="0">
              <a:solidFill>
                <a:srgbClr val="002060"/>
              </a:solidFill>
              <a:latin typeface="Times New Roman" panose="02020603050405020304" pitchFamily="18" charset="0"/>
            </a:endParaRPr>
          </a:p>
        </p:txBody>
      </p:sp>
      <p:sp>
        <p:nvSpPr>
          <p:cNvPr id="21507" name="Rectangle 3"/>
          <p:cNvSpPr>
            <a:spLocks noGrp="1" noChangeArrowheads="1"/>
          </p:cNvSpPr>
          <p:nvPr>
            <p:ph type="body" idx="1"/>
          </p:nvPr>
        </p:nvSpPr>
        <p:spPr>
          <a:xfrm>
            <a:off x="913775" y="1577341"/>
            <a:ext cx="10364452" cy="4846313"/>
          </a:xfrm>
        </p:spPr>
        <p:txBody>
          <a:bodyPr>
            <a:normAutofit/>
          </a:bodyPr>
          <a:lstStyle/>
          <a:p>
            <a:pPr eaLnBrk="1" hangingPunct="1"/>
            <a:r>
              <a:rPr lang="en-US" altLang="en-US" sz="2400" b="1" cap="none" dirty="0">
                <a:solidFill>
                  <a:srgbClr val="002060"/>
                </a:solidFill>
                <a:latin typeface="Times New Roman" panose="02020603050405020304" pitchFamily="18" charset="0"/>
              </a:rPr>
              <a:t>Observing trends</a:t>
            </a:r>
          </a:p>
          <a:p>
            <a:pPr lvl="1" eaLnBrk="1" hangingPunct="1"/>
            <a:r>
              <a:rPr lang="en-US" altLang="en-US" sz="2400" cap="none" dirty="0">
                <a:latin typeface="Times New Roman" panose="02020603050405020304" pitchFamily="18" charset="0"/>
              </a:rPr>
              <a:t>Trends create opportunities for entrepreneurs to pursue.</a:t>
            </a:r>
          </a:p>
          <a:p>
            <a:pPr lvl="1" eaLnBrk="1" hangingPunct="1"/>
            <a:r>
              <a:rPr lang="en-US" altLang="en-US" sz="2400" cap="none" dirty="0">
                <a:latin typeface="Times New Roman" panose="02020603050405020304" pitchFamily="18" charset="0"/>
              </a:rPr>
              <a:t>The most important trends are:</a:t>
            </a:r>
          </a:p>
          <a:p>
            <a:pPr lvl="2" eaLnBrk="1" hangingPunct="1"/>
            <a:r>
              <a:rPr lang="en-US" altLang="en-US" sz="2400" cap="none" dirty="0">
                <a:latin typeface="Times New Roman" panose="02020603050405020304" pitchFamily="18" charset="0"/>
              </a:rPr>
              <a:t>Economic forces</a:t>
            </a:r>
          </a:p>
          <a:p>
            <a:pPr lvl="2" eaLnBrk="1" hangingPunct="1"/>
            <a:r>
              <a:rPr lang="en-US" altLang="en-US" sz="2400" cap="none" dirty="0">
                <a:latin typeface="Times New Roman" panose="02020603050405020304" pitchFamily="18" charset="0"/>
              </a:rPr>
              <a:t>Social forces</a:t>
            </a:r>
          </a:p>
          <a:p>
            <a:pPr lvl="2" eaLnBrk="1" hangingPunct="1"/>
            <a:r>
              <a:rPr lang="en-US" altLang="en-US" sz="2400" cap="none" dirty="0">
                <a:latin typeface="Times New Roman" panose="02020603050405020304" pitchFamily="18" charset="0"/>
              </a:rPr>
              <a:t>Technological advances</a:t>
            </a:r>
          </a:p>
          <a:p>
            <a:pPr lvl="2" eaLnBrk="1" hangingPunct="1"/>
            <a:r>
              <a:rPr lang="en-US" altLang="en-US" sz="2400" cap="none" dirty="0">
                <a:latin typeface="Times New Roman" panose="02020603050405020304" pitchFamily="18" charset="0"/>
              </a:rPr>
              <a:t>Political action and regulatory change</a:t>
            </a:r>
          </a:p>
          <a:p>
            <a:pPr lvl="2" eaLnBrk="1" hangingPunct="1"/>
            <a:r>
              <a:rPr lang="en-US" altLang="en-US" sz="2400" cap="none" dirty="0">
                <a:latin typeface="Times New Roman" panose="02020603050405020304" pitchFamily="18" charset="0"/>
              </a:rPr>
              <a:t>Natural Environment</a:t>
            </a:r>
          </a:p>
          <a:p>
            <a:pPr lvl="1" eaLnBrk="1" hangingPunct="1"/>
            <a:r>
              <a:rPr lang="en-US" altLang="en-US" sz="2400" cap="none" dirty="0">
                <a:latin typeface="Times New Roman" panose="02020603050405020304" pitchFamily="18" charset="0"/>
              </a:rPr>
              <a:t>It’s important to be aware of changes in these areas.</a:t>
            </a:r>
          </a:p>
          <a:p>
            <a:pPr lvl="2" eaLnBrk="1" hangingPunct="1">
              <a:buFontTx/>
              <a:buNone/>
            </a:pPr>
            <a:endParaRPr lang="en-US" altLang="en-US" sz="2000" cap="none" dirty="0">
              <a:latin typeface="Times New Roman" panose="02020603050405020304" pitchFamily="18" charset="0"/>
            </a:endParaRPr>
          </a:p>
          <a:p>
            <a:pPr lvl="1" eaLnBrk="1" hangingPunct="1"/>
            <a:endParaRPr lang="en-US" altLang="en-US" sz="2400" cap="none" dirty="0">
              <a:latin typeface="Times New Roman" panose="02020603050405020304" pitchFamily="18" charset="0"/>
            </a:endParaRPr>
          </a:p>
        </p:txBody>
      </p:sp>
      <p:sp>
        <p:nvSpPr>
          <p:cNvPr id="21508" name="Line 4"/>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021974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209F7-44CB-604C-2D10-D848F7771627}"/>
              </a:ext>
            </a:extLst>
          </p:cNvPr>
          <p:cNvSpPr>
            <a:spLocks noGrp="1"/>
          </p:cNvSpPr>
          <p:nvPr>
            <p:ph type="title"/>
          </p:nvPr>
        </p:nvSpPr>
        <p:spPr/>
        <p:txBody>
          <a:bodyPr/>
          <a:lstStyle/>
          <a:p>
            <a:r>
              <a:rPr lang="en-LK" dirty="0"/>
              <a:t>PESTEL – Business E</a:t>
            </a:r>
            <a:r>
              <a:rPr lang="en-GB" dirty="0"/>
              <a:t>n</a:t>
            </a:r>
            <a:r>
              <a:rPr lang="en-LK" dirty="0"/>
              <a:t>vironment (External)</a:t>
            </a:r>
          </a:p>
        </p:txBody>
      </p:sp>
      <p:sp>
        <p:nvSpPr>
          <p:cNvPr id="3" name="Content Placeholder 2">
            <a:extLst>
              <a:ext uri="{FF2B5EF4-FFF2-40B4-BE49-F238E27FC236}">
                <a16:creationId xmlns:a16="http://schemas.microsoft.com/office/drawing/2014/main" id="{C419555B-3A3C-EBA4-FD08-97DD930AA490}"/>
              </a:ext>
            </a:extLst>
          </p:cNvPr>
          <p:cNvSpPr>
            <a:spLocks noGrp="1"/>
          </p:cNvSpPr>
          <p:nvPr>
            <p:ph sz="quarter" idx="13"/>
          </p:nvPr>
        </p:nvSpPr>
        <p:spPr/>
        <p:txBody>
          <a:bodyPr/>
          <a:lstStyle/>
          <a:p>
            <a:r>
              <a:rPr lang="en-LK" dirty="0"/>
              <a:t>P – Political</a:t>
            </a:r>
          </a:p>
          <a:p>
            <a:r>
              <a:rPr lang="en-LK" dirty="0"/>
              <a:t>E – Economical</a:t>
            </a:r>
          </a:p>
          <a:p>
            <a:r>
              <a:rPr lang="en-LK" dirty="0"/>
              <a:t>S – Social</a:t>
            </a:r>
          </a:p>
          <a:p>
            <a:r>
              <a:rPr lang="en-LK" dirty="0"/>
              <a:t>T – Technological</a:t>
            </a:r>
          </a:p>
          <a:p>
            <a:r>
              <a:rPr lang="en-LK" dirty="0"/>
              <a:t>E – Environmental </a:t>
            </a:r>
          </a:p>
          <a:p>
            <a:r>
              <a:rPr lang="en-LK" dirty="0"/>
              <a:t>L – Legal</a:t>
            </a:r>
          </a:p>
          <a:p>
            <a:endParaRPr lang="en-LK" dirty="0"/>
          </a:p>
        </p:txBody>
      </p:sp>
    </p:spTree>
    <p:extLst>
      <p:ext uri="{BB962C8B-B14F-4D97-AF65-F5344CB8AC3E}">
        <p14:creationId xmlns:p14="http://schemas.microsoft.com/office/powerpoint/2010/main" val="117158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988127" y="487868"/>
            <a:ext cx="8229600" cy="1143000"/>
          </a:xfrm>
        </p:spPr>
        <p:txBody>
          <a:bodyPr>
            <a:normAutofit fontScale="90000"/>
          </a:bodyPr>
          <a:lstStyle/>
          <a:p>
            <a:pPr eaLnBrk="1" hangingPunct="1"/>
            <a:r>
              <a:rPr lang="en-US" altLang="en-US" dirty="0">
                <a:latin typeface="Times New Roman" panose="02020603050405020304" pitchFamily="18" charset="0"/>
              </a:rPr>
              <a:t>First Approach: Observing Trends</a:t>
            </a:r>
            <a:br>
              <a:rPr lang="en-US" altLang="en-US" dirty="0">
                <a:latin typeface="Times New Roman" panose="02020603050405020304" pitchFamily="18" charset="0"/>
              </a:rPr>
            </a:br>
            <a:endParaRPr lang="en-US" altLang="en-US" dirty="0">
              <a:latin typeface="Times New Roman" panose="02020603050405020304" pitchFamily="18" charset="0"/>
            </a:endParaRPr>
          </a:p>
        </p:txBody>
      </p:sp>
      <p:sp>
        <p:nvSpPr>
          <p:cNvPr id="22531" name="Line 4"/>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32" name="Text Box 6"/>
          <p:cNvSpPr txBox="1">
            <a:spLocks noChangeArrowheads="1"/>
          </p:cNvSpPr>
          <p:nvPr/>
        </p:nvSpPr>
        <p:spPr bwMode="auto">
          <a:xfrm>
            <a:off x="3048000" y="1371601"/>
            <a:ext cx="5562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400">
                <a:latin typeface="Times New Roman" panose="02020603050405020304" pitchFamily="18" charset="0"/>
              </a:rPr>
              <a:t>Environmental Trends Suggesting Business or Product Opportunity Gaps</a:t>
            </a:r>
          </a:p>
        </p:txBody>
      </p:sp>
      <p:pic>
        <p:nvPicPr>
          <p:cNvPr id="2253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2543" y="-1"/>
            <a:ext cx="9125457" cy="6857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194514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981200" y="152400"/>
            <a:ext cx="8229600" cy="1143000"/>
          </a:xfrm>
        </p:spPr>
        <p:txBody>
          <a:bodyPr/>
          <a:lstStyle/>
          <a:p>
            <a:pPr eaLnBrk="1" hangingPunct="1"/>
            <a:r>
              <a:rPr lang="en-US" altLang="en-US">
                <a:latin typeface="Times New Roman" panose="02020603050405020304" pitchFamily="18" charset="0"/>
              </a:rPr>
              <a:t>Trend 1: Economic Forces</a:t>
            </a:r>
          </a:p>
        </p:txBody>
      </p:sp>
      <p:sp>
        <p:nvSpPr>
          <p:cNvPr id="23555" name="Line 4"/>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56" name="Text Box 4"/>
          <p:cNvSpPr txBox="1">
            <a:spLocks noChangeArrowheads="1"/>
          </p:cNvSpPr>
          <p:nvPr/>
        </p:nvSpPr>
        <p:spPr bwMode="auto">
          <a:xfrm>
            <a:off x="693174" y="2521059"/>
            <a:ext cx="4906297"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800" dirty="0">
                <a:latin typeface="Times New Roman" panose="02020603050405020304" pitchFamily="18" charset="0"/>
              </a:rPr>
              <a:t>Economic trends help determine areas that are ripe for new startups and areas that startups should avoid.</a:t>
            </a:r>
          </a:p>
        </p:txBody>
      </p:sp>
      <p:sp>
        <p:nvSpPr>
          <p:cNvPr id="23557" name="Rectangle 5"/>
          <p:cNvSpPr>
            <a:spLocks noChangeArrowheads="1"/>
          </p:cNvSpPr>
          <p:nvPr/>
        </p:nvSpPr>
        <p:spPr bwMode="auto">
          <a:xfrm>
            <a:off x="6019800" y="1524000"/>
            <a:ext cx="4648200" cy="4876800"/>
          </a:xfrm>
          <a:prstGeom prst="rect">
            <a:avLst/>
          </a:prstGeom>
          <a:solidFill>
            <a:srgbClr val="FFFFCC"/>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Times New Roman" panose="02020603050405020304" pitchFamily="18" charset="0"/>
            </a:endParaRPr>
          </a:p>
        </p:txBody>
      </p:sp>
      <p:sp>
        <p:nvSpPr>
          <p:cNvPr id="23558" name="TextBox 13"/>
          <p:cNvSpPr txBox="1">
            <a:spLocks noChangeArrowheads="1"/>
          </p:cNvSpPr>
          <p:nvPr/>
        </p:nvSpPr>
        <p:spPr bwMode="auto">
          <a:xfrm>
            <a:off x="6019800" y="1600201"/>
            <a:ext cx="4419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a:latin typeface="Times New Roman" panose="02020603050405020304" pitchFamily="18" charset="0"/>
              </a:rPr>
              <a:t>Example of Economic Trend Creating a Favorable Opportunity</a:t>
            </a:r>
          </a:p>
        </p:txBody>
      </p:sp>
      <p:sp>
        <p:nvSpPr>
          <p:cNvPr id="23559" name="TextBox 14"/>
          <p:cNvSpPr txBox="1">
            <a:spLocks noChangeArrowheads="1"/>
          </p:cNvSpPr>
          <p:nvPr/>
        </p:nvSpPr>
        <p:spPr bwMode="auto">
          <a:xfrm>
            <a:off x="6096000" y="2438401"/>
            <a:ext cx="4191000"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ts val="3200"/>
              </a:lnSpc>
              <a:spcBef>
                <a:spcPct val="0"/>
              </a:spcBef>
            </a:pPr>
            <a:r>
              <a:rPr lang="en-US" altLang="en-US" sz="2400">
                <a:latin typeface="Times New Roman" panose="02020603050405020304" pitchFamily="18" charset="0"/>
              </a:rPr>
              <a:t> A weak economy favors </a:t>
            </a:r>
          </a:p>
          <a:p>
            <a:pPr>
              <a:lnSpc>
                <a:spcPts val="3200"/>
              </a:lnSpc>
              <a:spcBef>
                <a:spcPct val="0"/>
              </a:spcBef>
              <a:buNone/>
            </a:pPr>
            <a:r>
              <a:rPr lang="en-US" altLang="en-US" sz="2400">
                <a:latin typeface="Times New Roman" panose="02020603050405020304" pitchFamily="18" charset="0"/>
              </a:rPr>
              <a:t>  startups that help consumers</a:t>
            </a:r>
          </a:p>
          <a:p>
            <a:pPr>
              <a:lnSpc>
                <a:spcPts val="3200"/>
              </a:lnSpc>
              <a:spcBef>
                <a:spcPct val="0"/>
              </a:spcBef>
              <a:buNone/>
            </a:pPr>
            <a:r>
              <a:rPr lang="en-US" altLang="en-US" sz="2400">
                <a:latin typeface="Times New Roman" panose="02020603050405020304" pitchFamily="18" charset="0"/>
              </a:rPr>
              <a:t>  save money.</a:t>
            </a:r>
          </a:p>
          <a:p>
            <a:pPr>
              <a:lnSpc>
                <a:spcPts val="3200"/>
              </a:lnSpc>
              <a:spcBef>
                <a:spcPct val="0"/>
              </a:spcBef>
            </a:pPr>
            <a:r>
              <a:rPr lang="en-US" altLang="en-US" sz="2400">
                <a:latin typeface="Times New Roman" panose="02020603050405020304" pitchFamily="18" charset="0"/>
              </a:rPr>
              <a:t> An example is GasBuddy.com,</a:t>
            </a:r>
          </a:p>
          <a:p>
            <a:pPr>
              <a:lnSpc>
                <a:spcPts val="3200"/>
              </a:lnSpc>
              <a:spcBef>
                <a:spcPct val="0"/>
              </a:spcBef>
              <a:buNone/>
            </a:pPr>
            <a:r>
              <a:rPr lang="en-US" altLang="en-US" sz="2400">
                <a:latin typeface="Times New Roman" panose="02020603050405020304" pitchFamily="18" charset="0"/>
              </a:rPr>
              <a:t>  a company started to help </a:t>
            </a:r>
          </a:p>
          <a:p>
            <a:pPr>
              <a:lnSpc>
                <a:spcPts val="3200"/>
              </a:lnSpc>
              <a:spcBef>
                <a:spcPct val="0"/>
              </a:spcBef>
              <a:buNone/>
            </a:pPr>
            <a:r>
              <a:rPr lang="en-US" altLang="en-US" sz="2400">
                <a:latin typeface="Times New Roman" panose="02020603050405020304" pitchFamily="18" charset="0"/>
              </a:rPr>
              <a:t>  consumers save money on gas.</a:t>
            </a:r>
          </a:p>
        </p:txBody>
      </p:sp>
    </p:spTree>
    <p:extLst>
      <p:ext uri="{BB962C8B-B14F-4D97-AF65-F5344CB8AC3E}">
        <p14:creationId xmlns:p14="http://schemas.microsoft.com/office/powerpoint/2010/main" val="3286494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981200" y="152400"/>
            <a:ext cx="8229600" cy="1143000"/>
          </a:xfrm>
        </p:spPr>
        <p:txBody>
          <a:bodyPr/>
          <a:lstStyle/>
          <a:p>
            <a:pPr eaLnBrk="1" hangingPunct="1"/>
            <a:r>
              <a:rPr lang="en-US" altLang="en-US">
                <a:latin typeface="Times New Roman" panose="02020603050405020304" pitchFamily="18" charset="0"/>
              </a:rPr>
              <a:t>Trend 2: Social Forces</a:t>
            </a:r>
          </a:p>
        </p:txBody>
      </p:sp>
      <p:sp>
        <p:nvSpPr>
          <p:cNvPr id="24579" name="Line 4"/>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0" name="Text Box 4"/>
          <p:cNvSpPr txBox="1">
            <a:spLocks noChangeArrowheads="1"/>
          </p:cNvSpPr>
          <p:nvPr/>
        </p:nvSpPr>
        <p:spPr bwMode="auto">
          <a:xfrm>
            <a:off x="1524000" y="1828801"/>
            <a:ext cx="42672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800" dirty="0">
                <a:latin typeface="Times New Roman" panose="02020603050405020304" pitchFamily="18" charset="0"/>
              </a:rPr>
              <a:t>Social trends alter how people and businesses behave and set their priorities.  These trends provide opportunities for new businesses to accommodate the changes.</a:t>
            </a:r>
          </a:p>
        </p:txBody>
      </p:sp>
      <p:sp>
        <p:nvSpPr>
          <p:cNvPr id="24581" name="Rectangle 5"/>
          <p:cNvSpPr>
            <a:spLocks noChangeArrowheads="1"/>
          </p:cNvSpPr>
          <p:nvPr/>
        </p:nvSpPr>
        <p:spPr bwMode="auto">
          <a:xfrm>
            <a:off x="6019800" y="1524000"/>
            <a:ext cx="4648200" cy="4876800"/>
          </a:xfrm>
          <a:prstGeom prst="rect">
            <a:avLst/>
          </a:prstGeom>
          <a:solidFill>
            <a:srgbClr val="FFFFCC"/>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Times New Roman" panose="02020603050405020304" pitchFamily="18" charset="0"/>
            </a:endParaRPr>
          </a:p>
        </p:txBody>
      </p:sp>
      <p:sp>
        <p:nvSpPr>
          <p:cNvPr id="24582" name="TextBox 13"/>
          <p:cNvSpPr txBox="1">
            <a:spLocks noChangeArrowheads="1"/>
          </p:cNvSpPr>
          <p:nvPr/>
        </p:nvSpPr>
        <p:spPr bwMode="auto">
          <a:xfrm>
            <a:off x="6096000" y="1676401"/>
            <a:ext cx="3810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a:latin typeface="Times New Roman" panose="02020603050405020304" pitchFamily="18" charset="0"/>
              </a:rPr>
              <a:t> </a:t>
            </a:r>
          </a:p>
        </p:txBody>
      </p:sp>
      <p:sp>
        <p:nvSpPr>
          <p:cNvPr id="24583" name="TextBox 9"/>
          <p:cNvSpPr txBox="1">
            <a:spLocks noChangeArrowheads="1"/>
          </p:cNvSpPr>
          <p:nvPr/>
        </p:nvSpPr>
        <p:spPr bwMode="auto">
          <a:xfrm>
            <a:off x="6172200" y="1676401"/>
            <a:ext cx="3810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a:latin typeface="Times New Roman" panose="02020603050405020304" pitchFamily="18" charset="0"/>
              </a:rPr>
              <a:t>Examples of Social Trends</a:t>
            </a:r>
          </a:p>
        </p:txBody>
      </p:sp>
      <p:sp>
        <p:nvSpPr>
          <p:cNvPr id="24584" name="TextBox 10"/>
          <p:cNvSpPr txBox="1">
            <a:spLocks noChangeArrowheads="1"/>
          </p:cNvSpPr>
          <p:nvPr/>
        </p:nvSpPr>
        <p:spPr bwMode="auto">
          <a:xfrm>
            <a:off x="6172200" y="2286000"/>
            <a:ext cx="44958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pPr>
            <a:r>
              <a:rPr lang="en-US" altLang="en-US" sz="2400" dirty="0">
                <a:latin typeface="Times New Roman" panose="02020603050405020304" pitchFamily="18" charset="0"/>
              </a:rPr>
              <a:t> Retirement of baby boomers.</a:t>
            </a:r>
          </a:p>
          <a:p>
            <a:pPr eaLnBrk="1" hangingPunct="1">
              <a:spcBef>
                <a:spcPct val="0"/>
              </a:spcBef>
            </a:pPr>
            <a:r>
              <a:rPr lang="en-US" altLang="en-US" sz="2400" dirty="0">
                <a:latin typeface="Times New Roman" panose="02020603050405020304" pitchFamily="18" charset="0"/>
              </a:rPr>
              <a:t> The increasing diversity of </a:t>
            </a:r>
          </a:p>
          <a:p>
            <a:pPr eaLnBrk="1" hangingPunct="1">
              <a:spcBef>
                <a:spcPct val="0"/>
              </a:spcBef>
              <a:buFontTx/>
              <a:buNone/>
            </a:pPr>
            <a:r>
              <a:rPr lang="en-US" altLang="en-US" sz="2400" dirty="0">
                <a:latin typeface="Times New Roman" panose="02020603050405020304" pitchFamily="18" charset="0"/>
              </a:rPr>
              <a:t>   the workplace.</a:t>
            </a:r>
          </a:p>
          <a:p>
            <a:pPr eaLnBrk="1" hangingPunct="1">
              <a:spcBef>
                <a:spcPct val="0"/>
              </a:spcBef>
            </a:pPr>
            <a:r>
              <a:rPr lang="en-US" altLang="en-US" sz="2400" dirty="0">
                <a:latin typeface="Times New Roman" panose="02020603050405020304" pitchFamily="18" charset="0"/>
              </a:rPr>
              <a:t> Increasing interest in health,</a:t>
            </a:r>
          </a:p>
          <a:p>
            <a:pPr eaLnBrk="1" hangingPunct="1">
              <a:spcBef>
                <a:spcPct val="0"/>
              </a:spcBef>
              <a:buFontTx/>
              <a:buNone/>
            </a:pPr>
            <a:r>
              <a:rPr lang="en-US" altLang="en-US" sz="2400" dirty="0">
                <a:latin typeface="Times New Roman" panose="02020603050405020304" pitchFamily="18" charset="0"/>
              </a:rPr>
              <a:t>  fitness, and wellness.</a:t>
            </a:r>
          </a:p>
          <a:p>
            <a:pPr eaLnBrk="1" hangingPunct="1">
              <a:spcBef>
                <a:spcPct val="0"/>
              </a:spcBef>
            </a:pPr>
            <a:r>
              <a:rPr lang="en-US" altLang="en-US" sz="2400" dirty="0">
                <a:latin typeface="Times New Roman" panose="02020603050405020304" pitchFamily="18" charset="0"/>
              </a:rPr>
              <a:t> Emphasis on alternative forms</a:t>
            </a:r>
          </a:p>
          <a:p>
            <a:pPr eaLnBrk="1" hangingPunct="1">
              <a:spcBef>
                <a:spcPct val="0"/>
              </a:spcBef>
              <a:buFontTx/>
              <a:buNone/>
            </a:pPr>
            <a:r>
              <a:rPr lang="en-US" altLang="en-US" sz="2400" dirty="0">
                <a:latin typeface="Times New Roman" panose="02020603050405020304" pitchFamily="18" charset="0"/>
              </a:rPr>
              <a:t>  of energy.</a:t>
            </a:r>
          </a:p>
          <a:p>
            <a:pPr eaLnBrk="1" hangingPunct="1">
              <a:spcBef>
                <a:spcPct val="0"/>
              </a:spcBef>
            </a:pPr>
            <a:r>
              <a:rPr lang="en-US" altLang="en-US" sz="2400" dirty="0">
                <a:latin typeface="Times New Roman" panose="02020603050405020304" pitchFamily="18" charset="0"/>
              </a:rPr>
              <a:t> New forms of music and other</a:t>
            </a:r>
          </a:p>
          <a:p>
            <a:pPr eaLnBrk="1" hangingPunct="1">
              <a:spcBef>
                <a:spcPct val="0"/>
              </a:spcBef>
              <a:buFontTx/>
              <a:buNone/>
            </a:pPr>
            <a:r>
              <a:rPr lang="en-US" altLang="en-US" sz="2400" dirty="0">
                <a:latin typeface="Times New Roman" panose="02020603050405020304" pitchFamily="18" charset="0"/>
              </a:rPr>
              <a:t>  types of entertainment.</a:t>
            </a:r>
          </a:p>
        </p:txBody>
      </p:sp>
    </p:spTree>
    <p:extLst>
      <p:ext uri="{BB962C8B-B14F-4D97-AF65-F5344CB8AC3E}">
        <p14:creationId xmlns:p14="http://schemas.microsoft.com/office/powerpoint/2010/main" val="2227165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46314" y="152400"/>
            <a:ext cx="9764486" cy="1143000"/>
          </a:xfrm>
        </p:spPr>
        <p:txBody>
          <a:bodyPr/>
          <a:lstStyle/>
          <a:p>
            <a:pPr eaLnBrk="1" hangingPunct="1"/>
            <a:r>
              <a:rPr lang="en-US" altLang="en-US" dirty="0">
                <a:latin typeface="Times New Roman" panose="02020603050405020304" pitchFamily="18" charset="0"/>
              </a:rPr>
              <a:t>Trend 3: Technological Advances</a:t>
            </a:r>
          </a:p>
        </p:txBody>
      </p:sp>
      <p:sp>
        <p:nvSpPr>
          <p:cNvPr id="25603" name="Line 4"/>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4" name="Text Box 4"/>
          <p:cNvSpPr txBox="1">
            <a:spLocks noChangeArrowheads="1"/>
          </p:cNvSpPr>
          <p:nvPr/>
        </p:nvSpPr>
        <p:spPr bwMode="auto">
          <a:xfrm>
            <a:off x="1524000" y="2750909"/>
            <a:ext cx="38862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800" dirty="0">
                <a:latin typeface="Times New Roman" panose="02020603050405020304" pitchFamily="18" charset="0"/>
              </a:rPr>
              <a:t>Advances in technology frequently create business opportunities.</a:t>
            </a:r>
          </a:p>
        </p:txBody>
      </p:sp>
      <p:sp>
        <p:nvSpPr>
          <p:cNvPr id="25605" name="Rectangle 5"/>
          <p:cNvSpPr>
            <a:spLocks noChangeArrowheads="1"/>
          </p:cNvSpPr>
          <p:nvPr/>
        </p:nvSpPr>
        <p:spPr bwMode="auto">
          <a:xfrm>
            <a:off x="6019800" y="1524000"/>
            <a:ext cx="4648200" cy="4876800"/>
          </a:xfrm>
          <a:prstGeom prst="rect">
            <a:avLst/>
          </a:prstGeom>
          <a:solidFill>
            <a:srgbClr val="FFFFCC"/>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Times New Roman" panose="02020603050405020304" pitchFamily="18" charset="0"/>
            </a:endParaRPr>
          </a:p>
        </p:txBody>
      </p:sp>
      <p:sp>
        <p:nvSpPr>
          <p:cNvPr id="25606" name="TextBox 13"/>
          <p:cNvSpPr txBox="1">
            <a:spLocks noChangeArrowheads="1"/>
          </p:cNvSpPr>
          <p:nvPr/>
        </p:nvSpPr>
        <p:spPr bwMode="auto">
          <a:xfrm>
            <a:off x="6096000" y="1676401"/>
            <a:ext cx="3810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a:latin typeface="Times New Roman" panose="02020603050405020304" pitchFamily="18" charset="0"/>
              </a:rPr>
              <a:t> </a:t>
            </a:r>
          </a:p>
        </p:txBody>
      </p:sp>
      <p:sp>
        <p:nvSpPr>
          <p:cNvPr id="25607" name="TextBox 9"/>
          <p:cNvSpPr txBox="1">
            <a:spLocks noChangeArrowheads="1"/>
          </p:cNvSpPr>
          <p:nvPr/>
        </p:nvSpPr>
        <p:spPr bwMode="auto">
          <a:xfrm>
            <a:off x="6172200" y="1676400"/>
            <a:ext cx="40386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dirty="0">
                <a:latin typeface="Times New Roman" panose="02020603050405020304" pitchFamily="18" charset="0"/>
              </a:rPr>
              <a:t>Examples of Entire Industries that Have Been Created as the Results of Technological Advances</a:t>
            </a:r>
          </a:p>
        </p:txBody>
      </p:sp>
      <p:sp>
        <p:nvSpPr>
          <p:cNvPr id="25608" name="TextBox 12"/>
          <p:cNvSpPr txBox="1">
            <a:spLocks noChangeArrowheads="1"/>
          </p:cNvSpPr>
          <p:nvPr/>
        </p:nvSpPr>
        <p:spPr bwMode="auto">
          <a:xfrm>
            <a:off x="6172200" y="3276600"/>
            <a:ext cx="38100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pPr>
            <a:r>
              <a:rPr lang="en-US" altLang="en-US" sz="2400" dirty="0">
                <a:latin typeface="Times New Roman" panose="02020603050405020304" pitchFamily="18" charset="0"/>
                <a:cs typeface="Times New Roman" panose="02020603050405020304" pitchFamily="18" charset="0"/>
              </a:rPr>
              <a:t>E-commerce</a:t>
            </a:r>
          </a:p>
          <a:p>
            <a:pPr eaLnBrk="1" hangingPunct="1">
              <a:spcBef>
                <a:spcPct val="0"/>
              </a:spcBef>
            </a:pPr>
            <a:r>
              <a:rPr lang="en-GB" sz="2400" i="0" u="none" strike="noStrike" dirty="0">
                <a:solidFill>
                  <a:srgbClr val="000000"/>
                </a:solidFill>
                <a:effectLst/>
                <a:latin typeface="Times New Roman" panose="02020603050405020304" pitchFamily="18" charset="0"/>
                <a:cs typeface="Times New Roman" panose="02020603050405020304" pitchFamily="18" charset="0"/>
              </a:rPr>
              <a:t>Streaming and Online Content Industry</a:t>
            </a:r>
          </a:p>
          <a:p>
            <a:pPr eaLnBrk="1" hangingPunct="1">
              <a:spcBef>
                <a:spcPct val="0"/>
              </a:spcBef>
            </a:pPr>
            <a:r>
              <a:rPr lang="en-GB" sz="2400" i="0" u="none" strike="noStrike" dirty="0">
                <a:solidFill>
                  <a:srgbClr val="000000"/>
                </a:solidFill>
                <a:effectLst/>
                <a:latin typeface="Times New Roman" panose="02020603050405020304" pitchFamily="18" charset="0"/>
                <a:cs typeface="Times New Roman" panose="02020603050405020304" pitchFamily="18" charset="0"/>
              </a:rPr>
              <a:t>Mobile App Development Industry</a:t>
            </a:r>
          </a:p>
          <a:p>
            <a:pPr eaLnBrk="1" hangingPunct="1">
              <a:spcBef>
                <a:spcPct val="0"/>
              </a:spcBef>
            </a:pPr>
            <a:r>
              <a:rPr lang="en-GB" altLang="en-US" sz="2400" dirty="0">
                <a:solidFill>
                  <a:srgbClr val="000000"/>
                </a:solidFill>
                <a:latin typeface="Times New Roman" panose="02020603050405020304" pitchFamily="18" charset="0"/>
                <a:cs typeface="Times New Roman" panose="02020603050405020304" pitchFamily="18" charset="0"/>
              </a:rPr>
              <a:t>Electric vehicles </a:t>
            </a: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5872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981200" y="295275"/>
            <a:ext cx="8229600" cy="1143000"/>
          </a:xfrm>
        </p:spPr>
        <p:txBody>
          <a:bodyPr>
            <a:normAutofit fontScale="90000"/>
          </a:bodyPr>
          <a:lstStyle/>
          <a:p>
            <a:pPr eaLnBrk="1" hangingPunct="1"/>
            <a:r>
              <a:rPr lang="en-US" altLang="en-US" dirty="0">
                <a:latin typeface="Times New Roman" panose="02020603050405020304" pitchFamily="18" charset="0"/>
              </a:rPr>
              <a:t>Trend 3: Technological Advances</a:t>
            </a:r>
            <a:br>
              <a:rPr lang="en-US" altLang="en-US" dirty="0">
                <a:latin typeface="Times New Roman" panose="02020603050405020304" pitchFamily="18" charset="0"/>
              </a:rPr>
            </a:br>
            <a:endParaRPr lang="en-US" altLang="en-US" dirty="0">
              <a:latin typeface="Times New Roman" panose="02020603050405020304" pitchFamily="18" charset="0"/>
            </a:endParaRPr>
          </a:p>
        </p:txBody>
      </p:sp>
      <p:sp>
        <p:nvSpPr>
          <p:cNvPr id="26627" name="Line 4"/>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28" name="Text Box 4"/>
          <p:cNvSpPr txBox="1">
            <a:spLocks noChangeArrowheads="1"/>
          </p:cNvSpPr>
          <p:nvPr/>
        </p:nvSpPr>
        <p:spPr bwMode="auto">
          <a:xfrm>
            <a:off x="1524000" y="2386012"/>
            <a:ext cx="38862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800" dirty="0">
                <a:latin typeface="Times New Roman" panose="02020603050405020304" pitchFamily="18" charset="0"/>
              </a:rPr>
              <a:t>Once a technology is created, products often emerge to advance it.</a:t>
            </a:r>
          </a:p>
        </p:txBody>
      </p:sp>
      <p:sp>
        <p:nvSpPr>
          <p:cNvPr id="26629" name="Rectangle 5"/>
          <p:cNvSpPr>
            <a:spLocks noChangeArrowheads="1"/>
          </p:cNvSpPr>
          <p:nvPr/>
        </p:nvSpPr>
        <p:spPr bwMode="auto">
          <a:xfrm>
            <a:off x="5638800" y="1524000"/>
            <a:ext cx="5029200" cy="4876800"/>
          </a:xfrm>
          <a:prstGeom prst="rect">
            <a:avLst/>
          </a:prstGeom>
          <a:solidFill>
            <a:srgbClr val="FFFFCC"/>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Times New Roman" panose="02020603050405020304" pitchFamily="18" charset="0"/>
            </a:endParaRPr>
          </a:p>
        </p:txBody>
      </p:sp>
      <p:sp>
        <p:nvSpPr>
          <p:cNvPr id="26630" name="TextBox 13"/>
          <p:cNvSpPr txBox="1">
            <a:spLocks noChangeArrowheads="1"/>
          </p:cNvSpPr>
          <p:nvPr/>
        </p:nvSpPr>
        <p:spPr bwMode="auto">
          <a:xfrm>
            <a:off x="6096000" y="1676401"/>
            <a:ext cx="3810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a:latin typeface="Times New Roman" panose="02020603050405020304" pitchFamily="18" charset="0"/>
              </a:rPr>
              <a:t> </a:t>
            </a:r>
          </a:p>
        </p:txBody>
      </p:sp>
      <p:sp>
        <p:nvSpPr>
          <p:cNvPr id="26631" name="TextBox 12"/>
          <p:cNvSpPr txBox="1">
            <a:spLocks noChangeArrowheads="1"/>
          </p:cNvSpPr>
          <p:nvPr/>
        </p:nvSpPr>
        <p:spPr bwMode="auto">
          <a:xfrm>
            <a:off x="6172200" y="1676401"/>
            <a:ext cx="4114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dirty="0">
                <a:latin typeface="Times New Roman" panose="02020603050405020304" pitchFamily="18" charset="0"/>
              </a:rPr>
              <a:t>Example: H2OAudio</a:t>
            </a:r>
          </a:p>
        </p:txBody>
      </p:sp>
      <p:sp>
        <p:nvSpPr>
          <p:cNvPr id="26632" name="TextBox 13"/>
          <p:cNvSpPr txBox="1">
            <a:spLocks noChangeArrowheads="1"/>
          </p:cNvSpPr>
          <p:nvPr/>
        </p:nvSpPr>
        <p:spPr bwMode="auto">
          <a:xfrm>
            <a:off x="5943600" y="2286000"/>
            <a:ext cx="4577508" cy="409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None/>
            </a:pPr>
            <a:r>
              <a:rPr lang="en-US" altLang="en-US" sz="2000" dirty="0">
                <a:latin typeface="Times New Roman" panose="02020603050405020304" pitchFamily="18" charset="0"/>
                <a:cs typeface="Times New Roman" panose="02020603050405020304" pitchFamily="18" charset="0"/>
              </a:rPr>
              <a:t>H2OAudio, a company started by four former San Diego State University students</a:t>
            </a:r>
            <a:r>
              <a:rPr lang="en-GB" sz="2000" b="0" i="0" u="none" strike="noStrike" dirty="0">
                <a:solidFill>
                  <a:srgbClr val="000000"/>
                </a:solidFill>
                <a:effectLst/>
                <a:latin typeface="Times New Roman" panose="02020603050405020304" pitchFamily="18" charset="0"/>
                <a:cs typeface="Times New Roman" panose="02020603050405020304" pitchFamily="18" charset="0"/>
              </a:rPr>
              <a:t>, founded in 2003, which creates innovative waterproof audio devices for athletes and water enthusiasts. Their products, including waterproof headphones and MP3 players, feature cutting-edge technology like Bluetooth and bone conduction. Endorsed by athletes like Michael Phelps, H2O Audio ensures high-quality sound underwater, enhancing performance and enjoyment in aquatic activities.</a:t>
            </a: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52255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228599" y="401782"/>
            <a:ext cx="11789229" cy="1143000"/>
          </a:xfrm>
        </p:spPr>
        <p:txBody>
          <a:bodyPr>
            <a:normAutofit fontScale="90000"/>
          </a:bodyPr>
          <a:lstStyle/>
          <a:p>
            <a:pPr eaLnBrk="1" hangingPunct="1"/>
            <a:r>
              <a:rPr lang="en-US" altLang="en-US" dirty="0">
                <a:latin typeface="Times New Roman" panose="02020603050405020304" pitchFamily="18" charset="0"/>
              </a:rPr>
              <a:t>Trend 4: Political Action and Regulatory Changes</a:t>
            </a:r>
            <a:br>
              <a:rPr lang="en-US" altLang="en-US" dirty="0">
                <a:latin typeface="Times New Roman" panose="02020603050405020304" pitchFamily="18" charset="0"/>
              </a:rPr>
            </a:br>
            <a:endParaRPr lang="en-US" altLang="en-US" dirty="0">
              <a:latin typeface="Times New Roman" panose="02020603050405020304" pitchFamily="18" charset="0"/>
            </a:endParaRPr>
          </a:p>
        </p:txBody>
      </p:sp>
      <p:sp>
        <p:nvSpPr>
          <p:cNvPr id="27651" name="Line 4"/>
          <p:cNvSpPr>
            <a:spLocks noChangeShapeType="1"/>
          </p:cNvSpPr>
          <p:nvPr/>
        </p:nvSpPr>
        <p:spPr bwMode="auto">
          <a:xfrm>
            <a:off x="1371600" y="14478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2" name="Text Box 4"/>
          <p:cNvSpPr txBox="1">
            <a:spLocks noChangeArrowheads="1"/>
          </p:cNvSpPr>
          <p:nvPr/>
        </p:nvSpPr>
        <p:spPr bwMode="auto">
          <a:xfrm>
            <a:off x="1371599" y="2642420"/>
            <a:ext cx="4306529"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800" dirty="0">
                <a:latin typeface="Times New Roman" panose="02020603050405020304" pitchFamily="18" charset="0"/>
              </a:rPr>
              <a:t>Political action and regulatory changes also provide the basis for opportunities.</a:t>
            </a:r>
          </a:p>
        </p:txBody>
      </p:sp>
      <p:sp>
        <p:nvSpPr>
          <p:cNvPr id="27653" name="Rectangle 5"/>
          <p:cNvSpPr>
            <a:spLocks noChangeArrowheads="1"/>
          </p:cNvSpPr>
          <p:nvPr/>
        </p:nvSpPr>
        <p:spPr bwMode="auto">
          <a:xfrm>
            <a:off x="6019800" y="1524000"/>
            <a:ext cx="4495800" cy="4876800"/>
          </a:xfrm>
          <a:prstGeom prst="rect">
            <a:avLst/>
          </a:prstGeom>
          <a:solidFill>
            <a:srgbClr val="FFFFCC"/>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Times New Roman" panose="02020603050405020304" pitchFamily="18" charset="0"/>
            </a:endParaRPr>
          </a:p>
        </p:txBody>
      </p:sp>
      <p:sp>
        <p:nvSpPr>
          <p:cNvPr id="27654" name="TextBox 13"/>
          <p:cNvSpPr txBox="1">
            <a:spLocks noChangeArrowheads="1"/>
          </p:cNvSpPr>
          <p:nvPr/>
        </p:nvSpPr>
        <p:spPr bwMode="auto">
          <a:xfrm>
            <a:off x="6096000" y="1676401"/>
            <a:ext cx="3810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a:latin typeface="Times New Roman" panose="02020603050405020304" pitchFamily="18" charset="0"/>
              </a:rPr>
              <a:t> </a:t>
            </a:r>
          </a:p>
        </p:txBody>
      </p:sp>
      <p:sp>
        <p:nvSpPr>
          <p:cNvPr id="27655" name="TextBox 12"/>
          <p:cNvSpPr txBox="1">
            <a:spLocks noChangeArrowheads="1"/>
          </p:cNvSpPr>
          <p:nvPr/>
        </p:nvSpPr>
        <p:spPr bwMode="auto">
          <a:xfrm>
            <a:off x="6172200" y="1676401"/>
            <a:ext cx="4114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dirty="0">
                <a:latin typeface="Times New Roman" panose="02020603050405020304" pitchFamily="18" charset="0"/>
              </a:rPr>
              <a:t>Example</a:t>
            </a:r>
          </a:p>
        </p:txBody>
      </p:sp>
      <p:sp>
        <p:nvSpPr>
          <p:cNvPr id="27656" name="TextBox 13"/>
          <p:cNvSpPr txBox="1">
            <a:spLocks noChangeArrowheads="1"/>
          </p:cNvSpPr>
          <p:nvPr/>
        </p:nvSpPr>
        <p:spPr bwMode="auto">
          <a:xfrm>
            <a:off x="6172200" y="2209801"/>
            <a:ext cx="4191000"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sz="2400" dirty="0">
                <a:solidFill>
                  <a:srgbClr val="000000"/>
                </a:solidFill>
                <a:latin typeface="Times New Roman" panose="02020603050405020304" pitchFamily="18" charset="0"/>
                <a:cs typeface="Times New Roman" panose="02020603050405020304" pitchFamily="18" charset="0"/>
              </a:rPr>
              <a:t>The l</a:t>
            </a:r>
            <a:r>
              <a:rPr lang="en-GB" sz="2400" i="0" u="none" strike="noStrike" dirty="0">
                <a:solidFill>
                  <a:srgbClr val="000000"/>
                </a:solidFill>
                <a:effectLst/>
                <a:latin typeface="Times New Roman" panose="02020603050405020304" pitchFamily="18" charset="0"/>
                <a:cs typeface="Times New Roman" panose="02020603050405020304" pitchFamily="18" charset="0"/>
              </a:rPr>
              <a:t>egalization of cannabis in various countries and states. Governments introducing legislation to legalize medical or recreational cannabis trigger the growth of a multibillion-dollar cannabis industry. This change enabled businesses to enter areas like cultivation, distribution, retail, and cannabis-derived products </a:t>
            </a: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81512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a:t>2-</a:t>
            </a:r>
            <a:fld id="{D784ED54-56DA-4C10-824A-54F48055249D}" type="slidenum">
              <a:rPr lang="en-US" altLang="en-US" sz="1400"/>
              <a:pPr>
                <a:spcBef>
                  <a:spcPct val="0"/>
                </a:spcBef>
                <a:buFontTx/>
                <a:buNone/>
              </a:pPr>
              <a:t>19</a:t>
            </a:fld>
            <a:endParaRPr lang="en-US" altLang="en-US" sz="1400"/>
          </a:p>
        </p:txBody>
      </p:sp>
      <p:sp>
        <p:nvSpPr>
          <p:cNvPr id="28674" name="Rectangle 2"/>
          <p:cNvSpPr>
            <a:spLocks noGrp="1" noChangeArrowheads="1"/>
          </p:cNvSpPr>
          <p:nvPr>
            <p:ph type="title"/>
          </p:nvPr>
        </p:nvSpPr>
        <p:spPr>
          <a:xfrm>
            <a:off x="228601" y="442119"/>
            <a:ext cx="11745686" cy="1143000"/>
          </a:xfrm>
        </p:spPr>
        <p:txBody>
          <a:bodyPr>
            <a:normAutofit/>
          </a:bodyPr>
          <a:lstStyle/>
          <a:p>
            <a:pPr eaLnBrk="1" hangingPunct="1"/>
            <a:r>
              <a:rPr lang="en-US" altLang="en-US" dirty="0">
                <a:latin typeface="Times New Roman" panose="02020603050405020304" pitchFamily="18" charset="0"/>
              </a:rPr>
              <a:t>Trend 4: Natural Environmental changes</a:t>
            </a:r>
            <a:br>
              <a:rPr lang="en-US" altLang="en-US" dirty="0">
                <a:latin typeface="Times New Roman" panose="02020603050405020304" pitchFamily="18" charset="0"/>
              </a:rPr>
            </a:br>
            <a:endParaRPr lang="en-US" altLang="en-US" dirty="0">
              <a:latin typeface="Times New Roman" panose="02020603050405020304" pitchFamily="18" charset="0"/>
            </a:endParaRPr>
          </a:p>
        </p:txBody>
      </p:sp>
      <p:sp>
        <p:nvSpPr>
          <p:cNvPr id="28675" name="Line 4"/>
          <p:cNvSpPr>
            <a:spLocks noChangeShapeType="1"/>
          </p:cNvSpPr>
          <p:nvPr/>
        </p:nvSpPr>
        <p:spPr bwMode="auto">
          <a:xfrm>
            <a:off x="1524000" y="14478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76" name="Text Box 4"/>
          <p:cNvSpPr txBox="1">
            <a:spLocks noChangeArrowheads="1"/>
          </p:cNvSpPr>
          <p:nvPr/>
        </p:nvSpPr>
        <p:spPr bwMode="auto">
          <a:xfrm>
            <a:off x="1905000" y="2286000"/>
            <a:ext cx="38862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800" dirty="0">
                <a:latin typeface="Times New Roman" panose="02020603050405020304" pitchFamily="18" charset="0"/>
              </a:rPr>
              <a:t>Natural Environmental changes may create many opportunities.</a:t>
            </a:r>
          </a:p>
        </p:txBody>
      </p:sp>
      <p:sp>
        <p:nvSpPr>
          <p:cNvPr id="28677" name="Rectangle 5"/>
          <p:cNvSpPr>
            <a:spLocks noChangeArrowheads="1"/>
          </p:cNvSpPr>
          <p:nvPr/>
        </p:nvSpPr>
        <p:spPr bwMode="auto">
          <a:xfrm>
            <a:off x="6019800" y="1524000"/>
            <a:ext cx="4267200" cy="4876800"/>
          </a:xfrm>
          <a:prstGeom prst="rect">
            <a:avLst/>
          </a:prstGeom>
          <a:solidFill>
            <a:srgbClr val="FFFFCC"/>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Times New Roman" panose="02020603050405020304" pitchFamily="18" charset="0"/>
            </a:endParaRPr>
          </a:p>
        </p:txBody>
      </p:sp>
      <p:sp>
        <p:nvSpPr>
          <p:cNvPr id="28678" name="TextBox 13"/>
          <p:cNvSpPr txBox="1">
            <a:spLocks noChangeArrowheads="1"/>
          </p:cNvSpPr>
          <p:nvPr/>
        </p:nvSpPr>
        <p:spPr bwMode="auto">
          <a:xfrm>
            <a:off x="6096000" y="1676401"/>
            <a:ext cx="3810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a:latin typeface="Times New Roman" panose="02020603050405020304" pitchFamily="18" charset="0"/>
              </a:rPr>
              <a:t> </a:t>
            </a:r>
          </a:p>
        </p:txBody>
      </p:sp>
      <p:sp>
        <p:nvSpPr>
          <p:cNvPr id="28680" name="TextBox 13"/>
          <p:cNvSpPr txBox="1">
            <a:spLocks noChangeArrowheads="1"/>
          </p:cNvSpPr>
          <p:nvPr/>
        </p:nvSpPr>
        <p:spPr bwMode="auto">
          <a:xfrm>
            <a:off x="6096000" y="1585119"/>
            <a:ext cx="4191000"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sz="2200" dirty="0">
                <a:solidFill>
                  <a:srgbClr val="000000"/>
                </a:solidFill>
                <a:latin typeface="Times New Roman" panose="02020603050405020304" pitchFamily="18" charset="0"/>
                <a:cs typeface="Times New Roman" panose="02020603050405020304" pitchFamily="18" charset="0"/>
              </a:rPr>
              <a:t>T</a:t>
            </a:r>
            <a:r>
              <a:rPr lang="en-GB" sz="2200" i="0" u="none" strike="noStrike" dirty="0">
                <a:solidFill>
                  <a:srgbClr val="000000"/>
                </a:solidFill>
                <a:effectLst/>
                <a:latin typeface="Times New Roman" panose="02020603050405020304" pitchFamily="18" charset="0"/>
                <a:cs typeface="Times New Roman" panose="02020603050405020304" pitchFamily="18" charset="0"/>
              </a:rPr>
              <a:t>he eco-tourism is due to the increasing awareness of biodiversity loss and environmental degradation. Natural environmental changes, such as the threat to rainforests, coral reefs, and endangered species, have led to a growing demand for sustainable travel experiences. Eco-tourism promotes conservation efforts while creating opportunities for businesses focused on sustainable hospitality, guided nature tours, and eco-friendly accommodations.</a:t>
            </a:r>
            <a:endParaRPr lang="en-US" alt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0380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293500" y="495300"/>
            <a:ext cx="9604999" cy="1143000"/>
          </a:xfrm>
        </p:spPr>
        <p:txBody>
          <a:bodyPr>
            <a:normAutofit fontScale="90000"/>
          </a:bodyPr>
          <a:lstStyle/>
          <a:p>
            <a:pPr algn="ctr" eaLnBrk="1" hangingPunct="1"/>
            <a:r>
              <a:rPr lang="en-US" altLang="en-US" b="1" dirty="0">
                <a:solidFill>
                  <a:srgbClr val="002060"/>
                </a:solidFill>
                <a:latin typeface="Times New Roman" panose="02020603050405020304" pitchFamily="18" charset="0"/>
              </a:rPr>
              <a:t>Second Approach: Solving a Problem</a:t>
            </a:r>
            <a:br>
              <a:rPr lang="en-US" altLang="en-US" b="1" dirty="0">
                <a:solidFill>
                  <a:srgbClr val="002060"/>
                </a:solidFill>
                <a:latin typeface="Times New Roman" panose="02020603050405020304" pitchFamily="18" charset="0"/>
              </a:rPr>
            </a:br>
            <a:endParaRPr lang="en-US" altLang="en-US" b="1" dirty="0">
              <a:solidFill>
                <a:srgbClr val="002060"/>
              </a:solidFill>
              <a:latin typeface="Times New Roman" panose="02020603050405020304" pitchFamily="18" charset="0"/>
            </a:endParaRPr>
          </a:p>
        </p:txBody>
      </p:sp>
      <p:sp>
        <p:nvSpPr>
          <p:cNvPr id="29699" name="Rectangle 3"/>
          <p:cNvSpPr>
            <a:spLocks noGrp="1" noChangeArrowheads="1"/>
          </p:cNvSpPr>
          <p:nvPr>
            <p:ph type="body" idx="1"/>
          </p:nvPr>
        </p:nvSpPr>
        <p:spPr>
          <a:xfrm>
            <a:off x="913775" y="2035278"/>
            <a:ext cx="10364452" cy="3755922"/>
          </a:xfrm>
        </p:spPr>
        <p:txBody>
          <a:bodyPr>
            <a:normAutofit/>
          </a:bodyPr>
          <a:lstStyle/>
          <a:p>
            <a:pPr eaLnBrk="1" hangingPunct="1"/>
            <a:r>
              <a:rPr lang="en-US" altLang="en-US" sz="2800" cap="none" dirty="0">
                <a:latin typeface="Times New Roman" panose="02020603050405020304" pitchFamily="18" charset="0"/>
              </a:rPr>
              <a:t>Solving a problem</a:t>
            </a:r>
          </a:p>
          <a:p>
            <a:pPr lvl="1" eaLnBrk="1" hangingPunct="1"/>
            <a:r>
              <a:rPr lang="en-US" altLang="en-US" sz="2400" cap="none" dirty="0">
                <a:latin typeface="Times New Roman" panose="02020603050405020304" pitchFamily="18" charset="0"/>
              </a:rPr>
              <a:t>Sometimes identifying opportunities simply involves noticing a problem and finding a way to solve it.</a:t>
            </a:r>
          </a:p>
          <a:p>
            <a:pPr lvl="1" eaLnBrk="1" hangingPunct="1"/>
            <a:r>
              <a:rPr lang="en-US" altLang="en-US" sz="2400" cap="none" dirty="0">
                <a:latin typeface="Times New Roman" panose="02020603050405020304" pitchFamily="18" charset="0"/>
              </a:rPr>
              <a:t>These problems can be pinpointed through observing trends and through more simple means, such as intuition or change. </a:t>
            </a:r>
          </a:p>
          <a:p>
            <a:pPr lvl="2" eaLnBrk="1" hangingPunct="1">
              <a:buFontTx/>
              <a:buNone/>
            </a:pPr>
            <a:endParaRPr lang="en-US" altLang="en-US" sz="2000" cap="none" dirty="0">
              <a:latin typeface="Times New Roman" panose="02020603050405020304" pitchFamily="18" charset="0"/>
            </a:endParaRPr>
          </a:p>
          <a:p>
            <a:pPr lvl="1" eaLnBrk="1" hangingPunct="1"/>
            <a:endParaRPr lang="en-US" altLang="en-US" sz="2400" cap="none" dirty="0">
              <a:latin typeface="Times New Roman" panose="02020603050405020304" pitchFamily="18" charset="0"/>
            </a:endParaRPr>
          </a:p>
        </p:txBody>
      </p:sp>
      <p:sp>
        <p:nvSpPr>
          <p:cNvPr id="29700" name="Line 4"/>
          <p:cNvSpPr>
            <a:spLocks noChangeShapeType="1"/>
          </p:cNvSpPr>
          <p:nvPr/>
        </p:nvSpPr>
        <p:spPr bwMode="auto">
          <a:xfrm>
            <a:off x="1524000" y="11430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2052026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524000" y="495301"/>
            <a:ext cx="9006348" cy="1143000"/>
          </a:xfrm>
        </p:spPr>
        <p:txBody>
          <a:bodyPr>
            <a:normAutofit fontScale="90000"/>
          </a:bodyPr>
          <a:lstStyle/>
          <a:p>
            <a:pPr eaLnBrk="1" hangingPunct="1"/>
            <a:r>
              <a:rPr lang="en-US" altLang="en-US" dirty="0">
                <a:latin typeface="Times New Roman" panose="02020603050405020304" pitchFamily="18" charset="0"/>
              </a:rPr>
              <a:t>Second Approach: Solving a Problem</a:t>
            </a:r>
            <a:br>
              <a:rPr lang="en-US" altLang="en-US" dirty="0">
                <a:latin typeface="Times New Roman" panose="02020603050405020304" pitchFamily="18" charset="0"/>
              </a:rPr>
            </a:br>
            <a:endParaRPr lang="en-US" altLang="en-US" dirty="0">
              <a:latin typeface="Times New Roman" panose="02020603050405020304" pitchFamily="18" charset="0"/>
            </a:endParaRPr>
          </a:p>
        </p:txBody>
      </p:sp>
      <p:sp>
        <p:nvSpPr>
          <p:cNvPr id="30723" name="Line 4"/>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3072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2057400"/>
            <a:ext cx="4694238"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TextBox 11"/>
          <p:cNvSpPr txBox="1">
            <a:spLocks noChangeArrowheads="1"/>
          </p:cNvSpPr>
          <p:nvPr/>
        </p:nvSpPr>
        <p:spPr bwMode="auto">
          <a:xfrm>
            <a:off x="892628" y="2204472"/>
            <a:ext cx="4898571"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pPr>
            <a:r>
              <a:rPr lang="en-US" altLang="en-US" sz="2400" dirty="0">
                <a:latin typeface="Times New Roman" panose="02020603050405020304" pitchFamily="18" charset="0"/>
              </a:rPr>
              <a:t> A problem facing the U.S. and other countries is finding alternatives to fossil fuels.</a:t>
            </a:r>
          </a:p>
          <a:p>
            <a:pPr eaLnBrk="1" hangingPunct="1">
              <a:spcBef>
                <a:spcPct val="0"/>
              </a:spcBef>
              <a:buFontTx/>
              <a:buNone/>
            </a:pPr>
            <a:endParaRPr lang="en-US" altLang="en-US" sz="2400" dirty="0">
              <a:latin typeface="Times New Roman" panose="02020603050405020304" pitchFamily="18" charset="0"/>
            </a:endParaRPr>
          </a:p>
          <a:p>
            <a:pPr eaLnBrk="1" hangingPunct="1">
              <a:spcBef>
                <a:spcPct val="0"/>
              </a:spcBef>
            </a:pPr>
            <a:r>
              <a:rPr lang="en-US" altLang="en-US" sz="2400" dirty="0">
                <a:latin typeface="Times New Roman" panose="02020603050405020304" pitchFamily="18" charset="0"/>
              </a:rPr>
              <a:t> A large number of entrepreneurial firms, like this wind farm, are being launched to solve this problem. </a:t>
            </a:r>
          </a:p>
        </p:txBody>
      </p:sp>
    </p:spTree>
    <p:extLst>
      <p:ext uri="{BB962C8B-B14F-4D97-AF65-F5344CB8AC3E}">
        <p14:creationId xmlns:p14="http://schemas.microsoft.com/office/powerpoint/2010/main" val="1109440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228601" y="579436"/>
            <a:ext cx="11963400" cy="1143000"/>
          </a:xfrm>
        </p:spPr>
        <p:txBody>
          <a:bodyPr>
            <a:normAutofit fontScale="90000"/>
          </a:bodyPr>
          <a:lstStyle/>
          <a:p>
            <a:pPr eaLnBrk="1" hangingPunct="1"/>
            <a:r>
              <a:rPr lang="en-US" altLang="en-US" b="1" dirty="0">
                <a:solidFill>
                  <a:srgbClr val="002060"/>
                </a:solidFill>
                <a:latin typeface="Times New Roman" panose="02020603050405020304" pitchFamily="18" charset="0"/>
              </a:rPr>
              <a:t>Third Approach: Finding Gaps in the Marketplace</a:t>
            </a:r>
            <a:br>
              <a:rPr lang="en-US" altLang="en-US" b="1" dirty="0">
                <a:solidFill>
                  <a:srgbClr val="002060"/>
                </a:solidFill>
                <a:latin typeface="Times New Roman" panose="02020603050405020304" pitchFamily="18" charset="0"/>
              </a:rPr>
            </a:br>
            <a:endParaRPr lang="en-US" altLang="en-US" b="1" dirty="0">
              <a:solidFill>
                <a:srgbClr val="002060"/>
              </a:solidFill>
              <a:latin typeface="Times New Roman" panose="02020603050405020304" pitchFamily="18" charset="0"/>
            </a:endParaRPr>
          </a:p>
        </p:txBody>
      </p:sp>
      <p:sp>
        <p:nvSpPr>
          <p:cNvPr id="31747" name="Rectangle 3"/>
          <p:cNvSpPr>
            <a:spLocks noGrp="1" noChangeArrowheads="1"/>
          </p:cNvSpPr>
          <p:nvPr>
            <p:ph type="body" idx="1"/>
          </p:nvPr>
        </p:nvSpPr>
        <p:spPr>
          <a:xfrm>
            <a:off x="1524000" y="1752601"/>
            <a:ext cx="8686800" cy="4525963"/>
          </a:xfrm>
        </p:spPr>
        <p:txBody>
          <a:bodyPr/>
          <a:lstStyle/>
          <a:p>
            <a:pPr marL="0" indent="0" eaLnBrk="1" hangingPunct="1">
              <a:lnSpc>
                <a:spcPct val="90000"/>
              </a:lnSpc>
              <a:buNone/>
            </a:pPr>
            <a:r>
              <a:rPr lang="en-US" altLang="en-US" sz="2800" cap="none" dirty="0">
                <a:latin typeface="Times New Roman" panose="02020603050405020304" pitchFamily="18" charset="0"/>
              </a:rPr>
              <a:t>Gaps in the marketplace</a:t>
            </a:r>
          </a:p>
          <a:p>
            <a:pPr eaLnBrk="1" hangingPunct="1">
              <a:lnSpc>
                <a:spcPct val="90000"/>
              </a:lnSpc>
            </a:pPr>
            <a:endParaRPr lang="en-US" altLang="en-US" sz="2800" cap="none" dirty="0">
              <a:latin typeface="Times New Roman" panose="02020603050405020304" pitchFamily="18" charset="0"/>
            </a:endParaRPr>
          </a:p>
          <a:p>
            <a:pPr lvl="1" eaLnBrk="1" hangingPunct="1">
              <a:lnSpc>
                <a:spcPct val="90000"/>
              </a:lnSpc>
            </a:pPr>
            <a:r>
              <a:rPr lang="en-US" altLang="en-US" sz="2400" cap="none" dirty="0">
                <a:latin typeface="Times New Roman" panose="02020603050405020304" pitchFamily="18" charset="0"/>
              </a:rPr>
              <a:t>A third approach to identifying opportunities is to find a gap in the marketplace</a:t>
            </a:r>
          </a:p>
          <a:p>
            <a:pPr lvl="1" eaLnBrk="1" hangingPunct="1">
              <a:lnSpc>
                <a:spcPct val="90000"/>
              </a:lnSpc>
            </a:pPr>
            <a:endParaRPr lang="en-US" altLang="en-US" sz="2400" cap="none" dirty="0">
              <a:latin typeface="Times New Roman" panose="02020603050405020304" pitchFamily="18" charset="0"/>
            </a:endParaRPr>
          </a:p>
          <a:p>
            <a:pPr lvl="1" eaLnBrk="1" hangingPunct="1">
              <a:lnSpc>
                <a:spcPct val="90000"/>
              </a:lnSpc>
            </a:pPr>
            <a:r>
              <a:rPr lang="en-US" altLang="en-US" sz="2400" cap="none" dirty="0">
                <a:latin typeface="Times New Roman" panose="02020603050405020304" pitchFamily="18" charset="0"/>
              </a:rPr>
              <a:t>A gap in the marketplace is often created </a:t>
            </a:r>
            <a:r>
              <a:rPr lang="en-US" altLang="en-US" sz="2400" u="sng" cap="none" dirty="0">
                <a:latin typeface="Times New Roman" panose="02020603050405020304" pitchFamily="18" charset="0"/>
              </a:rPr>
              <a:t>when a product or service is needed by a specific group of people </a:t>
            </a:r>
            <a:r>
              <a:rPr lang="en-US" altLang="en-US" sz="2400" cap="none" dirty="0">
                <a:latin typeface="Times New Roman" panose="02020603050405020304" pitchFamily="18" charset="0"/>
              </a:rPr>
              <a:t>but doesn’t represent a large enough market to be of interest to mainstream retailers or manufacturers.</a:t>
            </a:r>
          </a:p>
        </p:txBody>
      </p:sp>
      <p:sp>
        <p:nvSpPr>
          <p:cNvPr id="31748" name="Line 4"/>
          <p:cNvSpPr>
            <a:spLocks noChangeShapeType="1"/>
          </p:cNvSpPr>
          <p:nvPr/>
        </p:nvSpPr>
        <p:spPr bwMode="auto">
          <a:xfrm>
            <a:off x="1524000" y="14478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40386294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283906" y="560388"/>
            <a:ext cx="11624187" cy="1143000"/>
          </a:xfrm>
        </p:spPr>
        <p:txBody>
          <a:bodyPr>
            <a:normAutofit fontScale="90000"/>
          </a:bodyPr>
          <a:lstStyle/>
          <a:p>
            <a:pPr eaLnBrk="1" hangingPunct="1"/>
            <a:r>
              <a:rPr lang="en-US" altLang="en-US" dirty="0">
                <a:latin typeface="Times New Roman" panose="02020603050405020304" pitchFamily="18" charset="0"/>
              </a:rPr>
              <a:t>Third Approach: Finding Gaps in the Marketplace</a:t>
            </a:r>
            <a:br>
              <a:rPr lang="en-US" altLang="en-US" dirty="0">
                <a:latin typeface="Times New Roman" panose="02020603050405020304" pitchFamily="18" charset="0"/>
              </a:rPr>
            </a:br>
            <a:endParaRPr lang="en-US" altLang="en-US" dirty="0">
              <a:latin typeface="Times New Roman" panose="02020603050405020304" pitchFamily="18" charset="0"/>
            </a:endParaRPr>
          </a:p>
        </p:txBody>
      </p:sp>
      <p:sp>
        <p:nvSpPr>
          <p:cNvPr id="32771" name="Line 4"/>
          <p:cNvSpPr>
            <a:spLocks noChangeShapeType="1"/>
          </p:cNvSpPr>
          <p:nvPr/>
        </p:nvSpPr>
        <p:spPr bwMode="auto">
          <a:xfrm>
            <a:off x="1524000" y="14478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72" name="Text Box 4"/>
          <p:cNvSpPr txBox="1">
            <a:spLocks noChangeArrowheads="1"/>
          </p:cNvSpPr>
          <p:nvPr/>
        </p:nvSpPr>
        <p:spPr bwMode="auto">
          <a:xfrm>
            <a:off x="1072308" y="2679138"/>
            <a:ext cx="42672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800" dirty="0">
                <a:latin typeface="Times New Roman" panose="02020603050405020304" pitchFamily="18" charset="0"/>
              </a:rPr>
              <a:t>Product gaps in the marketplace represent potentially viable business opportunities.</a:t>
            </a:r>
          </a:p>
        </p:txBody>
      </p:sp>
      <p:sp>
        <p:nvSpPr>
          <p:cNvPr id="32773" name="Rectangle 5"/>
          <p:cNvSpPr>
            <a:spLocks noChangeArrowheads="1"/>
          </p:cNvSpPr>
          <p:nvPr/>
        </p:nvSpPr>
        <p:spPr bwMode="auto">
          <a:xfrm>
            <a:off x="5684705" y="1774824"/>
            <a:ext cx="6223388" cy="4625975"/>
          </a:xfrm>
          <a:prstGeom prst="rect">
            <a:avLst/>
          </a:prstGeom>
          <a:solidFill>
            <a:srgbClr val="FFFFCC"/>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Times New Roman" panose="02020603050405020304" pitchFamily="18" charset="0"/>
            </a:endParaRPr>
          </a:p>
        </p:txBody>
      </p:sp>
      <p:sp>
        <p:nvSpPr>
          <p:cNvPr id="32774" name="TextBox 13"/>
          <p:cNvSpPr txBox="1">
            <a:spLocks noChangeArrowheads="1"/>
          </p:cNvSpPr>
          <p:nvPr/>
        </p:nvSpPr>
        <p:spPr bwMode="auto">
          <a:xfrm>
            <a:off x="6096000" y="1676401"/>
            <a:ext cx="3810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a:latin typeface="Times New Roman" panose="02020603050405020304" pitchFamily="18" charset="0"/>
              </a:rPr>
              <a:t> </a:t>
            </a:r>
          </a:p>
        </p:txBody>
      </p:sp>
      <p:sp>
        <p:nvSpPr>
          <p:cNvPr id="32776" name="TextBox 13"/>
          <p:cNvSpPr txBox="1">
            <a:spLocks noChangeArrowheads="1"/>
          </p:cNvSpPr>
          <p:nvPr/>
        </p:nvSpPr>
        <p:spPr bwMode="auto">
          <a:xfrm>
            <a:off x="5938092" y="1822758"/>
            <a:ext cx="5773643"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l">
              <a:buNone/>
            </a:pPr>
            <a:r>
              <a:rPr lang="en-GB" sz="2400" b="0" i="0" u="none" strike="noStrike" dirty="0">
                <a:solidFill>
                  <a:srgbClr val="000000"/>
                </a:solidFill>
                <a:effectLst/>
                <a:latin typeface="Times New Roman" panose="02020603050405020304" pitchFamily="18" charset="0"/>
                <a:cs typeface="Times New Roman" panose="02020603050405020304" pitchFamily="18" charset="0"/>
              </a:rPr>
              <a:t>In 2000, Tish </a:t>
            </a:r>
            <a:r>
              <a:rPr lang="en-GB" sz="2400" b="0" i="0" u="none" strike="noStrike" dirty="0" err="1">
                <a:solidFill>
                  <a:srgbClr val="000000"/>
                </a:solidFill>
                <a:effectLst/>
                <a:latin typeface="Times New Roman" panose="02020603050405020304" pitchFamily="18" charset="0"/>
                <a:cs typeface="Times New Roman" panose="02020603050405020304" pitchFamily="18" charset="0"/>
              </a:rPr>
              <a:t>Ciravolo</a:t>
            </a:r>
            <a:r>
              <a:rPr lang="en-GB" sz="2400" b="0" i="0" u="none" strike="noStrike" dirty="0">
                <a:solidFill>
                  <a:srgbClr val="000000"/>
                </a:solidFill>
                <a:effectLst/>
                <a:latin typeface="Times New Roman" panose="02020603050405020304" pitchFamily="18" charset="0"/>
                <a:cs typeface="Times New Roman" panose="02020603050405020304" pitchFamily="18" charset="0"/>
              </a:rPr>
              <a:t> founded Daisy Rock Girl Guitars to address the lack of guitars designed specifically for women. The company produces electric and acoustic guitars, basses, and ukuleles tailored for female musicians. In 2016, Daisy Rock entered a licensing agreement with KMC Music for global distribution. As of 2024, the company announced plans to relaunch the Heartbreakers series in 2025, with limited models available for purchase through </a:t>
            </a:r>
            <a:r>
              <a:rPr lang="en-GB" sz="2400" b="0" i="0" u="none" strike="noStrike" dirty="0" err="1">
                <a:solidFill>
                  <a:srgbClr val="000000"/>
                </a:solidFill>
                <a:effectLst/>
                <a:latin typeface="Times New Roman" panose="02020603050405020304" pitchFamily="18" charset="0"/>
                <a:cs typeface="Times New Roman" panose="02020603050405020304" pitchFamily="18" charset="0"/>
              </a:rPr>
              <a:t>Reverb.com</a:t>
            </a:r>
            <a:r>
              <a:rPr lang="en-GB" sz="2400" b="0" i="0" u="none" strike="noStrike" dirty="0">
                <a:solidFill>
                  <a:srgbClr val="000000"/>
                </a:solidFill>
                <a:effectLst/>
                <a:latin typeface="Times New Roman" panose="02020603050405020304" pitchFamily="18" charset="0"/>
                <a:cs typeface="Times New Roman" panose="02020603050405020304" pitchFamily="18" charset="0"/>
              </a:rPr>
              <a:t>.</a:t>
            </a: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49631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6703" y="251679"/>
            <a:ext cx="12285406" cy="1143000"/>
          </a:xfrm>
        </p:spPr>
        <p:txBody>
          <a:bodyPr/>
          <a:lstStyle/>
          <a:p>
            <a:pPr eaLnBrk="1" hangingPunct="1"/>
            <a:r>
              <a:rPr lang="en-US" altLang="en-US" dirty="0">
                <a:latin typeface="Times New Roman" panose="02020603050405020304" pitchFamily="18" charset="0"/>
              </a:rPr>
              <a:t>Personal Characteristics of the Entrepreneur</a:t>
            </a:r>
          </a:p>
        </p:txBody>
      </p:sp>
      <p:sp>
        <p:nvSpPr>
          <p:cNvPr id="33795" name="Line 4"/>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796" name="Text Box 6"/>
          <p:cNvSpPr txBox="1">
            <a:spLocks noChangeArrowheads="1"/>
          </p:cNvSpPr>
          <p:nvPr/>
        </p:nvSpPr>
        <p:spPr bwMode="auto">
          <a:xfrm>
            <a:off x="2743200" y="1524001"/>
            <a:ext cx="5867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endParaRPr lang="en-US" altLang="en-US" sz="4000">
              <a:latin typeface="Times New Roman" panose="02020603050405020304" pitchFamily="18" charset="0"/>
            </a:endParaRPr>
          </a:p>
        </p:txBody>
      </p:sp>
      <p:sp>
        <p:nvSpPr>
          <p:cNvPr id="33797" name="Text Box 7"/>
          <p:cNvSpPr txBox="1">
            <a:spLocks noChangeArrowheads="1"/>
          </p:cNvSpPr>
          <p:nvPr/>
        </p:nvSpPr>
        <p:spPr bwMode="auto">
          <a:xfrm>
            <a:off x="2514600" y="1524001"/>
            <a:ext cx="6858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400" dirty="0">
                <a:latin typeface="Times New Roman" panose="02020603050405020304" pitchFamily="18" charset="0"/>
              </a:rPr>
              <a:t>Characteristics that tend to make some people better at </a:t>
            </a:r>
            <a:r>
              <a:rPr lang="en-US" altLang="en-US" sz="2400" b="1" i="1" dirty="0">
                <a:solidFill>
                  <a:srgbClr val="FF0000"/>
                </a:solidFill>
                <a:latin typeface="Times New Roman" panose="02020603050405020304" pitchFamily="18" charset="0"/>
              </a:rPr>
              <a:t>recognizing opportunities than others</a:t>
            </a:r>
          </a:p>
        </p:txBody>
      </p:sp>
      <p:sp>
        <p:nvSpPr>
          <p:cNvPr id="33798" name="Rectangle 8"/>
          <p:cNvSpPr>
            <a:spLocks noChangeArrowheads="1"/>
          </p:cNvSpPr>
          <p:nvPr/>
        </p:nvSpPr>
        <p:spPr bwMode="auto">
          <a:xfrm>
            <a:off x="2286000" y="2895600"/>
            <a:ext cx="2514600" cy="762000"/>
          </a:xfrm>
          <a:prstGeom prst="rect">
            <a:avLst/>
          </a:prstGeom>
          <a:solidFill>
            <a:srgbClr val="FFFFCC"/>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400">
                <a:latin typeface="Times New Roman" panose="02020603050405020304" pitchFamily="18" charset="0"/>
              </a:rPr>
              <a:t>Prior Experience</a:t>
            </a:r>
          </a:p>
        </p:txBody>
      </p:sp>
      <p:sp>
        <p:nvSpPr>
          <p:cNvPr id="33799" name="Rectangle 9"/>
          <p:cNvSpPr>
            <a:spLocks noChangeArrowheads="1"/>
          </p:cNvSpPr>
          <p:nvPr/>
        </p:nvSpPr>
        <p:spPr bwMode="auto">
          <a:xfrm>
            <a:off x="6934200" y="2895600"/>
            <a:ext cx="2514600" cy="762000"/>
          </a:xfrm>
          <a:prstGeom prst="rect">
            <a:avLst/>
          </a:prstGeom>
          <a:solidFill>
            <a:srgbClr val="FFFFCC"/>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400">
                <a:latin typeface="Times New Roman" panose="02020603050405020304" pitchFamily="18" charset="0"/>
              </a:rPr>
              <a:t>Cognitive Factors</a:t>
            </a:r>
          </a:p>
        </p:txBody>
      </p:sp>
      <p:sp>
        <p:nvSpPr>
          <p:cNvPr id="33800" name="Rectangle 10"/>
          <p:cNvSpPr>
            <a:spLocks noChangeArrowheads="1"/>
          </p:cNvSpPr>
          <p:nvPr/>
        </p:nvSpPr>
        <p:spPr bwMode="auto">
          <a:xfrm>
            <a:off x="2286000" y="4724400"/>
            <a:ext cx="2514600" cy="762000"/>
          </a:xfrm>
          <a:prstGeom prst="rect">
            <a:avLst/>
          </a:prstGeom>
          <a:solidFill>
            <a:srgbClr val="FFFFCC"/>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400">
                <a:latin typeface="Times New Roman" panose="02020603050405020304" pitchFamily="18" charset="0"/>
              </a:rPr>
              <a:t>Social Networks</a:t>
            </a:r>
          </a:p>
        </p:txBody>
      </p:sp>
      <p:sp>
        <p:nvSpPr>
          <p:cNvPr id="33801" name="Rectangle 11"/>
          <p:cNvSpPr>
            <a:spLocks noChangeArrowheads="1"/>
          </p:cNvSpPr>
          <p:nvPr/>
        </p:nvSpPr>
        <p:spPr bwMode="auto">
          <a:xfrm>
            <a:off x="6934200" y="4724400"/>
            <a:ext cx="2514600" cy="762000"/>
          </a:xfrm>
          <a:prstGeom prst="rect">
            <a:avLst/>
          </a:prstGeom>
          <a:solidFill>
            <a:srgbClr val="FFFFCC"/>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400">
                <a:latin typeface="Times New Roman" panose="02020603050405020304" pitchFamily="18" charset="0"/>
              </a:rPr>
              <a:t>Creativity</a:t>
            </a:r>
          </a:p>
        </p:txBody>
      </p:sp>
    </p:spTree>
    <p:extLst>
      <p:ext uri="{BB962C8B-B14F-4D97-AF65-F5344CB8AC3E}">
        <p14:creationId xmlns:p14="http://schemas.microsoft.com/office/powerpoint/2010/main" val="2832505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523999" y="152400"/>
            <a:ext cx="9257071" cy="1143000"/>
          </a:xfrm>
        </p:spPr>
        <p:txBody>
          <a:bodyPr/>
          <a:lstStyle/>
          <a:p>
            <a:pPr eaLnBrk="1" hangingPunct="1"/>
            <a:r>
              <a:rPr lang="en-US" altLang="en-US" dirty="0">
                <a:latin typeface="Times New Roman" panose="02020603050405020304" pitchFamily="18" charset="0"/>
              </a:rPr>
              <a:t>Prior Experience</a:t>
            </a:r>
          </a:p>
        </p:txBody>
      </p:sp>
      <p:sp>
        <p:nvSpPr>
          <p:cNvPr id="34819" name="Rectangle 3"/>
          <p:cNvSpPr>
            <a:spLocks noGrp="1" noChangeArrowheads="1"/>
          </p:cNvSpPr>
          <p:nvPr>
            <p:ph type="body" idx="1"/>
          </p:nvPr>
        </p:nvSpPr>
        <p:spPr>
          <a:xfrm>
            <a:off x="1153886" y="1524001"/>
            <a:ext cx="9759920" cy="4525963"/>
          </a:xfrm>
        </p:spPr>
        <p:txBody>
          <a:bodyPr>
            <a:normAutofit/>
          </a:bodyPr>
          <a:lstStyle/>
          <a:p>
            <a:pPr eaLnBrk="1" hangingPunct="1"/>
            <a:r>
              <a:rPr lang="en-US" altLang="en-US" sz="2800" cap="none" dirty="0">
                <a:latin typeface="Times New Roman" panose="02020603050405020304" pitchFamily="18" charset="0"/>
              </a:rPr>
              <a:t>Prior industry experience</a:t>
            </a:r>
          </a:p>
          <a:p>
            <a:pPr eaLnBrk="1" hangingPunct="1"/>
            <a:endParaRPr lang="en-US" altLang="en-US" sz="2800" cap="none" dirty="0">
              <a:latin typeface="Times New Roman" panose="02020603050405020304" pitchFamily="18" charset="0"/>
            </a:endParaRPr>
          </a:p>
          <a:p>
            <a:pPr lvl="1" eaLnBrk="1" hangingPunct="1"/>
            <a:r>
              <a:rPr lang="en-US" altLang="en-US" sz="2400" cap="none" dirty="0">
                <a:latin typeface="Times New Roman" panose="02020603050405020304" pitchFamily="18" charset="0"/>
              </a:rPr>
              <a:t>Several studies have shown that prior experience in an industry helps an entrepreneur recognize business opportunities.  </a:t>
            </a:r>
          </a:p>
          <a:p>
            <a:pPr lvl="1" eaLnBrk="1" hangingPunct="1"/>
            <a:endParaRPr lang="en-US" altLang="en-US" sz="2400" cap="none" dirty="0">
              <a:latin typeface="Times New Roman" panose="02020603050405020304" pitchFamily="18" charset="0"/>
            </a:endParaRPr>
          </a:p>
          <a:p>
            <a:pPr lvl="2" eaLnBrk="1" hangingPunct="1"/>
            <a:r>
              <a:rPr lang="en-US" altLang="en-US" sz="2000" cap="none" dirty="0">
                <a:latin typeface="Times New Roman" panose="02020603050405020304" pitchFamily="18" charset="0"/>
              </a:rPr>
              <a:t>By working in an industry, an individual may spot an underserved market niche.</a:t>
            </a:r>
          </a:p>
          <a:p>
            <a:pPr lvl="2" eaLnBrk="1" hangingPunct="1"/>
            <a:r>
              <a:rPr lang="en-US" altLang="en-US" sz="2000" cap="none" dirty="0">
                <a:latin typeface="Times New Roman" panose="02020603050405020304" pitchFamily="18" charset="0"/>
              </a:rPr>
              <a:t>It is also possible that by working in an industry, an individual builds a network of social contacts who provide insights that lead to recognizing new opportunities.</a:t>
            </a:r>
          </a:p>
        </p:txBody>
      </p:sp>
      <p:sp>
        <p:nvSpPr>
          <p:cNvPr id="34820" name="Line 4"/>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7327553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981200" y="152400"/>
            <a:ext cx="8229600" cy="1143000"/>
          </a:xfrm>
        </p:spPr>
        <p:txBody>
          <a:bodyPr/>
          <a:lstStyle/>
          <a:p>
            <a:pPr eaLnBrk="1" hangingPunct="1"/>
            <a:r>
              <a:rPr lang="en-US" altLang="en-US" dirty="0">
                <a:latin typeface="Times New Roman" panose="02020603050405020304" pitchFamily="18" charset="0"/>
              </a:rPr>
              <a:t>Creativity</a:t>
            </a:r>
            <a:br>
              <a:rPr lang="en-US" altLang="en-US" dirty="0">
                <a:latin typeface="Times New Roman" panose="02020603050405020304" pitchFamily="18" charset="0"/>
              </a:rPr>
            </a:br>
            <a:endParaRPr lang="en-US" altLang="en-US" dirty="0">
              <a:latin typeface="Times New Roman" panose="02020603050405020304" pitchFamily="18" charset="0"/>
            </a:endParaRPr>
          </a:p>
        </p:txBody>
      </p:sp>
      <p:sp>
        <p:nvSpPr>
          <p:cNvPr id="39939" name="Rectangle 3"/>
          <p:cNvSpPr>
            <a:spLocks noGrp="1" noChangeArrowheads="1"/>
          </p:cNvSpPr>
          <p:nvPr>
            <p:ph type="body" idx="1"/>
          </p:nvPr>
        </p:nvSpPr>
        <p:spPr>
          <a:xfrm>
            <a:off x="913774" y="1716946"/>
            <a:ext cx="10364452" cy="3424107"/>
          </a:xfrm>
        </p:spPr>
        <p:txBody>
          <a:bodyPr/>
          <a:lstStyle/>
          <a:p>
            <a:pPr eaLnBrk="1" hangingPunct="1"/>
            <a:r>
              <a:rPr lang="en-US" altLang="en-US" sz="2800" cap="none" dirty="0">
                <a:latin typeface="Times New Roman" panose="02020603050405020304" pitchFamily="18" charset="0"/>
              </a:rPr>
              <a:t>Creativity</a:t>
            </a:r>
          </a:p>
          <a:p>
            <a:pPr lvl="1" eaLnBrk="1" hangingPunct="1"/>
            <a:r>
              <a:rPr lang="en-US" altLang="en-US" sz="2400" cap="none" dirty="0">
                <a:latin typeface="Times New Roman" panose="02020603050405020304" pitchFamily="18" charset="0"/>
              </a:rPr>
              <a:t>Creativity is the process of </a:t>
            </a:r>
            <a:r>
              <a:rPr lang="en-US" altLang="en-US" sz="2400" u="sng" cap="none" dirty="0">
                <a:latin typeface="Times New Roman" panose="02020603050405020304" pitchFamily="18" charset="0"/>
              </a:rPr>
              <a:t>generating a novel or useful idea</a:t>
            </a:r>
            <a:r>
              <a:rPr lang="en-US" altLang="en-US" sz="2400" cap="none" dirty="0">
                <a:latin typeface="Times New Roman" panose="02020603050405020304" pitchFamily="18" charset="0"/>
              </a:rPr>
              <a:t>.</a:t>
            </a:r>
          </a:p>
          <a:p>
            <a:pPr lvl="1" eaLnBrk="1" hangingPunct="1"/>
            <a:r>
              <a:rPr lang="en-US" altLang="en-US" sz="2400" cap="none" dirty="0">
                <a:latin typeface="Times New Roman" panose="02020603050405020304" pitchFamily="18" charset="0"/>
              </a:rPr>
              <a:t>Opportunity recognition may be, at least in part, a creative process.</a:t>
            </a:r>
          </a:p>
          <a:p>
            <a:pPr lvl="1" eaLnBrk="1" hangingPunct="1"/>
            <a:r>
              <a:rPr lang="en-US" altLang="en-US" sz="2400" cap="none" dirty="0">
                <a:latin typeface="Times New Roman" panose="02020603050405020304" pitchFamily="18" charset="0"/>
              </a:rPr>
              <a:t>For an individual, the creative process can be broken down into five stages.</a:t>
            </a:r>
          </a:p>
        </p:txBody>
      </p:sp>
      <p:sp>
        <p:nvSpPr>
          <p:cNvPr id="39940" name="Line 4"/>
          <p:cNvSpPr>
            <a:spLocks noChangeShapeType="1"/>
          </p:cNvSpPr>
          <p:nvPr/>
        </p:nvSpPr>
        <p:spPr bwMode="auto">
          <a:xfrm>
            <a:off x="1524000" y="13716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 name="Text Box 7">
            <a:extLst>
              <a:ext uri="{FF2B5EF4-FFF2-40B4-BE49-F238E27FC236}">
                <a16:creationId xmlns:a16="http://schemas.microsoft.com/office/drawing/2014/main" id="{4CB441CC-E85A-AC95-FA21-56BE697651C9}"/>
              </a:ext>
            </a:extLst>
          </p:cNvPr>
          <p:cNvSpPr txBox="1">
            <a:spLocks noChangeArrowheads="1"/>
          </p:cNvSpPr>
          <p:nvPr/>
        </p:nvSpPr>
        <p:spPr bwMode="auto">
          <a:xfrm>
            <a:off x="2881120" y="4226654"/>
            <a:ext cx="58674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75000"/>
              </a:lnSpc>
              <a:spcBef>
                <a:spcPct val="50000"/>
              </a:spcBef>
              <a:buFontTx/>
              <a:buNone/>
            </a:pPr>
            <a:r>
              <a:rPr lang="en-US" altLang="en-US" sz="2800" dirty="0">
                <a:latin typeface="Times New Roman" panose="02020603050405020304" pitchFamily="18" charset="0"/>
              </a:rPr>
              <a:t>Five-Steps to Generating Creative Ideas</a:t>
            </a:r>
          </a:p>
        </p:txBody>
      </p:sp>
      <p:pic>
        <p:nvPicPr>
          <p:cNvPr id="3" name="Picture 7">
            <a:extLst>
              <a:ext uri="{FF2B5EF4-FFF2-40B4-BE49-F238E27FC236}">
                <a16:creationId xmlns:a16="http://schemas.microsoft.com/office/drawing/2014/main" id="{C657FABC-9298-4CEA-5219-36645D5B6D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4648200"/>
            <a:ext cx="832485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20013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981200" y="152400"/>
            <a:ext cx="8229600" cy="1143000"/>
          </a:xfrm>
        </p:spPr>
        <p:txBody>
          <a:bodyPr/>
          <a:lstStyle/>
          <a:p>
            <a:pPr eaLnBrk="1" hangingPunct="1"/>
            <a:r>
              <a:rPr lang="en-US" altLang="en-US">
                <a:latin typeface="Times New Roman" panose="02020603050405020304" pitchFamily="18" charset="0"/>
              </a:rPr>
              <a:t>Cognitive Factors</a:t>
            </a:r>
          </a:p>
        </p:txBody>
      </p:sp>
      <p:sp>
        <p:nvSpPr>
          <p:cNvPr id="35843" name="Rectangle 3"/>
          <p:cNvSpPr>
            <a:spLocks noGrp="1" noChangeArrowheads="1"/>
          </p:cNvSpPr>
          <p:nvPr>
            <p:ph type="body" idx="1"/>
          </p:nvPr>
        </p:nvSpPr>
        <p:spPr>
          <a:xfrm>
            <a:off x="1523999" y="1828800"/>
            <a:ext cx="9257071" cy="4527550"/>
          </a:xfrm>
        </p:spPr>
        <p:txBody>
          <a:bodyPr>
            <a:normAutofit fontScale="92500" lnSpcReduction="20000"/>
          </a:bodyPr>
          <a:lstStyle/>
          <a:p>
            <a:pPr eaLnBrk="1" hangingPunct="1"/>
            <a:r>
              <a:rPr lang="en-US" altLang="en-US" sz="2800" cap="none" dirty="0">
                <a:latin typeface="Times New Roman" panose="02020603050405020304" pitchFamily="18" charset="0"/>
              </a:rPr>
              <a:t>Cognitive factors</a:t>
            </a:r>
          </a:p>
          <a:p>
            <a:pPr eaLnBrk="1" hangingPunct="1"/>
            <a:endParaRPr lang="en-US" altLang="en-US" sz="2800" cap="none" dirty="0">
              <a:latin typeface="Times New Roman" panose="02020603050405020304" pitchFamily="18" charset="0"/>
            </a:endParaRPr>
          </a:p>
          <a:p>
            <a:pPr lvl="1" eaLnBrk="1" hangingPunct="1"/>
            <a:r>
              <a:rPr lang="en-US" altLang="en-US" sz="2400" cap="none" dirty="0">
                <a:latin typeface="Times New Roman" panose="02020603050405020304" pitchFamily="18" charset="0"/>
              </a:rPr>
              <a:t>Studies have shown that opportunity recognition may be an </a:t>
            </a:r>
            <a:r>
              <a:rPr lang="en-US" altLang="en-US" sz="2400" u="sng" cap="none" dirty="0">
                <a:latin typeface="Times New Roman" panose="02020603050405020304" pitchFamily="18" charset="0"/>
              </a:rPr>
              <a:t>innate skill</a:t>
            </a:r>
            <a:r>
              <a:rPr lang="en-US" altLang="en-US" sz="2400" cap="none" dirty="0">
                <a:latin typeface="Times New Roman" panose="02020603050405020304" pitchFamily="18" charset="0"/>
              </a:rPr>
              <a:t> or cognitive process.</a:t>
            </a:r>
          </a:p>
          <a:p>
            <a:pPr lvl="1" eaLnBrk="1" hangingPunct="1"/>
            <a:endParaRPr lang="en-US" altLang="en-US" sz="2400" cap="none" dirty="0">
              <a:latin typeface="Times New Roman" panose="02020603050405020304" pitchFamily="18" charset="0"/>
            </a:endParaRPr>
          </a:p>
          <a:p>
            <a:pPr lvl="1" eaLnBrk="1" hangingPunct="1"/>
            <a:r>
              <a:rPr lang="en-US" altLang="en-US" sz="2400" cap="none" dirty="0">
                <a:latin typeface="Times New Roman" panose="02020603050405020304" pitchFamily="18" charset="0"/>
              </a:rPr>
              <a:t>Some people believe that </a:t>
            </a:r>
            <a:r>
              <a:rPr lang="en-US" altLang="en-US" sz="2400" u="sng" cap="none" dirty="0">
                <a:latin typeface="Times New Roman" panose="02020603050405020304" pitchFamily="18" charset="0"/>
              </a:rPr>
              <a:t>entrepreneurs have a “sixth sense</a:t>
            </a:r>
            <a:r>
              <a:rPr lang="en-US" altLang="en-US" sz="2400" cap="none" dirty="0">
                <a:latin typeface="Times New Roman" panose="02020603050405020304" pitchFamily="18" charset="0"/>
              </a:rPr>
              <a:t>” that allows them to see opportunities that others miss.</a:t>
            </a:r>
          </a:p>
          <a:p>
            <a:pPr lvl="1" eaLnBrk="1" hangingPunct="1"/>
            <a:endParaRPr lang="en-US" altLang="en-US" sz="2400" cap="none" dirty="0">
              <a:latin typeface="Times New Roman" panose="02020603050405020304" pitchFamily="18" charset="0"/>
            </a:endParaRPr>
          </a:p>
          <a:p>
            <a:pPr lvl="1" eaLnBrk="1" hangingPunct="1"/>
            <a:r>
              <a:rPr lang="en-US" altLang="en-US" sz="2400" cap="none" dirty="0">
                <a:latin typeface="Times New Roman" panose="02020603050405020304" pitchFamily="18" charset="0"/>
              </a:rPr>
              <a:t>This “sixth sense” is called </a:t>
            </a:r>
            <a:r>
              <a:rPr lang="en-US" altLang="en-US" sz="2400" b="1" cap="none" dirty="0">
                <a:latin typeface="Times New Roman" panose="02020603050405020304" pitchFamily="18" charset="0"/>
              </a:rPr>
              <a:t>entrepreneurial alertness</a:t>
            </a:r>
            <a:r>
              <a:rPr lang="en-US" altLang="en-US" sz="2400" cap="none" dirty="0">
                <a:latin typeface="Times New Roman" panose="02020603050405020304" pitchFamily="18" charset="0"/>
              </a:rPr>
              <a:t>, which is formally defined as the ability to notice things without engaging in deliberate search.</a:t>
            </a:r>
          </a:p>
        </p:txBody>
      </p:sp>
      <p:sp>
        <p:nvSpPr>
          <p:cNvPr id="35844" name="Line 4"/>
          <p:cNvSpPr>
            <a:spLocks noChangeShapeType="1"/>
          </p:cNvSpPr>
          <p:nvPr/>
        </p:nvSpPr>
        <p:spPr bwMode="auto">
          <a:xfrm>
            <a:off x="1524000" y="13716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4317010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981200" y="152400"/>
            <a:ext cx="8229600" cy="1143000"/>
          </a:xfrm>
        </p:spPr>
        <p:txBody>
          <a:bodyPr/>
          <a:lstStyle/>
          <a:p>
            <a:pPr eaLnBrk="1" hangingPunct="1"/>
            <a:r>
              <a:rPr lang="en-US" altLang="en-US" dirty="0">
                <a:latin typeface="Times New Roman" panose="02020603050405020304" pitchFamily="18" charset="0"/>
              </a:rPr>
              <a:t>Social Networks</a:t>
            </a:r>
          </a:p>
        </p:txBody>
      </p:sp>
      <p:sp>
        <p:nvSpPr>
          <p:cNvPr id="36867" name="Rectangle 3"/>
          <p:cNvSpPr>
            <a:spLocks noGrp="1" noChangeArrowheads="1"/>
          </p:cNvSpPr>
          <p:nvPr>
            <p:ph type="body" idx="1"/>
          </p:nvPr>
        </p:nvSpPr>
        <p:spPr>
          <a:xfrm>
            <a:off x="1523999" y="1600200"/>
            <a:ext cx="9143999" cy="5121275"/>
          </a:xfrm>
        </p:spPr>
        <p:txBody>
          <a:bodyPr>
            <a:normAutofit lnSpcReduction="10000"/>
          </a:bodyPr>
          <a:lstStyle/>
          <a:p>
            <a:pPr eaLnBrk="1" hangingPunct="1">
              <a:lnSpc>
                <a:spcPct val="90000"/>
              </a:lnSpc>
            </a:pPr>
            <a:r>
              <a:rPr lang="en-US" altLang="en-US" sz="2800" cap="none" dirty="0">
                <a:latin typeface="Times New Roman" panose="02020603050405020304" pitchFamily="18" charset="0"/>
              </a:rPr>
              <a:t>Social networks</a:t>
            </a:r>
          </a:p>
          <a:p>
            <a:pPr eaLnBrk="1" hangingPunct="1">
              <a:lnSpc>
                <a:spcPct val="90000"/>
              </a:lnSpc>
            </a:pPr>
            <a:endParaRPr lang="en-US" altLang="en-US" sz="2800" cap="none" dirty="0">
              <a:latin typeface="Times New Roman" panose="02020603050405020304" pitchFamily="18" charset="0"/>
            </a:endParaRPr>
          </a:p>
          <a:p>
            <a:pPr lvl="1" eaLnBrk="1" hangingPunct="1">
              <a:lnSpc>
                <a:spcPct val="90000"/>
              </a:lnSpc>
            </a:pPr>
            <a:r>
              <a:rPr lang="en-US" altLang="en-US" sz="2400" cap="none" dirty="0">
                <a:latin typeface="Times New Roman" panose="02020603050405020304" pitchFamily="18" charset="0"/>
              </a:rPr>
              <a:t>The extent and depth of an individual’s social network affect opportunity recognition.  </a:t>
            </a:r>
          </a:p>
          <a:p>
            <a:pPr lvl="1" eaLnBrk="1" hangingPunct="1">
              <a:lnSpc>
                <a:spcPct val="90000"/>
              </a:lnSpc>
            </a:pPr>
            <a:r>
              <a:rPr lang="en-US" altLang="en-US" sz="2400" cap="none" dirty="0">
                <a:latin typeface="Times New Roman" panose="02020603050405020304" pitchFamily="18" charset="0"/>
              </a:rPr>
              <a:t>People who build a substantial network of social and professional contacts will be exposed to more opportunities and ideas than people with sparse networks.</a:t>
            </a:r>
          </a:p>
          <a:p>
            <a:pPr lvl="1" eaLnBrk="1" hangingPunct="1">
              <a:lnSpc>
                <a:spcPct val="90000"/>
              </a:lnSpc>
            </a:pPr>
            <a:r>
              <a:rPr lang="en-US" altLang="en-US" sz="2400" cap="none" dirty="0">
                <a:latin typeface="Times New Roman" panose="02020603050405020304" pitchFamily="18" charset="0"/>
              </a:rPr>
              <a:t>In one survey of 65 start-ups, half the founders reported that they got their business idea through social contacts.</a:t>
            </a:r>
          </a:p>
          <a:p>
            <a:pPr lvl="1" eaLnBrk="1" hangingPunct="1">
              <a:lnSpc>
                <a:spcPct val="90000"/>
              </a:lnSpc>
            </a:pPr>
            <a:endParaRPr lang="en-US" altLang="en-US" sz="2400" cap="none" dirty="0">
              <a:latin typeface="Times New Roman" panose="02020603050405020304" pitchFamily="18" charset="0"/>
            </a:endParaRPr>
          </a:p>
          <a:p>
            <a:pPr eaLnBrk="1" hangingPunct="1">
              <a:lnSpc>
                <a:spcPct val="90000"/>
              </a:lnSpc>
            </a:pPr>
            <a:r>
              <a:rPr lang="en-US" altLang="en-US" sz="2800" cap="none" dirty="0">
                <a:latin typeface="Times New Roman" panose="02020603050405020304" pitchFamily="18" charset="0"/>
              </a:rPr>
              <a:t>Strong tie vs. Weak tie relationships</a:t>
            </a:r>
          </a:p>
          <a:p>
            <a:pPr eaLnBrk="1" hangingPunct="1">
              <a:lnSpc>
                <a:spcPct val="90000"/>
              </a:lnSpc>
            </a:pPr>
            <a:endParaRPr lang="en-US" altLang="en-US" sz="2800" cap="none" dirty="0">
              <a:latin typeface="Times New Roman" panose="02020603050405020304" pitchFamily="18" charset="0"/>
            </a:endParaRPr>
          </a:p>
          <a:p>
            <a:pPr lvl="1" eaLnBrk="1" hangingPunct="1">
              <a:lnSpc>
                <a:spcPct val="90000"/>
              </a:lnSpc>
            </a:pPr>
            <a:r>
              <a:rPr lang="en-US" altLang="en-US" sz="2400" cap="none" dirty="0">
                <a:latin typeface="Times New Roman" panose="02020603050405020304" pitchFamily="18" charset="0"/>
              </a:rPr>
              <a:t>All of us have relationships with other people that are called “ties.”</a:t>
            </a:r>
          </a:p>
        </p:txBody>
      </p:sp>
      <p:sp>
        <p:nvSpPr>
          <p:cNvPr id="36868" name="Line 4"/>
          <p:cNvSpPr>
            <a:spLocks noChangeShapeType="1"/>
          </p:cNvSpPr>
          <p:nvPr/>
        </p:nvSpPr>
        <p:spPr bwMode="auto">
          <a:xfrm>
            <a:off x="1524000" y="13716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9445393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981200" y="152400"/>
            <a:ext cx="8229600" cy="1143000"/>
          </a:xfrm>
        </p:spPr>
        <p:txBody>
          <a:bodyPr/>
          <a:lstStyle/>
          <a:p>
            <a:pPr eaLnBrk="1" hangingPunct="1"/>
            <a:r>
              <a:rPr lang="en-US" altLang="en-US" dirty="0">
                <a:latin typeface="Times New Roman" panose="02020603050405020304" pitchFamily="18" charset="0"/>
              </a:rPr>
              <a:t>Social Networks</a:t>
            </a:r>
          </a:p>
        </p:txBody>
      </p:sp>
      <p:sp>
        <p:nvSpPr>
          <p:cNvPr id="37891" name="Rectangle 3"/>
          <p:cNvSpPr>
            <a:spLocks noGrp="1" noChangeArrowheads="1"/>
          </p:cNvSpPr>
          <p:nvPr>
            <p:ph type="body" idx="1"/>
          </p:nvPr>
        </p:nvSpPr>
        <p:spPr>
          <a:xfrm>
            <a:off x="1600200" y="1600201"/>
            <a:ext cx="9144000" cy="5121274"/>
          </a:xfrm>
        </p:spPr>
        <p:txBody>
          <a:bodyPr>
            <a:normAutofit fontScale="92500"/>
          </a:bodyPr>
          <a:lstStyle/>
          <a:p>
            <a:pPr eaLnBrk="1" hangingPunct="1"/>
            <a:r>
              <a:rPr lang="en-US" altLang="en-US" sz="2800" cap="none" dirty="0">
                <a:latin typeface="Times New Roman" panose="02020603050405020304" pitchFamily="18" charset="0"/>
              </a:rPr>
              <a:t>Nature of strong-tie vs. Weak tie relationships</a:t>
            </a:r>
          </a:p>
          <a:p>
            <a:pPr eaLnBrk="1" hangingPunct="1"/>
            <a:endParaRPr lang="en-US" altLang="en-US" sz="2800" cap="none" dirty="0">
              <a:latin typeface="Times New Roman" panose="02020603050405020304" pitchFamily="18" charset="0"/>
            </a:endParaRPr>
          </a:p>
          <a:p>
            <a:pPr lvl="1" eaLnBrk="1" hangingPunct="1"/>
            <a:r>
              <a:rPr lang="en-US" altLang="en-US" sz="2400" cap="none" dirty="0">
                <a:latin typeface="Times New Roman" panose="02020603050405020304" pitchFamily="18" charset="0"/>
              </a:rPr>
              <a:t>Strong-tie relationships are characterized by frequent interaction and form between coworkers, friends, and spouses.</a:t>
            </a:r>
          </a:p>
          <a:p>
            <a:pPr lvl="1" eaLnBrk="1" hangingPunct="1"/>
            <a:r>
              <a:rPr lang="en-US" altLang="en-US" sz="2400" cap="none" dirty="0">
                <a:latin typeface="Times New Roman" panose="02020603050405020304" pitchFamily="18" charset="0"/>
              </a:rPr>
              <a:t>Weak-tie relationships are characterized by infrequent interaction and form between casual associations.</a:t>
            </a:r>
          </a:p>
          <a:p>
            <a:pPr eaLnBrk="1" hangingPunct="1"/>
            <a:r>
              <a:rPr lang="en-US" altLang="en-US" sz="2800" cap="none" dirty="0">
                <a:latin typeface="Times New Roman" panose="02020603050405020304" pitchFamily="18" charset="0"/>
              </a:rPr>
              <a:t>Result</a:t>
            </a:r>
          </a:p>
          <a:p>
            <a:pPr eaLnBrk="1" hangingPunct="1"/>
            <a:endParaRPr lang="en-US" altLang="en-US" sz="2800" cap="none" dirty="0">
              <a:latin typeface="Times New Roman" panose="02020603050405020304" pitchFamily="18" charset="0"/>
            </a:endParaRPr>
          </a:p>
          <a:p>
            <a:pPr lvl="1" eaLnBrk="1" hangingPunct="1"/>
            <a:r>
              <a:rPr lang="en-US" altLang="en-US" sz="2400" cap="none" dirty="0">
                <a:latin typeface="Times New Roman" panose="02020603050405020304" pitchFamily="18" charset="0"/>
              </a:rPr>
              <a:t>It is more likely that an entrepreneur will get new business ideas through weak-tie rather than strong-tie relationships. (See next slide.)</a:t>
            </a:r>
          </a:p>
          <a:p>
            <a:pPr lvl="2" eaLnBrk="1" hangingPunct="1"/>
            <a:endParaRPr lang="en-US" altLang="en-US" sz="2000" cap="none" dirty="0">
              <a:latin typeface="Times New Roman" panose="02020603050405020304" pitchFamily="18" charset="0"/>
            </a:endParaRPr>
          </a:p>
        </p:txBody>
      </p:sp>
      <p:sp>
        <p:nvSpPr>
          <p:cNvPr id="37892" name="Line 4"/>
          <p:cNvSpPr>
            <a:spLocks noChangeShapeType="1"/>
          </p:cNvSpPr>
          <p:nvPr/>
        </p:nvSpPr>
        <p:spPr bwMode="auto">
          <a:xfrm>
            <a:off x="1524000" y="13716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8099592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981200" y="152400"/>
            <a:ext cx="8229600" cy="1143000"/>
          </a:xfrm>
        </p:spPr>
        <p:txBody>
          <a:bodyPr/>
          <a:lstStyle/>
          <a:p>
            <a:pPr eaLnBrk="1" hangingPunct="1"/>
            <a:r>
              <a:rPr lang="en-US" altLang="en-US" dirty="0">
                <a:latin typeface="Times New Roman" panose="02020603050405020304" pitchFamily="18" charset="0"/>
              </a:rPr>
              <a:t>Social Networks</a:t>
            </a:r>
          </a:p>
        </p:txBody>
      </p:sp>
      <p:sp>
        <p:nvSpPr>
          <p:cNvPr id="38915" name="Line 4"/>
          <p:cNvSpPr>
            <a:spLocks noChangeShapeType="1"/>
          </p:cNvSpPr>
          <p:nvPr/>
        </p:nvSpPr>
        <p:spPr bwMode="auto">
          <a:xfrm>
            <a:off x="1524000" y="13716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16" name="Line 6"/>
          <p:cNvSpPr>
            <a:spLocks noChangeShapeType="1"/>
          </p:cNvSpPr>
          <p:nvPr/>
        </p:nvSpPr>
        <p:spPr bwMode="auto">
          <a:xfrm>
            <a:off x="1981200" y="2743200"/>
            <a:ext cx="815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17" name="Text Box 8"/>
          <p:cNvSpPr txBox="1">
            <a:spLocks noChangeArrowheads="1"/>
          </p:cNvSpPr>
          <p:nvPr/>
        </p:nvSpPr>
        <p:spPr bwMode="auto">
          <a:xfrm>
            <a:off x="1752600" y="2362201"/>
            <a:ext cx="4038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000" b="1" dirty="0">
                <a:latin typeface="Times New Roman" panose="02020603050405020304" pitchFamily="18" charset="0"/>
              </a:rPr>
              <a:t>Strong-Tie Relationships</a:t>
            </a:r>
          </a:p>
        </p:txBody>
      </p:sp>
      <p:sp>
        <p:nvSpPr>
          <p:cNvPr id="38918" name="Text Box 9"/>
          <p:cNvSpPr txBox="1">
            <a:spLocks noChangeArrowheads="1"/>
          </p:cNvSpPr>
          <p:nvPr/>
        </p:nvSpPr>
        <p:spPr bwMode="auto">
          <a:xfrm>
            <a:off x="6705600" y="2362201"/>
            <a:ext cx="3124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000" b="1" dirty="0">
                <a:latin typeface="Times New Roman" panose="02020603050405020304" pitchFamily="18" charset="0"/>
              </a:rPr>
              <a:t>Weak-Tie Relationships</a:t>
            </a:r>
          </a:p>
        </p:txBody>
      </p:sp>
      <p:sp>
        <p:nvSpPr>
          <p:cNvPr id="38919" name="Text Box 11"/>
          <p:cNvSpPr txBox="1">
            <a:spLocks noChangeArrowheads="1"/>
          </p:cNvSpPr>
          <p:nvPr/>
        </p:nvSpPr>
        <p:spPr bwMode="auto">
          <a:xfrm>
            <a:off x="2133600" y="2971800"/>
            <a:ext cx="36576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400">
                <a:latin typeface="Times New Roman" panose="02020603050405020304" pitchFamily="18" charset="0"/>
              </a:rPr>
              <a:t>These relationships, which typically form between like minded individuals, tend to reinforce insights and ideas that people already have.</a:t>
            </a:r>
          </a:p>
        </p:txBody>
      </p:sp>
      <p:sp>
        <p:nvSpPr>
          <p:cNvPr id="38920" name="Text Box 12"/>
          <p:cNvSpPr txBox="1">
            <a:spLocks noChangeArrowheads="1"/>
          </p:cNvSpPr>
          <p:nvPr/>
        </p:nvSpPr>
        <p:spPr bwMode="auto">
          <a:xfrm>
            <a:off x="6324600" y="2971801"/>
            <a:ext cx="35052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400" dirty="0">
                <a:latin typeface="Times New Roman" panose="02020603050405020304" pitchFamily="18" charset="0"/>
              </a:rPr>
              <a:t>These relationships, which form between casual associations, are not as apt to be between like-minded individuals, so one person may say something to another that sparks a completely new idea.</a:t>
            </a:r>
          </a:p>
        </p:txBody>
      </p:sp>
      <p:sp>
        <p:nvSpPr>
          <p:cNvPr id="38921" name="Line 13"/>
          <p:cNvSpPr>
            <a:spLocks noChangeShapeType="1"/>
          </p:cNvSpPr>
          <p:nvPr/>
        </p:nvSpPr>
        <p:spPr bwMode="auto">
          <a:xfrm>
            <a:off x="6019800" y="2743200"/>
            <a:ext cx="0" cy="3733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2" name="Text Box 14"/>
          <p:cNvSpPr txBox="1">
            <a:spLocks noChangeArrowheads="1"/>
          </p:cNvSpPr>
          <p:nvPr/>
        </p:nvSpPr>
        <p:spPr bwMode="auto">
          <a:xfrm>
            <a:off x="2286000" y="1447801"/>
            <a:ext cx="7543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400">
                <a:latin typeface="Times New Roman" panose="02020603050405020304" pitchFamily="18" charset="0"/>
              </a:rPr>
              <a:t>Why weak-tie relationships lead to more new business ideas than strong-tie relationships</a:t>
            </a:r>
          </a:p>
        </p:txBody>
      </p:sp>
    </p:spTree>
    <p:extLst>
      <p:ext uri="{BB962C8B-B14F-4D97-AF65-F5344CB8AC3E}">
        <p14:creationId xmlns:p14="http://schemas.microsoft.com/office/powerpoint/2010/main" val="38149005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981200" y="152400"/>
            <a:ext cx="8229600" cy="1143000"/>
          </a:xfrm>
        </p:spPr>
        <p:txBody>
          <a:bodyPr/>
          <a:lstStyle/>
          <a:p>
            <a:pPr eaLnBrk="1" hangingPunct="1"/>
            <a:r>
              <a:rPr lang="en-US" altLang="en-US">
                <a:latin typeface="Times New Roman" panose="02020603050405020304" pitchFamily="18" charset="0"/>
              </a:rPr>
              <a:t>Full View of the Opportunity Recognition Process</a:t>
            </a:r>
          </a:p>
        </p:txBody>
      </p:sp>
      <p:sp>
        <p:nvSpPr>
          <p:cNvPr id="41987" name="Line 4"/>
          <p:cNvSpPr>
            <a:spLocks noChangeShapeType="1"/>
          </p:cNvSpPr>
          <p:nvPr/>
        </p:nvSpPr>
        <p:spPr bwMode="auto">
          <a:xfrm>
            <a:off x="1524000" y="12954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88" name="Text Box 8"/>
          <p:cNvSpPr txBox="1">
            <a:spLocks noChangeArrowheads="1"/>
          </p:cNvSpPr>
          <p:nvPr/>
        </p:nvSpPr>
        <p:spPr bwMode="auto">
          <a:xfrm>
            <a:off x="1905000" y="1600200"/>
            <a:ext cx="8305800"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90000"/>
              </a:lnSpc>
              <a:spcBef>
                <a:spcPct val="50000"/>
              </a:spcBef>
              <a:buFontTx/>
              <a:buNone/>
            </a:pPr>
            <a:r>
              <a:rPr lang="en-US" altLang="en-US" sz="2400" dirty="0">
                <a:latin typeface="Times New Roman" panose="02020603050405020304" pitchFamily="18" charset="0"/>
              </a:rPr>
              <a:t>The connection between an awareness of emerging trends and the personal characteristics of the entrepreneur</a:t>
            </a:r>
          </a:p>
        </p:txBody>
      </p:sp>
      <p:pic>
        <p:nvPicPr>
          <p:cNvPr id="41989"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1" y="2346592"/>
            <a:ext cx="6800658" cy="4359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77130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981200" y="152400"/>
            <a:ext cx="8229600" cy="1143000"/>
          </a:xfrm>
        </p:spPr>
        <p:txBody>
          <a:bodyPr/>
          <a:lstStyle/>
          <a:p>
            <a:pPr eaLnBrk="1" hangingPunct="1"/>
            <a:r>
              <a:rPr lang="en-US" altLang="en-US">
                <a:latin typeface="Times New Roman" panose="02020603050405020304" pitchFamily="18" charset="0"/>
              </a:rPr>
              <a:t>Techniques For Generating Ideas</a:t>
            </a:r>
          </a:p>
        </p:txBody>
      </p:sp>
      <p:sp>
        <p:nvSpPr>
          <p:cNvPr id="43011" name="Line 4"/>
          <p:cNvSpPr>
            <a:spLocks noChangeShapeType="1"/>
          </p:cNvSpPr>
          <p:nvPr/>
        </p:nvSpPr>
        <p:spPr bwMode="auto">
          <a:xfrm>
            <a:off x="1524000" y="13716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12" name="Rectangle 8"/>
          <p:cNvSpPr>
            <a:spLocks noChangeArrowheads="1"/>
          </p:cNvSpPr>
          <p:nvPr/>
        </p:nvSpPr>
        <p:spPr bwMode="auto">
          <a:xfrm>
            <a:off x="2133600" y="2438400"/>
            <a:ext cx="3352800" cy="609600"/>
          </a:xfrm>
          <a:prstGeom prst="rect">
            <a:avLst/>
          </a:prstGeom>
          <a:solidFill>
            <a:srgbClr val="FFFFCC"/>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400">
                <a:latin typeface="Times New Roman" panose="02020603050405020304" pitchFamily="18" charset="0"/>
              </a:rPr>
              <a:t>Brainstorming</a:t>
            </a:r>
          </a:p>
        </p:txBody>
      </p:sp>
      <p:sp>
        <p:nvSpPr>
          <p:cNvPr id="43013" name="Rectangle 9"/>
          <p:cNvSpPr>
            <a:spLocks noChangeArrowheads="1"/>
          </p:cNvSpPr>
          <p:nvPr/>
        </p:nvSpPr>
        <p:spPr bwMode="auto">
          <a:xfrm>
            <a:off x="6553200" y="2438400"/>
            <a:ext cx="3352800" cy="609600"/>
          </a:xfrm>
          <a:prstGeom prst="rect">
            <a:avLst/>
          </a:prstGeom>
          <a:solidFill>
            <a:srgbClr val="FFFFCC"/>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400">
                <a:latin typeface="Times New Roman" panose="02020603050405020304" pitchFamily="18" charset="0"/>
              </a:rPr>
              <a:t>Focus Groups</a:t>
            </a:r>
          </a:p>
        </p:txBody>
      </p:sp>
      <p:sp>
        <p:nvSpPr>
          <p:cNvPr id="43014" name="Rectangle 10"/>
          <p:cNvSpPr>
            <a:spLocks noChangeArrowheads="1"/>
          </p:cNvSpPr>
          <p:nvPr/>
        </p:nvSpPr>
        <p:spPr bwMode="auto">
          <a:xfrm>
            <a:off x="4419600" y="3733800"/>
            <a:ext cx="3352800" cy="762000"/>
          </a:xfrm>
          <a:prstGeom prst="rect">
            <a:avLst/>
          </a:prstGeom>
          <a:solidFill>
            <a:srgbClr val="FFFFCC"/>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400">
                <a:latin typeface="Times New Roman" panose="02020603050405020304" pitchFamily="18" charset="0"/>
              </a:rPr>
              <a:t>Library and</a:t>
            </a:r>
          </a:p>
          <a:p>
            <a:pPr algn="ctr" eaLnBrk="1" hangingPunct="1">
              <a:spcBef>
                <a:spcPct val="0"/>
              </a:spcBef>
              <a:buFontTx/>
              <a:buNone/>
            </a:pPr>
            <a:r>
              <a:rPr lang="en-US" altLang="en-US" sz="2400">
                <a:latin typeface="Times New Roman" panose="02020603050405020304" pitchFamily="18" charset="0"/>
              </a:rPr>
              <a:t>Internet Research</a:t>
            </a:r>
          </a:p>
        </p:txBody>
      </p:sp>
    </p:spTree>
    <p:extLst>
      <p:ext uri="{BB962C8B-B14F-4D97-AF65-F5344CB8AC3E}">
        <p14:creationId xmlns:p14="http://schemas.microsoft.com/office/powerpoint/2010/main" val="3687369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1981200" y="152400"/>
            <a:ext cx="8229600" cy="1143000"/>
          </a:xfrm>
        </p:spPr>
        <p:txBody>
          <a:bodyPr/>
          <a:lstStyle/>
          <a:p>
            <a:pPr eaLnBrk="1" hangingPunct="1"/>
            <a:r>
              <a:rPr lang="en-US" altLang="en-US">
                <a:latin typeface="Times New Roman" panose="02020603050405020304" pitchFamily="18" charset="0"/>
              </a:rPr>
              <a:t>Other Techniques</a:t>
            </a:r>
          </a:p>
        </p:txBody>
      </p:sp>
      <p:sp>
        <p:nvSpPr>
          <p:cNvPr id="49155" name="Rectangle 3"/>
          <p:cNvSpPr>
            <a:spLocks noGrp="1" noChangeArrowheads="1"/>
          </p:cNvSpPr>
          <p:nvPr>
            <p:ph type="body" idx="1"/>
          </p:nvPr>
        </p:nvSpPr>
        <p:spPr>
          <a:xfrm>
            <a:off x="913774" y="1716946"/>
            <a:ext cx="10364452" cy="3424107"/>
          </a:xfrm>
        </p:spPr>
        <p:txBody>
          <a:bodyPr>
            <a:noAutofit/>
          </a:bodyPr>
          <a:lstStyle/>
          <a:p>
            <a:pPr eaLnBrk="1" hangingPunct="1"/>
            <a:r>
              <a:rPr lang="en-US" altLang="en-US" sz="2400" cap="none" dirty="0">
                <a:latin typeface="Times New Roman" panose="02020603050405020304" pitchFamily="18" charset="0"/>
              </a:rPr>
              <a:t>Customer advisory boards</a:t>
            </a:r>
          </a:p>
          <a:p>
            <a:pPr lvl="1" eaLnBrk="1" hangingPunct="1"/>
            <a:r>
              <a:rPr lang="en-US" altLang="en-US" sz="2400" cap="none" dirty="0">
                <a:latin typeface="Times New Roman" panose="02020603050405020304" pitchFamily="18" charset="0"/>
              </a:rPr>
              <a:t>Some companies set up customer advisory boards that meet regularly to discuss needs, wants, and problems that may lead to new ideas. </a:t>
            </a:r>
          </a:p>
          <a:p>
            <a:pPr eaLnBrk="1" hangingPunct="1"/>
            <a:r>
              <a:rPr lang="en-US" altLang="en-US" sz="2400" cap="none" dirty="0">
                <a:latin typeface="Times New Roman" panose="02020603050405020304" pitchFamily="18" charset="0"/>
              </a:rPr>
              <a:t>Day-in-the-life research</a:t>
            </a:r>
          </a:p>
          <a:p>
            <a:pPr lvl="1" eaLnBrk="1" hangingPunct="1"/>
            <a:r>
              <a:rPr lang="en-US" altLang="en-US" sz="2400" cap="none" dirty="0">
                <a:latin typeface="Times New Roman" panose="02020603050405020304" pitchFamily="18" charset="0"/>
              </a:rPr>
              <a:t>A type of anthropological research, where the employees of a company spend a day with a customer.</a:t>
            </a:r>
          </a:p>
          <a:p>
            <a:r>
              <a:rPr lang="en-US" altLang="en-US" sz="2400" cap="none" dirty="0">
                <a:latin typeface="Times New Roman" panose="02020603050405020304" pitchFamily="18" charset="0"/>
              </a:rPr>
              <a:t>Government support</a:t>
            </a:r>
          </a:p>
          <a:p>
            <a:pPr lvl="1"/>
            <a:r>
              <a:rPr lang="en-US" altLang="en-US" sz="2400" cap="none" dirty="0">
                <a:latin typeface="Times New Roman" panose="02020603050405020304" pitchFamily="18" charset="0"/>
              </a:rPr>
              <a:t>National enterprise development authority, small enterprises development, entrepreneurship development – </a:t>
            </a:r>
            <a:r>
              <a:rPr lang="en-US" altLang="en-US" sz="2400" cap="none" dirty="0" err="1">
                <a:latin typeface="Times New Roman" panose="02020603050405020304" pitchFamily="18" charset="0"/>
              </a:rPr>
              <a:t>naita</a:t>
            </a:r>
            <a:r>
              <a:rPr lang="en-US" altLang="en-US" sz="2400" cap="none" dirty="0">
                <a:latin typeface="Times New Roman" panose="02020603050405020304" pitchFamily="18" charset="0"/>
              </a:rPr>
              <a:t>, </a:t>
            </a:r>
          </a:p>
          <a:p>
            <a:pPr lvl="1" eaLnBrk="1" hangingPunct="1"/>
            <a:endParaRPr lang="en-US" altLang="en-US" sz="2400" cap="none" dirty="0">
              <a:latin typeface="Times New Roman" panose="02020603050405020304" pitchFamily="18" charset="0"/>
            </a:endParaRPr>
          </a:p>
        </p:txBody>
      </p:sp>
      <p:sp>
        <p:nvSpPr>
          <p:cNvPr id="49156" name="Line 4"/>
          <p:cNvSpPr>
            <a:spLocks noChangeShapeType="1"/>
          </p:cNvSpPr>
          <p:nvPr/>
        </p:nvSpPr>
        <p:spPr bwMode="auto">
          <a:xfrm>
            <a:off x="1524000" y="13716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256533369"/>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1C647B"/>
      </a:dk2>
      <a:lt2>
        <a:srgbClr val="98B7D3"/>
      </a:lt2>
      <a:accent1>
        <a:srgbClr val="274FA4"/>
      </a:accent1>
      <a:accent2>
        <a:srgbClr val="48A8D0"/>
      </a:accent2>
      <a:accent3>
        <a:srgbClr val="53B18F"/>
      </a:accent3>
      <a:accent4>
        <a:srgbClr val="D78D38"/>
      </a:accent4>
      <a:accent5>
        <a:srgbClr val="BA3F51"/>
      </a:accent5>
      <a:accent6>
        <a:srgbClr val="AE52D9"/>
      </a:accent6>
      <a:hlink>
        <a:srgbClr val="2AA2DA"/>
      </a:hlink>
      <a:folHlink>
        <a:srgbClr val="76A3B8"/>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Droplet</Template>
  <TotalTime>247</TotalTime>
  <Words>1708</Words>
  <Application>Microsoft Macintosh PowerPoint</Application>
  <PresentationFormat>Widescreen</PresentationFormat>
  <Paragraphs>194</Paragraphs>
  <Slides>33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Times New Roman</vt:lpstr>
      <vt:lpstr>Tw Cen MT</vt:lpstr>
      <vt:lpstr>Droplet</vt:lpstr>
      <vt:lpstr>Recognizing Opportunities and Generating Ideas </vt:lpstr>
      <vt:lpstr>Lesson Objectives </vt:lpstr>
      <vt:lpstr>Lesson Objectives </vt:lpstr>
      <vt:lpstr>What is an Opportunity? </vt:lpstr>
      <vt:lpstr>PowerPoint Presentation</vt:lpstr>
      <vt:lpstr>Invention </vt:lpstr>
      <vt:lpstr>Innovation </vt:lpstr>
      <vt:lpstr>Entrepreneurship</vt:lpstr>
      <vt:lpstr>What is an Opportunity?</vt:lpstr>
      <vt:lpstr>Three Ways to Identify an Opportunity</vt:lpstr>
      <vt:lpstr>First Approach: Observing Trends </vt:lpstr>
      <vt:lpstr>PESTEL – Business Environment (External)</vt:lpstr>
      <vt:lpstr>First Approach: Observing Trends </vt:lpstr>
      <vt:lpstr>Trend 1: Economic Forces</vt:lpstr>
      <vt:lpstr>Trend 2: Social Forces</vt:lpstr>
      <vt:lpstr>Trend 3: Technological Advances</vt:lpstr>
      <vt:lpstr>Trend 3: Technological Advances </vt:lpstr>
      <vt:lpstr>Trend 4: Political Action and Regulatory Changes </vt:lpstr>
      <vt:lpstr>Trend 4: Natural Environmental changes </vt:lpstr>
      <vt:lpstr>Second Approach: Solving a Problem </vt:lpstr>
      <vt:lpstr>Second Approach: Solving a Problem </vt:lpstr>
      <vt:lpstr>Third Approach: Finding Gaps in the Marketplace </vt:lpstr>
      <vt:lpstr>Third Approach: Finding Gaps in the Marketplace </vt:lpstr>
      <vt:lpstr>Personal Characteristics of the Entrepreneur</vt:lpstr>
      <vt:lpstr>Prior Experience</vt:lpstr>
      <vt:lpstr>Creativity </vt:lpstr>
      <vt:lpstr>Cognitive Factors</vt:lpstr>
      <vt:lpstr>Social Networks</vt:lpstr>
      <vt:lpstr>Social Networks</vt:lpstr>
      <vt:lpstr>Social Networks</vt:lpstr>
      <vt:lpstr>Full View of the Opportunity Recognition Process</vt:lpstr>
      <vt:lpstr>Techniques For Generating Ideas</vt:lpstr>
      <vt:lpstr>Other Techniques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Recognizing Opportunities and Generating Ideas </dc:title>
  <dc:creator>Dr Kalpana Ambepitiya</dc:creator>
  <cp:lastModifiedBy>kalpana ambepitiya</cp:lastModifiedBy>
  <cp:revision>21</cp:revision>
  <dcterms:created xsi:type="dcterms:W3CDTF">2024-02-15T06:22:42Z</dcterms:created>
  <dcterms:modified xsi:type="dcterms:W3CDTF">2025-10-07T07:04:12Z</dcterms:modified>
</cp:coreProperties>
</file>