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8" r:id="rId1"/>
  </p:sldMasterIdLst>
  <p:notesMasterIdLst>
    <p:notesMasterId r:id="rId51"/>
  </p:notesMasterIdLst>
  <p:sldIdLst>
    <p:sldId id="256" r:id="rId2"/>
    <p:sldId id="257" r:id="rId3"/>
    <p:sldId id="323" r:id="rId4"/>
    <p:sldId id="258" r:id="rId5"/>
    <p:sldId id="259" r:id="rId6"/>
    <p:sldId id="260" r:id="rId7"/>
    <p:sldId id="261" r:id="rId8"/>
    <p:sldId id="262" r:id="rId9"/>
    <p:sldId id="263" r:id="rId10"/>
    <p:sldId id="311" r:id="rId11"/>
    <p:sldId id="306" r:id="rId12"/>
    <p:sldId id="307" r:id="rId13"/>
    <p:sldId id="308" r:id="rId14"/>
    <p:sldId id="309" r:id="rId15"/>
    <p:sldId id="294" r:id="rId16"/>
    <p:sldId id="312" r:id="rId17"/>
    <p:sldId id="315" r:id="rId18"/>
    <p:sldId id="313" r:id="rId19"/>
    <p:sldId id="314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69" r:id="rId28"/>
    <p:sldId id="353" r:id="rId29"/>
    <p:sldId id="354" r:id="rId30"/>
    <p:sldId id="355" r:id="rId31"/>
    <p:sldId id="370" r:id="rId32"/>
    <p:sldId id="356" r:id="rId33"/>
    <p:sldId id="357" r:id="rId34"/>
    <p:sldId id="358" r:id="rId35"/>
    <p:sldId id="367" r:id="rId36"/>
    <p:sldId id="360" r:id="rId37"/>
    <p:sldId id="361" r:id="rId38"/>
    <p:sldId id="362" r:id="rId39"/>
    <p:sldId id="363" r:id="rId40"/>
    <p:sldId id="364" r:id="rId41"/>
    <p:sldId id="365" r:id="rId42"/>
    <p:sldId id="366" r:id="rId43"/>
    <p:sldId id="301" r:id="rId44"/>
    <p:sldId id="368" r:id="rId45"/>
    <p:sldId id="265" r:id="rId46"/>
    <p:sldId id="305" r:id="rId47"/>
    <p:sldId id="266" r:id="rId48"/>
    <p:sldId id="267" r:id="rId49"/>
    <p:sldId id="310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82831" autoAdjust="0"/>
  </p:normalViewPr>
  <p:slideViewPr>
    <p:cSldViewPr snapToGrid="0">
      <p:cViewPr varScale="1">
        <p:scale>
          <a:sx n="60" d="100"/>
          <a:sy n="60" d="100"/>
        </p:scale>
        <p:origin x="95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7-15T07:23:10.6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0,'0'0,"0"0,13 0,1538 29,-1428-23,770 34,-1-32,-471-18,803-5,-1217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7-15T07:23:48.2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BA094-AA52-4693-A663-A0DAC5CF641F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3DAF41-6D53-44FC-8C6F-D4530F71D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6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3DAF41-6D53-44FC-8C6F-D4530F71D66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50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E5719D-46EB-485A-A96A-4CFFDB7682A0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32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053E-ACE2-4CC0-A57E-DD4985291F3B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79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0BCA6BA-2DCA-4B0E-B2CA-945B4E6C57F6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3878293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9FB3-E314-4718-BB12-993ADF616C6F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78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156A-C263-4A4F-BEA0-03F0221A4164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985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8ED4-8AA3-4A7B-B0C7-8113D631A2BC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65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B592-68F9-46A3-8CC1-0AB823176C6A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34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70DEDCD1-A4FF-49F9-8D64-E2B66C1A7E5C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23614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3F36738-DD6B-4EE5-A31A-83CD3FB834BA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5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DD18-DE38-483E-85E4-BF200974A6A9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60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5737-D9B5-49D2-A0F8-E61949776AC4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22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B5AF093-1EF2-46D0-A470-1DCE26299545}" type="datetime1">
              <a:rPr lang="en-US" smtClean="0"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926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3.JP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5" Type="http://schemas.openxmlformats.org/officeDocument/2006/relationships/image" Target="../media/image41.wmf"/><Relationship Id="rId4" Type="http://schemas.openxmlformats.org/officeDocument/2006/relationships/oleObject" Target="../embeddings/oleObject2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scillation" TargetMode="External"/><Relationship Id="rId2" Type="http://schemas.openxmlformats.org/officeDocument/2006/relationships/hyperlink" Target="https://en.wikipedia.org/wiki/Electronic_oscillator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hyperlink" Target="https://en.wikipedia.org/wiki/Voltage" TargetMode="External"/><Relationship Id="rId4" Type="http://schemas.openxmlformats.org/officeDocument/2006/relationships/hyperlink" Target="https://en.wikipedia.org/wiki/Frequency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customXml" Target="../ink/ink2.xml"/><Relationship Id="rId4" Type="http://schemas.openxmlformats.org/officeDocument/2006/relationships/image" Target="../media/image232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3" y="1664208"/>
            <a:ext cx="10082541" cy="1453897"/>
          </a:xfrm>
        </p:spPr>
        <p:txBody>
          <a:bodyPr/>
          <a:lstStyle/>
          <a:p>
            <a:r>
              <a:rPr lang="en-US" sz="8000" dirty="0"/>
              <a:t>Angle Modulation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046" y="6331860"/>
            <a:ext cx="4121133" cy="35240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Maj </a:t>
            </a:r>
            <a:r>
              <a:rPr lang="en-US" dirty="0" err="1"/>
              <a:t>Chanaka</a:t>
            </a:r>
            <a:r>
              <a:rPr lang="en-US" dirty="0"/>
              <a:t> </a:t>
            </a:r>
            <a:r>
              <a:rPr lang="en-US" dirty="0" err="1"/>
              <a:t>Ranasinghe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976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131" y="462494"/>
            <a:ext cx="10241280" cy="5998464"/>
          </a:xfrm>
        </p:spPr>
        <p:txBody>
          <a:bodyPr>
            <a:normAutofit/>
          </a:bodyPr>
          <a:lstStyle/>
          <a:p>
            <a:r>
              <a:rPr lang="en-GB" sz="2400" dirty="0"/>
              <a:t>Angle Modulation is the process in which the </a:t>
            </a:r>
            <a:r>
              <a:rPr lang="en-GB" sz="2400" b="1" dirty="0"/>
              <a:t>frequency or the phase </a:t>
            </a:r>
            <a:r>
              <a:rPr lang="en-GB" sz="2400" dirty="0"/>
              <a:t>of the carrier signal varies according to the message signal.</a:t>
            </a:r>
          </a:p>
          <a:p>
            <a:endParaRPr lang="en-GB" sz="2400" dirty="0"/>
          </a:p>
          <a:p>
            <a:r>
              <a:rPr lang="en-GB" sz="2400" dirty="0"/>
              <a:t>The standard equation of the angle modulated wave is</a:t>
            </a:r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Where,</a:t>
            </a:r>
          </a:p>
          <a:p>
            <a:r>
              <a:rPr lang="en-GB" sz="2400" b="1" dirty="0"/>
              <a:t>Ac</a:t>
            </a:r>
            <a:r>
              <a:rPr lang="en-GB" sz="2400" dirty="0"/>
              <a:t> is the amplitude of the modulated wave, which is the </a:t>
            </a:r>
            <a:r>
              <a:rPr lang="en-GB" sz="2400" b="1" dirty="0"/>
              <a:t>same as the amplitude of the carrier signal</a:t>
            </a:r>
          </a:p>
          <a:p>
            <a:r>
              <a:rPr lang="en-GB" sz="2400" b="1" dirty="0" err="1"/>
              <a:t>θi</a:t>
            </a:r>
            <a:r>
              <a:rPr lang="en-GB" sz="2400" b="1" dirty="0"/>
              <a:t>(t) </a:t>
            </a:r>
            <a:r>
              <a:rPr lang="en-GB" sz="2400" dirty="0"/>
              <a:t>is the angle of the modulated wave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13" y="2661734"/>
            <a:ext cx="4804791" cy="50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0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518367"/>
          </a:xfrm>
        </p:spPr>
        <p:txBody>
          <a:bodyPr>
            <a:noAutofit/>
          </a:bodyPr>
          <a:lstStyle/>
          <a:p>
            <a:r>
              <a:rPr lang="en-US" sz="3600" dirty="0"/>
              <a:t>Why Angle Modulation??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0060" y="1323833"/>
            <a:ext cx="10269940" cy="4555759"/>
          </a:xfrm>
        </p:spPr>
        <p:txBody>
          <a:bodyPr>
            <a:normAutofit/>
          </a:bodyPr>
          <a:lstStyle/>
          <a:p>
            <a:r>
              <a:rPr lang="en-US" sz="2400" dirty="0"/>
              <a:t>It provides </a:t>
            </a:r>
            <a:r>
              <a:rPr lang="en-US" sz="2400" b="1" dirty="0"/>
              <a:t>better noise discrimination against noise and interference </a:t>
            </a:r>
            <a:r>
              <a:rPr lang="en-US" sz="2400" dirty="0"/>
              <a:t>than Amplitude Modulation.</a:t>
            </a:r>
          </a:p>
          <a:p>
            <a:r>
              <a:rPr lang="en-US" sz="2400" dirty="0"/>
              <a:t>Provides us with a practical means of </a:t>
            </a:r>
            <a:r>
              <a:rPr lang="en-US" sz="2400" b="1" dirty="0"/>
              <a:t>exchanging channel bandwidth  </a:t>
            </a:r>
            <a:r>
              <a:rPr lang="en-US" sz="2400" dirty="0"/>
              <a:t>for improved noise performances which is not possible in Amplitude modulation.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Note</a:t>
            </a:r>
            <a:r>
              <a:rPr lang="en-US" sz="2400" dirty="0"/>
              <a:t>: </a:t>
            </a:r>
          </a:p>
          <a:p>
            <a:r>
              <a:rPr lang="en-US" sz="2400" dirty="0"/>
              <a:t>Improvement in noise performance in angle modulation is achieved at the cost of </a:t>
            </a:r>
            <a:r>
              <a:rPr lang="en-US" sz="2400" b="1" dirty="0"/>
              <a:t>increased system complexity in both the transmitter and the receiver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74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902" y="335441"/>
            <a:ext cx="9638373" cy="5900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Angle modulation is further divided into frequency modulation and phase modulation.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b="1" dirty="0"/>
              <a:t>Frequency Modulation</a:t>
            </a:r>
            <a:r>
              <a:rPr lang="en-GB" sz="2400" dirty="0"/>
              <a:t> is the process of </a:t>
            </a:r>
            <a:r>
              <a:rPr lang="en-GB" sz="2400" b="1" dirty="0"/>
              <a:t>varying the frequency of the carrier signal l</a:t>
            </a:r>
            <a:r>
              <a:rPr lang="en-GB" sz="2400" dirty="0"/>
              <a:t>inearly with the message signal.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b="1" dirty="0"/>
              <a:t>Phase Modulation</a:t>
            </a:r>
            <a:r>
              <a:rPr lang="en-GB" sz="2400" dirty="0"/>
              <a:t> is the process </a:t>
            </a:r>
            <a:r>
              <a:rPr lang="en-GB" sz="2400" b="1" dirty="0"/>
              <a:t>of varying the phase of the carrier signal </a:t>
            </a:r>
            <a:r>
              <a:rPr lang="en-GB" sz="2400" dirty="0"/>
              <a:t>linearly with the message signal.</a:t>
            </a:r>
          </a:p>
          <a:p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32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Modulation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951" y="1708485"/>
            <a:ext cx="10178322" cy="3593591"/>
          </a:xfrm>
        </p:spPr>
        <p:txBody>
          <a:bodyPr>
            <a:normAutofit/>
          </a:bodyPr>
          <a:lstStyle/>
          <a:p>
            <a:r>
              <a:rPr lang="en-GB" sz="2400" dirty="0"/>
              <a:t>In amplitude modulation, the </a:t>
            </a:r>
            <a:r>
              <a:rPr lang="en-GB" sz="2400" b="1" dirty="0"/>
              <a:t>amplitude of the carrier signal varies</a:t>
            </a:r>
            <a:r>
              <a:rPr lang="en-GB" sz="2400" dirty="0"/>
              <a:t>. </a:t>
            </a:r>
          </a:p>
          <a:p>
            <a:r>
              <a:rPr lang="en-GB" sz="2400" dirty="0"/>
              <a:t>Whereas, in </a:t>
            </a:r>
            <a:r>
              <a:rPr lang="en-GB" sz="2400" b="1" dirty="0"/>
              <a:t>Frequency Modulation (FM)</a:t>
            </a:r>
            <a:r>
              <a:rPr lang="en-GB" sz="2400" dirty="0"/>
              <a:t>, the frequency of the carrier signal varies </a:t>
            </a:r>
            <a:r>
              <a:rPr lang="en-GB" sz="2400" b="1" dirty="0"/>
              <a:t>in accordance with the instantaneous amplitude of the modulating signal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316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65547" y="4854710"/>
            <a:ext cx="115008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Verdana" panose="020B0604030504040204" pitchFamily="34" charset="0"/>
              </a:rPr>
              <a:t>The frequency of the </a:t>
            </a:r>
            <a:r>
              <a:rPr lang="en-GB" sz="2000" b="1" dirty="0">
                <a:latin typeface="Verdana" panose="020B0604030504040204" pitchFamily="34" charset="0"/>
              </a:rPr>
              <a:t>modulated wave increases</a:t>
            </a:r>
            <a:r>
              <a:rPr lang="en-GB" sz="2000" dirty="0">
                <a:latin typeface="Verdana" panose="020B0604030504040204" pitchFamily="34" charset="0"/>
              </a:rPr>
              <a:t>, when the amplitude of the modulating or </a:t>
            </a:r>
            <a:r>
              <a:rPr lang="en-GB" sz="2000" b="1" dirty="0">
                <a:latin typeface="Verdana" panose="020B0604030504040204" pitchFamily="34" charset="0"/>
              </a:rPr>
              <a:t>message signal increases</a:t>
            </a:r>
            <a:r>
              <a:rPr lang="en-GB" sz="2000" dirty="0">
                <a:latin typeface="Verdana" panose="020B0604030504040204" pitchFamily="34" charset="0"/>
              </a:rPr>
              <a:t>. Similarly, the frequency of the modulated wave decreases, when the amplitude of the modulating signal decreases.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813393" y="5850970"/>
            <a:ext cx="11323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Verdana" panose="020B0604030504040204" pitchFamily="34" charset="0"/>
              </a:rPr>
              <a:t>The frequency of the modulated wave </a:t>
            </a:r>
            <a:r>
              <a:rPr lang="en-GB" sz="2000" b="1" dirty="0">
                <a:latin typeface="Verdana" panose="020B0604030504040204" pitchFamily="34" charset="0"/>
              </a:rPr>
              <a:t>remains constant </a:t>
            </a:r>
            <a:r>
              <a:rPr lang="en-GB" sz="2000" dirty="0">
                <a:latin typeface="Verdana" panose="020B0604030504040204" pitchFamily="34" charset="0"/>
              </a:rPr>
              <a:t>and it is equal to the frequency of the carrier signal, when the </a:t>
            </a:r>
            <a:r>
              <a:rPr lang="en-GB" sz="2000" b="1" dirty="0">
                <a:latin typeface="Verdana" panose="020B0604030504040204" pitchFamily="34" charset="0"/>
              </a:rPr>
              <a:t>amplitude of the modulating signal is zero</a:t>
            </a:r>
            <a:r>
              <a:rPr lang="en-GB" sz="2000" dirty="0">
                <a:latin typeface="Verdana" panose="020B0604030504040204" pitchFamily="34" charset="0"/>
              </a:rPr>
              <a:t>.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F1D6BA-64F1-B296-8BD2-605D353DF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312" y="-13488"/>
            <a:ext cx="8610601" cy="495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6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Representation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78" y="1394982"/>
            <a:ext cx="9355362" cy="3814808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715000" y="4108966"/>
            <a:ext cx="285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Measured in Hertz per Volt</a:t>
            </a:r>
          </a:p>
        </p:txBody>
      </p:sp>
    </p:spTree>
    <p:extLst>
      <p:ext uri="{BB962C8B-B14F-4D97-AF65-F5344CB8AC3E}">
        <p14:creationId xmlns:p14="http://schemas.microsoft.com/office/powerpoint/2010/main" val="55926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08" y="37211"/>
            <a:ext cx="9039392" cy="6684264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957305" y="383041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67490" y="304112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2469" y="4460488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3284" y="3944795"/>
            <a:ext cx="2311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8861" y="5920798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3295" y="5035968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0500" y="2483837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1315" y="1968144"/>
            <a:ext cx="2311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08859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"/>
          <a:stretch/>
        </p:blipFill>
        <p:spPr>
          <a:xfrm>
            <a:off x="1032041" y="0"/>
            <a:ext cx="10533312" cy="5353050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57299" y="5479018"/>
            <a:ext cx="8304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Narrow band FM </a:t>
            </a:r>
            <a:r>
              <a:rPr lang="el-GR" sz="2400" b="1" dirty="0">
                <a:latin typeface="Century Schoolbook"/>
              </a:rPr>
              <a:t>β</a:t>
            </a:r>
            <a:r>
              <a:rPr lang="en-US" sz="2400" b="1" dirty="0">
                <a:latin typeface="Century Schoolbook"/>
              </a:rPr>
              <a:t> is very small  </a:t>
            </a:r>
            <a:r>
              <a:rPr lang="en-US" sz="2400" dirty="0">
                <a:latin typeface="Century Schoolbook"/>
              </a:rPr>
              <a:t>compared to one radian.</a:t>
            </a:r>
          </a:p>
          <a:p>
            <a:r>
              <a:rPr lang="en-US" sz="2400" dirty="0"/>
              <a:t>Wide band FM </a:t>
            </a:r>
            <a:r>
              <a:rPr lang="el-GR" sz="2400" b="1" dirty="0">
                <a:latin typeface="Century Schoolbook"/>
              </a:rPr>
              <a:t>β</a:t>
            </a:r>
            <a:r>
              <a:rPr lang="en-US" sz="2400" b="1" dirty="0">
                <a:latin typeface="Century Schoolbook"/>
              </a:rPr>
              <a:t> is large  </a:t>
            </a:r>
            <a:r>
              <a:rPr lang="en-US" sz="2400" dirty="0">
                <a:latin typeface="Century Schoolbook"/>
              </a:rPr>
              <a:t>compared to one radian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3669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400050"/>
            <a:ext cx="10178322" cy="59245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11266" name="Picture 2" descr="C:\Users\Hp\Desktop\S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2581274"/>
            <a:ext cx="9702800" cy="1882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C:\Users\Hp\Desktop\S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466724"/>
            <a:ext cx="97028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296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1178" y="249035"/>
            <a:ext cx="10578372" cy="760615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Angle Modulated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228" y="1181101"/>
            <a:ext cx="10178322" cy="54482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1.	</a:t>
            </a:r>
            <a:r>
              <a:rPr lang="en-US" sz="2400" b="1" u="sng" dirty="0"/>
              <a:t>Constancy of transmitted power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r>
              <a:rPr lang="en-US" sz="2400" dirty="0"/>
              <a:t>Let us the Angle modulated wave equations as: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FM wave   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PM Wave  :</a:t>
            </a:r>
          </a:p>
          <a:p>
            <a:pPr marL="0" indent="0">
              <a:buNone/>
            </a:pPr>
            <a:r>
              <a:rPr lang="en-US" sz="2400" dirty="0"/>
              <a:t>You can see that the Amplitude of the FM and PM is maintained </a:t>
            </a:r>
            <a:r>
              <a:rPr lang="en-US" sz="2400" b="1" dirty="0"/>
              <a:t>at a constant value equals to the carrier Amplitude Ac at all time t, </a:t>
            </a:r>
            <a:r>
              <a:rPr lang="en-US" sz="2400" dirty="0"/>
              <a:t>irrespectively the sensitivity factors </a:t>
            </a:r>
            <a:r>
              <a:rPr lang="en-US" sz="2400" dirty="0" err="1"/>
              <a:t>Kf</a:t>
            </a:r>
            <a:r>
              <a:rPr lang="en-US" sz="2400" dirty="0"/>
              <a:t> and </a:t>
            </a:r>
            <a:r>
              <a:rPr lang="en-US" sz="2400" dirty="0" err="1"/>
              <a:t>Kp</a:t>
            </a:r>
            <a:r>
              <a:rPr lang="en-US" sz="2400" dirty="0"/>
              <a:t>.  Therefore, </a:t>
            </a:r>
            <a:r>
              <a:rPr lang="en-US" sz="2400" b="1" dirty="0"/>
              <a:t>regardless of the message Signal - m(t),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Average transmitted power </a:t>
            </a:r>
            <a:r>
              <a:rPr lang="en-US" sz="2400" dirty="0"/>
              <a:t>is given 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050" y="1682485"/>
            <a:ext cx="3409950" cy="359595"/>
          </a:xfrm>
          <a:prstGeom prst="rect">
            <a:avLst/>
          </a:prstGeom>
        </p:spPr>
      </p:pic>
      <p:pic>
        <p:nvPicPr>
          <p:cNvPr id="7170" name="Picture 2" descr="C:\Users\Hp\Desktop\f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2514600"/>
            <a:ext cx="46291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Hp\Desktop\pm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067" y="3395165"/>
            <a:ext cx="411304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Hp\Desktop\snsn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0" y="5843588"/>
            <a:ext cx="1795463" cy="77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222699" y="3046511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6404" y="2321297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799" y="5781832"/>
            <a:ext cx="3030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Assume that Load resistance (R</a:t>
            </a:r>
            <a:r>
              <a:rPr lang="en-US" sz="1600" dirty="0"/>
              <a:t>L</a:t>
            </a:r>
            <a:r>
              <a:rPr lang="en-US" dirty="0"/>
              <a:t>) is 1 Ohms.</a:t>
            </a:r>
          </a:p>
        </p:txBody>
      </p:sp>
    </p:spTree>
    <p:extLst>
      <p:ext uri="{BB962C8B-B14F-4D97-AF65-F5344CB8AC3E}">
        <p14:creationId xmlns:p14="http://schemas.microsoft.com/office/powerpoint/2010/main" val="3166649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81000"/>
            <a:ext cx="10178322" cy="62293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2.	</a:t>
            </a:r>
            <a:r>
              <a:rPr lang="en-US" sz="2400" b="1" u="sng" dirty="0"/>
              <a:t>Non-linearity of the modulation process</a:t>
            </a:r>
          </a:p>
          <a:p>
            <a:pPr marL="0" indent="0">
              <a:buNone/>
            </a:pPr>
            <a:r>
              <a:rPr lang="en-US" sz="2400" dirty="0"/>
              <a:t>Both PM and FM waves are </a:t>
            </a:r>
            <a:r>
              <a:rPr lang="en-US" sz="2400" b="1" dirty="0"/>
              <a:t>violating the principle of superposition. </a:t>
            </a:r>
          </a:p>
          <a:p>
            <a:pPr marL="0" indent="0">
              <a:buNone/>
            </a:pP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Assume message signal m3(t) is made up of two different components m1(t) and m2(t) as :</a:t>
            </a:r>
          </a:p>
          <a:p>
            <a:pPr marL="0" indent="0">
              <a:buNone/>
            </a:pPr>
            <a:r>
              <a:rPr lang="en-US" sz="2400" dirty="0"/>
              <a:t>m3(t)=m1(t)+m2(t)</a:t>
            </a:r>
          </a:p>
          <a:p>
            <a:pPr marL="0" indent="0">
              <a:buNone/>
            </a:pPr>
            <a:r>
              <a:rPr lang="en-US" sz="2400" dirty="0"/>
              <a:t>Let: S3(t), S1(t) and S2(t)  denotes the PM waves produced by the m3(t), m1(t) and m2(t)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Same can be applied to </a:t>
            </a:r>
            <a:r>
              <a:rPr lang="en-US" sz="2400" b="1" dirty="0"/>
              <a:t>FM also. </a:t>
            </a:r>
            <a:r>
              <a:rPr lang="en-US" sz="2400" dirty="0"/>
              <a:t>Therefore, </a:t>
            </a:r>
            <a:r>
              <a:rPr lang="en-US" sz="2400" b="1" u="sng" dirty="0"/>
              <a:t>angle modulation</a:t>
            </a:r>
            <a:r>
              <a:rPr lang="en-US" sz="2400" u="sng" dirty="0"/>
              <a:t> is non-linear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8194" name="Picture 2" descr="C:\Users\Hp\Desktop\ccc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49" y="3750469"/>
            <a:ext cx="4629151" cy="111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Hp\Desktop\vvvv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49" y="4943475"/>
            <a:ext cx="5058332" cy="8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10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23850"/>
            <a:ext cx="10486666" cy="6095999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3"/>
            </a:pPr>
            <a:r>
              <a:rPr lang="en-US" sz="2400" b="1" u="sng" dirty="0"/>
              <a:t>Irregularity of zero Crossing</a:t>
            </a:r>
          </a:p>
          <a:p>
            <a:pPr marL="0" indent="0">
              <a:buNone/>
            </a:pPr>
            <a:r>
              <a:rPr lang="en-US" sz="2400" b="1" u="sng" dirty="0"/>
              <a:t>Zero crossing is defined as </a:t>
            </a:r>
            <a:r>
              <a:rPr lang="en-US" sz="2400" dirty="0"/>
              <a:t>instants of time, at which waveform changes </a:t>
            </a:r>
            <a:r>
              <a:rPr lang="en-US" sz="2400" b="1" dirty="0"/>
              <a:t>amplitude from positive to negative</a:t>
            </a:r>
            <a:r>
              <a:rPr lang="en-US" sz="2400" dirty="0"/>
              <a:t> or vice versa.</a:t>
            </a:r>
          </a:p>
          <a:p>
            <a:pPr marL="0" indent="0">
              <a:buNone/>
            </a:pPr>
            <a:r>
              <a:rPr lang="en-US" sz="2400" dirty="0"/>
              <a:t>The irregularity of zero-crossings in angle-modulation wave is attributed to the nonlinear character of the modulation process</a:t>
            </a:r>
          </a:p>
          <a:p>
            <a:pPr marL="0" indent="0">
              <a:buNone/>
            </a:pPr>
            <a:r>
              <a:rPr lang="en-US" sz="2400" b="1" dirty="0"/>
              <a:t>As shown on the graph there is no perfect regularity of modulated wave (right side graph)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pic>
        <p:nvPicPr>
          <p:cNvPr id="9218" name="Picture 2" descr="C:\Users\Hp\Desktop\trrr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069" y="3180009"/>
            <a:ext cx="5843588" cy="365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126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6428" y="342900"/>
            <a:ext cx="10425972" cy="6153149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4"/>
            </a:pPr>
            <a:r>
              <a:rPr lang="en-US" sz="2400" b="1" u="sng" dirty="0"/>
              <a:t>Visualization difficulty of message waveform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/>
              <a:t>difficulty in visualizing the message waveform in angle-modulated waves </a:t>
            </a:r>
            <a:r>
              <a:rPr lang="en-US" sz="2400" dirty="0"/>
              <a:t>is also attributed to the nonlinear character of angle-modulated waves</a:t>
            </a:r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r>
              <a:rPr lang="en-US" sz="2400" dirty="0"/>
              <a:t>Where in case of Amplitude Modulation, we can see the shape of the message wave form at the envelop of the modulated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pic>
        <p:nvPicPr>
          <p:cNvPr id="12290" name="Picture 2" descr="C:\Users\Hp\Desktop\AM-FM-waves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371" y="3239923"/>
            <a:ext cx="4456387" cy="348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82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1084480"/>
            <a:ext cx="10178322" cy="59167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Following are the features of Narrowband FM.</a:t>
            </a:r>
          </a:p>
          <a:p>
            <a:r>
              <a:rPr lang="en-US" sz="2400" dirty="0"/>
              <a:t>This frequency modulation has a </a:t>
            </a:r>
            <a:r>
              <a:rPr lang="en-US" sz="2400" b="1" dirty="0"/>
              <a:t>small bandwidth </a:t>
            </a:r>
            <a:r>
              <a:rPr lang="en-US" sz="2400" dirty="0"/>
              <a:t>when compared to wideband FM.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modulation index β is small, i.e., less than 1</a:t>
            </a:r>
            <a:r>
              <a:rPr lang="en-US" sz="2400" dirty="0"/>
              <a:t>.</a:t>
            </a:r>
          </a:p>
          <a:p>
            <a:r>
              <a:rPr lang="en-US" sz="2400" dirty="0"/>
              <a:t>Its spectrum consists of the </a:t>
            </a:r>
            <a:r>
              <a:rPr lang="en-US" sz="2400" b="1" dirty="0"/>
              <a:t>carrier,</a:t>
            </a:r>
            <a:r>
              <a:rPr lang="en-US" sz="2400" dirty="0"/>
              <a:t> the </a:t>
            </a:r>
            <a:r>
              <a:rPr lang="en-US" sz="2400" b="1" dirty="0"/>
              <a:t>upper sideband</a:t>
            </a:r>
            <a:r>
              <a:rPr lang="en-US" sz="2400" dirty="0"/>
              <a:t> and </a:t>
            </a:r>
            <a:r>
              <a:rPr lang="en-US" sz="2400" b="1" dirty="0"/>
              <a:t>the lower sideband.</a:t>
            </a:r>
          </a:p>
          <a:p>
            <a:r>
              <a:rPr lang="en-US" sz="2400" dirty="0"/>
              <a:t>This is used in </a:t>
            </a:r>
            <a:r>
              <a:rPr lang="en-US" sz="2400" b="1" dirty="0"/>
              <a:t>mobile communications </a:t>
            </a:r>
            <a:r>
              <a:rPr lang="en-US" sz="2400" dirty="0"/>
              <a:t>such as police wireless, ambulances, taxicabs,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257300" y="438149"/>
            <a:ext cx="904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NARROWBAND FM</a:t>
            </a:r>
          </a:p>
        </p:txBody>
      </p:sp>
    </p:spTree>
    <p:extLst>
      <p:ext uri="{BB962C8B-B14F-4D97-AF65-F5344CB8AC3E}">
        <p14:creationId xmlns:p14="http://schemas.microsoft.com/office/powerpoint/2010/main" val="4038614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42900"/>
            <a:ext cx="10178322" cy="5536693"/>
          </a:xfrm>
        </p:spPr>
        <p:txBody>
          <a:bodyPr>
            <a:normAutofit/>
          </a:bodyPr>
          <a:lstStyle/>
          <a:p>
            <a:r>
              <a:rPr lang="en-US" sz="2400" dirty="0"/>
              <a:t>Consider the standard FM equation;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Expanding this equation using trigonometric identity we get: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  <p:pic>
        <p:nvPicPr>
          <p:cNvPr id="12290" name="Picture 2" descr="C:\Users\Hp\Desktop\s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1" y="2386012"/>
            <a:ext cx="9322934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Hp\Desktop\rgy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1" y="3205163"/>
            <a:ext cx="9387550" cy="329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8" t="15701" r="25233" b="68599"/>
          <a:stretch/>
        </p:blipFill>
        <p:spPr>
          <a:xfrm>
            <a:off x="1543051" y="843454"/>
            <a:ext cx="5344510" cy="84345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916510" y="5785944"/>
            <a:ext cx="1014091" cy="710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98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15899"/>
            <a:ext cx="10178322" cy="6267449"/>
          </a:xfrm>
        </p:spPr>
        <p:txBody>
          <a:bodyPr>
            <a:normAutofit/>
          </a:bodyPr>
          <a:lstStyle/>
          <a:p>
            <a:r>
              <a:rPr lang="en-US" sz="2400" dirty="0"/>
              <a:t>We can expand this equation again as: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pic>
        <p:nvPicPr>
          <p:cNvPr id="14338" name="Picture 2" descr="C:\Users\Hp\Desktop\ww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835575"/>
            <a:ext cx="8421936" cy="71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 descr="C:\Users\Hp\Desktop\dd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1747838"/>
            <a:ext cx="9063037" cy="131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591" y="3171495"/>
            <a:ext cx="10614485" cy="166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1" name="Picture 5" descr="C:\Users\Hp\Desktop\FD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4839201"/>
            <a:ext cx="2838450" cy="192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92783" y="3542718"/>
            <a:ext cx="7882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 rot="10800000" flipV="1">
            <a:off x="10455819" y="3092665"/>
            <a:ext cx="1283425" cy="481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03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74915"/>
          </a:xfrm>
        </p:spPr>
        <p:txBody>
          <a:bodyPr>
            <a:normAutofit/>
          </a:bodyPr>
          <a:lstStyle/>
          <a:p>
            <a:r>
              <a:rPr lang="en-US" sz="4000" dirty="0"/>
              <a:t>Generation of NBFM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1391" y="5857875"/>
            <a:ext cx="10581259" cy="1533526"/>
          </a:xfrm>
        </p:spPr>
        <p:txBody>
          <a:bodyPr>
            <a:normAutofit/>
          </a:bodyPr>
          <a:lstStyle/>
          <a:p>
            <a:r>
              <a:rPr lang="en-US" sz="2400" dirty="0"/>
              <a:t>Here, the integrator is used to </a:t>
            </a:r>
            <a:r>
              <a:rPr lang="en-US" sz="2400" b="1" dirty="0"/>
              <a:t>integrate the modulating signal m(t) </a:t>
            </a:r>
            <a:r>
              <a:rPr lang="en-US" sz="2400" dirty="0"/>
              <a:t>and the carrier wave is spitted to two parts by a phase shifter.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pic>
        <p:nvPicPr>
          <p:cNvPr id="13314" name="Picture 2" descr="C:\Users\Hp\Desktop\n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342" y="1740932"/>
            <a:ext cx="8330258" cy="419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03867" y="2272784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m(t)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3444" y="245745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sz="1400" dirty="0"/>
              <a:t>0</a:t>
            </a:r>
            <a:r>
              <a:rPr lang="en-US" dirty="0"/>
              <a:t>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3136" y="246911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sz="1400" dirty="0"/>
              <a:t>1</a:t>
            </a:r>
            <a:r>
              <a:rPr lang="en-US" dirty="0"/>
              <a:t>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49" y="245745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4924" y="5391807"/>
            <a:ext cx="14819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153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514350"/>
            <a:ext cx="10178322" cy="6019799"/>
          </a:xfrm>
        </p:spPr>
        <p:txBody>
          <a:bodyPr>
            <a:normAutofit/>
          </a:bodyPr>
          <a:lstStyle/>
          <a:p>
            <a:r>
              <a:rPr lang="en-US" sz="2400" dirty="0"/>
              <a:t>Let the modulating signal be, </a:t>
            </a:r>
            <a:r>
              <a:rPr lang="en-US" sz="2400" b="1" dirty="0"/>
              <a:t>m(t)=</a:t>
            </a:r>
            <a:r>
              <a:rPr lang="en-US" sz="2400" b="1" dirty="0" err="1"/>
              <a:t>A</a:t>
            </a:r>
            <a:r>
              <a:rPr lang="en-US" sz="1800" b="1" dirty="0" err="1"/>
              <a:t>m</a:t>
            </a:r>
            <a:r>
              <a:rPr lang="en-US" sz="2400" b="1" dirty="0" err="1"/>
              <a:t>cos</a:t>
            </a:r>
            <a:r>
              <a:rPr lang="en-US" sz="2400" b="1" dirty="0"/>
              <a:t>(2π</a:t>
            </a:r>
            <a:r>
              <a:rPr lang="en-US" sz="2400" b="1" dirty="0" err="1"/>
              <a:t>f</a:t>
            </a:r>
            <a:r>
              <a:rPr lang="en-US" sz="1800" b="1" dirty="0" err="1"/>
              <a:t>m</a:t>
            </a:r>
            <a:r>
              <a:rPr lang="en-US" sz="2400" b="1" dirty="0" err="1"/>
              <a:t>t</a:t>
            </a:r>
            <a:r>
              <a:rPr lang="en-US" sz="2400" b="1" dirty="0"/>
              <a:t>)</a:t>
            </a:r>
          </a:p>
          <a:p>
            <a:pPr marL="0" indent="0">
              <a:buNone/>
            </a:pPr>
            <a:r>
              <a:rPr lang="en-US" sz="2400" dirty="0"/>
              <a:t>	  carrier signal be, </a:t>
            </a:r>
            <a:r>
              <a:rPr lang="en-US" sz="2400" b="1" dirty="0"/>
              <a:t>c(t)=</a:t>
            </a:r>
            <a:r>
              <a:rPr lang="en-US" sz="2400" b="1" dirty="0" err="1"/>
              <a:t>A</a:t>
            </a:r>
            <a:r>
              <a:rPr lang="en-US" sz="1800" b="1" dirty="0" err="1"/>
              <a:t>c</a:t>
            </a:r>
            <a:r>
              <a:rPr lang="en-US" sz="2400" b="1" dirty="0" err="1"/>
              <a:t>cos</a:t>
            </a:r>
            <a:r>
              <a:rPr lang="en-US" sz="2400" b="1" dirty="0"/>
              <a:t>(2π</a:t>
            </a:r>
            <a:r>
              <a:rPr lang="en-US" sz="2400" b="1" dirty="0" err="1"/>
              <a:t>f</a:t>
            </a:r>
            <a:r>
              <a:rPr lang="en-US" sz="1800" b="1" dirty="0" err="1"/>
              <a:t>c</a:t>
            </a:r>
            <a:r>
              <a:rPr lang="en-US" sz="2400" b="1" dirty="0" err="1"/>
              <a:t>t</a:t>
            </a:r>
            <a:r>
              <a:rPr lang="en-US" sz="2400" b="1" dirty="0"/>
              <a:t>)</a:t>
            </a:r>
          </a:p>
          <a:p>
            <a:r>
              <a:rPr lang="en-US" sz="2400" dirty="0"/>
              <a:t>Then we get </a:t>
            </a:r>
            <a:r>
              <a:rPr lang="en-US" sz="2400" b="1" dirty="0"/>
              <a:t>V</a:t>
            </a:r>
            <a:r>
              <a:rPr lang="en-US" sz="1800" b="1" dirty="0"/>
              <a:t>0</a:t>
            </a:r>
            <a:r>
              <a:rPr lang="en-US" sz="2400" b="1" dirty="0"/>
              <a:t>(t) = βSin(2π</a:t>
            </a:r>
            <a:r>
              <a:rPr lang="en-US" sz="2400" b="1" dirty="0" err="1"/>
              <a:t>f</a:t>
            </a:r>
            <a:r>
              <a:rPr lang="en-US" sz="1800" b="1" dirty="0" err="1"/>
              <a:t>m</a:t>
            </a:r>
            <a:r>
              <a:rPr lang="en-US" sz="2400" b="1" dirty="0" err="1"/>
              <a:t>t</a:t>
            </a:r>
            <a:r>
              <a:rPr lang="en-US" sz="2400" b="1" dirty="0"/>
              <a:t>)</a:t>
            </a:r>
          </a:p>
          <a:p>
            <a:r>
              <a:rPr lang="en-US" sz="2400" dirty="0"/>
              <a:t>The Output of Product Modulator is V1(t)</a:t>
            </a:r>
          </a:p>
          <a:p>
            <a:r>
              <a:rPr lang="en-US" sz="2400" dirty="0"/>
              <a:t>V1(t) = </a:t>
            </a:r>
            <a:r>
              <a:rPr lang="en-US" sz="2400" b="1" dirty="0"/>
              <a:t>V</a:t>
            </a:r>
            <a:r>
              <a:rPr lang="en-US" sz="1800" b="1" dirty="0"/>
              <a:t>0</a:t>
            </a:r>
            <a:r>
              <a:rPr lang="en-US" sz="2400" b="1" dirty="0"/>
              <a:t>(t).</a:t>
            </a:r>
            <a:r>
              <a:rPr lang="en-US" sz="2400" b="1" dirty="0" err="1"/>
              <a:t>A</a:t>
            </a:r>
            <a:r>
              <a:rPr lang="en-US" sz="1800" b="1" dirty="0" err="1"/>
              <a:t>c</a:t>
            </a:r>
            <a:r>
              <a:rPr lang="en-US" sz="2400" b="1" dirty="0" err="1"/>
              <a:t>Sin</a:t>
            </a:r>
            <a:r>
              <a:rPr lang="en-US" sz="2400" b="1" dirty="0"/>
              <a:t>(2π</a:t>
            </a:r>
            <a:r>
              <a:rPr lang="en-US" sz="2400" b="1" dirty="0" err="1"/>
              <a:t>f</a:t>
            </a:r>
            <a:r>
              <a:rPr lang="en-US" sz="1800" b="1" dirty="0" err="1"/>
              <a:t>c</a:t>
            </a:r>
            <a:r>
              <a:rPr lang="en-US" sz="2400" b="1" dirty="0" err="1"/>
              <a:t>t</a:t>
            </a:r>
            <a:r>
              <a:rPr lang="en-US" sz="2400" b="1" dirty="0"/>
              <a:t>)</a:t>
            </a:r>
          </a:p>
          <a:p>
            <a:pPr marL="914400" lvl="2" indent="0">
              <a:buNone/>
            </a:pPr>
            <a:r>
              <a:rPr lang="en-US" sz="2400" b="1" dirty="0"/>
              <a:t> = </a:t>
            </a:r>
            <a:r>
              <a:rPr lang="el-GR" sz="2400" b="1" dirty="0"/>
              <a:t>β</a:t>
            </a:r>
            <a:r>
              <a:rPr lang="en-US" sz="2400" b="1" dirty="0"/>
              <a:t>Sin(2</a:t>
            </a:r>
            <a:r>
              <a:rPr lang="el-GR" sz="2400" b="1" dirty="0"/>
              <a:t>π</a:t>
            </a:r>
            <a:r>
              <a:rPr lang="en-US" sz="2400" b="1" dirty="0" err="1"/>
              <a:t>f</a:t>
            </a:r>
            <a:r>
              <a:rPr lang="en-US" sz="1800" b="1" dirty="0" err="1"/>
              <a:t>m</a:t>
            </a:r>
            <a:r>
              <a:rPr lang="en-US" sz="2400" b="1" dirty="0" err="1"/>
              <a:t>t</a:t>
            </a:r>
            <a:r>
              <a:rPr lang="en-US" sz="2400" b="1" dirty="0"/>
              <a:t>) </a:t>
            </a:r>
            <a:r>
              <a:rPr lang="en-US" sz="2400" b="1" dirty="0" err="1"/>
              <a:t>A</a:t>
            </a:r>
            <a:r>
              <a:rPr lang="en-US" sz="1800" b="1" dirty="0" err="1"/>
              <a:t>c</a:t>
            </a:r>
            <a:r>
              <a:rPr lang="en-US" sz="2400" b="1" dirty="0" err="1"/>
              <a:t>Sin</a:t>
            </a:r>
            <a:r>
              <a:rPr lang="en-US" sz="2400" b="1" dirty="0"/>
              <a:t>(2π</a:t>
            </a:r>
            <a:r>
              <a:rPr lang="en-US" sz="2400" b="1" dirty="0" err="1"/>
              <a:t>f</a:t>
            </a:r>
            <a:r>
              <a:rPr lang="en-US" sz="1800" b="1" dirty="0" err="1"/>
              <a:t>c</a:t>
            </a:r>
            <a:r>
              <a:rPr lang="en-US" sz="2400" b="1" dirty="0" err="1"/>
              <a:t>t</a:t>
            </a:r>
            <a:r>
              <a:rPr lang="en-US" sz="2400" b="1" dirty="0"/>
              <a:t>)</a:t>
            </a:r>
          </a:p>
          <a:p>
            <a:pPr marL="914400" lvl="2" indent="0">
              <a:buNone/>
            </a:pPr>
            <a:r>
              <a:rPr lang="en-US" sz="2400" dirty="0"/>
              <a:t> = </a:t>
            </a:r>
            <a:r>
              <a:rPr lang="el-GR" sz="2400" b="1" dirty="0"/>
              <a:t>β </a:t>
            </a:r>
            <a:r>
              <a:rPr lang="en-US" sz="2400" b="1" dirty="0" err="1"/>
              <a:t>A</a:t>
            </a:r>
            <a:r>
              <a:rPr lang="en-US" sz="1800" b="1" dirty="0" err="1"/>
              <a:t>c</a:t>
            </a:r>
            <a:r>
              <a:rPr lang="en-US" sz="2400" b="1" dirty="0" err="1"/>
              <a:t>Sin</a:t>
            </a:r>
            <a:r>
              <a:rPr lang="en-US" sz="2400" b="1" dirty="0"/>
              <a:t>(2</a:t>
            </a:r>
            <a:r>
              <a:rPr lang="el-GR" sz="2400" b="1" dirty="0"/>
              <a:t>π</a:t>
            </a:r>
            <a:r>
              <a:rPr lang="en-US" sz="2400" b="1" dirty="0" err="1"/>
              <a:t>f</a:t>
            </a:r>
            <a:r>
              <a:rPr lang="en-US" sz="1800" b="1" dirty="0" err="1"/>
              <a:t>m</a:t>
            </a:r>
            <a:r>
              <a:rPr lang="en-US" sz="2400" b="1" dirty="0" err="1"/>
              <a:t>t</a:t>
            </a:r>
            <a:r>
              <a:rPr lang="en-US" sz="2400" b="1" dirty="0"/>
              <a:t>) Sin(2π</a:t>
            </a:r>
            <a:r>
              <a:rPr lang="en-US" sz="2400" b="1" dirty="0" err="1"/>
              <a:t>f</a:t>
            </a:r>
            <a:r>
              <a:rPr lang="en-US" sz="1800" b="1" dirty="0" err="1"/>
              <a:t>c</a:t>
            </a:r>
            <a:r>
              <a:rPr lang="en-US" sz="2400" b="1" dirty="0" err="1"/>
              <a:t>t</a:t>
            </a:r>
            <a:r>
              <a:rPr lang="en-US" sz="2400" b="1" dirty="0"/>
              <a:t>)</a:t>
            </a:r>
          </a:p>
          <a:p>
            <a:pPr marL="914400" lvl="2" indent="0">
              <a:buNone/>
            </a:pPr>
            <a:r>
              <a:rPr lang="en-US" sz="2400" dirty="0"/>
              <a:t>As the output of the summer block we get </a:t>
            </a:r>
          </a:p>
          <a:p>
            <a:pPr marL="914400" lvl="2" indent="0">
              <a:buNone/>
            </a:pPr>
            <a:r>
              <a:rPr lang="en-US" sz="2400" b="1" dirty="0"/>
              <a:t>S(t) = C(t) – V1(t)</a:t>
            </a:r>
          </a:p>
          <a:p>
            <a:pPr marL="914400" lvl="2" indent="0">
              <a:buNone/>
            </a:pPr>
            <a:r>
              <a:rPr lang="en-US" sz="2400" b="1" dirty="0"/>
              <a:t>       = </a:t>
            </a:r>
            <a:r>
              <a:rPr lang="en-US" sz="2400" b="1" dirty="0" err="1"/>
              <a:t>A</a:t>
            </a:r>
            <a:r>
              <a:rPr lang="en-US" sz="1800" b="1" dirty="0" err="1"/>
              <a:t>c</a:t>
            </a:r>
            <a:r>
              <a:rPr lang="en-US" sz="2400" b="1" dirty="0" err="1"/>
              <a:t>cos</a:t>
            </a:r>
            <a:r>
              <a:rPr lang="en-US" sz="2400" b="1" dirty="0"/>
              <a:t>(2π</a:t>
            </a:r>
            <a:r>
              <a:rPr lang="en-US" sz="2400" b="1" dirty="0" err="1"/>
              <a:t>f</a:t>
            </a:r>
            <a:r>
              <a:rPr lang="en-US" sz="1800" b="1" dirty="0" err="1"/>
              <a:t>c</a:t>
            </a:r>
            <a:r>
              <a:rPr lang="en-US" sz="2400" b="1" dirty="0" err="1"/>
              <a:t>t</a:t>
            </a:r>
            <a:r>
              <a:rPr lang="en-US" sz="2400" b="1" dirty="0"/>
              <a:t>) - </a:t>
            </a:r>
            <a:r>
              <a:rPr lang="el-GR" sz="2400" b="1" dirty="0"/>
              <a:t>β </a:t>
            </a:r>
            <a:r>
              <a:rPr lang="en-US" sz="2400" b="1" dirty="0" err="1"/>
              <a:t>A</a:t>
            </a:r>
            <a:r>
              <a:rPr lang="en-US" sz="1800" b="1" dirty="0" err="1"/>
              <a:t>c</a:t>
            </a:r>
            <a:r>
              <a:rPr lang="en-US" sz="2400" b="1" dirty="0" err="1"/>
              <a:t>Sin</a:t>
            </a:r>
            <a:r>
              <a:rPr lang="en-US" sz="2400" b="1" dirty="0"/>
              <a:t>(2π</a:t>
            </a:r>
            <a:r>
              <a:rPr lang="en-US" sz="2400" b="1" dirty="0" err="1"/>
              <a:t>f</a:t>
            </a:r>
            <a:r>
              <a:rPr lang="en-US" sz="1800" b="1" dirty="0" err="1"/>
              <a:t>c</a:t>
            </a:r>
            <a:r>
              <a:rPr lang="en-US" sz="2400" b="1" dirty="0" err="1"/>
              <a:t>t</a:t>
            </a:r>
            <a:r>
              <a:rPr lang="en-US" sz="2400" b="1" dirty="0"/>
              <a:t>) Sin(2</a:t>
            </a:r>
            <a:r>
              <a:rPr lang="el-GR" sz="2400" b="1" dirty="0"/>
              <a:t>π</a:t>
            </a:r>
            <a:r>
              <a:rPr lang="en-US" sz="2400" b="1" dirty="0" err="1"/>
              <a:t>f</a:t>
            </a:r>
            <a:r>
              <a:rPr lang="en-US" sz="1800" b="1" dirty="0" err="1"/>
              <a:t>m</a:t>
            </a:r>
            <a:r>
              <a:rPr lang="en-US" sz="2400" b="1" dirty="0" err="1"/>
              <a:t>t</a:t>
            </a:r>
            <a:r>
              <a:rPr lang="en-US" sz="2400" b="1" dirty="0"/>
              <a:t>)</a:t>
            </a:r>
          </a:p>
          <a:p>
            <a:pPr marL="914400" lvl="2" indent="0">
              <a:buNone/>
            </a:pPr>
            <a:endParaRPr lang="en-US" sz="2400" b="1" dirty="0"/>
          </a:p>
          <a:p>
            <a:pPr marL="914400" lvl="2" indent="0">
              <a:buNone/>
            </a:pPr>
            <a:r>
              <a:rPr lang="en-US" sz="2400" b="1" dirty="0"/>
              <a:t>This is the equation which is received for the NBFM wave. </a:t>
            </a:r>
          </a:p>
          <a:p>
            <a:pPr marL="914400" lvl="2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64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1087" y="1056620"/>
            <a:ext cx="10178322" cy="5916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Following are the features of Wideband FM.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This frequency modulation has infinite bandwidth.</a:t>
            </a:r>
          </a:p>
          <a:p>
            <a:endParaRPr lang="en-US" sz="2400" dirty="0"/>
          </a:p>
          <a:p>
            <a:r>
              <a:rPr lang="en-US" sz="2400" dirty="0"/>
              <a:t>The modulation index </a:t>
            </a:r>
            <a:r>
              <a:rPr lang="en-US" sz="2400" b="1" dirty="0"/>
              <a:t>β is large, i.e., higher than 1.</a:t>
            </a:r>
          </a:p>
          <a:p>
            <a:endParaRPr lang="en-US" sz="2400" dirty="0"/>
          </a:p>
          <a:p>
            <a:r>
              <a:rPr lang="en-US" sz="2400" dirty="0"/>
              <a:t>Its spectrum consists of </a:t>
            </a:r>
            <a:r>
              <a:rPr lang="en-US" sz="2400" b="1" dirty="0"/>
              <a:t>a carrier and infinite number of sidebands</a:t>
            </a:r>
            <a:r>
              <a:rPr lang="en-US" sz="2400" dirty="0"/>
              <a:t>, which are located around it.</a:t>
            </a:r>
          </a:p>
          <a:p>
            <a:endParaRPr lang="en-US" sz="2400" dirty="0"/>
          </a:p>
          <a:p>
            <a:r>
              <a:rPr lang="en-US" sz="2400" dirty="0"/>
              <a:t>This is used in </a:t>
            </a:r>
            <a:r>
              <a:rPr lang="en-US" sz="2400" b="1" dirty="0"/>
              <a:t>entertainment, broadcasting applications such as FM radio, TV, </a:t>
            </a:r>
            <a:r>
              <a:rPr lang="en-US" sz="2400" dirty="0" err="1"/>
              <a:t>etc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221087" y="196334"/>
            <a:ext cx="42001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u="sng" dirty="0"/>
              <a:t>WIDEBAND FM</a:t>
            </a:r>
          </a:p>
        </p:txBody>
      </p:sp>
    </p:spTree>
    <p:extLst>
      <p:ext uri="{BB962C8B-B14F-4D97-AF65-F5344CB8AC3E}">
        <p14:creationId xmlns:p14="http://schemas.microsoft.com/office/powerpoint/2010/main" val="1694705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378" y="285750"/>
            <a:ext cx="10178322" cy="63626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wide-band FM wave – WBFM</a:t>
            </a:r>
          </a:p>
          <a:p>
            <a:r>
              <a:rPr lang="en-US" sz="2400" b="1" dirty="0"/>
              <a:t>Modulating index – β &gt;&gt;1</a:t>
            </a:r>
            <a:endParaRPr lang="en-US" sz="2400" b="1" u="sng" dirty="0"/>
          </a:p>
          <a:p>
            <a:endParaRPr lang="en-US" sz="2400" dirty="0"/>
          </a:p>
          <a:p>
            <a:r>
              <a:rPr lang="en-US" sz="2400" dirty="0"/>
              <a:t>The standard equation of the FM wave is;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FM wave is produced by a sinusoidal modulating wave m(t), </a:t>
            </a:r>
            <a:r>
              <a:rPr lang="en-US" sz="2400" b="1" dirty="0"/>
              <a:t>that is a periodic function of time t,</a:t>
            </a:r>
            <a:r>
              <a:rPr lang="en-US" sz="2400" dirty="0"/>
              <a:t> only when fc = n.fm ( integral multiple of modulating frequency)</a:t>
            </a:r>
          </a:p>
          <a:p>
            <a:endParaRPr lang="en-US" sz="2400" dirty="0"/>
          </a:p>
          <a:p>
            <a:r>
              <a:rPr lang="en-US" sz="2400" dirty="0"/>
              <a:t>Note that, here fc is large enough to compared to BW of FM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pic>
        <p:nvPicPr>
          <p:cNvPr id="6146" name="Picture 2" descr="C:\Users\Hp\Desktop\cc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492" y="2278230"/>
            <a:ext cx="5958151" cy="87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231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378" y="285750"/>
            <a:ext cx="10178322" cy="63626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/>
              <a:t>FM modulated wave is calculated in complex mode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It can be written as: (Real part of the complex quantity)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Where                                                         is </a:t>
            </a:r>
            <a:r>
              <a:rPr lang="en-US" sz="2400" b="1" dirty="0"/>
              <a:t>called complex envelop 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Note that the </a:t>
            </a:r>
            <a:r>
              <a:rPr lang="en-US" sz="2400" b="1" dirty="0"/>
              <a:t>complex envelope is a periodic function of time </a:t>
            </a:r>
            <a:r>
              <a:rPr lang="en-US" sz="2400" dirty="0"/>
              <a:t>with a fundamental frequency equals to the </a:t>
            </a:r>
            <a:r>
              <a:rPr lang="en-US" sz="2400" dirty="0" err="1"/>
              <a:t>f</a:t>
            </a:r>
            <a:r>
              <a:rPr lang="en-US" sz="1800" dirty="0" err="1"/>
              <a:t>m</a:t>
            </a:r>
            <a:r>
              <a:rPr lang="en-US" sz="1800" dirty="0"/>
              <a:t>,</a:t>
            </a:r>
            <a:r>
              <a:rPr lang="en-US" sz="2400" dirty="0"/>
              <a:t> which means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  <p:pic>
        <p:nvPicPr>
          <p:cNvPr id="6147" name="Picture 3" descr="C:\Users\Hp\Desktop\www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378" y="1788449"/>
            <a:ext cx="7680825" cy="72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:\Users\Hp\Desktop\qqq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134" y="2592853"/>
            <a:ext cx="4474516" cy="72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C:\Users\Hp\Desktop\ee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463" y="5562077"/>
            <a:ext cx="5113837" cy="121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540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23850"/>
            <a:ext cx="10178322" cy="6248399"/>
          </a:xfrm>
        </p:spPr>
        <p:txBody>
          <a:bodyPr>
            <a:normAutofit/>
          </a:bodyPr>
          <a:lstStyle/>
          <a:p>
            <a:r>
              <a:rPr lang="en-US" sz="2400" dirty="0"/>
              <a:t>Then we can rewrite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can </a:t>
            </a:r>
            <a:r>
              <a:rPr lang="en-US" sz="2400" b="1" dirty="0"/>
              <a:t>Expand above equation </a:t>
            </a:r>
            <a:r>
              <a:rPr lang="en-US" sz="2400" dirty="0"/>
              <a:t>as per the </a:t>
            </a:r>
            <a:r>
              <a:rPr lang="en-US" sz="2400" b="1" dirty="0"/>
              <a:t>complex Fourier series </a:t>
            </a:r>
            <a:r>
              <a:rPr lang="en-US" sz="2400" dirty="0"/>
              <a:t>form: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Where the </a:t>
            </a:r>
            <a:r>
              <a:rPr lang="en-US" sz="2400" b="1" dirty="0"/>
              <a:t>complex Fourier Coefficient </a:t>
            </a:r>
            <a:r>
              <a:rPr lang="en-US" sz="2400" b="1" dirty="0" err="1"/>
              <a:t>Cn</a:t>
            </a:r>
            <a:r>
              <a:rPr lang="en-US" sz="2400" b="1" dirty="0"/>
              <a:t> </a:t>
            </a:r>
            <a:r>
              <a:rPr lang="en-US" sz="2400" dirty="0"/>
              <a:t>is defined as: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pic>
        <p:nvPicPr>
          <p:cNvPr id="7170" name="Picture 2" descr="C:\Users\Hp\Desktop\bbb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4" y="781048"/>
            <a:ext cx="5381625" cy="211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Hp\Desktop\ffff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4" y="3326386"/>
            <a:ext cx="3876675" cy="104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Hp\Desktop\c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4" y="4807127"/>
            <a:ext cx="6029326" cy="191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895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pic>
        <p:nvPicPr>
          <p:cNvPr id="8194" name="Picture 2" descr="C:\Users\Hp\Desktop\bf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171275"/>
            <a:ext cx="7658100" cy="644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497614" y="3421117"/>
            <a:ext cx="4058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; Complex notation of the Bessel function</a:t>
            </a:r>
          </a:p>
        </p:txBody>
      </p:sp>
    </p:spTree>
    <p:extLst>
      <p:ext uri="{BB962C8B-B14F-4D97-AF65-F5344CB8AC3E}">
        <p14:creationId xmlns:p14="http://schemas.microsoft.com/office/powerpoint/2010/main" val="1006387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  <p:pic>
        <p:nvPicPr>
          <p:cNvPr id="9218" name="Picture 2" descr="C:\Users\Hp\Desktop\f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180"/>
          <a:stretch/>
        </p:blipFill>
        <p:spPr bwMode="auto">
          <a:xfrm>
            <a:off x="1047750" y="152400"/>
            <a:ext cx="10184350" cy="3733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47750" y="4267200"/>
            <a:ext cx="111057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This is the desired form of the furrier series representation of the Single Tone FM Signal</a:t>
            </a:r>
          </a:p>
          <a:p>
            <a:r>
              <a:rPr lang="en-US" sz="2400" dirty="0"/>
              <a:t>For  an arbitrary value of modulation index</a:t>
            </a:r>
          </a:p>
          <a:p>
            <a:endParaRPr lang="en-US" sz="2400" dirty="0"/>
          </a:p>
          <a:p>
            <a:r>
              <a:rPr lang="en-US" sz="2400" dirty="0"/>
              <a:t>Discrete Spectrum of FM is obtained by taking </a:t>
            </a:r>
            <a:r>
              <a:rPr lang="en-US" sz="2400" b="1" dirty="0"/>
              <a:t>Furrier Transformation</a:t>
            </a:r>
            <a:r>
              <a:rPr lang="en-US" sz="2400" dirty="0"/>
              <a:t> of both sides: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9219" name="Picture 3" descr="C:\Users\Hp\Desktop\ft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181" y="5782012"/>
            <a:ext cx="7329487" cy="99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497613" y="1924703"/>
            <a:ext cx="157655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348948" y="18120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305111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351" y="394138"/>
            <a:ext cx="10531365" cy="6195847"/>
          </a:xfrm>
        </p:spPr>
        <p:txBody>
          <a:bodyPr>
            <a:normAutofit/>
          </a:bodyPr>
          <a:lstStyle/>
          <a:p>
            <a:r>
              <a:rPr lang="en-US" sz="2400" dirty="0"/>
              <a:t>Above equation shows an </a:t>
            </a:r>
            <a:r>
              <a:rPr lang="en-US" sz="2400" b="1" dirty="0"/>
              <a:t>infinite number of delta functions </a:t>
            </a:r>
          </a:p>
          <a:p>
            <a:pPr marL="0" indent="0">
              <a:buNone/>
            </a:pPr>
            <a:r>
              <a:rPr lang="en-US" sz="2400" dirty="0"/>
              <a:t>spaced at fc +- </a:t>
            </a:r>
            <a:r>
              <a:rPr lang="en-US" sz="2400" dirty="0" err="1"/>
              <a:t>nfm</a:t>
            </a:r>
            <a:endParaRPr lang="en-US" sz="2400" dirty="0"/>
          </a:p>
          <a:p>
            <a:r>
              <a:rPr lang="en-US" sz="2400" dirty="0"/>
              <a:t>For n= +- 0, +-1, +-2,…</a:t>
            </a:r>
          </a:p>
          <a:p>
            <a:r>
              <a:rPr lang="en-US" sz="2400" dirty="0"/>
              <a:t>Note: FM is composed of a carrier with a set of side band frequencies spaced symmetrically, on either side of the carrier at a frequency separation of  </a:t>
            </a:r>
            <a:r>
              <a:rPr lang="en-US" sz="2400" dirty="0" err="1"/>
              <a:t>fm</a:t>
            </a:r>
            <a:r>
              <a:rPr lang="en-US" sz="2400" dirty="0"/>
              <a:t>, 2fm, 3fm, 4fm,…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26</a:t>
            </a:fld>
            <a:endParaRPr lang="en-US" dirty="0"/>
          </a:p>
        </p:txBody>
      </p:sp>
      <p:pic>
        <p:nvPicPr>
          <p:cNvPr id="2" name="Picture 3" descr="C:\Users\Hp\Desktop\1112.JPG">
            <a:extLst>
              <a:ext uri="{FF2B5EF4-FFF2-40B4-BE49-F238E27FC236}">
                <a16:creationId xmlns:a16="http://schemas.microsoft.com/office/drawing/2014/main" id="{0111A00F-1E2E-E35E-046E-C68B07A3A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38" y="3210250"/>
            <a:ext cx="816102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774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7DEB0-6985-B2D6-6AAC-CF99CC39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frequency spectrum&#10;&#10;Description automatically generated">
            <a:extLst>
              <a:ext uri="{FF2B5EF4-FFF2-40B4-BE49-F238E27FC236}">
                <a16:creationId xmlns:a16="http://schemas.microsoft.com/office/drawing/2014/main" id="{3C2EACF7-9032-5DA5-0A95-C66F23740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456813"/>
            <a:ext cx="10178321" cy="572530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BF184-471B-B374-5EC3-AC607684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193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2055" y="268015"/>
            <a:ext cx="10357945" cy="6306206"/>
          </a:xfrm>
        </p:spPr>
        <p:txBody>
          <a:bodyPr>
            <a:normAutofit/>
          </a:bodyPr>
          <a:lstStyle/>
          <a:p>
            <a:r>
              <a:rPr lang="en-US" sz="2400" dirty="0"/>
              <a:t>The variation of Bessel function determines</a:t>
            </a:r>
            <a:r>
              <a:rPr lang="en-US" sz="2400" b="1" dirty="0"/>
              <a:t> the Amplitude of the varies sideband components </a:t>
            </a:r>
            <a:r>
              <a:rPr lang="en-US" sz="2400" dirty="0"/>
              <a:t>of the WBFM.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98180" y="1218465"/>
            <a:ext cx="3191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BESSEL FUNCTION</a:t>
            </a:r>
          </a:p>
        </p:txBody>
      </p:sp>
      <p:pic>
        <p:nvPicPr>
          <p:cNvPr id="6" name="Content Placeholder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80" y="1741685"/>
            <a:ext cx="7577351" cy="395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8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Special Points:</a:t>
            </a:r>
          </a:p>
          <a:p>
            <a:r>
              <a:rPr lang="en-US" dirty="0"/>
              <a:t>For small values of the </a:t>
            </a:r>
            <a:r>
              <a:rPr lang="en-US" b="1" dirty="0"/>
              <a:t>β</a:t>
            </a:r>
          </a:p>
          <a:p>
            <a:pPr lvl="1"/>
            <a:r>
              <a:rPr lang="en-US" b="1" dirty="0"/>
              <a:t>J0(β ) = 1</a:t>
            </a:r>
          </a:p>
          <a:p>
            <a:pPr lvl="1"/>
            <a:r>
              <a:rPr lang="en-US" b="1" dirty="0"/>
              <a:t>J1(β ) = β/2</a:t>
            </a:r>
          </a:p>
          <a:p>
            <a:pPr lvl="1"/>
            <a:r>
              <a:rPr lang="en-US" b="1" dirty="0" err="1"/>
              <a:t>Jn</a:t>
            </a:r>
            <a:r>
              <a:rPr lang="en-US" b="1" dirty="0"/>
              <a:t>(β )</a:t>
            </a:r>
            <a:r>
              <a:rPr lang="en-US" dirty="0"/>
              <a:t> = 0 :for n&gt;1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p:pic>
        <p:nvPicPr>
          <p:cNvPr id="12290" name="Picture 2" descr="C:\Users\Hp\Desktop\bb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391" y="331075"/>
            <a:ext cx="7683384" cy="336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276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90500"/>
            <a:ext cx="10425972" cy="64007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pic>
        <p:nvPicPr>
          <p:cNvPr id="11266" name="Picture 2" descr="C:\Users\Hp\Desktop\bff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817" y="217966"/>
            <a:ext cx="8586357" cy="619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43655" y="281028"/>
            <a:ext cx="14504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64068" y="5951361"/>
            <a:ext cx="14504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097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B51B-F0B4-6433-D108-2C418D646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18587"/>
            <a:ext cx="9742387" cy="191773"/>
          </a:xfrm>
        </p:spPr>
        <p:txBody>
          <a:bodyPr>
            <a:noAutofit/>
          </a:bodyPr>
          <a:lstStyle/>
          <a:p>
            <a:pPr algn="ctr"/>
            <a:r>
              <a:rPr lang="en-US" sz="1800" dirty="0"/>
              <a:t>Bessel Table</a:t>
            </a:r>
          </a:p>
        </p:txBody>
      </p:sp>
      <p:pic>
        <p:nvPicPr>
          <p:cNvPr id="6" name="Content Placeholder 5" descr="A table with numbers and lines&#10;&#10;Description automatically generated">
            <a:extLst>
              <a:ext uri="{FF2B5EF4-FFF2-40B4-BE49-F238E27FC236}">
                <a16:creationId xmlns:a16="http://schemas.microsoft.com/office/drawing/2014/main" id="{A889427B-08D5-2703-8F39-71738AD60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28" y="643809"/>
            <a:ext cx="11950995" cy="615657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9AB8A-D3E6-1770-BC8B-DCBA33D1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625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90500"/>
            <a:ext cx="10178322" cy="64007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pic>
        <p:nvPicPr>
          <p:cNvPr id="12290" name="Picture 2" descr="C:\Users\Hp\Desktop\11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017" y="285750"/>
            <a:ext cx="6390842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Hp\Desktop\11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017" y="3048000"/>
            <a:ext cx="816102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558455" y="285750"/>
            <a:ext cx="1146404" cy="9664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4878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528" y="152401"/>
            <a:ext cx="10425972" cy="64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33</a:t>
            </a:fld>
            <a:endParaRPr lang="en-US" dirty="0"/>
          </a:p>
        </p:txBody>
      </p:sp>
      <p:pic>
        <p:nvPicPr>
          <p:cNvPr id="13314" name="Picture 2" descr="C:\Users\Hp\Desktop\aaaaaa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561" y="514350"/>
            <a:ext cx="9471085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21561" y="514350"/>
            <a:ext cx="765391" cy="70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757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040525"/>
            <a:ext cx="10178322" cy="5659820"/>
          </a:xfrm>
        </p:spPr>
        <p:txBody>
          <a:bodyPr>
            <a:normAutofit/>
          </a:bodyPr>
          <a:lstStyle/>
          <a:p>
            <a:r>
              <a:rPr lang="en-US" sz="2400" dirty="0"/>
              <a:t>In theory WBFM contains infinite number of side frequencies</a:t>
            </a:r>
          </a:p>
          <a:p>
            <a:r>
              <a:rPr lang="en-US" sz="2400" dirty="0"/>
              <a:t>Then the BW required to transmit WBFM wave is going to infinite.</a:t>
            </a:r>
          </a:p>
          <a:p>
            <a:r>
              <a:rPr lang="en-US" sz="2400" dirty="0"/>
              <a:t>But in practice, WBFM wave is effectively limited to finite number of significant side frequencies with significant amount of distortion.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10711" y="328504"/>
            <a:ext cx="5929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Transmission BW of WBFM Waves</a:t>
            </a:r>
          </a:p>
        </p:txBody>
      </p:sp>
    </p:spTree>
    <p:extLst>
      <p:ext uri="{BB962C8B-B14F-4D97-AF65-F5344CB8AC3E}">
        <p14:creationId xmlns:p14="http://schemas.microsoft.com/office/powerpoint/2010/main" val="1790658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0691" y="578793"/>
            <a:ext cx="83518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1pPr>
            <a:lvl2pPr>
              <a:spcBef>
                <a:spcPct val="0"/>
              </a:spcBef>
              <a:defRPr sz="4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2pPr>
            <a:lvl3pPr>
              <a:spcBef>
                <a:spcPct val="0"/>
              </a:spcBef>
              <a:defRPr sz="4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3pPr>
            <a:lvl4pPr>
              <a:spcBef>
                <a:spcPct val="0"/>
              </a:spcBef>
              <a:defRPr sz="4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4pPr>
            <a:lvl5pPr>
              <a:spcBef>
                <a:spcPct val="0"/>
              </a:spcBef>
              <a:defRPr sz="4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9pPr>
          </a:lstStyle>
          <a:p>
            <a:pPr algn="ctr" defTabSz="914400" fontAlgn="base">
              <a:spcAft>
                <a:spcPct val="0"/>
              </a:spcAft>
            </a:pPr>
            <a:r>
              <a:rPr lang="en-US" altLang="zh-TW" sz="2400" b="0" dirty="0">
                <a:solidFill>
                  <a:schemeClr val="tx1"/>
                </a:solidFill>
                <a:ea typeface="????"/>
                <a:cs typeface="????"/>
              </a:rPr>
              <a:t>Carson’s rule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927100" y="1084108"/>
            <a:ext cx="1014123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  The following formula, known as Carson’s rule is often used as an estimate of the WBFM signal bandwidth:</a:t>
            </a:r>
            <a:endParaRPr lang="en-US" altLang="en-US" sz="2400" dirty="0">
              <a:latin typeface="Times New Roman" panose="02020603050405020304" pitchFamily="18" charset="0"/>
              <a:ea typeface="新細明體" pitchFamily="18" charset="-12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983151" y="5556404"/>
          <a:ext cx="19351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228600" progId="Equation.3">
                  <p:embed/>
                </p:oleObj>
              </mc:Choice>
              <mc:Fallback>
                <p:oleObj name="Equation" r:id="rId2" imgW="1015920" imgH="22860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3151" y="5556404"/>
                        <a:ext cx="193516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932996" y="4244055"/>
            <a:ext cx="788707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ea typeface="新細明體" pitchFamily="18" charset="-120"/>
              </a:rPr>
              <a:t>    Carson’s rule : Bandwidth of an WBFM signal is given by:</a:t>
            </a:r>
          </a:p>
        </p:txBody>
      </p: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1285447" y="6086505"/>
            <a:ext cx="5497513" cy="708025"/>
            <a:chOff x="471" y="3783"/>
            <a:chExt cx="3463" cy="446"/>
          </a:xfrm>
        </p:grpSpPr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471" y="3783"/>
              <a:ext cx="2680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Note: </a:t>
              </a: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When </a:t>
              </a:r>
              <a:r>
                <a:rPr kumimoji="0" lang="el-GR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=0 or</a:t>
              </a:r>
              <a:r>
                <a:rPr kumimoji="0" lang="en-US" altLang="en-US" sz="2000" b="1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very less</a:t>
              </a:r>
              <a:r>
                <a:rPr lang="en-US" altLang="en-US" sz="2000" kern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it gives the BW of NBFM Waves as</a:t>
              </a:r>
              <a:endParaRPr kumimoji="0" lang="el-G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Object 13"/>
            <p:cNvGraphicFramePr>
              <a:graphicFrameLocks noChangeAspect="1"/>
            </p:cNvGraphicFramePr>
            <p:nvPr/>
          </p:nvGraphicFramePr>
          <p:xfrm>
            <a:off x="3218" y="3804"/>
            <a:ext cx="71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6880" imgH="228600" progId="Equation.3">
                    <p:embed/>
                  </p:oleObj>
                </mc:Choice>
                <mc:Fallback>
                  <p:oleObj name="Equation" r:id="rId4" imgW="596880" imgH="228600" progId="Equation.3">
                    <p:embed/>
                    <p:pic>
                      <p:nvPicPr>
                        <p:cNvPr id="1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8" y="3804"/>
                          <a:ext cx="71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410711" y="17333"/>
            <a:ext cx="5929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Transmission BW of WBFM Waves</a:t>
            </a:r>
          </a:p>
        </p:txBody>
      </p:sp>
      <p:pic>
        <p:nvPicPr>
          <p:cNvPr id="20" name="Picture 1318" descr="C:\Users\Hp\Desktop\car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252" y="4799095"/>
            <a:ext cx="3000375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58DF0A0E-E1F2-BA03-4DDA-6456ACF016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906" y="1928568"/>
            <a:ext cx="10411857" cy="234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92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of WBFM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39840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following two methods generate WBFM wave.</a:t>
            </a:r>
          </a:p>
          <a:p>
            <a:r>
              <a:rPr lang="en-US" dirty="0"/>
              <a:t> Direct method</a:t>
            </a:r>
          </a:p>
          <a:p>
            <a:r>
              <a:rPr lang="en-US" dirty="0"/>
              <a:t> Indirect method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755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245908"/>
            <a:ext cx="10178322" cy="542773"/>
          </a:xfrm>
        </p:spPr>
        <p:txBody>
          <a:bodyPr>
            <a:noAutofit/>
          </a:bodyPr>
          <a:lstStyle/>
          <a:p>
            <a:r>
              <a:rPr lang="en-US" sz="3600" dirty="0"/>
              <a:t>Direct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755819"/>
            <a:ext cx="10178322" cy="5618815"/>
          </a:xfrm>
        </p:spPr>
        <p:txBody>
          <a:bodyPr>
            <a:normAutofit/>
          </a:bodyPr>
          <a:lstStyle/>
          <a:p>
            <a:r>
              <a:rPr lang="en-US" dirty="0"/>
              <a:t>This method is called as the Direct Method because we are generating a wide band FM wave directly. </a:t>
            </a:r>
          </a:p>
          <a:p>
            <a:r>
              <a:rPr lang="en-US" dirty="0"/>
              <a:t>In this method, Voltage Controlled Oscillator (VCO) is used to generate WBFM. </a:t>
            </a:r>
          </a:p>
          <a:p>
            <a:r>
              <a:rPr lang="en-US" dirty="0"/>
              <a:t>A voltage-controlled oscillator (VCO) is an </a:t>
            </a:r>
            <a:r>
              <a:rPr lang="en-US" dirty="0">
                <a:hlinkClick r:id="rId2"/>
              </a:rPr>
              <a:t>electronic oscillator</a:t>
            </a:r>
            <a:r>
              <a:rPr lang="en-US" dirty="0"/>
              <a:t> whose </a:t>
            </a:r>
            <a:r>
              <a:rPr lang="en-US" dirty="0">
                <a:hlinkClick r:id="rId3" tooltip="Oscillation"/>
              </a:rPr>
              <a:t>oscillation</a:t>
            </a:r>
            <a:r>
              <a:rPr lang="en-US" dirty="0"/>
              <a:t> </a:t>
            </a:r>
            <a:r>
              <a:rPr lang="en-US" dirty="0">
                <a:hlinkClick r:id="rId4" tooltip="Frequency"/>
              </a:rPr>
              <a:t>frequency</a:t>
            </a:r>
            <a:r>
              <a:rPr lang="en-US" dirty="0"/>
              <a:t> is controlled by a </a:t>
            </a:r>
            <a:r>
              <a:rPr lang="en-US" dirty="0">
                <a:hlinkClick r:id="rId5" tooltip="Voltage"/>
              </a:rPr>
              <a:t>voltage</a:t>
            </a:r>
            <a:r>
              <a:rPr lang="en-US" dirty="0"/>
              <a:t> input. The applied input voltage determines the instantaneous oscillation frequency. </a:t>
            </a:r>
          </a:p>
          <a:p>
            <a:r>
              <a:rPr lang="en-US" dirty="0"/>
              <a:t>VCO produces an output signal, whose </a:t>
            </a:r>
            <a:r>
              <a:rPr lang="en-US" b="1" dirty="0"/>
              <a:t>frequency is proportional </a:t>
            </a:r>
            <a:r>
              <a:rPr lang="en-US" dirty="0"/>
              <a:t>to the input signal voltage and this is similar to the definition of FM wave. </a:t>
            </a:r>
          </a:p>
          <a:p>
            <a:r>
              <a:rPr lang="en-US" dirty="0"/>
              <a:t>The block diagram of the generation of WBFM wave is shown in the following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147" y="4911434"/>
            <a:ext cx="6373310" cy="175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83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844476"/>
            <a:ext cx="10178322" cy="4723811"/>
          </a:xfrm>
        </p:spPr>
        <p:txBody>
          <a:bodyPr>
            <a:normAutofit/>
          </a:bodyPr>
          <a:lstStyle/>
          <a:p>
            <a:r>
              <a:rPr lang="en-US" sz="2400" dirty="0"/>
              <a:t>Here, the modulating signal m(t) is applied as an input of Voltage Controlled Oscillator (VCO). </a:t>
            </a:r>
            <a:r>
              <a:rPr lang="en-US" sz="2400" b="1" dirty="0"/>
              <a:t>VCO produces an output, which is nothing but the WBFM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Because the </a:t>
            </a:r>
            <a:r>
              <a:rPr lang="en-US" sz="2400" b="1" dirty="0"/>
              <a:t>Frequency is proportional to the input Voltage</a:t>
            </a:r>
            <a:r>
              <a:rPr lang="en-US" sz="2400" dirty="0"/>
              <a:t>, </a:t>
            </a:r>
          </a:p>
          <a:p>
            <a:pPr marL="0" indent="0">
              <a:buNone/>
            </a:pPr>
            <a:r>
              <a:rPr lang="en-US" sz="2400" dirty="0"/>
              <a:t>we can get : </a:t>
            </a:r>
            <a:r>
              <a:rPr lang="en-US" sz="2400" b="1" dirty="0"/>
              <a:t>Fi α m(t)</a:t>
            </a:r>
          </a:p>
          <a:p>
            <a:r>
              <a:rPr lang="en-US" sz="2400" dirty="0"/>
              <a:t>⇒</a:t>
            </a:r>
            <a:r>
              <a:rPr lang="en-US" sz="2400" b="1" dirty="0"/>
              <a:t>f</a:t>
            </a:r>
            <a:r>
              <a:rPr lang="en-US" sz="1800" b="1" dirty="0"/>
              <a:t>i</a:t>
            </a:r>
            <a:r>
              <a:rPr lang="en-US" sz="2400" b="1" dirty="0"/>
              <a:t> = f</a:t>
            </a:r>
            <a:r>
              <a:rPr lang="en-US" sz="1800" b="1" dirty="0"/>
              <a:t>c </a:t>
            </a:r>
            <a:r>
              <a:rPr lang="en-US" sz="2400" b="1" dirty="0"/>
              <a:t>+ </a:t>
            </a:r>
            <a:r>
              <a:rPr lang="en-US" sz="2400" b="1" dirty="0" err="1"/>
              <a:t>k</a:t>
            </a:r>
            <a:r>
              <a:rPr lang="en-US" sz="1800" b="1" dirty="0" err="1"/>
              <a:t>f</a:t>
            </a:r>
            <a:r>
              <a:rPr lang="en-US" sz="2400" b="1" dirty="0" err="1"/>
              <a:t>m</a:t>
            </a:r>
            <a:r>
              <a:rPr lang="en-US" sz="2400" b="1" dirty="0"/>
              <a:t>(t)</a:t>
            </a:r>
          </a:p>
          <a:p>
            <a:r>
              <a:rPr lang="en-US" sz="2400" dirty="0"/>
              <a:t>Where, fi - instantaneous frequency of WBFM wave.</a:t>
            </a:r>
          </a:p>
          <a:p>
            <a:pPr lvl="2"/>
            <a:r>
              <a:rPr lang="en-US" sz="2400" dirty="0"/>
              <a:t> fc – Un modulated carrier frequency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568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05133"/>
            <a:ext cx="10178322" cy="6461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>
                <a:solidFill>
                  <a:schemeClr val="tx2"/>
                </a:solidFill>
              </a:rPr>
              <a:t>INDIRECT METHOD</a:t>
            </a:r>
          </a:p>
          <a:p>
            <a:r>
              <a:rPr lang="en-US" dirty="0"/>
              <a:t>This method is called as Indirect Method because we are generating </a:t>
            </a:r>
            <a:r>
              <a:rPr lang="en-US" b="1" dirty="0"/>
              <a:t>a wide band FM wave indirectly</a:t>
            </a:r>
            <a:r>
              <a:rPr lang="en-US" dirty="0"/>
              <a:t>.</a:t>
            </a:r>
          </a:p>
          <a:p>
            <a:r>
              <a:rPr lang="en-US" dirty="0"/>
              <a:t>This means, first we will generate NBFM wave and then with the help of frequency multipliers we will get WBFM wave</a:t>
            </a:r>
          </a:p>
          <a:p>
            <a:r>
              <a:rPr lang="en-US" dirty="0"/>
              <a:t>The block diagram of generation of WBFM wave is shown in the following figure.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block diagram contains mainly two stages. In the first stage, the </a:t>
            </a:r>
            <a:r>
              <a:rPr lang="en-US" b="1" dirty="0"/>
              <a:t>NBFM wave will be generated</a:t>
            </a:r>
            <a:r>
              <a:rPr lang="en-US" dirty="0"/>
              <a:t> using NBFM modulator. We have seen the block diagram of NBFM modulator at the beginning of this chapter. We know that the </a:t>
            </a:r>
            <a:r>
              <a:rPr lang="en-US" b="1" dirty="0"/>
              <a:t>modulation index of NBFM wave is less than one</a:t>
            </a:r>
            <a:r>
              <a:rPr lang="en-US" dirty="0"/>
              <a:t>. Hence, in order to get the required modulation index (greater than one) of FM wave, </a:t>
            </a:r>
            <a:r>
              <a:rPr lang="en-US" b="1" dirty="0"/>
              <a:t>choose the frequency multiplier value properly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751" y="2787396"/>
            <a:ext cx="4429058" cy="176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691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63682"/>
            <a:ext cx="10178322" cy="6011997"/>
          </a:xfrm>
        </p:spPr>
        <p:txBody>
          <a:bodyPr/>
          <a:lstStyle/>
          <a:p>
            <a:r>
              <a:rPr lang="en-US" sz="2400" dirty="0"/>
              <a:t>Here </a:t>
            </a:r>
            <a:r>
              <a:rPr lang="en-US" sz="2400" b="1" dirty="0"/>
              <a:t>Frequency multiplier </a:t>
            </a:r>
            <a:r>
              <a:rPr lang="en-US" sz="2400" dirty="0"/>
              <a:t>is a non-linear device, which produces an output signal whose frequency is ‘n’ times the input signal frequency. </a:t>
            </a:r>
            <a:r>
              <a:rPr lang="en-US" sz="2400" b="1" dirty="0"/>
              <a:t>Where, ‘n’ is the multiplication factor.</a:t>
            </a:r>
          </a:p>
          <a:p>
            <a:endParaRPr lang="en-US" sz="2400" dirty="0"/>
          </a:p>
          <a:p>
            <a:r>
              <a:rPr lang="en-US" sz="2400" dirty="0"/>
              <a:t>If NBFM wave whose modulation index β is less than 1 is applied as the input of frequency multiplier, then the frequency multiplier produces an output signal, whose modulation index is ‘n’ times β and the frequency also ‘n’ times the frequency of WBFM wave.</a:t>
            </a:r>
          </a:p>
          <a:p>
            <a:endParaRPr lang="en-US" sz="2400" dirty="0"/>
          </a:p>
          <a:p>
            <a:r>
              <a:rPr lang="en-US" sz="2400" dirty="0"/>
              <a:t>Sometimes, we </a:t>
            </a:r>
            <a:r>
              <a:rPr lang="en-US" sz="2400" b="1" dirty="0"/>
              <a:t>may require multiple stages of frequency multiplier and mixers in order to increase the frequency deviation and modulation index </a:t>
            </a:r>
            <a:r>
              <a:rPr lang="en-US" dirty="0"/>
              <a:t>of FM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459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Demodulation of FM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226128"/>
            <a:ext cx="10178322" cy="5372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following two methods demodulate the FM wave.</a:t>
            </a:r>
          </a:p>
          <a:p>
            <a:pPr marL="0" indent="0">
              <a:buNone/>
            </a:pPr>
            <a:r>
              <a:rPr lang="en-US" dirty="0"/>
              <a:t>	Frequency discrimination method</a:t>
            </a:r>
          </a:p>
          <a:p>
            <a:pPr marL="0" indent="0">
              <a:buNone/>
            </a:pPr>
            <a:r>
              <a:rPr lang="en-US" dirty="0"/>
              <a:t>	Phase discrimination method</a:t>
            </a:r>
          </a:p>
          <a:p>
            <a:pPr marL="0" indent="0">
              <a:buNone/>
            </a:pPr>
            <a:r>
              <a:rPr lang="en-US" b="1" u="sng" dirty="0"/>
              <a:t>Frequency Discrimination Method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dirty="0"/>
              <a:t>This block diagram consists of the </a:t>
            </a:r>
            <a:r>
              <a:rPr lang="en-US" b="1" dirty="0"/>
              <a:t>differentiator</a:t>
            </a:r>
            <a:r>
              <a:rPr lang="en-US" dirty="0"/>
              <a:t> and the </a:t>
            </a:r>
            <a:r>
              <a:rPr lang="en-US" b="1" dirty="0"/>
              <a:t>envelope detector</a:t>
            </a:r>
            <a:r>
              <a:rPr lang="en-US" dirty="0"/>
              <a:t>. Differentiator is used </a:t>
            </a:r>
            <a:r>
              <a:rPr lang="en-US" b="1" dirty="0"/>
              <a:t>to convert the FM wave into a combination </a:t>
            </a:r>
            <a:r>
              <a:rPr lang="en-US" dirty="0"/>
              <a:t>of </a:t>
            </a:r>
            <a:r>
              <a:rPr lang="en-US" b="1" dirty="0"/>
              <a:t>AM wave and FM wave</a:t>
            </a:r>
            <a:r>
              <a:rPr lang="en-US" dirty="0"/>
              <a:t>. This means, it converts the frequency variations of FM wave into the corresponding voltage (amplitude) variations of AM wave. We know the operation of the envelope detector. It produces the </a:t>
            </a:r>
            <a:r>
              <a:rPr lang="en-US" b="1" dirty="0"/>
              <a:t>demodulated output of AM wave, which is nothing but the modulating signal</a:t>
            </a:r>
            <a:r>
              <a:rPr lang="en-US" b="1" u="sng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78" y="2960132"/>
            <a:ext cx="6998704" cy="150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394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63682"/>
            <a:ext cx="10178322" cy="635779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Mathematical expressions: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 the above equation, the </a:t>
            </a:r>
            <a:r>
              <a:rPr lang="en-US" sz="2400" b="1" dirty="0"/>
              <a:t>amplitude term resembles the envelope of AM wave </a:t>
            </a:r>
            <a:r>
              <a:rPr lang="en-US" sz="2400" dirty="0"/>
              <a:t>and the angle term resembles the </a:t>
            </a:r>
            <a:r>
              <a:rPr lang="en-US" sz="2400" b="1" dirty="0"/>
              <a:t>angle of FM wave</a:t>
            </a:r>
            <a:r>
              <a:rPr lang="en-US" sz="2400" dirty="0"/>
              <a:t>. Here, our requirement is the modulating signal m(t). Hence, we can recover it from the </a:t>
            </a:r>
            <a:r>
              <a:rPr lang="en-US" sz="2400" b="1" dirty="0"/>
              <a:t>envelope of AM wave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23"/>
          <a:stretch/>
        </p:blipFill>
        <p:spPr>
          <a:xfrm>
            <a:off x="1425098" y="1015780"/>
            <a:ext cx="8680598" cy="32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725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63682"/>
            <a:ext cx="10178322" cy="635779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Mathematical expressions: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 the above equation, the </a:t>
            </a:r>
            <a:r>
              <a:rPr lang="en-US" sz="2400" b="1" dirty="0"/>
              <a:t>amplitude term resembles the envelope of AM wave </a:t>
            </a:r>
            <a:r>
              <a:rPr lang="en-US" sz="2400" dirty="0"/>
              <a:t>and the angle term resembles the </a:t>
            </a:r>
            <a:r>
              <a:rPr lang="en-US" sz="2400" b="1" dirty="0"/>
              <a:t>angle of FM wave</a:t>
            </a:r>
            <a:r>
              <a:rPr lang="en-US" sz="2400" dirty="0"/>
              <a:t>. Here, our requirement is the modulating signal m(t). Hence, we can recover it from the </a:t>
            </a:r>
            <a:r>
              <a:rPr lang="en-US" sz="2400" b="1" dirty="0"/>
              <a:t>envelope of AM wave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23"/>
          <a:stretch/>
        </p:blipFill>
        <p:spPr>
          <a:xfrm>
            <a:off x="1425098" y="1015780"/>
            <a:ext cx="8680598" cy="32580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B41DB66-AE83-4EB3-A38D-3F961665CCC1}"/>
                  </a:ext>
                </a:extLst>
              </p14:cNvPr>
              <p14:cNvContentPartPr/>
              <p14:nvPr/>
            </p14:nvContentPartPr>
            <p14:xfrm>
              <a:off x="8931315" y="5299185"/>
              <a:ext cx="1845000" cy="30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B41DB66-AE83-4EB3-A38D-3F961665CC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13675" y="5281185"/>
                <a:ext cx="18806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C37EB1E-EB71-4B2D-BDC5-9D993E7B40B1}"/>
                  </a:ext>
                </a:extLst>
              </p14:cNvPr>
              <p14:cNvContentPartPr/>
              <p14:nvPr/>
            </p14:nvContentPartPr>
            <p14:xfrm>
              <a:off x="-876525" y="1895025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C37EB1E-EB71-4B2D-BDC5-9D993E7B40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894525" y="187702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45660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FA98-0B0C-79D1-9F72-D80F7D80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18E164-0F31-8056-7ED8-4460673C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A73A1-4226-1E02-9A64-9039FF07A3BF}"/>
              </a:ext>
            </a:extLst>
          </p:cNvPr>
          <p:cNvSpPr txBox="1"/>
          <p:nvPr/>
        </p:nvSpPr>
        <p:spPr>
          <a:xfrm>
            <a:off x="1251678" y="1128451"/>
            <a:ext cx="10178322" cy="189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(Intake 37)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FM modulator is used to transmit a tone message with an amplitude of 3.8 Volts and frequency of 18 Hz. The frequency deviation constant for the modulator is 23 Hz/V, and the carrier wave has an amplitude of 9 Volts and frequency 1.9KHz.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4572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Find out followings: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600200" lvl="3" indent="-228600" fontAlgn="base">
              <a:lnSpc>
                <a:spcPct val="115000"/>
              </a:lnSpc>
              <a:spcAft>
                <a:spcPts val="1000"/>
              </a:spcAft>
              <a:buFont typeface="+mj-lt"/>
              <a:buAutoNum type="romanLcPeriod"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Power of the FM modulated signal.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ii.    Appropriate bandwidth of the FM modulated signal using Carson’s rule? </a:t>
            </a:r>
          </a:p>
          <a:p>
            <a:endParaRPr lang="en-US" sz="140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A888E3C-C2AB-E8E4-BD1F-7D1EB4904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471" y="3602046"/>
            <a:ext cx="552862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(Intake 36 )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frequency modulated voltage wave is given by following equation.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3BAEDF-A369-3960-9619-A688AC49E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6308"/>
              </p:ext>
            </p:extLst>
          </p:nvPr>
        </p:nvGraphicFramePr>
        <p:xfrm>
          <a:off x="6946902" y="3599645"/>
          <a:ext cx="2273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73300" imgH="279400" progId="Equation.DSMT4">
                  <p:embed/>
                </p:oleObj>
              </mc:Choice>
              <mc:Fallback>
                <p:oleObj r:id="rId2" imgW="2273300" imgH="279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2" y="3599645"/>
                        <a:ext cx="2273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>
            <a:extLst>
              <a:ext uri="{FF2B5EF4-FFF2-40B4-BE49-F238E27FC236}">
                <a16:creationId xmlns:a16="http://schemas.microsoft.com/office/drawing/2014/main" id="{728E2A19-3696-A196-2EA1-8307722E2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482" y="3950894"/>
            <a:ext cx="7132081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Find out  followings: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Carrier frequency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Modulating Signal frequency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Modulation Index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Maximum frequency deviation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e.    Power dissipated by the FM wave in 20 – Ohm Resister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7933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Modulation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950" y="1890451"/>
            <a:ext cx="10736008" cy="3593591"/>
          </a:xfrm>
        </p:spPr>
        <p:txBody>
          <a:bodyPr>
            <a:normAutofit/>
          </a:bodyPr>
          <a:lstStyle/>
          <a:p>
            <a:r>
              <a:rPr lang="en-GB" sz="2400" dirty="0"/>
              <a:t>In </a:t>
            </a:r>
            <a:r>
              <a:rPr lang="en-GB" sz="2400" b="1" dirty="0"/>
              <a:t>Phase Modulation (PM)</a:t>
            </a:r>
            <a:r>
              <a:rPr lang="en-GB" sz="2400" dirty="0"/>
              <a:t>, the </a:t>
            </a:r>
            <a:r>
              <a:rPr lang="en-GB" sz="2400" b="1" dirty="0"/>
              <a:t>phase of the carrier signal varies </a:t>
            </a:r>
            <a:r>
              <a:rPr lang="en-GB" sz="2400" dirty="0"/>
              <a:t>in accordance with the instantaneous amplitude of the modulating signal.</a:t>
            </a:r>
          </a:p>
          <a:p>
            <a:pPr marL="0" indent="0">
              <a:buNone/>
            </a:pPr>
            <a:endParaRPr lang="en-GB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0825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197" y="382385"/>
            <a:ext cx="3111669" cy="899780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2000"/>
          </a:p>
        </p:txBody>
      </p:sp>
      <p:pic>
        <p:nvPicPr>
          <p:cNvPr id="7" name="Content Placeholder 6" descr="A picture containing chart&#10;&#10;Description automatically generated">
            <a:extLst>
              <a:ext uri="{FF2B5EF4-FFF2-40B4-BE49-F238E27FC236}">
                <a16:creationId xmlns:a16="http://schemas.microsoft.com/office/drawing/2014/main" id="{CDB266B2-9885-4BA5-AA59-2CDADD8DD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4253" y="507898"/>
            <a:ext cx="8752370" cy="584220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02111984F565}" type="slidenum">
              <a:rPr lang="en-US" smtClean="0"/>
              <a:pPr defTabSz="914400">
                <a:spcAft>
                  <a:spcPts val="600"/>
                </a:spcAft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762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8" y="0"/>
            <a:ext cx="9069492" cy="6592824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47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886450" y="2064782"/>
            <a:ext cx="379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Measured in Radians per Volts</a:t>
            </a:r>
          </a:p>
        </p:txBody>
      </p:sp>
    </p:spTree>
    <p:extLst>
      <p:ext uri="{BB962C8B-B14F-4D97-AF65-F5344CB8AC3E}">
        <p14:creationId xmlns:p14="http://schemas.microsoft.com/office/powerpoint/2010/main" val="517912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752" y="273552"/>
            <a:ext cx="9393257" cy="3041054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75765" y="3708263"/>
            <a:ext cx="94882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Phase modulation is used in </a:t>
            </a:r>
            <a:r>
              <a:rPr lang="en-US" sz="2400" b="1" dirty="0"/>
              <a:t>mobile communication </a:t>
            </a:r>
            <a:r>
              <a:rPr lang="en-US" sz="2400" dirty="0"/>
              <a:t>systems, while frequency modulation is used mainly for FM broadcasting.</a:t>
            </a:r>
          </a:p>
        </p:txBody>
      </p:sp>
    </p:spTree>
    <p:extLst>
      <p:ext uri="{BB962C8B-B14F-4D97-AF65-F5344CB8AC3E}">
        <p14:creationId xmlns:p14="http://schemas.microsoft.com/office/powerpoint/2010/main" val="36453597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41565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Relationship between PM and FM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2549" y="933451"/>
            <a:ext cx="10464072" cy="5372099"/>
          </a:xfrm>
        </p:spPr>
        <p:txBody>
          <a:bodyPr>
            <a:normAutofit/>
          </a:bodyPr>
          <a:lstStyle/>
          <a:p>
            <a:r>
              <a:rPr lang="en-US" sz="2400" dirty="0"/>
              <a:t>An FM wave can be generated by </a:t>
            </a:r>
            <a:r>
              <a:rPr lang="en-US" sz="2400" b="1" dirty="0"/>
              <a:t>first integrating the message signal m(t) </a:t>
            </a:r>
            <a:r>
              <a:rPr lang="en-US" sz="2400" dirty="0"/>
              <a:t>with respect to time t and thus using the resulting signal as the </a:t>
            </a:r>
            <a:r>
              <a:rPr lang="en-US" sz="2400" b="1" dirty="0"/>
              <a:t>input to a phase modulator</a:t>
            </a:r>
            <a:r>
              <a:rPr lang="en-US" sz="2400" dirty="0"/>
              <a:t>.</a:t>
            </a:r>
          </a:p>
          <a:p>
            <a:r>
              <a:rPr lang="en-US" sz="2400" dirty="0"/>
              <a:t>A PM wave can be generated </a:t>
            </a:r>
            <a:r>
              <a:rPr lang="en-US" sz="2400" b="1" dirty="0"/>
              <a:t>by first differentiating m(t) with respect to time t </a:t>
            </a:r>
            <a:r>
              <a:rPr lang="en-US" sz="2400" dirty="0"/>
              <a:t>and then using the resulting signal as the </a:t>
            </a:r>
            <a:r>
              <a:rPr lang="en-US" sz="2400" b="1" dirty="0"/>
              <a:t>input to a frequency modulator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49</a:t>
            </a:fld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49" y="3574339"/>
            <a:ext cx="10116705" cy="306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632843" y="5549458"/>
            <a:ext cx="13558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307400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6599</TotalTime>
  <Words>2385</Words>
  <Application>Microsoft Office PowerPoint</Application>
  <PresentationFormat>Widescreen</PresentationFormat>
  <Paragraphs>327</Paragraphs>
  <Slides>49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62" baseType="lpstr">
      <vt:lpstr>Arial</vt:lpstr>
      <vt:lpstr>Calibri</vt:lpstr>
      <vt:lpstr>Century Schoolbook</vt:lpstr>
      <vt:lpstr>Comic Sans MS</vt:lpstr>
      <vt:lpstr>Corbel</vt:lpstr>
      <vt:lpstr>Gill Sans MT</vt:lpstr>
      <vt:lpstr>Impact</vt:lpstr>
      <vt:lpstr>Times New Roman</vt:lpstr>
      <vt:lpstr>Verdana</vt:lpstr>
      <vt:lpstr>Wingdings</vt:lpstr>
      <vt:lpstr>Badge</vt:lpstr>
      <vt:lpstr>Equation</vt:lpstr>
      <vt:lpstr>Equation.DSMT4</vt:lpstr>
      <vt:lpstr>Angle Modulation</vt:lpstr>
      <vt:lpstr>PowerPoint Presentation</vt:lpstr>
      <vt:lpstr>Why Angle Modulation??</vt:lpstr>
      <vt:lpstr>PowerPoint Presentation</vt:lpstr>
      <vt:lpstr>Frequency Modulation </vt:lpstr>
      <vt:lpstr>PowerPoint Presentation</vt:lpstr>
      <vt:lpstr>Mathematical Representation </vt:lpstr>
      <vt:lpstr>PowerPoint Presentation</vt:lpstr>
      <vt:lpstr>PowerPoint Presentation</vt:lpstr>
      <vt:lpstr>PowerPoint Presentation</vt:lpstr>
      <vt:lpstr>Properties of Angle Modulated Signal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Generation of NBFM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Bessel Table</vt:lpstr>
      <vt:lpstr>PowerPoint Presentation</vt:lpstr>
      <vt:lpstr>PowerPoint Presentation</vt:lpstr>
      <vt:lpstr>PowerPoint Presentation</vt:lpstr>
      <vt:lpstr>PowerPoint Presentation</vt:lpstr>
      <vt:lpstr>Generation of WBFM </vt:lpstr>
      <vt:lpstr>Direct Method</vt:lpstr>
      <vt:lpstr>PowerPoint Presentation</vt:lpstr>
      <vt:lpstr>PowerPoint Presentation</vt:lpstr>
      <vt:lpstr>PowerPoint Presentation</vt:lpstr>
      <vt:lpstr>Demodulation of FM Waves</vt:lpstr>
      <vt:lpstr>PowerPoint Presentation</vt:lpstr>
      <vt:lpstr>PowerPoint Presentation</vt:lpstr>
      <vt:lpstr>Exam Questions</vt:lpstr>
      <vt:lpstr>Phase Modulation</vt:lpstr>
      <vt:lpstr>PowerPoint Presentation</vt:lpstr>
      <vt:lpstr>PowerPoint Presentation</vt:lpstr>
      <vt:lpstr>PowerPoint Presentation</vt:lpstr>
      <vt:lpstr>Relationship between PM and FM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Angle Modulation</dc:title>
  <dc:creator>lakithaxyz@gmail.com</dc:creator>
  <cp:lastModifiedBy>Rishmali Sooriyagoda</cp:lastModifiedBy>
  <cp:revision>420</cp:revision>
  <dcterms:created xsi:type="dcterms:W3CDTF">2019-07-07T02:38:47Z</dcterms:created>
  <dcterms:modified xsi:type="dcterms:W3CDTF">2023-08-23T22:58:35Z</dcterms:modified>
</cp:coreProperties>
</file>