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5" r:id="rId14"/>
    <p:sldId id="282" r:id="rId15"/>
    <p:sldId id="283" r:id="rId16"/>
    <p:sldId id="284" r:id="rId17"/>
    <p:sldId id="285" r:id="rId18"/>
    <p:sldId id="281" r:id="rId19"/>
    <p:sldId id="276" r:id="rId20"/>
    <p:sldId id="277" r:id="rId21"/>
    <p:sldId id="278" r:id="rId22"/>
    <p:sldId id="279" r:id="rId23"/>
    <p:sldId id="280" r:id="rId24"/>
    <p:sldId id="28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9"/>
  </p:normalViewPr>
  <p:slideViewPr>
    <p:cSldViewPr>
      <p:cViewPr varScale="1">
        <p:scale>
          <a:sx n="83" d="100"/>
          <a:sy n="83" d="100"/>
        </p:scale>
        <p:origin x="1450" y="1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09CB0-64EB-49FB-B2B3-498E39C856D1}" type="datetimeFigureOut">
              <a:rPr lang="en-GB" smtClean="0"/>
              <a:t>17/09/2023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0FE7D-61F4-4567-944C-815D86A018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811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4388C8-0F38-40F7-B122-EFB4DF06084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41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3324-9BA5-2D40-A3F8-F6FA5E73F126}" type="datetime1">
              <a:rPr lang="en-US" smtClean="0"/>
              <a:t>9/17/2023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67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293BA-EF67-BB4E-84A9-D724A4D4D959}" type="datetime1">
              <a:rPr lang="en-US" smtClean="0"/>
              <a:t>9/17/2023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86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777A-556E-5D40-8E9B-3220ED13A309}" type="datetime1">
              <a:rPr lang="en-US" smtClean="0"/>
              <a:t>9/17/2023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55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3BCB-E8F5-0443-8E3A-9B2827125B3F}" type="datetime1">
              <a:rPr lang="en-US" smtClean="0"/>
              <a:t>9/17/2023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87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ACDCA-F0D7-C949-9560-8F4F1B53872B}" type="datetime1">
              <a:rPr lang="en-US" smtClean="0"/>
              <a:t>9/17/2023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9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80906-1B98-5C4D-9A5B-C32717838EE3}" type="datetime1">
              <a:rPr lang="en-US" smtClean="0"/>
              <a:t>9/17/2023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8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A594-2DEA-A349-B576-EFF578F88E7B}" type="datetime1">
              <a:rPr lang="en-US" smtClean="0"/>
              <a:t>9/17/2023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09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3DEC-6C6B-1848-BE8D-DE0A649DC1A1}" type="datetime1">
              <a:rPr lang="en-US" smtClean="0"/>
              <a:t>9/17/2023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9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88EF-6006-0F45-93F9-C823B1B71EE7}" type="datetime1">
              <a:rPr lang="en-US" smtClean="0"/>
              <a:t>9/17/2023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03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B7E4B-FC7A-E14E-9247-F5DEFEA18341}" type="datetime1">
              <a:rPr lang="en-US" smtClean="0"/>
              <a:t>9/17/2023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014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37C58-2D6E-5F4E-9226-D806A947D231}" type="datetime1">
              <a:rPr lang="en-US" smtClean="0"/>
              <a:t>9/17/2023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433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0A474-F6CF-E540-ACDB-7CD97F3C3524}" type="datetime1">
              <a:rPr lang="en-US" smtClean="0"/>
              <a:t>9/17/2023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BSc Macro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DBD91-893E-4CED-A716-151F56A42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47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AutoShape 8" descr="data:image/jpeg;base64,/9j/4AAQSkZJRgABAQAAAQABAAD/2wCEAAkGBxQTEhUUExQWFhQXGBsbGRgYGR4ZHxgdGBgcGBgYGhoaHighGBolHxwYITEiJSorLi4uGCAzODMsNygtLisBCgoKDg0OGhAQGiwkHyQsLCwsLCwsLCwsLCwsLCwsLCwsLCwsLCwsLCwsLCwsLCwsLCwsLCwsLCwsLCwsLCwsLP/AABEIAO8A0wMBIgACEQEDEQH/xAAbAAABBQEBAAAAAAAAAAAAAAACAAEDBAUGB//EAD0QAAEDAgMGBAUDAwMDBQEAAAECESEAMQNBUQQSYXGB8AUikaEGMrHB0RPh8UJSYgcjghRykhYkQ6LiFf/EABgBAQEBAQEAAAAAAAAAAAAAAAABAgME/8QAHhEBAQEBAAIDAQEAAAAAAAAAAAERAiExAxJBURP/2gAMAwEAAhEDEQA/AOVWGUweBDvmk2ptwtIIJL5z2WoAoWg5kkaDIu5z7ajWsSQZNrerPvVxdULHJi7C5fPi7URQdGZ3vfpPCpMLDDFwGA9ZiArV5P0pggMwJsSxAyl7x7/SgbEeWl3lzqCelrn7UX6YYljoBxh+Dfkc6HHHzFsyAYtNmLAcqclpFmz4jUk8bUDbpPH768H5U6gXBZiou866+nrQm4zJIMfYgv3yqRKnsxNhEl+DuaBypiVaO3P/AJdcvrUaUwAQX+z8ZrofCvhfFxSBuOGiAHlmLSBaeDXYHs9n+AAkkQzOApi+bFgWzF86zepFx5gtJL2DmxJ1vJcZzw4wx2QyN02ln4sdWjua9Nwvg9ClAO2QG4QBAd+M/tqWN8L7iVbmIRhgtvLl9QHUPrppWf8ASGPKv0lWHmeAzn+DU3/RK3mAYh3d2BYmXmvQF+AIfyqXALAOATrIAe4uTxqHE2JaFbigIF92wYnzBRF2hjxar9zHCYmyrTJS+8Pq2r1Ep7MWF8g/SdRXar2UFfyyIBU4B3okEsdIFVNv8FUcM7zAlclvlc5w92yDOAcjVnRjj0h315xRLOioHFpabXrUV4R5lMrd3flzBORe0xWbtOCUMFCTPMGxnv0rcqI0mOfH6N3elvSGLAcaSS5fQD+OGdMymdjPt9u+FVE2+7lQeNeD5dPegIOSpz6jP39+NMUMRqOdxb3++dETBUAS1jMacMhaoFhv8xDgfj3y7agLSfRyfx29GnFYBjclyxuzX65CHzyBZ0kcf57agLehuWejsZjU9aZpa3U+r39BQKGZBHb87fUU6Qeh55cqoJXP6RFpLxSo0rADFJfpSoJN4uSzOI9C9qMq4ghOR9NPvrTlfmJdgBAI0gAgHy5yXaljIUzbr5uJv1YW7asqjTheUAuC7/4kZPYa0JXDwYbSdQNXnnT/AKpCXDhzHLm/0GVOkl3ZmBmb83eHeKB8RfmAcgB297R9BRkODIm8SQA+ls8rB8qjKnMAeac+MXc59vUjBlXFtfoDa9/2oFhQ5ci0DQasPv8At1Pwb4AcYlamKQWDDzAg6WN7k5VzIRvKAHmZmDKPDduwDsMzI416T8MrXhpGHh4aipRJITZIcCVEs5Exr0rHdyNR12w4mDghQSR5RKgzkjINRbT4iwnyk3Z2HMs75/iqPh/hmJmjdCmlSp8pJAjV/blWqnwognzJId5SemccWvXHKbIycLxdKQd12FjA4OB/VzOVAnxUK+UgAyMyWzkRrFWdr8JQFPipAH94fLIpa15fnWZtPhAw3AbzOUtxvulr28sXzo14H4ioKneVuKDApYE63dxWLt/h2H5VpWp2ICSXS1gRZQc/Sp9jSpJIKgQxZeYVdnMPxgH1FWwlBQp8IqaS67OMhbparuDmtuxf1PITlLsqBxjTKo8faQ03SAEhiWe851JtuACVHeV5SW8jXaBd7aZdKq4ZxELIgpKXbMtYtcXuP52hbVghYAASJn/IO5kNNtJrP2rZU4gcukpDBwOAL669RrW0R/UTvOAHSLf2qIIFjGktAtm7RsxIQ6gpi7SFH10irKjmdq2FQXu+UqzYce5qmSH0HFjl+wrqEJ307+6LszjnvbsXYfSsDbMIhnbzDeYRDPOddJWbFZKoMByL6dikWgBxz9qJABzZhq2fJ/4oUqm/fo9aRJh23oM6h7Hrl7jUVGQBqD0+tEltWbnneGe3c0ylEuXfn/FA5Lw+jWl/egJn+PekAGOveg5d2JjAfpf7MKBhjHUeg/FKpsPaCA3560qA0K1kXItrcn7U6ikpzBfUfyY0p0Ak5OYd9Xlz9qP9Qi5cJa78M2eOlhwrKmLA5FrWD8Wufb1odnRMQZe1v+3k+bdKU2JZzLEwOQFLDxDJu8TbhFj1+lwWIm58suIbjk8RrRoKQN1sn/pM5XLamz0CcVmZ4cs5vk0MDbWpDiEgOXdoeYgNDBr/APINnQWfB8HfxsJJSC6kmwsC8iXDO4Ayr3jwLY04eElISAM/3427FeQ/AGzvj75GiRzOmZIjtq9p8PR5ePtyHCuXfnrFvpaApzSqPE9HitXxHNT8YUP0l8va8caxsHEC8HAe7EuCHKkPF/MQAY96m8U2xwyWZjPfHuGNDwzA3tnCGG+FFSWYMQwD6OCRc1w3XaTIo7Wpw6VB1HKfmAY8Bzu/qG04qkhKThi8xwgictH5VoDCUD50DeAUJgEKNy1mk6Xqnj4DvvAFTF3NsiAbG0Z8nqxphbchW+GLBiwAgkxeM2tVsbKgByHUIdIh2IJKmgEA63ez1LiKBSylb4ZiRG68Ewc08CYqRWHvIEgkuTkwB+Zm0SnjJetajKCQxSSokBLFMNuuGDyEkZWjlWeMRSfJiApd92IBaQfMWhjH9wrf2jZN7fQC6XcQwDBwDlY8vvlrT/uJK1QNTLkqc8dLlt31sqMjatn3FYY3SQzkEzeGFUPEE4bqICwYIV0YC+tbXiBSEuR5206HXhWPtXmPlLISJyDuokWz4iWNbiVjM1mIILuDEE2GbB7+1R4kKEM149mu34q14hhhLk2JIEaPMcW7iqCxZi/Qda6RipEFgYdzMfVo096BUBu+/wA06Tnk+g/js6UIVf8AFUSIctm3NrmD6n1puLGD+aZQgQ3T0nqfakA5AB9W1qCwgQPO3/l9hSoErDWHofzSoqXZ1HeiGGYMxIYSXmixcQ2IA5A5agHtqgVhsZGQJbL0p1LeRwDNZhHOoCQLsYcQxyY8qZJJVPHU60Skf3JLDMWPWHGfI1GhN2Dk/eza+l2qh1CBZiePfpRgiWMsAL39H4VGlnzHDuWv61Khz5Qly2Tk55A68chUG3sXjqtkw8PdSCVBwX4uSfb0qxs3xp4hjKIw1GY3UA+UG1vrReM+CJwsLZhjf7alJnfNg7sHzA+tdj8LfC2zKQMXZsZSVsxZQWC39wLh5yaDXO3n20ofCXxtjYOKrD8QWd3dcKIsQzl8wxr0Y7aCN4Skh0kS/cV5z4olSyrZ9oThpxAfIpFlgRD2VY8xUvwhta0KGGqySQC+SSGHJmE6Vjq7D6tzxNcEhgGdjc7rz9bcZrQ2HZydnjyhW6QwmPmB1MVn+JpO5vN5eAu4AYxGVvR6n+HvEQvBKVApOCd0lVlDJjmcqx+NVZVjFKBeAypGfV+g1FUcbGRP6qcRJlimQ1wXD/Z3zo/E/n/qAcAgF4Ey89jnQYpxCd1KkLADgKgjUOW9qKxjjpIZJIdn3kkNkkIBQDpMjnQbbjuP0wD+ordQS5YAM5JkOWESfdpkAYnlBLSGkiXdiS4EZ686rr23CA3QHUCHP+W7AguAOlq0i8FPhsCyW+Zm+VmDkwZfhVLa/DQtOf8AtsXiylAFy2TTyHKrGCpZ8ydQC4gEmYJeQ/rQYilqWt2UXdTxx1nIxwpBieIbOSQUsTC0u7iDEzmOprn9uw81D5/MSRaIkQSY7Iro8NG+SlaSCWD70uGgG7M8mL1keMoTvuI3H8qgwUweOjT/AJa1vmpWJtuCQAHJ3WgwA4yccj61k8fS1a2MslKd4SQd0820uQ3vWUrIP317gV15Yp0EsLc445nr7aCmF8u+NJI6d9+1ICO+/wCK0ggWD8tOOd8u82SzMbv2+ZobnTvhR4Yu1vTvTrQTJCAJBJ6D701AEcPcUqgmwkkhxOWRz9BkOtCsgkZNeBy4DvnUz2ew/jPnUS0GZ7t3yqKlw8IsCA86As2TmM/cZUkJAUbgzlrBYmTHcwJSM4a2Wns/tRIQWZnD5CWzgTp29AwB3kgpfOUv65kWvXef6Y/Df6mJ/wBXiD/bwyQlLfMpmtm31Y1yvwt4R/1W0owk2J83BI+c+hzr3BeGjDQMLCAShICUhoghjF7etY76zwsjH+PvDkbVsaizrQd5AaSTG6H1rk/hD4e3dlGMjExcLHKiPK4cCPMgwRe/rXe4uMLKAaWnUkl+EC3tWV4Zs6VLLlRYwlZMgC7GP4rl9rmNTlOfAlY+GFYpTiYibKSncU4zSp2f2gVb8B8Iw0IBcKWHc7oBsxChq1beyEFIIDBo5VMelJNjN6/GZtOygJAZ294YMNa57wvZ/wD3IALIJUFjUkApMZQS/Gt3xjat0AktN3y4HXJq5/wfB/V2hKkwApyQASWBYPo/Gsxv8bW2OoFwkpQrdZQzcMS4lLZ5fTldowlJcYSlbyMQfp3CmV8yd4Flht3tq67bAnfIUsAOIU6QM7iLPeh3MEYZxEspCP8AkzQWe1PRrg8XFKv1AN4fqHys4CS3zMYEO55capsP1VB07wSTvM5WQzboAkMC/M5O/beKYmAnd/Tw8IKKt0pIDX8p3f6S4fKHqHxLZkYSUqxEllncUkF91z5VoOQ+YxWtHN7R4speGyUAl5UXAO7optHzap/DNl/Uw5Kf6t9Lb8OZdwHgHWBW54hhYOGlP6ilFaUsC7uEkEKm58yT0PGuFPjBGKlWFjMAsq3U/KUkJB3hkYUW0HKrPPoWNrwThr3rYbCQbSCSnQw2fs1Y3iuHvboPzwxJ3t4DMO5aeoBrU2jxRKkrCjurWCd02ZUK8sbsId7h6zMLa9/C3zcOC2kEE6B+9dzWapYuERG64SzQf6vqeWc1kYoZ3v6fat3EWEmCEkyd52Jhr265jSsfacQkvmWYg6cvvW+Warkte319qYHvu9TBZZ9434vm3DWoX962gsubZ/bv3FJIy4/xSNmHPX19aQL3Gf8ANBP+qBDnoaVRgaqbhNKirAENJJaOD8Q/fCgK+EwxjhNn/mnSRmMstXuwvpSKMoJIe/WQPWdayJEK4A9BwbXvWnwWcmX5Bs/XMzo1R4i3D5l3kG7aQIj0qTCDhIcEAniRHpx6cqK9Q/0h8JAwsTaIK1EoSzeUC7tqdchXcY2yi6y1pF34Ca8G8G8fx9l3v0MXc3zILERzseVXUfEO3bXjJQjEIWoMBDGHLltHsK59cb5I9D8Z8Tw0YqQFFKSoJmXcs4iD+9dXsWy4W6FJSLM7admvKP8A0VtanUvESsJkBL/M169K+FMZ8HdV8ySxByyrGTV69NhRZgKixFkT37USy1+VV1E2uBc92rPVZkZO3YP6kPBllTA+ghprP8NIwsZCmAEhRtukxbj966BnFmLZ+vpGeb1yvxTvbpVhuCCLjMN78PS9ZjoufEuOMQ4uGDKcPejX+kvGYUIyPGuP+Hto2kYGIjFCkoUd5MOfLoP7STm3DOuhxjh7QMJSj5lI3gAJXkqUvNwDUmw+B4WKd1SlQXSlSpWEn+1RhI5X41qXBzmH4vuf7gYgKJnUeUfNzLcgM4zfHPileNuJdgFO9mCflCWuLnm2ldnj/AKFbx3EkkKYOpLWaxI09Kq7J8D4eI6FsDhlyhTOARwnd4w7VqWe01wviPiWNiqRfSDcAbrc2YVmpxtwlJh8gDxLOCHby+pNer7L8KowlpRiglKlEYZFgWJZsn65Vl+NeGI2fHw0lAZSwN/SJc/3EbxB561qdT0jz7FKlOEo3lK4FwBcB/lF9avq2bcAwwyQUhSnIlllJnmXbQPlXpO2+GBUfqbqgOBgh0wzqYggz1rjPGk4SCCCCZTiBJEndyAycTnSdaYyVKdJB82QI4f1AG0sOuj1i46GUwOZgvLFpHd8q1kpJThqDFT72QsxmGAE30rN2xJJKiDe7XkZGwYiunKVWCI5G8/xYPTIRecu+FOnVzfMet/+PqaSk6jrr1rTIVCOMU6U2056TTbxd7xf6n1p0KZy5Byb882PTlQWP1mhv/sv80qjGyqNkLI/7TlFNVVPhqLAb0ZiYnMg+vIdEpUEueg48+3oEg3Z2At+bamixDAbIB3zlgX69zWQRBLOd5p+nubdBTYbs7kG0h21vTrVCiZm4l2aXOV6PZ8Qg5MDm8ywye54Z60EUuHLtfi12rpPgbw8q21CnYYYClFUfN5bnnnpWAkWj5i7zn0cmav+B7IrHxhhJUEJUCFFv7Zdsy5jnU69LHvG1bUnDAmGc8sy+dBsuIkkLQAyoJE9a4vZvhE4aDh//wBDEAYshkqiQ7Xj81p/DfhWJsStzfOJhKkEhlDIbw7vavPc/q468marrE5yJb3JojiuOffrUGCfMog+ut2vLfY1LdSRPuxlAgMH7/auS+KUBhkOM65HnnE5NXVrgOYefufv0rkviXHBdIYmWJDSTlkT80c6jXLn/CkIVgBLupKi6d4pISS6WjJyARYtxeHwfBJ2tO0KK0pwS2+SACzgBxBSQZa71zm0bZiIxCvDO+DdswCzekvkTT4vxGtaNxRAALxBvqX3jHub11+t/DXp+0/G2Hh4cJdZeOQEnPMc3isDD+MUYe0jGUCWwCFhwC5UCArVW8SzWBNcFi4wclKVbyvlL+jubhuHpVc4iUuEqDFned4z7B61OEer43x0hakhOHvJBSoqyEQ3vXLfFPxf+qkAoCT+pvAmWY5xLO0feuLTt5CGClA3gZ/t0uai2jaXgKJD3J7zmrPj8prrsT4kWrDSSoHeBSq43UhiyTq7FvrWRibanFW07ylb3mtybW9Yuz4pBcFjrmeHelXNiwilYUkEgXN8u4q/WQ3WltpQUpKfmJbMM0MWfUGsvGQIAzSCXa8Q7Au/16m0rGZQclgYDsw10as/GWd4k5jlpVhTKALwzG788iO2pB4sTl65e/v1YKIgkcbcY1eT6im04Xt9H++VaRGtuvf80YIBAETfvSkjiBy52gd+tMnhf7cu70QQKM0q6K/alSGGMzPSnqg0NZm46ueP2pyTmBl3rTgSZEsL++Z/mmUScwIFj/J0rKpAkO1ufQc6BKZYpnn9hSSjIEHe9ubcs9abCkliAzmc24aXPSgNJzDPaZ+sD96lw8QoUhvKQZIJ1Y2tP2qHDEC2vKH6fxUuAB+ogkuN4BiXjebMc8sjUV7t8KeHhGElZHmIdyGLN75VqbWXBYPz48DWf4Z4mlWGkJPBmkdOQpbd4phhw4c5Ozxfm8a15quXdTYOMAYt3d+5qdKQkgQ1ybM3GuSPiCU+Yq4EF7k5mxmBrIqwjxVlut3IsJcszgd+t5jVje2zbkpSpYOgYw9xcd3rznx7alYrgWLOCfNnukqOUBsnfWtjxnbFYgLKISwYNYl5kCLX5Z0Hhfg6sUuhMgfMUwCWsXlJ/trXJmKWw+GJCN5QCQ9jLqNgJjlb1qwn4UTtG8fKjCEKXujKWSHDm0/Wu32HwRCADiMopJI/tD8OHGue+LPj7Z8FCkYBRjYkhh5kpIs7QZyGnrv69M3qeo53xzwjZtnw94JSjMBxvlLQSouWdNozrgtu2hwUhIAJgh3LNq+g9X4Utt8SXiqUrEJUSbPaYYWGlrGqiE3LNE8IuNTHt1rpzzntLVUhxwoSlqmUgtz9pz0n60CkgZmujJkma3NiUWUBGaQZ3mhhDPfX2rDUn3rY8Mxy2rJUNZJAJZ9Oj61npYtbjDdIEqLhnyYAPzaOBrJXKixgGPW336VrKIlwxA3BcKEkgzcwzfzWPtKfMcyTLSOBHtepFot5nNnmOcO3WOFOoswDO1/2tUKY4j94HDOiS5G9prz/AHqoTA8LcX0fo1OlN9B11+wagWqJY8adGlnP8v7VQCicgaVGU8O/WlVB8DGvrdgOV/xRsWYMScr58KEKjI6+okkC1u2pt4pOjCCzc/vWVPiLd5s/4aIs3pR4DhoBd9D7mKjLkSBcy3AHTuaHBVN5dn7Hb0RJhqzeTHZblapMUixsA/8AOf8ANRYaCWEQJa/806QeE5Z3taOT6UVe2fxTGw2/TxCMy0E8C0m1WcTxL9UytSVzBLcjdnrLZ5MMLiPtz9KbZsArO6BvCbZdBfK1TIa1k7XiJACySl5M2NzPU9OFb3w9jrxsQDAwcRYcupmEN/V/TlyIrB8GQk4v6eOFp3zCX4iJmzjSvY/BSnAwgFbuGgAlgGYAsd492Ncu8jSp4Z8MrUoKxykJFkJku7kqVZj/AGy2tbHi3juzbGn/AHFpSckAjeOQj7mK4X4r/wBRS5wtiaf/AJGuxkp9GrzvaMZWIpWKtalKLgqLl82HBQJgtY1rmMXz7dB8W/G+0bVvJBOFhW/SBnmtTAnQi1cgEmAOn1HoXHWrBwy7GUgGbQQC46MrS9SI2e7uCoZgSIKi2jFKgQ8Anl0gpps/Szx1zb6USEgAHvN8u96rY2dyE65fMBcAEgu7uluI4GkrAD+ViSzAPwaLmCketNFUJvBHTJtDmfLL51CMJ7wSZ4fi9WAsgyN0Z5Fmn2nmBVkJ8pcgOTkPViWD+a39opoyl+2VPs+OUmORzq3tOHuwQQTzF+Da/SqmIjrWvaNTGWNxJcEuFDUAg305XqgcyLfns1Jh724WiQP5AtcTy1oFgOACeuU86yoQIk9PX9/WpALNlf1moCpi95qXDVxYnMw3v29UEkBns3549xSSTLi/837vUazZ+vrU+FBObcH0ye2XpQJOGNTSp1kOfx/+qVQ8IUwLW9vtmKUtd/t1o0sGOXP9r0Kljv62oERJyy053m/1p0Bix168YvSAtb2/D/wKY5FwSTbsNpQFgFmbO4b7dbmjxSN4FrAHsWigwjYnIBmAPQv99KHEIFp9Oenb0A4q2AzH5y71r1H4Y2PCwtgw8RCPOsFSiWcqdg39yRw0515MTXpfhG+dhwlJfyoUGRdXmh87SGZnfOsfJPC8uV8W23e2vexDAIBIjkRGV+nStLx7xz9ZKUYayEtIA+cw7nM55SWrF8RwiPmTuvH8B+cHMCao7Fj7q0gk7sgsbPY52LG2VX66akxkFy5uWewctdwIMGWsamwUKgJMwxs0wxufMClg92qwvDUVBJSFO3leVF2YH+pTkgfNCho9HiABJUBNtWYScwHT/wBpdGoq6KwTchwXYWG6qTusALjeTla1qk/TYx5khjIeAN4AkCCRvByBAu1Ns7lQGaZB+izexl5+YyKsIDBiB5jPUmCXuhUwTCgWvQANnZ7EqBdyG/tMlxfcMKsrQ1NtSBhn/A3YwxkGd4QCoaujUVNjCLgpSwLuI3QRG6boJDlIfdGhqmvaEhPmZktG981gfKoq0U0CVA2qexHiJV8xLq5Zhypglxuwr1GVVwQzGLAgZtmGj+/KPWljeKOBugg5zchmswbyjKs9eKTy+1akTV3Fxkw8mxYDO8Bv8vUCqGIvhSUB/NCWrUiCSsi3X9qJeMSSTc3qNJo1BjF6BngVJgq1715xUb1Ki0nvO1z+KBbsP36CpUswDmXcfteo8QBy2k9iKJ3v+f4moqVSiCz24ClTJwnDs/r+KVBXBaR0o2ty4zn+1CuKTOPbsUDqPC/Ps/tTvw042796FhOn76PFJKXz19BQFhqgd5Zd51HjKJOnb0eGLHv1qJKXOV+3ogsPAKiyQSe9K93+CfBxhbIMPeVLKJUIUSPlSkuyfecq85/048PKscLcgMoRm4Znbr+K9fw8I4OGtZACyYG8WSCYH3gTXH5OtuNSeHl3+o/h6ME+XMkf8jNvbK9orz4KIIIMhjyYxXW/G3iP/UY+7hqCghy6YSS87r35/wCNcpiiw/MO01v4/R02U4yVodkhyAxyZ2Iu8MHL2ECixsEnzyxzAkn5ipAu39UMB5g1Z3hOIArzEpDS2eabSWUx6XF618JScy2bCZ4md4TPz+VZ0pfAgCQzM7XTYAzvIUWg7oVk/kTMVIra2dZiN0yTvEgJVLuzbqncgkWyptvx0oDKSxBYS5bIFpBDJaU2VE1h4mMpZYQNBADOerOdasmlq1tnim8kJSkADO9y44Q5AYCDVMjekmePWKbDHfOpRhtn23o03rXpkP6J75PUq8AjOOY1FTYaS5IspwP/ACSNPcTRLxASbOcpkeYgk9U56VNVAgJlxJa8av8AaoF4U2bO7R161aUtvLoSeEAC1sjNVsVXffKrConA79aW/wAadpoDWkEIM1LuB4nPSoDU+Fi5H5R7P9uFSkHiNYu+bx0pIEQKFYn865+9HhwH+w+pqKM4gFgfWlTJt8vuaVBCke7fXOiUrKCB1/mono9PrQEQMh7+gym9OghiSOXUFvz040K1Xk8D0YD0HtUZXoaCT9QBiCXz/DvSwU7ygLcuVRJFavw9hb2OgQxOdtQ82Bb0pfEJ5eu/BvhCcNGGgkqJSVKy3UmwUWeYjh0rI/1F+L/Mdnwsh5lTFwwbPP05VoeKeJq2bZf9uAthvOAR/S0y9eS7csrWSrOSXvfP0rz8Tb5bvhAcVmIg7zuOFvvUQAmXZmtMiKMfTLvoPxUTCNIfLn3wr0MUAEhi32OVamH4gyFPyLG975m7TDOKzV4cOJAzao1F6uam4Nat4vA9h+1SJRHPTp+9HgJbUAX93BkGwIZ6nSgEHNr53jQ6k361NEKUgqCbSJcNbiwubx0qdbFThiSYzHUf+Nn60GEkMDG8+fKNcyPTKjJBsIHQHnJfLM3qKdMKG69oYGb7vHVVhaliks8RAI6F7sX8oiYkUK8VnYw7ezAW0BFgz0SElfmUTJFpuoyrMyDHGoqHDSZHmkaa/Vw9ApGR0B6dgVNgh3NmTEX3VO4YT1otpglJYst8hCw7AadWqiocNvppNvx0qIo699+lWFYQ8pBu2dnKh9hUZGj9v96usoSKW9REZa0xTWkSpXHEa/W1SR32arAVKPxUqpt/sn96VR7o0p6YqHSjJiTUb0QqILaSze/edQ3p1qpJVNWAgmWFdv8ACmCj9VKiA2GkqVBFwQJADKcxrPCuK2cebWuo+HMQYYxlHF3XDJLODfh0GhIiufyemuUnxJ4mVqLHyZZ6uX1b61ziWNoU+rZxy9rUW0EAxDGc+Jvf2ocNXrq7Fzo2cmkmQpK8rDO4Od49pqEhyJuZ7OgolmCXvF9fswpLgyTF8i+Y+3StRDYzFyIZoiRGjc+3psPAz19s9L2oUYzPmTzDcRVjZksQphkQDw82jsW986oPDDFnYJOcc4DmwtxqVBO7xJN87I1/yJs9LfcEKDKZphiSBmSzTAAahRiPdgkO081a5ndy9M8qEKl4cNa8CNWLkXTlUSlADQRxvfPRsxUy8ZzEBzBa3zAMzNNwkCquPhM76/V/URViBSCZt9mH8VNiK3nd5CmhpBLkioi5AZ25cJD8qnxcQAM1kM54kHMcT3FUDiAOwsFDMG6ZEXEZUO9E3ZBeYaKbELepsYgD1pmyJgnR23ROfGoG34Idx+C/S5/FOzW1PCys6SMIwDDtcf3Z+1ERoTOh/wAsx0f0qiBdBRm3fedARVSkRwqTCEHhQCiQW60Em6KVSJtY01RVdI1pU1ImqgVURAYMZl+FMqmqon2FAKhvOxMtWxte2buH+mPlN4aE2g6TL35Vj7Itp07zp8fGKmf3J9JrFm1uejpNg9+/txpKU5jPudL1ATQKVVxNWFY7BmBu5IfMWhxaoAl6cJqbDDgxPWfTqavpAjBjqRwy/NWgg/1RZ8h5raBmFAghzoHuz6i3IVJugGC5ZhpbdcM2ZPpWbVOr+5JkzmGa05XGdVyuZcaF3s3rbWjcu54O/O2uXtQKTn7Z5fmkCSsvlppk3ChxLMD2By4mmQPNeHvQ4pl276VRJvBs3l/TnTFXEZccxpSIgZ/wM9aFSp71oD3njgWHXKiVZzqqC+nOou/enecs/pQOVMM38psBYHvjQpX9rdTQDLpSeriHUe+gpqamJoCQJowZehp3egnIed2lQJPAev70qKhpjTmlRAmhBo6FqqDw6T0DtTqMUxTKpJFM1PvRRDqFShTgOe7fSoUi1SO3fSpViRKgBrAyfNzRb5EdxwPE6VGkj799KIaZvbpB9znUUlKiYDQwbrx50naKdWfpUYAhzQMS5psVU0qNrcu2qofeYNcS3oNRQqPfWnUi3H+KZ++lRTp59vSUczxok4Jk8CfQBRqNZ75mgA39Kc01ICtIJ6alSeohCiTxphRUU6T3NKmCaVB//9k="/>
          <p:cNvSpPr>
            <a:spLocks noChangeAspect="1" noChangeArrowheads="1"/>
          </p:cNvSpPr>
          <p:nvPr/>
        </p:nvSpPr>
        <p:spPr bwMode="auto">
          <a:xfrm>
            <a:off x="4214813" y="-1714500"/>
            <a:ext cx="3143250" cy="35718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922" name="AutoShape 10" descr="Image result for definition of economics by adam smith"/>
          <p:cNvSpPr>
            <a:spLocks noChangeAspect="1" noChangeArrowheads="1"/>
          </p:cNvSpPr>
          <p:nvPr/>
        </p:nvSpPr>
        <p:spPr bwMode="auto">
          <a:xfrm>
            <a:off x="4541838" y="-33496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164080" y="5416621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Dr.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Hemantha</a:t>
            </a:r>
            <a:r>
              <a:rPr lang="en-US" sz="24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cs typeface="Times New Roman" pitchFamily="18" charset="0"/>
              </a:rPr>
              <a:t>Premarathne</a:t>
            </a:r>
            <a:endParaRPr lang="en-US" sz="2400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5862240"/>
            <a:ext cx="549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B.A. Econ &amp; Stat (</a:t>
            </a:r>
            <a:r>
              <a:rPr lang="en-US" sz="1400" i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Hons</a:t>
            </a:r>
            <a:r>
              <a:rPr lang="en-US" sz="14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en-US" sz="1400" i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Pera</a:t>
            </a:r>
            <a:r>
              <a:rPr lang="en-US" sz="14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M.A. &amp; Ph.D. (Saga, Japan)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8311" y="136525"/>
            <a:ext cx="8631393" cy="23698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Intermediate Macroeconomics</a:t>
            </a:r>
          </a:p>
          <a:p>
            <a:pPr algn="ctr"/>
            <a:endParaRPr lang="en-US" sz="1600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en-US" sz="20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LECTURE 04</a:t>
            </a:r>
          </a:p>
          <a:p>
            <a:pPr algn="ctr"/>
            <a:endParaRPr lang="en-US" sz="2000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en-US" sz="16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en-US" sz="24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PRODUCT MARKET ANALYSIS: KEYNESIAN THEORY OF NATIONAL INCOME DETERMINATION</a:t>
            </a:r>
            <a:endParaRPr lang="en-US" sz="2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26" name="Picture 2" descr="http://www.bamza.ca/media/service_pics/16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636911"/>
            <a:ext cx="2592288" cy="2592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58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3028" y="616048"/>
            <a:ext cx="4886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Layout of the Lecture………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733" y="1385151"/>
            <a:ext cx="653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4.1  A Simple Economy Model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08520" y="2505090"/>
            <a:ext cx="8307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4.3  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Income Determination in a Closed Economy Model: A Model      </a:t>
            </a:r>
          </a:p>
          <a:p>
            <a:pPr lvl="1"/>
            <a:r>
              <a:rPr lang="en-GB" sz="2000" dirty="0">
                <a:latin typeface="Arial" pitchFamily="34" charset="0"/>
                <a:cs typeface="Arial" pitchFamily="34" charset="0"/>
              </a:rPr>
              <a:t>       with Government  Sector 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528" y="3369186"/>
            <a:ext cx="8520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4.4  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Income Determination in Open Economy Model: A Model with the   </a:t>
            </a:r>
          </a:p>
          <a:p>
            <a:r>
              <a:rPr lang="en-GB" sz="2000" dirty="0">
                <a:latin typeface="Arial" pitchFamily="34" charset="0"/>
                <a:cs typeface="Arial" pitchFamily="34" charset="0"/>
              </a:rPr>
              <a:t>       Foreign Sector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2543" y="1876762"/>
            <a:ext cx="653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4.2  Income Determination in A Simple Economy Model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57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7026" y="296601"/>
            <a:ext cx="8639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4.1  A Simple Economy Model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025" y="1706525"/>
            <a:ext cx="8639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4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sz="24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Keynesian theory of income determination states that the equilibrium level of national income is determined at the level where:</a:t>
            </a:r>
            <a:r>
              <a:rPr lang="en-US" sz="24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400" b="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9426" y="1029561"/>
            <a:ext cx="3578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Introduction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4789" y="3450486"/>
            <a:ext cx="8604448" cy="3385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i="1" dirty="0">
                <a:latin typeface="Arial" pitchFamily="34" charset="0"/>
                <a:cs typeface="Arial" pitchFamily="34" charset="0"/>
              </a:rPr>
              <a:t>Aggregate Demand for Goods &amp; Services = Aggregate Supply of Goods &amp; Services </a:t>
            </a:r>
            <a:endParaRPr lang="en-GB" sz="1600" b="1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47864" y="4428401"/>
            <a:ext cx="2101413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i="1" dirty="0">
                <a:latin typeface="Arial" pitchFamily="34" charset="0"/>
                <a:cs typeface="Arial" pitchFamily="34" charset="0"/>
              </a:rPr>
              <a:t>AD = AS </a:t>
            </a:r>
            <a:endParaRPr lang="en-GB" sz="3200" b="1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60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2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9263" y="-27384"/>
            <a:ext cx="8639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:…..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025" y="1124744"/>
            <a:ext cx="863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AS refers to </a:t>
            </a:r>
            <a:r>
              <a:rPr lang="en-US" sz="2000" i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the total supply of goods and services in an economy.</a:t>
            </a:r>
            <a:r>
              <a:rPr lang="en-US" sz="2000" b="0" i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89" y="548680"/>
            <a:ext cx="5977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What is Aggregate Supply (AS) ????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5599" y="2628201"/>
            <a:ext cx="2101413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 = f(K,L)</a:t>
            </a:r>
            <a:endParaRPr lang="en-GB" sz="32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7584" y="1772816"/>
            <a:ext cx="8207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Keynes used the classical production function to derive his Aggregate Supply function.</a:t>
            </a:r>
            <a:endParaRPr lang="en-US" sz="2000" b="0" i="1" u="sng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769020" y="2916233"/>
            <a:ext cx="12431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12160" y="2690917"/>
            <a:ext cx="323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(classical production function)</a:t>
            </a:r>
            <a:endParaRPr lang="en-US" b="0" i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9592" y="3453968"/>
            <a:ext cx="76328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Note: According to the above function, the level of real output/income </a:t>
            </a:r>
            <a:r>
              <a:rPr lang="en-US" sz="20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(Y)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depends on the supply of the resources; capital </a:t>
            </a:r>
            <a:r>
              <a:rPr lang="en-US" sz="20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(K)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and labor </a:t>
            </a:r>
            <a:r>
              <a:rPr lang="en-US" sz="20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(L).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In the short-run, the stock of capital, K, is fixed. Therefore, SR output depends on the level of employment (L). Thus, the SR production function may be written as: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endParaRPr lang="en-US" sz="2000" b="0" i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558" y="5179052"/>
            <a:ext cx="1584176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 = f(L)</a:t>
            </a:r>
            <a:endParaRPr lang="en-GB" sz="28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8530" y="5981218"/>
            <a:ext cx="863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This relationship between the labor employment and the real output forms the basis of the Keynesian aggregate supply curve.</a:t>
            </a:r>
            <a:r>
              <a:rPr lang="en-US" sz="2000" b="0" i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14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9263" y="-27384"/>
            <a:ext cx="8639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:…..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025" y="1124744"/>
            <a:ext cx="863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 a simple two-sector economy (no government and no foreign trade), Aggregate Demand (AD) consistence of only two components: </a:t>
            </a:r>
            <a:r>
              <a:rPr lang="en-US" sz="2000" b="0" i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89" y="548680"/>
            <a:ext cx="5977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What is Aggregate Demand (AD) ????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3631" y="3212976"/>
            <a:ext cx="197640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AD = C + I</a:t>
            </a:r>
            <a:endParaRPr lang="en-GB" sz="28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7584" y="2001034"/>
            <a:ext cx="8207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lphaLcParenBoth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Aggregate demand for consumer goods (C) and</a:t>
            </a:r>
          </a:p>
          <a:p>
            <a:pPr marL="457200" indent="-457200" algn="just">
              <a:buAutoNum type="alphaLcParenBoth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Aggregate demand for investment goods (I)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560" y="2740858"/>
            <a:ext cx="863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- Thus,  in a simple economy……</a:t>
            </a:r>
            <a:endParaRPr lang="en-US" sz="2000" b="0" i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5576" y="3861048"/>
            <a:ext cx="76328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u="sng" dirty="0">
                <a:latin typeface="Arial" pitchFamily="34" charset="0"/>
                <a:cs typeface="Arial" pitchFamily="34" charset="0"/>
              </a:rPr>
              <a:t>Note: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 the variable I is assumed to be determined exogenously and to remain constant in the SR. Thus, SR aggregate demand function can be written as: </a:t>
            </a:r>
            <a:endParaRPr lang="en-US" sz="2000" b="0" i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68794" y="4922004"/>
            <a:ext cx="197640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AD = C + I</a:t>
            </a:r>
            <a:endParaRPr lang="en-GB" sz="28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7544" y="5745450"/>
            <a:ext cx="863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It implies that, in the SR, AD depends largely on the </a:t>
            </a:r>
            <a:r>
              <a:rPr lang="en-US" sz="2000" i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aggregate consumption expenditure.</a:t>
            </a:r>
            <a:r>
              <a:rPr lang="en-US" sz="2000" b="0" i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33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 animBg="1"/>
      <p:bldP spid="9" grpId="0"/>
      <p:bldP spid="13" grpId="0"/>
      <p:bldP spid="14" grpId="0"/>
      <p:bldP spid="15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9263" y="-27384"/>
            <a:ext cx="8639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:…..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025" y="1124744"/>
            <a:ext cx="863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 consumption function shows the relationship between the consumption expenditure and its determinants. </a:t>
            </a:r>
            <a:r>
              <a:rPr lang="en-US" sz="2000" b="0" i="1" u="sng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89" y="548680"/>
            <a:ext cx="5977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Consumption Function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7607" y="2429293"/>
            <a:ext cx="1728219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 = f(Y)</a:t>
            </a:r>
            <a:endParaRPr lang="en-GB" sz="28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560" y="1948770"/>
            <a:ext cx="863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- The most general form of consumption function is expressed as……</a:t>
            </a:r>
            <a:endParaRPr lang="en-US" sz="2000" b="0" i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5576" y="3212976"/>
            <a:ext cx="763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Where C = consumption expenditure, and Y = disposable income</a:t>
            </a:r>
            <a:endParaRPr lang="en-US" sz="20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7544" y="4797152"/>
            <a:ext cx="863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Question??? .. Does consumption (C) increase proportionately, less than proportionately or more than proportionately???? </a:t>
            </a:r>
            <a:endParaRPr lang="en-US" sz="2000" b="0" i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5576" y="3861048"/>
            <a:ext cx="7632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u="sng" dirty="0">
                <a:latin typeface="Arial" pitchFamily="34" charset="0"/>
                <a:cs typeface="Arial" pitchFamily="34" charset="0"/>
              </a:rPr>
              <a:t>Note: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 the consumption expenditure is a positive function of income, i.e. consumption increases with increase in income. </a:t>
            </a:r>
            <a:endParaRPr lang="en-US" sz="2000" b="0" i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7544" y="5673442"/>
            <a:ext cx="863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answer can be explained by using the concept of </a:t>
            </a:r>
            <a:r>
              <a:rPr lang="en-US" sz="20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Marginal Propensity to Consume (MPC).</a:t>
            </a:r>
            <a:r>
              <a:rPr lang="en-US" sz="2000" b="0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51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 animBg="1"/>
      <p:bldP spid="13" grpId="0"/>
      <p:bldP spid="14" grpId="0"/>
      <p:bldP spid="16" grpId="0"/>
      <p:bldP spid="12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9263" y="-27384"/>
            <a:ext cx="8639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:…..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025" y="1124744"/>
            <a:ext cx="863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Marginal Propensity to Consume (MPC) refers to the relationship between marginal income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(∆Y)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and marginal consumption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(∆C).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0" i="1" u="sng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89" y="548680"/>
            <a:ext cx="7993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What is Marginal Propensity to Consume (MPC)????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7606" y="2167683"/>
            <a:ext cx="277652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MPC = ∆C / ∆Y</a:t>
            </a:r>
            <a:endParaRPr lang="en-GB" sz="28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5576" y="3729226"/>
            <a:ext cx="7632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The relationship between Y and C can be graphically  illustrated as follows . </a:t>
            </a:r>
            <a:endParaRPr lang="en-US" sz="20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15816" y="2905780"/>
            <a:ext cx="277652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0 &lt; MPC &lt; 1</a:t>
            </a:r>
            <a:endParaRPr lang="en-GB" sz="2800" b="1" i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8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 animBg="1"/>
      <p:bldP spid="12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9263" y="-27384"/>
            <a:ext cx="8639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:…..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5777" y="1772816"/>
            <a:ext cx="2123474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 = a + </a:t>
            </a:r>
            <a:r>
              <a:rPr lang="en-US" sz="2800" b="1" i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bY</a:t>
            </a:r>
            <a:endParaRPr lang="en-GB" sz="28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9442" y="764704"/>
            <a:ext cx="7632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Mathematically, the relationship between Y and C can be g illustrated as follows .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1842" y="2433082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>
                <a:latin typeface="Arial" pitchFamily="34" charset="0"/>
                <a:cs typeface="Arial" pitchFamily="34" charset="0"/>
              </a:rPr>
              <a:t>C = aggregate consumption expenditure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568" y="2967335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>
                <a:latin typeface="Arial" pitchFamily="34" charset="0"/>
                <a:cs typeface="Arial" pitchFamily="34" charset="0"/>
              </a:rPr>
              <a:t>Y = total disposable income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3568" y="3429000"/>
            <a:ext cx="8460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>
                <a:latin typeface="Arial" pitchFamily="34" charset="0"/>
                <a:cs typeface="Arial" pitchFamily="34" charset="0"/>
              </a:rPr>
              <a:t>a = autonomous consumption </a:t>
            </a:r>
            <a:r>
              <a:rPr lang="en-US" sz="1600" i="1" dirty="0">
                <a:latin typeface="Arial" pitchFamily="34" charset="0"/>
                <a:cs typeface="Arial" pitchFamily="34" charset="0"/>
              </a:rPr>
              <a:t>(the consumption at Zero level of income) </a:t>
            </a:r>
            <a:endParaRPr lang="en-US" sz="16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3568" y="3903439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>
                <a:latin typeface="Arial" pitchFamily="34" charset="0"/>
                <a:cs typeface="Arial" pitchFamily="34" charset="0"/>
              </a:rPr>
              <a:t>b = MPC = ∆C/∆Y (slope of the consumption curve)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45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12" grpId="0"/>
      <p:bldP spid="9" grpId="0"/>
      <p:bldP spid="10" grpId="0"/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9263" y="-27384"/>
            <a:ext cx="8639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:…..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5776" y="1556792"/>
            <a:ext cx="3240359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 = 200 + 0.75Y</a:t>
            </a:r>
            <a:endParaRPr lang="en-GB" sz="28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9442" y="620688"/>
            <a:ext cx="7632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Q1: Suppose you are given the following consumption function .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1842" y="2276872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>
                <a:latin typeface="Arial" pitchFamily="34" charset="0"/>
                <a:cs typeface="Arial" pitchFamily="34" charset="0"/>
              </a:rPr>
              <a:t>- Draw consumption curve graphically.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939512"/>
              </p:ext>
            </p:extLst>
          </p:nvPr>
        </p:nvGraphicFramePr>
        <p:xfrm>
          <a:off x="1259632" y="2852936"/>
          <a:ext cx="3419618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39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C=200+0.75Y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3568" y="5733256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>
                <a:latin typeface="Arial" pitchFamily="34" charset="0"/>
                <a:cs typeface="Arial" pitchFamily="34" charset="0"/>
              </a:rPr>
              <a:t>- Find total consumption when Y=1000.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46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12" grpId="0"/>
      <p:bldP spid="9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9263" y="-27384"/>
            <a:ext cx="8639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:…..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025" y="908720"/>
            <a:ext cx="863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saving function (S) states the relationship between income and saving. </a:t>
            </a:r>
            <a:r>
              <a:rPr lang="en-US" sz="2000" b="0" i="1" u="sng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89" y="404664"/>
            <a:ext cx="5977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Saving Function (S)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7607" y="1556792"/>
            <a:ext cx="1728219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 = f(Y)</a:t>
            </a:r>
            <a:endParaRPr lang="en-GB" sz="28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5576" y="2204864"/>
            <a:ext cx="763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Where S = savings, and Y = disposable income</a:t>
            </a:r>
            <a:endParaRPr lang="en-US" sz="20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5576" y="2773377"/>
            <a:ext cx="76328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u="sng" dirty="0">
                <a:latin typeface="Arial" pitchFamily="34" charset="0"/>
                <a:cs typeface="Arial" pitchFamily="34" charset="0"/>
              </a:rPr>
              <a:t>Note: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 Y= C+S. thus, consumption and saving functions are counterparts of one another. Therefore, it one of the function is known, the other can be easily derived.</a:t>
            </a:r>
            <a:endParaRPr lang="en-US" sz="2000" b="0" i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15817" y="3861048"/>
            <a:ext cx="1781196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 = C + S</a:t>
            </a:r>
            <a:endParaRPr lang="en-GB" sz="2400" b="1" i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15816" y="4437112"/>
            <a:ext cx="1781196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 = Y - C</a:t>
            </a:r>
            <a:endParaRPr lang="en-GB" sz="2400" b="1" i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15816" y="4983559"/>
            <a:ext cx="309634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If C = a + </a:t>
            </a:r>
            <a:r>
              <a:rPr lang="en-US" sz="2400" b="1" i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bY</a:t>
            </a:r>
            <a:endParaRPr lang="en-GB" sz="2400" b="1" i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15816" y="5559623"/>
            <a:ext cx="309634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 = Y – (</a:t>
            </a:r>
            <a:r>
              <a:rPr lang="en-US" sz="2400" b="1" i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a+bY</a:t>
            </a:r>
            <a:r>
              <a:rPr lang="en-US" sz="2400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GB" sz="2400" b="1" i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15816" y="6135687"/>
            <a:ext cx="2448272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 = -a + (1-b)Y </a:t>
            </a:r>
            <a:endParaRPr lang="en-GB" sz="24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57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 animBg="1"/>
      <p:bldP spid="14" grpId="0"/>
      <p:bldP spid="12" grpId="0"/>
      <p:bldP spid="11" grpId="0" animBg="1"/>
      <p:bldP spid="15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9263" y="-27384"/>
            <a:ext cx="8639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:…..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89" y="404664"/>
            <a:ext cx="5977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Saving Function (S)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576" y="1916832"/>
            <a:ext cx="7632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Arial" pitchFamily="34" charset="0"/>
                <a:cs typeface="Arial" pitchFamily="34" charset="0"/>
              </a:rPr>
              <a:t>The term (1-b) in the above function gives the Marginal Propensity to Save (MPS).</a:t>
            </a:r>
            <a:endParaRPr lang="en-US" sz="20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5576" y="2773377"/>
            <a:ext cx="763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u="sng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Note:</a:t>
            </a:r>
            <a:r>
              <a:rPr lang="en-US" sz="2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MPS = (1-b) = ∆S/∆Y</a:t>
            </a:r>
            <a:endParaRPr lang="en-US" sz="2000" b="0" i="1" u="sng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27784" y="1052736"/>
            <a:ext cx="2448272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 = -a + (1-b)Y </a:t>
            </a:r>
            <a:endParaRPr lang="en-GB" sz="24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536" y="3388930"/>
            <a:ext cx="763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Q2: Suppose you are given the following consumption function . </a:t>
            </a:r>
            <a:endParaRPr lang="en-US" sz="2000" b="0" i="1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5776" y="3861048"/>
            <a:ext cx="3240359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 = 200 + 0.75Y</a:t>
            </a:r>
            <a:endParaRPr lang="en-GB" sz="2400" b="1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84" y="4541058"/>
            <a:ext cx="763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>
                <a:latin typeface="Arial" pitchFamily="34" charset="0"/>
                <a:cs typeface="Arial" pitchFamily="34" charset="0"/>
              </a:rPr>
              <a:t>- Derive the saving function from the above function. </a:t>
            </a:r>
            <a:endParaRPr lang="en-US" sz="20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7584" y="4911551"/>
            <a:ext cx="763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>
                <a:latin typeface="Arial" pitchFamily="34" charset="0"/>
                <a:cs typeface="Arial" pitchFamily="34" charset="0"/>
              </a:rPr>
              <a:t>- Calculate Marginal Propensity to Save. </a:t>
            </a:r>
            <a:endParaRPr lang="en-US" sz="20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84" y="5282061"/>
            <a:ext cx="763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>
                <a:latin typeface="Arial" pitchFamily="34" charset="0"/>
                <a:cs typeface="Arial" pitchFamily="34" charset="0"/>
              </a:rPr>
              <a:t>- Draw saving curve graphically. </a:t>
            </a:r>
            <a:endParaRPr lang="en-US" sz="20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35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4" grpId="0"/>
      <p:bldP spid="12" grpId="0"/>
      <p:bldP spid="20" grpId="0" animBg="1"/>
      <p:bldP spid="13" grpId="0"/>
      <p:bldP spid="16" grpId="0" animBg="1"/>
      <p:bldP spid="17" grpId="0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7026" y="296601"/>
            <a:ext cx="8639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4.2  Income Determination in A Simple Economy Model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1804754"/>
            <a:ext cx="863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 There are only two sectors, (i) households and (ii) firms in this economy.</a:t>
            </a:r>
            <a:endParaRPr lang="en-US" sz="2000" b="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9426" y="1029561"/>
            <a:ext cx="7354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Assumptions of the Simple Economy Model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522" y="2492896"/>
            <a:ext cx="8639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 In simple economy model, aggregate demand (AD) consists of (i)   </a:t>
            </a:r>
          </a:p>
          <a:p>
            <a:pPr algn="just"/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aggregate consumer demand (C) and aggregate investment demand (I).    </a:t>
            </a:r>
          </a:p>
          <a:p>
            <a:pPr algn="just"/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Thus, AD=C+I. </a:t>
            </a:r>
            <a:endParaRPr lang="en-US" sz="2000" b="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3604954"/>
            <a:ext cx="863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 There is no leakage or injection (or S=I)</a:t>
            </a:r>
            <a:endParaRPr lang="en-US" sz="2000" b="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5536" y="4037002"/>
            <a:ext cx="863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 Since there is no government, no tax and no government expenditure.</a:t>
            </a:r>
            <a:endParaRPr lang="en-US" sz="2000" b="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36" y="4469050"/>
            <a:ext cx="863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 No export or imports.</a:t>
            </a:r>
            <a:endParaRPr lang="en-US" sz="2000" b="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536" y="4881354"/>
            <a:ext cx="863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 In the firm sector, there is no corporate savings. The total profit is    </a:t>
            </a:r>
          </a:p>
          <a:p>
            <a:pPr algn="just"/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distributed as dividend.</a:t>
            </a:r>
            <a:endParaRPr lang="en-US" sz="2000" b="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536" y="5733256"/>
            <a:ext cx="863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 All prices, including factor prices, remain constant.</a:t>
            </a:r>
            <a:endParaRPr lang="en-US" sz="2000" b="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536" y="6269250"/>
            <a:ext cx="863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8.  The supply of capital and technology are given.</a:t>
            </a:r>
            <a:endParaRPr lang="en-US" sz="2000" b="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19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2132856"/>
            <a:ext cx="64087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4.3 </a:t>
            </a:r>
            <a:r>
              <a:rPr lang="en-GB" sz="2800" b="1" dirty="0">
                <a:latin typeface="Arial" pitchFamily="34" charset="0"/>
                <a:cs typeface="Arial" pitchFamily="34" charset="0"/>
              </a:rPr>
              <a:t>Income Determination in a Closed  Economy Model: A Model with the  Government Sector</a:t>
            </a:r>
            <a:endParaRPr lang="en-US" sz="28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76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787351"/>
            <a:ext cx="835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A three-sector or a closed economy model is constructed by adding government sector to our simple economy.</a:t>
            </a:r>
            <a:endParaRPr lang="en-US" sz="22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1651447"/>
            <a:ext cx="835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Inclusion of the government sector into the simple economy model introduces three new variables to the model.</a:t>
            </a:r>
            <a:endParaRPr lang="en-US" sz="22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2564904"/>
            <a:ext cx="83529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ü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taxes (T)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en-US" sz="2200" b="0" i="1" dirty="0">
                <a:latin typeface="Arial" pitchFamily="34" charset="0"/>
                <a:cs typeface="Arial" pitchFamily="34" charset="0"/>
              </a:rPr>
              <a:t> government expenditure (G)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en-US" sz="2200" i="1" dirty="0">
                <a:latin typeface="Arial" pitchFamily="34" charset="0"/>
                <a:cs typeface="Arial" pitchFamily="34" charset="0"/>
              </a:rPr>
              <a:t> transfer payments (G</a:t>
            </a:r>
            <a:r>
              <a:rPr lang="en-US" sz="1400" i="1" dirty="0">
                <a:latin typeface="Arial" pitchFamily="34" charset="0"/>
                <a:cs typeface="Arial" pitchFamily="34" charset="0"/>
              </a:rPr>
              <a:t>T</a:t>
            </a:r>
            <a:r>
              <a:rPr lang="en-US" sz="2200" i="1" dirty="0">
                <a:latin typeface="Arial" pitchFamily="34" charset="0"/>
                <a:cs typeface="Arial" pitchFamily="34" charset="0"/>
              </a:rPr>
              <a:t>)</a:t>
            </a:r>
            <a:endParaRPr lang="en-US" sz="22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3861048"/>
            <a:ext cx="835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To simplify the model we assume that the government makes only the following fiscal operation.</a:t>
            </a:r>
            <a:endParaRPr lang="en-US" sz="22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0868" y="4685074"/>
            <a:ext cx="7848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>
                <a:latin typeface="Arial" pitchFamily="34" charset="0"/>
                <a:cs typeface="Arial" pitchFamily="34" charset="0"/>
              </a:rPr>
              <a:t>I.   It imposes only direct taxes on the households.</a:t>
            </a:r>
            <a:endParaRPr lang="en-US" sz="20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5153905"/>
            <a:ext cx="7848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i="1" dirty="0">
                <a:latin typeface="Arial" pitchFamily="34" charset="0"/>
                <a:cs typeface="Arial" pitchFamily="34" charset="0"/>
              </a:rPr>
              <a:t>ii.   It spends money on buying factor services from the HH sector and goods and services from the firm sector.</a:t>
            </a:r>
            <a:endParaRPr lang="en-US" sz="20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4756" y="5857039"/>
            <a:ext cx="7848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i="1" dirty="0">
                <a:latin typeface="Arial" pitchFamily="34" charset="0"/>
                <a:cs typeface="Arial" pitchFamily="34" charset="0"/>
              </a:rPr>
              <a:t>iii.  It makes transfer payments in the form of pension and subsidies</a:t>
            </a:r>
            <a:endParaRPr lang="en-US" sz="22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36512" y="-27384"/>
            <a:ext cx="8639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:….. 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96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900" y="1346646"/>
            <a:ext cx="83529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i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Assumption.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6512" y="98629"/>
            <a:ext cx="86399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Income Determination with </a:t>
            </a:r>
          </a:p>
          <a:p>
            <a:pPr algn="ctr"/>
            <a:r>
              <a:rPr lang="en-US" sz="28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Government Expenditure (G) and Tax (T)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560" y="2060848"/>
            <a:ext cx="83529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200" i="1" dirty="0">
                <a:latin typeface="Arial" pitchFamily="34" charset="0"/>
                <a:cs typeface="Arial" pitchFamily="34" charset="0"/>
              </a:rPr>
              <a:t>there is no transfer payment.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200" b="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200" i="1" dirty="0">
                <a:latin typeface="Arial" pitchFamily="34" charset="0"/>
                <a:cs typeface="Arial" pitchFamily="34" charset="0"/>
              </a:rPr>
              <a:t>there is only one form of tax (lump sum income tax).</a:t>
            </a:r>
            <a:endParaRPr lang="en-US" sz="2200" b="0" i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2200" i="1" dirty="0">
                <a:latin typeface="Arial" pitchFamily="34" charset="0"/>
                <a:cs typeface="Arial" pitchFamily="34" charset="0"/>
              </a:rPr>
              <a:t> the government spending is too exogenously determined.</a:t>
            </a:r>
            <a:endParaRPr lang="en-US" sz="22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94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476672"/>
            <a:ext cx="89644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Government Expenditure (G), Tax (T) and Aggregate Demand (AD)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1700808"/>
            <a:ext cx="64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Arial" pitchFamily="34" charset="0"/>
                <a:cs typeface="Arial" pitchFamily="34" charset="0"/>
              </a:rPr>
              <a:t>Government Expenditure and Aggregate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96" y="2204864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Government expenditure constitutes a part of the AD. The increase in government expenditure affects the economy in the same manner as the increase in consumption.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8827" y="3645024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AD for an closed economy is given as follows; </a:t>
            </a:r>
            <a:endParaRPr lang="en-US" sz="2400" b="0" i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1720" y="4284385"/>
            <a:ext cx="4392488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i="1" dirty="0">
                <a:latin typeface="Arial" pitchFamily="34" charset="0"/>
                <a:cs typeface="Arial" pitchFamily="34" charset="0"/>
              </a:rPr>
              <a:t>AD = C + I + G  </a:t>
            </a:r>
            <a:endParaRPr lang="en-GB" sz="3200" b="1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13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07" y="188640"/>
            <a:ext cx="8964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32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……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951111"/>
            <a:ext cx="64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Government Tax and Consumption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1760" y="1562097"/>
            <a:ext cx="2952328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 =  a + </a:t>
            </a:r>
            <a:r>
              <a:rPr lang="en-US" sz="3200" b="1" i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bY</a:t>
            </a:r>
            <a:r>
              <a:rPr lang="en-US" sz="2800" b="1" i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sz="32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</a:t>
            </a:r>
            <a:endParaRPr lang="en-GB" sz="3200" b="1" i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17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13E77-961F-BD1B-ED0B-3A494BC56162}"/>
              </a:ext>
            </a:extLst>
          </p:cNvPr>
          <p:cNvSpPr txBox="1"/>
          <p:nvPr/>
        </p:nvSpPr>
        <p:spPr>
          <a:xfrm>
            <a:off x="2418596" y="2357748"/>
            <a:ext cx="2952328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28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 = (Y – T)</a:t>
            </a:r>
            <a:r>
              <a:rPr lang="en-US" sz="32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</a:t>
            </a:r>
            <a:endParaRPr lang="en-GB" sz="3200" b="1" i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20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2132856"/>
            <a:ext cx="64087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4.4 </a:t>
            </a:r>
            <a:r>
              <a:rPr lang="en-GB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Income Determination in Open Economy Model: A Model with the  Foreign Sector</a:t>
            </a:r>
            <a:endParaRPr lang="en-US" sz="28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3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1640" y="296601"/>
            <a:ext cx="6427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Exports, Imports and Aggregate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233425"/>
            <a:ext cx="64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Exports and Aggregate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1844824"/>
            <a:ext cx="8280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In an open economy, exports constitute a part of the AD. Exports result in inflows of incomes from abroad. A part of this income is consumed and a part saved. The increase in consumption due to increase in exports affects the economy in the same manner as the increase in consumption due to increase in income.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8827" y="4365104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AD for an open economy is given as follows; </a:t>
            </a:r>
            <a:endParaRPr lang="en-US" sz="2400" b="0" i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23728" y="4941168"/>
            <a:ext cx="4392488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i="1" dirty="0">
                <a:latin typeface="Arial" pitchFamily="34" charset="0"/>
                <a:cs typeface="Arial" pitchFamily="34" charset="0"/>
              </a:rPr>
              <a:t>AD = C + I + G + X </a:t>
            </a:r>
            <a:endParaRPr lang="en-GB" sz="3200" b="1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60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95936" y="296601"/>
            <a:ext cx="376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8" y="1033370"/>
            <a:ext cx="64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Imports and Aggregate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8" y="1628800"/>
            <a:ext cx="64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Import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2132856"/>
            <a:ext cx="82809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Imports are purchases of goods and services from abroad. Payments for imports are a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leakage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from the income stream because payments made for imports make the domestic income flow out of the economy.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23728" y="3841884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M = M + </a:t>
            </a:r>
            <a:r>
              <a:rPr lang="en-US" sz="2800" b="1" i="1" dirty="0" err="1"/>
              <a:t>mY</a:t>
            </a:r>
            <a:endParaRPr lang="en-GB" sz="2800" b="1" i="1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915816" y="3933056"/>
            <a:ext cx="2880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9532" y="4517504"/>
            <a:ext cx="6305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M  is constant, autonomous imports</a:t>
            </a:r>
            <a:endParaRPr lang="en-GB" sz="2800" i="1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67544" y="4581128"/>
            <a:ext cx="2880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7916" y="5085184"/>
            <a:ext cx="6364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m is marginal propensity to imports</a:t>
            </a:r>
            <a:endParaRPr lang="en-GB" sz="2800" i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59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9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95936" y="296601"/>
            <a:ext cx="376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8" y="1033370"/>
            <a:ext cx="64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Imports and Aggregate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1499300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The aggregate demand equation for an open economy can be expressed as .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99692" y="2492896"/>
            <a:ext cx="5076564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i="1" dirty="0">
                <a:latin typeface="Arial" pitchFamily="34" charset="0"/>
                <a:cs typeface="Arial" pitchFamily="34" charset="0"/>
              </a:rPr>
              <a:t>AD = C + I + G + (X - M) </a:t>
            </a:r>
            <a:endParaRPr lang="en-GB" sz="3200" b="1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9944" y="3429000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If M&gt;X, the AD decreases, and if X&gt;M, the AD increases.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6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2" grpId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5268" y="34991"/>
            <a:ext cx="376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….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8" y="771382"/>
            <a:ext cx="7934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National Income Equation in a Four-Sector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1499300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The entire four-sector model of income determination can be written as follows .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99692" y="2492896"/>
            <a:ext cx="5076564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i="1" dirty="0">
                <a:latin typeface="Arial" pitchFamily="34" charset="0"/>
                <a:cs typeface="Arial" pitchFamily="34" charset="0"/>
              </a:rPr>
              <a:t>Y = C + I + G + (X - M) </a:t>
            </a:r>
            <a:endParaRPr lang="en-GB" sz="3200" b="1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9944" y="3429000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Where, 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80838" y="3821452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C = a + </a:t>
            </a:r>
            <a:r>
              <a:rPr lang="en-US" sz="2800" b="1" i="1" dirty="0" err="1"/>
              <a:t>bYd</a:t>
            </a:r>
            <a:endParaRPr lang="en-GB" sz="2800" b="1" i="1" dirty="0"/>
          </a:p>
        </p:txBody>
      </p:sp>
      <p:sp>
        <p:nvSpPr>
          <p:cNvPr id="8" name="TextBox 7"/>
          <p:cNvSpPr txBox="1"/>
          <p:nvPr/>
        </p:nvSpPr>
        <p:spPr>
          <a:xfrm>
            <a:off x="1907704" y="4273932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/>
              <a:t>Yd</a:t>
            </a:r>
            <a:r>
              <a:rPr lang="en-US" sz="2800" b="1" i="1" dirty="0"/>
              <a:t> = (Y – T)</a:t>
            </a:r>
            <a:endParaRPr lang="en-GB" sz="2800" b="1" i="1" dirty="0"/>
          </a:p>
        </p:txBody>
      </p:sp>
      <p:sp>
        <p:nvSpPr>
          <p:cNvPr id="9" name="TextBox 8"/>
          <p:cNvSpPr txBox="1"/>
          <p:nvPr/>
        </p:nvSpPr>
        <p:spPr>
          <a:xfrm>
            <a:off x="1907704" y="4797152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M = M + </a:t>
            </a:r>
            <a:r>
              <a:rPr lang="en-US" sz="2800" b="1" i="1" dirty="0" err="1"/>
              <a:t>mY</a:t>
            </a:r>
            <a:endParaRPr lang="en-GB" sz="2800" b="1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1754980" y="5343599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i="1" dirty="0">
                <a:latin typeface="Arial" pitchFamily="34" charset="0"/>
                <a:cs typeface="Arial" pitchFamily="34" charset="0"/>
              </a:rPr>
              <a:t>And I and G are constant.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82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2" grpId="0" animBg="1"/>
      <p:bldP spid="13" grpId="0"/>
      <p:bldP spid="7" grpId="0"/>
      <p:bldP spid="8" grpId="0"/>
      <p:bldP spid="9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5268" y="34991"/>
            <a:ext cx="376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n-US" sz="2800" b="1" i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….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514" y="908720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Ex…. Suppose an economy is characterized by the following equations.</a:t>
            </a:r>
            <a:endParaRPr lang="en-US" sz="2400" b="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8766" y="2060848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C = 100 + 0.8Yd</a:t>
            </a:r>
            <a:endParaRPr lang="en-GB" sz="3200" b="1" i="1" dirty="0"/>
          </a:p>
        </p:txBody>
      </p:sp>
      <p:sp>
        <p:nvSpPr>
          <p:cNvPr id="8" name="TextBox 7"/>
          <p:cNvSpPr txBox="1"/>
          <p:nvPr/>
        </p:nvSpPr>
        <p:spPr>
          <a:xfrm>
            <a:off x="1979712" y="2564904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T = 100 </a:t>
            </a:r>
            <a:endParaRPr lang="en-GB" sz="3200" b="1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2051720" y="2988241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I = 200 </a:t>
            </a:r>
            <a:endParaRPr lang="en-GB" sz="3200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1907704" y="3564305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G = 100 </a:t>
            </a:r>
            <a:endParaRPr lang="en-GB" sz="3200" b="1" i="1" dirty="0"/>
          </a:p>
        </p:txBody>
      </p:sp>
      <p:sp>
        <p:nvSpPr>
          <p:cNvPr id="15" name="TextBox 14"/>
          <p:cNvSpPr txBox="1"/>
          <p:nvPr/>
        </p:nvSpPr>
        <p:spPr>
          <a:xfrm>
            <a:off x="1907704" y="4068361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X = 20 </a:t>
            </a:r>
            <a:endParaRPr lang="en-GB" sz="3200" b="1" i="1" dirty="0"/>
          </a:p>
        </p:txBody>
      </p:sp>
      <p:sp>
        <p:nvSpPr>
          <p:cNvPr id="16" name="TextBox 15"/>
          <p:cNvSpPr txBox="1"/>
          <p:nvPr/>
        </p:nvSpPr>
        <p:spPr>
          <a:xfrm>
            <a:off x="1763688" y="4572417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M = 10 + 0.1Y</a:t>
            </a:r>
            <a:endParaRPr lang="en-GB" sz="3200" b="1" i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62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8" grpId="0"/>
      <p:bldP spid="11" grpId="0"/>
      <p:bldP spid="14" grpId="0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3C031C-E28E-EEF1-F7A0-1544D770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BSc Macro 2022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86B9DB-1EA9-8EEE-4AC1-152DB658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BD91-893E-4CED-A716-151F56A42A5A}" type="slidenum">
              <a:rPr lang="en-GB" smtClean="0"/>
              <a:t>24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B1EC0-51A9-61BD-CC1E-821722C8365C}"/>
              </a:ext>
            </a:extLst>
          </p:cNvPr>
          <p:cNvSpPr txBox="1"/>
          <p:nvPr/>
        </p:nvSpPr>
        <p:spPr>
          <a:xfrm>
            <a:off x="611560" y="980728"/>
            <a:ext cx="7632848" cy="391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77"/>
              </a:rPr>
              <a:t>Find:</a:t>
            </a:r>
            <a:endParaRPr lang="en-LK" sz="20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Iskoola Pota" panose="020B0502040204020203" pitchFamily="34" charset="77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romanLcPeriod"/>
            </a:pPr>
            <a:r>
              <a:rPr lang="en-GB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77"/>
              </a:rPr>
              <a:t>The equilibrium level of national income (Y),		 </a:t>
            </a:r>
            <a:endParaRPr lang="en-LK" sz="20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Iskoola Pota" panose="020B0502040204020203" pitchFamily="34" charset="77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romanLcPeriod"/>
            </a:pPr>
            <a:r>
              <a:rPr lang="en-GB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77"/>
              </a:rPr>
              <a:t>Consumption (C) at equilibrium income,			</a:t>
            </a:r>
            <a:endParaRPr lang="en-LK" sz="20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Iskoola Pota" panose="020B0502040204020203" pitchFamily="34" charset="77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romanLcPeriod"/>
            </a:pPr>
            <a:r>
              <a:rPr lang="en-GB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77"/>
              </a:rPr>
              <a:t>Savings (S)</a:t>
            </a:r>
            <a:r>
              <a:rPr lang="en-GB" sz="24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77"/>
              </a:rPr>
              <a:t> </a:t>
            </a:r>
            <a:r>
              <a:rPr lang="en-GB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77"/>
              </a:rPr>
              <a:t>at equilibrium income,</a:t>
            </a:r>
            <a:r>
              <a:rPr lang="en-GB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77"/>
              </a:rPr>
              <a:t> 	</a:t>
            </a:r>
            <a:endParaRPr lang="en-GB" sz="2400" b="1" dirty="0">
              <a:latin typeface="Times New Roman" panose="02020603050405020304" pitchFamily="18" charset="0"/>
              <a:ea typeface="MS Mincho" panose="02020609040205080304" pitchFamily="49" charset="-128"/>
              <a:cs typeface="Iskoola Pota" panose="020B0502040204020203" pitchFamily="34" charset="77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romanLcPeriod"/>
            </a:pPr>
            <a:r>
              <a:rPr lang="en-GB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77"/>
              </a:rPr>
              <a:t>Net exports (X-M) at equilibrium income,</a:t>
            </a:r>
            <a:r>
              <a:rPr lang="en-GB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Iskoola Pota" panose="020B0502040204020203" pitchFamily="34" charset="77"/>
              </a:rPr>
              <a:t> 	</a:t>
            </a:r>
            <a:endParaRPr lang="en-GB" sz="2400" b="1" dirty="0">
              <a:latin typeface="Times New Roman" panose="02020603050405020304" pitchFamily="18" charset="0"/>
              <a:ea typeface="MS Mincho" panose="02020609040205080304" pitchFamily="49" charset="-128"/>
              <a:cs typeface="Iskoola Pota" panose="020B0502040204020203" pitchFamily="34" charset="77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romanLcPeriod"/>
            </a:pPr>
            <a:r>
              <a:rPr lang="en-GB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By how much the equilibrium income changes if investment increases by Rs.10.	</a:t>
            </a:r>
            <a:r>
              <a:rPr lang="en-LK" sz="2400" dirty="0">
                <a:effectLst/>
              </a:rPr>
              <a:t> </a:t>
            </a:r>
            <a:endParaRPr lang="en-LK" sz="2400" dirty="0"/>
          </a:p>
        </p:txBody>
      </p:sp>
    </p:spTree>
    <p:extLst>
      <p:ext uri="{BB962C8B-B14F-4D97-AF65-F5344CB8AC3E}">
        <p14:creationId xmlns:p14="http://schemas.microsoft.com/office/powerpoint/2010/main" val="3692283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1668</Words>
  <Application>Microsoft Office PowerPoint</Application>
  <PresentationFormat>On-screen Show (4:3)</PresentationFormat>
  <Paragraphs>223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Iskoola Pota</vt:lpstr>
      <vt:lpstr>MS Mincho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HP-DC</dc:creator>
  <cp:lastModifiedBy>Lahiru pera</cp:lastModifiedBy>
  <cp:revision>47</cp:revision>
  <dcterms:created xsi:type="dcterms:W3CDTF">2016-01-03T05:24:19Z</dcterms:created>
  <dcterms:modified xsi:type="dcterms:W3CDTF">2023-09-17T04:47:08Z</dcterms:modified>
</cp:coreProperties>
</file>