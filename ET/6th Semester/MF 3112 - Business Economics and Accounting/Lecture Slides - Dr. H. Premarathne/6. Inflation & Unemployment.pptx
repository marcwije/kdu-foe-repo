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12" r:id="rId2"/>
  </p:sldMasterIdLst>
  <p:notesMasterIdLst>
    <p:notesMasterId r:id="rId47"/>
  </p:notesMasterIdLst>
  <p:sldIdLst>
    <p:sldId id="302" r:id="rId3"/>
    <p:sldId id="281" r:id="rId4"/>
    <p:sldId id="271" r:id="rId5"/>
    <p:sldId id="282" r:id="rId6"/>
    <p:sldId id="283" r:id="rId7"/>
    <p:sldId id="284" r:id="rId8"/>
    <p:sldId id="303" r:id="rId9"/>
    <p:sldId id="304" r:id="rId10"/>
    <p:sldId id="305" r:id="rId11"/>
    <p:sldId id="306" r:id="rId12"/>
    <p:sldId id="285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00" r:id="rId42"/>
    <p:sldId id="277" r:id="rId43"/>
    <p:sldId id="295" r:id="rId44"/>
    <p:sldId id="298" r:id="rId45"/>
    <p:sldId id="301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D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1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C6BAF3A-948D-4124-8295-A23E93D7F0DF}" type="datetimeFigureOut">
              <a:rPr lang="en-US"/>
              <a:pPr>
                <a:defRPr/>
              </a:pPr>
              <a:t>11/18/2023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4DC25C-0C6E-4D9F-9AE3-5534CBF53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38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 lang="en-GB" altLang="en-US"/>
            </a:pPr>
            <a:fld id="{E087895D-D0C5-4485-BE8C-1DC3090E0F86}" type="slidenum">
              <a:rPr lang="en-GB" altLang="" smtClean="0">
                <a:solidFill>
                  <a:prstClr val="black"/>
                </a:solidFill>
              </a:rPr>
              <a:pPr>
                <a:defRPr lang="en-GB" altLang="en-US"/>
              </a:pPr>
              <a:t>1</a:t>
            </a:fld>
            <a:endParaRPr lang="en-GB" altLang="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238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DC25C-0C6E-4D9F-9AE3-5534CBF534C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0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DC25C-0C6E-4D9F-9AE3-5534CBF534C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1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54017B3C-8C42-4973-B806-237BDB1FA4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Macroeconomics - © Wasantha Premarathne 2011</a:t>
            </a: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ADFF2593-A90C-40B4-B35A-BC1E9B10E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0C46159-120F-445C-966C-9CD97B9260EF}" type="slidenum">
              <a:rPr lang="en-GB" altLang="en-US"/>
              <a:pPr eaLnBrk="1" hangingPunct="1"/>
              <a:t>13</a:t>
            </a:fld>
            <a:endParaRPr lang="en-GB" altLang="en-US"/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186110BF-31EA-4942-BC13-2C75D04EFA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941298A6-F844-4F5E-98A1-F1DA08BB5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45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46C91-B4BA-8446-974C-1EA3BE14771A}" type="datetime1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74C60-82F2-4406-BD93-BCBC0E30F3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D762D-2920-FB4A-A69E-498D7E793481}" type="datetime1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1BDBB-3588-4E20-99CE-E65281F62D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87381-A22C-C14D-87C9-B52A7D52ADB6}" type="datetime1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1CACB-26B4-4D9F-B208-C4C52ABEA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40BFA-0E73-1545-8BDE-32EB73977D69}" type="datetime1">
              <a:rPr lang="en-US" smtClean="0"/>
              <a:t>11/18/2023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AC916-3ED7-4458-B7D9-4DA05E687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265EC-B0C2-B247-B0A0-C436651FDD59}" type="datetime1">
              <a:rPr lang="en-US" smtClean="0"/>
              <a:t>11/18/2023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03898-40B5-4AF2-B508-22A68341B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367EC-7EAB-CD43-84E9-E4CE8D3E5B3F}" type="datetime1">
              <a:rPr lang="en-US" smtClean="0"/>
              <a:t>11/18/2023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E8BE-C47F-4AF3-9529-E5F32789A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7EFF3-C112-B246-8D66-01DED46FB514}" type="datetime1">
              <a:rPr lang="en-US" smtClean="0"/>
              <a:t>11/18/2023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4E5F4-8505-4EEE-9031-4A4375108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78BE7-6747-C043-B867-7ADCA4BB29B1}" type="datetime1">
              <a:rPr lang="en-US" smtClean="0"/>
              <a:t>11/18/2023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C55EF-10BF-422B-858C-B1842E9592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B2A6C-8CF9-4146-9982-F89421502AE7}" type="datetime1">
              <a:rPr lang="en-US" smtClean="0"/>
              <a:t>11/18/2023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EAAB2-A9E4-4B12-84C5-C7089B6D4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F4C23-9933-1E4D-B028-9016D85A4630}" type="datetime1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0E978-FDEC-45F4-AE97-BD060039AA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DB6B3-21F9-EA4C-AE4B-960B21DB1E29}" type="datetime1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CCBDC-4B88-45F1-A4F3-27E05BBFB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6F857-A459-7140-AB86-371A7B4AF82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839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75EEC-C1D1-9744-8B2C-ED44DFC84D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074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24DA-2226-CC49-B321-3B343FB903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045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73FCA-6950-3747-B223-2E69EA8331D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065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433C6-82F5-934C-8B29-BD9FEB15B7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52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A626B-DD41-BB49-B860-54043A27C4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34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44E38-DF71-1C48-AC23-00EDE583F9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444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8E42-3F90-C146-B699-6ECEF716FB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20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1D3B-7DB4-AF47-8435-278CE9D30A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371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5083-5442-0C44-8555-BF3262B8892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9785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7448-E8C4-0748-A9FC-D00551C71BF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9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052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F92195-4435-144B-BC00-021A1F69C67B}" type="datetime1">
              <a:rPr lang="en-US" smtClean="0"/>
              <a:t>11/18/2023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E038AE-778D-4A87-84B8-2CD3889E1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7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1" r:id="rId2"/>
    <p:sldLayoutId id="214748371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11" r:id="rId9"/>
    <p:sldLayoutId id="2147483707" r:id="rId10"/>
    <p:sldLayoutId id="214748370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969696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969696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6202DFCA-F102-4144-B9EF-0CEE32A527CA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11/18/2023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BSc in Mgt/ Macro/2022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35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8112" y="298356"/>
            <a:ext cx="8028688" cy="145424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4000" b="1" cap="all" dirty="0" err="1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064A2">
                        <a:shade val="20000"/>
                        <a:satMod val="245000"/>
                      </a:srgbClr>
                    </a:gs>
                    <a:gs pos="43000">
                      <a:srgbClr val="8064A2">
                        <a:satMod val="255000"/>
                      </a:srgbClr>
                    </a:gs>
                    <a:gs pos="48000">
                      <a:srgbClr val="8064A2">
                        <a:shade val="85000"/>
                        <a:satMod val="255000"/>
                      </a:srgbClr>
                    </a:gs>
                    <a:gs pos="100000">
                      <a:srgbClr val="8064A2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/>
              </a:rPr>
              <a:t>MACROeconomics</a:t>
            </a:r>
            <a:endParaRPr lang="en-US" sz="4000" b="1" cap="all" dirty="0">
              <a:ln w="9000" cmpd="sng">
                <a:solidFill>
                  <a:srgbClr val="8064A2">
                    <a:shade val="50000"/>
                    <a:satMod val="120000"/>
                  </a:srgbClr>
                </a:solidFill>
                <a:prstDash val="solid"/>
              </a:ln>
              <a:gradFill>
                <a:gsLst>
                  <a:gs pos="0">
                    <a:srgbClr val="8064A2">
                      <a:shade val="20000"/>
                      <a:satMod val="245000"/>
                    </a:srgbClr>
                  </a:gs>
                  <a:gs pos="43000">
                    <a:srgbClr val="8064A2">
                      <a:satMod val="255000"/>
                    </a:srgbClr>
                  </a:gs>
                  <a:gs pos="48000">
                    <a:srgbClr val="8064A2">
                      <a:shade val="85000"/>
                      <a:satMod val="255000"/>
                    </a:srgbClr>
                  </a:gs>
                  <a:gs pos="100000">
                    <a:srgbClr val="8064A2">
                      <a:shade val="20000"/>
                      <a:satMod val="245000"/>
                    </a:srgb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b="1" cap="all" dirty="0">
              <a:ln w="9000" cmpd="sng">
                <a:solidFill>
                  <a:srgbClr val="8064A2">
                    <a:shade val="50000"/>
                    <a:satMod val="120000"/>
                  </a:srgbClr>
                </a:solidFill>
                <a:prstDash val="solid"/>
              </a:ln>
              <a:gradFill>
                <a:gsLst>
                  <a:gs pos="0">
                    <a:srgbClr val="8064A2">
                      <a:shade val="20000"/>
                      <a:satMod val="245000"/>
                    </a:srgbClr>
                  </a:gs>
                  <a:gs pos="43000">
                    <a:srgbClr val="8064A2">
                      <a:satMod val="255000"/>
                    </a:srgbClr>
                  </a:gs>
                  <a:gs pos="48000">
                    <a:srgbClr val="8064A2">
                      <a:shade val="85000"/>
                      <a:satMod val="255000"/>
                    </a:srgbClr>
                  </a:gs>
                  <a:gs pos="100000">
                    <a:srgbClr val="8064A2">
                      <a:shade val="20000"/>
                      <a:satMod val="245000"/>
                    </a:srgb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cap="all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064A2">
                        <a:shade val="20000"/>
                        <a:satMod val="245000"/>
                      </a:srgbClr>
                    </a:gs>
                    <a:gs pos="43000">
                      <a:srgbClr val="8064A2">
                        <a:satMod val="255000"/>
                      </a:srgbClr>
                    </a:gs>
                    <a:gs pos="48000">
                      <a:srgbClr val="8064A2">
                        <a:shade val="85000"/>
                        <a:satMod val="255000"/>
                      </a:srgbClr>
                    </a:gs>
                    <a:gs pos="100000">
                      <a:srgbClr val="8064A2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/>
              </a:rPr>
              <a:t> </a:t>
            </a:r>
            <a:r>
              <a:rPr lang="en-US" sz="3200" b="1" cap="all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009900"/>
                </a:solidFill>
                <a:effectLst>
                  <a:reflection blurRad="12700" stA="28000" endPos="45000" dist="1000" dir="5400000" sy="-100000" algn="bl" rotWithShape="0"/>
                </a:effectLst>
                <a:latin typeface="Calibri"/>
              </a:rPr>
              <a:t>lecture 07: Inflation &amp; unemployment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7603" y="4301678"/>
            <a:ext cx="54132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Dr. </a:t>
            </a:r>
            <a:r>
              <a:rPr lang="en-US" sz="2800" b="1" dirty="0" err="1">
                <a:solidFill>
                  <a:prstClr val="black"/>
                </a:solidFill>
                <a:latin typeface="Calibri"/>
                <a:cs typeface="Times New Roman" pitchFamily="18" charset="0"/>
              </a:rPr>
              <a:t>Hemantha</a:t>
            </a:r>
            <a:r>
              <a:rPr lang="en-US" sz="2800" b="1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  <a:cs typeface="Times New Roman" pitchFamily="18" charset="0"/>
              </a:rPr>
              <a:t>Premarathne</a:t>
            </a:r>
            <a:r>
              <a:rPr lang="en-US" sz="2800" b="1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Department of Social Sciences,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  <a:cs typeface="Times New Roman" pitchFamily="18" charset="0"/>
              </a:rPr>
              <a:t>KDU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5166" y="4848665"/>
            <a:ext cx="41229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50" i="1" dirty="0">
                <a:solidFill>
                  <a:prstClr val="black"/>
                </a:solidFill>
              </a:rPr>
              <a:t>B.A. Econ &amp; Stat (</a:t>
            </a:r>
            <a:r>
              <a:rPr lang="en-US" sz="1050" i="1" dirty="0" err="1">
                <a:solidFill>
                  <a:prstClr val="black"/>
                </a:solidFill>
              </a:rPr>
              <a:t>Hons</a:t>
            </a:r>
            <a:r>
              <a:rPr lang="en-US" sz="1050" i="1" dirty="0">
                <a:solidFill>
                  <a:prstClr val="black"/>
                </a:solidFill>
              </a:rPr>
              <a:t>) </a:t>
            </a:r>
            <a:r>
              <a:rPr lang="en-US" sz="1050" i="1" dirty="0" err="1">
                <a:solidFill>
                  <a:prstClr val="black"/>
                </a:solidFill>
              </a:rPr>
              <a:t>Pera</a:t>
            </a:r>
            <a:r>
              <a:rPr lang="en-US" sz="1050" i="1" dirty="0">
                <a:solidFill>
                  <a:prstClr val="black"/>
                </a:solidFill>
              </a:rPr>
              <a:t>, M.A. &amp; Ph.D. (Saga, Japan)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BSc in Mgt/ Macro/2022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3AC5-6E8A-48DE-8428-11FDF4DDF1A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6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1BDBB-3588-4E20-99CE-E65281F62D4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228600" y="2444128"/>
            <a:ext cx="8686800" cy="3244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7.1  Introduction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7.2  Methods</a:t>
            </a:r>
            <a:r>
              <a:rPr kumimoji="0" lang="en-GB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 of Measuring Inflation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7.3  Types of Inflation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7.4  Inflation, Deflation &amp;</a:t>
            </a:r>
            <a:r>
              <a:rPr kumimoji="0" lang="en-GB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 Disinflation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</a:rPr>
              <a:t>7.5  Unemployment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219200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002060"/>
                </a:solidFill>
              </a:rPr>
              <a:t>Content of the Lecture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BSc in Mgt/ Macro/2022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33400" y="4038600"/>
            <a:ext cx="8610600" cy="1828800"/>
          </a:xfrm>
        </p:spPr>
        <p:txBody>
          <a:bodyPr/>
          <a:lstStyle/>
          <a:p>
            <a:pPr eaLnBrk="1" hangingPunct="1">
              <a:buClr>
                <a:srgbClr val="C00000"/>
              </a:buClr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When we talk about inflation of a country, we   </a:t>
            </a:r>
          </a:p>
          <a:p>
            <a:pPr eaLnBrk="1" hangingPunct="1">
              <a:buClr>
                <a:srgbClr val="C00000"/>
              </a:buClr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indicate the increase in the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general price level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  </a:t>
            </a:r>
          </a:p>
          <a:p>
            <a:pPr eaLnBrk="1" hangingPunct="1">
              <a:buClr>
                <a:srgbClr val="C00000"/>
              </a:buClr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not increase in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the price of specific commodities.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62B386-B087-439C-8F46-48CD50FC6053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7848600" cy="1143000"/>
          </a:xfrm>
        </p:spPr>
        <p:txBody>
          <a:bodyPr/>
          <a:lstStyle/>
          <a:p>
            <a:pPr eaLnBrk="1" hangingPunct="1"/>
            <a:r>
              <a:rPr lang="en-US" sz="3200" u="sng" dirty="0">
                <a:latin typeface="Arial" pitchFamily="34" charset="0"/>
                <a:cs typeface="Arial" pitchFamily="34" charset="0"/>
              </a:rPr>
              <a:t>What is Inflation?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362200"/>
            <a:ext cx="8001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C00000"/>
              </a:buClr>
              <a:buFont typeface="Wingdings" pitchFamily="2" charset="2"/>
              <a:buChar char="q"/>
            </a:pPr>
            <a:r>
              <a:rPr lang="en-US" sz="2800" dirty="0"/>
              <a:t>   Inflation is defined as the percentage increase in the average price level in a given period of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772180"/>
            <a:ext cx="3647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ea typeface="Times New Roman" pitchFamily="18" charset="0"/>
              </a:rPr>
              <a:t>7.1 Introduction</a:t>
            </a:r>
            <a:endParaRPr lang="en-US" sz="36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0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1BDBB-3588-4E20-99CE-E65281F62D4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45720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u="sng" dirty="0">
                <a:solidFill>
                  <a:schemeClr val="tx2"/>
                </a:solidFill>
                <a:ea typeface="+mj-ea"/>
              </a:rPr>
              <a:t>7.2 Methods of Measuring Inflation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4582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400" dirty="0"/>
              <a:t>  There are two common methods of measuring inflation:</a:t>
            </a:r>
          </a:p>
          <a:p>
            <a:pPr algn="just" eaLnBrk="1" hangingPunct="1">
              <a:buClr>
                <a:srgbClr val="C00000"/>
              </a:buClr>
            </a:pPr>
            <a:endParaRPr lang="en-US" sz="1200" dirty="0"/>
          </a:p>
          <a:p>
            <a:pPr algn="just" eaLnBrk="1" hangingPunct="1">
              <a:buClr>
                <a:srgbClr val="C00000"/>
              </a:buClr>
            </a:pPr>
            <a:r>
              <a:rPr lang="en-US" sz="2000" b="1" dirty="0"/>
              <a:t>      </a:t>
            </a:r>
            <a:r>
              <a:rPr lang="en-US" sz="2000" b="1" dirty="0" err="1"/>
              <a:t>i</a:t>
            </a:r>
            <a:r>
              <a:rPr lang="en-US" sz="2000" b="1" dirty="0"/>
              <a:t>).  </a:t>
            </a:r>
            <a:r>
              <a:rPr lang="en-US" sz="2000" b="1" i="1" dirty="0"/>
              <a:t>Price change in Price Index Numbers (PIN)</a:t>
            </a:r>
          </a:p>
          <a:p>
            <a:pPr algn="just" eaLnBrk="1" hangingPunct="1">
              <a:buClr>
                <a:srgbClr val="C00000"/>
              </a:buClr>
            </a:pPr>
            <a:r>
              <a:rPr lang="en-US" sz="2000" b="1" i="1" dirty="0"/>
              <a:t>      ii).  Change in GNP Deflator.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-152400" y="2286000"/>
            <a:ext cx="5410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C00000"/>
              </a:buClr>
            </a:pPr>
            <a:endParaRPr lang="en-US" sz="2000" dirty="0">
              <a:solidFill>
                <a:srgbClr val="002060"/>
              </a:solidFill>
            </a:endParaRPr>
          </a:p>
          <a:p>
            <a:pPr algn="just" eaLnBrk="1" hangingPunct="1">
              <a:buClr>
                <a:srgbClr val="C00000"/>
              </a:buClr>
            </a:pPr>
            <a:r>
              <a:rPr lang="en-US" sz="2000" b="1" dirty="0">
                <a:solidFill>
                  <a:srgbClr val="002060"/>
                </a:solidFill>
              </a:rPr>
              <a:t>      </a:t>
            </a:r>
            <a:r>
              <a:rPr lang="en-US" sz="2000" b="1" dirty="0" err="1">
                <a:solidFill>
                  <a:srgbClr val="002060"/>
                </a:solidFill>
              </a:rPr>
              <a:t>i</a:t>
            </a:r>
            <a:r>
              <a:rPr lang="en-US" sz="2000" b="1" dirty="0">
                <a:solidFill>
                  <a:srgbClr val="002060"/>
                </a:solidFill>
              </a:rPr>
              <a:t>).  Measuring Inflation by PIN</a:t>
            </a:r>
            <a:endParaRPr lang="en-US" sz="2000" b="1" i="1" dirty="0">
              <a:solidFill>
                <a:srgbClr val="00206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524000" y="3124200"/>
            <a:ext cx="5105400" cy="914400"/>
            <a:chOff x="1524000" y="3581400"/>
            <a:chExt cx="5105400" cy="914400"/>
          </a:xfrm>
        </p:grpSpPr>
        <p:sp>
          <p:nvSpPr>
            <p:cNvPr id="9" name="TextBox 8"/>
            <p:cNvSpPr txBox="1"/>
            <p:nvPr/>
          </p:nvSpPr>
          <p:spPr>
            <a:xfrm>
              <a:off x="1524000" y="3810000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Rate of Inflation  =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10000" y="3581400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PIN</a:t>
              </a:r>
              <a:r>
                <a:rPr lang="en-US" sz="1400" dirty="0" err="1"/>
                <a:t>t</a:t>
              </a:r>
              <a:r>
                <a:rPr lang="en-US" sz="1400" dirty="0"/>
                <a:t>   -  </a:t>
              </a:r>
              <a:r>
                <a:rPr lang="en-US" sz="2000" dirty="0"/>
                <a:t>PIN</a:t>
              </a:r>
              <a:r>
                <a:rPr lang="en-US" sz="1400" dirty="0"/>
                <a:t>t-1</a:t>
              </a:r>
              <a:endParaRPr lang="en-US" sz="2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14800" y="4095690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PIN</a:t>
              </a:r>
              <a:r>
                <a:rPr lang="en-US" sz="1400" dirty="0"/>
                <a:t>t-1</a:t>
              </a:r>
              <a:endParaRPr lang="en-US" sz="20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886200" y="4038600"/>
              <a:ext cx="13716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57800" y="3697069"/>
              <a:ext cx="60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×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15000" y="3810000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100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85800" y="411011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/>
              <a:t>PIN</a:t>
            </a:r>
            <a:r>
              <a:rPr lang="en-US" sz="1600" i="1" dirty="0" err="1"/>
              <a:t>t</a:t>
            </a:r>
            <a:r>
              <a:rPr lang="en-US" sz="1600" i="1" dirty="0"/>
              <a:t> </a:t>
            </a:r>
            <a:r>
              <a:rPr lang="en-US" sz="1600" dirty="0"/>
              <a:t>  : 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464820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PIN</a:t>
            </a:r>
            <a:r>
              <a:rPr lang="en-US" sz="1600" i="1" dirty="0"/>
              <a:t>t-1 :</a:t>
            </a:r>
            <a:endParaRPr lang="en-US" sz="2400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1600200" y="4167200"/>
            <a:ext cx="670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Price index no in the year selected for measuring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678978"/>
            <a:ext cx="670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Price index no in the previous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/>
              <a:t>The two widely used PINs are: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5791200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solidFill>
                  <a:srgbClr val="7030A0"/>
                </a:solidFill>
              </a:rPr>
              <a:t>i</a:t>
            </a:r>
            <a:r>
              <a:rPr lang="en-US" sz="2000" b="1" i="1" dirty="0">
                <a:solidFill>
                  <a:srgbClr val="7030A0"/>
                </a:solidFill>
              </a:rPr>
              <a:t>.  Wholesale Price Index (WPI)  or Producer Price Index (PPI)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6229290"/>
            <a:ext cx="411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</a:rPr>
              <a:t>ii.  Consumer Price Index (CPI)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1BDBB-3588-4E20-99CE-E65281F62D4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38100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u="sng" noProof="0" dirty="0">
                <a:solidFill>
                  <a:schemeClr val="tx2"/>
                </a:solidFill>
                <a:ea typeface="+mj-ea"/>
              </a:rPr>
              <a:t>Conti…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541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C00000"/>
              </a:buClr>
            </a:pPr>
            <a:endParaRPr lang="en-US" sz="2400" dirty="0">
              <a:solidFill>
                <a:srgbClr val="002060"/>
              </a:solidFill>
            </a:endParaRPr>
          </a:p>
          <a:p>
            <a:pPr algn="just" eaLnBrk="1" hangingPunct="1">
              <a:buClr>
                <a:srgbClr val="C00000"/>
              </a:buClr>
            </a:pPr>
            <a:r>
              <a:rPr lang="en-US" sz="2400" b="1" dirty="0">
                <a:solidFill>
                  <a:srgbClr val="002060"/>
                </a:solidFill>
              </a:rPr>
              <a:t>      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en-US" sz="2400" b="1" dirty="0">
                <a:solidFill>
                  <a:srgbClr val="002060"/>
                </a:solidFill>
              </a:rPr>
              <a:t>).  Measuring Inflation by PIN</a:t>
            </a:r>
            <a:endParaRPr lang="en-US" sz="2400" b="1" i="1" dirty="0">
              <a:solidFill>
                <a:srgbClr val="002060"/>
              </a:solidFill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397758" y="3379113"/>
            <a:ext cx="6629400" cy="1345287"/>
            <a:chOff x="1524000" y="3581400"/>
            <a:chExt cx="5105400" cy="1345287"/>
          </a:xfrm>
        </p:grpSpPr>
        <p:sp>
          <p:nvSpPr>
            <p:cNvPr id="9" name="TextBox 8"/>
            <p:cNvSpPr txBox="1"/>
            <p:nvPr/>
          </p:nvSpPr>
          <p:spPr>
            <a:xfrm>
              <a:off x="1524000" y="3810000"/>
              <a:ext cx="2286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Rate of Inflation  =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10000" y="3581400"/>
              <a:ext cx="2286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141.9</a:t>
              </a:r>
              <a:r>
                <a:rPr lang="en-US" sz="1600" dirty="0"/>
                <a:t>  -  </a:t>
              </a:r>
              <a:r>
                <a:rPr lang="en-US" sz="2400" dirty="0"/>
                <a:t>134.6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14800" y="4095690"/>
              <a:ext cx="914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134.6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886200" y="4038600"/>
              <a:ext cx="13716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57800" y="3697069"/>
              <a:ext cx="609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×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15000" y="3810000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100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04800" y="2000071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/>
              <a:t>Ex.. Assume that the WPI (2019- = 100) for all commodities increased from 134.6 in 2020 to 141.9 in 2021. The rate of inflation between 2020 and 2021 can be calculated as follows.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4872335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Rate of Inflation  =  5.4 %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1BDBB-3588-4E20-99CE-E65281F62D4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52400" y="914400"/>
            <a:ext cx="5410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C00000"/>
              </a:buClr>
            </a:pPr>
            <a:endParaRPr lang="en-US" sz="2000" dirty="0">
              <a:solidFill>
                <a:srgbClr val="002060"/>
              </a:solidFill>
            </a:endParaRPr>
          </a:p>
          <a:p>
            <a:pPr algn="just" eaLnBrk="1" hangingPunct="1">
              <a:buClr>
                <a:srgbClr val="C00000"/>
              </a:buClr>
            </a:pPr>
            <a:r>
              <a:rPr lang="en-US" sz="2000" b="1" dirty="0">
                <a:solidFill>
                  <a:srgbClr val="002060"/>
                </a:solidFill>
              </a:rPr>
              <a:t>      ii).  Measuring Inflation by GNP Deflator</a:t>
            </a:r>
            <a:endParaRPr lang="en-US" sz="2000" b="1" i="1" dirty="0">
              <a:solidFill>
                <a:srgbClr val="002060"/>
              </a:solidFill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295400" y="1719590"/>
            <a:ext cx="6785428" cy="1092607"/>
            <a:chOff x="1295400" y="3548390"/>
            <a:chExt cx="4232495" cy="1092607"/>
          </a:xfrm>
        </p:grpSpPr>
        <p:sp>
          <p:nvSpPr>
            <p:cNvPr id="9" name="TextBox 8"/>
            <p:cNvSpPr txBox="1"/>
            <p:nvPr/>
          </p:nvSpPr>
          <p:spPr>
            <a:xfrm>
              <a:off x="1295400" y="3810000"/>
              <a:ext cx="2514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GNP Deflator (%)  =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41895" y="3548390"/>
              <a:ext cx="2286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Nominal </a:t>
              </a:r>
              <a:r>
                <a:rPr lang="en-US" sz="2400" i="1" dirty="0"/>
                <a:t>GNP</a:t>
              </a:r>
              <a:r>
                <a:rPr lang="en-US" sz="2400" dirty="0"/>
                <a:t>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9611" y="4095690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Real </a:t>
              </a:r>
              <a:r>
                <a:rPr lang="en-US" sz="2400" i="1" dirty="0"/>
                <a:t>GNP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228957" y="4036669"/>
              <a:ext cx="13716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609600" y="2800290"/>
            <a:ext cx="556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>
                <a:solidFill>
                  <a:srgbClr val="7030A0"/>
                </a:solidFill>
              </a:rPr>
              <a:t>  Nominal </a:t>
            </a:r>
            <a:r>
              <a:rPr lang="en-US" sz="2000" i="1" dirty="0">
                <a:solidFill>
                  <a:srgbClr val="7030A0"/>
                </a:solidFill>
              </a:rPr>
              <a:t>GNP : GNP at current prices 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257490"/>
            <a:ext cx="556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>
                <a:solidFill>
                  <a:srgbClr val="7030A0"/>
                </a:solidFill>
              </a:rPr>
              <a:t>  Real </a:t>
            </a:r>
            <a:r>
              <a:rPr lang="en-US" sz="2000" i="1" dirty="0">
                <a:solidFill>
                  <a:srgbClr val="7030A0"/>
                </a:solidFill>
              </a:rPr>
              <a:t>GNP : GNP at constant  prices 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9100" y="1886291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6428" y="200940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100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36394" y="3944694"/>
            <a:ext cx="8879007" cy="1008306"/>
            <a:chOff x="1425143" y="3487494"/>
            <a:chExt cx="7566457" cy="1008306"/>
          </a:xfrm>
        </p:grpSpPr>
        <p:sp>
          <p:nvSpPr>
            <p:cNvPr id="30" name="TextBox 29"/>
            <p:cNvSpPr txBox="1"/>
            <p:nvPr/>
          </p:nvSpPr>
          <p:spPr>
            <a:xfrm>
              <a:off x="1425143" y="3487494"/>
              <a:ext cx="1447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Rate of Inflation =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971800" y="3581400"/>
              <a:ext cx="47244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(GNP Deflator)</a:t>
              </a:r>
              <a:r>
                <a:rPr lang="en-US" sz="1600" dirty="0"/>
                <a:t>t</a:t>
              </a:r>
              <a:r>
                <a:rPr lang="en-US" sz="1100" dirty="0"/>
                <a:t> </a:t>
              </a:r>
              <a:r>
                <a:rPr lang="en-US" sz="1600" dirty="0"/>
                <a:t> -  </a:t>
              </a:r>
              <a:r>
                <a:rPr lang="en-US" sz="2400" dirty="0"/>
                <a:t>(GNP Deflator)</a:t>
              </a:r>
              <a:r>
                <a:rPr lang="en-US" sz="1600" dirty="0"/>
                <a:t>t-1</a:t>
              </a:r>
              <a:endParaRPr lang="en-US" sz="2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14800" y="4095690"/>
              <a:ext cx="3048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(GNP Deflator)</a:t>
              </a:r>
              <a:r>
                <a:rPr lang="en-US" sz="1400" dirty="0"/>
                <a:t>t-1 </a:t>
              </a:r>
              <a:endParaRPr lang="en-US" sz="2000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3886200" y="4038600"/>
              <a:ext cx="35052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620000" y="3733800"/>
              <a:ext cx="60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×</a:t>
              </a:r>
              <a:endParaRPr lang="en-US" sz="28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77200" y="3810000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100</a:t>
              </a: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09600" y="38100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u="sng" noProof="0" dirty="0">
                <a:solidFill>
                  <a:schemeClr val="tx2"/>
                </a:solidFill>
                <a:ea typeface="+mj-ea"/>
              </a:rPr>
              <a:t>Conti…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246D8-CF16-A333-023C-2BDCB90E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6AF133-ED4C-F648-EFB2-ABA27AED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3E438A-217A-2038-BE91-BA580396E180}"/>
              </a:ext>
            </a:extLst>
          </p:cNvPr>
          <p:cNvSpPr txBox="1">
            <a:spLocks/>
          </p:cNvSpPr>
          <p:nvPr/>
        </p:nvSpPr>
        <p:spPr>
          <a:xfrm>
            <a:off x="762000" y="381000"/>
            <a:ext cx="78486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2"/>
                </a:solidFill>
                <a:ea typeface="+mj-ea"/>
              </a:rPr>
              <a:t>7.3.  Types of Inflation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623277-4B18-D5F2-D203-2BFCF4D4B2AC}"/>
              </a:ext>
            </a:extLst>
          </p:cNvPr>
          <p:cNvSpPr/>
          <p:nvPr/>
        </p:nvSpPr>
        <p:spPr>
          <a:xfrm>
            <a:off x="381000" y="1128584"/>
            <a:ext cx="8610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800" dirty="0">
                <a:solidFill>
                  <a:schemeClr val="tx2"/>
                </a:solidFill>
              </a:rPr>
              <a:t> Inflation is generally classified on the basis of its rate and causes. On the rate basis, inflation is classified as follows.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91CF26-7DF0-E80D-5734-812FBE9AAC96}"/>
              </a:ext>
            </a:extLst>
          </p:cNvPr>
          <p:cNvSpPr/>
          <p:nvPr/>
        </p:nvSpPr>
        <p:spPr>
          <a:xfrm>
            <a:off x="533400" y="2215755"/>
            <a:ext cx="8458200" cy="169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endParaRPr lang="en-US" sz="1200" dirty="0"/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000" b="1" i="1" dirty="0"/>
              <a:t>      </a:t>
            </a:r>
            <a:r>
              <a:rPr lang="en-US" sz="2000" b="1" i="1" dirty="0" err="1"/>
              <a:t>i</a:t>
            </a:r>
            <a:r>
              <a:rPr lang="en-US" sz="2000" b="1" i="1" dirty="0"/>
              <a:t>).  Moderate inflation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000" b="1" i="1" dirty="0"/>
              <a:t>      ii). Galloping inflation</a:t>
            </a:r>
          </a:p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000" b="1" i="1" dirty="0"/>
              <a:t>     iii).  Hyper inflation</a:t>
            </a:r>
          </a:p>
        </p:txBody>
      </p:sp>
    </p:spTree>
    <p:extLst>
      <p:ext uri="{BB962C8B-B14F-4D97-AF65-F5344CB8AC3E}">
        <p14:creationId xmlns:p14="http://schemas.microsoft.com/office/powerpoint/2010/main" val="236680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E06BDE-0B2C-8088-0ED6-8A95E0A0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3F2FE-5E6D-41A8-D73B-F44B481B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D000F-22D8-FA20-338A-A95C1B267BBB}"/>
              </a:ext>
            </a:extLst>
          </p:cNvPr>
          <p:cNvSpPr txBox="1">
            <a:spLocks/>
          </p:cNvSpPr>
          <p:nvPr/>
        </p:nvSpPr>
        <p:spPr>
          <a:xfrm>
            <a:off x="70022" y="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u="sng" noProof="0" dirty="0">
                <a:solidFill>
                  <a:schemeClr val="tx2"/>
                </a:solidFill>
                <a:ea typeface="+mj-ea"/>
              </a:rPr>
              <a:t>Conti…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3EF7-0320-BC32-2220-B9E57D6FC368}"/>
              </a:ext>
            </a:extLst>
          </p:cNvPr>
          <p:cNvSpPr txBox="1"/>
          <p:nvPr/>
        </p:nvSpPr>
        <p:spPr>
          <a:xfrm>
            <a:off x="685800" y="571500"/>
            <a:ext cx="4621426" cy="65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800" b="1" dirty="0" err="1"/>
              <a:t>i</a:t>
            </a:r>
            <a:r>
              <a:rPr lang="en-US" sz="2800" b="1" dirty="0"/>
              <a:t>). Moderate Inflation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D4054-29BC-0D60-528E-D0921FDABAAF}"/>
              </a:ext>
            </a:extLst>
          </p:cNvPr>
          <p:cNvSpPr/>
          <p:nvPr/>
        </p:nvSpPr>
        <p:spPr>
          <a:xfrm>
            <a:off x="840259" y="1244269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When the general level of price rises a moderate rate over a long period of time, it is called </a:t>
            </a:r>
            <a:r>
              <a:rPr lang="en-US" sz="2400" i="1" dirty="0">
                <a:solidFill>
                  <a:schemeClr val="tx2"/>
                </a:solidFill>
              </a:rPr>
              <a:t>“moderate inflation or creeping inflation”.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7B3B94-0D6F-350E-E277-BF82F3A52997}"/>
              </a:ext>
            </a:extLst>
          </p:cNvPr>
          <p:cNvSpPr/>
          <p:nvPr/>
        </p:nvSpPr>
        <p:spPr>
          <a:xfrm>
            <a:off x="803189" y="2500799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Moderate rate of inflation may vary from country to country. However, ‘a single digit’ rate of annual inflation is called ‘moderate inflation’.</a:t>
            </a:r>
            <a:r>
              <a:rPr lang="en-US" sz="2400" i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A3E163-DC01-184A-FFEB-1DCE4C0A1963}"/>
              </a:ext>
            </a:extLst>
          </p:cNvPr>
          <p:cNvSpPr/>
          <p:nvPr/>
        </p:nvSpPr>
        <p:spPr>
          <a:xfrm>
            <a:off x="840259" y="3757329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An important feature of moderate inflation is that it is ‘predictable’.</a:t>
            </a: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2D8EEA-E602-4891-B61B-C480DA3A1F58}"/>
              </a:ext>
            </a:extLst>
          </p:cNvPr>
          <p:cNvSpPr/>
          <p:nvPr/>
        </p:nvSpPr>
        <p:spPr>
          <a:xfrm>
            <a:off x="840259" y="4644235"/>
            <a:ext cx="8153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During the period of moderate inflation, people continue to have faith in the monetary system and confidence in ‘money as a store of value’. Money continues to work as a medium of exchange and people continue to hold money as asset.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134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E06BDE-0B2C-8088-0ED6-8A95E0A0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3F2FE-5E6D-41A8-D73B-F44B481B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D000F-22D8-FA20-338A-A95C1B267BBB}"/>
              </a:ext>
            </a:extLst>
          </p:cNvPr>
          <p:cNvSpPr txBox="1">
            <a:spLocks/>
          </p:cNvSpPr>
          <p:nvPr/>
        </p:nvSpPr>
        <p:spPr>
          <a:xfrm>
            <a:off x="70022" y="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u="sng" noProof="0" dirty="0">
                <a:solidFill>
                  <a:schemeClr val="tx2"/>
                </a:solidFill>
                <a:ea typeface="+mj-ea"/>
              </a:rPr>
              <a:t>Conti…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3EF7-0320-BC32-2220-B9E57D6FC368}"/>
              </a:ext>
            </a:extLst>
          </p:cNvPr>
          <p:cNvSpPr txBox="1"/>
          <p:nvPr/>
        </p:nvSpPr>
        <p:spPr>
          <a:xfrm>
            <a:off x="685800" y="571500"/>
            <a:ext cx="4621426" cy="65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800" b="1" dirty="0"/>
              <a:t>ii). Galloping Inflation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D4054-29BC-0D60-528E-D0921FDABAAF}"/>
              </a:ext>
            </a:extLst>
          </p:cNvPr>
          <p:cNvSpPr/>
          <p:nvPr/>
        </p:nvSpPr>
        <p:spPr>
          <a:xfrm>
            <a:off x="840259" y="1244269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The economists have different views on galloping inflation.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E7CA2-DD1B-6A2C-2340-F92BC43B9183}"/>
              </a:ext>
            </a:extLst>
          </p:cNvPr>
          <p:cNvSpPr/>
          <p:nvPr/>
        </p:nvSpPr>
        <p:spPr>
          <a:xfrm>
            <a:off x="840259" y="2176535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“Galloping inflation refers to an inflation that proceeds at an exceptionally high rate’’ (Baumol &amp; Blinder). They do not specify what rate of inflation is ‘exceptionally high’. 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854206-5012-D0A2-D9D9-46758D113FE4}"/>
              </a:ext>
            </a:extLst>
          </p:cNvPr>
          <p:cNvSpPr/>
          <p:nvPr/>
        </p:nvSpPr>
        <p:spPr>
          <a:xfrm>
            <a:off x="838200" y="3447871"/>
            <a:ext cx="8153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“ inflation in the double or triple-digit range of </a:t>
            </a:r>
            <a:r>
              <a:rPr lang="en-US" sz="2400" dirty="0" smtClean="0">
                <a:solidFill>
                  <a:schemeClr val="tx2"/>
                </a:solidFill>
              </a:rPr>
              <a:t>20 or 100  </a:t>
            </a:r>
            <a:r>
              <a:rPr lang="en-US" sz="2400" dirty="0">
                <a:solidFill>
                  <a:schemeClr val="tx2"/>
                </a:solidFill>
              </a:rPr>
              <a:t>percent a year is labeled galloping inflation’’ (Samuelson &amp; Nordhaus). However, double and triple –digit inflation ranges between 10 and </a:t>
            </a:r>
            <a:r>
              <a:rPr lang="en-US" sz="2400" dirty="0" smtClean="0">
                <a:solidFill>
                  <a:schemeClr val="tx2"/>
                </a:solidFill>
              </a:rPr>
              <a:t>99 </a:t>
            </a:r>
            <a:r>
              <a:rPr lang="en-US" sz="2400" dirty="0">
                <a:solidFill>
                  <a:schemeClr val="tx2"/>
                </a:solidFill>
              </a:rPr>
              <a:t>percent and economic effects of inflation in this range will be immensely different. 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868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E06BDE-0B2C-8088-0ED6-8A95E0A0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3F2FE-5E6D-41A8-D73B-F44B481B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D000F-22D8-FA20-338A-A95C1B267BBB}"/>
              </a:ext>
            </a:extLst>
          </p:cNvPr>
          <p:cNvSpPr txBox="1">
            <a:spLocks/>
          </p:cNvSpPr>
          <p:nvPr/>
        </p:nvSpPr>
        <p:spPr>
          <a:xfrm>
            <a:off x="70022" y="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u="sng" noProof="0" dirty="0">
                <a:solidFill>
                  <a:schemeClr val="tx2"/>
                </a:solidFill>
                <a:ea typeface="+mj-ea"/>
              </a:rPr>
              <a:t>Conti…</a:t>
            </a: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3EF7-0320-BC32-2220-B9E57D6FC368}"/>
              </a:ext>
            </a:extLst>
          </p:cNvPr>
          <p:cNvSpPr txBox="1"/>
          <p:nvPr/>
        </p:nvSpPr>
        <p:spPr>
          <a:xfrm>
            <a:off x="685800" y="571500"/>
            <a:ext cx="4621426" cy="65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sz="2800" b="1" dirty="0"/>
              <a:t>iii). Hyper Inflation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D4054-29BC-0D60-528E-D0921FDABAAF}"/>
              </a:ext>
            </a:extLst>
          </p:cNvPr>
          <p:cNvSpPr/>
          <p:nvPr/>
        </p:nvSpPr>
        <p:spPr>
          <a:xfrm>
            <a:off x="840259" y="1244269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In general, a price rise at more than three-digit rate per annum  is called ‘hyper inflation’ .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CD827-0B45-1A88-8EFD-6C2CE1BD62BB}"/>
              </a:ext>
            </a:extLst>
          </p:cNvPr>
          <p:cNvSpPr/>
          <p:nvPr/>
        </p:nvSpPr>
        <p:spPr>
          <a:xfrm>
            <a:off x="838200" y="2133600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According to some economists, “hyperinflation is often as inflation that exceeds 50 precent per month….”</a:t>
            </a:r>
            <a:r>
              <a:rPr lang="en-US" sz="2400" i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C1687-CAC2-6198-84B3-8F646C173A1D}"/>
              </a:ext>
            </a:extLst>
          </p:cNvPr>
          <p:cNvSpPr/>
          <p:nvPr/>
        </p:nvSpPr>
        <p:spPr>
          <a:xfrm>
            <a:off x="838200" y="3034263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During the period of hyper inflation, paper currency becomes worthless and demand for money decreases dramatically.</a:t>
            </a:r>
            <a:r>
              <a:rPr lang="en-US" sz="2400" i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64F82-3488-8E2E-E346-7D9F1F288D77}"/>
              </a:ext>
            </a:extLst>
          </p:cNvPr>
          <p:cNvSpPr/>
          <p:nvPr/>
        </p:nvSpPr>
        <p:spPr>
          <a:xfrm>
            <a:off x="838200" y="4367236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400" dirty="0">
                <a:solidFill>
                  <a:schemeClr val="tx2"/>
                </a:solidFill>
              </a:rPr>
              <a:t> Example… Germany in 1922 to 1923, Hungarian inflation in 1945-46. </a:t>
            </a:r>
            <a:r>
              <a:rPr lang="en-US" sz="2400" i="1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868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62000" y="381000"/>
            <a:ext cx="7848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2"/>
                </a:solidFill>
                <a:ea typeface="+mj-ea"/>
              </a:rPr>
              <a:t>7.4  Inflation, Disinflation and Deflation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1295400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rgbClr val="002060"/>
                </a:solidFill>
              </a:rPr>
              <a:t>Inflation</a:t>
            </a:r>
            <a:r>
              <a:rPr lang="en-US" sz="2400" dirty="0">
                <a:solidFill>
                  <a:srgbClr val="002060"/>
                </a:solidFill>
              </a:rPr>
              <a:t> refers to a persistent increase in the general price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19069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rgbClr val="7030A0"/>
                </a:solidFill>
              </a:rPr>
              <a:t>Deflation</a:t>
            </a:r>
            <a:r>
              <a:rPr lang="en-US" sz="2400" dirty="0">
                <a:solidFill>
                  <a:srgbClr val="7030A0"/>
                </a:solidFill>
              </a:rPr>
              <a:t> means fall in the general price level below the base-year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18129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/>
              <a:t>Disinflation</a:t>
            </a:r>
            <a:r>
              <a:rPr lang="en-US" sz="2400" dirty="0"/>
              <a:t> means decline in the rate of inflation.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26359"/>
            <a:ext cx="7239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200" dirty="0"/>
              <a:t>Example: if the general price level is 100 in year 1 and it is 90 in year 2 then we call it </a:t>
            </a:r>
            <a:r>
              <a:rPr lang="en-US" sz="2200" i="1" u="sng" dirty="0">
                <a:solidFill>
                  <a:srgbClr val="7030A0"/>
                </a:solidFill>
              </a:rPr>
              <a:t>deflation.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93384"/>
            <a:ext cx="7696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200" dirty="0"/>
              <a:t>Example: If the general price level is 100 at the end of year 1 and at the end of year 2 it is 110, then the rate of inflation in year 2 is 10%. In year 3 if the price level is 120 then the rate of inflation is 9.09%. In this case the inflation rate falls from year 2 to year 3 and will be called </a:t>
            </a:r>
            <a:r>
              <a:rPr lang="en-US" sz="2200" i="1" u="sng" dirty="0">
                <a:solidFill>
                  <a:srgbClr val="7030A0"/>
                </a:solidFill>
              </a:rPr>
              <a:t>disinflation</a:t>
            </a:r>
            <a:r>
              <a:rPr lang="en-US" sz="2200" dirty="0"/>
              <a:t>.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  <p:extLst>
      <p:ext uri="{BB962C8B-B14F-4D97-AF65-F5344CB8AC3E}">
        <p14:creationId xmlns:p14="http://schemas.microsoft.com/office/powerpoint/2010/main" val="399467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713" y="993126"/>
            <a:ext cx="3177803" cy="4771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538807-3DA4-4B0B-A7D8-A38101D49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2446" y="993125"/>
            <a:ext cx="2841171" cy="4468782"/>
          </a:xfrm>
        </p:spPr>
        <p:txBody>
          <a:bodyPr>
            <a:normAutofit fontScale="90000"/>
          </a:bodyPr>
          <a:lstStyle/>
          <a:p>
            <a:pPr algn="l"/>
            <a:r>
              <a:rPr lang="en-US" sz="4125" dirty="0">
                <a:latin typeface="Arial Rounded MT Bold" panose="020F0704030504030204" pitchFamily="34" charset="0"/>
              </a:rPr>
              <a:t>Ins</a:t>
            </a:r>
            <a:br>
              <a:rPr lang="en-US" sz="4125" dirty="0">
                <a:latin typeface="Arial Rounded MT Bold" panose="020F0704030504030204" pitchFamily="34" charset="0"/>
              </a:rPr>
            </a:br>
            <a:r>
              <a:rPr lang="en-US" sz="4125" dirty="0">
                <a:latin typeface="Arial Rounded MT Bold" panose="020F0704030504030204" pitchFamily="34" charset="0"/>
              </a:rPr>
              <a:t>and</a:t>
            </a:r>
            <a:br>
              <a:rPr lang="en-US" sz="4125" dirty="0">
                <a:latin typeface="Arial Rounded MT Bold" panose="020F0704030504030204" pitchFamily="34" charset="0"/>
              </a:rPr>
            </a:br>
            <a:r>
              <a:rPr lang="en-US" sz="4125" dirty="0">
                <a:latin typeface="Arial Rounded MT Bold" panose="020F0704030504030204" pitchFamily="34" charset="0"/>
              </a:rPr>
              <a:t>Outs</a:t>
            </a:r>
            <a:br>
              <a:rPr lang="en-US" sz="4125" dirty="0">
                <a:latin typeface="Arial Rounded MT Bold" panose="020F0704030504030204" pitchFamily="34" charset="0"/>
              </a:rPr>
            </a:br>
            <a:r>
              <a:rPr lang="en-US" sz="4125" dirty="0">
                <a:latin typeface="Arial Rounded MT Bold" panose="020F0704030504030204" pitchFamily="34" charset="0"/>
              </a:rPr>
              <a:t>of</a:t>
            </a:r>
            <a:br>
              <a:rPr lang="en-US" sz="4125" dirty="0">
                <a:latin typeface="Arial Rounded MT Bold" panose="020F0704030504030204" pitchFamily="34" charset="0"/>
              </a:rPr>
            </a:br>
            <a:r>
              <a:rPr lang="en-US" sz="4125" dirty="0">
                <a:latin typeface="Arial Rounded MT Bold" panose="020F0704030504030204" pitchFamily="34" charset="0"/>
              </a:rPr>
              <a:t>Inflation</a:t>
            </a:r>
            <a:r>
              <a:rPr lang="en-US" sz="3975" dirty="0"/>
              <a:t/>
            </a:r>
            <a:br>
              <a:rPr lang="en-US" sz="3975" dirty="0"/>
            </a:br>
            <a:r>
              <a:rPr lang="en-US" sz="3975" dirty="0"/>
              <a:t/>
            </a:r>
            <a:br>
              <a:rPr lang="en-US" sz="3975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1651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F2D82C63-527D-4840-B3DB-2F658C45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95788B-F30C-4C6C-9E8A-DE2C84A684F6}" type="slidenum">
              <a:rPr lang="en-GB" altLang="en-US"/>
              <a:pPr eaLnBrk="1" hangingPunct="1"/>
              <a:t>13</a:t>
            </a:fld>
            <a:endParaRPr lang="en-GB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A1FC840-BF21-4ED4-85BF-D3E69867E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GB" altLang="en-US" sz="4500" b="1" dirty="0"/>
              <a:t>Consumer Price Index (CPI)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4B9B737D-3BCC-4154-AA36-47913D380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623" y="2821295"/>
            <a:ext cx="3738077" cy="196181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700" b="1" dirty="0"/>
              <a:t>The </a:t>
            </a:r>
            <a:r>
              <a:rPr lang="en-US" altLang="en-US" sz="2700" b="1" dirty="0"/>
              <a:t>Consumer Price Index (CPI) measures the monthly change in prices paid by </a:t>
            </a:r>
            <a:r>
              <a:rPr lang="en-US" altLang="en-US" sz="2700" b="1" dirty="0"/>
              <a:t>the consumers</a:t>
            </a:r>
            <a:r>
              <a:rPr lang="en-US" altLang="en-US" sz="2700" b="1" dirty="0"/>
              <a:t>. </a:t>
            </a:r>
            <a:endParaRPr lang="en-GB" altLang="en-US" sz="27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151" y="2231851"/>
            <a:ext cx="3682199" cy="314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5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504DD19E-E696-4759-8FD9-98FFBFEC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A9DFE0-62B3-4D13-A6C0-AC7E62CA8F75}" type="slidenum">
              <a:rPr lang="en-GB" altLang="en-US"/>
              <a:pPr eaLnBrk="1" hangingPunct="1"/>
              <a:t>14</a:t>
            </a:fld>
            <a:endParaRPr lang="en-GB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A783AF4-1FDA-49EA-9489-23B3DDF2B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1" y="984137"/>
            <a:ext cx="8293748" cy="994172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4050" b="1" dirty="0"/>
              <a:t>Steps involved in the calculation of CPI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B567F9B-2EAB-4FE5-A7CC-B0A392FB8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827586"/>
            <a:ext cx="8104804" cy="326350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700" b="1" dirty="0"/>
              <a:t>Deciding </a:t>
            </a:r>
            <a:r>
              <a:rPr lang="en-US" altLang="en-US" sz="2700" b="1" dirty="0"/>
              <a:t>the numerical </a:t>
            </a:r>
            <a:r>
              <a:rPr lang="en-US" altLang="en-US" sz="2700" b="1" dirty="0"/>
              <a:t>approach (</a:t>
            </a:r>
            <a:r>
              <a:rPr lang="en-US" altLang="en-US" sz="2700" b="1" dirty="0" err="1"/>
              <a:t>Laspeyer’s</a:t>
            </a:r>
            <a:r>
              <a:rPr lang="en-US" altLang="en-US" sz="2700" b="1" dirty="0"/>
              <a:t>, </a:t>
            </a:r>
            <a:r>
              <a:rPr lang="en-US" altLang="en-US" sz="2700" b="1" dirty="0" err="1"/>
              <a:t>Paasche’s</a:t>
            </a:r>
            <a:r>
              <a:rPr lang="en-US" altLang="en-US" sz="2700" b="1" dirty="0"/>
              <a:t> method)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b="1" dirty="0"/>
              <a:t>Selecting abase </a:t>
            </a:r>
            <a:r>
              <a:rPr lang="en-US" altLang="en-US" sz="2700" b="1" dirty="0"/>
              <a:t>year</a:t>
            </a:r>
          </a:p>
          <a:p>
            <a:r>
              <a:rPr lang="en-US" altLang="en-US" sz="2700" b="1" dirty="0"/>
              <a:t>Selecting </a:t>
            </a:r>
            <a:r>
              <a:rPr lang="en-US" altLang="en-US" sz="2700" b="1" dirty="0"/>
              <a:t>a Sample and Observe Patterns </a:t>
            </a:r>
            <a:r>
              <a:rPr lang="en-US" altLang="en-US" sz="2700" b="1" dirty="0"/>
              <a:t>of </a:t>
            </a:r>
            <a:r>
              <a:rPr lang="en-US" altLang="en-US" sz="2700" b="1" dirty="0"/>
              <a:t>consumption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b="1" dirty="0"/>
              <a:t>Selecting </a:t>
            </a:r>
            <a:r>
              <a:rPr lang="en-US" altLang="en-US" sz="2700" b="1" dirty="0"/>
              <a:t>a representative basket of </a:t>
            </a:r>
            <a:r>
              <a:rPr lang="en-US" altLang="en-US" sz="2700" b="1" dirty="0"/>
              <a:t>goods</a:t>
            </a:r>
          </a:p>
          <a:p>
            <a:r>
              <a:rPr lang="en-US" altLang="en-US" sz="2700" b="1" dirty="0"/>
              <a:t>Weighting (based on the importance of each goods)</a:t>
            </a:r>
          </a:p>
          <a:p>
            <a:r>
              <a:rPr lang="en-GB" altLang="en-US" sz="2700" b="1" dirty="0"/>
              <a:t>Find the price</a:t>
            </a:r>
          </a:p>
          <a:p>
            <a:r>
              <a:rPr lang="en-GB" altLang="en-US" sz="2700" b="1" dirty="0"/>
              <a:t>Compute the basket’s </a:t>
            </a:r>
            <a:r>
              <a:rPr lang="en-GB" altLang="en-US" sz="2700" b="1" dirty="0"/>
              <a:t>cost</a:t>
            </a:r>
            <a:endParaRPr lang="en-GB" altLang="en-US" sz="2700" b="1" dirty="0"/>
          </a:p>
        </p:txBody>
      </p:sp>
    </p:spTree>
    <p:extLst>
      <p:ext uri="{BB962C8B-B14F-4D97-AF65-F5344CB8AC3E}">
        <p14:creationId xmlns:p14="http://schemas.microsoft.com/office/powerpoint/2010/main" val="357862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876455E5-78C9-4778-9B3B-9C6DBBFC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DDCA1C-6F75-4075-BC22-16478AAEABC3}" type="slidenum">
              <a:rPr lang="en-GB" altLang="en-US"/>
              <a:pPr eaLnBrk="1" hangingPunct="1"/>
              <a:t>15</a:t>
            </a:fld>
            <a:endParaRPr lang="en-GB" altLang="en-US"/>
          </a:p>
        </p:txBody>
      </p:sp>
      <p:pic>
        <p:nvPicPr>
          <p:cNvPr id="5122" name="Picture 2" descr="Consumer Price Index Formula | Calculator (With Excel Templat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73" y="1375431"/>
            <a:ext cx="7883153" cy="404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95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642" y="1855578"/>
            <a:ext cx="7886700" cy="2836555"/>
          </a:xfrm>
        </p:spPr>
        <p:txBody>
          <a:bodyPr>
            <a:noAutofit/>
          </a:bodyPr>
          <a:lstStyle/>
          <a:p>
            <a:r>
              <a:rPr lang="it-IT" sz="2700" dirty="0"/>
              <a:t>CCPI (Base 2021=100)</a:t>
            </a:r>
          </a:p>
          <a:p>
            <a:r>
              <a:rPr lang="it-IT" sz="2700" dirty="0"/>
              <a:t>CCPI (Base 2013=100)</a:t>
            </a:r>
          </a:p>
          <a:p>
            <a:r>
              <a:rPr lang="it-IT" sz="2700" dirty="0"/>
              <a:t>CCPI (Base 2006/2007=100)</a:t>
            </a:r>
          </a:p>
          <a:p>
            <a:r>
              <a:rPr lang="it-IT" sz="2700" b="1" dirty="0">
                <a:solidFill>
                  <a:srgbClr val="FF0000"/>
                </a:solidFill>
              </a:rPr>
              <a:t>CCPI (Base 2002=100)</a:t>
            </a:r>
          </a:p>
          <a:p>
            <a:r>
              <a:rPr lang="it-IT" sz="2700" b="1" dirty="0">
                <a:solidFill>
                  <a:srgbClr val="FF0000"/>
                </a:solidFill>
              </a:rPr>
              <a:t>CCPI (Base 1952=100</a:t>
            </a:r>
            <a:r>
              <a:rPr lang="it-IT" sz="2700" b="1" dirty="0">
                <a:solidFill>
                  <a:srgbClr val="FF0000"/>
                </a:solidFill>
              </a:rPr>
              <a:t>)</a:t>
            </a:r>
            <a:endParaRPr lang="it-IT" sz="2700" b="1" dirty="0">
              <a:solidFill>
                <a:srgbClr val="FF0000"/>
              </a:solidFill>
            </a:endParaRPr>
          </a:p>
          <a:p>
            <a:r>
              <a:rPr lang="it-IT" sz="2700" dirty="0"/>
              <a:t>NCPI (Base 2021=100)</a:t>
            </a:r>
          </a:p>
          <a:p>
            <a:r>
              <a:rPr lang="it-IT" sz="2700" dirty="0"/>
              <a:t>NCPI (Base 2013=100)</a:t>
            </a:r>
            <a:endParaRPr lang="en-US" sz="2700" dirty="0"/>
          </a:p>
        </p:txBody>
      </p:sp>
      <p:pic>
        <p:nvPicPr>
          <p:cNvPr id="3074" name="Picture 2" descr="Department of Census and Statistic Sri Lanka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914" y="1433974"/>
            <a:ext cx="3875703" cy="38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55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Inflation Formula | Calculator (Example with Excel Templat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10" y="1208071"/>
            <a:ext cx="7995140" cy="410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97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5" y="1403090"/>
            <a:ext cx="8635790" cy="363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0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Inflation in </a:t>
            </a:r>
            <a:r>
              <a:rPr lang="en-US" b="1" dirty="0" smtClean="0"/>
              <a:t>Venezuela (</a:t>
            </a:r>
            <a:r>
              <a:rPr lang="en-US" b="1" dirty="0"/>
              <a:t> </a:t>
            </a:r>
            <a:r>
              <a:rPr lang="en-US" b="1" dirty="0" smtClean="0"/>
              <a:t>Currency - Bolivar)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Venezuela inflation: All this currency is only worth $21 | Photo |  news.com.au — Australia's leading news s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7" y="2563702"/>
            <a:ext cx="2870670" cy="215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Venezuela Inflation Rate Hits 830,000%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787" y="2563701"/>
            <a:ext cx="2840233" cy="213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Venezuelan bolivar Forecast | Will The Venezuelan bolivar Get Stronger?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423" y="2563701"/>
            <a:ext cx="2954967" cy="207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13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30AE-C363-4529-B5C2-23D1ACD22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Inflation in </a:t>
            </a:r>
            <a:r>
              <a:rPr lang="en-US" b="1" dirty="0" smtClean="0"/>
              <a:t>Zimbabwe (</a:t>
            </a:r>
            <a:r>
              <a:rPr lang="en-US" b="1" dirty="0"/>
              <a:t>100 trillion Zimbabwe-dollar </a:t>
            </a:r>
            <a:r>
              <a:rPr lang="en-US" b="1" dirty="0" smtClean="0"/>
              <a:t>banknote)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FAC7B-87F8-4F83-A562-6D336ADA6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Banknote, 50 trillion Zimbabwean dollars, 2008, inflation money, Harare,  Zimbabwe, Africa, Stock Photo, Picture And Rights Managed Image. Pic.  IBR-2011686 | agefotostock">
            <a:extLst>
              <a:ext uri="{FF2B5EF4-FFF2-40B4-BE49-F238E27FC236}">
                <a16:creationId xmlns:a16="http://schemas.microsoft.com/office/drawing/2014/main" id="{EDD395B8-B9A1-44F3-80D7-19705F0CF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50" y="2116751"/>
            <a:ext cx="3541755" cy="184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Zimbabwe faces new record inflation">
            <a:extLst>
              <a:ext uri="{FF2B5EF4-FFF2-40B4-BE49-F238E27FC236}">
                <a16:creationId xmlns:a16="http://schemas.microsoft.com/office/drawing/2014/main" id="{5DFDD650-F32D-4833-BC17-0D3C3D5181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Zimbabwe faces new record inflation">
            <a:extLst>
              <a:ext uri="{FF2B5EF4-FFF2-40B4-BE49-F238E27FC236}">
                <a16:creationId xmlns:a16="http://schemas.microsoft.com/office/drawing/2014/main" id="{B0372AE1-050F-4A3B-AF81-A0DE7691C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50" y="4017367"/>
            <a:ext cx="3541755" cy="19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yperinflation in Zimbabwe - 2011 Annual Report, Gobalization and Monetary  Policy Institute - Dallas Fed">
            <a:extLst>
              <a:ext uri="{FF2B5EF4-FFF2-40B4-BE49-F238E27FC236}">
                <a16:creationId xmlns:a16="http://schemas.microsoft.com/office/drawing/2014/main" id="{61993D05-F7DD-4CDB-94C6-CA4215FB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205" y="2687085"/>
            <a:ext cx="3338982" cy="234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06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47" y="914839"/>
            <a:ext cx="6711043" cy="49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24" y="1002951"/>
            <a:ext cx="7405007" cy="464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India inflation rate for 2022 was 6.70%, a 1.57% increase from 2021. </a:t>
            </a:r>
            <a:endParaRPr lang="en-US" sz="2700" b="1" dirty="0"/>
          </a:p>
          <a:p>
            <a:r>
              <a:rPr lang="en-US" sz="2700" b="1" dirty="0"/>
              <a:t>India </a:t>
            </a:r>
            <a:r>
              <a:rPr lang="en-US" sz="2700" b="1" dirty="0"/>
              <a:t>inflation rate for 2021 was 5.13%, a 1.49% decline from 2020. </a:t>
            </a:r>
            <a:endParaRPr lang="en-US" sz="2700" b="1" dirty="0"/>
          </a:p>
          <a:p>
            <a:r>
              <a:rPr lang="en-US" sz="2700" b="1" dirty="0"/>
              <a:t>India </a:t>
            </a:r>
            <a:r>
              <a:rPr lang="en-US" sz="2700" b="1" dirty="0"/>
              <a:t>inflation rate for 2020 was 6.62%, a 2.89% increase from 2019. </a:t>
            </a:r>
            <a:endParaRPr lang="en-US" sz="2700" b="1" dirty="0"/>
          </a:p>
          <a:p>
            <a:r>
              <a:rPr lang="en-US" sz="2700" b="1" dirty="0"/>
              <a:t>India </a:t>
            </a:r>
            <a:r>
              <a:rPr lang="en-US" sz="2700" b="1" dirty="0"/>
              <a:t>inflation rate for 2019 was 3.73%, a 0.21% decline from 2018.</a:t>
            </a:r>
          </a:p>
        </p:txBody>
      </p:sp>
    </p:spTree>
    <p:extLst>
      <p:ext uri="{BB962C8B-B14F-4D97-AF65-F5344CB8AC3E}">
        <p14:creationId xmlns:p14="http://schemas.microsoft.com/office/powerpoint/2010/main" val="98930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b="1" dirty="0"/>
              <a:t>South Asia inflation rate for 2022 was 7.20%, a 1.65% increase from 2021. </a:t>
            </a:r>
            <a:endParaRPr lang="en-US" sz="2700" b="1" dirty="0"/>
          </a:p>
          <a:p>
            <a:r>
              <a:rPr lang="en-US" sz="2700" b="1" dirty="0"/>
              <a:t>South </a:t>
            </a:r>
            <a:r>
              <a:rPr lang="en-US" sz="2700" b="1" dirty="0"/>
              <a:t>Asia inflation rate for 2021 was 5.55%, a 0.15% decline from 2020. </a:t>
            </a:r>
            <a:endParaRPr lang="en-US" sz="2700" b="1" dirty="0"/>
          </a:p>
          <a:p>
            <a:r>
              <a:rPr lang="en-US" sz="2700" b="1" dirty="0"/>
              <a:t>South </a:t>
            </a:r>
            <a:r>
              <a:rPr lang="en-US" sz="2700" b="1" dirty="0"/>
              <a:t>Asia inflation rate for 2020 was 5.69%, a 2.06% increase from 2019. </a:t>
            </a:r>
            <a:endParaRPr lang="en-US" sz="2700" b="1" dirty="0"/>
          </a:p>
          <a:p>
            <a:r>
              <a:rPr lang="en-US" sz="2700" b="1" dirty="0"/>
              <a:t>South </a:t>
            </a:r>
            <a:r>
              <a:rPr lang="en-US" sz="2700" b="1" dirty="0"/>
              <a:t>Asia inflation rate for 2019 was 3.63%, a 0.3% increase from 2018.</a:t>
            </a:r>
          </a:p>
        </p:txBody>
      </p:sp>
    </p:spTree>
    <p:extLst>
      <p:ext uri="{BB962C8B-B14F-4D97-AF65-F5344CB8AC3E}">
        <p14:creationId xmlns:p14="http://schemas.microsoft.com/office/powerpoint/2010/main" val="132470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709" y="2256842"/>
            <a:ext cx="8090807" cy="212038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Inflation</a:t>
            </a:r>
            <a:r>
              <a:rPr lang="en-US" b="1" dirty="0"/>
              <a:t> is the continuous increase of the general price level in the economy</a:t>
            </a:r>
            <a:r>
              <a:rPr lang="en-US" b="1" dirty="0" smtClean="0"/>
              <a:t>.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Decline in the rate of inflation is </a:t>
            </a:r>
            <a:r>
              <a:rPr lang="en-US" b="1" dirty="0">
                <a:solidFill>
                  <a:srgbClr val="FF0000"/>
                </a:solidFill>
              </a:rPr>
              <a:t>disinflation</a:t>
            </a:r>
            <a:r>
              <a:rPr lang="en-US" b="1" dirty="0" smtClean="0"/>
              <a:t>.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A continuous decline in the general price level is regarded as a </a:t>
            </a:r>
            <a:r>
              <a:rPr lang="en-US" b="1" dirty="0">
                <a:solidFill>
                  <a:srgbClr val="FF0000"/>
                </a:solidFill>
              </a:rPr>
              <a:t>deflation</a:t>
            </a:r>
            <a:r>
              <a:rPr lang="en-US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085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1D31-60FF-41D0-9697-C88285FF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50" b="1" dirty="0"/>
              <a:t>Causes </a:t>
            </a:r>
            <a:r>
              <a:rPr lang="en-US" sz="4050" b="1" dirty="0"/>
              <a:t>of Inflation</a:t>
            </a:r>
            <a:endParaRPr lang="en-US" sz="40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00F4-6099-412F-8EED-851A6B3D0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2125266"/>
            <a:ext cx="4941725" cy="3263504"/>
          </a:xfrm>
        </p:spPr>
        <p:txBody>
          <a:bodyPr>
            <a:noAutofit/>
          </a:bodyPr>
          <a:lstStyle/>
          <a:p>
            <a:r>
              <a:rPr lang="en-US" sz="2700" b="1" dirty="0"/>
              <a:t>Causes and Effects of Inflation</a:t>
            </a:r>
          </a:p>
          <a:p>
            <a:pPr lvl="1"/>
            <a:r>
              <a:rPr lang="en-US" sz="2700" b="1" dirty="0"/>
              <a:t>Demand </a:t>
            </a:r>
            <a:r>
              <a:rPr lang="en-US" sz="2700" b="1" dirty="0"/>
              <a:t>pull inflation</a:t>
            </a:r>
          </a:p>
          <a:p>
            <a:pPr lvl="1"/>
            <a:r>
              <a:rPr lang="en-US" sz="2700" b="1" dirty="0"/>
              <a:t>Cost </a:t>
            </a:r>
            <a:r>
              <a:rPr lang="en-US" sz="2700" b="1" dirty="0"/>
              <a:t>push inflation </a:t>
            </a:r>
          </a:p>
          <a:p>
            <a:pPr lvl="1"/>
            <a:r>
              <a:rPr lang="en-US" sz="2700" b="1" dirty="0"/>
              <a:t>Structural Inflation (</a:t>
            </a:r>
            <a:r>
              <a:rPr lang="en-US" sz="2700" b="1" dirty="0"/>
              <a:t>rigidity, limitations and </a:t>
            </a:r>
            <a:r>
              <a:rPr lang="en-US" sz="2700" b="1" dirty="0" err="1"/>
              <a:t>inelasticities</a:t>
            </a:r>
            <a:r>
              <a:rPr lang="en-US" sz="2700" b="1" dirty="0"/>
              <a:t> in the economic </a:t>
            </a:r>
            <a:r>
              <a:rPr lang="en-US" sz="2700" b="1" dirty="0"/>
              <a:t>structure</a:t>
            </a:r>
            <a:r>
              <a:rPr lang="en-US" sz="2700" b="1" dirty="0"/>
              <a:t>)</a:t>
            </a:r>
          </a:p>
        </p:txBody>
      </p:sp>
      <p:pic>
        <p:nvPicPr>
          <p:cNvPr id="8194" name="Picture 2" descr="inflationary spi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295" y="2034293"/>
            <a:ext cx="3859958" cy="273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06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F58FF7E3-9020-44CD-A2B3-210B8E39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3A35A7-7898-4D45-A314-646CE1552328}" type="slidenum">
              <a:rPr lang="en-GB" altLang="en-US"/>
              <a:pPr eaLnBrk="1" hangingPunct="1"/>
              <a:t>27</a:t>
            </a:fld>
            <a:endParaRPr lang="en-GB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6135585-D1F9-424F-AD9D-9C58FBF4D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Importance of CPI</a:t>
            </a:r>
            <a:endParaRPr lang="en-GB" altLang="en-US" b="1" dirty="0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487217AD-D7D5-48DD-A86C-0E94DC66A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700" b="1" dirty="0"/>
              <a:t>to calculate inflation 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b="1" dirty="0"/>
              <a:t>to </a:t>
            </a:r>
            <a:r>
              <a:rPr lang="en-US" altLang="en-US" sz="2700" b="1" dirty="0"/>
              <a:t>adjust social security </a:t>
            </a:r>
            <a:r>
              <a:rPr lang="en-US" altLang="en-US" sz="2700" b="1" dirty="0"/>
              <a:t>benefits </a:t>
            </a:r>
          </a:p>
          <a:p>
            <a:r>
              <a:rPr lang="en-US" altLang="en-US" sz="2700" b="1" dirty="0"/>
              <a:t>to </a:t>
            </a:r>
            <a:r>
              <a:rPr lang="en-US" altLang="en-US" sz="2700" b="1" dirty="0"/>
              <a:t>measure international </a:t>
            </a:r>
            <a:r>
              <a:rPr lang="en-US" altLang="en-US" sz="2700" b="1" dirty="0"/>
              <a:t>competitiveness</a:t>
            </a:r>
          </a:p>
          <a:p>
            <a:r>
              <a:rPr lang="en-US" altLang="en-US" sz="2700" b="1" dirty="0"/>
              <a:t>to forecast </a:t>
            </a:r>
            <a:r>
              <a:rPr lang="en-US" altLang="en-US" sz="2700" b="1" dirty="0"/>
              <a:t>future average price levels and consumer </a:t>
            </a:r>
            <a:r>
              <a:rPr lang="en-US" altLang="en-US" sz="2700" b="1" dirty="0"/>
              <a:t>expenditure</a:t>
            </a:r>
          </a:p>
          <a:p>
            <a:r>
              <a:rPr lang="en-US" altLang="en-US" sz="2700" b="1" dirty="0"/>
              <a:t>used </a:t>
            </a:r>
            <a:r>
              <a:rPr lang="en-US" altLang="en-US" sz="2700" b="1" dirty="0"/>
              <a:t>as </a:t>
            </a:r>
            <a:r>
              <a:rPr lang="en-US" altLang="en-US" sz="2700" b="1" dirty="0"/>
              <a:t>a deflator</a:t>
            </a:r>
          </a:p>
        </p:txBody>
      </p:sp>
    </p:spTree>
    <p:extLst>
      <p:ext uri="{BB962C8B-B14F-4D97-AF65-F5344CB8AC3E}">
        <p14:creationId xmlns:p14="http://schemas.microsoft.com/office/powerpoint/2010/main" val="66813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">
            <a:extLst>
              <a:ext uri="{FF2B5EF4-FFF2-40B4-BE49-F238E27FC236}">
                <a16:creationId xmlns:a16="http://schemas.microsoft.com/office/drawing/2014/main" id="{1A8DE59F-D51C-4C73-80B3-C2FC697588F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562052" y="1179447"/>
          <a:ext cx="6426994" cy="4572000"/>
        </p:xfrm>
        <a:graphic>
          <a:graphicData uri="http://schemas.openxmlformats.org/drawingml/2006/table">
            <a:tbl>
              <a:tblPr/>
              <a:tblGrid>
                <a:gridCol w="156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Basic Components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CCPI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CCPI (N)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Base Period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Outdated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1952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More Recent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Reference Population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Limited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Working Class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All urban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Geographical Coverage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Narrow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Colombo City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Wider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Colombo District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Sample Size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Lower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455 householders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Higher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1300 Households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Price Collection Centers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Few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More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 of Items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High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Basket Value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202.24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17,996.38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91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700" b="1" dirty="0"/>
              <a:t>According to the ILO recommendations, CPI should cover all types of consumer goods and services of significance to the reference population.</a:t>
            </a:r>
          </a:p>
          <a:p>
            <a:pPr lvl="1"/>
            <a:r>
              <a:rPr lang="en-GB" altLang="en-US" sz="2700" b="1" dirty="0"/>
              <a:t>Without any omission of goods that may not be legally available or may be considered socially undesirable </a:t>
            </a:r>
          </a:p>
          <a:p>
            <a:pPr lvl="1"/>
            <a:r>
              <a:rPr lang="en-GB" altLang="en-US" sz="2700" b="1" dirty="0"/>
              <a:t>Tobacco and alcohol beverages are excluded in the </a:t>
            </a:r>
            <a:r>
              <a:rPr lang="en-GB" altLang="en-US" sz="2700" b="1" dirty="0"/>
              <a:t>CCPI’s </a:t>
            </a:r>
            <a:r>
              <a:rPr lang="en-GB" altLang="en-US" sz="2700" b="1" dirty="0"/>
              <a:t>basket </a:t>
            </a:r>
            <a:r>
              <a:rPr lang="en-GB" altLang="en-US" sz="2700" b="1" dirty="0"/>
              <a:t>item – old index.</a:t>
            </a:r>
            <a:endParaRPr lang="en-GB" altLang="en-US" sz="2700" b="1" dirty="0"/>
          </a:p>
        </p:txBody>
      </p:sp>
    </p:spTree>
    <p:extLst>
      <p:ext uri="{BB962C8B-B14F-4D97-AF65-F5344CB8AC3E}">
        <p14:creationId xmlns:p14="http://schemas.microsoft.com/office/powerpoint/2010/main" val="240358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57" y="972260"/>
            <a:ext cx="6082865" cy="46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52" y="927570"/>
            <a:ext cx="5272804" cy="507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89" y="857250"/>
            <a:ext cx="4590830" cy="508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5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AB69-C624-49B4-9E1D-AD3B3929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66" y="1820587"/>
            <a:ext cx="8418545" cy="3263504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2550" b="1" dirty="0"/>
              <a:t>“</a:t>
            </a:r>
            <a:r>
              <a:rPr lang="en-GB" altLang="en-US" sz="2550" b="1" dirty="0"/>
              <a:t>Substitution Bias</a:t>
            </a:r>
            <a:r>
              <a:rPr lang="en-GB" altLang="en-US" sz="2550" b="1" dirty="0"/>
              <a:t>”</a:t>
            </a:r>
          </a:p>
          <a:p>
            <a:r>
              <a:rPr lang="en-GB" altLang="en-US" sz="2550" b="1" dirty="0"/>
              <a:t>“Introduction of New Goods</a:t>
            </a:r>
            <a:r>
              <a:rPr lang="en-GB" altLang="en-US" sz="2550" b="1" dirty="0"/>
              <a:t>”</a:t>
            </a:r>
          </a:p>
          <a:p>
            <a:r>
              <a:rPr lang="en-GB" altLang="en-US" sz="2550" b="1" dirty="0"/>
              <a:t>“Unmeasured Quality Change</a:t>
            </a:r>
            <a:r>
              <a:rPr lang="en-GB" altLang="en-US" sz="2550" b="1" dirty="0"/>
              <a:t>”</a:t>
            </a:r>
          </a:p>
          <a:p>
            <a:r>
              <a:rPr lang="en-GB" altLang="en-US" sz="2550" b="1" dirty="0"/>
              <a:t>It </a:t>
            </a:r>
            <a:r>
              <a:rPr lang="en-GB" altLang="en-US" sz="2550" b="1" dirty="0"/>
              <a:t>is assumed that high and low income level families are spread equally in the area.   </a:t>
            </a:r>
            <a:endParaRPr lang="en-GB" altLang="en-US" sz="2550" b="1" dirty="0"/>
          </a:p>
          <a:p>
            <a:r>
              <a:rPr lang="en-GB" altLang="en-US" sz="2550" b="1" dirty="0"/>
              <a:t>There </a:t>
            </a:r>
            <a:r>
              <a:rPr lang="en-GB" altLang="en-US" sz="2550" b="1" dirty="0"/>
              <a:t>should be a base year with minimum price fluctuations. It is very difficult to find a year with that requirement. </a:t>
            </a:r>
          </a:p>
          <a:p>
            <a:r>
              <a:rPr lang="en-US" altLang="en-US" sz="2550" b="1" dirty="0"/>
              <a:t>The consumption patters of households are changing continuously. </a:t>
            </a:r>
            <a:endParaRPr lang="en-GB" altLang="en-US" sz="255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6AB67-3FAF-4AEB-A146-DACB3919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9123"/>
            <a:ext cx="7886700" cy="801464"/>
          </a:xfrm>
        </p:spPr>
        <p:txBody>
          <a:bodyPr/>
          <a:lstStyle/>
          <a:p>
            <a:pPr algn="ctr"/>
            <a:r>
              <a:rPr lang="en-GB" altLang="en-US" b="1" dirty="0"/>
              <a:t>Problems involved in the construction of CPI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887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Therefore,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700" b="1" dirty="0"/>
              <a:t>It’s likely that no one method of calculating the consumer price index would satisfy everyone.</a:t>
            </a:r>
          </a:p>
          <a:p>
            <a:r>
              <a:rPr lang="en-GB" altLang="en-US" sz="2700" b="1" dirty="0"/>
              <a:t>it’s unrealistic to expect the majority of people to agree on a way to determine the CPI that eliminates all bias</a:t>
            </a:r>
            <a:r>
              <a:rPr lang="en-GB" altLang="en-US" sz="2700" b="1" dirty="0"/>
              <a:t>.</a:t>
            </a:r>
            <a:endParaRPr lang="en-GB" altLang="en-US" sz="2700" b="1" dirty="0"/>
          </a:p>
        </p:txBody>
      </p:sp>
    </p:spTree>
    <p:extLst>
      <p:ext uri="{BB962C8B-B14F-4D97-AF65-F5344CB8AC3E}">
        <p14:creationId xmlns:p14="http://schemas.microsoft.com/office/powerpoint/2010/main" val="123904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Effects of Inflation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Decline in the real value of money has adverse effects on fixed income earners, depositors and creditors.</a:t>
            </a:r>
          </a:p>
          <a:p>
            <a:r>
              <a:rPr lang="en-US" sz="2700" b="1" dirty="0"/>
              <a:t>Variable income earners and debtors are benefited by inflation</a:t>
            </a:r>
            <a:r>
              <a:rPr lang="en-US" sz="2700" b="1" dirty="0"/>
              <a:t>.</a:t>
            </a:r>
          </a:p>
          <a:p>
            <a:r>
              <a:rPr lang="en-GB" altLang="en-US" sz="2700" b="1" dirty="0">
                <a:sym typeface="Wingdings" panose="05000000000000000000" pitchFamily="2" charset="2"/>
              </a:rPr>
              <a:t>Price </a:t>
            </a:r>
            <a:r>
              <a:rPr lang="en-GB" altLang="en-US" sz="2700" b="1" dirty="0">
                <a:sym typeface="Wingdings" panose="05000000000000000000" pitchFamily="2" charset="2"/>
              </a:rPr>
              <a:t>increases purchasing power of money prefer to owning hard </a:t>
            </a:r>
            <a:r>
              <a:rPr lang="en-GB" altLang="en-US" sz="2700" b="1" dirty="0">
                <a:sym typeface="Wingdings" panose="05000000000000000000" pitchFamily="2" charset="2"/>
              </a:rPr>
              <a:t>assets</a:t>
            </a:r>
            <a:endParaRPr lang="en-GB" altLang="en-US" sz="27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154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129D-8781-4A89-860B-0539ECBB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Inflation and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7FF47-27B3-4CC9-82FD-75CA1B770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3C878-6E49-4E2B-BCD7-034688DF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948" y="2226469"/>
            <a:ext cx="5281343" cy="329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2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965-6E24-43FD-B3FE-330D16AF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B00A-1961-45E6-A4BC-75205D114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8" name="Picture 4" descr="Seven years on things still look the same | Historinhas">
            <a:extLst>
              <a:ext uri="{FF2B5EF4-FFF2-40B4-BE49-F238E27FC236}">
                <a16:creationId xmlns:a16="http://schemas.microsoft.com/office/drawing/2014/main" id="{2B63B9F7-839D-443C-BE50-39126ECAA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83" y="1666911"/>
            <a:ext cx="6597116" cy="390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50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675" y="1285049"/>
            <a:ext cx="7886700" cy="994172"/>
          </a:xfrm>
        </p:spPr>
        <p:txBody>
          <a:bodyPr/>
          <a:lstStyle/>
          <a:p>
            <a:pPr algn="ctr"/>
            <a:r>
              <a:rPr lang="en-US" b="1" dirty="0" smtClean="0"/>
              <a:t>Control </a:t>
            </a:r>
            <a:r>
              <a:rPr lang="en-US" b="1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691" y="3031234"/>
            <a:ext cx="7886700" cy="80714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700" b="1" dirty="0"/>
              <a:t>Monetary policies and monetary policy management can be used to control </a:t>
            </a:r>
            <a:r>
              <a:rPr lang="en-US" sz="2700" b="1" dirty="0"/>
              <a:t>inflation</a:t>
            </a:r>
            <a:endParaRPr lang="en-US" sz="2700" b="1" dirty="0"/>
          </a:p>
        </p:txBody>
      </p:sp>
    </p:spTree>
    <p:extLst>
      <p:ext uri="{BB962C8B-B14F-4D97-AF65-F5344CB8AC3E}">
        <p14:creationId xmlns:p14="http://schemas.microsoft.com/office/powerpoint/2010/main" val="381537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707" y="2978556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4950" b="1" dirty="0"/>
              <a:t>Thank you!</a:t>
            </a:r>
            <a:endParaRPr lang="en-US" sz="4950" b="1" dirty="0"/>
          </a:p>
        </p:txBody>
      </p:sp>
    </p:spTree>
    <p:extLst>
      <p:ext uri="{BB962C8B-B14F-4D97-AF65-F5344CB8AC3E}">
        <p14:creationId xmlns:p14="http://schemas.microsoft.com/office/powerpoint/2010/main" val="201302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-152400"/>
            <a:ext cx="7851648" cy="18288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5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7.5 U</a:t>
            </a:r>
            <a:r>
              <a:rPr lang="en-US" sz="5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nemployment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04800" y="2057400"/>
            <a:ext cx="8686800" cy="1876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  <a:normAutofit/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Unemployment is defined by the International Labor Organization (ILO) as “</a:t>
            </a:r>
            <a:r>
              <a:rPr lang="en-US" sz="2800" i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situation in which people are without jobs and they have actively looked for a job for the past four weeks”. 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rgbClr val="C00000"/>
              </a:buClr>
              <a:defRPr/>
            </a:pPr>
            <a:endParaRPr lang="en-US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4075093"/>
            <a:ext cx="8610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 fontAlgn="auto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2800" dirty="0">
                <a:solidFill>
                  <a:schemeClr val="bg1"/>
                </a:solidFill>
              </a:rPr>
              <a:t>According to this definition, people who do not look for a job will not be considered unemployed.  </a:t>
            </a:r>
          </a:p>
        </p:txBody>
      </p:sp>
    </p:spTree>
    <p:extLst>
      <p:ext uri="{BB962C8B-B14F-4D97-AF65-F5344CB8AC3E}">
        <p14:creationId xmlns:p14="http://schemas.microsoft.com/office/powerpoint/2010/main" val="271841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795E1A-3447-415D-B33E-27EA0A456C99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4191000" y="0"/>
            <a:ext cx="4953000" cy="1143000"/>
          </a:xfrm>
        </p:spPr>
        <p:txBody>
          <a:bodyPr/>
          <a:lstStyle/>
          <a:p>
            <a:pPr eaLnBrk="1" hangingPunct="1"/>
            <a:r>
              <a:rPr lang="en-US" sz="4800" b="1" i="1" dirty="0" err="1">
                <a:latin typeface="Arial" pitchFamily="34" charset="0"/>
                <a:cs typeface="Arial" pitchFamily="34" charset="0"/>
              </a:rPr>
              <a:t>Cont</a:t>
            </a:r>
            <a:r>
              <a:rPr lang="en-US" sz="4800" b="1" i="1" dirty="0">
                <a:latin typeface="Arial" pitchFamily="34" charset="0"/>
                <a:cs typeface="Arial" pitchFamily="34" charset="0"/>
              </a:rPr>
              <a:t>…..</a:t>
            </a:r>
          </a:p>
        </p:txBody>
      </p:sp>
      <p:sp>
        <p:nvSpPr>
          <p:cNvPr id="13317" name="TextBox 5"/>
          <p:cNvSpPr txBox="1">
            <a:spLocks noChangeArrowheads="1"/>
          </p:cNvSpPr>
          <p:nvPr/>
        </p:nvSpPr>
        <p:spPr bwMode="auto">
          <a:xfrm>
            <a:off x="4800600" y="2438400"/>
            <a:ext cx="2438400" cy="369888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tantia" pitchFamily="18" charset="0"/>
              </a:rPr>
              <a:t>Productive population</a:t>
            </a:r>
          </a:p>
        </p:txBody>
      </p:sp>
      <p:sp>
        <p:nvSpPr>
          <p:cNvPr id="13318" name="TextBox 6"/>
          <p:cNvSpPr txBox="1">
            <a:spLocks noChangeArrowheads="1"/>
          </p:cNvSpPr>
          <p:nvPr/>
        </p:nvSpPr>
        <p:spPr bwMode="auto">
          <a:xfrm>
            <a:off x="3657600" y="3636963"/>
            <a:ext cx="2057400" cy="368300"/>
          </a:xfrm>
          <a:prstGeom prst="rect">
            <a:avLst/>
          </a:prstGeom>
          <a:solidFill>
            <a:srgbClr val="5CD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onstantia" pitchFamily="18" charset="0"/>
              </a:rPr>
              <a:t>In the labor force</a:t>
            </a:r>
          </a:p>
        </p:txBody>
      </p:sp>
      <p:sp>
        <p:nvSpPr>
          <p:cNvPr id="13319" name="TextBox 7"/>
          <p:cNvSpPr txBox="1">
            <a:spLocks noChangeArrowheads="1"/>
          </p:cNvSpPr>
          <p:nvPr/>
        </p:nvSpPr>
        <p:spPr bwMode="auto">
          <a:xfrm>
            <a:off x="6248400" y="3636963"/>
            <a:ext cx="2438400" cy="368300"/>
          </a:xfrm>
          <a:prstGeom prst="rect">
            <a:avLst/>
          </a:prstGeom>
          <a:solidFill>
            <a:srgbClr val="5CD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nstantia" pitchFamily="18" charset="0"/>
              </a:rPr>
              <a:t>Not in the labor force</a:t>
            </a:r>
          </a:p>
        </p:txBody>
      </p:sp>
      <p:sp>
        <p:nvSpPr>
          <p:cNvPr id="13320" name="TextBox 8"/>
          <p:cNvSpPr txBox="1">
            <a:spLocks noChangeArrowheads="1"/>
          </p:cNvSpPr>
          <p:nvPr/>
        </p:nvSpPr>
        <p:spPr bwMode="auto">
          <a:xfrm>
            <a:off x="3352800" y="4627563"/>
            <a:ext cx="1371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nstantia" pitchFamily="18" charset="0"/>
              </a:rPr>
              <a:t>Employed </a:t>
            </a:r>
          </a:p>
        </p:txBody>
      </p:sp>
      <p:sp>
        <p:nvSpPr>
          <p:cNvPr id="13321" name="TextBox 9"/>
          <p:cNvSpPr txBox="1">
            <a:spLocks noChangeArrowheads="1"/>
          </p:cNvSpPr>
          <p:nvPr/>
        </p:nvSpPr>
        <p:spPr bwMode="auto">
          <a:xfrm>
            <a:off x="5334000" y="4627563"/>
            <a:ext cx="15240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nstantia" pitchFamily="18" charset="0"/>
              </a:rPr>
              <a:t>Unemployed </a:t>
            </a:r>
          </a:p>
        </p:txBody>
      </p:sp>
      <p:cxnSp>
        <p:nvCxnSpPr>
          <p:cNvPr id="39" name="Shape 38"/>
          <p:cNvCxnSpPr>
            <a:stCxn id="13317" idx="2"/>
          </p:cNvCxnSpPr>
          <p:nvPr/>
        </p:nvCxnSpPr>
        <p:spPr>
          <a:xfrm rot="16200000" flipH="1">
            <a:off x="6700044" y="2128044"/>
            <a:ext cx="392112" cy="1752600"/>
          </a:xfrm>
          <a:prstGeom prst="bentConnector2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>
            <a:off x="7581901" y="3390900"/>
            <a:ext cx="381000" cy="3175"/>
          </a:xfrm>
          <a:prstGeom prst="straightConnector1">
            <a:avLst/>
          </a:prstGeom>
          <a:ln w="635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hape 44"/>
          <p:cNvCxnSpPr>
            <a:stCxn id="13317" idx="2"/>
          </p:cNvCxnSpPr>
          <p:nvPr/>
        </p:nvCxnSpPr>
        <p:spPr>
          <a:xfrm rot="5400000">
            <a:off x="5137944" y="2318544"/>
            <a:ext cx="392112" cy="1371600"/>
          </a:xfrm>
          <a:prstGeom prst="bentConnector2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>
            <a:off x="4457701" y="3390900"/>
            <a:ext cx="381000" cy="3175"/>
          </a:xfrm>
          <a:prstGeom prst="straightConnector1">
            <a:avLst/>
          </a:prstGeom>
          <a:ln w="635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>
            <a:stCxn id="13318" idx="2"/>
          </p:cNvCxnSpPr>
          <p:nvPr/>
        </p:nvCxnSpPr>
        <p:spPr>
          <a:xfrm rot="16200000" flipH="1">
            <a:off x="5298281" y="3393282"/>
            <a:ext cx="185737" cy="1409700"/>
          </a:xfrm>
          <a:prstGeom prst="bentConnector2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321" idx="0"/>
          </p:cNvCxnSpPr>
          <p:nvPr/>
        </p:nvCxnSpPr>
        <p:spPr>
          <a:xfrm rot="5400000">
            <a:off x="5878513" y="4408488"/>
            <a:ext cx="434975" cy="3175"/>
          </a:xfrm>
          <a:prstGeom prst="straightConnector1">
            <a:avLst/>
          </a:prstGeom>
          <a:ln w="635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hape 52"/>
          <p:cNvCxnSpPr>
            <a:stCxn id="13318" idx="2"/>
          </p:cNvCxnSpPr>
          <p:nvPr/>
        </p:nvCxnSpPr>
        <p:spPr>
          <a:xfrm rot="5400000">
            <a:off x="4193381" y="3698082"/>
            <a:ext cx="185737" cy="800100"/>
          </a:xfrm>
          <a:prstGeom prst="bentConnector2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5400000">
            <a:off x="3656013" y="4419600"/>
            <a:ext cx="458788" cy="1587"/>
          </a:xfrm>
          <a:prstGeom prst="straightConnector1">
            <a:avLst/>
          </a:prstGeom>
          <a:ln w="635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9413" y="5181600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1" dirty="0"/>
              <a:t>Labor force:  </a:t>
            </a:r>
            <a:r>
              <a:rPr lang="en-US" sz="2000" dirty="0"/>
              <a:t>Labor force of a country consists of persons belonging to the age group of 15 to 65 years (or so) who are employed and those who are unemployed but are looking for a job.</a:t>
            </a:r>
            <a:r>
              <a:rPr lang="en-US" sz="2000" b="1" i="1" dirty="0"/>
              <a:t> </a:t>
            </a:r>
            <a:r>
              <a:rPr lang="en-US" sz="2000" dirty="0"/>
              <a:t>Labor force does not include full-time students, full-time house-wives and retired persons.</a:t>
            </a:r>
            <a:endParaRPr lang="en-US" sz="20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7" grpId="0" animBg="1"/>
      <p:bldP spid="13318" grpId="0" animBg="1"/>
      <p:bldP spid="13319" grpId="0" animBg="1"/>
      <p:bldP spid="13320" grpId="0" animBg="1"/>
      <p:bldP spid="13321" grpId="0" animBg="1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1BDBB-3588-4E20-99CE-E65281F62D40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09800" y="76200"/>
            <a:ext cx="4953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i="1" dirty="0" err="1">
                <a:solidFill>
                  <a:schemeClr val="tx2"/>
                </a:solidFill>
                <a:ea typeface="+mj-ea"/>
              </a:rPr>
              <a:t>Cont</a:t>
            </a:r>
            <a:r>
              <a:rPr lang="en-US" sz="4800" b="1" i="1" dirty="0">
                <a:solidFill>
                  <a:schemeClr val="tx2"/>
                </a:solidFill>
                <a:ea typeface="+mj-ea"/>
              </a:rPr>
              <a:t>….</a:t>
            </a:r>
            <a:endParaRPr kumimoji="0" lang="en-US" sz="4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1076980"/>
            <a:ext cx="5917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0070C0"/>
                </a:solidFill>
              </a:rPr>
              <a:t>Measuring Unemployment Rate</a:t>
            </a:r>
          </a:p>
        </p:txBody>
      </p:sp>
      <p:grpSp>
        <p:nvGrpSpPr>
          <p:cNvPr id="7" name="Group 16"/>
          <p:cNvGrpSpPr/>
          <p:nvPr/>
        </p:nvGrpSpPr>
        <p:grpSpPr>
          <a:xfrm>
            <a:off x="152400" y="2286000"/>
            <a:ext cx="7467602" cy="975955"/>
            <a:chOff x="1295400" y="3581400"/>
            <a:chExt cx="4155710" cy="975955"/>
          </a:xfrm>
        </p:grpSpPr>
        <p:sp>
          <p:nvSpPr>
            <p:cNvPr id="8" name="TextBox 7"/>
            <p:cNvSpPr txBox="1"/>
            <p:nvPr/>
          </p:nvSpPr>
          <p:spPr>
            <a:xfrm>
              <a:off x="1295400" y="3810000"/>
              <a:ext cx="2514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Unemployment rate  =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34014" y="3581400"/>
              <a:ext cx="2417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Labor  force – Employed labor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48035" y="4095690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Labor  force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229708" y="4038600"/>
              <a:ext cx="202809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7467600" y="2362200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0" y="25146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29000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28600" y="4549914"/>
            <a:ext cx="7467602" cy="975955"/>
            <a:chOff x="1295400" y="3581400"/>
            <a:chExt cx="4155710" cy="975955"/>
          </a:xfrm>
        </p:grpSpPr>
        <p:sp>
          <p:nvSpPr>
            <p:cNvPr id="17" name="TextBox 16"/>
            <p:cNvSpPr txBox="1"/>
            <p:nvPr/>
          </p:nvSpPr>
          <p:spPr>
            <a:xfrm>
              <a:off x="1295400" y="3810000"/>
              <a:ext cx="2514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Unemployment rate  =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76419" y="3581400"/>
              <a:ext cx="23746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Number of unemployed labor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8035" y="4095690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Labor  force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229708" y="4038600"/>
              <a:ext cx="202809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7467600" y="4648200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8600" y="48006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540758" y="216090"/>
            <a:ext cx="4953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i="1" dirty="0" err="1">
                <a:solidFill>
                  <a:schemeClr val="tx2"/>
                </a:solidFill>
                <a:ea typeface="+mj-ea"/>
              </a:rPr>
              <a:t>Cont</a:t>
            </a:r>
            <a:r>
              <a:rPr lang="en-US" sz="4800" b="1" i="1" dirty="0">
                <a:solidFill>
                  <a:schemeClr val="tx2"/>
                </a:solidFill>
                <a:ea typeface="+mj-ea"/>
              </a:rPr>
              <a:t>…</a:t>
            </a:r>
            <a:endParaRPr kumimoji="0" lang="en-US" sz="4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9906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Kinds of Unemployment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2286000"/>
            <a:ext cx="8686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rgbClr val="C00000"/>
              </a:buClr>
              <a:defRPr/>
            </a:pPr>
            <a:r>
              <a:rPr lang="en-US" sz="2200" b="1" i="1" dirty="0"/>
              <a:t>1</a:t>
            </a:r>
            <a:r>
              <a:rPr lang="en-US" sz="2200" b="1" i="1" u="sng" dirty="0"/>
              <a:t>.  Frictional unemployment</a:t>
            </a:r>
            <a:r>
              <a:rPr lang="en-US" sz="2200" b="1" i="1" dirty="0"/>
              <a:t>: </a:t>
            </a:r>
            <a:r>
              <a:rPr lang="en-US" sz="2200" dirty="0"/>
              <a:t>caused by temporary job loss. For example: when workers switch jobs they might be unemployed for a short period as long as they find a suitable job.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625096"/>
            <a:ext cx="8610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rgbClr val="C00000"/>
              </a:buClr>
              <a:defRPr/>
            </a:pPr>
            <a:r>
              <a:rPr lang="en-US" sz="2200" b="1" dirty="0"/>
              <a:t>2.  </a:t>
            </a:r>
            <a:r>
              <a:rPr lang="en-US" sz="2200" b="1" i="1" u="sng" dirty="0"/>
              <a:t>Structural unemployment</a:t>
            </a:r>
            <a:r>
              <a:rPr lang="en-US" sz="2200" b="1" dirty="0"/>
              <a:t>:</a:t>
            </a:r>
            <a:r>
              <a:rPr lang="en-US" sz="2200" dirty="0"/>
              <a:t> caused by a permanent shift of events. For example: if a country shuts down its jute factories and starts readymade garments industries then workers of the jute industry may find it very difficult to find a job in the readymade garments industry as the skills set does not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676400"/>
            <a:ext cx="899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/>
              <a:t>  The unemployment can be classified under four categories as follows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4E5F4-8505-4EEE-9031-4A43751085E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540758" y="216090"/>
            <a:ext cx="4953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i="1" dirty="0" err="1">
                <a:solidFill>
                  <a:schemeClr val="tx2"/>
                </a:solidFill>
                <a:ea typeface="+mj-ea"/>
              </a:rPr>
              <a:t>Cont</a:t>
            </a:r>
            <a:r>
              <a:rPr lang="en-US" sz="4800" b="1" i="1" dirty="0">
                <a:solidFill>
                  <a:schemeClr val="tx2"/>
                </a:solidFill>
                <a:ea typeface="+mj-ea"/>
              </a:rPr>
              <a:t>…</a:t>
            </a:r>
            <a:endParaRPr kumimoji="0" lang="en-US" sz="4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839" y="1066800"/>
            <a:ext cx="8610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fontAlgn="auto" hangingPunct="1">
              <a:spcAft>
                <a:spcPts val="0"/>
              </a:spcAft>
              <a:buClr>
                <a:srgbClr val="C00000"/>
              </a:buClr>
              <a:defRPr/>
            </a:pPr>
            <a:r>
              <a:rPr lang="en-US" sz="2200" b="1" dirty="0"/>
              <a:t>3.  </a:t>
            </a:r>
            <a:r>
              <a:rPr lang="en-US" sz="2200" b="1" i="1" u="sng" dirty="0"/>
              <a:t>Natural rate of unemployment:</a:t>
            </a:r>
            <a:r>
              <a:rPr lang="en-US" sz="2200" i="1" u="sng" dirty="0"/>
              <a:t> </a:t>
            </a:r>
            <a:r>
              <a:rPr lang="en-US" sz="2200" dirty="0"/>
              <a:t>it is the level of unemployment when the economy is at the full employment level. The natural rate of unemployment is a combination of both frictional and structural unemployment.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2819400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buClr>
                <a:srgbClr val="C00000"/>
              </a:buClr>
              <a:defRPr/>
            </a:pPr>
            <a:r>
              <a:rPr lang="en-US" sz="2200" b="1" dirty="0"/>
              <a:t>4.  </a:t>
            </a:r>
            <a:r>
              <a:rPr lang="en-US" sz="2200" b="1" i="1" u="sng" dirty="0"/>
              <a:t>Cyclical unemployment</a:t>
            </a:r>
            <a:r>
              <a:rPr lang="en-US" sz="2200" b="1" dirty="0"/>
              <a:t>: </a:t>
            </a:r>
            <a:r>
              <a:rPr lang="en-US" sz="2200" dirty="0"/>
              <a:t>it is the deviation of natural rate of unemployment form the actual employment.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BSc in Mgt/ Macro/2022</a:t>
            </a:r>
          </a:p>
        </p:txBody>
      </p:sp>
    </p:spTree>
    <p:extLst>
      <p:ext uri="{BB962C8B-B14F-4D97-AF65-F5344CB8AC3E}">
        <p14:creationId xmlns:p14="http://schemas.microsoft.com/office/powerpoint/2010/main" val="173324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2225</TotalTime>
  <Words>1745</Words>
  <Application>Microsoft Office PowerPoint</Application>
  <PresentationFormat>On-screen Show (4:3)</PresentationFormat>
  <Paragraphs>260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Arial Rounded MT Bold</vt:lpstr>
      <vt:lpstr>Calibri</vt:lpstr>
      <vt:lpstr>Constantia</vt:lpstr>
      <vt:lpstr>Times New Roman</vt:lpstr>
      <vt:lpstr>Wingdings</vt:lpstr>
      <vt:lpstr>Wingdings 2</vt:lpstr>
      <vt:lpstr>Flow</vt:lpstr>
      <vt:lpstr>1_Office Theme</vt:lpstr>
      <vt:lpstr>PowerPoint Presentation</vt:lpstr>
      <vt:lpstr>PowerPoint Presentation</vt:lpstr>
      <vt:lpstr>What is Inflation?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 and Outs of Inflation   </vt:lpstr>
      <vt:lpstr>Consumer Price Index (CPI)</vt:lpstr>
      <vt:lpstr>Steps involved in the calculation of CPI</vt:lpstr>
      <vt:lpstr>PowerPoint Presentation</vt:lpstr>
      <vt:lpstr>PowerPoint Presentation</vt:lpstr>
      <vt:lpstr>PowerPoint Presentation</vt:lpstr>
      <vt:lpstr>PowerPoint Presentation</vt:lpstr>
      <vt:lpstr>Inflation in Venezuela ( Currency - Bolivar) </vt:lpstr>
      <vt:lpstr>Inflation in Zimbabwe (100 trillion Zimbabwe-dollar banknote)</vt:lpstr>
      <vt:lpstr>PowerPoint Presentation</vt:lpstr>
      <vt:lpstr>PowerPoint Presentation</vt:lpstr>
      <vt:lpstr>PowerPoint Presentation</vt:lpstr>
      <vt:lpstr>PowerPoint Presentation</vt:lpstr>
      <vt:lpstr>Inflation is the continuous increase of the general price level in the economy.  Decline in the rate of inflation is disinflation.  A continuous decline in the general price level is regarded as a deflation.</vt:lpstr>
      <vt:lpstr>Causes of Inflation</vt:lpstr>
      <vt:lpstr>Importance of CPI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involved in the construction of CPI</vt:lpstr>
      <vt:lpstr>Therefore,</vt:lpstr>
      <vt:lpstr>Effects of Inflation</vt:lpstr>
      <vt:lpstr>Inflation and Unemployment</vt:lpstr>
      <vt:lpstr>PowerPoint Presentation</vt:lpstr>
      <vt:lpstr>Control inflation</vt:lpstr>
      <vt:lpstr>Thank you!</vt:lpstr>
      <vt:lpstr>7.5 Unemployment </vt:lpstr>
      <vt:lpstr>Cont…..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Unemployment and Inflation</dc:title>
  <dc:creator>Ziaul Abedin</dc:creator>
  <cp:lastModifiedBy>User</cp:lastModifiedBy>
  <cp:revision>200</cp:revision>
  <dcterms:created xsi:type="dcterms:W3CDTF">2006-08-16T00:00:00Z</dcterms:created>
  <dcterms:modified xsi:type="dcterms:W3CDTF">2023-11-18T05:02:40Z</dcterms:modified>
</cp:coreProperties>
</file>