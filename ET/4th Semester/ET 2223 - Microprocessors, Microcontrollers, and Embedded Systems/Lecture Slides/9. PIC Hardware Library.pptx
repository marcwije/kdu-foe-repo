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6"/>
  </p:notesMasterIdLst>
  <p:sldIdLst>
    <p:sldId id="256" r:id="rId2"/>
    <p:sldId id="258" r:id="rId3"/>
    <p:sldId id="267" r:id="rId4"/>
    <p:sldId id="268" r:id="rId5"/>
    <p:sldId id="269" r:id="rId6"/>
    <p:sldId id="270" r:id="rId7"/>
    <p:sldId id="257" r:id="rId8"/>
    <p:sldId id="263" r:id="rId9"/>
    <p:sldId id="259" r:id="rId10"/>
    <p:sldId id="260" r:id="rId11"/>
    <p:sldId id="261" r:id="rId12"/>
    <p:sldId id="262" r:id="rId13"/>
    <p:sldId id="264" r:id="rId14"/>
    <p:sldId id="265" r:id="rId15"/>
    <p:sldId id="266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9552A7-F65A-46A2-A22E-C93AA92D3CC5}" type="datetimeFigureOut">
              <a:rPr lang="en-US" smtClean="0"/>
              <a:t>8/30/2022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76B2A-9A5B-432D-954E-3CA8371768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727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7057" y="1122363"/>
            <a:ext cx="10531929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1087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41924" y="6178499"/>
            <a:ext cx="650296" cy="456566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fld id="{F91A3952-A237-4C1E-B169-F29C0CF1F60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CAAC7F44-AB59-CB37-B875-306E0658970A}"/>
              </a:ext>
            </a:extLst>
          </p:cNvPr>
          <p:cNvSpPr txBox="1">
            <a:spLocks/>
          </p:cNvSpPr>
          <p:nvPr userDrawn="1"/>
        </p:nvSpPr>
        <p:spPr>
          <a:xfrm>
            <a:off x="6095999" y="6287405"/>
            <a:ext cx="480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Budditha Hettige (budditha@kdu.ac.lk)  2022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C4891A6-6637-E86D-4697-62FCF0BC49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3366" y="328350"/>
            <a:ext cx="558854" cy="493106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B6A2CCAF-A454-4EC8-CD84-2C8E37DC3BCB}"/>
              </a:ext>
            </a:extLst>
          </p:cNvPr>
          <p:cNvSpPr txBox="1">
            <a:spLocks/>
          </p:cNvSpPr>
          <p:nvPr userDrawn="1"/>
        </p:nvSpPr>
        <p:spPr>
          <a:xfrm>
            <a:off x="655326" y="6256877"/>
            <a:ext cx="5294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Microcontrollers &amp;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1480912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614" y="248194"/>
            <a:ext cx="11185072" cy="947649"/>
          </a:xfrm>
          <a:prstGeom prst="rect">
            <a:avLst/>
          </a:prstGeom>
        </p:spPr>
        <p:txBody>
          <a:bodyPr anchor="ctr"/>
          <a:lstStyle>
            <a:lvl1pPr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615" y="1195844"/>
            <a:ext cx="11185072" cy="498112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A8EEC5A2-992C-3648-F6BF-7F1861EB9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41924" y="6178499"/>
            <a:ext cx="650296" cy="456566"/>
          </a:xfrm>
          <a:prstGeom prst="rect">
            <a:avLst/>
          </a:prstGeom>
        </p:spPr>
        <p:txBody>
          <a:bodyPr anchor="ctr"/>
          <a:lstStyle>
            <a:lvl1pPr algn="r">
              <a:defRPr sz="2800"/>
            </a:lvl1pPr>
          </a:lstStyle>
          <a:p>
            <a:fld id="{F91A3952-A237-4C1E-B169-F29C0CF1F60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070DDD4F-01DB-E888-476F-DA3C5DE30594}"/>
              </a:ext>
            </a:extLst>
          </p:cNvPr>
          <p:cNvSpPr txBox="1">
            <a:spLocks/>
          </p:cNvSpPr>
          <p:nvPr userDrawn="1"/>
        </p:nvSpPr>
        <p:spPr>
          <a:xfrm>
            <a:off x="6095999" y="6287405"/>
            <a:ext cx="480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© Budditha Hettige (budditha@kdu.ac.lk)  2022 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F2928A69-F4DE-20AA-3A6B-F324A4913E0A}"/>
              </a:ext>
            </a:extLst>
          </p:cNvPr>
          <p:cNvSpPr txBox="1">
            <a:spLocks/>
          </p:cNvSpPr>
          <p:nvPr userDrawn="1"/>
        </p:nvSpPr>
        <p:spPr>
          <a:xfrm>
            <a:off x="655326" y="6256877"/>
            <a:ext cx="5294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Microcontrollers &amp;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2891153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Neural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3801" y="6356350"/>
            <a:ext cx="612320" cy="365125"/>
          </a:xfrm>
          <a:prstGeom prst="rect">
            <a:avLst/>
          </a:prstGeom>
        </p:spPr>
        <p:txBody>
          <a:bodyPr/>
          <a:lstStyle/>
          <a:p>
            <a:fld id="{F91A3952-A237-4C1E-B169-F29C0CF1F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692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0614" y="1240972"/>
            <a:ext cx="5459186" cy="49359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40972"/>
            <a:ext cx="5573486" cy="49359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3B9AC890-E1C8-04A1-D344-A568EA271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14" y="177348"/>
            <a:ext cx="11185072" cy="1063624"/>
          </a:xfrm>
          <a:prstGeom prst="rect">
            <a:avLst/>
          </a:prstGeom>
        </p:spPr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1F74CCFE-F6A3-2D06-622B-C667FD877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3366" y="6352721"/>
            <a:ext cx="612320" cy="3651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fld id="{F91A3952-A237-4C1E-B169-F29C0CF1F60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xmlns="" id="{EB933DEF-8EA4-F1C9-4795-E49CAF7E8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0614" y="6352720"/>
            <a:ext cx="5535386" cy="365125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Introduction to Neural Networks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xmlns="" id="{9E79A4A2-A32C-E148-77CD-315843A3B4F7}"/>
              </a:ext>
            </a:extLst>
          </p:cNvPr>
          <p:cNvSpPr txBox="1">
            <a:spLocks/>
          </p:cNvSpPr>
          <p:nvPr userDrawn="1"/>
        </p:nvSpPr>
        <p:spPr>
          <a:xfrm>
            <a:off x="7208521" y="6352720"/>
            <a:ext cx="3924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86788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7348"/>
            <a:ext cx="11127920" cy="10636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Neural Networks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3801" y="6356350"/>
            <a:ext cx="612320" cy="365125"/>
          </a:xfrm>
          <a:prstGeom prst="rect">
            <a:avLst/>
          </a:prstGeom>
        </p:spPr>
        <p:txBody>
          <a:bodyPr/>
          <a:lstStyle/>
          <a:p>
            <a:fld id="{F91A3952-A237-4C1E-B169-F29C0CF1F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16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2C0122F1-E472-6BB6-85A9-146EDE2A5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3366" y="6352721"/>
            <a:ext cx="612320" cy="36512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fld id="{F91A3952-A237-4C1E-B169-F29C0CF1F60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459F54C2-0DB5-E4E3-085F-0714F29D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635" y="6352720"/>
            <a:ext cx="5535386" cy="365125"/>
          </a:xfrm>
          <a:prstGeom prst="rect">
            <a:avLst/>
          </a:prstGeom>
        </p:spPr>
        <p:txBody>
          <a:bodyPr/>
          <a:lstStyle>
            <a:lvl1pPr>
              <a:defRPr sz="2000" b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Introduction to Neural Networks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xmlns="" id="{8B7D0FBF-46B5-0F47-E582-79EA0A361E6A}"/>
              </a:ext>
            </a:extLst>
          </p:cNvPr>
          <p:cNvSpPr txBox="1">
            <a:spLocks/>
          </p:cNvSpPr>
          <p:nvPr userDrawn="1"/>
        </p:nvSpPr>
        <p:spPr>
          <a:xfrm>
            <a:off x="7208521" y="6352720"/>
            <a:ext cx="3924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20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56569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Neural Networks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53801" y="6356350"/>
            <a:ext cx="612320" cy="365125"/>
          </a:xfrm>
          <a:prstGeom prst="rect">
            <a:avLst/>
          </a:prstGeom>
        </p:spPr>
        <p:txBody>
          <a:bodyPr/>
          <a:lstStyle/>
          <a:p>
            <a:fld id="{F91A3952-A237-4C1E-B169-F29C0CF1F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84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Neural Networks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53801" y="6356350"/>
            <a:ext cx="612320" cy="365125"/>
          </a:xfrm>
          <a:prstGeom prst="rect">
            <a:avLst/>
          </a:prstGeom>
        </p:spPr>
        <p:txBody>
          <a:bodyPr/>
          <a:lstStyle/>
          <a:p>
            <a:fld id="{F91A3952-A237-4C1E-B169-F29C0CF1F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820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7348"/>
            <a:ext cx="11127920" cy="106362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1371600"/>
            <a:ext cx="11127921" cy="48053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Neural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3801" y="6356350"/>
            <a:ext cx="612320" cy="365125"/>
          </a:xfrm>
          <a:prstGeom prst="rect">
            <a:avLst/>
          </a:prstGeom>
        </p:spPr>
        <p:txBody>
          <a:bodyPr/>
          <a:lstStyle/>
          <a:p>
            <a:fld id="{F91A3952-A237-4C1E-B169-F29C0CF1F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68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10515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Introduction to Neural Networks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53801" y="6356350"/>
            <a:ext cx="612320" cy="365125"/>
          </a:xfrm>
          <a:prstGeom prst="rect">
            <a:avLst/>
          </a:prstGeom>
        </p:spPr>
        <p:txBody>
          <a:bodyPr/>
          <a:lstStyle/>
          <a:p>
            <a:fld id="{F91A3952-A237-4C1E-B169-F29C0CF1F6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03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4107" y="0"/>
            <a:ext cx="12396107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C0209675-C2DF-02BA-C963-923F9CC4DB1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99080" y="280656"/>
            <a:ext cx="560881" cy="4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06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#ps2_key_read"/><Relationship Id="rId2" Type="http://schemas.openxmlformats.org/officeDocument/2006/relationships/hyperlink" Target="#ps2_confi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#i2c1_stop"/><Relationship Id="rId3" Type="http://schemas.openxmlformats.org/officeDocument/2006/relationships/hyperlink" Target="#i2c1_start"/><Relationship Id="rId7" Type="http://schemas.openxmlformats.org/officeDocument/2006/relationships/hyperlink" Target="#i2c1_wr"/><Relationship Id="rId2" Type="http://schemas.openxmlformats.org/officeDocument/2006/relationships/hyperlink" Target="#i2c1_init"/><Relationship Id="rId1" Type="http://schemas.openxmlformats.org/officeDocument/2006/relationships/slideLayout" Target="../slideLayouts/slideLayout2.xml"/><Relationship Id="rId6" Type="http://schemas.openxmlformats.org/officeDocument/2006/relationships/hyperlink" Target="#i2c1_rd"/><Relationship Id="rId5" Type="http://schemas.openxmlformats.org/officeDocument/2006/relationships/hyperlink" Target="#i2c1_is_idle"/><Relationship Id="rId10" Type="http://schemas.openxmlformats.org/officeDocument/2006/relationships/hyperlink" Target="#i2c_set_active"/><Relationship Id="rId4" Type="http://schemas.openxmlformats.org/officeDocument/2006/relationships/hyperlink" Target="#i2c1_repeated_start"/><Relationship Id="rId9" Type="http://schemas.openxmlformats.org/officeDocument/2006/relationships/hyperlink" Target="#i2c1_settimeoutcallback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984" y="1203709"/>
            <a:ext cx="11493305" cy="1470025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COE</a:t>
            </a:r>
            <a:r>
              <a:rPr lang="en-US" sz="2400" dirty="0">
                <a:solidFill>
                  <a:srgbClr val="002060"/>
                </a:solidFill>
              </a:rPr>
              <a:t>3062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3200" b="1" dirty="0"/>
              <a:t>Microcontrollers &amp; Embedded </a:t>
            </a:r>
            <a:r>
              <a:rPr lang="en-US" sz="3200" b="1" dirty="0" smtClean="0"/>
              <a:t>Systems</a:t>
            </a:r>
            <a:br>
              <a:rPr lang="en-US" sz="3200" b="1" dirty="0" smtClean="0"/>
            </a:br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6700" dirty="0" smtClean="0"/>
              <a:t>Hardware Library for PIC</a:t>
            </a:r>
            <a:endParaRPr lang="en-US" sz="4000" dirty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057399" y="5288693"/>
            <a:ext cx="8229600" cy="1659458"/>
          </a:xfrm>
        </p:spPr>
        <p:txBody>
          <a:bodyPr>
            <a:normAutofit/>
          </a:bodyPr>
          <a:lstStyle/>
          <a:p>
            <a:r>
              <a:rPr lang="en-US" sz="1800" dirty="0" err="1" smtClean="0">
                <a:solidFill>
                  <a:srgbClr val="0070C0"/>
                </a:solidFill>
              </a:rPr>
              <a:t>Dr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Budditha</a:t>
            </a:r>
            <a:r>
              <a:rPr lang="en-US" sz="1800" dirty="0" smtClean="0">
                <a:solidFill>
                  <a:srgbClr val="0070C0"/>
                </a:solidFill>
              </a:rPr>
              <a:t> </a:t>
            </a:r>
            <a:r>
              <a:rPr lang="en-US" sz="1800" dirty="0" err="1" smtClean="0">
                <a:solidFill>
                  <a:srgbClr val="0070C0"/>
                </a:solidFill>
              </a:rPr>
              <a:t>Hettige</a:t>
            </a:r>
            <a:endParaRPr lang="en-US" sz="1800" dirty="0" smtClean="0">
              <a:solidFill>
                <a:srgbClr val="0070C0"/>
              </a:solidFill>
            </a:endParaRPr>
          </a:p>
          <a:p>
            <a:r>
              <a:rPr lang="en-US" sz="1800" dirty="0" smtClean="0">
                <a:solidFill>
                  <a:srgbClr val="0070C0"/>
                </a:solidFill>
              </a:rPr>
              <a:t>Department </a:t>
            </a:r>
            <a:r>
              <a:rPr lang="en-US" sz="1800" dirty="0">
                <a:solidFill>
                  <a:srgbClr val="0070C0"/>
                </a:solidFill>
              </a:rPr>
              <a:t>of Computer Engineering</a:t>
            </a:r>
          </a:p>
          <a:p>
            <a:r>
              <a:rPr lang="en-US" sz="1800" dirty="0">
                <a:solidFill>
                  <a:srgbClr val="0070C0"/>
                </a:solidFill>
              </a:rPr>
              <a:t>General Sir John Kotelawala </a:t>
            </a:r>
            <a:r>
              <a:rPr lang="en-US" sz="1800" dirty="0" err="1">
                <a:solidFill>
                  <a:srgbClr val="0070C0"/>
                </a:solidFill>
              </a:rPr>
              <a:t>Defence</a:t>
            </a:r>
            <a:r>
              <a:rPr lang="en-US" sz="1800" dirty="0">
                <a:solidFill>
                  <a:srgbClr val="0070C0"/>
                </a:solidFill>
              </a:rPr>
              <a:t> University.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69691" y="3007164"/>
            <a:ext cx="2605015" cy="1948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5154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Hardware 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LCD Library</a:t>
            </a:r>
          </a:p>
          <a:p>
            <a:r>
              <a:rPr lang="en-US" dirty="0" smtClean="0"/>
              <a:t>ADC Library</a:t>
            </a:r>
          </a:p>
          <a:p>
            <a:r>
              <a:rPr lang="en-US" dirty="0"/>
              <a:t>Keypad </a:t>
            </a:r>
            <a:r>
              <a:rPr lang="en-US" dirty="0" smtClean="0"/>
              <a:t>Library</a:t>
            </a:r>
          </a:p>
          <a:p>
            <a:r>
              <a:rPr lang="en-US" dirty="0" smtClean="0"/>
              <a:t>PS/2 Library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428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LCD 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/>
              <a:t>mikroC</a:t>
            </a:r>
            <a:r>
              <a:rPr lang="en-US" dirty="0"/>
              <a:t> PRO for PIC provides a library for communication with </a:t>
            </a:r>
            <a:r>
              <a:rPr lang="en-US" dirty="0" err="1"/>
              <a:t>Lcds</a:t>
            </a:r>
            <a:r>
              <a:rPr lang="en-US" dirty="0"/>
              <a:t> (with HD44780 compliant controllers) through the 4-bit interface.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creating a set of custom </a:t>
            </a:r>
            <a:r>
              <a:rPr lang="en-US" dirty="0" err="1"/>
              <a:t>Lcd</a:t>
            </a:r>
            <a:r>
              <a:rPr lang="en-US" dirty="0"/>
              <a:t> characters use </a:t>
            </a:r>
            <a:r>
              <a:rPr lang="en-US" dirty="0" err="1"/>
              <a:t>Lcd</a:t>
            </a:r>
            <a:r>
              <a:rPr lang="en-US" dirty="0"/>
              <a:t> Custom Character Tool</a:t>
            </a:r>
            <a:r>
              <a:rPr lang="en-US" dirty="0" smtClean="0"/>
              <a:t>.</a:t>
            </a:r>
          </a:p>
          <a:p>
            <a:r>
              <a:rPr lang="en-US" dirty="0"/>
              <a:t>Library Routines</a:t>
            </a:r>
          </a:p>
          <a:p>
            <a:pPr lvl="2"/>
            <a:r>
              <a:rPr lang="en-US" dirty="0" err="1">
                <a:solidFill>
                  <a:srgbClr val="C00000"/>
                </a:solidFill>
              </a:rPr>
              <a:t>Lcd_Init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pPr lvl="2"/>
            <a:r>
              <a:rPr lang="en-US" dirty="0" err="1">
                <a:solidFill>
                  <a:srgbClr val="C00000"/>
                </a:solidFill>
              </a:rPr>
              <a:t>Lcd_Out</a:t>
            </a:r>
            <a:r>
              <a:rPr lang="en-US" dirty="0">
                <a:solidFill>
                  <a:srgbClr val="C00000"/>
                </a:solidFill>
              </a:rPr>
              <a:t>  // void </a:t>
            </a:r>
            <a:r>
              <a:rPr lang="en-US" dirty="0" err="1">
                <a:solidFill>
                  <a:srgbClr val="C00000"/>
                </a:solidFill>
              </a:rPr>
              <a:t>Lcd_Out</a:t>
            </a:r>
            <a:r>
              <a:rPr lang="en-US" dirty="0">
                <a:solidFill>
                  <a:srgbClr val="C00000"/>
                </a:solidFill>
              </a:rPr>
              <a:t>(char row, char column, char *text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  <a:endParaRPr lang="en-US" dirty="0">
              <a:solidFill>
                <a:srgbClr val="C00000"/>
              </a:solidFill>
            </a:endParaRPr>
          </a:p>
          <a:p>
            <a:pPr lvl="2"/>
            <a:r>
              <a:rPr lang="en-US" dirty="0" err="1">
                <a:solidFill>
                  <a:srgbClr val="C00000"/>
                </a:solidFill>
              </a:rPr>
              <a:t>Lcd_Out_Cp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 // </a:t>
            </a:r>
            <a:r>
              <a:rPr lang="en-US" b="1" dirty="0">
                <a:solidFill>
                  <a:srgbClr val="C00000"/>
                </a:solidFill>
              </a:rPr>
              <a:t>void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Lcd_Out_Cp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b="1" dirty="0">
                <a:solidFill>
                  <a:srgbClr val="C00000"/>
                </a:solidFill>
              </a:rPr>
              <a:t>char</a:t>
            </a:r>
            <a:r>
              <a:rPr lang="en-US" dirty="0">
                <a:solidFill>
                  <a:srgbClr val="C00000"/>
                </a:solidFill>
              </a:rPr>
              <a:t> *text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  <a:endParaRPr lang="en-US" dirty="0">
              <a:solidFill>
                <a:srgbClr val="C00000"/>
              </a:solidFill>
            </a:endParaRPr>
          </a:p>
          <a:p>
            <a:pPr lvl="2"/>
            <a:r>
              <a:rPr lang="en-US" dirty="0" err="1">
                <a:solidFill>
                  <a:srgbClr val="C00000"/>
                </a:solidFill>
              </a:rPr>
              <a:t>Lcd_Chr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 // </a:t>
            </a:r>
            <a:r>
              <a:rPr lang="en-US" b="1" dirty="0">
                <a:solidFill>
                  <a:srgbClr val="C00000"/>
                </a:solidFill>
              </a:rPr>
              <a:t>void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Lcd_Chr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b="1" dirty="0">
                <a:solidFill>
                  <a:srgbClr val="C00000"/>
                </a:solidFill>
              </a:rPr>
              <a:t>char</a:t>
            </a:r>
            <a:r>
              <a:rPr lang="en-US" dirty="0">
                <a:solidFill>
                  <a:srgbClr val="C00000"/>
                </a:solidFill>
              </a:rPr>
              <a:t> row, </a:t>
            </a:r>
            <a:r>
              <a:rPr lang="en-US" b="1" dirty="0">
                <a:solidFill>
                  <a:srgbClr val="C00000"/>
                </a:solidFill>
              </a:rPr>
              <a:t>char</a:t>
            </a:r>
            <a:r>
              <a:rPr lang="en-US" dirty="0">
                <a:solidFill>
                  <a:srgbClr val="C00000"/>
                </a:solidFill>
              </a:rPr>
              <a:t> column, </a:t>
            </a:r>
            <a:r>
              <a:rPr lang="en-US" b="1" dirty="0">
                <a:solidFill>
                  <a:srgbClr val="C00000"/>
                </a:solidFill>
              </a:rPr>
              <a:t>char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out_char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  <a:endParaRPr lang="en-US" dirty="0">
              <a:solidFill>
                <a:srgbClr val="C00000"/>
              </a:solidFill>
            </a:endParaRPr>
          </a:p>
          <a:p>
            <a:pPr lvl="2"/>
            <a:r>
              <a:rPr lang="en-US" dirty="0" err="1">
                <a:solidFill>
                  <a:srgbClr val="C00000"/>
                </a:solidFill>
              </a:rPr>
              <a:t>Lcd_Chr_Cp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void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Lcd_Chr_Cp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b="1" dirty="0">
                <a:solidFill>
                  <a:srgbClr val="C00000"/>
                </a:solidFill>
              </a:rPr>
              <a:t>char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out_char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  <a:r>
              <a:rPr lang="en-US" dirty="0" err="1" smtClean="0">
                <a:solidFill>
                  <a:srgbClr val="C00000"/>
                </a:solidFill>
              </a:rPr>
              <a:t>Lcd_Cmd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endParaRPr lang="en-US" dirty="0">
              <a:solidFill>
                <a:srgbClr val="C00000"/>
              </a:solidFill>
            </a:endParaRPr>
          </a:p>
          <a:p>
            <a:pPr lvl="2"/>
            <a:r>
              <a:rPr lang="en-US" dirty="0" err="1" smtClean="0">
                <a:solidFill>
                  <a:srgbClr val="C00000"/>
                </a:solidFill>
              </a:rPr>
              <a:t>Lcd_Init</a:t>
            </a:r>
            <a:r>
              <a:rPr lang="en-US" dirty="0" smtClean="0">
                <a:solidFill>
                  <a:srgbClr val="C00000"/>
                </a:solidFill>
              </a:rPr>
              <a:t>   // </a:t>
            </a:r>
            <a:r>
              <a:rPr lang="en-US" b="1" dirty="0">
                <a:solidFill>
                  <a:srgbClr val="C00000"/>
                </a:solidFill>
              </a:rPr>
              <a:t>void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Lcd_Cmd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b="1" dirty="0">
                <a:solidFill>
                  <a:srgbClr val="C00000"/>
                </a:solidFill>
              </a:rPr>
              <a:t>char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out_char</a:t>
            </a:r>
            <a:r>
              <a:rPr lang="en-US" dirty="0">
                <a:solidFill>
                  <a:srgbClr val="C00000"/>
                </a:solidFill>
              </a:rPr>
              <a:t>);</a:t>
            </a:r>
          </a:p>
          <a:p>
            <a:pPr lvl="2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201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LCD Commands</a:t>
            </a:r>
            <a:endParaRPr lang="en-US" dirty="0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760" y="1055345"/>
            <a:ext cx="9000975" cy="498157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460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Content Placeholder 6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720721" y="-800069"/>
            <a:ext cx="5239560" cy="8974480"/>
          </a:xfrm>
        </p:spPr>
      </p:pic>
    </p:spTree>
    <p:extLst>
      <p:ext uri="{BB962C8B-B14F-4D97-AF65-F5344CB8AC3E}">
        <p14:creationId xmlns:p14="http://schemas.microsoft.com/office/powerpoint/2010/main" val="3705257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14" y="1091974"/>
            <a:ext cx="6991845" cy="464156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575" y="1091974"/>
            <a:ext cx="3571941" cy="464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865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 </a:t>
            </a:r>
            <a:r>
              <a:rPr lang="en-US" dirty="0" smtClean="0"/>
              <a:t>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ADC </a:t>
            </a:r>
            <a:r>
              <a:rPr lang="en-US" dirty="0"/>
              <a:t>(Analog to Digital Converter) module is available with a number of PIC MCU modules. </a:t>
            </a:r>
            <a:endParaRPr lang="en-US" dirty="0" smtClean="0"/>
          </a:p>
          <a:p>
            <a:r>
              <a:rPr lang="en-US" dirty="0" smtClean="0"/>
              <a:t>ADC </a:t>
            </a:r>
            <a:r>
              <a:rPr lang="en-US" dirty="0"/>
              <a:t>is an electronic circuit that converts continuous signals to discrete digital numbers. </a:t>
            </a:r>
            <a:endParaRPr lang="en-US" dirty="0" smtClean="0"/>
          </a:p>
          <a:p>
            <a:r>
              <a:rPr lang="en-US" dirty="0" smtClean="0"/>
              <a:t>ADC </a:t>
            </a:r>
            <a:r>
              <a:rPr lang="en-US" dirty="0"/>
              <a:t>Library provides you a comfortable work with the module.</a:t>
            </a:r>
          </a:p>
          <a:p>
            <a:r>
              <a:rPr lang="en-US" dirty="0" smtClean="0"/>
              <a:t>Library </a:t>
            </a:r>
            <a:r>
              <a:rPr lang="en-US" dirty="0"/>
              <a:t>Routines</a:t>
            </a:r>
          </a:p>
          <a:p>
            <a:pPr lvl="1"/>
            <a:r>
              <a:rPr lang="en-US" dirty="0" err="1"/>
              <a:t>ADC_Init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ADC_Init_Advanced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ADC_Get_Sample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ADC_Read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640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Diagram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8606" y="526236"/>
            <a:ext cx="5838170" cy="55903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8009" y="2606288"/>
            <a:ext cx="34269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More:  PIC 16F887 Datasheet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9.0 ANALOG-TO-DIGITAL CONVERTER (ADC) MODULE </a:t>
            </a:r>
          </a:p>
        </p:txBody>
      </p:sp>
    </p:spTree>
    <p:extLst>
      <p:ext uri="{BB962C8B-B14F-4D97-AF65-F5344CB8AC3E}">
        <p14:creationId xmlns:p14="http://schemas.microsoft.com/office/powerpoint/2010/main" val="1451124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ADC Library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51143" y="3898874"/>
            <a:ext cx="3653245" cy="22796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AutoShape 2" descr="PIC16f887 Microcontroller Pinout, Programming, Applications, Featur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65" y="1195843"/>
            <a:ext cx="7074478" cy="3076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00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Code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868" y="1026961"/>
            <a:ext cx="8734501" cy="522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26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ADC with Voltage Control</a:t>
            </a:r>
            <a:endParaRPr lang="en-US" dirty="0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578" y="1195388"/>
            <a:ext cx="7107144" cy="498157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15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863" y="262648"/>
            <a:ext cx="8087854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839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Keypad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mikroC</a:t>
            </a:r>
            <a:r>
              <a:rPr lang="en-US" dirty="0"/>
              <a:t> PRO for PIC provides a library for working with 4x4 keypad.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library routines can also be used with 4x1, 4x2, or 4x3 keypad. For connections explanation see schematic at the bottom of this page.</a:t>
            </a:r>
          </a:p>
          <a:p>
            <a:r>
              <a:rPr lang="en-US" dirty="0" smtClean="0"/>
              <a:t>Library </a:t>
            </a:r>
            <a:r>
              <a:rPr lang="en-US" dirty="0"/>
              <a:t>Routines</a:t>
            </a:r>
          </a:p>
          <a:p>
            <a:pPr lvl="1"/>
            <a:r>
              <a:rPr lang="en-US" dirty="0" err="1"/>
              <a:t>Keypad_Init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Keypad_Key_Press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Keypad_Key_Click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343" y="3064346"/>
            <a:ext cx="4943475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4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Diagram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6912" y="716692"/>
            <a:ext cx="6815012" cy="546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577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6" name="Content Placeholder 5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376" y="1030631"/>
            <a:ext cx="3321050" cy="498157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30" y="1195388"/>
            <a:ext cx="6927581" cy="447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97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PS/2 </a:t>
            </a:r>
            <a:r>
              <a:rPr lang="en-US" dirty="0" smtClean="0"/>
              <a:t>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/>
              <a:t>mikroC</a:t>
            </a:r>
            <a:r>
              <a:rPr lang="en-US" dirty="0"/>
              <a:t> PRO for PIC provides a library for communication with the common PS/2 keyboard.</a:t>
            </a:r>
          </a:p>
          <a:p>
            <a:r>
              <a:rPr lang="en-US" dirty="0" smtClean="0"/>
              <a:t>Important 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The library does not utilize interrupts for data retrieval, and requires the oscillator clock to be at least 6MHz. </a:t>
            </a:r>
          </a:p>
          <a:p>
            <a:pPr lvl="2"/>
            <a:r>
              <a:rPr lang="en-US" dirty="0"/>
              <a:t>The pins to which a PS/2 keyboard is attached should be connected to the pull-up resistors. </a:t>
            </a:r>
          </a:p>
          <a:p>
            <a:pPr lvl="2"/>
            <a:r>
              <a:rPr lang="en-US" dirty="0"/>
              <a:t>Although PS/2 is a two-way communication bus, this library does not provide MCU-to-keyboard communication; e.g. pressing the Caps Lock key will not turn on the Caps Lock LED. </a:t>
            </a:r>
          </a:p>
          <a:p>
            <a:r>
              <a:rPr lang="en-US" b="1" dirty="0"/>
              <a:t>Library Routines</a:t>
            </a:r>
          </a:p>
          <a:p>
            <a:pPr lvl="1"/>
            <a:r>
              <a:rPr lang="en-US" dirty="0">
                <a:hlinkClick r:id="rId2" action="ppaction://hlinkfile"/>
              </a:rPr>
              <a:t>Ps2_Config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3" action="ppaction://hlinkfile"/>
              </a:rPr>
              <a:t>Ps2_Key_Read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765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Diagram</a:t>
            </a:r>
            <a:endParaRPr lang="en-US" dirty="0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244" y="722018"/>
            <a:ext cx="7692171" cy="552668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0563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14" y="1195843"/>
            <a:ext cx="5053771" cy="498157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945" y="1195843"/>
            <a:ext cx="5722225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02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UART </a:t>
            </a:r>
            <a:r>
              <a:rPr lang="en-US" dirty="0" smtClean="0"/>
              <a:t>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UART hardware module is available with a number of PIC compliant MCUs.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/>
              <a:t>mikroC</a:t>
            </a:r>
            <a:r>
              <a:rPr lang="en-US" dirty="0"/>
              <a:t> PRO for PIC UART Library provides comfortable work with the Asynchronous (full duplex) mode.</a:t>
            </a:r>
          </a:p>
          <a:p>
            <a:r>
              <a:rPr lang="en-US" dirty="0" smtClean="0"/>
              <a:t>You </a:t>
            </a:r>
            <a:r>
              <a:rPr lang="en-US" dirty="0"/>
              <a:t>can easily communicate with other devices via RS-232 </a:t>
            </a:r>
            <a:r>
              <a:rPr lang="en-US" dirty="0" smtClean="0"/>
              <a:t>protocol</a:t>
            </a:r>
          </a:p>
          <a:p>
            <a:r>
              <a:rPr lang="en-US" dirty="0"/>
              <a:t>Library Routines</a:t>
            </a:r>
          </a:p>
          <a:p>
            <a:pPr lvl="2"/>
            <a:r>
              <a:rPr lang="en-US" sz="1600" dirty="0" err="1"/>
              <a:t>UARTx_Init</a:t>
            </a:r>
            <a:r>
              <a:rPr lang="en-US" sz="1600" dirty="0"/>
              <a:t> </a:t>
            </a:r>
          </a:p>
          <a:p>
            <a:pPr lvl="2"/>
            <a:r>
              <a:rPr lang="en-US" sz="1600" dirty="0" err="1"/>
              <a:t>UARTx_Data_Ready</a:t>
            </a:r>
            <a:r>
              <a:rPr lang="en-US" sz="1600" dirty="0"/>
              <a:t> </a:t>
            </a:r>
          </a:p>
          <a:p>
            <a:pPr lvl="2"/>
            <a:r>
              <a:rPr lang="en-US" sz="1600" dirty="0" err="1"/>
              <a:t>UARTx_Tx_Idle</a:t>
            </a:r>
            <a:r>
              <a:rPr lang="en-US" sz="1600" dirty="0"/>
              <a:t> </a:t>
            </a:r>
          </a:p>
          <a:p>
            <a:pPr lvl="2"/>
            <a:r>
              <a:rPr lang="en-US" sz="1600" dirty="0" err="1"/>
              <a:t>UARTx_Read</a:t>
            </a:r>
            <a:r>
              <a:rPr lang="en-US" sz="1600" dirty="0"/>
              <a:t> </a:t>
            </a:r>
          </a:p>
          <a:p>
            <a:pPr lvl="2"/>
            <a:r>
              <a:rPr lang="en-US" sz="1600" dirty="0" err="1"/>
              <a:t>UARTx_Read_Text</a:t>
            </a:r>
            <a:r>
              <a:rPr lang="en-US" sz="1600" dirty="0"/>
              <a:t> </a:t>
            </a:r>
          </a:p>
          <a:p>
            <a:pPr lvl="2"/>
            <a:r>
              <a:rPr lang="en-US" sz="1600" dirty="0" err="1"/>
              <a:t>UARTx_Write</a:t>
            </a:r>
            <a:r>
              <a:rPr lang="en-US" sz="1600" dirty="0"/>
              <a:t> </a:t>
            </a:r>
          </a:p>
          <a:p>
            <a:pPr lvl="2"/>
            <a:r>
              <a:rPr lang="en-US" sz="1600" dirty="0" err="1"/>
              <a:t>UARTx_Write_Text</a:t>
            </a:r>
            <a:r>
              <a:rPr lang="en-US" sz="1600" dirty="0"/>
              <a:t> </a:t>
            </a:r>
          </a:p>
          <a:p>
            <a:pPr lvl="2"/>
            <a:r>
              <a:rPr lang="en-US" sz="1600" dirty="0" err="1"/>
              <a:t>UART_Set_Active</a:t>
            </a:r>
            <a:r>
              <a:rPr lang="en-US" sz="16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544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644" y="248194"/>
            <a:ext cx="5257876" cy="604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88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1962" y="1052969"/>
            <a:ext cx="7499461" cy="512553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776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I²C </a:t>
            </a:r>
            <a:r>
              <a:rPr lang="en-US" dirty="0" smtClean="0"/>
              <a:t>Library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dirty="0"/>
              <a:t>I²C full master MSSP module is available with a number of PIC MCU models. </a:t>
            </a:r>
            <a:endParaRPr lang="en-US" sz="2400" dirty="0" smtClean="0"/>
          </a:p>
          <a:p>
            <a:r>
              <a:rPr lang="en-US" sz="2400" dirty="0" err="1" smtClean="0"/>
              <a:t>mikroC</a:t>
            </a:r>
            <a:r>
              <a:rPr lang="en-US" sz="2400" dirty="0" smtClean="0"/>
              <a:t> </a:t>
            </a:r>
            <a:r>
              <a:rPr lang="en-US" sz="2400" dirty="0"/>
              <a:t>PRO for PIC provides library which supports the master I²C mode.</a:t>
            </a:r>
          </a:p>
          <a:p>
            <a:r>
              <a:rPr lang="en-US" sz="2400" dirty="0" smtClean="0"/>
              <a:t>Important </a:t>
            </a:r>
            <a:r>
              <a:rPr lang="en-US" sz="2400" dirty="0"/>
              <a:t>: </a:t>
            </a:r>
          </a:p>
          <a:p>
            <a:pPr lvl="1"/>
            <a:r>
              <a:rPr lang="en-US" sz="2000" dirty="0"/>
              <a:t>I²C routines require you to specify the module you want to use. </a:t>
            </a:r>
            <a:endParaRPr lang="en-US" sz="2000" dirty="0" smtClean="0"/>
          </a:p>
          <a:p>
            <a:pPr lvl="1"/>
            <a:r>
              <a:rPr lang="en-US" sz="2000" dirty="0" smtClean="0"/>
              <a:t>To </a:t>
            </a:r>
            <a:r>
              <a:rPr lang="en-US" sz="2000" dirty="0"/>
              <a:t>select the desired I²C, simply change the letter x in the prototype for a number from 1 to </a:t>
            </a:r>
            <a:r>
              <a:rPr lang="en-US" sz="2000" dirty="0" smtClean="0"/>
              <a:t>2</a:t>
            </a:r>
          </a:p>
          <a:p>
            <a:r>
              <a:rPr lang="en-US" sz="1600" b="1" dirty="0"/>
              <a:t>Library Routines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hlinkClick r:id="rId2" action="ppaction://hlinkfile"/>
              </a:rPr>
              <a:t>I2Cx_Init</a:t>
            </a:r>
            <a:r>
              <a:rPr lang="en-US" sz="1600" dirty="0"/>
              <a:t> </a:t>
            </a:r>
            <a:r>
              <a:rPr lang="en-US" sz="1600" dirty="0" smtClean="0"/>
              <a:t>			</a:t>
            </a:r>
            <a:r>
              <a:rPr lang="en-US" sz="1600" dirty="0" smtClean="0">
                <a:hlinkClick r:id="rId3" action="ppaction://hlinkfile"/>
              </a:rPr>
              <a:t>I2Cx_Start</a:t>
            </a:r>
            <a:r>
              <a:rPr lang="en-US" sz="1600" dirty="0" smtClean="0"/>
              <a:t> 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hlinkClick r:id="rId4" action="ppaction://hlinkfile"/>
              </a:rPr>
              <a:t>I2Cx_Repeated_Start</a:t>
            </a:r>
            <a:r>
              <a:rPr lang="en-US" sz="1600" dirty="0"/>
              <a:t> </a:t>
            </a:r>
            <a:r>
              <a:rPr lang="en-US" sz="1600" dirty="0" smtClean="0"/>
              <a:t>		</a:t>
            </a:r>
            <a:r>
              <a:rPr lang="en-US" sz="1600" dirty="0" smtClean="0">
                <a:hlinkClick r:id="rId5" action="ppaction://hlinkfile"/>
              </a:rPr>
              <a:t>I2Cx_Is_Idle</a:t>
            </a:r>
            <a:r>
              <a:rPr lang="en-US" sz="1600" dirty="0" smtClean="0"/>
              <a:t> 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hlinkClick r:id="rId6" action="ppaction://hlinkfile"/>
              </a:rPr>
              <a:t>I2Cx_Rd</a:t>
            </a:r>
            <a:r>
              <a:rPr lang="en-US" sz="1600" dirty="0"/>
              <a:t> </a:t>
            </a:r>
            <a:r>
              <a:rPr lang="en-US" sz="1600" dirty="0" smtClean="0"/>
              <a:t>			</a:t>
            </a:r>
            <a:r>
              <a:rPr lang="en-US" sz="1600" dirty="0" smtClean="0">
                <a:hlinkClick r:id="rId7" action="ppaction://hlinkfile"/>
              </a:rPr>
              <a:t>I2Cx_Wr</a:t>
            </a:r>
            <a:r>
              <a:rPr lang="en-US" sz="1600" dirty="0" smtClean="0"/>
              <a:t> 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hlinkClick r:id="rId8" action="ppaction://hlinkfile"/>
              </a:rPr>
              <a:t>I2Cx_Stop</a:t>
            </a:r>
            <a:r>
              <a:rPr lang="en-US" sz="1600" dirty="0"/>
              <a:t> </a:t>
            </a:r>
            <a:r>
              <a:rPr lang="en-US" sz="1600" dirty="0" smtClean="0"/>
              <a:t>			</a:t>
            </a:r>
            <a:r>
              <a:rPr lang="en-US" sz="1600" dirty="0" smtClean="0">
                <a:hlinkClick r:id="rId9" action="ppaction://hlinkfile"/>
              </a:rPr>
              <a:t>I2Cx_SetTimeoutCallback</a:t>
            </a:r>
            <a:r>
              <a:rPr lang="en-US" sz="1600" dirty="0" smtClean="0"/>
              <a:t> 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600" dirty="0">
                <a:hlinkClick r:id="rId10" action="ppaction://hlinkfile"/>
              </a:rPr>
              <a:t>I2C_Set_Active</a:t>
            </a:r>
            <a:r>
              <a:rPr lang="en-US" sz="1600" dirty="0"/>
              <a:t> </a:t>
            </a:r>
            <a:r>
              <a:rPr lang="en-US" sz="1600" dirty="0" smtClean="0"/>
              <a:t> 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599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HW</a:t>
            </a:r>
            <a:endParaRPr lang="en-US" dirty="0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473" y="462221"/>
            <a:ext cx="7700127" cy="5628249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555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</a:t>
            </a:r>
            <a:endParaRPr lang="en-US" dirty="0"/>
          </a:p>
        </p:txBody>
      </p:sp>
      <p:pic>
        <p:nvPicPr>
          <p:cNvPr id="5" name="Content Placeholder 4" descr="Screen Clippi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0292" y="422382"/>
            <a:ext cx="7797216" cy="5756117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1A3952-A237-4C1E-B169-F29C0CF1F60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930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487</Words>
  <Application>Microsoft Office PowerPoint</Application>
  <PresentationFormat>Widescreen</PresentationFormat>
  <Paragraphs>111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COE3062 Microcontrollers &amp; Embedded Systems  Hardware Library for PIC</vt:lpstr>
      <vt:lpstr>Hardware Library</vt:lpstr>
      <vt:lpstr>LCD Library</vt:lpstr>
      <vt:lpstr>LCD Commands</vt:lpstr>
      <vt:lpstr>Diagram</vt:lpstr>
      <vt:lpstr>Code</vt:lpstr>
      <vt:lpstr>ADC Library</vt:lpstr>
      <vt:lpstr>Block Diagram</vt:lpstr>
      <vt:lpstr>ADC Library</vt:lpstr>
      <vt:lpstr>Code</vt:lpstr>
      <vt:lpstr>ADC with Voltage Control</vt:lpstr>
      <vt:lpstr>Code</vt:lpstr>
      <vt:lpstr>Keypad Library</vt:lpstr>
      <vt:lpstr>Diagram</vt:lpstr>
      <vt:lpstr>Code</vt:lpstr>
      <vt:lpstr>PS/2 Library</vt:lpstr>
      <vt:lpstr>Diagram</vt:lpstr>
      <vt:lpstr>Code</vt:lpstr>
      <vt:lpstr>UART Library</vt:lpstr>
      <vt:lpstr>HW</vt:lpstr>
      <vt:lpstr>Code</vt:lpstr>
      <vt:lpstr>I²C Library </vt:lpstr>
      <vt:lpstr>HW</vt:lpstr>
      <vt:lpstr>Code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Mr. Budditha Hettige</dc:creator>
  <cp:lastModifiedBy>Dr. Budditha Hettige</cp:lastModifiedBy>
  <cp:revision>37</cp:revision>
  <dcterms:created xsi:type="dcterms:W3CDTF">2019-10-01T20:54:45Z</dcterms:created>
  <dcterms:modified xsi:type="dcterms:W3CDTF">2022-08-30T04:59:08Z</dcterms:modified>
</cp:coreProperties>
</file>