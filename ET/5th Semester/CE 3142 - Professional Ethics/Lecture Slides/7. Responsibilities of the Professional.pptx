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7" r:id="rId2"/>
    <p:sldId id="264" r:id="rId3"/>
    <p:sldId id="265" r:id="rId4"/>
    <p:sldId id="266" r:id="rId5"/>
    <p:sldId id="267" r:id="rId6"/>
    <p:sldId id="269" r:id="rId7"/>
    <p:sldId id="268" r:id="rId8"/>
    <p:sldId id="275" r:id="rId9"/>
    <p:sldId id="284" r:id="rId10"/>
    <p:sldId id="276" r:id="rId11"/>
    <p:sldId id="278" r:id="rId12"/>
    <p:sldId id="277" r:id="rId13"/>
    <p:sldId id="279" r:id="rId14"/>
    <p:sldId id="280" r:id="rId15"/>
    <p:sldId id="274" r:id="rId16"/>
    <p:sldId id="281" r:id="rId17"/>
    <p:sldId id="282" r:id="rId18"/>
    <p:sldId id="273" r:id="rId19"/>
    <p:sldId id="28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105178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3928838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153371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D47135-FDB1-45AF-B877-D7F4F4EB6B82}"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183469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D47135-FDB1-45AF-B877-D7F4F4EB6B82}" type="datetimeFigureOut">
              <a:rPr lang="en-US" smtClean="0"/>
              <a:t>3/3/2024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2839708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D47135-FDB1-45AF-B877-D7F4F4EB6B82}"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194018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D47135-FDB1-45AF-B877-D7F4F4EB6B82}" type="datetimeFigureOut">
              <a:rPr lang="en-US" smtClean="0"/>
              <a:t>3/3/2024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3973419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D47135-FDB1-45AF-B877-D7F4F4EB6B82}"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109191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D47135-FDB1-45AF-B877-D7F4F4EB6B82}"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3724688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1811761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45161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2379404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1729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6432244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31137428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D47135-FDB1-45AF-B877-D7F4F4EB6B82}"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23EF48-3637-4188-90F5-99A4BA8C0A10}" type="slidenum">
              <a:rPr lang="en-US" smtClean="0"/>
              <a:t>‹#›</a:t>
            </a:fld>
            <a:endParaRPr lang="en-US"/>
          </a:p>
        </p:txBody>
      </p:sp>
    </p:spTree>
    <p:extLst>
      <p:ext uri="{BB962C8B-B14F-4D97-AF65-F5344CB8AC3E}">
        <p14:creationId xmlns:p14="http://schemas.microsoft.com/office/powerpoint/2010/main" val="3246889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AD47135-FDB1-45AF-B877-D7F4F4EB6B82}" type="datetimeFigureOut">
              <a:rPr lang="en-US" smtClean="0"/>
              <a:t>3/3/2024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E23EF48-3637-4188-90F5-99A4BA8C0A10}" type="slidenum">
              <a:rPr lang="en-US" smtClean="0"/>
              <a:t>‹#›</a:t>
            </a:fld>
            <a:endParaRPr lang="en-US"/>
          </a:p>
        </p:txBody>
      </p:sp>
    </p:spTree>
    <p:extLst>
      <p:ext uri="{BB962C8B-B14F-4D97-AF65-F5344CB8AC3E}">
        <p14:creationId xmlns:p14="http://schemas.microsoft.com/office/powerpoint/2010/main" val="216992604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CITICORP%20CENTRE%20BUILDING%20CASE%20STUDY.pptx" TargetMode="External"/><Relationship Id="rId2" Type="http://schemas.openxmlformats.org/officeDocument/2006/relationships/hyperlink" Target="Hyatt%20Regency%20walkway%20collapse.pptx"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alphastockimages.com/" TargetMode="External"/><Relationship Id="rId2" Type="http://schemas.openxmlformats.org/officeDocument/2006/relationships/hyperlink" Target="https://study.com/academy/lesson/what-is-autonomy-definition-ethics.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7932" y="1569027"/>
            <a:ext cx="8574622" cy="4960359"/>
          </a:xfrm>
        </p:spPr>
        <p:txBody>
          <a:bodyPr>
            <a:normAutofit fontScale="90000"/>
          </a:bodyPr>
          <a:lstStyle/>
          <a:p>
            <a:pPr algn="ctr"/>
            <a:r>
              <a:rPr lang="en-US" b="1" dirty="0">
                <a:latin typeface="Calibri" panose="020F0502020204030204" pitchFamily="34" charset="0"/>
                <a:cs typeface="Calibri" panose="020F0502020204030204" pitchFamily="34" charset="0"/>
              </a:rPr>
              <a:t>RESPONSIBILITIES OF THE PROFESSIONAL</a:t>
            </a: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r>
              <a:rPr lang="en-US" sz="3300" b="1" dirty="0">
                <a:latin typeface="Calibri" panose="020F0502020204030204" pitchFamily="34" charset="0"/>
                <a:cs typeface="Calibri" panose="020F0502020204030204" pitchFamily="34" charset="0"/>
              </a:rPr>
              <a:t>FACULTY OF ENGINEERING</a:t>
            </a:r>
            <a:br>
              <a:rPr lang="en-US" sz="3300" b="1" dirty="0">
                <a:latin typeface="Calibri" panose="020F0502020204030204" pitchFamily="34" charset="0"/>
                <a:cs typeface="Calibri" panose="020F0502020204030204" pitchFamily="34" charset="0"/>
              </a:rPr>
            </a:br>
            <a:r>
              <a:rPr lang="en-US" sz="3300" b="1" dirty="0">
                <a:cs typeface="Calibri" panose="020F0502020204030204" pitchFamily="34" charset="0"/>
              </a:rPr>
              <a:t>TH</a:t>
            </a:r>
            <a:r>
              <a:rPr lang="en-US" sz="3300" b="1" dirty="0"/>
              <a:t>E KOTHELAWELA DEFENCE UNIVERSITY</a:t>
            </a:r>
            <a:br>
              <a:rPr lang="en-US" sz="3300" b="1" dirty="0">
                <a:latin typeface="Calibri" panose="020F0502020204030204" pitchFamily="34" charset="0"/>
                <a:cs typeface="Calibri" panose="020F0502020204030204" pitchFamily="34" charset="0"/>
              </a:rPr>
            </a:br>
            <a:r>
              <a:rPr lang="en-US" sz="3300" b="1" dirty="0">
                <a:latin typeface="Calibri" panose="020F0502020204030204" pitchFamily="34" charset="0"/>
                <a:cs typeface="Calibri" panose="020F0502020204030204" pitchFamily="34" charset="0"/>
              </a:rPr>
              <a:t> 1</a:t>
            </a:r>
            <a:r>
              <a:rPr lang="en-US" sz="3300" b="1" baseline="30000" dirty="0">
                <a:latin typeface="Calibri" panose="020F0502020204030204" pitchFamily="34" charset="0"/>
                <a:cs typeface="Calibri" panose="020F0502020204030204" pitchFamily="34" charset="0"/>
              </a:rPr>
              <a:t>st</a:t>
            </a:r>
            <a:r>
              <a:rPr lang="en-US" sz="3300" b="1" dirty="0">
                <a:latin typeface="Calibri" panose="020F0502020204030204" pitchFamily="34" charset="0"/>
                <a:cs typeface="Calibri" panose="020F0502020204030204" pitchFamily="34" charset="0"/>
              </a:rPr>
              <a:t> March 2024</a:t>
            </a:r>
            <a:br>
              <a:rPr lang="en-US" sz="3300" b="1" dirty="0">
                <a:latin typeface="Calibri" panose="020F0502020204030204" pitchFamily="34" charset="0"/>
                <a:cs typeface="Calibri" panose="020F0502020204030204" pitchFamily="34" charset="0"/>
              </a:rPr>
            </a:br>
            <a:br>
              <a:rPr lang="en-US" sz="3200" dirty="0">
                <a:latin typeface="Calibri" panose="020F0502020204030204" pitchFamily="34" charset="0"/>
                <a:cs typeface="Calibri" panose="020F0502020204030204" pitchFamily="34" charset="0"/>
              </a:rPr>
            </a:br>
            <a:endParaRPr lang="en-US" sz="3200" dirty="0">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342900" y="328614"/>
            <a:ext cx="10701337" cy="1115722"/>
          </a:xfrm>
        </p:spPr>
        <p:txBody>
          <a:bodyPr>
            <a:normAutofit fontScale="47500" lnSpcReduction="20000"/>
          </a:bodyPr>
          <a:lstStyle/>
          <a:p>
            <a:pPr algn="ctr"/>
            <a:endParaRPr lang="en-US" sz="3200" b="1" dirty="0"/>
          </a:p>
          <a:p>
            <a:pPr algn="l"/>
            <a:endParaRPr lang="en-US" dirty="0"/>
          </a:p>
          <a:p>
            <a:pPr algn="ctr"/>
            <a:r>
              <a:rPr lang="en-US" sz="7300" b="1" dirty="0"/>
              <a:t>PROFESSIONAL ETHICS - </a:t>
            </a:r>
            <a:r>
              <a:rPr lang="en-US" sz="7300" b="1" dirty="0">
                <a:latin typeface="Calibri" panose="020F0502020204030204" pitchFamily="34" charset="0"/>
                <a:cs typeface="Calibri" panose="020F0502020204030204" pitchFamily="34" charset="0"/>
              </a:rPr>
              <a:t>CE 3142 </a:t>
            </a:r>
            <a:endParaRPr lang="en-US" sz="7300" b="1" dirty="0"/>
          </a:p>
        </p:txBody>
      </p:sp>
    </p:spTree>
    <p:extLst>
      <p:ext uri="{BB962C8B-B14F-4D97-AF65-F5344CB8AC3E}">
        <p14:creationId xmlns:p14="http://schemas.microsoft.com/office/powerpoint/2010/main" val="1623183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157162"/>
            <a:ext cx="10018713" cy="800101"/>
          </a:xfrm>
        </p:spPr>
        <p:txBody>
          <a:bodyPr>
            <a:normAutofit/>
          </a:bodyPr>
          <a:lstStyle/>
          <a:p>
            <a:r>
              <a:rPr lang="en-US" b="1" dirty="0"/>
              <a:t>TOPICS</a:t>
            </a:r>
          </a:p>
        </p:txBody>
      </p:sp>
      <p:sp>
        <p:nvSpPr>
          <p:cNvPr id="3" name="Content Placeholder 2"/>
          <p:cNvSpPr>
            <a:spLocks noGrp="1"/>
          </p:cNvSpPr>
          <p:nvPr>
            <p:ph idx="1"/>
          </p:nvPr>
        </p:nvSpPr>
        <p:spPr>
          <a:xfrm>
            <a:off x="1484310" y="1257301"/>
            <a:ext cx="10018713" cy="5372099"/>
          </a:xfrm>
        </p:spPr>
        <p:txBody>
          <a:bodyPr>
            <a:normAutofit/>
          </a:bodyPr>
          <a:lstStyle/>
          <a:p>
            <a:endParaRPr lang="en-US" dirty="0"/>
          </a:p>
          <a:p>
            <a:r>
              <a:rPr lang="en-US" sz="2400" dirty="0"/>
              <a:t>Responsibilities of the Profession</a:t>
            </a:r>
          </a:p>
          <a:p>
            <a:r>
              <a:rPr lang="en-US" sz="2400" dirty="0"/>
              <a:t>Engineering Standards</a:t>
            </a:r>
          </a:p>
          <a:p>
            <a:pPr lvl="1"/>
            <a:r>
              <a:rPr lang="en-US" sz="2200" dirty="0"/>
              <a:t>Standards of Care</a:t>
            </a:r>
          </a:p>
          <a:p>
            <a:pPr lvl="1"/>
            <a:r>
              <a:rPr lang="en-US" sz="2200" dirty="0"/>
              <a:t>Hyatt Regency Walkway collapse</a:t>
            </a:r>
          </a:p>
          <a:p>
            <a:pPr lvl="1"/>
            <a:r>
              <a:rPr lang="en-US" sz="2200" dirty="0"/>
              <a:t>Citicorp </a:t>
            </a:r>
            <a:r>
              <a:rPr lang="en-US" sz="2200" dirty="0" err="1"/>
              <a:t>Buildig</a:t>
            </a:r>
            <a:endParaRPr lang="en-US" sz="2200" dirty="0"/>
          </a:p>
          <a:p>
            <a:pPr marL="57150" indent="0">
              <a:buNone/>
            </a:pPr>
            <a:r>
              <a:rPr lang="en-US" sz="2400" dirty="0"/>
              <a:t> </a:t>
            </a:r>
          </a:p>
          <a:p>
            <a:pPr marL="0" indent="0">
              <a:buNone/>
            </a:pPr>
            <a:endParaRPr lang="en-US" sz="2400" dirty="0"/>
          </a:p>
          <a:p>
            <a:endParaRPr lang="en-US" sz="2400" dirty="0"/>
          </a:p>
          <a:p>
            <a:endParaRPr lang="en-US" sz="3200" dirty="0"/>
          </a:p>
          <a:p>
            <a:endParaRPr lang="en-US" sz="3200" dirty="0"/>
          </a:p>
          <a:p>
            <a:endParaRPr lang="en-US" dirty="0"/>
          </a:p>
        </p:txBody>
      </p:sp>
    </p:spTree>
    <p:extLst>
      <p:ext uri="{BB962C8B-B14F-4D97-AF65-F5344CB8AC3E}">
        <p14:creationId xmlns:p14="http://schemas.microsoft.com/office/powerpoint/2010/main" val="1865484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048" y="200026"/>
            <a:ext cx="10018713" cy="885825"/>
          </a:xfrm>
        </p:spPr>
        <p:txBody>
          <a:bodyPr/>
          <a:lstStyle/>
          <a:p>
            <a:r>
              <a:rPr lang="en-US" b="1" dirty="0"/>
              <a:t>RESPONSIBILITIES OF THE PROFESSIONAL</a:t>
            </a:r>
          </a:p>
        </p:txBody>
      </p:sp>
      <p:sp>
        <p:nvSpPr>
          <p:cNvPr id="3" name="Content Placeholder 2"/>
          <p:cNvSpPr>
            <a:spLocks noGrp="1"/>
          </p:cNvSpPr>
          <p:nvPr>
            <p:ph idx="1"/>
          </p:nvPr>
        </p:nvSpPr>
        <p:spPr>
          <a:xfrm>
            <a:off x="769935" y="1228726"/>
            <a:ext cx="10018713" cy="5462587"/>
          </a:xfrm>
        </p:spPr>
        <p:txBody>
          <a:bodyPr>
            <a:normAutofit fontScale="92500" lnSpcReduction="10000"/>
          </a:bodyPr>
          <a:lstStyle/>
          <a:p>
            <a:endParaRPr lang="en-US" dirty="0"/>
          </a:p>
          <a:p>
            <a:r>
              <a:rPr lang="en-US" sz="3200" dirty="0"/>
              <a:t>ACCONTABILITY</a:t>
            </a:r>
            <a:endParaRPr lang="en-US" sz="3500" dirty="0"/>
          </a:p>
          <a:p>
            <a:r>
              <a:rPr lang="en-US" sz="2800" dirty="0"/>
              <a:t>Responsibility has to do with Accountability</a:t>
            </a:r>
          </a:p>
          <a:p>
            <a:pPr lvl="1"/>
            <a:r>
              <a:rPr lang="en-US" sz="2400" b="1" dirty="0">
                <a:solidFill>
                  <a:srgbClr val="FF0000"/>
                </a:solidFill>
              </a:rPr>
              <a:t>for what one does in the present, the future and also, the past</a:t>
            </a:r>
          </a:p>
          <a:p>
            <a:r>
              <a:rPr lang="en-US" sz="2800" dirty="0"/>
              <a:t>As professionals, engineers are expected to maintaining high standards of conduct</a:t>
            </a:r>
          </a:p>
          <a:p>
            <a:r>
              <a:rPr lang="en-US" sz="2800" dirty="0"/>
              <a:t>An Engineering Code of Ethics /Conduct e.g. IESL Code of Ethics, specifies how Engineers should behave or conduct themselves</a:t>
            </a:r>
          </a:p>
          <a:p>
            <a:pPr lvl="2"/>
            <a:r>
              <a:rPr lang="en-US" sz="2400" dirty="0"/>
              <a:t>this is based on the impact that engineering has on the quality of life</a:t>
            </a:r>
          </a:p>
          <a:p>
            <a:pPr lvl="2"/>
            <a:r>
              <a:rPr lang="en-US" sz="2400" dirty="0"/>
              <a:t>This impact is the result of the expertise that comes with engineering knowledge, training and experience</a:t>
            </a:r>
          </a:p>
          <a:p>
            <a:pPr lvl="2"/>
            <a:r>
              <a:rPr lang="en-US" sz="2400" b="1" dirty="0">
                <a:solidFill>
                  <a:srgbClr val="FF0000"/>
                </a:solidFill>
              </a:rPr>
              <a:t>Such expertise carries with it professional responsibility</a:t>
            </a:r>
            <a:r>
              <a:rPr lang="en-US" dirty="0"/>
              <a:t>.</a:t>
            </a:r>
          </a:p>
          <a:p>
            <a:endParaRPr lang="en-US" sz="2800" dirty="0"/>
          </a:p>
          <a:p>
            <a:endParaRPr lang="en-US" sz="2800" dirty="0"/>
          </a:p>
        </p:txBody>
      </p:sp>
    </p:spTree>
    <p:extLst>
      <p:ext uri="{BB962C8B-B14F-4D97-AF65-F5344CB8AC3E}">
        <p14:creationId xmlns:p14="http://schemas.microsoft.com/office/powerpoint/2010/main" val="195152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1000"/>
                                        <p:tgtEl>
                                          <p:spTgt spid="3">
                                            <p:txEl>
                                              <p:pRg st="8" end="8"/>
                                            </p:txEl>
                                          </p:spTgt>
                                        </p:tgtEl>
                                      </p:cBhvr>
                                    </p:animEffect>
                                    <p:anim calcmode="lin" valueType="num">
                                      <p:cBhvr>
                                        <p:cTn id="3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072" y="457201"/>
            <a:ext cx="10018713" cy="857250"/>
          </a:xfrm>
        </p:spPr>
        <p:txBody>
          <a:bodyPr/>
          <a:lstStyle/>
          <a:p>
            <a:r>
              <a:rPr lang="en-US" b="1" dirty="0"/>
              <a:t>RESPONSIBILITIES OF THE PROFESSIONAL</a:t>
            </a:r>
            <a:endParaRPr lang="en-US" dirty="0"/>
          </a:p>
        </p:txBody>
      </p:sp>
      <p:sp>
        <p:nvSpPr>
          <p:cNvPr id="3" name="Content Placeholder 2"/>
          <p:cNvSpPr>
            <a:spLocks noGrp="1"/>
          </p:cNvSpPr>
          <p:nvPr>
            <p:ph idx="1"/>
          </p:nvPr>
        </p:nvSpPr>
        <p:spPr>
          <a:xfrm>
            <a:off x="727072" y="1614487"/>
            <a:ext cx="10018713" cy="4914899"/>
          </a:xfrm>
        </p:spPr>
        <p:txBody>
          <a:bodyPr>
            <a:normAutofit lnSpcReduction="10000"/>
          </a:bodyPr>
          <a:lstStyle/>
          <a:p>
            <a:r>
              <a:rPr lang="en-US" sz="3200" dirty="0"/>
              <a:t>The concept of Responsibility is many faceted</a:t>
            </a:r>
          </a:p>
          <a:p>
            <a:r>
              <a:rPr lang="en-US" sz="2800" dirty="0"/>
              <a:t>As a notion of Accountability it may be applied to individual engineers, teams, divisions or even the whole organization</a:t>
            </a:r>
          </a:p>
          <a:p>
            <a:r>
              <a:rPr lang="en-US" sz="2800" dirty="0"/>
              <a:t>It may focus on legal liabilities, job defined roles or moral responsibility</a:t>
            </a:r>
          </a:p>
          <a:p>
            <a:r>
              <a:rPr lang="en-US" sz="2800" b="1" dirty="0"/>
              <a:t>Here we deal with the moral responsibility of the engineer</a:t>
            </a:r>
          </a:p>
          <a:p>
            <a:r>
              <a:rPr lang="en-US" sz="2800" dirty="0"/>
              <a:t>But with due considerations to the other facets of responsibility</a:t>
            </a:r>
          </a:p>
        </p:txBody>
      </p:sp>
    </p:spTree>
    <p:extLst>
      <p:ext uri="{BB962C8B-B14F-4D97-AF65-F5344CB8AC3E}">
        <p14:creationId xmlns:p14="http://schemas.microsoft.com/office/powerpoint/2010/main" val="324061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898" y="428626"/>
            <a:ext cx="10018713" cy="1042987"/>
          </a:xfrm>
        </p:spPr>
        <p:txBody>
          <a:bodyPr/>
          <a:lstStyle/>
          <a:p>
            <a:r>
              <a:rPr lang="en-US" b="1" dirty="0"/>
              <a:t>RESPONSIBILITIES OF THE PROFESSIONAL</a:t>
            </a:r>
            <a:endParaRPr lang="en-US" dirty="0"/>
          </a:p>
        </p:txBody>
      </p:sp>
      <p:sp>
        <p:nvSpPr>
          <p:cNvPr id="3" name="Content Placeholder 2"/>
          <p:cNvSpPr>
            <a:spLocks noGrp="1"/>
          </p:cNvSpPr>
          <p:nvPr>
            <p:ph idx="1"/>
          </p:nvPr>
        </p:nvSpPr>
        <p:spPr>
          <a:xfrm>
            <a:off x="641349" y="1585913"/>
            <a:ext cx="10018713" cy="5272087"/>
          </a:xfrm>
        </p:spPr>
        <p:txBody>
          <a:bodyPr>
            <a:normAutofit fontScale="25000" lnSpcReduction="20000"/>
          </a:bodyPr>
          <a:lstStyle/>
          <a:p>
            <a:r>
              <a:rPr lang="en-US" sz="11200" b="1" dirty="0">
                <a:solidFill>
                  <a:srgbClr val="FF0000"/>
                </a:solidFill>
              </a:rPr>
              <a:t>Responsibilities that come with professional expertise must be taken very seriously</a:t>
            </a:r>
          </a:p>
          <a:p>
            <a:endParaRPr lang="en-US" sz="4000" dirty="0"/>
          </a:p>
          <a:p>
            <a:r>
              <a:rPr lang="en-US" sz="9600" dirty="0"/>
              <a:t>The general public (and other professionals) place their trust in the reliable performance of engineers, whether as individuals or as teams, because their expertise and knowledge is not understood</a:t>
            </a:r>
          </a:p>
          <a:p>
            <a:r>
              <a:rPr lang="en-US" sz="9600" dirty="0"/>
              <a:t>Therefore engineers (and other professionals)  must conduct themselves in a manner that does not give rise to distrust</a:t>
            </a:r>
          </a:p>
          <a:p>
            <a:r>
              <a:rPr lang="en-US" sz="9600" dirty="0"/>
              <a:t>“</a:t>
            </a:r>
            <a:r>
              <a:rPr lang="en-US" sz="9600" i="1" dirty="0"/>
              <a:t>One test of character is what a person does when no one else is watching. A society that relies on expertise needs people who can pass that test</a:t>
            </a:r>
            <a:r>
              <a:rPr lang="en-US" sz="9600" dirty="0"/>
              <a:t>”   William F. May</a:t>
            </a:r>
          </a:p>
          <a:p>
            <a:endParaRPr lang="en-US" sz="7400" dirty="0"/>
          </a:p>
          <a:p>
            <a:r>
              <a:rPr lang="en-US" sz="9600" dirty="0"/>
              <a:t>Unfortunately there are also</a:t>
            </a:r>
            <a:r>
              <a:rPr lang="en-US" sz="9600" dirty="0">
                <a:highlight>
                  <a:srgbClr val="FFFF00"/>
                </a:highlight>
              </a:rPr>
              <a:t> not-so-committed</a:t>
            </a:r>
            <a:r>
              <a:rPr lang="en-US" sz="9600" dirty="0"/>
              <a:t> or </a:t>
            </a:r>
            <a:r>
              <a:rPr lang="en-US" sz="9600" dirty="0">
                <a:highlight>
                  <a:srgbClr val="FFFF00"/>
                </a:highlight>
              </a:rPr>
              <a:t>unscrupulous </a:t>
            </a:r>
            <a:r>
              <a:rPr lang="en-US" sz="9600" dirty="0"/>
              <a:t>engineers  (or professionals)</a:t>
            </a:r>
          </a:p>
          <a:p>
            <a:endParaRPr lang="en-US" dirty="0"/>
          </a:p>
          <a:p>
            <a:pPr marL="0" indent="0">
              <a:buNone/>
            </a:pPr>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123564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621" y="37667"/>
            <a:ext cx="10018713" cy="857250"/>
          </a:xfrm>
        </p:spPr>
        <p:txBody>
          <a:bodyPr/>
          <a:lstStyle/>
          <a:p>
            <a:r>
              <a:rPr lang="en-US" b="1" dirty="0"/>
              <a:t>RESPONSIBILITIES OF THE PROFESSIONAL</a:t>
            </a:r>
            <a:endParaRPr lang="en-US" dirty="0"/>
          </a:p>
        </p:txBody>
      </p:sp>
      <p:sp>
        <p:nvSpPr>
          <p:cNvPr id="3" name="Content Placeholder 2"/>
          <p:cNvSpPr>
            <a:spLocks noGrp="1"/>
          </p:cNvSpPr>
          <p:nvPr>
            <p:ph idx="1"/>
          </p:nvPr>
        </p:nvSpPr>
        <p:spPr>
          <a:xfrm>
            <a:off x="555620" y="894917"/>
            <a:ext cx="10018713" cy="5651356"/>
          </a:xfrm>
        </p:spPr>
        <p:txBody>
          <a:bodyPr>
            <a:normAutofit lnSpcReduction="10000"/>
          </a:bodyPr>
          <a:lstStyle/>
          <a:p>
            <a:r>
              <a:rPr lang="en-US" sz="2800" dirty="0"/>
              <a:t>It is also important that engineers must conform to standards of competence evolved through study, training and experience</a:t>
            </a:r>
          </a:p>
          <a:p>
            <a:r>
              <a:rPr lang="en-US" sz="2800" dirty="0"/>
              <a:t>Regulatory standards and standards of competence provide some assurance of safety, quality and efficiency in engineering</a:t>
            </a:r>
          </a:p>
          <a:p>
            <a:r>
              <a:rPr lang="en-US" sz="2800" dirty="0"/>
              <a:t>They also provide some room for professional discretion in engineering design and implementation</a:t>
            </a:r>
          </a:p>
          <a:p>
            <a:r>
              <a:rPr lang="en-US" sz="2800" dirty="0"/>
              <a:t>There are few algorithms* for guidance here, and the need for good engineering judgement must not be overlooked  </a:t>
            </a:r>
          </a:p>
          <a:p>
            <a:pPr marL="0" indent="0">
              <a:buNone/>
            </a:pPr>
            <a:endParaRPr lang="en-US" sz="2400" i="1" dirty="0">
              <a:solidFill>
                <a:srgbClr val="3333CC"/>
              </a:solidFill>
            </a:endParaRPr>
          </a:p>
          <a:p>
            <a:pPr marL="0" indent="0">
              <a:buNone/>
            </a:pPr>
            <a:r>
              <a:rPr lang="en-US" sz="2400" i="1" dirty="0">
                <a:solidFill>
                  <a:srgbClr val="3333CC"/>
                </a:solidFill>
              </a:rPr>
              <a:t>* Algorithm – process or set of rules to be followed in calculations, especially by a computer </a:t>
            </a:r>
          </a:p>
        </p:txBody>
      </p:sp>
    </p:spTree>
    <p:extLst>
      <p:ext uri="{BB962C8B-B14F-4D97-AF65-F5344CB8AC3E}">
        <p14:creationId xmlns:p14="http://schemas.microsoft.com/office/powerpoint/2010/main" val="169998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149" y="342903"/>
            <a:ext cx="10018713" cy="900111"/>
          </a:xfrm>
        </p:spPr>
        <p:txBody>
          <a:bodyPr/>
          <a:lstStyle/>
          <a:p>
            <a:r>
              <a:rPr lang="en-US" b="1" dirty="0"/>
              <a:t>RESPONSIBILITIES OF THE PROFESSIONAL</a:t>
            </a:r>
            <a:endParaRPr lang="en-US" dirty="0"/>
          </a:p>
        </p:txBody>
      </p:sp>
      <p:sp>
        <p:nvSpPr>
          <p:cNvPr id="3" name="Content Placeholder 2"/>
          <p:cNvSpPr>
            <a:spLocks noGrp="1"/>
          </p:cNvSpPr>
          <p:nvPr>
            <p:ph idx="1"/>
          </p:nvPr>
        </p:nvSpPr>
        <p:spPr>
          <a:xfrm>
            <a:off x="1484310" y="1300163"/>
            <a:ext cx="10018713" cy="491490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74792481"/>
              </p:ext>
            </p:extLst>
          </p:nvPr>
        </p:nvGraphicFramePr>
        <p:xfrm>
          <a:off x="917573" y="1314451"/>
          <a:ext cx="8455026" cy="4490085"/>
        </p:xfrm>
        <a:graphic>
          <a:graphicData uri="http://schemas.openxmlformats.org/drawingml/2006/table">
            <a:tbl>
              <a:tblPr firstRow="1" bandRow="1">
                <a:tableStyleId>{5C22544A-7EE6-4342-B048-85BDC9FD1C3A}</a:tableStyleId>
              </a:tblPr>
              <a:tblGrid>
                <a:gridCol w="4227513">
                  <a:extLst>
                    <a:ext uri="{9D8B030D-6E8A-4147-A177-3AD203B41FA5}">
                      <a16:colId xmlns:a16="http://schemas.microsoft.com/office/drawing/2014/main" val="20000"/>
                    </a:ext>
                  </a:extLst>
                </a:gridCol>
                <a:gridCol w="4227513">
                  <a:extLst>
                    <a:ext uri="{9D8B030D-6E8A-4147-A177-3AD203B41FA5}">
                      <a16:colId xmlns:a16="http://schemas.microsoft.com/office/drawing/2014/main" val="20001"/>
                    </a:ext>
                  </a:extLst>
                </a:gridCol>
              </a:tblGrid>
              <a:tr h="376131">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800" b="1" dirty="0"/>
                        <a:t>Characteristics of a highly reputable Engineer</a:t>
                      </a:r>
                    </a:p>
                    <a:p>
                      <a:r>
                        <a:rPr lang="en-US" dirty="0"/>
                        <a:t> </a:t>
                      </a: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sz="2400" dirty="0"/>
                        <a:t>Engineering Competence</a:t>
                      </a:r>
                    </a:p>
                  </a:txBody>
                  <a:tcPr/>
                </a:tc>
                <a:tc>
                  <a:txBody>
                    <a:bodyPr/>
                    <a:lstStyle/>
                    <a:p>
                      <a:r>
                        <a:rPr lang="en-US" sz="2400" dirty="0"/>
                        <a:t>Integrity</a:t>
                      </a:r>
                    </a:p>
                  </a:txBody>
                  <a:tcPr/>
                </a:tc>
                <a:extLst>
                  <a:ext uri="{0D108BD9-81ED-4DB2-BD59-A6C34878D82A}">
                    <a16:rowId xmlns:a16="http://schemas.microsoft.com/office/drawing/2014/main" val="10001"/>
                  </a:ext>
                </a:extLst>
              </a:tr>
              <a:tr h="370840">
                <a:tc>
                  <a:txBody>
                    <a:bodyPr/>
                    <a:lstStyle/>
                    <a:p>
                      <a:r>
                        <a:rPr lang="en-US" sz="2400" dirty="0"/>
                        <a:t>Imaginativeness</a:t>
                      </a:r>
                    </a:p>
                  </a:txBody>
                  <a:tcPr/>
                </a:tc>
                <a:tc>
                  <a:txBody>
                    <a:bodyPr/>
                    <a:lstStyle/>
                    <a:p>
                      <a:r>
                        <a:rPr lang="en-US" sz="2400" dirty="0"/>
                        <a:t>Civic mindedness</a:t>
                      </a:r>
                    </a:p>
                  </a:txBody>
                  <a:tcPr/>
                </a:tc>
                <a:extLst>
                  <a:ext uri="{0D108BD9-81ED-4DB2-BD59-A6C34878D82A}">
                    <a16:rowId xmlns:a16="http://schemas.microsoft.com/office/drawing/2014/main" val="10002"/>
                  </a:ext>
                </a:extLst>
              </a:tr>
              <a:tr h="370840">
                <a:tc>
                  <a:txBody>
                    <a:bodyPr/>
                    <a:lstStyle/>
                    <a:p>
                      <a:r>
                        <a:rPr lang="en-US" sz="2400" dirty="0"/>
                        <a:t>Perseverance</a:t>
                      </a:r>
                    </a:p>
                  </a:txBody>
                  <a:tcPr/>
                </a:tc>
                <a:tc>
                  <a:txBody>
                    <a:bodyPr/>
                    <a:lstStyle/>
                    <a:p>
                      <a:r>
                        <a:rPr lang="en-US" sz="2400" dirty="0"/>
                        <a:t>Honesty</a:t>
                      </a:r>
                    </a:p>
                  </a:txBody>
                  <a:tcPr/>
                </a:tc>
                <a:extLst>
                  <a:ext uri="{0D108BD9-81ED-4DB2-BD59-A6C34878D82A}">
                    <a16:rowId xmlns:a16="http://schemas.microsoft.com/office/drawing/2014/main" val="10003"/>
                  </a:ext>
                </a:extLst>
              </a:tr>
              <a:tr h="370840">
                <a:tc>
                  <a:txBody>
                    <a:bodyPr/>
                    <a:lstStyle/>
                    <a:p>
                      <a:r>
                        <a:rPr lang="en-US" sz="2400" dirty="0"/>
                        <a:t>Good Communication skills</a:t>
                      </a:r>
                    </a:p>
                  </a:txBody>
                  <a:tcPr/>
                </a:tc>
                <a:tc>
                  <a:txBody>
                    <a:bodyPr/>
                    <a:lstStyle/>
                    <a:p>
                      <a:r>
                        <a:rPr lang="en-US" sz="2400" dirty="0"/>
                        <a:t>Admit and Learn from mistakes</a:t>
                      </a:r>
                    </a:p>
                  </a:txBody>
                  <a:tcPr/>
                </a:tc>
                <a:extLst>
                  <a:ext uri="{0D108BD9-81ED-4DB2-BD59-A6C34878D82A}">
                    <a16:rowId xmlns:a16="http://schemas.microsoft.com/office/drawing/2014/main" val="10004"/>
                  </a:ext>
                </a:extLst>
              </a:tr>
              <a:tr h="370840">
                <a:tc>
                  <a:txBody>
                    <a:bodyPr/>
                    <a:lstStyle/>
                    <a:p>
                      <a:r>
                        <a:rPr lang="en-US" sz="2400" dirty="0"/>
                        <a:t>Team working</a:t>
                      </a:r>
                    </a:p>
                  </a:txBody>
                  <a:tcPr/>
                </a:tc>
                <a:tc>
                  <a:txBody>
                    <a:bodyPr/>
                    <a:lstStyle/>
                    <a:p>
                      <a:r>
                        <a:rPr lang="en-US" sz="2400" dirty="0"/>
                        <a:t>Environmental</a:t>
                      </a:r>
                      <a:r>
                        <a:rPr lang="en-US" sz="2400" baseline="0" dirty="0"/>
                        <a:t> Commitment</a:t>
                      </a:r>
                      <a:endParaRPr lang="en-US" sz="2400" dirty="0"/>
                    </a:p>
                  </a:txBody>
                  <a:tcPr/>
                </a:tc>
                <a:extLst>
                  <a:ext uri="{0D108BD9-81ED-4DB2-BD59-A6C34878D82A}">
                    <a16:rowId xmlns:a16="http://schemas.microsoft.com/office/drawing/2014/main" val="10005"/>
                  </a:ext>
                </a:extLst>
              </a:tr>
              <a:tr h="588645">
                <a:tc>
                  <a:txBody>
                    <a:bodyPr/>
                    <a:lstStyle/>
                    <a:p>
                      <a:r>
                        <a:rPr lang="en-US" sz="2400" dirty="0"/>
                        <a:t>Commitment to Quality</a:t>
                      </a:r>
                    </a:p>
                  </a:txBody>
                  <a:tcPr/>
                </a:tc>
                <a:tc>
                  <a:txBody>
                    <a:bodyPr/>
                    <a:lstStyle/>
                    <a:p>
                      <a:r>
                        <a:rPr lang="en-US" sz="2400" dirty="0"/>
                        <a:t>Self</a:t>
                      </a:r>
                      <a:r>
                        <a:rPr lang="en-US" sz="2400" baseline="0" dirty="0"/>
                        <a:t> – sacrifice</a:t>
                      </a:r>
                      <a:endParaRPr lang="en-US" sz="2400" dirty="0"/>
                    </a:p>
                  </a:txBody>
                  <a:tcPr/>
                </a:tc>
                <a:extLst>
                  <a:ext uri="{0D108BD9-81ED-4DB2-BD59-A6C34878D82A}">
                    <a16:rowId xmlns:a16="http://schemas.microsoft.com/office/drawing/2014/main" val="10006"/>
                  </a:ext>
                </a:extLst>
              </a:tr>
              <a:tr h="370840">
                <a:tc>
                  <a:txBody>
                    <a:bodyPr/>
                    <a:lstStyle/>
                    <a:p>
                      <a:r>
                        <a:rPr lang="en-US" sz="2400" dirty="0"/>
                        <a:t>Up-to date knowledge </a:t>
                      </a:r>
                    </a:p>
                  </a:txBody>
                  <a:tcPr/>
                </a:tc>
                <a:tc>
                  <a:txBody>
                    <a:bodyPr/>
                    <a:lstStyle/>
                    <a:p>
                      <a:endParaRPr lang="en-US" sz="22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18178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347" y="242888"/>
            <a:ext cx="10018713" cy="1042987"/>
          </a:xfrm>
        </p:spPr>
        <p:txBody>
          <a:bodyPr/>
          <a:lstStyle/>
          <a:p>
            <a:r>
              <a:rPr lang="en-US" b="1" dirty="0"/>
              <a:t>RESPONSIBILITIES OF THE PROFESSIONAL</a:t>
            </a:r>
            <a:endParaRPr lang="en-US" dirty="0"/>
          </a:p>
        </p:txBody>
      </p:sp>
      <p:sp>
        <p:nvSpPr>
          <p:cNvPr id="3" name="Content Placeholder 2"/>
          <p:cNvSpPr>
            <a:spLocks noGrp="1"/>
          </p:cNvSpPr>
          <p:nvPr>
            <p:ph idx="1"/>
          </p:nvPr>
        </p:nvSpPr>
        <p:spPr>
          <a:xfrm>
            <a:off x="855660" y="1143000"/>
            <a:ext cx="10018713" cy="5715000"/>
          </a:xfrm>
        </p:spPr>
        <p:txBody>
          <a:bodyPr>
            <a:normAutofit/>
          </a:bodyPr>
          <a:lstStyle/>
          <a:p>
            <a:r>
              <a:rPr lang="en-US" sz="3000" dirty="0"/>
              <a:t>ENGINEERING STANDARDS</a:t>
            </a:r>
          </a:p>
          <a:p>
            <a:r>
              <a:rPr lang="en-US" sz="2800" dirty="0"/>
              <a:t>The work of engineers must conform to applicable engineering standard</a:t>
            </a:r>
          </a:p>
          <a:p>
            <a:pPr lvl="1"/>
            <a:r>
              <a:rPr lang="en-US" sz="2800" dirty="0"/>
              <a:t>Specify technical requirements for specific types of engineering design</a:t>
            </a:r>
          </a:p>
          <a:p>
            <a:pPr lvl="1"/>
            <a:r>
              <a:rPr lang="en-US" sz="2800" dirty="0"/>
              <a:t>Focus of the results of engineering practice</a:t>
            </a:r>
          </a:p>
          <a:p>
            <a:pPr lvl="2"/>
            <a:r>
              <a:rPr lang="en-US" sz="2400" dirty="0"/>
              <a:t>Whether they meet standards of quality and safety</a:t>
            </a:r>
          </a:p>
          <a:p>
            <a:pPr lvl="1"/>
            <a:r>
              <a:rPr lang="en-US" sz="2600" dirty="0"/>
              <a:t> Engineering standards may also require that certain procedures be undertaken to ascertain that specific, measurable levels of quality or safety are met, or they may require that whatever procedures are used be documented, along with their results [Codes of Practice]</a:t>
            </a:r>
          </a:p>
        </p:txBody>
      </p:sp>
    </p:spTree>
    <p:extLst>
      <p:ext uri="{BB962C8B-B14F-4D97-AF65-F5344CB8AC3E}">
        <p14:creationId xmlns:p14="http://schemas.microsoft.com/office/powerpoint/2010/main" val="124442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arn(inVertical)">
                                      <p:cBhvr>
                                        <p:cTn id="15" dur="500"/>
                                        <p:tgtEl>
                                          <p:spTgt spid="3">
                                            <p:txEl>
                                              <p:pRg st="3" end="3"/>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down)">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669C88-B263-22CE-B0F3-6AA1D26F8596}"/>
              </a:ext>
            </a:extLst>
          </p:cNvPr>
          <p:cNvPicPr>
            <a:picLocks noChangeAspect="1"/>
          </p:cNvPicPr>
          <p:nvPr/>
        </p:nvPicPr>
        <p:blipFill>
          <a:blip r:embed="rId2"/>
          <a:stretch>
            <a:fillRect/>
          </a:stretch>
        </p:blipFill>
        <p:spPr>
          <a:xfrm>
            <a:off x="944879" y="0"/>
            <a:ext cx="10302241" cy="6858000"/>
          </a:xfrm>
          <a:prstGeom prst="rect">
            <a:avLst/>
          </a:prstGeom>
        </p:spPr>
      </p:pic>
    </p:spTree>
    <p:extLst>
      <p:ext uri="{BB962C8B-B14F-4D97-AF65-F5344CB8AC3E}">
        <p14:creationId xmlns:p14="http://schemas.microsoft.com/office/powerpoint/2010/main" val="207793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3" y="142875"/>
            <a:ext cx="10018713" cy="1285875"/>
          </a:xfrm>
        </p:spPr>
        <p:txBody>
          <a:bodyPr/>
          <a:lstStyle/>
          <a:p>
            <a:r>
              <a:rPr lang="en-US" b="1" dirty="0"/>
              <a:t>RESPONSIBILITIES OF THE PROFESSIONAL</a:t>
            </a:r>
            <a:endParaRPr lang="en-US" dirty="0"/>
          </a:p>
        </p:txBody>
      </p:sp>
      <p:sp>
        <p:nvSpPr>
          <p:cNvPr id="3" name="Content Placeholder 2"/>
          <p:cNvSpPr>
            <a:spLocks noGrp="1"/>
          </p:cNvSpPr>
          <p:nvPr>
            <p:ph idx="1"/>
          </p:nvPr>
        </p:nvSpPr>
        <p:spPr>
          <a:xfrm>
            <a:off x="812798" y="1428750"/>
            <a:ext cx="10018713" cy="5357813"/>
          </a:xfrm>
        </p:spPr>
        <p:txBody>
          <a:bodyPr>
            <a:normAutofit lnSpcReduction="10000"/>
          </a:bodyPr>
          <a:lstStyle/>
          <a:p>
            <a:r>
              <a:rPr lang="en-US" sz="3000" dirty="0"/>
              <a:t>STANDARD OF CARE</a:t>
            </a:r>
          </a:p>
          <a:p>
            <a:r>
              <a:rPr lang="en-US" sz="2800" dirty="0"/>
              <a:t>Engineers have a professional obligation to conform to standard operating procedures and regulations in discharging their duties. </a:t>
            </a:r>
          </a:p>
          <a:p>
            <a:r>
              <a:rPr lang="en-US" sz="2800" dirty="0"/>
              <a:t>However there may arise unforeseen problems that the standard procedures and regulations are not well equipped to handle</a:t>
            </a:r>
          </a:p>
          <a:p>
            <a:r>
              <a:rPr lang="en-US" sz="2800" dirty="0"/>
              <a:t>In such situations the engineer has to satisfy a more demanding norm, the </a:t>
            </a:r>
            <a:r>
              <a:rPr lang="en-US" sz="2800" b="1" dirty="0">
                <a:solidFill>
                  <a:srgbClr val="FF0000"/>
                </a:solidFill>
              </a:rPr>
              <a:t>“Standard of Care”</a:t>
            </a:r>
          </a:p>
          <a:p>
            <a:r>
              <a:rPr lang="en-US" sz="2800" dirty="0"/>
              <a:t>Because particular situation cannot be anticipated from all angles, application of standards requires professional judgement</a:t>
            </a:r>
          </a:p>
        </p:txBody>
      </p:sp>
    </p:spTree>
    <p:extLst>
      <p:ext uri="{BB962C8B-B14F-4D97-AF65-F5344CB8AC3E}">
        <p14:creationId xmlns:p14="http://schemas.microsoft.com/office/powerpoint/2010/main" val="378316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77334" y="409575"/>
            <a:ext cx="9023879" cy="576263"/>
          </a:xfrm>
        </p:spPr>
        <p:txBody>
          <a:bodyPr>
            <a:normAutofit fontScale="90000"/>
          </a:bodyPr>
          <a:lstStyle/>
          <a:p>
            <a:r>
              <a:rPr lang="en-US" b="1" dirty="0"/>
              <a:t>RESPONSIBILITIES OF THE PROFESSIONAL</a:t>
            </a:r>
            <a:endParaRPr lang="en-US" dirty="0"/>
          </a:p>
        </p:txBody>
      </p:sp>
      <p:sp>
        <p:nvSpPr>
          <p:cNvPr id="3" name="Content Placeholder 2"/>
          <p:cNvSpPr>
            <a:spLocks noGrp="1"/>
          </p:cNvSpPr>
          <p:nvPr>
            <p:ph idx="1"/>
          </p:nvPr>
        </p:nvSpPr>
        <p:spPr>
          <a:xfrm>
            <a:off x="677334" y="1271589"/>
            <a:ext cx="8596668" cy="4769774"/>
          </a:xfrm>
        </p:spPr>
        <p:txBody>
          <a:bodyPr>
            <a:normAutofit/>
          </a:bodyPr>
          <a:lstStyle/>
          <a:p>
            <a:r>
              <a:rPr lang="en-US" sz="3000" dirty="0"/>
              <a:t>STANDARD OF CARE</a:t>
            </a:r>
          </a:p>
          <a:p>
            <a:r>
              <a:rPr lang="en-US" sz="2800" dirty="0"/>
              <a:t> Satisfying the standard of care cannot guarantee that failure will not occur. </a:t>
            </a:r>
          </a:p>
          <a:p>
            <a:r>
              <a:rPr lang="en-US" sz="2800" dirty="0"/>
              <a:t>However, failure to satisfy the standard of care itself is </a:t>
            </a:r>
            <a:r>
              <a:rPr lang="en-US" sz="2800" b="1" dirty="0">
                <a:solidFill>
                  <a:srgbClr val="FF0000"/>
                </a:solidFill>
              </a:rPr>
              <a:t>not</a:t>
            </a:r>
            <a:r>
              <a:rPr lang="en-US" sz="2800" dirty="0"/>
              <a:t> acceptable.  </a:t>
            </a:r>
          </a:p>
          <a:p>
            <a:endParaRPr lang="en-US" sz="2800" dirty="0"/>
          </a:p>
        </p:txBody>
      </p:sp>
    </p:spTree>
    <p:extLst>
      <p:ext uri="{BB962C8B-B14F-4D97-AF65-F5344CB8AC3E}">
        <p14:creationId xmlns:p14="http://schemas.microsoft.com/office/powerpoint/2010/main" val="388216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sz="2400" dirty="0"/>
              <a:t>Hyatt Regency walkway collapse</a:t>
            </a:r>
          </a:p>
          <a:p>
            <a:endParaRPr lang="en-US" sz="2400" dirty="0"/>
          </a:p>
          <a:p>
            <a:r>
              <a:rPr lang="en-US" sz="2400" dirty="0" err="1"/>
              <a:t>CitiCorp</a:t>
            </a:r>
            <a:r>
              <a:rPr lang="en-US" sz="2400" dirty="0"/>
              <a:t> Building</a:t>
            </a:r>
          </a:p>
          <a:p>
            <a:endParaRPr lang="en-US" sz="2400" dirty="0"/>
          </a:p>
          <a:p>
            <a:endParaRPr lang="en-US" dirty="0"/>
          </a:p>
        </p:txBody>
      </p:sp>
      <p:sp>
        <p:nvSpPr>
          <p:cNvPr id="4" name="Right Arrow 3">
            <a:hlinkClick r:id="rId2" action="ppaction://hlinkpres?slideindex=1&amp;slidetitle="/>
          </p:cNvPr>
          <p:cNvSpPr/>
          <p:nvPr/>
        </p:nvSpPr>
        <p:spPr>
          <a:xfrm flipV="1">
            <a:off x="7065169" y="2107867"/>
            <a:ext cx="1042987" cy="614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a:hlinkClick r:id="rId3" action="ppaction://hlinkpres?slideindex=1&amp;slidetitle="/>
          </p:cNvPr>
          <p:cNvSpPr/>
          <p:nvPr/>
        </p:nvSpPr>
        <p:spPr>
          <a:xfrm flipV="1">
            <a:off x="7065169" y="3197057"/>
            <a:ext cx="1042987" cy="614363"/>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806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5275"/>
            <a:ext cx="8596668" cy="704850"/>
          </a:xfrm>
        </p:spPr>
        <p:txBody>
          <a:bodyPr/>
          <a:lstStyle/>
          <a:p>
            <a:r>
              <a:rPr lang="en-US" dirty="0"/>
              <a:t>STANDARD OF CARE</a:t>
            </a:r>
          </a:p>
        </p:txBody>
      </p:sp>
      <p:sp>
        <p:nvSpPr>
          <p:cNvPr id="3" name="Content Placeholder 2"/>
          <p:cNvSpPr>
            <a:spLocks noGrp="1"/>
          </p:cNvSpPr>
          <p:nvPr>
            <p:ph idx="1"/>
          </p:nvPr>
        </p:nvSpPr>
        <p:spPr>
          <a:xfrm>
            <a:off x="448734" y="1243012"/>
            <a:ext cx="8596668" cy="5614988"/>
          </a:xfrm>
        </p:spPr>
        <p:txBody>
          <a:bodyPr>
            <a:normAutofit/>
          </a:bodyPr>
          <a:lstStyle/>
          <a:p>
            <a:r>
              <a:rPr lang="en-US" sz="2000" dirty="0"/>
              <a:t>HYATT REGENCY HOTEL</a:t>
            </a:r>
          </a:p>
          <a:p>
            <a:r>
              <a:rPr lang="en-US" sz="2000" dirty="0"/>
              <a:t>Those in charge of the construction of the Kansas City Hyatt Regency hotel were charged with professional negligence in regard to the catastrophic walkway collapse in 1981.</a:t>
            </a:r>
          </a:p>
          <a:p>
            <a:r>
              <a:rPr lang="en-US" sz="2000" dirty="0"/>
              <a:t>Although those in charge did not authorize the fatal departure from the original design of the walkway support, it was determined that responsible monitoring on their part would have made them aware of the proposed change. </a:t>
            </a:r>
          </a:p>
          <a:p>
            <a:r>
              <a:rPr lang="en-US" sz="2000" dirty="0"/>
              <a:t>Had it come to their attention, a few simple calculations could have made it evident to them that the resulting structure would be unsafe. </a:t>
            </a:r>
          </a:p>
          <a:p>
            <a:r>
              <a:rPr lang="en-US" sz="2000" dirty="0"/>
              <a:t>In this case, it was determined that the engineers in charge fell seriously short of accepted engineering practice, resulting in a failure to meet the standard of care. </a:t>
            </a:r>
          </a:p>
        </p:txBody>
      </p:sp>
    </p:spTree>
    <p:extLst>
      <p:ext uri="{BB962C8B-B14F-4D97-AF65-F5344CB8AC3E}">
        <p14:creationId xmlns:p14="http://schemas.microsoft.com/office/powerpoint/2010/main" val="2074621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884" y="185739"/>
            <a:ext cx="8596668" cy="733425"/>
          </a:xfrm>
        </p:spPr>
        <p:txBody>
          <a:bodyPr/>
          <a:lstStyle/>
          <a:p>
            <a:r>
              <a:rPr lang="en-US" dirty="0"/>
              <a:t>STANDARD OF CARE</a:t>
            </a:r>
          </a:p>
        </p:txBody>
      </p:sp>
      <p:sp>
        <p:nvSpPr>
          <p:cNvPr id="3" name="Content Placeholder 2"/>
          <p:cNvSpPr>
            <a:spLocks noGrp="1"/>
          </p:cNvSpPr>
          <p:nvPr>
            <p:ph idx="1"/>
          </p:nvPr>
        </p:nvSpPr>
        <p:spPr>
          <a:xfrm>
            <a:off x="677334" y="919164"/>
            <a:ext cx="9166754" cy="5824536"/>
          </a:xfrm>
        </p:spPr>
        <p:txBody>
          <a:bodyPr>
            <a:normAutofit/>
          </a:bodyPr>
          <a:lstStyle/>
          <a:p>
            <a:r>
              <a:rPr lang="en-US" sz="2000" dirty="0"/>
              <a:t>THE CITICORP CENTRE</a:t>
            </a:r>
          </a:p>
          <a:p>
            <a:r>
              <a:rPr lang="en-US" sz="2000" dirty="0"/>
              <a:t>The departure from the original design of bolted joints as against the deep-welded joints proposed in the original design, was not noted by </a:t>
            </a:r>
            <a:r>
              <a:rPr lang="en-US" sz="2000" dirty="0" err="1"/>
              <a:t>LeMessurier</a:t>
            </a:r>
            <a:r>
              <a:rPr lang="en-US" sz="2000" dirty="0"/>
              <a:t>. </a:t>
            </a:r>
          </a:p>
          <a:p>
            <a:r>
              <a:rPr lang="en-US" sz="2000" dirty="0"/>
              <a:t>This was not regarded to be a matter of negligence as he was confident that the building more than adequately satisfied the New York City building code’s requirement that winds striking the structure from a 90-degree angle would pose no serious danger. </a:t>
            </a:r>
          </a:p>
          <a:p>
            <a:r>
              <a:rPr lang="en-US" sz="2000" dirty="0"/>
              <a:t>Assuming he was correct, it is fair to conclude that either deep welds or bolts were regarded to be consistent with accepted engineering practice. The code did not specify which should be chosen, only that the result must satisfy the 90-degree wind test. </a:t>
            </a:r>
          </a:p>
          <a:p>
            <a:r>
              <a:rPr lang="en-US" sz="2000" dirty="0"/>
              <a:t>However on learning that winds striking the building diagonally at a 45-degree angle would have an adverse effect, </a:t>
            </a:r>
            <a:r>
              <a:rPr lang="en-US" sz="2000" dirty="0" err="1"/>
              <a:t>LeMessurier</a:t>
            </a:r>
            <a:r>
              <a:rPr lang="en-US" sz="2000" dirty="0"/>
              <a:t> determined that bolted joints rendered the structure much more vulnerable to high winds than had been anticipated. </a:t>
            </a:r>
          </a:p>
        </p:txBody>
      </p:sp>
    </p:spTree>
    <p:extLst>
      <p:ext uri="{BB962C8B-B14F-4D97-AF65-F5344CB8AC3E}">
        <p14:creationId xmlns:p14="http://schemas.microsoft.com/office/powerpoint/2010/main" val="2550536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5312"/>
            <a:ext cx="8596668" cy="590550"/>
          </a:xfrm>
        </p:spPr>
        <p:txBody>
          <a:bodyPr>
            <a:normAutofit fontScale="90000"/>
          </a:bodyPr>
          <a:lstStyle/>
          <a:p>
            <a:r>
              <a:rPr lang="en-US" dirty="0"/>
              <a:t>STANDARD OF CARE</a:t>
            </a:r>
          </a:p>
        </p:txBody>
      </p:sp>
      <p:sp>
        <p:nvSpPr>
          <p:cNvPr id="3" name="Content Placeholder 2"/>
          <p:cNvSpPr>
            <a:spLocks noGrp="1"/>
          </p:cNvSpPr>
          <p:nvPr>
            <p:ph idx="1"/>
          </p:nvPr>
        </p:nvSpPr>
        <p:spPr>
          <a:xfrm>
            <a:off x="677334" y="1700212"/>
            <a:ext cx="8596668" cy="4686301"/>
          </a:xfrm>
        </p:spPr>
        <p:txBody>
          <a:bodyPr>
            <a:noAutofit/>
          </a:bodyPr>
          <a:lstStyle/>
          <a:p>
            <a:r>
              <a:rPr lang="en-US" sz="2000" dirty="0"/>
              <a:t>Despite satisfying the city code, the building was unsafe, </a:t>
            </a:r>
            <a:r>
              <a:rPr lang="en-US" sz="2000" dirty="0" err="1"/>
              <a:t>LeMessurier</a:t>
            </a:r>
            <a:r>
              <a:rPr lang="en-US" sz="2000" dirty="0"/>
              <a:t> concluded that corrections must be made. </a:t>
            </a:r>
          </a:p>
          <a:p>
            <a:r>
              <a:rPr lang="en-US" sz="2000" dirty="0"/>
              <a:t>The standard set by the city building code was flawed. The code could not be relied on to set reliable criteria for the standard of care in all cases. </a:t>
            </a:r>
          </a:p>
        </p:txBody>
      </p:sp>
    </p:spTree>
    <p:extLst>
      <p:ext uri="{BB962C8B-B14F-4D97-AF65-F5344CB8AC3E}">
        <p14:creationId xmlns:p14="http://schemas.microsoft.com/office/powerpoint/2010/main" val="3228209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634" y="195262"/>
            <a:ext cx="8596668" cy="990601"/>
          </a:xfrm>
        </p:spPr>
        <p:txBody>
          <a:bodyPr/>
          <a:lstStyle/>
          <a:p>
            <a:r>
              <a:rPr lang="en-US" dirty="0"/>
              <a:t>STANDARD OF CARD</a:t>
            </a:r>
          </a:p>
        </p:txBody>
      </p:sp>
      <p:sp>
        <p:nvSpPr>
          <p:cNvPr id="3" name="Content Placeholder 2"/>
          <p:cNvSpPr>
            <a:spLocks noGrp="1"/>
          </p:cNvSpPr>
          <p:nvPr>
            <p:ph idx="1"/>
          </p:nvPr>
        </p:nvSpPr>
        <p:spPr>
          <a:xfrm>
            <a:off x="648759" y="1517652"/>
            <a:ext cx="8596668" cy="3880773"/>
          </a:xfrm>
        </p:spPr>
        <p:txBody>
          <a:bodyPr/>
          <a:lstStyle/>
          <a:p>
            <a:r>
              <a:rPr lang="en-US" sz="2000" dirty="0">
                <a:solidFill>
                  <a:srgbClr val="FF0000"/>
                </a:solidFill>
              </a:rPr>
              <a:t>The Hyatt Regency case is a clear illustration of culpable failure. The original design failed to meet building code requirements. The design change made matters worse.</a:t>
            </a:r>
          </a:p>
          <a:p>
            <a:r>
              <a:rPr lang="en-US" sz="2000" dirty="0"/>
              <a:t> </a:t>
            </a:r>
            <a:r>
              <a:rPr lang="en-US" sz="2000" dirty="0">
                <a:solidFill>
                  <a:schemeClr val="tx1"/>
                </a:solidFill>
              </a:rPr>
              <a:t>The Citicorp case is a clear illustration of how the standard engineering practice of meeting code requirements may not be enough. </a:t>
            </a:r>
          </a:p>
          <a:p>
            <a:r>
              <a:rPr lang="en-US" sz="2000" dirty="0">
                <a:solidFill>
                  <a:schemeClr val="tx1"/>
                </a:solidFill>
              </a:rPr>
              <a:t>To </a:t>
            </a:r>
            <a:r>
              <a:rPr lang="en-US" sz="2000" dirty="0" err="1">
                <a:solidFill>
                  <a:schemeClr val="tx1"/>
                </a:solidFill>
              </a:rPr>
              <a:t>LeMessurier’s</a:t>
            </a:r>
            <a:r>
              <a:rPr lang="en-US" sz="2000" dirty="0">
                <a:solidFill>
                  <a:schemeClr val="tx1"/>
                </a:solidFill>
              </a:rPr>
              <a:t> credit he discovered the problem. Not doing so would not have been negligence, even though the structure was flawed. </a:t>
            </a:r>
          </a:p>
          <a:p>
            <a:r>
              <a:rPr lang="en-US" sz="2000" dirty="0">
                <a:solidFill>
                  <a:schemeClr val="tx1"/>
                </a:solidFill>
              </a:rPr>
              <a:t>Once the flaw was discovered, however, the </a:t>
            </a:r>
            <a:r>
              <a:rPr lang="en-US" sz="2400" b="1" dirty="0">
                <a:solidFill>
                  <a:srgbClr val="3333CC"/>
                </a:solidFill>
              </a:rPr>
              <a:t>standard of care </a:t>
            </a:r>
            <a:r>
              <a:rPr lang="en-US" sz="2000" dirty="0">
                <a:solidFill>
                  <a:schemeClr val="tx1"/>
                </a:solidFill>
              </a:rPr>
              <a:t>required </a:t>
            </a:r>
            <a:r>
              <a:rPr lang="en-US" sz="2000" dirty="0" err="1">
                <a:solidFill>
                  <a:schemeClr val="tx1"/>
                </a:solidFill>
              </a:rPr>
              <a:t>LeMessurier</a:t>
            </a:r>
            <a:r>
              <a:rPr lang="en-US" sz="2000" dirty="0">
                <a:solidFill>
                  <a:schemeClr val="tx1"/>
                </a:solidFill>
              </a:rPr>
              <a:t> to do something about it, as he clearly realized</a:t>
            </a:r>
          </a:p>
        </p:txBody>
      </p:sp>
    </p:spTree>
    <p:extLst>
      <p:ext uri="{BB962C8B-B14F-4D97-AF65-F5344CB8AC3E}">
        <p14:creationId xmlns:p14="http://schemas.microsoft.com/office/powerpoint/2010/main" val="317887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C5FF9F3-F431-1881-7E72-EBC085E4D44D}"/>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866789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71476"/>
            <a:ext cx="8596668" cy="700088"/>
          </a:xfrm>
        </p:spPr>
        <p:txBody>
          <a:bodyPr>
            <a:normAutofit/>
          </a:bodyPr>
          <a:lstStyle/>
          <a:p>
            <a:r>
              <a:rPr lang="en-US" dirty="0"/>
              <a:t>ACKNOWLEDGEMENTS</a:t>
            </a:r>
          </a:p>
        </p:txBody>
      </p:sp>
      <p:sp>
        <p:nvSpPr>
          <p:cNvPr id="3" name="Content Placeholder 2"/>
          <p:cNvSpPr>
            <a:spLocks noGrp="1"/>
          </p:cNvSpPr>
          <p:nvPr>
            <p:ph idx="1"/>
          </p:nvPr>
        </p:nvSpPr>
        <p:spPr>
          <a:xfrm>
            <a:off x="677333" y="1560514"/>
            <a:ext cx="9123891" cy="3880773"/>
          </a:xfrm>
        </p:spPr>
        <p:txBody>
          <a:bodyPr>
            <a:normAutofit/>
          </a:bodyPr>
          <a:lstStyle/>
          <a:p>
            <a:r>
              <a:rPr lang="en-US" sz="2400" dirty="0"/>
              <a:t>Charles Harris, Michael Pritchard, Michael </a:t>
            </a:r>
            <a:r>
              <a:rPr lang="en-US" sz="2400" dirty="0" err="1"/>
              <a:t>Rabins</a:t>
            </a:r>
            <a:r>
              <a:rPr lang="en-US" sz="2400" dirty="0"/>
              <a:t> : Engineering Ethics – Concepts and Cases;  Wadsworth Cengage Learning, 4</a:t>
            </a:r>
            <a:r>
              <a:rPr lang="en-US" sz="2400" baseline="30000" dirty="0"/>
              <a:t>th</a:t>
            </a:r>
            <a:r>
              <a:rPr lang="en-US" sz="2400" dirty="0"/>
              <a:t> Edition</a:t>
            </a:r>
          </a:p>
          <a:p>
            <a:r>
              <a:rPr lang="en-US" sz="2400" dirty="0">
                <a:hlinkClick r:id="rId2"/>
              </a:rPr>
              <a:t>https://study.com/academy/lesson/what-is-autonomy-definition-ethics.html</a:t>
            </a:r>
            <a:endParaRPr lang="en-US" sz="2400" dirty="0"/>
          </a:p>
          <a:p>
            <a:r>
              <a:rPr lang="en-US" sz="2400" dirty="0">
                <a:hlinkClick r:id="rId3"/>
              </a:rPr>
              <a:t>http://alphastockimages.com/</a:t>
            </a:r>
            <a:endParaRPr lang="en-US" sz="2400" dirty="0"/>
          </a:p>
          <a:p>
            <a:r>
              <a:rPr lang="en-US" sz="2400" dirty="0"/>
              <a:t>https://chatsworthconsulting.com/2016/06/30/the-true-meaning-of-accountability/</a:t>
            </a:r>
          </a:p>
          <a:p>
            <a:endParaRPr lang="en-US" sz="2400" dirty="0"/>
          </a:p>
        </p:txBody>
      </p:sp>
    </p:spTree>
    <p:extLst>
      <p:ext uri="{BB962C8B-B14F-4D97-AF65-F5344CB8AC3E}">
        <p14:creationId xmlns:p14="http://schemas.microsoft.com/office/powerpoint/2010/main" val="2762300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896" y="2624138"/>
            <a:ext cx="8596668" cy="1320800"/>
          </a:xfrm>
        </p:spPr>
        <p:txBody>
          <a:bodyPr>
            <a:normAutofit/>
          </a:bodyPr>
          <a:lstStyle/>
          <a:p>
            <a:pPr algn="ctr"/>
            <a:r>
              <a:rPr lang="en-US" sz="6000" b="1" dirty="0"/>
              <a:t>THANK YOU !!!!</a:t>
            </a:r>
          </a:p>
        </p:txBody>
      </p:sp>
      <p:pic>
        <p:nvPicPr>
          <p:cNvPr id="3" name="Picture 2">
            <a:extLst>
              <a:ext uri="{FF2B5EF4-FFF2-40B4-BE49-F238E27FC236}">
                <a16:creationId xmlns:a16="http://schemas.microsoft.com/office/drawing/2014/main" id="{AD799A84-23BC-4722-AAE2-93A299565B55}"/>
              </a:ext>
            </a:extLst>
          </p:cNvPr>
          <p:cNvPicPr>
            <a:picLocks noChangeAspect="1"/>
          </p:cNvPicPr>
          <p:nvPr/>
        </p:nvPicPr>
        <p:blipFill>
          <a:blip r:embed="rId2"/>
          <a:stretch>
            <a:fillRect/>
          </a:stretch>
        </p:blipFill>
        <p:spPr>
          <a:xfrm>
            <a:off x="2477037" y="4701312"/>
            <a:ext cx="5383235" cy="1755800"/>
          </a:xfrm>
          <a:prstGeom prst="rect">
            <a:avLst/>
          </a:prstGeom>
        </p:spPr>
      </p:pic>
    </p:spTree>
    <p:extLst>
      <p:ext uri="{BB962C8B-B14F-4D97-AF65-F5344CB8AC3E}">
        <p14:creationId xmlns:p14="http://schemas.microsoft.com/office/powerpoint/2010/main" val="4348339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692</TotalTime>
  <Words>1162</Words>
  <Application>Microsoft Office PowerPoint</Application>
  <PresentationFormat>Widescreen</PresentationFormat>
  <Paragraphs>117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Trebuchet MS</vt:lpstr>
      <vt:lpstr>Wingdings 3</vt:lpstr>
      <vt:lpstr>Facet</vt:lpstr>
      <vt:lpstr>RESPONSIBILITIES OF THE PROFESSIONAL   FACULTY OF ENGINEERING THE KOTHELAWELA DEFENCE UNIVERSITY  1st March 2024  </vt:lpstr>
      <vt:lpstr>TOPICS</vt:lpstr>
      <vt:lpstr>RESPONSIBILITIES OF THE PROFESSIONAL</vt:lpstr>
      <vt:lpstr>RESPONSIBILITIES OF THE PROFESSIONAL</vt:lpstr>
      <vt:lpstr>RESPONSIBILITIES OF THE PROFESSIONAL</vt:lpstr>
      <vt:lpstr>RESPONSIBILITIES OF THE PROFESSIONAL</vt:lpstr>
      <vt:lpstr>RESPONSIBILITIES OF THE PROFESSIONAL</vt:lpstr>
      <vt:lpstr>RESPONSIBILITIES OF THE PROFESSIONAL</vt:lpstr>
      <vt:lpstr>PowerPoint Presentation</vt:lpstr>
      <vt:lpstr>RESPONSIBILITIES OF THE PROFESSIONAL</vt:lpstr>
      <vt:lpstr>RESPONSIBILITIES OF THE PROFESSIONAL</vt:lpstr>
      <vt:lpstr>PowerPoint Presentation</vt:lpstr>
      <vt:lpstr>STANDARD OF CARE</vt:lpstr>
      <vt:lpstr>STANDARD OF CARE</vt:lpstr>
      <vt:lpstr>STANDARD OF CARE</vt:lpstr>
      <vt:lpstr>STANDARD OF CARD</vt:lpstr>
      <vt:lpstr>PowerPoint Presentation</vt:lpstr>
      <vt:lpstr>ACKNOWLEDGEMENTS</vt:lpstr>
      <vt:lpstr>THANK YOU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RESPONSIBILITIES OF THE PROFESSIONAL    22nd January 2020</dc:title>
  <dc:creator>User</dc:creator>
  <cp:lastModifiedBy>DNT Karunarathne</cp:lastModifiedBy>
  <cp:revision>34</cp:revision>
  <dcterms:created xsi:type="dcterms:W3CDTF">2020-01-02T19:27:56Z</dcterms:created>
  <dcterms:modified xsi:type="dcterms:W3CDTF">2024-03-03T09:15:20Z</dcterms:modified>
</cp:coreProperties>
</file>