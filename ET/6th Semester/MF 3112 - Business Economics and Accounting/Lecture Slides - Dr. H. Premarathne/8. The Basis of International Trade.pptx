
<file path=[Content_Types].xml><?xml version="1.0" encoding="utf-8"?>
<Types xmlns="http://schemas.openxmlformats.org/package/2006/content-types">
  <Default Extension="png" ContentType="image/png"/>
  <Default Extension="jpeg" ContentType="image/jpeg"/>
  <Default Extension="emf" ContentType="image/x-emf"/>
  <Default Extension="wmf" ContentType="image/x-wmf"/>
  <Default Extension="rels" ContentType="application/vnd.openxmlformats-package.relationships+xml"/>
  <Default Extension="xml" ContentType="application/xml"/>
  <Default Extension="wdp" ContentType="image/vnd.ms-photo"/>
  <Default Extension="gif" ContentType="image/gif"/>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60" r:id="rId2"/>
  </p:sldMasterIdLst>
  <p:notesMasterIdLst>
    <p:notesMasterId r:id="rId49"/>
  </p:notesMasterIdLst>
  <p:sldIdLst>
    <p:sldId id="286" r:id="rId3"/>
    <p:sldId id="272" r:id="rId4"/>
    <p:sldId id="257" r:id="rId5"/>
    <p:sldId id="287" r:id="rId6"/>
    <p:sldId id="288" r:id="rId7"/>
    <p:sldId id="290" r:id="rId8"/>
    <p:sldId id="292" r:id="rId9"/>
    <p:sldId id="293" r:id="rId10"/>
    <p:sldId id="294" r:id="rId11"/>
    <p:sldId id="295" r:id="rId12"/>
    <p:sldId id="296" r:id="rId13"/>
    <p:sldId id="297" r:id="rId14"/>
    <p:sldId id="298" r:id="rId15"/>
    <p:sldId id="299" r:id="rId16"/>
    <p:sldId id="300" r:id="rId17"/>
    <p:sldId id="301" r:id="rId18"/>
    <p:sldId id="302" r:id="rId19"/>
    <p:sldId id="303" r:id="rId20"/>
    <p:sldId id="304" r:id="rId21"/>
    <p:sldId id="305" r:id="rId22"/>
    <p:sldId id="306" r:id="rId23"/>
    <p:sldId id="307" r:id="rId24"/>
    <p:sldId id="308" r:id="rId25"/>
    <p:sldId id="309" r:id="rId26"/>
    <p:sldId id="310" r:id="rId27"/>
    <p:sldId id="311" r:id="rId28"/>
    <p:sldId id="312" r:id="rId29"/>
    <p:sldId id="313" r:id="rId30"/>
    <p:sldId id="314" r:id="rId31"/>
    <p:sldId id="315" r:id="rId32"/>
    <p:sldId id="316" r:id="rId33"/>
    <p:sldId id="317" r:id="rId34"/>
    <p:sldId id="318" r:id="rId35"/>
    <p:sldId id="319" r:id="rId36"/>
    <p:sldId id="320" r:id="rId37"/>
    <p:sldId id="321" r:id="rId38"/>
    <p:sldId id="322" r:id="rId39"/>
    <p:sldId id="323" r:id="rId40"/>
    <p:sldId id="324" r:id="rId41"/>
    <p:sldId id="331" r:id="rId42"/>
    <p:sldId id="332" r:id="rId43"/>
    <p:sldId id="333" r:id="rId44"/>
    <p:sldId id="334" r:id="rId45"/>
    <p:sldId id="335" r:id="rId46"/>
    <p:sldId id="336" r:id="rId47"/>
    <p:sldId id="330" r:id="rId48"/>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35758FB7-9AC5-4552-8A53-C91805E547FA}" styleName="Themed Style 1 - Accent 5">
    <a:tblBg>
      <a:fillRef idx="2">
        <a:schemeClr val="accent5"/>
      </a:fillRef>
      <a:effectRef idx="1">
        <a:schemeClr val="accent5"/>
      </a:effectRef>
    </a:tblBg>
    <a:wholeTbl>
      <a:tcTxStyle>
        <a:fontRef idx="minor">
          <a:scrgbClr r="0" g="0" b="0"/>
        </a:fontRef>
        <a:schemeClr val="dk1"/>
      </a:tcTxStyle>
      <a:tcStyle>
        <a:tcBdr>
          <a:left>
            <a:lnRef idx="1">
              <a:schemeClr val="accent5"/>
            </a:lnRef>
          </a:left>
          <a:right>
            <a:lnRef idx="1">
              <a:schemeClr val="accent5"/>
            </a:lnRef>
          </a:right>
          <a:top>
            <a:lnRef idx="1">
              <a:schemeClr val="accent5"/>
            </a:lnRef>
          </a:top>
          <a:bottom>
            <a:lnRef idx="1">
              <a:schemeClr val="accent5"/>
            </a:lnRef>
          </a:bottom>
          <a:insideH>
            <a:lnRef idx="1">
              <a:schemeClr val="accent5"/>
            </a:lnRef>
          </a:insideH>
          <a:insideV>
            <a:lnRef idx="1">
              <a:schemeClr val="accent5"/>
            </a:lnRef>
          </a:insideV>
        </a:tcBdr>
        <a:fill>
          <a:noFill/>
        </a:fill>
      </a:tcStyle>
    </a:wholeTbl>
    <a:band1H>
      <a:tcStyle>
        <a:tcBdr/>
        <a:fill>
          <a:solidFill>
            <a:schemeClr val="accent5">
              <a:alpha val="40000"/>
            </a:schemeClr>
          </a:solidFill>
        </a:fill>
      </a:tcStyle>
    </a:band1H>
    <a:band2H>
      <a:tcStyle>
        <a:tcBdr/>
      </a:tcStyle>
    </a:band2H>
    <a:band1V>
      <a:tcStyle>
        <a:tcBdr>
          <a:top>
            <a:lnRef idx="1">
              <a:schemeClr val="accent5"/>
            </a:lnRef>
          </a:top>
          <a:bottom>
            <a:lnRef idx="1">
              <a:schemeClr val="accent5"/>
            </a:lnRef>
          </a:bottom>
        </a:tcBdr>
        <a:fill>
          <a:solidFill>
            <a:schemeClr val="accent5">
              <a:alpha val="40000"/>
            </a:schemeClr>
          </a:solidFill>
        </a:fill>
      </a:tcStyle>
    </a:band1V>
    <a:band2V>
      <a:tcStyle>
        <a:tcBdr/>
      </a:tcStyle>
    </a:band2V>
    <a:lastCol>
      <a:tcTxStyle b="on"/>
      <a:tcStyle>
        <a:tcBdr>
          <a:left>
            <a:lnRef idx="2">
              <a:schemeClr val="accent5"/>
            </a:lnRef>
          </a:left>
          <a:right>
            <a:lnRef idx="1">
              <a:schemeClr val="accent5"/>
            </a:lnRef>
          </a:right>
          <a:top>
            <a:lnRef idx="1">
              <a:schemeClr val="accent5"/>
            </a:lnRef>
          </a:top>
          <a:bottom>
            <a:lnRef idx="1">
              <a:schemeClr val="accent5"/>
            </a:lnRef>
          </a:bottom>
          <a:insideH>
            <a:lnRef idx="1">
              <a:schemeClr val="accent5"/>
            </a:lnRef>
          </a:insideH>
          <a:insideV>
            <a:ln>
              <a:noFill/>
            </a:ln>
          </a:insideV>
        </a:tcBdr>
      </a:tcStyle>
    </a:lastCol>
    <a:firstCol>
      <a:tcTxStyle b="on"/>
      <a:tcStyle>
        <a:tcBdr>
          <a:left>
            <a:lnRef idx="1">
              <a:schemeClr val="accent5"/>
            </a:lnRef>
          </a:left>
          <a:right>
            <a:lnRef idx="2">
              <a:schemeClr val="accent5"/>
            </a:lnRef>
          </a:right>
          <a:top>
            <a:lnRef idx="1">
              <a:schemeClr val="accent5"/>
            </a:lnRef>
          </a:top>
          <a:bottom>
            <a:lnRef idx="1">
              <a:schemeClr val="accent5"/>
            </a:lnRef>
          </a:bottom>
          <a:insideH>
            <a:lnRef idx="1">
              <a:schemeClr val="accent5"/>
            </a:lnRef>
          </a:insideH>
          <a:insideV>
            <a:ln>
              <a:noFill/>
            </a:ln>
          </a:insideV>
        </a:tcBdr>
      </a:tcStyle>
    </a:firstCol>
    <a:lastRow>
      <a:tcTxStyle b="on"/>
      <a:tcStyle>
        <a:tcBdr>
          <a:left>
            <a:lnRef idx="1">
              <a:schemeClr val="accent5"/>
            </a:lnRef>
          </a:left>
          <a:right>
            <a:lnRef idx="1">
              <a:schemeClr val="accent5"/>
            </a:lnRef>
          </a:right>
          <a:top>
            <a:lnRef idx="2">
              <a:schemeClr val="accent5"/>
            </a:lnRef>
          </a:top>
          <a:bottom>
            <a:lnRef idx="2">
              <a:schemeClr val="accent5"/>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5"/>
            </a:lnRef>
          </a:left>
          <a:right>
            <a:lnRef idx="1">
              <a:schemeClr val="accent5"/>
            </a:lnRef>
          </a:right>
          <a:top>
            <a:lnRef idx="1">
              <a:schemeClr val="accent5"/>
            </a:lnRef>
          </a:top>
          <a:bottom>
            <a:lnRef idx="2">
              <a:schemeClr val="lt1"/>
            </a:lnRef>
          </a:bottom>
          <a:insideH>
            <a:ln>
              <a:noFill/>
            </a:ln>
          </a:insideH>
          <a:insideV>
            <a:ln>
              <a:noFill/>
            </a:ln>
          </a:insideV>
        </a:tcBdr>
        <a:fill>
          <a:solidFill>
            <a:schemeClr val="accent5"/>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10"/>
    <p:restoredTop sz="94620"/>
  </p:normalViewPr>
  <p:slideViewPr>
    <p:cSldViewPr>
      <p:cViewPr varScale="1">
        <p:scale>
          <a:sx n="83" d="100"/>
          <a:sy n="83" d="100"/>
        </p:scale>
        <p:origin x="1450" y="67"/>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slide" Target="slides/slide37.xml"/><Relationship Id="rId3" Type="http://schemas.openxmlformats.org/officeDocument/2006/relationships/slide" Target="slides/slide1.xml"/><Relationship Id="rId21" Type="http://schemas.openxmlformats.org/officeDocument/2006/relationships/slide" Target="slides/slide19.xml"/><Relationship Id="rId34" Type="http://schemas.openxmlformats.org/officeDocument/2006/relationships/slide" Target="slides/slide32.xml"/><Relationship Id="rId42" Type="http://schemas.openxmlformats.org/officeDocument/2006/relationships/slide" Target="slides/slide40.xml"/><Relationship Id="rId47" Type="http://schemas.openxmlformats.org/officeDocument/2006/relationships/slide" Target="slides/slide45.xml"/><Relationship Id="rId50" Type="http://schemas.openxmlformats.org/officeDocument/2006/relationships/presProps" Target="presProps.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slide" Target="slides/slide44.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slide" Target="slides/slide27.xml"/><Relationship Id="rId41" Type="http://schemas.openxmlformats.org/officeDocument/2006/relationships/slide" Target="slides/slide39.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slide" Target="slides/slide38.xml"/><Relationship Id="rId45" Type="http://schemas.openxmlformats.org/officeDocument/2006/relationships/slide" Target="slides/slide43.xml"/><Relationship Id="rId53" Type="http://schemas.openxmlformats.org/officeDocument/2006/relationships/tableStyles" Target="tableStyle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notesMaster" Target="notesMasters/notesMaster1.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4" Type="http://schemas.openxmlformats.org/officeDocument/2006/relationships/slide" Target="slides/slide42.xml"/><Relationship Id="rId52" Type="http://schemas.openxmlformats.org/officeDocument/2006/relationships/theme" Target="theme/theme1.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slide" Target="slides/slide41.xml"/><Relationship Id="rId48" Type="http://schemas.openxmlformats.org/officeDocument/2006/relationships/slide" Target="slides/slide46.xml"/><Relationship Id="rId8" Type="http://schemas.openxmlformats.org/officeDocument/2006/relationships/slide" Target="slides/slide6.xml"/><Relationship Id="rId51"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9F5E5362-FC06-4892-936D-87CB31428D1F}" type="datetimeFigureOut">
              <a:rPr lang="en-US" smtClean="0"/>
              <a:pPr/>
              <a:t>11/18/2023</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A293250D-D42B-47AD-ACF5-A18E70C1670B}" type="slidenum">
              <a:rPr lang="en-US" smtClean="0"/>
              <a:pPr/>
              <a:t>‹#›</a:t>
            </a:fld>
            <a:endParaRPr lang="en-US"/>
          </a:p>
        </p:txBody>
      </p:sp>
    </p:spTree>
    <p:extLst>
      <p:ext uri="{BB962C8B-B14F-4D97-AF65-F5344CB8AC3E}">
        <p14:creationId xmlns:p14="http://schemas.microsoft.com/office/powerpoint/2010/main" val="289579974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a:defRPr lang="en-GB" altLang="en-US"/>
            </a:pPr>
            <a:fld id="{E087895D-D0C5-4485-BE8C-1DC3090E0F86}" type="slidenum">
              <a:rPr lang="en-GB" altLang="" smtClean="0">
                <a:solidFill>
                  <a:prstClr val="black"/>
                </a:solidFill>
              </a:rPr>
              <a:pPr>
                <a:defRPr lang="en-GB" altLang="en-US"/>
              </a:pPr>
              <a:t>1</a:t>
            </a:fld>
            <a:endParaRPr lang="en-GB" altLang="">
              <a:solidFill>
                <a:prstClr val="black"/>
              </a:solidFill>
            </a:endParaRPr>
          </a:p>
        </p:txBody>
      </p:sp>
    </p:spTree>
    <p:extLst>
      <p:ext uri="{BB962C8B-B14F-4D97-AF65-F5344CB8AC3E}">
        <p14:creationId xmlns:p14="http://schemas.microsoft.com/office/powerpoint/2010/main" val="88956895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A293250D-D42B-47AD-ACF5-A18E70C1670B}" type="slidenum">
              <a:rPr lang="en-US" smtClean="0"/>
              <a:pPr/>
              <a:t>2</a:t>
            </a:fld>
            <a:endParaRPr lang="en-US"/>
          </a:p>
        </p:txBody>
      </p:sp>
    </p:spTree>
    <p:extLst>
      <p:ext uri="{BB962C8B-B14F-4D97-AF65-F5344CB8AC3E}">
        <p14:creationId xmlns:p14="http://schemas.microsoft.com/office/powerpoint/2010/main" val="344359380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Rectangle 7"/>
          <p:cNvSpPr>
            <a:spLocks noGrp="1" noChangeArrowheads="1"/>
          </p:cNvSpPr>
          <p:nvPr>
            <p:ph type="sldNum" sz="quarter" idx="5"/>
          </p:nvPr>
        </p:nvSpPr>
        <p:spPr>
          <a:noFill/>
        </p:spPr>
        <p:txBody>
          <a:bodyPr/>
          <a:lstStyle/>
          <a:p>
            <a:fld id="{8436F438-CFC7-4581-A5BE-6158578E9384}" type="slidenum">
              <a:rPr lang="en-US"/>
              <a:pPr/>
              <a:t>8</a:t>
            </a:fld>
            <a:endParaRPr lang="en-US"/>
          </a:p>
        </p:txBody>
      </p:sp>
      <p:sp>
        <p:nvSpPr>
          <p:cNvPr id="64515" name="Rectangle 2"/>
          <p:cNvSpPr>
            <a:spLocks noGrp="1" noRot="1" noChangeAspect="1" noChangeArrowheads="1" noTextEdit="1"/>
          </p:cNvSpPr>
          <p:nvPr>
            <p:ph type="sldImg"/>
          </p:nvPr>
        </p:nvSpPr>
        <p:spPr>
          <a:ln/>
        </p:spPr>
      </p:sp>
      <p:sp>
        <p:nvSpPr>
          <p:cNvPr id="64516" name="Rectangle 3"/>
          <p:cNvSpPr>
            <a:spLocks noGrp="1" noChangeArrowheads="1"/>
          </p:cNvSpPr>
          <p:nvPr>
            <p:ph type="body" idx="1"/>
          </p:nvPr>
        </p:nvSpPr>
        <p:spPr bwMode="auto">
          <a:xfrm>
            <a:off x="685800" y="4343400"/>
            <a:ext cx="5486400" cy="4114800"/>
          </a:xfrm>
          <a:prstGeom prst="rect">
            <a:avLst/>
          </a:prstGeom>
          <a:noFill/>
          <a:ln>
            <a:miter lim="800000"/>
            <a:headEnd/>
            <a:tailEnd/>
          </a:ln>
        </p:spPr>
        <p:txBody>
          <a:bodyPr/>
          <a:lstStyle/>
          <a:p>
            <a:endParaRPr lang="en-US" sz="1400" dirty="0">
              <a:latin typeface="Arial" charset="0"/>
            </a:endParaRPr>
          </a:p>
        </p:txBody>
      </p:sp>
    </p:spTree>
    <p:extLst>
      <p:ext uri="{BB962C8B-B14F-4D97-AF65-F5344CB8AC3E}">
        <p14:creationId xmlns:p14="http://schemas.microsoft.com/office/powerpoint/2010/main" val="32985827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a:xfrm>
            <a:off x="685800" y="4343400"/>
            <a:ext cx="5486400" cy="4114800"/>
          </a:xfrm>
          <a:prstGeom prst="rect">
            <a:avLst/>
          </a:prstGeom>
        </p:spPr>
        <p:txBody>
          <a:bodyPr>
            <a:normAutofit/>
          </a:bodyPr>
          <a:lstStyle/>
          <a:p>
            <a:r>
              <a:rPr lang="en-US" dirty="0"/>
              <a:t>In the long run, no country can sustain a surplus</a:t>
            </a:r>
            <a:r>
              <a:rPr lang="en-US" baseline="0" dirty="0"/>
              <a:t> on the balance of trade.</a:t>
            </a:r>
            <a:endParaRPr lang="en-US" dirty="0"/>
          </a:p>
        </p:txBody>
      </p:sp>
      <p:sp>
        <p:nvSpPr>
          <p:cNvPr id="4" name="Slide Number Placeholder 3"/>
          <p:cNvSpPr>
            <a:spLocks noGrp="1"/>
          </p:cNvSpPr>
          <p:nvPr>
            <p:ph type="sldNum" sz="quarter" idx="10"/>
          </p:nvPr>
        </p:nvSpPr>
        <p:spPr/>
        <p:txBody>
          <a:bodyPr/>
          <a:lstStyle/>
          <a:p>
            <a:pPr>
              <a:defRPr/>
            </a:pPr>
            <a:fld id="{3696C8AD-EEE9-434D-BF65-438FA5FA1622}" type="slidenum">
              <a:rPr lang="en-US" smtClean="0"/>
              <a:pPr>
                <a:defRPr/>
              </a:pPr>
              <a:t>10</a:t>
            </a:fld>
            <a:endParaRPr lang="en-US"/>
          </a:p>
        </p:txBody>
      </p:sp>
    </p:spTree>
    <p:extLst>
      <p:ext uri="{BB962C8B-B14F-4D97-AF65-F5344CB8AC3E}">
        <p14:creationId xmlns:p14="http://schemas.microsoft.com/office/powerpoint/2010/main" val="378873608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6" name="Rectangle 7"/>
          <p:cNvSpPr>
            <a:spLocks noGrp="1" noChangeArrowheads="1"/>
          </p:cNvSpPr>
          <p:nvPr>
            <p:ph type="sldNum" sz="quarter" idx="5"/>
          </p:nvPr>
        </p:nvSpPr>
        <p:spPr>
          <a:noFill/>
        </p:spPr>
        <p:txBody>
          <a:bodyPr/>
          <a:lstStyle/>
          <a:p>
            <a:fld id="{6336D2AD-1CA0-46AF-876E-8138BF05A4D5}" type="slidenum">
              <a:rPr lang="en-US"/>
              <a:pPr/>
              <a:t>32</a:t>
            </a:fld>
            <a:endParaRPr lang="en-US"/>
          </a:p>
        </p:txBody>
      </p:sp>
      <p:sp>
        <p:nvSpPr>
          <p:cNvPr id="93187" name="Rectangle 2"/>
          <p:cNvSpPr>
            <a:spLocks noGrp="1" noRot="1" noChangeAspect="1" noChangeArrowheads="1" noTextEdit="1"/>
          </p:cNvSpPr>
          <p:nvPr>
            <p:ph type="sldImg"/>
          </p:nvPr>
        </p:nvSpPr>
        <p:spPr>
          <a:ln/>
        </p:spPr>
      </p:sp>
      <p:sp>
        <p:nvSpPr>
          <p:cNvPr id="93188" name="Rectangle 3"/>
          <p:cNvSpPr>
            <a:spLocks noGrp="1" noChangeArrowheads="1"/>
          </p:cNvSpPr>
          <p:nvPr>
            <p:ph type="body" idx="1"/>
          </p:nvPr>
        </p:nvSpPr>
        <p:spPr bwMode="auto">
          <a:xfrm>
            <a:off x="685800" y="4343400"/>
            <a:ext cx="5486400" cy="4114800"/>
          </a:xfrm>
          <a:prstGeom prst="rect">
            <a:avLst/>
          </a:prstGeom>
          <a:noFill/>
          <a:ln>
            <a:miter lim="800000"/>
            <a:headEnd/>
            <a:tailEnd/>
          </a:ln>
        </p:spPr>
        <p:txBody>
          <a:bodyPr/>
          <a:lstStyle/>
          <a:p>
            <a:pPr>
              <a:buFont typeface="Arial" pitchFamily="34" charset="0"/>
              <a:buChar char="•"/>
            </a:pPr>
            <a:r>
              <a:rPr lang="en-US" dirty="0"/>
              <a:t> Why does Japan do so well in the automobile industry? Why do</a:t>
            </a:r>
            <a:r>
              <a:rPr lang="en-US" baseline="0" dirty="0"/>
              <a:t> Germany and the United States do so well in the chemical industry?</a:t>
            </a:r>
          </a:p>
          <a:p>
            <a:pPr>
              <a:buFont typeface="Arial" pitchFamily="34" charset="0"/>
              <a:buChar char="•"/>
            </a:pPr>
            <a:r>
              <a:rPr lang="en-US" baseline="0" dirty="0"/>
              <a:t> These four broad attributes of a nation shape the environment in which local firms compete. </a:t>
            </a:r>
            <a:endParaRPr lang="en-US" dirty="0"/>
          </a:p>
        </p:txBody>
      </p:sp>
    </p:spTree>
    <p:extLst>
      <p:ext uri="{BB962C8B-B14F-4D97-AF65-F5344CB8AC3E}">
        <p14:creationId xmlns:p14="http://schemas.microsoft.com/office/powerpoint/2010/main" val="153327072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306" name="Rectangle 7"/>
          <p:cNvSpPr>
            <a:spLocks noGrp="1" noChangeArrowheads="1"/>
          </p:cNvSpPr>
          <p:nvPr>
            <p:ph type="sldNum" sz="quarter" idx="5"/>
          </p:nvPr>
        </p:nvSpPr>
        <p:spPr>
          <a:noFill/>
        </p:spPr>
        <p:txBody>
          <a:bodyPr/>
          <a:lstStyle/>
          <a:p>
            <a:fld id="{BE8CAB64-7C45-4E7A-B3F5-75F4F29838AF}" type="slidenum">
              <a:rPr lang="en-US"/>
              <a:pPr/>
              <a:t>39</a:t>
            </a:fld>
            <a:endParaRPr lang="en-US"/>
          </a:p>
        </p:txBody>
      </p:sp>
      <p:sp>
        <p:nvSpPr>
          <p:cNvPr id="98307" name="Rectangle 2"/>
          <p:cNvSpPr>
            <a:spLocks noGrp="1" noRot="1" noChangeAspect="1" noChangeArrowheads="1" noTextEdit="1"/>
          </p:cNvSpPr>
          <p:nvPr>
            <p:ph type="sldImg"/>
          </p:nvPr>
        </p:nvSpPr>
        <p:spPr>
          <a:ln/>
        </p:spPr>
      </p:sp>
      <p:sp>
        <p:nvSpPr>
          <p:cNvPr id="98308" name="Rectangle 3"/>
          <p:cNvSpPr>
            <a:spLocks noGrp="1" noChangeArrowheads="1"/>
          </p:cNvSpPr>
          <p:nvPr>
            <p:ph type="body" idx="1"/>
          </p:nvPr>
        </p:nvSpPr>
        <p:spPr bwMode="auto">
          <a:xfrm>
            <a:off x="685800" y="4343400"/>
            <a:ext cx="5486400" cy="4114800"/>
          </a:xfrm>
          <a:prstGeom prst="rect">
            <a:avLst/>
          </a:prstGeom>
          <a:noFill/>
          <a:ln>
            <a:miter lim="800000"/>
            <a:headEnd/>
            <a:tailEnd/>
          </a:ln>
        </p:spPr>
        <p:txBody>
          <a:bodyPr/>
          <a:lstStyle/>
          <a:p>
            <a:endParaRPr lang="en-US" sz="1400" dirty="0">
              <a:latin typeface="Arial" charset="0"/>
            </a:endParaRPr>
          </a:p>
        </p:txBody>
      </p:sp>
    </p:spTree>
    <p:extLst>
      <p:ext uri="{BB962C8B-B14F-4D97-AF65-F5344CB8AC3E}">
        <p14:creationId xmlns:p14="http://schemas.microsoft.com/office/powerpoint/2010/main" val="114225792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983B9156-83D5-484D-AB26-AC41B945E74E}" type="slidenum">
              <a:rPr lang="en-US" altLang="en-US"/>
              <a:pPr/>
              <a:t>44</a:t>
            </a:fld>
            <a:endParaRPr lang="en-US" altLang="en-US"/>
          </a:p>
        </p:txBody>
      </p:sp>
      <p:sp>
        <p:nvSpPr>
          <p:cNvPr id="12290" name="Rectangle 2"/>
          <p:cNvSpPr>
            <a:spLocks noGrp="1" noRot="1" noChangeAspect="1" noChangeArrowheads="1" noTextEdit="1"/>
          </p:cNvSpPr>
          <p:nvPr>
            <p:ph type="sldImg"/>
          </p:nvPr>
        </p:nvSpPr>
        <p:spPr>
          <a:ln/>
        </p:spPr>
      </p:sp>
      <p:sp>
        <p:nvSpPr>
          <p:cNvPr id="12291" name="Rectangle 3"/>
          <p:cNvSpPr>
            <a:spLocks noGrp="1" noChangeArrowheads="1"/>
          </p:cNvSpPr>
          <p:nvPr>
            <p:ph type="body" idx="1"/>
          </p:nvPr>
        </p:nvSpPr>
        <p:spPr/>
        <p:txBody>
          <a:bodyPr/>
          <a:lstStyle/>
          <a:p>
            <a:endParaRPr lang="en-US" altLang="en-US"/>
          </a:p>
        </p:txBody>
      </p:sp>
    </p:spTree>
    <p:extLst>
      <p:ext uri="{BB962C8B-B14F-4D97-AF65-F5344CB8AC3E}">
        <p14:creationId xmlns:p14="http://schemas.microsoft.com/office/powerpoint/2010/main" val="149158177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D9125C5F-7FE5-774B-BEFC-4829F755DBA2}" type="datetime1">
              <a:rPr lang="en-US" smtClean="0"/>
              <a:t>11/18/2023</a:t>
            </a:fld>
            <a:endParaRPr lang="en-US"/>
          </a:p>
        </p:txBody>
      </p:sp>
      <p:sp>
        <p:nvSpPr>
          <p:cNvPr id="5" name="Footer Placeholder 4"/>
          <p:cNvSpPr>
            <a:spLocks noGrp="1"/>
          </p:cNvSpPr>
          <p:nvPr>
            <p:ph type="ftr" sz="quarter" idx="11"/>
          </p:nvPr>
        </p:nvSpPr>
        <p:spPr/>
        <p:txBody>
          <a:bodyPr/>
          <a:lstStyle/>
          <a:p>
            <a:r>
              <a:rPr lang="en-US"/>
              <a:t>BSc/AF/ Trinco/2022 July</a:t>
            </a:r>
          </a:p>
        </p:txBody>
      </p:sp>
      <p:sp>
        <p:nvSpPr>
          <p:cNvPr id="6" name="Slide Number Placeholder 5"/>
          <p:cNvSpPr>
            <a:spLocks noGrp="1"/>
          </p:cNvSpPr>
          <p:nvPr>
            <p:ph type="sldNum" sz="quarter" idx="12"/>
          </p:nvPr>
        </p:nvSpPr>
        <p:spPr/>
        <p:txBody>
          <a:bodyPr/>
          <a:lstStyle/>
          <a:p>
            <a:fld id="{19406544-F798-4DC7-9CED-E61544B8491A}"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BE504D7E-B66C-614B-A7EA-FB982E6E2E4D}" type="datetime1">
              <a:rPr lang="en-US" smtClean="0"/>
              <a:t>11/18/2023</a:t>
            </a:fld>
            <a:endParaRPr lang="en-US"/>
          </a:p>
        </p:txBody>
      </p:sp>
      <p:sp>
        <p:nvSpPr>
          <p:cNvPr id="5" name="Footer Placeholder 4"/>
          <p:cNvSpPr>
            <a:spLocks noGrp="1"/>
          </p:cNvSpPr>
          <p:nvPr>
            <p:ph type="ftr" sz="quarter" idx="11"/>
          </p:nvPr>
        </p:nvSpPr>
        <p:spPr/>
        <p:txBody>
          <a:bodyPr/>
          <a:lstStyle/>
          <a:p>
            <a:r>
              <a:rPr lang="en-US"/>
              <a:t>BSc/AF/ Trinco/2022 July</a:t>
            </a:r>
          </a:p>
        </p:txBody>
      </p:sp>
      <p:sp>
        <p:nvSpPr>
          <p:cNvPr id="6" name="Slide Number Placeholder 5"/>
          <p:cNvSpPr>
            <a:spLocks noGrp="1"/>
          </p:cNvSpPr>
          <p:nvPr>
            <p:ph type="sldNum" sz="quarter" idx="12"/>
          </p:nvPr>
        </p:nvSpPr>
        <p:spPr/>
        <p:txBody>
          <a:bodyPr/>
          <a:lstStyle/>
          <a:p>
            <a:fld id="{19406544-F798-4DC7-9CED-E61544B8491A}"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0C99036-337D-5D45-B7FF-07F73F767D04}" type="datetime1">
              <a:rPr lang="en-US" smtClean="0"/>
              <a:t>11/18/2023</a:t>
            </a:fld>
            <a:endParaRPr lang="en-US"/>
          </a:p>
        </p:txBody>
      </p:sp>
      <p:sp>
        <p:nvSpPr>
          <p:cNvPr id="5" name="Footer Placeholder 4"/>
          <p:cNvSpPr>
            <a:spLocks noGrp="1"/>
          </p:cNvSpPr>
          <p:nvPr>
            <p:ph type="ftr" sz="quarter" idx="11"/>
          </p:nvPr>
        </p:nvSpPr>
        <p:spPr/>
        <p:txBody>
          <a:bodyPr/>
          <a:lstStyle/>
          <a:p>
            <a:r>
              <a:rPr lang="en-US"/>
              <a:t>BSc/AF/ Trinco/2022 July</a:t>
            </a:r>
          </a:p>
        </p:txBody>
      </p:sp>
      <p:sp>
        <p:nvSpPr>
          <p:cNvPr id="6" name="Slide Number Placeholder 5"/>
          <p:cNvSpPr>
            <a:spLocks noGrp="1"/>
          </p:cNvSpPr>
          <p:nvPr>
            <p:ph type="sldNum" sz="quarter" idx="12"/>
          </p:nvPr>
        </p:nvSpPr>
        <p:spPr/>
        <p:txBody>
          <a:bodyPr/>
          <a:lstStyle/>
          <a:p>
            <a:fld id="{19406544-F798-4DC7-9CED-E61544B8491A}"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89499E2-D228-1B4E-A9A9-6CB43982BF8F}" type="datetime1">
              <a:rPr lang="en-US" smtClean="0"/>
              <a:t>11/18/2023</a:t>
            </a:fld>
            <a:endParaRPr lang="en-US"/>
          </a:p>
        </p:txBody>
      </p:sp>
      <p:sp>
        <p:nvSpPr>
          <p:cNvPr id="6" name="Footer Placeholder 5"/>
          <p:cNvSpPr>
            <a:spLocks noGrp="1"/>
          </p:cNvSpPr>
          <p:nvPr>
            <p:ph type="ftr" sz="quarter" idx="11"/>
          </p:nvPr>
        </p:nvSpPr>
        <p:spPr/>
        <p:txBody>
          <a:bodyPr/>
          <a:lstStyle/>
          <a:p>
            <a:r>
              <a:rPr lang="en-US"/>
              <a:t>BSc/AF/ Trinco/2022 July</a:t>
            </a:r>
          </a:p>
        </p:txBody>
      </p:sp>
      <p:sp>
        <p:nvSpPr>
          <p:cNvPr id="7" name="Slide Number Placeholder 6"/>
          <p:cNvSpPr>
            <a:spLocks noGrp="1"/>
          </p:cNvSpPr>
          <p:nvPr>
            <p:ph type="sldNum" sz="quarter" idx="12"/>
          </p:nvPr>
        </p:nvSpPr>
        <p:spPr/>
        <p:txBody>
          <a:bodyPr/>
          <a:lstStyle/>
          <a:p>
            <a:fld id="{19406544-F798-4DC7-9CED-E61544B8491A}"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B5EB7E45-90EA-0A41-8594-866583C3800D}" type="datetime1">
              <a:rPr lang="en-US" smtClean="0"/>
              <a:t>11/18/2023</a:t>
            </a:fld>
            <a:endParaRPr lang="en-US"/>
          </a:p>
        </p:txBody>
      </p:sp>
      <p:sp>
        <p:nvSpPr>
          <p:cNvPr id="8" name="Footer Placeholder 7"/>
          <p:cNvSpPr>
            <a:spLocks noGrp="1"/>
          </p:cNvSpPr>
          <p:nvPr>
            <p:ph type="ftr" sz="quarter" idx="11"/>
          </p:nvPr>
        </p:nvSpPr>
        <p:spPr/>
        <p:txBody>
          <a:bodyPr/>
          <a:lstStyle/>
          <a:p>
            <a:r>
              <a:rPr lang="en-US"/>
              <a:t>BSc/AF/ Trinco/2022 July</a:t>
            </a:r>
          </a:p>
        </p:txBody>
      </p:sp>
      <p:sp>
        <p:nvSpPr>
          <p:cNvPr id="9" name="Slide Number Placeholder 8"/>
          <p:cNvSpPr>
            <a:spLocks noGrp="1"/>
          </p:cNvSpPr>
          <p:nvPr>
            <p:ph type="sldNum" sz="quarter" idx="12"/>
          </p:nvPr>
        </p:nvSpPr>
        <p:spPr/>
        <p:txBody>
          <a:bodyPr/>
          <a:lstStyle/>
          <a:p>
            <a:fld id="{19406544-F798-4DC7-9CED-E61544B8491A}"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97A6403E-2A50-434C-8934-01A7D57DD7FF}" type="datetime1">
              <a:rPr lang="en-US" smtClean="0"/>
              <a:t>11/18/2023</a:t>
            </a:fld>
            <a:endParaRPr lang="en-US"/>
          </a:p>
        </p:txBody>
      </p:sp>
      <p:sp>
        <p:nvSpPr>
          <p:cNvPr id="4" name="Footer Placeholder 3"/>
          <p:cNvSpPr>
            <a:spLocks noGrp="1"/>
          </p:cNvSpPr>
          <p:nvPr>
            <p:ph type="ftr" sz="quarter" idx="11"/>
          </p:nvPr>
        </p:nvSpPr>
        <p:spPr/>
        <p:txBody>
          <a:bodyPr/>
          <a:lstStyle/>
          <a:p>
            <a:r>
              <a:rPr lang="en-US"/>
              <a:t>BSc/AF/ Trinco/2022 July</a:t>
            </a:r>
          </a:p>
        </p:txBody>
      </p:sp>
      <p:sp>
        <p:nvSpPr>
          <p:cNvPr id="5" name="Slide Number Placeholder 4"/>
          <p:cNvSpPr>
            <a:spLocks noGrp="1"/>
          </p:cNvSpPr>
          <p:nvPr>
            <p:ph type="sldNum" sz="quarter" idx="12"/>
          </p:nvPr>
        </p:nvSpPr>
        <p:spPr/>
        <p:txBody>
          <a:bodyPr/>
          <a:lstStyle/>
          <a:p>
            <a:fld id="{19406544-F798-4DC7-9CED-E61544B8491A}"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BF1DFB1-4180-9040-AFB1-9F1D11E84E69}" type="datetime1">
              <a:rPr lang="en-US" smtClean="0"/>
              <a:t>11/18/2023</a:t>
            </a:fld>
            <a:endParaRPr lang="en-US"/>
          </a:p>
        </p:txBody>
      </p:sp>
      <p:sp>
        <p:nvSpPr>
          <p:cNvPr id="3" name="Footer Placeholder 2"/>
          <p:cNvSpPr>
            <a:spLocks noGrp="1"/>
          </p:cNvSpPr>
          <p:nvPr>
            <p:ph type="ftr" sz="quarter" idx="11"/>
          </p:nvPr>
        </p:nvSpPr>
        <p:spPr/>
        <p:txBody>
          <a:bodyPr/>
          <a:lstStyle/>
          <a:p>
            <a:r>
              <a:rPr lang="en-US"/>
              <a:t>BSc/AF/ Trinco/2022 July</a:t>
            </a:r>
          </a:p>
        </p:txBody>
      </p:sp>
      <p:sp>
        <p:nvSpPr>
          <p:cNvPr id="4" name="Slide Number Placeholder 3"/>
          <p:cNvSpPr>
            <a:spLocks noGrp="1"/>
          </p:cNvSpPr>
          <p:nvPr>
            <p:ph type="sldNum" sz="quarter" idx="12"/>
          </p:nvPr>
        </p:nvSpPr>
        <p:spPr/>
        <p:txBody>
          <a:bodyPr/>
          <a:lstStyle/>
          <a:p>
            <a:fld id="{19406544-F798-4DC7-9CED-E61544B8491A}"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480EBB0A-1B2A-7F43-8569-468754DB5B3B}" type="datetime1">
              <a:rPr lang="en-US" smtClean="0"/>
              <a:t>11/18/2023</a:t>
            </a:fld>
            <a:endParaRPr lang="en-US"/>
          </a:p>
        </p:txBody>
      </p:sp>
      <p:sp>
        <p:nvSpPr>
          <p:cNvPr id="6" name="Footer Placeholder 5"/>
          <p:cNvSpPr>
            <a:spLocks noGrp="1"/>
          </p:cNvSpPr>
          <p:nvPr>
            <p:ph type="ftr" sz="quarter" idx="11"/>
          </p:nvPr>
        </p:nvSpPr>
        <p:spPr/>
        <p:txBody>
          <a:bodyPr/>
          <a:lstStyle/>
          <a:p>
            <a:r>
              <a:rPr lang="en-US"/>
              <a:t>BSc/AF/ Trinco/2022 July</a:t>
            </a:r>
          </a:p>
        </p:txBody>
      </p:sp>
      <p:sp>
        <p:nvSpPr>
          <p:cNvPr id="7" name="Slide Number Placeholder 6"/>
          <p:cNvSpPr>
            <a:spLocks noGrp="1"/>
          </p:cNvSpPr>
          <p:nvPr>
            <p:ph type="sldNum" sz="quarter" idx="12"/>
          </p:nvPr>
        </p:nvSpPr>
        <p:spPr/>
        <p:txBody>
          <a:bodyPr/>
          <a:lstStyle/>
          <a:p>
            <a:fld id="{19406544-F798-4DC7-9CED-E61544B8491A}"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C296B18C-5A28-7845-AECD-4ACEBF64E6EC}" type="datetime1">
              <a:rPr lang="en-US" smtClean="0"/>
              <a:t>11/18/2023</a:t>
            </a:fld>
            <a:endParaRPr lang="en-US"/>
          </a:p>
        </p:txBody>
      </p:sp>
      <p:sp>
        <p:nvSpPr>
          <p:cNvPr id="6" name="Footer Placeholder 5"/>
          <p:cNvSpPr>
            <a:spLocks noGrp="1"/>
          </p:cNvSpPr>
          <p:nvPr>
            <p:ph type="ftr" sz="quarter" idx="11"/>
          </p:nvPr>
        </p:nvSpPr>
        <p:spPr/>
        <p:txBody>
          <a:bodyPr/>
          <a:lstStyle/>
          <a:p>
            <a:r>
              <a:rPr lang="en-US"/>
              <a:t>BSc/AF/ Trinco/2022 July</a:t>
            </a:r>
          </a:p>
        </p:txBody>
      </p:sp>
      <p:sp>
        <p:nvSpPr>
          <p:cNvPr id="7" name="Slide Number Placeholder 6"/>
          <p:cNvSpPr>
            <a:spLocks noGrp="1"/>
          </p:cNvSpPr>
          <p:nvPr>
            <p:ph type="sldNum" sz="quarter" idx="12"/>
          </p:nvPr>
        </p:nvSpPr>
        <p:spPr/>
        <p:txBody>
          <a:bodyPr/>
          <a:lstStyle/>
          <a:p>
            <a:fld id="{19406544-F798-4DC7-9CED-E61544B8491A}"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701E9FDA-5990-D14A-BA06-2595F0612209}" type="datetime1">
              <a:rPr lang="en-US" smtClean="0"/>
              <a:t>11/18/2023</a:t>
            </a:fld>
            <a:endParaRPr lang="en-US"/>
          </a:p>
        </p:txBody>
      </p:sp>
      <p:sp>
        <p:nvSpPr>
          <p:cNvPr id="5" name="Footer Placeholder 4"/>
          <p:cNvSpPr>
            <a:spLocks noGrp="1"/>
          </p:cNvSpPr>
          <p:nvPr>
            <p:ph type="ftr" sz="quarter" idx="11"/>
          </p:nvPr>
        </p:nvSpPr>
        <p:spPr/>
        <p:txBody>
          <a:bodyPr/>
          <a:lstStyle/>
          <a:p>
            <a:r>
              <a:rPr lang="en-US"/>
              <a:t>BSc/AF/ Trinco/2022 July</a:t>
            </a:r>
          </a:p>
        </p:txBody>
      </p:sp>
      <p:sp>
        <p:nvSpPr>
          <p:cNvPr id="6" name="Slide Number Placeholder 5"/>
          <p:cNvSpPr>
            <a:spLocks noGrp="1"/>
          </p:cNvSpPr>
          <p:nvPr>
            <p:ph type="sldNum" sz="quarter" idx="12"/>
          </p:nvPr>
        </p:nvSpPr>
        <p:spPr/>
        <p:txBody>
          <a:bodyPr/>
          <a:lstStyle/>
          <a:p>
            <a:fld id="{19406544-F798-4DC7-9CED-E61544B8491A}"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6D0517D-6628-C64C-B37D-5B745BCBB668}" type="datetime1">
              <a:rPr lang="en-US" smtClean="0"/>
              <a:t>11/18/2023</a:t>
            </a:fld>
            <a:endParaRPr lang="en-US"/>
          </a:p>
        </p:txBody>
      </p:sp>
      <p:sp>
        <p:nvSpPr>
          <p:cNvPr id="5" name="Footer Placeholder 4"/>
          <p:cNvSpPr>
            <a:spLocks noGrp="1"/>
          </p:cNvSpPr>
          <p:nvPr>
            <p:ph type="ftr" sz="quarter" idx="11"/>
          </p:nvPr>
        </p:nvSpPr>
        <p:spPr/>
        <p:txBody>
          <a:bodyPr/>
          <a:lstStyle/>
          <a:p>
            <a:r>
              <a:rPr lang="en-US"/>
              <a:t>BSc/AF/ Trinco/2022 July</a:t>
            </a:r>
          </a:p>
        </p:txBody>
      </p:sp>
      <p:sp>
        <p:nvSpPr>
          <p:cNvPr id="6" name="Slide Number Placeholder 5"/>
          <p:cNvSpPr>
            <a:spLocks noGrp="1"/>
          </p:cNvSpPr>
          <p:nvPr>
            <p:ph type="sldNum" sz="quarter" idx="12"/>
          </p:nvPr>
        </p:nvSpPr>
        <p:spPr/>
        <p:txBody>
          <a:bodyPr/>
          <a:lstStyle/>
          <a:p>
            <a:fld id="{19406544-F798-4DC7-9CED-E61544B8491A}" type="slidenum">
              <a:rPr lang="en-US" smtClean="0"/>
              <a:pPr/>
              <a:t>‹#›</a:t>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AndObj">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a:prstGeom prst="rect">
            <a:avLst/>
          </a:prstGeom>
        </p:spPr>
        <p:txBody>
          <a:bodyPr/>
          <a:lstStyle/>
          <a:p>
            <a:r>
              <a:rPr lang="en-US"/>
              <a:t>Click to edit Master title style</a:t>
            </a:r>
          </a:p>
        </p:txBody>
      </p:sp>
      <p:sp>
        <p:nvSpPr>
          <p:cNvPr id="3" name="Text Placeholder 2"/>
          <p:cNvSpPr>
            <a:spLocks noGrp="1"/>
          </p:cNvSpPr>
          <p:nvPr>
            <p:ph type="body" sz="half" idx="1"/>
          </p:nvPr>
        </p:nvSpPr>
        <p:spPr>
          <a:xfrm>
            <a:off x="457200" y="1600200"/>
            <a:ext cx="4038600" cy="4525963"/>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Slide Number Placeholder 4"/>
          <p:cNvSpPr>
            <a:spLocks noGrp="1"/>
          </p:cNvSpPr>
          <p:nvPr>
            <p:ph type="sldNum" sz="quarter" idx="10"/>
          </p:nvPr>
        </p:nvSpPr>
        <p:spPr>
          <a:xfrm>
            <a:off x="8534400" y="-152400"/>
            <a:ext cx="609600" cy="457200"/>
          </a:xfrm>
        </p:spPr>
        <p:txBody>
          <a:bodyPr/>
          <a:lstStyle>
            <a:lvl1pPr>
              <a:defRPr/>
            </a:lvl1pPr>
          </a:lstStyle>
          <a:p>
            <a:r>
              <a:rPr lang="en-US"/>
              <a:t>4-</a:t>
            </a:r>
            <a:fld id="{F09EF96C-14A8-4F18-AAA1-1E6ACB096736}" type="slidenum">
              <a:rPr lang="en-US"/>
              <a:pPr/>
              <a:t>‹#›</a:t>
            </a:fld>
            <a:endParaRPr lang="en-US"/>
          </a:p>
        </p:txBody>
      </p:sp>
    </p:spTree>
    <p:extLst>
      <p:ext uri="{BB962C8B-B14F-4D97-AF65-F5344CB8AC3E}">
        <p14:creationId xmlns:p14="http://schemas.microsoft.com/office/powerpoint/2010/main" val="422127387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7"/>
            <a:ext cx="7772400" cy="1470025"/>
          </a:xfrm>
        </p:spPr>
        <p:txBody>
          <a:bodyPr/>
          <a:lstStyle/>
          <a:p>
            <a:r>
              <a:rPr lang="en-US"/>
              <a:t>Click to edit Master title style</a:t>
            </a:r>
            <a:endParaRPr lang="en-GB"/>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lang="en-US"/>
              <a:t>Click to edit Master subtitle style</a:t>
            </a:r>
            <a:endParaRPr lang="en-GB"/>
          </a:p>
        </p:txBody>
      </p:sp>
      <p:sp>
        <p:nvSpPr>
          <p:cNvPr id="4" name="Date Placeholder 3"/>
          <p:cNvSpPr>
            <a:spLocks noGrp="1"/>
          </p:cNvSpPr>
          <p:nvPr>
            <p:ph type="dt" sz="half" idx="10"/>
          </p:nvPr>
        </p:nvSpPr>
        <p:spPr/>
        <p:txBody>
          <a:bodyPr/>
          <a:lstStyle/>
          <a:p>
            <a:fld id="{82B7E944-93C0-EF4D-8E2C-B11BCF16CF2D}" type="datetime1">
              <a:rPr lang="en-US" smtClean="0">
                <a:solidFill>
                  <a:prstClr val="black">
                    <a:tint val="75000"/>
                  </a:prstClr>
                </a:solidFill>
              </a:rPr>
              <a:t>11/18/2023</a:t>
            </a:fld>
            <a:endParaRPr lang="en-GB">
              <a:solidFill>
                <a:prstClr val="black">
                  <a:tint val="75000"/>
                </a:prstClr>
              </a:solidFill>
            </a:endParaRPr>
          </a:p>
        </p:txBody>
      </p:sp>
      <p:sp>
        <p:nvSpPr>
          <p:cNvPr id="5" name="Footer Placeholder 4"/>
          <p:cNvSpPr>
            <a:spLocks noGrp="1"/>
          </p:cNvSpPr>
          <p:nvPr>
            <p:ph type="ftr" sz="quarter" idx="11"/>
          </p:nvPr>
        </p:nvSpPr>
        <p:spPr/>
        <p:txBody>
          <a:bodyPr/>
          <a:lstStyle/>
          <a:p>
            <a:r>
              <a:rPr lang="en-GB">
                <a:solidFill>
                  <a:prstClr val="black">
                    <a:tint val="75000"/>
                  </a:prstClr>
                </a:solidFill>
              </a:rPr>
              <a:t>BSc/AF/ Trinco/2022 July</a:t>
            </a:r>
          </a:p>
        </p:txBody>
      </p:sp>
      <p:sp>
        <p:nvSpPr>
          <p:cNvPr id="6" name="Slide Number Placeholder 5"/>
          <p:cNvSpPr>
            <a:spLocks noGrp="1"/>
          </p:cNvSpPr>
          <p:nvPr>
            <p:ph type="sldNum" sz="quarter" idx="12"/>
          </p:nvPr>
        </p:nvSpPr>
        <p:spPr/>
        <p:txBody>
          <a:bodyPr/>
          <a:lstStyle/>
          <a:p>
            <a:fld id="{C6983AC5-6E8A-48DE-8428-11FDF4DDF1A6}" type="slidenum">
              <a:rPr lang="en-GB" smtClean="0">
                <a:solidFill>
                  <a:prstClr val="black">
                    <a:tint val="75000"/>
                  </a:prstClr>
                </a:solidFill>
              </a:rPr>
              <a:pPr/>
              <a:t>‹#›</a:t>
            </a:fld>
            <a:endParaRPr lang="en-GB">
              <a:solidFill>
                <a:prstClr val="black">
                  <a:tint val="75000"/>
                </a:prstClr>
              </a:solidFill>
            </a:endParaRPr>
          </a:p>
        </p:txBody>
      </p:sp>
    </p:spTree>
    <p:extLst>
      <p:ext uri="{BB962C8B-B14F-4D97-AF65-F5344CB8AC3E}">
        <p14:creationId xmlns:p14="http://schemas.microsoft.com/office/powerpoint/2010/main" val="365751950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p:cNvSpPr>
            <a:spLocks noGrp="1"/>
          </p:cNvSpPr>
          <p:nvPr>
            <p:ph type="dt" sz="half" idx="10"/>
          </p:nvPr>
        </p:nvSpPr>
        <p:spPr/>
        <p:txBody>
          <a:bodyPr/>
          <a:lstStyle/>
          <a:p>
            <a:fld id="{F8896141-1908-3C46-8D95-AD8A197F969F}" type="datetime1">
              <a:rPr lang="en-US" smtClean="0">
                <a:solidFill>
                  <a:prstClr val="black">
                    <a:tint val="75000"/>
                  </a:prstClr>
                </a:solidFill>
              </a:rPr>
              <a:t>11/18/2023</a:t>
            </a:fld>
            <a:endParaRPr lang="en-GB">
              <a:solidFill>
                <a:prstClr val="black">
                  <a:tint val="75000"/>
                </a:prstClr>
              </a:solidFill>
            </a:endParaRPr>
          </a:p>
        </p:txBody>
      </p:sp>
      <p:sp>
        <p:nvSpPr>
          <p:cNvPr id="5" name="Footer Placeholder 4"/>
          <p:cNvSpPr>
            <a:spLocks noGrp="1"/>
          </p:cNvSpPr>
          <p:nvPr>
            <p:ph type="ftr" sz="quarter" idx="11"/>
          </p:nvPr>
        </p:nvSpPr>
        <p:spPr/>
        <p:txBody>
          <a:bodyPr/>
          <a:lstStyle/>
          <a:p>
            <a:r>
              <a:rPr lang="en-GB">
                <a:solidFill>
                  <a:prstClr val="black">
                    <a:tint val="75000"/>
                  </a:prstClr>
                </a:solidFill>
              </a:rPr>
              <a:t>BSc/AF/ Trinco/2022 July</a:t>
            </a:r>
          </a:p>
        </p:txBody>
      </p:sp>
      <p:sp>
        <p:nvSpPr>
          <p:cNvPr id="6" name="Slide Number Placeholder 5"/>
          <p:cNvSpPr>
            <a:spLocks noGrp="1"/>
          </p:cNvSpPr>
          <p:nvPr>
            <p:ph type="sldNum" sz="quarter" idx="12"/>
          </p:nvPr>
        </p:nvSpPr>
        <p:spPr/>
        <p:txBody>
          <a:bodyPr/>
          <a:lstStyle/>
          <a:p>
            <a:fld id="{C6983AC5-6E8A-48DE-8428-11FDF4DDF1A6}" type="slidenum">
              <a:rPr lang="en-GB" smtClean="0">
                <a:solidFill>
                  <a:prstClr val="black">
                    <a:tint val="75000"/>
                  </a:prstClr>
                </a:solidFill>
              </a:rPr>
              <a:pPr/>
              <a:t>‹#›</a:t>
            </a:fld>
            <a:endParaRPr lang="en-GB">
              <a:solidFill>
                <a:prstClr val="black">
                  <a:tint val="75000"/>
                </a:prstClr>
              </a:solidFill>
            </a:endParaRPr>
          </a:p>
        </p:txBody>
      </p:sp>
    </p:spTree>
    <p:extLst>
      <p:ext uri="{BB962C8B-B14F-4D97-AF65-F5344CB8AC3E}">
        <p14:creationId xmlns:p14="http://schemas.microsoft.com/office/powerpoint/2010/main" val="293062621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2"/>
            <a:ext cx="7772400" cy="1362075"/>
          </a:xfrm>
        </p:spPr>
        <p:txBody>
          <a:bodyPr anchor="t"/>
          <a:lstStyle>
            <a:lvl1pPr algn="l">
              <a:defRPr sz="3000" b="1" cap="all"/>
            </a:lvl1pPr>
          </a:lstStyle>
          <a:p>
            <a:r>
              <a:rPr lang="en-US"/>
              <a:t>Click to edit Master title style</a:t>
            </a:r>
            <a:endParaRPr lang="en-GB"/>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1500">
                <a:solidFill>
                  <a:schemeClr val="tx1">
                    <a:tint val="75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981DC2AF-CB9C-CF44-AEF1-171490B7CA6C}" type="datetime1">
              <a:rPr lang="en-US" smtClean="0">
                <a:solidFill>
                  <a:prstClr val="black">
                    <a:tint val="75000"/>
                  </a:prstClr>
                </a:solidFill>
              </a:rPr>
              <a:t>11/18/2023</a:t>
            </a:fld>
            <a:endParaRPr lang="en-GB">
              <a:solidFill>
                <a:prstClr val="black">
                  <a:tint val="75000"/>
                </a:prstClr>
              </a:solidFill>
            </a:endParaRPr>
          </a:p>
        </p:txBody>
      </p:sp>
      <p:sp>
        <p:nvSpPr>
          <p:cNvPr id="5" name="Footer Placeholder 4"/>
          <p:cNvSpPr>
            <a:spLocks noGrp="1"/>
          </p:cNvSpPr>
          <p:nvPr>
            <p:ph type="ftr" sz="quarter" idx="11"/>
          </p:nvPr>
        </p:nvSpPr>
        <p:spPr/>
        <p:txBody>
          <a:bodyPr/>
          <a:lstStyle/>
          <a:p>
            <a:r>
              <a:rPr lang="en-GB">
                <a:solidFill>
                  <a:prstClr val="black">
                    <a:tint val="75000"/>
                  </a:prstClr>
                </a:solidFill>
              </a:rPr>
              <a:t>BSc/AF/ Trinco/2022 July</a:t>
            </a:r>
          </a:p>
        </p:txBody>
      </p:sp>
      <p:sp>
        <p:nvSpPr>
          <p:cNvPr id="6" name="Slide Number Placeholder 5"/>
          <p:cNvSpPr>
            <a:spLocks noGrp="1"/>
          </p:cNvSpPr>
          <p:nvPr>
            <p:ph type="sldNum" sz="quarter" idx="12"/>
          </p:nvPr>
        </p:nvSpPr>
        <p:spPr/>
        <p:txBody>
          <a:bodyPr/>
          <a:lstStyle/>
          <a:p>
            <a:fld id="{C6983AC5-6E8A-48DE-8428-11FDF4DDF1A6}" type="slidenum">
              <a:rPr lang="en-GB" smtClean="0">
                <a:solidFill>
                  <a:prstClr val="black">
                    <a:tint val="75000"/>
                  </a:prstClr>
                </a:solidFill>
              </a:rPr>
              <a:pPr/>
              <a:t>‹#›</a:t>
            </a:fld>
            <a:endParaRPr lang="en-GB">
              <a:solidFill>
                <a:prstClr val="black">
                  <a:tint val="75000"/>
                </a:prstClr>
              </a:solidFill>
            </a:endParaRPr>
          </a:p>
        </p:txBody>
      </p:sp>
    </p:spTree>
    <p:extLst>
      <p:ext uri="{BB962C8B-B14F-4D97-AF65-F5344CB8AC3E}">
        <p14:creationId xmlns:p14="http://schemas.microsoft.com/office/powerpoint/2010/main" val="223123886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Content Placeholder 2"/>
          <p:cNvSpPr>
            <a:spLocks noGrp="1"/>
          </p:cNvSpPr>
          <p:nvPr>
            <p:ph sz="half" idx="1"/>
          </p:nvPr>
        </p:nvSpPr>
        <p:spPr>
          <a:xfrm>
            <a:off x="457200" y="1600202"/>
            <a:ext cx="4038600" cy="4525963"/>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p:cNvSpPr>
            <a:spLocks noGrp="1"/>
          </p:cNvSpPr>
          <p:nvPr>
            <p:ph sz="half" idx="2"/>
          </p:nvPr>
        </p:nvSpPr>
        <p:spPr>
          <a:xfrm>
            <a:off x="4648200" y="1600202"/>
            <a:ext cx="4038600" cy="4525963"/>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Date Placeholder 4"/>
          <p:cNvSpPr>
            <a:spLocks noGrp="1"/>
          </p:cNvSpPr>
          <p:nvPr>
            <p:ph type="dt" sz="half" idx="10"/>
          </p:nvPr>
        </p:nvSpPr>
        <p:spPr/>
        <p:txBody>
          <a:bodyPr/>
          <a:lstStyle/>
          <a:p>
            <a:fld id="{351B38FC-71B3-734C-941B-259AE3A0CD6D}" type="datetime1">
              <a:rPr lang="en-US" smtClean="0">
                <a:solidFill>
                  <a:prstClr val="black">
                    <a:tint val="75000"/>
                  </a:prstClr>
                </a:solidFill>
              </a:rPr>
              <a:t>11/18/2023</a:t>
            </a:fld>
            <a:endParaRPr lang="en-GB">
              <a:solidFill>
                <a:prstClr val="black">
                  <a:tint val="75000"/>
                </a:prstClr>
              </a:solidFill>
            </a:endParaRPr>
          </a:p>
        </p:txBody>
      </p:sp>
      <p:sp>
        <p:nvSpPr>
          <p:cNvPr id="6" name="Footer Placeholder 5"/>
          <p:cNvSpPr>
            <a:spLocks noGrp="1"/>
          </p:cNvSpPr>
          <p:nvPr>
            <p:ph type="ftr" sz="quarter" idx="11"/>
          </p:nvPr>
        </p:nvSpPr>
        <p:spPr/>
        <p:txBody>
          <a:bodyPr/>
          <a:lstStyle/>
          <a:p>
            <a:r>
              <a:rPr lang="en-GB">
                <a:solidFill>
                  <a:prstClr val="black">
                    <a:tint val="75000"/>
                  </a:prstClr>
                </a:solidFill>
              </a:rPr>
              <a:t>BSc/AF/ Trinco/2022 July</a:t>
            </a:r>
          </a:p>
        </p:txBody>
      </p:sp>
      <p:sp>
        <p:nvSpPr>
          <p:cNvPr id="7" name="Slide Number Placeholder 6"/>
          <p:cNvSpPr>
            <a:spLocks noGrp="1"/>
          </p:cNvSpPr>
          <p:nvPr>
            <p:ph type="sldNum" sz="quarter" idx="12"/>
          </p:nvPr>
        </p:nvSpPr>
        <p:spPr/>
        <p:txBody>
          <a:bodyPr/>
          <a:lstStyle/>
          <a:p>
            <a:fld id="{C6983AC5-6E8A-48DE-8428-11FDF4DDF1A6}" type="slidenum">
              <a:rPr lang="en-GB" smtClean="0">
                <a:solidFill>
                  <a:prstClr val="black">
                    <a:tint val="75000"/>
                  </a:prstClr>
                </a:solidFill>
              </a:rPr>
              <a:pPr/>
              <a:t>‹#›</a:t>
            </a:fld>
            <a:endParaRPr lang="en-GB">
              <a:solidFill>
                <a:prstClr val="black">
                  <a:tint val="75000"/>
                </a:prstClr>
              </a:solidFill>
            </a:endParaRPr>
          </a:p>
        </p:txBody>
      </p:sp>
    </p:spTree>
    <p:extLst>
      <p:ext uri="{BB962C8B-B14F-4D97-AF65-F5344CB8AC3E}">
        <p14:creationId xmlns:p14="http://schemas.microsoft.com/office/powerpoint/2010/main" val="3728822099"/>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GB"/>
          </a:p>
        </p:txBody>
      </p:sp>
      <p:sp>
        <p:nvSpPr>
          <p:cNvPr id="3" name="Text Placeholder 2"/>
          <p:cNvSpPr>
            <a:spLocks noGrp="1"/>
          </p:cNvSpPr>
          <p:nvPr>
            <p:ph type="body" idx="1"/>
          </p:nvPr>
        </p:nvSpPr>
        <p:spPr>
          <a:xfrm>
            <a:off x="457200" y="1535113"/>
            <a:ext cx="4040188" cy="63976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4"/>
          <p:cNvSpPr>
            <a:spLocks noGrp="1"/>
          </p:cNvSpPr>
          <p:nvPr>
            <p:ph type="body" sz="quarter" idx="3"/>
          </p:nvPr>
        </p:nvSpPr>
        <p:spPr>
          <a:xfrm>
            <a:off x="4645026" y="1535113"/>
            <a:ext cx="4041775" cy="63976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4645026" y="2174875"/>
            <a:ext cx="4041775" cy="3951288"/>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Date Placeholder 6"/>
          <p:cNvSpPr>
            <a:spLocks noGrp="1"/>
          </p:cNvSpPr>
          <p:nvPr>
            <p:ph type="dt" sz="half" idx="10"/>
          </p:nvPr>
        </p:nvSpPr>
        <p:spPr/>
        <p:txBody>
          <a:bodyPr/>
          <a:lstStyle/>
          <a:p>
            <a:fld id="{86459CBE-F600-8F46-849D-A33BCF189AF6}" type="datetime1">
              <a:rPr lang="en-US" smtClean="0">
                <a:solidFill>
                  <a:prstClr val="black">
                    <a:tint val="75000"/>
                  </a:prstClr>
                </a:solidFill>
              </a:rPr>
              <a:t>11/18/2023</a:t>
            </a:fld>
            <a:endParaRPr lang="en-GB">
              <a:solidFill>
                <a:prstClr val="black">
                  <a:tint val="75000"/>
                </a:prstClr>
              </a:solidFill>
            </a:endParaRPr>
          </a:p>
        </p:txBody>
      </p:sp>
      <p:sp>
        <p:nvSpPr>
          <p:cNvPr id="8" name="Footer Placeholder 7"/>
          <p:cNvSpPr>
            <a:spLocks noGrp="1"/>
          </p:cNvSpPr>
          <p:nvPr>
            <p:ph type="ftr" sz="quarter" idx="11"/>
          </p:nvPr>
        </p:nvSpPr>
        <p:spPr/>
        <p:txBody>
          <a:bodyPr/>
          <a:lstStyle/>
          <a:p>
            <a:r>
              <a:rPr lang="en-GB">
                <a:solidFill>
                  <a:prstClr val="black">
                    <a:tint val="75000"/>
                  </a:prstClr>
                </a:solidFill>
              </a:rPr>
              <a:t>BSc/AF/ Trinco/2022 July</a:t>
            </a:r>
          </a:p>
        </p:txBody>
      </p:sp>
      <p:sp>
        <p:nvSpPr>
          <p:cNvPr id="9" name="Slide Number Placeholder 8"/>
          <p:cNvSpPr>
            <a:spLocks noGrp="1"/>
          </p:cNvSpPr>
          <p:nvPr>
            <p:ph type="sldNum" sz="quarter" idx="12"/>
          </p:nvPr>
        </p:nvSpPr>
        <p:spPr/>
        <p:txBody>
          <a:bodyPr/>
          <a:lstStyle/>
          <a:p>
            <a:fld id="{C6983AC5-6E8A-48DE-8428-11FDF4DDF1A6}" type="slidenum">
              <a:rPr lang="en-GB" smtClean="0">
                <a:solidFill>
                  <a:prstClr val="black">
                    <a:tint val="75000"/>
                  </a:prstClr>
                </a:solidFill>
              </a:rPr>
              <a:pPr/>
              <a:t>‹#›</a:t>
            </a:fld>
            <a:endParaRPr lang="en-GB">
              <a:solidFill>
                <a:prstClr val="black">
                  <a:tint val="75000"/>
                </a:prstClr>
              </a:solidFill>
            </a:endParaRPr>
          </a:p>
        </p:txBody>
      </p:sp>
    </p:spTree>
    <p:extLst>
      <p:ext uri="{BB962C8B-B14F-4D97-AF65-F5344CB8AC3E}">
        <p14:creationId xmlns:p14="http://schemas.microsoft.com/office/powerpoint/2010/main" val="3060922654"/>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Date Placeholder 2"/>
          <p:cNvSpPr>
            <a:spLocks noGrp="1"/>
          </p:cNvSpPr>
          <p:nvPr>
            <p:ph type="dt" sz="half" idx="10"/>
          </p:nvPr>
        </p:nvSpPr>
        <p:spPr/>
        <p:txBody>
          <a:bodyPr/>
          <a:lstStyle/>
          <a:p>
            <a:fld id="{8BE9F138-8B62-3B45-94FC-90F1587A453A}" type="datetime1">
              <a:rPr lang="en-US" smtClean="0">
                <a:solidFill>
                  <a:prstClr val="black">
                    <a:tint val="75000"/>
                  </a:prstClr>
                </a:solidFill>
              </a:rPr>
              <a:t>11/18/2023</a:t>
            </a:fld>
            <a:endParaRPr lang="en-GB">
              <a:solidFill>
                <a:prstClr val="black">
                  <a:tint val="75000"/>
                </a:prstClr>
              </a:solidFill>
            </a:endParaRPr>
          </a:p>
        </p:txBody>
      </p:sp>
      <p:sp>
        <p:nvSpPr>
          <p:cNvPr id="4" name="Footer Placeholder 3"/>
          <p:cNvSpPr>
            <a:spLocks noGrp="1"/>
          </p:cNvSpPr>
          <p:nvPr>
            <p:ph type="ftr" sz="quarter" idx="11"/>
          </p:nvPr>
        </p:nvSpPr>
        <p:spPr/>
        <p:txBody>
          <a:bodyPr/>
          <a:lstStyle/>
          <a:p>
            <a:r>
              <a:rPr lang="en-GB">
                <a:solidFill>
                  <a:prstClr val="black">
                    <a:tint val="75000"/>
                  </a:prstClr>
                </a:solidFill>
              </a:rPr>
              <a:t>BSc/AF/ Trinco/2022 July</a:t>
            </a:r>
          </a:p>
        </p:txBody>
      </p:sp>
      <p:sp>
        <p:nvSpPr>
          <p:cNvPr id="5" name="Slide Number Placeholder 4"/>
          <p:cNvSpPr>
            <a:spLocks noGrp="1"/>
          </p:cNvSpPr>
          <p:nvPr>
            <p:ph type="sldNum" sz="quarter" idx="12"/>
          </p:nvPr>
        </p:nvSpPr>
        <p:spPr/>
        <p:txBody>
          <a:bodyPr/>
          <a:lstStyle/>
          <a:p>
            <a:fld id="{C6983AC5-6E8A-48DE-8428-11FDF4DDF1A6}" type="slidenum">
              <a:rPr lang="en-GB" smtClean="0">
                <a:solidFill>
                  <a:prstClr val="black">
                    <a:tint val="75000"/>
                  </a:prstClr>
                </a:solidFill>
              </a:rPr>
              <a:pPr/>
              <a:t>‹#›</a:t>
            </a:fld>
            <a:endParaRPr lang="en-GB">
              <a:solidFill>
                <a:prstClr val="black">
                  <a:tint val="75000"/>
                </a:prstClr>
              </a:solidFill>
            </a:endParaRPr>
          </a:p>
        </p:txBody>
      </p:sp>
    </p:spTree>
    <p:extLst>
      <p:ext uri="{BB962C8B-B14F-4D97-AF65-F5344CB8AC3E}">
        <p14:creationId xmlns:p14="http://schemas.microsoft.com/office/powerpoint/2010/main" val="2938776260"/>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33670890-ACDD-2C42-9AE5-63C070E8EC16}" type="datetime1">
              <a:rPr lang="en-US" smtClean="0">
                <a:solidFill>
                  <a:prstClr val="black">
                    <a:tint val="75000"/>
                  </a:prstClr>
                </a:solidFill>
              </a:rPr>
              <a:t>11/18/2023</a:t>
            </a:fld>
            <a:endParaRPr lang="en-GB">
              <a:solidFill>
                <a:prstClr val="black">
                  <a:tint val="75000"/>
                </a:prstClr>
              </a:solidFill>
            </a:endParaRPr>
          </a:p>
        </p:txBody>
      </p:sp>
      <p:sp>
        <p:nvSpPr>
          <p:cNvPr id="3" name="Footer Placeholder 2"/>
          <p:cNvSpPr>
            <a:spLocks noGrp="1"/>
          </p:cNvSpPr>
          <p:nvPr>
            <p:ph type="ftr" sz="quarter" idx="11"/>
          </p:nvPr>
        </p:nvSpPr>
        <p:spPr/>
        <p:txBody>
          <a:bodyPr/>
          <a:lstStyle/>
          <a:p>
            <a:r>
              <a:rPr lang="en-GB">
                <a:solidFill>
                  <a:prstClr val="black">
                    <a:tint val="75000"/>
                  </a:prstClr>
                </a:solidFill>
              </a:rPr>
              <a:t>BSc/AF/ Trinco/2022 July</a:t>
            </a:r>
          </a:p>
        </p:txBody>
      </p:sp>
      <p:sp>
        <p:nvSpPr>
          <p:cNvPr id="4" name="Slide Number Placeholder 3"/>
          <p:cNvSpPr>
            <a:spLocks noGrp="1"/>
          </p:cNvSpPr>
          <p:nvPr>
            <p:ph type="sldNum" sz="quarter" idx="12"/>
          </p:nvPr>
        </p:nvSpPr>
        <p:spPr/>
        <p:txBody>
          <a:bodyPr/>
          <a:lstStyle/>
          <a:p>
            <a:fld id="{C6983AC5-6E8A-48DE-8428-11FDF4DDF1A6}" type="slidenum">
              <a:rPr lang="en-GB" smtClean="0">
                <a:solidFill>
                  <a:prstClr val="black">
                    <a:tint val="75000"/>
                  </a:prstClr>
                </a:solidFill>
              </a:rPr>
              <a:pPr/>
              <a:t>‹#›</a:t>
            </a:fld>
            <a:endParaRPr lang="en-GB">
              <a:solidFill>
                <a:prstClr val="black">
                  <a:tint val="75000"/>
                </a:prstClr>
              </a:solidFill>
            </a:endParaRPr>
          </a:p>
        </p:txBody>
      </p:sp>
    </p:spTree>
    <p:extLst>
      <p:ext uri="{BB962C8B-B14F-4D97-AF65-F5344CB8AC3E}">
        <p14:creationId xmlns:p14="http://schemas.microsoft.com/office/powerpoint/2010/main" val="1079934154"/>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273050"/>
            <a:ext cx="3008313" cy="1162050"/>
          </a:xfrm>
        </p:spPr>
        <p:txBody>
          <a:bodyPr anchor="b"/>
          <a:lstStyle>
            <a:lvl1pPr algn="l">
              <a:defRPr sz="1500" b="1"/>
            </a:lvl1pPr>
          </a:lstStyle>
          <a:p>
            <a:r>
              <a:rPr lang="en-US"/>
              <a:t>Click to edit Master title style</a:t>
            </a:r>
            <a:endParaRPr lang="en-GB"/>
          </a:p>
        </p:txBody>
      </p:sp>
      <p:sp>
        <p:nvSpPr>
          <p:cNvPr id="3" name="Content Placeholder 2"/>
          <p:cNvSpPr>
            <a:spLocks noGrp="1"/>
          </p:cNvSpPr>
          <p:nvPr>
            <p:ph idx="1"/>
          </p:nvPr>
        </p:nvSpPr>
        <p:spPr>
          <a:xfrm>
            <a:off x="3575050" y="273052"/>
            <a:ext cx="5111750" cy="5853113"/>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3"/>
          <p:cNvSpPr>
            <a:spLocks noGrp="1"/>
          </p:cNvSpPr>
          <p:nvPr>
            <p:ph type="body" sz="half" idx="2"/>
          </p:nvPr>
        </p:nvSpPr>
        <p:spPr>
          <a:xfrm>
            <a:off x="457201" y="1435102"/>
            <a:ext cx="3008313" cy="4691063"/>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344A083B-1C37-714F-AB36-3FDCC41AFEB1}" type="datetime1">
              <a:rPr lang="en-US" smtClean="0">
                <a:solidFill>
                  <a:prstClr val="black">
                    <a:tint val="75000"/>
                  </a:prstClr>
                </a:solidFill>
              </a:rPr>
              <a:t>11/18/2023</a:t>
            </a:fld>
            <a:endParaRPr lang="en-GB">
              <a:solidFill>
                <a:prstClr val="black">
                  <a:tint val="75000"/>
                </a:prstClr>
              </a:solidFill>
            </a:endParaRPr>
          </a:p>
        </p:txBody>
      </p:sp>
      <p:sp>
        <p:nvSpPr>
          <p:cNvPr id="6" name="Footer Placeholder 5"/>
          <p:cNvSpPr>
            <a:spLocks noGrp="1"/>
          </p:cNvSpPr>
          <p:nvPr>
            <p:ph type="ftr" sz="quarter" idx="11"/>
          </p:nvPr>
        </p:nvSpPr>
        <p:spPr/>
        <p:txBody>
          <a:bodyPr/>
          <a:lstStyle/>
          <a:p>
            <a:r>
              <a:rPr lang="en-GB">
                <a:solidFill>
                  <a:prstClr val="black">
                    <a:tint val="75000"/>
                  </a:prstClr>
                </a:solidFill>
              </a:rPr>
              <a:t>BSc/AF/ Trinco/2022 July</a:t>
            </a:r>
          </a:p>
        </p:txBody>
      </p:sp>
      <p:sp>
        <p:nvSpPr>
          <p:cNvPr id="7" name="Slide Number Placeholder 6"/>
          <p:cNvSpPr>
            <a:spLocks noGrp="1"/>
          </p:cNvSpPr>
          <p:nvPr>
            <p:ph type="sldNum" sz="quarter" idx="12"/>
          </p:nvPr>
        </p:nvSpPr>
        <p:spPr/>
        <p:txBody>
          <a:bodyPr/>
          <a:lstStyle/>
          <a:p>
            <a:fld id="{C6983AC5-6E8A-48DE-8428-11FDF4DDF1A6}" type="slidenum">
              <a:rPr lang="en-GB" smtClean="0">
                <a:solidFill>
                  <a:prstClr val="black">
                    <a:tint val="75000"/>
                  </a:prstClr>
                </a:solidFill>
              </a:rPr>
              <a:pPr/>
              <a:t>‹#›</a:t>
            </a:fld>
            <a:endParaRPr lang="en-GB">
              <a:solidFill>
                <a:prstClr val="black">
                  <a:tint val="75000"/>
                </a:prstClr>
              </a:solidFill>
            </a:endParaRPr>
          </a:p>
        </p:txBody>
      </p:sp>
    </p:spTree>
    <p:extLst>
      <p:ext uri="{BB962C8B-B14F-4D97-AF65-F5344CB8AC3E}">
        <p14:creationId xmlns:p14="http://schemas.microsoft.com/office/powerpoint/2010/main" val="429548427"/>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1500" b="1"/>
            </a:lvl1pPr>
          </a:lstStyle>
          <a:p>
            <a:r>
              <a:rPr lang="en-US"/>
              <a:t>Click to edit Master title style</a:t>
            </a:r>
            <a:endParaRPr lang="en-GB"/>
          </a:p>
        </p:txBody>
      </p:sp>
      <p:sp>
        <p:nvSpPr>
          <p:cNvPr id="3" name="Picture Placeholder 2"/>
          <p:cNvSpPr>
            <a:spLocks noGrp="1"/>
          </p:cNvSpPr>
          <p:nvPr>
            <p:ph type="pic" idx="1"/>
          </p:nvPr>
        </p:nvSpPr>
        <p:spPr>
          <a:xfrm>
            <a:off x="1792288" y="612775"/>
            <a:ext cx="5486400" cy="411480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GB"/>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2E108089-423E-D14E-A89A-A67FF5FD52A6}" type="datetime1">
              <a:rPr lang="en-US" smtClean="0">
                <a:solidFill>
                  <a:prstClr val="black">
                    <a:tint val="75000"/>
                  </a:prstClr>
                </a:solidFill>
              </a:rPr>
              <a:t>11/18/2023</a:t>
            </a:fld>
            <a:endParaRPr lang="en-GB">
              <a:solidFill>
                <a:prstClr val="black">
                  <a:tint val="75000"/>
                </a:prstClr>
              </a:solidFill>
            </a:endParaRPr>
          </a:p>
        </p:txBody>
      </p:sp>
      <p:sp>
        <p:nvSpPr>
          <p:cNvPr id="6" name="Footer Placeholder 5"/>
          <p:cNvSpPr>
            <a:spLocks noGrp="1"/>
          </p:cNvSpPr>
          <p:nvPr>
            <p:ph type="ftr" sz="quarter" idx="11"/>
          </p:nvPr>
        </p:nvSpPr>
        <p:spPr/>
        <p:txBody>
          <a:bodyPr/>
          <a:lstStyle/>
          <a:p>
            <a:r>
              <a:rPr lang="en-GB">
                <a:solidFill>
                  <a:prstClr val="black">
                    <a:tint val="75000"/>
                  </a:prstClr>
                </a:solidFill>
              </a:rPr>
              <a:t>BSc/AF/ Trinco/2022 July</a:t>
            </a:r>
          </a:p>
        </p:txBody>
      </p:sp>
      <p:sp>
        <p:nvSpPr>
          <p:cNvPr id="7" name="Slide Number Placeholder 6"/>
          <p:cNvSpPr>
            <a:spLocks noGrp="1"/>
          </p:cNvSpPr>
          <p:nvPr>
            <p:ph type="sldNum" sz="quarter" idx="12"/>
          </p:nvPr>
        </p:nvSpPr>
        <p:spPr/>
        <p:txBody>
          <a:bodyPr/>
          <a:lstStyle/>
          <a:p>
            <a:fld id="{C6983AC5-6E8A-48DE-8428-11FDF4DDF1A6}" type="slidenum">
              <a:rPr lang="en-GB" smtClean="0">
                <a:solidFill>
                  <a:prstClr val="black">
                    <a:tint val="75000"/>
                  </a:prstClr>
                </a:solidFill>
              </a:rPr>
              <a:pPr/>
              <a:t>‹#›</a:t>
            </a:fld>
            <a:endParaRPr lang="en-GB">
              <a:solidFill>
                <a:prstClr val="black">
                  <a:tint val="75000"/>
                </a:prstClr>
              </a:solidFill>
            </a:endParaRPr>
          </a:p>
        </p:txBody>
      </p:sp>
    </p:spTree>
    <p:extLst>
      <p:ext uri="{BB962C8B-B14F-4D97-AF65-F5344CB8AC3E}">
        <p14:creationId xmlns:p14="http://schemas.microsoft.com/office/powerpoint/2010/main" val="3056712039"/>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p:cNvSpPr>
            <a:spLocks noGrp="1"/>
          </p:cNvSpPr>
          <p:nvPr>
            <p:ph type="dt" sz="half" idx="10"/>
          </p:nvPr>
        </p:nvSpPr>
        <p:spPr/>
        <p:txBody>
          <a:bodyPr/>
          <a:lstStyle/>
          <a:p>
            <a:fld id="{4A94E18D-AA63-DB48-8E17-FE6F1BD54ECF}" type="datetime1">
              <a:rPr lang="en-US" smtClean="0">
                <a:solidFill>
                  <a:prstClr val="black">
                    <a:tint val="75000"/>
                  </a:prstClr>
                </a:solidFill>
              </a:rPr>
              <a:t>11/18/2023</a:t>
            </a:fld>
            <a:endParaRPr lang="en-GB">
              <a:solidFill>
                <a:prstClr val="black">
                  <a:tint val="75000"/>
                </a:prstClr>
              </a:solidFill>
            </a:endParaRPr>
          </a:p>
        </p:txBody>
      </p:sp>
      <p:sp>
        <p:nvSpPr>
          <p:cNvPr id="5" name="Footer Placeholder 4"/>
          <p:cNvSpPr>
            <a:spLocks noGrp="1"/>
          </p:cNvSpPr>
          <p:nvPr>
            <p:ph type="ftr" sz="quarter" idx="11"/>
          </p:nvPr>
        </p:nvSpPr>
        <p:spPr/>
        <p:txBody>
          <a:bodyPr/>
          <a:lstStyle/>
          <a:p>
            <a:r>
              <a:rPr lang="en-GB">
                <a:solidFill>
                  <a:prstClr val="black">
                    <a:tint val="75000"/>
                  </a:prstClr>
                </a:solidFill>
              </a:rPr>
              <a:t>BSc/AF/ Trinco/2022 July</a:t>
            </a:r>
          </a:p>
        </p:txBody>
      </p:sp>
      <p:sp>
        <p:nvSpPr>
          <p:cNvPr id="6" name="Slide Number Placeholder 5"/>
          <p:cNvSpPr>
            <a:spLocks noGrp="1"/>
          </p:cNvSpPr>
          <p:nvPr>
            <p:ph type="sldNum" sz="quarter" idx="12"/>
          </p:nvPr>
        </p:nvSpPr>
        <p:spPr/>
        <p:txBody>
          <a:bodyPr/>
          <a:lstStyle/>
          <a:p>
            <a:fld id="{C6983AC5-6E8A-48DE-8428-11FDF4DDF1A6}" type="slidenum">
              <a:rPr lang="en-GB" smtClean="0">
                <a:solidFill>
                  <a:prstClr val="black">
                    <a:tint val="75000"/>
                  </a:prstClr>
                </a:solidFill>
              </a:rPr>
              <a:pPr/>
              <a:t>‹#›</a:t>
            </a:fld>
            <a:endParaRPr lang="en-GB">
              <a:solidFill>
                <a:prstClr val="black">
                  <a:tint val="75000"/>
                </a:prstClr>
              </a:solidFill>
            </a:endParaRPr>
          </a:p>
        </p:txBody>
      </p:sp>
    </p:spTree>
    <p:extLst>
      <p:ext uri="{BB962C8B-B14F-4D97-AF65-F5344CB8AC3E}">
        <p14:creationId xmlns:p14="http://schemas.microsoft.com/office/powerpoint/2010/main" val="2916504389"/>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40"/>
            <a:ext cx="2057400" cy="5851525"/>
          </a:xfrm>
        </p:spPr>
        <p:txBody>
          <a:bodyPr vert="eaVert"/>
          <a:lstStyle/>
          <a:p>
            <a:r>
              <a:rPr lang="en-US"/>
              <a:t>Click to edit Master title style</a:t>
            </a:r>
            <a:endParaRPr lang="en-GB"/>
          </a:p>
        </p:txBody>
      </p:sp>
      <p:sp>
        <p:nvSpPr>
          <p:cNvPr id="3" name="Vertical Text Placeholder 2"/>
          <p:cNvSpPr>
            <a:spLocks noGrp="1"/>
          </p:cNvSpPr>
          <p:nvPr>
            <p:ph type="body" orient="vert" idx="1"/>
          </p:nvPr>
        </p:nvSpPr>
        <p:spPr>
          <a:xfrm>
            <a:off x="457200" y="274640"/>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p:cNvSpPr>
            <a:spLocks noGrp="1"/>
          </p:cNvSpPr>
          <p:nvPr>
            <p:ph type="dt" sz="half" idx="10"/>
          </p:nvPr>
        </p:nvSpPr>
        <p:spPr/>
        <p:txBody>
          <a:bodyPr/>
          <a:lstStyle/>
          <a:p>
            <a:fld id="{4A1DAEF9-FA2A-6E4D-8E0E-1E4F0D4995C2}" type="datetime1">
              <a:rPr lang="en-US" smtClean="0">
                <a:solidFill>
                  <a:prstClr val="black">
                    <a:tint val="75000"/>
                  </a:prstClr>
                </a:solidFill>
              </a:rPr>
              <a:t>11/18/2023</a:t>
            </a:fld>
            <a:endParaRPr lang="en-GB">
              <a:solidFill>
                <a:prstClr val="black">
                  <a:tint val="75000"/>
                </a:prstClr>
              </a:solidFill>
            </a:endParaRPr>
          </a:p>
        </p:txBody>
      </p:sp>
      <p:sp>
        <p:nvSpPr>
          <p:cNvPr id="5" name="Footer Placeholder 4"/>
          <p:cNvSpPr>
            <a:spLocks noGrp="1"/>
          </p:cNvSpPr>
          <p:nvPr>
            <p:ph type="ftr" sz="quarter" idx="11"/>
          </p:nvPr>
        </p:nvSpPr>
        <p:spPr/>
        <p:txBody>
          <a:bodyPr/>
          <a:lstStyle/>
          <a:p>
            <a:r>
              <a:rPr lang="en-GB">
                <a:solidFill>
                  <a:prstClr val="black">
                    <a:tint val="75000"/>
                  </a:prstClr>
                </a:solidFill>
              </a:rPr>
              <a:t>BSc/AF/ Trinco/2022 July</a:t>
            </a:r>
          </a:p>
        </p:txBody>
      </p:sp>
      <p:sp>
        <p:nvSpPr>
          <p:cNvPr id="6" name="Slide Number Placeholder 5"/>
          <p:cNvSpPr>
            <a:spLocks noGrp="1"/>
          </p:cNvSpPr>
          <p:nvPr>
            <p:ph type="sldNum" sz="quarter" idx="12"/>
          </p:nvPr>
        </p:nvSpPr>
        <p:spPr/>
        <p:txBody>
          <a:bodyPr/>
          <a:lstStyle/>
          <a:p>
            <a:fld id="{C6983AC5-6E8A-48DE-8428-11FDF4DDF1A6}" type="slidenum">
              <a:rPr lang="en-GB" smtClean="0">
                <a:solidFill>
                  <a:prstClr val="black">
                    <a:tint val="75000"/>
                  </a:prstClr>
                </a:solidFill>
              </a:rPr>
              <a:pPr/>
              <a:t>‹#›</a:t>
            </a:fld>
            <a:endParaRPr lang="en-GB">
              <a:solidFill>
                <a:prstClr val="black">
                  <a:tint val="75000"/>
                </a:prstClr>
              </a:solidFill>
            </a:endParaRPr>
          </a:p>
        </p:txBody>
      </p:sp>
    </p:spTree>
    <p:extLst>
      <p:ext uri="{BB962C8B-B14F-4D97-AF65-F5344CB8AC3E}">
        <p14:creationId xmlns:p14="http://schemas.microsoft.com/office/powerpoint/2010/main" val="99256491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0.xml"/><Relationship Id="rId3" Type="http://schemas.openxmlformats.org/officeDocument/2006/relationships/slideLayout" Target="../slideLayouts/slideLayout15.xml"/><Relationship Id="rId7" Type="http://schemas.openxmlformats.org/officeDocument/2006/relationships/slideLayout" Target="../slideLayouts/slideLayout19.xml"/><Relationship Id="rId12" Type="http://schemas.openxmlformats.org/officeDocument/2006/relationships/theme" Target="../theme/theme2.xml"/><Relationship Id="rId2" Type="http://schemas.openxmlformats.org/officeDocument/2006/relationships/slideLayout" Target="../slideLayouts/slideLayout14.xml"/><Relationship Id="rId1" Type="http://schemas.openxmlformats.org/officeDocument/2006/relationships/slideLayout" Target="../slideLayouts/slideLayout13.xml"/><Relationship Id="rId6" Type="http://schemas.openxmlformats.org/officeDocument/2006/relationships/slideLayout" Target="../slideLayouts/slideLayout18.xml"/><Relationship Id="rId11" Type="http://schemas.openxmlformats.org/officeDocument/2006/relationships/slideLayout" Target="../slideLayouts/slideLayout23.xml"/><Relationship Id="rId5" Type="http://schemas.openxmlformats.org/officeDocument/2006/relationships/slideLayout" Target="../slideLayouts/slideLayout17.xml"/><Relationship Id="rId10" Type="http://schemas.openxmlformats.org/officeDocument/2006/relationships/slideLayout" Target="../slideLayouts/slideLayout22.xml"/><Relationship Id="rId4" Type="http://schemas.openxmlformats.org/officeDocument/2006/relationships/slideLayout" Target="../slideLayouts/slideLayout16.xml"/><Relationship Id="rId9" Type="http://schemas.openxmlformats.org/officeDocument/2006/relationships/slideLayout" Target="../slideLayouts/slideLayout2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0AD2AE3-D4B4-3E48-980D-C22ACA73793F}" type="datetime1">
              <a:rPr lang="en-US" smtClean="0"/>
              <a:t>11/18/2023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BSc/AF/ Trinco/2022 July</a:t>
            </a:r>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9406544-F798-4DC7-9CED-E61544B8491A}"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72" r:id="rId12"/>
  </p:sldLayoutIdLst>
  <p:hf hd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endParaRPr lang="en-GB"/>
          </a:p>
        </p:txBody>
      </p:sp>
      <p:sp>
        <p:nvSpPr>
          <p:cNvPr id="3" name="Text Placeholder 2"/>
          <p:cNvSpPr>
            <a:spLocks noGrp="1"/>
          </p:cNvSpPr>
          <p:nvPr>
            <p:ph type="body" idx="1"/>
          </p:nvPr>
        </p:nvSpPr>
        <p:spPr>
          <a:xfrm>
            <a:off x="457200" y="1600202"/>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p:cNvSpPr>
            <a:spLocks noGrp="1"/>
          </p:cNvSpPr>
          <p:nvPr>
            <p:ph type="dt" sz="half" idx="2"/>
          </p:nvPr>
        </p:nvSpPr>
        <p:spPr>
          <a:xfrm>
            <a:off x="457200" y="6356352"/>
            <a:ext cx="2133600" cy="365125"/>
          </a:xfrm>
          <a:prstGeom prst="rect">
            <a:avLst/>
          </a:prstGeom>
        </p:spPr>
        <p:txBody>
          <a:bodyPr vert="horz" lIns="91440" tIns="45720" rIns="91440" bIns="45720" rtlCol="0" anchor="ctr"/>
          <a:lstStyle>
            <a:lvl1pPr algn="l">
              <a:defRPr sz="900">
                <a:solidFill>
                  <a:schemeClr val="tx1">
                    <a:tint val="75000"/>
                  </a:schemeClr>
                </a:solidFill>
              </a:defRPr>
            </a:lvl1pPr>
          </a:lstStyle>
          <a:p>
            <a:fld id="{BD316117-F0C0-AF4C-8527-676392F7CC6F}" type="datetime1">
              <a:rPr lang="en-US" smtClean="0">
                <a:solidFill>
                  <a:prstClr val="black">
                    <a:tint val="75000"/>
                  </a:prstClr>
                </a:solidFill>
              </a:rPr>
              <a:t>11/18/2023</a:t>
            </a:fld>
            <a:endParaRPr lang="en-GB">
              <a:solidFill>
                <a:prstClr val="black">
                  <a:tint val="75000"/>
                </a:prstClr>
              </a:solidFill>
            </a:endParaRPr>
          </a:p>
        </p:txBody>
      </p:sp>
      <p:sp>
        <p:nvSpPr>
          <p:cNvPr id="5" name="Footer Placeholder 4"/>
          <p:cNvSpPr>
            <a:spLocks noGrp="1"/>
          </p:cNvSpPr>
          <p:nvPr>
            <p:ph type="ftr" sz="quarter" idx="3"/>
          </p:nvPr>
        </p:nvSpPr>
        <p:spPr>
          <a:xfrm>
            <a:off x="3124200" y="6356352"/>
            <a:ext cx="2895600" cy="365125"/>
          </a:xfrm>
          <a:prstGeom prst="rect">
            <a:avLst/>
          </a:prstGeom>
        </p:spPr>
        <p:txBody>
          <a:bodyPr vert="horz" lIns="91440" tIns="45720" rIns="91440" bIns="45720" rtlCol="0" anchor="ctr"/>
          <a:lstStyle>
            <a:lvl1pPr algn="ctr">
              <a:defRPr sz="900">
                <a:solidFill>
                  <a:schemeClr val="tx1">
                    <a:tint val="75000"/>
                  </a:schemeClr>
                </a:solidFill>
              </a:defRPr>
            </a:lvl1pPr>
          </a:lstStyle>
          <a:p>
            <a:r>
              <a:rPr lang="en-GB">
                <a:solidFill>
                  <a:prstClr val="black">
                    <a:tint val="75000"/>
                  </a:prstClr>
                </a:solidFill>
              </a:rPr>
              <a:t>BSc/AF/ Trinco/2022 July</a:t>
            </a:r>
          </a:p>
        </p:txBody>
      </p:sp>
      <p:sp>
        <p:nvSpPr>
          <p:cNvPr id="6" name="Slide Number Placeholder 5"/>
          <p:cNvSpPr>
            <a:spLocks noGrp="1"/>
          </p:cNvSpPr>
          <p:nvPr>
            <p:ph type="sldNum" sz="quarter" idx="4"/>
          </p:nvPr>
        </p:nvSpPr>
        <p:spPr>
          <a:xfrm>
            <a:off x="6553200" y="6356352"/>
            <a:ext cx="2133600"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C6983AC5-6E8A-48DE-8428-11FDF4DDF1A6}" type="slidenum">
              <a:rPr lang="en-GB" smtClean="0">
                <a:solidFill>
                  <a:prstClr val="black">
                    <a:tint val="75000"/>
                  </a:prstClr>
                </a:solidFill>
              </a:rPr>
              <a:pPr/>
              <a:t>‹#›</a:t>
            </a:fld>
            <a:endParaRPr lang="en-GB">
              <a:solidFill>
                <a:prstClr val="black">
                  <a:tint val="75000"/>
                </a:prstClr>
              </a:solidFill>
            </a:endParaRPr>
          </a:p>
        </p:txBody>
      </p:sp>
    </p:spTree>
    <p:extLst>
      <p:ext uri="{BB962C8B-B14F-4D97-AF65-F5344CB8AC3E}">
        <p14:creationId xmlns:p14="http://schemas.microsoft.com/office/powerpoint/2010/main" val="2182055351"/>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hdr="0" dt="0"/>
  <p:txStyles>
    <p:titleStyle>
      <a:lvl1pPr algn="ctr" defTabSz="685800" rtl="0" eaLnBrk="1" latinLnBrk="0" hangingPunct="1">
        <a:spcBef>
          <a:spcPct val="0"/>
        </a:spcBef>
        <a:buNone/>
        <a:defRPr sz="3300" kern="1200">
          <a:solidFill>
            <a:schemeClr val="tx1"/>
          </a:solidFill>
          <a:latin typeface="+mj-lt"/>
          <a:ea typeface="+mj-ea"/>
          <a:cs typeface="+mj-cs"/>
        </a:defRPr>
      </a:lvl1pPr>
    </p:titleStyle>
    <p:bodyStyle>
      <a:lvl1pPr marL="257175" indent="-257175" algn="l" defTabSz="685800" rtl="0" eaLnBrk="1" latinLnBrk="0" hangingPunct="1">
        <a:spcBef>
          <a:spcPct val="20000"/>
        </a:spcBef>
        <a:buFont typeface="Arial" pitchFamily="34" charset="0"/>
        <a:buChar char="•"/>
        <a:defRPr sz="2400" kern="1200">
          <a:solidFill>
            <a:schemeClr val="tx1"/>
          </a:solidFill>
          <a:latin typeface="+mn-lt"/>
          <a:ea typeface="+mn-ea"/>
          <a:cs typeface="+mn-cs"/>
        </a:defRPr>
      </a:lvl1pPr>
      <a:lvl2pPr marL="557213" indent="-214313" algn="l" defTabSz="685800" rtl="0" eaLnBrk="1" latinLnBrk="0" hangingPunct="1">
        <a:spcBef>
          <a:spcPct val="20000"/>
        </a:spcBef>
        <a:buFont typeface="Arial" pitchFamily="34" charset="0"/>
        <a:buChar char="–"/>
        <a:defRPr sz="2100" kern="1200">
          <a:solidFill>
            <a:schemeClr val="tx1"/>
          </a:solidFill>
          <a:latin typeface="+mn-lt"/>
          <a:ea typeface="+mn-ea"/>
          <a:cs typeface="+mn-cs"/>
        </a:defRPr>
      </a:lvl2pPr>
      <a:lvl3pPr marL="857250" indent="-171450" algn="l" defTabSz="685800" rtl="0" eaLnBrk="1" latinLnBrk="0" hangingPunct="1">
        <a:spcBef>
          <a:spcPct val="20000"/>
        </a:spcBef>
        <a:buFont typeface="Arial" pitchFamily="34" charset="0"/>
        <a:buChar char="•"/>
        <a:defRPr sz="1800" kern="1200">
          <a:solidFill>
            <a:schemeClr val="tx1"/>
          </a:solidFill>
          <a:latin typeface="+mn-lt"/>
          <a:ea typeface="+mn-ea"/>
          <a:cs typeface="+mn-cs"/>
        </a:defRPr>
      </a:lvl3pPr>
      <a:lvl4pPr marL="12001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4pPr>
      <a:lvl5pPr marL="15430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5pPr>
      <a:lvl6pPr marL="18859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6pPr>
      <a:lvl7pPr marL="22288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7pPr>
      <a:lvl8pPr marL="25717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8pPr>
      <a:lvl9pPr marL="29146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9.xml"/><Relationship Id="rId4" Type="http://schemas.openxmlformats.org/officeDocument/2006/relationships/image" Target="../media/image2.jpe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hyperlink" Target="http://en.wikipedia.org/wiki/Good_(economics)" TargetMode="External"/><Relationship Id="rId2" Type="http://schemas.openxmlformats.org/officeDocument/2006/relationships/hyperlink" Target="http://en.wikipedia.org/wiki/Capital_(economics)" TargetMode="External"/><Relationship Id="rId1" Type="http://schemas.openxmlformats.org/officeDocument/2006/relationships/slideLayout" Target="../slideLayouts/slideLayout7.xml"/><Relationship Id="rId6" Type="http://schemas.openxmlformats.org/officeDocument/2006/relationships/hyperlink" Target="http://en.wikipedia.org/wiki/Gross_domestic_product" TargetMode="External"/><Relationship Id="rId5" Type="http://schemas.openxmlformats.org/officeDocument/2006/relationships/hyperlink" Target="http://en.wikipedia.org/wiki/International_borders" TargetMode="External"/><Relationship Id="rId4" Type="http://schemas.openxmlformats.org/officeDocument/2006/relationships/hyperlink" Target="http://en.wikipedia.org/wiki/Service_(economics)" TargetMode="External"/></Relationships>
</file>

<file path=ppt/slides/_rels/slide4.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2" Type="http://schemas.openxmlformats.org/officeDocument/2006/relationships/image" Target="../media/image6.wmf"/><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0.png"/><Relationship Id="rId1" Type="http://schemas.openxmlformats.org/officeDocument/2006/relationships/slideLayout" Target="../slideLayouts/slideLayout2.xml"/><Relationship Id="rId6" Type="http://schemas.openxmlformats.org/officeDocument/2006/relationships/image" Target="../media/image12.jpeg"/><Relationship Id="rId5" Type="http://schemas.openxmlformats.org/officeDocument/2006/relationships/hyperlink" Target="http://images.google.co.in/imgres?imgurl=http://1.bp.blogspot.com/_FJSI89AtK0M/ShW4iY4QobI/AAAAAAAAFP8/q8iIaTpIz1I/s400/painted+and+stitched+shirt+for+dad.jpg&amp;imgrefurl=http://blogs.myspace.com/cathiefilian&amp;usg=__Z1Wx1azeD0PQ3wQcs7odzwHjv9w=&amp;h=400&amp;w=361&amp;sz=34&amp;hl=en&amp;start=23&amp;itbs=1&amp;tbnid=qc8OEbffDqofqM:&amp;tbnh=124&amp;tbnw=112&amp;prev=/images?q=shirt+stitching&amp;start=20&amp;hl=en&amp;sa=N&amp;gbv=2&amp;ndsp=20&amp;tbs=isch:1" TargetMode="External"/><Relationship Id="rId4" Type="http://schemas.openxmlformats.org/officeDocument/2006/relationships/image" Target="../media/image11.jpe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Layout" Target="../slideLayouts/slideLayout1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6.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1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15.gif"/><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658112" y="17838"/>
            <a:ext cx="8485888" cy="1946687"/>
          </a:xfrm>
          <a:prstGeom prst="rect">
            <a:avLst/>
          </a:prstGeom>
          <a:noFill/>
        </p:spPr>
        <p:txBody>
          <a:bodyPr wrap="square" lIns="68580" tIns="34290" rIns="68580" bIns="34290">
            <a:spAutoFit/>
          </a:bodyPr>
          <a:lstStyle/>
          <a:p>
            <a:pPr algn="ctr"/>
            <a:r>
              <a:rPr lang="en-US" sz="4000" b="1" cap="all" dirty="0">
                <a:ln w="9000" cmpd="sng">
                  <a:solidFill>
                    <a:srgbClr val="8064A2">
                      <a:shade val="50000"/>
                      <a:satMod val="120000"/>
                    </a:srgbClr>
                  </a:solidFill>
                  <a:prstDash val="solid"/>
                </a:ln>
                <a:gradFill>
                  <a:gsLst>
                    <a:gs pos="0">
                      <a:srgbClr val="8064A2">
                        <a:shade val="20000"/>
                        <a:satMod val="245000"/>
                      </a:srgbClr>
                    </a:gs>
                    <a:gs pos="43000">
                      <a:srgbClr val="8064A2">
                        <a:satMod val="255000"/>
                      </a:srgbClr>
                    </a:gs>
                    <a:gs pos="48000">
                      <a:srgbClr val="8064A2">
                        <a:shade val="85000"/>
                        <a:satMod val="255000"/>
                      </a:srgbClr>
                    </a:gs>
                    <a:gs pos="100000">
                      <a:srgbClr val="8064A2">
                        <a:shade val="20000"/>
                        <a:satMod val="245000"/>
                      </a:srgbClr>
                    </a:gs>
                  </a:gsLst>
                  <a:lin ang="5400000"/>
                </a:gradFill>
                <a:effectLst>
                  <a:reflection blurRad="12700" stA="28000" endPos="45000" dist="1000" dir="5400000" sy="-100000" algn="bl" rotWithShape="0"/>
                </a:effectLst>
              </a:rPr>
              <a:t>Macroeconomics</a:t>
            </a:r>
          </a:p>
          <a:p>
            <a:pPr algn="ctr"/>
            <a:endParaRPr lang="en-US" b="1" cap="all" dirty="0">
              <a:ln w="9000" cmpd="sng">
                <a:solidFill>
                  <a:srgbClr val="8064A2">
                    <a:shade val="50000"/>
                    <a:satMod val="120000"/>
                  </a:srgbClr>
                </a:solidFill>
                <a:prstDash val="solid"/>
              </a:ln>
              <a:gradFill>
                <a:gsLst>
                  <a:gs pos="0">
                    <a:srgbClr val="8064A2">
                      <a:shade val="20000"/>
                      <a:satMod val="245000"/>
                    </a:srgbClr>
                  </a:gs>
                  <a:gs pos="43000">
                    <a:srgbClr val="8064A2">
                      <a:satMod val="255000"/>
                    </a:srgbClr>
                  </a:gs>
                  <a:gs pos="48000">
                    <a:srgbClr val="8064A2">
                      <a:shade val="85000"/>
                      <a:satMod val="255000"/>
                    </a:srgbClr>
                  </a:gs>
                  <a:gs pos="100000">
                    <a:srgbClr val="8064A2">
                      <a:shade val="20000"/>
                      <a:satMod val="245000"/>
                    </a:srgbClr>
                  </a:gs>
                </a:gsLst>
                <a:lin ang="5400000"/>
              </a:gradFill>
              <a:effectLst>
                <a:reflection blurRad="12700" stA="28000" endPos="45000" dist="1000" dir="5400000" sy="-100000" algn="bl" rotWithShape="0"/>
              </a:effectLst>
            </a:endParaRPr>
          </a:p>
          <a:p>
            <a:pPr algn="ctr"/>
            <a:r>
              <a:rPr lang="en-US" b="1" cap="all" dirty="0">
                <a:ln w="9000" cmpd="sng">
                  <a:solidFill>
                    <a:srgbClr val="8064A2">
                      <a:shade val="50000"/>
                      <a:satMod val="120000"/>
                    </a:srgbClr>
                  </a:solidFill>
                  <a:prstDash val="solid"/>
                </a:ln>
                <a:gradFill>
                  <a:gsLst>
                    <a:gs pos="0">
                      <a:srgbClr val="8064A2">
                        <a:shade val="20000"/>
                        <a:satMod val="245000"/>
                      </a:srgbClr>
                    </a:gs>
                    <a:gs pos="43000">
                      <a:srgbClr val="8064A2">
                        <a:satMod val="255000"/>
                      </a:srgbClr>
                    </a:gs>
                    <a:gs pos="48000">
                      <a:srgbClr val="8064A2">
                        <a:shade val="85000"/>
                        <a:satMod val="255000"/>
                      </a:srgbClr>
                    </a:gs>
                    <a:gs pos="100000">
                      <a:srgbClr val="8064A2">
                        <a:shade val="20000"/>
                        <a:satMod val="245000"/>
                      </a:srgbClr>
                    </a:gs>
                  </a:gsLst>
                  <a:lin ang="5400000"/>
                </a:gradFill>
                <a:effectLst>
                  <a:reflection blurRad="12700" stA="28000" endPos="45000" dist="1000" dir="5400000" sy="-100000" algn="bl" rotWithShape="0"/>
                </a:effectLst>
              </a:rPr>
              <a:t> </a:t>
            </a:r>
            <a:r>
              <a:rPr lang="en-US" sz="3200" b="1" cap="all" dirty="0">
                <a:ln w="9000" cmpd="sng">
                  <a:solidFill>
                    <a:srgbClr val="8064A2">
                      <a:shade val="50000"/>
                      <a:satMod val="120000"/>
                    </a:srgbClr>
                  </a:solidFill>
                  <a:prstDash val="solid"/>
                </a:ln>
                <a:solidFill>
                  <a:srgbClr val="009900"/>
                </a:solidFill>
                <a:effectLst>
                  <a:reflection blurRad="12700" stA="28000" endPos="45000" dist="1000" dir="5400000" sy="-100000" algn="bl" rotWithShape="0"/>
                </a:effectLst>
              </a:rPr>
              <a:t>lecture 08: the basis of international trade</a:t>
            </a:r>
          </a:p>
        </p:txBody>
      </p:sp>
      <p:sp>
        <p:nvSpPr>
          <p:cNvPr id="5" name="TextBox 4"/>
          <p:cNvSpPr txBox="1"/>
          <p:nvPr/>
        </p:nvSpPr>
        <p:spPr>
          <a:xfrm>
            <a:off x="1807603" y="4478043"/>
            <a:ext cx="5413248" cy="1631216"/>
          </a:xfrm>
          <a:prstGeom prst="rect">
            <a:avLst/>
          </a:prstGeom>
          <a:noFill/>
        </p:spPr>
        <p:txBody>
          <a:bodyPr wrap="square" rtlCol="0">
            <a:spAutoFit/>
          </a:bodyPr>
          <a:lstStyle/>
          <a:p>
            <a:pPr algn="ctr"/>
            <a:r>
              <a:rPr lang="en-US" sz="2800" b="1" dirty="0">
                <a:solidFill>
                  <a:prstClr val="black"/>
                </a:solidFill>
                <a:cs typeface="Times New Roman" pitchFamily="18" charset="0"/>
              </a:rPr>
              <a:t>Dr. </a:t>
            </a:r>
            <a:r>
              <a:rPr lang="en-US" sz="2800" b="1" dirty="0" err="1">
                <a:solidFill>
                  <a:prstClr val="black"/>
                </a:solidFill>
                <a:cs typeface="Times New Roman" pitchFamily="18" charset="0"/>
              </a:rPr>
              <a:t>Hemantha</a:t>
            </a:r>
            <a:r>
              <a:rPr lang="en-US" sz="2800" b="1" dirty="0">
                <a:solidFill>
                  <a:prstClr val="black"/>
                </a:solidFill>
                <a:cs typeface="Times New Roman" pitchFamily="18" charset="0"/>
              </a:rPr>
              <a:t> </a:t>
            </a:r>
            <a:r>
              <a:rPr lang="en-US" sz="2800" b="1" dirty="0" err="1">
                <a:solidFill>
                  <a:prstClr val="black"/>
                </a:solidFill>
                <a:cs typeface="Times New Roman" pitchFamily="18" charset="0"/>
              </a:rPr>
              <a:t>Premarathne</a:t>
            </a:r>
            <a:r>
              <a:rPr lang="en-US" sz="2800" b="1" dirty="0">
                <a:solidFill>
                  <a:prstClr val="black"/>
                </a:solidFill>
                <a:cs typeface="Times New Roman" pitchFamily="18" charset="0"/>
              </a:rPr>
              <a:t>,</a:t>
            </a:r>
          </a:p>
          <a:p>
            <a:pPr algn="ctr"/>
            <a:r>
              <a:rPr lang="en-US" sz="2400" dirty="0">
                <a:solidFill>
                  <a:prstClr val="black"/>
                </a:solidFill>
                <a:cs typeface="Times New Roman" pitchFamily="18" charset="0"/>
              </a:rPr>
              <a:t> </a:t>
            </a:r>
          </a:p>
          <a:p>
            <a:pPr algn="ctr"/>
            <a:r>
              <a:rPr lang="en-US" sz="2400" dirty="0">
                <a:solidFill>
                  <a:prstClr val="black"/>
                </a:solidFill>
                <a:cs typeface="Times New Roman" pitchFamily="18" charset="0"/>
              </a:rPr>
              <a:t>Department of Social Sciences,</a:t>
            </a:r>
          </a:p>
          <a:p>
            <a:pPr algn="ctr"/>
            <a:r>
              <a:rPr lang="en-US" sz="2400" dirty="0">
                <a:solidFill>
                  <a:prstClr val="black"/>
                </a:solidFill>
                <a:cs typeface="Times New Roman" pitchFamily="18" charset="0"/>
              </a:rPr>
              <a:t>KDU</a:t>
            </a:r>
          </a:p>
        </p:txBody>
      </p:sp>
      <p:sp>
        <p:nvSpPr>
          <p:cNvPr id="6" name="TextBox 5"/>
          <p:cNvSpPr txBox="1"/>
          <p:nvPr/>
        </p:nvSpPr>
        <p:spPr>
          <a:xfrm>
            <a:off x="2805166" y="4848665"/>
            <a:ext cx="4122965" cy="253916"/>
          </a:xfrm>
          <a:prstGeom prst="rect">
            <a:avLst/>
          </a:prstGeom>
          <a:noFill/>
        </p:spPr>
        <p:txBody>
          <a:bodyPr wrap="square" rtlCol="0">
            <a:spAutoFit/>
          </a:bodyPr>
          <a:lstStyle/>
          <a:p>
            <a:r>
              <a:rPr lang="en-US" sz="1050" i="1" dirty="0">
                <a:solidFill>
                  <a:prstClr val="black"/>
                </a:solidFill>
                <a:latin typeface="Arial" pitchFamily="34" charset="0"/>
                <a:cs typeface="Arial" pitchFamily="34" charset="0"/>
              </a:rPr>
              <a:t>B.A. Econ &amp; Stat (</a:t>
            </a:r>
            <a:r>
              <a:rPr lang="en-US" sz="1050" i="1" dirty="0" err="1">
                <a:solidFill>
                  <a:prstClr val="black"/>
                </a:solidFill>
                <a:latin typeface="Arial" pitchFamily="34" charset="0"/>
                <a:cs typeface="Arial" pitchFamily="34" charset="0"/>
              </a:rPr>
              <a:t>Hons</a:t>
            </a:r>
            <a:r>
              <a:rPr lang="en-US" sz="1050" i="1" dirty="0">
                <a:solidFill>
                  <a:prstClr val="black"/>
                </a:solidFill>
                <a:latin typeface="Arial" pitchFamily="34" charset="0"/>
                <a:cs typeface="Arial" pitchFamily="34" charset="0"/>
              </a:rPr>
              <a:t>) </a:t>
            </a:r>
            <a:r>
              <a:rPr lang="en-US" sz="1050" i="1" dirty="0" err="1">
                <a:solidFill>
                  <a:prstClr val="black"/>
                </a:solidFill>
                <a:latin typeface="Arial" pitchFamily="34" charset="0"/>
                <a:cs typeface="Arial" pitchFamily="34" charset="0"/>
              </a:rPr>
              <a:t>Pera</a:t>
            </a:r>
            <a:r>
              <a:rPr lang="en-US" sz="1050" i="1" dirty="0">
                <a:solidFill>
                  <a:prstClr val="black"/>
                </a:solidFill>
                <a:latin typeface="Arial" pitchFamily="34" charset="0"/>
                <a:cs typeface="Arial" pitchFamily="34" charset="0"/>
              </a:rPr>
              <a:t>, M.A. &amp; Ph.D. (Saga, Japan) </a:t>
            </a:r>
          </a:p>
        </p:txBody>
      </p:sp>
      <p:sp>
        <p:nvSpPr>
          <p:cNvPr id="2" name="Footer Placeholder 1"/>
          <p:cNvSpPr>
            <a:spLocks noGrp="1"/>
          </p:cNvSpPr>
          <p:nvPr>
            <p:ph type="ftr" sz="quarter" idx="11"/>
          </p:nvPr>
        </p:nvSpPr>
        <p:spPr/>
        <p:txBody>
          <a:bodyPr/>
          <a:lstStyle/>
          <a:p>
            <a:r>
              <a:rPr lang="en-GB">
                <a:solidFill>
                  <a:prstClr val="black">
                    <a:tint val="75000"/>
                  </a:prstClr>
                </a:solidFill>
              </a:rPr>
              <a:t>BSc/AF/ Trinco/2022 July</a:t>
            </a:r>
          </a:p>
        </p:txBody>
      </p:sp>
      <p:sp>
        <p:nvSpPr>
          <p:cNvPr id="3" name="Slide Number Placeholder 2"/>
          <p:cNvSpPr>
            <a:spLocks noGrp="1"/>
          </p:cNvSpPr>
          <p:nvPr>
            <p:ph type="sldNum" sz="quarter" idx="12"/>
          </p:nvPr>
        </p:nvSpPr>
        <p:spPr/>
        <p:txBody>
          <a:bodyPr/>
          <a:lstStyle/>
          <a:p>
            <a:fld id="{C6983AC5-6E8A-48DE-8428-11FDF4DDF1A6}" type="slidenum">
              <a:rPr lang="en-GB" smtClean="0">
                <a:solidFill>
                  <a:prstClr val="black">
                    <a:tint val="75000"/>
                  </a:prstClr>
                </a:solidFill>
              </a:rPr>
              <a:pPr/>
              <a:t>1</a:t>
            </a:fld>
            <a:endParaRPr lang="en-GB">
              <a:solidFill>
                <a:prstClr val="black">
                  <a:tint val="75000"/>
                </a:prstClr>
              </a:solidFill>
            </a:endParaRPr>
          </a:p>
        </p:txBody>
      </p:sp>
      <p:pic>
        <p:nvPicPr>
          <p:cNvPr id="11" name="Picture 4" descr="http://2.imimg.com/data2/AK/QJ/MY-3998893946/ibo-6-international-business-finance-500x500.jpg"/>
          <p:cNvPicPr>
            <a:picLocks noChangeAspect="1" noChangeArrowheads="1"/>
          </p:cNvPicPr>
          <p:nvPr/>
        </p:nvPicPr>
        <p:blipFill>
          <a:blip r:embed="rId3"/>
          <a:srcRect t="44784" b="8397"/>
          <a:stretch>
            <a:fillRect/>
          </a:stretch>
        </p:blipFill>
        <p:spPr bwMode="auto">
          <a:xfrm>
            <a:off x="228600" y="1837495"/>
            <a:ext cx="3373582" cy="2405965"/>
          </a:xfrm>
          <a:prstGeom prst="rect">
            <a:avLst/>
          </a:prstGeom>
          <a:noFill/>
        </p:spPr>
      </p:pic>
      <p:pic>
        <p:nvPicPr>
          <p:cNvPr id="14" name="Picture 8" descr="http://vieclam.laodong.com.vn/Uploaded/nguyenthuha/2014_10_30/vantai_TQJI.jpg"/>
          <p:cNvPicPr>
            <a:picLocks noChangeAspect="1" noChangeArrowheads="1"/>
          </p:cNvPicPr>
          <p:nvPr/>
        </p:nvPicPr>
        <p:blipFill>
          <a:blip r:embed="rId4"/>
          <a:srcRect/>
          <a:stretch>
            <a:fillRect/>
          </a:stretch>
        </p:blipFill>
        <p:spPr bwMode="auto">
          <a:xfrm>
            <a:off x="5571241" y="1714812"/>
            <a:ext cx="3299220" cy="2516138"/>
          </a:xfrm>
          <a:prstGeom prst="rect">
            <a:avLst/>
          </a:prstGeom>
          <a:noFill/>
        </p:spPr>
      </p:pic>
    </p:spTree>
    <p:extLst>
      <p:ext uri="{BB962C8B-B14F-4D97-AF65-F5344CB8AC3E}">
        <p14:creationId xmlns:p14="http://schemas.microsoft.com/office/powerpoint/2010/main" val="103238771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4" presetClass="entr" presetSubtype="0" fill="hold" nodeType="withEffect">
                                  <p:stCondLst>
                                    <p:cond delay="0"/>
                                  </p:stCondLst>
                                  <p:childTnLst>
                                    <p:set>
                                      <p:cBhvr>
                                        <p:cTn id="6" dur="1" fill="hold">
                                          <p:stCondLst>
                                            <p:cond delay="0"/>
                                          </p:stCondLst>
                                        </p:cTn>
                                        <p:tgtEl>
                                          <p:spTgt spid="11"/>
                                        </p:tgtEl>
                                        <p:attrNameLst>
                                          <p:attrName>style.visibility</p:attrName>
                                        </p:attrNameLst>
                                      </p:cBhvr>
                                      <p:to>
                                        <p:strVal val="visible"/>
                                      </p:to>
                                    </p:set>
                                    <p:anim to="" calcmode="lin" valueType="num">
                                      <p:cBhvr>
                                        <p:cTn id="7" dur="1" fill="hold"/>
                                        <p:tgtEl>
                                          <p:spTgt spid="11"/>
                                        </p:tgtEl>
                                        <p:attrNameLst>
                                          <p:attrName/>
                                        </p:attrNameLst>
                                      </p:cBhvr>
                                    </p:anim>
                                  </p:childTnLst>
                                </p:cTn>
                              </p:par>
                              <p:par>
                                <p:cTn id="8" presetID="24" presetClass="entr" presetSubtype="0" fill="hold" nodeType="withEffect">
                                  <p:stCondLst>
                                    <p:cond delay="0"/>
                                  </p:stCondLst>
                                  <p:childTnLst>
                                    <p:set>
                                      <p:cBhvr>
                                        <p:cTn id="9" dur="1" fill="hold">
                                          <p:stCondLst>
                                            <p:cond delay="0"/>
                                          </p:stCondLst>
                                        </p:cTn>
                                        <p:tgtEl>
                                          <p:spTgt spid="14"/>
                                        </p:tgtEl>
                                        <p:attrNameLst>
                                          <p:attrName>style.visibility</p:attrName>
                                        </p:attrNameLst>
                                      </p:cBhvr>
                                      <p:to>
                                        <p:strVal val="visible"/>
                                      </p:to>
                                    </p:set>
                                    <p:anim to="" calcmode="lin" valueType="num">
                                      <p:cBhvr>
                                        <p:cTn id="10" dur="1" fill="hold"/>
                                        <p:tgtEl>
                                          <p:spTgt spid="14"/>
                                        </p:tgtEl>
                                        <p:attrNameLst>
                                          <p:attrName/>
                                        </p:attrNameLst>
                                      </p:cBhvr>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29737" y="1752600"/>
            <a:ext cx="3312125" cy="461665"/>
          </a:xfrm>
          <a:prstGeom prst="rect">
            <a:avLst/>
          </a:prstGeom>
        </p:spPr>
        <p:txBody>
          <a:bodyPr wrap="none">
            <a:spAutoFit/>
          </a:bodyPr>
          <a:lstStyle/>
          <a:p>
            <a:r>
              <a:rPr lang="en-US" sz="2400" b="1" dirty="0">
                <a:solidFill>
                  <a:srgbClr val="0070C0"/>
                </a:solidFill>
                <a:latin typeface="Arial" pitchFamily="34" charset="0"/>
                <a:cs typeface="Arial" pitchFamily="34" charset="0"/>
              </a:rPr>
              <a:t>Layout of the Lecture</a:t>
            </a:r>
          </a:p>
        </p:txBody>
      </p:sp>
      <p:sp>
        <p:nvSpPr>
          <p:cNvPr id="41986" name="Rectangle 2"/>
          <p:cNvSpPr>
            <a:spLocks noChangeArrowheads="1"/>
          </p:cNvSpPr>
          <p:nvPr/>
        </p:nvSpPr>
        <p:spPr bwMode="auto">
          <a:xfrm>
            <a:off x="228600" y="2697765"/>
            <a:ext cx="8153400" cy="1420261"/>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spAutoFit/>
          </a:bodyPr>
          <a:lstStyle/>
          <a:p>
            <a:pPr marL="457200" marR="0" lvl="1" indent="0" algn="l" defTabSz="914400" rtl="0" eaLnBrk="1" fontAlgn="base" latinLnBrk="0" hangingPunct="1">
              <a:lnSpc>
                <a:spcPct val="150000"/>
              </a:lnSpc>
              <a:spcBef>
                <a:spcPct val="0"/>
              </a:spcBef>
              <a:spcAft>
                <a:spcPct val="0"/>
              </a:spcAft>
              <a:buClrTx/>
              <a:buSzTx/>
              <a:tabLst/>
            </a:pPr>
            <a:r>
              <a:rPr lang="en-US" sz="2000" i="1" dirty="0">
                <a:latin typeface="Arial" pitchFamily="34" charset="0"/>
                <a:ea typeface="Times New Roman" pitchFamily="18" charset="0"/>
                <a:cs typeface="Arial" pitchFamily="34" charset="0"/>
              </a:rPr>
              <a:t>8</a:t>
            </a:r>
            <a:r>
              <a:rPr kumimoji="0" lang="en-US" sz="2000" b="0" i="1" u="none" strike="noStrike" cap="none" normalizeH="0" baseline="0" dirty="0">
                <a:ln>
                  <a:noFill/>
                </a:ln>
                <a:solidFill>
                  <a:schemeClr val="tx1"/>
                </a:solidFill>
                <a:effectLst/>
                <a:latin typeface="Arial" pitchFamily="34" charset="0"/>
                <a:ea typeface="Times New Roman" pitchFamily="18" charset="0"/>
                <a:cs typeface="Arial" pitchFamily="34" charset="0"/>
              </a:rPr>
              <a:t>.1 Define International </a:t>
            </a:r>
            <a:r>
              <a:rPr lang="en-US" sz="2000" i="1" dirty="0">
                <a:latin typeface="Arial" pitchFamily="34" charset="0"/>
                <a:ea typeface="Times New Roman" pitchFamily="18" charset="0"/>
                <a:cs typeface="Arial" pitchFamily="34" charset="0"/>
              </a:rPr>
              <a:t>Trade</a:t>
            </a:r>
            <a:endParaRPr kumimoji="0" lang="en-US" sz="1100" b="0" i="1" u="none" strike="noStrike" cap="none" normalizeH="0" baseline="0" dirty="0">
              <a:ln>
                <a:noFill/>
              </a:ln>
              <a:solidFill>
                <a:schemeClr val="tx1"/>
              </a:solidFill>
              <a:effectLst/>
              <a:latin typeface="Arial" pitchFamily="34" charset="0"/>
              <a:ea typeface="Times New Roman" pitchFamily="18" charset="0"/>
              <a:cs typeface="Arial" pitchFamily="34" charset="0"/>
            </a:endParaRPr>
          </a:p>
          <a:p>
            <a:pPr marL="457200" marR="0" lvl="1" indent="0" algn="l" defTabSz="914400" rtl="0" eaLnBrk="0" fontAlgn="base" latinLnBrk="0" hangingPunct="0">
              <a:lnSpc>
                <a:spcPct val="150000"/>
              </a:lnSpc>
              <a:spcBef>
                <a:spcPct val="0"/>
              </a:spcBef>
              <a:spcAft>
                <a:spcPct val="0"/>
              </a:spcAft>
              <a:buClrTx/>
              <a:buSzTx/>
              <a:tabLst/>
            </a:pPr>
            <a:r>
              <a:rPr lang="en-US" sz="2000" i="1" dirty="0">
                <a:latin typeface="Arial" pitchFamily="34" charset="0"/>
                <a:ea typeface="Times New Roman" pitchFamily="18" charset="0"/>
                <a:cs typeface="Arial" pitchFamily="34" charset="0"/>
              </a:rPr>
              <a:t>8.2  Why do People and Nations Engage in International Trade</a:t>
            </a:r>
            <a:endParaRPr kumimoji="0" lang="en-US" sz="1100" b="0" i="1" u="none" strike="noStrike" cap="none" normalizeH="0" baseline="0" dirty="0">
              <a:ln>
                <a:noFill/>
              </a:ln>
              <a:solidFill>
                <a:schemeClr val="tx1"/>
              </a:solidFill>
              <a:effectLst/>
              <a:latin typeface="Arial" pitchFamily="34" charset="0"/>
              <a:cs typeface="Arial" pitchFamily="34" charset="0"/>
            </a:endParaRPr>
          </a:p>
          <a:p>
            <a:pPr marL="457200" marR="0" lvl="1" indent="0" algn="l" defTabSz="914400" rtl="0" eaLnBrk="0" fontAlgn="base" latinLnBrk="0" hangingPunct="0">
              <a:lnSpc>
                <a:spcPct val="150000"/>
              </a:lnSpc>
              <a:spcBef>
                <a:spcPct val="0"/>
              </a:spcBef>
              <a:spcAft>
                <a:spcPct val="0"/>
              </a:spcAft>
              <a:buClrTx/>
              <a:buSzTx/>
              <a:tabLst/>
            </a:pPr>
            <a:r>
              <a:rPr lang="en-US" sz="2000" i="1" dirty="0">
                <a:latin typeface="Arial" pitchFamily="34" charset="0"/>
                <a:ea typeface="Times New Roman" pitchFamily="18" charset="0"/>
                <a:cs typeface="Arial" pitchFamily="34" charset="0"/>
              </a:rPr>
              <a:t>8.3 </a:t>
            </a:r>
            <a:r>
              <a:rPr kumimoji="0" lang="en-US" sz="2000" b="0" i="1" u="none" strike="noStrike" cap="none" normalizeH="0" baseline="0" dirty="0">
                <a:ln>
                  <a:noFill/>
                </a:ln>
                <a:solidFill>
                  <a:schemeClr val="tx1"/>
                </a:solidFill>
                <a:effectLst/>
                <a:latin typeface="Arial" pitchFamily="34" charset="0"/>
                <a:ea typeface="Times New Roman" pitchFamily="18" charset="0"/>
                <a:cs typeface="Arial" pitchFamily="34" charset="0"/>
              </a:rPr>
              <a:t> </a:t>
            </a:r>
            <a:r>
              <a:rPr lang="en-US" sz="2000" i="1" dirty="0">
                <a:latin typeface="Arial" pitchFamily="34" charset="0"/>
                <a:ea typeface="Times New Roman" pitchFamily="18" charset="0"/>
                <a:cs typeface="Arial" pitchFamily="34" charset="0"/>
              </a:rPr>
              <a:t>Measuring Gains from Trade</a:t>
            </a:r>
            <a:endParaRPr kumimoji="0" lang="en-US" sz="1100" b="0" i="1" u="none" strike="noStrike" cap="none" normalizeH="0" baseline="0" dirty="0">
              <a:ln>
                <a:noFill/>
              </a:ln>
              <a:solidFill>
                <a:schemeClr val="tx1"/>
              </a:solidFill>
              <a:effectLst/>
              <a:latin typeface="Arial" pitchFamily="34" charset="0"/>
              <a:cs typeface="Arial" pitchFamily="34" charset="0"/>
            </a:endParaRPr>
          </a:p>
        </p:txBody>
      </p:sp>
      <p:sp>
        <p:nvSpPr>
          <p:cNvPr id="7" name="TextBox 6"/>
          <p:cNvSpPr txBox="1"/>
          <p:nvPr/>
        </p:nvSpPr>
        <p:spPr>
          <a:xfrm>
            <a:off x="8001000" y="6248400"/>
            <a:ext cx="1371600" cy="461665"/>
          </a:xfrm>
          <a:prstGeom prst="rect">
            <a:avLst/>
          </a:prstGeom>
          <a:noFill/>
        </p:spPr>
        <p:txBody>
          <a:bodyPr wrap="square" rtlCol="0">
            <a:spAutoFit/>
          </a:bodyPr>
          <a:lstStyle/>
          <a:p>
            <a:r>
              <a:rPr lang="en-US" sz="2400" b="1" i="1" dirty="0">
                <a:solidFill>
                  <a:schemeClr val="accent1"/>
                </a:solidFill>
                <a:latin typeface="Arial" pitchFamily="34" charset="0"/>
                <a:cs typeface="Arial" pitchFamily="34" charset="0"/>
              </a:rPr>
              <a:t>Cont…</a:t>
            </a:r>
          </a:p>
        </p:txBody>
      </p:sp>
      <p:sp>
        <p:nvSpPr>
          <p:cNvPr id="3" name="Footer Placeholder 2"/>
          <p:cNvSpPr>
            <a:spLocks noGrp="1"/>
          </p:cNvSpPr>
          <p:nvPr>
            <p:ph type="ftr" sz="quarter" idx="11"/>
          </p:nvPr>
        </p:nvSpPr>
        <p:spPr/>
        <p:txBody>
          <a:bodyPr/>
          <a:lstStyle/>
          <a:p>
            <a:r>
              <a:rPr lang="en-US"/>
              <a:t>BSc/AF/ Trinco/2022 July</a:t>
            </a:r>
          </a:p>
        </p:txBody>
      </p:sp>
      <p:sp>
        <p:nvSpPr>
          <p:cNvPr id="4" name="Slide Number Placeholder 3"/>
          <p:cNvSpPr>
            <a:spLocks noGrp="1"/>
          </p:cNvSpPr>
          <p:nvPr>
            <p:ph type="sldNum" sz="quarter" idx="12"/>
          </p:nvPr>
        </p:nvSpPr>
        <p:spPr/>
        <p:txBody>
          <a:bodyPr/>
          <a:lstStyle/>
          <a:p>
            <a:fld id="{19406544-F798-4DC7-9CED-E61544B8491A}" type="slidenum">
              <a:rPr lang="en-US" smtClean="0"/>
              <a:pPr/>
              <a:t>2</a:t>
            </a:fld>
            <a:endParaRPr lang="en-US"/>
          </a:p>
        </p:txBody>
      </p:sp>
    </p:spTree>
    <p:extLst>
      <p:ext uri="{BB962C8B-B14F-4D97-AF65-F5344CB8AC3E}">
        <p14:creationId xmlns:p14="http://schemas.microsoft.com/office/powerpoint/2010/main" val="31944458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4"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to="" calcmode="lin" valueType="num">
                                      <p:cBhvr>
                                        <p:cTn id="7" dur="1" fill="hold"/>
                                        <p:tgtEl>
                                          <p:spTgt spid="2"/>
                                        </p:tgtEl>
                                        <p:attrNameLst>
                                          <p:attrName/>
                                        </p:attrNameLst>
                                      </p:cBhvr>
                                    </p:anim>
                                  </p:childTnLst>
                                </p:cTn>
                              </p:par>
                            </p:childTnLst>
                          </p:cTn>
                        </p:par>
                      </p:childTnLst>
                    </p:cTn>
                  </p:par>
                  <p:par>
                    <p:cTn id="8" fill="hold">
                      <p:stCondLst>
                        <p:cond delay="indefinite"/>
                      </p:stCondLst>
                      <p:childTnLst>
                        <p:par>
                          <p:cTn id="9" fill="hold">
                            <p:stCondLst>
                              <p:cond delay="0"/>
                            </p:stCondLst>
                            <p:childTnLst>
                              <p:par>
                                <p:cTn id="10" presetID="24" presetClass="entr" presetSubtype="0" fill="hold" grpId="0" nodeType="clickEffect">
                                  <p:stCondLst>
                                    <p:cond delay="0"/>
                                  </p:stCondLst>
                                  <p:childTnLst>
                                    <p:set>
                                      <p:cBhvr>
                                        <p:cTn id="11" dur="1" fill="hold">
                                          <p:stCondLst>
                                            <p:cond delay="0"/>
                                          </p:stCondLst>
                                        </p:cTn>
                                        <p:tgtEl>
                                          <p:spTgt spid="41986"/>
                                        </p:tgtEl>
                                        <p:attrNameLst>
                                          <p:attrName>style.visibility</p:attrName>
                                        </p:attrNameLst>
                                      </p:cBhvr>
                                      <p:to>
                                        <p:strVal val="visible"/>
                                      </p:to>
                                    </p:set>
                                    <p:anim to="" calcmode="lin" valueType="num">
                                      <p:cBhvr>
                                        <p:cTn id="12" dur="1" fill="hold"/>
                                        <p:tgtEl>
                                          <p:spTgt spid="41986"/>
                                        </p:tgtEl>
                                        <p:attrNameLst>
                                          <p:attrName/>
                                        </p:attrNameLst>
                                      </p:cBhvr>
                                    </p:anim>
                                  </p:childTnLst>
                                </p:cTn>
                              </p:par>
                            </p:childTnLst>
                          </p:cTn>
                        </p:par>
                      </p:childTnLst>
                    </p:cTn>
                  </p:par>
                  <p:par>
                    <p:cTn id="13" fill="hold">
                      <p:stCondLst>
                        <p:cond delay="indefinite"/>
                      </p:stCondLst>
                      <p:childTnLst>
                        <p:par>
                          <p:cTn id="14" fill="hold">
                            <p:stCondLst>
                              <p:cond delay="0"/>
                            </p:stCondLst>
                            <p:childTnLst>
                              <p:par>
                                <p:cTn id="15" presetID="24" presetClass="entr" presetSubtype="0" fill="hold" grpId="0" nodeType="clickEffect">
                                  <p:stCondLst>
                                    <p:cond delay="0"/>
                                  </p:stCondLst>
                                  <p:childTnLst>
                                    <p:set>
                                      <p:cBhvr>
                                        <p:cTn id="16" dur="1" fill="hold">
                                          <p:stCondLst>
                                            <p:cond delay="0"/>
                                          </p:stCondLst>
                                        </p:cTn>
                                        <p:tgtEl>
                                          <p:spTgt spid="7"/>
                                        </p:tgtEl>
                                        <p:attrNameLst>
                                          <p:attrName>style.visibility</p:attrName>
                                        </p:attrNameLst>
                                      </p:cBhvr>
                                      <p:to>
                                        <p:strVal val="visible"/>
                                      </p:to>
                                    </p:set>
                                    <p:anim to="" calcmode="lin" valueType="num">
                                      <p:cBhvr>
                                        <p:cTn id="17" dur="1" fill="hold"/>
                                        <p:tgtEl>
                                          <p:spTgt spid="7"/>
                                        </p:tgtEl>
                                        <p:attrNameLst>
                                          <p:attrName/>
                                        </p:attrNameLst>
                                      </p:cBhvr>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41986" grpId="0"/>
      <p:bldP spid="7"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1371600" y="1371600"/>
            <a:ext cx="6400800" cy="2308324"/>
          </a:xfrm>
          <a:prstGeom prst="rect">
            <a:avLst/>
          </a:prstGeom>
        </p:spPr>
        <p:txBody>
          <a:bodyPr wrap="square">
            <a:spAutoFit/>
          </a:bodyPr>
          <a:lstStyle/>
          <a:p>
            <a:pPr algn="just"/>
            <a:r>
              <a:rPr lang="en-US" sz="2400" b="1" i="1" dirty="0">
                <a:latin typeface="Arial" pitchFamily="34" charset="0"/>
                <a:cs typeface="Arial" pitchFamily="34" charset="0"/>
              </a:rPr>
              <a:t>International trade</a:t>
            </a:r>
            <a:r>
              <a:rPr lang="en-US" sz="2400" i="1" dirty="0">
                <a:latin typeface="Arial" pitchFamily="34" charset="0"/>
                <a:cs typeface="Arial" pitchFamily="34" charset="0"/>
              </a:rPr>
              <a:t> is the exchange of </a:t>
            </a:r>
            <a:r>
              <a:rPr lang="en-US" sz="2400" i="1" u="sng" dirty="0">
                <a:latin typeface="Arial" pitchFamily="34" charset="0"/>
                <a:cs typeface="Arial" pitchFamily="34" charset="0"/>
                <a:hlinkClick r:id="rId2" tooltip="Capital (economics)"/>
              </a:rPr>
              <a:t>capital</a:t>
            </a:r>
            <a:r>
              <a:rPr lang="en-US" sz="2400" i="1" dirty="0">
                <a:latin typeface="Arial" pitchFamily="34" charset="0"/>
                <a:cs typeface="Arial" pitchFamily="34" charset="0"/>
              </a:rPr>
              <a:t>, </a:t>
            </a:r>
            <a:r>
              <a:rPr lang="en-US" sz="2400" i="1" u="sng" dirty="0">
                <a:latin typeface="Arial" pitchFamily="34" charset="0"/>
                <a:cs typeface="Arial" pitchFamily="34" charset="0"/>
                <a:hlinkClick r:id="rId3" tooltip="Good (economics)"/>
              </a:rPr>
              <a:t>goods</a:t>
            </a:r>
            <a:r>
              <a:rPr lang="en-US" sz="2400" i="1" dirty="0">
                <a:latin typeface="Arial" pitchFamily="34" charset="0"/>
                <a:cs typeface="Arial" pitchFamily="34" charset="0"/>
              </a:rPr>
              <a:t>, and </a:t>
            </a:r>
            <a:r>
              <a:rPr lang="en-US" sz="2400" i="1" u="sng" dirty="0">
                <a:latin typeface="Arial" pitchFamily="34" charset="0"/>
                <a:cs typeface="Arial" pitchFamily="34" charset="0"/>
                <a:hlinkClick r:id="rId4" tooltip="Service (economics)"/>
              </a:rPr>
              <a:t>services</a:t>
            </a:r>
            <a:r>
              <a:rPr lang="en-US" sz="2400" i="1" dirty="0">
                <a:latin typeface="Arial" pitchFamily="34" charset="0"/>
                <a:cs typeface="Arial" pitchFamily="34" charset="0"/>
              </a:rPr>
              <a:t> across </a:t>
            </a:r>
            <a:r>
              <a:rPr lang="en-US" sz="2400" i="1" u="sng" dirty="0">
                <a:latin typeface="Arial" pitchFamily="34" charset="0"/>
                <a:cs typeface="Arial" pitchFamily="34" charset="0"/>
                <a:hlinkClick r:id="rId5" tooltip="International borders"/>
              </a:rPr>
              <a:t>international borders</a:t>
            </a:r>
            <a:r>
              <a:rPr lang="en-US" sz="2400" i="1" dirty="0">
                <a:latin typeface="Arial" pitchFamily="34" charset="0"/>
                <a:cs typeface="Arial" pitchFamily="34" charset="0"/>
              </a:rPr>
              <a:t> or territories. In most countries, such trade represents a significant share of </a:t>
            </a:r>
            <a:r>
              <a:rPr lang="en-US" sz="2400" i="1" u="sng" dirty="0">
                <a:solidFill>
                  <a:schemeClr val="tx2">
                    <a:lumMod val="60000"/>
                    <a:lumOff val="40000"/>
                  </a:schemeClr>
                </a:solidFill>
                <a:latin typeface="Arial" pitchFamily="34" charset="0"/>
                <a:cs typeface="Arial" pitchFamily="34" charset="0"/>
              </a:rPr>
              <a:t>G</a:t>
            </a:r>
            <a:r>
              <a:rPr lang="en-US" sz="2400" i="1" u="sng" dirty="0">
                <a:solidFill>
                  <a:schemeClr val="tx2">
                    <a:lumMod val="60000"/>
                    <a:lumOff val="40000"/>
                  </a:schemeClr>
                </a:solidFill>
                <a:latin typeface="Arial" pitchFamily="34" charset="0"/>
                <a:cs typeface="Arial" pitchFamily="34" charset="0"/>
                <a:hlinkClick r:id="rId6" tooltip="Gross domestic product"/>
              </a:rPr>
              <a:t>ross Domestic Product</a:t>
            </a:r>
            <a:r>
              <a:rPr lang="en-US" sz="2400" i="1" dirty="0">
                <a:latin typeface="Arial" pitchFamily="34" charset="0"/>
                <a:cs typeface="Arial" pitchFamily="34" charset="0"/>
              </a:rPr>
              <a:t> (GDP).</a:t>
            </a:r>
          </a:p>
          <a:p>
            <a:pPr algn="just"/>
            <a:endParaRPr lang="en-US" sz="2400" i="1" dirty="0">
              <a:latin typeface="Arial" pitchFamily="34" charset="0"/>
              <a:cs typeface="Arial" pitchFamily="34" charset="0"/>
            </a:endParaRPr>
          </a:p>
        </p:txBody>
      </p:sp>
      <p:sp>
        <p:nvSpPr>
          <p:cNvPr id="6" name="TextBox 5"/>
          <p:cNvSpPr txBox="1"/>
          <p:nvPr/>
        </p:nvSpPr>
        <p:spPr>
          <a:xfrm>
            <a:off x="990600" y="452735"/>
            <a:ext cx="6019800" cy="461665"/>
          </a:xfrm>
          <a:prstGeom prst="rect">
            <a:avLst/>
          </a:prstGeom>
          <a:noFill/>
        </p:spPr>
        <p:txBody>
          <a:bodyPr wrap="square" rtlCol="0">
            <a:spAutoFit/>
          </a:bodyPr>
          <a:lstStyle/>
          <a:p>
            <a:pPr lvl="1"/>
            <a:r>
              <a:rPr lang="en-US" sz="2400" b="1" dirty="0">
                <a:solidFill>
                  <a:schemeClr val="tx2"/>
                </a:solidFill>
                <a:latin typeface="Arial" pitchFamily="34" charset="0"/>
                <a:cs typeface="Arial" pitchFamily="34" charset="0"/>
              </a:rPr>
              <a:t>8.1  Definition of International Trade</a:t>
            </a:r>
          </a:p>
        </p:txBody>
      </p:sp>
      <p:sp>
        <p:nvSpPr>
          <p:cNvPr id="2" name="Footer Placeholder 1"/>
          <p:cNvSpPr>
            <a:spLocks noGrp="1"/>
          </p:cNvSpPr>
          <p:nvPr>
            <p:ph type="ftr" sz="quarter" idx="11"/>
          </p:nvPr>
        </p:nvSpPr>
        <p:spPr/>
        <p:txBody>
          <a:bodyPr/>
          <a:lstStyle/>
          <a:p>
            <a:r>
              <a:rPr lang="en-US"/>
              <a:t>BSc/AF/ Trinco/2022 July</a:t>
            </a:r>
          </a:p>
        </p:txBody>
      </p:sp>
      <p:sp>
        <p:nvSpPr>
          <p:cNvPr id="3" name="Slide Number Placeholder 2"/>
          <p:cNvSpPr>
            <a:spLocks noGrp="1"/>
          </p:cNvSpPr>
          <p:nvPr>
            <p:ph type="sldNum" sz="quarter" idx="12"/>
          </p:nvPr>
        </p:nvSpPr>
        <p:spPr/>
        <p:txBody>
          <a:bodyPr/>
          <a:lstStyle/>
          <a:p>
            <a:fld id="{19406544-F798-4DC7-9CED-E61544B8491A}" type="slidenum">
              <a:rPr lang="en-US" smtClean="0"/>
              <a:pPr/>
              <a:t>3</a:t>
            </a:fld>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8" presetClass="entr" presetSubtype="16"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diamond(in)">
                                      <p:cBhvr>
                                        <p:cTn id="7" dur="20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31" presetClass="entr" presetSubtype="0" fill="hold" grpId="2" nodeType="clickEffect">
                                  <p:stCondLst>
                                    <p:cond delay="0"/>
                                  </p:stCondLst>
                                  <p:childTnLst>
                                    <p:set>
                                      <p:cBhvr>
                                        <p:cTn id="11" dur="1" fill="hold">
                                          <p:stCondLst>
                                            <p:cond delay="0"/>
                                          </p:stCondLst>
                                        </p:cTn>
                                        <p:tgtEl>
                                          <p:spTgt spid="4"/>
                                        </p:tgtEl>
                                        <p:attrNameLst>
                                          <p:attrName>style.visibility</p:attrName>
                                        </p:attrNameLst>
                                      </p:cBhvr>
                                      <p:to>
                                        <p:strVal val="visible"/>
                                      </p:to>
                                    </p:set>
                                    <p:anim calcmode="lin" valueType="num">
                                      <p:cBhvr>
                                        <p:cTn id="12" dur="1000" fill="hold"/>
                                        <p:tgtEl>
                                          <p:spTgt spid="4"/>
                                        </p:tgtEl>
                                        <p:attrNameLst>
                                          <p:attrName>ppt_w</p:attrName>
                                        </p:attrNameLst>
                                      </p:cBhvr>
                                      <p:tavLst>
                                        <p:tav tm="0">
                                          <p:val>
                                            <p:fltVal val="0"/>
                                          </p:val>
                                        </p:tav>
                                        <p:tav tm="100000">
                                          <p:val>
                                            <p:strVal val="#ppt_w"/>
                                          </p:val>
                                        </p:tav>
                                      </p:tavLst>
                                    </p:anim>
                                    <p:anim calcmode="lin" valueType="num">
                                      <p:cBhvr>
                                        <p:cTn id="13" dur="1000" fill="hold"/>
                                        <p:tgtEl>
                                          <p:spTgt spid="4"/>
                                        </p:tgtEl>
                                        <p:attrNameLst>
                                          <p:attrName>ppt_h</p:attrName>
                                        </p:attrNameLst>
                                      </p:cBhvr>
                                      <p:tavLst>
                                        <p:tav tm="0">
                                          <p:val>
                                            <p:fltVal val="0"/>
                                          </p:val>
                                        </p:tav>
                                        <p:tav tm="100000">
                                          <p:val>
                                            <p:strVal val="#ppt_h"/>
                                          </p:val>
                                        </p:tav>
                                      </p:tavLst>
                                    </p:anim>
                                    <p:anim calcmode="lin" valueType="num">
                                      <p:cBhvr>
                                        <p:cTn id="14" dur="1000" fill="hold"/>
                                        <p:tgtEl>
                                          <p:spTgt spid="4"/>
                                        </p:tgtEl>
                                        <p:attrNameLst>
                                          <p:attrName>style.rotation</p:attrName>
                                        </p:attrNameLst>
                                      </p:cBhvr>
                                      <p:tavLst>
                                        <p:tav tm="0">
                                          <p:val>
                                            <p:fltVal val="90"/>
                                          </p:val>
                                        </p:tav>
                                        <p:tav tm="100000">
                                          <p:val>
                                            <p:fltVal val="0"/>
                                          </p:val>
                                        </p:tav>
                                      </p:tavLst>
                                    </p:anim>
                                    <p:animEffect transition="in" filter="fade">
                                      <p:cBhvr>
                                        <p:cTn id="15" dur="10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2"/>
      <p:bldP spid="6"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Gains from International Trade using PPC</a:t>
            </a:r>
            <a:endParaRPr lang="en-US" dirty="0"/>
          </a:p>
        </p:txBody>
      </p:sp>
      <p:sp>
        <p:nvSpPr>
          <p:cNvPr id="3" name="Content Placeholder 2"/>
          <p:cNvSpPr>
            <a:spLocks noGrp="1"/>
          </p:cNvSpPr>
          <p:nvPr>
            <p:ph idx="1"/>
          </p:nvPr>
        </p:nvSpPr>
        <p:spPr/>
        <p:txBody>
          <a:bodyPr/>
          <a:lstStyle/>
          <a:p>
            <a:endParaRPr lang="en-US" dirty="0"/>
          </a:p>
        </p:txBody>
      </p:sp>
      <p:sp>
        <p:nvSpPr>
          <p:cNvPr id="5" name="Slide Number Placeholder 4"/>
          <p:cNvSpPr>
            <a:spLocks noGrp="1"/>
          </p:cNvSpPr>
          <p:nvPr>
            <p:ph type="sldNum" sz="quarter" idx="12"/>
          </p:nvPr>
        </p:nvSpPr>
        <p:spPr/>
        <p:txBody>
          <a:bodyPr/>
          <a:lstStyle/>
          <a:p>
            <a:fld id="{19406544-F798-4DC7-9CED-E61544B8491A}" type="slidenum">
              <a:rPr lang="en-US" smtClean="0"/>
              <a:pPr/>
              <a:t>4</a:t>
            </a:fld>
            <a:endParaRPr lang="en-US"/>
          </a:p>
        </p:txBody>
      </p:sp>
      <p:pic>
        <p:nvPicPr>
          <p:cNvPr id="6" name="Picture 5"/>
          <p:cNvPicPr>
            <a:picLocks noChangeAspect="1"/>
          </p:cNvPicPr>
          <p:nvPr/>
        </p:nvPicPr>
        <p:blipFill>
          <a:blip r:embed="rId2"/>
          <a:stretch>
            <a:fillRect/>
          </a:stretch>
        </p:blipFill>
        <p:spPr>
          <a:xfrm>
            <a:off x="228600" y="1370679"/>
            <a:ext cx="8799755" cy="5350796"/>
          </a:xfrm>
          <a:prstGeom prst="rect">
            <a:avLst/>
          </a:prstGeom>
        </p:spPr>
      </p:pic>
    </p:spTree>
    <p:extLst>
      <p:ext uri="{BB962C8B-B14F-4D97-AF65-F5344CB8AC3E}">
        <p14:creationId xmlns:p14="http://schemas.microsoft.com/office/powerpoint/2010/main" val="2500049373"/>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p:cNvPicPr>
            <a:picLocks noChangeAspect="1"/>
          </p:cNvPicPr>
          <p:nvPr/>
        </p:nvPicPr>
        <p:blipFill>
          <a:blip r:embed="rId2"/>
          <a:stretch>
            <a:fillRect/>
          </a:stretch>
        </p:blipFill>
        <p:spPr>
          <a:xfrm>
            <a:off x="228600" y="-32327"/>
            <a:ext cx="8832595" cy="3429000"/>
          </a:xfrm>
          <a:prstGeom prst="rect">
            <a:avLst/>
          </a:prstGeom>
        </p:spPr>
      </p:pic>
      <p:sp>
        <p:nvSpPr>
          <p:cNvPr id="4" name="Footer Placeholder 3"/>
          <p:cNvSpPr>
            <a:spLocks noGrp="1"/>
          </p:cNvSpPr>
          <p:nvPr>
            <p:ph type="ftr" sz="quarter" idx="11"/>
          </p:nvPr>
        </p:nvSpPr>
        <p:spPr/>
        <p:txBody>
          <a:bodyPr/>
          <a:lstStyle/>
          <a:p>
            <a:r>
              <a:rPr lang="en-US" smtClean="0"/>
              <a:t>BSc/AF/ Trinco/2022 July</a:t>
            </a:r>
            <a:endParaRPr lang="en-US"/>
          </a:p>
        </p:txBody>
      </p:sp>
      <p:sp>
        <p:nvSpPr>
          <p:cNvPr id="5" name="Slide Number Placeholder 4"/>
          <p:cNvSpPr>
            <a:spLocks noGrp="1"/>
          </p:cNvSpPr>
          <p:nvPr>
            <p:ph type="sldNum" sz="quarter" idx="12"/>
          </p:nvPr>
        </p:nvSpPr>
        <p:spPr/>
        <p:txBody>
          <a:bodyPr/>
          <a:lstStyle/>
          <a:p>
            <a:fld id="{19406544-F798-4DC7-9CED-E61544B8491A}" type="slidenum">
              <a:rPr lang="en-US" smtClean="0"/>
              <a:pPr/>
              <a:t>5</a:t>
            </a:fld>
            <a:endParaRPr lang="en-US"/>
          </a:p>
        </p:txBody>
      </p:sp>
      <p:pic>
        <p:nvPicPr>
          <p:cNvPr id="7" name="Picture 6"/>
          <p:cNvPicPr>
            <a:picLocks noChangeAspect="1"/>
          </p:cNvPicPr>
          <p:nvPr/>
        </p:nvPicPr>
        <p:blipFill>
          <a:blip r:embed="rId3"/>
          <a:stretch>
            <a:fillRect/>
          </a:stretch>
        </p:blipFill>
        <p:spPr>
          <a:xfrm>
            <a:off x="304801" y="3417454"/>
            <a:ext cx="8534400" cy="1855760"/>
          </a:xfrm>
          <a:prstGeom prst="rect">
            <a:avLst/>
          </a:prstGeom>
        </p:spPr>
      </p:pic>
    </p:spTree>
    <p:extLst>
      <p:ext uri="{BB962C8B-B14F-4D97-AF65-F5344CB8AC3E}">
        <p14:creationId xmlns:p14="http://schemas.microsoft.com/office/powerpoint/2010/main" val="2574507776"/>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Rectangle 2"/>
          <p:cNvSpPr>
            <a:spLocks noGrp="1" noChangeArrowheads="1"/>
          </p:cNvSpPr>
          <p:nvPr>
            <p:ph type="title"/>
          </p:nvPr>
        </p:nvSpPr>
        <p:spPr bwMode="auto">
          <a:xfrm>
            <a:off x="0" y="0"/>
            <a:ext cx="9144000" cy="685800"/>
          </a:xfr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normAutofit fontScale="90000"/>
          </a:bodyPr>
          <a:lstStyle/>
          <a:p>
            <a:pPr marR="45720" lvl="0" algn="ctr">
              <a:spcBef>
                <a:spcPct val="20000"/>
              </a:spcBef>
            </a:pPr>
            <a:r>
              <a:rPr lang="en-US" dirty="0"/>
              <a:t/>
            </a:r>
            <a:br>
              <a:rPr lang="en-US" dirty="0"/>
            </a:br>
            <a:r>
              <a:rPr lang="en-US" dirty="0"/>
              <a:t/>
            </a:r>
            <a:br>
              <a:rPr lang="en-US" dirty="0"/>
            </a:br>
            <a:r>
              <a:rPr lang="en-US" sz="6700" dirty="0">
                <a:latin typeface="Andalus" pitchFamily="18" charset="-78"/>
                <a:cs typeface="Andalus" pitchFamily="18" charset="-78"/>
              </a:rPr>
              <a:t/>
            </a:r>
            <a:br>
              <a:rPr lang="en-US" sz="6700" dirty="0">
                <a:latin typeface="Andalus" pitchFamily="18" charset="-78"/>
                <a:cs typeface="Andalus" pitchFamily="18" charset="-78"/>
              </a:rPr>
            </a:br>
            <a:r>
              <a:rPr lang="en-US" sz="6700" dirty="0">
                <a:latin typeface="Andalus" pitchFamily="18" charset="-78"/>
                <a:cs typeface="Andalus" pitchFamily="18" charset="-78"/>
              </a:rPr>
              <a:t>Theories of Trade and Economic Development</a:t>
            </a:r>
            <a:r>
              <a:rPr lang="en-US" sz="3200" dirty="0"/>
              <a:t/>
            </a:r>
            <a:br>
              <a:rPr lang="en-US" sz="3200" dirty="0"/>
            </a:br>
            <a:r>
              <a:rPr lang="en-US" sz="3200" dirty="0"/>
              <a:t/>
            </a:r>
            <a:br>
              <a:rPr lang="en-US" sz="3200" dirty="0"/>
            </a:br>
            <a:r>
              <a:rPr lang="en-US" sz="3200" b="1" dirty="0">
                <a:solidFill>
                  <a:prstClr val="black"/>
                </a:solidFill>
                <a:latin typeface="Constantia"/>
                <a:ea typeface="+mn-ea"/>
                <a:cs typeface="+mn-cs"/>
              </a:rPr>
              <a:t/>
            </a:r>
            <a:br>
              <a:rPr lang="en-US" sz="3200" b="1" dirty="0">
                <a:solidFill>
                  <a:prstClr val="black"/>
                </a:solidFill>
                <a:latin typeface="Constantia"/>
                <a:ea typeface="+mn-ea"/>
                <a:cs typeface="+mn-cs"/>
              </a:rPr>
            </a:br>
            <a:endParaRPr lang="en-US" sz="3200" dirty="0"/>
          </a:p>
        </p:txBody>
      </p:sp>
    </p:spTree>
    <p:extLst>
      <p:ext uri="{BB962C8B-B14F-4D97-AF65-F5344CB8AC3E}">
        <p14:creationId xmlns:p14="http://schemas.microsoft.com/office/powerpoint/2010/main" val="270320869"/>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5" name="Slide Number Placeholder 4"/>
          <p:cNvSpPr>
            <a:spLocks noGrp="1"/>
          </p:cNvSpPr>
          <p:nvPr>
            <p:ph type="sldNum" sz="quarter" idx="10"/>
          </p:nvPr>
        </p:nvSpPr>
        <p:spPr/>
        <p:txBody>
          <a:bodyPr/>
          <a:lstStyle/>
          <a:p>
            <a:r>
              <a:rPr lang="en-US"/>
              <a:t>4-</a:t>
            </a:r>
            <a:fld id="{5F0C813F-0417-4A5F-85CC-1973AD4089E0}" type="slidenum">
              <a:rPr lang="en-US"/>
              <a:pPr/>
              <a:t>7</a:t>
            </a:fld>
            <a:endParaRPr lang="en-US"/>
          </a:p>
        </p:txBody>
      </p:sp>
      <p:sp>
        <p:nvSpPr>
          <p:cNvPr id="629762" name="Rectangle 2"/>
          <p:cNvSpPr>
            <a:spLocks noGrp="1" noChangeArrowheads="1"/>
          </p:cNvSpPr>
          <p:nvPr>
            <p:ph type="title"/>
          </p:nvPr>
        </p:nvSpPr>
        <p:spPr bwMode="auto">
          <a:xfrm>
            <a:off x="533400" y="838200"/>
            <a:ext cx="8229600" cy="762000"/>
          </a:xfrm>
          <a:solidFill>
            <a:srgbClr val="FFFFFF"/>
          </a:solidFill>
          <a:ln>
            <a:miter lim="800000"/>
            <a:headEnd/>
            <a:tailEnd/>
          </a:ln>
        </p:spPr>
        <p:txBody>
          <a:bodyPr vert="horz" wrap="square" lIns="91440" tIns="45720" rIns="91440" bIns="45720" numCol="1" anchor="t" anchorCtr="0" compatLnSpc="1">
            <a:prstTxWarp prst="textNoShape">
              <a:avLst/>
            </a:prstTxWarp>
            <a:normAutofit/>
          </a:bodyPr>
          <a:lstStyle/>
          <a:p>
            <a:pPr algn="ctr"/>
            <a:r>
              <a:rPr lang="en-US" b="1" dirty="0"/>
              <a:t>Evolution of Trade Theories</a:t>
            </a:r>
          </a:p>
        </p:txBody>
      </p:sp>
      <p:sp>
        <p:nvSpPr>
          <p:cNvPr id="629763" name="Rectangle 3"/>
          <p:cNvSpPr>
            <a:spLocks noGrp="1" noChangeArrowheads="1"/>
          </p:cNvSpPr>
          <p:nvPr>
            <p:ph type="body" sz="half" idx="1"/>
          </p:nvPr>
        </p:nvSpPr>
        <p:spPr bwMode="auto">
          <a:xfrm>
            <a:off x="162339" y="2113722"/>
            <a:ext cx="6019800" cy="4495800"/>
          </a:xfrm>
          <a:solidFill>
            <a:srgbClr val="FFFFFF"/>
          </a:solidFill>
          <a:ln>
            <a:miter lim="800000"/>
            <a:headEnd/>
            <a:tailEnd/>
          </a:ln>
        </p:spPr>
        <p:txBody>
          <a:bodyPr vert="horz" wrap="square" lIns="91440" tIns="45720" rIns="91440" bIns="45720" numCol="1" anchor="t" anchorCtr="0" compatLnSpc="1">
            <a:prstTxWarp prst="textNoShape">
              <a:avLst/>
            </a:prstTxWarp>
            <a:normAutofit lnSpcReduction="10000"/>
          </a:bodyPr>
          <a:lstStyle/>
          <a:p>
            <a:pPr>
              <a:lnSpc>
                <a:spcPct val="90000"/>
              </a:lnSpc>
            </a:pPr>
            <a:r>
              <a:rPr lang="en-US" sz="3600" dirty="0">
                <a:latin typeface="Calibri" pitchFamily="34" charset="0"/>
                <a:cs typeface="Calibri" pitchFamily="34" charset="0"/>
              </a:rPr>
              <a:t>Mercantilism</a:t>
            </a:r>
            <a:endParaRPr lang="en-US" sz="3600" dirty="0"/>
          </a:p>
          <a:p>
            <a:pPr>
              <a:lnSpc>
                <a:spcPct val="90000"/>
              </a:lnSpc>
            </a:pPr>
            <a:r>
              <a:rPr lang="en-US" sz="3600" dirty="0"/>
              <a:t>Absolute Advantage (Classical)</a:t>
            </a:r>
          </a:p>
          <a:p>
            <a:pPr>
              <a:lnSpc>
                <a:spcPct val="90000"/>
              </a:lnSpc>
            </a:pPr>
            <a:r>
              <a:rPr lang="en-US" sz="3600" dirty="0"/>
              <a:t>Comparative Advantage</a:t>
            </a:r>
          </a:p>
          <a:p>
            <a:pPr>
              <a:lnSpc>
                <a:spcPct val="90000"/>
              </a:lnSpc>
            </a:pPr>
            <a:r>
              <a:rPr lang="en-US" sz="3600" dirty="0"/>
              <a:t>Factor Endowment Theory</a:t>
            </a:r>
          </a:p>
          <a:p>
            <a:pPr>
              <a:lnSpc>
                <a:spcPct val="90000"/>
              </a:lnSpc>
            </a:pPr>
            <a:r>
              <a:rPr lang="en-US" sz="3600" dirty="0"/>
              <a:t>International Product Cycle</a:t>
            </a:r>
          </a:p>
          <a:p>
            <a:pPr>
              <a:lnSpc>
                <a:spcPct val="90000"/>
              </a:lnSpc>
            </a:pPr>
            <a:r>
              <a:rPr lang="en-US" sz="3600" dirty="0"/>
              <a:t>National Competitive Advantage</a:t>
            </a:r>
          </a:p>
        </p:txBody>
      </p:sp>
      <p:pic>
        <p:nvPicPr>
          <p:cNvPr id="629764" name="Picture 4" descr="bd05296_"/>
          <p:cNvPicPr>
            <a:picLocks noGrp="1" noChangeAspect="1" noChangeArrowheads="1"/>
          </p:cNvPicPr>
          <p:nvPr>
            <p:ph sz="half" idx="2"/>
          </p:nvPr>
        </p:nvPicPr>
        <p:blipFill>
          <a:blip r:embed="rId2"/>
          <a:srcRect/>
          <a:stretch>
            <a:fillRect/>
          </a:stretch>
        </p:blipFill>
        <p:spPr bwMode="auto">
          <a:xfrm>
            <a:off x="6274904" y="2286000"/>
            <a:ext cx="2590800" cy="3821430"/>
          </a:xfrm>
          <a:noFill/>
        </p:spPr>
      </p:pic>
    </p:spTree>
    <p:extLst>
      <p:ext uri="{BB962C8B-B14F-4D97-AF65-F5344CB8AC3E}">
        <p14:creationId xmlns:p14="http://schemas.microsoft.com/office/powerpoint/2010/main" val="78375380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629763">
                                            <p:txEl>
                                              <p:pRg st="0" end="0"/>
                                            </p:txEl>
                                          </p:spTgt>
                                        </p:tgtEl>
                                        <p:attrNameLst>
                                          <p:attrName>style.visibility</p:attrName>
                                        </p:attrNameLst>
                                      </p:cBhvr>
                                      <p:to>
                                        <p:strVal val="visible"/>
                                      </p:to>
                                    </p:set>
                                    <p:animEffect transition="in" filter="blinds(horizontal)">
                                      <p:cBhvr>
                                        <p:cTn id="7" dur="500"/>
                                        <p:tgtEl>
                                          <p:spTgt spid="62976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629763">
                                            <p:txEl>
                                              <p:pRg st="1" end="1"/>
                                            </p:txEl>
                                          </p:spTgt>
                                        </p:tgtEl>
                                        <p:attrNameLst>
                                          <p:attrName>style.visibility</p:attrName>
                                        </p:attrNameLst>
                                      </p:cBhvr>
                                      <p:to>
                                        <p:strVal val="visible"/>
                                      </p:to>
                                    </p:set>
                                    <p:animEffect transition="in" filter="blinds(horizontal)">
                                      <p:cBhvr>
                                        <p:cTn id="12" dur="500"/>
                                        <p:tgtEl>
                                          <p:spTgt spid="62976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629763">
                                            <p:txEl>
                                              <p:pRg st="2" end="2"/>
                                            </p:txEl>
                                          </p:spTgt>
                                        </p:tgtEl>
                                        <p:attrNameLst>
                                          <p:attrName>style.visibility</p:attrName>
                                        </p:attrNameLst>
                                      </p:cBhvr>
                                      <p:to>
                                        <p:strVal val="visible"/>
                                      </p:to>
                                    </p:set>
                                    <p:animEffect transition="in" filter="blinds(horizontal)">
                                      <p:cBhvr>
                                        <p:cTn id="17" dur="500"/>
                                        <p:tgtEl>
                                          <p:spTgt spid="62976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629763">
                                            <p:txEl>
                                              <p:pRg st="3" end="3"/>
                                            </p:txEl>
                                          </p:spTgt>
                                        </p:tgtEl>
                                        <p:attrNameLst>
                                          <p:attrName>style.visibility</p:attrName>
                                        </p:attrNameLst>
                                      </p:cBhvr>
                                      <p:to>
                                        <p:strVal val="visible"/>
                                      </p:to>
                                    </p:set>
                                    <p:animEffect transition="in" filter="blinds(horizontal)">
                                      <p:cBhvr>
                                        <p:cTn id="22" dur="500"/>
                                        <p:tgtEl>
                                          <p:spTgt spid="62976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629763">
                                            <p:txEl>
                                              <p:pRg st="4" end="4"/>
                                            </p:txEl>
                                          </p:spTgt>
                                        </p:tgtEl>
                                        <p:attrNameLst>
                                          <p:attrName>style.visibility</p:attrName>
                                        </p:attrNameLst>
                                      </p:cBhvr>
                                      <p:to>
                                        <p:strVal val="visible"/>
                                      </p:to>
                                    </p:set>
                                    <p:animEffect transition="in" filter="blinds(horizontal)">
                                      <p:cBhvr>
                                        <p:cTn id="27" dur="500"/>
                                        <p:tgtEl>
                                          <p:spTgt spid="629763">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grpId="0" nodeType="clickEffect">
                                  <p:stCondLst>
                                    <p:cond delay="0"/>
                                  </p:stCondLst>
                                  <p:childTnLst>
                                    <p:set>
                                      <p:cBhvr>
                                        <p:cTn id="31" dur="1" fill="hold">
                                          <p:stCondLst>
                                            <p:cond delay="0"/>
                                          </p:stCondLst>
                                        </p:cTn>
                                        <p:tgtEl>
                                          <p:spTgt spid="629763">
                                            <p:txEl>
                                              <p:pRg st="5" end="5"/>
                                            </p:txEl>
                                          </p:spTgt>
                                        </p:tgtEl>
                                        <p:attrNameLst>
                                          <p:attrName>style.visibility</p:attrName>
                                        </p:attrNameLst>
                                      </p:cBhvr>
                                      <p:to>
                                        <p:strVal val="visible"/>
                                      </p:to>
                                    </p:set>
                                    <p:animEffect transition="in" filter="blinds(horizontal)">
                                      <p:cBhvr>
                                        <p:cTn id="32" dur="500"/>
                                        <p:tgtEl>
                                          <p:spTgt spid="629763">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29763" grpId="0" build="p" autoUpdateAnimBg="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5"/>
          <p:cNvSpPr>
            <a:spLocks noGrp="1" noChangeArrowheads="1"/>
          </p:cNvSpPr>
          <p:nvPr>
            <p:ph idx="1"/>
          </p:nvPr>
        </p:nvSpPr>
        <p:spPr>
          <a:xfrm>
            <a:off x="266700" y="1600200"/>
            <a:ext cx="8305800" cy="4876800"/>
          </a:xfrm>
        </p:spPr>
        <p:txBody>
          <a:bodyPr/>
          <a:lstStyle/>
          <a:p>
            <a:pPr marL="0" indent="0" algn="just"/>
            <a:r>
              <a:rPr lang="en-US" sz="2500" b="1" u="sng" dirty="0">
                <a:solidFill>
                  <a:srgbClr val="CC6600"/>
                </a:solidFill>
                <a:latin typeface="Calibri" pitchFamily="34" charset="0"/>
                <a:cs typeface="Calibri" pitchFamily="34" charset="0"/>
              </a:rPr>
              <a:t>Mercantilism</a:t>
            </a:r>
            <a:r>
              <a:rPr lang="en-US" sz="2500" b="1" u="sng" dirty="0">
                <a:latin typeface="Calibri" pitchFamily="34" charset="0"/>
                <a:cs typeface="Calibri" pitchFamily="34" charset="0"/>
              </a:rPr>
              <a:t> </a:t>
            </a:r>
            <a:r>
              <a:rPr lang="en-US" sz="2500" dirty="0">
                <a:latin typeface="Calibri" pitchFamily="34" charset="0"/>
                <a:cs typeface="Calibri" pitchFamily="34" charset="0"/>
              </a:rPr>
              <a:t>suggests that it is in a country’s best interest to maintain a trade surplus -- </a:t>
            </a:r>
            <a:r>
              <a:rPr lang="en-US" sz="2500" b="1" i="1" dirty="0">
                <a:solidFill>
                  <a:schemeClr val="accent2">
                    <a:lumMod val="75000"/>
                  </a:schemeClr>
                </a:solidFill>
                <a:latin typeface="Calibri" pitchFamily="34" charset="0"/>
                <a:cs typeface="Calibri" pitchFamily="34" charset="0"/>
              </a:rPr>
              <a:t>to export more than it imports</a:t>
            </a:r>
          </a:p>
          <a:p>
            <a:pPr marL="0" indent="0" algn="just">
              <a:buNone/>
            </a:pPr>
            <a:endParaRPr lang="en-US" sz="2500" b="1" i="1" dirty="0">
              <a:solidFill>
                <a:schemeClr val="accent2">
                  <a:lumMod val="75000"/>
                </a:schemeClr>
              </a:solidFill>
              <a:latin typeface="Calibri" pitchFamily="34" charset="0"/>
              <a:cs typeface="Calibri" pitchFamily="34" charset="0"/>
            </a:endParaRPr>
          </a:p>
          <a:p>
            <a:pPr marL="0" indent="0" algn="just"/>
            <a:r>
              <a:rPr lang="en-US" sz="2500" dirty="0">
                <a:latin typeface="Calibri" pitchFamily="34" charset="0"/>
                <a:cs typeface="Calibri" pitchFamily="34" charset="0"/>
              </a:rPr>
              <a:t>Countries conducted trade in exchange of gold and silver in the mid 16</a:t>
            </a:r>
            <a:r>
              <a:rPr lang="en-US" sz="2500" baseline="30000" dirty="0">
                <a:latin typeface="Calibri" pitchFamily="34" charset="0"/>
                <a:cs typeface="Calibri" pitchFamily="34" charset="0"/>
              </a:rPr>
              <a:t>th</a:t>
            </a:r>
            <a:r>
              <a:rPr lang="en-US" sz="2500" dirty="0">
                <a:latin typeface="Calibri" pitchFamily="34" charset="0"/>
                <a:cs typeface="Calibri" pitchFamily="34" charset="0"/>
              </a:rPr>
              <a:t> century in England. </a:t>
            </a:r>
          </a:p>
          <a:p>
            <a:pPr marL="0" indent="0" algn="just">
              <a:buNone/>
            </a:pPr>
            <a:endParaRPr lang="en-US" sz="2500" dirty="0">
              <a:latin typeface="Calibri" pitchFamily="34" charset="0"/>
              <a:cs typeface="Calibri" pitchFamily="34" charset="0"/>
            </a:endParaRPr>
          </a:p>
          <a:p>
            <a:pPr marL="0" indent="0" algn="just"/>
            <a:r>
              <a:rPr lang="en-US" sz="2500" dirty="0">
                <a:latin typeface="Calibri" pitchFamily="34" charset="0"/>
                <a:cs typeface="Calibri" pitchFamily="34" charset="0"/>
              </a:rPr>
              <a:t>A country could earn gold and silver by exporting, thereby increasing their gold and silver reserve-an increase in national wealth, prestige and power. </a:t>
            </a:r>
          </a:p>
          <a:p>
            <a:pPr marL="0" indent="0" algn="just"/>
            <a:endParaRPr lang="en-US" sz="2500" dirty="0">
              <a:latin typeface="Calibri" pitchFamily="34" charset="0"/>
              <a:cs typeface="Calibri" pitchFamily="34" charset="0"/>
            </a:endParaRPr>
          </a:p>
          <a:p>
            <a:pPr marL="0" indent="0" algn="just"/>
            <a:r>
              <a:rPr lang="en-US" sz="2500" dirty="0">
                <a:latin typeface="Calibri" pitchFamily="34" charset="0"/>
                <a:cs typeface="Calibri" pitchFamily="34" charset="0"/>
              </a:rPr>
              <a:t>The contrary takes place when a country imports.</a:t>
            </a:r>
          </a:p>
          <a:p>
            <a:pPr marL="0" indent="0">
              <a:buNone/>
            </a:pPr>
            <a:endParaRPr lang="en-US" dirty="0"/>
          </a:p>
          <a:p>
            <a:pPr marL="0" indent="0"/>
            <a:endParaRPr lang="en-US" dirty="0"/>
          </a:p>
        </p:txBody>
      </p:sp>
      <p:sp>
        <p:nvSpPr>
          <p:cNvPr id="491524" name="Rectangle 4"/>
          <p:cNvSpPr>
            <a:spLocks noGrp="1" noChangeArrowheads="1"/>
          </p:cNvSpPr>
          <p:nvPr>
            <p:ph type="title"/>
          </p:nvPr>
        </p:nvSpPr>
        <p:spPr>
          <a:xfrm>
            <a:off x="381000" y="228600"/>
            <a:ext cx="8077200" cy="1066800"/>
          </a:xfrm>
        </p:spPr>
        <p:txBody>
          <a:bodyPr>
            <a:normAutofit/>
          </a:bodyPr>
          <a:lstStyle/>
          <a:p>
            <a:pPr fontAlgn="auto">
              <a:spcAft>
                <a:spcPts val="0"/>
              </a:spcAft>
              <a:defRPr/>
            </a:pPr>
            <a:r>
              <a:rPr lang="en-US" sz="4400" dirty="0"/>
              <a:t>Mercantilism</a:t>
            </a:r>
          </a:p>
        </p:txBody>
      </p:sp>
    </p:spTree>
    <p:extLst>
      <p:ext uri="{BB962C8B-B14F-4D97-AF65-F5344CB8AC3E}">
        <p14:creationId xmlns:p14="http://schemas.microsoft.com/office/powerpoint/2010/main" val="3571209076"/>
      </p:ext>
    </p:extLst>
  </p:cSld>
  <p:clrMapOvr>
    <a:masterClrMapping/>
  </p:clrMapOvr>
  <p:transition/>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7297" y="304800"/>
            <a:ext cx="8991600" cy="6553199"/>
          </a:xfrm>
          <a:prstGeom prst="rect">
            <a:avLst/>
          </a:prstGeom>
          <a:ln>
            <a:noFill/>
          </a:ln>
          <a:effectLst>
            <a:softEdge rad="112500"/>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849736403"/>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533400" y="1295400"/>
            <a:ext cx="8229600" cy="4767262"/>
          </a:xfrm>
        </p:spPr>
        <p:txBody>
          <a:bodyPr>
            <a:normAutofit/>
          </a:bodyPr>
          <a:lstStyle/>
          <a:p>
            <a:pPr marL="0" indent="0" algn="just"/>
            <a:r>
              <a:rPr lang="en-US" sz="2500" b="1" dirty="0">
                <a:solidFill>
                  <a:srgbClr val="C00000"/>
                </a:solidFill>
                <a:latin typeface="Calibri" pitchFamily="34" charset="0"/>
                <a:cs typeface="Calibri" pitchFamily="34" charset="0"/>
              </a:rPr>
              <a:t>So, this theory advocated government intervention to achieve a surplus in the balance of trade. </a:t>
            </a:r>
          </a:p>
          <a:p>
            <a:pPr marL="0" indent="0" algn="just">
              <a:buNone/>
            </a:pPr>
            <a:endParaRPr lang="en-US" sz="2500" dirty="0">
              <a:latin typeface="Calibri" pitchFamily="34" charset="0"/>
              <a:cs typeface="Calibri" pitchFamily="34" charset="0"/>
            </a:endParaRPr>
          </a:p>
          <a:p>
            <a:pPr marL="0" indent="0" algn="just"/>
            <a:r>
              <a:rPr lang="en-US" sz="2500" dirty="0">
                <a:latin typeface="Calibri" pitchFamily="34" charset="0"/>
                <a:cs typeface="Calibri" pitchFamily="34" charset="0"/>
              </a:rPr>
              <a:t>The policy was to </a:t>
            </a:r>
            <a:r>
              <a:rPr lang="en-US" sz="2500" b="1" dirty="0">
                <a:solidFill>
                  <a:srgbClr val="C00000"/>
                </a:solidFill>
                <a:latin typeface="Calibri" pitchFamily="34" charset="0"/>
                <a:cs typeface="Calibri" pitchFamily="34" charset="0"/>
              </a:rPr>
              <a:t>maximize exports and minimize imports</a:t>
            </a:r>
            <a:r>
              <a:rPr lang="en-US" sz="2500" dirty="0">
                <a:latin typeface="Calibri" pitchFamily="34" charset="0"/>
                <a:cs typeface="Calibri" pitchFamily="34" charset="0"/>
              </a:rPr>
              <a:t>-imports were limited by tariffs &amp; quotas, while exports were subsidized.</a:t>
            </a:r>
          </a:p>
          <a:p>
            <a:pPr marL="0" indent="0" algn="just">
              <a:buNone/>
            </a:pPr>
            <a:endParaRPr lang="en-US" sz="2500" dirty="0">
              <a:latin typeface="Calibri" pitchFamily="34" charset="0"/>
              <a:cs typeface="Calibri" pitchFamily="34" charset="0"/>
            </a:endParaRPr>
          </a:p>
          <a:p>
            <a:pPr marL="0" indent="0" algn="just"/>
            <a:r>
              <a:rPr lang="en-US" sz="2500" dirty="0">
                <a:latin typeface="Calibri" pitchFamily="34" charset="0"/>
                <a:cs typeface="Calibri" pitchFamily="34" charset="0"/>
              </a:rPr>
              <a:t>This theory is however </a:t>
            </a:r>
            <a:r>
              <a:rPr lang="en-US" sz="2500" b="1" dirty="0">
                <a:solidFill>
                  <a:schemeClr val="accent2">
                    <a:lumMod val="75000"/>
                  </a:schemeClr>
                </a:solidFill>
                <a:latin typeface="Calibri" pitchFamily="34" charset="0"/>
                <a:cs typeface="Calibri" pitchFamily="34" charset="0"/>
              </a:rPr>
              <a:t>criticized</a:t>
            </a:r>
            <a:r>
              <a:rPr lang="en-US" sz="2500" dirty="0">
                <a:latin typeface="Calibri" pitchFamily="34" charset="0"/>
                <a:cs typeface="Calibri" pitchFamily="34" charset="0"/>
              </a:rPr>
              <a:t> because </a:t>
            </a:r>
            <a:r>
              <a:rPr lang="en-GB" sz="2500" dirty="0">
                <a:latin typeface="Calibri" pitchFamily="34" charset="0"/>
                <a:cs typeface="Calibri" pitchFamily="34" charset="0"/>
              </a:rPr>
              <a:t>trade surplus increase money supply in a country. An increase in money supply raises the demand and consequently the price of goods. The result of this is inflation. </a:t>
            </a:r>
            <a:endParaRPr lang="en-US" sz="2500" dirty="0">
              <a:latin typeface="Calibri" pitchFamily="34" charset="0"/>
              <a:cs typeface="Calibri" pitchFamily="34" charset="0"/>
            </a:endParaRPr>
          </a:p>
        </p:txBody>
      </p:sp>
      <p:sp>
        <p:nvSpPr>
          <p:cNvPr id="3" name="Title 2"/>
          <p:cNvSpPr>
            <a:spLocks noGrp="1"/>
          </p:cNvSpPr>
          <p:nvPr>
            <p:ph type="title"/>
          </p:nvPr>
        </p:nvSpPr>
        <p:spPr>
          <a:xfrm>
            <a:off x="561109" y="142009"/>
            <a:ext cx="8229600" cy="1143000"/>
          </a:xfrm>
        </p:spPr>
        <p:txBody>
          <a:bodyPr/>
          <a:lstStyle/>
          <a:p>
            <a:r>
              <a:rPr lang="en-US" dirty="0"/>
              <a:t>Mercantilism</a:t>
            </a:r>
          </a:p>
        </p:txBody>
      </p:sp>
    </p:spTree>
    <p:extLst>
      <p:ext uri="{BB962C8B-B14F-4D97-AF65-F5344CB8AC3E}">
        <p14:creationId xmlns:p14="http://schemas.microsoft.com/office/powerpoint/2010/main" val="1005014818"/>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pPr marL="0" indent="0" algn="just"/>
            <a:r>
              <a:rPr lang="en-US" sz="2500" dirty="0">
                <a:latin typeface="Calibri" pitchFamily="34" charset="0"/>
                <a:cs typeface="Calibri" pitchFamily="34" charset="0"/>
              </a:rPr>
              <a:t>It views trade as a </a:t>
            </a:r>
            <a:r>
              <a:rPr lang="en-US" sz="2500" b="1" dirty="0">
                <a:solidFill>
                  <a:schemeClr val="accent2">
                    <a:lumMod val="75000"/>
                  </a:schemeClr>
                </a:solidFill>
                <a:latin typeface="Calibri" pitchFamily="34" charset="0"/>
                <a:cs typeface="Calibri" pitchFamily="34" charset="0"/>
              </a:rPr>
              <a:t>zero-sum game,</a:t>
            </a:r>
            <a:r>
              <a:rPr lang="en-US" sz="2500" dirty="0">
                <a:latin typeface="Calibri" pitchFamily="34" charset="0"/>
                <a:cs typeface="Calibri" pitchFamily="34" charset="0"/>
              </a:rPr>
              <a:t> one in which a gain by one country results in a loss by another, rather than a </a:t>
            </a:r>
            <a:r>
              <a:rPr lang="en-US" sz="2500" b="1" dirty="0">
                <a:solidFill>
                  <a:schemeClr val="accent2">
                    <a:lumMod val="75000"/>
                  </a:schemeClr>
                </a:solidFill>
                <a:latin typeface="Calibri" pitchFamily="34" charset="0"/>
                <a:cs typeface="Calibri" pitchFamily="34" charset="0"/>
              </a:rPr>
              <a:t>positive-sum game, </a:t>
            </a:r>
            <a:r>
              <a:rPr lang="en-US" sz="2500" dirty="0">
                <a:latin typeface="Calibri" pitchFamily="34" charset="0"/>
                <a:cs typeface="Calibri" pitchFamily="34" charset="0"/>
              </a:rPr>
              <a:t>a situation where all countries in trade can benefit.  </a:t>
            </a:r>
          </a:p>
          <a:p>
            <a:endParaRPr lang="en-US" dirty="0"/>
          </a:p>
          <a:p>
            <a:endParaRPr lang="en-US" dirty="0"/>
          </a:p>
        </p:txBody>
      </p:sp>
      <p:sp>
        <p:nvSpPr>
          <p:cNvPr id="3" name="Title 2"/>
          <p:cNvSpPr>
            <a:spLocks noGrp="1"/>
          </p:cNvSpPr>
          <p:nvPr>
            <p:ph type="title"/>
          </p:nvPr>
        </p:nvSpPr>
        <p:spPr/>
        <p:txBody>
          <a:bodyPr/>
          <a:lstStyle/>
          <a:p>
            <a:r>
              <a:rPr lang="en-US" dirty="0"/>
              <a:t>Mercantilism</a:t>
            </a:r>
          </a:p>
        </p:txBody>
      </p:sp>
      <p:pic>
        <p:nvPicPr>
          <p:cNvPr id="205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57755" y="3350172"/>
            <a:ext cx="7086601" cy="3200400"/>
          </a:xfrm>
          <a:prstGeom prst="rect">
            <a:avLst/>
          </a:prstGeom>
          <a:ln>
            <a:noFill/>
          </a:ln>
          <a:effectLst>
            <a:softEdge rad="112500"/>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785282801"/>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p:cNvSpPr>
            <a:spLocks noGrp="1"/>
          </p:cNvSpPr>
          <p:nvPr>
            <p:ph type="sldNum" sz="quarter" idx="10"/>
          </p:nvPr>
        </p:nvSpPr>
        <p:spPr/>
        <p:txBody>
          <a:bodyPr/>
          <a:lstStyle/>
          <a:p>
            <a:r>
              <a:rPr lang="en-US"/>
              <a:t>4-</a:t>
            </a:r>
            <a:fld id="{2D9F2367-0409-4E9A-AE14-2C5BD4C857F2}" type="slidenum">
              <a:rPr lang="en-US"/>
              <a:pPr/>
              <a:t>12</a:t>
            </a:fld>
            <a:endParaRPr lang="en-US"/>
          </a:p>
        </p:txBody>
      </p:sp>
      <p:sp>
        <p:nvSpPr>
          <p:cNvPr id="577538" name="Rectangle 2"/>
          <p:cNvSpPr>
            <a:spLocks noGrp="1" noChangeArrowheads="1"/>
          </p:cNvSpPr>
          <p:nvPr>
            <p:ph type="title"/>
          </p:nvPr>
        </p:nvSpPr>
        <p:spPr bwMode="auto">
          <a:xfrm>
            <a:off x="457200" y="427038"/>
            <a:ext cx="8229600" cy="792162"/>
          </a:xfrm>
          <a:noFill/>
          <a:ln>
            <a:miter lim="800000"/>
            <a:headEnd/>
            <a:tailEnd/>
          </a:ln>
        </p:spPr>
        <p:txBody>
          <a:bodyPr vert="horz" wrap="square" lIns="91440" tIns="45720" rIns="91440" bIns="45720" numCol="1" anchor="t" anchorCtr="0" compatLnSpc="1">
            <a:prstTxWarp prst="textNoShape">
              <a:avLst/>
            </a:prstTxWarp>
          </a:bodyPr>
          <a:lstStyle/>
          <a:p>
            <a:pPr algn="ctr"/>
            <a:r>
              <a:rPr lang="en-US" sz="4000" b="1" dirty="0"/>
              <a:t>Theory of Absolute Advantage</a:t>
            </a:r>
          </a:p>
        </p:txBody>
      </p:sp>
      <p:sp>
        <p:nvSpPr>
          <p:cNvPr id="577539" name="Rectangle 3"/>
          <p:cNvSpPr>
            <a:spLocks noGrp="1" noChangeArrowheads="1"/>
          </p:cNvSpPr>
          <p:nvPr>
            <p:ph type="body" sz="half" idx="1"/>
          </p:nvPr>
        </p:nvSpPr>
        <p:spPr bwMode="auto">
          <a:xfrm>
            <a:off x="381000" y="1676400"/>
            <a:ext cx="7848600" cy="4525963"/>
          </a:xfrm>
          <a:noFill/>
          <a:ln>
            <a:miter lim="800000"/>
            <a:headEnd/>
            <a:tailEnd/>
          </a:ln>
        </p:spPr>
        <p:txBody>
          <a:bodyPr vert="horz" wrap="square" lIns="91440" tIns="45720" rIns="91440" bIns="45720" numCol="1" anchor="t" anchorCtr="0" compatLnSpc="1">
            <a:prstTxWarp prst="textNoShape">
              <a:avLst/>
            </a:prstTxWarp>
            <a:normAutofit fontScale="92500" lnSpcReduction="10000"/>
          </a:bodyPr>
          <a:lstStyle/>
          <a:p>
            <a:pPr>
              <a:lnSpc>
                <a:spcPct val="90000"/>
              </a:lnSpc>
            </a:pPr>
            <a:r>
              <a:rPr lang="en-US" sz="2800" dirty="0"/>
              <a:t>Adam Smith: Wealth of Nations</a:t>
            </a:r>
            <a:r>
              <a:rPr lang="en-US" sz="2800" i="1" dirty="0"/>
              <a:t> (</a:t>
            </a:r>
            <a:r>
              <a:rPr lang="en-US" sz="2800" dirty="0"/>
              <a:t>1776) argued:</a:t>
            </a:r>
          </a:p>
          <a:p>
            <a:pPr marL="0" indent="0">
              <a:spcBef>
                <a:spcPts val="0"/>
              </a:spcBef>
              <a:buNone/>
              <a:defRPr/>
            </a:pPr>
            <a:endParaRPr lang="en-US" sz="1200" dirty="0"/>
          </a:p>
          <a:p>
            <a:pPr marL="0" indent="0" algn="just">
              <a:spcBef>
                <a:spcPts val="0"/>
              </a:spcBef>
              <a:buNone/>
              <a:defRPr/>
            </a:pPr>
            <a:r>
              <a:rPr lang="en-US" dirty="0"/>
              <a:t>A country that has an absolute advantage </a:t>
            </a:r>
            <a:r>
              <a:rPr lang="en-US" i="1" u="sng" dirty="0"/>
              <a:t>produces </a:t>
            </a:r>
            <a:r>
              <a:rPr lang="en-US" b="1" i="1" u="sng" dirty="0">
                <a:solidFill>
                  <a:srgbClr val="FF0000"/>
                </a:solidFill>
              </a:rPr>
              <a:t>greater output </a:t>
            </a:r>
            <a:r>
              <a:rPr lang="en-US" i="1" u="sng" dirty="0"/>
              <a:t>of a good or service than other countries using the same amount of resources. </a:t>
            </a:r>
          </a:p>
          <a:p>
            <a:pPr marL="0" indent="0" algn="just">
              <a:spcBef>
                <a:spcPts val="0"/>
              </a:spcBef>
              <a:buNone/>
              <a:defRPr/>
            </a:pPr>
            <a:endParaRPr lang="en-US" i="1" u="sng" dirty="0"/>
          </a:p>
          <a:p>
            <a:pPr marL="548640" lvl="2" indent="-274320">
              <a:spcBef>
                <a:spcPts val="0"/>
              </a:spcBef>
              <a:buClr>
                <a:schemeClr val="accent3"/>
              </a:buClr>
              <a:buSzPct val="95000"/>
              <a:defRPr/>
            </a:pPr>
            <a:r>
              <a:rPr lang="en-US" dirty="0"/>
              <a:t>refers to a country’s ability to produce a certain good </a:t>
            </a:r>
            <a:r>
              <a:rPr lang="en-US" b="1" dirty="0">
                <a:solidFill>
                  <a:srgbClr val="FF0000"/>
                </a:solidFill>
              </a:rPr>
              <a:t>more efficiently</a:t>
            </a:r>
            <a:r>
              <a:rPr lang="en-US" dirty="0"/>
              <a:t> than another country</a:t>
            </a:r>
          </a:p>
          <a:p>
            <a:pPr marL="548640" lvl="2" indent="-274320">
              <a:spcBef>
                <a:spcPts val="0"/>
              </a:spcBef>
              <a:buClr>
                <a:schemeClr val="accent3"/>
              </a:buClr>
              <a:buSzPct val="95000"/>
              <a:defRPr/>
            </a:pPr>
            <a:r>
              <a:rPr lang="en-US" dirty="0"/>
              <a:t>A country should produce only goods where it is </a:t>
            </a:r>
            <a:r>
              <a:rPr lang="en-US" b="1" u="sng" dirty="0">
                <a:solidFill>
                  <a:srgbClr val="FF0000"/>
                </a:solidFill>
              </a:rPr>
              <a:t>most</a:t>
            </a:r>
            <a:r>
              <a:rPr lang="en-US" b="1" dirty="0">
                <a:solidFill>
                  <a:srgbClr val="FF0000"/>
                </a:solidFill>
              </a:rPr>
              <a:t> efficient</a:t>
            </a:r>
            <a:r>
              <a:rPr lang="en-US" dirty="0"/>
              <a:t>,  and trade for those goods where it is not efficient</a:t>
            </a:r>
          </a:p>
          <a:p>
            <a:pPr>
              <a:lnSpc>
                <a:spcPct val="90000"/>
              </a:lnSpc>
            </a:pPr>
            <a:r>
              <a:rPr lang="en-US" sz="2800" dirty="0"/>
              <a:t>Trade between countries is, therefore, beneficial </a:t>
            </a:r>
          </a:p>
          <a:p>
            <a:pPr>
              <a:lnSpc>
                <a:spcPct val="90000"/>
              </a:lnSpc>
              <a:buNone/>
            </a:pPr>
            <a:endParaRPr lang="en-US" sz="2400" dirty="0"/>
          </a:p>
        </p:txBody>
      </p:sp>
      <p:pic>
        <p:nvPicPr>
          <p:cNvPr id="577541" name="Picture 5" descr="Chocolate comes from cocoa beans"/>
          <p:cNvPicPr>
            <a:picLocks noGrp="1" noChangeAspect="1" noChangeArrowheads="1"/>
          </p:cNvPicPr>
          <p:nvPr>
            <p:ph sz="half" idx="2"/>
          </p:nvPr>
        </p:nvPicPr>
        <p:blipFill>
          <a:blip r:embed="rId2"/>
          <a:srcRect l="53520" t="5000"/>
          <a:stretch>
            <a:fillRect/>
          </a:stretch>
        </p:blipFill>
        <p:spPr bwMode="auto">
          <a:xfrm>
            <a:off x="6629400" y="5715000"/>
            <a:ext cx="1447800" cy="917575"/>
          </a:xfrm>
          <a:noFill/>
          <a:ln>
            <a:miter lim="800000"/>
            <a:headEnd/>
            <a:tailEnd/>
          </a:ln>
        </p:spPr>
      </p:pic>
    </p:spTree>
    <p:extLst>
      <p:ext uri="{BB962C8B-B14F-4D97-AF65-F5344CB8AC3E}">
        <p14:creationId xmlns:p14="http://schemas.microsoft.com/office/powerpoint/2010/main" val="162339702"/>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457200" y="1219200"/>
            <a:ext cx="8229600" cy="4953000"/>
          </a:xfrm>
        </p:spPr>
        <p:txBody>
          <a:bodyPr>
            <a:normAutofit/>
          </a:bodyPr>
          <a:lstStyle/>
          <a:p>
            <a:pPr algn="just"/>
            <a:r>
              <a:rPr lang="en-US" sz="2400" dirty="0">
                <a:latin typeface="Calibri" pitchFamily="34" charset="0"/>
                <a:cs typeface="Calibri" pitchFamily="34" charset="0"/>
              </a:rPr>
              <a:t>Total resources available to each country is </a:t>
            </a:r>
            <a:r>
              <a:rPr lang="en-US" sz="2400" b="1" u="sng" dirty="0">
                <a:latin typeface="Calibri" pitchFamily="34" charset="0"/>
                <a:cs typeface="Calibri" pitchFamily="34" charset="0"/>
              </a:rPr>
              <a:t>200 units.</a:t>
            </a:r>
          </a:p>
          <a:p>
            <a:pPr algn="just"/>
            <a:r>
              <a:rPr lang="en-US" sz="2400" dirty="0">
                <a:latin typeface="Calibri" pitchFamily="34" charset="0"/>
                <a:cs typeface="Calibri" pitchFamily="34" charset="0"/>
              </a:rPr>
              <a:t>Resources required to produce </a:t>
            </a:r>
            <a:r>
              <a:rPr lang="en-US" sz="2400" b="1" u="sng" dirty="0">
                <a:latin typeface="Calibri" pitchFamily="34" charset="0"/>
                <a:cs typeface="Calibri" pitchFamily="34" charset="0"/>
              </a:rPr>
              <a:t>1 ton </a:t>
            </a:r>
            <a:r>
              <a:rPr lang="en-US" sz="2400" dirty="0">
                <a:latin typeface="Calibri" pitchFamily="34" charset="0"/>
                <a:cs typeface="Calibri" pitchFamily="34" charset="0"/>
              </a:rPr>
              <a:t>of each product are as follows:</a:t>
            </a:r>
          </a:p>
          <a:p>
            <a:pPr algn="just"/>
            <a:endParaRPr lang="en-US" sz="2400" dirty="0">
              <a:latin typeface="Calibri" pitchFamily="34" charset="0"/>
              <a:cs typeface="Calibri" pitchFamily="34" charset="0"/>
            </a:endParaRPr>
          </a:p>
          <a:p>
            <a:pPr algn="just"/>
            <a:endParaRPr lang="en-US" sz="2400" dirty="0">
              <a:latin typeface="Calibri" pitchFamily="34" charset="0"/>
              <a:cs typeface="Calibri" pitchFamily="34" charset="0"/>
            </a:endParaRPr>
          </a:p>
          <a:p>
            <a:pPr algn="just"/>
            <a:endParaRPr lang="en-US" sz="2400" dirty="0">
              <a:latin typeface="Calibri" pitchFamily="34" charset="0"/>
              <a:cs typeface="Calibri" pitchFamily="34" charset="0"/>
            </a:endParaRPr>
          </a:p>
          <a:p>
            <a:pPr algn="just"/>
            <a:endParaRPr lang="en-US" sz="2400" dirty="0">
              <a:latin typeface="Calibri" pitchFamily="34" charset="0"/>
              <a:cs typeface="Calibri" pitchFamily="34" charset="0"/>
            </a:endParaRPr>
          </a:p>
          <a:p>
            <a:pPr algn="just"/>
            <a:endParaRPr lang="en-US" sz="2400" dirty="0">
              <a:latin typeface="Calibri" pitchFamily="34" charset="0"/>
              <a:cs typeface="Calibri" pitchFamily="34" charset="0"/>
            </a:endParaRPr>
          </a:p>
          <a:p>
            <a:pPr algn="just"/>
            <a:r>
              <a:rPr lang="en-US" sz="2400" b="1" dirty="0">
                <a:latin typeface="Calibri" pitchFamily="34" charset="0"/>
                <a:cs typeface="Calibri" pitchFamily="34" charset="0"/>
              </a:rPr>
              <a:t>Q:1</a:t>
            </a:r>
            <a:r>
              <a:rPr lang="en-US" sz="2400" dirty="0">
                <a:latin typeface="Calibri" pitchFamily="34" charset="0"/>
                <a:cs typeface="Calibri" pitchFamily="34" charset="0"/>
              </a:rPr>
              <a:t>. Which country has an absolute advantage, and in which product? Justify and explain.</a:t>
            </a:r>
          </a:p>
          <a:p>
            <a:pPr marL="109728" indent="0" algn="just">
              <a:buNone/>
            </a:pPr>
            <a:endParaRPr lang="en-US" sz="2400" dirty="0">
              <a:latin typeface="Calibri" pitchFamily="34" charset="0"/>
              <a:cs typeface="Calibri" pitchFamily="34" charset="0"/>
            </a:endParaRPr>
          </a:p>
          <a:p>
            <a:pPr marL="109728" indent="0" algn="just">
              <a:buNone/>
            </a:pPr>
            <a:endParaRPr lang="en-US" sz="2400" dirty="0">
              <a:latin typeface="Calibri" pitchFamily="34" charset="0"/>
              <a:cs typeface="Calibri" pitchFamily="34" charset="0"/>
            </a:endParaRPr>
          </a:p>
        </p:txBody>
      </p:sp>
      <p:sp>
        <p:nvSpPr>
          <p:cNvPr id="3" name="Title 2"/>
          <p:cNvSpPr>
            <a:spLocks noGrp="1"/>
          </p:cNvSpPr>
          <p:nvPr>
            <p:ph type="title"/>
          </p:nvPr>
        </p:nvSpPr>
        <p:spPr>
          <a:xfrm>
            <a:off x="457200" y="-31173"/>
            <a:ext cx="8229600" cy="1143000"/>
          </a:xfrm>
        </p:spPr>
        <p:txBody>
          <a:bodyPr/>
          <a:lstStyle/>
          <a:p>
            <a:r>
              <a:rPr lang="en-US" dirty="0"/>
              <a:t>QUESTIONS</a:t>
            </a:r>
          </a:p>
        </p:txBody>
      </p:sp>
      <p:graphicFrame>
        <p:nvGraphicFramePr>
          <p:cNvPr id="4" name="Table 3"/>
          <p:cNvGraphicFramePr>
            <a:graphicFrameLocks noGrp="1"/>
          </p:cNvGraphicFramePr>
          <p:nvPr/>
        </p:nvGraphicFramePr>
        <p:xfrm>
          <a:off x="914400" y="2819400"/>
          <a:ext cx="6781800" cy="1524000"/>
        </p:xfrm>
        <a:graphic>
          <a:graphicData uri="http://schemas.openxmlformats.org/drawingml/2006/table">
            <a:tbl>
              <a:tblPr firstRow="1" bandRow="1">
                <a:tableStyleId>{8EC20E35-A176-4012-BC5E-935CFFF8708E}</a:tableStyleId>
              </a:tblPr>
              <a:tblGrid>
                <a:gridCol w="2260600">
                  <a:extLst>
                    <a:ext uri="{9D8B030D-6E8A-4147-A177-3AD203B41FA5}">
                      <a16:colId xmlns:a16="http://schemas.microsoft.com/office/drawing/2014/main" val="20000"/>
                    </a:ext>
                  </a:extLst>
                </a:gridCol>
                <a:gridCol w="2260600">
                  <a:extLst>
                    <a:ext uri="{9D8B030D-6E8A-4147-A177-3AD203B41FA5}">
                      <a16:colId xmlns:a16="http://schemas.microsoft.com/office/drawing/2014/main" val="20001"/>
                    </a:ext>
                  </a:extLst>
                </a:gridCol>
                <a:gridCol w="2260600">
                  <a:extLst>
                    <a:ext uri="{9D8B030D-6E8A-4147-A177-3AD203B41FA5}">
                      <a16:colId xmlns:a16="http://schemas.microsoft.com/office/drawing/2014/main" val="20002"/>
                    </a:ext>
                  </a:extLst>
                </a:gridCol>
              </a:tblGrid>
              <a:tr h="508000">
                <a:tc>
                  <a:txBody>
                    <a:bodyPr/>
                    <a:lstStyle/>
                    <a:p>
                      <a:pPr algn="ctr"/>
                      <a:r>
                        <a:rPr lang="en-US" b="1" dirty="0"/>
                        <a:t>Country</a:t>
                      </a:r>
                    </a:p>
                  </a:txBody>
                  <a:tcPr/>
                </a:tc>
                <a:tc>
                  <a:txBody>
                    <a:bodyPr/>
                    <a:lstStyle/>
                    <a:p>
                      <a:pPr algn="ctr"/>
                      <a:r>
                        <a:rPr lang="en-US" b="1" dirty="0"/>
                        <a:t>Biscuits</a:t>
                      </a:r>
                    </a:p>
                  </a:txBody>
                  <a:tcPr/>
                </a:tc>
                <a:tc>
                  <a:txBody>
                    <a:bodyPr/>
                    <a:lstStyle/>
                    <a:p>
                      <a:pPr algn="ctr"/>
                      <a:r>
                        <a:rPr lang="en-US" b="1" dirty="0"/>
                        <a:t>Wheat</a:t>
                      </a:r>
                    </a:p>
                  </a:txBody>
                  <a:tcPr/>
                </a:tc>
                <a:extLst>
                  <a:ext uri="{0D108BD9-81ED-4DB2-BD59-A6C34878D82A}">
                    <a16:rowId xmlns:a16="http://schemas.microsoft.com/office/drawing/2014/main" val="10000"/>
                  </a:ext>
                </a:extLst>
              </a:tr>
              <a:tr h="508000">
                <a:tc>
                  <a:txBody>
                    <a:bodyPr/>
                    <a:lstStyle/>
                    <a:p>
                      <a:pPr algn="ctr"/>
                      <a:r>
                        <a:rPr lang="en-US" b="1" dirty="0"/>
                        <a:t>India </a:t>
                      </a:r>
                    </a:p>
                  </a:txBody>
                  <a:tcPr/>
                </a:tc>
                <a:tc>
                  <a:txBody>
                    <a:bodyPr/>
                    <a:lstStyle/>
                    <a:p>
                      <a:pPr algn="ctr"/>
                      <a:r>
                        <a:rPr lang="en-US" b="1" dirty="0"/>
                        <a:t>20</a:t>
                      </a:r>
                    </a:p>
                  </a:txBody>
                  <a:tcPr/>
                </a:tc>
                <a:tc>
                  <a:txBody>
                    <a:bodyPr/>
                    <a:lstStyle/>
                    <a:p>
                      <a:pPr algn="ctr"/>
                      <a:r>
                        <a:rPr lang="en-US" b="1" dirty="0"/>
                        <a:t>10</a:t>
                      </a:r>
                    </a:p>
                  </a:txBody>
                  <a:tcPr/>
                </a:tc>
                <a:extLst>
                  <a:ext uri="{0D108BD9-81ED-4DB2-BD59-A6C34878D82A}">
                    <a16:rowId xmlns:a16="http://schemas.microsoft.com/office/drawing/2014/main" val="10001"/>
                  </a:ext>
                </a:extLst>
              </a:tr>
              <a:tr h="508000">
                <a:tc>
                  <a:txBody>
                    <a:bodyPr/>
                    <a:lstStyle/>
                    <a:p>
                      <a:pPr algn="ctr"/>
                      <a:r>
                        <a:rPr lang="en-US" b="1" dirty="0"/>
                        <a:t>China</a:t>
                      </a:r>
                    </a:p>
                  </a:txBody>
                  <a:tcPr/>
                </a:tc>
                <a:tc>
                  <a:txBody>
                    <a:bodyPr/>
                    <a:lstStyle/>
                    <a:p>
                      <a:pPr algn="ctr"/>
                      <a:r>
                        <a:rPr lang="en-US" b="1" dirty="0"/>
                        <a:t>40</a:t>
                      </a:r>
                    </a:p>
                  </a:txBody>
                  <a:tcPr/>
                </a:tc>
                <a:tc>
                  <a:txBody>
                    <a:bodyPr/>
                    <a:lstStyle/>
                    <a:p>
                      <a:pPr algn="ctr"/>
                      <a:r>
                        <a:rPr lang="en-US" b="1" dirty="0"/>
                        <a:t>50</a:t>
                      </a:r>
                    </a:p>
                  </a:txBody>
                  <a:tcPr/>
                </a:tc>
                <a:extLst>
                  <a:ext uri="{0D108BD9-81ED-4DB2-BD59-A6C34878D82A}">
                    <a16:rowId xmlns:a16="http://schemas.microsoft.com/office/drawing/2014/main" val="10002"/>
                  </a:ext>
                </a:extLst>
              </a:tr>
            </a:tbl>
          </a:graphicData>
        </a:graphic>
      </p:graphicFrame>
    </p:spTree>
    <p:extLst>
      <p:ext uri="{BB962C8B-B14F-4D97-AF65-F5344CB8AC3E}">
        <p14:creationId xmlns:p14="http://schemas.microsoft.com/office/powerpoint/2010/main" val="3927029323"/>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53536"/>
            <a:ext cx="8229600" cy="1143000"/>
          </a:xfrm>
        </p:spPr>
        <p:txBody>
          <a:bodyPr>
            <a:normAutofit/>
          </a:bodyPr>
          <a:lstStyle/>
          <a:p>
            <a:pPr marL="54864" indent="0" fontAlgn="auto">
              <a:spcAft>
                <a:spcPts val="0"/>
              </a:spcAft>
              <a:defRPr/>
            </a:pPr>
            <a:r>
              <a:rPr lang="en-US" dirty="0">
                <a:solidFill>
                  <a:schemeClr val="tx2">
                    <a:tint val="100000"/>
                    <a:shade val="90000"/>
                    <a:satMod val="250000"/>
                    <a:alpha val="100000"/>
                  </a:schemeClr>
                </a:solidFill>
              </a:rPr>
              <a:t>Problem with Absolute Advantage.</a:t>
            </a:r>
          </a:p>
        </p:txBody>
      </p:sp>
      <p:sp>
        <p:nvSpPr>
          <p:cNvPr id="29699" name="Content Placeholder 2"/>
          <p:cNvSpPr>
            <a:spLocks noGrp="1"/>
          </p:cNvSpPr>
          <p:nvPr>
            <p:ph idx="1"/>
          </p:nvPr>
        </p:nvSpPr>
        <p:spPr>
          <a:xfrm>
            <a:off x="457200" y="1752600"/>
            <a:ext cx="8229600" cy="4572000"/>
          </a:xfrm>
        </p:spPr>
        <p:txBody>
          <a:bodyPr>
            <a:normAutofit fontScale="85000" lnSpcReduction="10000"/>
          </a:bodyPr>
          <a:lstStyle/>
          <a:p>
            <a:pPr algn="just"/>
            <a:r>
              <a:rPr lang="en-US" dirty="0"/>
              <a:t>According to the absolute advantage theory, international trade is a </a:t>
            </a:r>
            <a:r>
              <a:rPr lang="en-US" dirty="0">
                <a:solidFill>
                  <a:srgbClr val="FF0000"/>
                </a:solidFill>
              </a:rPr>
              <a:t>positive-sum game</a:t>
            </a:r>
            <a:r>
              <a:rPr lang="en-US" dirty="0"/>
              <a:t>, because there are gains for both countries to an exchange. </a:t>
            </a:r>
          </a:p>
          <a:p>
            <a:endParaRPr lang="en-US" dirty="0"/>
          </a:p>
          <a:p>
            <a:pPr algn="just"/>
            <a:r>
              <a:rPr lang="en-US" dirty="0"/>
              <a:t>If there is </a:t>
            </a:r>
            <a:r>
              <a:rPr lang="en-US" u="sng" dirty="0"/>
              <a:t>one country that does not have an absolute advantage </a:t>
            </a:r>
            <a:r>
              <a:rPr lang="en-US" dirty="0"/>
              <a:t>in the production of any product, will there still be benefit to trade, and will trade even occur?</a:t>
            </a:r>
          </a:p>
          <a:p>
            <a:endParaRPr lang="en-US" dirty="0"/>
          </a:p>
          <a:p>
            <a:r>
              <a:rPr lang="en-US" dirty="0"/>
              <a:t> The answer may be found in the extension of absolute advantage, the </a:t>
            </a:r>
            <a:r>
              <a:rPr lang="en-US" b="1" i="1" u="sng" dirty="0">
                <a:solidFill>
                  <a:srgbClr val="7030A0"/>
                </a:solidFill>
              </a:rPr>
              <a:t>theory of comparative advantage</a:t>
            </a:r>
            <a:r>
              <a:rPr lang="en-US" b="1" dirty="0">
                <a:solidFill>
                  <a:srgbClr val="7030A0"/>
                </a:solidFill>
              </a:rPr>
              <a:t>.</a:t>
            </a:r>
          </a:p>
          <a:p>
            <a:pPr>
              <a:buFont typeface="Wingdings 2" pitchFamily="18" charset="2"/>
              <a:buNone/>
            </a:pPr>
            <a:endParaRPr lang="en-US" b="1" dirty="0">
              <a:solidFill>
                <a:srgbClr val="7030A0"/>
              </a:solidFill>
            </a:endParaRPr>
          </a:p>
        </p:txBody>
      </p:sp>
    </p:spTree>
    <p:extLst>
      <p:ext uri="{BB962C8B-B14F-4D97-AF65-F5344CB8AC3E}">
        <p14:creationId xmlns:p14="http://schemas.microsoft.com/office/powerpoint/2010/main" val="4115606066"/>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4"/>
          <p:cNvSpPr>
            <a:spLocks noGrp="1"/>
          </p:cNvSpPr>
          <p:nvPr>
            <p:ph type="sldNum" sz="quarter" idx="10"/>
          </p:nvPr>
        </p:nvSpPr>
        <p:spPr/>
        <p:txBody>
          <a:bodyPr/>
          <a:lstStyle/>
          <a:p>
            <a:r>
              <a:rPr lang="en-US"/>
              <a:t>4-</a:t>
            </a:r>
            <a:fld id="{DF2A8CF6-3A69-4187-B081-FFA9754595AD}" type="slidenum">
              <a:rPr lang="en-US"/>
              <a:pPr/>
              <a:t>15</a:t>
            </a:fld>
            <a:endParaRPr lang="en-US"/>
          </a:p>
        </p:txBody>
      </p:sp>
      <p:sp>
        <p:nvSpPr>
          <p:cNvPr id="584706" name="Rectangle 2"/>
          <p:cNvSpPr>
            <a:spLocks noGrp="1" noChangeArrowheads="1"/>
          </p:cNvSpPr>
          <p:nvPr>
            <p:ph type="title"/>
          </p:nvPr>
        </p:nvSpPr>
        <p:spPr bwMode="auto">
          <a:xfrm>
            <a:off x="457200" y="533400"/>
            <a:ext cx="8229600" cy="944562"/>
          </a:xfrm>
          <a:noFill/>
          <a:ln>
            <a:miter lim="800000"/>
            <a:headEnd/>
            <a:tailEnd/>
          </a:ln>
        </p:spPr>
        <p:txBody>
          <a:bodyPr vert="horz" wrap="square" lIns="91440" tIns="45720" rIns="91440" bIns="45720" numCol="1" anchor="t" anchorCtr="0" compatLnSpc="1">
            <a:prstTxWarp prst="textNoShape">
              <a:avLst/>
            </a:prstTxWarp>
          </a:bodyPr>
          <a:lstStyle/>
          <a:p>
            <a:pPr algn="ctr"/>
            <a:r>
              <a:rPr lang="en-US" sz="4000" b="1" i="1" dirty="0">
                <a:solidFill>
                  <a:srgbClr val="7030A0"/>
                </a:solidFill>
              </a:rPr>
              <a:t>Theory of comparative advantage</a:t>
            </a:r>
          </a:p>
        </p:txBody>
      </p:sp>
      <p:sp>
        <p:nvSpPr>
          <p:cNvPr id="584707" name="Rectangle 3"/>
          <p:cNvSpPr>
            <a:spLocks noGrp="1" noChangeArrowheads="1"/>
          </p:cNvSpPr>
          <p:nvPr>
            <p:ph type="body" sz="half" idx="1"/>
          </p:nvPr>
        </p:nvSpPr>
        <p:spPr bwMode="auto">
          <a:xfrm>
            <a:off x="-76200" y="1295400"/>
            <a:ext cx="9144000" cy="5562600"/>
          </a:xfrm>
          <a:noFill/>
          <a:ln>
            <a:miter lim="800000"/>
            <a:headEnd/>
            <a:tailEnd/>
          </a:ln>
        </p:spPr>
        <p:txBody>
          <a:bodyPr vert="horz" wrap="square" lIns="91440" tIns="45720" rIns="91440" bIns="45720" numCol="1" anchor="t" anchorCtr="0" compatLnSpc="1">
            <a:prstTxWarp prst="textNoShape">
              <a:avLst/>
            </a:prstTxWarp>
            <a:normAutofit fontScale="85000" lnSpcReduction="20000"/>
          </a:bodyPr>
          <a:lstStyle/>
          <a:p>
            <a:pPr>
              <a:lnSpc>
                <a:spcPct val="90000"/>
              </a:lnSpc>
            </a:pPr>
            <a:r>
              <a:rPr lang="en-US" sz="2800" dirty="0"/>
              <a:t>David Ricardo: </a:t>
            </a:r>
            <a:r>
              <a:rPr lang="en-US" sz="2800" i="1" dirty="0"/>
              <a:t>Principles of Political Economy (</a:t>
            </a:r>
            <a:r>
              <a:rPr lang="en-US" sz="2800" dirty="0"/>
              <a:t>1817)</a:t>
            </a:r>
          </a:p>
          <a:p>
            <a:pPr>
              <a:lnSpc>
                <a:spcPct val="90000"/>
              </a:lnSpc>
            </a:pPr>
            <a:endParaRPr lang="en-US" sz="2800" dirty="0">
              <a:latin typeface="Times New Roman" pitchFamily="18" charset="0"/>
              <a:cs typeface="Times New Roman" pitchFamily="18" charset="0"/>
            </a:endParaRPr>
          </a:p>
          <a:p>
            <a:pPr lvl="1" algn="just"/>
            <a:r>
              <a:rPr lang="en-US" dirty="0">
                <a:latin typeface="Times New Roman" pitchFamily="18" charset="0"/>
                <a:cs typeface="Times New Roman" pitchFamily="18" charset="0"/>
              </a:rPr>
              <a:t>The principle of comparative advantage states that a country should specialize in producing and exporting those products in which is has a </a:t>
            </a:r>
            <a:r>
              <a:rPr lang="en-US" b="1" dirty="0">
                <a:solidFill>
                  <a:srgbClr val="FF0000"/>
                </a:solidFill>
                <a:latin typeface="Times New Roman" pitchFamily="18" charset="0"/>
                <a:cs typeface="Times New Roman" pitchFamily="18" charset="0"/>
              </a:rPr>
              <a:t>comparative, or relative cost, advantage </a:t>
            </a:r>
            <a:r>
              <a:rPr lang="en-US" dirty="0">
                <a:latin typeface="Times New Roman" pitchFamily="18" charset="0"/>
                <a:cs typeface="Times New Roman" pitchFamily="18" charset="0"/>
              </a:rPr>
              <a:t>compared with other countries and should import those goods in which it has a </a:t>
            </a:r>
            <a:r>
              <a:rPr lang="en-US" u="sng" dirty="0">
                <a:latin typeface="Times New Roman" pitchFamily="18" charset="0"/>
                <a:cs typeface="Times New Roman" pitchFamily="18" charset="0"/>
              </a:rPr>
              <a:t>comparative disadvantage. </a:t>
            </a:r>
          </a:p>
          <a:p>
            <a:pPr lvl="1" algn="just"/>
            <a:endParaRPr lang="en-US" u="sng" dirty="0">
              <a:latin typeface="Times New Roman" pitchFamily="18" charset="0"/>
              <a:cs typeface="Times New Roman" pitchFamily="18" charset="0"/>
            </a:endParaRPr>
          </a:p>
          <a:p>
            <a:pPr lvl="1" algn="just"/>
            <a:r>
              <a:rPr lang="en-US" dirty="0">
                <a:latin typeface="Times New Roman" pitchFamily="18" charset="0"/>
                <a:cs typeface="Times New Roman" pitchFamily="18" charset="0"/>
              </a:rPr>
              <a:t>the exporting country should look at the relative </a:t>
            </a:r>
            <a:r>
              <a:rPr lang="en-US" b="1" dirty="0">
                <a:latin typeface="Times New Roman" pitchFamily="18" charset="0"/>
                <a:cs typeface="Times New Roman" pitchFamily="18" charset="0"/>
              </a:rPr>
              <a:t>efficiencies </a:t>
            </a:r>
            <a:r>
              <a:rPr lang="en-US" dirty="0">
                <a:latin typeface="Times New Roman" pitchFamily="18" charset="0"/>
                <a:cs typeface="Times New Roman" pitchFamily="18" charset="0"/>
              </a:rPr>
              <a:t>of production for </a:t>
            </a:r>
            <a:r>
              <a:rPr lang="en-US" b="1" u="sng" dirty="0">
                <a:latin typeface="Times New Roman" pitchFamily="18" charset="0"/>
                <a:cs typeface="Times New Roman" pitchFamily="18" charset="0"/>
              </a:rPr>
              <a:t>both</a:t>
            </a:r>
            <a:r>
              <a:rPr lang="en-US" dirty="0">
                <a:latin typeface="Times New Roman" pitchFamily="18" charset="0"/>
                <a:cs typeface="Times New Roman" pitchFamily="18" charset="0"/>
              </a:rPr>
              <a:t> commodities and make only those goods it could produce most efficiently.</a:t>
            </a:r>
          </a:p>
          <a:p>
            <a:pPr lvl="1" algn="just"/>
            <a:endParaRPr lang="en-US" dirty="0">
              <a:latin typeface="Times New Roman" pitchFamily="18" charset="0"/>
              <a:cs typeface="Times New Roman" pitchFamily="18" charset="0"/>
            </a:endParaRPr>
          </a:p>
          <a:p>
            <a:pPr lvl="1" algn="just">
              <a:lnSpc>
                <a:spcPct val="120000"/>
              </a:lnSpc>
            </a:pPr>
            <a:r>
              <a:rPr lang="en-US" dirty="0">
                <a:latin typeface="Times New Roman" pitchFamily="18" charset="0"/>
                <a:cs typeface="Times New Roman" pitchFamily="18" charset="0"/>
              </a:rPr>
              <a:t>Law of </a:t>
            </a:r>
            <a:r>
              <a:rPr lang="en-US" b="1" dirty="0">
                <a:latin typeface="Times New Roman" pitchFamily="18" charset="0"/>
                <a:cs typeface="Times New Roman" pitchFamily="18" charset="0"/>
              </a:rPr>
              <a:t>comparative advantage</a:t>
            </a:r>
            <a:r>
              <a:rPr lang="en-US" dirty="0">
                <a:latin typeface="Times New Roman" pitchFamily="18" charset="0"/>
                <a:cs typeface="Times New Roman" pitchFamily="18" charset="0"/>
              </a:rPr>
              <a:t> refers to the ability of a country to produce a particular good or service at a </a:t>
            </a:r>
            <a:r>
              <a:rPr lang="en-US" dirty="0">
                <a:highlight>
                  <a:srgbClr val="FFFF00"/>
                </a:highlight>
                <a:latin typeface="Times New Roman" pitchFamily="18" charset="0"/>
                <a:cs typeface="Times New Roman" pitchFamily="18" charset="0"/>
              </a:rPr>
              <a:t>lower </a:t>
            </a:r>
            <a:r>
              <a:rPr lang="en-US" b="1" dirty="0">
                <a:solidFill>
                  <a:srgbClr val="00B0F0"/>
                </a:solidFill>
                <a:latin typeface="Times New Roman" pitchFamily="18" charset="0"/>
                <a:cs typeface="Times New Roman" pitchFamily="18" charset="0"/>
              </a:rPr>
              <a:t>opportunity cost </a:t>
            </a:r>
            <a:r>
              <a:rPr lang="en-US" i="1" dirty="0">
                <a:latin typeface="Times New Roman" pitchFamily="18" charset="0"/>
                <a:cs typeface="Times New Roman" pitchFamily="18" charset="0"/>
              </a:rPr>
              <a:t>(loss of potential gain from other alternatives when one alternative is chosen) </a:t>
            </a:r>
            <a:r>
              <a:rPr lang="en-US" dirty="0">
                <a:latin typeface="Times New Roman" pitchFamily="18" charset="0"/>
                <a:cs typeface="Times New Roman" pitchFamily="18" charset="0"/>
              </a:rPr>
              <a:t>than another country</a:t>
            </a:r>
            <a:r>
              <a:rPr lang="en-US" dirty="0"/>
              <a:t>.</a:t>
            </a:r>
          </a:p>
          <a:p>
            <a:pPr lvl="1">
              <a:buNone/>
            </a:pPr>
            <a:endParaRPr lang="en-US" dirty="0"/>
          </a:p>
          <a:p>
            <a:pPr lvl="1">
              <a:buNone/>
            </a:pPr>
            <a:endParaRPr lang="en-US" dirty="0"/>
          </a:p>
          <a:p>
            <a:pPr lvl="1">
              <a:buNone/>
            </a:pPr>
            <a:endParaRPr lang="en-US" dirty="0"/>
          </a:p>
          <a:p>
            <a:pPr lvl="1"/>
            <a:endParaRPr lang="en-US" dirty="0"/>
          </a:p>
        </p:txBody>
      </p:sp>
    </p:spTree>
    <p:extLst>
      <p:ext uri="{BB962C8B-B14F-4D97-AF65-F5344CB8AC3E}">
        <p14:creationId xmlns:p14="http://schemas.microsoft.com/office/powerpoint/2010/main" val="3016636169"/>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2"/>
          <p:cNvSpPr>
            <a:spLocks noGrp="1" noChangeArrowheads="1"/>
          </p:cNvSpPr>
          <p:nvPr>
            <p:ph type="title"/>
          </p:nvPr>
        </p:nvSpPr>
        <p:spPr>
          <a:xfrm>
            <a:off x="357188" y="428625"/>
            <a:ext cx="8229600" cy="1143000"/>
          </a:xfrm>
          <a:ln w="28575">
            <a:noFill/>
          </a:ln>
        </p:spPr>
        <p:txBody>
          <a:bodyPr/>
          <a:lstStyle/>
          <a:p>
            <a:pPr eaLnBrk="1" hangingPunct="1"/>
            <a:r>
              <a:rPr lang="en-US" dirty="0"/>
              <a:t>Example:</a:t>
            </a:r>
          </a:p>
        </p:txBody>
      </p:sp>
      <p:sp>
        <p:nvSpPr>
          <p:cNvPr id="32771" name="Rectangle 3"/>
          <p:cNvSpPr>
            <a:spLocks noGrp="1" noChangeArrowheads="1"/>
          </p:cNvSpPr>
          <p:nvPr>
            <p:ph idx="1"/>
          </p:nvPr>
        </p:nvSpPr>
        <p:spPr>
          <a:xfrm>
            <a:off x="457200" y="1600200"/>
            <a:ext cx="8229600" cy="4637088"/>
          </a:xfrm>
        </p:spPr>
        <p:txBody>
          <a:bodyPr>
            <a:normAutofit lnSpcReduction="10000"/>
          </a:bodyPr>
          <a:lstStyle/>
          <a:p>
            <a:pPr eaLnBrk="1" hangingPunct="1">
              <a:lnSpc>
                <a:spcPct val="90000"/>
              </a:lnSpc>
              <a:buFontTx/>
              <a:buNone/>
            </a:pPr>
            <a:r>
              <a:rPr lang="en-US" sz="2800" u="sng" dirty="0"/>
              <a:t>Think of the following scenario:</a:t>
            </a:r>
          </a:p>
          <a:p>
            <a:pPr algn="just" eaLnBrk="1" hangingPunct="1">
              <a:lnSpc>
                <a:spcPct val="90000"/>
              </a:lnSpc>
              <a:buFontTx/>
              <a:buNone/>
            </a:pPr>
            <a:r>
              <a:rPr lang="en-US" sz="2800" dirty="0"/>
              <a:t>If all of the resources of the two countries were fully</a:t>
            </a:r>
          </a:p>
          <a:p>
            <a:pPr algn="just" eaLnBrk="1" hangingPunct="1">
              <a:lnSpc>
                <a:spcPct val="90000"/>
              </a:lnSpc>
              <a:buFontTx/>
              <a:buNone/>
            </a:pPr>
            <a:r>
              <a:rPr lang="en-US" sz="2800" dirty="0"/>
              <a:t>allocated, this is what they could produce.</a:t>
            </a:r>
          </a:p>
          <a:p>
            <a:pPr algn="just" eaLnBrk="1" hangingPunct="1">
              <a:lnSpc>
                <a:spcPct val="90000"/>
              </a:lnSpc>
              <a:buFontTx/>
              <a:buNone/>
            </a:pPr>
            <a:endParaRPr lang="en-US" sz="2800" dirty="0"/>
          </a:p>
          <a:p>
            <a:pPr eaLnBrk="1" hangingPunct="1">
              <a:lnSpc>
                <a:spcPct val="90000"/>
              </a:lnSpc>
              <a:buFontTx/>
              <a:buNone/>
            </a:pPr>
            <a:r>
              <a:rPr lang="en-US" sz="2800" dirty="0"/>
              <a:t>				</a:t>
            </a:r>
            <a:r>
              <a:rPr lang="en-US" sz="2800" u="sng" dirty="0"/>
              <a:t>Food	</a:t>
            </a:r>
            <a:r>
              <a:rPr lang="en-US" sz="2800" dirty="0"/>
              <a:t>		</a:t>
            </a:r>
            <a:r>
              <a:rPr lang="en-US" sz="2800" u="sng" dirty="0"/>
              <a:t>Fish</a:t>
            </a:r>
          </a:p>
          <a:p>
            <a:pPr eaLnBrk="1" hangingPunct="1">
              <a:lnSpc>
                <a:spcPct val="90000"/>
              </a:lnSpc>
              <a:buFontTx/>
              <a:buNone/>
            </a:pPr>
            <a:r>
              <a:rPr lang="tr-TR" sz="2800" dirty="0"/>
              <a:t>Bangladesh</a:t>
            </a:r>
            <a:r>
              <a:rPr lang="en-US" sz="2800" dirty="0"/>
              <a:t>		100 tones		100 tones</a:t>
            </a:r>
          </a:p>
          <a:p>
            <a:pPr eaLnBrk="1" hangingPunct="1">
              <a:lnSpc>
                <a:spcPct val="90000"/>
              </a:lnSpc>
              <a:buFontTx/>
              <a:buNone/>
            </a:pPr>
            <a:r>
              <a:rPr lang="en-US" sz="2800" dirty="0"/>
              <a:t>Nepal 		400 tones		200 tones</a:t>
            </a:r>
          </a:p>
          <a:p>
            <a:pPr eaLnBrk="1" hangingPunct="1">
              <a:lnSpc>
                <a:spcPct val="90000"/>
              </a:lnSpc>
              <a:buFontTx/>
              <a:buNone/>
            </a:pPr>
            <a:endParaRPr lang="en-US" sz="2800" dirty="0"/>
          </a:p>
          <a:p>
            <a:pPr algn="just" eaLnBrk="1" hangingPunct="1">
              <a:lnSpc>
                <a:spcPct val="90000"/>
              </a:lnSpc>
              <a:buFontTx/>
              <a:buNone/>
            </a:pPr>
            <a:r>
              <a:rPr lang="en-US" sz="2800" dirty="0"/>
              <a:t>Who has the absolute advantage and what is the comparative advantage?  Look at the opportunity  costs.</a:t>
            </a:r>
          </a:p>
        </p:txBody>
      </p:sp>
      <p:sp>
        <p:nvSpPr>
          <p:cNvPr id="32772" name="Text Box 4"/>
          <p:cNvSpPr txBox="1">
            <a:spLocks noChangeArrowheads="1"/>
          </p:cNvSpPr>
          <p:nvPr/>
        </p:nvSpPr>
        <p:spPr bwMode="auto">
          <a:xfrm>
            <a:off x="971550" y="6308725"/>
            <a:ext cx="6480175" cy="228600"/>
          </a:xfrm>
          <a:prstGeom prst="rect">
            <a:avLst/>
          </a:prstGeom>
          <a:noFill/>
          <a:ln w="9525">
            <a:noFill/>
            <a:miter lim="800000"/>
            <a:headEnd/>
            <a:tailEnd/>
          </a:ln>
        </p:spPr>
        <p:txBody>
          <a:bodyPr>
            <a:spAutoFit/>
          </a:bodyPr>
          <a:lstStyle/>
          <a:p>
            <a:pPr eaLnBrk="1" hangingPunct="1">
              <a:spcBef>
                <a:spcPct val="50000"/>
              </a:spcBef>
            </a:pPr>
            <a:r>
              <a:rPr lang="en-US" sz="900">
                <a:latin typeface="Arial" charset="0"/>
              </a:rPr>
              <a:t>http://en.wikipedia.org/wiki/Comparative_advantage</a:t>
            </a:r>
          </a:p>
        </p:txBody>
      </p:sp>
    </p:spTree>
    <p:extLst>
      <p:ext uri="{BB962C8B-B14F-4D97-AF65-F5344CB8AC3E}">
        <p14:creationId xmlns:p14="http://schemas.microsoft.com/office/powerpoint/2010/main" val="1323766517"/>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Rectangle 2"/>
          <p:cNvSpPr>
            <a:spLocks noGrp="1" noChangeArrowheads="1"/>
          </p:cNvSpPr>
          <p:nvPr>
            <p:ph type="title"/>
          </p:nvPr>
        </p:nvSpPr>
        <p:spPr>
          <a:xfrm>
            <a:off x="457200" y="704088"/>
            <a:ext cx="8229600" cy="819912"/>
          </a:xfrm>
          <a:ln w="38100">
            <a:noFill/>
          </a:ln>
        </p:spPr>
        <p:txBody>
          <a:bodyPr/>
          <a:lstStyle/>
          <a:p>
            <a:pPr eaLnBrk="1" hangingPunct="1"/>
            <a:r>
              <a:rPr lang="en-CA" sz="4000" dirty="0"/>
              <a:t>How to Calculate Opportunity Cost:</a:t>
            </a:r>
          </a:p>
        </p:txBody>
      </p:sp>
      <p:sp>
        <p:nvSpPr>
          <p:cNvPr id="33795" name="Rectangle 3"/>
          <p:cNvSpPr>
            <a:spLocks noGrp="1" noChangeArrowheads="1"/>
          </p:cNvSpPr>
          <p:nvPr>
            <p:ph idx="1"/>
          </p:nvPr>
        </p:nvSpPr>
        <p:spPr/>
        <p:txBody>
          <a:bodyPr/>
          <a:lstStyle/>
          <a:p>
            <a:pPr eaLnBrk="1" hangingPunct="1"/>
            <a:r>
              <a:rPr lang="en-CA" sz="2800" dirty="0"/>
              <a:t>Select one alternative</a:t>
            </a:r>
          </a:p>
          <a:p>
            <a:pPr eaLnBrk="1" hangingPunct="1"/>
            <a:r>
              <a:rPr lang="en-CA" sz="2800" dirty="0"/>
              <a:t>Divide what you are losing by what you gain from choosing that alternative.</a:t>
            </a:r>
          </a:p>
          <a:p>
            <a:pPr eaLnBrk="1" hangingPunct="1"/>
            <a:r>
              <a:rPr lang="en-CA" sz="2800" dirty="0"/>
              <a:t>For example, if Nepal chooses to produce food, the opportunity cost is:</a:t>
            </a:r>
          </a:p>
          <a:p>
            <a:pPr eaLnBrk="1" hangingPunct="1">
              <a:buFontTx/>
              <a:buNone/>
            </a:pPr>
            <a:r>
              <a:rPr lang="en-CA" sz="2800" dirty="0"/>
              <a:t>			</a:t>
            </a:r>
            <a:r>
              <a:rPr lang="en-CA" sz="2800" u="sng" dirty="0"/>
              <a:t>200</a:t>
            </a:r>
            <a:r>
              <a:rPr lang="en-CA" sz="2800" dirty="0"/>
              <a:t>	=	0.5</a:t>
            </a:r>
          </a:p>
          <a:p>
            <a:pPr eaLnBrk="1" hangingPunct="1">
              <a:buFontTx/>
              <a:buNone/>
            </a:pPr>
            <a:r>
              <a:rPr lang="en-CA" sz="2800" dirty="0"/>
              <a:t>			400</a:t>
            </a:r>
          </a:p>
          <a:p>
            <a:pPr eaLnBrk="1" hangingPunct="1">
              <a:buFontTx/>
              <a:buNone/>
            </a:pPr>
            <a:r>
              <a:rPr lang="en-CA" sz="2800" dirty="0"/>
              <a:t>Nepal loses 0.5 tonnes of fish for every tonne of food they produce.</a:t>
            </a:r>
            <a:endParaRPr lang="en-CA" sz="2800" u="sng" dirty="0"/>
          </a:p>
        </p:txBody>
      </p:sp>
      <p:sp>
        <p:nvSpPr>
          <p:cNvPr id="33796" name="Text Box 4"/>
          <p:cNvSpPr txBox="1">
            <a:spLocks noChangeArrowheads="1"/>
          </p:cNvSpPr>
          <p:nvPr/>
        </p:nvSpPr>
        <p:spPr bwMode="auto">
          <a:xfrm>
            <a:off x="5435600" y="4797425"/>
            <a:ext cx="2665413" cy="366713"/>
          </a:xfrm>
          <a:prstGeom prst="rect">
            <a:avLst/>
          </a:prstGeom>
          <a:noFill/>
          <a:ln w="9525">
            <a:noFill/>
            <a:miter lim="800000"/>
            <a:headEnd/>
            <a:tailEnd/>
          </a:ln>
        </p:spPr>
        <p:txBody>
          <a:bodyPr>
            <a:spAutoFit/>
          </a:bodyPr>
          <a:lstStyle/>
          <a:p>
            <a:pPr>
              <a:spcBef>
                <a:spcPct val="50000"/>
              </a:spcBef>
            </a:pPr>
            <a:endParaRPr lang="en-CA"/>
          </a:p>
        </p:txBody>
      </p:sp>
    </p:spTree>
    <p:extLst>
      <p:ext uri="{BB962C8B-B14F-4D97-AF65-F5344CB8AC3E}">
        <p14:creationId xmlns:p14="http://schemas.microsoft.com/office/powerpoint/2010/main" val="2375195926"/>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3"/>
          <p:cNvSpPr>
            <a:spLocks noGrp="1" noChangeArrowheads="1"/>
          </p:cNvSpPr>
          <p:nvPr>
            <p:ph idx="1"/>
          </p:nvPr>
        </p:nvSpPr>
        <p:spPr>
          <a:xfrm>
            <a:off x="457200" y="857250"/>
            <a:ext cx="8229600" cy="5238750"/>
          </a:xfrm>
        </p:spPr>
        <p:txBody>
          <a:bodyPr/>
          <a:lstStyle/>
          <a:p>
            <a:pPr eaLnBrk="1" hangingPunct="1"/>
            <a:r>
              <a:rPr lang="en-CA"/>
              <a:t>Conversely, if Nepal decides to produce fish, the opportunity cost would be:</a:t>
            </a:r>
          </a:p>
          <a:p>
            <a:pPr eaLnBrk="1" hangingPunct="1">
              <a:buFontTx/>
              <a:buNone/>
            </a:pPr>
            <a:endParaRPr lang="en-CA"/>
          </a:p>
          <a:p>
            <a:pPr eaLnBrk="1" hangingPunct="1">
              <a:buFontTx/>
              <a:buNone/>
            </a:pPr>
            <a:r>
              <a:rPr lang="en-CA"/>
              <a:t>			</a:t>
            </a:r>
            <a:r>
              <a:rPr lang="en-CA" u="sng"/>
              <a:t>400</a:t>
            </a:r>
            <a:r>
              <a:rPr lang="en-CA"/>
              <a:t>	=	2</a:t>
            </a:r>
          </a:p>
          <a:p>
            <a:pPr eaLnBrk="1" hangingPunct="1">
              <a:buFontTx/>
              <a:buNone/>
            </a:pPr>
            <a:r>
              <a:rPr lang="en-CA"/>
              <a:t>			200</a:t>
            </a:r>
          </a:p>
          <a:p>
            <a:pPr eaLnBrk="1" hangingPunct="1">
              <a:buFontTx/>
              <a:buNone/>
            </a:pPr>
            <a:r>
              <a:rPr lang="en-CA"/>
              <a:t>Nepal loses 2 tonnes of food to produce 1 tonne of fish.</a:t>
            </a:r>
          </a:p>
          <a:p>
            <a:pPr eaLnBrk="1" hangingPunct="1">
              <a:buFontTx/>
              <a:buNone/>
            </a:pPr>
            <a:endParaRPr lang="en-CA"/>
          </a:p>
          <a:p>
            <a:pPr eaLnBrk="1" hangingPunct="1">
              <a:buFontTx/>
              <a:buNone/>
            </a:pPr>
            <a:endParaRPr lang="en-CA" u="sng"/>
          </a:p>
        </p:txBody>
      </p:sp>
    </p:spTree>
    <p:extLst>
      <p:ext uri="{BB962C8B-B14F-4D97-AF65-F5344CB8AC3E}">
        <p14:creationId xmlns:p14="http://schemas.microsoft.com/office/powerpoint/2010/main" val="3689945089"/>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2"/>
          <p:cNvSpPr>
            <a:spLocks noGrp="1" noChangeArrowheads="1"/>
          </p:cNvSpPr>
          <p:nvPr>
            <p:ph type="title"/>
          </p:nvPr>
        </p:nvSpPr>
        <p:spPr>
          <a:xfrm>
            <a:off x="457200" y="704850"/>
            <a:ext cx="8229600" cy="723900"/>
          </a:xfrm>
        </p:spPr>
        <p:txBody>
          <a:bodyPr>
            <a:normAutofit fontScale="90000"/>
          </a:bodyPr>
          <a:lstStyle/>
          <a:p>
            <a:pPr eaLnBrk="1" fontAlgn="auto" hangingPunct="1">
              <a:spcAft>
                <a:spcPts val="0"/>
              </a:spcAft>
              <a:defRPr/>
            </a:pPr>
            <a:r>
              <a:rPr lang="en-US" dirty="0"/>
              <a:t>Answers:</a:t>
            </a:r>
          </a:p>
        </p:txBody>
      </p:sp>
      <p:sp>
        <p:nvSpPr>
          <p:cNvPr id="11267" name="Rectangle 3"/>
          <p:cNvSpPr>
            <a:spLocks noGrp="1" noChangeArrowheads="1"/>
          </p:cNvSpPr>
          <p:nvPr>
            <p:ph idx="1"/>
          </p:nvPr>
        </p:nvSpPr>
        <p:spPr>
          <a:xfrm>
            <a:off x="428625" y="1643063"/>
            <a:ext cx="8229600" cy="4389437"/>
          </a:xfrm>
        </p:spPr>
        <p:txBody>
          <a:bodyPr>
            <a:normAutofit/>
          </a:bodyPr>
          <a:lstStyle/>
          <a:p>
            <a:pPr marL="274320" indent="-274320" eaLnBrk="1" fontAlgn="auto" hangingPunct="1">
              <a:spcAft>
                <a:spcPts val="0"/>
              </a:spcAft>
              <a:buClr>
                <a:schemeClr val="accent3"/>
              </a:buClr>
              <a:buFont typeface="Wingdings 2"/>
              <a:buChar char=""/>
              <a:defRPr/>
            </a:pPr>
            <a:r>
              <a:rPr lang="en-US" sz="2800" dirty="0"/>
              <a:t>With full employment of all resources, </a:t>
            </a:r>
            <a:r>
              <a:rPr lang="en-US" sz="2800" b="1" dirty="0"/>
              <a:t>Nepal</a:t>
            </a:r>
            <a:r>
              <a:rPr lang="en-US" sz="2800" dirty="0"/>
              <a:t> has the absolute advantage of producing </a:t>
            </a:r>
            <a:r>
              <a:rPr lang="en-US" sz="2800" dirty="0">
                <a:solidFill>
                  <a:srgbClr val="FF0000"/>
                </a:solidFill>
              </a:rPr>
              <a:t>both goods</a:t>
            </a:r>
            <a:r>
              <a:rPr lang="en-US" sz="2800" dirty="0"/>
              <a:t>.</a:t>
            </a:r>
          </a:p>
          <a:p>
            <a:pPr marL="274320" indent="-274320" eaLnBrk="1" fontAlgn="auto" hangingPunct="1">
              <a:spcAft>
                <a:spcPts val="0"/>
              </a:spcAft>
              <a:buClr>
                <a:schemeClr val="accent3"/>
              </a:buClr>
              <a:buFont typeface="Wingdings 2"/>
              <a:buChar char=""/>
              <a:defRPr/>
            </a:pPr>
            <a:r>
              <a:rPr lang="en-US" sz="2800" dirty="0"/>
              <a:t>But… when comparing opportunity costs:</a:t>
            </a:r>
          </a:p>
          <a:p>
            <a:pPr marL="274320" indent="-274320" eaLnBrk="1" fontAlgn="auto" hangingPunct="1">
              <a:spcAft>
                <a:spcPts val="0"/>
              </a:spcAft>
              <a:buClr>
                <a:schemeClr val="accent3"/>
              </a:buClr>
              <a:buFont typeface="Wingdings 2"/>
              <a:buChar char=""/>
              <a:defRPr/>
            </a:pPr>
            <a:r>
              <a:rPr lang="en-US" sz="2800" dirty="0"/>
              <a:t>Bangladesh's opportunity cost of producing 1 tone of food is 1 tone of fish (vice versa)</a:t>
            </a:r>
          </a:p>
          <a:p>
            <a:pPr marL="274320" indent="-274320" eaLnBrk="1" fontAlgn="auto" hangingPunct="1">
              <a:spcAft>
                <a:spcPts val="0"/>
              </a:spcAft>
              <a:buClr>
                <a:schemeClr val="accent3"/>
              </a:buClr>
              <a:buFont typeface="Wingdings 2"/>
              <a:buChar char=""/>
              <a:defRPr/>
            </a:pPr>
            <a:r>
              <a:rPr lang="en-US" sz="2800" dirty="0"/>
              <a:t>Nepal's opportunity cost of producing 1 tone of food is 0.5 tones of fish.</a:t>
            </a:r>
          </a:p>
          <a:p>
            <a:pPr marL="274320" indent="-274320" eaLnBrk="1" fontAlgn="auto" hangingPunct="1">
              <a:spcAft>
                <a:spcPts val="0"/>
              </a:spcAft>
              <a:buClr>
                <a:schemeClr val="accent3"/>
              </a:buClr>
              <a:buFont typeface="Wingdings 2"/>
              <a:buChar char=""/>
              <a:defRPr/>
            </a:pPr>
            <a:r>
              <a:rPr lang="en-US" sz="2800" dirty="0"/>
              <a:t>Nepal's opportunity cost of producing 1 tone of fish is 2 tones of food.</a:t>
            </a:r>
          </a:p>
        </p:txBody>
      </p:sp>
    </p:spTree>
    <p:extLst>
      <p:ext uri="{BB962C8B-B14F-4D97-AF65-F5344CB8AC3E}">
        <p14:creationId xmlns:p14="http://schemas.microsoft.com/office/powerpoint/2010/main" val="583953430"/>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3"/>
          <p:cNvSpPr>
            <a:spLocks noGrp="1" noChangeArrowheads="1"/>
          </p:cNvSpPr>
          <p:nvPr>
            <p:ph idx="1"/>
          </p:nvPr>
        </p:nvSpPr>
        <p:spPr>
          <a:xfrm>
            <a:off x="457200" y="1571625"/>
            <a:ext cx="8229600" cy="4554538"/>
          </a:xfrm>
        </p:spPr>
        <p:txBody>
          <a:bodyPr/>
          <a:lstStyle/>
          <a:p>
            <a:pPr algn="just" eaLnBrk="1" hangingPunct="1"/>
            <a:r>
              <a:rPr lang="en-US" dirty="0"/>
              <a:t>Therefore, </a:t>
            </a:r>
            <a:r>
              <a:rPr lang="en-US" b="1" dirty="0"/>
              <a:t>Nepal has the comparative advantage in food production</a:t>
            </a:r>
            <a:r>
              <a:rPr lang="en-US" dirty="0"/>
              <a:t>, and </a:t>
            </a:r>
            <a:r>
              <a:rPr lang="en-US" b="1" dirty="0">
                <a:solidFill>
                  <a:srgbClr val="FF0000"/>
                </a:solidFill>
              </a:rPr>
              <a:t>Bangladesh has the comparative advantage in fish production</a:t>
            </a:r>
            <a:r>
              <a:rPr lang="en-US" dirty="0"/>
              <a:t>.</a:t>
            </a:r>
          </a:p>
          <a:p>
            <a:pPr eaLnBrk="1" hangingPunct="1"/>
            <a:endParaRPr lang="en-US" dirty="0"/>
          </a:p>
          <a:p>
            <a:pPr eaLnBrk="1" hangingPunct="1"/>
            <a:r>
              <a:rPr lang="en-US" dirty="0"/>
              <a:t>Both countries are better trade-off if Nepal produces food to trade for Bangladesh's fish. </a:t>
            </a:r>
          </a:p>
        </p:txBody>
      </p:sp>
    </p:spTree>
    <p:extLst>
      <p:ext uri="{BB962C8B-B14F-4D97-AF65-F5344CB8AC3E}">
        <p14:creationId xmlns:p14="http://schemas.microsoft.com/office/powerpoint/2010/main" val="3500075515"/>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81000" y="152400"/>
            <a:ext cx="8229600" cy="990600"/>
          </a:xfrm>
        </p:spPr>
        <p:txBody>
          <a:bodyPr>
            <a:normAutofit/>
          </a:bodyPr>
          <a:lstStyle/>
          <a:p>
            <a:r>
              <a:rPr lang="en-US" dirty="0"/>
              <a:t>WEAKNESSES OF EARLY THEORIES</a:t>
            </a:r>
          </a:p>
        </p:txBody>
      </p:sp>
      <p:sp>
        <p:nvSpPr>
          <p:cNvPr id="3" name="Content Placeholder 2"/>
          <p:cNvSpPr>
            <a:spLocks noGrp="1"/>
          </p:cNvSpPr>
          <p:nvPr>
            <p:ph idx="1"/>
          </p:nvPr>
        </p:nvSpPr>
        <p:spPr>
          <a:xfrm>
            <a:off x="0" y="1066800"/>
            <a:ext cx="9144000" cy="6629400"/>
          </a:xfrm>
        </p:spPr>
        <p:txBody>
          <a:bodyPr>
            <a:noAutofit/>
          </a:bodyPr>
          <a:lstStyle/>
          <a:p>
            <a:pPr>
              <a:buNone/>
            </a:pPr>
            <a:r>
              <a:rPr lang="en-US" sz="2000" dirty="0">
                <a:solidFill>
                  <a:srgbClr val="FF0000"/>
                </a:solidFill>
                <a:latin typeface="Times New Roman" pitchFamily="18" charset="0"/>
                <a:cs typeface="Times New Roman" pitchFamily="18" charset="0"/>
              </a:rPr>
              <a:t>the theories incorrectly assumed:</a:t>
            </a:r>
          </a:p>
          <a:p>
            <a:pPr>
              <a:buNone/>
            </a:pPr>
            <a:endParaRPr lang="en-US" sz="2000" dirty="0">
              <a:latin typeface="Times New Roman" pitchFamily="18" charset="0"/>
              <a:cs typeface="Times New Roman" pitchFamily="18" charset="0"/>
            </a:endParaRPr>
          </a:p>
          <a:p>
            <a:r>
              <a:rPr lang="en-US" sz="2000" dirty="0">
                <a:latin typeface="Times New Roman" pitchFamily="18" charset="0"/>
                <a:cs typeface="Times New Roman" pitchFamily="18" charset="0"/>
              </a:rPr>
              <a:t>The existence of </a:t>
            </a:r>
            <a:r>
              <a:rPr lang="en-US" sz="2000" b="1" dirty="0">
                <a:effectLst>
                  <a:outerShdw blurRad="38100" dist="38100" dir="2700000" algn="tl">
                    <a:srgbClr val="000000">
                      <a:alpha val="43137"/>
                    </a:srgbClr>
                  </a:outerShdw>
                </a:effectLst>
                <a:latin typeface="Times New Roman" pitchFamily="18" charset="0"/>
                <a:cs typeface="Times New Roman" pitchFamily="18" charset="0"/>
              </a:rPr>
              <a:t>perfect knowledge </a:t>
            </a:r>
            <a:r>
              <a:rPr lang="en-US" sz="2000" dirty="0">
                <a:latin typeface="Times New Roman" pitchFamily="18" charset="0"/>
                <a:cs typeface="Times New Roman" pitchFamily="18" charset="0"/>
              </a:rPr>
              <a:t>regarding international markets and opportunities</a:t>
            </a:r>
          </a:p>
          <a:p>
            <a:r>
              <a:rPr lang="en-US" sz="2000" b="1" dirty="0">
                <a:effectLst>
                  <a:outerShdw blurRad="38100" dist="38100" dir="2700000" algn="tl">
                    <a:srgbClr val="000000">
                      <a:alpha val="43137"/>
                    </a:srgbClr>
                  </a:outerShdw>
                </a:effectLst>
                <a:latin typeface="Times New Roman" pitchFamily="18" charset="0"/>
                <a:cs typeface="Times New Roman" pitchFamily="18" charset="0"/>
              </a:rPr>
              <a:t>Full mobility </a:t>
            </a:r>
            <a:r>
              <a:rPr lang="en-US" sz="2000" dirty="0">
                <a:latin typeface="Times New Roman" pitchFamily="18" charset="0"/>
                <a:cs typeface="Times New Roman" pitchFamily="18" charset="0"/>
              </a:rPr>
              <a:t>of labor and production factors throughout each country</a:t>
            </a:r>
          </a:p>
          <a:p>
            <a:r>
              <a:rPr lang="en-US" sz="2000" b="1" dirty="0">
                <a:effectLst>
                  <a:outerShdw blurRad="38100" dist="38100" dir="2700000" algn="tl">
                    <a:srgbClr val="000000">
                      <a:alpha val="43137"/>
                    </a:srgbClr>
                  </a:outerShdw>
                </a:effectLst>
                <a:latin typeface="Times New Roman" pitchFamily="18" charset="0"/>
                <a:cs typeface="Times New Roman" pitchFamily="18" charset="0"/>
              </a:rPr>
              <a:t>Full labor employment </a:t>
            </a:r>
            <a:r>
              <a:rPr lang="en-US" sz="2000" dirty="0">
                <a:latin typeface="Times New Roman" pitchFamily="18" charset="0"/>
                <a:cs typeface="Times New Roman" pitchFamily="18" charset="0"/>
              </a:rPr>
              <a:t>within each country</a:t>
            </a:r>
          </a:p>
          <a:p>
            <a:pPr algn="just"/>
            <a:r>
              <a:rPr lang="en-US" sz="2000" dirty="0">
                <a:latin typeface="Times New Roman" pitchFamily="18" charset="0"/>
                <a:cs typeface="Times New Roman" pitchFamily="18" charset="0"/>
              </a:rPr>
              <a:t>The theory also assumed that each country had as its objective </a:t>
            </a:r>
            <a:r>
              <a:rPr lang="en-US" sz="2000" dirty="0">
                <a:effectLst>
                  <a:outerShdw blurRad="38100" dist="38100" dir="2700000" algn="tl">
                    <a:srgbClr val="000000">
                      <a:alpha val="43137"/>
                    </a:srgbClr>
                  </a:outerShdw>
                </a:effectLst>
                <a:latin typeface="Times New Roman" pitchFamily="18" charset="0"/>
                <a:cs typeface="Times New Roman" pitchFamily="18" charset="0"/>
              </a:rPr>
              <a:t>full production efficiency</a:t>
            </a:r>
            <a:r>
              <a:rPr lang="en-US" sz="2000" dirty="0">
                <a:latin typeface="Times New Roman" pitchFamily="18" charset="0"/>
                <a:cs typeface="Times New Roman" pitchFamily="18" charset="0"/>
              </a:rPr>
              <a:t>. </a:t>
            </a:r>
          </a:p>
          <a:p>
            <a:pPr algn="just"/>
            <a:r>
              <a:rPr lang="en-US" sz="2000" dirty="0">
                <a:latin typeface="Times New Roman" pitchFamily="18" charset="0"/>
                <a:cs typeface="Times New Roman" pitchFamily="18" charset="0"/>
              </a:rPr>
              <a:t>Overly simplistic in that it deals with </a:t>
            </a:r>
            <a:r>
              <a:rPr lang="en-US" sz="2000" dirty="0">
                <a:solidFill>
                  <a:srgbClr val="FF0000"/>
                </a:solidFill>
                <a:latin typeface="Times New Roman" pitchFamily="18" charset="0"/>
                <a:cs typeface="Times New Roman" pitchFamily="18" charset="0"/>
              </a:rPr>
              <a:t>only two commodities </a:t>
            </a:r>
            <a:r>
              <a:rPr lang="en-US" sz="2000" dirty="0">
                <a:latin typeface="Times New Roman" pitchFamily="18" charset="0"/>
                <a:cs typeface="Times New Roman" pitchFamily="18" charset="0"/>
              </a:rPr>
              <a:t>and </a:t>
            </a:r>
            <a:r>
              <a:rPr lang="en-US" sz="2000" dirty="0">
                <a:solidFill>
                  <a:srgbClr val="FF0000"/>
                </a:solidFill>
                <a:latin typeface="Times New Roman" pitchFamily="18" charset="0"/>
                <a:cs typeface="Times New Roman" pitchFamily="18" charset="0"/>
              </a:rPr>
              <a:t>two countries</a:t>
            </a:r>
            <a:r>
              <a:rPr lang="en-US" sz="2000" dirty="0">
                <a:latin typeface="Times New Roman" pitchFamily="18" charset="0"/>
                <a:cs typeface="Times New Roman" pitchFamily="18" charset="0"/>
              </a:rPr>
              <a:t>.</a:t>
            </a:r>
          </a:p>
          <a:p>
            <a:endParaRPr lang="en-US" sz="2000" dirty="0">
              <a:latin typeface="Times New Roman" pitchFamily="18" charset="0"/>
              <a:cs typeface="Times New Roman" pitchFamily="18" charset="0"/>
            </a:endParaRPr>
          </a:p>
          <a:p>
            <a:pPr algn="just"/>
            <a:r>
              <a:rPr lang="en-US" sz="2000" dirty="0">
                <a:latin typeface="Times New Roman" pitchFamily="18" charset="0"/>
                <a:cs typeface="Times New Roman" pitchFamily="18" charset="0"/>
              </a:rPr>
              <a:t>The largest area of weakness in classical theory is that while we considered all resource units used in production, the </a:t>
            </a:r>
            <a:r>
              <a:rPr lang="en-US" sz="2000" dirty="0">
                <a:solidFill>
                  <a:srgbClr val="FF0000"/>
                </a:solidFill>
                <a:latin typeface="Times New Roman" pitchFamily="18" charset="0"/>
                <a:cs typeface="Times New Roman" pitchFamily="18" charset="0"/>
              </a:rPr>
              <a:t>only costs </a:t>
            </a:r>
            <a:r>
              <a:rPr lang="en-US" sz="2000" dirty="0">
                <a:latin typeface="Times New Roman" pitchFamily="18" charset="0"/>
                <a:cs typeface="Times New Roman" pitchFamily="18" charset="0"/>
              </a:rPr>
              <a:t>considered by classical economists were those associated with </a:t>
            </a:r>
            <a:r>
              <a:rPr lang="en-US" sz="2000" b="1" dirty="0">
                <a:solidFill>
                  <a:srgbClr val="FF0000"/>
                </a:solidFill>
                <a:latin typeface="Times New Roman" pitchFamily="18" charset="0"/>
                <a:cs typeface="Times New Roman" pitchFamily="18" charset="0"/>
              </a:rPr>
              <a:t>labor</a:t>
            </a:r>
            <a:r>
              <a:rPr lang="en-US" sz="2000" dirty="0">
                <a:latin typeface="Times New Roman" pitchFamily="18" charset="0"/>
                <a:cs typeface="Times New Roman" pitchFamily="18" charset="0"/>
              </a:rPr>
              <a:t>. The theorists did not account for other resources used in the production of commodities or manufactured goods for export, such as </a:t>
            </a:r>
            <a:r>
              <a:rPr lang="en-US" sz="2000" u="sng" dirty="0">
                <a:latin typeface="Times New Roman" pitchFamily="18" charset="0"/>
                <a:cs typeface="Times New Roman" pitchFamily="18" charset="0"/>
              </a:rPr>
              <a:t>transportation costs, the use of land, and capital</a:t>
            </a:r>
            <a:r>
              <a:rPr lang="en-US" sz="2000" dirty="0">
                <a:latin typeface="Times New Roman" pitchFamily="18" charset="0"/>
                <a:cs typeface="Times New Roman" pitchFamily="18" charset="0"/>
              </a:rPr>
              <a:t>.</a:t>
            </a:r>
          </a:p>
        </p:txBody>
      </p:sp>
    </p:spTree>
    <p:extLst>
      <p:ext uri="{BB962C8B-B14F-4D97-AF65-F5344CB8AC3E}">
        <p14:creationId xmlns:p14="http://schemas.microsoft.com/office/powerpoint/2010/main" val="1896306960"/>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685800" y="-571500"/>
            <a:ext cx="8229600" cy="1143000"/>
          </a:xfrm>
        </p:spPr>
        <p:txBody>
          <a:bodyPr>
            <a:normAutofit fontScale="90000"/>
          </a:bodyPr>
          <a:lstStyle/>
          <a:p>
            <a:pPr algn="ctr"/>
            <a:r>
              <a:rPr lang="en-US" dirty="0"/>
              <a:t/>
            </a:r>
            <a:br>
              <a:rPr lang="en-US" dirty="0"/>
            </a:br>
            <a:r>
              <a:rPr lang="en-US" dirty="0"/>
              <a:t/>
            </a:r>
            <a:br>
              <a:rPr lang="en-US" dirty="0"/>
            </a:br>
            <a:r>
              <a:rPr lang="en-US" b="1" dirty="0"/>
              <a:t> </a:t>
            </a:r>
            <a:r>
              <a:rPr lang="en-US" dirty="0"/>
              <a:t>Heckscher-Ohlin Theory</a:t>
            </a:r>
            <a:br>
              <a:rPr lang="en-US" dirty="0"/>
            </a:br>
            <a:r>
              <a:rPr lang="en-US" b="1" dirty="0"/>
              <a:t>FACTOR ENDOWMENT THEORY</a:t>
            </a:r>
          </a:p>
        </p:txBody>
      </p:sp>
      <p:sp>
        <p:nvSpPr>
          <p:cNvPr id="35842" name="Content Placeholder 2"/>
          <p:cNvSpPr>
            <a:spLocks noGrp="1"/>
          </p:cNvSpPr>
          <p:nvPr>
            <p:ph idx="1"/>
          </p:nvPr>
        </p:nvSpPr>
        <p:spPr>
          <a:xfrm>
            <a:off x="457200" y="1597891"/>
            <a:ext cx="8229600" cy="5257800"/>
          </a:xfrm>
        </p:spPr>
        <p:txBody>
          <a:bodyPr>
            <a:normAutofit fontScale="92500" lnSpcReduction="20000"/>
          </a:bodyPr>
          <a:lstStyle/>
          <a:p>
            <a:r>
              <a:rPr lang="en-US" dirty="0"/>
              <a:t>The countries differ  with respect to the </a:t>
            </a:r>
            <a:r>
              <a:rPr lang="en-US" dirty="0">
                <a:solidFill>
                  <a:srgbClr val="FF0000"/>
                </a:solidFill>
              </a:rPr>
              <a:t>availability of the </a:t>
            </a:r>
            <a:r>
              <a:rPr lang="en-US" sz="3600" b="1" dirty="0">
                <a:solidFill>
                  <a:srgbClr val="FF0000"/>
                </a:solidFill>
              </a:rPr>
              <a:t>factors</a:t>
            </a:r>
            <a:r>
              <a:rPr lang="en-US" dirty="0">
                <a:solidFill>
                  <a:srgbClr val="FF0000"/>
                </a:solidFill>
              </a:rPr>
              <a:t> of production</a:t>
            </a:r>
            <a:r>
              <a:rPr lang="en-US" dirty="0"/>
              <a:t>. </a:t>
            </a:r>
          </a:p>
          <a:p>
            <a:pPr algn="just"/>
            <a:r>
              <a:rPr lang="en-US" dirty="0"/>
              <a:t>They differ if one country, for example, has </a:t>
            </a:r>
            <a:r>
              <a:rPr lang="en-US" u="sng" dirty="0"/>
              <a:t>many machines (capital) but few workers</a:t>
            </a:r>
            <a:r>
              <a:rPr lang="en-US" dirty="0"/>
              <a:t>, while another country has a </a:t>
            </a:r>
            <a:r>
              <a:rPr lang="en-US" u="sng" dirty="0"/>
              <a:t>lot of workers but few machines</a:t>
            </a:r>
            <a:r>
              <a:rPr lang="en-US" dirty="0"/>
              <a:t>.</a:t>
            </a:r>
          </a:p>
          <a:p>
            <a:pPr algn="just"/>
            <a:endParaRPr lang="en-US" dirty="0"/>
          </a:p>
          <a:p>
            <a:pPr algn="just"/>
            <a:r>
              <a:rPr lang="en-US" dirty="0"/>
              <a:t>According to the </a:t>
            </a:r>
            <a:r>
              <a:rPr lang="en-US" dirty="0" err="1"/>
              <a:t>Heckscher</a:t>
            </a:r>
            <a:r>
              <a:rPr lang="en-US" dirty="0"/>
              <a:t>-Ohlin theory, a country specializes in the production of goods that it is </a:t>
            </a:r>
            <a:r>
              <a:rPr lang="en-US" b="1" dirty="0">
                <a:effectLst>
                  <a:outerShdw blurRad="38100" dist="38100" dir="2700000" algn="tl">
                    <a:srgbClr val="000000">
                      <a:alpha val="43137"/>
                    </a:srgbClr>
                  </a:outerShdw>
                </a:effectLst>
              </a:rPr>
              <a:t>particularly suited to produce</a:t>
            </a:r>
            <a:r>
              <a:rPr lang="en-US" dirty="0"/>
              <a:t>.</a:t>
            </a:r>
          </a:p>
          <a:p>
            <a:pPr marL="514350" indent="-514350">
              <a:buFont typeface="+mj-lt"/>
              <a:buAutoNum type="arabicPeriod"/>
            </a:pPr>
            <a:r>
              <a:rPr lang="en-US" dirty="0"/>
              <a:t>Capital Intensive</a:t>
            </a:r>
          </a:p>
          <a:p>
            <a:pPr marL="514350" indent="-514350">
              <a:buFont typeface="+mj-lt"/>
              <a:buAutoNum type="arabicPeriod"/>
            </a:pPr>
            <a:r>
              <a:rPr lang="en-US" dirty="0" err="1"/>
              <a:t>Labour</a:t>
            </a:r>
            <a:r>
              <a:rPr lang="en-US" dirty="0"/>
              <a:t> Intensive</a:t>
            </a:r>
          </a:p>
        </p:txBody>
      </p:sp>
    </p:spTree>
    <p:extLst>
      <p:ext uri="{BB962C8B-B14F-4D97-AF65-F5344CB8AC3E}">
        <p14:creationId xmlns:p14="http://schemas.microsoft.com/office/powerpoint/2010/main" val="2129074928"/>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6866" name="Picture 2" descr="http://www.newsline365.com/files/images/2008/09/mahindra_scorpio.jpg"/>
          <p:cNvPicPr>
            <a:picLocks noChangeAspect="1" noChangeArrowheads="1"/>
          </p:cNvPicPr>
          <p:nvPr/>
        </p:nvPicPr>
        <p:blipFill>
          <a:blip r:embed="rId2">
            <a:extLst>
              <a:ext uri="{BEBA8EAE-BF5A-486C-A8C5-ECC9F3942E4B}">
                <a14:imgProps xmlns:a14="http://schemas.microsoft.com/office/drawing/2010/main">
                  <a14:imgLayer r:embed="rId3">
                    <a14:imgEffect>
                      <a14:backgroundRemoval t="5000" b="93571" l="2000" r="93750"/>
                    </a14:imgEffect>
                  </a14:imgLayer>
                </a14:imgProps>
              </a:ext>
            </a:extLst>
          </a:blip>
          <a:srcRect/>
          <a:stretch>
            <a:fillRect/>
          </a:stretch>
        </p:blipFill>
        <p:spPr bwMode="auto">
          <a:xfrm>
            <a:off x="6096000" y="1219200"/>
            <a:ext cx="3352800" cy="2209800"/>
          </a:xfrm>
          <a:prstGeom prst="rect">
            <a:avLst/>
          </a:prstGeom>
          <a:noFill/>
          <a:ln w="9525">
            <a:noFill/>
            <a:miter lim="800000"/>
            <a:headEnd/>
            <a:tailEnd/>
          </a:ln>
        </p:spPr>
      </p:pic>
      <p:sp>
        <p:nvSpPr>
          <p:cNvPr id="7" name="Title 6"/>
          <p:cNvSpPr>
            <a:spLocks noGrp="1"/>
          </p:cNvSpPr>
          <p:nvPr>
            <p:ph type="title"/>
          </p:nvPr>
        </p:nvSpPr>
        <p:spPr>
          <a:xfrm>
            <a:off x="609600" y="457200"/>
            <a:ext cx="6934200" cy="1143000"/>
          </a:xfrm>
        </p:spPr>
        <p:txBody>
          <a:bodyPr>
            <a:normAutofit fontScale="90000"/>
          </a:bodyPr>
          <a:lstStyle/>
          <a:p>
            <a:pPr fontAlgn="auto">
              <a:spcAft>
                <a:spcPts val="0"/>
              </a:spcAft>
              <a:defRPr/>
            </a:pPr>
            <a:r>
              <a:rPr lang="en-US" b="1" dirty="0"/>
              <a:t>Machines and Workers </a:t>
            </a:r>
            <a:r>
              <a:rPr lang="en-US" dirty="0"/>
              <a:t/>
            </a:r>
            <a:br>
              <a:rPr lang="en-US" dirty="0"/>
            </a:br>
            <a:endParaRPr lang="en-US" dirty="0"/>
          </a:p>
        </p:txBody>
      </p:sp>
      <p:sp>
        <p:nvSpPr>
          <p:cNvPr id="9" name="Content Placeholder 8"/>
          <p:cNvSpPr>
            <a:spLocks noGrp="1"/>
          </p:cNvSpPr>
          <p:nvPr>
            <p:ph sz="quarter" idx="1"/>
          </p:nvPr>
        </p:nvSpPr>
        <p:spPr>
          <a:xfrm>
            <a:off x="304800" y="1143000"/>
            <a:ext cx="5410200" cy="4645025"/>
          </a:xfrm>
        </p:spPr>
        <p:txBody>
          <a:bodyPr>
            <a:normAutofit fontScale="70000" lnSpcReduction="20000"/>
          </a:bodyPr>
          <a:lstStyle/>
          <a:p>
            <a:pPr marL="274320" indent="-274320" fontAlgn="auto">
              <a:spcAft>
                <a:spcPts val="0"/>
              </a:spcAft>
              <a:buFont typeface="Wingdings"/>
              <a:buChar char=""/>
              <a:defRPr/>
            </a:pPr>
            <a:endParaRPr lang="en-US" dirty="0"/>
          </a:p>
          <a:p>
            <a:pPr marL="274320" indent="-274320" algn="just" fontAlgn="auto">
              <a:spcAft>
                <a:spcPts val="0"/>
              </a:spcAft>
              <a:buFont typeface="Wingdings"/>
              <a:buChar char=""/>
              <a:defRPr/>
            </a:pPr>
            <a:r>
              <a:rPr lang="en-US" dirty="0"/>
              <a:t>The production of goods and services requires capital and workers. Some goods require </a:t>
            </a:r>
            <a:r>
              <a:rPr lang="en-US" u="sng" dirty="0">
                <a:solidFill>
                  <a:schemeClr val="accent3"/>
                </a:solidFill>
              </a:rPr>
              <a:t>more capital </a:t>
            </a:r>
            <a:r>
              <a:rPr lang="en-US" dirty="0"/>
              <a:t>- technical equipment and machinery - and are called </a:t>
            </a:r>
            <a:r>
              <a:rPr lang="en-US" b="1" i="1" u="sng" dirty="0">
                <a:solidFill>
                  <a:srgbClr val="C00000"/>
                </a:solidFill>
              </a:rPr>
              <a:t>capital intensive</a:t>
            </a:r>
            <a:r>
              <a:rPr lang="en-US" i="1" dirty="0">
                <a:solidFill>
                  <a:schemeClr val="accent3"/>
                </a:solidFill>
              </a:rPr>
              <a:t>. </a:t>
            </a:r>
            <a:r>
              <a:rPr lang="en-US" u="sng" dirty="0"/>
              <a:t>Examples of these goods are cars, computers, and cell phones</a:t>
            </a:r>
            <a:r>
              <a:rPr lang="en-US" dirty="0"/>
              <a:t>.</a:t>
            </a:r>
          </a:p>
          <a:p>
            <a:pPr marL="0" indent="0" fontAlgn="auto">
              <a:spcAft>
                <a:spcPts val="0"/>
              </a:spcAft>
              <a:buNone/>
              <a:defRPr/>
            </a:pPr>
            <a:endParaRPr lang="en-US" dirty="0"/>
          </a:p>
          <a:p>
            <a:pPr marL="274320" indent="-274320" algn="just" fontAlgn="auto">
              <a:spcAft>
                <a:spcPts val="0"/>
              </a:spcAft>
              <a:buFont typeface="Wingdings"/>
              <a:buChar char=""/>
              <a:defRPr/>
            </a:pPr>
            <a:r>
              <a:rPr lang="en-US" dirty="0"/>
              <a:t>Other goods require less equipment to produce and rely </a:t>
            </a:r>
            <a:r>
              <a:rPr lang="en-US" b="1" u="sng" dirty="0"/>
              <a:t>mostly on the efforts of the workers</a:t>
            </a:r>
            <a:r>
              <a:rPr lang="en-US" dirty="0"/>
              <a:t>. These goods are </a:t>
            </a:r>
            <a:r>
              <a:rPr lang="en-US" b="1" u="sng" dirty="0"/>
              <a:t>called </a:t>
            </a:r>
            <a:r>
              <a:rPr lang="en-US" b="1" i="1" u="sng" dirty="0">
                <a:solidFill>
                  <a:srgbClr val="C00000"/>
                </a:solidFill>
              </a:rPr>
              <a:t>labor intensive</a:t>
            </a:r>
            <a:r>
              <a:rPr lang="en-US" dirty="0"/>
              <a:t>. </a:t>
            </a:r>
            <a:r>
              <a:rPr lang="en-US" u="sng" dirty="0"/>
              <a:t>Examples of these goods are shoes and textile products such as jeans</a:t>
            </a:r>
            <a:r>
              <a:rPr lang="en-US" dirty="0"/>
              <a:t>. </a:t>
            </a:r>
          </a:p>
          <a:p>
            <a:pPr marL="274320" indent="-274320" fontAlgn="auto">
              <a:spcAft>
                <a:spcPts val="0"/>
              </a:spcAft>
              <a:buFont typeface="Wingdings"/>
              <a:buChar char=""/>
              <a:defRPr/>
            </a:pPr>
            <a:endParaRPr lang="en-US" dirty="0"/>
          </a:p>
        </p:txBody>
      </p:sp>
      <p:pic>
        <p:nvPicPr>
          <p:cNvPr id="36870" name="Picture 4" descr="http://photos.merinews.com/upload/imageGallery/bigImage/1241419682264-labour%20picture.jpg"/>
          <p:cNvPicPr>
            <a:picLocks noChangeAspect="1" noChangeArrowheads="1"/>
          </p:cNvPicPr>
          <p:nvPr/>
        </p:nvPicPr>
        <p:blipFill>
          <a:blip r:embed="rId4"/>
          <a:srcRect/>
          <a:stretch>
            <a:fillRect/>
          </a:stretch>
        </p:blipFill>
        <p:spPr bwMode="auto">
          <a:xfrm>
            <a:off x="7010400" y="4648200"/>
            <a:ext cx="1981200" cy="1905000"/>
          </a:xfrm>
          <a:prstGeom prst="rect">
            <a:avLst/>
          </a:prstGeom>
          <a:noFill/>
          <a:ln w="9525">
            <a:noFill/>
            <a:miter lim="800000"/>
            <a:headEnd/>
            <a:tailEnd/>
          </a:ln>
        </p:spPr>
      </p:pic>
      <p:pic>
        <p:nvPicPr>
          <p:cNvPr id="36872" name="Picture 2" descr="http://t2.gstatic.com/images?q=tbn:qc8OEbffDqofqM:http://1.bp.blogspot.com/_FJSI89AtK0M/ShW4iY4QobI/AAAAAAAAFP8/q8iIaTpIz1I/s400/painted%2Band%2Bstitched%2Bshirt%2Bfor%2Bdad.jpg">
            <a:hlinkClick r:id="rId5"/>
          </p:cNvPr>
          <p:cNvPicPr>
            <a:picLocks noChangeAspect="1" noChangeArrowheads="1"/>
          </p:cNvPicPr>
          <p:nvPr/>
        </p:nvPicPr>
        <p:blipFill>
          <a:blip r:embed="rId6"/>
          <a:srcRect/>
          <a:stretch>
            <a:fillRect/>
          </a:stretch>
        </p:blipFill>
        <p:spPr bwMode="auto">
          <a:xfrm>
            <a:off x="5748528" y="3657600"/>
            <a:ext cx="1566672" cy="1447800"/>
          </a:xfrm>
          <a:prstGeom prst="rect">
            <a:avLst/>
          </a:prstGeom>
          <a:noFill/>
          <a:ln w="9525">
            <a:noFill/>
            <a:miter lim="800000"/>
            <a:headEnd/>
            <a:tailEnd/>
          </a:ln>
        </p:spPr>
      </p:pic>
    </p:spTree>
    <p:extLst>
      <p:ext uri="{BB962C8B-B14F-4D97-AF65-F5344CB8AC3E}">
        <p14:creationId xmlns:p14="http://schemas.microsoft.com/office/powerpoint/2010/main" val="2749173887"/>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2400" y="304800"/>
            <a:ext cx="8991600" cy="1447800"/>
          </a:xfrm>
        </p:spPr>
        <p:txBody>
          <a:bodyPr>
            <a:noAutofit/>
          </a:bodyPr>
          <a:lstStyle/>
          <a:p>
            <a:pPr algn="ctr"/>
            <a:r>
              <a:rPr lang="en-US" sz="3600" dirty="0"/>
              <a:t>MODERN THEORIES</a:t>
            </a:r>
            <a:r>
              <a:rPr lang="en-US" sz="3600" b="1" dirty="0"/>
              <a:t/>
            </a:r>
            <a:br>
              <a:rPr lang="en-US" sz="3600" b="1" dirty="0"/>
            </a:br>
            <a:r>
              <a:rPr lang="en-US" sz="3600" b="1" dirty="0"/>
              <a:t>INTERNATIONAL PRODUCT LIFE</a:t>
            </a:r>
            <a:br>
              <a:rPr lang="en-US" sz="3600" b="1" dirty="0"/>
            </a:br>
            <a:r>
              <a:rPr lang="en-US" sz="3600" b="1" dirty="0"/>
              <a:t>CYCLE  THEORY (IPLC)</a:t>
            </a:r>
          </a:p>
        </p:txBody>
      </p:sp>
      <p:sp>
        <p:nvSpPr>
          <p:cNvPr id="3" name="Content Placeholder 2"/>
          <p:cNvSpPr>
            <a:spLocks noGrp="1"/>
          </p:cNvSpPr>
          <p:nvPr>
            <p:ph idx="1"/>
          </p:nvPr>
        </p:nvSpPr>
        <p:spPr>
          <a:xfrm>
            <a:off x="0" y="1600200"/>
            <a:ext cx="9067800" cy="5562600"/>
          </a:xfrm>
        </p:spPr>
        <p:txBody>
          <a:bodyPr>
            <a:normAutofit fontScale="92500" lnSpcReduction="20000"/>
          </a:bodyPr>
          <a:lstStyle/>
          <a:p>
            <a:pPr algn="just">
              <a:spcBef>
                <a:spcPts val="0"/>
              </a:spcBef>
              <a:defRPr/>
            </a:pPr>
            <a:r>
              <a:rPr lang="en-US" dirty="0"/>
              <a:t>The </a:t>
            </a:r>
            <a:r>
              <a:rPr lang="en-US" b="1" dirty="0"/>
              <a:t>product life-cycle theory</a:t>
            </a:r>
            <a:r>
              <a:rPr lang="en-US" dirty="0"/>
              <a:t> is an economic theory that was developed by </a:t>
            </a:r>
            <a:r>
              <a:rPr lang="en-US" dirty="0">
                <a:solidFill>
                  <a:srgbClr val="7030A0"/>
                </a:solidFill>
              </a:rPr>
              <a:t>Raymond Vernon.</a:t>
            </a:r>
          </a:p>
          <a:p>
            <a:pPr>
              <a:spcBef>
                <a:spcPts val="0"/>
              </a:spcBef>
              <a:defRPr/>
            </a:pPr>
            <a:endParaRPr lang="en-US" dirty="0">
              <a:solidFill>
                <a:srgbClr val="7030A0"/>
              </a:solidFill>
            </a:endParaRPr>
          </a:p>
          <a:p>
            <a:pPr algn="just">
              <a:spcBef>
                <a:spcPts val="0"/>
              </a:spcBef>
              <a:defRPr/>
            </a:pPr>
            <a:r>
              <a:rPr lang="en-US" dirty="0"/>
              <a:t>The intent of his International Product Life Cycle model (IPLC) was to </a:t>
            </a:r>
            <a:r>
              <a:rPr lang="en-US" b="1" i="1" u="sng" dirty="0">
                <a:solidFill>
                  <a:srgbClr val="7030A0"/>
                </a:solidFill>
              </a:rPr>
              <a:t>advance trade theory </a:t>
            </a:r>
            <a:r>
              <a:rPr lang="en-US" b="1" i="1" u="sng" dirty="0"/>
              <a:t>beyond David Ricardo’s static framework of comparative advantages</a:t>
            </a:r>
            <a:r>
              <a:rPr lang="en-US" dirty="0">
                <a:solidFill>
                  <a:srgbClr val="7030A0"/>
                </a:solidFill>
              </a:rPr>
              <a:t>. </a:t>
            </a:r>
          </a:p>
          <a:p>
            <a:pPr algn="just">
              <a:spcBef>
                <a:spcPts val="0"/>
              </a:spcBef>
              <a:defRPr/>
            </a:pPr>
            <a:endParaRPr lang="en-US" dirty="0">
              <a:solidFill>
                <a:srgbClr val="7030A0"/>
              </a:solidFill>
            </a:endParaRPr>
          </a:p>
          <a:p>
            <a:pPr>
              <a:spcBef>
                <a:spcPts val="0"/>
              </a:spcBef>
              <a:defRPr/>
            </a:pPr>
            <a:r>
              <a:rPr lang="en-US" dirty="0"/>
              <a:t>The product life cycle - explain </a:t>
            </a:r>
            <a:r>
              <a:rPr lang="en-US" b="1" i="1" u="sng" dirty="0">
                <a:solidFill>
                  <a:srgbClr val="7030A0"/>
                </a:solidFill>
              </a:rPr>
              <a:t>how trade patterns </a:t>
            </a:r>
            <a:r>
              <a:rPr lang="en-US" b="1" i="1" u="sng" dirty="0">
                <a:solidFill>
                  <a:srgbClr val="FF0000"/>
                </a:solidFill>
              </a:rPr>
              <a:t>change </a:t>
            </a:r>
            <a:r>
              <a:rPr lang="en-US" b="1" i="1" u="sng" dirty="0">
                <a:solidFill>
                  <a:srgbClr val="7030A0"/>
                </a:solidFill>
              </a:rPr>
              <a:t>overtime.</a:t>
            </a:r>
          </a:p>
          <a:p>
            <a:pPr marL="0" indent="0">
              <a:spcBef>
                <a:spcPts val="0"/>
              </a:spcBef>
              <a:buNone/>
              <a:defRPr/>
            </a:pPr>
            <a:endParaRPr lang="en-US" b="1" i="1" u="sng" dirty="0">
              <a:solidFill>
                <a:srgbClr val="7030A0"/>
              </a:solidFill>
            </a:endParaRPr>
          </a:p>
          <a:p>
            <a:pPr algn="just"/>
            <a:r>
              <a:rPr lang="en-US" dirty="0"/>
              <a:t>This theory looks at the </a:t>
            </a:r>
            <a:r>
              <a:rPr lang="en-US" b="1" dirty="0">
                <a:effectLst>
                  <a:outerShdw blurRad="38100" dist="38100" dir="2700000" algn="tl">
                    <a:srgbClr val="000000">
                      <a:alpha val="43137"/>
                    </a:srgbClr>
                  </a:outerShdw>
                </a:effectLst>
              </a:rPr>
              <a:t>potential export possibilities </a:t>
            </a:r>
            <a:r>
              <a:rPr lang="en-US" dirty="0"/>
              <a:t>of a product in four discrete stages in its life cycle.</a:t>
            </a:r>
            <a:r>
              <a:rPr lang="en-US" b="1" i="1" u="sng" dirty="0">
                <a:solidFill>
                  <a:srgbClr val="7030A0"/>
                </a:solidFill>
              </a:rPr>
              <a:t/>
            </a:r>
            <a:br>
              <a:rPr lang="en-US" b="1" i="1" u="sng" dirty="0">
                <a:solidFill>
                  <a:srgbClr val="7030A0"/>
                </a:solidFill>
              </a:rPr>
            </a:br>
            <a:endParaRPr lang="en-US" dirty="0">
              <a:solidFill>
                <a:srgbClr val="7030A0"/>
              </a:solidFill>
            </a:endParaRPr>
          </a:p>
          <a:p>
            <a:endParaRPr lang="en-US" dirty="0"/>
          </a:p>
        </p:txBody>
      </p:sp>
    </p:spTree>
    <p:extLst>
      <p:ext uri="{BB962C8B-B14F-4D97-AF65-F5344CB8AC3E}">
        <p14:creationId xmlns:p14="http://schemas.microsoft.com/office/powerpoint/2010/main" val="3488556573"/>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53536"/>
            <a:ext cx="8229600" cy="1143000"/>
          </a:xfrm>
        </p:spPr>
        <p:txBody>
          <a:bodyPr/>
          <a:lstStyle/>
          <a:p>
            <a:pPr marL="54864" indent="0" fontAlgn="auto">
              <a:spcAft>
                <a:spcPts val="0"/>
              </a:spcAft>
              <a:defRPr/>
            </a:pPr>
            <a:r>
              <a:rPr lang="en-US" b="1" dirty="0">
                <a:solidFill>
                  <a:schemeClr val="tx2">
                    <a:tint val="100000"/>
                    <a:shade val="90000"/>
                    <a:satMod val="250000"/>
                    <a:alpha val="100000"/>
                  </a:schemeClr>
                </a:solidFill>
              </a:rPr>
              <a:t>Stage 1: Introduction</a:t>
            </a:r>
            <a:endParaRPr lang="en-US" dirty="0">
              <a:solidFill>
                <a:schemeClr val="tx2">
                  <a:tint val="100000"/>
                  <a:shade val="90000"/>
                  <a:satMod val="250000"/>
                  <a:alpha val="100000"/>
                </a:schemeClr>
              </a:solidFill>
            </a:endParaRPr>
          </a:p>
        </p:txBody>
      </p:sp>
      <p:sp>
        <p:nvSpPr>
          <p:cNvPr id="47107" name="Content Placeholder 2"/>
          <p:cNvSpPr>
            <a:spLocks noGrp="1"/>
          </p:cNvSpPr>
          <p:nvPr>
            <p:ph idx="1"/>
          </p:nvPr>
        </p:nvSpPr>
        <p:spPr>
          <a:xfrm>
            <a:off x="0" y="1646238"/>
            <a:ext cx="8686800" cy="4906962"/>
          </a:xfrm>
        </p:spPr>
        <p:txBody>
          <a:bodyPr/>
          <a:lstStyle/>
          <a:p>
            <a:pPr algn="just"/>
            <a:r>
              <a:rPr lang="en-US" dirty="0"/>
              <a:t>New products are introduced to meet local (i.e., national) needs, and new products </a:t>
            </a:r>
            <a:r>
              <a:rPr lang="en-US" u="sng" dirty="0"/>
              <a:t>are first exported </a:t>
            </a:r>
            <a:r>
              <a:rPr lang="en-US" b="1" dirty="0"/>
              <a:t>to similar countries</a:t>
            </a:r>
            <a:r>
              <a:rPr lang="en-US" dirty="0"/>
              <a:t>, </a:t>
            </a:r>
            <a:r>
              <a:rPr lang="en-US" u="sng" dirty="0"/>
              <a:t>countries with similar needs, preferences, and incomes</a:t>
            </a:r>
            <a:r>
              <a:rPr lang="en-US" dirty="0"/>
              <a:t>.</a:t>
            </a:r>
          </a:p>
          <a:p>
            <a:endParaRPr lang="en-US" dirty="0"/>
          </a:p>
          <a:p>
            <a:pPr algn="just"/>
            <a:r>
              <a:rPr lang="en-US" dirty="0"/>
              <a:t>In this stage, the company generally </a:t>
            </a:r>
            <a:r>
              <a:rPr lang="en-US" b="1" dirty="0">
                <a:solidFill>
                  <a:srgbClr val="FF0000"/>
                </a:solidFill>
              </a:rPr>
              <a:t>has little competition </a:t>
            </a:r>
            <a:r>
              <a:rPr lang="en-US" dirty="0"/>
              <a:t>in its markets abroad.</a:t>
            </a:r>
          </a:p>
          <a:p>
            <a:pPr>
              <a:buNone/>
            </a:pPr>
            <a:endParaRPr lang="en-US" dirty="0"/>
          </a:p>
        </p:txBody>
      </p:sp>
    </p:spTree>
    <p:extLst>
      <p:ext uri="{BB962C8B-B14F-4D97-AF65-F5344CB8AC3E}">
        <p14:creationId xmlns:p14="http://schemas.microsoft.com/office/powerpoint/2010/main" val="3120187397"/>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53536"/>
            <a:ext cx="8229600" cy="1143000"/>
          </a:xfrm>
        </p:spPr>
        <p:txBody>
          <a:bodyPr/>
          <a:lstStyle/>
          <a:p>
            <a:pPr marL="54864" indent="0" fontAlgn="auto">
              <a:spcAft>
                <a:spcPts val="0"/>
              </a:spcAft>
              <a:defRPr/>
            </a:pPr>
            <a:r>
              <a:rPr lang="en-US" b="1" dirty="0">
                <a:solidFill>
                  <a:schemeClr val="tx2">
                    <a:tint val="100000"/>
                    <a:shade val="90000"/>
                    <a:satMod val="250000"/>
                    <a:alpha val="100000"/>
                  </a:schemeClr>
                </a:solidFill>
              </a:rPr>
              <a:t>Stage 2: Growth</a:t>
            </a:r>
            <a:endParaRPr lang="en-US" dirty="0">
              <a:solidFill>
                <a:schemeClr val="tx2">
                  <a:tint val="100000"/>
                  <a:shade val="90000"/>
                  <a:satMod val="250000"/>
                  <a:alpha val="100000"/>
                </a:schemeClr>
              </a:solidFill>
            </a:endParaRPr>
          </a:p>
        </p:txBody>
      </p:sp>
      <p:sp>
        <p:nvSpPr>
          <p:cNvPr id="48131" name="Content Placeholder 2"/>
          <p:cNvSpPr>
            <a:spLocks noGrp="1"/>
          </p:cNvSpPr>
          <p:nvPr>
            <p:ph idx="1"/>
          </p:nvPr>
        </p:nvSpPr>
        <p:spPr>
          <a:xfrm>
            <a:off x="0" y="1447800"/>
            <a:ext cx="8915400" cy="5410200"/>
          </a:xfrm>
        </p:spPr>
        <p:txBody>
          <a:bodyPr>
            <a:normAutofit fontScale="92500" lnSpcReduction="20000"/>
          </a:bodyPr>
          <a:lstStyle/>
          <a:p>
            <a:r>
              <a:rPr lang="en-US" dirty="0"/>
              <a:t>Increase in sale of new product </a:t>
            </a:r>
            <a:r>
              <a:rPr lang="en-US" dirty="0">
                <a:solidFill>
                  <a:srgbClr val="FF0000"/>
                </a:solidFill>
              </a:rPr>
              <a:t>attracts competitors</a:t>
            </a:r>
            <a:r>
              <a:rPr lang="en-US" dirty="0"/>
              <a:t>.</a:t>
            </a:r>
          </a:p>
          <a:p>
            <a:endParaRPr lang="en-US" dirty="0"/>
          </a:p>
          <a:p>
            <a:pPr algn="just"/>
            <a:r>
              <a:rPr lang="en-US" dirty="0"/>
              <a:t>Unfortunately, so does competition as other firms enter the arena and the product becomes </a:t>
            </a:r>
            <a:r>
              <a:rPr lang="en-US" dirty="0">
                <a:solidFill>
                  <a:srgbClr val="FF0000"/>
                </a:solidFill>
              </a:rPr>
              <a:t>increasingly standardized</a:t>
            </a:r>
            <a:r>
              <a:rPr lang="en-US" dirty="0"/>
              <a:t>.</a:t>
            </a:r>
          </a:p>
          <a:p>
            <a:pPr algn="just"/>
            <a:endParaRPr lang="en-US" dirty="0"/>
          </a:p>
          <a:p>
            <a:pPr algn="just"/>
            <a:r>
              <a:rPr lang="en-US" dirty="0"/>
              <a:t> Further innovation in product, cost reduction, market process takes place (technical equipped)</a:t>
            </a:r>
          </a:p>
          <a:p>
            <a:pPr marL="0" indent="0" algn="just">
              <a:buNone/>
            </a:pPr>
            <a:r>
              <a:rPr lang="en-US" b="1" u="sng" dirty="0"/>
              <a:t>Solution</a:t>
            </a:r>
          </a:p>
          <a:p>
            <a:r>
              <a:rPr lang="en-US" dirty="0">
                <a:solidFill>
                  <a:srgbClr val="FF0000"/>
                </a:solidFill>
              </a:rPr>
              <a:t>Shift manufacturing to foreign countries</a:t>
            </a:r>
          </a:p>
          <a:p>
            <a:pPr marL="0" indent="0" algn="just">
              <a:buNone/>
            </a:pPr>
            <a:r>
              <a:rPr lang="en-US" dirty="0"/>
              <a:t>(</a:t>
            </a:r>
            <a:r>
              <a:rPr lang="en-US" u="sng" dirty="0"/>
              <a:t>E.g., the IBM PCs were produced in the US and spread quickly throughout the industrialized countries</a:t>
            </a:r>
            <a:r>
              <a:rPr lang="en-US" dirty="0"/>
              <a:t>.)</a:t>
            </a:r>
          </a:p>
          <a:p>
            <a:endParaRPr lang="en-US" dirty="0"/>
          </a:p>
          <a:p>
            <a:endParaRPr lang="en-US" dirty="0"/>
          </a:p>
        </p:txBody>
      </p:sp>
    </p:spTree>
    <p:extLst>
      <p:ext uri="{BB962C8B-B14F-4D97-AF65-F5344CB8AC3E}">
        <p14:creationId xmlns:p14="http://schemas.microsoft.com/office/powerpoint/2010/main" val="1855159373"/>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33400" y="0"/>
            <a:ext cx="8229600" cy="1143000"/>
          </a:xfrm>
        </p:spPr>
        <p:txBody>
          <a:bodyPr/>
          <a:lstStyle/>
          <a:p>
            <a:r>
              <a:rPr lang="en-US" b="1" dirty="0">
                <a:solidFill>
                  <a:schemeClr val="tx2">
                    <a:tint val="100000"/>
                    <a:shade val="90000"/>
                    <a:satMod val="250000"/>
                    <a:alpha val="100000"/>
                  </a:schemeClr>
                </a:solidFill>
              </a:rPr>
              <a:t>Stage 3: Maturity</a:t>
            </a:r>
            <a:endParaRPr lang="en-US" dirty="0"/>
          </a:p>
        </p:txBody>
      </p:sp>
      <p:sp>
        <p:nvSpPr>
          <p:cNvPr id="3" name="Content Placeholder 2"/>
          <p:cNvSpPr>
            <a:spLocks noGrp="1"/>
          </p:cNvSpPr>
          <p:nvPr>
            <p:ph idx="1"/>
          </p:nvPr>
        </p:nvSpPr>
        <p:spPr>
          <a:xfrm>
            <a:off x="0" y="1219200"/>
            <a:ext cx="9144000" cy="5105400"/>
          </a:xfrm>
        </p:spPr>
        <p:txBody>
          <a:bodyPr>
            <a:noAutofit/>
          </a:bodyPr>
          <a:lstStyle/>
          <a:p>
            <a:pPr algn="just"/>
            <a:r>
              <a:rPr lang="en-US" sz="2400" dirty="0">
                <a:latin typeface="Times New Roman" pitchFamily="18" charset="0"/>
                <a:cs typeface="Times New Roman" pitchFamily="18" charset="0"/>
              </a:rPr>
              <a:t>Exports from the home country decrease </a:t>
            </a:r>
            <a:r>
              <a:rPr lang="en-US" sz="2400" u="sng" dirty="0">
                <a:latin typeface="Times New Roman" pitchFamily="18" charset="0"/>
                <a:cs typeface="Times New Roman" pitchFamily="18" charset="0"/>
              </a:rPr>
              <a:t>because of increased production in overseas locations.</a:t>
            </a:r>
          </a:p>
          <a:p>
            <a:pPr algn="just"/>
            <a:r>
              <a:rPr lang="en-US" sz="2400" dirty="0">
                <a:latin typeface="Times New Roman" pitchFamily="18" charset="0"/>
                <a:cs typeface="Times New Roman" pitchFamily="18" charset="0"/>
              </a:rPr>
              <a:t>At this point, </a:t>
            </a:r>
            <a:r>
              <a:rPr lang="en-US" sz="2400" b="1" dirty="0">
                <a:solidFill>
                  <a:srgbClr val="FF0000"/>
                </a:solidFill>
                <a:latin typeface="Times New Roman" pitchFamily="18" charset="0"/>
                <a:cs typeface="Times New Roman" pitchFamily="18" charset="0"/>
              </a:rPr>
              <a:t>price </a:t>
            </a:r>
            <a:r>
              <a:rPr lang="en-US" sz="2400" dirty="0">
                <a:latin typeface="Times New Roman" pitchFamily="18" charset="0"/>
                <a:cs typeface="Times New Roman" pitchFamily="18" charset="0"/>
              </a:rPr>
              <a:t>becomes a crucial determinant of competitiveness. Consequently, </a:t>
            </a:r>
            <a:r>
              <a:rPr lang="en-US" sz="2400" b="1" dirty="0">
                <a:effectLst>
                  <a:outerShdw blurRad="38100" dist="38100" dir="2700000" algn="tl">
                    <a:srgbClr val="000000">
                      <a:alpha val="43137"/>
                    </a:srgbClr>
                  </a:outerShdw>
                </a:effectLst>
                <a:latin typeface="Times New Roman" pitchFamily="18" charset="0"/>
                <a:cs typeface="Times New Roman" pitchFamily="18" charset="0"/>
              </a:rPr>
              <a:t>minimizing costs </a:t>
            </a:r>
            <a:r>
              <a:rPr lang="en-US" sz="2400" dirty="0">
                <a:latin typeface="Times New Roman" pitchFamily="18" charset="0"/>
                <a:cs typeface="Times New Roman" pitchFamily="18" charset="0"/>
              </a:rPr>
              <a:t> becomes an important objective of the manufacturing firm.</a:t>
            </a:r>
          </a:p>
          <a:p>
            <a:pPr marL="0" indent="0" algn="just">
              <a:buNone/>
            </a:pPr>
            <a:endParaRPr lang="en-US" sz="2400" dirty="0">
              <a:latin typeface="Times New Roman" pitchFamily="18" charset="0"/>
              <a:cs typeface="Times New Roman" pitchFamily="18" charset="0"/>
            </a:endParaRPr>
          </a:p>
          <a:p>
            <a:pPr algn="just"/>
            <a:r>
              <a:rPr lang="en-US" sz="2400" dirty="0">
                <a:latin typeface="Times New Roman" pitchFamily="18" charset="0"/>
                <a:cs typeface="Times New Roman" pitchFamily="18" charset="0"/>
              </a:rPr>
              <a:t>Production also frequently shifts from being within foreign industrial markets to </a:t>
            </a:r>
            <a:r>
              <a:rPr lang="en-US" sz="2400" u="sng" dirty="0">
                <a:latin typeface="Times New Roman" pitchFamily="18" charset="0"/>
                <a:cs typeface="Times New Roman" pitchFamily="18" charset="0"/>
              </a:rPr>
              <a:t>less costly less-developed countries</a:t>
            </a:r>
            <a:r>
              <a:rPr lang="en-US" sz="2400" dirty="0">
                <a:latin typeface="Times New Roman" pitchFamily="18" charset="0"/>
                <a:cs typeface="Times New Roman" pitchFamily="18" charset="0"/>
              </a:rPr>
              <a:t> (LDCs) to take advantage of cheaper production factors, especially low labor costs.</a:t>
            </a:r>
          </a:p>
          <a:p>
            <a:pPr algn="just"/>
            <a:endParaRPr lang="en-US" sz="2400" dirty="0">
              <a:latin typeface="Times New Roman" pitchFamily="18" charset="0"/>
              <a:cs typeface="Times New Roman" pitchFamily="18" charset="0"/>
            </a:endParaRPr>
          </a:p>
          <a:p>
            <a:pPr algn="just"/>
            <a:r>
              <a:rPr lang="en-US" sz="2400" dirty="0">
                <a:latin typeface="Times New Roman" pitchFamily="18" charset="0"/>
                <a:cs typeface="Times New Roman" pitchFamily="18" charset="0"/>
              </a:rPr>
              <a:t>At this point the </a:t>
            </a:r>
            <a:r>
              <a:rPr lang="en-US" sz="2400" dirty="0">
                <a:solidFill>
                  <a:srgbClr val="FF0000"/>
                </a:solidFill>
                <a:effectLst>
                  <a:outerShdw blurRad="38100" dist="38100" dir="2700000" algn="tl">
                    <a:srgbClr val="000000">
                      <a:alpha val="43137"/>
                    </a:srgbClr>
                  </a:outerShdw>
                </a:effectLst>
                <a:latin typeface="Times New Roman" pitchFamily="18" charset="0"/>
                <a:cs typeface="Times New Roman" pitchFamily="18" charset="0"/>
              </a:rPr>
              <a:t>innovator country </a:t>
            </a:r>
            <a:r>
              <a:rPr lang="en-US" sz="2400" dirty="0">
                <a:latin typeface="Times New Roman" pitchFamily="18" charset="0"/>
                <a:cs typeface="Times New Roman" pitchFamily="18" charset="0"/>
              </a:rPr>
              <a:t>may even </a:t>
            </a:r>
            <a:r>
              <a:rPr lang="en-US" sz="2400" u="sng" dirty="0">
                <a:latin typeface="Times New Roman" pitchFamily="18" charset="0"/>
                <a:cs typeface="Times New Roman" pitchFamily="18" charset="0"/>
              </a:rPr>
              <a:t>decide to discontinue all domestic production</a:t>
            </a:r>
            <a:r>
              <a:rPr lang="en-US" sz="2400" dirty="0">
                <a:latin typeface="Times New Roman" pitchFamily="18" charset="0"/>
                <a:cs typeface="Times New Roman" pitchFamily="18" charset="0"/>
              </a:rPr>
              <a:t>, produce only in third world countries, and re export the product back to the home country and to other markets.</a:t>
            </a:r>
          </a:p>
        </p:txBody>
      </p:sp>
    </p:spTree>
    <p:extLst>
      <p:ext uri="{BB962C8B-B14F-4D97-AF65-F5344CB8AC3E}">
        <p14:creationId xmlns:p14="http://schemas.microsoft.com/office/powerpoint/2010/main" val="2391543310"/>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81000" y="228600"/>
            <a:ext cx="8229600" cy="1143000"/>
          </a:xfrm>
        </p:spPr>
        <p:txBody>
          <a:bodyPr/>
          <a:lstStyle/>
          <a:p>
            <a:r>
              <a:rPr lang="en-US" b="1" dirty="0">
                <a:solidFill>
                  <a:schemeClr val="tx2">
                    <a:tint val="100000"/>
                    <a:shade val="90000"/>
                    <a:satMod val="250000"/>
                    <a:alpha val="100000"/>
                  </a:schemeClr>
                </a:solidFill>
              </a:rPr>
              <a:t>Stage 4: Decline</a:t>
            </a:r>
            <a:endParaRPr lang="en-US" dirty="0"/>
          </a:p>
        </p:txBody>
      </p:sp>
      <p:sp>
        <p:nvSpPr>
          <p:cNvPr id="3" name="Content Placeholder 2"/>
          <p:cNvSpPr>
            <a:spLocks noGrp="1"/>
          </p:cNvSpPr>
          <p:nvPr>
            <p:ph idx="1"/>
          </p:nvPr>
        </p:nvSpPr>
        <p:spPr>
          <a:xfrm>
            <a:off x="152400" y="1447800"/>
            <a:ext cx="8839200" cy="4876800"/>
          </a:xfrm>
        </p:spPr>
        <p:txBody>
          <a:bodyPr/>
          <a:lstStyle/>
          <a:p>
            <a:pPr algn="just"/>
            <a:r>
              <a:rPr lang="en-US" dirty="0">
                <a:latin typeface="Times New Roman" pitchFamily="18" charset="0"/>
                <a:cs typeface="Times New Roman" pitchFamily="18" charset="0"/>
              </a:rPr>
              <a:t>The product enters a period of decline. </a:t>
            </a:r>
          </a:p>
          <a:p>
            <a:pPr algn="just"/>
            <a:endParaRPr lang="en-US" dirty="0">
              <a:latin typeface="Times New Roman" pitchFamily="18" charset="0"/>
              <a:cs typeface="Times New Roman" pitchFamily="18" charset="0"/>
            </a:endParaRPr>
          </a:p>
          <a:p>
            <a:pPr algn="just"/>
            <a:r>
              <a:rPr lang="en-US" dirty="0">
                <a:latin typeface="Times New Roman" pitchFamily="18" charset="0"/>
                <a:cs typeface="Times New Roman" pitchFamily="18" charset="0"/>
              </a:rPr>
              <a:t>This decline is often </a:t>
            </a:r>
            <a:r>
              <a:rPr lang="en-US" dirty="0">
                <a:solidFill>
                  <a:srgbClr val="FF0000"/>
                </a:solidFill>
                <a:latin typeface="Times New Roman" pitchFamily="18" charset="0"/>
                <a:cs typeface="Times New Roman" pitchFamily="18" charset="0"/>
              </a:rPr>
              <a:t>because new competitors have achieved levels of production high</a:t>
            </a:r>
            <a:r>
              <a:rPr lang="en-US" dirty="0">
                <a:latin typeface="Times New Roman" pitchFamily="18" charset="0"/>
                <a:cs typeface="Times New Roman" pitchFamily="18" charset="0"/>
              </a:rPr>
              <a:t> enough </a:t>
            </a:r>
            <a:r>
              <a:rPr lang="en-US" b="1" dirty="0">
                <a:effectLst>
                  <a:outerShdw blurRad="38100" dist="38100" dir="2700000" algn="tl">
                    <a:srgbClr val="000000">
                      <a:alpha val="43137"/>
                    </a:srgbClr>
                  </a:outerShdw>
                </a:effectLst>
                <a:latin typeface="Times New Roman" pitchFamily="18" charset="0"/>
                <a:cs typeface="Times New Roman" pitchFamily="18" charset="0"/>
              </a:rPr>
              <a:t>to effect scale economies </a:t>
            </a:r>
            <a:r>
              <a:rPr lang="en-US" dirty="0">
                <a:latin typeface="Times New Roman" pitchFamily="18" charset="0"/>
                <a:cs typeface="Times New Roman" pitchFamily="18" charset="0"/>
              </a:rPr>
              <a:t>that are equivalent to those of the original manufacturing country.</a:t>
            </a:r>
          </a:p>
          <a:p>
            <a:pPr algn="just"/>
            <a:endParaRPr lang="en-US" dirty="0">
              <a:latin typeface="Times New Roman" pitchFamily="18" charset="0"/>
              <a:cs typeface="Times New Roman" pitchFamily="18" charset="0"/>
            </a:endParaRPr>
          </a:p>
          <a:p>
            <a:pPr algn="just"/>
            <a:r>
              <a:rPr lang="en-US" dirty="0">
                <a:latin typeface="Times New Roman" pitchFamily="18" charset="0"/>
                <a:cs typeface="Times New Roman" pitchFamily="18" charset="0"/>
              </a:rPr>
              <a:t>Original innovator becomes importer.</a:t>
            </a:r>
          </a:p>
          <a:p>
            <a:pPr>
              <a:buNone/>
            </a:pPr>
            <a:endParaRPr lang="en-US" dirty="0"/>
          </a:p>
        </p:txBody>
      </p:sp>
    </p:spTree>
    <p:extLst>
      <p:ext uri="{BB962C8B-B14F-4D97-AF65-F5344CB8AC3E}">
        <p14:creationId xmlns:p14="http://schemas.microsoft.com/office/powerpoint/2010/main" val="920008585"/>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4800" y="381000"/>
            <a:ext cx="8229600" cy="1143000"/>
          </a:xfrm>
        </p:spPr>
        <p:txBody>
          <a:bodyPr>
            <a:normAutofit fontScale="90000"/>
          </a:bodyPr>
          <a:lstStyle/>
          <a:p>
            <a:r>
              <a:rPr lang="en-US" sz="5400" b="1" dirty="0"/>
              <a:t>Limitations of IPLC</a:t>
            </a:r>
            <a:br>
              <a:rPr lang="en-US" sz="5400" b="1" dirty="0"/>
            </a:br>
            <a:endParaRPr lang="en-US" dirty="0"/>
          </a:p>
        </p:txBody>
      </p:sp>
      <p:sp>
        <p:nvSpPr>
          <p:cNvPr id="3" name="Content Placeholder 2"/>
          <p:cNvSpPr>
            <a:spLocks noGrp="1"/>
          </p:cNvSpPr>
          <p:nvPr>
            <p:ph idx="1"/>
          </p:nvPr>
        </p:nvSpPr>
        <p:spPr>
          <a:xfrm>
            <a:off x="76200" y="1066800"/>
            <a:ext cx="9067800" cy="5867400"/>
          </a:xfrm>
        </p:spPr>
        <p:txBody>
          <a:bodyPr>
            <a:normAutofit/>
          </a:bodyPr>
          <a:lstStyle/>
          <a:p>
            <a:pPr lvl="1" algn="just">
              <a:lnSpc>
                <a:spcPct val="80000"/>
              </a:lnSpc>
            </a:pPr>
            <a:r>
              <a:rPr lang="en-US" sz="2800" dirty="0">
                <a:latin typeface="Times New Roman" pitchFamily="18" charset="0"/>
                <a:cs typeface="Times New Roman" pitchFamily="18" charset="0"/>
              </a:rPr>
              <a:t>Most appropriate for </a:t>
            </a:r>
            <a:r>
              <a:rPr lang="en-US" sz="2800" dirty="0">
                <a:effectLst>
                  <a:outerShdw blurRad="38100" dist="38100" dir="2700000" algn="tl">
                    <a:srgbClr val="000000">
                      <a:alpha val="43137"/>
                    </a:srgbClr>
                  </a:outerShdw>
                </a:effectLst>
                <a:latin typeface="Times New Roman" pitchFamily="18" charset="0"/>
                <a:cs typeface="Times New Roman" pitchFamily="18" charset="0"/>
              </a:rPr>
              <a:t>technology-based products and consumer durables.</a:t>
            </a:r>
          </a:p>
          <a:p>
            <a:pPr lvl="1" algn="just">
              <a:lnSpc>
                <a:spcPct val="80000"/>
              </a:lnSpc>
            </a:pPr>
            <a:endParaRPr lang="en-US" sz="2800" dirty="0">
              <a:latin typeface="Times New Roman" pitchFamily="18" charset="0"/>
              <a:cs typeface="Times New Roman" pitchFamily="18" charset="0"/>
            </a:endParaRPr>
          </a:p>
          <a:p>
            <a:pPr lvl="1" algn="just">
              <a:lnSpc>
                <a:spcPct val="80000"/>
              </a:lnSpc>
            </a:pPr>
            <a:r>
              <a:rPr lang="en-US" sz="2800" dirty="0">
                <a:latin typeface="Times New Roman" pitchFamily="18" charset="0"/>
                <a:cs typeface="Times New Roman" pitchFamily="18" charset="0"/>
              </a:rPr>
              <a:t>Some products </a:t>
            </a:r>
            <a:r>
              <a:rPr lang="en-US" sz="2800" u="sng" dirty="0">
                <a:latin typeface="Times New Roman" pitchFamily="18" charset="0"/>
                <a:cs typeface="Times New Roman" pitchFamily="18" charset="0"/>
              </a:rPr>
              <a:t>not easily characterized </a:t>
            </a:r>
            <a:r>
              <a:rPr lang="en-US" sz="2800" dirty="0">
                <a:latin typeface="Times New Roman" pitchFamily="18" charset="0"/>
                <a:cs typeface="Times New Roman" pitchFamily="18" charset="0"/>
              </a:rPr>
              <a:t>by stages of maturity</a:t>
            </a:r>
          </a:p>
          <a:p>
            <a:pPr lvl="1" algn="just">
              <a:lnSpc>
                <a:spcPct val="80000"/>
              </a:lnSpc>
            </a:pPr>
            <a:endParaRPr lang="en-US" sz="2800" dirty="0">
              <a:latin typeface="Times New Roman" pitchFamily="18" charset="0"/>
              <a:cs typeface="Times New Roman" pitchFamily="18" charset="0"/>
            </a:endParaRPr>
          </a:p>
          <a:p>
            <a:pPr lvl="1" algn="just">
              <a:lnSpc>
                <a:spcPct val="80000"/>
              </a:lnSpc>
            </a:pPr>
            <a:r>
              <a:rPr lang="en-US" sz="2800" dirty="0">
                <a:latin typeface="Times New Roman" pitchFamily="18" charset="0"/>
                <a:cs typeface="Times New Roman" pitchFamily="18" charset="0"/>
              </a:rPr>
              <a:t>Most relevant to products produced through </a:t>
            </a:r>
            <a:r>
              <a:rPr lang="en-US" sz="2800" dirty="0">
                <a:effectLst>
                  <a:outerShdw blurRad="38100" dist="38100" dir="2700000" algn="tl">
                    <a:srgbClr val="000000">
                      <a:alpha val="43137"/>
                    </a:srgbClr>
                  </a:outerShdw>
                </a:effectLst>
                <a:latin typeface="Times New Roman" pitchFamily="18" charset="0"/>
                <a:cs typeface="Times New Roman" pitchFamily="18" charset="0"/>
              </a:rPr>
              <a:t>mass production</a:t>
            </a:r>
          </a:p>
          <a:p>
            <a:pPr lvl="1" algn="just">
              <a:lnSpc>
                <a:spcPct val="80000"/>
              </a:lnSpc>
            </a:pPr>
            <a:endParaRPr lang="en-US" sz="2800" dirty="0">
              <a:latin typeface="Times New Roman" pitchFamily="18" charset="0"/>
              <a:cs typeface="Times New Roman" pitchFamily="18" charset="0"/>
            </a:endParaRPr>
          </a:p>
          <a:p>
            <a:pPr algn="just"/>
            <a:r>
              <a:rPr lang="en-US" sz="2800" i="1" dirty="0">
                <a:latin typeface="Times New Roman" pitchFamily="18" charset="0"/>
                <a:cs typeface="Times New Roman" pitchFamily="18" charset="0"/>
              </a:rPr>
              <a:t>The international product life cycle theory holds less often these days because of the growth of multinational global enterprises that often </a:t>
            </a:r>
            <a:r>
              <a:rPr lang="en-US" sz="2800" b="1" i="1" dirty="0">
                <a:solidFill>
                  <a:srgbClr val="FF0000"/>
                </a:solidFill>
                <a:latin typeface="Times New Roman" pitchFamily="18" charset="0"/>
                <a:cs typeface="Times New Roman" pitchFamily="18" charset="0"/>
              </a:rPr>
              <a:t>introduce products simultaneously </a:t>
            </a:r>
            <a:r>
              <a:rPr lang="en-US" sz="2800" i="1" dirty="0">
                <a:latin typeface="Times New Roman" pitchFamily="18" charset="0"/>
                <a:cs typeface="Times New Roman" pitchFamily="18" charset="0"/>
              </a:rPr>
              <a:t>in several markets of the world.</a:t>
            </a:r>
          </a:p>
        </p:txBody>
      </p:sp>
    </p:spTree>
    <p:extLst>
      <p:ext uri="{BB962C8B-B14F-4D97-AF65-F5344CB8AC3E}">
        <p14:creationId xmlns:p14="http://schemas.microsoft.com/office/powerpoint/2010/main" val="808992020"/>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381000"/>
            <a:ext cx="8229600" cy="1143000"/>
          </a:xfrm>
        </p:spPr>
        <p:txBody>
          <a:bodyPr>
            <a:normAutofit fontScale="90000"/>
          </a:bodyPr>
          <a:lstStyle/>
          <a:p>
            <a:pPr algn="ctr"/>
            <a:r>
              <a:rPr lang="en-US" b="1" dirty="0"/>
              <a:t>The National</a:t>
            </a:r>
            <a:br>
              <a:rPr lang="en-US" b="1" dirty="0"/>
            </a:br>
            <a:r>
              <a:rPr lang="en-US" b="1" dirty="0"/>
              <a:t>Competitive Advantage Theory</a:t>
            </a:r>
          </a:p>
        </p:txBody>
      </p:sp>
      <p:sp>
        <p:nvSpPr>
          <p:cNvPr id="3" name="Content Placeholder 2"/>
          <p:cNvSpPr>
            <a:spLocks noGrp="1"/>
          </p:cNvSpPr>
          <p:nvPr>
            <p:ph idx="1"/>
          </p:nvPr>
        </p:nvSpPr>
        <p:spPr>
          <a:xfrm>
            <a:off x="76200" y="1676400"/>
            <a:ext cx="8839200" cy="5029200"/>
          </a:xfrm>
        </p:spPr>
        <p:txBody>
          <a:bodyPr>
            <a:normAutofit lnSpcReduction="10000"/>
          </a:bodyPr>
          <a:lstStyle/>
          <a:p>
            <a:pPr algn="just"/>
            <a:r>
              <a:rPr lang="en-US" dirty="0"/>
              <a:t>The theory attempts to analyze the reasons for a nations success in a particular industry</a:t>
            </a:r>
          </a:p>
          <a:p>
            <a:pPr algn="just"/>
            <a:r>
              <a:rPr lang="en-US" b="1" dirty="0"/>
              <a:t>Porter</a:t>
            </a:r>
            <a:r>
              <a:rPr lang="en-US" dirty="0"/>
              <a:t> studied 100 industries in 10 nations</a:t>
            </a:r>
          </a:p>
          <a:p>
            <a:pPr algn="just"/>
            <a:r>
              <a:rPr lang="en-US" dirty="0"/>
              <a:t>He believes that successful international trade comes from the interaction of four country- and </a:t>
            </a:r>
            <a:r>
              <a:rPr lang="en-US" dirty="0">
                <a:solidFill>
                  <a:srgbClr val="FF0000"/>
                </a:solidFill>
              </a:rPr>
              <a:t>firm-specific elements:</a:t>
            </a:r>
          </a:p>
          <a:p>
            <a:pPr lvl="1" algn="just"/>
            <a:r>
              <a:rPr lang="en-US" dirty="0"/>
              <a:t>Factor conditions</a:t>
            </a:r>
          </a:p>
          <a:p>
            <a:pPr lvl="1" algn="just"/>
            <a:r>
              <a:rPr lang="en-US" dirty="0"/>
              <a:t>Demand conditions</a:t>
            </a:r>
          </a:p>
          <a:p>
            <a:pPr lvl="1" algn="just"/>
            <a:r>
              <a:rPr lang="en-US" dirty="0"/>
              <a:t>Related and supporting industries</a:t>
            </a:r>
          </a:p>
          <a:p>
            <a:pPr lvl="1" algn="just"/>
            <a:r>
              <a:rPr lang="en-US" dirty="0"/>
              <a:t>Firm strategy, structure, and rivalry</a:t>
            </a:r>
          </a:p>
          <a:p>
            <a:pPr algn="just">
              <a:buNone/>
            </a:pPr>
            <a:endParaRPr lang="en-US" dirty="0"/>
          </a:p>
          <a:p>
            <a:pPr algn="just">
              <a:buNone/>
            </a:pPr>
            <a:endParaRPr lang="en-US" dirty="0"/>
          </a:p>
        </p:txBody>
      </p:sp>
    </p:spTree>
    <p:extLst>
      <p:ext uri="{BB962C8B-B14F-4D97-AF65-F5344CB8AC3E}">
        <p14:creationId xmlns:p14="http://schemas.microsoft.com/office/powerpoint/2010/main" val="3834355870"/>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p:cNvSpPr>
            <a:spLocks noGrp="1"/>
          </p:cNvSpPr>
          <p:nvPr>
            <p:ph type="sldNum" sz="quarter" idx="10"/>
          </p:nvPr>
        </p:nvSpPr>
        <p:spPr/>
        <p:txBody>
          <a:bodyPr/>
          <a:lstStyle/>
          <a:p>
            <a:r>
              <a:rPr lang="en-US"/>
              <a:t>4-</a:t>
            </a:r>
            <a:fld id="{5324F1F8-B38F-47CA-B413-2411E4074D59}" type="slidenum">
              <a:rPr lang="en-US"/>
              <a:pPr/>
              <a:t>31</a:t>
            </a:fld>
            <a:endParaRPr lang="en-US"/>
          </a:p>
        </p:txBody>
      </p:sp>
      <p:sp>
        <p:nvSpPr>
          <p:cNvPr id="606210" name="Rectangle 2"/>
          <p:cNvSpPr>
            <a:spLocks noGrp="1" noChangeArrowheads="1"/>
          </p:cNvSpPr>
          <p:nvPr>
            <p:ph type="title"/>
          </p:nvPr>
        </p:nvSpPr>
        <p:spPr bwMode="auto">
          <a:xfrm>
            <a:off x="533400" y="427038"/>
            <a:ext cx="8229600" cy="792162"/>
          </a:xfrm>
          <a:noFill/>
          <a:ln>
            <a:miter lim="800000"/>
            <a:headEnd/>
            <a:tailEnd/>
          </a:ln>
        </p:spPr>
        <p:txBody>
          <a:bodyPr vert="horz" wrap="square" lIns="91440" tIns="45720" rIns="91440" bIns="45720" numCol="1" anchor="t" anchorCtr="0" compatLnSpc="1">
            <a:prstTxWarp prst="textNoShape">
              <a:avLst/>
            </a:prstTxWarp>
            <a:normAutofit fontScale="90000"/>
          </a:bodyPr>
          <a:lstStyle/>
          <a:p>
            <a:r>
              <a:rPr lang="en-US" sz="4000" dirty="0">
                <a:solidFill>
                  <a:srgbClr val="003399"/>
                </a:solidFill>
              </a:rPr>
              <a:t>	</a:t>
            </a:r>
            <a:r>
              <a:rPr lang="en-US" sz="4000" b="1" dirty="0">
                <a:solidFill>
                  <a:srgbClr val="003399"/>
                </a:solidFill>
              </a:rPr>
              <a:t>	</a:t>
            </a:r>
            <a:r>
              <a:rPr lang="en-US" sz="4900" b="1" dirty="0"/>
              <a:t>Porter’s diamond</a:t>
            </a:r>
            <a:r>
              <a:rPr lang="en-US" sz="4000" b="1" dirty="0">
                <a:solidFill>
                  <a:schemeClr val="tx1"/>
                </a:solidFill>
              </a:rPr>
              <a:t/>
            </a:r>
            <a:br>
              <a:rPr lang="en-US" sz="4000" b="1" dirty="0">
                <a:solidFill>
                  <a:schemeClr val="tx1"/>
                </a:solidFill>
              </a:rPr>
            </a:br>
            <a:endParaRPr lang="en-US" sz="4000" b="1" dirty="0">
              <a:solidFill>
                <a:schemeClr val="tx1"/>
              </a:solidFill>
            </a:endParaRPr>
          </a:p>
        </p:txBody>
      </p:sp>
      <p:pic>
        <p:nvPicPr>
          <p:cNvPr id="606212" name="Picture 4" descr="hil73957_0406"/>
          <p:cNvPicPr>
            <a:picLocks noGrp="1" noChangeAspect="1" noChangeArrowheads="1"/>
          </p:cNvPicPr>
          <p:nvPr>
            <p:ph sz="half" idx="2"/>
          </p:nvPr>
        </p:nvPicPr>
        <p:blipFill>
          <a:blip r:embed="rId2"/>
          <a:srcRect/>
          <a:stretch>
            <a:fillRect/>
          </a:stretch>
        </p:blipFill>
        <p:spPr bwMode="auto">
          <a:xfrm>
            <a:off x="3962400" y="1295400"/>
            <a:ext cx="5105400" cy="4648200"/>
          </a:xfrm>
          <a:noFill/>
          <a:ln>
            <a:miter lim="800000"/>
            <a:headEnd/>
            <a:tailEnd/>
          </a:ln>
        </p:spPr>
      </p:pic>
      <p:sp>
        <p:nvSpPr>
          <p:cNvPr id="606211" name="Rectangle 3"/>
          <p:cNvSpPr>
            <a:spLocks noGrp="1" noChangeArrowheads="1"/>
          </p:cNvSpPr>
          <p:nvPr>
            <p:ph type="body" sz="half" idx="1"/>
          </p:nvPr>
        </p:nvSpPr>
        <p:spPr bwMode="auto">
          <a:xfrm>
            <a:off x="228600" y="1371600"/>
            <a:ext cx="4114800" cy="5029200"/>
          </a:xfrm>
          <a:noFill/>
          <a:ln>
            <a:miter lim="800000"/>
            <a:headEnd/>
            <a:tailEnd/>
          </a:ln>
        </p:spPr>
        <p:txBody>
          <a:bodyPr vert="horz" wrap="square" lIns="91440" tIns="45720" rIns="91440" bIns="45720" numCol="1" anchor="t" anchorCtr="0" compatLnSpc="1">
            <a:prstTxWarp prst="textNoShape">
              <a:avLst/>
            </a:prstTxWarp>
          </a:bodyPr>
          <a:lstStyle/>
          <a:p>
            <a:r>
              <a:rPr lang="en-US" sz="2800" dirty="0"/>
              <a:t>Success occurs where these attributes exist.</a:t>
            </a:r>
          </a:p>
          <a:p>
            <a:endParaRPr lang="en-US" sz="2800" dirty="0"/>
          </a:p>
          <a:p>
            <a:r>
              <a:rPr lang="en-US" sz="2800" dirty="0"/>
              <a:t>More/greater the attribute, the higher chance of success</a:t>
            </a:r>
          </a:p>
          <a:p>
            <a:endParaRPr lang="en-US" sz="2800" dirty="0"/>
          </a:p>
          <a:p>
            <a:r>
              <a:rPr lang="en-US" sz="2800" dirty="0"/>
              <a:t>The diamond is mutually reinforcing</a:t>
            </a:r>
          </a:p>
          <a:p>
            <a:endParaRPr lang="en-US" sz="2800" dirty="0">
              <a:solidFill>
                <a:srgbClr val="003399"/>
              </a:solidFill>
            </a:endParaRPr>
          </a:p>
        </p:txBody>
      </p:sp>
    </p:spTree>
    <p:extLst>
      <p:ext uri="{BB962C8B-B14F-4D97-AF65-F5344CB8AC3E}">
        <p14:creationId xmlns:p14="http://schemas.microsoft.com/office/powerpoint/2010/main" val="1245404586"/>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Rectangle 5"/>
          <p:cNvSpPr>
            <a:spLocks noGrp="1" noChangeArrowheads="1"/>
          </p:cNvSpPr>
          <p:nvPr>
            <p:ph idx="1"/>
          </p:nvPr>
        </p:nvSpPr>
        <p:spPr>
          <a:xfrm>
            <a:off x="457200" y="1905000"/>
            <a:ext cx="8229600" cy="4525962"/>
          </a:xfrm>
        </p:spPr>
        <p:txBody>
          <a:bodyPr/>
          <a:lstStyle/>
          <a:p>
            <a:pPr marL="0" indent="0" algn="just"/>
            <a:r>
              <a:rPr lang="en-US" sz="2200" dirty="0">
                <a:latin typeface="Calibri" pitchFamily="34" charset="0"/>
                <a:cs typeface="Calibri" pitchFamily="34" charset="0"/>
              </a:rPr>
              <a:t>Michael Porter tried to explain why a nation achieves international success in a particular industry and identified four attributes that promote or impede the creation of competitive advantage:</a:t>
            </a:r>
          </a:p>
          <a:p>
            <a:pPr marL="0" indent="0" algn="just">
              <a:buNone/>
            </a:pPr>
            <a:endParaRPr lang="en-US" sz="2200" dirty="0">
              <a:latin typeface="Calibri" pitchFamily="34" charset="0"/>
              <a:cs typeface="Calibri" pitchFamily="34" charset="0"/>
            </a:endParaRPr>
          </a:p>
          <a:p>
            <a:pPr marL="0" indent="0" algn="just"/>
            <a:r>
              <a:rPr lang="en-US" sz="2200" b="1" dirty="0">
                <a:latin typeface="Calibri" pitchFamily="34" charset="0"/>
                <a:cs typeface="Calibri" pitchFamily="34" charset="0"/>
              </a:rPr>
              <a:t>Factor endowments </a:t>
            </a:r>
            <a:r>
              <a:rPr lang="en-US" sz="2200" i="1" dirty="0">
                <a:solidFill>
                  <a:srgbClr val="0070C0"/>
                </a:solidFill>
                <a:latin typeface="Calibri" pitchFamily="34" charset="0"/>
                <a:cs typeface="Calibri" pitchFamily="34" charset="0"/>
              </a:rPr>
              <a:t>(skilled labor, infrastructure)</a:t>
            </a:r>
          </a:p>
          <a:p>
            <a:pPr marL="0" indent="0" algn="just"/>
            <a:r>
              <a:rPr lang="en-US" sz="2200" b="1" dirty="0">
                <a:latin typeface="Calibri" pitchFamily="34" charset="0"/>
                <a:cs typeface="Calibri" pitchFamily="34" charset="0"/>
              </a:rPr>
              <a:t>Demand conditions </a:t>
            </a:r>
            <a:r>
              <a:rPr lang="en-US" sz="2200" i="1" dirty="0">
                <a:solidFill>
                  <a:srgbClr val="0070C0"/>
                </a:solidFill>
                <a:latin typeface="Calibri" pitchFamily="34" charset="0"/>
                <a:cs typeface="Calibri" pitchFamily="34" charset="0"/>
              </a:rPr>
              <a:t>(the nature of home demand)</a:t>
            </a:r>
          </a:p>
          <a:p>
            <a:pPr marL="0" indent="0" algn="just"/>
            <a:r>
              <a:rPr lang="en-US" sz="2200" b="1" dirty="0">
                <a:latin typeface="Calibri" pitchFamily="34" charset="0"/>
                <a:cs typeface="Calibri" pitchFamily="34" charset="0"/>
              </a:rPr>
              <a:t>Relating and supporting industries </a:t>
            </a:r>
            <a:r>
              <a:rPr lang="en-US" sz="2200" dirty="0">
                <a:latin typeface="Calibri" pitchFamily="34" charset="0"/>
                <a:cs typeface="Calibri" pitchFamily="34" charset="0"/>
              </a:rPr>
              <a:t>(</a:t>
            </a:r>
            <a:r>
              <a:rPr lang="en-US" sz="2200" i="1" dirty="0">
                <a:solidFill>
                  <a:srgbClr val="0070C0"/>
                </a:solidFill>
                <a:latin typeface="Calibri" pitchFamily="34" charset="0"/>
                <a:cs typeface="Calibri" pitchFamily="34" charset="0"/>
              </a:rPr>
              <a:t>the presence or absence of supplier industries and related industries that are internationally competitive)</a:t>
            </a:r>
          </a:p>
          <a:p>
            <a:pPr marL="0" indent="0" algn="just"/>
            <a:r>
              <a:rPr lang="en-US" sz="2200" b="1" dirty="0">
                <a:latin typeface="Calibri" pitchFamily="34" charset="0"/>
                <a:cs typeface="Calibri" pitchFamily="34" charset="0"/>
              </a:rPr>
              <a:t>Firm strategy, structure, and rivalry </a:t>
            </a:r>
            <a:r>
              <a:rPr lang="en-US" sz="2200" i="1" dirty="0">
                <a:solidFill>
                  <a:srgbClr val="0070C0"/>
                </a:solidFill>
                <a:latin typeface="Calibri" pitchFamily="34" charset="0"/>
                <a:cs typeface="Calibri" pitchFamily="34" charset="0"/>
              </a:rPr>
              <a:t>(how companies are created, organized and managed &amp; the nature of domestic rivalry)</a:t>
            </a:r>
          </a:p>
          <a:p>
            <a:pPr marL="0" indent="0"/>
            <a:endParaRPr lang="en-US" dirty="0"/>
          </a:p>
          <a:p>
            <a:pPr marL="0" indent="0"/>
            <a:endParaRPr lang="en-US" dirty="0"/>
          </a:p>
        </p:txBody>
      </p:sp>
      <p:sp>
        <p:nvSpPr>
          <p:cNvPr id="518148" name="Rectangle 4"/>
          <p:cNvSpPr>
            <a:spLocks noGrp="1" noChangeArrowheads="1"/>
          </p:cNvSpPr>
          <p:nvPr>
            <p:ph type="title"/>
          </p:nvPr>
        </p:nvSpPr>
        <p:spPr>
          <a:xfrm>
            <a:off x="533400" y="1143000"/>
            <a:ext cx="8229600" cy="1143000"/>
          </a:xfrm>
        </p:spPr>
        <p:txBody>
          <a:bodyPr>
            <a:normAutofit fontScale="90000"/>
          </a:bodyPr>
          <a:lstStyle/>
          <a:p>
            <a:pPr fontAlgn="auto">
              <a:lnSpc>
                <a:spcPct val="80000"/>
              </a:lnSpc>
              <a:spcAft>
                <a:spcPts val="0"/>
              </a:spcAft>
              <a:defRPr/>
            </a:pPr>
            <a:r>
              <a:rPr lang="en-US" dirty="0"/>
              <a:t/>
            </a:r>
            <a:br>
              <a:rPr lang="en-US" dirty="0"/>
            </a:br>
            <a:r>
              <a:rPr lang="en-US" dirty="0"/>
              <a:t>National Competitive </a:t>
            </a:r>
            <a:br>
              <a:rPr lang="en-US" dirty="0"/>
            </a:br>
            <a:r>
              <a:rPr lang="en-US" dirty="0"/>
              <a:t>Advantage: Porter’s Diamond </a:t>
            </a:r>
            <a:br>
              <a:rPr lang="en-US" dirty="0"/>
            </a:br>
            <a:endParaRPr lang="en-US" dirty="0"/>
          </a:p>
        </p:txBody>
      </p:sp>
    </p:spTree>
    <p:extLst>
      <p:ext uri="{BB962C8B-B14F-4D97-AF65-F5344CB8AC3E}">
        <p14:creationId xmlns:p14="http://schemas.microsoft.com/office/powerpoint/2010/main" val="948869476"/>
      </p:ext>
    </p:extLst>
  </p:cSld>
  <p:clrMapOvr>
    <a:masterClrMapping/>
  </p:clrMapOvr>
  <p:transition/>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0"/>
          </p:nvPr>
        </p:nvSpPr>
        <p:spPr/>
        <p:txBody>
          <a:bodyPr/>
          <a:lstStyle/>
          <a:p>
            <a:r>
              <a:rPr lang="en-US"/>
              <a:t>4-</a:t>
            </a:r>
            <a:fld id="{D34D99C8-5D60-45D2-A071-8FBAAB6AB23D}" type="slidenum">
              <a:rPr lang="en-US"/>
              <a:pPr/>
              <a:t>33</a:t>
            </a:fld>
            <a:endParaRPr lang="en-US"/>
          </a:p>
        </p:txBody>
      </p:sp>
      <p:sp>
        <p:nvSpPr>
          <p:cNvPr id="608258" name="Rectangle 2"/>
          <p:cNvSpPr>
            <a:spLocks noGrp="1" noChangeArrowheads="1"/>
          </p:cNvSpPr>
          <p:nvPr>
            <p:ph type="title"/>
          </p:nvPr>
        </p:nvSpPr>
        <p:spPr bwMode="auto">
          <a:xfrm>
            <a:off x="457200" y="457200"/>
            <a:ext cx="8229600" cy="1143000"/>
          </a:xfrm>
          <a:noFill/>
          <a:ln>
            <a:miter lim="800000"/>
            <a:headEnd/>
            <a:tailEnd/>
          </a:ln>
        </p:spPr>
        <p:txBody>
          <a:bodyPr vert="horz" wrap="square" lIns="91440" tIns="45720" rIns="91440" bIns="45720" numCol="1" anchor="t" anchorCtr="0" compatLnSpc="1">
            <a:prstTxWarp prst="textNoShape">
              <a:avLst/>
            </a:prstTxWarp>
          </a:bodyPr>
          <a:lstStyle/>
          <a:p>
            <a:pPr algn="ctr"/>
            <a:r>
              <a:rPr lang="en-US" sz="4000" b="1" dirty="0"/>
              <a:t>Factor Conditions</a:t>
            </a:r>
          </a:p>
        </p:txBody>
      </p:sp>
      <p:sp>
        <p:nvSpPr>
          <p:cNvPr id="608259" name="Rectangle 3"/>
          <p:cNvSpPr>
            <a:spLocks noGrp="1" noChangeArrowheads="1"/>
          </p:cNvSpPr>
          <p:nvPr>
            <p:ph type="body" idx="1"/>
          </p:nvPr>
        </p:nvSpPr>
        <p:spPr bwMode="auto">
          <a:xfrm>
            <a:off x="152400" y="1371600"/>
            <a:ext cx="8991600" cy="5638800"/>
          </a:xfrm>
          <a:noFill/>
          <a:ln>
            <a:miter lim="800000"/>
            <a:headEnd/>
            <a:tailEnd/>
          </a:ln>
        </p:spPr>
        <p:txBody>
          <a:bodyPr vert="horz" wrap="square" lIns="91440" tIns="45720" rIns="91440" bIns="45720" numCol="1" anchor="t" anchorCtr="0" compatLnSpc="1">
            <a:prstTxWarp prst="textNoShape">
              <a:avLst/>
            </a:prstTxWarp>
          </a:bodyPr>
          <a:lstStyle/>
          <a:p>
            <a:pPr algn="just"/>
            <a:r>
              <a:rPr lang="en-US" dirty="0">
                <a:latin typeface="Times New Roman" pitchFamily="18" charset="0"/>
                <a:cs typeface="Times New Roman" pitchFamily="18" charset="0"/>
              </a:rPr>
              <a:t>Factor conditions:- A  nation’s position in factors of production such as skilled labor or infrastructure necessary to compete in a given industry.</a:t>
            </a:r>
          </a:p>
          <a:p>
            <a:pPr algn="just"/>
            <a:endParaRPr lang="en-US" dirty="0">
              <a:latin typeface="Times New Roman" pitchFamily="18" charset="0"/>
              <a:cs typeface="Times New Roman" pitchFamily="18" charset="0"/>
            </a:endParaRPr>
          </a:p>
          <a:p>
            <a:pPr marL="514350" indent="-514350" algn="just">
              <a:buFont typeface="+mj-lt"/>
              <a:buAutoNum type="arabicPeriod"/>
            </a:pPr>
            <a:r>
              <a:rPr lang="en-US" dirty="0">
                <a:latin typeface="Times New Roman" pitchFamily="18" charset="0"/>
                <a:cs typeface="Times New Roman" pitchFamily="18" charset="0"/>
              </a:rPr>
              <a:t>Basic factor conditions</a:t>
            </a:r>
          </a:p>
          <a:p>
            <a:pPr marL="514350" indent="-514350" algn="just">
              <a:buFont typeface="+mj-lt"/>
              <a:buAutoNum type="arabicPeriod"/>
            </a:pPr>
            <a:endParaRPr lang="en-US" dirty="0">
              <a:latin typeface="Times New Roman" pitchFamily="18" charset="0"/>
              <a:cs typeface="Times New Roman" pitchFamily="18" charset="0"/>
            </a:endParaRPr>
          </a:p>
          <a:p>
            <a:pPr marL="514350" indent="-514350" algn="just">
              <a:buFont typeface="+mj-lt"/>
              <a:buAutoNum type="arabicPeriod"/>
            </a:pPr>
            <a:r>
              <a:rPr lang="en-US" dirty="0">
                <a:latin typeface="Times New Roman" pitchFamily="18" charset="0"/>
                <a:cs typeface="Times New Roman" pitchFamily="18" charset="0"/>
              </a:rPr>
              <a:t>Advanced factor conditions</a:t>
            </a:r>
          </a:p>
        </p:txBody>
      </p:sp>
    </p:spTree>
    <p:extLst>
      <p:ext uri="{BB962C8B-B14F-4D97-AF65-F5344CB8AC3E}">
        <p14:creationId xmlns:p14="http://schemas.microsoft.com/office/powerpoint/2010/main" val="1912987366"/>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0"/>
          </p:nvPr>
        </p:nvSpPr>
        <p:spPr/>
        <p:txBody>
          <a:bodyPr/>
          <a:lstStyle/>
          <a:p>
            <a:r>
              <a:rPr lang="en-US"/>
              <a:t>4-</a:t>
            </a:r>
            <a:fld id="{E596B6BC-567C-4F92-8ADB-62963034BD4E}" type="slidenum">
              <a:rPr lang="en-US"/>
              <a:pPr/>
              <a:t>34</a:t>
            </a:fld>
            <a:endParaRPr lang="en-US"/>
          </a:p>
        </p:txBody>
      </p:sp>
      <p:sp>
        <p:nvSpPr>
          <p:cNvPr id="609282" name="Rectangle 2"/>
          <p:cNvSpPr>
            <a:spLocks noGrp="1" noChangeArrowheads="1"/>
          </p:cNvSpPr>
          <p:nvPr>
            <p:ph type="title"/>
          </p:nvPr>
        </p:nvSpPr>
        <p:spPr bwMode="auto">
          <a:xfrm>
            <a:off x="457200" y="457200"/>
            <a:ext cx="8229600" cy="1143000"/>
          </a:xfrm>
          <a:noFill/>
          <a:ln>
            <a:miter lim="800000"/>
            <a:headEnd/>
            <a:tailEnd/>
          </a:ln>
        </p:spPr>
        <p:txBody>
          <a:bodyPr vert="horz" wrap="square" lIns="91440" tIns="45720" rIns="91440" bIns="45720" numCol="1" anchor="t" anchorCtr="0" compatLnSpc="1">
            <a:prstTxWarp prst="textNoShape">
              <a:avLst/>
            </a:prstTxWarp>
          </a:bodyPr>
          <a:lstStyle/>
          <a:p>
            <a:pPr algn="ctr"/>
            <a:r>
              <a:rPr lang="en-US" sz="4000" u="sng" dirty="0"/>
              <a:t>Basic factor conditions</a:t>
            </a:r>
          </a:p>
        </p:txBody>
      </p:sp>
      <p:sp>
        <p:nvSpPr>
          <p:cNvPr id="609283" name="Rectangle 3"/>
          <p:cNvSpPr>
            <a:spLocks noGrp="1" noChangeArrowheads="1"/>
          </p:cNvSpPr>
          <p:nvPr>
            <p:ph type="body" idx="1"/>
          </p:nvPr>
        </p:nvSpPr>
        <p:spPr bwMode="auto">
          <a:xfrm>
            <a:off x="457200" y="1752600"/>
            <a:ext cx="8229600" cy="4525963"/>
          </a:xfrm>
          <a:noFill/>
          <a:ln>
            <a:miter lim="800000"/>
            <a:headEnd/>
            <a:tailEnd/>
          </a:ln>
        </p:spPr>
        <p:txBody>
          <a:bodyPr vert="horz" wrap="square" lIns="91440" tIns="45720" rIns="91440" bIns="45720" numCol="1" anchor="t" anchorCtr="0" compatLnSpc="1">
            <a:prstTxWarp prst="textNoShape">
              <a:avLst/>
            </a:prstTxWarp>
            <a:normAutofit fontScale="92500" lnSpcReduction="10000"/>
          </a:bodyPr>
          <a:lstStyle/>
          <a:p>
            <a:r>
              <a:rPr lang="en-US" u="sng" dirty="0"/>
              <a:t>Basic factors:</a:t>
            </a:r>
          </a:p>
          <a:p>
            <a:pPr marL="0" indent="0">
              <a:buNone/>
            </a:pPr>
            <a:r>
              <a:rPr lang="en-US" dirty="0"/>
              <a:t> Factors present in a country</a:t>
            </a:r>
          </a:p>
          <a:p>
            <a:pPr lvl="1"/>
            <a:r>
              <a:rPr lang="en-US" dirty="0"/>
              <a:t>Natural resources</a:t>
            </a:r>
          </a:p>
          <a:p>
            <a:pPr lvl="1"/>
            <a:r>
              <a:rPr lang="en-US" dirty="0"/>
              <a:t>Climate</a:t>
            </a:r>
          </a:p>
          <a:p>
            <a:pPr lvl="1"/>
            <a:r>
              <a:rPr lang="en-US" dirty="0"/>
              <a:t>Geographic location</a:t>
            </a:r>
          </a:p>
          <a:p>
            <a:pPr lvl="1"/>
            <a:r>
              <a:rPr lang="en-US" dirty="0"/>
              <a:t>Demographics </a:t>
            </a:r>
          </a:p>
          <a:p>
            <a:pPr lvl="1"/>
            <a:endParaRPr lang="en-US" dirty="0"/>
          </a:p>
          <a:p>
            <a:pPr algn="just"/>
            <a:r>
              <a:rPr lang="en-US" dirty="0"/>
              <a:t>While basic factors can provide an initial advantage  they </a:t>
            </a:r>
            <a:r>
              <a:rPr lang="en-US" dirty="0">
                <a:solidFill>
                  <a:srgbClr val="FF0000"/>
                </a:solidFill>
              </a:rPr>
              <a:t>must be supported by advanced factors </a:t>
            </a:r>
            <a:r>
              <a:rPr lang="en-US" dirty="0"/>
              <a:t>to maintain success.</a:t>
            </a:r>
          </a:p>
          <a:p>
            <a:pPr lvl="1"/>
            <a:endParaRPr lang="en-US" sz="3200" dirty="0"/>
          </a:p>
        </p:txBody>
      </p:sp>
    </p:spTree>
    <p:extLst>
      <p:ext uri="{BB962C8B-B14F-4D97-AF65-F5344CB8AC3E}">
        <p14:creationId xmlns:p14="http://schemas.microsoft.com/office/powerpoint/2010/main" val="3463812041"/>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4"/>
          <p:cNvSpPr>
            <a:spLocks noGrp="1"/>
          </p:cNvSpPr>
          <p:nvPr>
            <p:ph type="sldNum" sz="quarter" idx="10"/>
          </p:nvPr>
        </p:nvSpPr>
        <p:spPr/>
        <p:txBody>
          <a:bodyPr/>
          <a:lstStyle/>
          <a:p>
            <a:r>
              <a:rPr lang="en-US"/>
              <a:t>4-</a:t>
            </a:r>
            <a:fld id="{9AAADDBC-A56F-44F6-B444-AF0F4AEF5C7C}" type="slidenum">
              <a:rPr lang="en-US"/>
              <a:pPr/>
              <a:t>35</a:t>
            </a:fld>
            <a:endParaRPr lang="en-US"/>
          </a:p>
        </p:txBody>
      </p:sp>
      <p:sp>
        <p:nvSpPr>
          <p:cNvPr id="610306" name="Rectangle 2"/>
          <p:cNvSpPr>
            <a:spLocks noGrp="1" noChangeArrowheads="1"/>
          </p:cNvSpPr>
          <p:nvPr>
            <p:ph type="title"/>
          </p:nvPr>
        </p:nvSpPr>
        <p:spPr bwMode="auto">
          <a:xfrm>
            <a:off x="457200" y="457200"/>
            <a:ext cx="8229600" cy="1143000"/>
          </a:xfrm>
          <a:noFill/>
          <a:ln>
            <a:miter lim="800000"/>
            <a:headEnd/>
            <a:tailEnd/>
          </a:ln>
        </p:spPr>
        <p:txBody>
          <a:bodyPr vert="horz" wrap="square" lIns="91440" tIns="45720" rIns="91440" bIns="45720" numCol="1" anchor="t" anchorCtr="0" compatLnSpc="1">
            <a:prstTxWarp prst="textNoShape">
              <a:avLst/>
            </a:prstTxWarp>
          </a:bodyPr>
          <a:lstStyle/>
          <a:p>
            <a:pPr algn="ctr"/>
            <a:r>
              <a:rPr lang="en-US" sz="4000" u="sng" dirty="0"/>
              <a:t>Advanced factor conditions</a:t>
            </a:r>
          </a:p>
        </p:txBody>
      </p:sp>
      <p:sp>
        <p:nvSpPr>
          <p:cNvPr id="610307" name="Rectangle 3"/>
          <p:cNvSpPr>
            <a:spLocks noGrp="1" noChangeArrowheads="1"/>
          </p:cNvSpPr>
          <p:nvPr>
            <p:ph type="body" sz="half" idx="1"/>
          </p:nvPr>
        </p:nvSpPr>
        <p:spPr bwMode="auto">
          <a:xfrm>
            <a:off x="0" y="1295400"/>
            <a:ext cx="9067800" cy="5410200"/>
          </a:xfrm>
          <a:noFill/>
          <a:ln>
            <a:miter lim="800000"/>
            <a:headEnd/>
            <a:tailEnd/>
          </a:ln>
        </p:spPr>
        <p:txBody>
          <a:bodyPr vert="horz" wrap="square" lIns="91440" tIns="45720" rIns="91440" bIns="45720" numCol="1" anchor="t" anchorCtr="0" compatLnSpc="1">
            <a:prstTxWarp prst="textNoShape">
              <a:avLst/>
            </a:prstTxWarp>
            <a:normAutofit lnSpcReduction="10000"/>
          </a:bodyPr>
          <a:lstStyle/>
          <a:p>
            <a:pPr algn="just"/>
            <a:r>
              <a:rPr lang="en-US" dirty="0"/>
              <a:t>Advanced factors:  </a:t>
            </a:r>
          </a:p>
          <a:p>
            <a:pPr marL="0" indent="0" algn="just">
              <a:buNone/>
            </a:pPr>
            <a:r>
              <a:rPr lang="en-US" dirty="0"/>
              <a:t>Are the result of </a:t>
            </a:r>
            <a:r>
              <a:rPr lang="en-US" b="1" dirty="0"/>
              <a:t>investment</a:t>
            </a:r>
            <a:r>
              <a:rPr lang="en-US" dirty="0"/>
              <a:t> by people, companies, government</a:t>
            </a:r>
            <a:r>
              <a:rPr lang="en-US" u="sng" dirty="0"/>
              <a:t> </a:t>
            </a:r>
            <a:r>
              <a:rPr lang="en-US" dirty="0"/>
              <a:t>and are more likely to lead to competitive advantage .</a:t>
            </a:r>
          </a:p>
          <a:p>
            <a:pPr algn="just"/>
            <a:r>
              <a:rPr lang="en-US" dirty="0"/>
              <a:t>If a country has no basic factors,  it must invest in advanced factors.</a:t>
            </a:r>
          </a:p>
          <a:p>
            <a:pPr marL="514350" indent="-514350" algn="just">
              <a:buFont typeface="+mj-lt"/>
              <a:buAutoNum type="arabicPeriod"/>
            </a:pPr>
            <a:r>
              <a:rPr lang="en-US" sz="2800" dirty="0"/>
              <a:t>communications</a:t>
            </a:r>
          </a:p>
          <a:p>
            <a:pPr marL="514350" indent="-514350" algn="just">
              <a:buFont typeface="+mj-lt"/>
              <a:buAutoNum type="arabicPeriod"/>
            </a:pPr>
            <a:r>
              <a:rPr lang="en-US" sz="2800" dirty="0"/>
              <a:t>skilled labor	</a:t>
            </a:r>
          </a:p>
          <a:p>
            <a:pPr marL="514350" indent="-514350" algn="just">
              <a:buFont typeface="+mj-lt"/>
              <a:buAutoNum type="arabicPeriod"/>
            </a:pPr>
            <a:r>
              <a:rPr lang="en-US" sz="2800" dirty="0"/>
              <a:t>research</a:t>
            </a:r>
          </a:p>
          <a:p>
            <a:pPr marL="514350" indent="-514350" algn="just">
              <a:buFont typeface="+mj-lt"/>
              <a:buAutoNum type="arabicPeriod"/>
            </a:pPr>
            <a:r>
              <a:rPr lang="en-US" sz="2800" dirty="0"/>
              <a:t>Technology</a:t>
            </a:r>
          </a:p>
          <a:p>
            <a:pPr marL="514350" indent="-514350" algn="just">
              <a:buFont typeface="+mj-lt"/>
              <a:buAutoNum type="arabicPeriod"/>
            </a:pPr>
            <a:r>
              <a:rPr lang="en-US" sz="2800" dirty="0"/>
              <a:t>education</a:t>
            </a:r>
          </a:p>
          <a:p>
            <a:pPr marL="514350" indent="-514350" algn="just">
              <a:buFont typeface="+mj-lt"/>
              <a:buAutoNum type="arabicPeriod"/>
            </a:pPr>
            <a:endParaRPr lang="en-US" sz="2800" dirty="0"/>
          </a:p>
        </p:txBody>
      </p:sp>
    </p:spTree>
    <p:extLst>
      <p:ext uri="{BB962C8B-B14F-4D97-AF65-F5344CB8AC3E}">
        <p14:creationId xmlns:p14="http://schemas.microsoft.com/office/powerpoint/2010/main" val="3746227560"/>
      </p:ext>
    </p:extLst>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p:cNvSpPr>
            <a:spLocks noGrp="1"/>
          </p:cNvSpPr>
          <p:nvPr>
            <p:ph type="sldNum" sz="quarter" idx="10"/>
          </p:nvPr>
        </p:nvSpPr>
        <p:spPr/>
        <p:txBody>
          <a:bodyPr/>
          <a:lstStyle/>
          <a:p>
            <a:r>
              <a:rPr lang="en-US"/>
              <a:t>4-</a:t>
            </a:r>
            <a:fld id="{2D07BF29-CD70-4023-8C22-C28CDF3D9BCE}" type="slidenum">
              <a:rPr lang="en-US"/>
              <a:pPr/>
              <a:t>36</a:t>
            </a:fld>
            <a:endParaRPr lang="en-US"/>
          </a:p>
        </p:txBody>
      </p:sp>
      <p:sp>
        <p:nvSpPr>
          <p:cNvPr id="611330" name="Rectangle 2"/>
          <p:cNvSpPr>
            <a:spLocks noGrp="1" noChangeArrowheads="1"/>
          </p:cNvSpPr>
          <p:nvPr>
            <p:ph type="title"/>
          </p:nvPr>
        </p:nvSpPr>
        <p:spPr bwMode="auto">
          <a:xfrm>
            <a:off x="457200" y="609600"/>
            <a:ext cx="8229600" cy="1143000"/>
          </a:xfrm>
          <a:noFill/>
          <a:ln>
            <a:miter lim="800000"/>
            <a:headEnd/>
            <a:tailEnd/>
          </a:ln>
        </p:spPr>
        <p:txBody>
          <a:bodyPr vert="horz" wrap="square" lIns="91440" tIns="45720" rIns="91440" bIns="45720" numCol="1" anchor="t" anchorCtr="0" compatLnSpc="1">
            <a:prstTxWarp prst="textNoShape">
              <a:avLst/>
            </a:prstTxWarp>
          </a:bodyPr>
          <a:lstStyle/>
          <a:p>
            <a:pPr algn="ctr"/>
            <a:r>
              <a:rPr lang="en-US" sz="4000" b="1" dirty="0"/>
              <a:t>Demand conditions</a:t>
            </a:r>
          </a:p>
        </p:txBody>
      </p:sp>
      <p:sp>
        <p:nvSpPr>
          <p:cNvPr id="611331" name="Rectangle 3"/>
          <p:cNvSpPr>
            <a:spLocks noGrp="1" noChangeArrowheads="1"/>
          </p:cNvSpPr>
          <p:nvPr>
            <p:ph type="body" sz="half" idx="1"/>
          </p:nvPr>
        </p:nvSpPr>
        <p:spPr bwMode="auto">
          <a:xfrm>
            <a:off x="381000" y="1752600"/>
            <a:ext cx="8458200" cy="4800600"/>
          </a:xfrm>
          <a:noFill/>
          <a:ln>
            <a:miter lim="800000"/>
            <a:headEnd/>
            <a:tailEnd/>
          </a:ln>
        </p:spPr>
        <p:txBody>
          <a:bodyPr vert="horz" wrap="square" lIns="91440" tIns="45720" rIns="91440" bIns="45720" numCol="1" anchor="t" anchorCtr="0" compatLnSpc="1">
            <a:prstTxWarp prst="textNoShape">
              <a:avLst/>
            </a:prstTxWarp>
            <a:normAutofit/>
          </a:bodyPr>
          <a:lstStyle/>
          <a:p>
            <a:pPr marL="0" indent="0" algn="just"/>
            <a:r>
              <a:rPr lang="en-US" sz="2800" b="1" dirty="0">
                <a:solidFill>
                  <a:srgbClr val="CC6600"/>
                </a:solidFill>
                <a:latin typeface="Calibri" pitchFamily="34" charset="0"/>
                <a:cs typeface="Calibri" pitchFamily="34" charset="0"/>
              </a:rPr>
              <a:t>Demand conditions</a:t>
            </a:r>
            <a:r>
              <a:rPr lang="en-US" sz="2800" b="1" dirty="0">
                <a:latin typeface="Calibri" pitchFamily="34" charset="0"/>
                <a:cs typeface="Calibri" pitchFamily="34" charset="0"/>
              </a:rPr>
              <a:t> </a:t>
            </a:r>
            <a:r>
              <a:rPr lang="en-US" sz="2800" dirty="0">
                <a:latin typeface="Calibri" pitchFamily="34" charset="0"/>
                <a:cs typeface="Calibri" pitchFamily="34" charset="0"/>
              </a:rPr>
              <a:t>refer to the nature of home demand for the industry’s product or service that influences the development of capabilities</a:t>
            </a:r>
          </a:p>
          <a:p>
            <a:pPr marL="0" indent="0" algn="just"/>
            <a:endParaRPr lang="en-US" sz="2800" dirty="0">
              <a:latin typeface="Calibri" pitchFamily="34" charset="0"/>
              <a:cs typeface="Calibri" pitchFamily="34" charset="0"/>
            </a:endParaRPr>
          </a:p>
          <a:p>
            <a:pPr marL="0" indent="0" algn="just"/>
            <a:r>
              <a:rPr lang="en-US" sz="2800" dirty="0">
                <a:latin typeface="Calibri" pitchFamily="34" charset="0"/>
                <a:cs typeface="Calibri" pitchFamily="34" charset="0"/>
              </a:rPr>
              <a:t>Sophisticated and demanding customers pressure firms to be competitive, by creating pressures for innovation and quality</a:t>
            </a:r>
          </a:p>
          <a:p>
            <a:pPr marL="0" indent="0" algn="just"/>
            <a:endParaRPr lang="en-US" sz="2800" dirty="0">
              <a:latin typeface="Calibri" pitchFamily="34" charset="0"/>
              <a:cs typeface="Calibri" pitchFamily="34" charset="0"/>
            </a:endParaRPr>
          </a:p>
          <a:p>
            <a:pPr marL="0" indent="0" algn="just"/>
            <a:r>
              <a:rPr lang="en-US" sz="2800" b="1" u="sng" dirty="0">
                <a:solidFill>
                  <a:srgbClr val="FF0000"/>
                </a:solidFill>
                <a:latin typeface="Calibri" pitchFamily="34" charset="0"/>
                <a:cs typeface="Calibri" pitchFamily="34" charset="0"/>
              </a:rPr>
              <a:t>E.g.</a:t>
            </a:r>
            <a:r>
              <a:rPr lang="en-US" sz="2800" dirty="0">
                <a:latin typeface="Calibri" pitchFamily="34" charset="0"/>
                <a:cs typeface="Calibri" pitchFamily="34" charset="0"/>
              </a:rPr>
              <a:t> Japanese camera industry; wireless telephone equipment industry of Scandinavia and Sweden</a:t>
            </a:r>
          </a:p>
          <a:p>
            <a:endParaRPr lang="en-US" sz="2800" dirty="0"/>
          </a:p>
        </p:txBody>
      </p:sp>
      <p:pic>
        <p:nvPicPr>
          <p:cNvPr id="4" name="Picture 2">
            <a:extLst>
              <a:ext uri="{FF2B5EF4-FFF2-40B4-BE49-F238E27FC236}">
                <a16:creationId xmlns:a16="http://schemas.microsoft.com/office/drawing/2014/main" id="{296189CB-F2C9-A36C-5FC8-6466C297D1CB}"/>
              </a:ext>
            </a:extLst>
          </p:cNvPr>
          <p:cNvPicPr>
            <a:picLocks noChangeAspect="1" noChangeArrowheads="1"/>
          </p:cNvPicPr>
          <p:nvPr/>
        </p:nvPicPr>
        <p:blipFill>
          <a:blip r:embed="rId2"/>
          <a:srcRect/>
          <a:stretch>
            <a:fillRect/>
          </a:stretch>
        </p:blipFill>
        <p:spPr bwMode="auto">
          <a:xfrm>
            <a:off x="6781800" y="76200"/>
            <a:ext cx="2198864" cy="1752600"/>
          </a:xfrm>
          <a:prstGeom prst="rect">
            <a:avLst/>
          </a:prstGeom>
          <a:noFill/>
          <a:ln w="9525">
            <a:noFill/>
            <a:miter lim="800000"/>
            <a:headEnd/>
            <a:tailEnd/>
          </a:ln>
          <a:effectLst/>
        </p:spPr>
      </p:pic>
    </p:spTree>
    <p:extLst>
      <p:ext uri="{BB962C8B-B14F-4D97-AF65-F5344CB8AC3E}">
        <p14:creationId xmlns:p14="http://schemas.microsoft.com/office/powerpoint/2010/main" val="3307156123"/>
      </p:ext>
    </p:extLst>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0"/>
          </p:nvPr>
        </p:nvSpPr>
        <p:spPr/>
        <p:txBody>
          <a:bodyPr/>
          <a:lstStyle/>
          <a:p>
            <a:r>
              <a:rPr lang="en-US"/>
              <a:t>4-</a:t>
            </a:r>
            <a:fld id="{440B7385-006C-4623-A127-9A31294D1D7F}" type="slidenum">
              <a:rPr lang="en-US"/>
              <a:pPr/>
              <a:t>37</a:t>
            </a:fld>
            <a:endParaRPr lang="en-US"/>
          </a:p>
        </p:txBody>
      </p:sp>
      <p:sp>
        <p:nvSpPr>
          <p:cNvPr id="612354" name="Rectangle 2"/>
          <p:cNvSpPr>
            <a:spLocks noGrp="1" noChangeArrowheads="1"/>
          </p:cNvSpPr>
          <p:nvPr>
            <p:ph type="title"/>
          </p:nvPr>
        </p:nvSpPr>
        <p:spPr bwMode="auto">
          <a:xfrm>
            <a:off x="304800" y="609600"/>
            <a:ext cx="8229600" cy="944562"/>
          </a:xfrm>
          <a:noFill/>
          <a:ln>
            <a:miter lim="800000"/>
            <a:headEnd/>
            <a:tailEnd/>
          </a:ln>
        </p:spPr>
        <p:txBody>
          <a:bodyPr vert="horz" wrap="square" lIns="91440" tIns="45720" rIns="91440" bIns="45720" numCol="1" anchor="t" anchorCtr="0" compatLnSpc="1">
            <a:prstTxWarp prst="textNoShape">
              <a:avLst/>
            </a:prstTxWarp>
            <a:normAutofit fontScale="90000"/>
          </a:bodyPr>
          <a:lstStyle/>
          <a:p>
            <a:r>
              <a:rPr lang="en-US" sz="4100" dirty="0"/>
              <a:t>	</a:t>
            </a:r>
            <a:r>
              <a:rPr lang="en-US" sz="4100" b="1" dirty="0"/>
              <a:t>Related and supporting industries</a:t>
            </a:r>
          </a:p>
        </p:txBody>
      </p:sp>
      <p:sp>
        <p:nvSpPr>
          <p:cNvPr id="612355" name="Rectangle 3"/>
          <p:cNvSpPr>
            <a:spLocks noGrp="1" noChangeArrowheads="1"/>
          </p:cNvSpPr>
          <p:nvPr>
            <p:ph type="body" idx="1"/>
          </p:nvPr>
        </p:nvSpPr>
        <p:spPr bwMode="auto">
          <a:xfrm>
            <a:off x="457200" y="1905000"/>
            <a:ext cx="8229600" cy="4525963"/>
          </a:xfrm>
          <a:noFill/>
          <a:ln>
            <a:miter lim="800000"/>
            <a:headEnd/>
            <a:tailEnd/>
          </a:ln>
        </p:spPr>
        <p:txBody>
          <a:bodyPr vert="horz" wrap="square" lIns="91440" tIns="45720" rIns="91440" bIns="45720" numCol="1" anchor="t" anchorCtr="0" compatLnSpc="1">
            <a:prstTxWarp prst="textNoShape">
              <a:avLst/>
            </a:prstTxWarp>
            <a:normAutofit lnSpcReduction="10000"/>
          </a:bodyPr>
          <a:lstStyle/>
          <a:p>
            <a:r>
              <a:rPr lang="en-US" dirty="0"/>
              <a:t>Creates </a:t>
            </a:r>
            <a:r>
              <a:rPr lang="en-US" b="1" dirty="0">
                <a:solidFill>
                  <a:srgbClr val="FF0000"/>
                </a:solidFill>
              </a:rPr>
              <a:t>clusters of supporting industries </a:t>
            </a:r>
            <a:r>
              <a:rPr lang="en-US" dirty="0"/>
              <a:t>that are internationally competitive.</a:t>
            </a:r>
          </a:p>
          <a:p>
            <a:endParaRPr lang="en-US" dirty="0"/>
          </a:p>
          <a:p>
            <a:pPr algn="just"/>
            <a:r>
              <a:rPr lang="en-US" dirty="0"/>
              <a:t>Suppliers of raw materials, market intermediaries, financial companies, consulting agencies, ancillary industries etc….</a:t>
            </a:r>
          </a:p>
          <a:p>
            <a:endParaRPr lang="en-US" dirty="0"/>
          </a:p>
          <a:p>
            <a:pPr algn="just"/>
            <a:r>
              <a:rPr lang="en-US" dirty="0"/>
              <a:t>Must also meet requirements of other parts of  the Diamond</a:t>
            </a:r>
          </a:p>
          <a:p>
            <a:endParaRPr lang="en-US" dirty="0"/>
          </a:p>
        </p:txBody>
      </p:sp>
    </p:spTree>
    <p:extLst>
      <p:ext uri="{BB962C8B-B14F-4D97-AF65-F5344CB8AC3E}">
        <p14:creationId xmlns:p14="http://schemas.microsoft.com/office/powerpoint/2010/main" val="3364198949"/>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81000" y="914400"/>
            <a:ext cx="8229600" cy="1143000"/>
          </a:xfrm>
        </p:spPr>
        <p:txBody>
          <a:bodyPr>
            <a:normAutofit fontScale="90000"/>
          </a:bodyPr>
          <a:lstStyle/>
          <a:p>
            <a:r>
              <a:rPr lang="en-US" sz="2200" dirty="0">
                <a:solidFill>
                  <a:schemeClr val="tx1"/>
                </a:solidFill>
              </a:rPr>
              <a:t>OEMs ( Original Equipment Manufactures) locate their plants Geographically near by Toyota Corporation.( Facilitate JIT-Just In Time system)</a:t>
            </a:r>
            <a:r>
              <a:rPr lang="en-US" dirty="0"/>
              <a:t/>
            </a:r>
            <a:br>
              <a:rPr lang="en-US" dirty="0"/>
            </a:br>
            <a:endParaRPr lang="en-US" dirty="0"/>
          </a:p>
        </p:txBody>
      </p:sp>
      <p:pic>
        <p:nvPicPr>
          <p:cNvPr id="4" name="Picture 2" descr="C:\Users\Admin\Downloads\Toyotomap.gif"/>
          <p:cNvPicPr>
            <a:picLocks noGrp="1" noChangeAspect="1" noChangeArrowheads="1"/>
          </p:cNvPicPr>
          <p:nvPr>
            <p:ph idx="1"/>
          </p:nvPr>
        </p:nvPicPr>
        <p:blipFill>
          <a:blip r:embed="rId2"/>
          <a:srcRect/>
          <a:stretch>
            <a:fillRect/>
          </a:stretch>
        </p:blipFill>
        <p:spPr bwMode="auto">
          <a:xfrm>
            <a:off x="0" y="1447800"/>
            <a:ext cx="9134856" cy="5410200"/>
          </a:xfrm>
          <a:prstGeom prst="rect">
            <a:avLst/>
          </a:prstGeom>
          <a:noFill/>
        </p:spPr>
      </p:pic>
    </p:spTree>
    <p:extLst>
      <p:ext uri="{BB962C8B-B14F-4D97-AF65-F5344CB8AC3E}">
        <p14:creationId xmlns:p14="http://schemas.microsoft.com/office/powerpoint/2010/main" val="522606731"/>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Rectangle 5"/>
          <p:cNvSpPr>
            <a:spLocks noGrp="1" noChangeArrowheads="1"/>
          </p:cNvSpPr>
          <p:nvPr>
            <p:ph idx="1"/>
          </p:nvPr>
        </p:nvSpPr>
        <p:spPr/>
        <p:txBody>
          <a:bodyPr>
            <a:normAutofit/>
          </a:bodyPr>
          <a:lstStyle/>
          <a:p>
            <a:pPr marL="0" indent="0" algn="just">
              <a:lnSpc>
                <a:spcPct val="90000"/>
              </a:lnSpc>
            </a:pPr>
            <a:r>
              <a:rPr lang="en-US" sz="2200" dirty="0">
                <a:latin typeface="Calibri" pitchFamily="34" charset="0"/>
                <a:cs typeface="Calibri" pitchFamily="34" charset="0"/>
              </a:rPr>
              <a:t>The conditions in the nation governing how companies are created, organized, and managed, and the nature of domestic rivalry impacts firm competitiveness</a:t>
            </a:r>
          </a:p>
          <a:p>
            <a:pPr marL="0" indent="0" algn="just">
              <a:lnSpc>
                <a:spcPct val="90000"/>
              </a:lnSpc>
              <a:buNone/>
            </a:pPr>
            <a:endParaRPr lang="en-US" sz="2200" dirty="0">
              <a:latin typeface="Calibri" pitchFamily="34" charset="0"/>
              <a:cs typeface="Calibri" pitchFamily="34" charset="0"/>
            </a:endParaRPr>
          </a:p>
          <a:p>
            <a:pPr marL="0" indent="0" algn="just">
              <a:lnSpc>
                <a:spcPct val="90000"/>
              </a:lnSpc>
            </a:pPr>
            <a:r>
              <a:rPr lang="en-US" sz="2200" dirty="0">
                <a:latin typeface="Calibri" pitchFamily="34" charset="0"/>
                <a:cs typeface="Calibri" pitchFamily="34" charset="0"/>
              </a:rPr>
              <a:t>Different management ideologies affect the development of national competitive advantage. </a:t>
            </a:r>
          </a:p>
          <a:p>
            <a:pPr marL="256032" lvl="1" indent="0" algn="just">
              <a:lnSpc>
                <a:spcPct val="90000"/>
              </a:lnSpc>
            </a:pPr>
            <a:r>
              <a:rPr lang="en-US" sz="1800" b="1" u="sng" dirty="0">
                <a:solidFill>
                  <a:srgbClr val="FF0000"/>
                </a:solidFill>
                <a:latin typeface="Calibri" pitchFamily="34" charset="0"/>
                <a:cs typeface="Calibri" pitchFamily="34" charset="0"/>
              </a:rPr>
              <a:t>E.g.</a:t>
            </a:r>
            <a:r>
              <a:rPr lang="en-US" sz="1800" dirty="0">
                <a:latin typeface="Calibri" pitchFamily="34" charset="0"/>
                <a:cs typeface="Calibri" pitchFamily="34" charset="0"/>
              </a:rPr>
              <a:t> predominance of engineers in top management at German and Japanese firms-improvement in manufacturing processes and product design</a:t>
            </a:r>
          </a:p>
          <a:p>
            <a:pPr marL="256032" lvl="1" indent="0" algn="just">
              <a:lnSpc>
                <a:spcPct val="90000"/>
              </a:lnSpc>
            </a:pPr>
            <a:r>
              <a:rPr lang="en-US" sz="1800" b="1" u="sng" dirty="0">
                <a:solidFill>
                  <a:srgbClr val="FF0000"/>
                </a:solidFill>
                <a:latin typeface="Calibri" pitchFamily="34" charset="0"/>
                <a:cs typeface="Calibri" pitchFamily="34" charset="0"/>
              </a:rPr>
              <a:t>E.g.</a:t>
            </a:r>
            <a:r>
              <a:rPr lang="en-US" sz="1800" dirty="0">
                <a:latin typeface="Calibri" pitchFamily="34" charset="0"/>
                <a:cs typeface="Calibri" pitchFamily="34" charset="0"/>
              </a:rPr>
              <a:t> predominance of finance people in top management at the US firms-overemphasis on maximizing short term financial return</a:t>
            </a:r>
          </a:p>
          <a:p>
            <a:pPr marL="256032" lvl="1" indent="0" algn="just">
              <a:lnSpc>
                <a:spcPct val="90000"/>
              </a:lnSpc>
            </a:pPr>
            <a:endParaRPr lang="en-US" sz="1800" dirty="0">
              <a:latin typeface="Calibri" pitchFamily="34" charset="0"/>
              <a:cs typeface="Calibri" pitchFamily="34" charset="0"/>
            </a:endParaRPr>
          </a:p>
          <a:p>
            <a:pPr marL="0" indent="0" algn="just">
              <a:lnSpc>
                <a:spcPct val="90000"/>
              </a:lnSpc>
            </a:pPr>
            <a:r>
              <a:rPr lang="en-US" sz="2200" dirty="0">
                <a:latin typeface="Calibri" pitchFamily="34" charset="0"/>
                <a:cs typeface="Calibri" pitchFamily="34" charset="0"/>
              </a:rPr>
              <a:t>Vigorous domestic rivalry creates pressures to innovate, to improve quality, to reduce costs, and to invest in upgrading advanced features  </a:t>
            </a:r>
          </a:p>
          <a:p>
            <a:pPr marL="0" indent="0" algn="just">
              <a:lnSpc>
                <a:spcPct val="90000"/>
              </a:lnSpc>
              <a:buNone/>
            </a:pPr>
            <a:endParaRPr lang="en-US" sz="2200" dirty="0">
              <a:latin typeface="Calibri" pitchFamily="34" charset="0"/>
              <a:cs typeface="Calibri" pitchFamily="34" charset="0"/>
            </a:endParaRPr>
          </a:p>
          <a:p>
            <a:pPr marL="256032" lvl="1" indent="0" algn="just">
              <a:lnSpc>
                <a:spcPct val="90000"/>
              </a:lnSpc>
            </a:pPr>
            <a:endParaRPr lang="en-US" sz="1800" dirty="0">
              <a:latin typeface="Calibri" pitchFamily="34" charset="0"/>
              <a:cs typeface="Calibri" pitchFamily="34" charset="0"/>
            </a:endParaRPr>
          </a:p>
        </p:txBody>
      </p:sp>
      <p:sp>
        <p:nvSpPr>
          <p:cNvPr id="524292" name="Rectangle 4"/>
          <p:cNvSpPr>
            <a:spLocks noGrp="1" noChangeArrowheads="1"/>
          </p:cNvSpPr>
          <p:nvPr>
            <p:ph type="title"/>
          </p:nvPr>
        </p:nvSpPr>
        <p:spPr/>
        <p:txBody>
          <a:bodyPr>
            <a:normAutofit fontScale="90000"/>
          </a:bodyPr>
          <a:lstStyle/>
          <a:p>
            <a:pPr fontAlgn="auto">
              <a:lnSpc>
                <a:spcPct val="80000"/>
              </a:lnSpc>
              <a:spcAft>
                <a:spcPts val="0"/>
              </a:spcAft>
              <a:defRPr/>
            </a:pPr>
            <a:r>
              <a:rPr lang="en-US"/>
              <a:t>Firm Strategy, Structure, And Rivalry</a:t>
            </a:r>
          </a:p>
        </p:txBody>
      </p:sp>
    </p:spTree>
    <p:extLst>
      <p:ext uri="{BB962C8B-B14F-4D97-AF65-F5344CB8AC3E}">
        <p14:creationId xmlns:p14="http://schemas.microsoft.com/office/powerpoint/2010/main" val="1122330498"/>
      </p:ext>
    </p:extLst>
  </p:cSld>
  <p:clrMapOvr>
    <a:masterClrMapping/>
  </p:clrMapOvr>
  <p:transition/>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0" name="Rectangle 2"/>
          <p:cNvSpPr>
            <a:spLocks noGrp="1" noChangeArrowheads="1"/>
          </p:cNvSpPr>
          <p:nvPr>
            <p:ph type="ctrTitle"/>
          </p:nvPr>
        </p:nvSpPr>
        <p:spPr>
          <a:xfrm>
            <a:off x="685800" y="685800"/>
            <a:ext cx="7772400" cy="1676400"/>
          </a:xfrm>
        </p:spPr>
        <p:txBody>
          <a:bodyPr/>
          <a:lstStyle/>
          <a:p>
            <a:r>
              <a:rPr lang="en-US" altLang="en-US"/>
              <a:t>Balance of Payments</a:t>
            </a:r>
          </a:p>
        </p:txBody>
      </p:sp>
      <p:sp>
        <p:nvSpPr>
          <p:cNvPr id="2051" name="Rectangle 3"/>
          <p:cNvSpPr>
            <a:spLocks noGrp="1" noChangeArrowheads="1"/>
          </p:cNvSpPr>
          <p:nvPr>
            <p:ph type="subTitle" idx="1"/>
          </p:nvPr>
        </p:nvSpPr>
        <p:spPr>
          <a:xfrm>
            <a:off x="1371600" y="2438400"/>
            <a:ext cx="6400800" cy="3200400"/>
          </a:xfrm>
        </p:spPr>
        <p:txBody>
          <a:bodyPr/>
          <a:lstStyle/>
          <a:p>
            <a:pPr algn="l"/>
            <a:r>
              <a:rPr lang="en-US" altLang="en-US"/>
              <a:t>A set of accounts called the country’s Balance Of Payments (BOP) summarizes all the transactions by residents, firms and government of one country with their counterparts in the rest of the world</a:t>
            </a:r>
          </a:p>
        </p:txBody>
      </p:sp>
    </p:spTree>
    <p:extLst>
      <p:ext uri="{BB962C8B-B14F-4D97-AF65-F5344CB8AC3E}">
        <p14:creationId xmlns:p14="http://schemas.microsoft.com/office/powerpoint/2010/main" val="339710254"/>
      </p:ext>
    </p:extLst>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7170" name="Rectangle 2"/>
          <p:cNvSpPr>
            <a:spLocks noGrp="1" noChangeArrowheads="1"/>
          </p:cNvSpPr>
          <p:nvPr>
            <p:ph type="title"/>
          </p:nvPr>
        </p:nvSpPr>
        <p:spPr/>
        <p:txBody>
          <a:bodyPr/>
          <a:lstStyle/>
          <a:p>
            <a:r>
              <a:rPr lang="en-US" altLang="en-US"/>
              <a:t>BOP Accounts:</a:t>
            </a:r>
          </a:p>
        </p:txBody>
      </p:sp>
      <p:sp>
        <p:nvSpPr>
          <p:cNvPr id="7171" name="Rectangle 3"/>
          <p:cNvSpPr>
            <a:spLocks noGrp="1" noChangeArrowheads="1"/>
          </p:cNvSpPr>
          <p:nvPr>
            <p:ph type="body" idx="1"/>
          </p:nvPr>
        </p:nvSpPr>
        <p:spPr/>
        <p:txBody>
          <a:bodyPr/>
          <a:lstStyle/>
          <a:p>
            <a:r>
              <a:rPr lang="en-US" altLang="en-US"/>
              <a:t>Current Account</a:t>
            </a:r>
          </a:p>
          <a:p>
            <a:r>
              <a:rPr lang="en-US" altLang="en-US"/>
              <a:t>Capital Account</a:t>
            </a:r>
          </a:p>
          <a:p>
            <a:r>
              <a:rPr lang="en-US" altLang="en-US"/>
              <a:t>Official Settlements Account</a:t>
            </a:r>
          </a:p>
        </p:txBody>
      </p:sp>
    </p:spTree>
    <p:extLst>
      <p:ext uri="{BB962C8B-B14F-4D97-AF65-F5344CB8AC3E}">
        <p14:creationId xmlns:p14="http://schemas.microsoft.com/office/powerpoint/2010/main" val="1197705980"/>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7170"/>
                                        </p:tgtEl>
                                        <p:attrNameLst>
                                          <p:attrName>style.visibility</p:attrName>
                                        </p:attrNameLst>
                                      </p:cBhvr>
                                      <p:to>
                                        <p:strVal val="visible"/>
                                      </p:to>
                                    </p:set>
                                    <p:anim calcmode="lin" valueType="num">
                                      <p:cBhvr additive="base">
                                        <p:cTn id="7" dur="500" fill="hold"/>
                                        <p:tgtEl>
                                          <p:spTgt spid="7170"/>
                                        </p:tgtEl>
                                        <p:attrNameLst>
                                          <p:attrName>ppt_x</p:attrName>
                                        </p:attrNameLst>
                                      </p:cBhvr>
                                      <p:tavLst>
                                        <p:tav tm="0">
                                          <p:val>
                                            <p:strVal val="0-#ppt_w/2"/>
                                          </p:val>
                                        </p:tav>
                                        <p:tav tm="100000">
                                          <p:val>
                                            <p:strVal val="#ppt_x"/>
                                          </p:val>
                                        </p:tav>
                                      </p:tavLst>
                                    </p:anim>
                                    <p:anim calcmode="lin" valueType="num">
                                      <p:cBhvr additive="base">
                                        <p:cTn id="8" dur="500" fill="hold"/>
                                        <p:tgtEl>
                                          <p:spTgt spid="7170"/>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7171">
                                            <p:txEl>
                                              <p:pRg st="0" end="0"/>
                                            </p:txEl>
                                          </p:spTgt>
                                        </p:tgtEl>
                                        <p:attrNameLst>
                                          <p:attrName>style.visibility</p:attrName>
                                        </p:attrNameLst>
                                      </p:cBhvr>
                                      <p:to>
                                        <p:strVal val="visible"/>
                                      </p:to>
                                    </p:set>
                                    <p:anim calcmode="lin" valueType="num">
                                      <p:cBhvr additive="base">
                                        <p:cTn id="13" dur="500" fill="hold"/>
                                        <p:tgtEl>
                                          <p:spTgt spid="7171">
                                            <p:txEl>
                                              <p:pRg st="0" end="0"/>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7171">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7171">
                                            <p:txEl>
                                              <p:pRg st="1" end="1"/>
                                            </p:txEl>
                                          </p:spTgt>
                                        </p:tgtEl>
                                        <p:attrNameLst>
                                          <p:attrName>style.visibility</p:attrName>
                                        </p:attrNameLst>
                                      </p:cBhvr>
                                      <p:to>
                                        <p:strVal val="visible"/>
                                      </p:to>
                                    </p:set>
                                    <p:anim calcmode="lin" valueType="num">
                                      <p:cBhvr additive="base">
                                        <p:cTn id="19" dur="500" fill="hold"/>
                                        <p:tgtEl>
                                          <p:spTgt spid="7171">
                                            <p:txEl>
                                              <p:pRg st="1" end="1"/>
                                            </p:txEl>
                                          </p:spTgt>
                                        </p:tgtEl>
                                        <p:attrNameLst>
                                          <p:attrName>ppt_x</p:attrName>
                                        </p:attrNameLst>
                                      </p:cBhvr>
                                      <p:tavLst>
                                        <p:tav tm="0">
                                          <p:val>
                                            <p:strVal val="0-#ppt_w/2"/>
                                          </p:val>
                                        </p:tav>
                                        <p:tav tm="100000">
                                          <p:val>
                                            <p:strVal val="#ppt_x"/>
                                          </p:val>
                                        </p:tav>
                                      </p:tavLst>
                                    </p:anim>
                                    <p:anim calcmode="lin" valueType="num">
                                      <p:cBhvr additive="base">
                                        <p:cTn id="20" dur="500" fill="hold"/>
                                        <p:tgtEl>
                                          <p:spTgt spid="7171">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8" fill="hold" grpId="0" nodeType="clickEffect">
                                  <p:stCondLst>
                                    <p:cond delay="0"/>
                                  </p:stCondLst>
                                  <p:childTnLst>
                                    <p:set>
                                      <p:cBhvr>
                                        <p:cTn id="24" dur="1" fill="hold">
                                          <p:stCondLst>
                                            <p:cond delay="0"/>
                                          </p:stCondLst>
                                        </p:cTn>
                                        <p:tgtEl>
                                          <p:spTgt spid="7171">
                                            <p:txEl>
                                              <p:pRg st="2" end="2"/>
                                            </p:txEl>
                                          </p:spTgt>
                                        </p:tgtEl>
                                        <p:attrNameLst>
                                          <p:attrName>style.visibility</p:attrName>
                                        </p:attrNameLst>
                                      </p:cBhvr>
                                      <p:to>
                                        <p:strVal val="visible"/>
                                      </p:to>
                                    </p:set>
                                    <p:anim calcmode="lin" valueType="num">
                                      <p:cBhvr additive="base">
                                        <p:cTn id="25" dur="500" fill="hold"/>
                                        <p:tgtEl>
                                          <p:spTgt spid="7171">
                                            <p:txEl>
                                              <p:pRg st="2" end="2"/>
                                            </p:txEl>
                                          </p:spTgt>
                                        </p:tgtEl>
                                        <p:attrNameLst>
                                          <p:attrName>ppt_x</p:attrName>
                                        </p:attrNameLst>
                                      </p:cBhvr>
                                      <p:tavLst>
                                        <p:tav tm="0">
                                          <p:val>
                                            <p:strVal val="0-#ppt_w/2"/>
                                          </p:val>
                                        </p:tav>
                                        <p:tav tm="100000">
                                          <p:val>
                                            <p:strVal val="#ppt_x"/>
                                          </p:val>
                                        </p:tav>
                                      </p:tavLst>
                                    </p:anim>
                                    <p:anim calcmode="lin" valueType="num">
                                      <p:cBhvr additive="base">
                                        <p:cTn id="26" dur="500" fill="hold"/>
                                        <p:tgtEl>
                                          <p:spTgt spid="7171">
                                            <p:txEl>
                                              <p:pRg st="2" end="2"/>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170" grpId="0" autoUpdateAnimBg="0"/>
      <p:bldP spid="7171" grpId="0" build="p" autoUpdateAnimBg="0"/>
    </p:bldLst>
  </p:timing>
</p:sld>
</file>

<file path=ppt/slides/slide4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8194" name="Rectangle 2"/>
          <p:cNvSpPr>
            <a:spLocks noGrp="1" noChangeArrowheads="1"/>
          </p:cNvSpPr>
          <p:nvPr>
            <p:ph type="title"/>
          </p:nvPr>
        </p:nvSpPr>
        <p:spPr/>
        <p:txBody>
          <a:bodyPr/>
          <a:lstStyle/>
          <a:p>
            <a:r>
              <a:rPr lang="en-US" altLang="en-US"/>
              <a:t>Current Account:</a:t>
            </a:r>
          </a:p>
        </p:txBody>
      </p:sp>
      <p:sp>
        <p:nvSpPr>
          <p:cNvPr id="8195" name="Rectangle 3"/>
          <p:cNvSpPr>
            <a:spLocks noGrp="1" noChangeArrowheads="1"/>
          </p:cNvSpPr>
          <p:nvPr>
            <p:ph type="body" idx="1"/>
          </p:nvPr>
        </p:nvSpPr>
        <p:spPr/>
        <p:txBody>
          <a:bodyPr/>
          <a:lstStyle/>
          <a:p>
            <a:r>
              <a:rPr lang="en-US" altLang="en-US" dirty="0"/>
              <a:t>Merchandise Trade</a:t>
            </a:r>
          </a:p>
          <a:p>
            <a:pPr lvl="1"/>
            <a:r>
              <a:rPr lang="en-US" altLang="en-US" dirty="0"/>
              <a:t>Exports of Goods ( X</a:t>
            </a:r>
            <a:r>
              <a:rPr lang="en-US" altLang="en-US" baseline="-25000" dirty="0"/>
              <a:t>G</a:t>
            </a:r>
            <a:r>
              <a:rPr lang="en-US" altLang="en-US" dirty="0"/>
              <a:t> )</a:t>
            </a:r>
          </a:p>
          <a:p>
            <a:pPr lvl="1"/>
            <a:r>
              <a:rPr lang="en-US" altLang="en-US" dirty="0"/>
              <a:t>Imports of Goods ( M</a:t>
            </a:r>
            <a:r>
              <a:rPr lang="en-US" altLang="en-US" baseline="-25000" dirty="0"/>
              <a:t>G</a:t>
            </a:r>
            <a:r>
              <a:rPr lang="en-US" altLang="en-US" dirty="0"/>
              <a:t> )</a:t>
            </a:r>
          </a:p>
          <a:p>
            <a:r>
              <a:rPr lang="en-US" altLang="en-US" dirty="0"/>
              <a:t>Services</a:t>
            </a:r>
          </a:p>
          <a:p>
            <a:pPr lvl="1"/>
            <a:r>
              <a:rPr lang="en-US" altLang="en-US" dirty="0"/>
              <a:t>Banking, Legal, Shipping, Insurance, Travel, Transportation, Consulting, etc.</a:t>
            </a:r>
          </a:p>
          <a:p>
            <a:r>
              <a:rPr lang="en-US" altLang="en-US" dirty="0"/>
              <a:t>Investment Income</a:t>
            </a:r>
          </a:p>
          <a:p>
            <a:r>
              <a:rPr lang="en-US" altLang="en-US" dirty="0"/>
              <a:t>Unilateral Transfers</a:t>
            </a:r>
          </a:p>
        </p:txBody>
      </p:sp>
    </p:spTree>
    <p:extLst>
      <p:ext uri="{BB962C8B-B14F-4D97-AF65-F5344CB8AC3E}">
        <p14:creationId xmlns:p14="http://schemas.microsoft.com/office/powerpoint/2010/main" val="853538271"/>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8194"/>
                                        </p:tgtEl>
                                        <p:attrNameLst>
                                          <p:attrName>style.visibility</p:attrName>
                                        </p:attrNameLst>
                                      </p:cBhvr>
                                      <p:to>
                                        <p:strVal val="visible"/>
                                      </p:to>
                                    </p:set>
                                    <p:anim calcmode="lin" valueType="num">
                                      <p:cBhvr additive="base">
                                        <p:cTn id="7" dur="500" fill="hold"/>
                                        <p:tgtEl>
                                          <p:spTgt spid="8194"/>
                                        </p:tgtEl>
                                        <p:attrNameLst>
                                          <p:attrName>ppt_x</p:attrName>
                                        </p:attrNameLst>
                                      </p:cBhvr>
                                      <p:tavLst>
                                        <p:tav tm="0">
                                          <p:val>
                                            <p:strVal val="0-#ppt_w/2"/>
                                          </p:val>
                                        </p:tav>
                                        <p:tav tm="100000">
                                          <p:val>
                                            <p:strVal val="#ppt_x"/>
                                          </p:val>
                                        </p:tav>
                                      </p:tavLst>
                                    </p:anim>
                                    <p:anim calcmode="lin" valueType="num">
                                      <p:cBhvr additive="base">
                                        <p:cTn id="8" dur="500" fill="hold"/>
                                        <p:tgtEl>
                                          <p:spTgt spid="8194"/>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8195">
                                            <p:txEl>
                                              <p:pRg st="0" end="0"/>
                                            </p:txEl>
                                          </p:spTgt>
                                        </p:tgtEl>
                                        <p:attrNameLst>
                                          <p:attrName>style.visibility</p:attrName>
                                        </p:attrNameLst>
                                      </p:cBhvr>
                                      <p:to>
                                        <p:strVal val="visible"/>
                                      </p:to>
                                    </p:set>
                                    <p:anim calcmode="lin" valueType="num">
                                      <p:cBhvr additive="base">
                                        <p:cTn id="13" dur="500" fill="hold"/>
                                        <p:tgtEl>
                                          <p:spTgt spid="8195">
                                            <p:txEl>
                                              <p:pRg st="0" end="0"/>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8195">
                                            <p:txEl>
                                              <p:pRg st="0" end="0"/>
                                            </p:txEl>
                                          </p:spTgt>
                                        </p:tgtEl>
                                        <p:attrNameLst>
                                          <p:attrName>ppt_y</p:attrName>
                                        </p:attrNameLst>
                                      </p:cBhvr>
                                      <p:tavLst>
                                        <p:tav tm="0">
                                          <p:val>
                                            <p:strVal val="#ppt_y"/>
                                          </p:val>
                                        </p:tav>
                                        <p:tav tm="100000">
                                          <p:val>
                                            <p:strVal val="#ppt_y"/>
                                          </p:val>
                                        </p:tav>
                                      </p:tavLst>
                                    </p:anim>
                                  </p:childTnLst>
                                </p:cTn>
                              </p:par>
                              <p:par>
                                <p:cTn id="15" presetID="2" presetClass="entr" presetSubtype="8" fill="hold" grpId="0" nodeType="withEffect">
                                  <p:stCondLst>
                                    <p:cond delay="0"/>
                                  </p:stCondLst>
                                  <p:childTnLst>
                                    <p:set>
                                      <p:cBhvr>
                                        <p:cTn id="16" dur="1" fill="hold">
                                          <p:stCondLst>
                                            <p:cond delay="0"/>
                                          </p:stCondLst>
                                        </p:cTn>
                                        <p:tgtEl>
                                          <p:spTgt spid="8195">
                                            <p:txEl>
                                              <p:pRg st="1" end="1"/>
                                            </p:txEl>
                                          </p:spTgt>
                                        </p:tgtEl>
                                        <p:attrNameLst>
                                          <p:attrName>style.visibility</p:attrName>
                                        </p:attrNameLst>
                                      </p:cBhvr>
                                      <p:to>
                                        <p:strVal val="visible"/>
                                      </p:to>
                                    </p:set>
                                    <p:anim calcmode="lin" valueType="num">
                                      <p:cBhvr additive="base">
                                        <p:cTn id="17" dur="500" fill="hold"/>
                                        <p:tgtEl>
                                          <p:spTgt spid="8195">
                                            <p:txEl>
                                              <p:pRg st="1" end="1"/>
                                            </p:txEl>
                                          </p:spTgt>
                                        </p:tgtEl>
                                        <p:attrNameLst>
                                          <p:attrName>ppt_x</p:attrName>
                                        </p:attrNameLst>
                                      </p:cBhvr>
                                      <p:tavLst>
                                        <p:tav tm="0">
                                          <p:val>
                                            <p:strVal val="0-#ppt_w/2"/>
                                          </p:val>
                                        </p:tav>
                                        <p:tav tm="100000">
                                          <p:val>
                                            <p:strVal val="#ppt_x"/>
                                          </p:val>
                                        </p:tav>
                                      </p:tavLst>
                                    </p:anim>
                                    <p:anim calcmode="lin" valueType="num">
                                      <p:cBhvr additive="base">
                                        <p:cTn id="18" dur="500" fill="hold"/>
                                        <p:tgtEl>
                                          <p:spTgt spid="8195">
                                            <p:txEl>
                                              <p:pRg st="1" end="1"/>
                                            </p:txEl>
                                          </p:spTgt>
                                        </p:tgtEl>
                                        <p:attrNameLst>
                                          <p:attrName>ppt_y</p:attrName>
                                        </p:attrNameLst>
                                      </p:cBhvr>
                                      <p:tavLst>
                                        <p:tav tm="0">
                                          <p:val>
                                            <p:strVal val="#ppt_y"/>
                                          </p:val>
                                        </p:tav>
                                        <p:tav tm="100000">
                                          <p:val>
                                            <p:strVal val="#ppt_y"/>
                                          </p:val>
                                        </p:tav>
                                      </p:tavLst>
                                    </p:anim>
                                  </p:childTnLst>
                                </p:cTn>
                              </p:par>
                              <p:par>
                                <p:cTn id="19" presetID="2" presetClass="entr" presetSubtype="8" fill="hold" grpId="0" nodeType="withEffect">
                                  <p:stCondLst>
                                    <p:cond delay="0"/>
                                  </p:stCondLst>
                                  <p:childTnLst>
                                    <p:set>
                                      <p:cBhvr>
                                        <p:cTn id="20" dur="1" fill="hold">
                                          <p:stCondLst>
                                            <p:cond delay="0"/>
                                          </p:stCondLst>
                                        </p:cTn>
                                        <p:tgtEl>
                                          <p:spTgt spid="8195">
                                            <p:txEl>
                                              <p:pRg st="2" end="2"/>
                                            </p:txEl>
                                          </p:spTgt>
                                        </p:tgtEl>
                                        <p:attrNameLst>
                                          <p:attrName>style.visibility</p:attrName>
                                        </p:attrNameLst>
                                      </p:cBhvr>
                                      <p:to>
                                        <p:strVal val="visible"/>
                                      </p:to>
                                    </p:set>
                                    <p:anim calcmode="lin" valueType="num">
                                      <p:cBhvr additive="base">
                                        <p:cTn id="21" dur="500" fill="hold"/>
                                        <p:tgtEl>
                                          <p:spTgt spid="8195">
                                            <p:txEl>
                                              <p:pRg st="2" end="2"/>
                                            </p:txEl>
                                          </p:spTgt>
                                        </p:tgtEl>
                                        <p:attrNameLst>
                                          <p:attrName>ppt_x</p:attrName>
                                        </p:attrNameLst>
                                      </p:cBhvr>
                                      <p:tavLst>
                                        <p:tav tm="0">
                                          <p:val>
                                            <p:strVal val="0-#ppt_w/2"/>
                                          </p:val>
                                        </p:tav>
                                        <p:tav tm="100000">
                                          <p:val>
                                            <p:strVal val="#ppt_x"/>
                                          </p:val>
                                        </p:tav>
                                      </p:tavLst>
                                    </p:anim>
                                    <p:anim calcmode="lin" valueType="num">
                                      <p:cBhvr additive="base">
                                        <p:cTn id="22" dur="500" fill="hold"/>
                                        <p:tgtEl>
                                          <p:spTgt spid="8195">
                                            <p:txEl>
                                              <p:pRg st="2" end="2"/>
                                            </p:txEl>
                                          </p:spTgt>
                                        </p:tgtEl>
                                        <p:attrNameLst>
                                          <p:attrName>ppt_y</p:attrName>
                                        </p:attrNameLst>
                                      </p:cBhvr>
                                      <p:tavLst>
                                        <p:tav tm="0">
                                          <p:val>
                                            <p:strVal val="#ppt_y"/>
                                          </p:val>
                                        </p:tav>
                                        <p:tav tm="100000">
                                          <p:val>
                                            <p:strVal val="#ppt_y"/>
                                          </p:val>
                                        </p:tav>
                                      </p:tavLst>
                                    </p:anim>
                                  </p:childTnLst>
                                </p:cTn>
                              </p:par>
                            </p:childTnLst>
                          </p:cTn>
                        </p:par>
                      </p:childTnLst>
                    </p:cTn>
                  </p:par>
                  <p:par>
                    <p:cTn id="23" fill="hold" nodeType="clickPar">
                      <p:stCondLst>
                        <p:cond delay="indefinite"/>
                      </p:stCondLst>
                      <p:childTnLst>
                        <p:par>
                          <p:cTn id="24" fill="hold" nodeType="withGroup">
                            <p:stCondLst>
                              <p:cond delay="0"/>
                            </p:stCondLst>
                            <p:childTnLst>
                              <p:par>
                                <p:cTn id="25" presetID="2" presetClass="entr" presetSubtype="8" fill="hold" grpId="0" nodeType="clickEffect">
                                  <p:stCondLst>
                                    <p:cond delay="0"/>
                                  </p:stCondLst>
                                  <p:childTnLst>
                                    <p:set>
                                      <p:cBhvr>
                                        <p:cTn id="26" dur="1" fill="hold">
                                          <p:stCondLst>
                                            <p:cond delay="0"/>
                                          </p:stCondLst>
                                        </p:cTn>
                                        <p:tgtEl>
                                          <p:spTgt spid="8195">
                                            <p:txEl>
                                              <p:pRg st="3" end="3"/>
                                            </p:txEl>
                                          </p:spTgt>
                                        </p:tgtEl>
                                        <p:attrNameLst>
                                          <p:attrName>style.visibility</p:attrName>
                                        </p:attrNameLst>
                                      </p:cBhvr>
                                      <p:to>
                                        <p:strVal val="visible"/>
                                      </p:to>
                                    </p:set>
                                    <p:anim calcmode="lin" valueType="num">
                                      <p:cBhvr additive="base">
                                        <p:cTn id="27" dur="500" fill="hold"/>
                                        <p:tgtEl>
                                          <p:spTgt spid="8195">
                                            <p:txEl>
                                              <p:pRg st="3" end="3"/>
                                            </p:txEl>
                                          </p:spTgt>
                                        </p:tgtEl>
                                        <p:attrNameLst>
                                          <p:attrName>ppt_x</p:attrName>
                                        </p:attrNameLst>
                                      </p:cBhvr>
                                      <p:tavLst>
                                        <p:tav tm="0">
                                          <p:val>
                                            <p:strVal val="0-#ppt_w/2"/>
                                          </p:val>
                                        </p:tav>
                                        <p:tav tm="100000">
                                          <p:val>
                                            <p:strVal val="#ppt_x"/>
                                          </p:val>
                                        </p:tav>
                                      </p:tavLst>
                                    </p:anim>
                                    <p:anim calcmode="lin" valueType="num">
                                      <p:cBhvr additive="base">
                                        <p:cTn id="28" dur="500" fill="hold"/>
                                        <p:tgtEl>
                                          <p:spTgt spid="8195">
                                            <p:txEl>
                                              <p:pRg st="3" end="3"/>
                                            </p:txEl>
                                          </p:spTgt>
                                        </p:tgtEl>
                                        <p:attrNameLst>
                                          <p:attrName>ppt_y</p:attrName>
                                        </p:attrNameLst>
                                      </p:cBhvr>
                                      <p:tavLst>
                                        <p:tav tm="0">
                                          <p:val>
                                            <p:strVal val="#ppt_y"/>
                                          </p:val>
                                        </p:tav>
                                        <p:tav tm="100000">
                                          <p:val>
                                            <p:strVal val="#ppt_y"/>
                                          </p:val>
                                        </p:tav>
                                      </p:tavLst>
                                    </p:anim>
                                  </p:childTnLst>
                                </p:cTn>
                              </p:par>
                              <p:par>
                                <p:cTn id="29" presetID="2" presetClass="entr" presetSubtype="8" fill="hold" grpId="0" nodeType="withEffect">
                                  <p:stCondLst>
                                    <p:cond delay="0"/>
                                  </p:stCondLst>
                                  <p:childTnLst>
                                    <p:set>
                                      <p:cBhvr>
                                        <p:cTn id="30" dur="1" fill="hold">
                                          <p:stCondLst>
                                            <p:cond delay="0"/>
                                          </p:stCondLst>
                                        </p:cTn>
                                        <p:tgtEl>
                                          <p:spTgt spid="8195">
                                            <p:txEl>
                                              <p:pRg st="4" end="4"/>
                                            </p:txEl>
                                          </p:spTgt>
                                        </p:tgtEl>
                                        <p:attrNameLst>
                                          <p:attrName>style.visibility</p:attrName>
                                        </p:attrNameLst>
                                      </p:cBhvr>
                                      <p:to>
                                        <p:strVal val="visible"/>
                                      </p:to>
                                    </p:set>
                                    <p:anim calcmode="lin" valueType="num">
                                      <p:cBhvr additive="base">
                                        <p:cTn id="31" dur="500" fill="hold"/>
                                        <p:tgtEl>
                                          <p:spTgt spid="8195">
                                            <p:txEl>
                                              <p:pRg st="4" end="4"/>
                                            </p:txEl>
                                          </p:spTgt>
                                        </p:tgtEl>
                                        <p:attrNameLst>
                                          <p:attrName>ppt_x</p:attrName>
                                        </p:attrNameLst>
                                      </p:cBhvr>
                                      <p:tavLst>
                                        <p:tav tm="0">
                                          <p:val>
                                            <p:strVal val="0-#ppt_w/2"/>
                                          </p:val>
                                        </p:tav>
                                        <p:tav tm="100000">
                                          <p:val>
                                            <p:strVal val="#ppt_x"/>
                                          </p:val>
                                        </p:tav>
                                      </p:tavLst>
                                    </p:anim>
                                    <p:anim calcmode="lin" valueType="num">
                                      <p:cBhvr additive="base">
                                        <p:cTn id="32" dur="500" fill="hold"/>
                                        <p:tgtEl>
                                          <p:spTgt spid="8195">
                                            <p:txEl>
                                              <p:pRg st="4" end="4"/>
                                            </p:txEl>
                                          </p:spTgt>
                                        </p:tgtEl>
                                        <p:attrNameLst>
                                          <p:attrName>ppt_y</p:attrName>
                                        </p:attrNameLst>
                                      </p:cBhvr>
                                      <p:tavLst>
                                        <p:tav tm="0">
                                          <p:val>
                                            <p:strVal val="#ppt_y"/>
                                          </p:val>
                                        </p:tav>
                                        <p:tav tm="100000">
                                          <p:val>
                                            <p:strVal val="#ppt_y"/>
                                          </p:val>
                                        </p:tav>
                                      </p:tavLst>
                                    </p:anim>
                                  </p:childTnLst>
                                </p:cTn>
                              </p:par>
                            </p:childTnLst>
                          </p:cTn>
                        </p:par>
                      </p:childTnLst>
                    </p:cTn>
                  </p:par>
                  <p:par>
                    <p:cTn id="33" fill="hold" nodeType="clickPar">
                      <p:stCondLst>
                        <p:cond delay="indefinite"/>
                      </p:stCondLst>
                      <p:childTnLst>
                        <p:par>
                          <p:cTn id="34" fill="hold" nodeType="withGroup">
                            <p:stCondLst>
                              <p:cond delay="0"/>
                            </p:stCondLst>
                            <p:childTnLst>
                              <p:par>
                                <p:cTn id="35" presetID="2" presetClass="entr" presetSubtype="8" fill="hold" grpId="0" nodeType="clickEffect">
                                  <p:stCondLst>
                                    <p:cond delay="0"/>
                                  </p:stCondLst>
                                  <p:childTnLst>
                                    <p:set>
                                      <p:cBhvr>
                                        <p:cTn id="36" dur="1" fill="hold">
                                          <p:stCondLst>
                                            <p:cond delay="0"/>
                                          </p:stCondLst>
                                        </p:cTn>
                                        <p:tgtEl>
                                          <p:spTgt spid="8195">
                                            <p:txEl>
                                              <p:pRg st="5" end="5"/>
                                            </p:txEl>
                                          </p:spTgt>
                                        </p:tgtEl>
                                        <p:attrNameLst>
                                          <p:attrName>style.visibility</p:attrName>
                                        </p:attrNameLst>
                                      </p:cBhvr>
                                      <p:to>
                                        <p:strVal val="visible"/>
                                      </p:to>
                                    </p:set>
                                    <p:anim calcmode="lin" valueType="num">
                                      <p:cBhvr additive="base">
                                        <p:cTn id="37" dur="500" fill="hold"/>
                                        <p:tgtEl>
                                          <p:spTgt spid="8195">
                                            <p:txEl>
                                              <p:pRg st="5" end="5"/>
                                            </p:txEl>
                                          </p:spTgt>
                                        </p:tgtEl>
                                        <p:attrNameLst>
                                          <p:attrName>ppt_x</p:attrName>
                                        </p:attrNameLst>
                                      </p:cBhvr>
                                      <p:tavLst>
                                        <p:tav tm="0">
                                          <p:val>
                                            <p:strVal val="0-#ppt_w/2"/>
                                          </p:val>
                                        </p:tav>
                                        <p:tav tm="100000">
                                          <p:val>
                                            <p:strVal val="#ppt_x"/>
                                          </p:val>
                                        </p:tav>
                                      </p:tavLst>
                                    </p:anim>
                                    <p:anim calcmode="lin" valueType="num">
                                      <p:cBhvr additive="base">
                                        <p:cTn id="38" dur="500" fill="hold"/>
                                        <p:tgtEl>
                                          <p:spTgt spid="8195">
                                            <p:txEl>
                                              <p:pRg st="5" end="5"/>
                                            </p:txEl>
                                          </p:spTgt>
                                        </p:tgtEl>
                                        <p:attrNameLst>
                                          <p:attrName>ppt_y</p:attrName>
                                        </p:attrNameLst>
                                      </p:cBhvr>
                                      <p:tavLst>
                                        <p:tav tm="0">
                                          <p:val>
                                            <p:strVal val="#ppt_y"/>
                                          </p:val>
                                        </p:tav>
                                        <p:tav tm="100000">
                                          <p:val>
                                            <p:strVal val="#ppt_y"/>
                                          </p:val>
                                        </p:tav>
                                      </p:tavLst>
                                    </p:anim>
                                  </p:childTnLst>
                                </p:cTn>
                              </p:par>
                            </p:childTnLst>
                          </p:cTn>
                        </p:par>
                      </p:childTnLst>
                    </p:cTn>
                  </p:par>
                  <p:par>
                    <p:cTn id="39" fill="hold" nodeType="clickPar">
                      <p:stCondLst>
                        <p:cond delay="indefinite"/>
                      </p:stCondLst>
                      <p:childTnLst>
                        <p:par>
                          <p:cTn id="40" fill="hold" nodeType="withGroup">
                            <p:stCondLst>
                              <p:cond delay="0"/>
                            </p:stCondLst>
                            <p:childTnLst>
                              <p:par>
                                <p:cTn id="41" presetID="2" presetClass="entr" presetSubtype="8" fill="hold" grpId="0" nodeType="clickEffect">
                                  <p:stCondLst>
                                    <p:cond delay="0"/>
                                  </p:stCondLst>
                                  <p:childTnLst>
                                    <p:set>
                                      <p:cBhvr>
                                        <p:cTn id="42" dur="1" fill="hold">
                                          <p:stCondLst>
                                            <p:cond delay="0"/>
                                          </p:stCondLst>
                                        </p:cTn>
                                        <p:tgtEl>
                                          <p:spTgt spid="8195">
                                            <p:txEl>
                                              <p:pRg st="6" end="6"/>
                                            </p:txEl>
                                          </p:spTgt>
                                        </p:tgtEl>
                                        <p:attrNameLst>
                                          <p:attrName>style.visibility</p:attrName>
                                        </p:attrNameLst>
                                      </p:cBhvr>
                                      <p:to>
                                        <p:strVal val="visible"/>
                                      </p:to>
                                    </p:set>
                                    <p:anim calcmode="lin" valueType="num">
                                      <p:cBhvr additive="base">
                                        <p:cTn id="43" dur="500" fill="hold"/>
                                        <p:tgtEl>
                                          <p:spTgt spid="8195">
                                            <p:txEl>
                                              <p:pRg st="6" end="6"/>
                                            </p:txEl>
                                          </p:spTgt>
                                        </p:tgtEl>
                                        <p:attrNameLst>
                                          <p:attrName>ppt_x</p:attrName>
                                        </p:attrNameLst>
                                      </p:cBhvr>
                                      <p:tavLst>
                                        <p:tav tm="0">
                                          <p:val>
                                            <p:strVal val="0-#ppt_w/2"/>
                                          </p:val>
                                        </p:tav>
                                        <p:tav tm="100000">
                                          <p:val>
                                            <p:strVal val="#ppt_x"/>
                                          </p:val>
                                        </p:tav>
                                      </p:tavLst>
                                    </p:anim>
                                    <p:anim calcmode="lin" valueType="num">
                                      <p:cBhvr additive="base">
                                        <p:cTn id="44" dur="500" fill="hold"/>
                                        <p:tgtEl>
                                          <p:spTgt spid="8195">
                                            <p:txEl>
                                              <p:pRg st="6" end="6"/>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194" grpId="0" autoUpdateAnimBg="0"/>
      <p:bldP spid="8195" grpId="0" build="p" autoUpdateAnimBg="0"/>
    </p:bldLst>
  </p:timing>
</p:sld>
</file>

<file path=ppt/slides/slide4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9218" name="Rectangle 2"/>
          <p:cNvSpPr>
            <a:spLocks noGrp="1" noChangeArrowheads="1"/>
          </p:cNvSpPr>
          <p:nvPr>
            <p:ph type="title"/>
          </p:nvPr>
        </p:nvSpPr>
        <p:spPr/>
        <p:txBody>
          <a:bodyPr/>
          <a:lstStyle/>
          <a:p>
            <a:r>
              <a:rPr lang="en-US" altLang="en-US"/>
              <a:t>Capital Account:</a:t>
            </a:r>
          </a:p>
        </p:txBody>
      </p:sp>
      <p:sp>
        <p:nvSpPr>
          <p:cNvPr id="9219" name="Rectangle 3"/>
          <p:cNvSpPr>
            <a:spLocks noGrp="1" noChangeArrowheads="1"/>
          </p:cNvSpPr>
          <p:nvPr>
            <p:ph type="body" idx="1"/>
          </p:nvPr>
        </p:nvSpPr>
        <p:spPr/>
        <p:txBody>
          <a:bodyPr/>
          <a:lstStyle/>
          <a:p>
            <a:r>
              <a:rPr lang="en-US" altLang="en-US" dirty="0"/>
              <a:t>Long-Term Capital Account:</a:t>
            </a:r>
          </a:p>
          <a:p>
            <a:pPr>
              <a:buFontTx/>
              <a:buNone/>
            </a:pPr>
            <a:r>
              <a:rPr lang="en-US" altLang="en-US" dirty="0"/>
              <a:t>	a.	Transactions in Real Assets</a:t>
            </a:r>
          </a:p>
          <a:p>
            <a:pPr>
              <a:buFontTx/>
              <a:buNone/>
            </a:pPr>
            <a:r>
              <a:rPr lang="en-US" altLang="en-US" dirty="0"/>
              <a:t>	b.	Transactions in Financial Assets</a:t>
            </a:r>
          </a:p>
          <a:p>
            <a:pPr>
              <a:buFontTx/>
              <a:buNone/>
            </a:pPr>
            <a:endParaRPr lang="en-US" altLang="en-US" dirty="0"/>
          </a:p>
        </p:txBody>
      </p:sp>
    </p:spTree>
    <p:extLst>
      <p:ext uri="{BB962C8B-B14F-4D97-AF65-F5344CB8AC3E}">
        <p14:creationId xmlns:p14="http://schemas.microsoft.com/office/powerpoint/2010/main" val="1843902169"/>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9218"/>
                                        </p:tgtEl>
                                        <p:attrNameLst>
                                          <p:attrName>style.visibility</p:attrName>
                                        </p:attrNameLst>
                                      </p:cBhvr>
                                      <p:to>
                                        <p:strVal val="visible"/>
                                      </p:to>
                                    </p:set>
                                    <p:anim calcmode="lin" valueType="num">
                                      <p:cBhvr additive="base">
                                        <p:cTn id="7" dur="500" fill="hold"/>
                                        <p:tgtEl>
                                          <p:spTgt spid="9218"/>
                                        </p:tgtEl>
                                        <p:attrNameLst>
                                          <p:attrName>ppt_x</p:attrName>
                                        </p:attrNameLst>
                                      </p:cBhvr>
                                      <p:tavLst>
                                        <p:tav tm="0">
                                          <p:val>
                                            <p:strVal val="0-#ppt_w/2"/>
                                          </p:val>
                                        </p:tav>
                                        <p:tav tm="100000">
                                          <p:val>
                                            <p:strVal val="#ppt_x"/>
                                          </p:val>
                                        </p:tav>
                                      </p:tavLst>
                                    </p:anim>
                                    <p:anim calcmode="lin" valueType="num">
                                      <p:cBhvr additive="base">
                                        <p:cTn id="8" dur="500" fill="hold"/>
                                        <p:tgtEl>
                                          <p:spTgt spid="9218"/>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9219">
                                            <p:txEl>
                                              <p:pRg st="0" end="0"/>
                                            </p:txEl>
                                          </p:spTgt>
                                        </p:tgtEl>
                                        <p:attrNameLst>
                                          <p:attrName>style.visibility</p:attrName>
                                        </p:attrNameLst>
                                      </p:cBhvr>
                                      <p:to>
                                        <p:strVal val="visible"/>
                                      </p:to>
                                    </p:set>
                                    <p:anim calcmode="lin" valueType="num">
                                      <p:cBhvr additive="base">
                                        <p:cTn id="13" dur="500" fill="hold"/>
                                        <p:tgtEl>
                                          <p:spTgt spid="9219">
                                            <p:txEl>
                                              <p:pRg st="0" end="0"/>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9219">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9219">
                                            <p:txEl>
                                              <p:pRg st="1" end="1"/>
                                            </p:txEl>
                                          </p:spTgt>
                                        </p:tgtEl>
                                        <p:attrNameLst>
                                          <p:attrName>style.visibility</p:attrName>
                                        </p:attrNameLst>
                                      </p:cBhvr>
                                      <p:to>
                                        <p:strVal val="visible"/>
                                      </p:to>
                                    </p:set>
                                    <p:anim calcmode="lin" valueType="num">
                                      <p:cBhvr additive="base">
                                        <p:cTn id="19" dur="500" fill="hold"/>
                                        <p:tgtEl>
                                          <p:spTgt spid="9219">
                                            <p:txEl>
                                              <p:pRg st="1" end="1"/>
                                            </p:txEl>
                                          </p:spTgt>
                                        </p:tgtEl>
                                        <p:attrNameLst>
                                          <p:attrName>ppt_x</p:attrName>
                                        </p:attrNameLst>
                                      </p:cBhvr>
                                      <p:tavLst>
                                        <p:tav tm="0">
                                          <p:val>
                                            <p:strVal val="0-#ppt_w/2"/>
                                          </p:val>
                                        </p:tav>
                                        <p:tav tm="100000">
                                          <p:val>
                                            <p:strVal val="#ppt_x"/>
                                          </p:val>
                                        </p:tav>
                                      </p:tavLst>
                                    </p:anim>
                                    <p:anim calcmode="lin" valueType="num">
                                      <p:cBhvr additive="base">
                                        <p:cTn id="20" dur="500" fill="hold"/>
                                        <p:tgtEl>
                                          <p:spTgt spid="9219">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8" fill="hold" grpId="0" nodeType="clickEffect">
                                  <p:stCondLst>
                                    <p:cond delay="0"/>
                                  </p:stCondLst>
                                  <p:childTnLst>
                                    <p:set>
                                      <p:cBhvr>
                                        <p:cTn id="24" dur="1" fill="hold">
                                          <p:stCondLst>
                                            <p:cond delay="0"/>
                                          </p:stCondLst>
                                        </p:cTn>
                                        <p:tgtEl>
                                          <p:spTgt spid="9219">
                                            <p:txEl>
                                              <p:pRg st="2" end="2"/>
                                            </p:txEl>
                                          </p:spTgt>
                                        </p:tgtEl>
                                        <p:attrNameLst>
                                          <p:attrName>style.visibility</p:attrName>
                                        </p:attrNameLst>
                                      </p:cBhvr>
                                      <p:to>
                                        <p:strVal val="visible"/>
                                      </p:to>
                                    </p:set>
                                    <p:anim calcmode="lin" valueType="num">
                                      <p:cBhvr additive="base">
                                        <p:cTn id="25" dur="500" fill="hold"/>
                                        <p:tgtEl>
                                          <p:spTgt spid="9219">
                                            <p:txEl>
                                              <p:pRg st="2" end="2"/>
                                            </p:txEl>
                                          </p:spTgt>
                                        </p:tgtEl>
                                        <p:attrNameLst>
                                          <p:attrName>ppt_x</p:attrName>
                                        </p:attrNameLst>
                                      </p:cBhvr>
                                      <p:tavLst>
                                        <p:tav tm="0">
                                          <p:val>
                                            <p:strVal val="0-#ppt_w/2"/>
                                          </p:val>
                                        </p:tav>
                                        <p:tav tm="100000">
                                          <p:val>
                                            <p:strVal val="#ppt_x"/>
                                          </p:val>
                                        </p:tav>
                                      </p:tavLst>
                                    </p:anim>
                                    <p:anim calcmode="lin" valueType="num">
                                      <p:cBhvr additive="base">
                                        <p:cTn id="26" dur="500" fill="hold"/>
                                        <p:tgtEl>
                                          <p:spTgt spid="9219">
                                            <p:txEl>
                                              <p:pRg st="2" end="2"/>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218" grpId="0" autoUpdateAnimBg="0"/>
      <p:bldP spid="9219" grpId="0" build="p" autoUpdateAnimBg="0"/>
    </p:bldLst>
  </p:timing>
</p:sld>
</file>

<file path=ppt/slides/slide4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0242" name="Rectangle 2"/>
          <p:cNvSpPr>
            <a:spLocks noGrp="1" noChangeArrowheads="1"/>
          </p:cNvSpPr>
          <p:nvPr>
            <p:ph type="title"/>
          </p:nvPr>
        </p:nvSpPr>
        <p:spPr/>
        <p:txBody>
          <a:bodyPr/>
          <a:lstStyle/>
          <a:p>
            <a:r>
              <a:rPr lang="en-US" altLang="en-US"/>
              <a:t>Official Settlements Account:</a:t>
            </a:r>
          </a:p>
        </p:txBody>
      </p:sp>
      <p:sp>
        <p:nvSpPr>
          <p:cNvPr id="10243" name="Rectangle 3"/>
          <p:cNvSpPr>
            <a:spLocks noGrp="1" noChangeArrowheads="1"/>
          </p:cNvSpPr>
          <p:nvPr>
            <p:ph type="body" idx="1"/>
          </p:nvPr>
        </p:nvSpPr>
        <p:spPr>
          <a:xfrm>
            <a:off x="685800" y="1981200"/>
            <a:ext cx="8001000" cy="4114800"/>
          </a:xfrm>
        </p:spPr>
        <p:txBody>
          <a:bodyPr/>
          <a:lstStyle/>
          <a:p>
            <a:r>
              <a:rPr lang="en-US" altLang="en-US"/>
              <a:t>Changes in Official Reserves:</a:t>
            </a:r>
          </a:p>
          <a:p>
            <a:pPr>
              <a:buFontTx/>
              <a:buNone/>
            </a:pPr>
            <a:r>
              <a:rPr lang="en-US" altLang="en-US"/>
              <a:t>	a.	Official Gold Reserves;</a:t>
            </a:r>
          </a:p>
          <a:p>
            <a:pPr>
              <a:buFontTx/>
              <a:buNone/>
            </a:pPr>
            <a:r>
              <a:rPr lang="en-US" altLang="en-US"/>
              <a:t>	b.	Official Foreign Exchange Holdings;</a:t>
            </a:r>
          </a:p>
          <a:p>
            <a:pPr>
              <a:buFontTx/>
              <a:buNone/>
            </a:pPr>
            <a:r>
              <a:rPr lang="en-US" altLang="en-US"/>
              <a:t>	c.	Reserve Position in the IMF; and</a:t>
            </a:r>
          </a:p>
          <a:p>
            <a:pPr>
              <a:buFontTx/>
              <a:buNone/>
            </a:pPr>
            <a:r>
              <a:rPr lang="en-US" altLang="en-US"/>
              <a:t>	d.	Special Drawing Rights (SDRs)</a:t>
            </a:r>
          </a:p>
          <a:p>
            <a:pPr>
              <a:buFontTx/>
              <a:buNone/>
            </a:pPr>
            <a:endParaRPr lang="en-US" altLang="en-US"/>
          </a:p>
          <a:p>
            <a:r>
              <a:rPr lang="en-US" altLang="en-US"/>
              <a:t>Changes in Liabilities to Foreign Authorities</a:t>
            </a:r>
          </a:p>
        </p:txBody>
      </p:sp>
    </p:spTree>
    <p:extLst>
      <p:ext uri="{BB962C8B-B14F-4D97-AF65-F5344CB8AC3E}">
        <p14:creationId xmlns:p14="http://schemas.microsoft.com/office/powerpoint/2010/main" val="4234170782"/>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10242"/>
                                        </p:tgtEl>
                                        <p:attrNameLst>
                                          <p:attrName>style.visibility</p:attrName>
                                        </p:attrNameLst>
                                      </p:cBhvr>
                                      <p:to>
                                        <p:strVal val="visible"/>
                                      </p:to>
                                    </p:set>
                                    <p:anim calcmode="lin" valueType="num">
                                      <p:cBhvr additive="base">
                                        <p:cTn id="7" dur="500" fill="hold"/>
                                        <p:tgtEl>
                                          <p:spTgt spid="10242"/>
                                        </p:tgtEl>
                                        <p:attrNameLst>
                                          <p:attrName>ppt_x</p:attrName>
                                        </p:attrNameLst>
                                      </p:cBhvr>
                                      <p:tavLst>
                                        <p:tav tm="0">
                                          <p:val>
                                            <p:strVal val="0-#ppt_w/2"/>
                                          </p:val>
                                        </p:tav>
                                        <p:tav tm="100000">
                                          <p:val>
                                            <p:strVal val="#ppt_x"/>
                                          </p:val>
                                        </p:tav>
                                      </p:tavLst>
                                    </p:anim>
                                    <p:anim calcmode="lin" valueType="num">
                                      <p:cBhvr additive="base">
                                        <p:cTn id="8" dur="500" fill="hold"/>
                                        <p:tgtEl>
                                          <p:spTgt spid="10242"/>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10243">
                                            <p:txEl>
                                              <p:pRg st="0" end="0"/>
                                            </p:txEl>
                                          </p:spTgt>
                                        </p:tgtEl>
                                        <p:attrNameLst>
                                          <p:attrName>style.visibility</p:attrName>
                                        </p:attrNameLst>
                                      </p:cBhvr>
                                      <p:to>
                                        <p:strVal val="visible"/>
                                      </p:to>
                                    </p:set>
                                    <p:anim calcmode="lin" valueType="num">
                                      <p:cBhvr additive="base">
                                        <p:cTn id="13" dur="500" fill="hold"/>
                                        <p:tgtEl>
                                          <p:spTgt spid="10243">
                                            <p:txEl>
                                              <p:pRg st="0" end="0"/>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10243">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10243">
                                            <p:txEl>
                                              <p:pRg st="1" end="1"/>
                                            </p:txEl>
                                          </p:spTgt>
                                        </p:tgtEl>
                                        <p:attrNameLst>
                                          <p:attrName>style.visibility</p:attrName>
                                        </p:attrNameLst>
                                      </p:cBhvr>
                                      <p:to>
                                        <p:strVal val="visible"/>
                                      </p:to>
                                    </p:set>
                                    <p:anim calcmode="lin" valueType="num">
                                      <p:cBhvr additive="base">
                                        <p:cTn id="19" dur="500" fill="hold"/>
                                        <p:tgtEl>
                                          <p:spTgt spid="10243">
                                            <p:txEl>
                                              <p:pRg st="1" end="1"/>
                                            </p:txEl>
                                          </p:spTgt>
                                        </p:tgtEl>
                                        <p:attrNameLst>
                                          <p:attrName>ppt_x</p:attrName>
                                        </p:attrNameLst>
                                      </p:cBhvr>
                                      <p:tavLst>
                                        <p:tav tm="0">
                                          <p:val>
                                            <p:strVal val="0-#ppt_w/2"/>
                                          </p:val>
                                        </p:tav>
                                        <p:tav tm="100000">
                                          <p:val>
                                            <p:strVal val="#ppt_x"/>
                                          </p:val>
                                        </p:tav>
                                      </p:tavLst>
                                    </p:anim>
                                    <p:anim calcmode="lin" valueType="num">
                                      <p:cBhvr additive="base">
                                        <p:cTn id="20" dur="500" fill="hold"/>
                                        <p:tgtEl>
                                          <p:spTgt spid="10243">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8" fill="hold" grpId="0" nodeType="clickEffect">
                                  <p:stCondLst>
                                    <p:cond delay="0"/>
                                  </p:stCondLst>
                                  <p:childTnLst>
                                    <p:set>
                                      <p:cBhvr>
                                        <p:cTn id="24" dur="1" fill="hold">
                                          <p:stCondLst>
                                            <p:cond delay="0"/>
                                          </p:stCondLst>
                                        </p:cTn>
                                        <p:tgtEl>
                                          <p:spTgt spid="10243">
                                            <p:txEl>
                                              <p:pRg st="2" end="2"/>
                                            </p:txEl>
                                          </p:spTgt>
                                        </p:tgtEl>
                                        <p:attrNameLst>
                                          <p:attrName>style.visibility</p:attrName>
                                        </p:attrNameLst>
                                      </p:cBhvr>
                                      <p:to>
                                        <p:strVal val="visible"/>
                                      </p:to>
                                    </p:set>
                                    <p:anim calcmode="lin" valueType="num">
                                      <p:cBhvr additive="base">
                                        <p:cTn id="25" dur="500" fill="hold"/>
                                        <p:tgtEl>
                                          <p:spTgt spid="10243">
                                            <p:txEl>
                                              <p:pRg st="2" end="2"/>
                                            </p:txEl>
                                          </p:spTgt>
                                        </p:tgtEl>
                                        <p:attrNameLst>
                                          <p:attrName>ppt_x</p:attrName>
                                        </p:attrNameLst>
                                      </p:cBhvr>
                                      <p:tavLst>
                                        <p:tav tm="0">
                                          <p:val>
                                            <p:strVal val="0-#ppt_w/2"/>
                                          </p:val>
                                        </p:tav>
                                        <p:tav tm="100000">
                                          <p:val>
                                            <p:strVal val="#ppt_x"/>
                                          </p:val>
                                        </p:tav>
                                      </p:tavLst>
                                    </p:anim>
                                    <p:anim calcmode="lin" valueType="num">
                                      <p:cBhvr additive="base">
                                        <p:cTn id="26" dur="500" fill="hold"/>
                                        <p:tgtEl>
                                          <p:spTgt spid="10243">
                                            <p:txEl>
                                              <p:pRg st="2" end="2"/>
                                            </p:txEl>
                                          </p:spTgt>
                                        </p:tgtEl>
                                        <p:attrNameLst>
                                          <p:attrName>ppt_y</p:attrName>
                                        </p:attrNameLst>
                                      </p:cBhvr>
                                      <p:tavLst>
                                        <p:tav tm="0">
                                          <p:val>
                                            <p:strVal val="#ppt_y"/>
                                          </p:val>
                                        </p:tav>
                                        <p:tav tm="100000">
                                          <p:val>
                                            <p:strVal val="#ppt_y"/>
                                          </p:val>
                                        </p:tav>
                                      </p:tavLst>
                                    </p:anim>
                                  </p:childTnLst>
                                </p:cTn>
                              </p:par>
                            </p:childTnLst>
                          </p:cTn>
                        </p:par>
                      </p:childTnLst>
                    </p:cTn>
                  </p:par>
                  <p:par>
                    <p:cTn id="27" fill="hold" nodeType="clickPar">
                      <p:stCondLst>
                        <p:cond delay="indefinite"/>
                      </p:stCondLst>
                      <p:childTnLst>
                        <p:par>
                          <p:cTn id="28" fill="hold" nodeType="withGroup">
                            <p:stCondLst>
                              <p:cond delay="0"/>
                            </p:stCondLst>
                            <p:childTnLst>
                              <p:par>
                                <p:cTn id="29" presetID="2" presetClass="entr" presetSubtype="8" fill="hold" grpId="0" nodeType="clickEffect">
                                  <p:stCondLst>
                                    <p:cond delay="0"/>
                                  </p:stCondLst>
                                  <p:childTnLst>
                                    <p:set>
                                      <p:cBhvr>
                                        <p:cTn id="30" dur="1" fill="hold">
                                          <p:stCondLst>
                                            <p:cond delay="0"/>
                                          </p:stCondLst>
                                        </p:cTn>
                                        <p:tgtEl>
                                          <p:spTgt spid="10243">
                                            <p:txEl>
                                              <p:pRg st="3" end="3"/>
                                            </p:txEl>
                                          </p:spTgt>
                                        </p:tgtEl>
                                        <p:attrNameLst>
                                          <p:attrName>style.visibility</p:attrName>
                                        </p:attrNameLst>
                                      </p:cBhvr>
                                      <p:to>
                                        <p:strVal val="visible"/>
                                      </p:to>
                                    </p:set>
                                    <p:anim calcmode="lin" valueType="num">
                                      <p:cBhvr additive="base">
                                        <p:cTn id="31" dur="500" fill="hold"/>
                                        <p:tgtEl>
                                          <p:spTgt spid="10243">
                                            <p:txEl>
                                              <p:pRg st="3" end="3"/>
                                            </p:txEl>
                                          </p:spTgt>
                                        </p:tgtEl>
                                        <p:attrNameLst>
                                          <p:attrName>ppt_x</p:attrName>
                                        </p:attrNameLst>
                                      </p:cBhvr>
                                      <p:tavLst>
                                        <p:tav tm="0">
                                          <p:val>
                                            <p:strVal val="0-#ppt_w/2"/>
                                          </p:val>
                                        </p:tav>
                                        <p:tav tm="100000">
                                          <p:val>
                                            <p:strVal val="#ppt_x"/>
                                          </p:val>
                                        </p:tav>
                                      </p:tavLst>
                                    </p:anim>
                                    <p:anim calcmode="lin" valueType="num">
                                      <p:cBhvr additive="base">
                                        <p:cTn id="32" dur="500" fill="hold"/>
                                        <p:tgtEl>
                                          <p:spTgt spid="10243">
                                            <p:txEl>
                                              <p:pRg st="3" end="3"/>
                                            </p:txEl>
                                          </p:spTgt>
                                        </p:tgtEl>
                                        <p:attrNameLst>
                                          <p:attrName>ppt_y</p:attrName>
                                        </p:attrNameLst>
                                      </p:cBhvr>
                                      <p:tavLst>
                                        <p:tav tm="0">
                                          <p:val>
                                            <p:strVal val="#ppt_y"/>
                                          </p:val>
                                        </p:tav>
                                        <p:tav tm="100000">
                                          <p:val>
                                            <p:strVal val="#ppt_y"/>
                                          </p:val>
                                        </p:tav>
                                      </p:tavLst>
                                    </p:anim>
                                  </p:childTnLst>
                                </p:cTn>
                              </p:par>
                            </p:childTnLst>
                          </p:cTn>
                        </p:par>
                      </p:childTnLst>
                    </p:cTn>
                  </p:par>
                  <p:par>
                    <p:cTn id="33" fill="hold" nodeType="clickPar">
                      <p:stCondLst>
                        <p:cond delay="indefinite"/>
                      </p:stCondLst>
                      <p:childTnLst>
                        <p:par>
                          <p:cTn id="34" fill="hold" nodeType="withGroup">
                            <p:stCondLst>
                              <p:cond delay="0"/>
                            </p:stCondLst>
                            <p:childTnLst>
                              <p:par>
                                <p:cTn id="35" presetID="2" presetClass="entr" presetSubtype="8" fill="hold" grpId="0" nodeType="clickEffect">
                                  <p:stCondLst>
                                    <p:cond delay="0"/>
                                  </p:stCondLst>
                                  <p:childTnLst>
                                    <p:set>
                                      <p:cBhvr>
                                        <p:cTn id="36" dur="1" fill="hold">
                                          <p:stCondLst>
                                            <p:cond delay="0"/>
                                          </p:stCondLst>
                                        </p:cTn>
                                        <p:tgtEl>
                                          <p:spTgt spid="10243">
                                            <p:txEl>
                                              <p:pRg st="4" end="4"/>
                                            </p:txEl>
                                          </p:spTgt>
                                        </p:tgtEl>
                                        <p:attrNameLst>
                                          <p:attrName>style.visibility</p:attrName>
                                        </p:attrNameLst>
                                      </p:cBhvr>
                                      <p:to>
                                        <p:strVal val="visible"/>
                                      </p:to>
                                    </p:set>
                                    <p:anim calcmode="lin" valueType="num">
                                      <p:cBhvr additive="base">
                                        <p:cTn id="37" dur="500" fill="hold"/>
                                        <p:tgtEl>
                                          <p:spTgt spid="10243">
                                            <p:txEl>
                                              <p:pRg st="4" end="4"/>
                                            </p:txEl>
                                          </p:spTgt>
                                        </p:tgtEl>
                                        <p:attrNameLst>
                                          <p:attrName>ppt_x</p:attrName>
                                        </p:attrNameLst>
                                      </p:cBhvr>
                                      <p:tavLst>
                                        <p:tav tm="0">
                                          <p:val>
                                            <p:strVal val="0-#ppt_w/2"/>
                                          </p:val>
                                        </p:tav>
                                        <p:tav tm="100000">
                                          <p:val>
                                            <p:strVal val="#ppt_x"/>
                                          </p:val>
                                        </p:tav>
                                      </p:tavLst>
                                    </p:anim>
                                    <p:anim calcmode="lin" valueType="num">
                                      <p:cBhvr additive="base">
                                        <p:cTn id="38" dur="500" fill="hold"/>
                                        <p:tgtEl>
                                          <p:spTgt spid="10243">
                                            <p:txEl>
                                              <p:pRg st="4" end="4"/>
                                            </p:txEl>
                                          </p:spTgt>
                                        </p:tgtEl>
                                        <p:attrNameLst>
                                          <p:attrName>ppt_y</p:attrName>
                                        </p:attrNameLst>
                                      </p:cBhvr>
                                      <p:tavLst>
                                        <p:tav tm="0">
                                          <p:val>
                                            <p:strVal val="#ppt_y"/>
                                          </p:val>
                                        </p:tav>
                                        <p:tav tm="100000">
                                          <p:val>
                                            <p:strVal val="#ppt_y"/>
                                          </p:val>
                                        </p:tav>
                                      </p:tavLst>
                                    </p:anim>
                                  </p:childTnLst>
                                </p:cTn>
                              </p:par>
                            </p:childTnLst>
                          </p:cTn>
                        </p:par>
                      </p:childTnLst>
                    </p:cTn>
                  </p:par>
                  <p:par>
                    <p:cTn id="39" fill="hold" nodeType="clickPar">
                      <p:stCondLst>
                        <p:cond delay="indefinite"/>
                      </p:stCondLst>
                      <p:childTnLst>
                        <p:par>
                          <p:cTn id="40" fill="hold" nodeType="withGroup">
                            <p:stCondLst>
                              <p:cond delay="0"/>
                            </p:stCondLst>
                            <p:childTnLst>
                              <p:par>
                                <p:cTn id="41" presetID="2" presetClass="entr" presetSubtype="8" fill="hold" grpId="0" nodeType="clickEffect">
                                  <p:stCondLst>
                                    <p:cond delay="0"/>
                                  </p:stCondLst>
                                  <p:childTnLst>
                                    <p:set>
                                      <p:cBhvr>
                                        <p:cTn id="42" dur="1" fill="hold">
                                          <p:stCondLst>
                                            <p:cond delay="0"/>
                                          </p:stCondLst>
                                        </p:cTn>
                                        <p:tgtEl>
                                          <p:spTgt spid="10243">
                                            <p:txEl>
                                              <p:pRg st="6" end="6"/>
                                            </p:txEl>
                                          </p:spTgt>
                                        </p:tgtEl>
                                        <p:attrNameLst>
                                          <p:attrName>style.visibility</p:attrName>
                                        </p:attrNameLst>
                                      </p:cBhvr>
                                      <p:to>
                                        <p:strVal val="visible"/>
                                      </p:to>
                                    </p:set>
                                    <p:anim calcmode="lin" valueType="num">
                                      <p:cBhvr additive="base">
                                        <p:cTn id="43" dur="500" fill="hold"/>
                                        <p:tgtEl>
                                          <p:spTgt spid="10243">
                                            <p:txEl>
                                              <p:pRg st="6" end="6"/>
                                            </p:txEl>
                                          </p:spTgt>
                                        </p:tgtEl>
                                        <p:attrNameLst>
                                          <p:attrName>ppt_x</p:attrName>
                                        </p:attrNameLst>
                                      </p:cBhvr>
                                      <p:tavLst>
                                        <p:tav tm="0">
                                          <p:val>
                                            <p:strVal val="0-#ppt_w/2"/>
                                          </p:val>
                                        </p:tav>
                                        <p:tav tm="100000">
                                          <p:val>
                                            <p:strVal val="#ppt_x"/>
                                          </p:val>
                                        </p:tav>
                                      </p:tavLst>
                                    </p:anim>
                                    <p:anim calcmode="lin" valueType="num">
                                      <p:cBhvr additive="base">
                                        <p:cTn id="44" dur="500" fill="hold"/>
                                        <p:tgtEl>
                                          <p:spTgt spid="10243">
                                            <p:txEl>
                                              <p:pRg st="6" end="6"/>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242" grpId="0" autoUpdateAnimBg="0"/>
      <p:bldP spid="10243" grpId="0" build="p" autoUpdateAnimBg="0"/>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endParaRPr lang="en-US"/>
          </a:p>
        </p:txBody>
      </p:sp>
      <p:sp>
        <p:nvSpPr>
          <p:cNvPr id="4" name="Footer Placeholder 3"/>
          <p:cNvSpPr>
            <a:spLocks noGrp="1"/>
          </p:cNvSpPr>
          <p:nvPr>
            <p:ph type="ftr" sz="quarter" idx="11"/>
          </p:nvPr>
        </p:nvSpPr>
        <p:spPr/>
        <p:txBody>
          <a:bodyPr/>
          <a:lstStyle/>
          <a:p>
            <a:r>
              <a:rPr lang="en-US" smtClean="0"/>
              <a:t>BSc/AF/ Trinco/2022 July</a:t>
            </a:r>
            <a:endParaRPr lang="en-US"/>
          </a:p>
        </p:txBody>
      </p:sp>
      <p:sp>
        <p:nvSpPr>
          <p:cNvPr id="5" name="Slide Number Placeholder 4"/>
          <p:cNvSpPr>
            <a:spLocks noGrp="1"/>
          </p:cNvSpPr>
          <p:nvPr>
            <p:ph type="sldNum" sz="quarter" idx="12"/>
          </p:nvPr>
        </p:nvSpPr>
        <p:spPr/>
        <p:txBody>
          <a:bodyPr/>
          <a:lstStyle/>
          <a:p>
            <a:fld id="{19406544-F798-4DC7-9CED-E61544B8491A}" type="slidenum">
              <a:rPr lang="en-US" smtClean="0"/>
              <a:pPr/>
              <a:t>45</a:t>
            </a:fld>
            <a:endParaRPr lang="en-US"/>
          </a:p>
        </p:txBody>
      </p:sp>
      <p:pic>
        <p:nvPicPr>
          <p:cNvPr id="6" name="Picture 5"/>
          <p:cNvPicPr>
            <a:picLocks noChangeAspect="1"/>
          </p:cNvPicPr>
          <p:nvPr/>
        </p:nvPicPr>
        <p:blipFill>
          <a:blip r:embed="rId2"/>
          <a:stretch>
            <a:fillRect/>
          </a:stretch>
        </p:blipFill>
        <p:spPr>
          <a:xfrm>
            <a:off x="23091" y="34636"/>
            <a:ext cx="9157697" cy="6823364"/>
          </a:xfrm>
          <a:prstGeom prst="rect">
            <a:avLst/>
          </a:prstGeom>
        </p:spPr>
      </p:pic>
    </p:spTree>
    <p:extLst>
      <p:ext uri="{BB962C8B-B14F-4D97-AF65-F5344CB8AC3E}">
        <p14:creationId xmlns:p14="http://schemas.microsoft.com/office/powerpoint/2010/main" val="1018641188"/>
      </p:ext>
    </p:extLst>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4800" y="2743200"/>
            <a:ext cx="8229600" cy="1143000"/>
          </a:xfrm>
        </p:spPr>
        <p:txBody>
          <a:bodyPr/>
          <a:lstStyle/>
          <a:p>
            <a:pPr algn="ctr"/>
            <a:r>
              <a:rPr lang="en-US" dirty="0"/>
              <a:t>The End</a:t>
            </a:r>
          </a:p>
        </p:txBody>
      </p:sp>
    </p:spTree>
    <p:extLst>
      <p:ext uri="{BB962C8B-B14F-4D97-AF65-F5344CB8AC3E}">
        <p14:creationId xmlns:p14="http://schemas.microsoft.com/office/powerpoint/2010/main" val="2998277937"/>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1_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1699</TotalTime>
  <Words>2267</Words>
  <Application>Microsoft Office PowerPoint</Application>
  <PresentationFormat>On-screen Show (4:3)</PresentationFormat>
  <Paragraphs>301</Paragraphs>
  <Slides>46</Slides>
  <Notes>7</Notes>
  <HiddenSlides>0</HiddenSlides>
  <MMClips>0</MMClips>
  <ScaleCrop>false</ScaleCrop>
  <HeadingPairs>
    <vt:vector size="6" baseType="variant">
      <vt:variant>
        <vt:lpstr>Fonts Used</vt:lpstr>
      </vt:variant>
      <vt:variant>
        <vt:i4>7</vt:i4>
      </vt:variant>
      <vt:variant>
        <vt:lpstr>Theme</vt:lpstr>
      </vt:variant>
      <vt:variant>
        <vt:i4>2</vt:i4>
      </vt:variant>
      <vt:variant>
        <vt:lpstr>Slide Titles</vt:lpstr>
      </vt:variant>
      <vt:variant>
        <vt:i4>46</vt:i4>
      </vt:variant>
    </vt:vector>
  </HeadingPairs>
  <TitlesOfParts>
    <vt:vector size="55" baseType="lpstr">
      <vt:lpstr>Andalus</vt:lpstr>
      <vt:lpstr>Arial</vt:lpstr>
      <vt:lpstr>Calibri</vt:lpstr>
      <vt:lpstr>Constantia</vt:lpstr>
      <vt:lpstr>Times New Roman</vt:lpstr>
      <vt:lpstr>Wingdings</vt:lpstr>
      <vt:lpstr>Wingdings 2</vt:lpstr>
      <vt:lpstr>Office Theme</vt:lpstr>
      <vt:lpstr>1_Office Theme</vt:lpstr>
      <vt:lpstr>PowerPoint Presentation</vt:lpstr>
      <vt:lpstr>PowerPoint Presentation</vt:lpstr>
      <vt:lpstr>PowerPoint Presentation</vt:lpstr>
      <vt:lpstr>Gains from International Trade using PPC</vt:lpstr>
      <vt:lpstr>PowerPoint Presentation</vt:lpstr>
      <vt:lpstr>   Theories of Trade and Economic Development   </vt:lpstr>
      <vt:lpstr>Evolution of Trade Theories</vt:lpstr>
      <vt:lpstr>Mercantilism</vt:lpstr>
      <vt:lpstr>PowerPoint Presentation</vt:lpstr>
      <vt:lpstr>Mercantilism</vt:lpstr>
      <vt:lpstr>Mercantilism</vt:lpstr>
      <vt:lpstr>Theory of Absolute Advantage</vt:lpstr>
      <vt:lpstr>QUESTIONS</vt:lpstr>
      <vt:lpstr>Problem with Absolute Advantage.</vt:lpstr>
      <vt:lpstr>Theory of comparative advantage</vt:lpstr>
      <vt:lpstr>Example:</vt:lpstr>
      <vt:lpstr>How to Calculate Opportunity Cost:</vt:lpstr>
      <vt:lpstr>PowerPoint Presentation</vt:lpstr>
      <vt:lpstr>Answers:</vt:lpstr>
      <vt:lpstr>PowerPoint Presentation</vt:lpstr>
      <vt:lpstr>WEAKNESSES OF EARLY THEORIES</vt:lpstr>
      <vt:lpstr>   Heckscher-Ohlin Theory FACTOR ENDOWMENT THEORY</vt:lpstr>
      <vt:lpstr>Machines and Workers  </vt:lpstr>
      <vt:lpstr>MODERN THEORIES INTERNATIONAL PRODUCT LIFE CYCLE  THEORY (IPLC)</vt:lpstr>
      <vt:lpstr>Stage 1: Introduction</vt:lpstr>
      <vt:lpstr>Stage 2: Growth</vt:lpstr>
      <vt:lpstr>Stage 3: Maturity</vt:lpstr>
      <vt:lpstr>Stage 4: Decline</vt:lpstr>
      <vt:lpstr>Limitations of IPLC </vt:lpstr>
      <vt:lpstr>The National Competitive Advantage Theory</vt:lpstr>
      <vt:lpstr>  Porter’s diamond </vt:lpstr>
      <vt:lpstr> National Competitive  Advantage: Porter’s Diamond  </vt:lpstr>
      <vt:lpstr>Factor Conditions</vt:lpstr>
      <vt:lpstr>Basic factor conditions</vt:lpstr>
      <vt:lpstr>Advanced factor conditions</vt:lpstr>
      <vt:lpstr>Demand conditions</vt:lpstr>
      <vt:lpstr> Related and supporting industries</vt:lpstr>
      <vt:lpstr>OEMs ( Original Equipment Manufactures) locate their plants Geographically near by Toyota Corporation.( Facilitate JIT-Just In Time system) </vt:lpstr>
      <vt:lpstr>Firm Strategy, Structure, And Rivalry</vt:lpstr>
      <vt:lpstr>Balance of Payments</vt:lpstr>
      <vt:lpstr>BOP Accounts:</vt:lpstr>
      <vt:lpstr>Current Account:</vt:lpstr>
      <vt:lpstr>Capital Account:</vt:lpstr>
      <vt:lpstr>Official Settlements Account:</vt:lpstr>
      <vt:lpstr>PowerPoint Presentation</vt:lpstr>
      <vt:lpstr>The End</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User</dc:creator>
  <cp:lastModifiedBy>User</cp:lastModifiedBy>
  <cp:revision>79</cp:revision>
  <dcterms:created xsi:type="dcterms:W3CDTF">2014-07-07T04:31:45Z</dcterms:created>
  <dcterms:modified xsi:type="dcterms:W3CDTF">2023-11-18T06:55:35Z</dcterms:modified>
</cp:coreProperties>
</file>