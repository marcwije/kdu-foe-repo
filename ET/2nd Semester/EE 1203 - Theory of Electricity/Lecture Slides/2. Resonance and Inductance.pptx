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7.bin"/>
  <Override ContentType="application/vnd.openxmlformats-officedocument.oleObject" PartName="/ppt/embeddings/oleObject9.bin"/>
  <Override ContentType="application/vnd.openxmlformats-officedocument.oleObject" PartName="/ppt/embeddings/oleObject32.bin"/>
  <Override ContentType="application/vnd.openxmlformats-officedocument.oleObject" PartName="/ppt/embeddings/oleObject45.bin"/>
  <Override ContentType="application/vnd.openxmlformats-officedocument.oleObject" PartName="/ppt/embeddings/oleObject15.bin"/>
  <Override ContentType="application/vnd.openxmlformats-officedocument.oleObject" PartName="/ppt/embeddings/oleObject29.bin"/>
  <Override ContentType="application/vnd.openxmlformats-officedocument.oleObject" PartName="/ppt/embeddings/oleObject40.bin"/>
  <Override ContentType="application/vnd.openxmlformats-officedocument.oleObject" PartName="/ppt/embeddings/oleObject4.bin"/>
  <Override ContentType="application/vnd.openxmlformats-officedocument.oleObject" PartName="/ppt/embeddings/oleObject28.bin"/>
  <Override ContentType="application/vnd.openxmlformats-officedocument.oleObject" PartName="/ppt/embeddings/oleObject41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46.bin"/>
  <Override ContentType="application/vnd.openxmlformats-officedocument.oleObject" PartName="/ppt/embeddings/oleObject33.bin"/>
  <Override ContentType="application/vnd.openxmlformats-officedocument.oleObject" PartName="/ppt/embeddings/oleObject24.bin"/>
  <Override ContentType="application/vnd.openxmlformats-officedocument.oleObject" PartName="/ppt/embeddings/oleObject25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17.bin"/>
  <Override ContentType="application/vnd.openxmlformats-officedocument.oleObject" PartName="/ppt/embeddings/oleObject42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34.bin"/>
  <Override ContentType="application/vnd.openxmlformats-officedocument.oleObject" PartName="/ppt/embeddings/oleObject47.bin"/>
  <Override ContentType="application/vnd.openxmlformats-officedocument.oleObject" PartName="/ppt/embeddings/oleObject21.bin"/>
  <Override ContentType="application/vnd.openxmlformats-officedocument.oleObject" PartName="/ppt/embeddings/oleObject38.bin"/>
  <Override ContentType="application/vnd.openxmlformats-officedocument.oleObject" PartName="/ppt/embeddings/oleObject13.bin"/>
  <Override ContentType="application/vnd.openxmlformats-officedocument.oleObject" PartName="/ppt/embeddings/oleObject26.bin"/>
  <Override ContentType="application/vnd.openxmlformats-officedocument.oleObject" PartName="/ppt/embeddings/oleObject6.bin"/>
  <Override ContentType="application/vnd.openxmlformats-officedocument.oleObject" PartName="/ppt/embeddings/oleObject30.bin"/>
  <Override ContentType="application/vnd.openxmlformats-officedocument.oleObject" PartName="/ppt/embeddings/oleObject18.bin"/>
  <Override ContentType="application/vnd.openxmlformats-officedocument.oleObject" PartName="/ppt/embeddings/oleObject43.bin"/>
  <Override ContentType="application/vnd.openxmlformats-officedocument.oleObject" PartName="/ppt/embeddings/oleObject1.bin"/>
  <Override ContentType="application/vnd.openxmlformats-officedocument.oleObject" PartName="/ppt/embeddings/oleObject39.bin"/>
  <Override ContentType="application/vnd.openxmlformats-officedocument.oleObject" PartName="/ppt/embeddings/oleObject35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44.bin"/>
  <Override ContentType="application/vnd.openxmlformats-officedocument.oleObject" PartName="/ppt/embeddings/oleObject14.bin"/>
  <Override ContentType="application/vnd.openxmlformats-officedocument.oleObject" PartName="/ppt/embeddings/oleObject31.bin"/>
  <Override ContentType="application/vnd.openxmlformats-officedocument.oleObject" PartName="/ppt/embeddings/oleObject5.bin"/>
  <Override ContentType="application/vnd.openxmlformats-officedocument.oleObject" PartName="/ppt/embeddings/oleObject10.bin"/>
  <Override ContentType="application/vnd.openxmlformats-officedocument.oleObject" PartName="/ppt/embeddings/oleObject27.bin"/>
  <Override ContentType="application/vnd.openxmlformats-officedocument.oleObject" PartName="/ppt/embeddings/oleObject23.bin"/>
  <Override ContentType="application/vnd.openxmlformats-officedocument.oleObject" PartName="/ppt/embeddings/oleObject36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96" roundtripDataSignature="AMtx7mgThelq8fK3sQx7GC6YYKhDggej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7CE328-52EE-414E-A710-81E43167D92B}">
  <a:tblStyle styleId="{707CE328-52EE-414E-A710-81E43167D9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schemas.openxmlformats.org/officeDocument/2006/relationships/slide" Target="slides/slide89.xml"/><Relationship Id="rId50" Type="http://schemas.openxmlformats.org/officeDocument/2006/relationships/slide" Target="slides/slide44.xml"/><Relationship Id="rId94" Type="http://schemas.openxmlformats.org/officeDocument/2006/relationships/slide" Target="slides/slide8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96" Type="http://customschemas.google.com/relationships/presentationmetadata" Target="metadata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3.png"/><Relationship Id="rId3" Type="http://schemas.openxmlformats.org/officeDocument/2006/relationships/image" Target="../media/image15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32.png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6.png"/><Relationship Id="rId3" Type="http://schemas.openxmlformats.org/officeDocument/2006/relationships/image" Target="../media/image33.png"/><Relationship Id="rId4" Type="http://schemas.openxmlformats.org/officeDocument/2006/relationships/image" Target="../media/image44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51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54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8.png"/><Relationship Id="rId3" Type="http://schemas.openxmlformats.org/officeDocument/2006/relationships/image" Target="../media/image57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2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6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69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79.png"/><Relationship Id="rId3" Type="http://schemas.openxmlformats.org/officeDocument/2006/relationships/image" Target="../media/image78.png"/><Relationship Id="rId4" Type="http://schemas.openxmlformats.org/officeDocument/2006/relationships/image" Target="../media/image80.png"/><Relationship Id="rId5" Type="http://schemas.openxmlformats.org/officeDocument/2006/relationships/image" Target="../media/image9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Today, you will listen to my recorded presentation on the topic “</a:t>
            </a:r>
            <a:r>
              <a:rPr b="1" lang="en-GB" sz="1200">
                <a:latin typeface="Times New Roman"/>
                <a:ea typeface="Times New Roman"/>
                <a:cs typeface="Times New Roman"/>
                <a:sym typeface="Times New Roman"/>
              </a:rPr>
              <a:t>Resonance, Coupled Circuits and Dependant Sources</a:t>
            </a:r>
            <a:r>
              <a:rPr lang="en-GB">
                <a:solidFill>
                  <a:schemeClr val="dk1"/>
                </a:solidFill>
              </a:rPr>
              <a:t>” in the module Theory of Electricity.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is an examinable module, and this lecture will be considered as part of the delivered lectures for the module.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 will try and record this module to be as close as possible to a live lecture in the classroom.  However, you will not be able to ask online questions “but” get clarifications from me by an email.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80" name="Google Shape;1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</a:t>
            </a:r>
            <a:endParaRPr/>
          </a:p>
        </p:txBody>
      </p:sp>
      <p:sp>
        <p:nvSpPr>
          <p:cNvPr id="188" name="Google Shape;1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9" name="Google Shape;327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0" name="Google Shape;328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3" name="Shape 3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4" name="Google Shape;333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1" name="Shape 3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" name="Google Shape;3382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3" name="Google Shape;338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6" name="Google Shape;3456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6" name="Google Shape;354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7" name="Google Shape;3547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2" name="Shape 3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3" name="Google Shape;3673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4" name="Google Shape;3674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1" name="Google Shape;3691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2" name="Google Shape;3692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1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  <a:defRPr b="1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1"/>
          <p:cNvSpPr txBox="1"/>
          <p:nvPr>
            <p:ph idx="1" type="body"/>
          </p:nvPr>
        </p:nvSpPr>
        <p:spPr>
          <a:xfrm>
            <a:off x="429715" y="1208323"/>
            <a:ext cx="11360503" cy="4024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600"/>
              <a:buChar char="•"/>
              <a:defRPr sz="3600">
                <a:solidFill>
                  <a:srgbClr val="002060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>
                <a:solidFill>
                  <a:srgbClr val="002060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>
                <a:solidFill>
                  <a:srgbClr val="002060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>
                <a:solidFill>
                  <a:srgbClr val="002060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>
                <a:solidFill>
                  <a:srgbClr val="00206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1"/>
          <p:cNvSpPr txBox="1"/>
          <p:nvPr/>
        </p:nvSpPr>
        <p:spPr>
          <a:xfrm>
            <a:off x="566702" y="313267"/>
            <a:ext cx="8989252" cy="230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75">
            <a:spAutoFit/>
          </a:bodyPr>
          <a:lstStyle/>
          <a:p>
            <a:pPr indent="0" lvl="0" marL="112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2"/>
              <a:buFont typeface="Arial"/>
              <a:buNone/>
            </a:pPr>
            <a:r>
              <a:rPr b="0" i="0" lang="en-GB" sz="14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1203Theory of Electricity	AC Circuits</a:t>
            </a:r>
            <a:endParaRPr b="0" i="0" sz="14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1"/>
          <p:cNvSpPr txBox="1"/>
          <p:nvPr/>
        </p:nvSpPr>
        <p:spPr>
          <a:xfrm>
            <a:off x="429714" y="6631631"/>
            <a:ext cx="3215007" cy="16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1128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KDU – Prepared by Prof J R Lucas/December 2021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logo&#10;&#10;Description automatically generated" id="20" name="Google Shape;20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04309" y="138184"/>
            <a:ext cx="1051611" cy="79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1"/>
          <p:cNvSpPr txBox="1"/>
          <p:nvPr/>
        </p:nvSpPr>
        <p:spPr>
          <a:xfrm>
            <a:off x="11637817" y="110691"/>
            <a:ext cx="512853" cy="30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9169" y="5232400"/>
            <a:ext cx="2172831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9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" name="Google Shape;100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5"/>
          <p:cNvSpPr txBox="1"/>
          <p:nvPr>
            <p:ph type="title"/>
          </p:nvPr>
        </p:nvSpPr>
        <p:spPr>
          <a:xfrm>
            <a:off x="838200" y="365125"/>
            <a:ext cx="10515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  <a:defRPr b="1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05"/>
          <p:cNvSpPr txBox="1"/>
          <p:nvPr>
            <p:ph idx="1" type="body"/>
          </p:nvPr>
        </p:nvSpPr>
        <p:spPr>
          <a:xfrm>
            <a:off x="353291" y="1257300"/>
            <a:ext cx="11514859" cy="4919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>
                <a:solidFill>
                  <a:srgbClr val="002060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>
                <a:solidFill>
                  <a:srgbClr val="002060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>
                <a:solidFill>
                  <a:srgbClr val="002060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>
                <a:solidFill>
                  <a:srgbClr val="002060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>
                <a:solidFill>
                  <a:srgbClr val="00206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5"/>
          <p:cNvSpPr txBox="1"/>
          <p:nvPr/>
        </p:nvSpPr>
        <p:spPr>
          <a:xfrm>
            <a:off x="143740" y="6480729"/>
            <a:ext cx="26480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 J Rohan Lucas/April 2020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150" y="0"/>
            <a:ext cx="723810" cy="5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5"/>
          <p:cNvSpPr txBox="1"/>
          <p:nvPr/>
        </p:nvSpPr>
        <p:spPr>
          <a:xfrm>
            <a:off x="554182" y="53395"/>
            <a:ext cx="110005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048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Voltage Engineering 1	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Voltage Cables	</a:t>
            </a:r>
            <a:endParaRPr b="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5"/>
          <p:cNvSpPr txBox="1"/>
          <p:nvPr/>
        </p:nvSpPr>
        <p:spPr>
          <a:xfrm>
            <a:off x="11637818" y="110690"/>
            <a:ext cx="432304" cy="312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9169" y="5232400"/>
            <a:ext cx="2172831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0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0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10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0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10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6" name="Google Shape;146;p1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4" name="Google Shape;154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0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2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5.bin"/><Relationship Id="rId10" Type="http://schemas.openxmlformats.org/officeDocument/2006/relationships/image" Target="../media/image16.png"/><Relationship Id="rId13" Type="http://schemas.openxmlformats.org/officeDocument/2006/relationships/image" Target="../media/image5.png"/><Relationship Id="rId1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2.vml"/><Relationship Id="rId4" Type="http://schemas.openxmlformats.org/officeDocument/2006/relationships/image" Target="../media/image18.png"/><Relationship Id="rId9" Type="http://schemas.openxmlformats.org/officeDocument/2006/relationships/oleObject" Target="../embeddings/oleObject4.bin"/><Relationship Id="rId15" Type="http://schemas.openxmlformats.org/officeDocument/2006/relationships/oleObject" Target="../embeddings/oleObject6.bin"/><Relationship Id="rId14" Type="http://schemas.openxmlformats.org/officeDocument/2006/relationships/oleObject" Target="../embeddings/oleObject6.bin"/><Relationship Id="rId17" Type="http://schemas.openxmlformats.org/officeDocument/2006/relationships/oleObject" Target="../embeddings/oleObject7.bin"/><Relationship Id="rId16" Type="http://schemas.openxmlformats.org/officeDocument/2006/relationships/image" Target="../media/image7.png"/><Relationship Id="rId5" Type="http://schemas.openxmlformats.org/officeDocument/2006/relationships/oleObject" Target="../embeddings/oleObject3.bin"/><Relationship Id="rId6" Type="http://schemas.openxmlformats.org/officeDocument/2006/relationships/oleObject" Target="../embeddings/oleObject3.bin"/><Relationship Id="rId18" Type="http://schemas.openxmlformats.org/officeDocument/2006/relationships/oleObject" Target="../embeddings/oleObject7.bin"/><Relationship Id="rId7" Type="http://schemas.openxmlformats.org/officeDocument/2006/relationships/image" Target="../media/image10.png"/><Relationship Id="rId8" Type="http://schemas.openxmlformats.org/officeDocument/2006/relationships/oleObject" Target="../embeddings/oleObject4.bin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10.bin"/><Relationship Id="rId10" Type="http://schemas.openxmlformats.org/officeDocument/2006/relationships/oleObject" Target="../embeddings/oleObject10.bin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8.bin"/><Relationship Id="rId9" Type="http://schemas.openxmlformats.org/officeDocument/2006/relationships/image" Target="../media/image23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20.png"/><Relationship Id="rId7" Type="http://schemas.openxmlformats.org/officeDocument/2006/relationships/oleObject" Target="../embeddings/oleObject9.bin"/><Relationship Id="rId8" Type="http://schemas.openxmlformats.org/officeDocument/2006/relationships/oleObject" Target="../embeddings/oleObject9.bin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oleObject11.bin"/><Relationship Id="rId6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vmlDrawing" Target="../drawings/vmlDrawing5.vml"/><Relationship Id="rId4" Type="http://schemas.openxmlformats.org/officeDocument/2006/relationships/image" Target="../media/image24.png"/><Relationship Id="rId5" Type="http://schemas.openxmlformats.org/officeDocument/2006/relationships/oleObject" Target="../embeddings/oleObject12.bin"/><Relationship Id="rId6" Type="http://schemas.openxmlformats.org/officeDocument/2006/relationships/oleObject" Target="../embeddings/oleObject12.bin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15.bin"/><Relationship Id="rId10" Type="http://schemas.openxmlformats.org/officeDocument/2006/relationships/image" Target="../media/image32.png"/><Relationship Id="rId13" Type="http://schemas.openxmlformats.org/officeDocument/2006/relationships/image" Target="../media/image30.png"/><Relationship Id="rId12" Type="http://schemas.openxmlformats.org/officeDocument/2006/relationships/oleObject" Target="../embeddings/oleObject15.bin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4.bin"/><Relationship Id="rId15" Type="http://schemas.openxmlformats.org/officeDocument/2006/relationships/oleObject" Target="../embeddings/oleObject16.bin"/><Relationship Id="rId14" Type="http://schemas.openxmlformats.org/officeDocument/2006/relationships/oleObject" Target="../embeddings/oleObject16.bin"/><Relationship Id="rId17" Type="http://schemas.openxmlformats.org/officeDocument/2006/relationships/oleObject" Target="../embeddings/oleObject17.bin"/><Relationship Id="rId16" Type="http://schemas.openxmlformats.org/officeDocument/2006/relationships/image" Target="../media/image38.png"/><Relationship Id="rId5" Type="http://schemas.openxmlformats.org/officeDocument/2006/relationships/oleObject" Target="../embeddings/oleObject13.bin"/><Relationship Id="rId19" Type="http://schemas.openxmlformats.org/officeDocument/2006/relationships/image" Target="../media/image10.png"/><Relationship Id="rId6" Type="http://schemas.openxmlformats.org/officeDocument/2006/relationships/image" Target="../media/image43.png"/><Relationship Id="rId18" Type="http://schemas.openxmlformats.org/officeDocument/2006/relationships/oleObject" Target="../embeddings/oleObject17.bin"/><Relationship Id="rId7" Type="http://schemas.openxmlformats.org/officeDocument/2006/relationships/image" Target="../media/image34.png"/><Relationship Id="rId8" Type="http://schemas.openxmlformats.org/officeDocument/2006/relationships/oleObject" Target="../embeddings/oleObject14.bin"/></Relationships>
</file>

<file path=ppt/slides/_rels/slide22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23.bin"/><Relationship Id="rId22" Type="http://schemas.openxmlformats.org/officeDocument/2006/relationships/oleObject" Target="../embeddings/oleObject24.bin"/><Relationship Id="rId21" Type="http://schemas.openxmlformats.org/officeDocument/2006/relationships/image" Target="../media/image35.png"/><Relationship Id="rId24" Type="http://schemas.openxmlformats.org/officeDocument/2006/relationships/image" Target="../media/image40.png"/><Relationship Id="rId23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6.png"/><Relationship Id="rId26" Type="http://schemas.openxmlformats.org/officeDocument/2006/relationships/oleObject" Target="../embeddings/oleObject25.bin"/><Relationship Id="rId25" Type="http://schemas.openxmlformats.org/officeDocument/2006/relationships/oleObject" Target="../embeddings/oleObject25.bin"/><Relationship Id="rId27" Type="http://schemas.openxmlformats.org/officeDocument/2006/relationships/image" Target="../media/image39.png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1.png"/><Relationship Id="rId7" Type="http://schemas.openxmlformats.org/officeDocument/2006/relationships/oleObject" Target="../embeddings/oleObject19.bin"/><Relationship Id="rId8" Type="http://schemas.openxmlformats.org/officeDocument/2006/relationships/oleObject" Target="../embeddings/oleObject19.bin"/><Relationship Id="rId11" Type="http://schemas.openxmlformats.org/officeDocument/2006/relationships/oleObject" Target="../embeddings/oleObject20.bin"/><Relationship Id="rId10" Type="http://schemas.openxmlformats.org/officeDocument/2006/relationships/oleObject" Target="../embeddings/oleObject20.bin"/><Relationship Id="rId13" Type="http://schemas.openxmlformats.org/officeDocument/2006/relationships/oleObject" Target="../embeddings/oleObject21.bin"/><Relationship Id="rId12" Type="http://schemas.openxmlformats.org/officeDocument/2006/relationships/image" Target="../media/image33.png"/><Relationship Id="rId15" Type="http://schemas.openxmlformats.org/officeDocument/2006/relationships/image" Target="../media/image44.png"/><Relationship Id="rId14" Type="http://schemas.openxmlformats.org/officeDocument/2006/relationships/oleObject" Target="../embeddings/oleObject21.bin"/><Relationship Id="rId17" Type="http://schemas.openxmlformats.org/officeDocument/2006/relationships/oleObject" Target="../embeddings/oleObject22.bin"/><Relationship Id="rId16" Type="http://schemas.openxmlformats.org/officeDocument/2006/relationships/oleObject" Target="../embeddings/oleObject22.bin"/><Relationship Id="rId19" Type="http://schemas.openxmlformats.org/officeDocument/2006/relationships/oleObject" Target="../embeddings/oleObject23.bin"/><Relationship Id="rId18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26.bin"/><Relationship Id="rId9" Type="http://schemas.openxmlformats.org/officeDocument/2006/relationships/oleObject" Target="../embeddings/oleObject28.bin"/><Relationship Id="rId5" Type="http://schemas.openxmlformats.org/officeDocument/2006/relationships/oleObject" Target="../embeddings/oleObject26.bin"/><Relationship Id="rId6" Type="http://schemas.openxmlformats.org/officeDocument/2006/relationships/image" Target="../media/image41.png"/><Relationship Id="rId7" Type="http://schemas.openxmlformats.org/officeDocument/2006/relationships/oleObject" Target="../embeddings/oleObject27.bin"/><Relationship Id="rId8" Type="http://schemas.openxmlformats.org/officeDocument/2006/relationships/oleObject" Target="../embeddings/oleObject27.bin"/><Relationship Id="rId11" Type="http://schemas.openxmlformats.org/officeDocument/2006/relationships/image" Target="../media/image46.png"/><Relationship Id="rId10" Type="http://schemas.openxmlformats.org/officeDocument/2006/relationships/oleObject" Target="../embeddings/oleObject28.bin"/><Relationship Id="rId12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29.bin"/><Relationship Id="rId9" Type="http://schemas.openxmlformats.org/officeDocument/2006/relationships/image" Target="../media/image47.png"/><Relationship Id="rId5" Type="http://schemas.openxmlformats.org/officeDocument/2006/relationships/oleObject" Target="../embeddings/oleObject29.bin"/><Relationship Id="rId6" Type="http://schemas.openxmlformats.org/officeDocument/2006/relationships/image" Target="../media/image10.png"/><Relationship Id="rId7" Type="http://schemas.openxmlformats.org/officeDocument/2006/relationships/image" Target="../media/image50.png"/><Relationship Id="rId8" Type="http://schemas.openxmlformats.org/officeDocument/2006/relationships/image" Target="../media/image48.png"/><Relationship Id="rId11" Type="http://schemas.openxmlformats.org/officeDocument/2006/relationships/image" Target="../media/image53.png"/><Relationship Id="rId10" Type="http://schemas.openxmlformats.org/officeDocument/2006/relationships/image" Target="../media/image49.png"/><Relationship Id="rId13" Type="http://schemas.openxmlformats.org/officeDocument/2006/relationships/oleObject" Target="../embeddings/oleObject30.bin"/><Relationship Id="rId12" Type="http://schemas.openxmlformats.org/officeDocument/2006/relationships/oleObject" Target="../embeddings/oleObject30.bin"/><Relationship Id="rId14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31.bin"/><Relationship Id="rId9" Type="http://schemas.openxmlformats.org/officeDocument/2006/relationships/image" Target="../media/image54.png"/><Relationship Id="rId5" Type="http://schemas.openxmlformats.org/officeDocument/2006/relationships/oleObject" Target="../embeddings/oleObject31.bin"/><Relationship Id="rId6" Type="http://schemas.openxmlformats.org/officeDocument/2006/relationships/image" Target="../media/image62.png"/><Relationship Id="rId7" Type="http://schemas.openxmlformats.org/officeDocument/2006/relationships/oleObject" Target="../embeddings/oleObject32.bin"/><Relationship Id="rId8" Type="http://schemas.openxmlformats.org/officeDocument/2006/relationships/oleObject" Target="../embeddings/oleObject32.bin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33.bin"/><Relationship Id="rId9" Type="http://schemas.openxmlformats.org/officeDocument/2006/relationships/image" Target="../media/image68.png"/><Relationship Id="rId5" Type="http://schemas.openxmlformats.org/officeDocument/2006/relationships/oleObject" Target="../embeddings/oleObject33.bin"/><Relationship Id="rId6" Type="http://schemas.openxmlformats.org/officeDocument/2006/relationships/image" Target="../media/image65.png"/><Relationship Id="rId7" Type="http://schemas.openxmlformats.org/officeDocument/2006/relationships/oleObject" Target="../embeddings/oleObject34.bin"/><Relationship Id="rId8" Type="http://schemas.openxmlformats.org/officeDocument/2006/relationships/oleObject" Target="../embeddings/oleObject34.bin"/><Relationship Id="rId11" Type="http://schemas.openxmlformats.org/officeDocument/2006/relationships/oleObject" Target="../embeddings/oleObject35.bin"/><Relationship Id="rId10" Type="http://schemas.openxmlformats.org/officeDocument/2006/relationships/oleObject" Target="../embeddings/oleObject35.bin"/><Relationship Id="rId13" Type="http://schemas.openxmlformats.org/officeDocument/2006/relationships/image" Target="../media/image63.png"/><Relationship Id="rId12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2.png"/><Relationship Id="rId5" Type="http://schemas.openxmlformats.org/officeDocument/2006/relationships/oleObject" Target="../embeddings/oleObject36.bin"/><Relationship Id="rId6" Type="http://schemas.openxmlformats.org/officeDocument/2006/relationships/image" Target="../media/image55.png"/><Relationship Id="rId7" Type="http://schemas.openxmlformats.org/officeDocument/2006/relationships/oleObject" Target="../embeddings/oleObject37.bin"/><Relationship Id="rId8" Type="http://schemas.openxmlformats.org/officeDocument/2006/relationships/oleObject" Target="../embeddings/oleObject37.bin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38.bin"/><Relationship Id="rId9" Type="http://schemas.openxmlformats.org/officeDocument/2006/relationships/image" Target="../media/image60.png"/><Relationship Id="rId5" Type="http://schemas.openxmlformats.org/officeDocument/2006/relationships/oleObject" Target="../embeddings/oleObject38.bin"/><Relationship Id="rId6" Type="http://schemas.openxmlformats.org/officeDocument/2006/relationships/image" Target="../media/image59.png"/><Relationship Id="rId7" Type="http://schemas.openxmlformats.org/officeDocument/2006/relationships/oleObject" Target="../embeddings/oleObject39.bin"/><Relationship Id="rId8" Type="http://schemas.openxmlformats.org/officeDocument/2006/relationships/oleObject" Target="../embeddings/oleObject39.bin"/><Relationship Id="rId10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vmlDrawing" Target="../drawings/vmlDrawing14.vml"/><Relationship Id="rId4" Type="http://schemas.openxmlformats.org/officeDocument/2006/relationships/image" Target="../media/image56.png"/><Relationship Id="rId9" Type="http://schemas.openxmlformats.org/officeDocument/2006/relationships/oleObject" Target="../embeddings/oleObject41.bin"/><Relationship Id="rId5" Type="http://schemas.openxmlformats.org/officeDocument/2006/relationships/image" Target="../media/image58.png"/><Relationship Id="rId6" Type="http://schemas.openxmlformats.org/officeDocument/2006/relationships/oleObject" Target="../embeddings/oleObject40.bin"/><Relationship Id="rId7" Type="http://schemas.openxmlformats.org/officeDocument/2006/relationships/oleObject" Target="../embeddings/oleObject40.bin"/><Relationship Id="rId8" Type="http://schemas.openxmlformats.org/officeDocument/2006/relationships/image" Target="../media/image64.png"/><Relationship Id="rId11" Type="http://schemas.openxmlformats.org/officeDocument/2006/relationships/image" Target="../media/image66.png"/><Relationship Id="rId10" Type="http://schemas.openxmlformats.org/officeDocument/2006/relationships/oleObject" Target="../embeddings/oleObject41.bin"/><Relationship Id="rId12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vmlDrawing" Target="../drawings/vmlDrawing15.vml"/><Relationship Id="rId4" Type="http://schemas.openxmlformats.org/officeDocument/2006/relationships/oleObject" Target="../embeddings/oleObject42.bin"/><Relationship Id="rId5" Type="http://schemas.openxmlformats.org/officeDocument/2006/relationships/oleObject" Target="../embeddings/oleObject42.bin"/><Relationship Id="rId6" Type="http://schemas.openxmlformats.org/officeDocument/2006/relationships/image" Target="../media/image6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1.jpg"/><Relationship Id="rId4" Type="http://schemas.openxmlformats.org/officeDocument/2006/relationships/image" Target="../media/image70.png"/><Relationship Id="rId5" Type="http://schemas.openxmlformats.org/officeDocument/2006/relationships/image" Target="../media/image75.png"/><Relationship Id="rId6" Type="http://schemas.openxmlformats.org/officeDocument/2006/relationships/image" Target="../media/image82.png"/><Relationship Id="rId7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7.png"/><Relationship Id="rId4" Type="http://schemas.openxmlformats.org/officeDocument/2006/relationships/image" Target="../media/image84.png"/><Relationship Id="rId5" Type="http://schemas.openxmlformats.org/officeDocument/2006/relationships/image" Target="../media/image99.png"/><Relationship Id="rId6" Type="http://schemas.openxmlformats.org/officeDocument/2006/relationships/image" Target="../media/image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vmlDrawing" Target="../drawings/vmlDrawing16.vml"/><Relationship Id="rId4" Type="http://schemas.openxmlformats.org/officeDocument/2006/relationships/image" Target="../media/image81.png"/><Relationship Id="rId9" Type="http://schemas.openxmlformats.org/officeDocument/2006/relationships/oleObject" Target="../embeddings/oleObject44.bin"/><Relationship Id="rId5" Type="http://schemas.openxmlformats.org/officeDocument/2006/relationships/oleObject" Target="../embeddings/oleObject43.bin"/><Relationship Id="rId6" Type="http://schemas.openxmlformats.org/officeDocument/2006/relationships/oleObject" Target="../embeddings/oleObject43.bin"/><Relationship Id="rId7" Type="http://schemas.openxmlformats.org/officeDocument/2006/relationships/image" Target="../media/image83.png"/><Relationship Id="rId8" Type="http://schemas.openxmlformats.org/officeDocument/2006/relationships/oleObject" Target="../embeddings/oleObject44.bin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79.png"/><Relationship Id="rId13" Type="http://schemas.openxmlformats.org/officeDocument/2006/relationships/image" Target="../media/image78.png"/><Relationship Id="rId12" Type="http://schemas.openxmlformats.org/officeDocument/2006/relationships/oleObject" Target="../embeddings/oleObject45.bin"/><Relationship Id="rId15" Type="http://schemas.openxmlformats.org/officeDocument/2006/relationships/oleObject" Target="../embeddings/oleObject46.bin"/><Relationship Id="rId14" Type="http://schemas.openxmlformats.org/officeDocument/2006/relationships/oleObject" Target="../embeddings/oleObject46.bin"/><Relationship Id="rId17" Type="http://schemas.openxmlformats.org/officeDocument/2006/relationships/oleObject" Target="../embeddings/oleObject47.bin"/><Relationship Id="rId16" Type="http://schemas.openxmlformats.org/officeDocument/2006/relationships/image" Target="../media/image80.png"/><Relationship Id="rId19" Type="http://schemas.openxmlformats.org/officeDocument/2006/relationships/image" Target="../media/image90.png"/><Relationship Id="rId18" Type="http://schemas.openxmlformats.org/officeDocument/2006/relationships/oleObject" Target="../embeddings/oleObject47.bin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2.png"/><Relationship Id="rId4" Type="http://schemas.openxmlformats.org/officeDocument/2006/relationships/image" Target="../media/image91.png"/><Relationship Id="rId5" Type="http://schemas.openxmlformats.org/officeDocument/2006/relationships/image" Target="../media/image86.png"/><Relationship Id="rId6" Type="http://schemas.openxmlformats.org/officeDocument/2006/relationships/image" Target="../media/image8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4.png"/><Relationship Id="rId4" Type="http://schemas.openxmlformats.org/officeDocument/2006/relationships/image" Target="../media/image98.png"/><Relationship Id="rId5" Type="http://schemas.openxmlformats.org/officeDocument/2006/relationships/image" Target="../media/image102.png"/><Relationship Id="rId6" Type="http://schemas.openxmlformats.org/officeDocument/2006/relationships/image" Target="../media/image9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6.png"/><Relationship Id="rId4" Type="http://schemas.openxmlformats.org/officeDocument/2006/relationships/image" Target="../media/image10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5.png"/><Relationship Id="rId4" Type="http://schemas.openxmlformats.org/officeDocument/2006/relationships/image" Target="../media/image109.png"/><Relationship Id="rId5" Type="http://schemas.openxmlformats.org/officeDocument/2006/relationships/image" Target="../media/image9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7.png"/><Relationship Id="rId4" Type="http://schemas.openxmlformats.org/officeDocument/2006/relationships/image" Target="../media/image11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1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08.png"/><Relationship Id="rId4" Type="http://schemas.openxmlformats.org/officeDocument/2006/relationships/image" Target="../media/image11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25.png"/><Relationship Id="rId4" Type="http://schemas.openxmlformats.org/officeDocument/2006/relationships/image" Target="../media/image117.png"/><Relationship Id="rId5" Type="http://schemas.openxmlformats.org/officeDocument/2006/relationships/image" Target="../media/image113.png"/><Relationship Id="rId6" Type="http://schemas.openxmlformats.org/officeDocument/2006/relationships/image" Target="../media/image12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0.png"/><Relationship Id="rId4" Type="http://schemas.openxmlformats.org/officeDocument/2006/relationships/image" Target="../media/image119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8.png"/><Relationship Id="rId4" Type="http://schemas.openxmlformats.org/officeDocument/2006/relationships/image" Target="../media/image116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2.png"/><Relationship Id="rId4" Type="http://schemas.openxmlformats.org/officeDocument/2006/relationships/image" Target="../media/image126.png"/><Relationship Id="rId5" Type="http://schemas.openxmlformats.org/officeDocument/2006/relationships/image" Target="../media/image128.png"/><Relationship Id="rId6" Type="http://schemas.openxmlformats.org/officeDocument/2006/relationships/image" Target="../media/image120.png"/><Relationship Id="rId7" Type="http://schemas.openxmlformats.org/officeDocument/2006/relationships/image" Target="../media/image124.png"/><Relationship Id="rId8" Type="http://schemas.openxmlformats.org/officeDocument/2006/relationships/image" Target="../media/image12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9.png"/><Relationship Id="rId4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"/>
          <p:cNvSpPr txBox="1"/>
          <p:nvPr>
            <p:ph type="title"/>
          </p:nvPr>
        </p:nvSpPr>
        <p:spPr>
          <a:xfrm>
            <a:off x="2190485" y="1926373"/>
            <a:ext cx="7169821" cy="1315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b="1" lang="en-GB" sz="4000">
                <a:latin typeface="Times New Roman"/>
                <a:ea typeface="Times New Roman"/>
                <a:cs typeface="Times New Roman"/>
                <a:sym typeface="Times New Roman"/>
              </a:rPr>
              <a:t>2.0 Resonance, Coupled Circuits and Dependant Sources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"/>
          <p:cNvSpPr txBox="1"/>
          <p:nvPr>
            <p:ph idx="1" type="body"/>
          </p:nvPr>
        </p:nvSpPr>
        <p:spPr>
          <a:xfrm>
            <a:off x="948267" y="790703"/>
            <a:ext cx="9654258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b="1" lang="en-GB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EE1203 – Theory of Electricity</a:t>
            </a:r>
            <a:endParaRPr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1447123" y="3721298"/>
            <a:ext cx="8197380" cy="2865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556"/>
              <a:buFont typeface="Times New Roman"/>
              <a:buNone/>
            </a:pPr>
            <a:r>
              <a:rPr b="1" i="0" lang="en-GB" sz="3556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Prof J. Rohan Lucas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b="0" i="1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lucas@kdu.ac.lk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Times New Roman"/>
              <a:buNone/>
            </a:pPr>
            <a:r>
              <a:t/>
            </a:r>
            <a:endParaRPr b="1" i="0" sz="3556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Times New Roman"/>
              <a:buNone/>
            </a:pPr>
            <a:r>
              <a:rPr b="0" i="0" lang="en-GB" sz="213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Electrical, Electronic &amp; Telecommunication Engineering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4"/>
              <a:buFont typeface="Times New Roman"/>
              <a:buNone/>
            </a:pPr>
            <a:r>
              <a:rPr b="0" i="0" lang="en-GB" sz="2844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Sir John Kotelawala Defence University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Times New Roman"/>
              <a:buNone/>
            </a:pPr>
            <a:r>
              <a:rPr b="0" i="0" lang="en-GB" sz="213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December 2021</a:t>
            </a:r>
            <a:endParaRPr b="0" i="0" sz="213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>
            <p:ph type="title"/>
          </p:nvPr>
        </p:nvSpPr>
        <p:spPr>
          <a:xfrm>
            <a:off x="429715" y="582715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Learning Outcomes</a:t>
            </a:r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9218266" y="2607656"/>
            <a:ext cx="442844" cy="369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429715" y="944402"/>
            <a:ext cx="11409359" cy="5785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completion of module, student will be able to </a:t>
            </a:r>
            <a:endParaRPr b="0" i="0" sz="1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the performances of AC circuits </a:t>
            </a:r>
            <a:endParaRPr/>
          </a:p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circuits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nodal and mesh theory</a:t>
            </a:r>
            <a:endParaRPr/>
          </a:p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port networks using different models. </a:t>
            </a:r>
            <a:endParaRPr b="0" i="0" sz="1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LO3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 functions of RLC networks for transients. </a:t>
            </a:r>
            <a:endParaRPr b="0" i="0" sz="12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LO4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waveforms for its harmonics.</a:t>
            </a:r>
            <a:endParaRPr/>
          </a:p>
          <a:p>
            <a:pPr indent="-1151255" lvl="0" marL="115125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LO5: Perform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calculations in three phase circuits    including unbalanced waveforms.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3"/>
          <p:cNvGraphicFramePr/>
          <p:nvPr/>
        </p:nvGraphicFramePr>
        <p:xfrm>
          <a:off x="244875" y="146132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{707CE328-52EE-414E-A710-81E43167D92B}</a:tableStyleId>
              </a:tblPr>
              <a:tblGrid>
                <a:gridCol w="8743000"/>
              </a:tblGrid>
              <a:tr h="120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3200"/>
                        <a:buFont typeface="Calibri"/>
                        <a:buNone/>
                      </a:pPr>
                      <a:r>
                        <a:rPr b="0" lang="en-GB" sz="3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 of basic components and AC theory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3200"/>
                        <a:buFont typeface="Calibri"/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Series and parallel resonance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3200"/>
                        <a:buFont typeface="Calibri"/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Electromagnetic coupling:  Mutual inductance, Analysis of coupled circuits, Transformer.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3200"/>
                        <a:buFont typeface="Calibri"/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Dependent sources: solving circuits </a:t>
                      </a:r>
                      <a:endParaRPr/>
                    </a:p>
                  </a:txBody>
                  <a:tcPr marT="0" marB="0" marR="30800" marL="30800"/>
                </a:tc>
              </a:tr>
            </a:tbl>
          </a:graphicData>
        </a:graphic>
      </p:graphicFrame>
      <p:sp>
        <p:nvSpPr>
          <p:cNvPr id="191" name="Google Shape;191;p3"/>
          <p:cNvSpPr txBox="1"/>
          <p:nvPr>
            <p:ph type="title"/>
          </p:nvPr>
        </p:nvSpPr>
        <p:spPr>
          <a:xfrm>
            <a:off x="429715" y="690159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GB"/>
              <a:t>AC Circuit analysis </a:t>
            </a:r>
            <a:r>
              <a:rPr lang="en-GB">
                <a:solidFill>
                  <a:srgbClr val="002060"/>
                </a:solidFill>
              </a:rPr>
              <a:t>(9 hrs) 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>
            <a:off x="9218266" y="2607656"/>
            <a:ext cx="442844" cy="369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7712" y="1082654"/>
            <a:ext cx="2849413" cy="175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9873" y="2977505"/>
            <a:ext cx="3057286" cy="222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9187" y="5651138"/>
            <a:ext cx="2584928" cy="664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1355" y="4583515"/>
            <a:ext cx="2988333" cy="2135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"/>
          <p:cNvSpPr txBox="1"/>
          <p:nvPr>
            <p:ph type="title"/>
          </p:nvPr>
        </p:nvSpPr>
        <p:spPr>
          <a:xfrm>
            <a:off x="429715" y="735980"/>
            <a:ext cx="7621465" cy="381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Resonance</a:t>
            </a:r>
            <a:endParaRPr/>
          </a:p>
        </p:txBody>
      </p:sp>
      <p:pic>
        <p:nvPicPr>
          <p:cNvPr id="203" name="Google Shape;2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6802" y="320040"/>
            <a:ext cx="4060825" cy="177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8780" y="2096428"/>
            <a:ext cx="1382752" cy="299754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429715" y="1357994"/>
            <a:ext cx="904882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resonance (in sound)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vibration (string) and hear the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greatest sound (water column)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idea is present in electrical engineering.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Resonance basically occurs when a quantity, such as voltage or current, becomes a maximum.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one quantity → minimum with another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that resonance could occur at a minimum value of a quantity as well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 txBox="1"/>
          <p:nvPr>
            <p:ph type="title"/>
          </p:nvPr>
        </p:nvSpPr>
        <p:spPr>
          <a:xfrm>
            <a:off x="429715" y="47452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Resonance in an Electrical Circuit</a:t>
            </a:r>
            <a:endParaRPr/>
          </a:p>
        </p:txBody>
      </p:sp>
      <p:grpSp>
        <p:nvGrpSpPr>
          <p:cNvPr id="211" name="Google Shape;211;p5"/>
          <p:cNvGrpSpPr/>
          <p:nvPr/>
        </p:nvGrpSpPr>
        <p:grpSpPr>
          <a:xfrm>
            <a:off x="3128645" y="844283"/>
            <a:ext cx="5953836" cy="1130154"/>
            <a:chOff x="3128645" y="1095743"/>
            <a:chExt cx="5953836" cy="1130154"/>
          </a:xfrm>
        </p:grpSpPr>
        <p:grpSp>
          <p:nvGrpSpPr>
            <p:cNvPr id="212" name="Google Shape;212;p5"/>
            <p:cNvGrpSpPr/>
            <p:nvPr/>
          </p:nvGrpSpPr>
          <p:grpSpPr>
            <a:xfrm>
              <a:off x="3128645" y="1680757"/>
              <a:ext cx="5953836" cy="545140"/>
              <a:chOff x="3128645" y="1680757"/>
              <a:chExt cx="5953836" cy="545140"/>
            </a:xfrm>
          </p:grpSpPr>
          <p:grpSp>
            <p:nvGrpSpPr>
              <p:cNvPr id="213" name="Google Shape;213;p5"/>
              <p:cNvGrpSpPr/>
              <p:nvPr/>
            </p:nvGrpSpPr>
            <p:grpSpPr>
              <a:xfrm>
                <a:off x="3128645" y="1685595"/>
                <a:ext cx="1826260" cy="540302"/>
                <a:chOff x="1658" y="2144"/>
                <a:chExt cx="1440" cy="361"/>
              </a:xfrm>
            </p:grpSpPr>
            <p:cxnSp>
              <p:nvCxnSpPr>
                <p:cNvPr id="214" name="Google Shape;214;p5"/>
                <p:cNvCxnSpPr/>
                <p:nvPr/>
              </p:nvCxnSpPr>
              <p:spPr>
                <a:xfrm>
                  <a:off x="165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215" name="Google Shape;215;p5"/>
                <p:cNvGrpSpPr/>
                <p:nvPr/>
              </p:nvGrpSpPr>
              <p:grpSpPr>
                <a:xfrm>
                  <a:off x="2018" y="2144"/>
                  <a:ext cx="720" cy="361"/>
                  <a:chOff x="2018" y="2138"/>
                  <a:chExt cx="1200" cy="357"/>
                </a:xfrm>
              </p:grpSpPr>
              <p:cxnSp>
                <p:nvCxnSpPr>
                  <p:cNvPr id="216" name="Google Shape;216;p5"/>
                  <p:cNvCxnSpPr/>
                  <p:nvPr/>
                </p:nvCxnSpPr>
                <p:spPr>
                  <a:xfrm flipH="1" rot="10800000">
                    <a:off x="201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17" name="Google Shape;217;p5"/>
                  <p:cNvCxnSpPr/>
                  <p:nvPr/>
                </p:nvCxnSpPr>
                <p:spPr>
                  <a:xfrm rot="10800000">
                    <a:off x="309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18" name="Google Shape;218;p5"/>
                  <p:cNvCxnSpPr/>
                  <p:nvPr/>
                </p:nvCxnSpPr>
                <p:spPr>
                  <a:xfrm rot="10800000">
                    <a:off x="212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19" name="Google Shape;219;p5"/>
                  <p:cNvCxnSpPr/>
                  <p:nvPr/>
                </p:nvCxnSpPr>
                <p:spPr>
                  <a:xfrm flipH="1" rot="10800000">
                    <a:off x="238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20" name="Google Shape;220;p5"/>
                  <p:cNvCxnSpPr/>
                  <p:nvPr/>
                </p:nvCxnSpPr>
                <p:spPr>
                  <a:xfrm rot="10800000">
                    <a:off x="260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21" name="Google Shape;221;p5"/>
                  <p:cNvCxnSpPr/>
                  <p:nvPr/>
                </p:nvCxnSpPr>
                <p:spPr>
                  <a:xfrm flipH="1" rot="10800000">
                    <a:off x="286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222" name="Google Shape;222;p5"/>
                <p:cNvCxnSpPr/>
                <p:nvPr/>
              </p:nvCxnSpPr>
              <p:spPr>
                <a:xfrm>
                  <a:off x="273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23" name="Google Shape;223;p5"/>
              <p:cNvGrpSpPr/>
              <p:nvPr/>
            </p:nvGrpSpPr>
            <p:grpSpPr>
              <a:xfrm flipH="1" rot="10800000">
                <a:off x="4954907" y="1705850"/>
                <a:ext cx="2282190" cy="450850"/>
                <a:chOff x="1778" y="4127"/>
                <a:chExt cx="1800" cy="355"/>
              </a:xfrm>
            </p:grpSpPr>
            <p:grpSp>
              <p:nvGrpSpPr>
                <p:cNvPr id="224" name="Google Shape;224;p5"/>
                <p:cNvGrpSpPr/>
                <p:nvPr/>
              </p:nvGrpSpPr>
              <p:grpSpPr>
                <a:xfrm>
                  <a:off x="2138" y="4127"/>
                  <a:ext cx="1080" cy="355"/>
                  <a:chOff x="8378" y="8272"/>
                  <a:chExt cx="1080" cy="355"/>
                </a:xfrm>
              </p:grpSpPr>
              <p:sp>
                <p:nvSpPr>
                  <p:cNvPr id="225" name="Google Shape;225;p5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26" name="Google Shape;226;p5"/>
                  <p:cNvGrpSpPr/>
                  <p:nvPr/>
                </p:nvGrpSpPr>
                <p:grpSpPr>
                  <a:xfrm>
                    <a:off x="8556" y="8282"/>
                    <a:ext cx="328" cy="345"/>
                    <a:chOff x="2020" y="8243"/>
                    <a:chExt cx="1768" cy="960"/>
                  </a:xfrm>
                </p:grpSpPr>
                <p:sp>
                  <p:nvSpPr>
                    <p:cNvPr id="227" name="Google Shape;227;p5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" name="Google Shape;228;p5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29" name="Google Shape;229;p5"/>
                  <p:cNvGrpSpPr/>
                  <p:nvPr/>
                </p:nvGrpSpPr>
                <p:grpSpPr>
                  <a:xfrm>
                    <a:off x="8745" y="8272"/>
                    <a:ext cx="328" cy="345"/>
                    <a:chOff x="2020" y="8243"/>
                    <a:chExt cx="1768" cy="960"/>
                  </a:xfrm>
                </p:grpSpPr>
                <p:sp>
                  <p:nvSpPr>
                    <p:cNvPr id="230" name="Google Shape;230;p5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1" name="Google Shape;231;p5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32" name="Google Shape;232;p5"/>
                  <p:cNvGrpSpPr/>
                  <p:nvPr/>
                </p:nvGrpSpPr>
                <p:grpSpPr>
                  <a:xfrm>
                    <a:off x="8931" y="8278"/>
                    <a:ext cx="328" cy="345"/>
                    <a:chOff x="2020" y="8243"/>
                    <a:chExt cx="1768" cy="960"/>
                  </a:xfrm>
                </p:grpSpPr>
                <p:sp>
                  <p:nvSpPr>
                    <p:cNvPr id="233" name="Google Shape;233;p5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" name="Google Shape;234;p5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35" name="Google Shape;235;p5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" name="Google Shape;236;p5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237" name="Google Shape;237;p5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8" name="Google Shape;238;p5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39" name="Google Shape;239;p5"/>
              <p:cNvGrpSpPr/>
              <p:nvPr/>
            </p:nvGrpSpPr>
            <p:grpSpPr>
              <a:xfrm flipH="1">
                <a:off x="7190816" y="1680757"/>
                <a:ext cx="1891665" cy="540303"/>
                <a:chOff x="6218" y="1958"/>
                <a:chExt cx="1320" cy="360"/>
              </a:xfrm>
            </p:grpSpPr>
            <p:cxnSp>
              <p:nvCxnSpPr>
                <p:cNvPr id="240" name="Google Shape;240;p5"/>
                <p:cNvCxnSpPr/>
                <p:nvPr/>
              </p:nvCxnSpPr>
              <p:spPr>
                <a:xfrm>
                  <a:off x="6218" y="2138"/>
                  <a:ext cx="6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" name="Google Shape;241;p5"/>
                <p:cNvCxnSpPr/>
                <p:nvPr/>
              </p:nvCxnSpPr>
              <p:spPr>
                <a:xfrm>
                  <a:off x="6938" y="2138"/>
                  <a:ext cx="6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" name="Google Shape;242;p5"/>
                <p:cNvCxnSpPr/>
                <p:nvPr/>
              </p:nvCxnSpPr>
              <p:spPr>
                <a:xfrm>
                  <a:off x="6818" y="1958"/>
                  <a:ext cx="0" cy="36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5"/>
                <p:cNvCxnSpPr/>
                <p:nvPr/>
              </p:nvCxnSpPr>
              <p:spPr>
                <a:xfrm>
                  <a:off x="6938" y="1958"/>
                  <a:ext cx="0" cy="36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244" name="Google Shape;244;p5"/>
            <p:cNvSpPr/>
            <p:nvPr/>
          </p:nvSpPr>
          <p:spPr>
            <a:xfrm>
              <a:off x="3723167" y="1095743"/>
              <a:ext cx="4671427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                   L                 C</a:t>
              </a:r>
              <a:endParaRPr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5" name="Google Shape;245;p5"/>
          <p:cNvSpPr/>
          <p:nvPr/>
        </p:nvSpPr>
        <p:spPr>
          <a:xfrm>
            <a:off x="448191" y="2014392"/>
            <a:ext cx="10593185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given source voltage,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impedance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circuit is a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5"/>
          <p:cNvGraphicFramePr/>
          <p:nvPr/>
        </p:nvGraphicFramePr>
        <p:xfrm>
          <a:off x="6292524" y="2243856"/>
          <a:ext cx="1331912" cy="1225550"/>
        </p:xfrm>
        <a:graphic>
          <a:graphicData uri="http://schemas.openxmlformats.org/presentationml/2006/ole">
            <mc:AlternateContent>
              <mc:Choice Requires="v">
                <p:oleObj r:id="rId4" imgH="1225550" imgW="1331912" progId="" spid="_x0000_s1">
                  <p:embed/>
                </p:oleObj>
              </mc:Choice>
              <mc:Fallback>
                <p:oleObj r:id="rId5" imgH="1225550" imgW="1331912" progId="">
                  <p:embed/>
                  <p:pic>
                    <p:nvPicPr>
                      <p:cNvPr id="246" name="Google Shape;246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292524" y="2243856"/>
                        <a:ext cx="1331912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" name="Google Shape;247;p5"/>
          <p:cNvSpPr/>
          <p:nvPr/>
        </p:nvSpPr>
        <p:spPr>
          <a:xfrm>
            <a:off x="448191" y="3880837"/>
            <a:ext cx="28408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a.c. circuit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5"/>
          <p:cNvGraphicFramePr/>
          <p:nvPr/>
        </p:nvGraphicFramePr>
        <p:xfrm>
          <a:off x="3370438" y="3661652"/>
          <a:ext cx="6003925" cy="885825"/>
        </p:xfrm>
        <a:graphic>
          <a:graphicData uri="http://schemas.openxmlformats.org/presentationml/2006/ole">
            <mc:AlternateContent>
              <mc:Choice Requires="v">
                <p:oleObj r:id="rId7" imgH="885825" imgW="6003925" progId="" spid="_x0000_s2">
                  <p:embed/>
                </p:oleObj>
              </mc:Choice>
              <mc:Fallback>
                <p:oleObj r:id="rId8" imgH="885825" imgW="6003925" progId="">
                  <p:embed/>
                  <p:pic>
                    <p:nvPicPr>
                      <p:cNvPr id="248" name="Google Shape;248;p5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370438" y="3661652"/>
                        <a:ext cx="60039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" name="Google Shape;249;p5"/>
          <p:cNvSpPr/>
          <p:nvPr/>
        </p:nvSpPr>
        <p:spPr>
          <a:xfrm>
            <a:off x="451369" y="4448488"/>
            <a:ext cx="930985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have a minimum value when X is zero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(Possible because inductive and capacitive reactances have opposite signs).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current becomes a maximum, or resonance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 txBox="1"/>
          <p:nvPr>
            <p:ph type="title"/>
          </p:nvPr>
        </p:nvSpPr>
        <p:spPr>
          <a:xfrm>
            <a:off x="429715" y="49738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Methods of defining Electrical Resonance</a:t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429715" y="911548"/>
            <a:ext cx="946987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X is zero, the circuit is purely resistive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Courier New"/>
              <a:buChar char="o"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Impedance Z becomes a minimum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Char char="−"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 for given current becomes a minimum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Char char="−"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for given voltage becomes a maximum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Courier New"/>
              <a:buChar char="o"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Impedance angle becomes zero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Char char="−"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factor of the circuit becomes unity.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29714" y="3723328"/>
            <a:ext cx="946987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B is zero, the circuit is purely resistive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Courier New"/>
              <a:buChar char="o"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Admittance becomes a minimum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Char char="−"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 for given current becomes a maximum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Char char="−"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for given voltage becomes a minimum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Courier New"/>
              <a:buChar char="o"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Admittance angle becomes zero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Char char="−"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factor of the circuit becomes unity.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GB"/>
              <a:t>Series Resonance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29714" y="1374591"/>
            <a:ext cx="11332571" cy="4108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a circuit for a given source voltage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becomes a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571500" lvl="0" marL="571500" marR="0" rtl="0" algn="just"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 across a circuit for a given source current becomes a minimum,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just"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admittance of the circuit becomes a maximum, or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just"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impedance of the circuit becomes a minimum.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GB"/>
              <a:t>Parallel Resonance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29715" y="1545729"/>
            <a:ext cx="10546080" cy="4108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across a circuit for a given source current becomes a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571500" lvl="0" marL="571500" marR="0" rtl="0" algn="just"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through a circuit for a given source voltage becomes a minimum,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just"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impedance of the circuit becomes a maximum, or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just"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admittance of the circuit becomes a minimum.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type="title"/>
          </p:nvPr>
        </p:nvSpPr>
        <p:spPr>
          <a:xfrm>
            <a:off x="429714" y="49738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GB"/>
              <a:t>Unity Power Factor Resonance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329157" y="934408"/>
            <a:ext cx="1034796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Factor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circuit becomes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3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</a:t>
            </a:r>
            <a:r>
              <a:rPr lang="en-GB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-571500" lvl="0" marL="5715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impedance of  the circuit is purely real</a:t>
            </a:r>
            <a:endParaRPr/>
          </a:p>
          <a:p>
            <a:pPr indent="-571500" lvl="1" marL="10287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Char char="−"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impedance angle is zero,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admittance of  the circuit is purely real</a:t>
            </a:r>
            <a:endParaRPr/>
          </a:p>
          <a:p>
            <a:pPr indent="-571500" lvl="1" marL="10287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Char char="−"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admittance angle is zero,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voltage  and the current are in phase.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 power factor condition could correspond to either series resonance or parallel resonance. 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ourier New"/>
              <a:buChar char="o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complex circuits, unity power factor condition could give displaced answers from the other two.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429715" y="1117288"/>
            <a:ext cx="1135380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frequency at which power factor becomes unity.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when imaginary-part(impedance) → 0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imaginary-part(current) → 0.</a:t>
            </a:r>
            <a:r>
              <a:rPr lang="en-GB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	j                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0,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 at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(same as before).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of curve is dependant on value of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circuit.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05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→ 0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resonance occurs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→ ∞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→ 0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of current with respect to voltage tends to either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  or -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/2, changing at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 resistance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quality of the resonance.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05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low,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low and hence the quality is high.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05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resonance, low r means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&lt;&lt; L</a:t>
            </a:r>
            <a:r>
              <a:rPr b="0" i="0" lang="en-GB" sz="32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&lt;&lt; 1/C</a:t>
            </a:r>
            <a:r>
              <a:rPr lang="en-GB" sz="3200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3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5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Unity power factor resonance for series circuit</a:t>
            </a:r>
            <a:endParaRPr/>
          </a:p>
        </p:txBody>
      </p:sp>
      <p:pic>
        <p:nvPicPr>
          <p:cNvPr id="281" name="Google Shape;2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1398" y="1979721"/>
            <a:ext cx="1860550" cy="1055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 txBox="1"/>
          <p:nvPr>
            <p:ph type="title"/>
          </p:nvPr>
        </p:nvSpPr>
        <p:spPr>
          <a:xfrm>
            <a:off x="429715" y="56311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Conditions for Oscillations to occur</a:t>
            </a:r>
            <a:endParaRPr/>
          </a:p>
        </p:txBody>
      </p:sp>
      <p:pic>
        <p:nvPicPr>
          <p:cNvPr id="287" name="Google Shape;287;p10"/>
          <p:cNvPicPr preferRelativeResize="0"/>
          <p:nvPr/>
        </p:nvPicPr>
        <p:blipFill rotWithShape="1">
          <a:blip r:embed="rId3">
            <a:alphaModFix/>
          </a:blip>
          <a:srcRect b="1015" l="0" r="1290" t="0"/>
          <a:stretch/>
        </p:blipFill>
        <p:spPr>
          <a:xfrm>
            <a:off x="9360535" y="1117289"/>
            <a:ext cx="2831465" cy="379983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251460" y="1045858"/>
            <a:ext cx="9304020" cy="524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determines natural frequency of oscillations ?</a:t>
            </a:r>
            <a:endParaRPr b="1" i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simple pendulum.  Why does it oscillate ?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of stored energy in the system</a:t>
            </a:r>
            <a:endParaRPr/>
          </a:p>
          <a:p>
            <a:pPr indent="0" lvl="0" marL="0" marR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potential energy and kinetic energy.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oscillations, energy transfers between potential energy and kinetic energy.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frequency of oscillations, depends on the value of gravity, length and so on.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Friction in the medium would reduce the energy and cause the pendulum to slow down and finally stop.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Resonance in an Electric Circuit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29715" y="1505069"/>
            <a:ext cx="10543085" cy="43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is stored in the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electrostatic field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capacitance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electromagnetic field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inductance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/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Oscillations occur when the energy gets transferred between these two forms.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Resistance would cause energy losses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decreasing magnitude of oscillations.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 txBox="1"/>
          <p:nvPr>
            <p:ph type="title"/>
          </p:nvPr>
        </p:nvSpPr>
        <p:spPr>
          <a:xfrm>
            <a:off x="429715" y="520244"/>
            <a:ext cx="4415853" cy="390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Series Resonance</a:t>
            </a:r>
            <a:endParaRPr/>
          </a:p>
        </p:txBody>
      </p:sp>
      <p:grpSp>
        <p:nvGrpSpPr>
          <p:cNvPr id="300" name="Google Shape;300;p12"/>
          <p:cNvGrpSpPr/>
          <p:nvPr/>
        </p:nvGrpSpPr>
        <p:grpSpPr>
          <a:xfrm>
            <a:off x="3865321" y="393977"/>
            <a:ext cx="7428861" cy="1234788"/>
            <a:chOff x="5738" y="6232"/>
            <a:chExt cx="4649" cy="773"/>
          </a:xfrm>
        </p:grpSpPr>
        <p:grpSp>
          <p:nvGrpSpPr>
            <p:cNvPr id="301" name="Google Shape;301;p12"/>
            <p:cNvGrpSpPr/>
            <p:nvPr/>
          </p:nvGrpSpPr>
          <p:grpSpPr>
            <a:xfrm>
              <a:off x="5738" y="6644"/>
              <a:ext cx="1440" cy="361"/>
              <a:chOff x="1658" y="2144"/>
              <a:chExt cx="1440" cy="361"/>
            </a:xfrm>
          </p:grpSpPr>
          <p:cxnSp>
            <p:nvCxnSpPr>
              <p:cNvPr id="302" name="Google Shape;302;p12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3" name="Google Shape;303;p12"/>
              <p:cNvGrpSpPr/>
              <p:nvPr/>
            </p:nvGrpSpPr>
            <p:grpSpPr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304" name="Google Shape;304;p12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" name="Google Shape;305;p12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" name="Google Shape;306;p12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12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8" name="Google Shape;308;p12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9" name="Google Shape;309;p12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10" name="Google Shape;310;p12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1" name="Google Shape;311;p12"/>
            <p:cNvGrpSpPr/>
            <p:nvPr/>
          </p:nvGrpSpPr>
          <p:grpSpPr>
            <a:xfrm flipH="1" rot="10800000">
              <a:off x="7148" y="6634"/>
              <a:ext cx="1800" cy="355"/>
              <a:chOff x="1778" y="4127"/>
              <a:chExt cx="1800" cy="355"/>
            </a:xfrm>
          </p:grpSpPr>
          <p:grpSp>
            <p:nvGrpSpPr>
              <p:cNvPr id="312" name="Google Shape;312;p12"/>
              <p:cNvGrpSpPr/>
              <p:nvPr/>
            </p:nvGrpSpPr>
            <p:grpSpPr>
              <a:xfrm>
                <a:off x="2138" y="4127"/>
                <a:ext cx="1080" cy="355"/>
                <a:chOff x="8378" y="8272"/>
                <a:chExt cx="1080" cy="355"/>
              </a:xfrm>
            </p:grpSpPr>
            <p:sp>
              <p:nvSpPr>
                <p:cNvPr id="313" name="Google Shape;313;p12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4" name="Google Shape;314;p12"/>
                <p:cNvGrpSpPr/>
                <p:nvPr/>
              </p:nvGrpSpPr>
              <p:grpSpPr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315" name="Google Shape;315;p1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" name="Google Shape;316;p1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7" name="Google Shape;317;p12"/>
                <p:cNvGrpSpPr/>
                <p:nvPr/>
              </p:nvGrpSpPr>
              <p:grpSpPr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318" name="Google Shape;318;p1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" name="Google Shape;319;p1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0" name="Google Shape;320;p12"/>
                <p:cNvGrpSpPr/>
                <p:nvPr/>
              </p:nvGrpSpPr>
              <p:grpSpPr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321" name="Google Shape;321;p1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2" name="Google Shape;322;p1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3" name="Google Shape;323;p12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12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325" name="Google Shape;325;p12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12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27" name="Google Shape;327;p12"/>
            <p:cNvSpPr txBox="1"/>
            <p:nvPr/>
          </p:nvSpPr>
          <p:spPr>
            <a:xfrm>
              <a:off x="6338" y="62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2"/>
            <p:cNvSpPr txBox="1"/>
            <p:nvPr/>
          </p:nvSpPr>
          <p:spPr>
            <a:xfrm>
              <a:off x="7816" y="6232"/>
              <a:ext cx="56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r>
                <a:rPr lang="en-GB" sz="28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ω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29" name="Google Shape;329;p12"/>
            <p:cNvGrpSpPr/>
            <p:nvPr/>
          </p:nvGrpSpPr>
          <p:grpSpPr>
            <a:xfrm flipH="1">
              <a:off x="8925" y="6625"/>
              <a:ext cx="1462" cy="374"/>
              <a:chOff x="6244" y="2210"/>
              <a:chExt cx="1294" cy="374"/>
            </a:xfrm>
          </p:grpSpPr>
          <p:cxnSp>
            <p:nvCxnSpPr>
              <p:cNvPr id="330" name="Google Shape;330;p12"/>
              <p:cNvCxnSpPr/>
              <p:nvPr/>
            </p:nvCxnSpPr>
            <p:spPr>
              <a:xfrm>
                <a:off x="6244" y="2404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12"/>
              <p:cNvCxnSpPr/>
              <p:nvPr/>
            </p:nvCxnSpPr>
            <p:spPr>
              <a:xfrm>
                <a:off x="6938" y="2404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12"/>
              <p:cNvCxnSpPr/>
              <p:nvPr/>
            </p:nvCxnSpPr>
            <p:spPr>
              <a:xfrm>
                <a:off x="6844" y="2210"/>
                <a:ext cx="0" cy="3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" name="Google Shape;333;p12"/>
              <p:cNvCxnSpPr/>
              <p:nvPr/>
            </p:nvCxnSpPr>
            <p:spPr>
              <a:xfrm>
                <a:off x="6938" y="2224"/>
                <a:ext cx="0" cy="3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4" name="Google Shape;334;p12"/>
            <p:cNvSpPr txBox="1"/>
            <p:nvPr/>
          </p:nvSpPr>
          <p:spPr>
            <a:xfrm>
              <a:off x="8899" y="6714"/>
              <a:ext cx="651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5" name="Google Shape;335;p12"/>
          <p:cNvSpPr/>
          <p:nvPr/>
        </p:nvSpPr>
        <p:spPr>
          <a:xfrm>
            <a:off x="7683542" y="80020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0627" y="273975"/>
            <a:ext cx="86677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2"/>
          <p:cNvSpPr/>
          <p:nvPr/>
        </p:nvSpPr>
        <p:spPr>
          <a:xfrm>
            <a:off x="314663" y="1618020"/>
            <a:ext cx="11296708" cy="499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in a circuit where the energy storage elements are in series.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angular frequency of w,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R + jwL +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R + j 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value of w when | I | becomes a maximum for a given V → | Z | becoming a minimum,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| V| becoming a minimum for a given I.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magnitude of impedance = | Z |, | Z |</a:t>
            </a:r>
            <a:r>
              <a:rPr baseline="30000"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= R</a:t>
            </a:r>
            <a:r>
              <a:rPr baseline="30000"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phase angle of Z, 	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endParaRPr sz="4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8" name="Google Shape;338;p12"/>
          <p:cNvGraphicFramePr/>
          <p:nvPr/>
        </p:nvGraphicFramePr>
        <p:xfrm>
          <a:off x="2859481" y="2636043"/>
          <a:ext cx="914400" cy="1009650"/>
        </p:xfrm>
        <a:graphic>
          <a:graphicData uri="http://schemas.openxmlformats.org/presentationml/2006/ole">
            <mc:AlternateContent>
              <mc:Choice Requires="v">
                <p:oleObj r:id="rId5" imgH="1009650" imgW="914400" progId="" spid="_x0000_s1">
                  <p:embed/>
                </p:oleObj>
              </mc:Choice>
              <mc:Fallback>
                <p:oleObj r:id="rId6" imgH="1009650" imgW="914400" progId="">
                  <p:embed/>
                  <p:pic>
                    <p:nvPicPr>
                      <p:cNvPr id="338" name="Google Shape;338;p12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59481" y="2636043"/>
                        <a:ext cx="9144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" name="Google Shape;339;p12"/>
          <p:cNvGraphicFramePr/>
          <p:nvPr/>
        </p:nvGraphicFramePr>
        <p:xfrm>
          <a:off x="5112869" y="2727483"/>
          <a:ext cx="1701800" cy="962025"/>
        </p:xfrm>
        <a:graphic>
          <a:graphicData uri="http://schemas.openxmlformats.org/presentationml/2006/ole">
            <mc:AlternateContent>
              <mc:Choice Requires="v">
                <p:oleObj r:id="rId8" imgH="962025" imgW="1701800" progId="" spid="_x0000_s2">
                  <p:embed/>
                </p:oleObj>
              </mc:Choice>
              <mc:Fallback>
                <p:oleObj r:id="rId9" imgH="962025" imgW="1701800" progId="">
                  <p:embed/>
                  <p:pic>
                    <p:nvPicPr>
                      <p:cNvPr id="339" name="Google Shape;339;p12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12869" y="2727483"/>
                        <a:ext cx="17018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" name="Google Shape;340;p12"/>
          <p:cNvGraphicFramePr/>
          <p:nvPr/>
        </p:nvGraphicFramePr>
        <p:xfrm>
          <a:off x="12570521" y="10970134"/>
          <a:ext cx="1865312" cy="1008062"/>
        </p:xfrm>
        <a:graphic>
          <a:graphicData uri="http://schemas.openxmlformats.org/presentationml/2006/ole">
            <mc:AlternateContent>
              <mc:Choice Requires="v">
                <p:oleObj r:id="rId11" imgH="1008062" imgW="1865312" progId="" spid="_x0000_s3">
                  <p:embed/>
                </p:oleObj>
              </mc:Choice>
              <mc:Fallback>
                <p:oleObj r:id="rId12" imgH="1008062" imgW="1865312" progId="">
                  <p:embed/>
                  <p:pic>
                    <p:nvPicPr>
                      <p:cNvPr id="340" name="Google Shape;340;p12"/>
                      <p:cNvPicPr preferRelativeResize="0"/>
                      <p:nvPr/>
                    </p:nvPicPr>
                    <p:blipFill rotWithShape="1">
                      <a:blip r:embed="rId1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570521" y="10970134"/>
                        <a:ext cx="186531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" name="Google Shape;341;p12"/>
          <p:cNvGraphicFramePr/>
          <p:nvPr/>
        </p:nvGraphicFramePr>
        <p:xfrm>
          <a:off x="4697525" y="5786437"/>
          <a:ext cx="3106738" cy="1071563"/>
        </p:xfrm>
        <a:graphic>
          <a:graphicData uri="http://schemas.openxmlformats.org/presentationml/2006/ole">
            <mc:AlternateContent>
              <mc:Choice Requires="v">
                <p:oleObj r:id="rId14" imgH="1071563" imgW="3106738" progId="" spid="_x0000_s4">
                  <p:embed/>
                </p:oleObj>
              </mc:Choice>
              <mc:Fallback>
                <p:oleObj r:id="rId15" imgH="1071563" imgW="3106738" progId="">
                  <p:embed/>
                  <p:pic>
                    <p:nvPicPr>
                      <p:cNvPr id="341" name="Google Shape;341;p12"/>
                      <p:cNvPicPr preferRelativeResize="0"/>
                      <p:nvPr/>
                    </p:nvPicPr>
                    <p:blipFill rotWithShape="1">
                      <a:blip r:embed="rId1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697525" y="5786437"/>
                        <a:ext cx="3106738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" name="Google Shape;342;p12"/>
          <p:cNvGraphicFramePr/>
          <p:nvPr/>
        </p:nvGraphicFramePr>
        <p:xfrm>
          <a:off x="7904934" y="5061816"/>
          <a:ext cx="1865312" cy="1008062"/>
        </p:xfrm>
        <a:graphic>
          <a:graphicData uri="http://schemas.openxmlformats.org/presentationml/2006/ole">
            <mc:AlternateContent>
              <mc:Choice Requires="v">
                <p:oleObj r:id="rId17" imgH="1008062" imgW="1865312" progId="" spid="_x0000_s5">
                  <p:embed/>
                </p:oleObj>
              </mc:Choice>
              <mc:Fallback>
                <p:oleObj r:id="rId18" imgH="1008062" imgW="1865312" progId="">
                  <p:embed/>
                  <p:pic>
                    <p:nvPicPr>
                      <p:cNvPr id="342" name="Google Shape;342;p12"/>
                      <p:cNvPicPr preferRelativeResize="0"/>
                      <p:nvPr/>
                    </p:nvPicPr>
                    <p:blipFill rotWithShape="1">
                      <a:blip r:embed="rId1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904934" y="5061816"/>
                        <a:ext cx="186531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"/>
          <p:cNvSpPr txBox="1"/>
          <p:nvPr>
            <p:ph type="title"/>
          </p:nvPr>
        </p:nvSpPr>
        <p:spPr>
          <a:xfrm>
            <a:off x="429715" y="54310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Determination of Maximum/Minimum of | Z | 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29715" y="934408"/>
            <a:ext cx="11480345" cy="5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differentiation of | Z |  or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differentiation of even | Z |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or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inspection from physical considerations.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| Z |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consists of the sum of two square terms, the minimum value for any of components would be zero.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only the second term is dependant on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minimum value could occur when second term is zero.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	for minimum value of | Z |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                     </a:t>
            </a: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                     or    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9" name="Google Shape;349;p13"/>
          <p:cNvGraphicFramePr/>
          <p:nvPr/>
        </p:nvGraphicFramePr>
        <p:xfrm>
          <a:off x="6096000" y="4327519"/>
          <a:ext cx="2159000" cy="1230313"/>
        </p:xfrm>
        <a:graphic>
          <a:graphicData uri="http://schemas.openxmlformats.org/presentationml/2006/ole">
            <mc:AlternateContent>
              <mc:Choice Requires="v">
                <p:oleObj r:id="rId4" imgH="1230313" imgW="2159000" progId="" spid="_x0000_s1">
                  <p:embed/>
                </p:oleObj>
              </mc:Choice>
              <mc:Fallback>
                <p:oleObj r:id="rId5" imgH="1230313" imgW="2159000" progId="">
                  <p:embed/>
                  <p:pic>
                    <p:nvPicPr>
                      <p:cNvPr id="349" name="Google Shape;349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096000" y="4327519"/>
                        <a:ext cx="21590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" name="Google Shape;350;p13"/>
          <p:cNvGraphicFramePr/>
          <p:nvPr/>
        </p:nvGraphicFramePr>
        <p:xfrm>
          <a:off x="1035050" y="4996930"/>
          <a:ext cx="2033588" cy="1293812"/>
        </p:xfrm>
        <a:graphic>
          <a:graphicData uri="http://schemas.openxmlformats.org/presentationml/2006/ole">
            <mc:AlternateContent>
              <mc:Choice Requires="v">
                <p:oleObj r:id="rId7" imgH="1293812" imgW="2033588" progId="" spid="_x0000_s2">
                  <p:embed/>
                </p:oleObj>
              </mc:Choice>
              <mc:Fallback>
                <p:oleObj r:id="rId8" imgH="1293812" imgW="2033588" progId="">
                  <p:embed/>
                  <p:pic>
                    <p:nvPicPr>
                      <p:cNvPr id="350" name="Google Shape;350;p1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35050" y="4996930"/>
                        <a:ext cx="2033588" cy="129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" name="Google Shape;351;p13"/>
          <p:cNvGraphicFramePr/>
          <p:nvPr/>
        </p:nvGraphicFramePr>
        <p:xfrm>
          <a:off x="3807936" y="4992173"/>
          <a:ext cx="2176463" cy="1273175"/>
        </p:xfrm>
        <a:graphic>
          <a:graphicData uri="http://schemas.openxmlformats.org/presentationml/2006/ole">
            <mc:AlternateContent>
              <mc:Choice Requires="v">
                <p:oleObj r:id="rId10" imgH="1273175" imgW="2176463" progId="" spid="_x0000_s3">
                  <p:embed/>
                </p:oleObj>
              </mc:Choice>
              <mc:Fallback>
                <p:oleObj r:id="rId11" imgH="1273175" imgW="2176463" progId="">
                  <p:embed/>
                  <p:pic>
                    <p:nvPicPr>
                      <p:cNvPr id="351" name="Google Shape;351;p1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07936" y="4992173"/>
                        <a:ext cx="2176463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" name="Google Shape;352;p13"/>
          <p:cNvSpPr/>
          <p:nvPr/>
        </p:nvSpPr>
        <p:spPr>
          <a:xfrm>
            <a:off x="429715" y="6106394"/>
            <a:ext cx="9349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would also correspond to the minimum value of Z.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Resonance Curves</a:t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7598655" y="1575251"/>
            <a:ext cx="8947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I |  </a:t>
            </a:r>
            <a:endParaRPr sz="4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156570" y="1259132"/>
            <a:ext cx="4035430" cy="13395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0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8156570" y="2960440"/>
            <a:ext cx="4035430" cy="16056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61" name="Google Shape;3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595" y="868067"/>
            <a:ext cx="6846060" cy="551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"/>
          <p:cNvSpPr/>
          <p:nvPr/>
        </p:nvSpPr>
        <p:spPr>
          <a:xfrm>
            <a:off x="0" y="2146282"/>
            <a:ext cx="11959389" cy="433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 =                    at resonance,  for a series circuit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[For a parallel circuit, quality would actually increase when value of resistance</a:t>
            </a: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→ ∞</a:t>
            </a: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rather R → 0, and hence inverse ratio would define the quality]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means of defining quality of a resonant circuit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appear to cause confusing results if the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 and parallel circuits are considered.</a:t>
            </a:r>
            <a:endParaRPr/>
          </a:p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429715" y="538291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Quality of a Circuit Component</a:t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96253" y="955240"/>
            <a:ext cx="12192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Originally, the quality of an inductance L or Capacitance C was defined as a comparison of</a:t>
            </a: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GB" sz="36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 r</a:t>
            </a: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1/C</a:t>
            </a:r>
            <a:r>
              <a:rPr lang="en-GB" sz="3600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b="0" i="0" lang="en-GB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</a:t>
            </a:r>
            <a:r>
              <a:rPr b="0" i="0" lang="en-GB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9" name="Google Shape;3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6556" y="2078013"/>
            <a:ext cx="2114550" cy="110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 txBox="1"/>
          <p:nvPr/>
        </p:nvSpPr>
        <p:spPr>
          <a:xfrm>
            <a:off x="2269416" y="5048104"/>
            <a:ext cx="6927850" cy="1425575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17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Quality Factor Q</a:t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214857" y="1117288"/>
            <a:ext cx="1176228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Necessary to have a unique definition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terms of quantities which do not vary with circuit.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resonant circuit is thus defined as the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energy stored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energy storing elements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 or C)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dissipation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resistive elements in the circuit.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consistency with original definitions, 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factor has a multiplying constant 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 addition to ratio of energies.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214857" y="2018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5778" y="5081068"/>
            <a:ext cx="67151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>
            <p:ph type="title"/>
          </p:nvPr>
        </p:nvSpPr>
        <p:spPr>
          <a:xfrm>
            <a:off x="429715" y="842296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Total stored energy in Electrical Circuit</a:t>
            </a:r>
            <a:endParaRPr/>
          </a:p>
        </p:txBody>
      </p:sp>
      <p:sp>
        <p:nvSpPr>
          <p:cNvPr id="384" name="Google Shape;384;p18"/>
          <p:cNvSpPr/>
          <p:nvPr/>
        </p:nvSpPr>
        <p:spPr>
          <a:xfrm>
            <a:off x="429715" y="1337500"/>
            <a:ext cx="1092408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energy stored in electromagnetic field (inductor) occurs when current is a maximum,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energy stored in electrostatic field occurs  (capacitor) when voltage is a maximum.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energy is constant unless dissipated by resistance.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stored at either the peak current (½ L 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or the peak voltage (½ C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considered as these are the extremes.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series circuit, it is easier to consider current through inductance rather than the voltage across the capacitor.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Comparison of Energy based and Impedance based formulae</a:t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429715" y="1117288"/>
            <a:ext cx="10567148" cy="3924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series circuit,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current  i(t) = 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energy stored in inductor =  ½ L 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dissipated per cycle in series resistor =  r 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  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 T = 2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π/ω,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Q  =</a:t>
            </a:r>
            <a:endParaRPr/>
          </a:p>
        </p:txBody>
      </p:sp>
      <p:graphicFrame>
        <p:nvGraphicFramePr>
          <p:cNvPr id="391" name="Google Shape;391;p19"/>
          <p:cNvGraphicFramePr/>
          <p:nvPr/>
        </p:nvGraphicFramePr>
        <p:xfrm>
          <a:off x="1195137" y="3940960"/>
          <a:ext cx="7642225" cy="1525588"/>
        </p:xfrm>
        <a:graphic>
          <a:graphicData uri="http://schemas.openxmlformats.org/presentationml/2006/ole">
            <mc:AlternateContent>
              <mc:Choice Requires="v">
                <p:oleObj r:id="rId4" imgH="1525588" imgW="7642225" progId="" spid="_x0000_s1">
                  <p:embed/>
                </p:oleObj>
              </mc:Choice>
              <mc:Fallback>
                <p:oleObj r:id="rId5" imgH="1525588" imgW="7642225" progId="">
                  <p:embed/>
                  <p:pic>
                    <p:nvPicPr>
                      <p:cNvPr id="391" name="Google Shape;391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95137" y="3940960"/>
                        <a:ext cx="7642225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" name="Google Shape;392;p19"/>
          <p:cNvSpPr/>
          <p:nvPr/>
        </p:nvSpPr>
        <p:spPr>
          <a:xfrm>
            <a:off x="418475" y="5370296"/>
            <a:ext cx="91955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the expected result.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verification can be done for parallel circuit.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 txBox="1"/>
          <p:nvPr>
            <p:ph type="title"/>
          </p:nvPr>
        </p:nvSpPr>
        <p:spPr>
          <a:xfrm>
            <a:off x="429715" y="514228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Relationship  between Q-factor and bandwidth</a:t>
            </a:r>
            <a:endParaRPr/>
          </a:p>
        </p:txBody>
      </p:sp>
      <p:pic>
        <p:nvPicPr>
          <p:cNvPr id="398" name="Google Shape;3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3572" y="1341002"/>
            <a:ext cx="4858428" cy="383911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0"/>
          <p:cNvSpPr/>
          <p:nvPr/>
        </p:nvSpPr>
        <p:spPr>
          <a:xfrm>
            <a:off x="429715" y="900721"/>
            <a:ext cx="925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occurs at 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at resonance frequency w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240632" y="1687233"/>
            <a:ext cx="7092940" cy="4151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406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ourier New"/>
              <a:buChar char="o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∝ I</a:t>
            </a:r>
            <a:r>
              <a:rPr baseline="30000"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(or V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half-power occurs when I (or V) decreases by √2. </a:t>
            </a:r>
            <a:endParaRPr b="1" i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ourier New"/>
              <a:buChar char="o"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half power points.</a:t>
            </a:r>
            <a:endParaRPr/>
          </a:p>
          <a:p>
            <a:pPr indent="-457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ourier New"/>
              <a:buChar char="o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= frequency range between half power points = 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aseline="-25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 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-25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ourier New"/>
              <a:buChar char="o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Fractional deviation of frequency from resonance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1" name="Google Shape;401;p20"/>
          <p:cNvGraphicFramePr/>
          <p:nvPr/>
        </p:nvGraphicFramePr>
        <p:xfrm>
          <a:off x="3243383" y="5129724"/>
          <a:ext cx="1087438" cy="960437"/>
        </p:xfrm>
        <a:graphic>
          <a:graphicData uri="http://schemas.openxmlformats.org/presentationml/2006/ole">
            <mc:AlternateContent>
              <mc:Choice Requires="v">
                <p:oleObj r:id="rId5" imgH="960437" imgW="1087438" progId="" spid="_x0000_s1">
                  <p:embed/>
                </p:oleObj>
              </mc:Choice>
              <mc:Fallback>
                <p:oleObj r:id="rId6" imgH="960437" imgW="1087438" progId="">
                  <p:embed/>
                  <p:pic>
                    <p:nvPicPr>
                      <p:cNvPr id="401" name="Google Shape;401;p20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43383" y="5129724"/>
                        <a:ext cx="1087438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" name="Google Shape;402;p20"/>
          <p:cNvSpPr/>
          <p:nvPr/>
        </p:nvSpPr>
        <p:spPr>
          <a:xfrm>
            <a:off x="281482" y="5951881"/>
            <a:ext cx="5923801" cy="8163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"/>
          <p:cNvSpPr txBox="1"/>
          <p:nvPr>
            <p:ph type="title"/>
          </p:nvPr>
        </p:nvSpPr>
        <p:spPr>
          <a:xfrm>
            <a:off x="98057" y="612177"/>
            <a:ext cx="4985509" cy="716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Proof for series RLC circuit</a:t>
            </a:r>
            <a:endParaRPr/>
          </a:p>
        </p:txBody>
      </p:sp>
      <p:graphicFrame>
        <p:nvGraphicFramePr>
          <p:cNvPr id="408" name="Google Shape;408;p21"/>
          <p:cNvGraphicFramePr/>
          <p:nvPr/>
        </p:nvGraphicFramePr>
        <p:xfrm>
          <a:off x="838200" y="1574485"/>
          <a:ext cx="6267450" cy="1454150"/>
        </p:xfrm>
        <a:graphic>
          <a:graphicData uri="http://schemas.openxmlformats.org/presentationml/2006/ole">
            <mc:AlternateContent>
              <mc:Choice Requires="v">
                <p:oleObj r:id="rId4" imgH="1454150" imgW="6267450" progId="" spid="_x0000_s1">
                  <p:embed/>
                </p:oleObj>
              </mc:Choice>
              <mc:Fallback>
                <p:oleObj r:id="rId5" imgH="1454150" imgW="6267450" progId="">
                  <p:embed/>
                  <p:pic>
                    <p:nvPicPr>
                      <p:cNvPr id="408" name="Google Shape;408;p2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38200" y="1574485"/>
                        <a:ext cx="6267450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" name="Google Shape;409;p21"/>
          <p:cNvSpPr/>
          <p:nvPr/>
        </p:nvSpPr>
        <p:spPr>
          <a:xfrm>
            <a:off x="293357" y="3098677"/>
            <a:ext cx="1268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that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1251284" y="211423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6189" y="1530880"/>
            <a:ext cx="2898045" cy="10841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" name="Google Shape;412;p21"/>
          <p:cNvGraphicFramePr/>
          <p:nvPr/>
        </p:nvGraphicFramePr>
        <p:xfrm>
          <a:off x="1662112" y="3023817"/>
          <a:ext cx="4619625" cy="1581150"/>
        </p:xfrm>
        <a:graphic>
          <a:graphicData uri="http://schemas.openxmlformats.org/presentationml/2006/ole">
            <mc:AlternateContent>
              <mc:Choice Requires="v">
                <p:oleObj r:id="rId8" imgH="1581150" imgW="4619625" progId="" spid="_x0000_s2">
                  <p:embed/>
                </p:oleObj>
              </mc:Choice>
              <mc:Fallback>
                <p:oleObj r:id="rId9" imgH="1581150" imgW="4619625" progId="">
                  <p:embed/>
                  <p:pic>
                    <p:nvPicPr>
                      <p:cNvPr id="412" name="Google Shape;412;p21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62112" y="3023817"/>
                        <a:ext cx="4619625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" name="Google Shape;413;p21"/>
          <p:cNvGraphicFramePr/>
          <p:nvPr/>
        </p:nvGraphicFramePr>
        <p:xfrm>
          <a:off x="6281737" y="3040312"/>
          <a:ext cx="3673475" cy="1708150"/>
        </p:xfrm>
        <a:graphic>
          <a:graphicData uri="http://schemas.openxmlformats.org/presentationml/2006/ole">
            <mc:AlternateContent>
              <mc:Choice Requires="v">
                <p:oleObj r:id="rId11" imgH="1708150" imgW="3673475" progId="" spid="_x0000_s3">
                  <p:embed/>
                </p:oleObj>
              </mc:Choice>
              <mc:Fallback>
                <p:oleObj r:id="rId12" imgH="1708150" imgW="3673475" progId="">
                  <p:embed/>
                  <p:pic>
                    <p:nvPicPr>
                      <p:cNvPr id="413" name="Google Shape;413;p21"/>
                      <p:cNvPicPr preferRelativeResize="0"/>
                      <p:nvPr/>
                    </p:nvPicPr>
                    <p:blipFill rotWithShape="1">
                      <a:blip r:embed="rId1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281737" y="3040312"/>
                        <a:ext cx="3673475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" name="Google Shape;414;p21"/>
          <p:cNvSpPr/>
          <p:nvPr/>
        </p:nvSpPr>
        <p:spPr>
          <a:xfrm>
            <a:off x="7514135" y="1743822"/>
            <a:ext cx="7777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5" name="Google Shape;415;p21"/>
          <p:cNvGraphicFramePr/>
          <p:nvPr/>
        </p:nvGraphicFramePr>
        <p:xfrm>
          <a:off x="970082" y="4625711"/>
          <a:ext cx="5148262" cy="1955800"/>
        </p:xfrm>
        <a:graphic>
          <a:graphicData uri="http://schemas.openxmlformats.org/presentationml/2006/ole">
            <mc:AlternateContent>
              <mc:Choice Requires="v">
                <p:oleObj r:id="rId14" imgH="1955800" imgW="5148262" progId="" spid="_x0000_s4">
                  <p:embed/>
                </p:oleObj>
              </mc:Choice>
              <mc:Fallback>
                <p:oleObj r:id="rId15" imgH="1955800" imgW="5148262" progId="">
                  <p:embed/>
                  <p:pic>
                    <p:nvPicPr>
                      <p:cNvPr id="415" name="Google Shape;415;p21"/>
                      <p:cNvPicPr preferRelativeResize="0"/>
                      <p:nvPr/>
                    </p:nvPicPr>
                    <p:blipFill rotWithShape="1">
                      <a:blip r:embed="rId1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70082" y="4625711"/>
                        <a:ext cx="5148262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6" name="Google Shape;416;p21"/>
          <p:cNvGrpSpPr/>
          <p:nvPr/>
        </p:nvGrpSpPr>
        <p:grpSpPr>
          <a:xfrm>
            <a:off x="5987183" y="323024"/>
            <a:ext cx="4457317" cy="909558"/>
            <a:chOff x="5738" y="6056"/>
            <a:chExt cx="4649" cy="949"/>
          </a:xfrm>
        </p:grpSpPr>
        <p:grpSp>
          <p:nvGrpSpPr>
            <p:cNvPr id="417" name="Google Shape;417;p21"/>
            <p:cNvGrpSpPr/>
            <p:nvPr/>
          </p:nvGrpSpPr>
          <p:grpSpPr>
            <a:xfrm>
              <a:off x="5738" y="6644"/>
              <a:ext cx="1440" cy="361"/>
              <a:chOff x="1658" y="2144"/>
              <a:chExt cx="1440" cy="361"/>
            </a:xfrm>
          </p:grpSpPr>
          <p:cxnSp>
            <p:nvCxnSpPr>
              <p:cNvPr id="418" name="Google Shape;418;p21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19" name="Google Shape;419;p21"/>
              <p:cNvGrpSpPr/>
              <p:nvPr/>
            </p:nvGrpSpPr>
            <p:grpSpPr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420" name="Google Shape;420;p21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" name="Google Shape;421;p21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" name="Google Shape;422;p21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" name="Google Shape;423;p21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4" name="Google Shape;424;p21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5" name="Google Shape;425;p21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426" name="Google Shape;426;p21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27" name="Google Shape;427;p21"/>
            <p:cNvGrpSpPr/>
            <p:nvPr/>
          </p:nvGrpSpPr>
          <p:grpSpPr>
            <a:xfrm flipH="1" rot="10800000">
              <a:off x="7148" y="6634"/>
              <a:ext cx="1800" cy="355"/>
              <a:chOff x="1778" y="4127"/>
              <a:chExt cx="1800" cy="355"/>
            </a:xfrm>
          </p:grpSpPr>
          <p:grpSp>
            <p:nvGrpSpPr>
              <p:cNvPr id="428" name="Google Shape;428;p21"/>
              <p:cNvGrpSpPr/>
              <p:nvPr/>
            </p:nvGrpSpPr>
            <p:grpSpPr>
              <a:xfrm>
                <a:off x="2138" y="4127"/>
                <a:ext cx="1080" cy="355"/>
                <a:chOff x="8378" y="8272"/>
                <a:chExt cx="1080" cy="355"/>
              </a:xfrm>
            </p:grpSpPr>
            <p:sp>
              <p:nvSpPr>
                <p:cNvPr id="429" name="Google Shape;429;p21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21"/>
                <p:cNvGrpSpPr/>
                <p:nvPr/>
              </p:nvGrpSpPr>
              <p:grpSpPr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431" name="Google Shape;431;p21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21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21"/>
                <p:cNvGrpSpPr/>
                <p:nvPr/>
              </p:nvGrpSpPr>
              <p:grpSpPr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434" name="Google Shape;434;p21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21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6" name="Google Shape;436;p21"/>
                <p:cNvGrpSpPr/>
                <p:nvPr/>
              </p:nvGrpSpPr>
              <p:grpSpPr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437" name="Google Shape;437;p21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8" name="Google Shape;438;p21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39" name="Google Shape;439;p21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21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441" name="Google Shape;441;p21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21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43" name="Google Shape;443;p21"/>
            <p:cNvSpPr txBox="1"/>
            <p:nvPr/>
          </p:nvSpPr>
          <p:spPr>
            <a:xfrm>
              <a:off x="6342" y="6132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4" name="Google Shape;444;p21"/>
            <p:cNvSpPr txBox="1"/>
            <p:nvPr/>
          </p:nvSpPr>
          <p:spPr>
            <a:xfrm>
              <a:off x="7765" y="6056"/>
              <a:ext cx="876" cy="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r>
                <a:rPr lang="en-GB" sz="28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ω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45" name="Google Shape;445;p21"/>
            <p:cNvGrpSpPr/>
            <p:nvPr/>
          </p:nvGrpSpPr>
          <p:grpSpPr>
            <a:xfrm flipH="1">
              <a:off x="8925" y="6625"/>
              <a:ext cx="1462" cy="374"/>
              <a:chOff x="6244" y="2210"/>
              <a:chExt cx="1294" cy="374"/>
            </a:xfrm>
          </p:grpSpPr>
          <p:cxnSp>
            <p:nvCxnSpPr>
              <p:cNvPr id="446" name="Google Shape;446;p21"/>
              <p:cNvCxnSpPr/>
              <p:nvPr/>
            </p:nvCxnSpPr>
            <p:spPr>
              <a:xfrm>
                <a:off x="6244" y="2404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21"/>
              <p:cNvCxnSpPr/>
              <p:nvPr/>
            </p:nvCxnSpPr>
            <p:spPr>
              <a:xfrm>
                <a:off x="6938" y="2404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21"/>
              <p:cNvCxnSpPr/>
              <p:nvPr/>
            </p:nvCxnSpPr>
            <p:spPr>
              <a:xfrm>
                <a:off x="6844" y="2210"/>
                <a:ext cx="0" cy="3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21"/>
              <p:cNvCxnSpPr/>
              <p:nvPr/>
            </p:nvCxnSpPr>
            <p:spPr>
              <a:xfrm>
                <a:off x="6938" y="2224"/>
                <a:ext cx="0" cy="3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50" name="Google Shape;450;p21"/>
            <p:cNvSpPr txBox="1"/>
            <p:nvPr/>
          </p:nvSpPr>
          <p:spPr>
            <a:xfrm>
              <a:off x="8899" y="6714"/>
              <a:ext cx="651" cy="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451" name="Google Shape;451;p21"/>
          <p:cNvGraphicFramePr/>
          <p:nvPr/>
        </p:nvGraphicFramePr>
        <p:xfrm>
          <a:off x="9768779" y="142086"/>
          <a:ext cx="798192" cy="881337"/>
        </p:xfrm>
        <a:graphic>
          <a:graphicData uri="http://schemas.openxmlformats.org/presentationml/2006/ole">
            <mc:AlternateContent>
              <mc:Choice Requires="v">
                <p:oleObj r:id="rId17" imgH="881337" imgW="798192" progId="" spid="_x0000_s5">
                  <p:embed/>
                </p:oleObj>
              </mc:Choice>
              <mc:Fallback>
                <p:oleObj r:id="rId18" imgH="881337" imgW="798192" progId="">
                  <p:embed/>
                  <p:pic>
                    <p:nvPicPr>
                      <p:cNvPr id="451" name="Google Shape;451;p21"/>
                      <p:cNvPicPr preferRelativeResize="0"/>
                      <p:nvPr/>
                    </p:nvPicPr>
                    <p:blipFill rotWithShape="1">
                      <a:blip r:embed="rId1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768779" y="142086"/>
                        <a:ext cx="798192" cy="88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2"/>
          <p:cNvSpPr/>
          <p:nvPr/>
        </p:nvSpPr>
        <p:spPr>
          <a:xfrm>
            <a:off x="429715" y="493128"/>
            <a:ext cx="8850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resonance, if the Q factor is high (as usually is),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429715" y="1139114"/>
            <a:ext cx="67201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≅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and                      ,                 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GB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endParaRPr/>
          </a:p>
        </p:txBody>
      </p:sp>
      <p:graphicFrame>
        <p:nvGraphicFramePr>
          <p:cNvPr id="458" name="Google Shape;458;p22"/>
          <p:cNvGraphicFramePr/>
          <p:nvPr/>
        </p:nvGraphicFramePr>
        <p:xfrm>
          <a:off x="2609229" y="855558"/>
          <a:ext cx="1970087" cy="1104900"/>
        </p:xfrm>
        <a:graphic>
          <a:graphicData uri="http://schemas.openxmlformats.org/presentationml/2006/ole">
            <mc:AlternateContent>
              <mc:Choice Requires="v">
                <p:oleObj r:id="rId4" imgH="1104900" imgW="1970087" progId="" spid="_x0000_s1">
                  <p:embed/>
                </p:oleObj>
              </mc:Choice>
              <mc:Fallback>
                <p:oleObj r:id="rId5" imgH="1104900" imgW="1970087" progId="">
                  <p:embed/>
                  <p:pic>
                    <p:nvPicPr>
                      <p:cNvPr id="458" name="Google Shape;458;p2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609229" y="855558"/>
                        <a:ext cx="197008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" name="Google Shape;459;p22"/>
          <p:cNvGraphicFramePr/>
          <p:nvPr/>
        </p:nvGraphicFramePr>
        <p:xfrm>
          <a:off x="5006609" y="890744"/>
          <a:ext cx="1371600" cy="1230313"/>
        </p:xfrm>
        <a:graphic>
          <a:graphicData uri="http://schemas.openxmlformats.org/presentationml/2006/ole">
            <mc:AlternateContent>
              <mc:Choice Requires="v">
                <p:oleObj r:id="rId7" imgH="1230313" imgW="1371600" progId="" spid="_x0000_s2">
                  <p:embed/>
                </p:oleObj>
              </mc:Choice>
              <mc:Fallback>
                <p:oleObj r:id="rId8" imgH="1230313" imgW="1371600" progId="">
                  <p:embed/>
                  <p:pic>
                    <p:nvPicPr>
                      <p:cNvPr id="459" name="Google Shape;459;p2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006609" y="890744"/>
                        <a:ext cx="13716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" name="Google Shape;460;p22"/>
          <p:cNvGraphicFramePr/>
          <p:nvPr/>
        </p:nvGraphicFramePr>
        <p:xfrm>
          <a:off x="1665460" y="2064272"/>
          <a:ext cx="5827712" cy="1828800"/>
        </p:xfrm>
        <a:graphic>
          <a:graphicData uri="http://schemas.openxmlformats.org/presentationml/2006/ole">
            <mc:AlternateContent>
              <mc:Choice Requires="v">
                <p:oleObj r:id="rId10" imgH="1828800" imgW="5827712" progId="" spid="_x0000_s3">
                  <p:embed/>
                </p:oleObj>
              </mc:Choice>
              <mc:Fallback>
                <p:oleObj r:id="rId11" imgH="1828800" imgW="5827712" progId="">
                  <p:embed/>
                  <p:pic>
                    <p:nvPicPr>
                      <p:cNvPr id="460" name="Google Shape;460;p22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65460" y="2064272"/>
                        <a:ext cx="5827712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" name="Google Shape;461;p22"/>
          <p:cNvSpPr/>
          <p:nvPr/>
        </p:nvSpPr>
        <p:spPr>
          <a:xfrm>
            <a:off x="429714" y="3996886"/>
            <a:ext cx="85939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I | is a  maximum when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0,   giving	|I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2" name="Google Shape;462;p22"/>
          <p:cNvGraphicFramePr/>
          <p:nvPr/>
        </p:nvGraphicFramePr>
        <p:xfrm>
          <a:off x="7993732" y="3776510"/>
          <a:ext cx="457200" cy="1025525"/>
        </p:xfrm>
        <a:graphic>
          <a:graphicData uri="http://schemas.openxmlformats.org/presentationml/2006/ole">
            <mc:AlternateContent>
              <mc:Choice Requires="v">
                <p:oleObj r:id="rId13" imgH="1025525" imgW="457200" progId="" spid="_x0000_s4">
                  <p:embed/>
                </p:oleObj>
              </mc:Choice>
              <mc:Fallback>
                <p:oleObj r:id="rId14" imgH="1025525" imgW="457200" progId="">
                  <p:embed/>
                  <p:pic>
                    <p:nvPicPr>
                      <p:cNvPr id="462" name="Google Shape;462;p22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993732" y="3776510"/>
                        <a:ext cx="4572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" name="Google Shape;463;p22"/>
          <p:cNvSpPr/>
          <p:nvPr/>
        </p:nvSpPr>
        <p:spPr>
          <a:xfrm>
            <a:off x="415997" y="4802035"/>
            <a:ext cx="41633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half power points,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22"/>
          <p:cNvGraphicFramePr/>
          <p:nvPr/>
        </p:nvGraphicFramePr>
        <p:xfrm>
          <a:off x="4518695" y="4819664"/>
          <a:ext cx="3475037" cy="661987"/>
        </p:xfrm>
        <a:graphic>
          <a:graphicData uri="http://schemas.openxmlformats.org/presentationml/2006/ole">
            <mc:AlternateContent>
              <mc:Choice Requires="v">
                <p:oleObj r:id="rId16" imgH="661987" imgW="3475037" progId="" spid="_x0000_s5">
                  <p:embed/>
                </p:oleObj>
              </mc:Choice>
              <mc:Fallback>
                <p:oleObj r:id="rId17" imgH="661987" imgW="3475037" progId="">
                  <p:embed/>
                  <p:pic>
                    <p:nvPicPr>
                      <p:cNvPr id="464" name="Google Shape;464;p22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18695" y="4819664"/>
                        <a:ext cx="3475037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" name="Google Shape;465;p22"/>
          <p:cNvSpPr/>
          <p:nvPr/>
        </p:nvSpPr>
        <p:spPr>
          <a:xfrm>
            <a:off x="429714" y="5714992"/>
            <a:ext cx="46842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 	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       =             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6" name="Google Shape;466;p22"/>
          <p:cNvGraphicFramePr/>
          <p:nvPr/>
        </p:nvGraphicFramePr>
        <p:xfrm>
          <a:off x="2223466" y="5481651"/>
          <a:ext cx="771525" cy="1073150"/>
        </p:xfrm>
        <a:graphic>
          <a:graphicData uri="http://schemas.openxmlformats.org/presentationml/2006/ole">
            <mc:AlternateContent>
              <mc:Choice Requires="v">
                <p:oleObj r:id="rId19" imgH="1073150" imgW="771525" progId="" spid="_x0000_s6">
                  <p:embed/>
                </p:oleObj>
              </mc:Choice>
              <mc:Fallback>
                <p:oleObj r:id="rId20" imgH="1073150" imgW="771525" progId="">
                  <p:embed/>
                  <p:pic>
                    <p:nvPicPr>
                      <p:cNvPr id="466" name="Google Shape;466;p22"/>
                      <p:cNvPicPr preferRelativeResize="0"/>
                      <p:nvPr/>
                    </p:nvPicPr>
                    <p:blipFill rotWithShape="1">
                      <a:blip r:embed="rId2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23466" y="5481651"/>
                        <a:ext cx="77152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" name="Google Shape;467;p22"/>
          <p:cNvGraphicFramePr/>
          <p:nvPr/>
        </p:nvGraphicFramePr>
        <p:xfrm>
          <a:off x="3383632" y="5521338"/>
          <a:ext cx="1135063" cy="993775"/>
        </p:xfrm>
        <a:graphic>
          <a:graphicData uri="http://schemas.openxmlformats.org/presentationml/2006/ole">
            <mc:AlternateContent>
              <mc:Choice Requires="v">
                <p:oleObj r:id="rId22" imgH="993775" imgW="1135063" progId="" spid="_x0000_s7">
                  <p:embed/>
                </p:oleObj>
              </mc:Choice>
              <mc:Fallback>
                <p:oleObj r:id="rId23" imgH="993775" imgW="1135063" progId="">
                  <p:embed/>
                  <p:pic>
                    <p:nvPicPr>
                      <p:cNvPr id="467" name="Google Shape;467;p22"/>
                      <p:cNvPicPr preferRelativeResize="0"/>
                      <p:nvPr/>
                    </p:nvPicPr>
                    <p:blipFill rotWithShape="1">
                      <a:blip r:embed="rId2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383632" y="5521338"/>
                        <a:ext cx="113506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8" name="Google Shape;468;p22"/>
          <p:cNvGraphicFramePr/>
          <p:nvPr/>
        </p:nvGraphicFramePr>
        <p:xfrm>
          <a:off x="5114010" y="5518150"/>
          <a:ext cx="2144713" cy="1339850"/>
        </p:xfrm>
        <a:graphic>
          <a:graphicData uri="http://schemas.openxmlformats.org/presentationml/2006/ole">
            <mc:AlternateContent>
              <mc:Choice Requires="v">
                <p:oleObj r:id="rId25" imgH="1339850" imgW="2144713" progId="" spid="_x0000_s8">
                  <p:embed/>
                </p:oleObj>
              </mc:Choice>
              <mc:Fallback>
                <p:oleObj r:id="rId26" imgH="1339850" imgW="2144713" progId="">
                  <p:embed/>
                  <p:pic>
                    <p:nvPicPr>
                      <p:cNvPr id="468" name="Google Shape;468;p22"/>
                      <p:cNvPicPr preferRelativeResize="0"/>
                      <p:nvPr/>
                    </p:nvPicPr>
                    <p:blipFill rotWithShape="1">
                      <a:blip r:embed="rId2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14010" y="5518150"/>
                        <a:ext cx="2144713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"/>
          <p:cNvSpPr/>
          <p:nvPr/>
        </p:nvSpPr>
        <p:spPr>
          <a:xfrm>
            <a:off x="569495" y="651393"/>
            <a:ext cx="80932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	1 + 4 Q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2,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giving  4 Q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569495" y="1392579"/>
            <a:ext cx="6227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∴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+        ,		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5" name="Google Shape;475;p23"/>
          <p:cNvGraphicFramePr/>
          <p:nvPr/>
        </p:nvGraphicFramePr>
        <p:xfrm>
          <a:off x="2866691" y="1204747"/>
          <a:ext cx="631825" cy="960437"/>
        </p:xfrm>
        <a:graphic>
          <a:graphicData uri="http://schemas.openxmlformats.org/presentationml/2006/ole">
            <mc:AlternateContent>
              <mc:Choice Requires="v">
                <p:oleObj r:id="rId4" imgH="960437" imgW="631825" progId="" spid="_x0000_s1">
                  <p:embed/>
                </p:oleObj>
              </mc:Choice>
              <mc:Fallback>
                <p:oleObj r:id="rId5" imgH="960437" imgW="631825" progId="">
                  <p:embed/>
                  <p:pic>
                    <p:nvPicPr>
                      <p:cNvPr id="475" name="Google Shape;475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66691" y="1204747"/>
                        <a:ext cx="63182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" name="Google Shape;476;p23"/>
          <p:cNvGraphicFramePr/>
          <p:nvPr/>
        </p:nvGraphicFramePr>
        <p:xfrm>
          <a:off x="6693209" y="1236168"/>
          <a:ext cx="631825" cy="960437"/>
        </p:xfrm>
        <a:graphic>
          <a:graphicData uri="http://schemas.openxmlformats.org/presentationml/2006/ole">
            <mc:AlternateContent>
              <mc:Choice Requires="v">
                <p:oleObj r:id="rId7" imgH="960437" imgW="631825" progId="" spid="_x0000_s2">
                  <p:embed/>
                </p:oleObj>
              </mc:Choice>
              <mc:Fallback>
                <p:oleObj r:id="rId8" imgH="960437" imgW="631825" progId="">
                  <p:embed/>
                  <p:pic>
                    <p:nvPicPr>
                      <p:cNvPr id="476" name="Google Shape;476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693209" y="1236168"/>
                        <a:ext cx="63182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" name="Google Shape;477;p23"/>
          <p:cNvSpPr/>
          <p:nvPr/>
        </p:nvSpPr>
        <p:spPr>
          <a:xfrm>
            <a:off x="569495" y="2353016"/>
            <a:ext cx="96471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∴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Bandwidth = (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(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ο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) + ( 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ο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− 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3474136" y="3173745"/>
            <a:ext cx="383791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ο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−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½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-25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ο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9" name="Google Shape;479;p23"/>
          <p:cNvGraphicFramePr/>
          <p:nvPr/>
        </p:nvGraphicFramePr>
        <p:xfrm>
          <a:off x="7017852" y="2914476"/>
          <a:ext cx="614363" cy="1103312"/>
        </p:xfrm>
        <a:graphic>
          <a:graphicData uri="http://schemas.openxmlformats.org/presentationml/2006/ole">
            <mc:AlternateContent>
              <mc:Choice Requires="v">
                <p:oleObj r:id="rId9" imgH="1103312" imgW="614363" progId="" spid="_x0000_s3">
                  <p:embed/>
                </p:oleObj>
              </mc:Choice>
              <mc:Fallback>
                <p:oleObj r:id="rId10" imgH="1103312" imgW="614363" progId="">
                  <p:embed/>
                  <p:pic>
                    <p:nvPicPr>
                      <p:cNvPr id="479" name="Google Shape;479;p23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017852" y="2914476"/>
                        <a:ext cx="614363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" name="Google Shape;480;p23"/>
          <p:cNvSpPr txBox="1"/>
          <p:nvPr/>
        </p:nvSpPr>
        <p:spPr>
          <a:xfrm>
            <a:off x="1535148" y="4093020"/>
            <a:ext cx="7715885" cy="1349375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1535148" y="409460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35148" y="4094609"/>
            <a:ext cx="750570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3"/>
          <p:cNvSpPr/>
          <p:nvPr/>
        </p:nvSpPr>
        <p:spPr>
          <a:xfrm>
            <a:off x="492411" y="5577678"/>
            <a:ext cx="927233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[Same definition can be shown to be true for parallel resonance as well]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 txBox="1"/>
          <p:nvPr>
            <p:ph type="title"/>
          </p:nvPr>
        </p:nvSpPr>
        <p:spPr>
          <a:xfrm>
            <a:off x="244243" y="610554"/>
            <a:ext cx="11533922" cy="44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195008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Parallel Resonance</a:t>
            </a:r>
            <a:endParaRPr/>
          </a:p>
        </p:txBody>
      </p:sp>
      <p:grpSp>
        <p:nvGrpSpPr>
          <p:cNvPr id="489" name="Google Shape;489;p24"/>
          <p:cNvGrpSpPr/>
          <p:nvPr/>
        </p:nvGrpSpPr>
        <p:grpSpPr>
          <a:xfrm>
            <a:off x="9378580" y="695267"/>
            <a:ext cx="2399587" cy="2968274"/>
            <a:chOff x="4902833" y="1585600"/>
            <a:chExt cx="2399587" cy="2968274"/>
          </a:xfrm>
        </p:grpSpPr>
        <p:grpSp>
          <p:nvGrpSpPr>
            <p:cNvPr id="490" name="Google Shape;490;p24"/>
            <p:cNvGrpSpPr/>
            <p:nvPr/>
          </p:nvGrpSpPr>
          <p:grpSpPr>
            <a:xfrm>
              <a:off x="4902833" y="1585600"/>
              <a:ext cx="2399587" cy="2968274"/>
              <a:chOff x="7658" y="13298"/>
              <a:chExt cx="1810" cy="2239"/>
            </a:xfrm>
          </p:grpSpPr>
          <p:grpSp>
            <p:nvGrpSpPr>
              <p:cNvPr id="491" name="Google Shape;491;p24"/>
              <p:cNvGrpSpPr/>
              <p:nvPr/>
            </p:nvGrpSpPr>
            <p:grpSpPr>
              <a:xfrm>
                <a:off x="7658" y="13664"/>
                <a:ext cx="1800" cy="361"/>
                <a:chOff x="1658" y="2144"/>
                <a:chExt cx="1440" cy="361"/>
              </a:xfrm>
            </p:grpSpPr>
            <p:cxnSp>
              <p:nvCxnSpPr>
                <p:cNvPr id="492" name="Google Shape;492;p24"/>
                <p:cNvCxnSpPr/>
                <p:nvPr/>
              </p:nvCxnSpPr>
              <p:spPr>
                <a:xfrm>
                  <a:off x="165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493" name="Google Shape;493;p24"/>
                <p:cNvGrpSpPr/>
                <p:nvPr/>
              </p:nvGrpSpPr>
              <p:grpSpPr>
                <a:xfrm>
                  <a:off x="2018" y="2144"/>
                  <a:ext cx="720" cy="361"/>
                  <a:chOff x="2018" y="2138"/>
                  <a:chExt cx="1200" cy="357"/>
                </a:xfrm>
              </p:grpSpPr>
              <p:cxnSp>
                <p:nvCxnSpPr>
                  <p:cNvPr id="494" name="Google Shape;494;p24"/>
                  <p:cNvCxnSpPr/>
                  <p:nvPr/>
                </p:nvCxnSpPr>
                <p:spPr>
                  <a:xfrm flipH="1" rot="10800000">
                    <a:off x="201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5" name="Google Shape;495;p24"/>
                  <p:cNvCxnSpPr/>
                  <p:nvPr/>
                </p:nvCxnSpPr>
                <p:spPr>
                  <a:xfrm rot="10800000">
                    <a:off x="309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6" name="Google Shape;496;p24"/>
                  <p:cNvCxnSpPr/>
                  <p:nvPr/>
                </p:nvCxnSpPr>
                <p:spPr>
                  <a:xfrm rot="10800000">
                    <a:off x="212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7" name="Google Shape;497;p24"/>
                  <p:cNvCxnSpPr/>
                  <p:nvPr/>
                </p:nvCxnSpPr>
                <p:spPr>
                  <a:xfrm flipH="1" rot="10800000">
                    <a:off x="238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8" name="Google Shape;498;p24"/>
                  <p:cNvCxnSpPr/>
                  <p:nvPr/>
                </p:nvCxnSpPr>
                <p:spPr>
                  <a:xfrm rot="10800000">
                    <a:off x="260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9" name="Google Shape;499;p24"/>
                  <p:cNvCxnSpPr/>
                  <p:nvPr/>
                </p:nvCxnSpPr>
                <p:spPr>
                  <a:xfrm flipH="1" rot="10800000">
                    <a:off x="286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500" name="Google Shape;500;p24"/>
                <p:cNvCxnSpPr/>
                <p:nvPr/>
              </p:nvCxnSpPr>
              <p:spPr>
                <a:xfrm>
                  <a:off x="273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01" name="Google Shape;501;p24"/>
              <p:cNvGrpSpPr/>
              <p:nvPr/>
            </p:nvGrpSpPr>
            <p:grpSpPr>
              <a:xfrm flipH="1" rot="10800000">
                <a:off x="7658" y="14374"/>
                <a:ext cx="1800" cy="355"/>
                <a:chOff x="1778" y="4127"/>
                <a:chExt cx="1800" cy="355"/>
              </a:xfrm>
            </p:grpSpPr>
            <p:grpSp>
              <p:nvGrpSpPr>
                <p:cNvPr id="502" name="Google Shape;502;p24"/>
                <p:cNvGrpSpPr/>
                <p:nvPr/>
              </p:nvGrpSpPr>
              <p:grpSpPr>
                <a:xfrm>
                  <a:off x="2138" y="4127"/>
                  <a:ext cx="1080" cy="355"/>
                  <a:chOff x="8378" y="8272"/>
                  <a:chExt cx="1080" cy="355"/>
                </a:xfrm>
              </p:grpSpPr>
              <p:sp>
                <p:nvSpPr>
                  <p:cNvPr id="503" name="Google Shape;503;p24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04" name="Google Shape;504;p24"/>
                  <p:cNvGrpSpPr/>
                  <p:nvPr/>
                </p:nvGrpSpPr>
                <p:grpSpPr>
                  <a:xfrm>
                    <a:off x="8556" y="8282"/>
                    <a:ext cx="328" cy="345"/>
                    <a:chOff x="2020" y="8243"/>
                    <a:chExt cx="1768" cy="960"/>
                  </a:xfrm>
                </p:grpSpPr>
                <p:sp>
                  <p:nvSpPr>
                    <p:cNvPr id="505" name="Google Shape;505;p2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6" name="Google Shape;506;p2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7" name="Google Shape;507;p24"/>
                  <p:cNvGrpSpPr/>
                  <p:nvPr/>
                </p:nvGrpSpPr>
                <p:grpSpPr>
                  <a:xfrm>
                    <a:off x="8745" y="8272"/>
                    <a:ext cx="328" cy="345"/>
                    <a:chOff x="2020" y="8243"/>
                    <a:chExt cx="1768" cy="960"/>
                  </a:xfrm>
                </p:grpSpPr>
                <p:sp>
                  <p:nvSpPr>
                    <p:cNvPr id="508" name="Google Shape;508;p2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9" name="Google Shape;509;p2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10" name="Google Shape;510;p24"/>
                  <p:cNvGrpSpPr/>
                  <p:nvPr/>
                </p:nvGrpSpPr>
                <p:grpSpPr>
                  <a:xfrm>
                    <a:off x="8931" y="8278"/>
                    <a:ext cx="328" cy="345"/>
                    <a:chOff x="2020" y="8243"/>
                    <a:chExt cx="1768" cy="960"/>
                  </a:xfrm>
                </p:grpSpPr>
                <p:sp>
                  <p:nvSpPr>
                    <p:cNvPr id="511" name="Google Shape;511;p2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2" name="Google Shape;512;p2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3" name="Google Shape;513;p24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4" name="Google Shape;514;p24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00206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515" name="Google Shape;515;p24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" name="Google Shape;516;p24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17" name="Google Shape;517;p24"/>
              <p:cNvSpPr txBox="1"/>
              <p:nvPr/>
            </p:nvSpPr>
            <p:spPr>
              <a:xfrm>
                <a:off x="8498" y="1329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8" name="Google Shape;518;p24"/>
              <p:cNvSpPr txBox="1"/>
              <p:nvPr/>
            </p:nvSpPr>
            <p:spPr>
              <a:xfrm>
                <a:off x="8906" y="13995"/>
                <a:ext cx="562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j</a:t>
                </a:r>
                <a:r>
                  <a:rPr lang="en-GB" sz="2800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ω</a:t>
                </a: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519" name="Google Shape;519;p24"/>
              <p:cNvGrpSpPr/>
              <p:nvPr/>
            </p:nvGrpSpPr>
            <p:grpSpPr>
              <a:xfrm flipH="1">
                <a:off x="7658" y="15177"/>
                <a:ext cx="1800" cy="360"/>
                <a:chOff x="6218" y="2784"/>
                <a:chExt cx="1320" cy="360"/>
              </a:xfrm>
            </p:grpSpPr>
            <p:cxnSp>
              <p:nvCxnSpPr>
                <p:cNvPr id="520" name="Google Shape;520;p24"/>
                <p:cNvCxnSpPr/>
                <p:nvPr/>
              </p:nvCxnSpPr>
              <p:spPr>
                <a:xfrm>
                  <a:off x="6218" y="2964"/>
                  <a:ext cx="6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1" name="Google Shape;521;p24"/>
                <p:cNvCxnSpPr/>
                <p:nvPr/>
              </p:nvCxnSpPr>
              <p:spPr>
                <a:xfrm>
                  <a:off x="6938" y="2964"/>
                  <a:ext cx="6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2" name="Google Shape;522;p24"/>
                <p:cNvCxnSpPr/>
                <p:nvPr/>
              </p:nvCxnSpPr>
              <p:spPr>
                <a:xfrm>
                  <a:off x="6818" y="2784"/>
                  <a:ext cx="0" cy="36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3" name="Google Shape;523;p24"/>
                <p:cNvCxnSpPr/>
                <p:nvPr/>
              </p:nvCxnSpPr>
              <p:spPr>
                <a:xfrm>
                  <a:off x="6938" y="2784"/>
                  <a:ext cx="0" cy="36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206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524" name="Google Shape;524;p24"/>
              <p:cNvCxnSpPr/>
              <p:nvPr/>
            </p:nvCxnSpPr>
            <p:spPr>
              <a:xfrm>
                <a:off x="9457" y="13840"/>
                <a:ext cx="0" cy="154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206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5" name="Google Shape;525;p24"/>
              <p:cNvCxnSpPr/>
              <p:nvPr/>
            </p:nvCxnSpPr>
            <p:spPr>
              <a:xfrm>
                <a:off x="7658" y="13838"/>
                <a:ext cx="0" cy="154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206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aphicFrame>
          <p:nvGraphicFramePr>
            <p:cNvPr id="526" name="Google Shape;526;p24"/>
            <p:cNvGraphicFramePr/>
            <p:nvPr/>
          </p:nvGraphicFramePr>
          <p:xfrm>
            <a:off x="6281312" y="3391672"/>
            <a:ext cx="798192" cy="881337"/>
          </p:xfrm>
          <a:graphic>
            <a:graphicData uri="http://schemas.openxmlformats.org/presentationml/2006/ole">
              <mc:AlternateContent>
                <mc:Choice Requires="v">
                  <p:oleObj r:id="rId4" imgH="881337" imgW="798192" progId="" spid="_x0000_s1">
                    <p:embed/>
                  </p:oleObj>
                </mc:Choice>
                <mc:Fallback>
                  <p:oleObj r:id="rId5" imgH="881337" imgW="798192" progId="">
                    <p:embed/>
                    <p:pic>
                      <p:nvPicPr>
                        <p:cNvPr id="526" name="Google Shape;526;p24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6281312" y="3391672"/>
                          <a:ext cx="798192" cy="881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7" name="Google Shape;527;p24"/>
          <p:cNvSpPr/>
          <p:nvPr/>
        </p:nvSpPr>
        <p:spPr>
          <a:xfrm>
            <a:off x="244242" y="1073896"/>
            <a:ext cx="899115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resonance occurs in a circuit where different energy storage elements are connected in parallel.</a:t>
            </a:r>
            <a:b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an angular frequency of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603724" y="2714274"/>
            <a:ext cx="38811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     +        +        =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1395929" y="2045541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5929" y="2502741"/>
            <a:ext cx="40957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4"/>
          <p:cNvSpPr/>
          <p:nvPr/>
        </p:nvSpPr>
        <p:spPr>
          <a:xfrm>
            <a:off x="2188134" y="2095639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2" name="Google Shape;53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88134" y="2552839"/>
            <a:ext cx="8382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48174" y="2828587"/>
            <a:ext cx="7905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4"/>
          <p:cNvSpPr/>
          <p:nvPr/>
        </p:nvSpPr>
        <p:spPr>
          <a:xfrm>
            <a:off x="4588584" y="2094353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8584" y="2551553"/>
            <a:ext cx="242887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4"/>
          <p:cNvSpPr/>
          <p:nvPr/>
        </p:nvSpPr>
        <p:spPr>
          <a:xfrm>
            <a:off x="328180" y="3703333"/>
            <a:ext cx="69316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magnitude of admittance = | Y |,	| Y |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7059946" y="308314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59946" y="3540344"/>
            <a:ext cx="26003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4"/>
          <p:cNvSpPr/>
          <p:nvPr/>
        </p:nvSpPr>
        <p:spPr>
          <a:xfrm>
            <a:off x="336150" y="4451097"/>
            <a:ext cx="105961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resonance is seen to occur when imaginary part is zero.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1" name="Google Shape;541;p24"/>
          <p:cNvGraphicFramePr/>
          <p:nvPr/>
        </p:nvGraphicFramePr>
        <p:xfrm>
          <a:off x="631812" y="5029593"/>
          <a:ext cx="2435225" cy="1201738"/>
        </p:xfrm>
        <a:graphic>
          <a:graphicData uri="http://schemas.openxmlformats.org/presentationml/2006/ole">
            <mc:AlternateContent>
              <mc:Choice Requires="v">
                <p:oleObj r:id="rId12" imgH="1201738" imgW="2435225" progId="" spid="_x0000_s2">
                  <p:embed/>
                </p:oleObj>
              </mc:Choice>
              <mc:Fallback>
                <p:oleObj r:id="rId13" imgH="1201738" imgW="2435225" progId="">
                  <p:embed/>
                  <p:pic>
                    <p:nvPicPr>
                      <p:cNvPr id="541" name="Google Shape;541;p24"/>
                      <p:cNvPicPr preferRelativeResize="0"/>
                      <p:nvPr/>
                    </p:nvPicPr>
                    <p:blipFill rotWithShape="1">
                      <a:blip r:embed="rId1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31812" y="5029593"/>
                        <a:ext cx="2435225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" name="Google Shape;542;p24"/>
          <p:cNvSpPr/>
          <p:nvPr/>
        </p:nvSpPr>
        <p:spPr>
          <a:xfrm>
            <a:off x="3263978" y="5338074"/>
            <a:ext cx="66830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corresponds to unity power factor.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5"/>
          <p:cNvSpPr txBox="1"/>
          <p:nvPr>
            <p:ph type="title"/>
          </p:nvPr>
        </p:nvSpPr>
        <p:spPr>
          <a:xfrm>
            <a:off x="429715" y="562354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Resonance in Complex Circuits</a:t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232611" y="1045099"/>
            <a:ext cx="11529674" cy="22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practical circuits, series resonance and parallel resonance can occur in different parts of same circuit. Unity power factor resonance may correspond to one of these.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</a:t>
            </a:r>
            <a:endParaRPr b="1" i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49" name="Google Shape;549;p25"/>
          <p:cNvGrpSpPr/>
          <p:nvPr/>
        </p:nvGrpSpPr>
        <p:grpSpPr>
          <a:xfrm>
            <a:off x="6499164" y="2041987"/>
            <a:ext cx="5036503" cy="2049463"/>
            <a:chOff x="6459" y="7178"/>
            <a:chExt cx="3173" cy="1291"/>
          </a:xfrm>
        </p:grpSpPr>
        <p:grpSp>
          <p:nvGrpSpPr>
            <p:cNvPr id="550" name="Google Shape;550;p25"/>
            <p:cNvGrpSpPr/>
            <p:nvPr/>
          </p:nvGrpSpPr>
          <p:grpSpPr>
            <a:xfrm>
              <a:off x="6459" y="7774"/>
              <a:ext cx="1084" cy="405"/>
              <a:chOff x="1658" y="1576"/>
              <a:chExt cx="1440" cy="405"/>
            </a:xfrm>
          </p:grpSpPr>
          <p:cxnSp>
            <p:nvCxnSpPr>
              <p:cNvPr id="551" name="Google Shape;551;p25"/>
              <p:cNvCxnSpPr/>
              <p:nvPr/>
            </p:nvCxnSpPr>
            <p:spPr>
              <a:xfrm>
                <a:off x="1658" y="1767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52" name="Google Shape;552;p25"/>
              <p:cNvGrpSpPr/>
              <p:nvPr/>
            </p:nvGrpSpPr>
            <p:grpSpPr>
              <a:xfrm>
                <a:off x="2006" y="1576"/>
                <a:ext cx="721" cy="405"/>
                <a:chOff x="1999" y="1579"/>
                <a:chExt cx="1202" cy="401"/>
              </a:xfrm>
            </p:grpSpPr>
            <p:cxnSp>
              <p:nvCxnSpPr>
                <p:cNvPr id="553" name="Google Shape;553;p25"/>
                <p:cNvCxnSpPr/>
                <p:nvPr/>
              </p:nvCxnSpPr>
              <p:spPr>
                <a:xfrm flipH="1" rot="10800000">
                  <a:off x="1999" y="1579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4" name="Google Shape;554;p25"/>
                <p:cNvCxnSpPr/>
                <p:nvPr/>
              </p:nvCxnSpPr>
              <p:spPr>
                <a:xfrm rot="10800000">
                  <a:off x="3081" y="1606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" name="Google Shape;555;p25"/>
                <p:cNvCxnSpPr/>
                <p:nvPr/>
              </p:nvCxnSpPr>
              <p:spPr>
                <a:xfrm rot="10800000">
                  <a:off x="2125" y="1587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" name="Google Shape;556;p25"/>
                <p:cNvCxnSpPr/>
                <p:nvPr/>
              </p:nvCxnSpPr>
              <p:spPr>
                <a:xfrm flipH="1" rot="10800000">
                  <a:off x="2380" y="1610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7" name="Google Shape;557;p25"/>
                <p:cNvCxnSpPr/>
                <p:nvPr/>
              </p:nvCxnSpPr>
              <p:spPr>
                <a:xfrm rot="10800000">
                  <a:off x="2605" y="1610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" name="Google Shape;558;p25"/>
                <p:cNvCxnSpPr/>
                <p:nvPr/>
              </p:nvCxnSpPr>
              <p:spPr>
                <a:xfrm flipH="1" rot="10800000">
                  <a:off x="2860" y="1623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559" name="Google Shape;559;p25"/>
              <p:cNvCxnSpPr/>
              <p:nvPr/>
            </p:nvCxnSpPr>
            <p:spPr>
              <a:xfrm>
                <a:off x="2738" y="1767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60" name="Google Shape;560;p25"/>
            <p:cNvSpPr txBox="1"/>
            <p:nvPr/>
          </p:nvSpPr>
          <p:spPr>
            <a:xfrm>
              <a:off x="6938" y="7447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61" name="Google Shape;561;p25"/>
            <p:cNvGrpSpPr/>
            <p:nvPr/>
          </p:nvGrpSpPr>
          <p:grpSpPr>
            <a:xfrm flipH="1" rot="5400000">
              <a:off x="7872" y="7524"/>
              <a:ext cx="92" cy="751"/>
              <a:chOff x="6232" y="3219"/>
              <a:chExt cx="92" cy="751"/>
            </a:xfrm>
          </p:grpSpPr>
          <p:sp>
            <p:nvSpPr>
              <p:cNvPr id="562" name="Google Shape;562;p25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5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5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5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6" name="Google Shape;566;p25"/>
            <p:cNvSpPr txBox="1"/>
            <p:nvPr/>
          </p:nvSpPr>
          <p:spPr>
            <a:xfrm>
              <a:off x="7812" y="743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67" name="Google Shape;567;p25"/>
            <p:cNvGrpSpPr/>
            <p:nvPr/>
          </p:nvGrpSpPr>
          <p:grpSpPr>
            <a:xfrm rot="10800000">
              <a:off x="8466" y="8109"/>
              <a:ext cx="992" cy="360"/>
              <a:chOff x="6218" y="1422"/>
              <a:chExt cx="1320" cy="360"/>
            </a:xfrm>
          </p:grpSpPr>
          <p:cxnSp>
            <p:nvCxnSpPr>
              <p:cNvPr id="568" name="Google Shape;568;p25"/>
              <p:cNvCxnSpPr/>
              <p:nvPr/>
            </p:nvCxnSpPr>
            <p:spPr>
              <a:xfrm>
                <a:off x="6218" y="1602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25"/>
              <p:cNvCxnSpPr/>
              <p:nvPr/>
            </p:nvCxnSpPr>
            <p:spPr>
              <a:xfrm>
                <a:off x="6938" y="1602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25"/>
              <p:cNvCxnSpPr/>
              <p:nvPr/>
            </p:nvCxnSpPr>
            <p:spPr>
              <a:xfrm>
                <a:off x="6818" y="1422"/>
                <a:ext cx="0" cy="3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25"/>
              <p:cNvCxnSpPr/>
              <p:nvPr/>
            </p:nvCxnSpPr>
            <p:spPr>
              <a:xfrm>
                <a:off x="6938" y="1422"/>
                <a:ext cx="0" cy="3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72" name="Google Shape;572;p25"/>
            <p:cNvSpPr txBox="1"/>
            <p:nvPr/>
          </p:nvSpPr>
          <p:spPr>
            <a:xfrm>
              <a:off x="9002" y="7942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73" name="Google Shape;573;p25"/>
            <p:cNvGrpSpPr/>
            <p:nvPr/>
          </p:nvGrpSpPr>
          <p:grpSpPr>
            <a:xfrm flipH="1" rot="5400000">
              <a:off x="8914" y="7305"/>
              <a:ext cx="92" cy="677"/>
              <a:chOff x="6232" y="3219"/>
              <a:chExt cx="92" cy="751"/>
            </a:xfrm>
          </p:grpSpPr>
          <p:sp>
            <p:nvSpPr>
              <p:cNvPr id="574" name="Google Shape;574;p25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5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5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5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8" name="Google Shape;578;p25"/>
            <p:cNvSpPr txBox="1"/>
            <p:nvPr/>
          </p:nvSpPr>
          <p:spPr>
            <a:xfrm>
              <a:off x="8858" y="71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79" name="Google Shape;579;p25"/>
            <p:cNvCxnSpPr/>
            <p:nvPr/>
          </p:nvCxnSpPr>
          <p:spPr>
            <a:xfrm rot="10800000">
              <a:off x="8464" y="7688"/>
              <a:ext cx="2" cy="598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5"/>
            <p:cNvCxnSpPr/>
            <p:nvPr/>
          </p:nvCxnSpPr>
          <p:spPr>
            <a:xfrm rot="10800000">
              <a:off x="9443" y="7688"/>
              <a:ext cx="2" cy="598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5"/>
            <p:cNvCxnSpPr/>
            <p:nvPr/>
          </p:nvCxnSpPr>
          <p:spPr>
            <a:xfrm>
              <a:off x="8292" y="7945"/>
              <a:ext cx="17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5"/>
            <p:cNvCxnSpPr/>
            <p:nvPr/>
          </p:nvCxnSpPr>
          <p:spPr>
            <a:xfrm>
              <a:off x="8459" y="7688"/>
              <a:ext cx="17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5"/>
            <p:cNvCxnSpPr/>
            <p:nvPr/>
          </p:nvCxnSpPr>
          <p:spPr>
            <a:xfrm>
              <a:off x="9284" y="7688"/>
              <a:ext cx="17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5"/>
            <p:cNvCxnSpPr/>
            <p:nvPr/>
          </p:nvCxnSpPr>
          <p:spPr>
            <a:xfrm>
              <a:off x="9458" y="7928"/>
              <a:ext cx="17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5" name="Google Shape;585;p25"/>
          <p:cNvSpPr/>
          <p:nvPr/>
        </p:nvSpPr>
        <p:spPr>
          <a:xfrm>
            <a:off x="254367" y="3203027"/>
            <a:ext cx="725708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types of resonance and   resonance frequencies of the circuit shown.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i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254367" y="4968159"/>
            <a:ext cx="75376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R + j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                       = R + j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 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87" name="Google Shape;587;p25"/>
          <p:cNvGraphicFramePr/>
          <p:nvPr/>
        </p:nvGraphicFramePr>
        <p:xfrm>
          <a:off x="2934035" y="4216122"/>
          <a:ext cx="2312987" cy="2066925"/>
        </p:xfrm>
        <a:graphic>
          <a:graphicData uri="http://schemas.openxmlformats.org/presentationml/2006/ole">
            <mc:AlternateContent>
              <mc:Choice Requires="v">
                <p:oleObj r:id="rId4" imgH="2066925" imgW="2312987" progId="" spid="_x0000_s1">
                  <p:embed/>
                </p:oleObj>
              </mc:Choice>
              <mc:Fallback>
                <p:oleObj r:id="rId5" imgH="2066925" imgW="2312987" progId="">
                  <p:embed/>
                  <p:pic>
                    <p:nvPicPr>
                      <p:cNvPr id="587" name="Google Shape;587;p2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934035" y="4216122"/>
                        <a:ext cx="2312987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8" name="Google Shape;588;p25"/>
          <p:cNvGraphicFramePr/>
          <p:nvPr/>
        </p:nvGraphicFramePr>
        <p:xfrm>
          <a:off x="7567185" y="4669202"/>
          <a:ext cx="1841500" cy="1182688"/>
        </p:xfrm>
        <a:graphic>
          <a:graphicData uri="http://schemas.openxmlformats.org/presentationml/2006/ole">
            <mc:AlternateContent>
              <mc:Choice Requires="v">
                <p:oleObj r:id="rId7" imgH="1182688" imgW="1841500" progId="" spid="_x0000_s2">
                  <p:embed/>
                </p:oleObj>
              </mc:Choice>
              <mc:Fallback>
                <p:oleObj r:id="rId8" imgH="1182688" imgW="1841500" progId="">
                  <p:embed/>
                  <p:pic>
                    <p:nvPicPr>
                      <p:cNvPr id="588" name="Google Shape;588;p25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567185" y="4669202"/>
                        <a:ext cx="184150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6"/>
          <p:cNvSpPr/>
          <p:nvPr/>
        </p:nvSpPr>
        <p:spPr>
          <a:xfrm>
            <a:off x="328862" y="499611"/>
            <a:ext cx="11606463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each type of resonance condition in turn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	when power factor is unity</a:t>
            </a:r>
            <a:r>
              <a:rPr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 impedance is purely real.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328862" y="1920862"/>
            <a:ext cx="580479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 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                    = 0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5" name="Google Shape;595;p26"/>
          <p:cNvGraphicFramePr/>
          <p:nvPr/>
        </p:nvGraphicFramePr>
        <p:xfrm>
          <a:off x="3275764" y="1590949"/>
          <a:ext cx="1955800" cy="1244600"/>
        </p:xfrm>
        <a:graphic>
          <a:graphicData uri="http://schemas.openxmlformats.org/presentationml/2006/ole">
            <mc:AlternateContent>
              <mc:Choice Requires="v">
                <p:oleObj r:id="rId4" imgH="1244600" imgW="1955800" progId="" spid="_x0000_s1">
                  <p:embed/>
                </p:oleObj>
              </mc:Choice>
              <mc:Fallback>
                <p:oleObj r:id="rId5" imgH="1244600" imgW="1955800" progId="">
                  <p:embed/>
                  <p:pic>
                    <p:nvPicPr>
                      <p:cNvPr id="595" name="Google Shape;595;p2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75764" y="1590949"/>
                        <a:ext cx="19558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6" name="Google Shape;596;p26"/>
          <p:cNvSpPr/>
          <p:nvPr/>
        </p:nvSpPr>
        <p:spPr>
          <a:xfrm>
            <a:off x="328862" y="3051830"/>
            <a:ext cx="61686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	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0,	or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7" name="Google Shape;597;p26"/>
          <p:cNvGraphicFramePr/>
          <p:nvPr/>
        </p:nvGraphicFramePr>
        <p:xfrm>
          <a:off x="6694321" y="2844306"/>
          <a:ext cx="3503612" cy="1198562"/>
        </p:xfrm>
        <a:graphic>
          <a:graphicData uri="http://schemas.openxmlformats.org/presentationml/2006/ole">
            <mc:AlternateContent>
              <mc:Choice Requires="v">
                <p:oleObj r:id="rId7" imgH="1198562" imgW="3503612" progId="" spid="_x0000_s2">
                  <p:embed/>
                </p:oleObj>
              </mc:Choice>
              <mc:Fallback>
                <p:oleObj r:id="rId8" imgH="1198562" imgW="3503612" progId="">
                  <p:embed/>
                  <p:pic>
                    <p:nvPicPr>
                      <p:cNvPr id="597" name="Google Shape;597;p2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694321" y="2844306"/>
                        <a:ext cx="3503612" cy="119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8" name="Google Shape;598;p26"/>
          <p:cNvSpPr/>
          <p:nvPr/>
        </p:nvSpPr>
        <p:spPr>
          <a:xfrm>
            <a:off x="328862" y="3923564"/>
            <a:ext cx="23374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99" name="Google Shape;599;p26"/>
          <p:cNvGraphicFramePr/>
          <p:nvPr/>
        </p:nvGraphicFramePr>
        <p:xfrm>
          <a:off x="2554245" y="3636605"/>
          <a:ext cx="1443037" cy="1244600"/>
        </p:xfrm>
        <a:graphic>
          <a:graphicData uri="http://schemas.openxmlformats.org/presentationml/2006/ole">
            <mc:AlternateContent>
              <mc:Choice Requires="v">
                <p:oleObj r:id="rId10" imgH="1244600" imgW="1443037" progId="" spid="_x0000_s3">
                  <p:embed/>
                </p:oleObj>
              </mc:Choice>
              <mc:Fallback>
                <p:oleObj r:id="rId11" imgH="1244600" imgW="1443037" progId="">
                  <p:embed/>
                  <p:pic>
                    <p:nvPicPr>
                      <p:cNvPr id="599" name="Google Shape;599;p26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554245" y="3636605"/>
                        <a:ext cx="1443037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" name="Google Shape;600;p26"/>
          <p:cNvSpPr/>
          <p:nvPr/>
        </p:nvSpPr>
        <p:spPr>
          <a:xfrm>
            <a:off x="585536" y="4814133"/>
            <a:ext cx="9657349" cy="1646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seen that the equivalent inductance is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unity power factor resonance frequency corresponds to 			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256675" y="68227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50906" y="5734501"/>
            <a:ext cx="12477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7"/>
          <p:cNvSpPr/>
          <p:nvPr/>
        </p:nvSpPr>
        <p:spPr>
          <a:xfrm>
            <a:off x="352926" y="771236"/>
            <a:ext cx="11413958" cy="4262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	when the impedance of the circuit is a minimum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Examination shows that this also corresponds to a minimum value of impedance, or series resonance.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need not be the case for all examples.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AutoNum type="alphaLcParenBoth" startAt="3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impedance of the circuit is a maximum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| Z |</a:t>
            </a:r>
            <a:r>
              <a:rPr baseline="30000"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= R</a:t>
            </a:r>
            <a:r>
              <a:rPr baseline="30000"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8" name="Google Shape;608;p27"/>
          <p:cNvGraphicFramePr/>
          <p:nvPr/>
        </p:nvGraphicFramePr>
        <p:xfrm>
          <a:off x="3373605" y="3453063"/>
          <a:ext cx="3248025" cy="1292225"/>
        </p:xfrm>
        <a:graphic>
          <a:graphicData uri="http://schemas.openxmlformats.org/presentationml/2006/ole">
            <mc:AlternateContent>
              <mc:Choice Requires="v">
                <p:oleObj r:id="rId4" imgH="1292225" imgW="3248025" progId="" spid="_x0000_s1">
                  <p:embed/>
                </p:oleObj>
              </mc:Choice>
              <mc:Fallback>
                <p:oleObj r:id="rId5" imgH="1292225" imgW="3248025" progId="">
                  <p:embed/>
                  <p:pic>
                    <p:nvPicPr>
                      <p:cNvPr id="608" name="Google Shape;608;p2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373605" y="3453063"/>
                        <a:ext cx="3248025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9" name="Google Shape;609;p27"/>
          <p:cNvSpPr/>
          <p:nvPr/>
        </p:nvSpPr>
        <p:spPr>
          <a:xfrm>
            <a:off x="425116" y="4597227"/>
            <a:ext cx="91502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will have a maximum value of ∞ at (1 -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= 0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87065" y="5387772"/>
            <a:ext cx="77700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∴resonant frequency for parallel resonance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1" name="Google Shape;611;p27"/>
          <p:cNvGraphicFramePr/>
          <p:nvPr/>
        </p:nvGraphicFramePr>
        <p:xfrm>
          <a:off x="7678132" y="5182002"/>
          <a:ext cx="1274762" cy="1316038"/>
        </p:xfrm>
        <a:graphic>
          <a:graphicData uri="http://schemas.openxmlformats.org/presentationml/2006/ole">
            <mc:AlternateContent>
              <mc:Choice Requires="v">
                <p:oleObj r:id="rId7" imgH="1316038" imgW="1274762" progId="" spid="_x0000_s2">
                  <p:embed/>
                </p:oleObj>
              </mc:Choice>
              <mc:Fallback>
                <p:oleObj r:id="rId8" imgH="1316038" imgW="1274762" progId="">
                  <p:embed/>
                  <p:pic>
                    <p:nvPicPr>
                      <p:cNvPr id="611" name="Google Shape;611;p27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78132" y="5182002"/>
                        <a:ext cx="1274762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8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Example 2</a:t>
            </a:r>
            <a:endParaRPr/>
          </a:p>
        </p:txBody>
      </p:sp>
      <p:grpSp>
        <p:nvGrpSpPr>
          <p:cNvPr id="618" name="Google Shape;618;p28"/>
          <p:cNvGrpSpPr/>
          <p:nvPr/>
        </p:nvGrpSpPr>
        <p:grpSpPr>
          <a:xfrm>
            <a:off x="9265186" y="1117288"/>
            <a:ext cx="2734310" cy="1945640"/>
            <a:chOff x="12188" y="297"/>
            <a:chExt cx="4306" cy="3064"/>
          </a:xfrm>
        </p:grpSpPr>
        <p:sp>
          <p:nvSpPr>
            <p:cNvPr id="619" name="Google Shape;619;p28"/>
            <p:cNvSpPr txBox="1"/>
            <p:nvPr/>
          </p:nvSpPr>
          <p:spPr>
            <a:xfrm>
              <a:off x="15105" y="473"/>
              <a:ext cx="901" cy="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20" name="Google Shape;620;p28"/>
            <p:cNvGrpSpPr/>
            <p:nvPr/>
          </p:nvGrpSpPr>
          <p:grpSpPr>
            <a:xfrm rot="10800000">
              <a:off x="12612" y="2641"/>
              <a:ext cx="3399" cy="720"/>
              <a:chOff x="6218" y="4637"/>
              <a:chExt cx="1320" cy="720"/>
            </a:xfrm>
          </p:grpSpPr>
          <p:cxnSp>
            <p:nvCxnSpPr>
              <p:cNvPr id="621" name="Google Shape;621;p28"/>
              <p:cNvCxnSpPr/>
              <p:nvPr/>
            </p:nvCxnSpPr>
            <p:spPr>
              <a:xfrm>
                <a:off x="6218" y="4969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2" name="Google Shape;622;p28"/>
              <p:cNvCxnSpPr/>
              <p:nvPr/>
            </p:nvCxnSpPr>
            <p:spPr>
              <a:xfrm>
                <a:off x="6938" y="4969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28"/>
              <p:cNvCxnSpPr/>
              <p:nvPr/>
            </p:nvCxnSpPr>
            <p:spPr>
              <a:xfrm>
                <a:off x="6818" y="4637"/>
                <a:ext cx="0" cy="72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" name="Google Shape;624;p28"/>
              <p:cNvCxnSpPr/>
              <p:nvPr/>
            </p:nvCxnSpPr>
            <p:spPr>
              <a:xfrm>
                <a:off x="6938" y="4637"/>
                <a:ext cx="0" cy="72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25" name="Google Shape;625;p28"/>
            <p:cNvSpPr txBox="1"/>
            <p:nvPr/>
          </p:nvSpPr>
          <p:spPr>
            <a:xfrm>
              <a:off x="14505" y="2164"/>
              <a:ext cx="901" cy="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26" name="Google Shape;626;p28"/>
            <p:cNvGrpSpPr/>
            <p:nvPr/>
          </p:nvGrpSpPr>
          <p:grpSpPr>
            <a:xfrm flipH="1" rot="5400000">
              <a:off x="13775" y="484"/>
              <a:ext cx="231" cy="1687"/>
              <a:chOff x="6232" y="3219"/>
              <a:chExt cx="92" cy="751"/>
            </a:xfrm>
          </p:grpSpPr>
          <p:sp>
            <p:nvSpPr>
              <p:cNvPr id="627" name="Google Shape;627;p28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8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8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8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1" name="Google Shape;631;p28"/>
            <p:cNvSpPr txBox="1"/>
            <p:nvPr/>
          </p:nvSpPr>
          <p:spPr>
            <a:xfrm>
              <a:off x="13604" y="297"/>
              <a:ext cx="901" cy="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2" name="Google Shape;632;p28"/>
            <p:cNvCxnSpPr/>
            <p:nvPr/>
          </p:nvCxnSpPr>
          <p:spPr>
            <a:xfrm rot="10800000">
              <a:off x="12618" y="1509"/>
              <a:ext cx="5" cy="149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28"/>
            <p:cNvCxnSpPr/>
            <p:nvPr/>
          </p:nvCxnSpPr>
          <p:spPr>
            <a:xfrm rot="10800000">
              <a:off x="16006" y="1509"/>
              <a:ext cx="5" cy="149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28"/>
            <p:cNvCxnSpPr/>
            <p:nvPr/>
          </p:nvCxnSpPr>
          <p:spPr>
            <a:xfrm>
              <a:off x="12188" y="2152"/>
              <a:ext cx="43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28"/>
            <p:cNvCxnSpPr/>
            <p:nvPr/>
          </p:nvCxnSpPr>
          <p:spPr>
            <a:xfrm>
              <a:off x="12606" y="1509"/>
              <a:ext cx="43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28"/>
            <p:cNvCxnSpPr/>
            <p:nvPr/>
          </p:nvCxnSpPr>
          <p:spPr>
            <a:xfrm>
              <a:off x="16059" y="2127"/>
              <a:ext cx="43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37" name="Google Shape;637;p28"/>
            <p:cNvGrpSpPr/>
            <p:nvPr/>
          </p:nvGrpSpPr>
          <p:grpSpPr>
            <a:xfrm>
              <a:off x="14692" y="1252"/>
              <a:ext cx="1360" cy="374"/>
              <a:chOff x="1658" y="1897"/>
              <a:chExt cx="1440" cy="374"/>
            </a:xfrm>
          </p:grpSpPr>
          <p:cxnSp>
            <p:nvCxnSpPr>
              <p:cNvPr id="638" name="Google Shape;638;p28"/>
              <p:cNvCxnSpPr/>
              <p:nvPr/>
            </p:nvCxnSpPr>
            <p:spPr>
              <a:xfrm>
                <a:off x="1658" y="212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39" name="Google Shape;639;p28"/>
              <p:cNvGrpSpPr/>
              <p:nvPr/>
            </p:nvGrpSpPr>
            <p:grpSpPr>
              <a:xfrm>
                <a:off x="2018" y="1897"/>
                <a:ext cx="720" cy="374"/>
                <a:chOff x="2018" y="1891"/>
                <a:chExt cx="1200" cy="370"/>
              </a:xfrm>
            </p:grpSpPr>
            <p:cxnSp>
              <p:nvCxnSpPr>
                <p:cNvPr id="640" name="Google Shape;640;p28"/>
                <p:cNvCxnSpPr/>
                <p:nvPr/>
              </p:nvCxnSpPr>
              <p:spPr>
                <a:xfrm flipH="1" rot="10800000">
                  <a:off x="2018" y="1929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" name="Google Shape;641;p28"/>
                <p:cNvCxnSpPr/>
                <p:nvPr/>
              </p:nvCxnSpPr>
              <p:spPr>
                <a:xfrm rot="10800000">
                  <a:off x="3098" y="1929"/>
                  <a:ext cx="120" cy="1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2" name="Google Shape;642;p28"/>
                <p:cNvCxnSpPr/>
                <p:nvPr/>
              </p:nvCxnSpPr>
              <p:spPr>
                <a:xfrm rot="10800000">
                  <a:off x="2125" y="1904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3" name="Google Shape;643;p28"/>
                <p:cNvCxnSpPr/>
                <p:nvPr/>
              </p:nvCxnSpPr>
              <p:spPr>
                <a:xfrm flipH="1" rot="10800000">
                  <a:off x="2380" y="1891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4" name="Google Shape;644;p28"/>
                <p:cNvCxnSpPr/>
                <p:nvPr/>
              </p:nvCxnSpPr>
              <p:spPr>
                <a:xfrm rot="10800000">
                  <a:off x="2605" y="1904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5" name="Google Shape;645;p28"/>
                <p:cNvCxnSpPr/>
                <p:nvPr/>
              </p:nvCxnSpPr>
              <p:spPr>
                <a:xfrm flipH="1" rot="10800000">
                  <a:off x="2860" y="1904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646" name="Google Shape;646;p28"/>
              <p:cNvCxnSpPr/>
              <p:nvPr/>
            </p:nvCxnSpPr>
            <p:spPr>
              <a:xfrm>
                <a:off x="2738" y="212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7" name="Google Shape;647;p28"/>
          <p:cNvSpPr/>
          <p:nvPr/>
        </p:nvSpPr>
        <p:spPr>
          <a:xfrm>
            <a:off x="473173" y="1140550"/>
            <a:ext cx="7894757" cy="3277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unity power factor resonance frequency.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determine parallel resonance frequency,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R = 20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 = 10 mH, and C = 4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Z =                                = </a:t>
            </a:r>
            <a:endParaRPr i="1" sz="3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8" name="Google Shape;648;p28"/>
          <p:cNvGraphicFramePr/>
          <p:nvPr/>
        </p:nvGraphicFramePr>
        <p:xfrm>
          <a:off x="1180683" y="3062928"/>
          <a:ext cx="2747962" cy="1998662"/>
        </p:xfrm>
        <a:graphic>
          <a:graphicData uri="http://schemas.openxmlformats.org/presentationml/2006/ole">
            <mc:AlternateContent>
              <mc:Choice Requires="v">
                <p:oleObj r:id="rId4" imgH="1998662" imgW="2747962" progId="" spid="_x0000_s1">
                  <p:embed/>
                </p:oleObj>
              </mc:Choice>
              <mc:Fallback>
                <p:oleObj r:id="rId5" imgH="1998662" imgW="2747962" progId="">
                  <p:embed/>
                  <p:pic>
                    <p:nvPicPr>
                      <p:cNvPr id="648" name="Google Shape;648;p2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80683" y="3062928"/>
                        <a:ext cx="2747962" cy="19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" name="Google Shape;649;p28"/>
          <p:cNvGraphicFramePr/>
          <p:nvPr/>
        </p:nvGraphicFramePr>
        <p:xfrm>
          <a:off x="4337109" y="3587455"/>
          <a:ext cx="3516313" cy="1152525"/>
        </p:xfrm>
        <a:graphic>
          <a:graphicData uri="http://schemas.openxmlformats.org/presentationml/2006/ole">
            <mc:AlternateContent>
              <mc:Choice Requires="v">
                <p:oleObj r:id="rId7" imgH="1152525" imgW="3516313" progId="" spid="_x0000_s2">
                  <p:embed/>
                </p:oleObj>
              </mc:Choice>
              <mc:Fallback>
                <p:oleObj r:id="rId8" imgH="1152525" imgW="3516313" progId="">
                  <p:embed/>
                  <p:pic>
                    <p:nvPicPr>
                      <p:cNvPr id="649" name="Google Shape;649;p28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337109" y="3587455"/>
                        <a:ext cx="3516313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0" name="Google Shape;650;p28"/>
          <p:cNvSpPr/>
          <p:nvPr/>
        </p:nvSpPr>
        <p:spPr>
          <a:xfrm>
            <a:off x="473173" y="5061590"/>
            <a:ext cx="933049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unity power factor resonance, impedance Z is purely real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1493504" y="5854125"/>
            <a:ext cx="5389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∴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2024344" y="552345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24344" y="5523458"/>
            <a:ext cx="31718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8"/>
          <p:cNvSpPr/>
          <p:nvPr/>
        </p:nvSpPr>
        <p:spPr>
          <a:xfrm>
            <a:off x="4426184" y="5892484"/>
            <a:ext cx="55466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	i.e.  C 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L (1 - w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 C)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/>
          <p:nvPr/>
        </p:nvSpPr>
        <p:spPr>
          <a:xfrm>
            <a:off x="505416" y="821174"/>
            <a:ext cx="10390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0" name="Google Shape;66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483" y="611564"/>
            <a:ext cx="124777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9"/>
          <p:cNvSpPr/>
          <p:nvPr/>
        </p:nvSpPr>
        <p:spPr>
          <a:xfrm>
            <a:off x="2792258" y="762088"/>
            <a:ext cx="23727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or    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917373" y="527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3" name="Google Shape;66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7373" y="527863"/>
            <a:ext cx="149542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9"/>
          <p:cNvSpPr/>
          <p:nvPr/>
        </p:nvSpPr>
        <p:spPr>
          <a:xfrm>
            <a:off x="505416" y="1495639"/>
            <a:ext cx="51555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 power factor resonance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5" name="Google Shape;665;p29"/>
          <p:cNvGraphicFramePr/>
          <p:nvPr/>
        </p:nvGraphicFramePr>
        <p:xfrm>
          <a:off x="1174682" y="2062174"/>
          <a:ext cx="8693151" cy="1179512"/>
        </p:xfrm>
        <a:graphic>
          <a:graphicData uri="http://schemas.openxmlformats.org/presentationml/2006/ole">
            <mc:AlternateContent>
              <mc:Choice Requires="v">
                <p:oleObj r:id="rId6" imgH="1179512" imgW="8693151" progId="" spid="_x0000_s1">
                  <p:embed/>
                </p:oleObj>
              </mc:Choice>
              <mc:Fallback>
                <p:oleObj r:id="rId7" imgH="1179512" imgW="8693151" progId="">
                  <p:embed/>
                  <p:pic>
                    <p:nvPicPr>
                      <p:cNvPr id="665" name="Google Shape;665;p29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74682" y="2062174"/>
                        <a:ext cx="8693151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" name="Google Shape;666;p29"/>
          <p:cNvSpPr/>
          <p:nvPr/>
        </p:nvSpPr>
        <p:spPr>
          <a:xfrm>
            <a:off x="528276" y="2374038"/>
            <a:ext cx="8002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594541" y="3275694"/>
            <a:ext cx="69974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consider the magnitude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impedance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589350" y="3989790"/>
            <a:ext cx="14782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Z |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9" name="Google Shape;669;p29"/>
          <p:cNvGraphicFramePr/>
          <p:nvPr/>
        </p:nvGraphicFramePr>
        <p:xfrm>
          <a:off x="2018392" y="3675446"/>
          <a:ext cx="4149725" cy="1249363"/>
        </p:xfrm>
        <a:graphic>
          <a:graphicData uri="http://schemas.openxmlformats.org/presentationml/2006/ole">
            <mc:AlternateContent>
              <mc:Choice Requires="v">
                <p:oleObj r:id="rId9" imgH="1249363" imgW="4149725" progId="" spid="_x0000_s2">
                  <p:embed/>
                </p:oleObj>
              </mc:Choice>
              <mc:Fallback>
                <p:oleObj r:id="rId10" imgH="1249363" imgW="4149725" progId="">
                  <p:embed/>
                  <p:pic>
                    <p:nvPicPr>
                      <p:cNvPr id="669" name="Google Shape;669;p29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018392" y="3675446"/>
                        <a:ext cx="4149725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" name="Google Shape;670;p29"/>
          <p:cNvSpPr/>
          <p:nvPr/>
        </p:nvSpPr>
        <p:spPr>
          <a:xfrm>
            <a:off x="610664" y="4756415"/>
            <a:ext cx="929773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maximum value of | Z |, | Z |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must be a maximum.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 txBox="1"/>
          <p:nvPr/>
        </p:nvSpPr>
        <p:spPr>
          <a:xfrm>
            <a:off x="1069752" y="5510867"/>
            <a:ext cx="2098780" cy="78829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8604" l="0" r="-1101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0"/>
          <p:cNvSpPr txBox="1"/>
          <p:nvPr>
            <p:ph type="title"/>
          </p:nvPr>
        </p:nvSpPr>
        <p:spPr>
          <a:xfrm>
            <a:off x="429715" y="54310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Determining condition for Maximum</a:t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443700" y="1025848"/>
            <a:ext cx="7889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8" name="Google Shape;678;p30"/>
          <p:cNvGraphicFramePr/>
          <p:nvPr/>
        </p:nvGraphicFramePr>
        <p:xfrm>
          <a:off x="1232699" y="784475"/>
          <a:ext cx="1179512" cy="1017587"/>
        </p:xfrm>
        <a:graphic>
          <a:graphicData uri="http://schemas.openxmlformats.org/presentationml/2006/ole">
            <mc:AlternateContent>
              <mc:Choice Requires="v">
                <p:oleObj r:id="rId4" imgH="1017587" imgW="1179512" progId="" spid="_x0000_s1">
                  <p:embed/>
                </p:oleObj>
              </mc:Choice>
              <mc:Fallback>
                <p:oleObj r:id="rId5" imgH="1017587" imgW="1179512" progId="">
                  <p:embed/>
                  <p:pic>
                    <p:nvPicPr>
                      <p:cNvPr id="678" name="Google Shape;678;p3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32699" y="784475"/>
                        <a:ext cx="1179512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" name="Google Shape;679;p30"/>
          <p:cNvSpPr/>
          <p:nvPr/>
        </p:nvSpPr>
        <p:spPr>
          <a:xfrm>
            <a:off x="2655493" y="1025848"/>
            <a:ext cx="9106792" cy="1646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[(1-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LC)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 strike="sng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– (R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)[2(1-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LC).(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 strike="sng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LC) + </a:t>
            </a:r>
            <a:r>
              <a:rPr lang="en-GB" sz="28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 strike="sng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0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466560" y="2467687"/>
            <a:ext cx="9106792" cy="2404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(1-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LC)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LC(1-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LC)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+ 2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LC(1-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LC) – (R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)C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=0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[-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2L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- 2R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– 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3200" strike="sng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+L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LC - C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30"/>
          <p:cNvSpPr/>
          <p:nvPr/>
        </p:nvSpPr>
        <p:spPr>
          <a:xfrm>
            <a:off x="466560" y="4836261"/>
            <a:ext cx="8698307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substituting values for the components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-0.16×10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-18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1.28×10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+ 1.2944×10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-4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8×10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0.8090×10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1"/>
          <p:cNvSpPr/>
          <p:nvPr/>
        </p:nvSpPr>
        <p:spPr>
          <a:xfrm>
            <a:off x="575310" y="966133"/>
            <a:ext cx="11041380" cy="417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quadratic equation in 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2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solved as follows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4×10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± √(16×10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+ 0.8090×10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= 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4×10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± 28.723×10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26.723×10</a:t>
            </a:r>
            <a:r>
              <a:rPr baseline="30000"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36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  = 4972 </a:t>
            </a: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  = 791.4 Hz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seen that this resonance frequency is close but not the same as the earlier result of 729.3 Hz.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2"/>
          <p:cNvSpPr txBox="1"/>
          <p:nvPr>
            <p:ph type="title"/>
          </p:nvPr>
        </p:nvSpPr>
        <p:spPr>
          <a:xfrm>
            <a:off x="429716" y="634543"/>
            <a:ext cx="9081680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Loci Diagrams for RL and RC circuits</a:t>
            </a:r>
            <a:endParaRPr/>
          </a:p>
        </p:txBody>
      </p:sp>
      <p:grpSp>
        <p:nvGrpSpPr>
          <p:cNvPr id="692" name="Google Shape;692;p32"/>
          <p:cNvGrpSpPr/>
          <p:nvPr/>
        </p:nvGrpSpPr>
        <p:grpSpPr>
          <a:xfrm>
            <a:off x="8527503" y="326300"/>
            <a:ext cx="3072130" cy="2837165"/>
            <a:chOff x="8003" y="6478"/>
            <a:chExt cx="1935" cy="1787"/>
          </a:xfrm>
        </p:grpSpPr>
        <p:grpSp>
          <p:nvGrpSpPr>
            <p:cNvPr id="693" name="Google Shape;693;p32"/>
            <p:cNvGrpSpPr/>
            <p:nvPr/>
          </p:nvGrpSpPr>
          <p:grpSpPr>
            <a:xfrm>
              <a:off x="8004" y="6813"/>
              <a:ext cx="1084" cy="361"/>
              <a:chOff x="1658" y="2144"/>
              <a:chExt cx="1440" cy="361"/>
            </a:xfrm>
          </p:grpSpPr>
          <p:cxnSp>
            <p:nvCxnSpPr>
              <p:cNvPr id="694" name="Google Shape;694;p32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95" name="Google Shape;695;p32"/>
              <p:cNvGrpSpPr/>
              <p:nvPr/>
            </p:nvGrpSpPr>
            <p:grpSpPr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696" name="Google Shape;696;p32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7" name="Google Shape;697;p32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8" name="Google Shape;698;p32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" name="Google Shape;699;p32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0" name="Google Shape;700;p32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1" name="Google Shape;701;p32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02" name="Google Shape;702;p32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03" name="Google Shape;703;p32"/>
            <p:cNvSpPr txBox="1"/>
            <p:nvPr/>
          </p:nvSpPr>
          <p:spPr>
            <a:xfrm>
              <a:off x="8483" y="64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04" name="Google Shape;704;p32"/>
            <p:cNvGrpSpPr/>
            <p:nvPr/>
          </p:nvGrpSpPr>
          <p:grpSpPr>
            <a:xfrm flipH="1" rot="5400000">
              <a:off x="9398" y="6575"/>
              <a:ext cx="107" cy="751"/>
              <a:chOff x="5665" y="3219"/>
              <a:chExt cx="107" cy="751"/>
            </a:xfrm>
          </p:grpSpPr>
          <p:sp>
            <p:nvSpPr>
              <p:cNvPr id="705" name="Google Shape;705;p32"/>
              <p:cNvSpPr/>
              <p:nvPr/>
            </p:nvSpPr>
            <p:spPr>
              <a:xfrm>
                <a:off x="5665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2"/>
              <p:cNvSpPr/>
              <p:nvPr/>
            </p:nvSpPr>
            <p:spPr>
              <a:xfrm>
                <a:off x="5680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2"/>
              <p:cNvSpPr/>
              <p:nvPr/>
            </p:nvSpPr>
            <p:spPr>
              <a:xfrm>
                <a:off x="5681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>
                <a:off x="5680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9" name="Google Shape;709;p32"/>
            <p:cNvSpPr txBox="1"/>
            <p:nvPr/>
          </p:nvSpPr>
          <p:spPr>
            <a:xfrm>
              <a:off x="9354" y="654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10" name="Google Shape;710;p32"/>
            <p:cNvGrpSpPr/>
            <p:nvPr/>
          </p:nvGrpSpPr>
          <p:grpSpPr>
            <a:xfrm>
              <a:off x="8003" y="7785"/>
              <a:ext cx="1935" cy="480"/>
              <a:chOff x="1538" y="6945"/>
              <a:chExt cx="1935" cy="480"/>
            </a:xfrm>
          </p:grpSpPr>
          <p:sp>
            <p:nvSpPr>
              <p:cNvPr id="711" name="Google Shape;711;p32"/>
              <p:cNvSpPr/>
              <p:nvPr/>
            </p:nvSpPr>
            <p:spPr>
              <a:xfrm>
                <a:off x="2258" y="6945"/>
                <a:ext cx="480" cy="480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12" name="Google Shape;712;p32"/>
              <p:cNvCxnSpPr/>
              <p:nvPr/>
            </p:nvCxnSpPr>
            <p:spPr>
              <a:xfrm>
                <a:off x="2753" y="7185"/>
                <a:ext cx="7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" name="Google Shape;713;p32"/>
              <p:cNvCxnSpPr/>
              <p:nvPr/>
            </p:nvCxnSpPr>
            <p:spPr>
              <a:xfrm>
                <a:off x="1538" y="7185"/>
                <a:ext cx="7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14" name="Google Shape;714;p32"/>
            <p:cNvCxnSpPr/>
            <p:nvPr/>
          </p:nvCxnSpPr>
          <p:spPr>
            <a:xfrm>
              <a:off x="8078" y="6975"/>
              <a:ext cx="120" cy="0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715" name="Google Shape;715;p32"/>
            <p:cNvCxnSpPr/>
            <p:nvPr/>
          </p:nvCxnSpPr>
          <p:spPr>
            <a:xfrm>
              <a:off x="8003" y="6962"/>
              <a:ext cx="0" cy="106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6" name="Google Shape;716;p32"/>
            <p:cNvCxnSpPr/>
            <p:nvPr/>
          </p:nvCxnSpPr>
          <p:spPr>
            <a:xfrm flipH="1" rot="10800000">
              <a:off x="8328" y="6645"/>
              <a:ext cx="487" cy="5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717" name="Google Shape;717;p32"/>
            <p:cNvCxnSpPr/>
            <p:nvPr/>
          </p:nvCxnSpPr>
          <p:spPr>
            <a:xfrm>
              <a:off x="9938" y="6990"/>
              <a:ext cx="0" cy="106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8" name="Google Shape;718;p32"/>
            <p:cNvCxnSpPr/>
            <p:nvPr/>
          </p:nvCxnSpPr>
          <p:spPr>
            <a:xfrm>
              <a:off x="9819" y="7011"/>
              <a:ext cx="119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9" name="Google Shape;719;p32"/>
            <p:cNvSpPr txBox="1"/>
            <p:nvPr/>
          </p:nvSpPr>
          <p:spPr>
            <a:xfrm>
              <a:off x="8723" y="7365"/>
              <a:ext cx="527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V, </a:t>
              </a:r>
              <a:r>
                <a:rPr lang="en-GB" sz="3200">
                  <a:solidFill>
                    <a:srgbClr val="C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ω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0" name="Google Shape;720;p32"/>
            <p:cNvSpPr txBox="1"/>
            <p:nvPr/>
          </p:nvSpPr>
          <p:spPr>
            <a:xfrm>
              <a:off x="8018" y="6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21" name="Google Shape;721;p32"/>
          <p:cNvGrpSpPr/>
          <p:nvPr/>
        </p:nvGrpSpPr>
        <p:grpSpPr>
          <a:xfrm>
            <a:off x="8464511" y="3423842"/>
            <a:ext cx="3822065" cy="1706827"/>
            <a:chOff x="6873" y="-10473"/>
            <a:chExt cx="6019" cy="1085"/>
          </a:xfrm>
        </p:grpSpPr>
        <p:grpSp>
          <p:nvGrpSpPr>
            <p:cNvPr id="722" name="Google Shape;722;p32"/>
            <p:cNvGrpSpPr/>
            <p:nvPr/>
          </p:nvGrpSpPr>
          <p:grpSpPr>
            <a:xfrm>
              <a:off x="6873" y="-10473"/>
              <a:ext cx="6019" cy="1085"/>
              <a:chOff x="8003" y="8073"/>
              <a:chExt cx="2415" cy="1085"/>
            </a:xfrm>
          </p:grpSpPr>
          <p:cxnSp>
            <p:nvCxnSpPr>
              <p:cNvPr id="723" name="Google Shape;723;p32"/>
              <p:cNvCxnSpPr/>
              <p:nvPr/>
            </p:nvCxnSpPr>
            <p:spPr>
              <a:xfrm>
                <a:off x="8003" y="8078"/>
                <a:ext cx="205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724" name="Google Shape;724;p32"/>
              <p:cNvCxnSpPr/>
              <p:nvPr/>
            </p:nvCxnSpPr>
            <p:spPr>
              <a:xfrm>
                <a:off x="8018" y="8078"/>
                <a:ext cx="1606" cy="81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B0F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25" name="Google Shape;725;p32"/>
              <p:cNvCxnSpPr/>
              <p:nvPr/>
            </p:nvCxnSpPr>
            <p:spPr>
              <a:xfrm>
                <a:off x="8018" y="8078"/>
                <a:ext cx="641" cy="324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26" name="Google Shape;726;p32"/>
              <p:cNvSpPr/>
              <p:nvPr/>
            </p:nvSpPr>
            <p:spPr>
              <a:xfrm rot="10800000">
                <a:off x="8017" y="8073"/>
                <a:ext cx="2041" cy="1025"/>
              </a:xfrm>
              <a:custGeom>
                <a:rect b="b" l="l" r="r" t="t"/>
                <a:pathLst>
                  <a:path extrusionOk="0" fill="none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</a:path>
                  <a:path extrusionOk="0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0000FF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7" name="Google Shape;727;p32"/>
              <p:cNvCxnSpPr/>
              <p:nvPr/>
            </p:nvCxnSpPr>
            <p:spPr>
              <a:xfrm flipH="1" rot="10800000">
                <a:off x="9624" y="8078"/>
                <a:ext cx="434" cy="81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B0F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28" name="Google Shape;728;p32"/>
              <p:cNvSpPr txBox="1"/>
              <p:nvPr/>
            </p:nvSpPr>
            <p:spPr>
              <a:xfrm>
                <a:off x="8498" y="84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" name="Google Shape;729;p32"/>
              <p:cNvSpPr txBox="1"/>
              <p:nvPr/>
            </p:nvSpPr>
            <p:spPr>
              <a:xfrm>
                <a:off x="9143" y="867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00B0F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rgbClr val="00B0F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0" name="Google Shape;730;p32"/>
              <p:cNvSpPr txBox="1"/>
              <p:nvPr/>
            </p:nvSpPr>
            <p:spPr>
              <a:xfrm>
                <a:off x="10058" y="807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00B0F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rgbClr val="00B0F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" name="Google Shape;731;p32"/>
              <p:cNvSpPr txBox="1"/>
              <p:nvPr/>
            </p:nvSpPr>
            <p:spPr>
              <a:xfrm>
                <a:off x="9698" y="879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732" name="Google Shape;732;p32"/>
            <p:cNvSpPr txBox="1"/>
            <p:nvPr/>
          </p:nvSpPr>
          <p:spPr>
            <a:xfrm>
              <a:off x="8516" y="-10468"/>
              <a:ext cx="649" cy="6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F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33" name="Google Shape;733;p32"/>
          <p:cNvSpPr/>
          <p:nvPr/>
        </p:nvSpPr>
        <p:spPr>
          <a:xfrm>
            <a:off x="426540" y="1016936"/>
            <a:ext cx="35026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Series RL circuit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/>
          <p:nvPr/>
        </p:nvSpPr>
        <p:spPr>
          <a:xfrm>
            <a:off x="385630" y="1515622"/>
            <a:ext cx="7981964" cy="204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80149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constant V at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R of circuit varies,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01625" marR="1569085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V</a:t>
            </a:r>
            <a:r>
              <a:rPr baseline="-25000" lang="en-GB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V</a:t>
            </a: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 constant</a:t>
            </a: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797685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(R + j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L) .I	 = (R + j X) .I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32"/>
          <p:cNvSpPr/>
          <p:nvPr/>
        </p:nvSpPr>
        <p:spPr>
          <a:xfrm>
            <a:off x="426540" y="3563688"/>
            <a:ext cx="775151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 is reference, I would lag by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 phase with I,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would be quadrature leading I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5085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mutually perpendicular.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5085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R varies point P moves along semi-circle.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Locus of P is a semicircle.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33"/>
          <p:cNvGrpSpPr/>
          <p:nvPr/>
        </p:nvGrpSpPr>
        <p:grpSpPr>
          <a:xfrm>
            <a:off x="8572495" y="904993"/>
            <a:ext cx="3192250" cy="3968783"/>
            <a:chOff x="8243" y="10343"/>
            <a:chExt cx="2085" cy="2775"/>
          </a:xfrm>
        </p:grpSpPr>
        <p:cxnSp>
          <p:nvCxnSpPr>
            <p:cNvPr id="741" name="Google Shape;741;p33"/>
            <p:cNvCxnSpPr/>
            <p:nvPr/>
          </p:nvCxnSpPr>
          <p:spPr>
            <a:xfrm>
              <a:off x="8243" y="11498"/>
              <a:ext cx="2055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42" name="Google Shape;742;p33"/>
            <p:cNvCxnSpPr/>
            <p:nvPr/>
          </p:nvCxnSpPr>
          <p:spPr>
            <a:xfrm>
              <a:off x="8692" y="10673"/>
              <a:ext cx="1606" cy="812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743" name="Google Shape;743;p33"/>
            <p:cNvCxnSpPr/>
            <p:nvPr/>
          </p:nvCxnSpPr>
          <p:spPr>
            <a:xfrm>
              <a:off x="8258" y="11498"/>
              <a:ext cx="641" cy="324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sm" w="sm" type="stealth"/>
            </a:ln>
          </p:spPr>
        </p:cxnSp>
        <p:sp>
          <p:nvSpPr>
            <p:cNvPr id="744" name="Google Shape;744;p33"/>
            <p:cNvSpPr/>
            <p:nvPr/>
          </p:nvSpPr>
          <p:spPr>
            <a:xfrm flipH="1">
              <a:off x="8287" y="10463"/>
              <a:ext cx="2041" cy="1025"/>
            </a:xfrm>
            <a:custGeom>
              <a:rect b="b" l="l" r="r" t="t"/>
              <a:pathLst>
                <a:path extrusionOk="0" fill="none" h="21727" w="43200">
                  <a:moveTo>
                    <a:pt x="0" y="21726"/>
                  </a:moveTo>
                  <a:cubicBezTo>
                    <a:pt x="0" y="21684"/>
                    <a:pt x="0" y="2164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extrusionOk="0" h="21727" w="43200">
                  <a:moveTo>
                    <a:pt x="0" y="21726"/>
                  </a:moveTo>
                  <a:cubicBezTo>
                    <a:pt x="0" y="21684"/>
                    <a:pt x="0" y="2164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5" name="Google Shape;745;p33"/>
            <p:cNvCxnSpPr/>
            <p:nvPr/>
          </p:nvCxnSpPr>
          <p:spPr>
            <a:xfrm flipH="1" rot="10800000">
              <a:off x="8258" y="10686"/>
              <a:ext cx="434" cy="812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46" name="Google Shape;746;p33"/>
            <p:cNvSpPr txBox="1"/>
            <p:nvPr/>
          </p:nvSpPr>
          <p:spPr>
            <a:xfrm>
              <a:off x="8738" y="118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7" name="Google Shape;747;p33"/>
            <p:cNvSpPr txBox="1"/>
            <p:nvPr/>
          </p:nvSpPr>
          <p:spPr>
            <a:xfrm>
              <a:off x="9968" y="1096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8" name="Google Shape;748;p33"/>
            <p:cNvSpPr txBox="1"/>
            <p:nvPr/>
          </p:nvSpPr>
          <p:spPr>
            <a:xfrm>
              <a:off x="8258" y="10420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9" name="Google Shape;749;p33"/>
            <p:cNvSpPr txBox="1"/>
            <p:nvPr/>
          </p:nvSpPr>
          <p:spPr>
            <a:xfrm>
              <a:off x="8603" y="1034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0" name="Google Shape;750;p33"/>
            <p:cNvSpPr txBox="1"/>
            <p:nvPr/>
          </p:nvSpPr>
          <p:spPr>
            <a:xfrm>
              <a:off x="8828" y="1143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1" name="Google Shape;751;p33"/>
            <p:cNvSpPr/>
            <p:nvPr/>
          </p:nvSpPr>
          <p:spPr>
            <a:xfrm flipH="1" rot="5400000">
              <a:off x="7901" y="11913"/>
              <a:ext cx="1605" cy="805"/>
            </a:xfrm>
            <a:custGeom>
              <a:rect b="b" l="l" r="r" t="t"/>
              <a:pathLst>
                <a:path extrusionOk="0" fill="none" h="21727" w="43200">
                  <a:moveTo>
                    <a:pt x="0" y="21726"/>
                  </a:moveTo>
                  <a:cubicBezTo>
                    <a:pt x="0" y="21684"/>
                    <a:pt x="0" y="2164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extrusionOk="0" h="21727" w="43200">
                  <a:moveTo>
                    <a:pt x="0" y="21726"/>
                  </a:moveTo>
                  <a:cubicBezTo>
                    <a:pt x="0" y="21684"/>
                    <a:pt x="0" y="2164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2" name="Google Shape;752;p33"/>
            <p:cNvCxnSpPr/>
            <p:nvPr/>
          </p:nvCxnSpPr>
          <p:spPr>
            <a:xfrm>
              <a:off x="8274" y="11498"/>
              <a:ext cx="0" cy="162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753" name="Google Shape;753;p33"/>
          <p:cNvSpPr/>
          <p:nvPr/>
        </p:nvSpPr>
        <p:spPr>
          <a:xfrm>
            <a:off x="335815" y="579626"/>
            <a:ext cx="8509207" cy="59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4508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variation of I as R varies and X is kept fixed.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5085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first drawn perpendicular to I 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Locus of P will again be semi-circle.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X is fixed, a definite proportion exists between phasor I  and phasor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is always lagging the voltage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90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the locus of I must also be a semi-circle lagging the semi-circle for voltage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90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shown.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4"/>
          <p:cNvSpPr txBox="1"/>
          <p:nvPr>
            <p:ph type="title"/>
          </p:nvPr>
        </p:nvSpPr>
        <p:spPr>
          <a:xfrm>
            <a:off x="-298598" y="526880"/>
            <a:ext cx="9143155" cy="499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i="1" lang="en-GB"/>
              <a:t>(b) Series RL circuit with inductor L having a finite r</a:t>
            </a:r>
            <a:endParaRPr/>
          </a:p>
        </p:txBody>
      </p:sp>
      <p:grpSp>
        <p:nvGrpSpPr>
          <p:cNvPr id="759" name="Google Shape;759;p34"/>
          <p:cNvGrpSpPr/>
          <p:nvPr/>
        </p:nvGrpSpPr>
        <p:grpSpPr>
          <a:xfrm>
            <a:off x="8118655" y="637228"/>
            <a:ext cx="3643630" cy="2663190"/>
            <a:chOff x="10026" y="1237"/>
            <a:chExt cx="5738" cy="4194"/>
          </a:xfrm>
        </p:grpSpPr>
        <p:sp>
          <p:nvSpPr>
            <p:cNvPr id="760" name="Google Shape;760;p34"/>
            <p:cNvSpPr txBox="1"/>
            <p:nvPr/>
          </p:nvSpPr>
          <p:spPr>
            <a:xfrm>
              <a:off x="11129" y="2580"/>
              <a:ext cx="360" cy="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1" name="Google Shape;761;p34"/>
            <p:cNvSpPr txBox="1"/>
            <p:nvPr/>
          </p:nvSpPr>
          <p:spPr>
            <a:xfrm>
              <a:off x="14598" y="1276"/>
              <a:ext cx="360" cy="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2" name="Google Shape;762;p34"/>
            <p:cNvSpPr txBox="1"/>
            <p:nvPr/>
          </p:nvSpPr>
          <p:spPr>
            <a:xfrm>
              <a:off x="10295" y="2417"/>
              <a:ext cx="360" cy="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3" name="Google Shape;763;p34"/>
            <p:cNvSpPr txBox="1"/>
            <p:nvPr/>
          </p:nvSpPr>
          <p:spPr>
            <a:xfrm>
              <a:off x="12804" y="1237"/>
              <a:ext cx="360" cy="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64" name="Google Shape;764;p34"/>
            <p:cNvGrpSpPr/>
            <p:nvPr/>
          </p:nvGrpSpPr>
          <p:grpSpPr>
            <a:xfrm>
              <a:off x="10026" y="1545"/>
              <a:ext cx="5738" cy="3886"/>
              <a:chOff x="6581" y="2166"/>
              <a:chExt cx="2467" cy="1620"/>
            </a:xfrm>
          </p:grpSpPr>
          <p:grpSp>
            <p:nvGrpSpPr>
              <p:cNvPr id="765" name="Google Shape;765;p34"/>
              <p:cNvGrpSpPr/>
              <p:nvPr/>
            </p:nvGrpSpPr>
            <p:grpSpPr>
              <a:xfrm>
                <a:off x="6582" y="2304"/>
                <a:ext cx="1084" cy="376"/>
                <a:chOff x="1658" y="1567"/>
                <a:chExt cx="1440" cy="376"/>
              </a:xfrm>
            </p:grpSpPr>
            <p:cxnSp>
              <p:nvCxnSpPr>
                <p:cNvPr id="766" name="Google Shape;766;p34"/>
                <p:cNvCxnSpPr/>
                <p:nvPr/>
              </p:nvCxnSpPr>
              <p:spPr>
                <a:xfrm>
                  <a:off x="1658" y="1748"/>
                  <a:ext cx="36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767" name="Google Shape;767;p34"/>
                <p:cNvGrpSpPr/>
                <p:nvPr/>
              </p:nvGrpSpPr>
              <p:grpSpPr>
                <a:xfrm>
                  <a:off x="2018" y="1567"/>
                  <a:ext cx="720" cy="376"/>
                  <a:chOff x="2018" y="1568"/>
                  <a:chExt cx="1200" cy="372"/>
                </a:xfrm>
              </p:grpSpPr>
              <p:cxnSp>
                <p:nvCxnSpPr>
                  <p:cNvPr id="768" name="Google Shape;768;p34"/>
                  <p:cNvCxnSpPr/>
                  <p:nvPr/>
                </p:nvCxnSpPr>
                <p:spPr>
                  <a:xfrm flipH="1" rot="10800000">
                    <a:off x="2018" y="1583"/>
                    <a:ext cx="120" cy="18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69" name="Google Shape;769;p34"/>
                  <p:cNvCxnSpPr/>
                  <p:nvPr/>
                </p:nvCxnSpPr>
                <p:spPr>
                  <a:xfrm rot="10800000">
                    <a:off x="3098" y="1576"/>
                    <a:ext cx="120" cy="18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70" name="Google Shape;770;p34"/>
                  <p:cNvCxnSpPr/>
                  <p:nvPr/>
                </p:nvCxnSpPr>
                <p:spPr>
                  <a:xfrm rot="10800000">
                    <a:off x="2125" y="1568"/>
                    <a:ext cx="238" cy="357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71" name="Google Shape;771;p34"/>
                  <p:cNvCxnSpPr/>
                  <p:nvPr/>
                </p:nvCxnSpPr>
                <p:spPr>
                  <a:xfrm flipH="1" rot="10800000">
                    <a:off x="2380" y="1583"/>
                    <a:ext cx="238" cy="357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72" name="Google Shape;772;p34"/>
                  <p:cNvCxnSpPr/>
                  <p:nvPr/>
                </p:nvCxnSpPr>
                <p:spPr>
                  <a:xfrm rot="10800000">
                    <a:off x="2605" y="1582"/>
                    <a:ext cx="238" cy="357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73" name="Google Shape;773;p34"/>
                  <p:cNvCxnSpPr/>
                  <p:nvPr/>
                </p:nvCxnSpPr>
                <p:spPr>
                  <a:xfrm flipH="1" rot="10800000">
                    <a:off x="2860" y="1582"/>
                    <a:ext cx="238" cy="357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74" name="Google Shape;774;p34"/>
                <p:cNvCxnSpPr/>
                <p:nvPr/>
              </p:nvCxnSpPr>
              <p:spPr>
                <a:xfrm>
                  <a:off x="2738" y="1763"/>
                  <a:ext cx="36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5" name="Google Shape;775;p34"/>
              <p:cNvGrpSpPr/>
              <p:nvPr/>
            </p:nvGrpSpPr>
            <p:grpSpPr>
              <a:xfrm flipH="1" rot="5400000">
                <a:off x="8448" y="2097"/>
                <a:ext cx="92" cy="751"/>
                <a:chOff x="6232" y="3219"/>
                <a:chExt cx="92" cy="751"/>
              </a:xfrm>
            </p:grpSpPr>
            <p:sp>
              <p:nvSpPr>
                <p:cNvPr id="776" name="Google Shape;776;p34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34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34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34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80" name="Google Shape;780;p34"/>
              <p:cNvSpPr/>
              <p:nvPr/>
            </p:nvSpPr>
            <p:spPr>
              <a:xfrm>
                <a:off x="7301" y="3306"/>
                <a:ext cx="480" cy="480"/>
              </a:xfrm>
              <a:prstGeom prst="ellipse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1" name="Google Shape;781;p34"/>
              <p:cNvCxnSpPr/>
              <p:nvPr/>
            </p:nvCxnSpPr>
            <p:spPr>
              <a:xfrm>
                <a:off x="7796" y="3546"/>
                <a:ext cx="1252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" name="Google Shape;782;p34"/>
              <p:cNvCxnSpPr/>
              <p:nvPr/>
            </p:nvCxnSpPr>
            <p:spPr>
              <a:xfrm>
                <a:off x="6581" y="3546"/>
                <a:ext cx="72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34"/>
              <p:cNvCxnSpPr/>
              <p:nvPr/>
            </p:nvCxnSpPr>
            <p:spPr>
              <a:xfrm>
                <a:off x="6656" y="2481"/>
                <a:ext cx="12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84" name="Google Shape;784;p34"/>
              <p:cNvCxnSpPr/>
              <p:nvPr/>
            </p:nvCxnSpPr>
            <p:spPr>
              <a:xfrm>
                <a:off x="6581" y="2483"/>
                <a:ext cx="0" cy="106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" name="Google Shape;785;p34"/>
              <p:cNvCxnSpPr/>
              <p:nvPr/>
            </p:nvCxnSpPr>
            <p:spPr>
              <a:xfrm flipH="1" rot="10800000">
                <a:off x="6906" y="2166"/>
                <a:ext cx="487" cy="54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lg" w="lg" type="triangle"/>
              </a:ln>
            </p:spPr>
          </p:cxnSp>
          <p:cxnSp>
            <p:nvCxnSpPr>
              <p:cNvPr id="786" name="Google Shape;786;p34"/>
              <p:cNvCxnSpPr/>
              <p:nvPr/>
            </p:nvCxnSpPr>
            <p:spPr>
              <a:xfrm>
                <a:off x="9026" y="2511"/>
                <a:ext cx="0" cy="106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7" name="Google Shape;787;p34"/>
              <p:cNvSpPr txBox="1"/>
              <p:nvPr/>
            </p:nvSpPr>
            <p:spPr>
              <a:xfrm>
                <a:off x="7256" y="3006"/>
                <a:ext cx="527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V, </a:t>
                </a:r>
                <a:r>
                  <a:rPr lang="en-GB" sz="2800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ω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788" name="Google Shape;788;p34"/>
              <p:cNvCxnSpPr/>
              <p:nvPr/>
            </p:nvCxnSpPr>
            <p:spPr>
              <a:xfrm>
                <a:off x="8870" y="2517"/>
                <a:ext cx="163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89" name="Google Shape;789;p34"/>
              <p:cNvGrpSpPr/>
              <p:nvPr/>
            </p:nvGrpSpPr>
            <p:grpSpPr>
              <a:xfrm>
                <a:off x="7658" y="2390"/>
                <a:ext cx="330" cy="163"/>
                <a:chOff x="2018" y="2138"/>
                <a:chExt cx="1200" cy="357"/>
              </a:xfrm>
            </p:grpSpPr>
            <p:cxnSp>
              <p:nvCxnSpPr>
                <p:cNvPr id="790" name="Google Shape;790;p34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1" name="Google Shape;791;p34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2" name="Google Shape;792;p34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3" name="Google Shape;793;p34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4" name="Google Shape;794;p34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5" name="Google Shape;795;p34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96" name="Google Shape;796;p34"/>
              <p:cNvCxnSpPr/>
              <p:nvPr/>
            </p:nvCxnSpPr>
            <p:spPr>
              <a:xfrm>
                <a:off x="7977" y="2472"/>
                <a:ext cx="163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97" name="Google Shape;797;p34"/>
              <p:cNvSpPr/>
              <p:nvPr/>
            </p:nvSpPr>
            <p:spPr>
              <a:xfrm>
                <a:off x="7631" y="2301"/>
                <a:ext cx="1297" cy="375"/>
              </a:xfrm>
              <a:prstGeom prst="rect">
                <a:avLst/>
              </a:prstGeom>
              <a:noFill/>
              <a:ln cap="flat" cmpd="sng" w="3810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8" name="Google Shape;798;p34"/>
              <p:cNvCxnSpPr/>
              <p:nvPr/>
            </p:nvCxnSpPr>
            <p:spPr>
              <a:xfrm rot="10800000">
                <a:off x="7680" y="2841"/>
                <a:ext cx="119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99" name="Google Shape;799;p34"/>
              <p:cNvSpPr txBox="1"/>
              <p:nvPr/>
            </p:nvSpPr>
            <p:spPr>
              <a:xfrm>
                <a:off x="7968" y="2803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00" name="Google Shape;800;p34"/>
          <p:cNvGrpSpPr/>
          <p:nvPr/>
        </p:nvGrpSpPr>
        <p:grpSpPr>
          <a:xfrm>
            <a:off x="8098335" y="2627316"/>
            <a:ext cx="4230370" cy="2629214"/>
            <a:chOff x="9687" y="-1980"/>
            <a:chExt cx="6662" cy="3193"/>
          </a:xfrm>
        </p:grpSpPr>
        <p:grpSp>
          <p:nvGrpSpPr>
            <p:cNvPr id="801" name="Google Shape;801;p34"/>
            <p:cNvGrpSpPr/>
            <p:nvPr/>
          </p:nvGrpSpPr>
          <p:grpSpPr>
            <a:xfrm>
              <a:off x="9687" y="-834"/>
              <a:ext cx="6662" cy="1320"/>
              <a:chOff x="7898" y="1418"/>
              <a:chExt cx="2775" cy="1320"/>
            </a:xfrm>
          </p:grpSpPr>
          <p:cxnSp>
            <p:nvCxnSpPr>
              <p:cNvPr id="802" name="Google Shape;802;p34"/>
              <p:cNvCxnSpPr/>
              <p:nvPr/>
            </p:nvCxnSpPr>
            <p:spPr>
              <a:xfrm>
                <a:off x="7898" y="1424"/>
                <a:ext cx="246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03" name="Google Shape;803;p34"/>
              <p:cNvCxnSpPr/>
              <p:nvPr/>
            </p:nvCxnSpPr>
            <p:spPr>
              <a:xfrm>
                <a:off x="7916" y="1424"/>
                <a:ext cx="1548" cy="78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4" name="Google Shape;804;p34"/>
              <p:cNvCxnSpPr/>
              <p:nvPr/>
            </p:nvCxnSpPr>
            <p:spPr>
              <a:xfrm>
                <a:off x="7916" y="1424"/>
                <a:ext cx="769" cy="389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05" name="Google Shape;805;p34"/>
              <p:cNvSpPr/>
              <p:nvPr/>
            </p:nvSpPr>
            <p:spPr>
              <a:xfrm rot="10800000">
                <a:off x="7915" y="1418"/>
                <a:ext cx="2448" cy="1230"/>
              </a:xfrm>
              <a:custGeom>
                <a:rect b="b" l="l" r="r" t="t"/>
                <a:pathLst>
                  <a:path extrusionOk="0" fill="none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</a:path>
                  <a:path extrusionOk="0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80008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6" name="Google Shape;806;p34"/>
              <p:cNvCxnSpPr/>
              <p:nvPr/>
            </p:nvCxnSpPr>
            <p:spPr>
              <a:xfrm flipH="1" rot="10800000">
                <a:off x="9843" y="1424"/>
                <a:ext cx="520" cy="974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0008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07" name="Google Shape;807;p34"/>
              <p:cNvSpPr txBox="1"/>
              <p:nvPr/>
            </p:nvSpPr>
            <p:spPr>
              <a:xfrm>
                <a:off x="8492" y="1856"/>
                <a:ext cx="432" cy="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8" name="Google Shape;808;p34"/>
              <p:cNvSpPr txBox="1"/>
              <p:nvPr/>
            </p:nvSpPr>
            <p:spPr>
              <a:xfrm>
                <a:off x="9113" y="1748"/>
                <a:ext cx="431" cy="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9" name="Google Shape;809;p34"/>
              <p:cNvSpPr txBox="1"/>
              <p:nvPr/>
            </p:nvSpPr>
            <p:spPr>
              <a:xfrm>
                <a:off x="10363" y="1424"/>
                <a:ext cx="310" cy="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0" name="Google Shape;810;p34"/>
              <p:cNvSpPr txBox="1"/>
              <p:nvPr/>
            </p:nvSpPr>
            <p:spPr>
              <a:xfrm>
                <a:off x="9338" y="2213"/>
                <a:ext cx="367" cy="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0070C0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811" name="Google Shape;811;p34"/>
              <p:cNvCxnSpPr/>
              <p:nvPr/>
            </p:nvCxnSpPr>
            <p:spPr>
              <a:xfrm>
                <a:off x="9457" y="2198"/>
                <a:ext cx="391" cy="19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0008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12" name="Google Shape;812;p34"/>
              <p:cNvSpPr txBox="1"/>
              <p:nvPr/>
            </p:nvSpPr>
            <p:spPr>
              <a:xfrm>
                <a:off x="9507" y="2306"/>
                <a:ext cx="431" cy="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813" name="Google Shape;813;p34"/>
              <p:cNvCxnSpPr/>
              <p:nvPr/>
            </p:nvCxnSpPr>
            <p:spPr>
              <a:xfrm flipH="1" rot="10800000">
                <a:off x="9464" y="1418"/>
                <a:ext cx="899" cy="795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14" name="Google Shape;814;p34"/>
              <p:cNvSpPr txBox="1"/>
              <p:nvPr/>
            </p:nvSpPr>
            <p:spPr>
              <a:xfrm>
                <a:off x="9747" y="1418"/>
                <a:ext cx="431" cy="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15" name="Google Shape;815;p34"/>
            <p:cNvSpPr/>
            <p:nvPr/>
          </p:nvSpPr>
          <p:spPr>
            <a:xfrm rot="10800000">
              <a:off x="9687" y="-1980"/>
              <a:ext cx="5966" cy="3193"/>
            </a:xfrm>
            <a:custGeom>
              <a:rect b="b" l="l" r="r" t="t"/>
              <a:pathLst>
                <a:path extrusionOk="0" fill="none" h="21600" w="40330">
                  <a:moveTo>
                    <a:pt x="0" y="14412"/>
                  </a:moveTo>
                  <a:cubicBezTo>
                    <a:pt x="3047" y="5775"/>
                    <a:pt x="11210" y="0"/>
                    <a:pt x="20369" y="0"/>
                  </a:cubicBezTo>
                  <a:cubicBezTo>
                    <a:pt x="29110" y="0"/>
                    <a:pt x="36990" y="5268"/>
                    <a:pt x="40330" y="13346"/>
                  </a:cubicBezTo>
                </a:path>
                <a:path extrusionOk="0" h="21600" w="40330">
                  <a:moveTo>
                    <a:pt x="0" y="14412"/>
                  </a:moveTo>
                  <a:cubicBezTo>
                    <a:pt x="3047" y="5775"/>
                    <a:pt x="11210" y="0"/>
                    <a:pt x="20369" y="0"/>
                  </a:cubicBezTo>
                  <a:cubicBezTo>
                    <a:pt x="29110" y="0"/>
                    <a:pt x="36990" y="5268"/>
                    <a:pt x="40330" y="13346"/>
                  </a:cubicBezTo>
                  <a:lnTo>
                    <a:pt x="20369" y="2160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6" name="Google Shape;816;p34"/>
          <p:cNvSpPr/>
          <p:nvPr/>
        </p:nvSpPr>
        <p:spPr>
          <a:xfrm>
            <a:off x="191220" y="1084162"/>
            <a:ext cx="8997484" cy="524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56908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practice winding resistance r of inductance, may not be negligible. 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would have two components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Locus of node between resistor and inductor is no longer a semi-circle.   However, locus of total resistance </a:t>
            </a:r>
            <a:r>
              <a:rPr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+ r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with the pure inductance part remains a semi-circle. 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064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X is variable, then ratio of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remains a constant and  value of internal resistance of coil can be determined.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5"/>
          <p:cNvSpPr txBox="1"/>
          <p:nvPr>
            <p:ph type="title"/>
          </p:nvPr>
        </p:nvSpPr>
        <p:spPr>
          <a:xfrm>
            <a:off x="429715" y="548641"/>
            <a:ext cx="8577125" cy="500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(c) </a:t>
            </a:r>
            <a:r>
              <a:rPr i="1" lang="en-GB"/>
              <a:t>Series RC circuit</a:t>
            </a:r>
            <a:endParaRPr/>
          </a:p>
        </p:txBody>
      </p:sp>
      <p:grpSp>
        <p:nvGrpSpPr>
          <p:cNvPr id="822" name="Google Shape;822;p35"/>
          <p:cNvGrpSpPr/>
          <p:nvPr/>
        </p:nvGrpSpPr>
        <p:grpSpPr>
          <a:xfrm>
            <a:off x="8469172" y="867255"/>
            <a:ext cx="3293113" cy="4298948"/>
            <a:chOff x="8138" y="3218"/>
            <a:chExt cx="2160" cy="2820"/>
          </a:xfrm>
        </p:grpSpPr>
        <p:sp>
          <p:nvSpPr>
            <p:cNvPr id="823" name="Google Shape;823;p35"/>
            <p:cNvSpPr txBox="1"/>
            <p:nvPr/>
          </p:nvSpPr>
          <p:spPr>
            <a:xfrm>
              <a:off x="8633" y="416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4" name="Google Shape;824;p35"/>
            <p:cNvSpPr txBox="1"/>
            <p:nvPr/>
          </p:nvSpPr>
          <p:spPr>
            <a:xfrm>
              <a:off x="9938" y="444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p35"/>
            <p:cNvSpPr txBox="1"/>
            <p:nvPr/>
          </p:nvSpPr>
          <p:spPr>
            <a:xfrm>
              <a:off x="8153" y="53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6" name="Google Shape;826;p35"/>
            <p:cNvSpPr txBox="1"/>
            <p:nvPr/>
          </p:nvSpPr>
          <p:spPr>
            <a:xfrm>
              <a:off x="8468" y="56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7" name="Google Shape;827;p35"/>
            <p:cNvSpPr txBox="1"/>
            <p:nvPr/>
          </p:nvSpPr>
          <p:spPr>
            <a:xfrm>
              <a:off x="8738" y="450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28" name="Google Shape;828;p35"/>
            <p:cNvGrpSpPr/>
            <p:nvPr/>
          </p:nvGrpSpPr>
          <p:grpSpPr>
            <a:xfrm flipH="1" rot="10800000">
              <a:off x="8138" y="3218"/>
              <a:ext cx="2085" cy="2655"/>
              <a:chOff x="8138" y="3878"/>
              <a:chExt cx="2085" cy="2655"/>
            </a:xfrm>
          </p:grpSpPr>
          <p:cxnSp>
            <p:nvCxnSpPr>
              <p:cNvPr id="829" name="Google Shape;829;p35"/>
              <p:cNvCxnSpPr/>
              <p:nvPr/>
            </p:nvCxnSpPr>
            <p:spPr>
              <a:xfrm>
                <a:off x="8138" y="4913"/>
                <a:ext cx="205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30" name="Google Shape;830;p35"/>
              <p:cNvCxnSpPr/>
              <p:nvPr/>
            </p:nvCxnSpPr>
            <p:spPr>
              <a:xfrm>
                <a:off x="8587" y="4088"/>
                <a:ext cx="1606" cy="81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1" name="Google Shape;831;p35"/>
              <p:cNvCxnSpPr/>
              <p:nvPr/>
            </p:nvCxnSpPr>
            <p:spPr>
              <a:xfrm>
                <a:off x="8153" y="4913"/>
                <a:ext cx="641" cy="324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med" w="med" type="none"/>
                <a:tailEnd len="sm" w="sm" type="stealth"/>
              </a:ln>
            </p:spPr>
          </p:cxnSp>
          <p:sp>
            <p:nvSpPr>
              <p:cNvPr id="832" name="Google Shape;832;p35"/>
              <p:cNvSpPr/>
              <p:nvPr/>
            </p:nvSpPr>
            <p:spPr>
              <a:xfrm flipH="1">
                <a:off x="8182" y="3878"/>
                <a:ext cx="2041" cy="1025"/>
              </a:xfrm>
              <a:custGeom>
                <a:rect b="b" l="l" r="r" t="t"/>
                <a:pathLst>
                  <a:path extrusionOk="0" fill="none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</a:path>
                  <a:path extrusionOk="0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0000FF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33" name="Google Shape;833;p35"/>
              <p:cNvCxnSpPr/>
              <p:nvPr/>
            </p:nvCxnSpPr>
            <p:spPr>
              <a:xfrm flipH="1" rot="10800000">
                <a:off x="8153" y="4101"/>
                <a:ext cx="434" cy="81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34" name="Google Shape;834;p35"/>
              <p:cNvSpPr/>
              <p:nvPr/>
            </p:nvSpPr>
            <p:spPr>
              <a:xfrm flipH="1" rot="5400000">
                <a:off x="7796" y="5328"/>
                <a:ext cx="1605" cy="805"/>
              </a:xfrm>
              <a:custGeom>
                <a:rect b="b" l="l" r="r" t="t"/>
                <a:pathLst>
                  <a:path extrusionOk="0" fill="none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</a:path>
                  <a:path extrusionOk="0" h="21727" w="43200">
                    <a:moveTo>
                      <a:pt x="0" y="21726"/>
                    </a:moveTo>
                    <a:cubicBezTo>
                      <a:pt x="0" y="21684"/>
                      <a:pt x="0" y="2164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199" y="9670"/>
                      <a:pt x="43199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FF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35" name="Google Shape;835;p35"/>
              <p:cNvCxnSpPr/>
              <p:nvPr/>
            </p:nvCxnSpPr>
            <p:spPr>
              <a:xfrm>
                <a:off x="8169" y="4913"/>
                <a:ext cx="0" cy="162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36" name="Google Shape;836;p35"/>
          <p:cNvSpPr/>
          <p:nvPr/>
        </p:nvSpPr>
        <p:spPr>
          <a:xfrm>
            <a:off x="411418" y="911967"/>
            <a:ext cx="8330655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 RC circuit analysed in a similar manner to series RL circuit. 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 current would be leading instead of lagging the  voltage.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the practical inductor, practical capacitor does not have significant loss. 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the practical locus diagram is same as the theoretical diagram.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5"/>
          <p:cNvSpPr/>
          <p:nvPr/>
        </p:nvSpPr>
        <p:spPr>
          <a:xfrm>
            <a:off x="411418" y="4731735"/>
            <a:ext cx="893134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45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</a:t>
            </a:r>
            <a:r>
              <a:rPr b="1" i="1" lang="en-GB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RL and RC Circuits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5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Loci diagrams of parallel RL and RC circuits is obtained in a manner similar to obtaining that for the series circuits.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6"/>
          <p:cNvSpPr txBox="1"/>
          <p:nvPr>
            <p:ph type="title"/>
          </p:nvPr>
        </p:nvSpPr>
        <p:spPr>
          <a:xfrm>
            <a:off x="449489" y="54357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Mutual Inductance</a:t>
            </a:r>
            <a:endParaRPr/>
          </a:p>
        </p:txBody>
      </p:sp>
      <p:sp>
        <p:nvSpPr>
          <p:cNvPr id="843" name="Google Shape;843;p36"/>
          <p:cNvSpPr/>
          <p:nvPr/>
        </p:nvSpPr>
        <p:spPr>
          <a:xfrm>
            <a:off x="449489" y="933380"/>
            <a:ext cx="1133257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Mutual coupling between coils exist, when one coil is in the magnetic field created by another coil.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4" name="Google Shape;844;p36"/>
          <p:cNvGrpSpPr/>
          <p:nvPr/>
        </p:nvGrpSpPr>
        <p:grpSpPr>
          <a:xfrm>
            <a:off x="5149215" y="1817161"/>
            <a:ext cx="6646545" cy="2630805"/>
            <a:chOff x="3106" y="1632"/>
            <a:chExt cx="10467" cy="4143"/>
          </a:xfrm>
        </p:grpSpPr>
        <p:grpSp>
          <p:nvGrpSpPr>
            <p:cNvPr id="845" name="Google Shape;845;p36"/>
            <p:cNvGrpSpPr/>
            <p:nvPr/>
          </p:nvGrpSpPr>
          <p:grpSpPr>
            <a:xfrm flipH="1" rot="10800000">
              <a:off x="3862" y="2689"/>
              <a:ext cx="3315" cy="1733"/>
              <a:chOff x="8378" y="8272"/>
              <a:chExt cx="1080" cy="355"/>
            </a:xfrm>
          </p:grpSpPr>
          <p:sp>
            <p:nvSpPr>
              <p:cNvPr id="846" name="Google Shape;846;p36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7" name="Google Shape;847;p36"/>
              <p:cNvGrpSpPr/>
              <p:nvPr/>
            </p:nvGrpSpPr>
            <p:grpSpPr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848" name="Google Shape;848;p36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36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0" name="Google Shape;850;p36"/>
              <p:cNvGrpSpPr/>
              <p:nvPr/>
            </p:nvGrpSpPr>
            <p:grpSpPr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851" name="Google Shape;851;p36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36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3" name="Google Shape;853;p36"/>
              <p:cNvGrpSpPr/>
              <p:nvPr/>
            </p:nvGrpSpPr>
            <p:grpSpPr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854" name="Google Shape;854;p36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36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6" name="Google Shape;856;p36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36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58" name="Google Shape;858;p36"/>
            <p:cNvCxnSpPr/>
            <p:nvPr/>
          </p:nvCxnSpPr>
          <p:spPr>
            <a:xfrm>
              <a:off x="7177" y="3587"/>
              <a:ext cx="0" cy="1316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36"/>
            <p:cNvCxnSpPr/>
            <p:nvPr/>
          </p:nvCxnSpPr>
          <p:spPr>
            <a:xfrm rot="10800000">
              <a:off x="3862" y="3551"/>
              <a:ext cx="0" cy="135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0" name="Google Shape;860;p36"/>
            <p:cNvSpPr txBox="1"/>
            <p:nvPr/>
          </p:nvSpPr>
          <p:spPr>
            <a:xfrm>
              <a:off x="5374" y="1850"/>
              <a:ext cx="872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61" name="Google Shape;861;p36"/>
            <p:cNvGrpSpPr/>
            <p:nvPr/>
          </p:nvGrpSpPr>
          <p:grpSpPr>
            <a:xfrm flipH="1" rot="10800000">
              <a:off x="9095" y="2677"/>
              <a:ext cx="3315" cy="1733"/>
              <a:chOff x="8378" y="8272"/>
              <a:chExt cx="1080" cy="355"/>
            </a:xfrm>
          </p:grpSpPr>
          <p:sp>
            <p:nvSpPr>
              <p:cNvPr id="862" name="Google Shape;862;p36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3" name="Google Shape;863;p36"/>
              <p:cNvGrpSpPr/>
              <p:nvPr/>
            </p:nvGrpSpPr>
            <p:grpSpPr>
              <a:xfrm>
                <a:off x="8556" y="8282"/>
                <a:ext cx="328" cy="345"/>
                <a:chOff x="2020" y="8243"/>
                <a:chExt cx="1768" cy="960"/>
              </a:xfrm>
            </p:grpSpPr>
            <p:sp>
              <p:nvSpPr>
                <p:cNvPr id="864" name="Google Shape;864;p36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36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66" name="Google Shape;866;p36"/>
              <p:cNvGrpSpPr/>
              <p:nvPr/>
            </p:nvGrpSpPr>
            <p:grpSpPr>
              <a:xfrm>
                <a:off x="8745" y="8272"/>
                <a:ext cx="328" cy="345"/>
                <a:chOff x="2020" y="8243"/>
                <a:chExt cx="1768" cy="960"/>
              </a:xfrm>
            </p:grpSpPr>
            <p:sp>
              <p:nvSpPr>
                <p:cNvPr id="867" name="Google Shape;867;p36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36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69" name="Google Shape;869;p36"/>
              <p:cNvGrpSpPr/>
              <p:nvPr/>
            </p:nvGrpSpPr>
            <p:grpSpPr>
              <a:xfrm>
                <a:off x="8931" y="8278"/>
                <a:ext cx="328" cy="345"/>
                <a:chOff x="2020" y="8243"/>
                <a:chExt cx="1768" cy="960"/>
              </a:xfrm>
            </p:grpSpPr>
            <p:sp>
              <p:nvSpPr>
                <p:cNvPr id="870" name="Google Shape;870;p36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36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2" name="Google Shape;872;p36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6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74" name="Google Shape;874;p36"/>
            <p:cNvCxnSpPr/>
            <p:nvPr/>
          </p:nvCxnSpPr>
          <p:spPr>
            <a:xfrm>
              <a:off x="12410" y="3575"/>
              <a:ext cx="0" cy="1764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36"/>
            <p:cNvCxnSpPr/>
            <p:nvPr/>
          </p:nvCxnSpPr>
          <p:spPr>
            <a:xfrm rot="10800000">
              <a:off x="9095" y="3539"/>
              <a:ext cx="0" cy="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6" name="Google Shape;876;p36"/>
            <p:cNvSpPr/>
            <p:nvPr/>
          </p:nvSpPr>
          <p:spPr>
            <a:xfrm>
              <a:off x="3397" y="2286"/>
              <a:ext cx="10002" cy="1027"/>
            </a:xfrm>
            <a:custGeom>
              <a:rect b="b" l="l" r="r" t="t"/>
              <a:pathLst>
                <a:path extrusionOk="0" h="424" w="4128">
                  <a:moveTo>
                    <a:pt x="0" y="413"/>
                  </a:moveTo>
                  <a:cubicBezTo>
                    <a:pt x="348" y="415"/>
                    <a:pt x="696" y="418"/>
                    <a:pt x="984" y="413"/>
                  </a:cubicBezTo>
                  <a:cubicBezTo>
                    <a:pt x="1272" y="408"/>
                    <a:pt x="1343" y="424"/>
                    <a:pt x="1728" y="385"/>
                  </a:cubicBezTo>
                  <a:cubicBezTo>
                    <a:pt x="2113" y="346"/>
                    <a:pt x="2895" y="244"/>
                    <a:pt x="3295" y="180"/>
                  </a:cubicBezTo>
                  <a:cubicBezTo>
                    <a:pt x="3695" y="116"/>
                    <a:pt x="3911" y="58"/>
                    <a:pt x="4128" y="0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3397" y="3575"/>
              <a:ext cx="9420" cy="12"/>
            </a:xfrm>
            <a:custGeom>
              <a:rect b="b" l="l" r="r" t="t"/>
              <a:pathLst>
                <a:path extrusionOk="0" h="5" w="3888">
                  <a:moveTo>
                    <a:pt x="0" y="0"/>
                  </a:moveTo>
                  <a:cubicBezTo>
                    <a:pt x="1620" y="2"/>
                    <a:pt x="3240" y="4"/>
                    <a:pt x="3888" y="5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3462" y="3776"/>
              <a:ext cx="9711" cy="945"/>
            </a:xfrm>
            <a:custGeom>
              <a:rect b="b" l="l" r="r" t="t"/>
              <a:pathLst>
                <a:path extrusionOk="0" h="390" w="4008">
                  <a:moveTo>
                    <a:pt x="0" y="30"/>
                  </a:moveTo>
                  <a:cubicBezTo>
                    <a:pt x="988" y="15"/>
                    <a:pt x="1977" y="0"/>
                    <a:pt x="2565" y="30"/>
                  </a:cubicBezTo>
                  <a:cubicBezTo>
                    <a:pt x="3153" y="60"/>
                    <a:pt x="3288" y="150"/>
                    <a:pt x="3528" y="210"/>
                  </a:cubicBezTo>
                  <a:cubicBezTo>
                    <a:pt x="3768" y="270"/>
                    <a:pt x="3888" y="330"/>
                    <a:pt x="4008" y="390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6"/>
            <p:cNvSpPr/>
            <p:nvPr/>
          </p:nvSpPr>
          <p:spPr>
            <a:xfrm>
              <a:off x="3397" y="4103"/>
              <a:ext cx="6244" cy="519"/>
            </a:xfrm>
            <a:custGeom>
              <a:rect b="b" l="l" r="r" t="t"/>
              <a:pathLst>
                <a:path extrusionOk="0" h="214" w="2577">
                  <a:moveTo>
                    <a:pt x="0" y="12"/>
                  </a:moveTo>
                  <a:cubicBezTo>
                    <a:pt x="210" y="7"/>
                    <a:pt x="420" y="3"/>
                    <a:pt x="680" y="7"/>
                  </a:cubicBezTo>
                  <a:cubicBezTo>
                    <a:pt x="940" y="11"/>
                    <a:pt x="1244" y="0"/>
                    <a:pt x="1560" y="34"/>
                  </a:cubicBezTo>
                  <a:cubicBezTo>
                    <a:pt x="1876" y="68"/>
                    <a:pt x="2226" y="141"/>
                    <a:pt x="2577" y="214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6"/>
            <p:cNvSpPr/>
            <p:nvPr/>
          </p:nvSpPr>
          <p:spPr>
            <a:xfrm>
              <a:off x="3397" y="1632"/>
              <a:ext cx="6396" cy="1459"/>
            </a:xfrm>
            <a:custGeom>
              <a:rect b="b" l="l" r="r" t="t"/>
              <a:pathLst>
                <a:path extrusionOk="0" h="602" w="2640">
                  <a:moveTo>
                    <a:pt x="0" y="567"/>
                  </a:moveTo>
                  <a:cubicBezTo>
                    <a:pt x="390" y="584"/>
                    <a:pt x="780" y="602"/>
                    <a:pt x="1080" y="567"/>
                  </a:cubicBezTo>
                  <a:cubicBezTo>
                    <a:pt x="1380" y="532"/>
                    <a:pt x="1540" y="454"/>
                    <a:pt x="1800" y="360"/>
                  </a:cubicBezTo>
                  <a:cubicBezTo>
                    <a:pt x="2060" y="266"/>
                    <a:pt x="2350" y="133"/>
                    <a:pt x="2640" y="0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6"/>
            <p:cNvSpPr txBox="1"/>
            <p:nvPr/>
          </p:nvSpPr>
          <p:spPr>
            <a:xfrm>
              <a:off x="10084" y="1850"/>
              <a:ext cx="872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2" name="Google Shape;882;p36"/>
            <p:cNvSpPr txBox="1"/>
            <p:nvPr/>
          </p:nvSpPr>
          <p:spPr>
            <a:xfrm>
              <a:off x="7177" y="3158"/>
              <a:ext cx="872" cy="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36"/>
            <p:cNvSpPr txBox="1"/>
            <p:nvPr/>
          </p:nvSpPr>
          <p:spPr>
            <a:xfrm>
              <a:off x="8340" y="3158"/>
              <a:ext cx="872" cy="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φ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4" name="Google Shape;884;p36"/>
            <p:cNvCxnSpPr/>
            <p:nvPr/>
          </p:nvCxnSpPr>
          <p:spPr>
            <a:xfrm rot="-5400000">
              <a:off x="3701" y="4467"/>
              <a:ext cx="291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85" name="Google Shape;885;p36"/>
            <p:cNvCxnSpPr/>
            <p:nvPr/>
          </p:nvCxnSpPr>
          <p:spPr>
            <a:xfrm rot="5400000">
              <a:off x="12264" y="4867"/>
              <a:ext cx="291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86" name="Google Shape;886;p36"/>
            <p:cNvCxnSpPr/>
            <p:nvPr/>
          </p:nvCxnSpPr>
          <p:spPr>
            <a:xfrm rot="10800000">
              <a:off x="4269" y="4903"/>
              <a:ext cx="2617" cy="0"/>
            </a:xfrm>
            <a:prstGeom prst="straightConnector1">
              <a:avLst/>
            </a:prstGeom>
            <a:noFill/>
            <a:ln cap="flat" cmpd="sng" w="28575">
              <a:solidFill>
                <a:srgbClr val="0070C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87" name="Google Shape;887;p36"/>
            <p:cNvCxnSpPr/>
            <p:nvPr/>
          </p:nvCxnSpPr>
          <p:spPr>
            <a:xfrm>
              <a:off x="9503" y="5012"/>
              <a:ext cx="2342" cy="0"/>
            </a:xfrm>
            <a:prstGeom prst="straightConnector1">
              <a:avLst/>
            </a:prstGeom>
            <a:noFill/>
            <a:ln cap="flat" cmpd="sng" w="28575">
              <a:solidFill>
                <a:srgbClr val="0070C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88" name="Google Shape;888;p36"/>
            <p:cNvSpPr txBox="1"/>
            <p:nvPr/>
          </p:nvSpPr>
          <p:spPr>
            <a:xfrm>
              <a:off x="4851" y="4687"/>
              <a:ext cx="872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9" name="Google Shape;889;p36"/>
            <p:cNvSpPr txBox="1"/>
            <p:nvPr/>
          </p:nvSpPr>
          <p:spPr>
            <a:xfrm>
              <a:off x="10956" y="4903"/>
              <a:ext cx="873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0" name="Google Shape;890;p36"/>
            <p:cNvSpPr txBox="1"/>
            <p:nvPr/>
          </p:nvSpPr>
          <p:spPr>
            <a:xfrm>
              <a:off x="7758" y="4467"/>
              <a:ext cx="872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1" name="Google Shape;891;p36"/>
            <p:cNvSpPr txBox="1"/>
            <p:nvPr/>
          </p:nvSpPr>
          <p:spPr>
            <a:xfrm>
              <a:off x="3106" y="4031"/>
              <a:ext cx="544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2" name="Google Shape;892;p36"/>
            <p:cNvSpPr txBox="1"/>
            <p:nvPr/>
          </p:nvSpPr>
          <p:spPr>
            <a:xfrm>
              <a:off x="12701" y="4467"/>
              <a:ext cx="872" cy="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3" name="Google Shape;893;p36"/>
          <p:cNvSpPr/>
          <p:nvPr/>
        </p:nvSpPr>
        <p:spPr>
          <a:xfrm>
            <a:off x="147728" y="4287946"/>
            <a:ext cx="9848845" cy="2177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varying i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(t) in primary winding,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−"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varying flux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same coil and back emf e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(t).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flux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φ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links with second coil, </a:t>
            </a:r>
            <a:endParaRPr/>
          </a:p>
          <a:p>
            <a:pPr indent="0" lvl="0" marL="0" marR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induced emf e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(t).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4" name="Google Shape;89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" y="2274122"/>
            <a:ext cx="4358505" cy="202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9" name="Google Shape;899;p37"/>
          <p:cNvGrpSpPr/>
          <p:nvPr/>
        </p:nvGrpSpPr>
        <p:grpSpPr>
          <a:xfrm>
            <a:off x="8847138" y="1316990"/>
            <a:ext cx="3184525" cy="2623821"/>
            <a:chOff x="0" y="0"/>
            <a:chExt cx="3184525" cy="2624433"/>
          </a:xfrm>
        </p:grpSpPr>
        <p:grpSp>
          <p:nvGrpSpPr>
            <p:cNvPr id="900" name="Google Shape;900;p37"/>
            <p:cNvGrpSpPr/>
            <p:nvPr/>
          </p:nvGrpSpPr>
          <p:grpSpPr>
            <a:xfrm>
              <a:off x="0" y="0"/>
              <a:ext cx="3184525" cy="2026920"/>
              <a:chOff x="0" y="0"/>
              <a:chExt cx="3184525" cy="2026920"/>
            </a:xfrm>
          </p:grpSpPr>
          <p:sp>
            <p:nvSpPr>
              <p:cNvPr id="901" name="Google Shape;901;p37"/>
              <p:cNvSpPr/>
              <p:nvPr/>
            </p:nvSpPr>
            <p:spPr>
              <a:xfrm>
                <a:off x="504825" y="0"/>
                <a:ext cx="2009775" cy="2011680"/>
              </a:xfrm>
              <a:prstGeom prst="donut">
                <a:avLst>
                  <a:gd fmla="val 25000" name="adj"/>
                </a:avLst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 cap="flat" cmpd="sng" w="12700">
                <a:solidFill>
                  <a:srgbClr val="00206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" name="Google Shape;902;p37"/>
              <p:cNvGrpSpPr/>
              <p:nvPr/>
            </p:nvGrpSpPr>
            <p:grpSpPr>
              <a:xfrm>
                <a:off x="0" y="9525"/>
                <a:ext cx="3184525" cy="1657039"/>
                <a:chOff x="8191" y="11163"/>
                <a:chExt cx="2000" cy="1070"/>
              </a:xfrm>
            </p:grpSpPr>
            <p:grpSp>
              <p:nvGrpSpPr>
                <p:cNvPr id="903" name="Google Shape;903;p37"/>
                <p:cNvGrpSpPr/>
                <p:nvPr/>
              </p:nvGrpSpPr>
              <p:grpSpPr>
                <a:xfrm>
                  <a:off x="8287" y="11512"/>
                  <a:ext cx="674" cy="721"/>
                  <a:chOff x="7822" y="10895"/>
                  <a:chExt cx="674" cy="1019"/>
                </a:xfrm>
              </p:grpSpPr>
              <p:grpSp>
                <p:nvGrpSpPr>
                  <p:cNvPr id="904" name="Google Shape;904;p37"/>
                  <p:cNvGrpSpPr/>
                  <p:nvPr/>
                </p:nvGrpSpPr>
                <p:grpSpPr>
                  <a:xfrm rot="-5400000">
                    <a:off x="7763" y="11181"/>
                    <a:ext cx="1008" cy="458"/>
                    <a:chOff x="8569" y="8359"/>
                    <a:chExt cx="1008" cy="458"/>
                  </a:xfrm>
                </p:grpSpPr>
                <p:sp>
                  <p:nvSpPr>
                    <p:cNvPr id="905" name="Google Shape;905;p37"/>
                    <p:cNvSpPr/>
                    <p:nvPr/>
                  </p:nvSpPr>
                  <p:spPr>
                    <a:xfrm rot="10800000">
                      <a:off x="8569" y="8471"/>
                      <a:ext cx="281" cy="346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906" name="Google Shape;906;p37"/>
                    <p:cNvGrpSpPr/>
                    <p:nvPr/>
                  </p:nvGrpSpPr>
                  <p:grpSpPr>
                    <a:xfrm>
                      <a:off x="8701" y="8423"/>
                      <a:ext cx="332" cy="300"/>
                      <a:chOff x="2687" y="8747"/>
                      <a:chExt cx="1791" cy="847"/>
                    </a:xfrm>
                  </p:grpSpPr>
                  <p:sp>
                    <p:nvSpPr>
                      <p:cNvPr id="907" name="Google Shape;907;p37"/>
                      <p:cNvSpPr/>
                      <p:nvPr/>
                    </p:nvSpPr>
                    <p:spPr>
                      <a:xfrm>
                        <a:off x="2687" y="8747"/>
                        <a:ext cx="842" cy="547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08" name="Google Shape;908;p37"/>
                      <p:cNvSpPr/>
                      <p:nvPr/>
                    </p:nvSpPr>
                    <p:spPr>
                      <a:xfrm rot="10800000">
                        <a:off x="2807" y="9057"/>
                        <a:ext cx="1671" cy="537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09" name="Google Shape;909;p37"/>
                    <p:cNvGrpSpPr/>
                    <p:nvPr/>
                  </p:nvGrpSpPr>
                  <p:grpSpPr>
                    <a:xfrm>
                      <a:off x="8890" y="8387"/>
                      <a:ext cx="328" cy="329"/>
                      <a:chOff x="2687" y="8587"/>
                      <a:chExt cx="1768" cy="920"/>
                    </a:xfrm>
                  </p:grpSpPr>
                  <p:sp>
                    <p:nvSpPr>
                      <p:cNvPr id="910" name="Google Shape;910;p37"/>
                      <p:cNvSpPr/>
                      <p:nvPr/>
                    </p:nvSpPr>
                    <p:spPr>
                      <a:xfrm>
                        <a:off x="2687" y="8587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1" name="Google Shape;911;p37"/>
                      <p:cNvSpPr/>
                      <p:nvPr/>
                    </p:nvSpPr>
                    <p:spPr>
                      <a:xfrm rot="10800000">
                        <a:off x="2784" y="9057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2" name="Google Shape;912;p37"/>
                    <p:cNvGrpSpPr/>
                    <p:nvPr/>
                  </p:nvGrpSpPr>
                  <p:grpSpPr>
                    <a:xfrm>
                      <a:off x="9074" y="8359"/>
                      <a:ext cx="312" cy="352"/>
                      <a:chOff x="2669" y="8513"/>
                      <a:chExt cx="1671" cy="986"/>
                    </a:xfrm>
                  </p:grpSpPr>
                  <p:sp>
                    <p:nvSpPr>
                      <p:cNvPr id="913" name="Google Shape;913;p37"/>
                      <p:cNvSpPr/>
                      <p:nvPr/>
                    </p:nvSpPr>
                    <p:spPr>
                      <a:xfrm>
                        <a:off x="2687" y="8513"/>
                        <a:ext cx="842" cy="708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4" name="Google Shape;914;p37"/>
                      <p:cNvSpPr/>
                      <p:nvPr/>
                    </p:nvSpPr>
                    <p:spPr>
                      <a:xfrm rot="10800000">
                        <a:off x="2669" y="9049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915" name="Google Shape;915;p37"/>
                    <p:cNvSpPr/>
                    <p:nvPr/>
                  </p:nvSpPr>
                  <p:spPr>
                    <a:xfrm>
                      <a:off x="9234" y="8368"/>
                      <a:ext cx="156" cy="26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6" name="Google Shape;916;p37"/>
                    <p:cNvSpPr/>
                    <p:nvPr/>
                  </p:nvSpPr>
                  <p:spPr>
                    <a:xfrm rot="10800000">
                      <a:off x="9255" y="8561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917" name="Google Shape;917;p37"/>
                  <p:cNvCxnSpPr/>
                  <p:nvPr/>
                </p:nvCxnSpPr>
                <p:spPr>
                  <a:xfrm rot="10800000">
                    <a:off x="7822" y="10895"/>
                    <a:ext cx="435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18" name="Google Shape;918;p37"/>
                  <p:cNvCxnSpPr/>
                  <p:nvPr/>
                </p:nvCxnSpPr>
                <p:spPr>
                  <a:xfrm rot="10800000">
                    <a:off x="7847" y="11910"/>
                    <a:ext cx="299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19" name="Google Shape;919;p37"/>
                <p:cNvGrpSpPr/>
                <p:nvPr/>
              </p:nvGrpSpPr>
              <p:grpSpPr>
                <a:xfrm flipH="1">
                  <a:off x="9354" y="11485"/>
                  <a:ext cx="659" cy="694"/>
                  <a:chOff x="7868" y="10637"/>
                  <a:chExt cx="659" cy="966"/>
                </a:xfrm>
              </p:grpSpPr>
              <p:grpSp>
                <p:nvGrpSpPr>
                  <p:cNvPr id="920" name="Google Shape;920;p37"/>
                  <p:cNvGrpSpPr/>
                  <p:nvPr/>
                </p:nvGrpSpPr>
                <p:grpSpPr>
                  <a:xfrm rot="-5400000">
                    <a:off x="7843" y="10908"/>
                    <a:ext cx="955" cy="413"/>
                    <a:chOff x="8923" y="8403"/>
                    <a:chExt cx="955" cy="413"/>
                  </a:xfrm>
                </p:grpSpPr>
                <p:sp>
                  <p:nvSpPr>
                    <p:cNvPr id="921" name="Google Shape;921;p37"/>
                    <p:cNvSpPr/>
                    <p:nvPr/>
                  </p:nvSpPr>
                  <p:spPr>
                    <a:xfrm rot="10800000">
                      <a:off x="8923" y="8541"/>
                      <a:ext cx="276" cy="275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922" name="Google Shape;922;p37"/>
                    <p:cNvGrpSpPr/>
                    <p:nvPr/>
                  </p:nvGrpSpPr>
                  <p:grpSpPr>
                    <a:xfrm>
                      <a:off x="9035" y="8426"/>
                      <a:ext cx="328" cy="345"/>
                      <a:chOff x="4435" y="8627"/>
                      <a:chExt cx="1768" cy="960"/>
                    </a:xfrm>
                  </p:grpSpPr>
                  <p:sp>
                    <p:nvSpPr>
                      <p:cNvPr id="923" name="Google Shape;923;p37"/>
                      <p:cNvSpPr/>
                      <p:nvPr/>
                    </p:nvSpPr>
                    <p:spPr>
                      <a:xfrm>
                        <a:off x="4435" y="8627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24" name="Google Shape;924;p37"/>
                      <p:cNvSpPr/>
                      <p:nvPr/>
                    </p:nvSpPr>
                    <p:spPr>
                      <a:xfrm rot="10800000">
                        <a:off x="4532" y="9137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25" name="Google Shape;925;p37"/>
                    <p:cNvGrpSpPr/>
                    <p:nvPr/>
                  </p:nvGrpSpPr>
                  <p:grpSpPr>
                    <a:xfrm>
                      <a:off x="9224" y="8403"/>
                      <a:ext cx="328" cy="332"/>
                      <a:chOff x="4435" y="8627"/>
                      <a:chExt cx="1768" cy="928"/>
                    </a:xfrm>
                  </p:grpSpPr>
                  <p:sp>
                    <p:nvSpPr>
                      <p:cNvPr id="926" name="Google Shape;926;p37"/>
                      <p:cNvSpPr/>
                      <p:nvPr/>
                    </p:nvSpPr>
                    <p:spPr>
                      <a:xfrm>
                        <a:off x="4435" y="8627"/>
                        <a:ext cx="842" cy="730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27" name="Google Shape;927;p37"/>
                      <p:cNvSpPr/>
                      <p:nvPr/>
                    </p:nvSpPr>
                    <p:spPr>
                      <a:xfrm rot="10800000">
                        <a:off x="4532" y="9105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28" name="Google Shape;928;p37"/>
                    <p:cNvGrpSpPr/>
                    <p:nvPr/>
                  </p:nvGrpSpPr>
                  <p:grpSpPr>
                    <a:xfrm>
                      <a:off x="9410" y="8422"/>
                      <a:ext cx="328" cy="345"/>
                      <a:chOff x="4435" y="8627"/>
                      <a:chExt cx="1768" cy="960"/>
                    </a:xfrm>
                  </p:grpSpPr>
                  <p:sp>
                    <p:nvSpPr>
                      <p:cNvPr id="929" name="Google Shape;929;p37"/>
                      <p:cNvSpPr/>
                      <p:nvPr/>
                    </p:nvSpPr>
                    <p:spPr>
                      <a:xfrm>
                        <a:off x="4435" y="8627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30" name="Google Shape;930;p37"/>
                      <p:cNvSpPr/>
                      <p:nvPr/>
                    </p:nvSpPr>
                    <p:spPr>
                      <a:xfrm rot="10800000">
                        <a:off x="4532" y="9137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931" name="Google Shape;931;p37"/>
                    <p:cNvSpPr/>
                    <p:nvPr/>
                  </p:nvSpPr>
                  <p:spPr>
                    <a:xfrm>
                      <a:off x="9556" y="8418"/>
                      <a:ext cx="18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2" name="Google Shape;932;p37"/>
                    <p:cNvSpPr/>
                    <p:nvPr/>
                  </p:nvSpPr>
                  <p:spPr>
                    <a:xfrm rot="10800000">
                      <a:off x="9556" y="8598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933" name="Google Shape;933;p37"/>
                  <p:cNvCxnSpPr/>
                  <p:nvPr/>
                </p:nvCxnSpPr>
                <p:spPr>
                  <a:xfrm rot="10800000">
                    <a:off x="7868" y="10647"/>
                    <a:ext cx="447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34" name="Google Shape;934;p37"/>
                  <p:cNvCxnSpPr/>
                  <p:nvPr/>
                </p:nvCxnSpPr>
                <p:spPr>
                  <a:xfrm rot="10800000">
                    <a:off x="7877" y="11603"/>
                    <a:ext cx="360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935" name="Google Shape;935;p37"/>
                <p:cNvSpPr txBox="1"/>
                <p:nvPr/>
              </p:nvSpPr>
              <p:spPr>
                <a:xfrm>
                  <a:off x="8948" y="11163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GB" sz="3200">
                      <a:solidFill>
                        <a:srgbClr val="FFFFFF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36" name="Google Shape;936;p37"/>
                <p:cNvSpPr txBox="1"/>
                <p:nvPr/>
              </p:nvSpPr>
              <p:spPr>
                <a:xfrm>
                  <a:off x="8191" y="11645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GB" sz="3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</a:t>
                  </a:r>
                  <a:r>
                    <a:rPr baseline="-25000" i="1" lang="en-GB" sz="3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37" name="Google Shape;937;p37"/>
                <p:cNvSpPr txBox="1"/>
                <p:nvPr/>
              </p:nvSpPr>
              <p:spPr>
                <a:xfrm>
                  <a:off x="9831" y="1164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GB" sz="3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</a:t>
                  </a:r>
                  <a:r>
                    <a:rPr baseline="-25000" i="1" lang="en-GB" sz="3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38" name="Google Shape;938;p37"/>
                <p:cNvSpPr txBox="1"/>
                <p:nvPr/>
              </p:nvSpPr>
              <p:spPr>
                <a:xfrm>
                  <a:off x="9088" y="11857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GB" sz="3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939" name="Google Shape;939;p37"/>
              <p:cNvSpPr/>
              <p:nvPr/>
            </p:nvSpPr>
            <p:spPr>
              <a:xfrm>
                <a:off x="1304925" y="1524000"/>
                <a:ext cx="502920" cy="50292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833C0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7"/>
              <p:cNvSpPr/>
              <p:nvPr/>
            </p:nvSpPr>
            <p:spPr>
              <a:xfrm>
                <a:off x="657225" y="257175"/>
                <a:ext cx="1646673" cy="1553372"/>
              </a:xfrm>
              <a:custGeom>
                <a:rect b="b" l="l" r="r" t="t"/>
                <a:pathLst>
                  <a:path extrusionOk="0" fill="none" h="43200" w="43200">
                    <a:moveTo>
                      <a:pt x="21600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14181"/>
                      <a:pt x="3806" y="7282"/>
                      <a:pt x="10082" y="3326"/>
                    </a:cubicBezTo>
                  </a:path>
                  <a:path extrusionOk="0" h="43200" w="43200">
                    <a:moveTo>
                      <a:pt x="21600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14181"/>
                      <a:pt x="3806" y="7282"/>
                      <a:pt x="10082" y="332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1" name="Google Shape;941;p37"/>
            <p:cNvSpPr txBox="1"/>
            <p:nvPr/>
          </p:nvSpPr>
          <p:spPr>
            <a:xfrm>
              <a:off x="981075" y="2066925"/>
              <a:ext cx="1257300" cy="557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Toroid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942" name="Google Shape;94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9461" y="610792"/>
            <a:ext cx="7905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7147" y="519352"/>
            <a:ext cx="8382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37"/>
          <p:cNvSpPr/>
          <p:nvPr/>
        </p:nvSpPr>
        <p:spPr>
          <a:xfrm>
            <a:off x="2696958" y="675661"/>
            <a:ext cx="41153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	e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 N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7"/>
          <p:cNvSpPr/>
          <p:nvPr/>
        </p:nvSpPr>
        <p:spPr>
          <a:xfrm>
            <a:off x="519050" y="741738"/>
            <a:ext cx="16297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N</a:t>
            </a:r>
            <a:r>
              <a:rPr baseline="-25000"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5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6483698" y="706438"/>
            <a:ext cx="19094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k .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7"/>
          <p:cNvSpPr/>
          <p:nvPr/>
        </p:nvSpPr>
        <p:spPr>
          <a:xfrm>
            <a:off x="440934" y="1581130"/>
            <a:ext cx="8748437" cy="4078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– coefficient of coupling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mutual flux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∝   primary flux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 &lt; 1, k ≈ 1 (slightly less but very close to unity).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linear region of the magnetisation characteristic,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flux produced 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∝  current i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producing the flux. 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Also, mutual flux  </a:t>
            </a:r>
            <a:r>
              <a:rPr lang="en-GB" sz="28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∝  current i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induced emf  e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∝  rate of change of  current i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Proportionality Constant defined as Mutual inductance M</a:t>
            </a:r>
            <a:r>
              <a:rPr baseline="-25000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r>
              <a:rPr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37"/>
          <p:cNvSpPr/>
          <p:nvPr/>
        </p:nvSpPr>
        <p:spPr>
          <a:xfrm>
            <a:off x="519050" y="5885298"/>
            <a:ext cx="11079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	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7"/>
          <p:cNvSpPr/>
          <p:nvPr/>
        </p:nvSpPr>
        <p:spPr>
          <a:xfrm>
            <a:off x="4030113" y="5773469"/>
            <a:ext cx="19062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where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7"/>
          <p:cNvSpPr/>
          <p:nvPr/>
        </p:nvSpPr>
        <p:spPr>
          <a:xfrm>
            <a:off x="1364329" y="556332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1" name="Google Shape;95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4329" y="5563323"/>
            <a:ext cx="327660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37"/>
          <p:cNvSpPr/>
          <p:nvPr/>
        </p:nvSpPr>
        <p:spPr>
          <a:xfrm>
            <a:off x="5884908" y="5607091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3" name="Google Shape;95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4908" y="5607091"/>
            <a:ext cx="3807721" cy="1266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8"/>
          <p:cNvSpPr txBox="1"/>
          <p:nvPr>
            <p:ph type="title"/>
          </p:nvPr>
        </p:nvSpPr>
        <p:spPr>
          <a:xfrm>
            <a:off x="429715" y="5202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Mutual Inductance</a:t>
            </a:r>
            <a:endParaRPr/>
          </a:p>
        </p:txBody>
      </p:sp>
      <p:sp>
        <p:nvSpPr>
          <p:cNvPr id="959" name="Google Shape;959;p38"/>
          <p:cNvSpPr/>
          <p:nvPr/>
        </p:nvSpPr>
        <p:spPr>
          <a:xfrm>
            <a:off x="201990" y="1139893"/>
            <a:ext cx="1157940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Mutual inductance is the flux linkage produced in a secondary winding per unit current in primary winding.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60" name="Google Shape;960;p38"/>
          <p:cNvGrpSpPr/>
          <p:nvPr/>
        </p:nvGrpSpPr>
        <p:grpSpPr>
          <a:xfrm>
            <a:off x="8187055" y="2650808"/>
            <a:ext cx="3822065" cy="2059305"/>
            <a:chOff x="8018" y="11108"/>
            <a:chExt cx="2400" cy="1293"/>
          </a:xfrm>
        </p:grpSpPr>
        <p:sp>
          <p:nvSpPr>
            <p:cNvPr descr="Woven mat" id="961" name="Google Shape;961;p38"/>
            <p:cNvSpPr/>
            <p:nvPr/>
          </p:nvSpPr>
          <p:spPr>
            <a:xfrm>
              <a:off x="8378" y="11138"/>
              <a:ext cx="1552" cy="1260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 cap="flat" cmpd="sng" w="3810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8618" y="11396"/>
              <a:ext cx="1073" cy="762"/>
            </a:xfrm>
            <a:prstGeom prst="rect">
              <a:avLst/>
            </a:prstGeom>
            <a:solidFill>
              <a:srgbClr val="C1E7FF"/>
            </a:solidFill>
            <a:ln cap="flat" cmpd="sng" w="3810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3" name="Google Shape;963;p38"/>
            <p:cNvGrpSpPr/>
            <p:nvPr/>
          </p:nvGrpSpPr>
          <p:grpSpPr>
            <a:xfrm>
              <a:off x="8183" y="11393"/>
              <a:ext cx="523" cy="762"/>
              <a:chOff x="7718" y="10943"/>
              <a:chExt cx="523" cy="1097"/>
            </a:xfrm>
          </p:grpSpPr>
          <p:grpSp>
            <p:nvGrpSpPr>
              <p:cNvPr id="964" name="Google Shape;964;p38"/>
              <p:cNvGrpSpPr/>
              <p:nvPr/>
            </p:nvGrpSpPr>
            <p:grpSpPr>
              <a:xfrm rot="-5400000">
                <a:off x="7524" y="11323"/>
                <a:ext cx="1080" cy="355"/>
                <a:chOff x="8378" y="8272"/>
                <a:chExt cx="1080" cy="355"/>
              </a:xfrm>
            </p:grpSpPr>
            <p:sp>
              <p:nvSpPr>
                <p:cNvPr id="965" name="Google Shape;965;p38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6" name="Google Shape;966;p38"/>
                <p:cNvGrpSpPr/>
                <p:nvPr/>
              </p:nvGrpSpPr>
              <p:grpSpPr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967" name="Google Shape;967;p38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968;p38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9" name="Google Shape;969;p38"/>
                <p:cNvGrpSpPr/>
                <p:nvPr/>
              </p:nvGrpSpPr>
              <p:grpSpPr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970" name="Google Shape;970;p38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1" name="Google Shape;971;p38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2" name="Google Shape;972;p38"/>
                <p:cNvGrpSpPr/>
                <p:nvPr/>
              </p:nvGrpSpPr>
              <p:grpSpPr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973" name="Google Shape;973;p38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4" name="Google Shape;974;p38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75" name="Google Shape;975;p38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8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977" name="Google Shape;977;p38"/>
              <p:cNvCxnSpPr/>
              <p:nvPr/>
            </p:nvCxnSpPr>
            <p:spPr>
              <a:xfrm rot="10800000">
                <a:off x="7718" y="10943"/>
                <a:ext cx="36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38"/>
              <p:cNvCxnSpPr/>
              <p:nvPr/>
            </p:nvCxnSpPr>
            <p:spPr>
              <a:xfrm rot="10800000">
                <a:off x="7733" y="12023"/>
                <a:ext cx="36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79" name="Google Shape;979;p38"/>
            <p:cNvGrpSpPr/>
            <p:nvPr/>
          </p:nvGrpSpPr>
          <p:grpSpPr>
            <a:xfrm flipH="1">
              <a:off x="9640" y="11417"/>
              <a:ext cx="523" cy="762"/>
              <a:chOff x="7718" y="10943"/>
              <a:chExt cx="523" cy="1097"/>
            </a:xfrm>
          </p:grpSpPr>
          <p:grpSp>
            <p:nvGrpSpPr>
              <p:cNvPr id="980" name="Google Shape;980;p38"/>
              <p:cNvGrpSpPr/>
              <p:nvPr/>
            </p:nvGrpSpPr>
            <p:grpSpPr>
              <a:xfrm rot="-5400000">
                <a:off x="7524" y="11323"/>
                <a:ext cx="1080" cy="355"/>
                <a:chOff x="8378" y="8272"/>
                <a:chExt cx="1080" cy="355"/>
              </a:xfrm>
            </p:grpSpPr>
            <p:sp>
              <p:nvSpPr>
                <p:cNvPr id="981" name="Google Shape;981;p38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82" name="Google Shape;982;p38"/>
                <p:cNvGrpSpPr/>
                <p:nvPr/>
              </p:nvGrpSpPr>
              <p:grpSpPr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983" name="Google Shape;983;p38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4" name="Google Shape;984;p38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85" name="Google Shape;985;p38"/>
                <p:cNvGrpSpPr/>
                <p:nvPr/>
              </p:nvGrpSpPr>
              <p:grpSpPr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986" name="Google Shape;986;p38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38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88" name="Google Shape;988;p38"/>
                <p:cNvGrpSpPr/>
                <p:nvPr/>
              </p:nvGrpSpPr>
              <p:grpSpPr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989" name="Google Shape;989;p38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0" name="Google Shape;990;p38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91" name="Google Shape;991;p38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38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993" name="Google Shape;993;p38"/>
              <p:cNvCxnSpPr/>
              <p:nvPr/>
            </p:nvCxnSpPr>
            <p:spPr>
              <a:xfrm rot="10800000">
                <a:off x="7718" y="10943"/>
                <a:ext cx="36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38"/>
              <p:cNvCxnSpPr/>
              <p:nvPr/>
            </p:nvCxnSpPr>
            <p:spPr>
              <a:xfrm rot="10800000">
                <a:off x="7733" y="12023"/>
                <a:ext cx="36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95" name="Google Shape;995;p38"/>
            <p:cNvSpPr/>
            <p:nvPr/>
          </p:nvSpPr>
          <p:spPr>
            <a:xfrm>
              <a:off x="8420" y="11244"/>
              <a:ext cx="1444" cy="1079"/>
            </a:xfrm>
            <a:custGeom>
              <a:rect b="b" l="l" r="r" t="t"/>
              <a:pathLst>
                <a:path extrusionOk="0" fill="none" h="43200" w="4320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4181"/>
                    <a:pt x="3806" y="7282"/>
                    <a:pt x="10082" y="3326"/>
                  </a:cubicBezTo>
                </a:path>
                <a:path extrusionOk="0" h="43200" w="4320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4181"/>
                    <a:pt x="3806" y="7282"/>
                    <a:pt x="10082" y="33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8"/>
            <p:cNvSpPr txBox="1"/>
            <p:nvPr/>
          </p:nvSpPr>
          <p:spPr>
            <a:xfrm>
              <a:off x="8858" y="1110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descr="Light downward diagonal" id="997" name="Google Shape;997;p38"/>
            <p:cNvSpPr/>
            <p:nvPr/>
          </p:nvSpPr>
          <p:spPr>
            <a:xfrm>
              <a:off x="9095" y="12169"/>
              <a:ext cx="200" cy="232"/>
            </a:xfrm>
            <a:prstGeom prst="rect">
              <a:avLst/>
            </a:prstGeom>
            <a:solidFill>
              <a:srgbClr val="FFFFFF"/>
            </a:solidFill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8"/>
            <p:cNvSpPr txBox="1"/>
            <p:nvPr/>
          </p:nvSpPr>
          <p:spPr>
            <a:xfrm>
              <a:off x="9098" y="118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9" name="Google Shape;999;p38"/>
            <p:cNvSpPr txBox="1"/>
            <p:nvPr/>
          </p:nvSpPr>
          <p:spPr>
            <a:xfrm>
              <a:off x="8018" y="114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baseline="-25000" i="1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0" name="Google Shape;1000;p38"/>
            <p:cNvSpPr txBox="1"/>
            <p:nvPr/>
          </p:nvSpPr>
          <p:spPr>
            <a:xfrm>
              <a:off x="10058" y="11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baseline="-25000" i="1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01" name="Google Shape;1001;p38"/>
          <p:cNvSpPr/>
          <p:nvPr/>
        </p:nvSpPr>
        <p:spPr>
          <a:xfrm>
            <a:off x="201990" y="2359878"/>
            <a:ext cx="7865625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 of voltage induced in second coil will depend on the relative direction of winding of the two coils.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Flux </a:t>
            </a:r>
            <a:r>
              <a:rPr lang="en-GB" sz="30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φ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related to the current i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self inductance L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be expressed in terms of the dimensions of the magnetic path (length </a:t>
            </a:r>
            <a:r>
              <a:rPr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and cross-section </a:t>
            </a:r>
            <a:r>
              <a:rPr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9"/>
          <p:cNvSpPr/>
          <p:nvPr/>
        </p:nvSpPr>
        <p:spPr>
          <a:xfrm>
            <a:off x="2217420" y="5715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7" name="Google Shape;100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7420" y="571500"/>
            <a:ext cx="54483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39"/>
          <p:cNvSpPr/>
          <p:nvPr/>
        </p:nvSpPr>
        <p:spPr>
          <a:xfrm>
            <a:off x="565785" y="2264807"/>
            <a:ext cx="31603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∴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/>
          </a:p>
        </p:txBody>
      </p:sp>
      <p:pic>
        <p:nvPicPr>
          <p:cNvPr id="1009" name="Google Shape;100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6180" y="1905000"/>
            <a:ext cx="385762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39"/>
          <p:cNvSpPr/>
          <p:nvPr/>
        </p:nvSpPr>
        <p:spPr>
          <a:xfrm>
            <a:off x="434340" y="913538"/>
            <a:ext cx="19303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	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9"/>
          <p:cNvSpPr/>
          <p:nvPr/>
        </p:nvSpPr>
        <p:spPr>
          <a:xfrm>
            <a:off x="7819072" y="945862"/>
            <a:ext cx="32594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H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9"/>
          <p:cNvSpPr/>
          <p:nvPr/>
        </p:nvSpPr>
        <p:spPr>
          <a:xfrm>
            <a:off x="434340" y="3167091"/>
            <a:ext cx="113842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Mutual inductance may be derived in terms of the dimensions.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39"/>
          <p:cNvSpPr/>
          <p:nvPr/>
        </p:nvSpPr>
        <p:spPr>
          <a:xfrm>
            <a:off x="923257" y="4203082"/>
            <a:ext cx="14414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9"/>
          <p:cNvSpPr/>
          <p:nvPr/>
        </p:nvSpPr>
        <p:spPr>
          <a:xfrm>
            <a:off x="2364677" y="4189154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5" name="Google Shape;101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4677" y="3800534"/>
            <a:ext cx="80200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39"/>
          <p:cNvSpPr/>
          <p:nvPr/>
        </p:nvSpPr>
        <p:spPr>
          <a:xfrm>
            <a:off x="1069130" y="5500956"/>
            <a:ext cx="14414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9"/>
          <p:cNvSpPr/>
          <p:nvPr/>
        </p:nvSpPr>
        <p:spPr>
          <a:xfrm>
            <a:off x="2766060" y="5229252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8" name="Google Shape;101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6060" y="5229252"/>
            <a:ext cx="58102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0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Degree of Coupling</a:t>
            </a:r>
            <a:endParaRPr/>
          </a:p>
        </p:txBody>
      </p:sp>
      <p:pic>
        <p:nvPicPr>
          <p:cNvPr id="1024" name="Google Shape;102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4474" y="1440180"/>
            <a:ext cx="422942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40"/>
          <p:cNvSpPr/>
          <p:nvPr/>
        </p:nvSpPr>
        <p:spPr>
          <a:xfrm>
            <a:off x="747728" y="1330879"/>
            <a:ext cx="28568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Similarly M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6" name="Google Shape;1026;p40"/>
          <p:cNvGraphicFramePr/>
          <p:nvPr/>
        </p:nvGraphicFramePr>
        <p:xfrm>
          <a:off x="3324689" y="1066055"/>
          <a:ext cx="2225675" cy="1114425"/>
        </p:xfrm>
        <a:graphic>
          <a:graphicData uri="http://schemas.openxmlformats.org/presentationml/2006/ole">
            <mc:AlternateContent>
              <mc:Choice Requires="v">
                <p:oleObj r:id="rId5" imgH="1114425" imgW="2225675" progId="" spid="_x0000_s1">
                  <p:embed/>
                </p:oleObj>
              </mc:Choice>
              <mc:Fallback>
                <p:oleObj r:id="rId6" imgH="1114425" imgW="2225675" progId="">
                  <p:embed/>
                  <p:pic>
                    <p:nvPicPr>
                      <p:cNvPr id="1026" name="Google Shape;1026;p40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324689" y="1066055"/>
                        <a:ext cx="222567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Google Shape;1027;p40"/>
          <p:cNvSpPr/>
          <p:nvPr/>
        </p:nvSpPr>
        <p:spPr>
          <a:xfrm>
            <a:off x="747728" y="2241759"/>
            <a:ext cx="69451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practice, coupling coefficient k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0"/>
          <p:cNvSpPr/>
          <p:nvPr/>
        </p:nvSpPr>
        <p:spPr>
          <a:xfrm>
            <a:off x="747728" y="2984911"/>
            <a:ext cx="64475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 and a single k is used.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40"/>
          <p:cNvSpPr/>
          <p:nvPr/>
        </p:nvSpPr>
        <p:spPr>
          <a:xfrm>
            <a:off x="988717" y="3878853"/>
            <a:ext cx="36535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                        ,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0" name="Google Shape;1030;p40"/>
          <p:cNvGraphicFramePr/>
          <p:nvPr/>
        </p:nvGraphicFramePr>
        <p:xfrm>
          <a:off x="1886671" y="3561161"/>
          <a:ext cx="2395538" cy="1371600"/>
        </p:xfrm>
        <a:graphic>
          <a:graphicData uri="http://schemas.openxmlformats.org/presentationml/2006/ole">
            <mc:AlternateContent>
              <mc:Choice Requires="v">
                <p:oleObj r:id="rId8" imgH="1371600" imgW="2395538" progId="" spid="_x0000_s2">
                  <p:embed/>
                </p:oleObj>
              </mc:Choice>
              <mc:Fallback>
                <p:oleObj r:id="rId9" imgH="1371600" imgW="2395538" progId="">
                  <p:embed/>
                  <p:pic>
                    <p:nvPicPr>
                      <p:cNvPr id="1030" name="Google Shape;1030;p40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886671" y="3561161"/>
                        <a:ext cx="23955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Google Shape;1031;p40"/>
          <p:cNvSpPr/>
          <p:nvPr/>
        </p:nvSpPr>
        <p:spPr>
          <a:xfrm>
            <a:off x="991607" y="5048488"/>
            <a:ext cx="9044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2" name="Google Shape;1032;p40"/>
          <p:cNvGraphicFramePr/>
          <p:nvPr/>
        </p:nvGraphicFramePr>
        <p:xfrm>
          <a:off x="1986444" y="4728448"/>
          <a:ext cx="1530350" cy="1308100"/>
        </p:xfrm>
        <a:graphic>
          <a:graphicData uri="http://schemas.openxmlformats.org/presentationml/2006/ole">
            <mc:AlternateContent>
              <mc:Choice Requires="v">
                <p:oleObj r:id="rId11" imgH="1308100" imgW="1530350" progId="" spid="_x0000_s3">
                  <p:embed/>
                </p:oleObj>
              </mc:Choice>
              <mc:Fallback>
                <p:oleObj r:id="rId12" imgH="1308100" imgW="1530350" progId="">
                  <p:embed/>
                  <p:pic>
                    <p:nvPicPr>
                      <p:cNvPr id="1032" name="Google Shape;1032;p40"/>
                      <p:cNvPicPr preferRelativeResize="0"/>
                      <p:nvPr/>
                    </p:nvPicPr>
                    <p:blipFill rotWithShape="1">
                      <a:blip r:embed="rId1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86444" y="4728448"/>
                        <a:ext cx="153035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Google Shape;1033;p40"/>
          <p:cNvSpPr/>
          <p:nvPr/>
        </p:nvSpPr>
        <p:spPr>
          <a:xfrm>
            <a:off x="4109085" y="5097780"/>
            <a:ext cx="9765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4" name="Google Shape;1034;p40"/>
          <p:cNvGraphicFramePr/>
          <p:nvPr/>
        </p:nvGraphicFramePr>
        <p:xfrm>
          <a:off x="4895728" y="4931232"/>
          <a:ext cx="1403350" cy="1292225"/>
        </p:xfrm>
        <a:graphic>
          <a:graphicData uri="http://schemas.openxmlformats.org/presentationml/2006/ole">
            <mc:AlternateContent>
              <mc:Choice Requires="v">
                <p:oleObj r:id="rId14" imgH="1292225" imgW="1403350" progId="" spid="_x0000_s4">
                  <p:embed/>
                </p:oleObj>
              </mc:Choice>
              <mc:Fallback>
                <p:oleObj r:id="rId15" imgH="1292225" imgW="1403350" progId="">
                  <p:embed/>
                  <p:pic>
                    <p:nvPicPr>
                      <p:cNvPr id="1034" name="Google Shape;1034;p40"/>
                      <p:cNvPicPr preferRelativeResize="0"/>
                      <p:nvPr/>
                    </p:nvPicPr>
                    <p:blipFill rotWithShape="1">
                      <a:blip r:embed="rId1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895728" y="4931232"/>
                        <a:ext cx="1403350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" name="Google Shape;1035;p40"/>
          <p:cNvSpPr/>
          <p:nvPr/>
        </p:nvSpPr>
        <p:spPr>
          <a:xfrm>
            <a:off x="988717" y="6116702"/>
            <a:ext cx="43268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giving	M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k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0"/>
          <p:cNvSpPr/>
          <p:nvPr/>
        </p:nvSpPr>
        <p:spPr>
          <a:xfrm>
            <a:off x="6114661" y="6116732"/>
            <a:ext cx="1943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  M = k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7" name="Google Shape;1037;p40"/>
          <p:cNvGraphicFramePr/>
          <p:nvPr/>
        </p:nvGraphicFramePr>
        <p:xfrm>
          <a:off x="7418232" y="6007451"/>
          <a:ext cx="1325563" cy="803275"/>
        </p:xfrm>
        <a:graphic>
          <a:graphicData uri="http://schemas.openxmlformats.org/presentationml/2006/ole">
            <mc:AlternateContent>
              <mc:Choice Requires="v">
                <p:oleObj r:id="rId17" imgH="803275" imgW="1325563" progId="" spid="_x0000_s5">
                  <p:embed/>
                </p:oleObj>
              </mc:Choice>
              <mc:Fallback>
                <p:oleObj r:id="rId18" imgH="803275" imgW="1325563" progId="">
                  <p:embed/>
                  <p:pic>
                    <p:nvPicPr>
                      <p:cNvPr id="1037" name="Google Shape;1037;p40"/>
                      <p:cNvPicPr preferRelativeResize="0"/>
                      <p:nvPr/>
                    </p:nvPicPr>
                    <p:blipFill rotWithShape="1">
                      <a:blip r:embed="rId1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418232" y="6007451"/>
                        <a:ext cx="132556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Google Shape;1038;p40"/>
          <p:cNvSpPr/>
          <p:nvPr/>
        </p:nvSpPr>
        <p:spPr>
          <a:xfrm>
            <a:off x="5891757" y="6116700"/>
            <a:ext cx="17379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  M =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1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Energy  stored in a pair of mutually coupled coils</a:t>
            </a:r>
            <a:endParaRPr/>
          </a:p>
        </p:txBody>
      </p:sp>
      <p:pic>
        <p:nvPicPr>
          <p:cNvPr id="1045" name="Google Shape;104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4983" y="1184550"/>
            <a:ext cx="96202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50" y="3394924"/>
            <a:ext cx="709612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3766" y="5346835"/>
            <a:ext cx="4476750" cy="7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8" name="Google Shape;1048;p41"/>
          <p:cNvGrpSpPr/>
          <p:nvPr/>
        </p:nvGrpSpPr>
        <p:grpSpPr>
          <a:xfrm>
            <a:off x="8342369" y="2600286"/>
            <a:ext cx="3949065" cy="2278867"/>
            <a:chOff x="7418" y="5558"/>
            <a:chExt cx="2520" cy="1455"/>
          </a:xfrm>
        </p:grpSpPr>
        <p:grpSp>
          <p:nvGrpSpPr>
            <p:cNvPr id="1049" name="Google Shape;1049;p41"/>
            <p:cNvGrpSpPr/>
            <p:nvPr/>
          </p:nvGrpSpPr>
          <p:grpSpPr>
            <a:xfrm rot="-5400000">
              <a:off x="7826" y="6295"/>
              <a:ext cx="1080" cy="355"/>
              <a:chOff x="8378" y="8263"/>
              <a:chExt cx="1080" cy="355"/>
            </a:xfrm>
          </p:grpSpPr>
          <p:sp>
            <p:nvSpPr>
              <p:cNvPr id="1050" name="Google Shape;1050;p41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1" name="Google Shape;1051;p41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1052" name="Google Shape;1052;p41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41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4" name="Google Shape;1054;p41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1055" name="Google Shape;1055;p41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41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7" name="Google Shape;1057;p41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1058" name="Google Shape;1058;p41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41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0" name="Google Shape;1060;p41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41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62" name="Google Shape;1062;p41"/>
            <p:cNvCxnSpPr/>
            <p:nvPr/>
          </p:nvCxnSpPr>
          <p:spPr>
            <a:xfrm rot="10800000">
              <a:off x="8018" y="5918"/>
              <a:ext cx="36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41"/>
            <p:cNvCxnSpPr/>
            <p:nvPr/>
          </p:nvCxnSpPr>
          <p:spPr>
            <a:xfrm rot="10800000">
              <a:off x="8018" y="6998"/>
              <a:ext cx="36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4" name="Google Shape;1064;p41"/>
            <p:cNvGrpSpPr/>
            <p:nvPr/>
          </p:nvGrpSpPr>
          <p:grpSpPr>
            <a:xfrm flipH="1" rot="5400000">
              <a:off x="8471" y="6295"/>
              <a:ext cx="1080" cy="355"/>
              <a:chOff x="8378" y="8263"/>
              <a:chExt cx="1080" cy="355"/>
            </a:xfrm>
          </p:grpSpPr>
          <p:sp>
            <p:nvSpPr>
              <p:cNvPr id="1065" name="Google Shape;1065;p41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66" name="Google Shape;1066;p41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1067" name="Google Shape;1067;p41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41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9" name="Google Shape;1069;p41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1070" name="Google Shape;1070;p41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41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41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1073" name="Google Shape;1073;p41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41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75" name="Google Shape;1075;p41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1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7" name="Google Shape;1077;p41"/>
            <p:cNvCxnSpPr/>
            <p:nvPr/>
          </p:nvCxnSpPr>
          <p:spPr>
            <a:xfrm rot="10800000">
              <a:off x="8978" y="5918"/>
              <a:ext cx="36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41"/>
            <p:cNvCxnSpPr/>
            <p:nvPr/>
          </p:nvCxnSpPr>
          <p:spPr>
            <a:xfrm rot="10800000">
              <a:off x="8978" y="6998"/>
              <a:ext cx="36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9" name="Google Shape;1079;p41"/>
            <p:cNvSpPr txBox="1"/>
            <p:nvPr/>
          </p:nvSpPr>
          <p:spPr>
            <a:xfrm>
              <a:off x="7418" y="6080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0" name="Google Shape;1080;p41"/>
            <p:cNvCxnSpPr/>
            <p:nvPr/>
          </p:nvCxnSpPr>
          <p:spPr>
            <a:xfrm>
              <a:off x="8259" y="5918"/>
              <a:ext cx="12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081" name="Google Shape;1081;p41"/>
            <p:cNvCxnSpPr/>
            <p:nvPr/>
          </p:nvCxnSpPr>
          <p:spPr>
            <a:xfrm>
              <a:off x="7823" y="6218"/>
              <a:ext cx="0" cy="54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082" name="Google Shape;1082;p41"/>
            <p:cNvSpPr txBox="1"/>
            <p:nvPr/>
          </p:nvSpPr>
          <p:spPr>
            <a:xfrm>
              <a:off x="9578" y="60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83" name="Google Shape;1083;p41"/>
            <p:cNvCxnSpPr/>
            <p:nvPr/>
          </p:nvCxnSpPr>
          <p:spPr>
            <a:xfrm>
              <a:off x="9518" y="6233"/>
              <a:ext cx="0" cy="54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1084" name="Google Shape;1084;p41"/>
            <p:cNvCxnSpPr/>
            <p:nvPr/>
          </p:nvCxnSpPr>
          <p:spPr>
            <a:xfrm>
              <a:off x="9098" y="5918"/>
              <a:ext cx="12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085" name="Google Shape;1085;p41"/>
            <p:cNvSpPr txBox="1"/>
            <p:nvPr/>
          </p:nvSpPr>
          <p:spPr>
            <a:xfrm>
              <a:off x="7943" y="62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6" name="Google Shape;1086;p41"/>
            <p:cNvSpPr txBox="1"/>
            <p:nvPr/>
          </p:nvSpPr>
          <p:spPr>
            <a:xfrm>
              <a:off x="9218" y="62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7" name="Google Shape;1087;p41"/>
            <p:cNvSpPr txBox="1"/>
            <p:nvPr/>
          </p:nvSpPr>
          <p:spPr>
            <a:xfrm>
              <a:off x="9098" y="55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8" name="Google Shape;1088;p41"/>
            <p:cNvSpPr txBox="1"/>
            <p:nvPr/>
          </p:nvSpPr>
          <p:spPr>
            <a:xfrm>
              <a:off x="8018" y="55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9" name="Google Shape;1089;p41"/>
            <p:cNvSpPr txBox="1"/>
            <p:nvPr/>
          </p:nvSpPr>
          <p:spPr>
            <a:xfrm>
              <a:off x="8618" y="55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090" name="Google Shape;1090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5731" y="2757771"/>
            <a:ext cx="946150" cy="63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41"/>
          <p:cNvSpPr/>
          <p:nvPr/>
        </p:nvSpPr>
        <p:spPr>
          <a:xfrm>
            <a:off x="217792" y="120928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Inductor stores energy in electromagnetic field 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41"/>
          <p:cNvSpPr/>
          <p:nvPr/>
        </p:nvSpPr>
        <p:spPr>
          <a:xfrm>
            <a:off x="0" y="11049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1"/>
          <p:cNvSpPr/>
          <p:nvPr/>
        </p:nvSpPr>
        <p:spPr>
          <a:xfrm>
            <a:off x="244479" y="1746017"/>
            <a:ext cx="11893731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mutual coupling, total energy stored by coils is different from addition of   terms. 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Total energy stored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         =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1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r>
              <a:rPr b="0" i="0" lang="en-GB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0" i="0" lang="en-GB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dt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4" name="Google Shape;1094;p41"/>
          <p:cNvSpPr/>
          <p:nvPr/>
        </p:nvSpPr>
        <p:spPr>
          <a:xfrm>
            <a:off x="209913" y="4418979"/>
            <a:ext cx="9875290" cy="1554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=  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±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M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+  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±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M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energy stored = 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±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Mi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±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Mi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=  </a:t>
            </a:r>
            <a:endParaRPr/>
          </a:p>
        </p:txBody>
      </p:sp>
      <p:sp>
        <p:nvSpPr>
          <p:cNvPr id="1095" name="Google Shape;1095;p41"/>
          <p:cNvSpPr/>
          <p:nvPr/>
        </p:nvSpPr>
        <p:spPr>
          <a:xfrm>
            <a:off x="-39206" y="5985713"/>
            <a:ext cx="9876025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Times New Roman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∴</a:t>
            </a:r>
            <a:r>
              <a:rPr b="0" i="0" lang="en-GB" sz="3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effective energy stored in mutual inductance is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±</a:t>
            </a:r>
            <a:r>
              <a:rPr b="0" i="0" lang="en-GB" sz="3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M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r>
              <a:rPr b="0" i="0" lang="en-GB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2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i="1" lang="en-GB"/>
              <a:t>Equivalent inductance of 2 mutually coupled coils in series</a:t>
            </a:r>
            <a:endParaRPr/>
          </a:p>
        </p:txBody>
      </p:sp>
      <p:grpSp>
        <p:nvGrpSpPr>
          <p:cNvPr id="1101" name="Google Shape;1101;p42"/>
          <p:cNvGrpSpPr/>
          <p:nvPr/>
        </p:nvGrpSpPr>
        <p:grpSpPr>
          <a:xfrm>
            <a:off x="1006475" y="1300946"/>
            <a:ext cx="10180955" cy="1231900"/>
            <a:chOff x="396" y="1357"/>
            <a:chExt cx="16033" cy="1940"/>
          </a:xfrm>
        </p:grpSpPr>
        <p:grpSp>
          <p:nvGrpSpPr>
            <p:cNvPr id="1102" name="Google Shape;1102;p42"/>
            <p:cNvGrpSpPr/>
            <p:nvPr/>
          </p:nvGrpSpPr>
          <p:grpSpPr>
            <a:xfrm>
              <a:off x="396" y="1357"/>
              <a:ext cx="16033" cy="1940"/>
              <a:chOff x="417" y="1420"/>
              <a:chExt cx="16033" cy="1940"/>
            </a:xfrm>
          </p:grpSpPr>
          <p:cxnSp>
            <p:nvCxnSpPr>
              <p:cNvPr id="1103" name="Google Shape;1103;p42"/>
              <p:cNvCxnSpPr/>
              <p:nvPr/>
            </p:nvCxnSpPr>
            <p:spPr>
              <a:xfrm>
                <a:off x="4029" y="2219"/>
                <a:ext cx="247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grpSp>
            <p:nvGrpSpPr>
              <p:cNvPr id="1104" name="Google Shape;1104;p42"/>
              <p:cNvGrpSpPr/>
              <p:nvPr/>
            </p:nvGrpSpPr>
            <p:grpSpPr>
              <a:xfrm>
                <a:off x="417" y="1420"/>
                <a:ext cx="16033" cy="1940"/>
                <a:chOff x="564" y="1300"/>
                <a:chExt cx="16033" cy="1940"/>
              </a:xfrm>
            </p:grpSpPr>
            <p:grpSp>
              <p:nvGrpSpPr>
                <p:cNvPr id="1105" name="Google Shape;1105;p42"/>
                <p:cNvGrpSpPr/>
                <p:nvPr/>
              </p:nvGrpSpPr>
              <p:grpSpPr>
                <a:xfrm>
                  <a:off x="564" y="1725"/>
                  <a:ext cx="7271" cy="1515"/>
                  <a:chOff x="1778" y="10234"/>
                  <a:chExt cx="3525" cy="734"/>
                </a:xfrm>
              </p:grpSpPr>
              <p:grpSp>
                <p:nvGrpSpPr>
                  <p:cNvPr id="1106" name="Google Shape;1106;p42"/>
                  <p:cNvGrpSpPr/>
                  <p:nvPr/>
                </p:nvGrpSpPr>
                <p:grpSpPr>
                  <a:xfrm flipH="1" rot="10800000">
                    <a:off x="1778" y="10234"/>
                    <a:ext cx="1800" cy="355"/>
                    <a:chOff x="1778" y="4127"/>
                    <a:chExt cx="1800" cy="355"/>
                  </a:xfrm>
                </p:grpSpPr>
                <p:grpSp>
                  <p:nvGrpSpPr>
                    <p:cNvPr id="1107" name="Google Shape;1107;p42"/>
                    <p:cNvGrpSpPr/>
                    <p:nvPr/>
                  </p:nvGrpSpPr>
                  <p:grpSpPr>
                    <a:xfrm>
                      <a:off x="2138" y="4127"/>
                      <a:ext cx="1080" cy="355"/>
                      <a:chOff x="8378" y="8272"/>
                      <a:chExt cx="1080" cy="355"/>
                    </a:xfrm>
                  </p:grpSpPr>
                  <p:sp>
                    <p:nvSpPr>
                      <p:cNvPr id="1108" name="Google Shape;1108;p42"/>
                      <p:cNvSpPr/>
                      <p:nvPr/>
                    </p:nvSpPr>
                    <p:spPr>
                      <a:xfrm rot="10800000">
                        <a:off x="8378" y="8447"/>
                        <a:ext cx="320" cy="169"/>
                      </a:xfrm>
                      <a:custGeom>
                        <a:rect b="b" l="l" r="r" t="t"/>
                        <a:pathLst>
                          <a:path extrusionOk="0" fill="none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</a:path>
                          <a:path extrusionOk="0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109" name="Google Shape;1109;p42"/>
                      <p:cNvGrpSpPr/>
                      <p:nvPr/>
                    </p:nvGrpSpPr>
                    <p:grpSpPr>
                      <a:xfrm>
                        <a:off x="8556" y="828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10" name="Google Shape;1110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11" name="Google Shape;1111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12" name="Google Shape;1112;p42"/>
                      <p:cNvGrpSpPr/>
                      <p:nvPr/>
                    </p:nvGrpSpPr>
                    <p:grpSpPr>
                      <a:xfrm>
                        <a:off x="8745" y="827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13" name="Google Shape;1113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14" name="Google Shape;1114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15" name="Google Shape;1115;p42"/>
                      <p:cNvGrpSpPr/>
                      <p:nvPr/>
                    </p:nvGrpSpPr>
                    <p:grpSpPr>
                      <a:xfrm>
                        <a:off x="8931" y="8278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16" name="Google Shape;1116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17" name="Google Shape;1117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118" name="Google Shape;1118;p42"/>
                      <p:cNvSpPr/>
                      <p:nvPr/>
                    </p:nvSpPr>
                    <p:spPr>
                      <a:xfrm>
                        <a:off x="9118" y="8274"/>
                        <a:ext cx="156" cy="242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19" name="Google Shape;1119;p42"/>
                      <p:cNvSpPr/>
                      <p:nvPr/>
                    </p:nvSpPr>
                    <p:spPr>
                      <a:xfrm rot="10800000">
                        <a:off x="9136" y="8454"/>
                        <a:ext cx="322" cy="164"/>
                      </a:xfrm>
                      <a:custGeom>
                        <a:rect b="b" l="l" r="r" t="t"/>
                        <a:pathLst>
                          <a:path extrusionOk="0" fill="none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</a:path>
                          <a:path extrusionOk="0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cxnSp>
                  <p:nvCxnSpPr>
                    <p:cNvPr id="1120" name="Google Shape;1120;p42"/>
                    <p:cNvCxnSpPr/>
                    <p:nvPr/>
                  </p:nvCxnSpPr>
                  <p:spPr>
                    <a:xfrm>
                      <a:off x="3218" y="4298"/>
                      <a:ext cx="3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21" name="Google Shape;1121;p42"/>
                    <p:cNvCxnSpPr/>
                    <p:nvPr/>
                  </p:nvCxnSpPr>
                  <p:spPr>
                    <a:xfrm>
                      <a:off x="1778" y="4298"/>
                      <a:ext cx="3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22" name="Google Shape;1122;p42"/>
                  <p:cNvSpPr txBox="1"/>
                  <p:nvPr/>
                </p:nvSpPr>
                <p:spPr>
                  <a:xfrm>
                    <a:off x="2618" y="10598"/>
                    <a:ext cx="360" cy="3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0800" lIns="18000" spcFirstLastPara="1" rIns="18000" wrap="square" tIns="108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L</a:t>
                    </a:r>
                    <a:r>
                      <a:rPr baseline="-25000" lang="en-GB" sz="3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1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grpSp>
                <p:nvGrpSpPr>
                  <p:cNvPr id="1123" name="Google Shape;1123;p42"/>
                  <p:cNvGrpSpPr/>
                  <p:nvPr/>
                </p:nvGrpSpPr>
                <p:grpSpPr>
                  <a:xfrm flipH="1" rot="10800000">
                    <a:off x="3503" y="10244"/>
                    <a:ext cx="1800" cy="355"/>
                    <a:chOff x="1778" y="4127"/>
                    <a:chExt cx="1800" cy="355"/>
                  </a:xfrm>
                </p:grpSpPr>
                <p:grpSp>
                  <p:nvGrpSpPr>
                    <p:cNvPr id="1124" name="Google Shape;1124;p42"/>
                    <p:cNvGrpSpPr/>
                    <p:nvPr/>
                  </p:nvGrpSpPr>
                  <p:grpSpPr>
                    <a:xfrm>
                      <a:off x="2138" y="4127"/>
                      <a:ext cx="1080" cy="355"/>
                      <a:chOff x="8378" y="8272"/>
                      <a:chExt cx="1080" cy="355"/>
                    </a:xfrm>
                  </p:grpSpPr>
                  <p:sp>
                    <p:nvSpPr>
                      <p:cNvPr id="1125" name="Google Shape;1125;p42"/>
                      <p:cNvSpPr/>
                      <p:nvPr/>
                    </p:nvSpPr>
                    <p:spPr>
                      <a:xfrm rot="10800000">
                        <a:off x="8378" y="8447"/>
                        <a:ext cx="320" cy="169"/>
                      </a:xfrm>
                      <a:custGeom>
                        <a:rect b="b" l="l" r="r" t="t"/>
                        <a:pathLst>
                          <a:path extrusionOk="0" fill="none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</a:path>
                          <a:path extrusionOk="0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126" name="Google Shape;1126;p42"/>
                      <p:cNvGrpSpPr/>
                      <p:nvPr/>
                    </p:nvGrpSpPr>
                    <p:grpSpPr>
                      <a:xfrm>
                        <a:off x="8556" y="828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27" name="Google Shape;1127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28" name="Google Shape;1128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29" name="Google Shape;1129;p42"/>
                      <p:cNvGrpSpPr/>
                      <p:nvPr/>
                    </p:nvGrpSpPr>
                    <p:grpSpPr>
                      <a:xfrm>
                        <a:off x="8745" y="827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30" name="Google Shape;1130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31" name="Google Shape;1131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32" name="Google Shape;1132;p42"/>
                      <p:cNvGrpSpPr/>
                      <p:nvPr/>
                    </p:nvGrpSpPr>
                    <p:grpSpPr>
                      <a:xfrm>
                        <a:off x="8931" y="8278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33" name="Google Shape;1133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34" name="Google Shape;1134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135" name="Google Shape;1135;p42"/>
                      <p:cNvSpPr/>
                      <p:nvPr/>
                    </p:nvSpPr>
                    <p:spPr>
                      <a:xfrm>
                        <a:off x="9118" y="8274"/>
                        <a:ext cx="156" cy="242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36" name="Google Shape;1136;p42"/>
                      <p:cNvSpPr/>
                      <p:nvPr/>
                    </p:nvSpPr>
                    <p:spPr>
                      <a:xfrm rot="10800000">
                        <a:off x="9136" y="8454"/>
                        <a:ext cx="322" cy="164"/>
                      </a:xfrm>
                      <a:custGeom>
                        <a:rect b="b" l="l" r="r" t="t"/>
                        <a:pathLst>
                          <a:path extrusionOk="0" fill="none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</a:path>
                          <a:path extrusionOk="0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cxnSp>
                  <p:nvCxnSpPr>
                    <p:cNvPr id="1137" name="Google Shape;1137;p42"/>
                    <p:cNvCxnSpPr/>
                    <p:nvPr/>
                  </p:nvCxnSpPr>
                  <p:spPr>
                    <a:xfrm>
                      <a:off x="3218" y="4298"/>
                      <a:ext cx="3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38" name="Google Shape;1138;p42"/>
                    <p:cNvCxnSpPr/>
                    <p:nvPr/>
                  </p:nvCxnSpPr>
                  <p:spPr>
                    <a:xfrm>
                      <a:off x="1778" y="4298"/>
                      <a:ext cx="3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sp>
                <p:nvSpPr>
                  <p:cNvPr id="1139" name="Google Shape;1139;p42"/>
                  <p:cNvSpPr txBox="1"/>
                  <p:nvPr/>
                </p:nvSpPr>
                <p:spPr>
                  <a:xfrm>
                    <a:off x="4343" y="10608"/>
                    <a:ext cx="360" cy="3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0800" lIns="18000" spcFirstLastPara="1" rIns="18000" wrap="square" tIns="108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L</a:t>
                    </a:r>
                    <a:r>
                      <a:rPr baseline="-25000" lang="en-GB" sz="3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2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grpSp>
              <p:nvGrpSpPr>
                <p:cNvPr id="1140" name="Google Shape;1140;p42"/>
                <p:cNvGrpSpPr/>
                <p:nvPr/>
              </p:nvGrpSpPr>
              <p:grpSpPr>
                <a:xfrm>
                  <a:off x="8830" y="1300"/>
                  <a:ext cx="7767" cy="1938"/>
                  <a:chOff x="8830" y="1300"/>
                  <a:chExt cx="7767" cy="1938"/>
                </a:xfrm>
              </p:grpSpPr>
              <p:grpSp>
                <p:nvGrpSpPr>
                  <p:cNvPr id="1141" name="Google Shape;1141;p42"/>
                  <p:cNvGrpSpPr/>
                  <p:nvPr/>
                </p:nvGrpSpPr>
                <p:grpSpPr>
                  <a:xfrm>
                    <a:off x="8830" y="1300"/>
                    <a:ext cx="7767" cy="1938"/>
                    <a:chOff x="6413" y="10058"/>
                    <a:chExt cx="3765" cy="940"/>
                  </a:xfrm>
                </p:grpSpPr>
                <p:grpSp>
                  <p:nvGrpSpPr>
                    <p:cNvPr id="1142" name="Google Shape;1142;p42"/>
                    <p:cNvGrpSpPr/>
                    <p:nvPr/>
                  </p:nvGrpSpPr>
                  <p:grpSpPr>
                    <a:xfrm flipH="1" rot="10800000">
                      <a:off x="6773" y="10274"/>
                      <a:ext cx="1080" cy="355"/>
                      <a:chOff x="8378" y="8272"/>
                      <a:chExt cx="1080" cy="355"/>
                    </a:xfrm>
                  </p:grpSpPr>
                  <p:sp>
                    <p:nvSpPr>
                      <p:cNvPr id="1143" name="Google Shape;1143;p42"/>
                      <p:cNvSpPr/>
                      <p:nvPr/>
                    </p:nvSpPr>
                    <p:spPr>
                      <a:xfrm rot="10800000">
                        <a:off x="8378" y="8447"/>
                        <a:ext cx="320" cy="169"/>
                      </a:xfrm>
                      <a:custGeom>
                        <a:rect b="b" l="l" r="r" t="t"/>
                        <a:pathLst>
                          <a:path extrusionOk="0" fill="none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</a:path>
                          <a:path extrusionOk="0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144" name="Google Shape;1144;p42"/>
                      <p:cNvGrpSpPr/>
                      <p:nvPr/>
                    </p:nvGrpSpPr>
                    <p:grpSpPr>
                      <a:xfrm>
                        <a:off x="8556" y="828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45" name="Google Shape;1145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46" name="Google Shape;1146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47" name="Google Shape;1147;p42"/>
                      <p:cNvGrpSpPr/>
                      <p:nvPr/>
                    </p:nvGrpSpPr>
                    <p:grpSpPr>
                      <a:xfrm>
                        <a:off x="8745" y="827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48" name="Google Shape;1148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49" name="Google Shape;1149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50" name="Google Shape;1150;p42"/>
                      <p:cNvGrpSpPr/>
                      <p:nvPr/>
                    </p:nvGrpSpPr>
                    <p:grpSpPr>
                      <a:xfrm>
                        <a:off x="8931" y="8278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51" name="Google Shape;1151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52" name="Google Shape;1152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153" name="Google Shape;1153;p42"/>
                      <p:cNvSpPr/>
                      <p:nvPr/>
                    </p:nvSpPr>
                    <p:spPr>
                      <a:xfrm>
                        <a:off x="9118" y="8274"/>
                        <a:ext cx="156" cy="242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54" name="Google Shape;1154;p42"/>
                      <p:cNvSpPr/>
                      <p:nvPr/>
                    </p:nvSpPr>
                    <p:spPr>
                      <a:xfrm rot="10800000">
                        <a:off x="9136" y="8454"/>
                        <a:ext cx="322" cy="164"/>
                      </a:xfrm>
                      <a:custGeom>
                        <a:rect b="b" l="l" r="r" t="t"/>
                        <a:pathLst>
                          <a:path extrusionOk="0" fill="none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</a:path>
                          <a:path extrusionOk="0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cxnSp>
                  <p:nvCxnSpPr>
                    <p:cNvPr id="1155" name="Google Shape;1155;p42"/>
                    <p:cNvCxnSpPr/>
                    <p:nvPr/>
                  </p:nvCxnSpPr>
                  <p:spPr>
                    <a:xfrm>
                      <a:off x="7853" y="10458"/>
                      <a:ext cx="2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56" name="Google Shape;1156;p42"/>
                    <p:cNvCxnSpPr/>
                    <p:nvPr/>
                  </p:nvCxnSpPr>
                  <p:spPr>
                    <a:xfrm>
                      <a:off x="6413" y="10458"/>
                      <a:ext cx="3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1157" name="Google Shape;1157;p42"/>
                    <p:cNvSpPr txBox="1"/>
                    <p:nvPr/>
                  </p:nvSpPr>
                  <p:spPr>
                    <a:xfrm>
                      <a:off x="7253" y="10638"/>
                      <a:ext cx="360" cy="36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0800" lIns="18000" spcFirstLastPara="1" rIns="18000" wrap="square" tIns="108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baseline="-25000" lang="en-GB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grpSp>
                  <p:nvGrpSpPr>
                    <p:cNvPr id="1158" name="Google Shape;1158;p42"/>
                    <p:cNvGrpSpPr/>
                    <p:nvPr/>
                  </p:nvGrpSpPr>
                  <p:grpSpPr>
                    <a:xfrm flipH="1" rot="10800000">
                      <a:off x="8498" y="10284"/>
                      <a:ext cx="1080" cy="355"/>
                      <a:chOff x="8378" y="8272"/>
                      <a:chExt cx="1080" cy="355"/>
                    </a:xfrm>
                  </p:grpSpPr>
                  <p:sp>
                    <p:nvSpPr>
                      <p:cNvPr id="1159" name="Google Shape;1159;p42"/>
                      <p:cNvSpPr/>
                      <p:nvPr/>
                    </p:nvSpPr>
                    <p:spPr>
                      <a:xfrm rot="10800000">
                        <a:off x="8378" y="8447"/>
                        <a:ext cx="320" cy="169"/>
                      </a:xfrm>
                      <a:custGeom>
                        <a:rect b="b" l="l" r="r" t="t"/>
                        <a:pathLst>
                          <a:path extrusionOk="0" fill="none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</a:path>
                          <a:path extrusionOk="0" h="22566" w="41573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31902" y="0"/>
                              <a:pt x="41573" y="9670"/>
                              <a:pt x="41573" y="21600"/>
                            </a:cubicBezTo>
                            <a:cubicBezTo>
                              <a:pt x="41573" y="21922"/>
                              <a:pt x="41565" y="22244"/>
                              <a:pt x="41551" y="22566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160" name="Google Shape;1160;p42"/>
                      <p:cNvGrpSpPr/>
                      <p:nvPr/>
                    </p:nvGrpSpPr>
                    <p:grpSpPr>
                      <a:xfrm>
                        <a:off x="8556" y="828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61" name="Google Shape;1161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62" name="Google Shape;1162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63" name="Google Shape;1163;p42"/>
                      <p:cNvGrpSpPr/>
                      <p:nvPr/>
                    </p:nvGrpSpPr>
                    <p:grpSpPr>
                      <a:xfrm>
                        <a:off x="8745" y="8272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64" name="Google Shape;1164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65" name="Google Shape;1165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166" name="Google Shape;1166;p42"/>
                      <p:cNvGrpSpPr/>
                      <p:nvPr/>
                    </p:nvGrpSpPr>
                    <p:grpSpPr>
                      <a:xfrm>
                        <a:off x="8931" y="8278"/>
                        <a:ext cx="328" cy="345"/>
                        <a:chOff x="2020" y="8243"/>
                        <a:chExt cx="1768" cy="960"/>
                      </a:xfrm>
                    </p:grpSpPr>
                    <p:sp>
                      <p:nvSpPr>
                        <p:cNvPr id="1167" name="Google Shape;1167;p42"/>
                        <p:cNvSpPr/>
                        <p:nvPr/>
                      </p:nvSpPr>
                      <p:spPr>
                        <a:xfrm>
                          <a:off x="2020" y="8243"/>
                          <a:ext cx="842" cy="674"/>
                        </a:xfrm>
                        <a:custGeom>
                          <a:rect b="b" l="l" r="r" t="t"/>
                          <a:pathLst>
                            <a:path extrusionOk="0" fill="none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</a:path>
                            <a:path extrusionOk="0" h="34987" w="43200">
                              <a:moveTo>
                                <a:pt x="4648" y="34987"/>
                              </a:moveTo>
                              <a:cubicBezTo>
                                <a:pt x="1637" y="31174"/>
                                <a:pt x="0" y="26458"/>
                                <a:pt x="0" y="21600"/>
                              </a:cubicBezTo>
                              <a:cubicBezTo>
                                <a:pt x="0" y="9670"/>
                                <a:pt x="9670" y="0"/>
                                <a:pt x="21600" y="0"/>
                              </a:cubicBezTo>
                              <a:cubicBezTo>
                                <a:pt x="33529" y="0"/>
                                <a:pt x="43200" y="9670"/>
                                <a:pt x="43200" y="21600"/>
                              </a:cubicBezTo>
                              <a:cubicBezTo>
                                <a:pt x="43199" y="26139"/>
                                <a:pt x="41770" y="30562"/>
                                <a:pt x="39113" y="34243"/>
                              </a:cubicBezTo>
                              <a:lnTo>
                                <a:pt x="21600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68" name="Google Shape;1168;p42"/>
                        <p:cNvSpPr/>
                        <p:nvPr/>
                      </p:nvSpPr>
                      <p:spPr>
                        <a:xfrm rot="10800000">
                          <a:off x="2117" y="8753"/>
                          <a:ext cx="1671" cy="450"/>
                        </a:xfrm>
                        <a:custGeom>
                          <a:rect b="b" l="l" r="r" t="t"/>
                          <a:pathLst>
                            <a:path extrusionOk="0" fill="none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</a:path>
                            <a:path extrusionOk="0" h="21600" w="40269">
                              <a:moveTo>
                                <a:pt x="-1" y="13376"/>
                              </a:moveTo>
                              <a:cubicBezTo>
                                <a:pt x="3331" y="5282"/>
                                <a:pt x="11219" y="0"/>
                                <a:pt x="19973" y="0"/>
                              </a:cubicBezTo>
                              <a:cubicBezTo>
                                <a:pt x="29051" y="0"/>
                                <a:pt x="37161" y="5677"/>
                                <a:pt x="40268" y="14208"/>
                              </a:cubicBezTo>
                              <a:lnTo>
                                <a:pt x="19973" y="21600"/>
                              </a:lnTo>
                              <a:close/>
                            </a:path>
                          </a:pathLst>
                        </a:custGeom>
                        <a:noFill/>
                        <a:ln cap="flat" cmpd="sng" w="38100">
                          <a:solidFill>
                            <a:srgbClr val="C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169" name="Google Shape;1169;p42"/>
                      <p:cNvSpPr/>
                      <p:nvPr/>
                    </p:nvSpPr>
                    <p:spPr>
                      <a:xfrm>
                        <a:off x="9118" y="8274"/>
                        <a:ext cx="156" cy="242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70" name="Google Shape;1170;p42"/>
                      <p:cNvSpPr/>
                      <p:nvPr/>
                    </p:nvSpPr>
                    <p:spPr>
                      <a:xfrm rot="10800000">
                        <a:off x="9136" y="8454"/>
                        <a:ext cx="322" cy="164"/>
                      </a:xfrm>
                      <a:custGeom>
                        <a:rect b="b" l="l" r="r" t="t"/>
                        <a:pathLst>
                          <a:path extrusionOk="0" fill="none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</a:path>
                          <a:path extrusionOk="0" h="22008" w="41896">
                            <a:moveTo>
                              <a:pt x="3" y="22008"/>
                            </a:moveTo>
                            <a:cubicBezTo>
                              <a:pt x="1" y="21872"/>
                              <a:pt x="0" y="21736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0678" y="0"/>
                              <a:pt x="38788" y="5677"/>
                              <a:pt x="41895" y="14208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38100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cxnSp>
                  <p:nvCxnSpPr>
                    <p:cNvPr id="1171" name="Google Shape;1171;p42"/>
                    <p:cNvCxnSpPr/>
                    <p:nvPr/>
                  </p:nvCxnSpPr>
                  <p:spPr>
                    <a:xfrm>
                      <a:off x="9578" y="10468"/>
                      <a:ext cx="36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72" name="Google Shape;1172;p42"/>
                    <p:cNvCxnSpPr/>
                    <p:nvPr/>
                  </p:nvCxnSpPr>
                  <p:spPr>
                    <a:xfrm>
                      <a:off x="8314" y="10468"/>
                      <a:ext cx="184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1173" name="Google Shape;1173;p42"/>
                    <p:cNvSpPr txBox="1"/>
                    <p:nvPr/>
                  </p:nvSpPr>
                  <p:spPr>
                    <a:xfrm>
                      <a:off x="8978" y="10596"/>
                      <a:ext cx="360" cy="36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0800" lIns="18000" spcFirstLastPara="1" rIns="18000" wrap="square" tIns="108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r>
                        <a:rPr baseline="-25000" lang="en-GB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cxnSp>
                  <p:nvCxnSpPr>
                    <p:cNvPr id="1174" name="Google Shape;1174;p42"/>
                    <p:cNvCxnSpPr/>
                    <p:nvPr/>
                  </p:nvCxnSpPr>
                  <p:spPr>
                    <a:xfrm rot="10800000">
                      <a:off x="8113" y="10058"/>
                      <a:ext cx="0" cy="397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75" name="Google Shape;1175;p42"/>
                    <p:cNvCxnSpPr/>
                    <p:nvPr/>
                  </p:nvCxnSpPr>
                  <p:spPr>
                    <a:xfrm rot="10800000">
                      <a:off x="9923" y="10073"/>
                      <a:ext cx="0" cy="397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76" name="Google Shape;1176;p42"/>
                    <p:cNvCxnSpPr/>
                    <p:nvPr/>
                  </p:nvCxnSpPr>
                  <p:spPr>
                    <a:xfrm>
                      <a:off x="8113" y="10088"/>
                      <a:ext cx="1810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77" name="Google Shape;1177;p42"/>
                    <p:cNvCxnSpPr/>
                    <p:nvPr/>
                  </p:nvCxnSpPr>
                  <p:spPr>
                    <a:xfrm>
                      <a:off x="8314" y="10470"/>
                      <a:ext cx="0" cy="486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78" name="Google Shape;1178;p42"/>
                    <p:cNvCxnSpPr/>
                    <p:nvPr/>
                  </p:nvCxnSpPr>
                  <p:spPr>
                    <a:xfrm>
                      <a:off x="8314" y="10956"/>
                      <a:ext cx="1864" cy="0"/>
                    </a:xfrm>
                    <a:prstGeom prst="straightConnector1">
                      <a:avLst/>
                    </a:prstGeom>
                    <a:noFill/>
                    <a:ln cap="flat" cmpd="sng" w="38100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cxnSp>
                <p:nvCxnSpPr>
                  <p:cNvPr id="1179" name="Google Shape;1179;p42"/>
                  <p:cNvCxnSpPr/>
                  <p:nvPr/>
                </p:nvCxnSpPr>
                <p:spPr>
                  <a:xfrm>
                    <a:off x="11891" y="2115"/>
                    <a:ext cx="247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stealth"/>
                  </a:ln>
                </p:spPr>
              </p:cxnSp>
            </p:grpSp>
          </p:grpSp>
        </p:grpSp>
        <p:sp>
          <p:nvSpPr>
            <p:cNvPr id="1180" name="Google Shape;1180;p42"/>
            <p:cNvSpPr txBox="1"/>
            <p:nvPr/>
          </p:nvSpPr>
          <p:spPr>
            <a:xfrm>
              <a:off x="4273" y="2219"/>
              <a:ext cx="742" cy="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1" name="Google Shape;1181;p42"/>
            <p:cNvSpPr txBox="1"/>
            <p:nvPr/>
          </p:nvSpPr>
          <p:spPr>
            <a:xfrm>
              <a:off x="11855" y="2172"/>
              <a:ext cx="744" cy="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182" name="Google Shape;118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1907" y="4465470"/>
            <a:ext cx="46482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6692" y="5544111"/>
            <a:ext cx="457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42"/>
          <p:cNvSpPr/>
          <p:nvPr/>
        </p:nvSpPr>
        <p:spPr>
          <a:xfrm>
            <a:off x="159385" y="2868201"/>
            <a:ext cx="12192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Coils can either be connected in series so that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fluxes aid each other, or fluxes oppose each other.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Since each current is  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Total energy stored 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2"/>
          <p:cNvSpPr/>
          <p:nvPr/>
        </p:nvSpPr>
        <p:spPr>
          <a:xfrm>
            <a:off x="4103878" y="5023128"/>
            <a:ext cx="58118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or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3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Effective equivalent inductance of series connection</a:t>
            </a:r>
            <a:endParaRPr/>
          </a:p>
        </p:txBody>
      </p:sp>
      <p:pic>
        <p:nvPicPr>
          <p:cNvPr id="1191" name="Google Shape;11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2989" y="1503497"/>
            <a:ext cx="14478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456" y="2801465"/>
            <a:ext cx="12001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6011" y="2820515"/>
            <a:ext cx="40386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2257" y="2820515"/>
            <a:ext cx="425767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43"/>
          <p:cNvSpPr/>
          <p:nvPr/>
        </p:nvSpPr>
        <p:spPr>
          <a:xfrm>
            <a:off x="0" y="1020752"/>
            <a:ext cx="117258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a single equivalent inductor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eq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is considered,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total energy stored 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43"/>
          <p:cNvSpPr/>
          <p:nvPr/>
        </p:nvSpPr>
        <p:spPr>
          <a:xfrm>
            <a:off x="-24949" y="2173514"/>
            <a:ext cx="11725835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Thus equating the energies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3"/>
          <p:cNvSpPr/>
          <p:nvPr/>
        </p:nvSpPr>
        <p:spPr>
          <a:xfrm>
            <a:off x="1362354" y="2854232"/>
            <a:ext cx="15329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3"/>
          <p:cNvSpPr/>
          <p:nvPr/>
        </p:nvSpPr>
        <p:spPr>
          <a:xfrm>
            <a:off x="5979869" y="2830626"/>
            <a:ext cx="15867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or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43"/>
          <p:cNvSpPr/>
          <p:nvPr/>
        </p:nvSpPr>
        <p:spPr>
          <a:xfrm>
            <a:off x="403410" y="3619921"/>
            <a:ext cx="10165976" cy="2939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i.e. 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eq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= 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+ 2 M	     or 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2 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effective inductance can either increase or decrease due to mutual coupling dependant on whether the coils are wound in the same direction or not.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44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Example 3</a:t>
            </a:r>
            <a:endParaRPr/>
          </a:p>
        </p:txBody>
      </p:sp>
      <p:pic>
        <p:nvPicPr>
          <p:cNvPr id="1205" name="Google Shape;120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201" y="4168864"/>
            <a:ext cx="15144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6676" y="5016867"/>
            <a:ext cx="3829050" cy="118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7" name="Google Shape;1207;p44"/>
          <p:cNvGrpSpPr/>
          <p:nvPr/>
        </p:nvGrpSpPr>
        <p:grpSpPr>
          <a:xfrm>
            <a:off x="6843067" y="1695294"/>
            <a:ext cx="5147945" cy="1445895"/>
            <a:chOff x="6698" y="10418"/>
            <a:chExt cx="3240" cy="910"/>
          </a:xfrm>
        </p:grpSpPr>
        <p:grpSp>
          <p:nvGrpSpPr>
            <p:cNvPr id="1208" name="Google Shape;1208;p44"/>
            <p:cNvGrpSpPr/>
            <p:nvPr/>
          </p:nvGrpSpPr>
          <p:grpSpPr>
            <a:xfrm flipH="1" rot="10800000">
              <a:off x="8258" y="10603"/>
              <a:ext cx="1080" cy="355"/>
              <a:chOff x="8378" y="8263"/>
              <a:chExt cx="1080" cy="355"/>
            </a:xfrm>
          </p:grpSpPr>
          <p:sp>
            <p:nvSpPr>
              <p:cNvPr id="1209" name="Google Shape;1209;p44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0" name="Google Shape;1210;p44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1211" name="Google Shape;1211;p4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2" name="Google Shape;1212;p4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13" name="Google Shape;1213;p44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1214" name="Google Shape;1214;p4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5" name="Google Shape;1215;p4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16" name="Google Shape;1216;p44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1217" name="Google Shape;1217;p4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218;p4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19" name="Google Shape;1219;p44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44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21" name="Google Shape;1221;p44"/>
            <p:cNvCxnSpPr/>
            <p:nvPr/>
          </p:nvCxnSpPr>
          <p:spPr>
            <a:xfrm>
              <a:off x="9338" y="10778"/>
              <a:ext cx="36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2" name="Google Shape;1222;p44"/>
            <p:cNvSpPr txBox="1"/>
            <p:nvPr/>
          </p:nvSpPr>
          <p:spPr>
            <a:xfrm>
              <a:off x="8738" y="109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23" name="Google Shape;1223;p44"/>
            <p:cNvGrpSpPr/>
            <p:nvPr/>
          </p:nvGrpSpPr>
          <p:grpSpPr>
            <a:xfrm flipH="1" rot="10800000">
              <a:off x="7178" y="10613"/>
              <a:ext cx="1080" cy="355"/>
              <a:chOff x="8378" y="8263"/>
              <a:chExt cx="1080" cy="355"/>
            </a:xfrm>
          </p:grpSpPr>
          <p:sp>
            <p:nvSpPr>
              <p:cNvPr id="1224" name="Google Shape;1224;p44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5" name="Google Shape;1225;p44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1226" name="Google Shape;1226;p4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7" name="Google Shape;1227;p4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8" name="Google Shape;1228;p44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1229" name="Google Shape;1229;p4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4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31" name="Google Shape;1231;p44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1232" name="Google Shape;1232;p4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p4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81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4" name="Google Shape;1234;p44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44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36" name="Google Shape;1236;p44"/>
            <p:cNvCxnSpPr/>
            <p:nvPr/>
          </p:nvCxnSpPr>
          <p:spPr>
            <a:xfrm>
              <a:off x="6818" y="10788"/>
              <a:ext cx="36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7" name="Google Shape;1237;p44"/>
            <p:cNvSpPr txBox="1"/>
            <p:nvPr/>
          </p:nvSpPr>
          <p:spPr>
            <a:xfrm>
              <a:off x="7658" y="1096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38" name="Google Shape;1238;p44"/>
            <p:cNvCxnSpPr/>
            <p:nvPr/>
          </p:nvCxnSpPr>
          <p:spPr>
            <a:xfrm>
              <a:off x="6938" y="10778"/>
              <a:ext cx="12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239" name="Google Shape;1239;p44"/>
            <p:cNvCxnSpPr/>
            <p:nvPr/>
          </p:nvCxnSpPr>
          <p:spPr>
            <a:xfrm>
              <a:off x="9533" y="10778"/>
              <a:ext cx="12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240" name="Google Shape;1240;p44"/>
            <p:cNvSpPr txBox="1"/>
            <p:nvPr/>
          </p:nvSpPr>
          <p:spPr>
            <a:xfrm>
              <a:off x="6698" y="104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1" name="Google Shape;1241;p44"/>
            <p:cNvSpPr txBox="1"/>
            <p:nvPr/>
          </p:nvSpPr>
          <p:spPr>
            <a:xfrm>
              <a:off x="9578" y="104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42" name="Google Shape;1242;p44"/>
          <p:cNvSpPr/>
          <p:nvPr/>
        </p:nvSpPr>
        <p:spPr>
          <a:xfrm>
            <a:off x="-35858" y="977209"/>
            <a:ext cx="1199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Consider a couple of coils connected in series as shown.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4"/>
          <p:cNvSpPr/>
          <p:nvPr/>
        </p:nvSpPr>
        <p:spPr>
          <a:xfrm>
            <a:off x="68160" y="1545635"/>
            <a:ext cx="1199477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Let each coil have N turns,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then total series connected coil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has 2N turns.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the dimensions of the common magnetic circuit on which these are wound have area 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length 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4"/>
          <p:cNvSpPr/>
          <p:nvPr/>
        </p:nvSpPr>
        <p:spPr>
          <a:xfrm>
            <a:off x="0" y="5303430"/>
            <a:ext cx="53250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and total coil L 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4"/>
          <p:cNvSpPr/>
          <p:nvPr/>
        </p:nvSpPr>
        <p:spPr>
          <a:xfrm>
            <a:off x="0" y="6023724"/>
            <a:ext cx="9633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is obviously not equal to this  total.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45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What went wrong?</a:t>
            </a:r>
            <a:endParaRPr/>
          </a:p>
        </p:txBody>
      </p:sp>
      <p:pic>
        <p:nvPicPr>
          <p:cNvPr id="1251" name="Google Shape;125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986" y="3169899"/>
            <a:ext cx="12954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7335" y="2846106"/>
            <a:ext cx="495300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8147" y="4666036"/>
            <a:ext cx="15144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45"/>
          <p:cNvSpPr/>
          <p:nvPr/>
        </p:nvSpPr>
        <p:spPr>
          <a:xfrm>
            <a:off x="144026" y="1019086"/>
            <a:ext cx="1161825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the two coils are wound on the same magnetic circuit, very closely, then there would be mutual coupling with the coefficient of  coupling almost unity.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Then,	M = 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45"/>
          <p:cNvSpPr/>
          <p:nvPr/>
        </p:nvSpPr>
        <p:spPr>
          <a:xfrm flipH="1">
            <a:off x="4545386" y="3184928"/>
            <a:ext cx="13945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b="0" i="0" lang="en-GB" sz="36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b="0" i="0" lang="en-GB" sz="36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45"/>
          <p:cNvSpPr/>
          <p:nvPr/>
        </p:nvSpPr>
        <p:spPr>
          <a:xfrm>
            <a:off x="142262" y="3948009"/>
            <a:ext cx="744306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Thus the total inductance would be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+ 2 M =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5"/>
          <p:cNvSpPr/>
          <p:nvPr/>
        </p:nvSpPr>
        <p:spPr>
          <a:xfrm>
            <a:off x="5242671" y="4909003"/>
            <a:ext cx="37881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as expected.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6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Magnetic circuit Analysis</a:t>
            </a:r>
            <a:endParaRPr/>
          </a:p>
        </p:txBody>
      </p:sp>
      <p:grpSp>
        <p:nvGrpSpPr>
          <p:cNvPr id="1263" name="Google Shape;1263;p46"/>
          <p:cNvGrpSpPr/>
          <p:nvPr/>
        </p:nvGrpSpPr>
        <p:grpSpPr>
          <a:xfrm>
            <a:off x="5963920" y="4612005"/>
            <a:ext cx="1461770" cy="1557655"/>
            <a:chOff x="6098" y="8513"/>
            <a:chExt cx="840" cy="895"/>
          </a:xfrm>
        </p:grpSpPr>
        <p:sp>
          <p:nvSpPr>
            <p:cNvPr id="1264" name="Google Shape;1264;p46"/>
            <p:cNvSpPr/>
            <p:nvPr/>
          </p:nvSpPr>
          <p:spPr>
            <a:xfrm>
              <a:off x="6458" y="8529"/>
              <a:ext cx="480" cy="879"/>
            </a:xfrm>
            <a:custGeom>
              <a:rect b="b" l="l" r="r" t="t"/>
              <a:pathLst>
                <a:path extrusionOk="0" fill="none" h="35141" w="21600">
                  <a:moveTo>
                    <a:pt x="11856" y="-1"/>
                  </a:moveTo>
                  <a:cubicBezTo>
                    <a:pt x="17937" y="3993"/>
                    <a:pt x="21600" y="10779"/>
                    <a:pt x="21600" y="18055"/>
                  </a:cubicBezTo>
                  <a:cubicBezTo>
                    <a:pt x="21600" y="24741"/>
                    <a:pt x="18503" y="31050"/>
                    <a:pt x="13214" y="35140"/>
                  </a:cubicBezTo>
                </a:path>
                <a:path extrusionOk="0" h="35141" w="21600">
                  <a:moveTo>
                    <a:pt x="11856" y="-1"/>
                  </a:moveTo>
                  <a:cubicBezTo>
                    <a:pt x="17937" y="3993"/>
                    <a:pt x="21600" y="10779"/>
                    <a:pt x="21600" y="18055"/>
                  </a:cubicBezTo>
                  <a:cubicBezTo>
                    <a:pt x="21600" y="24741"/>
                    <a:pt x="18503" y="31050"/>
                    <a:pt x="13214" y="35140"/>
                  </a:cubicBezTo>
                  <a:lnTo>
                    <a:pt x="0" y="18055"/>
                  </a:lnTo>
                  <a:close/>
                </a:path>
              </a:pathLst>
            </a:custGeom>
            <a:noFill/>
            <a:ln cap="flat" cmpd="sng" w="762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5" name="Google Shape;1265;p46"/>
            <p:cNvCxnSpPr/>
            <p:nvPr/>
          </p:nvCxnSpPr>
          <p:spPr>
            <a:xfrm>
              <a:off x="6323" y="8529"/>
              <a:ext cx="424" cy="854"/>
            </a:xfrm>
            <a:prstGeom prst="straightConnector1">
              <a:avLst/>
            </a:prstGeom>
            <a:noFill/>
            <a:ln cap="flat" cmpd="sng" w="762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46"/>
            <p:cNvSpPr/>
            <p:nvPr/>
          </p:nvSpPr>
          <p:spPr>
            <a:xfrm flipH="1">
              <a:off x="6098" y="8513"/>
              <a:ext cx="480" cy="879"/>
            </a:xfrm>
            <a:custGeom>
              <a:rect b="b" l="l" r="r" t="t"/>
              <a:pathLst>
                <a:path extrusionOk="0" fill="none" h="35141" w="21600">
                  <a:moveTo>
                    <a:pt x="11856" y="-1"/>
                  </a:moveTo>
                  <a:cubicBezTo>
                    <a:pt x="17937" y="3993"/>
                    <a:pt x="21600" y="10779"/>
                    <a:pt x="21600" y="18055"/>
                  </a:cubicBezTo>
                  <a:cubicBezTo>
                    <a:pt x="21600" y="24741"/>
                    <a:pt x="18503" y="31050"/>
                    <a:pt x="13214" y="35140"/>
                  </a:cubicBezTo>
                </a:path>
                <a:path extrusionOk="0" h="35141" w="21600">
                  <a:moveTo>
                    <a:pt x="11856" y="-1"/>
                  </a:moveTo>
                  <a:cubicBezTo>
                    <a:pt x="17937" y="3993"/>
                    <a:pt x="21600" y="10779"/>
                    <a:pt x="21600" y="18055"/>
                  </a:cubicBezTo>
                  <a:cubicBezTo>
                    <a:pt x="21600" y="24741"/>
                    <a:pt x="18503" y="31050"/>
                    <a:pt x="13214" y="35140"/>
                  </a:cubicBezTo>
                  <a:lnTo>
                    <a:pt x="0" y="18055"/>
                  </a:lnTo>
                  <a:close/>
                </a:path>
              </a:pathLst>
            </a:custGeom>
            <a:noFill/>
            <a:ln cap="flat" cmpd="sng" w="762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7" name="Google Shape;1267;p46"/>
          <p:cNvGrpSpPr/>
          <p:nvPr/>
        </p:nvGrpSpPr>
        <p:grpSpPr>
          <a:xfrm>
            <a:off x="2882265" y="4483735"/>
            <a:ext cx="1249045" cy="1717675"/>
            <a:chOff x="3389" y="8281"/>
            <a:chExt cx="1395" cy="2705"/>
          </a:xfrm>
        </p:grpSpPr>
        <p:sp>
          <p:nvSpPr>
            <p:cNvPr id="1268" name="Google Shape;1268;p46"/>
            <p:cNvSpPr/>
            <p:nvPr/>
          </p:nvSpPr>
          <p:spPr>
            <a:xfrm rot="10800000">
              <a:off x="3389" y="9638"/>
              <a:ext cx="1240" cy="1348"/>
            </a:xfrm>
            <a:custGeom>
              <a:rect b="b" l="l" r="r" t="t"/>
              <a:pathLst>
                <a:path extrusionOk="0" fill="none" h="43057" w="43200">
                  <a:moveTo>
                    <a:pt x="19122" y="43057"/>
                  </a:moveTo>
                  <a:cubicBezTo>
                    <a:pt x="8224" y="41799"/>
                    <a:pt x="0" y="3257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extrusionOk="0" h="43057" w="43200">
                  <a:moveTo>
                    <a:pt x="19122" y="43057"/>
                  </a:moveTo>
                  <a:cubicBezTo>
                    <a:pt x="8224" y="41799"/>
                    <a:pt x="0" y="3257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762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3544" y="8281"/>
              <a:ext cx="1240" cy="1348"/>
            </a:xfrm>
            <a:custGeom>
              <a:rect b="b" l="l" r="r" t="t"/>
              <a:pathLst>
                <a:path extrusionOk="0" fill="none" h="43057" w="43200">
                  <a:moveTo>
                    <a:pt x="19122" y="43057"/>
                  </a:moveTo>
                  <a:cubicBezTo>
                    <a:pt x="8224" y="41799"/>
                    <a:pt x="0" y="3257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</a:path>
                <a:path extrusionOk="0" h="43057" w="43200">
                  <a:moveTo>
                    <a:pt x="19122" y="43057"/>
                  </a:moveTo>
                  <a:cubicBezTo>
                    <a:pt x="8224" y="41799"/>
                    <a:pt x="0" y="3257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762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0" name="Google Shape;1270;p46"/>
          <p:cNvSpPr/>
          <p:nvPr/>
        </p:nvSpPr>
        <p:spPr>
          <a:xfrm>
            <a:off x="268940" y="1011901"/>
            <a:ext cx="1113416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When a coil is wound round a magnetic core,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core becomes magnetised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one side becomes a north pole, and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other side becomes a south pole.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Different methods are there to remember the polarity. 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One of the simplest methods is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6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oogle Shape;1276;p47"/>
          <p:cNvGrpSpPr/>
          <p:nvPr/>
        </p:nvGrpSpPr>
        <p:grpSpPr>
          <a:xfrm>
            <a:off x="766817" y="2621748"/>
            <a:ext cx="9937040" cy="1108241"/>
            <a:chOff x="1898" y="8744"/>
            <a:chExt cx="7171" cy="954"/>
          </a:xfrm>
        </p:grpSpPr>
        <p:sp>
          <p:nvSpPr>
            <p:cNvPr descr="Dark horizontal" id="1277" name="Google Shape;1277;p47"/>
            <p:cNvSpPr/>
            <p:nvPr/>
          </p:nvSpPr>
          <p:spPr>
            <a:xfrm>
              <a:off x="3338" y="8798"/>
              <a:ext cx="3960" cy="360"/>
            </a:xfrm>
            <a:prstGeom prst="rect">
              <a:avLst/>
            </a:prstGeom>
            <a:solidFill>
              <a:srgbClr val="000066"/>
            </a:solidFill>
            <a:ln cap="flat" cmpd="sng" w="38100">
              <a:solidFill>
                <a:srgbClr val="9696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8" name="Google Shape;1278;p47"/>
            <p:cNvGrpSpPr/>
            <p:nvPr/>
          </p:nvGrpSpPr>
          <p:grpSpPr>
            <a:xfrm>
              <a:off x="3698" y="8744"/>
              <a:ext cx="998" cy="954"/>
              <a:chOff x="3698" y="8744"/>
              <a:chExt cx="998" cy="954"/>
            </a:xfrm>
          </p:grpSpPr>
          <p:cxnSp>
            <p:nvCxnSpPr>
              <p:cNvPr id="1279" name="Google Shape;1279;p47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0" name="Google Shape;1280;p47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47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47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47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84" name="Google Shape;1284;p47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85" name="Google Shape;1285;p47"/>
            <p:cNvGrpSpPr/>
            <p:nvPr/>
          </p:nvGrpSpPr>
          <p:grpSpPr>
            <a:xfrm>
              <a:off x="5580" y="8744"/>
              <a:ext cx="998" cy="954"/>
              <a:chOff x="3698" y="8744"/>
              <a:chExt cx="998" cy="954"/>
            </a:xfrm>
          </p:grpSpPr>
          <p:cxnSp>
            <p:nvCxnSpPr>
              <p:cNvPr id="1286" name="Google Shape;1286;p47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7" name="Google Shape;1287;p47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47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47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47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91" name="Google Shape;1291;p47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92" name="Google Shape;1292;p47"/>
            <p:cNvSpPr txBox="1"/>
            <p:nvPr/>
          </p:nvSpPr>
          <p:spPr>
            <a:xfrm>
              <a:off x="4058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3" name="Google Shape;1293;p47"/>
            <p:cNvSpPr txBox="1"/>
            <p:nvPr/>
          </p:nvSpPr>
          <p:spPr>
            <a:xfrm>
              <a:off x="5978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4" name="Google Shape;1294;p47"/>
            <p:cNvSpPr txBox="1"/>
            <p:nvPr/>
          </p:nvSpPr>
          <p:spPr>
            <a:xfrm>
              <a:off x="1898" y="8798"/>
              <a:ext cx="144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left hand side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5" name="Google Shape;1295;p47"/>
            <p:cNvSpPr txBox="1"/>
            <p:nvPr/>
          </p:nvSpPr>
          <p:spPr>
            <a:xfrm>
              <a:off x="7538" y="8798"/>
              <a:ext cx="1531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right hand side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96" name="Google Shape;1296;p47"/>
          <p:cNvGrpSpPr/>
          <p:nvPr/>
        </p:nvGrpSpPr>
        <p:grpSpPr>
          <a:xfrm>
            <a:off x="7868285" y="4481195"/>
            <a:ext cx="2176145" cy="1789747"/>
            <a:chOff x="11900" y="4500"/>
            <a:chExt cx="3427" cy="2819"/>
          </a:xfrm>
        </p:grpSpPr>
        <p:sp>
          <p:nvSpPr>
            <p:cNvPr descr="Dark horizontal" id="1297" name="Google Shape;1297;p47"/>
            <p:cNvSpPr/>
            <p:nvPr/>
          </p:nvSpPr>
          <p:spPr>
            <a:xfrm>
              <a:off x="11900" y="4604"/>
              <a:ext cx="2707" cy="541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8" name="Google Shape;1298;p47"/>
            <p:cNvGrpSpPr/>
            <p:nvPr/>
          </p:nvGrpSpPr>
          <p:grpSpPr>
            <a:xfrm>
              <a:off x="12080" y="4500"/>
              <a:ext cx="1501" cy="1435"/>
              <a:chOff x="3698" y="8744"/>
              <a:chExt cx="998" cy="954"/>
            </a:xfrm>
          </p:grpSpPr>
          <p:cxnSp>
            <p:nvCxnSpPr>
              <p:cNvPr id="1299" name="Google Shape;1299;p47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0" name="Google Shape;1300;p47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47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47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47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04" name="Google Shape;1304;p47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descr="Dark vertical" id="1305" name="Google Shape;1305;p47"/>
            <p:cNvSpPr/>
            <p:nvPr/>
          </p:nvSpPr>
          <p:spPr>
            <a:xfrm rot="5400000">
              <a:off x="13501" y="5694"/>
              <a:ext cx="2707" cy="542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6" name="Google Shape;1306;p47"/>
            <p:cNvCxnSpPr/>
            <p:nvPr/>
          </p:nvCxnSpPr>
          <p:spPr>
            <a:xfrm rot="10800000">
              <a:off x="14302" y="5093"/>
              <a:ext cx="0" cy="1083"/>
            </a:xfrm>
            <a:prstGeom prst="straightConnector1">
              <a:avLst/>
            </a:prstGeom>
            <a:noFill/>
            <a:ln cap="flat" cmpd="sng" w="317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7" name="Google Shape;1307;p47"/>
            <p:cNvSpPr/>
            <p:nvPr/>
          </p:nvSpPr>
          <p:spPr>
            <a:xfrm rot="5400000">
              <a:off x="14867" y="5611"/>
              <a:ext cx="304" cy="352"/>
            </a:xfrm>
            <a:custGeom>
              <a:rect b="b" l="l" r="r" t="t"/>
              <a:pathLst>
                <a:path extrusionOk="0" h="234" w="202">
                  <a:moveTo>
                    <a:pt x="0" y="234"/>
                  </a:moveTo>
                  <a:cubicBezTo>
                    <a:pt x="16" y="200"/>
                    <a:pt x="63" y="62"/>
                    <a:pt x="97" y="31"/>
                  </a:cubicBezTo>
                  <a:cubicBezTo>
                    <a:pt x="131" y="0"/>
                    <a:pt x="180" y="43"/>
                    <a:pt x="202" y="46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47"/>
            <p:cNvSpPr/>
            <p:nvPr/>
          </p:nvSpPr>
          <p:spPr>
            <a:xfrm rot="5400000">
              <a:off x="14599" y="5787"/>
              <a:ext cx="418" cy="722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47"/>
            <p:cNvSpPr/>
            <p:nvPr/>
          </p:nvSpPr>
          <p:spPr>
            <a:xfrm rot="5400000">
              <a:off x="14589" y="6193"/>
              <a:ext cx="418" cy="722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47"/>
            <p:cNvSpPr/>
            <p:nvPr/>
          </p:nvSpPr>
          <p:spPr>
            <a:xfrm rot="5400000">
              <a:off x="14714" y="6439"/>
              <a:ext cx="334" cy="892"/>
            </a:xfrm>
            <a:custGeom>
              <a:rect b="b" l="l" r="r" t="t"/>
              <a:pathLst>
                <a:path extrusionOk="0" h="593" w="222">
                  <a:moveTo>
                    <a:pt x="0" y="510"/>
                  </a:moveTo>
                  <a:cubicBezTo>
                    <a:pt x="7" y="519"/>
                    <a:pt x="22" y="593"/>
                    <a:pt x="45" y="562"/>
                  </a:cubicBezTo>
                  <a:cubicBezTo>
                    <a:pt x="68" y="531"/>
                    <a:pt x="108" y="392"/>
                    <a:pt x="135" y="322"/>
                  </a:cubicBezTo>
                  <a:cubicBezTo>
                    <a:pt x="162" y="252"/>
                    <a:pt x="198" y="196"/>
                    <a:pt x="210" y="142"/>
                  </a:cubicBezTo>
                  <a:cubicBezTo>
                    <a:pt x="222" y="88"/>
                    <a:pt x="210" y="30"/>
                    <a:pt x="210" y="0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47"/>
            <p:cNvSpPr txBox="1"/>
            <p:nvPr/>
          </p:nvSpPr>
          <p:spPr>
            <a:xfrm>
              <a:off x="12622" y="5504"/>
              <a:ext cx="541" cy="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47"/>
            <p:cNvSpPr txBox="1"/>
            <p:nvPr/>
          </p:nvSpPr>
          <p:spPr>
            <a:xfrm>
              <a:off x="14065" y="6235"/>
              <a:ext cx="542" cy="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13" name="Google Shape;1313;p47"/>
          <p:cNvGrpSpPr/>
          <p:nvPr/>
        </p:nvGrpSpPr>
        <p:grpSpPr>
          <a:xfrm>
            <a:off x="238125" y="4675020"/>
            <a:ext cx="7162165" cy="996315"/>
            <a:chOff x="137" y="4531"/>
            <a:chExt cx="11279" cy="1569"/>
          </a:xfrm>
        </p:grpSpPr>
        <p:sp>
          <p:nvSpPr>
            <p:cNvPr descr="Dark horizontal" id="1314" name="Google Shape;1314;p47"/>
            <p:cNvSpPr/>
            <p:nvPr/>
          </p:nvSpPr>
          <p:spPr>
            <a:xfrm>
              <a:off x="2603" y="4656"/>
              <a:ext cx="5956" cy="542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5" name="Google Shape;1315;p47"/>
            <p:cNvGrpSpPr/>
            <p:nvPr/>
          </p:nvGrpSpPr>
          <p:grpSpPr>
            <a:xfrm>
              <a:off x="3144" y="4665"/>
              <a:ext cx="1502" cy="1435"/>
              <a:chOff x="3698" y="8744"/>
              <a:chExt cx="998" cy="954"/>
            </a:xfrm>
          </p:grpSpPr>
          <p:cxnSp>
            <p:nvCxnSpPr>
              <p:cNvPr id="1316" name="Google Shape;1316;p47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7" name="Google Shape;1317;p47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47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47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47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1" name="Google Shape;1321;p47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322" name="Google Shape;1322;p47"/>
            <p:cNvCxnSpPr/>
            <p:nvPr/>
          </p:nvCxnSpPr>
          <p:spPr>
            <a:xfrm rot="10800000">
              <a:off x="5975" y="5017"/>
              <a:ext cx="0" cy="1083"/>
            </a:xfrm>
            <a:prstGeom prst="straightConnector1">
              <a:avLst/>
            </a:prstGeom>
            <a:noFill/>
            <a:ln cap="flat" cmpd="sng" w="317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3" name="Google Shape;1323;p47"/>
            <p:cNvSpPr/>
            <p:nvPr/>
          </p:nvSpPr>
          <p:spPr>
            <a:xfrm>
              <a:off x="5975" y="4665"/>
              <a:ext cx="304" cy="352"/>
            </a:xfrm>
            <a:custGeom>
              <a:rect b="b" l="l" r="r" t="t"/>
              <a:pathLst>
                <a:path extrusionOk="0" h="234" w="202">
                  <a:moveTo>
                    <a:pt x="0" y="234"/>
                  </a:moveTo>
                  <a:cubicBezTo>
                    <a:pt x="16" y="200"/>
                    <a:pt x="63" y="62"/>
                    <a:pt x="97" y="31"/>
                  </a:cubicBezTo>
                  <a:cubicBezTo>
                    <a:pt x="131" y="0"/>
                    <a:pt x="180" y="43"/>
                    <a:pt x="202" y="46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47"/>
            <p:cNvSpPr/>
            <p:nvPr/>
          </p:nvSpPr>
          <p:spPr>
            <a:xfrm>
              <a:off x="6279" y="4690"/>
              <a:ext cx="418" cy="723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7"/>
            <p:cNvSpPr/>
            <p:nvPr/>
          </p:nvSpPr>
          <p:spPr>
            <a:xfrm>
              <a:off x="6685" y="4701"/>
              <a:ext cx="418" cy="722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47"/>
            <p:cNvSpPr/>
            <p:nvPr/>
          </p:nvSpPr>
          <p:spPr>
            <a:xfrm>
              <a:off x="7058" y="4531"/>
              <a:ext cx="334" cy="892"/>
            </a:xfrm>
            <a:custGeom>
              <a:rect b="b" l="l" r="r" t="t"/>
              <a:pathLst>
                <a:path extrusionOk="0" h="593" w="222">
                  <a:moveTo>
                    <a:pt x="0" y="510"/>
                  </a:moveTo>
                  <a:cubicBezTo>
                    <a:pt x="7" y="519"/>
                    <a:pt x="22" y="593"/>
                    <a:pt x="45" y="562"/>
                  </a:cubicBezTo>
                  <a:cubicBezTo>
                    <a:pt x="68" y="531"/>
                    <a:pt x="108" y="392"/>
                    <a:pt x="135" y="322"/>
                  </a:cubicBezTo>
                  <a:cubicBezTo>
                    <a:pt x="162" y="252"/>
                    <a:pt x="198" y="196"/>
                    <a:pt x="210" y="142"/>
                  </a:cubicBezTo>
                  <a:cubicBezTo>
                    <a:pt x="222" y="88"/>
                    <a:pt x="210" y="30"/>
                    <a:pt x="210" y="0"/>
                  </a:cubicBez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47"/>
            <p:cNvSpPr txBox="1"/>
            <p:nvPr/>
          </p:nvSpPr>
          <p:spPr>
            <a:xfrm>
              <a:off x="3686" y="5558"/>
              <a:ext cx="541" cy="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47"/>
            <p:cNvSpPr txBox="1"/>
            <p:nvPr/>
          </p:nvSpPr>
          <p:spPr>
            <a:xfrm>
              <a:off x="6574" y="5558"/>
              <a:ext cx="541" cy="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47"/>
            <p:cNvSpPr txBox="1"/>
            <p:nvPr/>
          </p:nvSpPr>
          <p:spPr>
            <a:xfrm>
              <a:off x="137" y="4746"/>
              <a:ext cx="2466" cy="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left hand side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0" name="Google Shape;1330;p47"/>
            <p:cNvSpPr txBox="1"/>
            <p:nvPr/>
          </p:nvSpPr>
          <p:spPr>
            <a:xfrm>
              <a:off x="8559" y="4746"/>
              <a:ext cx="2857" cy="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right hand side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31" name="Google Shape;1331;p47"/>
          <p:cNvSpPr/>
          <p:nvPr/>
        </p:nvSpPr>
        <p:spPr>
          <a:xfrm>
            <a:off x="76200" y="428476"/>
            <a:ext cx="120396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When we look at a coil from one side,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if current direction is anti-clockwise, nearer side is a</a:t>
            </a: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north pole (also seen from arrow direction of  “</a:t>
            </a:r>
            <a:r>
              <a:rPr b="1" i="0" lang="en-GB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”);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if current direction is clockwise, nearer side is a south pole (also seen from arrow direction of  “</a:t>
            </a:r>
            <a:r>
              <a:rPr b="1" i="0" lang="en-GB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”).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7"/>
          <p:cNvSpPr/>
          <p:nvPr/>
        </p:nvSpPr>
        <p:spPr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47"/>
          <p:cNvSpPr/>
          <p:nvPr/>
        </p:nvSpPr>
        <p:spPr>
          <a:xfrm>
            <a:off x="-9525" y="3686244"/>
            <a:ext cx="11963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 can be easily visualised that coil A and coil B are both wound in the same direction. 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7"/>
          <p:cNvSpPr/>
          <p:nvPr/>
        </p:nvSpPr>
        <p:spPr>
          <a:xfrm>
            <a:off x="-7883" y="5742360"/>
            <a:ext cx="10050463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slightly differently diagram it would be less obvious.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Thus we use </a:t>
            </a:r>
            <a:r>
              <a:rPr b="1" i="1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dots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to denote similar ends of different coils.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8"/>
          <p:cNvSpPr/>
          <p:nvPr/>
        </p:nvSpPr>
        <p:spPr>
          <a:xfrm>
            <a:off x="429715" y="1117288"/>
            <a:ext cx="1135380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frequency at which power factor becomes unity.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when imaginary-part(impedance) → 0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imaginary-part(current) → 0.</a:t>
            </a:r>
            <a:r>
              <a:rPr lang="en-GB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	j                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0,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  at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(same as before).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of curve is dependant on value of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circuit.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05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→ 0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resonance occurs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→ ∞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→ 0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of current with respect to voltage tends to either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  or -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/2, changing at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3200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 resistance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quality of the resonance.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05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low,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low and hence the quality is high.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05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resonance, low r means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&lt;&lt; L</a:t>
            </a:r>
            <a:r>
              <a:rPr b="0" i="0" lang="en-GB" sz="3200" u="none" cap="none" strike="noStrik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&lt;&lt; 1/C</a:t>
            </a:r>
            <a:r>
              <a:rPr lang="en-GB" sz="3200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baseline="-25000" i="0" lang="en-GB" sz="3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3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0" name="Google Shape;1340;p48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Unity power factor resonance for series circuit</a:t>
            </a:r>
            <a:endParaRPr/>
          </a:p>
        </p:txBody>
      </p:sp>
      <p:pic>
        <p:nvPicPr>
          <p:cNvPr id="1341" name="Google Shape;13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1398" y="1979721"/>
            <a:ext cx="1860550" cy="1055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49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i="1" lang="en-GB"/>
              <a:t>Dot Notation</a:t>
            </a:r>
            <a:endParaRPr/>
          </a:p>
        </p:txBody>
      </p:sp>
      <p:sp>
        <p:nvSpPr>
          <p:cNvPr id="1347" name="Google Shape;1347;p49"/>
          <p:cNvSpPr/>
          <p:nvPr/>
        </p:nvSpPr>
        <p:spPr>
          <a:xfrm>
            <a:off x="80682" y="1013541"/>
            <a:ext cx="1196788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Relative directions of coils is important in determining direction of induced voltage with mutual coupling. 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8" name="Google Shape;1348;p49"/>
          <p:cNvGrpSpPr/>
          <p:nvPr/>
        </p:nvGrpSpPr>
        <p:grpSpPr>
          <a:xfrm>
            <a:off x="795020" y="3051810"/>
            <a:ext cx="8977630" cy="2006600"/>
            <a:chOff x="0" y="0"/>
            <a:chExt cx="8888730" cy="1929130"/>
          </a:xfrm>
        </p:grpSpPr>
        <p:grpSp>
          <p:nvGrpSpPr>
            <p:cNvPr id="1349" name="Google Shape;1349;p49"/>
            <p:cNvGrpSpPr/>
            <p:nvPr/>
          </p:nvGrpSpPr>
          <p:grpSpPr>
            <a:xfrm>
              <a:off x="0" y="685800"/>
              <a:ext cx="3627120" cy="1207135"/>
              <a:chOff x="2378" y="4260"/>
              <a:chExt cx="3360" cy="1118"/>
            </a:xfrm>
          </p:grpSpPr>
          <p:sp>
            <p:nvSpPr>
              <p:cNvPr id="1350" name="Google Shape;1350;p49"/>
              <p:cNvSpPr/>
              <p:nvPr/>
            </p:nvSpPr>
            <p:spPr>
              <a:xfrm>
                <a:off x="2378" y="4478"/>
                <a:ext cx="3360" cy="360"/>
              </a:xfrm>
              <a:prstGeom prst="rect">
                <a:avLst/>
              </a:prstGeom>
              <a:solidFill>
                <a:srgbClr val="C0C0C0"/>
              </a:solidFill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1" name="Google Shape;1351;p49"/>
              <p:cNvGrpSpPr/>
              <p:nvPr/>
            </p:nvGrpSpPr>
            <p:grpSpPr>
              <a:xfrm>
                <a:off x="2738" y="4424"/>
                <a:ext cx="998" cy="954"/>
                <a:chOff x="3698" y="8744"/>
                <a:chExt cx="998" cy="954"/>
              </a:xfrm>
            </p:grpSpPr>
            <p:cxnSp>
              <p:nvCxnSpPr>
                <p:cNvPr id="1352" name="Google Shape;1352;p49"/>
                <p:cNvCxnSpPr/>
                <p:nvPr/>
              </p:nvCxnSpPr>
              <p:spPr>
                <a:xfrm rot="10800000">
                  <a:off x="3698" y="8978"/>
                  <a:ext cx="0" cy="72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353" name="Google Shape;1353;p49"/>
                <p:cNvSpPr/>
                <p:nvPr/>
              </p:nvSpPr>
              <p:spPr>
                <a:xfrm>
                  <a:off x="3698" y="8744"/>
                  <a:ext cx="202" cy="234"/>
                </a:xfrm>
                <a:custGeom>
                  <a:rect b="b" l="l" r="r" t="t"/>
                  <a:pathLst>
                    <a:path extrusionOk="0" h="234" w="202">
                      <a:moveTo>
                        <a:pt x="0" y="234"/>
                      </a:moveTo>
                      <a:cubicBezTo>
                        <a:pt x="16" y="200"/>
                        <a:pt x="63" y="62"/>
                        <a:pt x="97" y="31"/>
                      </a:cubicBezTo>
                      <a:cubicBezTo>
                        <a:pt x="131" y="0"/>
                        <a:pt x="180" y="43"/>
                        <a:pt x="202" y="46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4" name="Google Shape;1354;p49"/>
                <p:cNvSpPr/>
                <p:nvPr/>
              </p:nvSpPr>
              <p:spPr>
                <a:xfrm>
                  <a:off x="3900" y="8761"/>
                  <a:ext cx="278" cy="480"/>
                </a:xfrm>
                <a:custGeom>
                  <a:rect b="b" l="l" r="r" t="t"/>
                  <a:pathLst>
                    <a:path extrusionOk="0" h="480" w="278">
                      <a:moveTo>
                        <a:pt x="0" y="397"/>
                      </a:moveTo>
                      <a:cubicBezTo>
                        <a:pt x="7" y="406"/>
                        <a:pt x="22" y="480"/>
                        <a:pt x="45" y="449"/>
                      </a:cubicBezTo>
                      <a:cubicBezTo>
                        <a:pt x="68" y="418"/>
                        <a:pt x="108" y="279"/>
                        <a:pt x="135" y="209"/>
                      </a:cubicBezTo>
                      <a:cubicBezTo>
                        <a:pt x="162" y="139"/>
                        <a:pt x="186" y="58"/>
                        <a:pt x="210" y="29"/>
                      </a:cubicBezTo>
                      <a:cubicBezTo>
                        <a:pt x="234" y="0"/>
                        <a:pt x="264" y="35"/>
                        <a:pt x="278" y="37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49"/>
                <p:cNvSpPr/>
                <p:nvPr/>
              </p:nvSpPr>
              <p:spPr>
                <a:xfrm>
                  <a:off x="4170" y="8768"/>
                  <a:ext cx="278" cy="480"/>
                </a:xfrm>
                <a:custGeom>
                  <a:rect b="b" l="l" r="r" t="t"/>
                  <a:pathLst>
                    <a:path extrusionOk="0" h="480" w="278">
                      <a:moveTo>
                        <a:pt x="0" y="397"/>
                      </a:moveTo>
                      <a:cubicBezTo>
                        <a:pt x="7" y="406"/>
                        <a:pt x="22" y="480"/>
                        <a:pt x="45" y="449"/>
                      </a:cubicBezTo>
                      <a:cubicBezTo>
                        <a:pt x="68" y="418"/>
                        <a:pt x="108" y="279"/>
                        <a:pt x="135" y="209"/>
                      </a:cubicBezTo>
                      <a:cubicBezTo>
                        <a:pt x="162" y="139"/>
                        <a:pt x="186" y="58"/>
                        <a:pt x="210" y="29"/>
                      </a:cubicBezTo>
                      <a:cubicBezTo>
                        <a:pt x="234" y="0"/>
                        <a:pt x="264" y="35"/>
                        <a:pt x="278" y="37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49"/>
                <p:cNvSpPr/>
                <p:nvPr/>
              </p:nvSpPr>
              <p:spPr>
                <a:xfrm>
                  <a:off x="4418" y="8768"/>
                  <a:ext cx="278" cy="480"/>
                </a:xfrm>
                <a:custGeom>
                  <a:rect b="b" l="l" r="r" t="t"/>
                  <a:pathLst>
                    <a:path extrusionOk="0" h="480" w="278">
                      <a:moveTo>
                        <a:pt x="0" y="397"/>
                      </a:moveTo>
                      <a:cubicBezTo>
                        <a:pt x="7" y="406"/>
                        <a:pt x="22" y="480"/>
                        <a:pt x="45" y="449"/>
                      </a:cubicBezTo>
                      <a:cubicBezTo>
                        <a:pt x="68" y="418"/>
                        <a:pt x="108" y="279"/>
                        <a:pt x="135" y="209"/>
                      </a:cubicBezTo>
                      <a:cubicBezTo>
                        <a:pt x="162" y="139"/>
                        <a:pt x="186" y="58"/>
                        <a:pt x="210" y="29"/>
                      </a:cubicBezTo>
                      <a:cubicBezTo>
                        <a:pt x="234" y="0"/>
                        <a:pt x="264" y="35"/>
                        <a:pt x="278" y="37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357" name="Google Shape;1357;p49"/>
                <p:cNvCxnSpPr/>
                <p:nvPr/>
              </p:nvCxnSpPr>
              <p:spPr>
                <a:xfrm>
                  <a:off x="4696" y="9158"/>
                  <a:ext cx="0" cy="54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358" name="Google Shape;1358;p49"/>
              <p:cNvCxnSpPr/>
              <p:nvPr/>
            </p:nvCxnSpPr>
            <p:spPr>
              <a:xfrm rot="10800000">
                <a:off x="4418" y="4658"/>
                <a:ext cx="0" cy="72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9" name="Google Shape;1359;p49"/>
              <p:cNvSpPr/>
              <p:nvPr/>
            </p:nvSpPr>
            <p:spPr>
              <a:xfrm>
                <a:off x="4418" y="442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49"/>
              <p:cNvSpPr/>
              <p:nvPr/>
            </p:nvSpPr>
            <p:spPr>
              <a:xfrm>
                <a:off x="4620" y="444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49"/>
              <p:cNvSpPr/>
              <p:nvPr/>
            </p:nvSpPr>
            <p:spPr>
              <a:xfrm>
                <a:off x="4890" y="444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49"/>
              <p:cNvSpPr/>
              <p:nvPr/>
            </p:nvSpPr>
            <p:spPr>
              <a:xfrm>
                <a:off x="5138" y="4260"/>
                <a:ext cx="232" cy="668"/>
              </a:xfrm>
              <a:custGeom>
                <a:rect b="b" l="l" r="r" t="t"/>
                <a:pathLst>
                  <a:path extrusionOk="0" h="668" w="232">
                    <a:moveTo>
                      <a:pt x="0" y="585"/>
                    </a:moveTo>
                    <a:cubicBezTo>
                      <a:pt x="7" y="594"/>
                      <a:pt x="22" y="668"/>
                      <a:pt x="45" y="637"/>
                    </a:cubicBezTo>
                    <a:cubicBezTo>
                      <a:pt x="68" y="606"/>
                      <a:pt x="108" y="467"/>
                      <a:pt x="135" y="397"/>
                    </a:cubicBezTo>
                    <a:cubicBezTo>
                      <a:pt x="162" y="327"/>
                      <a:pt x="194" y="283"/>
                      <a:pt x="210" y="217"/>
                    </a:cubicBezTo>
                    <a:cubicBezTo>
                      <a:pt x="226" y="151"/>
                      <a:pt x="228" y="45"/>
                      <a:pt x="232" y="0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49"/>
              <p:cNvSpPr txBox="1"/>
              <p:nvPr/>
            </p:nvSpPr>
            <p:spPr>
              <a:xfrm>
                <a:off x="3098" y="50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4" name="Google Shape;1364;p49"/>
              <p:cNvSpPr txBox="1"/>
              <p:nvPr/>
            </p:nvSpPr>
            <p:spPr>
              <a:xfrm>
                <a:off x="4778" y="50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365" name="Google Shape;1365;p49"/>
            <p:cNvGrpSpPr/>
            <p:nvPr/>
          </p:nvGrpSpPr>
          <p:grpSpPr>
            <a:xfrm>
              <a:off x="4676775" y="0"/>
              <a:ext cx="4211955" cy="1929130"/>
              <a:chOff x="8610" y="4917"/>
              <a:chExt cx="6633" cy="3038"/>
            </a:xfrm>
          </p:grpSpPr>
          <p:grpSp>
            <p:nvGrpSpPr>
              <p:cNvPr id="1366" name="Google Shape;1366;p49"/>
              <p:cNvGrpSpPr/>
              <p:nvPr/>
            </p:nvGrpSpPr>
            <p:grpSpPr>
              <a:xfrm flipH="1" rot="10800000">
                <a:off x="8610" y="5173"/>
                <a:ext cx="3060" cy="604"/>
                <a:chOff x="1778" y="4118"/>
                <a:chExt cx="1800" cy="355"/>
              </a:xfrm>
            </p:grpSpPr>
            <p:grpSp>
              <p:nvGrpSpPr>
                <p:cNvPr id="1367" name="Google Shape;1367;p49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368" name="Google Shape;1368;p49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69" name="Google Shape;1369;p49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370" name="Google Shape;1370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1" name="Google Shape;1371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72" name="Google Shape;1372;p49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373" name="Google Shape;1373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4" name="Google Shape;1374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75" name="Google Shape;1375;p49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376" name="Google Shape;1376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7" name="Google Shape;1377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378" name="Google Shape;1378;p49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9" name="Google Shape;1379;p49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380" name="Google Shape;1380;p49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81" name="Google Shape;1381;p49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82" name="Google Shape;1382;p49"/>
              <p:cNvGrpSpPr/>
              <p:nvPr/>
            </p:nvGrpSpPr>
            <p:grpSpPr>
              <a:xfrm flipH="1" rot="10800000">
                <a:off x="12183" y="6674"/>
                <a:ext cx="3060" cy="604"/>
                <a:chOff x="1778" y="4118"/>
                <a:chExt cx="1800" cy="355"/>
              </a:xfrm>
            </p:grpSpPr>
            <p:grpSp>
              <p:nvGrpSpPr>
                <p:cNvPr id="1383" name="Google Shape;1383;p49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384" name="Google Shape;1384;p49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85" name="Google Shape;1385;p49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386" name="Google Shape;1386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87" name="Google Shape;1387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88" name="Google Shape;1388;p49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389" name="Google Shape;1389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0" name="Google Shape;1390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91" name="Google Shape;1391;p49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392" name="Google Shape;1392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3" name="Google Shape;1393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394" name="Google Shape;1394;p49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5" name="Google Shape;1395;p49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396" name="Google Shape;1396;p49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97" name="Google Shape;1397;p49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98" name="Google Shape;1398;p49"/>
              <p:cNvSpPr/>
              <p:nvPr/>
            </p:nvSpPr>
            <p:spPr>
              <a:xfrm>
                <a:off x="14595" y="6568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49"/>
              <p:cNvSpPr/>
              <p:nvPr/>
            </p:nvSpPr>
            <p:spPr>
              <a:xfrm>
                <a:off x="12643" y="4922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00" name="Google Shape;1400;p49"/>
              <p:cNvGrpSpPr/>
              <p:nvPr/>
            </p:nvGrpSpPr>
            <p:grpSpPr>
              <a:xfrm flipH="1" rot="10800000">
                <a:off x="8613" y="6786"/>
                <a:ext cx="3060" cy="604"/>
                <a:chOff x="1778" y="4118"/>
                <a:chExt cx="1800" cy="355"/>
              </a:xfrm>
            </p:grpSpPr>
            <p:grpSp>
              <p:nvGrpSpPr>
                <p:cNvPr id="1401" name="Google Shape;1401;p49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402" name="Google Shape;1402;p49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403" name="Google Shape;1403;p49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404" name="Google Shape;1404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5" name="Google Shape;1405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06" name="Google Shape;1406;p49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407" name="Google Shape;1407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8" name="Google Shape;1408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09" name="Google Shape;1409;p49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410" name="Google Shape;1410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11" name="Google Shape;1411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12" name="Google Shape;1412;p49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13" name="Google Shape;1413;p49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414" name="Google Shape;1414;p49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15" name="Google Shape;1415;p49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416" name="Google Shape;1416;p49"/>
              <p:cNvGrpSpPr/>
              <p:nvPr/>
            </p:nvGrpSpPr>
            <p:grpSpPr>
              <a:xfrm>
                <a:off x="12486" y="5184"/>
                <a:ext cx="2577" cy="604"/>
                <a:chOff x="7248" y="7612"/>
                <a:chExt cx="2577" cy="604"/>
              </a:xfrm>
            </p:grpSpPr>
            <p:grpSp>
              <p:nvGrpSpPr>
                <p:cNvPr id="1417" name="Google Shape;1417;p49"/>
                <p:cNvGrpSpPr/>
                <p:nvPr/>
              </p:nvGrpSpPr>
              <p:grpSpPr>
                <a:xfrm flipH="1" rot="10800000">
                  <a:off x="7608" y="7612"/>
                  <a:ext cx="1836" cy="604"/>
                  <a:chOff x="8378" y="8263"/>
                  <a:chExt cx="1080" cy="355"/>
                </a:xfrm>
              </p:grpSpPr>
              <p:sp>
                <p:nvSpPr>
                  <p:cNvPr id="1418" name="Google Shape;1418;p49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419" name="Google Shape;1419;p49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420" name="Google Shape;1420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1" name="Google Shape;1421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22" name="Google Shape;1422;p49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423" name="Google Shape;1423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4" name="Google Shape;1424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425" name="Google Shape;1425;p49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426" name="Google Shape;1426;p49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7" name="Google Shape;1427;p49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28" name="Google Shape;1428;p49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9" name="Google Shape;1429;p49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430" name="Google Shape;1430;p49"/>
                <p:cNvCxnSpPr/>
                <p:nvPr/>
              </p:nvCxnSpPr>
              <p:spPr>
                <a:xfrm>
                  <a:off x="9465" y="7913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31" name="Google Shape;1431;p49"/>
                <p:cNvCxnSpPr/>
                <p:nvPr/>
              </p:nvCxnSpPr>
              <p:spPr>
                <a:xfrm>
                  <a:off x="7248" y="7934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32" name="Google Shape;1432;p49"/>
              <p:cNvSpPr/>
              <p:nvPr/>
            </p:nvSpPr>
            <p:spPr>
              <a:xfrm>
                <a:off x="9084" y="4917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49"/>
              <p:cNvSpPr/>
              <p:nvPr/>
            </p:nvSpPr>
            <p:spPr>
              <a:xfrm>
                <a:off x="11023" y="6630"/>
                <a:ext cx="173" cy="173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9"/>
              <p:cNvSpPr txBox="1"/>
              <p:nvPr/>
            </p:nvSpPr>
            <p:spPr>
              <a:xfrm>
                <a:off x="10068" y="5739"/>
                <a:ext cx="786" cy="7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5" name="Google Shape;1435;p49"/>
              <p:cNvSpPr txBox="1"/>
              <p:nvPr/>
            </p:nvSpPr>
            <p:spPr>
              <a:xfrm>
                <a:off x="13492" y="5714"/>
                <a:ext cx="634" cy="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6" name="Google Shape;1436;p49"/>
              <p:cNvSpPr txBox="1"/>
              <p:nvPr/>
            </p:nvSpPr>
            <p:spPr>
              <a:xfrm>
                <a:off x="9887" y="7378"/>
                <a:ext cx="589" cy="5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7" name="Google Shape;1437;p49"/>
              <p:cNvSpPr txBox="1"/>
              <p:nvPr/>
            </p:nvSpPr>
            <p:spPr>
              <a:xfrm>
                <a:off x="13564" y="7236"/>
                <a:ext cx="719" cy="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438" name="Google Shape;1438;p49"/>
          <p:cNvSpPr/>
          <p:nvPr/>
        </p:nvSpPr>
        <p:spPr>
          <a:xfrm>
            <a:off x="61605" y="2009169"/>
            <a:ext cx="1196788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Consider following magnetic circuits, and corresponding electrical circuit with polarities defined by dotted ends.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Although there are two possible ways of drawing the             dotted ends, both give same relationship to each other.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Dots do not indicate same polarity but similar ends.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" name="Google Shape;1443;p50"/>
          <p:cNvGrpSpPr/>
          <p:nvPr/>
        </p:nvGrpSpPr>
        <p:grpSpPr>
          <a:xfrm>
            <a:off x="876300" y="1058395"/>
            <a:ext cx="10414635" cy="2529205"/>
            <a:chOff x="2378" y="1535"/>
            <a:chExt cx="7800" cy="1744"/>
          </a:xfrm>
        </p:grpSpPr>
        <p:sp>
          <p:nvSpPr>
            <p:cNvPr id="1444" name="Google Shape;1444;p50"/>
            <p:cNvSpPr/>
            <p:nvPr/>
          </p:nvSpPr>
          <p:spPr>
            <a:xfrm>
              <a:off x="2378" y="1838"/>
              <a:ext cx="3360" cy="360"/>
            </a:xfrm>
            <a:prstGeom prst="rect">
              <a:avLst/>
            </a:prstGeom>
            <a:solidFill>
              <a:srgbClr val="C0C0C0"/>
            </a:solidFill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5" name="Google Shape;1445;p50"/>
            <p:cNvGrpSpPr/>
            <p:nvPr/>
          </p:nvGrpSpPr>
          <p:grpSpPr>
            <a:xfrm>
              <a:off x="2738" y="1784"/>
              <a:ext cx="998" cy="954"/>
              <a:chOff x="3698" y="8744"/>
              <a:chExt cx="998" cy="954"/>
            </a:xfrm>
          </p:grpSpPr>
          <p:cxnSp>
            <p:nvCxnSpPr>
              <p:cNvPr id="1446" name="Google Shape;1446;p50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47" name="Google Shape;1447;p50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50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50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50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51" name="Google Shape;1451;p50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52" name="Google Shape;1452;p50"/>
            <p:cNvSpPr/>
            <p:nvPr/>
          </p:nvSpPr>
          <p:spPr>
            <a:xfrm flipH="1">
              <a:off x="4890" y="1801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50"/>
            <p:cNvSpPr/>
            <p:nvPr/>
          </p:nvSpPr>
          <p:spPr>
            <a:xfrm flipH="1">
              <a:off x="4620" y="1808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50"/>
            <p:cNvSpPr/>
            <p:nvPr/>
          </p:nvSpPr>
          <p:spPr>
            <a:xfrm flipH="1">
              <a:off x="4418" y="1620"/>
              <a:ext cx="232" cy="668"/>
            </a:xfrm>
            <a:custGeom>
              <a:rect b="b" l="l" r="r" t="t"/>
              <a:pathLst>
                <a:path extrusionOk="0" h="668" w="232">
                  <a:moveTo>
                    <a:pt x="0" y="585"/>
                  </a:moveTo>
                  <a:cubicBezTo>
                    <a:pt x="7" y="594"/>
                    <a:pt x="22" y="668"/>
                    <a:pt x="45" y="637"/>
                  </a:cubicBezTo>
                  <a:cubicBezTo>
                    <a:pt x="68" y="606"/>
                    <a:pt x="108" y="467"/>
                    <a:pt x="135" y="397"/>
                  </a:cubicBezTo>
                  <a:cubicBezTo>
                    <a:pt x="162" y="327"/>
                    <a:pt x="194" y="283"/>
                    <a:pt x="210" y="217"/>
                  </a:cubicBezTo>
                  <a:cubicBezTo>
                    <a:pt x="226" y="151"/>
                    <a:pt x="228" y="45"/>
                    <a:pt x="232" y="0"/>
                  </a:cubicBez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50"/>
            <p:cNvSpPr txBox="1"/>
            <p:nvPr/>
          </p:nvSpPr>
          <p:spPr>
            <a:xfrm>
              <a:off x="3098" y="237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6" name="Google Shape;1456;p50"/>
            <p:cNvSpPr txBox="1"/>
            <p:nvPr/>
          </p:nvSpPr>
          <p:spPr>
            <a:xfrm>
              <a:off x="4898" y="237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57" name="Google Shape;1457;p50"/>
            <p:cNvGrpSpPr/>
            <p:nvPr/>
          </p:nvGrpSpPr>
          <p:grpSpPr>
            <a:xfrm flipH="1" rot="10800000">
              <a:off x="6338" y="2554"/>
              <a:ext cx="1800" cy="355"/>
              <a:chOff x="1778" y="4118"/>
              <a:chExt cx="1800" cy="355"/>
            </a:xfrm>
          </p:grpSpPr>
          <p:grpSp>
            <p:nvGrpSpPr>
              <p:cNvPr id="1458" name="Google Shape;1458;p50"/>
              <p:cNvGrpSpPr/>
              <p:nvPr/>
            </p:nvGrpSpPr>
            <p:grpSpPr>
              <a:xfrm>
                <a:off x="2138" y="4118"/>
                <a:ext cx="1080" cy="355"/>
                <a:chOff x="8378" y="8263"/>
                <a:chExt cx="1080" cy="355"/>
              </a:xfrm>
            </p:grpSpPr>
            <p:sp>
              <p:nvSpPr>
                <p:cNvPr id="1459" name="Google Shape;1459;p50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60" name="Google Shape;1460;p50"/>
                <p:cNvGrpSpPr/>
                <p:nvPr/>
              </p:nvGrpSpPr>
              <p:grpSpPr>
                <a:xfrm>
                  <a:off x="8556" y="8273"/>
                  <a:ext cx="328" cy="344"/>
                  <a:chOff x="2020" y="8243"/>
                  <a:chExt cx="1768" cy="960"/>
                </a:xfrm>
              </p:grpSpPr>
              <p:sp>
                <p:nvSpPr>
                  <p:cNvPr id="1461" name="Google Shape;1461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2" name="Google Shape;1462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63" name="Google Shape;1463;p50"/>
                <p:cNvGrpSpPr/>
                <p:nvPr/>
              </p:nvGrpSpPr>
              <p:grpSpPr>
                <a:xfrm>
                  <a:off x="8745" y="8263"/>
                  <a:ext cx="328" cy="344"/>
                  <a:chOff x="2020" y="8243"/>
                  <a:chExt cx="1768" cy="960"/>
                </a:xfrm>
              </p:grpSpPr>
              <p:sp>
                <p:nvSpPr>
                  <p:cNvPr id="1464" name="Google Shape;1464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5" name="Google Shape;1465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66" name="Google Shape;1466;p50"/>
                <p:cNvGrpSpPr/>
                <p:nvPr/>
              </p:nvGrpSpPr>
              <p:grpSpPr>
                <a:xfrm>
                  <a:off x="8931" y="8269"/>
                  <a:ext cx="328" cy="344"/>
                  <a:chOff x="2020" y="8243"/>
                  <a:chExt cx="1768" cy="960"/>
                </a:xfrm>
              </p:grpSpPr>
              <p:sp>
                <p:nvSpPr>
                  <p:cNvPr id="1467" name="Google Shape;1467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8" name="Google Shape;1468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69" name="Google Shape;1469;p50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0" name="Google Shape;1470;p50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471" name="Google Shape;1471;p50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50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73" name="Google Shape;1473;p50"/>
            <p:cNvGrpSpPr/>
            <p:nvPr/>
          </p:nvGrpSpPr>
          <p:grpSpPr>
            <a:xfrm flipH="1" rot="10800000">
              <a:off x="8378" y="2549"/>
              <a:ext cx="1800" cy="355"/>
              <a:chOff x="1778" y="4118"/>
              <a:chExt cx="1800" cy="355"/>
            </a:xfrm>
          </p:grpSpPr>
          <p:grpSp>
            <p:nvGrpSpPr>
              <p:cNvPr id="1474" name="Google Shape;1474;p50"/>
              <p:cNvGrpSpPr/>
              <p:nvPr/>
            </p:nvGrpSpPr>
            <p:grpSpPr>
              <a:xfrm>
                <a:off x="2138" y="4118"/>
                <a:ext cx="1080" cy="355"/>
                <a:chOff x="8378" y="8263"/>
                <a:chExt cx="1080" cy="355"/>
              </a:xfrm>
            </p:grpSpPr>
            <p:sp>
              <p:nvSpPr>
                <p:cNvPr id="1475" name="Google Shape;1475;p50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76" name="Google Shape;1476;p50"/>
                <p:cNvGrpSpPr/>
                <p:nvPr/>
              </p:nvGrpSpPr>
              <p:grpSpPr>
                <a:xfrm>
                  <a:off x="8556" y="8273"/>
                  <a:ext cx="328" cy="344"/>
                  <a:chOff x="2020" y="8243"/>
                  <a:chExt cx="1768" cy="960"/>
                </a:xfrm>
              </p:grpSpPr>
              <p:sp>
                <p:nvSpPr>
                  <p:cNvPr id="1477" name="Google Shape;1477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8" name="Google Shape;1478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9" name="Google Shape;1479;p50"/>
                <p:cNvGrpSpPr/>
                <p:nvPr/>
              </p:nvGrpSpPr>
              <p:grpSpPr>
                <a:xfrm>
                  <a:off x="8745" y="8263"/>
                  <a:ext cx="328" cy="344"/>
                  <a:chOff x="2020" y="8243"/>
                  <a:chExt cx="1768" cy="960"/>
                </a:xfrm>
              </p:grpSpPr>
              <p:sp>
                <p:nvSpPr>
                  <p:cNvPr id="1480" name="Google Shape;1480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81" name="Google Shape;1481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82" name="Google Shape;1482;p50"/>
                <p:cNvGrpSpPr/>
                <p:nvPr/>
              </p:nvGrpSpPr>
              <p:grpSpPr>
                <a:xfrm>
                  <a:off x="8931" y="8269"/>
                  <a:ext cx="328" cy="344"/>
                  <a:chOff x="2020" y="8243"/>
                  <a:chExt cx="1768" cy="960"/>
                </a:xfrm>
              </p:grpSpPr>
              <p:sp>
                <p:nvSpPr>
                  <p:cNvPr id="1483" name="Google Shape;1483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84" name="Google Shape;1484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85" name="Google Shape;1485;p50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6" name="Google Shape;1486;p50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487" name="Google Shape;1487;p50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8" name="Google Shape;1488;p50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89" name="Google Shape;1489;p50"/>
            <p:cNvSpPr/>
            <p:nvPr/>
          </p:nvSpPr>
          <p:spPr>
            <a:xfrm>
              <a:off x="7778" y="2436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50"/>
            <p:cNvSpPr/>
            <p:nvPr/>
          </p:nvSpPr>
          <p:spPr>
            <a:xfrm>
              <a:off x="8618" y="2451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50"/>
            <p:cNvSpPr txBox="1"/>
            <p:nvPr/>
          </p:nvSpPr>
          <p:spPr>
            <a:xfrm>
              <a:off x="7058" y="20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2" name="Google Shape;1492;p50"/>
            <p:cNvSpPr txBox="1"/>
            <p:nvPr/>
          </p:nvSpPr>
          <p:spPr>
            <a:xfrm>
              <a:off x="9143" y="20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3" name="Google Shape;1493;p50"/>
            <p:cNvSpPr txBox="1"/>
            <p:nvPr/>
          </p:nvSpPr>
          <p:spPr>
            <a:xfrm>
              <a:off x="7058" y="291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4" name="Google Shape;1494;p50"/>
            <p:cNvSpPr txBox="1"/>
            <p:nvPr/>
          </p:nvSpPr>
          <p:spPr>
            <a:xfrm>
              <a:off x="9143" y="291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5" name="Google Shape;1495;p50"/>
            <p:cNvSpPr/>
            <p:nvPr/>
          </p:nvSpPr>
          <p:spPr>
            <a:xfrm flipH="1">
              <a:off x="5130" y="1793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6" name="Google Shape;1496;p50"/>
            <p:cNvCxnSpPr/>
            <p:nvPr/>
          </p:nvCxnSpPr>
          <p:spPr>
            <a:xfrm rot="10800000">
              <a:off x="5423" y="1603"/>
              <a:ext cx="0" cy="23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97" name="Google Shape;1497;p50"/>
            <p:cNvSpPr txBox="1"/>
            <p:nvPr/>
          </p:nvSpPr>
          <p:spPr>
            <a:xfrm>
              <a:off x="2498" y="219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8" name="Google Shape;1498;p50"/>
            <p:cNvSpPr txBox="1"/>
            <p:nvPr/>
          </p:nvSpPr>
          <p:spPr>
            <a:xfrm>
              <a:off x="3818" y="219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9" name="Google Shape;1499;p50"/>
            <p:cNvSpPr txBox="1"/>
            <p:nvPr/>
          </p:nvSpPr>
          <p:spPr>
            <a:xfrm>
              <a:off x="4298" y="219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0" name="Google Shape;1500;p50"/>
            <p:cNvSpPr txBox="1"/>
            <p:nvPr/>
          </p:nvSpPr>
          <p:spPr>
            <a:xfrm>
              <a:off x="5498" y="2199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01" name="Google Shape;1501;p50"/>
            <p:cNvGrpSpPr/>
            <p:nvPr/>
          </p:nvGrpSpPr>
          <p:grpSpPr>
            <a:xfrm>
              <a:off x="6338" y="1535"/>
              <a:ext cx="3840" cy="663"/>
              <a:chOff x="6338" y="8135"/>
              <a:chExt cx="3840" cy="663"/>
            </a:xfrm>
          </p:grpSpPr>
          <p:grpSp>
            <p:nvGrpSpPr>
              <p:cNvPr id="1502" name="Google Shape;1502;p50"/>
              <p:cNvGrpSpPr/>
              <p:nvPr/>
            </p:nvGrpSpPr>
            <p:grpSpPr>
              <a:xfrm flipH="1" rot="10800000">
                <a:off x="6338" y="8253"/>
                <a:ext cx="1800" cy="355"/>
                <a:chOff x="1778" y="4118"/>
                <a:chExt cx="1800" cy="355"/>
              </a:xfrm>
            </p:grpSpPr>
            <p:grpSp>
              <p:nvGrpSpPr>
                <p:cNvPr id="1503" name="Google Shape;1503;p50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504" name="Google Shape;1504;p50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05" name="Google Shape;1505;p50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06" name="Google Shape;1506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07" name="Google Shape;1507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08" name="Google Shape;1508;p50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09" name="Google Shape;1509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10" name="Google Shape;1510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11" name="Google Shape;1511;p50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12" name="Google Shape;1512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13" name="Google Shape;1513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514" name="Google Shape;1514;p50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5" name="Google Shape;1515;p50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16" name="Google Shape;1516;p50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17" name="Google Shape;1517;p50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8" name="Google Shape;1518;p50"/>
              <p:cNvGrpSpPr/>
              <p:nvPr/>
            </p:nvGrpSpPr>
            <p:grpSpPr>
              <a:xfrm flipH="1" rot="10800000">
                <a:off x="8378" y="8248"/>
                <a:ext cx="1800" cy="355"/>
                <a:chOff x="1778" y="4118"/>
                <a:chExt cx="1800" cy="355"/>
              </a:xfrm>
            </p:grpSpPr>
            <p:grpSp>
              <p:nvGrpSpPr>
                <p:cNvPr id="1519" name="Google Shape;1519;p50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520" name="Google Shape;1520;p50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21" name="Google Shape;1521;p50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22" name="Google Shape;1522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23" name="Google Shape;1523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24" name="Google Shape;1524;p50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25" name="Google Shape;1525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26" name="Google Shape;1526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27" name="Google Shape;1527;p50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28" name="Google Shape;1528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29" name="Google Shape;1529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530" name="Google Shape;1530;p50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1" name="Google Shape;1531;p50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32" name="Google Shape;1532;p50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33" name="Google Shape;1533;p50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34" name="Google Shape;1534;p50"/>
              <p:cNvSpPr/>
              <p:nvPr/>
            </p:nvSpPr>
            <p:spPr>
              <a:xfrm>
                <a:off x="6653" y="813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50"/>
              <p:cNvSpPr/>
              <p:nvPr/>
            </p:nvSpPr>
            <p:spPr>
              <a:xfrm>
                <a:off x="9870" y="8180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50"/>
              <p:cNvSpPr txBox="1"/>
              <p:nvPr/>
            </p:nvSpPr>
            <p:spPr>
              <a:xfrm>
                <a:off x="6503" y="84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7" name="Google Shape;1537;p50"/>
              <p:cNvSpPr txBox="1"/>
              <p:nvPr/>
            </p:nvSpPr>
            <p:spPr>
              <a:xfrm>
                <a:off x="7823" y="84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8" name="Google Shape;1538;p50"/>
              <p:cNvSpPr txBox="1"/>
              <p:nvPr/>
            </p:nvSpPr>
            <p:spPr>
              <a:xfrm>
                <a:off x="8618" y="84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9" name="Google Shape;1539;p50"/>
              <p:cNvSpPr txBox="1"/>
              <p:nvPr/>
            </p:nvSpPr>
            <p:spPr>
              <a:xfrm>
                <a:off x="9818" y="84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540" name="Google Shape;1540;p50"/>
          <p:cNvGrpSpPr/>
          <p:nvPr/>
        </p:nvGrpSpPr>
        <p:grpSpPr>
          <a:xfrm>
            <a:off x="600075" y="5646533"/>
            <a:ext cx="4389120" cy="757555"/>
            <a:chOff x="6338" y="8135"/>
            <a:chExt cx="3840" cy="663"/>
          </a:xfrm>
        </p:grpSpPr>
        <p:grpSp>
          <p:nvGrpSpPr>
            <p:cNvPr id="1541" name="Google Shape;1541;p50"/>
            <p:cNvGrpSpPr/>
            <p:nvPr/>
          </p:nvGrpSpPr>
          <p:grpSpPr>
            <a:xfrm flipH="1" rot="10800000">
              <a:off x="6338" y="8253"/>
              <a:ext cx="1800" cy="355"/>
              <a:chOff x="1778" y="4118"/>
              <a:chExt cx="1800" cy="355"/>
            </a:xfrm>
          </p:grpSpPr>
          <p:grpSp>
            <p:nvGrpSpPr>
              <p:cNvPr id="1542" name="Google Shape;1542;p50"/>
              <p:cNvGrpSpPr/>
              <p:nvPr/>
            </p:nvGrpSpPr>
            <p:grpSpPr>
              <a:xfrm>
                <a:off x="2138" y="4118"/>
                <a:ext cx="1080" cy="355"/>
                <a:chOff x="8378" y="8263"/>
                <a:chExt cx="1080" cy="355"/>
              </a:xfrm>
            </p:grpSpPr>
            <p:sp>
              <p:nvSpPr>
                <p:cNvPr id="1543" name="Google Shape;1543;p50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44" name="Google Shape;1544;p50"/>
                <p:cNvGrpSpPr/>
                <p:nvPr/>
              </p:nvGrpSpPr>
              <p:grpSpPr>
                <a:xfrm>
                  <a:off x="8556" y="8273"/>
                  <a:ext cx="328" cy="344"/>
                  <a:chOff x="2020" y="8243"/>
                  <a:chExt cx="1768" cy="960"/>
                </a:xfrm>
              </p:grpSpPr>
              <p:sp>
                <p:nvSpPr>
                  <p:cNvPr id="1545" name="Google Shape;1545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6" name="Google Shape;1546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47" name="Google Shape;1547;p50"/>
                <p:cNvGrpSpPr/>
                <p:nvPr/>
              </p:nvGrpSpPr>
              <p:grpSpPr>
                <a:xfrm>
                  <a:off x="8745" y="8263"/>
                  <a:ext cx="328" cy="344"/>
                  <a:chOff x="2020" y="8243"/>
                  <a:chExt cx="1768" cy="960"/>
                </a:xfrm>
              </p:grpSpPr>
              <p:sp>
                <p:nvSpPr>
                  <p:cNvPr id="1548" name="Google Shape;1548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49" name="Google Shape;1549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50" name="Google Shape;1550;p50"/>
                <p:cNvGrpSpPr/>
                <p:nvPr/>
              </p:nvGrpSpPr>
              <p:grpSpPr>
                <a:xfrm>
                  <a:off x="8931" y="8269"/>
                  <a:ext cx="328" cy="344"/>
                  <a:chOff x="2020" y="8243"/>
                  <a:chExt cx="1768" cy="960"/>
                </a:xfrm>
              </p:grpSpPr>
              <p:sp>
                <p:nvSpPr>
                  <p:cNvPr id="1551" name="Google Shape;1551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2" name="Google Shape;1552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53" name="Google Shape;1553;p50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50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555" name="Google Shape;1555;p50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6" name="Google Shape;1556;p50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57" name="Google Shape;1557;p50"/>
            <p:cNvGrpSpPr/>
            <p:nvPr/>
          </p:nvGrpSpPr>
          <p:grpSpPr>
            <a:xfrm flipH="1" rot="10800000">
              <a:off x="8378" y="8248"/>
              <a:ext cx="1800" cy="355"/>
              <a:chOff x="1778" y="4118"/>
              <a:chExt cx="1800" cy="355"/>
            </a:xfrm>
          </p:grpSpPr>
          <p:grpSp>
            <p:nvGrpSpPr>
              <p:cNvPr id="1558" name="Google Shape;1558;p50"/>
              <p:cNvGrpSpPr/>
              <p:nvPr/>
            </p:nvGrpSpPr>
            <p:grpSpPr>
              <a:xfrm>
                <a:off x="2138" y="4118"/>
                <a:ext cx="1080" cy="355"/>
                <a:chOff x="8378" y="8263"/>
                <a:chExt cx="1080" cy="355"/>
              </a:xfrm>
            </p:grpSpPr>
            <p:sp>
              <p:nvSpPr>
                <p:cNvPr id="1559" name="Google Shape;1559;p50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60" name="Google Shape;1560;p50"/>
                <p:cNvGrpSpPr/>
                <p:nvPr/>
              </p:nvGrpSpPr>
              <p:grpSpPr>
                <a:xfrm>
                  <a:off x="8556" y="8273"/>
                  <a:ext cx="328" cy="344"/>
                  <a:chOff x="2020" y="8243"/>
                  <a:chExt cx="1768" cy="960"/>
                </a:xfrm>
              </p:grpSpPr>
              <p:sp>
                <p:nvSpPr>
                  <p:cNvPr id="1561" name="Google Shape;1561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2" name="Google Shape;1562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63" name="Google Shape;1563;p50"/>
                <p:cNvGrpSpPr/>
                <p:nvPr/>
              </p:nvGrpSpPr>
              <p:grpSpPr>
                <a:xfrm>
                  <a:off x="8745" y="8263"/>
                  <a:ext cx="328" cy="344"/>
                  <a:chOff x="2020" y="8243"/>
                  <a:chExt cx="1768" cy="960"/>
                </a:xfrm>
              </p:grpSpPr>
              <p:sp>
                <p:nvSpPr>
                  <p:cNvPr id="1564" name="Google Shape;1564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5" name="Google Shape;1565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66" name="Google Shape;1566;p50"/>
                <p:cNvGrpSpPr/>
                <p:nvPr/>
              </p:nvGrpSpPr>
              <p:grpSpPr>
                <a:xfrm>
                  <a:off x="8931" y="8269"/>
                  <a:ext cx="328" cy="344"/>
                  <a:chOff x="2020" y="8243"/>
                  <a:chExt cx="1768" cy="960"/>
                </a:xfrm>
              </p:grpSpPr>
              <p:sp>
                <p:nvSpPr>
                  <p:cNvPr id="1567" name="Google Shape;1567;p50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8" name="Google Shape;1568;p50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69" name="Google Shape;1569;p50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50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571" name="Google Shape;1571;p50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2" name="Google Shape;1572;p50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73" name="Google Shape;1573;p50"/>
            <p:cNvSpPr/>
            <p:nvPr/>
          </p:nvSpPr>
          <p:spPr>
            <a:xfrm>
              <a:off x="6653" y="8135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50"/>
            <p:cNvSpPr/>
            <p:nvPr/>
          </p:nvSpPr>
          <p:spPr>
            <a:xfrm>
              <a:off x="9870" y="8180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50"/>
            <p:cNvSpPr txBox="1"/>
            <p:nvPr/>
          </p:nvSpPr>
          <p:spPr>
            <a:xfrm>
              <a:off x="6503" y="84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6" name="Google Shape;1576;p50"/>
            <p:cNvSpPr txBox="1"/>
            <p:nvPr/>
          </p:nvSpPr>
          <p:spPr>
            <a:xfrm>
              <a:off x="7823" y="84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7" name="Google Shape;1577;p50"/>
            <p:cNvSpPr txBox="1"/>
            <p:nvPr/>
          </p:nvSpPr>
          <p:spPr>
            <a:xfrm>
              <a:off x="8618" y="84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8" name="Google Shape;1578;p50"/>
            <p:cNvSpPr txBox="1"/>
            <p:nvPr/>
          </p:nvSpPr>
          <p:spPr>
            <a:xfrm>
              <a:off x="9818" y="84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79" name="Google Shape;1579;p50"/>
          <p:cNvGrpSpPr/>
          <p:nvPr/>
        </p:nvGrpSpPr>
        <p:grpSpPr>
          <a:xfrm>
            <a:off x="5625691" y="5074996"/>
            <a:ext cx="4383405" cy="1858262"/>
            <a:chOff x="8655" y="5476"/>
            <a:chExt cx="6903" cy="2926"/>
          </a:xfrm>
        </p:grpSpPr>
        <p:grpSp>
          <p:nvGrpSpPr>
            <p:cNvPr id="1580" name="Google Shape;1580;p50"/>
            <p:cNvGrpSpPr/>
            <p:nvPr/>
          </p:nvGrpSpPr>
          <p:grpSpPr>
            <a:xfrm>
              <a:off x="12237" y="6606"/>
              <a:ext cx="3321" cy="1193"/>
              <a:chOff x="6098" y="11318"/>
              <a:chExt cx="1845" cy="663"/>
            </a:xfrm>
          </p:grpSpPr>
          <p:grpSp>
            <p:nvGrpSpPr>
              <p:cNvPr id="1581" name="Google Shape;1581;p50"/>
              <p:cNvGrpSpPr/>
              <p:nvPr/>
            </p:nvGrpSpPr>
            <p:grpSpPr>
              <a:xfrm flipH="1" rot="10800000">
                <a:off x="6098" y="11436"/>
                <a:ext cx="1800" cy="355"/>
                <a:chOff x="1778" y="4118"/>
                <a:chExt cx="1800" cy="355"/>
              </a:xfrm>
            </p:grpSpPr>
            <p:grpSp>
              <p:nvGrpSpPr>
                <p:cNvPr id="1582" name="Google Shape;1582;p50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583" name="Google Shape;1583;p50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584" name="Google Shape;1584;p50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85" name="Google Shape;1585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6" name="Google Shape;1586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87" name="Google Shape;1587;p50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88" name="Google Shape;1588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89" name="Google Shape;1589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90" name="Google Shape;1590;p50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591" name="Google Shape;1591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92" name="Google Shape;1592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593" name="Google Shape;1593;p50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4" name="Google Shape;1594;p50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595" name="Google Shape;1595;p50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96" name="Google Shape;1596;p50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97" name="Google Shape;1597;p50"/>
              <p:cNvSpPr/>
              <p:nvPr/>
            </p:nvSpPr>
            <p:spPr>
              <a:xfrm>
                <a:off x="6413" y="11318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50"/>
              <p:cNvSpPr txBox="1"/>
              <p:nvPr/>
            </p:nvSpPr>
            <p:spPr>
              <a:xfrm>
                <a:off x="6263" y="11621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9" name="Google Shape;1599;p50"/>
              <p:cNvSpPr txBox="1"/>
              <p:nvPr/>
            </p:nvSpPr>
            <p:spPr>
              <a:xfrm>
                <a:off x="7583" y="11621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00" name="Google Shape;1600;p50"/>
            <p:cNvGrpSpPr/>
            <p:nvPr/>
          </p:nvGrpSpPr>
          <p:grpSpPr>
            <a:xfrm rot="8034954">
              <a:off x="8453" y="6591"/>
              <a:ext cx="3240" cy="761"/>
              <a:chOff x="8138" y="11363"/>
              <a:chExt cx="1800" cy="423"/>
            </a:xfrm>
          </p:grpSpPr>
          <p:grpSp>
            <p:nvGrpSpPr>
              <p:cNvPr id="1601" name="Google Shape;1601;p50"/>
              <p:cNvGrpSpPr/>
              <p:nvPr/>
            </p:nvGrpSpPr>
            <p:grpSpPr>
              <a:xfrm flipH="1" rot="10800000">
                <a:off x="8138" y="11431"/>
                <a:ext cx="1800" cy="355"/>
                <a:chOff x="1778" y="4118"/>
                <a:chExt cx="1800" cy="355"/>
              </a:xfrm>
            </p:grpSpPr>
            <p:grpSp>
              <p:nvGrpSpPr>
                <p:cNvPr id="1602" name="Google Shape;1602;p50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603" name="Google Shape;1603;p50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604" name="Google Shape;1604;p50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05" name="Google Shape;1605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6" name="Google Shape;1606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07" name="Google Shape;1607;p50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08" name="Google Shape;1608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09" name="Google Shape;1609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10" name="Google Shape;1610;p50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11" name="Google Shape;1611;p50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12" name="Google Shape;1612;p50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613" name="Google Shape;1613;p50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14" name="Google Shape;1614;p50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15" name="Google Shape;1615;p50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6" name="Google Shape;1616;p50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17" name="Google Shape;1617;p50"/>
              <p:cNvSpPr/>
              <p:nvPr/>
            </p:nvSpPr>
            <p:spPr>
              <a:xfrm>
                <a:off x="9630" y="11363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8" name="Google Shape;1618;p50"/>
            <p:cNvSpPr txBox="1"/>
            <p:nvPr/>
          </p:nvSpPr>
          <p:spPr>
            <a:xfrm>
              <a:off x="10480" y="5476"/>
              <a:ext cx="648" cy="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9" name="Google Shape;1619;p50"/>
            <p:cNvSpPr txBox="1"/>
            <p:nvPr/>
          </p:nvSpPr>
          <p:spPr>
            <a:xfrm>
              <a:off x="8655" y="7369"/>
              <a:ext cx="618" cy="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20" name="Google Shape;1620;p50"/>
          <p:cNvSpPr/>
          <p:nvPr/>
        </p:nvSpPr>
        <p:spPr>
          <a:xfrm>
            <a:off x="152401" y="457011"/>
            <a:ext cx="115240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Consider the coil B wound in the opposite direction.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50"/>
          <p:cNvSpPr/>
          <p:nvPr/>
        </p:nvSpPr>
        <p:spPr>
          <a:xfrm>
            <a:off x="152400" y="3054151"/>
            <a:ext cx="1203960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Position of dots again indicate the winding directions.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Once dots are drawn to indicate similar ends, there is no necessity to physically place winding in same physical position in the diagram. Thus following diagrams would be identical.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5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8" name="Google Shape;1628;p51"/>
          <p:cNvGrpSpPr/>
          <p:nvPr/>
        </p:nvGrpSpPr>
        <p:grpSpPr>
          <a:xfrm>
            <a:off x="751055" y="538447"/>
            <a:ext cx="9530080" cy="1895475"/>
            <a:chOff x="1248" y="3892"/>
            <a:chExt cx="7800" cy="1551"/>
          </a:xfrm>
        </p:grpSpPr>
        <p:grpSp>
          <p:nvGrpSpPr>
            <p:cNvPr id="1629" name="Google Shape;1629;p51"/>
            <p:cNvGrpSpPr/>
            <p:nvPr/>
          </p:nvGrpSpPr>
          <p:grpSpPr>
            <a:xfrm>
              <a:off x="1248" y="4298"/>
              <a:ext cx="3360" cy="1118"/>
              <a:chOff x="2378" y="4260"/>
              <a:chExt cx="3360" cy="1118"/>
            </a:xfrm>
          </p:grpSpPr>
          <p:sp>
            <p:nvSpPr>
              <p:cNvPr id="1630" name="Google Shape;1630;p51"/>
              <p:cNvSpPr/>
              <p:nvPr/>
            </p:nvSpPr>
            <p:spPr>
              <a:xfrm>
                <a:off x="2378" y="4478"/>
                <a:ext cx="3360" cy="360"/>
              </a:xfrm>
              <a:prstGeom prst="rect">
                <a:avLst/>
              </a:prstGeom>
              <a:solidFill>
                <a:srgbClr val="C0C0C0"/>
              </a:solidFill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31" name="Google Shape;1631;p51"/>
              <p:cNvGrpSpPr/>
              <p:nvPr/>
            </p:nvGrpSpPr>
            <p:grpSpPr>
              <a:xfrm>
                <a:off x="2738" y="4424"/>
                <a:ext cx="998" cy="954"/>
                <a:chOff x="3698" y="8744"/>
                <a:chExt cx="998" cy="954"/>
              </a:xfrm>
            </p:grpSpPr>
            <p:cxnSp>
              <p:nvCxnSpPr>
                <p:cNvPr id="1632" name="Google Shape;1632;p51"/>
                <p:cNvCxnSpPr/>
                <p:nvPr/>
              </p:nvCxnSpPr>
              <p:spPr>
                <a:xfrm rot="10800000">
                  <a:off x="3698" y="8978"/>
                  <a:ext cx="0" cy="72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633" name="Google Shape;1633;p51"/>
                <p:cNvSpPr/>
                <p:nvPr/>
              </p:nvSpPr>
              <p:spPr>
                <a:xfrm>
                  <a:off x="3698" y="8744"/>
                  <a:ext cx="202" cy="234"/>
                </a:xfrm>
                <a:custGeom>
                  <a:rect b="b" l="l" r="r" t="t"/>
                  <a:pathLst>
                    <a:path extrusionOk="0" h="234" w="202">
                      <a:moveTo>
                        <a:pt x="0" y="234"/>
                      </a:moveTo>
                      <a:cubicBezTo>
                        <a:pt x="16" y="200"/>
                        <a:pt x="63" y="62"/>
                        <a:pt x="97" y="31"/>
                      </a:cubicBezTo>
                      <a:cubicBezTo>
                        <a:pt x="131" y="0"/>
                        <a:pt x="180" y="43"/>
                        <a:pt x="202" y="46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4" name="Google Shape;1634;p51"/>
                <p:cNvSpPr/>
                <p:nvPr/>
              </p:nvSpPr>
              <p:spPr>
                <a:xfrm>
                  <a:off x="3900" y="8761"/>
                  <a:ext cx="278" cy="480"/>
                </a:xfrm>
                <a:custGeom>
                  <a:rect b="b" l="l" r="r" t="t"/>
                  <a:pathLst>
                    <a:path extrusionOk="0" h="480" w="278">
                      <a:moveTo>
                        <a:pt x="0" y="397"/>
                      </a:moveTo>
                      <a:cubicBezTo>
                        <a:pt x="7" y="406"/>
                        <a:pt x="22" y="480"/>
                        <a:pt x="45" y="449"/>
                      </a:cubicBezTo>
                      <a:cubicBezTo>
                        <a:pt x="68" y="418"/>
                        <a:pt x="108" y="279"/>
                        <a:pt x="135" y="209"/>
                      </a:cubicBezTo>
                      <a:cubicBezTo>
                        <a:pt x="162" y="139"/>
                        <a:pt x="186" y="58"/>
                        <a:pt x="210" y="29"/>
                      </a:cubicBezTo>
                      <a:cubicBezTo>
                        <a:pt x="234" y="0"/>
                        <a:pt x="264" y="35"/>
                        <a:pt x="278" y="37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5" name="Google Shape;1635;p51"/>
                <p:cNvSpPr/>
                <p:nvPr/>
              </p:nvSpPr>
              <p:spPr>
                <a:xfrm>
                  <a:off x="4170" y="8768"/>
                  <a:ext cx="278" cy="480"/>
                </a:xfrm>
                <a:custGeom>
                  <a:rect b="b" l="l" r="r" t="t"/>
                  <a:pathLst>
                    <a:path extrusionOk="0" h="480" w="278">
                      <a:moveTo>
                        <a:pt x="0" y="397"/>
                      </a:moveTo>
                      <a:cubicBezTo>
                        <a:pt x="7" y="406"/>
                        <a:pt x="22" y="480"/>
                        <a:pt x="45" y="449"/>
                      </a:cubicBezTo>
                      <a:cubicBezTo>
                        <a:pt x="68" y="418"/>
                        <a:pt x="108" y="279"/>
                        <a:pt x="135" y="209"/>
                      </a:cubicBezTo>
                      <a:cubicBezTo>
                        <a:pt x="162" y="139"/>
                        <a:pt x="186" y="58"/>
                        <a:pt x="210" y="29"/>
                      </a:cubicBezTo>
                      <a:cubicBezTo>
                        <a:pt x="234" y="0"/>
                        <a:pt x="264" y="35"/>
                        <a:pt x="278" y="37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6" name="Google Shape;1636;p51"/>
                <p:cNvSpPr/>
                <p:nvPr/>
              </p:nvSpPr>
              <p:spPr>
                <a:xfrm>
                  <a:off x="4418" y="8768"/>
                  <a:ext cx="278" cy="480"/>
                </a:xfrm>
                <a:custGeom>
                  <a:rect b="b" l="l" r="r" t="t"/>
                  <a:pathLst>
                    <a:path extrusionOk="0" h="480" w="278">
                      <a:moveTo>
                        <a:pt x="0" y="397"/>
                      </a:moveTo>
                      <a:cubicBezTo>
                        <a:pt x="7" y="406"/>
                        <a:pt x="22" y="480"/>
                        <a:pt x="45" y="449"/>
                      </a:cubicBezTo>
                      <a:cubicBezTo>
                        <a:pt x="68" y="418"/>
                        <a:pt x="108" y="279"/>
                        <a:pt x="135" y="209"/>
                      </a:cubicBezTo>
                      <a:cubicBezTo>
                        <a:pt x="162" y="139"/>
                        <a:pt x="186" y="58"/>
                        <a:pt x="210" y="29"/>
                      </a:cubicBezTo>
                      <a:cubicBezTo>
                        <a:pt x="234" y="0"/>
                        <a:pt x="264" y="35"/>
                        <a:pt x="278" y="37"/>
                      </a:cubicBezTo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637" name="Google Shape;1637;p51"/>
                <p:cNvCxnSpPr/>
                <p:nvPr/>
              </p:nvCxnSpPr>
              <p:spPr>
                <a:xfrm>
                  <a:off x="4696" y="9158"/>
                  <a:ext cx="0" cy="54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38" name="Google Shape;1638;p51"/>
              <p:cNvCxnSpPr/>
              <p:nvPr/>
            </p:nvCxnSpPr>
            <p:spPr>
              <a:xfrm rot="10800000">
                <a:off x="4418" y="4658"/>
                <a:ext cx="0" cy="72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39" name="Google Shape;1639;p51"/>
              <p:cNvSpPr/>
              <p:nvPr/>
            </p:nvSpPr>
            <p:spPr>
              <a:xfrm>
                <a:off x="4418" y="442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51"/>
              <p:cNvSpPr/>
              <p:nvPr/>
            </p:nvSpPr>
            <p:spPr>
              <a:xfrm>
                <a:off x="4620" y="444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51"/>
              <p:cNvSpPr/>
              <p:nvPr/>
            </p:nvSpPr>
            <p:spPr>
              <a:xfrm>
                <a:off x="4890" y="444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51"/>
              <p:cNvSpPr/>
              <p:nvPr/>
            </p:nvSpPr>
            <p:spPr>
              <a:xfrm>
                <a:off x="5138" y="4260"/>
                <a:ext cx="232" cy="668"/>
              </a:xfrm>
              <a:custGeom>
                <a:rect b="b" l="l" r="r" t="t"/>
                <a:pathLst>
                  <a:path extrusionOk="0" h="668" w="232">
                    <a:moveTo>
                      <a:pt x="0" y="585"/>
                    </a:moveTo>
                    <a:cubicBezTo>
                      <a:pt x="7" y="594"/>
                      <a:pt x="22" y="668"/>
                      <a:pt x="45" y="637"/>
                    </a:cubicBezTo>
                    <a:cubicBezTo>
                      <a:pt x="68" y="606"/>
                      <a:pt x="108" y="467"/>
                      <a:pt x="135" y="397"/>
                    </a:cubicBezTo>
                    <a:cubicBezTo>
                      <a:pt x="162" y="327"/>
                      <a:pt x="194" y="283"/>
                      <a:pt x="210" y="217"/>
                    </a:cubicBezTo>
                    <a:cubicBezTo>
                      <a:pt x="226" y="151"/>
                      <a:pt x="228" y="45"/>
                      <a:pt x="232" y="0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51"/>
              <p:cNvSpPr txBox="1"/>
              <p:nvPr/>
            </p:nvSpPr>
            <p:spPr>
              <a:xfrm>
                <a:off x="3098" y="50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44" name="Google Shape;1644;p51"/>
              <p:cNvSpPr txBox="1"/>
              <p:nvPr/>
            </p:nvSpPr>
            <p:spPr>
              <a:xfrm>
                <a:off x="4778" y="50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645" name="Google Shape;1645;p51"/>
            <p:cNvCxnSpPr/>
            <p:nvPr/>
          </p:nvCxnSpPr>
          <p:spPr>
            <a:xfrm rot="-5400000">
              <a:off x="1548" y="5173"/>
              <a:ext cx="12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46" name="Google Shape;1646;p51"/>
            <p:cNvCxnSpPr/>
            <p:nvPr/>
          </p:nvCxnSpPr>
          <p:spPr>
            <a:xfrm rot="-5400000">
              <a:off x="3228" y="5173"/>
              <a:ext cx="12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647" name="Google Shape;1647;p51"/>
            <p:cNvCxnSpPr/>
            <p:nvPr/>
          </p:nvCxnSpPr>
          <p:spPr>
            <a:xfrm>
              <a:off x="1765" y="4283"/>
              <a:ext cx="79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1648" name="Google Shape;1648;p51"/>
            <p:cNvCxnSpPr/>
            <p:nvPr/>
          </p:nvCxnSpPr>
          <p:spPr>
            <a:xfrm>
              <a:off x="3361" y="4267"/>
              <a:ext cx="76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649" name="Google Shape;1649;p51"/>
            <p:cNvSpPr txBox="1"/>
            <p:nvPr/>
          </p:nvSpPr>
          <p:spPr>
            <a:xfrm>
              <a:off x="1968" y="3892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0" name="Google Shape;1650;p51"/>
            <p:cNvSpPr txBox="1"/>
            <p:nvPr/>
          </p:nvSpPr>
          <p:spPr>
            <a:xfrm>
              <a:off x="3528" y="3892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1" name="Google Shape;1651;p51"/>
            <p:cNvSpPr txBox="1"/>
            <p:nvPr/>
          </p:nvSpPr>
          <p:spPr>
            <a:xfrm>
              <a:off x="1248" y="508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2" name="Google Shape;1652;p51"/>
            <p:cNvSpPr txBox="1"/>
            <p:nvPr/>
          </p:nvSpPr>
          <p:spPr>
            <a:xfrm>
              <a:off x="3003" y="508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53" name="Google Shape;1653;p51"/>
            <p:cNvGrpSpPr/>
            <p:nvPr/>
          </p:nvGrpSpPr>
          <p:grpSpPr>
            <a:xfrm>
              <a:off x="5208" y="4021"/>
              <a:ext cx="3840" cy="1260"/>
              <a:chOff x="6338" y="13838"/>
              <a:chExt cx="3840" cy="1260"/>
            </a:xfrm>
          </p:grpSpPr>
          <p:grpSp>
            <p:nvGrpSpPr>
              <p:cNvPr id="1654" name="Google Shape;1654;p51"/>
              <p:cNvGrpSpPr/>
              <p:nvPr/>
            </p:nvGrpSpPr>
            <p:grpSpPr>
              <a:xfrm flipH="1" rot="10800000">
                <a:off x="6338" y="14373"/>
                <a:ext cx="1800" cy="355"/>
                <a:chOff x="1778" y="4118"/>
                <a:chExt cx="1800" cy="355"/>
              </a:xfrm>
            </p:grpSpPr>
            <p:grpSp>
              <p:nvGrpSpPr>
                <p:cNvPr id="1655" name="Google Shape;1655;p51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656" name="Google Shape;1656;p51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657" name="Google Shape;1657;p51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58" name="Google Shape;1658;p51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59" name="Google Shape;1659;p51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60" name="Google Shape;1660;p51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61" name="Google Shape;1661;p51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62" name="Google Shape;1662;p51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63" name="Google Shape;1663;p51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64" name="Google Shape;1664;p51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65" name="Google Shape;1665;p51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666" name="Google Shape;1666;p51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7" name="Google Shape;1667;p51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68" name="Google Shape;1668;p51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9" name="Google Shape;1669;p51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70" name="Google Shape;1670;p51"/>
              <p:cNvGrpSpPr/>
              <p:nvPr/>
            </p:nvGrpSpPr>
            <p:grpSpPr>
              <a:xfrm flipH="1" rot="10800000">
                <a:off x="8378" y="14383"/>
                <a:ext cx="1800" cy="355"/>
                <a:chOff x="1778" y="4118"/>
                <a:chExt cx="1800" cy="355"/>
              </a:xfrm>
            </p:grpSpPr>
            <p:grpSp>
              <p:nvGrpSpPr>
                <p:cNvPr id="1671" name="Google Shape;1671;p51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672" name="Google Shape;1672;p51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673" name="Google Shape;1673;p51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74" name="Google Shape;1674;p51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75" name="Google Shape;1675;p51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76" name="Google Shape;1676;p51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77" name="Google Shape;1677;p51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78" name="Google Shape;1678;p51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79" name="Google Shape;1679;p51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680" name="Google Shape;1680;p51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81" name="Google Shape;1681;p51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682" name="Google Shape;1682;p51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83" name="Google Shape;1683;p51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684" name="Google Shape;1684;p51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5" name="Google Shape;1685;p51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86" name="Google Shape;1686;p51"/>
              <p:cNvSpPr/>
              <p:nvPr/>
            </p:nvSpPr>
            <p:spPr>
              <a:xfrm>
                <a:off x="6653" y="1425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51"/>
              <p:cNvSpPr/>
              <p:nvPr/>
            </p:nvSpPr>
            <p:spPr>
              <a:xfrm>
                <a:off x="8670" y="14300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51"/>
              <p:cNvSpPr txBox="1"/>
              <p:nvPr/>
            </p:nvSpPr>
            <p:spPr>
              <a:xfrm>
                <a:off x="7058" y="147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89" name="Google Shape;1689;p51"/>
              <p:cNvSpPr txBox="1"/>
              <p:nvPr/>
            </p:nvSpPr>
            <p:spPr>
              <a:xfrm>
                <a:off x="9143" y="147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690" name="Google Shape;1690;p51"/>
              <p:cNvCxnSpPr/>
              <p:nvPr/>
            </p:nvCxnSpPr>
            <p:spPr>
              <a:xfrm>
                <a:off x="6458" y="14543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691" name="Google Shape;1691;p51"/>
              <p:cNvCxnSpPr/>
              <p:nvPr/>
            </p:nvCxnSpPr>
            <p:spPr>
              <a:xfrm>
                <a:off x="8498" y="14558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692" name="Google Shape;1692;p51"/>
              <p:cNvCxnSpPr/>
              <p:nvPr/>
            </p:nvCxnSpPr>
            <p:spPr>
              <a:xfrm>
                <a:off x="6855" y="14229"/>
                <a:ext cx="79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1693" name="Google Shape;1693;p51"/>
              <p:cNvCxnSpPr/>
              <p:nvPr/>
            </p:nvCxnSpPr>
            <p:spPr>
              <a:xfrm>
                <a:off x="8826" y="14213"/>
                <a:ext cx="76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1694" name="Google Shape;1694;p51"/>
              <p:cNvSpPr txBox="1"/>
              <p:nvPr/>
            </p:nvSpPr>
            <p:spPr>
              <a:xfrm>
                <a:off x="7058" y="138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95" name="Google Shape;1695;p51"/>
              <p:cNvSpPr txBox="1"/>
              <p:nvPr/>
            </p:nvSpPr>
            <p:spPr>
              <a:xfrm>
                <a:off x="8993" y="138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96" name="Google Shape;1696;p51"/>
              <p:cNvSpPr txBox="1"/>
              <p:nvPr/>
            </p:nvSpPr>
            <p:spPr>
              <a:xfrm>
                <a:off x="6353" y="146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97" name="Google Shape;1697;p51"/>
              <p:cNvSpPr txBox="1"/>
              <p:nvPr/>
            </p:nvSpPr>
            <p:spPr>
              <a:xfrm>
                <a:off x="8498" y="14603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698" name="Google Shape;1698;p51"/>
          <p:cNvSpPr/>
          <p:nvPr/>
        </p:nvSpPr>
        <p:spPr>
          <a:xfrm>
            <a:off x="0" y="2396663"/>
            <a:ext cx="1210891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a single coil, the induced voltage would always be opposite to direction of current flow in that winding. 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Voltages V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have been drawn as such. Since each coil is wound in same direction, current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would induce voltages in A and B in the same sense.  Same would be the case for I</a:t>
            </a:r>
            <a:r>
              <a:rPr b="0" baseline="-2500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fluxes and corresponding induced emfs are thus additive. 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51"/>
          <p:cNvSpPr/>
          <p:nvPr/>
        </p:nvSpPr>
        <p:spPr>
          <a:xfrm>
            <a:off x="1" y="5152376"/>
            <a:ext cx="984128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1" i="1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other words, the voltage drop due to the self inductance term and the voltage drop due to the mutual inductance term have the same sign</a:t>
            </a: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4" name="Google Shape;1704;p52"/>
          <p:cNvGrpSpPr/>
          <p:nvPr/>
        </p:nvGrpSpPr>
        <p:grpSpPr>
          <a:xfrm>
            <a:off x="792480" y="1492324"/>
            <a:ext cx="3627120" cy="1554480"/>
            <a:chOff x="2378" y="9338"/>
            <a:chExt cx="3360" cy="1440"/>
          </a:xfrm>
        </p:grpSpPr>
        <p:sp>
          <p:nvSpPr>
            <p:cNvPr id="1705" name="Google Shape;1705;p52"/>
            <p:cNvSpPr/>
            <p:nvPr/>
          </p:nvSpPr>
          <p:spPr>
            <a:xfrm>
              <a:off x="2378" y="9878"/>
              <a:ext cx="3360" cy="360"/>
            </a:xfrm>
            <a:prstGeom prst="rect">
              <a:avLst/>
            </a:prstGeom>
            <a:solidFill>
              <a:srgbClr val="C0C0C0"/>
            </a:solidFill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6" name="Google Shape;1706;p52"/>
            <p:cNvGrpSpPr/>
            <p:nvPr/>
          </p:nvGrpSpPr>
          <p:grpSpPr>
            <a:xfrm>
              <a:off x="2738" y="9824"/>
              <a:ext cx="998" cy="954"/>
              <a:chOff x="3698" y="8744"/>
              <a:chExt cx="998" cy="954"/>
            </a:xfrm>
          </p:grpSpPr>
          <p:cxnSp>
            <p:nvCxnSpPr>
              <p:cNvPr id="1707" name="Google Shape;1707;p52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8" name="Google Shape;1708;p52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52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52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52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12" name="Google Shape;1712;p52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13" name="Google Shape;1713;p52"/>
            <p:cNvSpPr/>
            <p:nvPr/>
          </p:nvSpPr>
          <p:spPr>
            <a:xfrm flipH="1">
              <a:off x="4890" y="9841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52"/>
            <p:cNvSpPr/>
            <p:nvPr/>
          </p:nvSpPr>
          <p:spPr>
            <a:xfrm flipH="1">
              <a:off x="4620" y="9848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52"/>
            <p:cNvSpPr/>
            <p:nvPr/>
          </p:nvSpPr>
          <p:spPr>
            <a:xfrm flipH="1">
              <a:off x="4418" y="9660"/>
              <a:ext cx="232" cy="668"/>
            </a:xfrm>
            <a:custGeom>
              <a:rect b="b" l="l" r="r" t="t"/>
              <a:pathLst>
                <a:path extrusionOk="0" h="668" w="232">
                  <a:moveTo>
                    <a:pt x="0" y="585"/>
                  </a:moveTo>
                  <a:cubicBezTo>
                    <a:pt x="7" y="594"/>
                    <a:pt x="22" y="668"/>
                    <a:pt x="45" y="637"/>
                  </a:cubicBezTo>
                  <a:cubicBezTo>
                    <a:pt x="68" y="606"/>
                    <a:pt x="108" y="467"/>
                    <a:pt x="135" y="397"/>
                  </a:cubicBezTo>
                  <a:cubicBezTo>
                    <a:pt x="162" y="327"/>
                    <a:pt x="194" y="283"/>
                    <a:pt x="210" y="217"/>
                  </a:cubicBezTo>
                  <a:cubicBezTo>
                    <a:pt x="226" y="151"/>
                    <a:pt x="228" y="45"/>
                    <a:pt x="232" y="0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52"/>
            <p:cNvSpPr txBox="1"/>
            <p:nvPr/>
          </p:nvSpPr>
          <p:spPr>
            <a:xfrm>
              <a:off x="3098" y="104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7" name="Google Shape;1717;p52"/>
            <p:cNvSpPr txBox="1"/>
            <p:nvPr/>
          </p:nvSpPr>
          <p:spPr>
            <a:xfrm>
              <a:off x="4898" y="104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8" name="Google Shape;1718;p52"/>
            <p:cNvSpPr/>
            <p:nvPr/>
          </p:nvSpPr>
          <p:spPr>
            <a:xfrm flipH="1">
              <a:off x="5130" y="9833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9" name="Google Shape;1719;p52"/>
            <p:cNvCxnSpPr/>
            <p:nvPr/>
          </p:nvCxnSpPr>
          <p:spPr>
            <a:xfrm rot="10800000">
              <a:off x="5423" y="9643"/>
              <a:ext cx="0" cy="23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0" name="Google Shape;1720;p52"/>
            <p:cNvCxnSpPr/>
            <p:nvPr/>
          </p:nvCxnSpPr>
          <p:spPr>
            <a:xfrm>
              <a:off x="2895" y="9729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721" name="Google Shape;1721;p52"/>
            <p:cNvSpPr txBox="1"/>
            <p:nvPr/>
          </p:nvSpPr>
          <p:spPr>
            <a:xfrm>
              <a:off x="3098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2" name="Google Shape;1722;p52"/>
            <p:cNvSpPr txBox="1"/>
            <p:nvPr/>
          </p:nvSpPr>
          <p:spPr>
            <a:xfrm>
              <a:off x="4658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23" name="Google Shape;1723;p52"/>
            <p:cNvCxnSpPr/>
            <p:nvPr/>
          </p:nvCxnSpPr>
          <p:spPr>
            <a:xfrm rot="-5400000">
              <a:off x="2678" y="10500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724" name="Google Shape;1724;p52"/>
            <p:cNvSpPr txBox="1"/>
            <p:nvPr/>
          </p:nvSpPr>
          <p:spPr>
            <a:xfrm>
              <a:off x="2393" y="103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5" name="Google Shape;1725;p52"/>
            <p:cNvSpPr txBox="1"/>
            <p:nvPr/>
          </p:nvSpPr>
          <p:spPr>
            <a:xfrm>
              <a:off x="4178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26" name="Google Shape;1726;p52"/>
            <p:cNvCxnSpPr/>
            <p:nvPr/>
          </p:nvCxnSpPr>
          <p:spPr>
            <a:xfrm rot="5400000">
              <a:off x="4358" y="9743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27" name="Google Shape;1727;p52"/>
            <p:cNvCxnSpPr/>
            <p:nvPr/>
          </p:nvCxnSpPr>
          <p:spPr>
            <a:xfrm>
              <a:off x="4538" y="9728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  <p:grpSp>
        <p:nvGrpSpPr>
          <p:cNvPr id="1728" name="Google Shape;1728;p52"/>
          <p:cNvGrpSpPr/>
          <p:nvPr/>
        </p:nvGrpSpPr>
        <p:grpSpPr>
          <a:xfrm>
            <a:off x="5454015" y="1693917"/>
            <a:ext cx="4145280" cy="1360170"/>
            <a:chOff x="6338" y="9338"/>
            <a:chExt cx="3840" cy="1260"/>
          </a:xfrm>
        </p:grpSpPr>
        <p:sp>
          <p:nvSpPr>
            <p:cNvPr id="1729" name="Google Shape;1729;p52"/>
            <p:cNvSpPr txBox="1"/>
            <p:nvPr/>
          </p:nvSpPr>
          <p:spPr>
            <a:xfrm>
              <a:off x="7058" y="102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0" name="Google Shape;1730;p52"/>
            <p:cNvSpPr txBox="1"/>
            <p:nvPr/>
          </p:nvSpPr>
          <p:spPr>
            <a:xfrm>
              <a:off x="9143" y="102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31" name="Google Shape;1731;p52"/>
            <p:cNvGrpSpPr/>
            <p:nvPr/>
          </p:nvGrpSpPr>
          <p:grpSpPr>
            <a:xfrm flipH="1" rot="10800000">
              <a:off x="6338" y="9873"/>
              <a:ext cx="1800" cy="355"/>
              <a:chOff x="1778" y="4118"/>
              <a:chExt cx="1800" cy="355"/>
            </a:xfrm>
          </p:grpSpPr>
          <p:grpSp>
            <p:nvGrpSpPr>
              <p:cNvPr id="1732" name="Google Shape;1732;p52"/>
              <p:cNvGrpSpPr/>
              <p:nvPr/>
            </p:nvGrpSpPr>
            <p:grpSpPr>
              <a:xfrm>
                <a:off x="2138" y="4118"/>
                <a:ext cx="1080" cy="355"/>
                <a:chOff x="8378" y="8263"/>
                <a:chExt cx="1080" cy="355"/>
              </a:xfrm>
            </p:grpSpPr>
            <p:sp>
              <p:nvSpPr>
                <p:cNvPr id="1733" name="Google Shape;1733;p52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34" name="Google Shape;1734;p52"/>
                <p:cNvGrpSpPr/>
                <p:nvPr/>
              </p:nvGrpSpPr>
              <p:grpSpPr>
                <a:xfrm>
                  <a:off x="8556" y="8273"/>
                  <a:ext cx="328" cy="344"/>
                  <a:chOff x="2020" y="8243"/>
                  <a:chExt cx="1768" cy="960"/>
                </a:xfrm>
              </p:grpSpPr>
              <p:sp>
                <p:nvSpPr>
                  <p:cNvPr id="1735" name="Google Shape;1735;p5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36" name="Google Shape;1736;p5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37" name="Google Shape;1737;p52"/>
                <p:cNvGrpSpPr/>
                <p:nvPr/>
              </p:nvGrpSpPr>
              <p:grpSpPr>
                <a:xfrm>
                  <a:off x="8745" y="8263"/>
                  <a:ext cx="328" cy="344"/>
                  <a:chOff x="2020" y="8243"/>
                  <a:chExt cx="1768" cy="960"/>
                </a:xfrm>
              </p:grpSpPr>
              <p:sp>
                <p:nvSpPr>
                  <p:cNvPr id="1738" name="Google Shape;1738;p5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39" name="Google Shape;1739;p5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40" name="Google Shape;1740;p52"/>
                <p:cNvGrpSpPr/>
                <p:nvPr/>
              </p:nvGrpSpPr>
              <p:grpSpPr>
                <a:xfrm>
                  <a:off x="8931" y="8269"/>
                  <a:ext cx="328" cy="344"/>
                  <a:chOff x="2020" y="8243"/>
                  <a:chExt cx="1768" cy="960"/>
                </a:xfrm>
              </p:grpSpPr>
              <p:sp>
                <p:nvSpPr>
                  <p:cNvPr id="1741" name="Google Shape;1741;p5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2" name="Google Shape;1742;p5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743" name="Google Shape;1743;p52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4" name="Google Shape;1744;p52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45" name="Google Shape;1745;p52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6" name="Google Shape;1746;p52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47" name="Google Shape;1747;p52"/>
            <p:cNvGrpSpPr/>
            <p:nvPr/>
          </p:nvGrpSpPr>
          <p:grpSpPr>
            <a:xfrm flipH="1" rot="10800000">
              <a:off x="8378" y="9868"/>
              <a:ext cx="1800" cy="355"/>
              <a:chOff x="1778" y="4118"/>
              <a:chExt cx="1800" cy="355"/>
            </a:xfrm>
          </p:grpSpPr>
          <p:grpSp>
            <p:nvGrpSpPr>
              <p:cNvPr id="1748" name="Google Shape;1748;p52"/>
              <p:cNvGrpSpPr/>
              <p:nvPr/>
            </p:nvGrpSpPr>
            <p:grpSpPr>
              <a:xfrm>
                <a:off x="2138" y="4118"/>
                <a:ext cx="1080" cy="355"/>
                <a:chOff x="8378" y="8263"/>
                <a:chExt cx="1080" cy="355"/>
              </a:xfrm>
            </p:grpSpPr>
            <p:sp>
              <p:nvSpPr>
                <p:cNvPr id="1749" name="Google Shape;1749;p52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50" name="Google Shape;1750;p52"/>
                <p:cNvGrpSpPr/>
                <p:nvPr/>
              </p:nvGrpSpPr>
              <p:grpSpPr>
                <a:xfrm>
                  <a:off x="8556" y="8273"/>
                  <a:ext cx="328" cy="344"/>
                  <a:chOff x="2020" y="8243"/>
                  <a:chExt cx="1768" cy="960"/>
                </a:xfrm>
              </p:grpSpPr>
              <p:sp>
                <p:nvSpPr>
                  <p:cNvPr id="1751" name="Google Shape;1751;p5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2" name="Google Shape;1752;p5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53" name="Google Shape;1753;p52"/>
                <p:cNvGrpSpPr/>
                <p:nvPr/>
              </p:nvGrpSpPr>
              <p:grpSpPr>
                <a:xfrm>
                  <a:off x="8745" y="8263"/>
                  <a:ext cx="328" cy="344"/>
                  <a:chOff x="2020" y="8243"/>
                  <a:chExt cx="1768" cy="960"/>
                </a:xfrm>
              </p:grpSpPr>
              <p:sp>
                <p:nvSpPr>
                  <p:cNvPr id="1754" name="Google Shape;1754;p5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5" name="Google Shape;1755;p5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56" name="Google Shape;1756;p52"/>
                <p:cNvGrpSpPr/>
                <p:nvPr/>
              </p:nvGrpSpPr>
              <p:grpSpPr>
                <a:xfrm>
                  <a:off x="8931" y="8269"/>
                  <a:ext cx="328" cy="344"/>
                  <a:chOff x="2020" y="8243"/>
                  <a:chExt cx="1768" cy="960"/>
                </a:xfrm>
              </p:grpSpPr>
              <p:sp>
                <p:nvSpPr>
                  <p:cNvPr id="1757" name="Google Shape;1757;p52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8" name="Google Shape;1758;p52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759" name="Google Shape;1759;p52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0" name="Google Shape;1760;p52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61" name="Google Shape;1761;p52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2" name="Google Shape;1762;p52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63" name="Google Shape;1763;p52"/>
            <p:cNvSpPr/>
            <p:nvPr/>
          </p:nvSpPr>
          <p:spPr>
            <a:xfrm>
              <a:off x="6653" y="9755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52"/>
            <p:cNvSpPr/>
            <p:nvPr/>
          </p:nvSpPr>
          <p:spPr>
            <a:xfrm>
              <a:off x="9870" y="9800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5" name="Google Shape;1765;p52"/>
            <p:cNvCxnSpPr/>
            <p:nvPr/>
          </p:nvCxnSpPr>
          <p:spPr>
            <a:xfrm>
              <a:off x="6458" y="10043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66" name="Google Shape;1766;p52"/>
            <p:cNvCxnSpPr/>
            <p:nvPr/>
          </p:nvCxnSpPr>
          <p:spPr>
            <a:xfrm>
              <a:off x="6855" y="9729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767" name="Google Shape;1767;p52"/>
            <p:cNvSpPr txBox="1"/>
            <p:nvPr/>
          </p:nvSpPr>
          <p:spPr>
            <a:xfrm>
              <a:off x="7058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8" name="Google Shape;1768;p52"/>
            <p:cNvSpPr txBox="1"/>
            <p:nvPr/>
          </p:nvSpPr>
          <p:spPr>
            <a:xfrm>
              <a:off x="8993" y="933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9" name="Google Shape;1769;p52"/>
            <p:cNvSpPr txBox="1"/>
            <p:nvPr/>
          </p:nvSpPr>
          <p:spPr>
            <a:xfrm>
              <a:off x="6353" y="101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0" name="Google Shape;1770;p52"/>
            <p:cNvSpPr txBox="1"/>
            <p:nvPr/>
          </p:nvSpPr>
          <p:spPr>
            <a:xfrm>
              <a:off x="8498" y="1010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71" name="Google Shape;1771;p52"/>
            <p:cNvCxnSpPr/>
            <p:nvPr/>
          </p:nvCxnSpPr>
          <p:spPr>
            <a:xfrm>
              <a:off x="8498" y="10043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72" name="Google Shape;1772;p52"/>
            <p:cNvCxnSpPr/>
            <p:nvPr/>
          </p:nvCxnSpPr>
          <p:spPr>
            <a:xfrm>
              <a:off x="8858" y="9728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  <p:sp>
        <p:nvSpPr>
          <p:cNvPr id="1773" name="Google Shape;1773;p5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52"/>
          <p:cNvSpPr/>
          <p:nvPr/>
        </p:nvSpPr>
        <p:spPr>
          <a:xfrm>
            <a:off x="149849" y="565773"/>
            <a:ext cx="11808726" cy="617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direction of one of the coils were changed but with the currents entering each winding at left hand end.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the direction of one of the windings is changed, the mutual induced voltage will change in direction relative to the self inductance term. 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Thus again the voltage drop due to the self inductance term and the voltage drop due to the mutual inductance term               have opposite signs.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final possibility is if both the direction of winding                and the current direction are changed.</a:t>
            </a:r>
            <a:r>
              <a:rPr b="0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9" name="Google Shape;1779;p53"/>
          <p:cNvGrpSpPr/>
          <p:nvPr/>
        </p:nvGrpSpPr>
        <p:grpSpPr>
          <a:xfrm>
            <a:off x="949642" y="675046"/>
            <a:ext cx="4693920" cy="2011680"/>
            <a:chOff x="2378" y="12398"/>
            <a:chExt cx="3360" cy="1440"/>
          </a:xfrm>
        </p:grpSpPr>
        <p:sp>
          <p:nvSpPr>
            <p:cNvPr id="1780" name="Google Shape;1780;p53"/>
            <p:cNvSpPr/>
            <p:nvPr/>
          </p:nvSpPr>
          <p:spPr>
            <a:xfrm>
              <a:off x="2378" y="12938"/>
              <a:ext cx="3360" cy="360"/>
            </a:xfrm>
            <a:prstGeom prst="rect">
              <a:avLst/>
            </a:prstGeom>
            <a:solidFill>
              <a:srgbClr val="C0C0C0"/>
            </a:solidFill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1" name="Google Shape;1781;p53"/>
            <p:cNvGrpSpPr/>
            <p:nvPr/>
          </p:nvGrpSpPr>
          <p:grpSpPr>
            <a:xfrm>
              <a:off x="2738" y="12884"/>
              <a:ext cx="998" cy="954"/>
              <a:chOff x="3698" y="8744"/>
              <a:chExt cx="998" cy="954"/>
            </a:xfrm>
          </p:grpSpPr>
          <p:cxnSp>
            <p:nvCxnSpPr>
              <p:cNvPr id="1782" name="Google Shape;1782;p53"/>
              <p:cNvCxnSpPr/>
              <p:nvPr/>
            </p:nvCxnSpPr>
            <p:spPr>
              <a:xfrm rot="10800000">
                <a:off x="3698" y="8978"/>
                <a:ext cx="0" cy="72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83" name="Google Shape;1783;p53"/>
              <p:cNvSpPr/>
              <p:nvPr/>
            </p:nvSpPr>
            <p:spPr>
              <a:xfrm>
                <a:off x="3698" y="8744"/>
                <a:ext cx="202" cy="234"/>
              </a:xfrm>
              <a:custGeom>
                <a:rect b="b" l="l" r="r" t="t"/>
                <a:pathLst>
                  <a:path extrusionOk="0" h="234" w="202">
                    <a:moveTo>
                      <a:pt x="0" y="234"/>
                    </a:moveTo>
                    <a:cubicBezTo>
                      <a:pt x="16" y="200"/>
                      <a:pt x="63" y="62"/>
                      <a:pt x="97" y="31"/>
                    </a:cubicBezTo>
                    <a:cubicBezTo>
                      <a:pt x="131" y="0"/>
                      <a:pt x="180" y="43"/>
                      <a:pt x="202" y="46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53"/>
              <p:cNvSpPr/>
              <p:nvPr/>
            </p:nvSpPr>
            <p:spPr>
              <a:xfrm>
                <a:off x="3900" y="8761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53"/>
              <p:cNvSpPr/>
              <p:nvPr/>
            </p:nvSpPr>
            <p:spPr>
              <a:xfrm>
                <a:off x="4170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53"/>
              <p:cNvSpPr/>
              <p:nvPr/>
            </p:nvSpPr>
            <p:spPr>
              <a:xfrm>
                <a:off x="4418" y="8768"/>
                <a:ext cx="278" cy="480"/>
              </a:xfrm>
              <a:custGeom>
                <a:rect b="b" l="l" r="r" t="t"/>
                <a:pathLst>
                  <a:path extrusionOk="0" h="480" w="278">
                    <a:moveTo>
                      <a:pt x="0" y="397"/>
                    </a:moveTo>
                    <a:cubicBezTo>
                      <a:pt x="7" y="406"/>
                      <a:pt x="22" y="480"/>
                      <a:pt x="45" y="449"/>
                    </a:cubicBezTo>
                    <a:cubicBezTo>
                      <a:pt x="68" y="418"/>
                      <a:pt x="108" y="279"/>
                      <a:pt x="135" y="209"/>
                    </a:cubicBezTo>
                    <a:cubicBezTo>
                      <a:pt x="162" y="139"/>
                      <a:pt x="186" y="58"/>
                      <a:pt x="210" y="29"/>
                    </a:cubicBezTo>
                    <a:cubicBezTo>
                      <a:pt x="234" y="0"/>
                      <a:pt x="264" y="35"/>
                      <a:pt x="278" y="37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87" name="Google Shape;1787;p53"/>
              <p:cNvCxnSpPr/>
              <p:nvPr/>
            </p:nvCxnSpPr>
            <p:spPr>
              <a:xfrm>
                <a:off x="4696" y="9158"/>
                <a:ext cx="0" cy="54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88" name="Google Shape;1788;p53"/>
            <p:cNvSpPr/>
            <p:nvPr/>
          </p:nvSpPr>
          <p:spPr>
            <a:xfrm flipH="1">
              <a:off x="4890" y="12901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53"/>
            <p:cNvSpPr/>
            <p:nvPr/>
          </p:nvSpPr>
          <p:spPr>
            <a:xfrm flipH="1">
              <a:off x="4620" y="12908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53"/>
            <p:cNvSpPr/>
            <p:nvPr/>
          </p:nvSpPr>
          <p:spPr>
            <a:xfrm flipH="1">
              <a:off x="4418" y="12720"/>
              <a:ext cx="232" cy="668"/>
            </a:xfrm>
            <a:custGeom>
              <a:rect b="b" l="l" r="r" t="t"/>
              <a:pathLst>
                <a:path extrusionOk="0" h="668" w="232">
                  <a:moveTo>
                    <a:pt x="0" y="585"/>
                  </a:moveTo>
                  <a:cubicBezTo>
                    <a:pt x="7" y="594"/>
                    <a:pt x="22" y="668"/>
                    <a:pt x="45" y="637"/>
                  </a:cubicBezTo>
                  <a:cubicBezTo>
                    <a:pt x="68" y="606"/>
                    <a:pt x="108" y="467"/>
                    <a:pt x="135" y="397"/>
                  </a:cubicBezTo>
                  <a:cubicBezTo>
                    <a:pt x="162" y="327"/>
                    <a:pt x="194" y="283"/>
                    <a:pt x="210" y="217"/>
                  </a:cubicBezTo>
                  <a:cubicBezTo>
                    <a:pt x="226" y="151"/>
                    <a:pt x="228" y="45"/>
                    <a:pt x="232" y="0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53"/>
            <p:cNvSpPr txBox="1"/>
            <p:nvPr/>
          </p:nvSpPr>
          <p:spPr>
            <a:xfrm>
              <a:off x="3098" y="134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2" name="Google Shape;1792;p53"/>
            <p:cNvSpPr txBox="1"/>
            <p:nvPr/>
          </p:nvSpPr>
          <p:spPr>
            <a:xfrm>
              <a:off x="4898" y="134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3" name="Google Shape;1793;p53"/>
            <p:cNvSpPr/>
            <p:nvPr/>
          </p:nvSpPr>
          <p:spPr>
            <a:xfrm flipH="1">
              <a:off x="5130" y="12893"/>
              <a:ext cx="278" cy="480"/>
            </a:xfrm>
            <a:custGeom>
              <a:rect b="b" l="l" r="r" t="t"/>
              <a:pathLst>
                <a:path extrusionOk="0" h="480" w="278">
                  <a:moveTo>
                    <a:pt x="0" y="397"/>
                  </a:moveTo>
                  <a:cubicBezTo>
                    <a:pt x="7" y="406"/>
                    <a:pt x="22" y="480"/>
                    <a:pt x="45" y="449"/>
                  </a:cubicBezTo>
                  <a:cubicBezTo>
                    <a:pt x="68" y="418"/>
                    <a:pt x="108" y="279"/>
                    <a:pt x="135" y="209"/>
                  </a:cubicBezTo>
                  <a:cubicBezTo>
                    <a:pt x="162" y="139"/>
                    <a:pt x="186" y="58"/>
                    <a:pt x="210" y="29"/>
                  </a:cubicBezTo>
                  <a:cubicBezTo>
                    <a:pt x="234" y="0"/>
                    <a:pt x="264" y="35"/>
                    <a:pt x="278" y="37"/>
                  </a:cubicBezTo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4" name="Google Shape;1794;p53"/>
            <p:cNvCxnSpPr/>
            <p:nvPr/>
          </p:nvCxnSpPr>
          <p:spPr>
            <a:xfrm rot="10800000">
              <a:off x="5423" y="12703"/>
              <a:ext cx="0" cy="23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5" name="Google Shape;1795;p53"/>
            <p:cNvCxnSpPr/>
            <p:nvPr/>
          </p:nvCxnSpPr>
          <p:spPr>
            <a:xfrm>
              <a:off x="2895" y="12789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796" name="Google Shape;1796;p53"/>
            <p:cNvSpPr txBox="1"/>
            <p:nvPr/>
          </p:nvSpPr>
          <p:spPr>
            <a:xfrm>
              <a:off x="3098" y="123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7" name="Google Shape;1797;p53"/>
            <p:cNvSpPr txBox="1"/>
            <p:nvPr/>
          </p:nvSpPr>
          <p:spPr>
            <a:xfrm>
              <a:off x="4658" y="123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98" name="Google Shape;1798;p53"/>
            <p:cNvCxnSpPr/>
            <p:nvPr/>
          </p:nvCxnSpPr>
          <p:spPr>
            <a:xfrm rot="-5400000">
              <a:off x="2678" y="13560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799" name="Google Shape;1799;p53"/>
            <p:cNvSpPr txBox="1"/>
            <p:nvPr/>
          </p:nvSpPr>
          <p:spPr>
            <a:xfrm>
              <a:off x="2393" y="134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0" name="Google Shape;1800;p53"/>
            <p:cNvSpPr txBox="1"/>
            <p:nvPr/>
          </p:nvSpPr>
          <p:spPr>
            <a:xfrm>
              <a:off x="4178" y="123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01" name="Google Shape;1801;p53"/>
            <p:cNvCxnSpPr/>
            <p:nvPr/>
          </p:nvCxnSpPr>
          <p:spPr>
            <a:xfrm rot="5400000">
              <a:off x="4358" y="12803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1802" name="Google Shape;1802;p53"/>
            <p:cNvCxnSpPr/>
            <p:nvPr/>
          </p:nvCxnSpPr>
          <p:spPr>
            <a:xfrm>
              <a:off x="4538" y="12788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803" name="Google Shape;1803;p53"/>
          <p:cNvGrpSpPr/>
          <p:nvPr/>
        </p:nvGrpSpPr>
        <p:grpSpPr>
          <a:xfrm>
            <a:off x="5877877" y="762676"/>
            <a:ext cx="5364480" cy="1760220"/>
            <a:chOff x="6338" y="12398"/>
            <a:chExt cx="3840" cy="1260"/>
          </a:xfrm>
        </p:grpSpPr>
        <p:sp>
          <p:nvSpPr>
            <p:cNvPr id="1804" name="Google Shape;1804;p53"/>
            <p:cNvSpPr txBox="1"/>
            <p:nvPr/>
          </p:nvSpPr>
          <p:spPr>
            <a:xfrm>
              <a:off x="7058" y="132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5" name="Google Shape;1805;p53"/>
            <p:cNvSpPr txBox="1"/>
            <p:nvPr/>
          </p:nvSpPr>
          <p:spPr>
            <a:xfrm>
              <a:off x="9143" y="132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806" name="Google Shape;1806;p53"/>
            <p:cNvGrpSpPr/>
            <p:nvPr/>
          </p:nvGrpSpPr>
          <p:grpSpPr>
            <a:xfrm flipH="1" rot="10800000">
              <a:off x="6338" y="12924"/>
              <a:ext cx="1800" cy="355"/>
              <a:chOff x="1778" y="4127"/>
              <a:chExt cx="1800" cy="355"/>
            </a:xfrm>
          </p:grpSpPr>
          <p:grpSp>
            <p:nvGrpSpPr>
              <p:cNvPr id="1807" name="Google Shape;1807;p53"/>
              <p:cNvGrpSpPr/>
              <p:nvPr/>
            </p:nvGrpSpPr>
            <p:grpSpPr>
              <a:xfrm>
                <a:off x="2138" y="4127"/>
                <a:ext cx="1080" cy="355"/>
                <a:chOff x="8378" y="8272"/>
                <a:chExt cx="1080" cy="355"/>
              </a:xfrm>
            </p:grpSpPr>
            <p:sp>
              <p:nvSpPr>
                <p:cNvPr id="1808" name="Google Shape;1808;p53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09" name="Google Shape;1809;p53"/>
                <p:cNvGrpSpPr/>
                <p:nvPr/>
              </p:nvGrpSpPr>
              <p:grpSpPr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1810" name="Google Shape;1810;p53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1" name="Google Shape;1811;p53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12" name="Google Shape;1812;p53"/>
                <p:cNvGrpSpPr/>
                <p:nvPr/>
              </p:nvGrpSpPr>
              <p:grpSpPr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1813" name="Google Shape;1813;p53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4" name="Google Shape;1814;p53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15" name="Google Shape;1815;p53"/>
                <p:cNvGrpSpPr/>
                <p:nvPr/>
              </p:nvGrpSpPr>
              <p:grpSpPr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1816" name="Google Shape;1816;p53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7" name="Google Shape;1817;p53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18" name="Google Shape;1818;p53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9" name="Google Shape;1819;p53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20" name="Google Shape;1820;p53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1" name="Google Shape;1821;p53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22" name="Google Shape;1822;p53"/>
            <p:cNvGrpSpPr/>
            <p:nvPr/>
          </p:nvGrpSpPr>
          <p:grpSpPr>
            <a:xfrm flipH="1" rot="10800000">
              <a:off x="8378" y="12919"/>
              <a:ext cx="1800" cy="355"/>
              <a:chOff x="1778" y="4127"/>
              <a:chExt cx="1800" cy="355"/>
            </a:xfrm>
          </p:grpSpPr>
          <p:grpSp>
            <p:nvGrpSpPr>
              <p:cNvPr id="1823" name="Google Shape;1823;p53"/>
              <p:cNvGrpSpPr/>
              <p:nvPr/>
            </p:nvGrpSpPr>
            <p:grpSpPr>
              <a:xfrm>
                <a:off x="2138" y="4127"/>
                <a:ext cx="1080" cy="355"/>
                <a:chOff x="8378" y="8272"/>
                <a:chExt cx="1080" cy="355"/>
              </a:xfrm>
            </p:grpSpPr>
            <p:sp>
              <p:nvSpPr>
                <p:cNvPr id="1824" name="Google Shape;1824;p53"/>
                <p:cNvSpPr/>
                <p:nvPr/>
              </p:nvSpPr>
              <p:spPr>
                <a:xfrm rot="10800000">
                  <a:off x="8378" y="8447"/>
                  <a:ext cx="320" cy="169"/>
                </a:xfrm>
                <a:custGeom>
                  <a:rect b="b" l="l" r="r" t="t"/>
                  <a:pathLst>
                    <a:path extrusionOk="0" fill="none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</a:path>
                    <a:path extrusionOk="0" h="22566" w="41573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31902" y="0"/>
                        <a:pt x="41573" y="9670"/>
                        <a:pt x="41573" y="21600"/>
                      </a:cubicBezTo>
                      <a:cubicBezTo>
                        <a:pt x="41573" y="21922"/>
                        <a:pt x="41565" y="22244"/>
                        <a:pt x="41551" y="22566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25" name="Google Shape;1825;p53"/>
                <p:cNvGrpSpPr/>
                <p:nvPr/>
              </p:nvGrpSpPr>
              <p:grpSpPr>
                <a:xfrm>
                  <a:off x="8556" y="8282"/>
                  <a:ext cx="328" cy="345"/>
                  <a:chOff x="2020" y="8243"/>
                  <a:chExt cx="1768" cy="960"/>
                </a:xfrm>
              </p:grpSpPr>
              <p:sp>
                <p:nvSpPr>
                  <p:cNvPr id="1826" name="Google Shape;1826;p53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27" name="Google Shape;1827;p53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28" name="Google Shape;1828;p53"/>
                <p:cNvGrpSpPr/>
                <p:nvPr/>
              </p:nvGrpSpPr>
              <p:grpSpPr>
                <a:xfrm>
                  <a:off x="8745" y="8272"/>
                  <a:ext cx="328" cy="345"/>
                  <a:chOff x="2020" y="8243"/>
                  <a:chExt cx="1768" cy="960"/>
                </a:xfrm>
              </p:grpSpPr>
              <p:sp>
                <p:nvSpPr>
                  <p:cNvPr id="1829" name="Google Shape;1829;p53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30" name="Google Shape;1830;p53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31" name="Google Shape;1831;p53"/>
                <p:cNvGrpSpPr/>
                <p:nvPr/>
              </p:nvGrpSpPr>
              <p:grpSpPr>
                <a:xfrm>
                  <a:off x="8931" y="8278"/>
                  <a:ext cx="328" cy="345"/>
                  <a:chOff x="2020" y="8243"/>
                  <a:chExt cx="1768" cy="960"/>
                </a:xfrm>
              </p:grpSpPr>
              <p:sp>
                <p:nvSpPr>
                  <p:cNvPr id="1832" name="Google Shape;1832;p53"/>
                  <p:cNvSpPr/>
                  <p:nvPr/>
                </p:nvSpPr>
                <p:spPr>
                  <a:xfrm>
                    <a:off x="2020" y="8243"/>
                    <a:ext cx="842" cy="674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33" name="Google Shape;1833;p53"/>
                  <p:cNvSpPr/>
                  <p:nvPr/>
                </p:nvSpPr>
                <p:spPr>
                  <a:xfrm rot="10800000">
                    <a:off x="2117" y="8753"/>
                    <a:ext cx="1671" cy="450"/>
                  </a:xfrm>
                  <a:custGeom>
                    <a:rect b="b" l="l" r="r" t="t"/>
                    <a:pathLst>
                      <a:path extrusionOk="0" fill="none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</a:path>
                      <a:path extrusionOk="0" h="21600" w="40269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29051" y="0"/>
                          <a:pt x="37161" y="5677"/>
                          <a:pt x="40268" y="14208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3175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34" name="Google Shape;1834;p53"/>
                <p:cNvSpPr/>
                <p:nvPr/>
              </p:nvSpPr>
              <p:spPr>
                <a:xfrm>
                  <a:off x="9118" y="8274"/>
                  <a:ext cx="156" cy="242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5" name="Google Shape;1835;p53"/>
                <p:cNvSpPr/>
                <p:nvPr/>
              </p:nvSpPr>
              <p:spPr>
                <a:xfrm rot="10800000">
                  <a:off x="9136" y="8454"/>
                  <a:ext cx="322" cy="164"/>
                </a:xfrm>
                <a:custGeom>
                  <a:rect b="b" l="l" r="r" t="t"/>
                  <a:pathLst>
                    <a:path extrusionOk="0" fill="none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</a:path>
                    <a:path extrusionOk="0" h="22008" w="41896">
                      <a:moveTo>
                        <a:pt x="3" y="22008"/>
                      </a:moveTo>
                      <a:cubicBezTo>
                        <a:pt x="1" y="21872"/>
                        <a:pt x="0" y="217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678" y="0"/>
                        <a:pt x="38788" y="5677"/>
                        <a:pt x="41895" y="14208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36" name="Google Shape;1836;p53"/>
              <p:cNvCxnSpPr/>
              <p:nvPr/>
            </p:nvCxnSpPr>
            <p:spPr>
              <a:xfrm>
                <a:off x="321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7" name="Google Shape;1837;p53"/>
              <p:cNvCxnSpPr/>
              <p:nvPr/>
            </p:nvCxnSpPr>
            <p:spPr>
              <a:xfrm>
                <a:off x="1778" y="429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38" name="Google Shape;1838;p53"/>
            <p:cNvSpPr/>
            <p:nvPr/>
          </p:nvSpPr>
          <p:spPr>
            <a:xfrm>
              <a:off x="6653" y="12815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53"/>
            <p:cNvSpPr/>
            <p:nvPr/>
          </p:nvSpPr>
          <p:spPr>
            <a:xfrm>
              <a:off x="9870" y="12860"/>
              <a:ext cx="68" cy="68"/>
            </a:xfrm>
            <a:prstGeom prst="ellipse">
              <a:avLst/>
            </a:prstGeom>
            <a:solidFill>
              <a:srgbClr val="FFFF00"/>
            </a:solidFill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0" name="Google Shape;1840;p53"/>
            <p:cNvCxnSpPr/>
            <p:nvPr/>
          </p:nvCxnSpPr>
          <p:spPr>
            <a:xfrm>
              <a:off x="6458" y="13103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41" name="Google Shape;1841;p53"/>
            <p:cNvCxnSpPr/>
            <p:nvPr/>
          </p:nvCxnSpPr>
          <p:spPr>
            <a:xfrm>
              <a:off x="6855" y="12789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842" name="Google Shape;1842;p53"/>
            <p:cNvSpPr txBox="1"/>
            <p:nvPr/>
          </p:nvSpPr>
          <p:spPr>
            <a:xfrm>
              <a:off x="7058" y="123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3" name="Google Shape;1843;p53"/>
            <p:cNvSpPr txBox="1"/>
            <p:nvPr/>
          </p:nvSpPr>
          <p:spPr>
            <a:xfrm>
              <a:off x="8993" y="1239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4" name="Google Shape;1844;p53"/>
            <p:cNvSpPr txBox="1"/>
            <p:nvPr/>
          </p:nvSpPr>
          <p:spPr>
            <a:xfrm>
              <a:off x="6353" y="131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5" name="Google Shape;1845;p53"/>
            <p:cNvSpPr txBox="1"/>
            <p:nvPr/>
          </p:nvSpPr>
          <p:spPr>
            <a:xfrm>
              <a:off x="8498" y="1316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46" name="Google Shape;1846;p53"/>
            <p:cNvCxnSpPr/>
            <p:nvPr/>
          </p:nvCxnSpPr>
          <p:spPr>
            <a:xfrm>
              <a:off x="8498" y="13103"/>
              <a:ext cx="12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1847" name="Google Shape;1847;p53"/>
            <p:cNvCxnSpPr/>
            <p:nvPr/>
          </p:nvCxnSpPr>
          <p:spPr>
            <a:xfrm>
              <a:off x="8858" y="12788"/>
              <a:ext cx="79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848" name="Google Shape;1848;p53"/>
          <p:cNvSpPr/>
          <p:nvPr/>
        </p:nvSpPr>
        <p:spPr>
          <a:xfrm>
            <a:off x="107577" y="3161827"/>
            <a:ext cx="11704835" cy="335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voltage drop due to self inductance terms and that due to mutual inductance term must have the same sign.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derivations were done primarily based on the magnetic circuits appearing in the above 4 cases,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and is similar with the electrical circuits.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54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Summary of the 4 cases</a:t>
            </a:r>
            <a:endParaRPr/>
          </a:p>
        </p:txBody>
      </p:sp>
      <p:sp>
        <p:nvSpPr>
          <p:cNvPr id="1854" name="Google Shape;1854;p54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5" name="Google Shape;1855;p54"/>
          <p:cNvGrpSpPr/>
          <p:nvPr/>
        </p:nvGrpSpPr>
        <p:grpSpPr>
          <a:xfrm>
            <a:off x="80682" y="961391"/>
            <a:ext cx="12084164" cy="5751449"/>
            <a:chOff x="820" y="632"/>
            <a:chExt cx="15240" cy="7965"/>
          </a:xfrm>
        </p:grpSpPr>
        <p:sp>
          <p:nvSpPr>
            <p:cNvPr id="1856" name="Google Shape;1856;p54"/>
            <p:cNvSpPr txBox="1"/>
            <p:nvPr/>
          </p:nvSpPr>
          <p:spPr>
            <a:xfrm>
              <a:off x="7336" y="995"/>
              <a:ext cx="8724" cy="69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mutual term has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sign self inductance term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mutual term has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opposite sign to self inductance term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mutual term has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opposite sign to self inductance term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mutual term has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sign self inductance            term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aseline="-25000" i="1"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857" name="Google Shape;1857;p54"/>
            <p:cNvGrpSpPr/>
            <p:nvPr/>
          </p:nvGrpSpPr>
          <p:grpSpPr>
            <a:xfrm>
              <a:off x="820" y="632"/>
              <a:ext cx="6422" cy="7965"/>
              <a:chOff x="3288" y="632"/>
              <a:chExt cx="3954" cy="4904"/>
            </a:xfrm>
          </p:grpSpPr>
          <p:grpSp>
            <p:nvGrpSpPr>
              <p:cNvPr id="1858" name="Google Shape;1858;p54"/>
              <p:cNvGrpSpPr/>
              <p:nvPr/>
            </p:nvGrpSpPr>
            <p:grpSpPr>
              <a:xfrm>
                <a:off x="3402" y="632"/>
                <a:ext cx="3840" cy="1260"/>
                <a:chOff x="6338" y="13838"/>
                <a:chExt cx="3840" cy="1260"/>
              </a:xfrm>
            </p:grpSpPr>
            <p:grpSp>
              <p:nvGrpSpPr>
                <p:cNvPr id="1859" name="Google Shape;1859;p54"/>
                <p:cNvGrpSpPr/>
                <p:nvPr/>
              </p:nvGrpSpPr>
              <p:grpSpPr>
                <a:xfrm flipH="1" rot="10800000">
                  <a:off x="6338" y="14373"/>
                  <a:ext cx="1800" cy="355"/>
                  <a:chOff x="1778" y="4118"/>
                  <a:chExt cx="1800" cy="355"/>
                </a:xfrm>
              </p:grpSpPr>
              <p:grpSp>
                <p:nvGrpSpPr>
                  <p:cNvPr id="1860" name="Google Shape;1860;p54"/>
                  <p:cNvGrpSpPr/>
                  <p:nvPr/>
                </p:nvGrpSpPr>
                <p:grpSpPr>
                  <a:xfrm>
                    <a:off x="2138" y="4118"/>
                    <a:ext cx="1080" cy="355"/>
                    <a:chOff x="8378" y="8263"/>
                    <a:chExt cx="1080" cy="355"/>
                  </a:xfrm>
                </p:grpSpPr>
                <p:sp>
                  <p:nvSpPr>
                    <p:cNvPr id="1861" name="Google Shape;1861;p54"/>
                    <p:cNvSpPr/>
                    <p:nvPr/>
                  </p:nvSpPr>
                  <p:spPr>
                    <a:xfrm rot="10800000">
                      <a:off x="8378" y="8447"/>
                      <a:ext cx="320" cy="169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862" name="Google Shape;1862;p54"/>
                    <p:cNvGrpSpPr/>
                    <p:nvPr/>
                  </p:nvGrpSpPr>
                  <p:grpSpPr>
                    <a:xfrm>
                      <a:off x="8556" y="827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863" name="Google Shape;1863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64" name="Google Shape;1864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865" name="Google Shape;1865;p54"/>
                    <p:cNvGrpSpPr/>
                    <p:nvPr/>
                  </p:nvGrpSpPr>
                  <p:grpSpPr>
                    <a:xfrm>
                      <a:off x="8745" y="826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866" name="Google Shape;1866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67" name="Google Shape;1867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868" name="Google Shape;1868;p54"/>
                    <p:cNvGrpSpPr/>
                    <p:nvPr/>
                  </p:nvGrpSpPr>
                  <p:grpSpPr>
                    <a:xfrm>
                      <a:off x="8931" y="8269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869" name="Google Shape;1869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70" name="Google Shape;1870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871" name="Google Shape;1871;p54"/>
                    <p:cNvSpPr/>
                    <p:nvPr/>
                  </p:nvSpPr>
                  <p:spPr>
                    <a:xfrm>
                      <a:off x="9118" y="8274"/>
                      <a:ext cx="15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72" name="Google Shape;1872;p54"/>
                    <p:cNvSpPr/>
                    <p:nvPr/>
                  </p:nvSpPr>
                  <p:spPr>
                    <a:xfrm rot="10800000">
                      <a:off x="9136" y="8454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873" name="Google Shape;1873;p54"/>
                  <p:cNvCxnSpPr/>
                  <p:nvPr/>
                </p:nvCxnSpPr>
                <p:spPr>
                  <a:xfrm>
                    <a:off x="321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74" name="Google Shape;1874;p54"/>
                  <p:cNvCxnSpPr/>
                  <p:nvPr/>
                </p:nvCxnSpPr>
                <p:spPr>
                  <a:xfrm>
                    <a:off x="177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875" name="Google Shape;1875;p54"/>
                <p:cNvGrpSpPr/>
                <p:nvPr/>
              </p:nvGrpSpPr>
              <p:grpSpPr>
                <a:xfrm flipH="1" rot="10800000">
                  <a:off x="8378" y="14383"/>
                  <a:ext cx="1800" cy="355"/>
                  <a:chOff x="1778" y="4118"/>
                  <a:chExt cx="1800" cy="355"/>
                </a:xfrm>
              </p:grpSpPr>
              <p:grpSp>
                <p:nvGrpSpPr>
                  <p:cNvPr id="1876" name="Google Shape;1876;p54"/>
                  <p:cNvGrpSpPr/>
                  <p:nvPr/>
                </p:nvGrpSpPr>
                <p:grpSpPr>
                  <a:xfrm>
                    <a:off x="2138" y="4118"/>
                    <a:ext cx="1080" cy="355"/>
                    <a:chOff x="8378" y="8263"/>
                    <a:chExt cx="1080" cy="355"/>
                  </a:xfrm>
                </p:grpSpPr>
                <p:sp>
                  <p:nvSpPr>
                    <p:cNvPr id="1877" name="Google Shape;1877;p54"/>
                    <p:cNvSpPr/>
                    <p:nvPr/>
                  </p:nvSpPr>
                  <p:spPr>
                    <a:xfrm rot="10800000">
                      <a:off x="8378" y="8447"/>
                      <a:ext cx="320" cy="169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878" name="Google Shape;1878;p54"/>
                    <p:cNvGrpSpPr/>
                    <p:nvPr/>
                  </p:nvGrpSpPr>
                  <p:grpSpPr>
                    <a:xfrm>
                      <a:off x="8556" y="827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879" name="Google Shape;1879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0" name="Google Shape;1880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881" name="Google Shape;1881;p54"/>
                    <p:cNvGrpSpPr/>
                    <p:nvPr/>
                  </p:nvGrpSpPr>
                  <p:grpSpPr>
                    <a:xfrm>
                      <a:off x="8745" y="826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882" name="Google Shape;1882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3" name="Google Shape;1883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884" name="Google Shape;1884;p54"/>
                    <p:cNvGrpSpPr/>
                    <p:nvPr/>
                  </p:nvGrpSpPr>
                  <p:grpSpPr>
                    <a:xfrm>
                      <a:off x="8931" y="8269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885" name="Google Shape;1885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86" name="Google Shape;1886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887" name="Google Shape;1887;p54"/>
                    <p:cNvSpPr/>
                    <p:nvPr/>
                  </p:nvSpPr>
                  <p:spPr>
                    <a:xfrm>
                      <a:off x="9118" y="8274"/>
                      <a:ext cx="15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88" name="Google Shape;1888;p54"/>
                    <p:cNvSpPr/>
                    <p:nvPr/>
                  </p:nvSpPr>
                  <p:spPr>
                    <a:xfrm rot="10800000">
                      <a:off x="9136" y="8454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889" name="Google Shape;1889;p54"/>
                  <p:cNvCxnSpPr/>
                  <p:nvPr/>
                </p:nvCxnSpPr>
                <p:spPr>
                  <a:xfrm>
                    <a:off x="321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90" name="Google Shape;1890;p54"/>
                  <p:cNvCxnSpPr/>
                  <p:nvPr/>
                </p:nvCxnSpPr>
                <p:spPr>
                  <a:xfrm>
                    <a:off x="177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891" name="Google Shape;1891;p54"/>
                <p:cNvSpPr/>
                <p:nvPr/>
              </p:nvSpPr>
              <p:spPr>
                <a:xfrm>
                  <a:off x="6653" y="14255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2" name="Google Shape;1892;p54"/>
                <p:cNvSpPr/>
                <p:nvPr/>
              </p:nvSpPr>
              <p:spPr>
                <a:xfrm>
                  <a:off x="8670" y="14300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3" name="Google Shape;1893;p54"/>
                <p:cNvSpPr txBox="1"/>
                <p:nvPr/>
              </p:nvSpPr>
              <p:spPr>
                <a:xfrm>
                  <a:off x="7058" y="1473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894" name="Google Shape;1894;p54"/>
                <p:cNvSpPr txBox="1"/>
                <p:nvPr/>
              </p:nvSpPr>
              <p:spPr>
                <a:xfrm>
                  <a:off x="9143" y="1473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895" name="Google Shape;1895;p54"/>
                <p:cNvCxnSpPr/>
                <p:nvPr/>
              </p:nvCxnSpPr>
              <p:spPr>
                <a:xfrm>
                  <a:off x="6458" y="14543"/>
                  <a:ext cx="1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1896" name="Google Shape;1896;p54"/>
                <p:cNvCxnSpPr/>
                <p:nvPr/>
              </p:nvCxnSpPr>
              <p:spPr>
                <a:xfrm>
                  <a:off x="8498" y="14558"/>
                  <a:ext cx="1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1897" name="Google Shape;1897;p54"/>
                <p:cNvCxnSpPr/>
                <p:nvPr/>
              </p:nvCxnSpPr>
              <p:spPr>
                <a:xfrm>
                  <a:off x="6855" y="14229"/>
                  <a:ext cx="79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cxnSp>
              <p:nvCxnSpPr>
                <p:cNvPr id="1898" name="Google Shape;1898;p54"/>
                <p:cNvCxnSpPr/>
                <p:nvPr/>
              </p:nvCxnSpPr>
              <p:spPr>
                <a:xfrm>
                  <a:off x="8826" y="14213"/>
                  <a:ext cx="767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sp>
              <p:nvSpPr>
                <p:cNvPr id="1899" name="Google Shape;1899;p54"/>
                <p:cNvSpPr txBox="1"/>
                <p:nvPr/>
              </p:nvSpPr>
              <p:spPr>
                <a:xfrm>
                  <a:off x="7058" y="1383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00" name="Google Shape;1900;p54"/>
                <p:cNvSpPr txBox="1"/>
                <p:nvPr/>
              </p:nvSpPr>
              <p:spPr>
                <a:xfrm>
                  <a:off x="8993" y="1383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01" name="Google Shape;1901;p54"/>
                <p:cNvSpPr txBox="1"/>
                <p:nvPr/>
              </p:nvSpPr>
              <p:spPr>
                <a:xfrm>
                  <a:off x="6353" y="1461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02" name="Google Shape;1902;p54"/>
                <p:cNvSpPr txBox="1"/>
                <p:nvPr/>
              </p:nvSpPr>
              <p:spPr>
                <a:xfrm>
                  <a:off x="8498" y="14603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1903" name="Google Shape;1903;p54"/>
              <p:cNvSpPr txBox="1"/>
              <p:nvPr/>
            </p:nvSpPr>
            <p:spPr>
              <a:xfrm>
                <a:off x="4008" y="390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4" name="Google Shape;1904;p54"/>
              <p:cNvSpPr txBox="1"/>
              <p:nvPr/>
            </p:nvSpPr>
            <p:spPr>
              <a:xfrm>
                <a:off x="6093" y="390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905" name="Google Shape;1905;p54"/>
              <p:cNvGrpSpPr/>
              <p:nvPr/>
            </p:nvGrpSpPr>
            <p:grpSpPr>
              <a:xfrm flipH="1" rot="10800000">
                <a:off x="3288" y="3551"/>
                <a:ext cx="1800" cy="355"/>
                <a:chOff x="1778" y="4118"/>
                <a:chExt cx="1800" cy="355"/>
              </a:xfrm>
            </p:grpSpPr>
            <p:grpSp>
              <p:nvGrpSpPr>
                <p:cNvPr id="1906" name="Google Shape;1906;p54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907" name="Google Shape;1907;p54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908" name="Google Shape;1908;p54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909" name="Google Shape;1909;p5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10" name="Google Shape;1910;p5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911" name="Google Shape;1911;p54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912" name="Google Shape;1912;p5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13" name="Google Shape;1913;p5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914" name="Google Shape;1914;p54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915" name="Google Shape;1915;p5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16" name="Google Shape;1916;p5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917" name="Google Shape;1917;p54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8" name="Google Shape;1918;p54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919" name="Google Shape;1919;p54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20" name="Google Shape;1920;p54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21" name="Google Shape;1921;p54"/>
              <p:cNvGrpSpPr/>
              <p:nvPr/>
            </p:nvGrpSpPr>
            <p:grpSpPr>
              <a:xfrm flipH="1" rot="10800000">
                <a:off x="5328" y="3546"/>
                <a:ext cx="1800" cy="355"/>
                <a:chOff x="1778" y="4118"/>
                <a:chExt cx="1800" cy="355"/>
              </a:xfrm>
            </p:grpSpPr>
            <p:grpSp>
              <p:nvGrpSpPr>
                <p:cNvPr id="1922" name="Google Shape;1922;p54"/>
                <p:cNvGrpSpPr/>
                <p:nvPr/>
              </p:nvGrpSpPr>
              <p:grpSpPr>
                <a:xfrm>
                  <a:off x="2138" y="4118"/>
                  <a:ext cx="1080" cy="355"/>
                  <a:chOff x="8378" y="8263"/>
                  <a:chExt cx="1080" cy="355"/>
                </a:xfrm>
              </p:grpSpPr>
              <p:sp>
                <p:nvSpPr>
                  <p:cNvPr id="1923" name="Google Shape;1923;p54"/>
                  <p:cNvSpPr/>
                  <p:nvPr/>
                </p:nvSpPr>
                <p:spPr>
                  <a:xfrm rot="10800000">
                    <a:off x="8378" y="8447"/>
                    <a:ext cx="320" cy="169"/>
                  </a:xfrm>
                  <a:custGeom>
                    <a:rect b="b" l="l" r="r" t="t"/>
                    <a:pathLst>
                      <a:path extrusionOk="0" fill="none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</a:path>
                      <a:path extrusionOk="0" h="22566" w="41573">
                        <a:moveTo>
                          <a:pt x="-1" y="13376"/>
                        </a:moveTo>
                        <a:cubicBezTo>
                          <a:pt x="3331" y="5282"/>
                          <a:pt x="11219" y="0"/>
                          <a:pt x="19973" y="0"/>
                        </a:cubicBezTo>
                        <a:cubicBezTo>
                          <a:pt x="31902" y="0"/>
                          <a:pt x="41573" y="9670"/>
                          <a:pt x="41573" y="21600"/>
                        </a:cubicBezTo>
                        <a:cubicBezTo>
                          <a:pt x="41573" y="21922"/>
                          <a:pt x="41565" y="22244"/>
                          <a:pt x="41551" y="22566"/>
                        </a:cubicBezTo>
                        <a:lnTo>
                          <a:pt x="19973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924" name="Google Shape;1924;p54"/>
                  <p:cNvGrpSpPr/>
                  <p:nvPr/>
                </p:nvGrpSpPr>
                <p:grpSpPr>
                  <a:xfrm>
                    <a:off x="8556" y="827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925" name="Google Shape;1925;p5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26" name="Google Shape;1926;p5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927" name="Google Shape;1927;p54"/>
                  <p:cNvGrpSpPr/>
                  <p:nvPr/>
                </p:nvGrpSpPr>
                <p:grpSpPr>
                  <a:xfrm>
                    <a:off x="8745" y="8263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928" name="Google Shape;1928;p5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29" name="Google Shape;1929;p5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930" name="Google Shape;1930;p54"/>
                  <p:cNvGrpSpPr/>
                  <p:nvPr/>
                </p:nvGrpSpPr>
                <p:grpSpPr>
                  <a:xfrm>
                    <a:off x="8931" y="8269"/>
                    <a:ext cx="328" cy="344"/>
                    <a:chOff x="2020" y="8243"/>
                    <a:chExt cx="1768" cy="960"/>
                  </a:xfrm>
                </p:grpSpPr>
                <p:sp>
                  <p:nvSpPr>
                    <p:cNvPr id="1931" name="Google Shape;1931;p54"/>
                    <p:cNvSpPr/>
                    <p:nvPr/>
                  </p:nvSpPr>
                  <p:spPr>
                    <a:xfrm>
                      <a:off x="2020" y="8243"/>
                      <a:ext cx="842" cy="674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32" name="Google Shape;1932;p54"/>
                    <p:cNvSpPr/>
                    <p:nvPr/>
                  </p:nvSpPr>
                  <p:spPr>
                    <a:xfrm rot="10800000">
                      <a:off x="2117" y="8753"/>
                      <a:ext cx="1671" cy="450"/>
                    </a:xfrm>
                    <a:custGeom>
                      <a:rect b="b" l="l" r="r" t="t"/>
                      <a:pathLst>
                        <a:path extrusionOk="0" fill="none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</a:path>
                        <a:path extrusionOk="0" h="21600" w="40269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29051" y="0"/>
                            <a:pt x="37161" y="5677"/>
                            <a:pt x="40268" y="14208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933" name="Google Shape;1933;p54"/>
                  <p:cNvSpPr/>
                  <p:nvPr/>
                </p:nvSpPr>
                <p:spPr>
                  <a:xfrm>
                    <a:off x="9118" y="8274"/>
                    <a:ext cx="156" cy="242"/>
                  </a:xfrm>
                  <a:custGeom>
                    <a:rect b="b" l="l" r="r" t="t"/>
                    <a:pathLst>
                      <a:path extrusionOk="0" fill="none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</a:path>
                      <a:path extrusionOk="0" h="34987" w="43200">
                        <a:moveTo>
                          <a:pt x="4648" y="34987"/>
                        </a:moveTo>
                        <a:cubicBezTo>
                          <a:pt x="1637" y="31174"/>
                          <a:pt x="0" y="2645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199" y="26139"/>
                          <a:pt x="41770" y="30562"/>
                          <a:pt x="39113" y="34243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34" name="Google Shape;1934;p54"/>
                  <p:cNvSpPr/>
                  <p:nvPr/>
                </p:nvSpPr>
                <p:spPr>
                  <a:xfrm rot="10800000">
                    <a:off x="9136" y="8454"/>
                    <a:ext cx="322" cy="164"/>
                  </a:xfrm>
                  <a:custGeom>
                    <a:rect b="b" l="l" r="r" t="t"/>
                    <a:pathLst>
                      <a:path extrusionOk="0" fill="none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</a:path>
                      <a:path extrusionOk="0" h="22008" w="41896">
                        <a:moveTo>
                          <a:pt x="3" y="22008"/>
                        </a:moveTo>
                        <a:cubicBezTo>
                          <a:pt x="1" y="21872"/>
                          <a:pt x="0" y="2173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0678" y="0"/>
                          <a:pt x="38788" y="5677"/>
                          <a:pt x="41895" y="14208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935" name="Google Shape;1935;p54"/>
                <p:cNvCxnSpPr/>
                <p:nvPr/>
              </p:nvCxnSpPr>
              <p:spPr>
                <a:xfrm>
                  <a:off x="321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6" name="Google Shape;1936;p54"/>
                <p:cNvCxnSpPr/>
                <p:nvPr/>
              </p:nvCxnSpPr>
              <p:spPr>
                <a:xfrm>
                  <a:off x="1778" y="429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37" name="Google Shape;1937;p54"/>
              <p:cNvSpPr/>
              <p:nvPr/>
            </p:nvSpPr>
            <p:spPr>
              <a:xfrm>
                <a:off x="3603" y="3433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54"/>
              <p:cNvSpPr/>
              <p:nvPr/>
            </p:nvSpPr>
            <p:spPr>
              <a:xfrm>
                <a:off x="6820" y="3478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39" name="Google Shape;1939;p54"/>
              <p:cNvCxnSpPr/>
              <p:nvPr/>
            </p:nvCxnSpPr>
            <p:spPr>
              <a:xfrm>
                <a:off x="3408" y="3717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940" name="Google Shape;1940;p54"/>
              <p:cNvCxnSpPr/>
              <p:nvPr/>
            </p:nvCxnSpPr>
            <p:spPr>
              <a:xfrm>
                <a:off x="3805" y="3407"/>
                <a:ext cx="79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1941" name="Google Shape;1941;p54"/>
              <p:cNvSpPr txBox="1"/>
              <p:nvPr/>
            </p:nvSpPr>
            <p:spPr>
              <a:xfrm>
                <a:off x="4008" y="3016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2" name="Google Shape;1942;p54"/>
              <p:cNvSpPr txBox="1"/>
              <p:nvPr/>
            </p:nvSpPr>
            <p:spPr>
              <a:xfrm>
                <a:off x="5943" y="3016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3" name="Google Shape;1943;p54"/>
              <p:cNvSpPr txBox="1"/>
              <p:nvPr/>
            </p:nvSpPr>
            <p:spPr>
              <a:xfrm>
                <a:off x="3303" y="376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4" name="Google Shape;1944;p54"/>
              <p:cNvSpPr txBox="1"/>
              <p:nvPr/>
            </p:nvSpPr>
            <p:spPr>
              <a:xfrm>
                <a:off x="5448" y="3769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945" name="Google Shape;1945;p54"/>
              <p:cNvCxnSpPr/>
              <p:nvPr/>
            </p:nvCxnSpPr>
            <p:spPr>
              <a:xfrm>
                <a:off x="5448" y="370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946" name="Google Shape;1946;p54"/>
              <p:cNvCxnSpPr/>
              <p:nvPr/>
            </p:nvCxnSpPr>
            <p:spPr>
              <a:xfrm>
                <a:off x="5808" y="3406"/>
                <a:ext cx="79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grpSp>
            <p:nvGrpSpPr>
              <p:cNvPr id="1947" name="Google Shape;1947;p54"/>
              <p:cNvGrpSpPr/>
              <p:nvPr/>
            </p:nvGrpSpPr>
            <p:grpSpPr>
              <a:xfrm>
                <a:off x="3303" y="4276"/>
                <a:ext cx="3840" cy="1260"/>
                <a:chOff x="6338" y="12398"/>
                <a:chExt cx="3840" cy="1260"/>
              </a:xfrm>
            </p:grpSpPr>
            <p:sp>
              <p:nvSpPr>
                <p:cNvPr id="1948" name="Google Shape;1948;p54"/>
                <p:cNvSpPr txBox="1"/>
                <p:nvPr/>
              </p:nvSpPr>
              <p:spPr>
                <a:xfrm>
                  <a:off x="7058" y="1329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49" name="Google Shape;1949;p54"/>
                <p:cNvSpPr txBox="1"/>
                <p:nvPr/>
              </p:nvSpPr>
              <p:spPr>
                <a:xfrm>
                  <a:off x="9143" y="1329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950" name="Google Shape;1950;p54"/>
                <p:cNvGrpSpPr/>
                <p:nvPr/>
              </p:nvGrpSpPr>
              <p:grpSpPr>
                <a:xfrm flipH="1" rot="10800000">
                  <a:off x="6338" y="12933"/>
                  <a:ext cx="1800" cy="355"/>
                  <a:chOff x="1778" y="4118"/>
                  <a:chExt cx="1800" cy="355"/>
                </a:xfrm>
              </p:grpSpPr>
              <p:grpSp>
                <p:nvGrpSpPr>
                  <p:cNvPr id="1951" name="Google Shape;1951;p54"/>
                  <p:cNvGrpSpPr/>
                  <p:nvPr/>
                </p:nvGrpSpPr>
                <p:grpSpPr>
                  <a:xfrm>
                    <a:off x="2138" y="4118"/>
                    <a:ext cx="1080" cy="355"/>
                    <a:chOff x="8378" y="8263"/>
                    <a:chExt cx="1080" cy="355"/>
                  </a:xfrm>
                </p:grpSpPr>
                <p:sp>
                  <p:nvSpPr>
                    <p:cNvPr id="1952" name="Google Shape;1952;p54"/>
                    <p:cNvSpPr/>
                    <p:nvPr/>
                  </p:nvSpPr>
                  <p:spPr>
                    <a:xfrm rot="10800000">
                      <a:off x="8378" y="8447"/>
                      <a:ext cx="320" cy="169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53" name="Google Shape;1953;p54"/>
                    <p:cNvGrpSpPr/>
                    <p:nvPr/>
                  </p:nvGrpSpPr>
                  <p:grpSpPr>
                    <a:xfrm>
                      <a:off x="8556" y="827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54" name="Google Shape;1954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55" name="Google Shape;1955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956" name="Google Shape;1956;p54"/>
                    <p:cNvGrpSpPr/>
                    <p:nvPr/>
                  </p:nvGrpSpPr>
                  <p:grpSpPr>
                    <a:xfrm>
                      <a:off x="8745" y="826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57" name="Google Shape;1957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58" name="Google Shape;1958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959" name="Google Shape;1959;p54"/>
                    <p:cNvGrpSpPr/>
                    <p:nvPr/>
                  </p:nvGrpSpPr>
                  <p:grpSpPr>
                    <a:xfrm>
                      <a:off x="8931" y="8269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60" name="Google Shape;1960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61" name="Google Shape;1961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962" name="Google Shape;1962;p54"/>
                    <p:cNvSpPr/>
                    <p:nvPr/>
                  </p:nvSpPr>
                  <p:spPr>
                    <a:xfrm>
                      <a:off x="9118" y="8274"/>
                      <a:ext cx="15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63" name="Google Shape;1963;p54"/>
                    <p:cNvSpPr/>
                    <p:nvPr/>
                  </p:nvSpPr>
                  <p:spPr>
                    <a:xfrm rot="10800000">
                      <a:off x="9136" y="8454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964" name="Google Shape;1964;p54"/>
                  <p:cNvCxnSpPr/>
                  <p:nvPr/>
                </p:nvCxnSpPr>
                <p:spPr>
                  <a:xfrm>
                    <a:off x="321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65" name="Google Shape;1965;p54"/>
                  <p:cNvCxnSpPr/>
                  <p:nvPr/>
                </p:nvCxnSpPr>
                <p:spPr>
                  <a:xfrm>
                    <a:off x="177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966" name="Google Shape;1966;p54"/>
                <p:cNvGrpSpPr/>
                <p:nvPr/>
              </p:nvGrpSpPr>
              <p:grpSpPr>
                <a:xfrm flipH="1" rot="10800000">
                  <a:off x="8378" y="12928"/>
                  <a:ext cx="1800" cy="355"/>
                  <a:chOff x="1778" y="4118"/>
                  <a:chExt cx="1800" cy="355"/>
                </a:xfrm>
              </p:grpSpPr>
              <p:grpSp>
                <p:nvGrpSpPr>
                  <p:cNvPr id="1967" name="Google Shape;1967;p54"/>
                  <p:cNvGrpSpPr/>
                  <p:nvPr/>
                </p:nvGrpSpPr>
                <p:grpSpPr>
                  <a:xfrm>
                    <a:off x="2138" y="4118"/>
                    <a:ext cx="1080" cy="355"/>
                    <a:chOff x="8378" y="8263"/>
                    <a:chExt cx="1080" cy="355"/>
                  </a:xfrm>
                </p:grpSpPr>
                <p:sp>
                  <p:nvSpPr>
                    <p:cNvPr id="1968" name="Google Shape;1968;p54"/>
                    <p:cNvSpPr/>
                    <p:nvPr/>
                  </p:nvSpPr>
                  <p:spPr>
                    <a:xfrm rot="10800000">
                      <a:off x="8378" y="8447"/>
                      <a:ext cx="320" cy="169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69" name="Google Shape;1969;p54"/>
                    <p:cNvGrpSpPr/>
                    <p:nvPr/>
                  </p:nvGrpSpPr>
                  <p:grpSpPr>
                    <a:xfrm>
                      <a:off x="8556" y="827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70" name="Google Shape;1970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71" name="Google Shape;1971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972" name="Google Shape;1972;p54"/>
                    <p:cNvGrpSpPr/>
                    <p:nvPr/>
                  </p:nvGrpSpPr>
                  <p:grpSpPr>
                    <a:xfrm>
                      <a:off x="8745" y="826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73" name="Google Shape;1973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74" name="Google Shape;1974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975" name="Google Shape;1975;p54"/>
                    <p:cNvGrpSpPr/>
                    <p:nvPr/>
                  </p:nvGrpSpPr>
                  <p:grpSpPr>
                    <a:xfrm>
                      <a:off x="8931" y="8269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76" name="Google Shape;1976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77" name="Google Shape;1977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978" name="Google Shape;1978;p54"/>
                    <p:cNvSpPr/>
                    <p:nvPr/>
                  </p:nvSpPr>
                  <p:spPr>
                    <a:xfrm>
                      <a:off x="9118" y="8274"/>
                      <a:ext cx="15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79" name="Google Shape;1979;p54"/>
                    <p:cNvSpPr/>
                    <p:nvPr/>
                  </p:nvSpPr>
                  <p:spPr>
                    <a:xfrm rot="10800000">
                      <a:off x="9136" y="8454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980" name="Google Shape;1980;p54"/>
                  <p:cNvCxnSpPr/>
                  <p:nvPr/>
                </p:nvCxnSpPr>
                <p:spPr>
                  <a:xfrm>
                    <a:off x="321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1" name="Google Shape;1981;p54"/>
                  <p:cNvCxnSpPr/>
                  <p:nvPr/>
                </p:nvCxnSpPr>
                <p:spPr>
                  <a:xfrm>
                    <a:off x="177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982" name="Google Shape;1982;p54"/>
                <p:cNvSpPr/>
                <p:nvPr/>
              </p:nvSpPr>
              <p:spPr>
                <a:xfrm>
                  <a:off x="6653" y="12815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54"/>
                <p:cNvSpPr/>
                <p:nvPr/>
              </p:nvSpPr>
              <p:spPr>
                <a:xfrm>
                  <a:off x="9870" y="12860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84" name="Google Shape;1984;p54"/>
                <p:cNvCxnSpPr/>
                <p:nvPr/>
              </p:nvCxnSpPr>
              <p:spPr>
                <a:xfrm>
                  <a:off x="6458" y="13103"/>
                  <a:ext cx="1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1985" name="Google Shape;1985;p54"/>
                <p:cNvCxnSpPr/>
                <p:nvPr/>
              </p:nvCxnSpPr>
              <p:spPr>
                <a:xfrm>
                  <a:off x="6855" y="12789"/>
                  <a:ext cx="79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sp>
              <p:nvSpPr>
                <p:cNvPr id="1986" name="Google Shape;1986;p54"/>
                <p:cNvSpPr txBox="1"/>
                <p:nvPr/>
              </p:nvSpPr>
              <p:spPr>
                <a:xfrm>
                  <a:off x="7058" y="1239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87" name="Google Shape;1987;p54"/>
                <p:cNvSpPr txBox="1"/>
                <p:nvPr/>
              </p:nvSpPr>
              <p:spPr>
                <a:xfrm>
                  <a:off x="8993" y="1239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88" name="Google Shape;1988;p54"/>
                <p:cNvSpPr txBox="1"/>
                <p:nvPr/>
              </p:nvSpPr>
              <p:spPr>
                <a:xfrm>
                  <a:off x="6353" y="1317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89" name="Google Shape;1989;p54"/>
                <p:cNvSpPr txBox="1"/>
                <p:nvPr/>
              </p:nvSpPr>
              <p:spPr>
                <a:xfrm>
                  <a:off x="8498" y="13163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990" name="Google Shape;1990;p54"/>
                <p:cNvCxnSpPr/>
                <p:nvPr/>
              </p:nvCxnSpPr>
              <p:spPr>
                <a:xfrm>
                  <a:off x="8498" y="13103"/>
                  <a:ext cx="1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cxnSp>
              <p:nvCxnSpPr>
                <p:cNvPr id="1991" name="Google Shape;1991;p54"/>
                <p:cNvCxnSpPr/>
                <p:nvPr/>
              </p:nvCxnSpPr>
              <p:spPr>
                <a:xfrm>
                  <a:off x="8858" y="12788"/>
                  <a:ext cx="79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</p:grpSp>
          <p:grpSp>
            <p:nvGrpSpPr>
              <p:cNvPr id="1992" name="Google Shape;1992;p54"/>
              <p:cNvGrpSpPr/>
              <p:nvPr/>
            </p:nvGrpSpPr>
            <p:grpSpPr>
              <a:xfrm>
                <a:off x="3288" y="1892"/>
                <a:ext cx="3840" cy="1260"/>
                <a:chOff x="6338" y="5510"/>
                <a:chExt cx="3840" cy="1260"/>
              </a:xfrm>
            </p:grpSpPr>
            <p:grpSp>
              <p:nvGrpSpPr>
                <p:cNvPr id="1993" name="Google Shape;1993;p54"/>
                <p:cNvGrpSpPr/>
                <p:nvPr/>
              </p:nvGrpSpPr>
              <p:grpSpPr>
                <a:xfrm flipH="1" rot="10800000">
                  <a:off x="6338" y="6045"/>
                  <a:ext cx="1800" cy="355"/>
                  <a:chOff x="1778" y="4118"/>
                  <a:chExt cx="1800" cy="355"/>
                </a:xfrm>
              </p:grpSpPr>
              <p:grpSp>
                <p:nvGrpSpPr>
                  <p:cNvPr id="1994" name="Google Shape;1994;p54"/>
                  <p:cNvGrpSpPr/>
                  <p:nvPr/>
                </p:nvGrpSpPr>
                <p:grpSpPr>
                  <a:xfrm>
                    <a:off x="2138" y="4118"/>
                    <a:ext cx="1080" cy="355"/>
                    <a:chOff x="8378" y="8263"/>
                    <a:chExt cx="1080" cy="355"/>
                  </a:xfrm>
                </p:grpSpPr>
                <p:sp>
                  <p:nvSpPr>
                    <p:cNvPr id="1995" name="Google Shape;1995;p54"/>
                    <p:cNvSpPr/>
                    <p:nvPr/>
                  </p:nvSpPr>
                  <p:spPr>
                    <a:xfrm rot="10800000">
                      <a:off x="8378" y="8447"/>
                      <a:ext cx="320" cy="169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996" name="Google Shape;1996;p54"/>
                    <p:cNvGrpSpPr/>
                    <p:nvPr/>
                  </p:nvGrpSpPr>
                  <p:grpSpPr>
                    <a:xfrm>
                      <a:off x="8556" y="827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1997" name="Google Shape;1997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998" name="Google Shape;1998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999" name="Google Shape;1999;p54"/>
                    <p:cNvGrpSpPr/>
                    <p:nvPr/>
                  </p:nvGrpSpPr>
                  <p:grpSpPr>
                    <a:xfrm>
                      <a:off x="8745" y="826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2000" name="Google Shape;2000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01" name="Google Shape;2001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002" name="Google Shape;2002;p54"/>
                    <p:cNvGrpSpPr/>
                    <p:nvPr/>
                  </p:nvGrpSpPr>
                  <p:grpSpPr>
                    <a:xfrm>
                      <a:off x="8931" y="8269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2003" name="Google Shape;2003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04" name="Google Shape;2004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005" name="Google Shape;2005;p54"/>
                    <p:cNvSpPr/>
                    <p:nvPr/>
                  </p:nvSpPr>
                  <p:spPr>
                    <a:xfrm>
                      <a:off x="9118" y="8274"/>
                      <a:ext cx="15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06" name="Google Shape;2006;p54"/>
                    <p:cNvSpPr/>
                    <p:nvPr/>
                  </p:nvSpPr>
                  <p:spPr>
                    <a:xfrm rot="10800000">
                      <a:off x="9136" y="8454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2007" name="Google Shape;2007;p54"/>
                  <p:cNvCxnSpPr/>
                  <p:nvPr/>
                </p:nvCxnSpPr>
                <p:spPr>
                  <a:xfrm>
                    <a:off x="321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08" name="Google Shape;2008;p54"/>
                  <p:cNvCxnSpPr/>
                  <p:nvPr/>
                </p:nvCxnSpPr>
                <p:spPr>
                  <a:xfrm>
                    <a:off x="177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009" name="Google Shape;2009;p54"/>
                <p:cNvGrpSpPr/>
                <p:nvPr/>
              </p:nvGrpSpPr>
              <p:grpSpPr>
                <a:xfrm flipH="1" rot="10800000">
                  <a:off x="8378" y="6055"/>
                  <a:ext cx="1800" cy="355"/>
                  <a:chOff x="1778" y="4118"/>
                  <a:chExt cx="1800" cy="355"/>
                </a:xfrm>
              </p:grpSpPr>
              <p:grpSp>
                <p:nvGrpSpPr>
                  <p:cNvPr id="2010" name="Google Shape;2010;p54"/>
                  <p:cNvGrpSpPr/>
                  <p:nvPr/>
                </p:nvGrpSpPr>
                <p:grpSpPr>
                  <a:xfrm>
                    <a:off x="2138" y="4118"/>
                    <a:ext cx="1080" cy="355"/>
                    <a:chOff x="8378" y="8263"/>
                    <a:chExt cx="1080" cy="355"/>
                  </a:xfrm>
                </p:grpSpPr>
                <p:sp>
                  <p:nvSpPr>
                    <p:cNvPr id="2011" name="Google Shape;2011;p54"/>
                    <p:cNvSpPr/>
                    <p:nvPr/>
                  </p:nvSpPr>
                  <p:spPr>
                    <a:xfrm rot="10800000">
                      <a:off x="8378" y="8447"/>
                      <a:ext cx="320" cy="169"/>
                    </a:xfrm>
                    <a:custGeom>
                      <a:rect b="b" l="l" r="r" t="t"/>
                      <a:pathLst>
                        <a:path extrusionOk="0" fill="none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</a:path>
                        <a:path extrusionOk="0" h="22566" w="41573">
                          <a:moveTo>
                            <a:pt x="-1" y="13376"/>
                          </a:moveTo>
                          <a:cubicBezTo>
                            <a:pt x="3331" y="5282"/>
                            <a:pt x="11219" y="0"/>
                            <a:pt x="19973" y="0"/>
                          </a:cubicBezTo>
                          <a:cubicBezTo>
                            <a:pt x="31902" y="0"/>
                            <a:pt x="41573" y="9670"/>
                            <a:pt x="41573" y="21600"/>
                          </a:cubicBezTo>
                          <a:cubicBezTo>
                            <a:pt x="41573" y="21922"/>
                            <a:pt x="41565" y="22244"/>
                            <a:pt x="41551" y="22566"/>
                          </a:cubicBezTo>
                          <a:lnTo>
                            <a:pt x="19973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2012" name="Google Shape;2012;p54"/>
                    <p:cNvGrpSpPr/>
                    <p:nvPr/>
                  </p:nvGrpSpPr>
                  <p:grpSpPr>
                    <a:xfrm>
                      <a:off x="8556" y="827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2013" name="Google Shape;2013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14" name="Google Shape;2014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015" name="Google Shape;2015;p54"/>
                    <p:cNvGrpSpPr/>
                    <p:nvPr/>
                  </p:nvGrpSpPr>
                  <p:grpSpPr>
                    <a:xfrm>
                      <a:off x="8745" y="8263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2016" name="Google Shape;2016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17" name="Google Shape;2017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018" name="Google Shape;2018;p54"/>
                    <p:cNvGrpSpPr/>
                    <p:nvPr/>
                  </p:nvGrpSpPr>
                  <p:grpSpPr>
                    <a:xfrm>
                      <a:off x="8931" y="8269"/>
                      <a:ext cx="328" cy="344"/>
                      <a:chOff x="2020" y="8243"/>
                      <a:chExt cx="1768" cy="960"/>
                    </a:xfrm>
                  </p:grpSpPr>
                  <p:sp>
                    <p:nvSpPr>
                      <p:cNvPr id="2019" name="Google Shape;2019;p54"/>
                      <p:cNvSpPr/>
                      <p:nvPr/>
                    </p:nvSpPr>
                    <p:spPr>
                      <a:xfrm>
                        <a:off x="2020" y="8243"/>
                        <a:ext cx="842" cy="674"/>
                      </a:xfrm>
                      <a:custGeom>
                        <a:rect b="b" l="l" r="r" t="t"/>
                        <a:pathLst>
                          <a:path extrusionOk="0" fill="none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</a:path>
                          <a:path extrusionOk="0" h="34987" w="43200">
                            <a:moveTo>
                              <a:pt x="4648" y="34987"/>
                            </a:moveTo>
                            <a:cubicBezTo>
                              <a:pt x="1637" y="31174"/>
                              <a:pt x="0" y="26458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199" y="26139"/>
                              <a:pt x="41770" y="30562"/>
                              <a:pt x="39113" y="34243"/>
                            </a:cubicBezTo>
                            <a:lnTo>
                              <a:pt x="21600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20" name="Google Shape;2020;p54"/>
                      <p:cNvSpPr/>
                      <p:nvPr/>
                    </p:nvSpPr>
                    <p:spPr>
                      <a:xfrm rot="10800000">
                        <a:off x="2117" y="8753"/>
                        <a:ext cx="1671" cy="450"/>
                      </a:xfrm>
                      <a:custGeom>
                        <a:rect b="b" l="l" r="r" t="t"/>
                        <a:pathLst>
                          <a:path extrusionOk="0" fill="none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</a:path>
                          <a:path extrusionOk="0" h="21600" w="40269">
                            <a:moveTo>
                              <a:pt x="-1" y="13376"/>
                            </a:moveTo>
                            <a:cubicBezTo>
                              <a:pt x="3331" y="5282"/>
                              <a:pt x="11219" y="0"/>
                              <a:pt x="19973" y="0"/>
                            </a:cubicBezTo>
                            <a:cubicBezTo>
                              <a:pt x="29051" y="0"/>
                              <a:pt x="37161" y="5677"/>
                              <a:pt x="40268" y="14208"/>
                            </a:cubicBezTo>
                            <a:lnTo>
                              <a:pt x="19973" y="21600"/>
                            </a:lnTo>
                            <a:close/>
                          </a:path>
                        </a:pathLst>
                      </a:custGeom>
                      <a:noFill/>
                      <a:ln cap="flat" cmpd="sng" w="28575">
                        <a:solidFill>
                          <a:srgbClr val="C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021" name="Google Shape;2021;p54"/>
                    <p:cNvSpPr/>
                    <p:nvPr/>
                  </p:nvSpPr>
                  <p:spPr>
                    <a:xfrm>
                      <a:off x="9118" y="8274"/>
                      <a:ext cx="156" cy="242"/>
                    </a:xfrm>
                    <a:custGeom>
                      <a:rect b="b" l="l" r="r" t="t"/>
                      <a:pathLst>
                        <a:path extrusionOk="0" fill="none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</a:path>
                        <a:path extrusionOk="0" h="34987" w="43200">
                          <a:moveTo>
                            <a:pt x="4648" y="34987"/>
                          </a:moveTo>
                          <a:cubicBezTo>
                            <a:pt x="1637" y="31174"/>
                            <a:pt x="0" y="2645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199" y="26139"/>
                            <a:pt x="41770" y="30562"/>
                            <a:pt x="39113" y="34243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022" name="Google Shape;2022;p54"/>
                    <p:cNvSpPr/>
                    <p:nvPr/>
                  </p:nvSpPr>
                  <p:spPr>
                    <a:xfrm rot="10800000">
                      <a:off x="9136" y="8454"/>
                      <a:ext cx="322" cy="164"/>
                    </a:xfrm>
                    <a:custGeom>
                      <a:rect b="b" l="l" r="r" t="t"/>
                      <a:pathLst>
                        <a:path extrusionOk="0" fill="none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</a:path>
                        <a:path extrusionOk="0" h="22008" w="41896">
                          <a:moveTo>
                            <a:pt x="3" y="22008"/>
                          </a:moveTo>
                          <a:cubicBezTo>
                            <a:pt x="1" y="21872"/>
                            <a:pt x="0" y="2173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0678" y="0"/>
                            <a:pt x="38788" y="5677"/>
                            <a:pt x="41895" y="14208"/>
                          </a:cubicBez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2023" name="Google Shape;2023;p54"/>
                  <p:cNvCxnSpPr/>
                  <p:nvPr/>
                </p:nvCxnSpPr>
                <p:spPr>
                  <a:xfrm>
                    <a:off x="321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24" name="Google Shape;2024;p54"/>
                  <p:cNvCxnSpPr/>
                  <p:nvPr/>
                </p:nvCxnSpPr>
                <p:spPr>
                  <a:xfrm>
                    <a:off x="1778" y="429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2025" name="Google Shape;2025;p54"/>
                <p:cNvSpPr/>
                <p:nvPr/>
              </p:nvSpPr>
              <p:spPr>
                <a:xfrm>
                  <a:off x="6653" y="5927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6" name="Google Shape;2026;p54"/>
                <p:cNvSpPr/>
                <p:nvPr/>
              </p:nvSpPr>
              <p:spPr>
                <a:xfrm>
                  <a:off x="8670" y="5972"/>
                  <a:ext cx="68" cy="68"/>
                </a:xfrm>
                <a:prstGeom prst="ellipse">
                  <a:avLst/>
                </a:prstGeom>
                <a:solidFill>
                  <a:srgbClr val="FFFF00"/>
                </a:solidFill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7" name="Google Shape;2027;p54"/>
                <p:cNvSpPr txBox="1"/>
                <p:nvPr/>
              </p:nvSpPr>
              <p:spPr>
                <a:xfrm>
                  <a:off x="7058" y="6410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A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28" name="Google Shape;2028;p54"/>
                <p:cNvSpPr txBox="1"/>
                <p:nvPr/>
              </p:nvSpPr>
              <p:spPr>
                <a:xfrm>
                  <a:off x="9143" y="6410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B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029" name="Google Shape;2029;p54"/>
                <p:cNvCxnSpPr/>
                <p:nvPr/>
              </p:nvCxnSpPr>
              <p:spPr>
                <a:xfrm>
                  <a:off x="6458" y="6215"/>
                  <a:ext cx="1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2030" name="Google Shape;2030;p54"/>
                <p:cNvCxnSpPr/>
                <p:nvPr/>
              </p:nvCxnSpPr>
              <p:spPr>
                <a:xfrm rot="10800000">
                  <a:off x="8498" y="6230"/>
                  <a:ext cx="1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2031" name="Google Shape;2031;p54"/>
                <p:cNvCxnSpPr/>
                <p:nvPr/>
              </p:nvCxnSpPr>
              <p:spPr>
                <a:xfrm>
                  <a:off x="6855" y="5901"/>
                  <a:ext cx="79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cxnSp>
              <p:nvCxnSpPr>
                <p:cNvPr id="2032" name="Google Shape;2032;p54"/>
                <p:cNvCxnSpPr/>
                <p:nvPr/>
              </p:nvCxnSpPr>
              <p:spPr>
                <a:xfrm rot="10800000">
                  <a:off x="8826" y="5885"/>
                  <a:ext cx="767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sp>
              <p:nvSpPr>
                <p:cNvPr id="2033" name="Google Shape;2033;p54"/>
                <p:cNvSpPr txBox="1"/>
                <p:nvPr/>
              </p:nvSpPr>
              <p:spPr>
                <a:xfrm>
                  <a:off x="7058" y="5510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34" name="Google Shape;2034;p54"/>
                <p:cNvSpPr txBox="1"/>
                <p:nvPr/>
              </p:nvSpPr>
              <p:spPr>
                <a:xfrm>
                  <a:off x="8993" y="5510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35" name="Google Shape;2035;p54"/>
                <p:cNvSpPr txBox="1"/>
                <p:nvPr/>
              </p:nvSpPr>
              <p:spPr>
                <a:xfrm>
                  <a:off x="6353" y="6290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36" name="Google Shape;2036;p54"/>
                <p:cNvSpPr txBox="1"/>
                <p:nvPr/>
              </p:nvSpPr>
              <p:spPr>
                <a:xfrm>
                  <a:off x="8498" y="6275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aseline="-25000" lang="en-GB" sz="2400">
                      <a:solidFill>
                        <a:srgbClr val="00206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sp>
        <p:nvSpPr>
          <p:cNvPr id="2037" name="Google Shape;2037;p54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b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55"/>
          <p:cNvSpPr/>
          <p:nvPr/>
        </p:nvSpPr>
        <p:spPr>
          <a:xfrm>
            <a:off x="97495" y="740071"/>
            <a:ext cx="11762285" cy="600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 circuit shown, write down voltage drop across AB.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=  R.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e(t) + (L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		here  p = d/dt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=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R.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e(t)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(L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Since both currents enter at respective dotted ends, mutual inductance term and self inductance term have same sign.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True even if voltage is measured in opposite direction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GB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55"/>
          <p:cNvSpPr txBox="1"/>
          <p:nvPr>
            <p:ph type="title"/>
          </p:nvPr>
        </p:nvSpPr>
        <p:spPr>
          <a:xfrm>
            <a:off x="429715" y="526967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i="1" lang="en-GB"/>
              <a:t>Example 4</a:t>
            </a:r>
            <a:endParaRPr/>
          </a:p>
        </p:txBody>
      </p:sp>
      <p:sp>
        <p:nvSpPr>
          <p:cNvPr id="2044" name="Google Shape;2044;p55"/>
          <p:cNvSpPr/>
          <p:nvPr/>
        </p:nvSpPr>
        <p:spPr>
          <a:xfrm>
            <a:off x="0" y="5378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5" name="Google Shape;2045;p55"/>
          <p:cNvGrpSpPr/>
          <p:nvPr/>
        </p:nvGrpSpPr>
        <p:grpSpPr>
          <a:xfrm>
            <a:off x="1552575" y="1183342"/>
            <a:ext cx="8677910" cy="2968631"/>
            <a:chOff x="2448" y="2017"/>
            <a:chExt cx="13666" cy="4949"/>
          </a:xfrm>
        </p:grpSpPr>
        <p:sp>
          <p:nvSpPr>
            <p:cNvPr id="2046" name="Google Shape;2046;p55"/>
            <p:cNvSpPr txBox="1"/>
            <p:nvPr/>
          </p:nvSpPr>
          <p:spPr>
            <a:xfrm>
              <a:off x="15161" y="3070"/>
              <a:ext cx="953" cy="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7" name="Google Shape;2047;p55"/>
            <p:cNvSpPr txBox="1"/>
            <p:nvPr/>
          </p:nvSpPr>
          <p:spPr>
            <a:xfrm>
              <a:off x="10746" y="2421"/>
              <a:ext cx="1234" cy="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048" name="Google Shape;2048;p55"/>
            <p:cNvGrpSpPr/>
            <p:nvPr/>
          </p:nvGrpSpPr>
          <p:grpSpPr>
            <a:xfrm flipH="1" rot="5400000">
              <a:off x="11322" y="2141"/>
              <a:ext cx="360" cy="2932"/>
              <a:chOff x="6232" y="3219"/>
              <a:chExt cx="92" cy="751"/>
            </a:xfrm>
          </p:grpSpPr>
          <p:sp>
            <p:nvSpPr>
              <p:cNvPr id="2049" name="Google Shape;2049;p55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55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55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55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53" name="Google Shape;2053;p55"/>
            <p:cNvCxnSpPr/>
            <p:nvPr/>
          </p:nvCxnSpPr>
          <p:spPr>
            <a:xfrm>
              <a:off x="4037" y="3745"/>
              <a:ext cx="318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2054" name="Google Shape;2054;p55"/>
            <p:cNvSpPr/>
            <p:nvPr/>
          </p:nvSpPr>
          <p:spPr>
            <a:xfrm>
              <a:off x="6897" y="3070"/>
              <a:ext cx="1272" cy="1271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55" name="Google Shape;2055;p55"/>
            <p:cNvCxnSpPr/>
            <p:nvPr/>
          </p:nvCxnSpPr>
          <p:spPr>
            <a:xfrm>
              <a:off x="3401" y="3748"/>
              <a:ext cx="135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56" name="Google Shape;2056;p55"/>
            <p:cNvGrpSpPr/>
            <p:nvPr/>
          </p:nvGrpSpPr>
          <p:grpSpPr>
            <a:xfrm>
              <a:off x="4755" y="3387"/>
              <a:ext cx="1433" cy="718"/>
              <a:chOff x="2018" y="2138"/>
              <a:chExt cx="1200" cy="357"/>
            </a:xfrm>
          </p:grpSpPr>
          <p:cxnSp>
            <p:nvCxnSpPr>
              <p:cNvPr id="2057" name="Google Shape;2057;p55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8" name="Google Shape;2058;p55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9" name="Google Shape;2059;p55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0" name="Google Shape;2060;p55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55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2" name="Google Shape;2062;p55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063" name="Google Shape;2063;p55"/>
            <p:cNvCxnSpPr/>
            <p:nvPr/>
          </p:nvCxnSpPr>
          <p:spPr>
            <a:xfrm>
              <a:off x="6188" y="3748"/>
              <a:ext cx="71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4" name="Google Shape;2064;p55"/>
            <p:cNvSpPr txBox="1"/>
            <p:nvPr/>
          </p:nvSpPr>
          <p:spPr>
            <a:xfrm>
              <a:off x="5209" y="2562"/>
              <a:ext cx="954" cy="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65" name="Google Shape;2065;p55"/>
            <p:cNvCxnSpPr/>
            <p:nvPr/>
          </p:nvCxnSpPr>
          <p:spPr>
            <a:xfrm>
              <a:off x="8190" y="3750"/>
              <a:ext cx="188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6" name="Google Shape;2066;p55"/>
            <p:cNvCxnSpPr/>
            <p:nvPr/>
          </p:nvCxnSpPr>
          <p:spPr>
            <a:xfrm>
              <a:off x="12957" y="3745"/>
              <a:ext cx="188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7" name="Google Shape;2067;p55"/>
            <p:cNvCxnSpPr/>
            <p:nvPr/>
          </p:nvCxnSpPr>
          <p:spPr>
            <a:xfrm>
              <a:off x="7203" y="2908"/>
              <a:ext cx="781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grpSp>
          <p:nvGrpSpPr>
            <p:cNvPr id="2068" name="Google Shape;2068;p55"/>
            <p:cNvGrpSpPr/>
            <p:nvPr/>
          </p:nvGrpSpPr>
          <p:grpSpPr>
            <a:xfrm flipH="1" rot="5400000">
              <a:off x="6533" y="5320"/>
              <a:ext cx="360" cy="2932"/>
              <a:chOff x="6232" y="3219"/>
              <a:chExt cx="92" cy="751"/>
            </a:xfrm>
          </p:grpSpPr>
          <p:sp>
            <p:nvSpPr>
              <p:cNvPr id="2069" name="Google Shape;2069;p55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55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55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55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73" name="Google Shape;2073;p55"/>
            <p:cNvCxnSpPr/>
            <p:nvPr/>
          </p:nvCxnSpPr>
          <p:spPr>
            <a:xfrm>
              <a:off x="3401" y="6929"/>
              <a:ext cx="188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4" name="Google Shape;2074;p55"/>
            <p:cNvCxnSpPr/>
            <p:nvPr/>
          </p:nvCxnSpPr>
          <p:spPr>
            <a:xfrm>
              <a:off x="8169" y="6924"/>
              <a:ext cx="188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5" name="Google Shape;2075;p55"/>
            <p:cNvSpPr txBox="1"/>
            <p:nvPr/>
          </p:nvSpPr>
          <p:spPr>
            <a:xfrm>
              <a:off x="6241" y="5692"/>
              <a:ext cx="953" cy="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76" name="Google Shape;2076;p55"/>
            <p:cNvCxnSpPr/>
            <p:nvPr/>
          </p:nvCxnSpPr>
          <p:spPr>
            <a:xfrm>
              <a:off x="8804" y="6909"/>
              <a:ext cx="318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077" name="Google Shape;2077;p55"/>
            <p:cNvSpPr txBox="1"/>
            <p:nvPr/>
          </p:nvSpPr>
          <p:spPr>
            <a:xfrm>
              <a:off x="2448" y="3070"/>
              <a:ext cx="953" cy="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8" name="Google Shape;2078;p55"/>
            <p:cNvSpPr/>
            <p:nvPr/>
          </p:nvSpPr>
          <p:spPr>
            <a:xfrm>
              <a:off x="9971" y="4069"/>
              <a:ext cx="180" cy="180"/>
            </a:xfrm>
            <a:prstGeom prst="ellipse">
              <a:avLst/>
            </a:prstGeom>
            <a:solidFill>
              <a:srgbClr val="000000"/>
            </a:solidFill>
            <a:ln cap="flat" cmpd="sng" w="2857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55"/>
            <p:cNvSpPr/>
            <p:nvPr/>
          </p:nvSpPr>
          <p:spPr>
            <a:xfrm>
              <a:off x="4991" y="6309"/>
              <a:ext cx="180" cy="180"/>
            </a:xfrm>
            <a:prstGeom prst="ellipse">
              <a:avLst/>
            </a:prstGeom>
            <a:solidFill>
              <a:srgbClr val="000000"/>
            </a:solidFill>
            <a:ln cap="flat" cmpd="sng" w="2857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55"/>
            <p:cNvSpPr txBox="1"/>
            <p:nvPr/>
          </p:nvSpPr>
          <p:spPr>
            <a:xfrm>
              <a:off x="7017" y="2017"/>
              <a:ext cx="1314" cy="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1" name="Google Shape;2081;p55"/>
            <p:cNvSpPr txBox="1"/>
            <p:nvPr/>
          </p:nvSpPr>
          <p:spPr>
            <a:xfrm>
              <a:off x="7017" y="4482"/>
              <a:ext cx="953" cy="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2" name="Google Shape;2082;p55"/>
            <p:cNvSpPr/>
            <p:nvPr/>
          </p:nvSpPr>
          <p:spPr>
            <a:xfrm>
              <a:off x="5247" y="4999"/>
              <a:ext cx="1719" cy="1011"/>
            </a:xfrm>
            <a:custGeom>
              <a:rect b="b" l="l" r="r" t="t"/>
              <a:pathLst>
                <a:path extrusionOk="0" h="382" w="649">
                  <a:moveTo>
                    <a:pt x="0" y="382"/>
                  </a:moveTo>
                  <a:cubicBezTo>
                    <a:pt x="18" y="345"/>
                    <a:pt x="37" y="309"/>
                    <a:pt x="85" y="270"/>
                  </a:cubicBezTo>
                  <a:cubicBezTo>
                    <a:pt x="133" y="231"/>
                    <a:pt x="192" y="194"/>
                    <a:pt x="286" y="149"/>
                  </a:cubicBezTo>
                  <a:cubicBezTo>
                    <a:pt x="380" y="104"/>
                    <a:pt x="514" y="52"/>
                    <a:pt x="649" y="0"/>
                  </a:cubicBezTo>
                </a:path>
              </a:pathLst>
            </a:custGeom>
            <a:noFill/>
            <a:ln cap="flat" cmpd="sng" w="2857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55"/>
            <p:cNvSpPr/>
            <p:nvPr/>
          </p:nvSpPr>
          <p:spPr>
            <a:xfrm>
              <a:off x="7790" y="4250"/>
              <a:ext cx="2066" cy="463"/>
            </a:xfrm>
            <a:custGeom>
              <a:rect b="b" l="l" r="r" t="t"/>
              <a:pathLst>
                <a:path extrusionOk="0" h="175" w="780">
                  <a:moveTo>
                    <a:pt x="0" y="175"/>
                  </a:moveTo>
                  <a:cubicBezTo>
                    <a:pt x="68" y="150"/>
                    <a:pt x="275" y="50"/>
                    <a:pt x="405" y="25"/>
                  </a:cubicBezTo>
                  <a:cubicBezTo>
                    <a:pt x="535" y="0"/>
                    <a:pt x="702" y="25"/>
                    <a:pt x="780" y="25"/>
                  </a:cubicBezTo>
                </a:path>
              </a:pathLst>
            </a:custGeom>
            <a:noFill/>
            <a:ln cap="flat" cmpd="sng" w="2857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55"/>
            <p:cNvSpPr txBox="1"/>
            <p:nvPr/>
          </p:nvSpPr>
          <p:spPr>
            <a:xfrm>
              <a:off x="4044" y="2798"/>
              <a:ext cx="953" cy="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5" name="Google Shape;2085;p55"/>
            <p:cNvSpPr txBox="1"/>
            <p:nvPr/>
          </p:nvSpPr>
          <p:spPr>
            <a:xfrm>
              <a:off x="8804" y="5653"/>
              <a:ext cx="953" cy="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56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Mutual inductance with steady state a.c. analysis</a:t>
            </a:r>
            <a:endParaRPr/>
          </a:p>
        </p:txBody>
      </p:sp>
      <p:sp>
        <p:nvSpPr>
          <p:cNvPr id="2091" name="Google Shape;2091;p56"/>
          <p:cNvSpPr/>
          <p:nvPr/>
        </p:nvSpPr>
        <p:spPr>
          <a:xfrm>
            <a:off x="472594" y="1117288"/>
            <a:ext cx="10924084" cy="49583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86" l="-1729" r="0" t="-13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57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Non-coupled Equivalent circuit of simple coupled circuits</a:t>
            </a:r>
            <a:endParaRPr/>
          </a:p>
        </p:txBody>
      </p:sp>
      <p:sp>
        <p:nvSpPr>
          <p:cNvPr id="2097" name="Google Shape;2097;p57"/>
          <p:cNvSpPr/>
          <p:nvPr/>
        </p:nvSpPr>
        <p:spPr>
          <a:xfrm>
            <a:off x="429715" y="1117288"/>
            <a:ext cx="1135773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mutual coupling is present,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 drops in a particular branch depends 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1569085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Noto Sans Symbols"/>
              <a:buChar char="−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currents in that branch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1569085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Noto Sans Symbols"/>
              <a:buChar char="−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currents in other branch with which coupling exists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69085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Series and parallel equivalents of branch circuits containing mutual coupling cannot be easily implemented. 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8" name="Google Shape;2098;p57"/>
          <p:cNvSpPr/>
          <p:nvPr/>
        </p:nvSpPr>
        <p:spPr>
          <a:xfrm>
            <a:off x="429715" y="5641603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Times New Roman"/>
              <a:buChar char="−"/>
            </a:pPr>
            <a:r>
              <a:rPr lang="en-GB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sometimes be avoided by obtaining a non-coupled equivalent  circuit.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58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(a) Coupled coils being on two arms of a T-junction</a:t>
            </a:r>
            <a:endParaRPr/>
          </a:p>
        </p:txBody>
      </p:sp>
      <p:sp>
        <p:nvSpPr>
          <p:cNvPr id="2104" name="Google Shape;2104;p58"/>
          <p:cNvSpPr/>
          <p:nvPr/>
        </p:nvSpPr>
        <p:spPr>
          <a:xfrm>
            <a:off x="215152" y="1022178"/>
            <a:ext cx="6831106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Apply Kirchoff’s current law: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mark currents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(i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Applying Kirchoff’s voltage law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between PR, and RQ,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5" name="Google Shape;21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9605" y="2900362"/>
            <a:ext cx="23622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58"/>
          <p:cNvSpPr/>
          <p:nvPr/>
        </p:nvSpPr>
        <p:spPr>
          <a:xfrm>
            <a:off x="215152" y="3758329"/>
            <a:ext cx="11779624" cy="298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or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	j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j</a:t>
            </a:r>
            <a:r>
              <a:rPr b="0" i="0" lang="en-GB" sz="3200" u="none" cap="none" strike="noStrike">
                <a:solidFill>
                  <a:srgbClr val="00206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with sinusoidal current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Current i</a:t>
            </a:r>
            <a:r>
              <a:rPr b="0" baseline="-2500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leaves dotted end of L</a:t>
            </a:r>
            <a:r>
              <a:rPr b="0" baseline="-2500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while current i</a:t>
            </a:r>
            <a:r>
              <a:rPr b="0" baseline="-2500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enters dotted end of L</a:t>
            </a:r>
            <a:r>
              <a:rPr b="0" baseline="-2500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sign associated with the mutual inductance is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voltage drop term due to mutual inductance has             opposite sign to that due to self inductance term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and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RQ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= 	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58"/>
          <p:cNvSpPr/>
          <p:nvPr/>
        </p:nvSpPr>
        <p:spPr>
          <a:xfrm>
            <a:off x="4520453" y="3131195"/>
            <a:ext cx="38436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=  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8" name="Google Shape;2108;p58"/>
          <p:cNvGrpSpPr/>
          <p:nvPr/>
        </p:nvGrpSpPr>
        <p:grpSpPr>
          <a:xfrm>
            <a:off x="6466953" y="1391634"/>
            <a:ext cx="5509895" cy="1815631"/>
            <a:chOff x="8277" y="1439"/>
            <a:chExt cx="8133" cy="2248"/>
          </a:xfrm>
        </p:grpSpPr>
        <p:grpSp>
          <p:nvGrpSpPr>
            <p:cNvPr id="2109" name="Google Shape;2109;p58"/>
            <p:cNvGrpSpPr/>
            <p:nvPr/>
          </p:nvGrpSpPr>
          <p:grpSpPr>
            <a:xfrm>
              <a:off x="8523" y="1439"/>
              <a:ext cx="7428" cy="2096"/>
              <a:chOff x="6823" y="3214"/>
              <a:chExt cx="3835" cy="1084"/>
            </a:xfrm>
          </p:grpSpPr>
          <p:grpSp>
            <p:nvGrpSpPr>
              <p:cNvPr id="2110" name="Google Shape;2110;p58"/>
              <p:cNvGrpSpPr/>
              <p:nvPr/>
            </p:nvGrpSpPr>
            <p:grpSpPr>
              <a:xfrm flipH="1" rot="5400000">
                <a:off x="7789" y="3093"/>
                <a:ext cx="136" cy="1106"/>
                <a:chOff x="6232" y="3219"/>
                <a:chExt cx="92" cy="751"/>
              </a:xfrm>
            </p:grpSpPr>
            <p:sp>
              <p:nvSpPr>
                <p:cNvPr id="2111" name="Google Shape;2111;p58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2" name="Google Shape;2112;p58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3" name="Google Shape;2113;p58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4" name="Google Shape;2114;p58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15" name="Google Shape;2115;p58"/>
              <p:cNvCxnSpPr/>
              <p:nvPr/>
            </p:nvCxnSpPr>
            <p:spPr>
              <a:xfrm rot="10800000">
                <a:off x="6823" y="3714"/>
                <a:ext cx="475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6" name="Google Shape;2116;p58"/>
              <p:cNvCxnSpPr/>
              <p:nvPr/>
            </p:nvCxnSpPr>
            <p:spPr>
              <a:xfrm rot="10800000">
                <a:off x="8383" y="3713"/>
                <a:ext cx="715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17" name="Google Shape;2117;p58"/>
              <p:cNvGrpSpPr/>
              <p:nvPr/>
            </p:nvGrpSpPr>
            <p:grpSpPr>
              <a:xfrm flipH="1" rot="5400000">
                <a:off x="9562" y="3093"/>
                <a:ext cx="136" cy="1106"/>
                <a:chOff x="6232" y="3219"/>
                <a:chExt cx="92" cy="751"/>
              </a:xfrm>
            </p:grpSpPr>
            <p:sp>
              <p:nvSpPr>
                <p:cNvPr id="2118" name="Google Shape;2118;p58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9" name="Google Shape;2119;p58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0" name="Google Shape;2120;p58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1" name="Google Shape;2121;p58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571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22" name="Google Shape;2122;p58"/>
              <p:cNvCxnSpPr/>
              <p:nvPr/>
            </p:nvCxnSpPr>
            <p:spPr>
              <a:xfrm rot="10800000">
                <a:off x="10183" y="3713"/>
                <a:ext cx="475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3" name="Google Shape;2123;p58"/>
              <p:cNvCxnSpPr/>
              <p:nvPr/>
            </p:nvCxnSpPr>
            <p:spPr>
              <a:xfrm>
                <a:off x="8738" y="3714"/>
                <a:ext cx="0" cy="584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4" name="Google Shape;2124;p58"/>
              <p:cNvCxnSpPr/>
              <p:nvPr/>
            </p:nvCxnSpPr>
            <p:spPr>
              <a:xfrm>
                <a:off x="6968" y="3714"/>
                <a:ext cx="12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lg" w="lg" type="stealth"/>
              </a:ln>
            </p:spPr>
          </p:cxnSp>
          <p:cxnSp>
            <p:nvCxnSpPr>
              <p:cNvPr id="2125" name="Google Shape;2125;p58"/>
              <p:cNvCxnSpPr/>
              <p:nvPr/>
            </p:nvCxnSpPr>
            <p:spPr>
              <a:xfrm rot="5400000">
                <a:off x="8678" y="3986"/>
                <a:ext cx="12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lg" w="lg" type="stealth"/>
              </a:ln>
            </p:spPr>
          </p:cxnSp>
          <p:cxnSp>
            <p:nvCxnSpPr>
              <p:cNvPr id="2126" name="Google Shape;2126;p58"/>
              <p:cNvCxnSpPr/>
              <p:nvPr/>
            </p:nvCxnSpPr>
            <p:spPr>
              <a:xfrm>
                <a:off x="10397" y="3706"/>
                <a:ext cx="120" cy="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round/>
                <a:headEnd len="med" w="med" type="none"/>
                <a:tailEnd len="lg" w="lg" type="stealth"/>
              </a:ln>
            </p:spPr>
          </p:cxnSp>
          <p:sp>
            <p:nvSpPr>
              <p:cNvPr id="2127" name="Google Shape;2127;p58"/>
              <p:cNvSpPr/>
              <p:nvPr/>
            </p:nvSpPr>
            <p:spPr>
              <a:xfrm>
                <a:off x="9038" y="349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8" name="Google Shape;2128;p58"/>
              <p:cNvSpPr/>
              <p:nvPr/>
            </p:nvSpPr>
            <p:spPr>
              <a:xfrm>
                <a:off x="8400" y="3488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58"/>
              <p:cNvSpPr/>
              <p:nvPr/>
            </p:nvSpPr>
            <p:spPr>
              <a:xfrm>
                <a:off x="8494" y="3309"/>
                <a:ext cx="124" cy="179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0" name="Google Shape;2130;p58"/>
              <p:cNvSpPr/>
              <p:nvPr/>
            </p:nvSpPr>
            <p:spPr>
              <a:xfrm flipH="1">
                <a:off x="8858" y="3338"/>
                <a:ext cx="124" cy="179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381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131;p58"/>
              <p:cNvSpPr txBox="1"/>
              <p:nvPr/>
            </p:nvSpPr>
            <p:spPr>
              <a:xfrm>
                <a:off x="7658" y="32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2" name="Google Shape;2132;p58"/>
              <p:cNvSpPr txBox="1"/>
              <p:nvPr/>
            </p:nvSpPr>
            <p:spPr>
              <a:xfrm>
                <a:off x="9458" y="32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3" name="Google Shape;2133;p58"/>
              <p:cNvSpPr txBox="1"/>
              <p:nvPr/>
            </p:nvSpPr>
            <p:spPr>
              <a:xfrm>
                <a:off x="8585" y="321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8000" spcFirstLastPara="1" rIns="18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2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4" name="Google Shape;2134;p58"/>
              <p:cNvSpPr txBox="1"/>
              <p:nvPr/>
            </p:nvSpPr>
            <p:spPr>
              <a:xfrm>
                <a:off x="6908" y="324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5" name="Google Shape;2135;p58"/>
              <p:cNvSpPr txBox="1"/>
              <p:nvPr/>
            </p:nvSpPr>
            <p:spPr>
              <a:xfrm>
                <a:off x="10298" y="3263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6" name="Google Shape;2136;p58"/>
              <p:cNvSpPr txBox="1"/>
              <p:nvPr/>
            </p:nvSpPr>
            <p:spPr>
              <a:xfrm>
                <a:off x="8858" y="3758"/>
                <a:ext cx="818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GB" sz="3600">
                    <a:solidFill>
                      <a:srgbClr val="00206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−</a:t>
                </a:r>
                <a:r>
                  <a:rPr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</a:t>
                </a:r>
                <a:r>
                  <a:rPr baseline="-25000" lang="en-GB" sz="36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 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137" name="Google Shape;2137;p58"/>
            <p:cNvSpPr txBox="1"/>
            <p:nvPr/>
          </p:nvSpPr>
          <p:spPr>
            <a:xfrm>
              <a:off x="8277" y="2600"/>
              <a:ext cx="697" cy="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8" name="Google Shape;2138;p58"/>
            <p:cNvSpPr txBox="1"/>
            <p:nvPr/>
          </p:nvSpPr>
          <p:spPr>
            <a:xfrm>
              <a:off x="15713" y="2641"/>
              <a:ext cx="697" cy="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9" name="Google Shape;2139;p58"/>
            <p:cNvSpPr txBox="1"/>
            <p:nvPr/>
          </p:nvSpPr>
          <p:spPr>
            <a:xfrm>
              <a:off x="11377" y="3063"/>
              <a:ext cx="697" cy="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59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5" name="Google Shape;2145;p59"/>
          <p:cNvGrpSpPr/>
          <p:nvPr/>
        </p:nvGrpSpPr>
        <p:grpSpPr>
          <a:xfrm>
            <a:off x="7180728" y="1007854"/>
            <a:ext cx="4857977" cy="2671445"/>
            <a:chOff x="8154" y="5816"/>
            <a:chExt cx="8438" cy="4792"/>
          </a:xfrm>
        </p:grpSpPr>
        <p:sp>
          <p:nvSpPr>
            <p:cNvPr id="2146" name="Google Shape;2146;p59"/>
            <p:cNvSpPr txBox="1"/>
            <p:nvPr/>
          </p:nvSpPr>
          <p:spPr>
            <a:xfrm>
              <a:off x="8188" y="7184"/>
              <a:ext cx="756" cy="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7" name="Google Shape;2147;p59"/>
            <p:cNvSpPr txBox="1"/>
            <p:nvPr/>
          </p:nvSpPr>
          <p:spPr>
            <a:xfrm>
              <a:off x="15966" y="7129"/>
              <a:ext cx="626" cy="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8" name="Google Shape;2148;p59"/>
            <p:cNvSpPr txBox="1"/>
            <p:nvPr/>
          </p:nvSpPr>
          <p:spPr>
            <a:xfrm>
              <a:off x="12535" y="9825"/>
              <a:ext cx="656" cy="7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49" name="Google Shape;2149;p59"/>
            <p:cNvGrpSpPr/>
            <p:nvPr/>
          </p:nvGrpSpPr>
          <p:grpSpPr>
            <a:xfrm flipH="1" rot="5400000">
              <a:off x="10267" y="5540"/>
              <a:ext cx="299" cy="2436"/>
              <a:chOff x="6232" y="3219"/>
              <a:chExt cx="92" cy="751"/>
            </a:xfrm>
          </p:grpSpPr>
          <p:sp>
            <p:nvSpPr>
              <p:cNvPr id="2150" name="Google Shape;2150;p59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59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59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59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154" name="Google Shape;2154;p59"/>
            <p:cNvCxnSpPr/>
            <p:nvPr/>
          </p:nvCxnSpPr>
          <p:spPr>
            <a:xfrm rot="10800000">
              <a:off x="8154" y="6907"/>
              <a:ext cx="1045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5" name="Google Shape;2155;p59"/>
            <p:cNvCxnSpPr/>
            <p:nvPr/>
          </p:nvCxnSpPr>
          <p:spPr>
            <a:xfrm rot="10800000">
              <a:off x="11586" y="6905"/>
              <a:ext cx="1574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56" name="Google Shape;2156;p59"/>
            <p:cNvGrpSpPr/>
            <p:nvPr/>
          </p:nvGrpSpPr>
          <p:grpSpPr>
            <a:xfrm flipH="1" rot="5400000">
              <a:off x="14168" y="5540"/>
              <a:ext cx="299" cy="2436"/>
              <a:chOff x="6232" y="3219"/>
              <a:chExt cx="92" cy="751"/>
            </a:xfrm>
          </p:grpSpPr>
          <p:sp>
            <p:nvSpPr>
              <p:cNvPr id="2157" name="Google Shape;2157;p59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59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9" name="Google Shape;2159;p59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0" name="Google Shape;2160;p59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161" name="Google Shape;2161;p59"/>
            <p:cNvCxnSpPr/>
            <p:nvPr/>
          </p:nvCxnSpPr>
          <p:spPr>
            <a:xfrm rot="10800000">
              <a:off x="15547" y="6905"/>
              <a:ext cx="1045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2" name="Google Shape;2162;p59"/>
            <p:cNvCxnSpPr/>
            <p:nvPr/>
          </p:nvCxnSpPr>
          <p:spPr>
            <a:xfrm>
              <a:off x="12367" y="6907"/>
              <a:ext cx="0" cy="128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3" name="Google Shape;2163;p59"/>
            <p:cNvCxnSpPr/>
            <p:nvPr/>
          </p:nvCxnSpPr>
          <p:spPr>
            <a:xfrm>
              <a:off x="8473" y="6872"/>
              <a:ext cx="264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164" name="Google Shape;2164;p59"/>
            <p:cNvCxnSpPr/>
            <p:nvPr/>
          </p:nvCxnSpPr>
          <p:spPr>
            <a:xfrm rot="5400000">
              <a:off x="12235" y="7400"/>
              <a:ext cx="264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165" name="Google Shape;2165;p59"/>
            <p:cNvCxnSpPr/>
            <p:nvPr/>
          </p:nvCxnSpPr>
          <p:spPr>
            <a:xfrm>
              <a:off x="15800" y="6872"/>
              <a:ext cx="264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2166" name="Google Shape;2166;p59"/>
            <p:cNvSpPr txBox="1"/>
            <p:nvPr/>
          </p:nvSpPr>
          <p:spPr>
            <a:xfrm>
              <a:off x="9991" y="5816"/>
              <a:ext cx="792" cy="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7" name="Google Shape;2167;p59"/>
            <p:cNvSpPr txBox="1"/>
            <p:nvPr/>
          </p:nvSpPr>
          <p:spPr>
            <a:xfrm>
              <a:off x="13952" y="5816"/>
              <a:ext cx="792" cy="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8" name="Google Shape;2168;p59"/>
            <p:cNvSpPr txBox="1"/>
            <p:nvPr/>
          </p:nvSpPr>
          <p:spPr>
            <a:xfrm>
              <a:off x="12907" y="8456"/>
              <a:ext cx="792" cy="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9" name="Google Shape;2169;p59"/>
            <p:cNvSpPr txBox="1"/>
            <p:nvPr/>
          </p:nvSpPr>
          <p:spPr>
            <a:xfrm>
              <a:off x="8341" y="5882"/>
              <a:ext cx="792" cy="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0" name="Google Shape;2170;p59"/>
            <p:cNvSpPr txBox="1"/>
            <p:nvPr/>
          </p:nvSpPr>
          <p:spPr>
            <a:xfrm>
              <a:off x="15800" y="5915"/>
              <a:ext cx="792" cy="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1" name="Google Shape;2171;p59"/>
            <p:cNvSpPr txBox="1"/>
            <p:nvPr/>
          </p:nvSpPr>
          <p:spPr>
            <a:xfrm>
              <a:off x="12632" y="7004"/>
              <a:ext cx="1543" cy="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GB" sz="2800">
                  <a:solidFill>
                    <a:srgbClr val="00206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r>
                <a:rPr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</a:t>
              </a:r>
              <a:r>
                <a:rPr baseline="-25000" lang="en-GB" sz="28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172" name="Google Shape;2172;p59"/>
            <p:cNvGrpSpPr/>
            <p:nvPr/>
          </p:nvGrpSpPr>
          <p:grpSpPr>
            <a:xfrm>
              <a:off x="12407" y="8159"/>
              <a:ext cx="262" cy="1652"/>
              <a:chOff x="6232" y="3219"/>
              <a:chExt cx="92" cy="751"/>
            </a:xfrm>
          </p:grpSpPr>
          <p:sp>
            <p:nvSpPr>
              <p:cNvPr id="2173" name="Google Shape;2173;p59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59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5" name="Google Shape;2175;p59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6" name="Google Shape;2176;p59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177" name="Google Shape;2177;p59"/>
            <p:cNvCxnSpPr/>
            <p:nvPr/>
          </p:nvCxnSpPr>
          <p:spPr>
            <a:xfrm>
              <a:off x="12409" y="9811"/>
              <a:ext cx="0" cy="62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8" name="Google Shape;2178;p59"/>
          <p:cNvSpPr/>
          <p:nvPr/>
        </p:nvSpPr>
        <p:spPr>
          <a:xfrm>
            <a:off x="127220" y="771765"/>
            <a:ext cx="11583942" cy="5247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 a non-coupled equivalent circuit,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voltage drops in a branch  should only                        correspond to it’s own currents. 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Re-write the 2 equations as follows to achieve this.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= 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-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i.e.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	=	(L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M)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M p (i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similarly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RQ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= 	(L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M)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M p (i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These two equations would be satisfied with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M,  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M,   and 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 M</a:t>
            </a:r>
            <a:r>
              <a:rPr b="0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60"/>
          <p:cNvSpPr/>
          <p:nvPr/>
        </p:nvSpPr>
        <p:spPr>
          <a:xfrm>
            <a:off x="138086" y="603243"/>
            <a:ext cx="1205391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Transformation is valid, independent of current directions marked.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[Compare with: Expression for parallel equivalent of two resistors is independent of marking of the current directions when deriving.] 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4" name="Google Shape;2184;p60"/>
          <p:cNvGrpSpPr/>
          <p:nvPr/>
        </p:nvGrpSpPr>
        <p:grpSpPr>
          <a:xfrm>
            <a:off x="245745" y="1988185"/>
            <a:ext cx="10262870" cy="2472055"/>
            <a:chOff x="773" y="7574"/>
            <a:chExt cx="8350" cy="2124"/>
          </a:xfrm>
        </p:grpSpPr>
        <p:grpSp>
          <p:nvGrpSpPr>
            <p:cNvPr id="2185" name="Google Shape;2185;p60"/>
            <p:cNvGrpSpPr/>
            <p:nvPr/>
          </p:nvGrpSpPr>
          <p:grpSpPr>
            <a:xfrm>
              <a:off x="773" y="7574"/>
              <a:ext cx="3835" cy="1500"/>
              <a:chOff x="1898" y="13238"/>
              <a:chExt cx="3835" cy="1500"/>
            </a:xfrm>
          </p:grpSpPr>
          <p:grpSp>
            <p:nvGrpSpPr>
              <p:cNvPr id="2186" name="Google Shape;2186;p60"/>
              <p:cNvGrpSpPr/>
              <p:nvPr/>
            </p:nvGrpSpPr>
            <p:grpSpPr>
              <a:xfrm flipH="1" rot="5400000">
                <a:off x="2859" y="13172"/>
                <a:ext cx="136" cy="1107"/>
                <a:chOff x="6232" y="3219"/>
                <a:chExt cx="92" cy="751"/>
              </a:xfrm>
            </p:grpSpPr>
            <p:sp>
              <p:nvSpPr>
                <p:cNvPr id="2187" name="Google Shape;2187;p60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8" name="Google Shape;2188;p60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9" name="Google Shape;2189;p60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0" name="Google Shape;2190;p60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91" name="Google Shape;2191;p60"/>
              <p:cNvCxnSpPr/>
              <p:nvPr/>
            </p:nvCxnSpPr>
            <p:spPr>
              <a:xfrm rot="10800000">
                <a:off x="1898" y="13794"/>
                <a:ext cx="4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2" name="Google Shape;2192;p60"/>
              <p:cNvCxnSpPr/>
              <p:nvPr/>
            </p:nvCxnSpPr>
            <p:spPr>
              <a:xfrm rot="10800000">
                <a:off x="3458" y="13793"/>
                <a:ext cx="71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93" name="Google Shape;2193;p60"/>
              <p:cNvGrpSpPr/>
              <p:nvPr/>
            </p:nvGrpSpPr>
            <p:grpSpPr>
              <a:xfrm flipH="1" rot="5400000">
                <a:off x="4662" y="13172"/>
                <a:ext cx="136" cy="1107"/>
                <a:chOff x="6232" y="3219"/>
                <a:chExt cx="92" cy="751"/>
              </a:xfrm>
            </p:grpSpPr>
            <p:sp>
              <p:nvSpPr>
                <p:cNvPr id="2194" name="Google Shape;2194;p60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5" name="Google Shape;2195;p60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60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7" name="Google Shape;2197;p60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198" name="Google Shape;2198;p60"/>
              <p:cNvCxnSpPr/>
              <p:nvPr/>
            </p:nvCxnSpPr>
            <p:spPr>
              <a:xfrm rot="10800000">
                <a:off x="5258" y="13793"/>
                <a:ext cx="4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9" name="Google Shape;2199;p60"/>
              <p:cNvCxnSpPr/>
              <p:nvPr/>
            </p:nvCxnSpPr>
            <p:spPr>
              <a:xfrm>
                <a:off x="3813" y="13794"/>
                <a:ext cx="0" cy="94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00" name="Google Shape;2200;p60"/>
              <p:cNvSpPr/>
              <p:nvPr/>
            </p:nvSpPr>
            <p:spPr>
              <a:xfrm>
                <a:off x="4113" y="1357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60"/>
              <p:cNvSpPr/>
              <p:nvPr/>
            </p:nvSpPr>
            <p:spPr>
              <a:xfrm>
                <a:off x="3475" y="13568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60"/>
              <p:cNvSpPr/>
              <p:nvPr/>
            </p:nvSpPr>
            <p:spPr>
              <a:xfrm>
                <a:off x="3569" y="13389"/>
                <a:ext cx="124" cy="179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60"/>
              <p:cNvSpPr/>
              <p:nvPr/>
            </p:nvSpPr>
            <p:spPr>
              <a:xfrm flipH="1">
                <a:off x="3933" y="13418"/>
                <a:ext cx="124" cy="179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60"/>
              <p:cNvSpPr txBox="1"/>
              <p:nvPr/>
            </p:nvSpPr>
            <p:spPr>
              <a:xfrm>
                <a:off x="2733" y="1329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5" name="Google Shape;2205;p60"/>
              <p:cNvSpPr txBox="1"/>
              <p:nvPr/>
            </p:nvSpPr>
            <p:spPr>
              <a:xfrm>
                <a:off x="4533" y="13276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6" name="Google Shape;2206;p60"/>
              <p:cNvSpPr txBox="1"/>
              <p:nvPr/>
            </p:nvSpPr>
            <p:spPr>
              <a:xfrm>
                <a:off x="3678" y="132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207" name="Google Shape;2207;p60"/>
            <p:cNvSpPr txBox="1"/>
            <p:nvPr/>
          </p:nvSpPr>
          <p:spPr>
            <a:xfrm>
              <a:off x="4758" y="8463"/>
              <a:ext cx="360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≡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208" name="Google Shape;2208;p60"/>
            <p:cNvGrpSpPr/>
            <p:nvPr/>
          </p:nvGrpSpPr>
          <p:grpSpPr>
            <a:xfrm>
              <a:off x="5288" y="7598"/>
              <a:ext cx="3835" cy="2100"/>
              <a:chOff x="6698" y="12638"/>
              <a:chExt cx="3835" cy="2100"/>
            </a:xfrm>
          </p:grpSpPr>
          <p:grpSp>
            <p:nvGrpSpPr>
              <p:cNvPr id="2209" name="Google Shape;2209;p60"/>
              <p:cNvGrpSpPr/>
              <p:nvPr/>
            </p:nvGrpSpPr>
            <p:grpSpPr>
              <a:xfrm flipH="1" rot="5400000">
                <a:off x="7659" y="12512"/>
                <a:ext cx="136" cy="1107"/>
                <a:chOff x="6232" y="3219"/>
                <a:chExt cx="92" cy="751"/>
              </a:xfrm>
            </p:grpSpPr>
            <p:sp>
              <p:nvSpPr>
                <p:cNvPr id="2210" name="Google Shape;2210;p60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1" name="Google Shape;2211;p60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2" name="Google Shape;2212;p60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3" name="Google Shape;2213;p60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14" name="Google Shape;2214;p60"/>
              <p:cNvCxnSpPr/>
              <p:nvPr/>
            </p:nvCxnSpPr>
            <p:spPr>
              <a:xfrm rot="10800000">
                <a:off x="6698" y="13134"/>
                <a:ext cx="4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5" name="Google Shape;2215;p60"/>
              <p:cNvCxnSpPr/>
              <p:nvPr/>
            </p:nvCxnSpPr>
            <p:spPr>
              <a:xfrm rot="10800000">
                <a:off x="8258" y="13133"/>
                <a:ext cx="71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16" name="Google Shape;2216;p60"/>
              <p:cNvGrpSpPr/>
              <p:nvPr/>
            </p:nvGrpSpPr>
            <p:grpSpPr>
              <a:xfrm flipH="1" rot="5400000">
                <a:off x="9432" y="12512"/>
                <a:ext cx="136" cy="1107"/>
                <a:chOff x="6232" y="3219"/>
                <a:chExt cx="92" cy="751"/>
              </a:xfrm>
            </p:grpSpPr>
            <p:sp>
              <p:nvSpPr>
                <p:cNvPr id="2217" name="Google Shape;2217;p60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8" name="Google Shape;2218;p60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9" name="Google Shape;2219;p60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0" name="Google Shape;2220;p60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21" name="Google Shape;2221;p60"/>
              <p:cNvCxnSpPr/>
              <p:nvPr/>
            </p:nvCxnSpPr>
            <p:spPr>
              <a:xfrm rot="10800000">
                <a:off x="10058" y="13133"/>
                <a:ext cx="4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2" name="Google Shape;2222;p60"/>
              <p:cNvCxnSpPr/>
              <p:nvPr/>
            </p:nvCxnSpPr>
            <p:spPr>
              <a:xfrm>
                <a:off x="8613" y="13134"/>
                <a:ext cx="0" cy="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23" name="Google Shape;2223;p60"/>
              <p:cNvSpPr txBox="1"/>
              <p:nvPr/>
            </p:nvSpPr>
            <p:spPr>
              <a:xfrm>
                <a:off x="7459" y="12638"/>
                <a:ext cx="701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24" name="Google Shape;2224;p60"/>
              <p:cNvSpPr txBox="1"/>
              <p:nvPr/>
            </p:nvSpPr>
            <p:spPr>
              <a:xfrm>
                <a:off x="8858" y="138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225" name="Google Shape;2225;p60"/>
              <p:cNvGrpSpPr/>
              <p:nvPr/>
            </p:nvGrpSpPr>
            <p:grpSpPr>
              <a:xfrm>
                <a:off x="8631" y="13703"/>
                <a:ext cx="119" cy="751"/>
                <a:chOff x="6232" y="3219"/>
                <a:chExt cx="92" cy="751"/>
              </a:xfrm>
            </p:grpSpPr>
            <p:sp>
              <p:nvSpPr>
                <p:cNvPr id="2226" name="Google Shape;2226;p60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7" name="Google Shape;2227;p60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8" name="Google Shape;2228;p60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9" name="Google Shape;2229;p60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30" name="Google Shape;2230;p60"/>
              <p:cNvCxnSpPr/>
              <p:nvPr/>
            </p:nvCxnSpPr>
            <p:spPr>
              <a:xfrm>
                <a:off x="8632" y="14454"/>
                <a:ext cx="0" cy="2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31" name="Google Shape;2231;p60"/>
              <p:cNvSpPr txBox="1"/>
              <p:nvPr/>
            </p:nvSpPr>
            <p:spPr>
              <a:xfrm>
                <a:off x="9117" y="12638"/>
                <a:ext cx="701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 </a:t>
                </a:r>
                <a:r>
                  <a:rPr lang="en-GB" sz="2400">
                    <a:solidFill>
                      <a:srgbClr val="00206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32" name="Google Shape;2232;p60"/>
          <p:cNvSpPr/>
          <p:nvPr/>
        </p:nvSpPr>
        <p:spPr>
          <a:xfrm>
            <a:off x="111192" y="4217295"/>
            <a:ext cx="12053914" cy="2400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Note that L – M appears when the two coils are opposing each other. 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this case the common branch has an added +M appearing on 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like manner, if the two dots were at the further ends, the    equations would be unchanged and the equivalent circuit             would also be unchanged.</a:t>
            </a:r>
            <a:r>
              <a:rPr b="0" i="0" lang="en-GB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7" name="Google Shape;2237;p61"/>
          <p:cNvGrpSpPr/>
          <p:nvPr/>
        </p:nvGrpSpPr>
        <p:grpSpPr>
          <a:xfrm>
            <a:off x="1096028" y="412115"/>
            <a:ext cx="9622790" cy="2376170"/>
            <a:chOff x="893" y="6588"/>
            <a:chExt cx="15154" cy="3742"/>
          </a:xfrm>
        </p:grpSpPr>
        <p:grpSp>
          <p:nvGrpSpPr>
            <p:cNvPr id="2238" name="Google Shape;2238;p61"/>
            <p:cNvGrpSpPr/>
            <p:nvPr/>
          </p:nvGrpSpPr>
          <p:grpSpPr>
            <a:xfrm>
              <a:off x="893" y="6784"/>
              <a:ext cx="6830" cy="3204"/>
              <a:chOff x="1898" y="1958"/>
              <a:chExt cx="3835" cy="1800"/>
            </a:xfrm>
          </p:grpSpPr>
          <p:grpSp>
            <p:nvGrpSpPr>
              <p:cNvPr id="2239" name="Google Shape;2239;p61"/>
              <p:cNvGrpSpPr/>
              <p:nvPr/>
            </p:nvGrpSpPr>
            <p:grpSpPr>
              <a:xfrm flipH="1" rot="5400000">
                <a:off x="2864" y="2193"/>
                <a:ext cx="136" cy="1106"/>
                <a:chOff x="6232" y="3219"/>
                <a:chExt cx="92" cy="751"/>
              </a:xfrm>
            </p:grpSpPr>
            <p:sp>
              <p:nvSpPr>
                <p:cNvPr id="2240" name="Google Shape;2240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1" name="Google Shape;2241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2" name="Google Shape;2242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3" name="Google Shape;2243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44" name="Google Shape;2244;p61"/>
              <p:cNvCxnSpPr/>
              <p:nvPr/>
            </p:nvCxnSpPr>
            <p:spPr>
              <a:xfrm rot="10800000">
                <a:off x="1898" y="2814"/>
                <a:ext cx="4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5" name="Google Shape;2245;p61"/>
              <p:cNvCxnSpPr/>
              <p:nvPr/>
            </p:nvCxnSpPr>
            <p:spPr>
              <a:xfrm rot="10800000">
                <a:off x="3458" y="2813"/>
                <a:ext cx="71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46" name="Google Shape;2246;p61"/>
              <p:cNvGrpSpPr/>
              <p:nvPr/>
            </p:nvGrpSpPr>
            <p:grpSpPr>
              <a:xfrm flipH="1" rot="5400000">
                <a:off x="4667" y="2193"/>
                <a:ext cx="136" cy="1106"/>
                <a:chOff x="6232" y="3219"/>
                <a:chExt cx="92" cy="751"/>
              </a:xfrm>
            </p:grpSpPr>
            <p:sp>
              <p:nvSpPr>
                <p:cNvPr id="2247" name="Google Shape;2247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8" name="Google Shape;2248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9" name="Google Shape;2249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0" name="Google Shape;2250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51" name="Google Shape;2251;p61"/>
              <p:cNvCxnSpPr/>
              <p:nvPr/>
            </p:nvCxnSpPr>
            <p:spPr>
              <a:xfrm rot="10800000">
                <a:off x="5258" y="2813"/>
                <a:ext cx="4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2" name="Google Shape;2252;p61"/>
              <p:cNvCxnSpPr/>
              <p:nvPr/>
            </p:nvCxnSpPr>
            <p:spPr>
              <a:xfrm>
                <a:off x="3813" y="2814"/>
                <a:ext cx="0" cy="94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53" name="Google Shape;2253;p61"/>
              <p:cNvSpPr/>
              <p:nvPr/>
            </p:nvSpPr>
            <p:spPr>
              <a:xfrm>
                <a:off x="5310" y="265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571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61"/>
              <p:cNvSpPr/>
              <p:nvPr/>
            </p:nvSpPr>
            <p:spPr>
              <a:xfrm>
                <a:off x="2258" y="259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571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61"/>
              <p:cNvSpPr/>
              <p:nvPr/>
            </p:nvSpPr>
            <p:spPr>
              <a:xfrm>
                <a:off x="2373" y="2080"/>
                <a:ext cx="1320" cy="515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6" name="Google Shape;2256;p61"/>
              <p:cNvSpPr/>
              <p:nvPr/>
            </p:nvSpPr>
            <p:spPr>
              <a:xfrm flipH="1">
                <a:off x="3933" y="2109"/>
                <a:ext cx="1325" cy="486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7" name="Google Shape;2257;p61"/>
              <p:cNvSpPr txBox="1"/>
              <p:nvPr/>
            </p:nvSpPr>
            <p:spPr>
              <a:xfrm>
                <a:off x="2733" y="23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58" name="Google Shape;2258;p61"/>
              <p:cNvSpPr txBox="1"/>
              <p:nvPr/>
            </p:nvSpPr>
            <p:spPr>
              <a:xfrm>
                <a:off x="4533" y="2296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59" name="Google Shape;2259;p61"/>
              <p:cNvSpPr txBox="1"/>
              <p:nvPr/>
            </p:nvSpPr>
            <p:spPr>
              <a:xfrm>
                <a:off x="3678" y="195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260" name="Google Shape;2260;p61"/>
            <p:cNvSpPr txBox="1"/>
            <p:nvPr/>
          </p:nvSpPr>
          <p:spPr>
            <a:xfrm>
              <a:off x="8144" y="7958"/>
              <a:ext cx="642" cy="8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≡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261" name="Google Shape;2261;p61"/>
            <p:cNvGrpSpPr/>
            <p:nvPr/>
          </p:nvGrpSpPr>
          <p:grpSpPr>
            <a:xfrm>
              <a:off x="9214" y="6588"/>
              <a:ext cx="6833" cy="3742"/>
              <a:chOff x="9214" y="6588"/>
              <a:chExt cx="6833" cy="3742"/>
            </a:xfrm>
          </p:grpSpPr>
          <p:grpSp>
            <p:nvGrpSpPr>
              <p:cNvPr id="2262" name="Google Shape;2262;p61"/>
              <p:cNvGrpSpPr/>
              <p:nvPr/>
            </p:nvGrpSpPr>
            <p:grpSpPr>
              <a:xfrm flipH="1" rot="5400000">
                <a:off x="10930" y="6365"/>
                <a:ext cx="243" cy="1972"/>
                <a:chOff x="6232" y="3219"/>
                <a:chExt cx="92" cy="751"/>
              </a:xfrm>
            </p:grpSpPr>
            <p:sp>
              <p:nvSpPr>
                <p:cNvPr id="2263" name="Google Shape;2263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4" name="Google Shape;2264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5" name="Google Shape;2265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6" name="Google Shape;2266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67" name="Google Shape;2267;p61"/>
              <p:cNvCxnSpPr/>
              <p:nvPr/>
            </p:nvCxnSpPr>
            <p:spPr>
              <a:xfrm rot="10800000">
                <a:off x="9214" y="7472"/>
                <a:ext cx="84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8" name="Google Shape;2268;p61"/>
              <p:cNvCxnSpPr/>
              <p:nvPr/>
            </p:nvCxnSpPr>
            <p:spPr>
              <a:xfrm rot="10800000">
                <a:off x="11994" y="7470"/>
                <a:ext cx="127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69" name="Google Shape;2269;p61"/>
              <p:cNvGrpSpPr/>
              <p:nvPr/>
            </p:nvGrpSpPr>
            <p:grpSpPr>
              <a:xfrm flipH="1" rot="5400000">
                <a:off x="14089" y="6365"/>
                <a:ext cx="243" cy="1972"/>
                <a:chOff x="6232" y="3219"/>
                <a:chExt cx="92" cy="751"/>
              </a:xfrm>
            </p:grpSpPr>
            <p:sp>
              <p:nvSpPr>
                <p:cNvPr id="2270" name="Google Shape;2270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1" name="Google Shape;2271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2" name="Google Shape;2272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3" name="Google Shape;2273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74" name="Google Shape;2274;p61"/>
              <p:cNvCxnSpPr/>
              <p:nvPr/>
            </p:nvCxnSpPr>
            <p:spPr>
              <a:xfrm rot="10800000">
                <a:off x="15201" y="7470"/>
                <a:ext cx="84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5" name="Google Shape;2275;p61"/>
              <p:cNvCxnSpPr/>
              <p:nvPr/>
            </p:nvCxnSpPr>
            <p:spPr>
              <a:xfrm>
                <a:off x="12626" y="7472"/>
                <a:ext cx="0" cy="10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76" name="Google Shape;2276;p61"/>
              <p:cNvSpPr txBox="1"/>
              <p:nvPr/>
            </p:nvSpPr>
            <p:spPr>
              <a:xfrm>
                <a:off x="10570" y="6588"/>
                <a:ext cx="1424" cy="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77" name="Google Shape;2277;p61"/>
              <p:cNvSpPr txBox="1"/>
              <p:nvPr/>
            </p:nvSpPr>
            <p:spPr>
              <a:xfrm>
                <a:off x="13063" y="8726"/>
                <a:ext cx="987" cy="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278" name="Google Shape;2278;p61"/>
              <p:cNvGrpSpPr/>
              <p:nvPr/>
            </p:nvGrpSpPr>
            <p:grpSpPr>
              <a:xfrm>
                <a:off x="12658" y="8481"/>
                <a:ext cx="212" cy="1337"/>
                <a:chOff x="6232" y="3219"/>
                <a:chExt cx="92" cy="751"/>
              </a:xfrm>
            </p:grpSpPr>
            <p:sp>
              <p:nvSpPr>
                <p:cNvPr id="2279" name="Google Shape;2279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0" name="Google Shape;2280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1" name="Google Shape;2281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2" name="Google Shape;2282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83" name="Google Shape;2283;p61"/>
              <p:cNvCxnSpPr/>
              <p:nvPr/>
            </p:nvCxnSpPr>
            <p:spPr>
              <a:xfrm>
                <a:off x="12660" y="9824"/>
                <a:ext cx="0" cy="50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84" name="Google Shape;2284;p61"/>
              <p:cNvSpPr txBox="1"/>
              <p:nvPr/>
            </p:nvSpPr>
            <p:spPr>
              <a:xfrm>
                <a:off x="13524" y="6588"/>
                <a:ext cx="1677" cy="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 </a:t>
                </a: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285" name="Google Shape;2285;p61"/>
          <p:cNvSpPr/>
          <p:nvPr/>
        </p:nvSpPr>
        <p:spPr>
          <a:xfrm>
            <a:off x="230706" y="2463084"/>
            <a:ext cx="11961294" cy="1985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</a:pPr>
            <a:r>
              <a:rPr b="0" i="0" lang="en-GB" sz="35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position of one of the dots is changed, then the two coils would be aiding each other, and the terms can be shown to correspond to L+M with a common term of –M.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6" name="Google Shape;2286;p61"/>
          <p:cNvGrpSpPr/>
          <p:nvPr/>
        </p:nvGrpSpPr>
        <p:grpSpPr>
          <a:xfrm>
            <a:off x="940435" y="4078270"/>
            <a:ext cx="10304145" cy="2465705"/>
            <a:chOff x="322" y="3851"/>
            <a:chExt cx="16227" cy="3883"/>
          </a:xfrm>
        </p:grpSpPr>
        <p:grpSp>
          <p:nvGrpSpPr>
            <p:cNvPr id="2287" name="Google Shape;2287;p61"/>
            <p:cNvGrpSpPr/>
            <p:nvPr/>
          </p:nvGrpSpPr>
          <p:grpSpPr>
            <a:xfrm>
              <a:off x="322" y="3851"/>
              <a:ext cx="7372" cy="3300"/>
              <a:chOff x="1898" y="4658"/>
              <a:chExt cx="3835" cy="1800"/>
            </a:xfrm>
          </p:grpSpPr>
          <p:grpSp>
            <p:nvGrpSpPr>
              <p:cNvPr id="2288" name="Google Shape;2288;p61"/>
              <p:cNvGrpSpPr/>
              <p:nvPr/>
            </p:nvGrpSpPr>
            <p:grpSpPr>
              <a:xfrm flipH="1" rot="5400000">
                <a:off x="2859" y="4892"/>
                <a:ext cx="136" cy="1107"/>
                <a:chOff x="6232" y="3219"/>
                <a:chExt cx="92" cy="751"/>
              </a:xfrm>
            </p:grpSpPr>
            <p:sp>
              <p:nvSpPr>
                <p:cNvPr id="2289" name="Google Shape;2289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0" name="Google Shape;2290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1" name="Google Shape;2291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2" name="Google Shape;2292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293" name="Google Shape;2293;p61"/>
              <p:cNvCxnSpPr/>
              <p:nvPr/>
            </p:nvCxnSpPr>
            <p:spPr>
              <a:xfrm rot="10800000">
                <a:off x="1898" y="5514"/>
                <a:ext cx="475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4" name="Google Shape;2294;p61"/>
              <p:cNvCxnSpPr/>
              <p:nvPr/>
            </p:nvCxnSpPr>
            <p:spPr>
              <a:xfrm rot="10800000">
                <a:off x="3458" y="5513"/>
                <a:ext cx="715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95" name="Google Shape;2295;p61"/>
              <p:cNvGrpSpPr/>
              <p:nvPr/>
            </p:nvGrpSpPr>
            <p:grpSpPr>
              <a:xfrm flipH="1" rot="5400000">
                <a:off x="4662" y="4892"/>
                <a:ext cx="136" cy="1107"/>
                <a:chOff x="6232" y="3219"/>
                <a:chExt cx="92" cy="751"/>
              </a:xfrm>
            </p:grpSpPr>
            <p:sp>
              <p:nvSpPr>
                <p:cNvPr id="2296" name="Google Shape;2296;p61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7" name="Google Shape;2297;p61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8" name="Google Shape;2298;p61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9" name="Google Shape;2299;p61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300" name="Google Shape;2300;p61"/>
              <p:cNvCxnSpPr/>
              <p:nvPr/>
            </p:nvCxnSpPr>
            <p:spPr>
              <a:xfrm rot="10800000">
                <a:off x="5258" y="5513"/>
                <a:ext cx="475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1" name="Google Shape;2301;p61"/>
              <p:cNvCxnSpPr/>
              <p:nvPr/>
            </p:nvCxnSpPr>
            <p:spPr>
              <a:xfrm>
                <a:off x="3813" y="5514"/>
                <a:ext cx="0" cy="944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02" name="Google Shape;2302;p61"/>
              <p:cNvSpPr/>
              <p:nvPr/>
            </p:nvSpPr>
            <p:spPr>
              <a:xfrm>
                <a:off x="5310" y="535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61"/>
              <p:cNvSpPr/>
              <p:nvPr/>
            </p:nvSpPr>
            <p:spPr>
              <a:xfrm>
                <a:off x="3510" y="5295"/>
                <a:ext cx="68" cy="68"/>
              </a:xfrm>
              <a:prstGeom prst="ellipse">
                <a:avLst/>
              </a:prstGeom>
              <a:solidFill>
                <a:srgbClr val="FFFF00"/>
              </a:solidFill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61"/>
              <p:cNvSpPr/>
              <p:nvPr/>
            </p:nvSpPr>
            <p:spPr>
              <a:xfrm>
                <a:off x="3578" y="4839"/>
                <a:ext cx="595" cy="441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61"/>
              <p:cNvSpPr/>
              <p:nvPr/>
            </p:nvSpPr>
            <p:spPr>
              <a:xfrm flipH="1">
                <a:off x="4462" y="4854"/>
                <a:ext cx="796" cy="441"/>
              </a:xfrm>
              <a:custGeom>
                <a:rect b="b" l="l" r="r" t="t"/>
                <a:pathLst>
                  <a:path extrusionOk="0" h="382" w="649">
                    <a:moveTo>
                      <a:pt x="0" y="382"/>
                    </a:moveTo>
                    <a:cubicBezTo>
                      <a:pt x="18" y="345"/>
                      <a:pt x="37" y="309"/>
                      <a:pt x="85" y="270"/>
                    </a:cubicBezTo>
                    <a:cubicBezTo>
                      <a:pt x="133" y="231"/>
                      <a:pt x="192" y="194"/>
                      <a:pt x="286" y="149"/>
                    </a:cubicBezTo>
                    <a:cubicBezTo>
                      <a:pt x="380" y="104"/>
                      <a:pt x="514" y="52"/>
                      <a:pt x="649" y="0"/>
                    </a:cubicBezTo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6" name="Google Shape;2306;p61"/>
              <p:cNvSpPr txBox="1"/>
              <p:nvPr/>
            </p:nvSpPr>
            <p:spPr>
              <a:xfrm>
                <a:off x="2733" y="50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7" name="Google Shape;2307;p61"/>
              <p:cNvSpPr txBox="1"/>
              <p:nvPr/>
            </p:nvSpPr>
            <p:spPr>
              <a:xfrm>
                <a:off x="4533" y="4996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08" name="Google Shape;2308;p61"/>
              <p:cNvSpPr txBox="1"/>
              <p:nvPr/>
            </p:nvSpPr>
            <p:spPr>
              <a:xfrm>
                <a:off x="4178" y="465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309" name="Google Shape;2309;p61"/>
            <p:cNvSpPr txBox="1"/>
            <p:nvPr/>
          </p:nvSpPr>
          <p:spPr>
            <a:xfrm>
              <a:off x="8406" y="4903"/>
              <a:ext cx="692" cy="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≡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310" name="Google Shape;2310;p61"/>
            <p:cNvGrpSpPr/>
            <p:nvPr/>
          </p:nvGrpSpPr>
          <p:grpSpPr>
            <a:xfrm flipH="1" rot="5400000">
              <a:off x="11029" y="3605"/>
              <a:ext cx="249" cy="2128"/>
              <a:chOff x="6232" y="3219"/>
              <a:chExt cx="92" cy="751"/>
            </a:xfrm>
          </p:grpSpPr>
          <p:sp>
            <p:nvSpPr>
              <p:cNvPr id="2311" name="Google Shape;2311;p61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61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61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4" name="Google Shape;2314;p61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15" name="Google Shape;2315;p61"/>
            <p:cNvCxnSpPr/>
            <p:nvPr/>
          </p:nvCxnSpPr>
          <p:spPr>
            <a:xfrm rot="10800000">
              <a:off x="9177" y="4793"/>
              <a:ext cx="913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6" name="Google Shape;2316;p61"/>
            <p:cNvCxnSpPr/>
            <p:nvPr/>
          </p:nvCxnSpPr>
          <p:spPr>
            <a:xfrm rot="10800000">
              <a:off x="12176" y="4792"/>
              <a:ext cx="1374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317" name="Google Shape;2317;p61"/>
            <p:cNvGrpSpPr/>
            <p:nvPr/>
          </p:nvGrpSpPr>
          <p:grpSpPr>
            <a:xfrm flipH="1" rot="5400000">
              <a:off x="14437" y="3605"/>
              <a:ext cx="249" cy="2128"/>
              <a:chOff x="6232" y="3219"/>
              <a:chExt cx="92" cy="751"/>
            </a:xfrm>
          </p:grpSpPr>
          <p:sp>
            <p:nvSpPr>
              <p:cNvPr id="2318" name="Google Shape;2318;p61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61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61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61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22" name="Google Shape;2322;p61"/>
            <p:cNvCxnSpPr/>
            <p:nvPr/>
          </p:nvCxnSpPr>
          <p:spPr>
            <a:xfrm rot="10800000">
              <a:off x="15636" y="4792"/>
              <a:ext cx="913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3" name="Google Shape;2323;p61"/>
            <p:cNvCxnSpPr/>
            <p:nvPr/>
          </p:nvCxnSpPr>
          <p:spPr>
            <a:xfrm>
              <a:off x="12858" y="4793"/>
              <a:ext cx="0" cy="1071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4" name="Google Shape;2324;p61"/>
            <p:cNvSpPr txBox="1"/>
            <p:nvPr/>
          </p:nvSpPr>
          <p:spPr>
            <a:xfrm>
              <a:off x="10640" y="3884"/>
              <a:ext cx="1578" cy="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5" name="Google Shape;2325;p61"/>
            <p:cNvSpPr txBox="1"/>
            <p:nvPr/>
          </p:nvSpPr>
          <p:spPr>
            <a:xfrm>
              <a:off x="13329" y="6084"/>
              <a:ext cx="932" cy="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326" name="Google Shape;2326;p61"/>
            <p:cNvGrpSpPr/>
            <p:nvPr/>
          </p:nvGrpSpPr>
          <p:grpSpPr>
            <a:xfrm>
              <a:off x="12893" y="5837"/>
              <a:ext cx="229" cy="1376"/>
              <a:chOff x="6232" y="3219"/>
              <a:chExt cx="92" cy="751"/>
            </a:xfrm>
          </p:grpSpPr>
          <p:sp>
            <p:nvSpPr>
              <p:cNvPr id="2327" name="Google Shape;2327;p61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61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61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0" name="Google Shape;2330;p61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31" name="Google Shape;2331;p61"/>
            <p:cNvCxnSpPr/>
            <p:nvPr/>
          </p:nvCxnSpPr>
          <p:spPr>
            <a:xfrm>
              <a:off x="12895" y="7213"/>
              <a:ext cx="0" cy="521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32" name="Google Shape;2332;p61"/>
            <p:cNvSpPr txBox="1"/>
            <p:nvPr/>
          </p:nvSpPr>
          <p:spPr>
            <a:xfrm>
              <a:off x="13827" y="3884"/>
              <a:ext cx="1799" cy="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33" name="Google Shape;2333;p61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62"/>
          <p:cNvSpPr txBox="1"/>
          <p:nvPr>
            <p:ph type="title"/>
          </p:nvPr>
        </p:nvSpPr>
        <p:spPr>
          <a:xfrm>
            <a:off x="429715" y="526967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Example 5</a:t>
            </a:r>
            <a:endParaRPr/>
          </a:p>
        </p:txBody>
      </p:sp>
      <p:grpSp>
        <p:nvGrpSpPr>
          <p:cNvPr id="2339" name="Google Shape;2339;p62"/>
          <p:cNvGrpSpPr/>
          <p:nvPr/>
        </p:nvGrpSpPr>
        <p:grpSpPr>
          <a:xfrm>
            <a:off x="526121" y="1224804"/>
            <a:ext cx="7115413" cy="2674008"/>
            <a:chOff x="2568" y="3639"/>
            <a:chExt cx="4560" cy="1695"/>
          </a:xfrm>
        </p:grpSpPr>
        <p:grpSp>
          <p:nvGrpSpPr>
            <p:cNvPr id="2340" name="Google Shape;2340;p62"/>
            <p:cNvGrpSpPr/>
            <p:nvPr/>
          </p:nvGrpSpPr>
          <p:grpSpPr>
            <a:xfrm>
              <a:off x="2568" y="3639"/>
              <a:ext cx="4560" cy="1695"/>
              <a:chOff x="1658" y="7418"/>
              <a:chExt cx="4560" cy="1695"/>
            </a:xfrm>
          </p:grpSpPr>
          <p:grpSp>
            <p:nvGrpSpPr>
              <p:cNvPr id="2341" name="Google Shape;2341;p62"/>
              <p:cNvGrpSpPr/>
              <p:nvPr/>
            </p:nvGrpSpPr>
            <p:grpSpPr>
              <a:xfrm>
                <a:off x="2495" y="7731"/>
                <a:ext cx="1083" cy="271"/>
                <a:chOff x="1658" y="2138"/>
                <a:chExt cx="1440" cy="360"/>
              </a:xfrm>
            </p:grpSpPr>
            <p:cxnSp>
              <p:nvCxnSpPr>
                <p:cNvPr id="2342" name="Google Shape;2342;p62"/>
                <p:cNvCxnSpPr/>
                <p:nvPr/>
              </p:nvCxnSpPr>
              <p:spPr>
                <a:xfrm>
                  <a:off x="165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2343" name="Google Shape;2343;p62"/>
                <p:cNvGrpSpPr/>
                <p:nvPr/>
              </p:nvGrpSpPr>
              <p:grpSpPr>
                <a:xfrm>
                  <a:off x="2018" y="2138"/>
                  <a:ext cx="720" cy="360"/>
                  <a:chOff x="2018" y="2138"/>
                  <a:chExt cx="1200" cy="357"/>
                </a:xfrm>
              </p:grpSpPr>
              <p:cxnSp>
                <p:nvCxnSpPr>
                  <p:cNvPr id="2344" name="Google Shape;2344;p62"/>
                  <p:cNvCxnSpPr/>
                  <p:nvPr/>
                </p:nvCxnSpPr>
                <p:spPr>
                  <a:xfrm flipH="1" rot="10800000">
                    <a:off x="201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45" name="Google Shape;2345;p62"/>
                  <p:cNvCxnSpPr/>
                  <p:nvPr/>
                </p:nvCxnSpPr>
                <p:spPr>
                  <a:xfrm rot="10800000">
                    <a:off x="309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46" name="Google Shape;2346;p62"/>
                  <p:cNvCxnSpPr/>
                  <p:nvPr/>
                </p:nvCxnSpPr>
                <p:spPr>
                  <a:xfrm rot="10800000">
                    <a:off x="212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47" name="Google Shape;2347;p62"/>
                  <p:cNvCxnSpPr/>
                  <p:nvPr/>
                </p:nvCxnSpPr>
                <p:spPr>
                  <a:xfrm flipH="1" rot="10800000">
                    <a:off x="238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48" name="Google Shape;2348;p62"/>
                  <p:cNvCxnSpPr/>
                  <p:nvPr/>
                </p:nvCxnSpPr>
                <p:spPr>
                  <a:xfrm rot="10800000">
                    <a:off x="260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49" name="Google Shape;2349;p62"/>
                  <p:cNvCxnSpPr/>
                  <p:nvPr/>
                </p:nvCxnSpPr>
                <p:spPr>
                  <a:xfrm flipH="1" rot="10800000">
                    <a:off x="286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2350" name="Google Shape;2350;p62"/>
                <p:cNvCxnSpPr/>
                <p:nvPr/>
              </p:nvCxnSpPr>
              <p:spPr>
                <a:xfrm>
                  <a:off x="273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351" name="Google Shape;2351;p62"/>
              <p:cNvGrpSpPr/>
              <p:nvPr/>
            </p:nvGrpSpPr>
            <p:grpSpPr>
              <a:xfrm flipH="1" rot="5400000">
                <a:off x="3908" y="7433"/>
                <a:ext cx="92" cy="751"/>
                <a:chOff x="6232" y="3219"/>
                <a:chExt cx="92" cy="751"/>
              </a:xfrm>
            </p:grpSpPr>
            <p:sp>
              <p:nvSpPr>
                <p:cNvPr id="2352" name="Google Shape;2352;p62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3" name="Google Shape;2353;p62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4" name="Google Shape;2354;p62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5" name="Google Shape;2355;p62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56" name="Google Shape;2356;p62"/>
              <p:cNvSpPr txBox="1"/>
              <p:nvPr/>
            </p:nvSpPr>
            <p:spPr>
              <a:xfrm>
                <a:off x="3849" y="7460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357" name="Google Shape;2357;p62"/>
              <p:cNvGrpSpPr/>
              <p:nvPr/>
            </p:nvGrpSpPr>
            <p:grpSpPr>
              <a:xfrm rot="-5400000">
                <a:off x="3965" y="8321"/>
                <a:ext cx="1245" cy="339"/>
                <a:chOff x="6218" y="1958"/>
                <a:chExt cx="1320" cy="360"/>
              </a:xfrm>
            </p:grpSpPr>
            <p:cxnSp>
              <p:nvCxnSpPr>
                <p:cNvPr id="2358" name="Google Shape;2358;p62"/>
                <p:cNvCxnSpPr/>
                <p:nvPr/>
              </p:nvCxnSpPr>
              <p:spPr>
                <a:xfrm>
                  <a:off x="6218" y="2138"/>
                  <a:ext cx="6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59" name="Google Shape;2359;p62"/>
                <p:cNvCxnSpPr/>
                <p:nvPr/>
              </p:nvCxnSpPr>
              <p:spPr>
                <a:xfrm>
                  <a:off x="6938" y="2138"/>
                  <a:ext cx="6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0" name="Google Shape;2360;p62"/>
                <p:cNvCxnSpPr/>
                <p:nvPr/>
              </p:nvCxnSpPr>
              <p:spPr>
                <a:xfrm>
                  <a:off x="6818" y="1958"/>
                  <a:ext cx="0" cy="36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1" name="Google Shape;2361;p62"/>
                <p:cNvCxnSpPr/>
                <p:nvPr/>
              </p:nvCxnSpPr>
              <p:spPr>
                <a:xfrm>
                  <a:off x="6938" y="1958"/>
                  <a:ext cx="0" cy="36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362" name="Google Shape;2362;p62"/>
              <p:cNvGrpSpPr/>
              <p:nvPr/>
            </p:nvGrpSpPr>
            <p:grpSpPr>
              <a:xfrm>
                <a:off x="2327" y="8331"/>
                <a:ext cx="363" cy="272"/>
                <a:chOff x="4778" y="6098"/>
                <a:chExt cx="2880" cy="1440"/>
              </a:xfrm>
            </p:grpSpPr>
            <p:sp>
              <p:nvSpPr>
                <p:cNvPr id="2363" name="Google Shape;2363;p62"/>
                <p:cNvSpPr/>
                <p:nvPr/>
              </p:nvSpPr>
              <p:spPr>
                <a:xfrm flipH="1">
                  <a:off x="4778" y="6098"/>
                  <a:ext cx="1439" cy="720"/>
                </a:xfrm>
                <a:custGeom>
                  <a:rect b="b" l="l" r="r" t="t"/>
                  <a:pathLst>
                    <a:path extrusionOk="0" fill="none" h="21600" w="43195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extrusionOk="0" h="21600" w="43195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4" name="Google Shape;2364;p62"/>
                <p:cNvSpPr/>
                <p:nvPr/>
              </p:nvSpPr>
              <p:spPr>
                <a:xfrm rot="10800000">
                  <a:off x="6219" y="6818"/>
                  <a:ext cx="1439" cy="720"/>
                </a:xfrm>
                <a:custGeom>
                  <a:rect b="b" l="l" r="r" t="t"/>
                  <a:pathLst>
                    <a:path extrusionOk="0" fill="none" h="21600" w="43195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</a:path>
                    <a:path extrusionOk="0" h="21600" w="43195">
                      <a:moveTo>
                        <a:pt x="-1" y="21148"/>
                      </a:moveTo>
                      <a:cubicBezTo>
                        <a:pt x="245" y="9397"/>
                        <a:pt x="9841" y="0"/>
                        <a:pt x="21595" y="0"/>
                      </a:cubicBezTo>
                      <a:cubicBezTo>
                        <a:pt x="33524" y="0"/>
                        <a:pt x="43195" y="9670"/>
                        <a:pt x="43195" y="21600"/>
                      </a:cubicBezTo>
                      <a:lnTo>
                        <a:pt x="21595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65" name="Google Shape;2365;p62"/>
              <p:cNvSpPr/>
              <p:nvPr/>
            </p:nvSpPr>
            <p:spPr>
              <a:xfrm>
                <a:off x="2210" y="8183"/>
                <a:ext cx="600" cy="600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66" name="Google Shape;2366;p62"/>
              <p:cNvCxnSpPr/>
              <p:nvPr/>
            </p:nvCxnSpPr>
            <p:spPr>
              <a:xfrm>
                <a:off x="2030" y="8183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2367" name="Google Shape;2367;p62"/>
              <p:cNvCxnSpPr/>
              <p:nvPr/>
            </p:nvCxnSpPr>
            <p:spPr>
              <a:xfrm rot="10800000">
                <a:off x="2509" y="7867"/>
                <a:ext cx="0" cy="31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8" name="Google Shape;2368;p62"/>
              <p:cNvCxnSpPr/>
              <p:nvPr/>
            </p:nvCxnSpPr>
            <p:spPr>
              <a:xfrm rot="10800000">
                <a:off x="2510" y="8797"/>
                <a:ext cx="0" cy="31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9" name="Google Shape;2369;p62"/>
              <p:cNvCxnSpPr/>
              <p:nvPr/>
            </p:nvCxnSpPr>
            <p:spPr>
              <a:xfrm>
                <a:off x="4329" y="7868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370" name="Google Shape;2370;p62"/>
              <p:cNvGrpSpPr/>
              <p:nvPr/>
            </p:nvGrpSpPr>
            <p:grpSpPr>
              <a:xfrm>
                <a:off x="4535" y="7733"/>
                <a:ext cx="1083" cy="271"/>
                <a:chOff x="1658" y="2138"/>
                <a:chExt cx="1440" cy="360"/>
              </a:xfrm>
            </p:grpSpPr>
            <p:cxnSp>
              <p:nvCxnSpPr>
                <p:cNvPr id="2371" name="Google Shape;2371;p62"/>
                <p:cNvCxnSpPr/>
                <p:nvPr/>
              </p:nvCxnSpPr>
              <p:spPr>
                <a:xfrm>
                  <a:off x="165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2372" name="Google Shape;2372;p62"/>
                <p:cNvGrpSpPr/>
                <p:nvPr/>
              </p:nvGrpSpPr>
              <p:grpSpPr>
                <a:xfrm>
                  <a:off x="2018" y="2138"/>
                  <a:ext cx="720" cy="360"/>
                  <a:chOff x="2018" y="2138"/>
                  <a:chExt cx="1200" cy="357"/>
                </a:xfrm>
              </p:grpSpPr>
              <p:cxnSp>
                <p:nvCxnSpPr>
                  <p:cNvPr id="2373" name="Google Shape;2373;p62"/>
                  <p:cNvCxnSpPr/>
                  <p:nvPr/>
                </p:nvCxnSpPr>
                <p:spPr>
                  <a:xfrm flipH="1" rot="10800000">
                    <a:off x="201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74" name="Google Shape;2374;p62"/>
                  <p:cNvCxnSpPr/>
                  <p:nvPr/>
                </p:nvCxnSpPr>
                <p:spPr>
                  <a:xfrm rot="10800000">
                    <a:off x="3098" y="2138"/>
                    <a:ext cx="120" cy="18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75" name="Google Shape;2375;p62"/>
                  <p:cNvCxnSpPr/>
                  <p:nvPr/>
                </p:nvCxnSpPr>
                <p:spPr>
                  <a:xfrm rot="10800000">
                    <a:off x="212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76" name="Google Shape;2376;p62"/>
                  <p:cNvCxnSpPr/>
                  <p:nvPr/>
                </p:nvCxnSpPr>
                <p:spPr>
                  <a:xfrm flipH="1" rot="10800000">
                    <a:off x="238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77" name="Google Shape;2377;p62"/>
                  <p:cNvCxnSpPr/>
                  <p:nvPr/>
                </p:nvCxnSpPr>
                <p:spPr>
                  <a:xfrm rot="10800000">
                    <a:off x="2605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78" name="Google Shape;2378;p62"/>
                  <p:cNvCxnSpPr/>
                  <p:nvPr/>
                </p:nvCxnSpPr>
                <p:spPr>
                  <a:xfrm flipH="1" rot="10800000">
                    <a:off x="2860" y="2138"/>
                    <a:ext cx="238" cy="35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2379" name="Google Shape;2379;p62"/>
                <p:cNvCxnSpPr/>
                <p:nvPr/>
              </p:nvCxnSpPr>
              <p:spPr>
                <a:xfrm>
                  <a:off x="2738" y="2318"/>
                  <a:ext cx="36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380" name="Google Shape;2380;p62"/>
              <p:cNvGrpSpPr/>
              <p:nvPr/>
            </p:nvGrpSpPr>
            <p:grpSpPr>
              <a:xfrm>
                <a:off x="5633" y="8047"/>
                <a:ext cx="92" cy="751"/>
                <a:chOff x="6232" y="3219"/>
                <a:chExt cx="92" cy="751"/>
              </a:xfrm>
            </p:grpSpPr>
            <p:sp>
              <p:nvSpPr>
                <p:cNvPr id="2381" name="Google Shape;2381;p62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2" name="Google Shape;2382;p62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3" name="Google Shape;2383;p62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4" name="Google Shape;2384;p62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85" name="Google Shape;2385;p62"/>
              <p:cNvSpPr txBox="1"/>
              <p:nvPr/>
            </p:nvSpPr>
            <p:spPr>
              <a:xfrm>
                <a:off x="5858" y="825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386" name="Google Shape;2386;p62"/>
              <p:cNvCxnSpPr/>
              <p:nvPr/>
            </p:nvCxnSpPr>
            <p:spPr>
              <a:xfrm>
                <a:off x="5618" y="7870"/>
                <a:ext cx="0" cy="17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7" name="Google Shape;2387;p62"/>
              <p:cNvCxnSpPr/>
              <p:nvPr/>
            </p:nvCxnSpPr>
            <p:spPr>
              <a:xfrm>
                <a:off x="2523" y="9113"/>
                <a:ext cx="312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8" name="Google Shape;2388;p62"/>
              <p:cNvCxnSpPr/>
              <p:nvPr/>
            </p:nvCxnSpPr>
            <p:spPr>
              <a:xfrm>
                <a:off x="5633" y="8801"/>
                <a:ext cx="0" cy="31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89" name="Google Shape;2389;p62"/>
              <p:cNvSpPr txBox="1"/>
              <p:nvPr/>
            </p:nvSpPr>
            <p:spPr>
              <a:xfrm>
                <a:off x="2978" y="7430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r>
                  <a:rPr baseline="-25000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0" name="Google Shape;2390;p62"/>
              <p:cNvSpPr txBox="1"/>
              <p:nvPr/>
            </p:nvSpPr>
            <p:spPr>
              <a:xfrm>
                <a:off x="4898" y="741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</a:t>
                </a:r>
                <a:r>
                  <a:rPr baseline="-25000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1" name="Google Shape;2391;p62"/>
              <p:cNvSpPr txBox="1"/>
              <p:nvPr/>
            </p:nvSpPr>
            <p:spPr>
              <a:xfrm>
                <a:off x="4058" y="825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2" name="Google Shape;2392;p62"/>
              <p:cNvSpPr txBox="1"/>
              <p:nvPr/>
            </p:nvSpPr>
            <p:spPr>
              <a:xfrm>
                <a:off x="1658" y="825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393" name="Google Shape;2393;p62"/>
            <p:cNvSpPr/>
            <p:nvPr/>
          </p:nvSpPr>
          <p:spPr>
            <a:xfrm>
              <a:off x="4540" y="4140"/>
              <a:ext cx="68" cy="68"/>
            </a:xfrm>
            <a:prstGeom prst="ellipse">
              <a:avLst/>
            </a:prstGeom>
            <a:solidFill>
              <a:srgbClr val="C000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62"/>
            <p:cNvSpPr/>
            <p:nvPr/>
          </p:nvSpPr>
          <p:spPr>
            <a:xfrm>
              <a:off x="6408" y="4984"/>
              <a:ext cx="68" cy="68"/>
            </a:xfrm>
            <a:prstGeom prst="ellipse">
              <a:avLst/>
            </a:prstGeom>
            <a:solidFill>
              <a:srgbClr val="C000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62"/>
            <p:cNvSpPr txBox="1"/>
            <p:nvPr/>
          </p:nvSpPr>
          <p:spPr>
            <a:xfrm>
              <a:off x="5688" y="4215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6" name="Google Shape;2396;p62"/>
            <p:cNvSpPr/>
            <p:nvPr/>
          </p:nvSpPr>
          <p:spPr>
            <a:xfrm>
              <a:off x="4670" y="4209"/>
              <a:ext cx="996" cy="217"/>
            </a:xfrm>
            <a:custGeom>
              <a:rect b="b" l="l" r="r" t="t"/>
              <a:pathLst>
                <a:path extrusionOk="0" fill="none" h="21600" w="19693">
                  <a:moveTo>
                    <a:pt x="0" y="0"/>
                  </a:moveTo>
                  <a:cubicBezTo>
                    <a:pt x="8495" y="0"/>
                    <a:pt x="16202" y="4980"/>
                    <a:pt x="19692" y="12726"/>
                  </a:cubicBezTo>
                </a:path>
                <a:path extrusionOk="0" h="21600" w="19693">
                  <a:moveTo>
                    <a:pt x="0" y="0"/>
                  </a:moveTo>
                  <a:cubicBezTo>
                    <a:pt x="8495" y="0"/>
                    <a:pt x="16202" y="4980"/>
                    <a:pt x="19692" y="1272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62"/>
            <p:cNvSpPr/>
            <p:nvPr/>
          </p:nvSpPr>
          <p:spPr>
            <a:xfrm>
              <a:off x="5613" y="4487"/>
              <a:ext cx="787" cy="737"/>
            </a:xfrm>
            <a:custGeom>
              <a:rect b="b" l="l" r="r" t="t"/>
              <a:pathLst>
                <a:path extrusionOk="0" fill="none" h="19620" w="19693">
                  <a:moveTo>
                    <a:pt x="9033" y="-1"/>
                  </a:moveTo>
                  <a:cubicBezTo>
                    <a:pt x="13766" y="2178"/>
                    <a:pt x="17552" y="5995"/>
                    <a:pt x="19692" y="10746"/>
                  </a:cubicBezTo>
                </a:path>
                <a:path extrusionOk="0" h="19620" w="19693">
                  <a:moveTo>
                    <a:pt x="9033" y="-1"/>
                  </a:moveTo>
                  <a:cubicBezTo>
                    <a:pt x="13766" y="2178"/>
                    <a:pt x="17552" y="5995"/>
                    <a:pt x="19692" y="10746"/>
                  </a:cubicBezTo>
                  <a:lnTo>
                    <a:pt x="0" y="19620"/>
                  </a:lnTo>
                  <a:close/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62"/>
            <p:cNvSpPr txBox="1"/>
            <p:nvPr/>
          </p:nvSpPr>
          <p:spPr>
            <a:xfrm>
              <a:off x="5448" y="3711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99" name="Google Shape;2399;p62"/>
          <p:cNvGrpSpPr/>
          <p:nvPr/>
        </p:nvGrpSpPr>
        <p:grpSpPr>
          <a:xfrm>
            <a:off x="6537508" y="2924386"/>
            <a:ext cx="5659755" cy="2238375"/>
            <a:chOff x="7771" y="629"/>
            <a:chExt cx="8499" cy="3161"/>
          </a:xfrm>
        </p:grpSpPr>
        <p:grpSp>
          <p:nvGrpSpPr>
            <p:cNvPr id="2400" name="Google Shape;2400;p62"/>
            <p:cNvGrpSpPr/>
            <p:nvPr/>
          </p:nvGrpSpPr>
          <p:grpSpPr>
            <a:xfrm>
              <a:off x="7771" y="629"/>
              <a:ext cx="8499" cy="3161"/>
              <a:chOff x="2568" y="3579"/>
              <a:chExt cx="4560" cy="1755"/>
            </a:xfrm>
          </p:grpSpPr>
          <p:grpSp>
            <p:nvGrpSpPr>
              <p:cNvPr id="2401" name="Google Shape;2401;p62"/>
              <p:cNvGrpSpPr/>
              <p:nvPr/>
            </p:nvGrpSpPr>
            <p:grpSpPr>
              <a:xfrm>
                <a:off x="2568" y="3579"/>
                <a:ext cx="4560" cy="1755"/>
                <a:chOff x="1658" y="7358"/>
                <a:chExt cx="4560" cy="1755"/>
              </a:xfrm>
            </p:grpSpPr>
            <p:grpSp>
              <p:nvGrpSpPr>
                <p:cNvPr id="2402" name="Google Shape;2402;p62"/>
                <p:cNvGrpSpPr/>
                <p:nvPr/>
              </p:nvGrpSpPr>
              <p:grpSpPr>
                <a:xfrm>
                  <a:off x="2495" y="7731"/>
                  <a:ext cx="1083" cy="271"/>
                  <a:chOff x="1658" y="2138"/>
                  <a:chExt cx="1440" cy="360"/>
                </a:xfrm>
              </p:grpSpPr>
              <p:cxnSp>
                <p:nvCxnSpPr>
                  <p:cNvPr id="2403" name="Google Shape;2403;p62"/>
                  <p:cNvCxnSpPr/>
                  <p:nvPr/>
                </p:nvCxnSpPr>
                <p:spPr>
                  <a:xfrm>
                    <a:off x="1658" y="231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404" name="Google Shape;2404;p62"/>
                  <p:cNvGrpSpPr/>
                  <p:nvPr/>
                </p:nvGrpSpPr>
                <p:grpSpPr>
                  <a:xfrm>
                    <a:off x="2018" y="2138"/>
                    <a:ext cx="720" cy="360"/>
                    <a:chOff x="2018" y="2138"/>
                    <a:chExt cx="1200" cy="357"/>
                  </a:xfrm>
                </p:grpSpPr>
                <p:cxnSp>
                  <p:nvCxnSpPr>
                    <p:cNvPr id="2405" name="Google Shape;2405;p62"/>
                    <p:cNvCxnSpPr/>
                    <p:nvPr/>
                  </p:nvCxnSpPr>
                  <p:spPr>
                    <a:xfrm flipH="1" rot="10800000">
                      <a:off x="2018" y="2138"/>
                      <a:ext cx="120" cy="18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06" name="Google Shape;2406;p62"/>
                    <p:cNvCxnSpPr/>
                    <p:nvPr/>
                  </p:nvCxnSpPr>
                  <p:spPr>
                    <a:xfrm rot="10800000">
                      <a:off x="3098" y="2138"/>
                      <a:ext cx="120" cy="18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07" name="Google Shape;2407;p62"/>
                    <p:cNvCxnSpPr/>
                    <p:nvPr/>
                  </p:nvCxnSpPr>
                  <p:spPr>
                    <a:xfrm rot="10800000">
                      <a:off x="2125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08" name="Google Shape;2408;p62"/>
                    <p:cNvCxnSpPr/>
                    <p:nvPr/>
                  </p:nvCxnSpPr>
                  <p:spPr>
                    <a:xfrm flipH="1" rot="10800000">
                      <a:off x="2380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09" name="Google Shape;2409;p62"/>
                    <p:cNvCxnSpPr/>
                    <p:nvPr/>
                  </p:nvCxnSpPr>
                  <p:spPr>
                    <a:xfrm rot="10800000">
                      <a:off x="2605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10" name="Google Shape;2410;p62"/>
                    <p:cNvCxnSpPr/>
                    <p:nvPr/>
                  </p:nvCxnSpPr>
                  <p:spPr>
                    <a:xfrm flipH="1" rot="10800000">
                      <a:off x="2860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cxnSp>
                <p:nvCxnSpPr>
                  <p:cNvPr id="2411" name="Google Shape;2411;p62"/>
                  <p:cNvCxnSpPr/>
                  <p:nvPr/>
                </p:nvCxnSpPr>
                <p:spPr>
                  <a:xfrm>
                    <a:off x="2738" y="231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412" name="Google Shape;2412;p62"/>
                <p:cNvGrpSpPr/>
                <p:nvPr/>
              </p:nvGrpSpPr>
              <p:grpSpPr>
                <a:xfrm flipH="1" rot="5400000">
                  <a:off x="3908" y="7433"/>
                  <a:ext cx="92" cy="751"/>
                  <a:chOff x="6232" y="3219"/>
                  <a:chExt cx="92" cy="751"/>
                </a:xfrm>
              </p:grpSpPr>
              <p:sp>
                <p:nvSpPr>
                  <p:cNvPr id="2413" name="Google Shape;2413;p62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4" name="Google Shape;2414;p62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5" name="Google Shape;2415;p62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6" name="Google Shape;2416;p62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17" name="Google Shape;2417;p62"/>
                <p:cNvSpPr txBox="1"/>
                <p:nvPr/>
              </p:nvSpPr>
              <p:spPr>
                <a:xfrm>
                  <a:off x="3849" y="735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</a:t>
                  </a:r>
                  <a:r>
                    <a:rPr baseline="-25000"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2418" name="Google Shape;2418;p62"/>
                <p:cNvGrpSpPr/>
                <p:nvPr/>
              </p:nvGrpSpPr>
              <p:grpSpPr>
                <a:xfrm rot="-5400000">
                  <a:off x="3965" y="8321"/>
                  <a:ext cx="1245" cy="339"/>
                  <a:chOff x="6218" y="1958"/>
                  <a:chExt cx="1320" cy="360"/>
                </a:xfrm>
              </p:grpSpPr>
              <p:cxnSp>
                <p:nvCxnSpPr>
                  <p:cNvPr id="2419" name="Google Shape;2419;p62"/>
                  <p:cNvCxnSpPr/>
                  <p:nvPr/>
                </p:nvCxnSpPr>
                <p:spPr>
                  <a:xfrm>
                    <a:off x="6218" y="2138"/>
                    <a:ext cx="6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420" name="Google Shape;2420;p62"/>
                  <p:cNvCxnSpPr/>
                  <p:nvPr/>
                </p:nvCxnSpPr>
                <p:spPr>
                  <a:xfrm>
                    <a:off x="6938" y="2138"/>
                    <a:ext cx="6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421" name="Google Shape;2421;p62"/>
                  <p:cNvCxnSpPr/>
                  <p:nvPr/>
                </p:nvCxnSpPr>
                <p:spPr>
                  <a:xfrm>
                    <a:off x="6818" y="1958"/>
                    <a:ext cx="0" cy="36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422" name="Google Shape;2422;p62"/>
                  <p:cNvCxnSpPr/>
                  <p:nvPr/>
                </p:nvCxnSpPr>
                <p:spPr>
                  <a:xfrm>
                    <a:off x="6938" y="1958"/>
                    <a:ext cx="0" cy="36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423" name="Google Shape;2423;p62"/>
                <p:cNvGrpSpPr/>
                <p:nvPr/>
              </p:nvGrpSpPr>
              <p:grpSpPr>
                <a:xfrm>
                  <a:off x="2327" y="8331"/>
                  <a:ext cx="363" cy="272"/>
                  <a:chOff x="4778" y="6098"/>
                  <a:chExt cx="2880" cy="1440"/>
                </a:xfrm>
              </p:grpSpPr>
              <p:sp>
                <p:nvSpPr>
                  <p:cNvPr id="2424" name="Google Shape;2424;p62"/>
                  <p:cNvSpPr/>
                  <p:nvPr/>
                </p:nvSpPr>
                <p:spPr>
                  <a:xfrm flipH="1">
                    <a:off x="4778" y="6098"/>
                    <a:ext cx="1439" cy="720"/>
                  </a:xfrm>
                  <a:custGeom>
                    <a:rect b="b" l="l" r="r" t="t"/>
                    <a:pathLst>
                      <a:path extrusionOk="0" fill="none" h="21600" w="43195">
                        <a:moveTo>
                          <a:pt x="-1" y="21148"/>
                        </a:moveTo>
                        <a:cubicBezTo>
                          <a:pt x="245" y="9397"/>
                          <a:pt x="9841" y="0"/>
                          <a:pt x="21595" y="0"/>
                        </a:cubicBezTo>
                        <a:cubicBezTo>
                          <a:pt x="33524" y="0"/>
                          <a:pt x="43195" y="9670"/>
                          <a:pt x="43195" y="21600"/>
                        </a:cubicBezTo>
                      </a:path>
                      <a:path extrusionOk="0" h="21600" w="43195">
                        <a:moveTo>
                          <a:pt x="-1" y="21148"/>
                        </a:moveTo>
                        <a:cubicBezTo>
                          <a:pt x="245" y="9397"/>
                          <a:pt x="9841" y="0"/>
                          <a:pt x="21595" y="0"/>
                        </a:cubicBezTo>
                        <a:cubicBezTo>
                          <a:pt x="33524" y="0"/>
                          <a:pt x="43195" y="9670"/>
                          <a:pt x="43195" y="21600"/>
                        </a:cubicBezTo>
                        <a:lnTo>
                          <a:pt x="21595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5" name="Google Shape;2425;p62"/>
                  <p:cNvSpPr/>
                  <p:nvPr/>
                </p:nvSpPr>
                <p:spPr>
                  <a:xfrm rot="10800000">
                    <a:off x="6219" y="6818"/>
                    <a:ext cx="1439" cy="720"/>
                  </a:xfrm>
                  <a:custGeom>
                    <a:rect b="b" l="l" r="r" t="t"/>
                    <a:pathLst>
                      <a:path extrusionOk="0" fill="none" h="21600" w="43195">
                        <a:moveTo>
                          <a:pt x="-1" y="21148"/>
                        </a:moveTo>
                        <a:cubicBezTo>
                          <a:pt x="245" y="9397"/>
                          <a:pt x="9841" y="0"/>
                          <a:pt x="21595" y="0"/>
                        </a:cubicBezTo>
                        <a:cubicBezTo>
                          <a:pt x="33524" y="0"/>
                          <a:pt x="43195" y="9670"/>
                          <a:pt x="43195" y="21600"/>
                        </a:cubicBezTo>
                      </a:path>
                      <a:path extrusionOk="0" h="21600" w="43195">
                        <a:moveTo>
                          <a:pt x="-1" y="21148"/>
                        </a:moveTo>
                        <a:cubicBezTo>
                          <a:pt x="245" y="9397"/>
                          <a:pt x="9841" y="0"/>
                          <a:pt x="21595" y="0"/>
                        </a:cubicBezTo>
                        <a:cubicBezTo>
                          <a:pt x="33524" y="0"/>
                          <a:pt x="43195" y="9670"/>
                          <a:pt x="43195" y="21600"/>
                        </a:cubicBezTo>
                        <a:lnTo>
                          <a:pt x="21595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26" name="Google Shape;2426;p62"/>
                <p:cNvSpPr/>
                <p:nvPr/>
              </p:nvSpPr>
              <p:spPr>
                <a:xfrm>
                  <a:off x="2210" y="8183"/>
                  <a:ext cx="600" cy="6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427" name="Google Shape;2427;p62"/>
                <p:cNvCxnSpPr/>
                <p:nvPr/>
              </p:nvCxnSpPr>
              <p:spPr>
                <a:xfrm>
                  <a:off x="2030" y="8183"/>
                  <a:ext cx="0" cy="54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stealth"/>
                  <a:tailEnd len="med" w="med" type="none"/>
                </a:ln>
              </p:spPr>
            </p:cxnSp>
            <p:cxnSp>
              <p:nvCxnSpPr>
                <p:cNvPr id="2428" name="Google Shape;2428;p62"/>
                <p:cNvCxnSpPr/>
                <p:nvPr/>
              </p:nvCxnSpPr>
              <p:spPr>
                <a:xfrm rot="10800000">
                  <a:off x="2509" y="7867"/>
                  <a:ext cx="0" cy="3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9" name="Google Shape;2429;p62"/>
                <p:cNvCxnSpPr/>
                <p:nvPr/>
              </p:nvCxnSpPr>
              <p:spPr>
                <a:xfrm rot="10800000">
                  <a:off x="2510" y="8797"/>
                  <a:ext cx="0" cy="3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0" name="Google Shape;2430;p62"/>
                <p:cNvCxnSpPr/>
                <p:nvPr/>
              </p:nvCxnSpPr>
              <p:spPr>
                <a:xfrm>
                  <a:off x="4329" y="7868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2431" name="Google Shape;2431;p62"/>
                <p:cNvGrpSpPr/>
                <p:nvPr/>
              </p:nvGrpSpPr>
              <p:grpSpPr>
                <a:xfrm>
                  <a:off x="4535" y="7733"/>
                  <a:ext cx="1083" cy="271"/>
                  <a:chOff x="1658" y="2138"/>
                  <a:chExt cx="1440" cy="360"/>
                </a:xfrm>
              </p:grpSpPr>
              <p:cxnSp>
                <p:nvCxnSpPr>
                  <p:cNvPr id="2432" name="Google Shape;2432;p62"/>
                  <p:cNvCxnSpPr/>
                  <p:nvPr/>
                </p:nvCxnSpPr>
                <p:spPr>
                  <a:xfrm>
                    <a:off x="1658" y="231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433" name="Google Shape;2433;p62"/>
                  <p:cNvGrpSpPr/>
                  <p:nvPr/>
                </p:nvGrpSpPr>
                <p:grpSpPr>
                  <a:xfrm>
                    <a:off x="2018" y="2138"/>
                    <a:ext cx="720" cy="360"/>
                    <a:chOff x="2018" y="2138"/>
                    <a:chExt cx="1200" cy="357"/>
                  </a:xfrm>
                </p:grpSpPr>
                <p:cxnSp>
                  <p:nvCxnSpPr>
                    <p:cNvPr id="2434" name="Google Shape;2434;p62"/>
                    <p:cNvCxnSpPr/>
                    <p:nvPr/>
                  </p:nvCxnSpPr>
                  <p:spPr>
                    <a:xfrm flipH="1" rot="10800000">
                      <a:off x="2018" y="2138"/>
                      <a:ext cx="120" cy="18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35" name="Google Shape;2435;p62"/>
                    <p:cNvCxnSpPr/>
                    <p:nvPr/>
                  </p:nvCxnSpPr>
                  <p:spPr>
                    <a:xfrm rot="10800000">
                      <a:off x="3098" y="2138"/>
                      <a:ext cx="120" cy="18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36" name="Google Shape;2436;p62"/>
                    <p:cNvCxnSpPr/>
                    <p:nvPr/>
                  </p:nvCxnSpPr>
                  <p:spPr>
                    <a:xfrm rot="10800000">
                      <a:off x="2125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37" name="Google Shape;2437;p62"/>
                    <p:cNvCxnSpPr/>
                    <p:nvPr/>
                  </p:nvCxnSpPr>
                  <p:spPr>
                    <a:xfrm flipH="1" rot="10800000">
                      <a:off x="2380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38" name="Google Shape;2438;p62"/>
                    <p:cNvCxnSpPr/>
                    <p:nvPr/>
                  </p:nvCxnSpPr>
                  <p:spPr>
                    <a:xfrm rot="10800000">
                      <a:off x="2605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2439" name="Google Shape;2439;p62"/>
                    <p:cNvCxnSpPr/>
                    <p:nvPr/>
                  </p:nvCxnSpPr>
                  <p:spPr>
                    <a:xfrm flipH="1" rot="10800000">
                      <a:off x="2860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cxnSp>
                <p:nvCxnSpPr>
                  <p:cNvPr id="2440" name="Google Shape;2440;p62"/>
                  <p:cNvCxnSpPr/>
                  <p:nvPr/>
                </p:nvCxnSpPr>
                <p:spPr>
                  <a:xfrm>
                    <a:off x="2738" y="2318"/>
                    <a:ext cx="36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441" name="Google Shape;2441;p62"/>
                <p:cNvGrpSpPr/>
                <p:nvPr/>
              </p:nvGrpSpPr>
              <p:grpSpPr>
                <a:xfrm>
                  <a:off x="5633" y="8047"/>
                  <a:ext cx="92" cy="751"/>
                  <a:chOff x="6232" y="3219"/>
                  <a:chExt cx="92" cy="751"/>
                </a:xfrm>
              </p:grpSpPr>
              <p:sp>
                <p:nvSpPr>
                  <p:cNvPr id="2442" name="Google Shape;2442;p62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3" name="Google Shape;2443;p62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4" name="Google Shape;2444;p62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5" name="Google Shape;2445;p62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46" name="Google Shape;2446;p62"/>
                <p:cNvSpPr txBox="1"/>
                <p:nvPr/>
              </p:nvSpPr>
              <p:spPr>
                <a:xfrm>
                  <a:off x="5858" y="825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</a:t>
                  </a:r>
                  <a:r>
                    <a:rPr baseline="-25000"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447" name="Google Shape;2447;p62"/>
                <p:cNvCxnSpPr/>
                <p:nvPr/>
              </p:nvCxnSpPr>
              <p:spPr>
                <a:xfrm>
                  <a:off x="5618" y="7870"/>
                  <a:ext cx="0" cy="17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8" name="Google Shape;2448;p62"/>
                <p:cNvCxnSpPr/>
                <p:nvPr/>
              </p:nvCxnSpPr>
              <p:spPr>
                <a:xfrm>
                  <a:off x="2523" y="9113"/>
                  <a:ext cx="312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9" name="Google Shape;2449;p62"/>
                <p:cNvCxnSpPr/>
                <p:nvPr/>
              </p:nvCxnSpPr>
              <p:spPr>
                <a:xfrm>
                  <a:off x="5633" y="8801"/>
                  <a:ext cx="0" cy="31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50" name="Google Shape;2450;p62"/>
                <p:cNvSpPr txBox="1"/>
                <p:nvPr/>
              </p:nvSpPr>
              <p:spPr>
                <a:xfrm>
                  <a:off x="2978" y="735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R</a:t>
                  </a:r>
                  <a:r>
                    <a:rPr baseline="-25000"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451" name="Google Shape;2451;p62"/>
                <p:cNvSpPr txBox="1"/>
                <p:nvPr/>
              </p:nvSpPr>
              <p:spPr>
                <a:xfrm>
                  <a:off x="4898" y="735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R</a:t>
                  </a:r>
                  <a:r>
                    <a:rPr baseline="-25000"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452" name="Google Shape;2452;p62"/>
                <p:cNvSpPr txBox="1"/>
                <p:nvPr/>
              </p:nvSpPr>
              <p:spPr>
                <a:xfrm>
                  <a:off x="4058" y="825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C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453" name="Google Shape;2453;p62"/>
                <p:cNvSpPr txBox="1"/>
                <p:nvPr/>
              </p:nvSpPr>
              <p:spPr>
                <a:xfrm>
                  <a:off x="1658" y="8258"/>
                  <a:ext cx="360" cy="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0800" lIns="18000" spcFirstLastPara="1" rIns="18000" wrap="square" tIns="10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3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</a:t>
                  </a:r>
                  <a:endParaRPr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454" name="Google Shape;2454;p62"/>
              <p:cNvSpPr/>
              <p:nvPr/>
            </p:nvSpPr>
            <p:spPr>
              <a:xfrm>
                <a:off x="4540" y="4140"/>
                <a:ext cx="68" cy="68"/>
              </a:xfrm>
              <a:prstGeom prst="ellipse">
                <a:avLst/>
              </a:prstGeom>
              <a:solidFill>
                <a:srgbClr val="C000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5" name="Google Shape;2455;p62"/>
              <p:cNvSpPr/>
              <p:nvPr/>
            </p:nvSpPr>
            <p:spPr>
              <a:xfrm>
                <a:off x="6408" y="4984"/>
                <a:ext cx="68" cy="68"/>
              </a:xfrm>
              <a:prstGeom prst="ellipse">
                <a:avLst/>
              </a:prstGeom>
              <a:solidFill>
                <a:srgbClr val="C00000"/>
              </a:solidFill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62"/>
              <p:cNvSpPr txBox="1"/>
              <p:nvPr/>
            </p:nvSpPr>
            <p:spPr>
              <a:xfrm>
                <a:off x="5688" y="4215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200"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7" name="Google Shape;2457;p62"/>
              <p:cNvSpPr/>
              <p:nvPr/>
            </p:nvSpPr>
            <p:spPr>
              <a:xfrm>
                <a:off x="4670" y="4209"/>
                <a:ext cx="996" cy="217"/>
              </a:xfrm>
              <a:custGeom>
                <a:rect b="b" l="l" r="r" t="t"/>
                <a:pathLst>
                  <a:path extrusionOk="0" fill="none" h="21600" w="19693">
                    <a:moveTo>
                      <a:pt x="0" y="0"/>
                    </a:moveTo>
                    <a:cubicBezTo>
                      <a:pt x="8495" y="0"/>
                      <a:pt x="16202" y="4980"/>
                      <a:pt x="19692" y="12726"/>
                    </a:cubicBezTo>
                  </a:path>
                  <a:path extrusionOk="0" h="21600" w="19693">
                    <a:moveTo>
                      <a:pt x="0" y="0"/>
                    </a:moveTo>
                    <a:cubicBezTo>
                      <a:pt x="8495" y="0"/>
                      <a:pt x="16202" y="4980"/>
                      <a:pt x="19692" y="1272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>
                    <a:alpha val="29803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62"/>
              <p:cNvSpPr/>
              <p:nvPr/>
            </p:nvSpPr>
            <p:spPr>
              <a:xfrm>
                <a:off x="5613" y="4487"/>
                <a:ext cx="787" cy="737"/>
              </a:xfrm>
              <a:custGeom>
                <a:rect b="b" l="l" r="r" t="t"/>
                <a:pathLst>
                  <a:path extrusionOk="0" fill="none" h="19620" w="19693">
                    <a:moveTo>
                      <a:pt x="9033" y="-1"/>
                    </a:moveTo>
                    <a:cubicBezTo>
                      <a:pt x="13766" y="2178"/>
                      <a:pt x="17552" y="5995"/>
                      <a:pt x="19692" y="10746"/>
                    </a:cubicBezTo>
                  </a:path>
                  <a:path extrusionOk="0" h="19620" w="19693">
                    <a:moveTo>
                      <a:pt x="9033" y="-1"/>
                    </a:moveTo>
                    <a:cubicBezTo>
                      <a:pt x="13766" y="2178"/>
                      <a:pt x="17552" y="5995"/>
                      <a:pt x="19692" y="10746"/>
                    </a:cubicBezTo>
                    <a:lnTo>
                      <a:pt x="0" y="1962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>
                    <a:alpha val="29803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9" name="Google Shape;2459;p62"/>
              <p:cNvSpPr txBox="1"/>
              <p:nvPr/>
            </p:nvSpPr>
            <p:spPr>
              <a:xfrm>
                <a:off x="5448" y="3711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460" name="Google Shape;2460;p62"/>
            <p:cNvSpPr/>
            <p:nvPr/>
          </p:nvSpPr>
          <p:spPr>
            <a:xfrm>
              <a:off x="11073" y="1666"/>
              <a:ext cx="3993" cy="1929"/>
            </a:xfrm>
            <a:custGeom>
              <a:rect b="b" l="l" r="r" t="t"/>
              <a:pathLst>
                <a:path extrusionOk="0" h="1929" w="3993">
                  <a:moveTo>
                    <a:pt x="0" y="41"/>
                  </a:moveTo>
                  <a:cubicBezTo>
                    <a:pt x="839" y="20"/>
                    <a:pt x="1678" y="0"/>
                    <a:pt x="2286" y="41"/>
                  </a:cubicBezTo>
                  <a:cubicBezTo>
                    <a:pt x="2894" y="82"/>
                    <a:pt x="3374" y="111"/>
                    <a:pt x="3650" y="287"/>
                  </a:cubicBezTo>
                  <a:cubicBezTo>
                    <a:pt x="3926" y="463"/>
                    <a:pt x="3895" y="820"/>
                    <a:pt x="3944" y="1094"/>
                  </a:cubicBezTo>
                  <a:cubicBezTo>
                    <a:pt x="3993" y="1368"/>
                    <a:pt x="3968" y="1648"/>
                    <a:pt x="3944" y="19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1" name="Google Shape;2461;p62"/>
          <p:cNvSpPr/>
          <p:nvPr/>
        </p:nvSpPr>
        <p:spPr>
          <a:xfrm>
            <a:off x="0" y="845831"/>
            <a:ext cx="11946032" cy="861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Write down non-coupled equivalent circuit for the coupled circuit.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62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62"/>
          <p:cNvSpPr/>
          <p:nvPr/>
        </p:nvSpPr>
        <p:spPr>
          <a:xfrm>
            <a:off x="134425" y="3626411"/>
            <a:ext cx="668531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To get correct sign in non-coupled equivalent circuit, consider imaginary current to flow through coil 1 and coil 2, forgetting other elements.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63"/>
          <p:cNvSpPr/>
          <p:nvPr/>
        </p:nvSpPr>
        <p:spPr>
          <a:xfrm>
            <a:off x="131029" y="780536"/>
            <a:ext cx="118778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 is seen that they are wound opposing. [Notice that the two coils do not exactly meet at a common node, but that the  node P would have that property if positions of R</a:t>
            </a:r>
            <a:r>
              <a:rPr b="0" baseline="-2500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L</a:t>
            </a:r>
            <a:r>
              <a:rPr b="0" baseline="-2500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were interchanged.]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9" name="Google Shape;2469;p63"/>
          <p:cNvGrpSpPr/>
          <p:nvPr/>
        </p:nvGrpSpPr>
        <p:grpSpPr>
          <a:xfrm>
            <a:off x="5841009" y="2421073"/>
            <a:ext cx="6275903" cy="2271398"/>
            <a:chOff x="3810" y="12083"/>
            <a:chExt cx="4816" cy="1755"/>
          </a:xfrm>
        </p:grpSpPr>
        <p:grpSp>
          <p:nvGrpSpPr>
            <p:cNvPr id="2470" name="Google Shape;2470;p63"/>
            <p:cNvGrpSpPr/>
            <p:nvPr/>
          </p:nvGrpSpPr>
          <p:grpSpPr>
            <a:xfrm>
              <a:off x="4535" y="12456"/>
              <a:ext cx="1083" cy="271"/>
              <a:chOff x="1658" y="2138"/>
              <a:chExt cx="1440" cy="360"/>
            </a:xfrm>
          </p:grpSpPr>
          <p:cxnSp>
            <p:nvCxnSpPr>
              <p:cNvPr id="2471" name="Google Shape;2471;p63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72" name="Google Shape;2472;p63"/>
              <p:cNvGrpSpPr/>
              <p:nvPr/>
            </p:nvGrpSpPr>
            <p:grpSpPr>
              <a:xfrm>
                <a:off x="2018" y="2138"/>
                <a:ext cx="720" cy="360"/>
                <a:chOff x="2018" y="2138"/>
                <a:chExt cx="1200" cy="357"/>
              </a:xfrm>
            </p:grpSpPr>
            <p:cxnSp>
              <p:nvCxnSpPr>
                <p:cNvPr id="2473" name="Google Shape;2473;p63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4" name="Google Shape;2474;p63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5" name="Google Shape;2475;p63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6" name="Google Shape;2476;p63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7" name="Google Shape;2477;p63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8" name="Google Shape;2478;p63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479" name="Google Shape;2479;p63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80" name="Google Shape;2480;p63"/>
            <p:cNvGrpSpPr/>
            <p:nvPr/>
          </p:nvGrpSpPr>
          <p:grpSpPr>
            <a:xfrm flipH="1" rot="5400000">
              <a:off x="5948" y="12158"/>
              <a:ext cx="92" cy="751"/>
              <a:chOff x="6232" y="3219"/>
              <a:chExt cx="92" cy="751"/>
            </a:xfrm>
          </p:grpSpPr>
          <p:sp>
            <p:nvSpPr>
              <p:cNvPr id="2481" name="Google Shape;2481;p63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63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63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63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5" name="Google Shape;2485;p63"/>
            <p:cNvSpPr txBox="1"/>
            <p:nvPr/>
          </p:nvSpPr>
          <p:spPr>
            <a:xfrm>
              <a:off x="5738" y="12083"/>
              <a:ext cx="686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-M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86" name="Google Shape;2486;p63"/>
            <p:cNvCxnSpPr/>
            <p:nvPr/>
          </p:nvCxnSpPr>
          <p:spPr>
            <a:xfrm rot="-5400000">
              <a:off x="6537" y="13748"/>
              <a:ext cx="180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7" name="Google Shape;2487;p63"/>
            <p:cNvCxnSpPr/>
            <p:nvPr/>
          </p:nvCxnSpPr>
          <p:spPr>
            <a:xfrm rot="-5400000">
              <a:off x="6509" y="13446"/>
              <a:ext cx="23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8" name="Google Shape;2488;p63"/>
            <p:cNvCxnSpPr/>
            <p:nvPr/>
          </p:nvCxnSpPr>
          <p:spPr>
            <a:xfrm rot="10800000">
              <a:off x="6627" y="13507"/>
              <a:ext cx="0" cy="33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9" name="Google Shape;2489;p63"/>
            <p:cNvCxnSpPr/>
            <p:nvPr/>
          </p:nvCxnSpPr>
          <p:spPr>
            <a:xfrm rot="10800000">
              <a:off x="6627" y="13394"/>
              <a:ext cx="0" cy="33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90" name="Google Shape;2490;p63"/>
            <p:cNvGrpSpPr/>
            <p:nvPr/>
          </p:nvGrpSpPr>
          <p:grpSpPr>
            <a:xfrm>
              <a:off x="4367" y="13056"/>
              <a:ext cx="363" cy="272"/>
              <a:chOff x="4778" y="6098"/>
              <a:chExt cx="2880" cy="1440"/>
            </a:xfrm>
          </p:grpSpPr>
          <p:sp>
            <p:nvSpPr>
              <p:cNvPr id="2491" name="Google Shape;2491;p63"/>
              <p:cNvSpPr/>
              <p:nvPr/>
            </p:nvSpPr>
            <p:spPr>
              <a:xfrm flipH="1">
                <a:off x="4778" y="6098"/>
                <a:ext cx="1439" cy="720"/>
              </a:xfrm>
              <a:custGeom>
                <a:rect b="b" l="l" r="r" t="t"/>
                <a:pathLst>
                  <a:path extrusionOk="0" fill="none" h="21600" w="43195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</a:path>
                  <a:path extrusionOk="0" h="21600" w="43195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63"/>
              <p:cNvSpPr/>
              <p:nvPr/>
            </p:nvSpPr>
            <p:spPr>
              <a:xfrm rot="10800000">
                <a:off x="6219" y="6818"/>
                <a:ext cx="1439" cy="720"/>
              </a:xfrm>
              <a:custGeom>
                <a:rect b="b" l="l" r="r" t="t"/>
                <a:pathLst>
                  <a:path extrusionOk="0" fill="none" h="21600" w="43195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</a:path>
                  <a:path extrusionOk="0" h="21600" w="43195">
                    <a:moveTo>
                      <a:pt x="-1" y="21148"/>
                    </a:moveTo>
                    <a:cubicBezTo>
                      <a:pt x="245" y="9397"/>
                      <a:pt x="9841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3" name="Google Shape;2493;p63"/>
            <p:cNvSpPr/>
            <p:nvPr/>
          </p:nvSpPr>
          <p:spPr>
            <a:xfrm>
              <a:off x="4250" y="12908"/>
              <a:ext cx="600" cy="600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94" name="Google Shape;2494;p63"/>
            <p:cNvCxnSpPr/>
            <p:nvPr/>
          </p:nvCxnSpPr>
          <p:spPr>
            <a:xfrm>
              <a:off x="4070" y="12908"/>
              <a:ext cx="0" cy="54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495" name="Google Shape;2495;p63"/>
            <p:cNvCxnSpPr/>
            <p:nvPr/>
          </p:nvCxnSpPr>
          <p:spPr>
            <a:xfrm rot="10800000">
              <a:off x="4549" y="12592"/>
              <a:ext cx="0" cy="316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6" name="Google Shape;2496;p63"/>
            <p:cNvCxnSpPr/>
            <p:nvPr/>
          </p:nvCxnSpPr>
          <p:spPr>
            <a:xfrm rot="10800000">
              <a:off x="4550" y="13522"/>
              <a:ext cx="0" cy="316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7" name="Google Shape;2497;p63"/>
            <p:cNvCxnSpPr/>
            <p:nvPr/>
          </p:nvCxnSpPr>
          <p:spPr>
            <a:xfrm>
              <a:off x="6369" y="12593"/>
              <a:ext cx="209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98" name="Google Shape;2498;p63"/>
            <p:cNvGrpSpPr/>
            <p:nvPr/>
          </p:nvGrpSpPr>
          <p:grpSpPr>
            <a:xfrm>
              <a:off x="6575" y="12458"/>
              <a:ext cx="1083" cy="271"/>
              <a:chOff x="1658" y="2138"/>
              <a:chExt cx="1440" cy="360"/>
            </a:xfrm>
          </p:grpSpPr>
          <p:cxnSp>
            <p:nvCxnSpPr>
              <p:cNvPr id="2499" name="Google Shape;2499;p63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00" name="Google Shape;2500;p63"/>
              <p:cNvGrpSpPr/>
              <p:nvPr/>
            </p:nvGrpSpPr>
            <p:grpSpPr>
              <a:xfrm>
                <a:off x="2018" y="2138"/>
                <a:ext cx="720" cy="360"/>
                <a:chOff x="2018" y="2138"/>
                <a:chExt cx="1200" cy="357"/>
              </a:xfrm>
            </p:grpSpPr>
            <p:cxnSp>
              <p:nvCxnSpPr>
                <p:cNvPr id="2501" name="Google Shape;2501;p63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2" name="Google Shape;2502;p63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3" name="Google Shape;2503;p63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4" name="Google Shape;2504;p63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5" name="Google Shape;2505;p63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6" name="Google Shape;2506;p63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31750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507" name="Google Shape;2507;p63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508" name="Google Shape;2508;p63"/>
            <p:cNvGrpSpPr/>
            <p:nvPr/>
          </p:nvGrpSpPr>
          <p:grpSpPr>
            <a:xfrm>
              <a:off x="7673" y="12772"/>
              <a:ext cx="92" cy="751"/>
              <a:chOff x="6232" y="3219"/>
              <a:chExt cx="92" cy="751"/>
            </a:xfrm>
          </p:grpSpPr>
          <p:sp>
            <p:nvSpPr>
              <p:cNvPr id="2509" name="Google Shape;2509;p63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63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63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63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317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3" name="Google Shape;2513;p63"/>
            <p:cNvSpPr txBox="1"/>
            <p:nvPr/>
          </p:nvSpPr>
          <p:spPr>
            <a:xfrm>
              <a:off x="7898" y="12983"/>
              <a:ext cx="728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-M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14" name="Google Shape;2514;p63"/>
            <p:cNvCxnSpPr/>
            <p:nvPr/>
          </p:nvCxnSpPr>
          <p:spPr>
            <a:xfrm>
              <a:off x="7658" y="12595"/>
              <a:ext cx="0" cy="17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5" name="Google Shape;2515;p63"/>
            <p:cNvCxnSpPr/>
            <p:nvPr/>
          </p:nvCxnSpPr>
          <p:spPr>
            <a:xfrm>
              <a:off x="4563" y="13838"/>
              <a:ext cx="312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6" name="Google Shape;2516;p63"/>
            <p:cNvCxnSpPr/>
            <p:nvPr/>
          </p:nvCxnSpPr>
          <p:spPr>
            <a:xfrm>
              <a:off x="7673" y="13526"/>
              <a:ext cx="0" cy="31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17" name="Google Shape;2517;p63"/>
            <p:cNvSpPr txBox="1"/>
            <p:nvPr/>
          </p:nvSpPr>
          <p:spPr>
            <a:xfrm>
              <a:off x="5018" y="1208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8" name="Google Shape;2518;p63"/>
            <p:cNvSpPr txBox="1"/>
            <p:nvPr/>
          </p:nvSpPr>
          <p:spPr>
            <a:xfrm>
              <a:off x="6938" y="1208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9" name="Google Shape;2519;p63"/>
            <p:cNvSpPr txBox="1"/>
            <p:nvPr/>
          </p:nvSpPr>
          <p:spPr>
            <a:xfrm>
              <a:off x="6224" y="13416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0" name="Google Shape;2520;p63"/>
            <p:cNvSpPr txBox="1"/>
            <p:nvPr/>
          </p:nvSpPr>
          <p:spPr>
            <a:xfrm>
              <a:off x="3810" y="1298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1" name="Google Shape;2521;p63"/>
            <p:cNvSpPr/>
            <p:nvPr/>
          </p:nvSpPr>
          <p:spPr>
            <a:xfrm>
              <a:off x="6593" y="12787"/>
              <a:ext cx="91" cy="182"/>
            </a:xfrm>
            <a:custGeom>
              <a:rect b="b" l="l" r="r" t="t"/>
              <a:pathLst>
                <a:path extrusionOk="0" fill="none" h="43200" w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199"/>
                  </a:cubicBezTo>
                </a:path>
                <a:path extrusionOk="0" h="43200" w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1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2" name="Google Shape;2522;p63"/>
            <p:cNvSpPr/>
            <p:nvPr/>
          </p:nvSpPr>
          <p:spPr>
            <a:xfrm>
              <a:off x="6594" y="12966"/>
              <a:ext cx="91" cy="182"/>
            </a:xfrm>
            <a:custGeom>
              <a:rect b="b" l="l" r="r" t="t"/>
              <a:pathLst>
                <a:path extrusionOk="0" fill="none" h="43200" w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199"/>
                  </a:cubicBezTo>
                </a:path>
                <a:path extrusionOk="0" h="43200" w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1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3" name="Google Shape;2523;p63"/>
            <p:cNvSpPr/>
            <p:nvPr/>
          </p:nvSpPr>
          <p:spPr>
            <a:xfrm>
              <a:off x="6593" y="13161"/>
              <a:ext cx="91" cy="182"/>
            </a:xfrm>
            <a:custGeom>
              <a:rect b="b" l="l" r="r" t="t"/>
              <a:pathLst>
                <a:path extrusionOk="0" fill="none" h="43200" w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199"/>
                  </a:cubicBezTo>
                </a:path>
                <a:path extrusionOk="0" h="43200" w="2160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1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4" name="Google Shape;2524;p63"/>
            <p:cNvSpPr txBox="1"/>
            <p:nvPr/>
          </p:nvSpPr>
          <p:spPr>
            <a:xfrm>
              <a:off x="6263" y="12803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25" name="Google Shape;2525;p63"/>
            <p:cNvCxnSpPr/>
            <p:nvPr/>
          </p:nvCxnSpPr>
          <p:spPr>
            <a:xfrm rot="-5400000">
              <a:off x="6475" y="12696"/>
              <a:ext cx="23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26" name="Google Shape;2526;p63"/>
          <p:cNvSpPr/>
          <p:nvPr/>
        </p:nvSpPr>
        <p:spPr>
          <a:xfrm>
            <a:off x="130189" y="5327974"/>
            <a:ext cx="970968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This circuit no longer has mutual coupled elements, but the elements have taken into account the affects of mutual inductance.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63"/>
          <p:cNvSpPr/>
          <p:nvPr/>
        </p:nvSpPr>
        <p:spPr>
          <a:xfrm>
            <a:off x="79871" y="2204935"/>
            <a:ext cx="5563714" cy="3108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[However, intermediate point of connection between these elements would have a different voltage, as drops are occurring in a different order.] 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non-coupled equivalent circuit may thus be drawn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64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Transformer as a pair of mutually coupled coils</a:t>
            </a:r>
            <a:endParaRPr/>
          </a:p>
        </p:txBody>
      </p:sp>
      <p:sp>
        <p:nvSpPr>
          <p:cNvPr id="2533" name="Google Shape;2533;p64"/>
          <p:cNvSpPr/>
          <p:nvPr/>
        </p:nvSpPr>
        <p:spPr>
          <a:xfrm>
            <a:off x="91954" y="903943"/>
            <a:ext cx="10529570" cy="61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Transformer is a pair of mutually coupled coils.  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4" name="Google Shape;2534;p64"/>
          <p:cNvGrpSpPr/>
          <p:nvPr/>
        </p:nvGrpSpPr>
        <p:grpSpPr>
          <a:xfrm>
            <a:off x="6709410" y="1448435"/>
            <a:ext cx="5730240" cy="3508375"/>
            <a:chOff x="8018" y="8618"/>
            <a:chExt cx="2520" cy="1800"/>
          </a:xfrm>
        </p:grpSpPr>
        <p:grpSp>
          <p:nvGrpSpPr>
            <p:cNvPr id="2535" name="Google Shape;2535;p64"/>
            <p:cNvGrpSpPr/>
            <p:nvPr/>
          </p:nvGrpSpPr>
          <p:grpSpPr>
            <a:xfrm rot="-5400000">
              <a:off x="8426" y="9355"/>
              <a:ext cx="1080" cy="355"/>
              <a:chOff x="8378" y="8263"/>
              <a:chExt cx="1080" cy="355"/>
            </a:xfrm>
          </p:grpSpPr>
          <p:sp>
            <p:nvSpPr>
              <p:cNvPr id="2536" name="Google Shape;2536;p64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7" name="Google Shape;2537;p64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2538" name="Google Shape;2538;p6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9" name="Google Shape;2539;p6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40" name="Google Shape;2540;p64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2541" name="Google Shape;2541;p6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2" name="Google Shape;2542;p6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43" name="Google Shape;2543;p64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2544" name="Google Shape;2544;p6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5" name="Google Shape;2545;p6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46" name="Google Shape;2546;p64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64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48" name="Google Shape;2548;p64"/>
            <p:cNvCxnSpPr/>
            <p:nvPr/>
          </p:nvCxnSpPr>
          <p:spPr>
            <a:xfrm rot="10800000">
              <a:off x="8618" y="897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9" name="Google Shape;2549;p64"/>
            <p:cNvCxnSpPr/>
            <p:nvPr/>
          </p:nvCxnSpPr>
          <p:spPr>
            <a:xfrm rot="10800000">
              <a:off x="8618" y="1005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50" name="Google Shape;2550;p64"/>
            <p:cNvGrpSpPr/>
            <p:nvPr/>
          </p:nvGrpSpPr>
          <p:grpSpPr>
            <a:xfrm flipH="1" rot="5400000">
              <a:off x="9071" y="9355"/>
              <a:ext cx="1080" cy="355"/>
              <a:chOff x="8378" y="8263"/>
              <a:chExt cx="1080" cy="355"/>
            </a:xfrm>
          </p:grpSpPr>
          <p:sp>
            <p:nvSpPr>
              <p:cNvPr id="2551" name="Google Shape;2551;p64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52" name="Google Shape;2552;p64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2553" name="Google Shape;2553;p6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4" name="Google Shape;2554;p6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55" name="Google Shape;2555;p64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2556" name="Google Shape;2556;p6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7" name="Google Shape;2557;p6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58" name="Google Shape;2558;p64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2559" name="Google Shape;2559;p64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0" name="Google Shape;2560;p64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61" name="Google Shape;2561;p64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64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63" name="Google Shape;2563;p64"/>
            <p:cNvCxnSpPr/>
            <p:nvPr/>
          </p:nvCxnSpPr>
          <p:spPr>
            <a:xfrm rot="10800000">
              <a:off x="9578" y="897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4" name="Google Shape;2564;p64"/>
            <p:cNvCxnSpPr/>
            <p:nvPr/>
          </p:nvCxnSpPr>
          <p:spPr>
            <a:xfrm rot="10800000">
              <a:off x="9578" y="1005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65" name="Google Shape;2565;p64"/>
            <p:cNvSpPr txBox="1"/>
            <p:nvPr/>
          </p:nvSpPr>
          <p:spPr>
            <a:xfrm>
              <a:off x="8018" y="9140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66" name="Google Shape;2566;p64"/>
            <p:cNvCxnSpPr/>
            <p:nvPr/>
          </p:nvCxnSpPr>
          <p:spPr>
            <a:xfrm>
              <a:off x="8859" y="8978"/>
              <a:ext cx="12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567" name="Google Shape;2567;p64"/>
            <p:cNvCxnSpPr/>
            <p:nvPr/>
          </p:nvCxnSpPr>
          <p:spPr>
            <a:xfrm>
              <a:off x="8423" y="9278"/>
              <a:ext cx="0" cy="5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568" name="Google Shape;2568;p64"/>
            <p:cNvSpPr txBox="1"/>
            <p:nvPr/>
          </p:nvSpPr>
          <p:spPr>
            <a:xfrm>
              <a:off x="10178" y="91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69" name="Google Shape;2569;p64"/>
            <p:cNvCxnSpPr/>
            <p:nvPr/>
          </p:nvCxnSpPr>
          <p:spPr>
            <a:xfrm>
              <a:off x="10118" y="9293"/>
              <a:ext cx="0" cy="5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570" name="Google Shape;2570;p64"/>
            <p:cNvCxnSpPr/>
            <p:nvPr/>
          </p:nvCxnSpPr>
          <p:spPr>
            <a:xfrm>
              <a:off x="9698" y="8978"/>
              <a:ext cx="12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571" name="Google Shape;2571;p64"/>
            <p:cNvSpPr txBox="1"/>
            <p:nvPr/>
          </p:nvSpPr>
          <p:spPr>
            <a:xfrm>
              <a:off x="8543" y="92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2" name="Google Shape;2572;p64"/>
            <p:cNvSpPr txBox="1"/>
            <p:nvPr/>
          </p:nvSpPr>
          <p:spPr>
            <a:xfrm>
              <a:off x="9818" y="92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3" name="Google Shape;2573;p64"/>
            <p:cNvSpPr txBox="1"/>
            <p:nvPr/>
          </p:nvSpPr>
          <p:spPr>
            <a:xfrm>
              <a:off x="9698" y="8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4" name="Google Shape;2574;p64"/>
            <p:cNvSpPr txBox="1"/>
            <p:nvPr/>
          </p:nvSpPr>
          <p:spPr>
            <a:xfrm>
              <a:off x="8618" y="8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5" name="Google Shape;2575;p64"/>
            <p:cNvSpPr txBox="1"/>
            <p:nvPr/>
          </p:nvSpPr>
          <p:spPr>
            <a:xfrm>
              <a:off x="9203" y="8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6" name="Google Shape;2576;p64"/>
            <p:cNvSpPr/>
            <p:nvPr/>
          </p:nvSpPr>
          <p:spPr>
            <a:xfrm>
              <a:off x="9028" y="8798"/>
              <a:ext cx="79" cy="75"/>
            </a:xfrm>
            <a:prstGeom prst="ellipse">
              <a:avLst/>
            </a:prstGeom>
            <a:solidFill>
              <a:srgbClr val="C000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64"/>
            <p:cNvSpPr/>
            <p:nvPr/>
          </p:nvSpPr>
          <p:spPr>
            <a:xfrm>
              <a:off x="9499" y="8798"/>
              <a:ext cx="79" cy="75"/>
            </a:xfrm>
            <a:prstGeom prst="ellipse">
              <a:avLst/>
            </a:prstGeom>
            <a:solidFill>
              <a:srgbClr val="C000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64"/>
            <p:cNvSpPr txBox="1"/>
            <p:nvPr/>
          </p:nvSpPr>
          <p:spPr>
            <a:xfrm>
              <a:off x="9098" y="100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a:1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79" name="Google Shape;2579;p64"/>
          <p:cNvSpPr/>
          <p:nvPr/>
        </p:nvSpPr>
        <p:spPr>
          <a:xfrm>
            <a:off x="121571" y="1648298"/>
            <a:ext cx="832129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From Kirchoff’s voltage law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V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L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 p i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and	V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– (L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M p i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 near ideal transformers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|V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| : |V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Times New Roman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|i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:  |i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≈</a:t>
            </a: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1/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Times New Roman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Times New Roman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</a:t>
            </a:r>
            <a:r>
              <a:rPr b="0" baseline="-2500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comparable quantities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Times New Roman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1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 </a:t>
            </a:r>
            <a:r>
              <a:rPr b="0" baseline="-2500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3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comparable quantities.</a:t>
            </a:r>
            <a:endParaRPr/>
          </a:p>
        </p:txBody>
      </p:sp>
      <p:pic>
        <p:nvPicPr>
          <p:cNvPr id="2580" name="Google Shape;258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9360" y="4953155"/>
            <a:ext cx="21431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65"/>
          <p:cNvSpPr/>
          <p:nvPr/>
        </p:nvSpPr>
        <p:spPr>
          <a:xfrm>
            <a:off x="264581" y="522947"/>
            <a:ext cx="10759462" cy="5709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Using these comparable variables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=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aM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and	aV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– (a</a:t>
            </a:r>
            <a:r>
              <a:rPr b="0" baseline="30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 – aM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are unequal,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Leakage current = </a:t>
            </a:r>
            <a:r>
              <a:rPr b="1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b="1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re-formulated in terms of this leakage current 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= 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aM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 + aM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aM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=  (L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aM) p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+ aM p .(i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and 	aV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= – (a</a:t>
            </a:r>
            <a:r>
              <a:rPr b="0" baseline="30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 – aM p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aM p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 – aM p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	=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 a</a:t>
            </a:r>
            <a:r>
              <a:rPr b="0" baseline="30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(L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GB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6" name="Google Shape;258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2312" y="5448062"/>
            <a:ext cx="533400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7" name="Google Shape;2587;p65"/>
          <p:cNvGrpSpPr/>
          <p:nvPr/>
        </p:nvGrpSpPr>
        <p:grpSpPr>
          <a:xfrm>
            <a:off x="6979961" y="522790"/>
            <a:ext cx="4737735" cy="3208655"/>
            <a:chOff x="10502" y="3609"/>
            <a:chExt cx="5702" cy="3476"/>
          </a:xfrm>
        </p:grpSpPr>
        <p:cxnSp>
          <p:nvCxnSpPr>
            <p:cNvPr id="2588" name="Google Shape;2588;p65"/>
            <p:cNvCxnSpPr/>
            <p:nvPr/>
          </p:nvCxnSpPr>
          <p:spPr>
            <a:xfrm rot="10800000">
              <a:off x="11060" y="4384"/>
              <a:ext cx="55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9" name="Google Shape;2589;p65"/>
            <p:cNvCxnSpPr/>
            <p:nvPr/>
          </p:nvCxnSpPr>
          <p:spPr>
            <a:xfrm rot="10800000">
              <a:off x="11343" y="4382"/>
              <a:ext cx="210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0" name="Google Shape;2590;p65"/>
            <p:cNvCxnSpPr/>
            <p:nvPr/>
          </p:nvCxnSpPr>
          <p:spPr>
            <a:xfrm rot="10800000">
              <a:off x="13450" y="4382"/>
              <a:ext cx="55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1" name="Google Shape;2591;p65"/>
            <p:cNvCxnSpPr/>
            <p:nvPr/>
          </p:nvCxnSpPr>
          <p:spPr>
            <a:xfrm>
              <a:off x="11758" y="4384"/>
              <a:ext cx="0" cy="34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92" name="Google Shape;2592;p65"/>
            <p:cNvGrpSpPr/>
            <p:nvPr/>
          </p:nvGrpSpPr>
          <p:grpSpPr>
            <a:xfrm>
              <a:off x="11729" y="4733"/>
              <a:ext cx="197" cy="1211"/>
              <a:chOff x="6232" y="3219"/>
              <a:chExt cx="92" cy="751"/>
            </a:xfrm>
          </p:grpSpPr>
          <p:sp>
            <p:nvSpPr>
              <p:cNvPr id="2593" name="Google Shape;2593;p65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65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65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65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97" name="Google Shape;2597;p65"/>
            <p:cNvCxnSpPr/>
            <p:nvPr/>
          </p:nvCxnSpPr>
          <p:spPr>
            <a:xfrm>
              <a:off x="11733" y="5944"/>
              <a:ext cx="0" cy="461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8" name="Google Shape;2598;p65"/>
            <p:cNvCxnSpPr/>
            <p:nvPr/>
          </p:nvCxnSpPr>
          <p:spPr>
            <a:xfrm>
              <a:off x="11050" y="6405"/>
              <a:ext cx="295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99" name="Google Shape;2599;p65"/>
            <p:cNvGrpSpPr/>
            <p:nvPr/>
          </p:nvGrpSpPr>
          <p:grpSpPr>
            <a:xfrm>
              <a:off x="13953" y="4359"/>
              <a:ext cx="203" cy="2017"/>
              <a:chOff x="8738" y="1583"/>
              <a:chExt cx="104" cy="1050"/>
            </a:xfrm>
          </p:grpSpPr>
          <p:grpSp>
            <p:nvGrpSpPr>
              <p:cNvPr id="2600" name="Google Shape;2600;p65"/>
              <p:cNvGrpSpPr/>
              <p:nvPr/>
            </p:nvGrpSpPr>
            <p:grpSpPr>
              <a:xfrm>
                <a:off x="8742" y="1583"/>
                <a:ext cx="100" cy="525"/>
                <a:chOff x="6232" y="3219"/>
                <a:chExt cx="92" cy="751"/>
              </a:xfrm>
            </p:grpSpPr>
            <p:sp>
              <p:nvSpPr>
                <p:cNvPr id="2601" name="Google Shape;2601;p65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2" name="Google Shape;2602;p65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3" name="Google Shape;2603;p65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4" name="Google Shape;2604;p65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05" name="Google Shape;2605;p65"/>
              <p:cNvGrpSpPr/>
              <p:nvPr/>
            </p:nvGrpSpPr>
            <p:grpSpPr>
              <a:xfrm>
                <a:off x="8738" y="2108"/>
                <a:ext cx="100" cy="525"/>
                <a:chOff x="6232" y="3219"/>
                <a:chExt cx="92" cy="751"/>
              </a:xfrm>
            </p:grpSpPr>
            <p:sp>
              <p:nvSpPr>
                <p:cNvPr id="2606" name="Google Shape;2606;p65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7" name="Google Shape;2607;p65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8" name="Google Shape;2608;p65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9" name="Google Shape;2609;p65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10" name="Google Shape;2610;p65"/>
            <p:cNvGrpSpPr/>
            <p:nvPr/>
          </p:nvGrpSpPr>
          <p:grpSpPr>
            <a:xfrm flipH="1">
              <a:off x="14421" y="4388"/>
              <a:ext cx="202" cy="2017"/>
              <a:chOff x="8738" y="1583"/>
              <a:chExt cx="104" cy="1050"/>
            </a:xfrm>
          </p:grpSpPr>
          <p:grpSp>
            <p:nvGrpSpPr>
              <p:cNvPr id="2611" name="Google Shape;2611;p65"/>
              <p:cNvGrpSpPr/>
              <p:nvPr/>
            </p:nvGrpSpPr>
            <p:grpSpPr>
              <a:xfrm>
                <a:off x="8742" y="1583"/>
                <a:ext cx="100" cy="525"/>
                <a:chOff x="6232" y="3219"/>
                <a:chExt cx="92" cy="751"/>
              </a:xfrm>
            </p:grpSpPr>
            <p:sp>
              <p:nvSpPr>
                <p:cNvPr id="2612" name="Google Shape;2612;p65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3" name="Google Shape;2613;p65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4" name="Google Shape;2614;p65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5" name="Google Shape;2615;p65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16" name="Google Shape;2616;p65"/>
              <p:cNvGrpSpPr/>
              <p:nvPr/>
            </p:nvGrpSpPr>
            <p:grpSpPr>
              <a:xfrm>
                <a:off x="8738" y="2108"/>
                <a:ext cx="100" cy="525"/>
                <a:chOff x="6232" y="3219"/>
                <a:chExt cx="92" cy="751"/>
              </a:xfrm>
            </p:grpSpPr>
            <p:sp>
              <p:nvSpPr>
                <p:cNvPr id="2617" name="Google Shape;2617;p65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8" name="Google Shape;2618;p65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9" name="Google Shape;2619;p65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0" name="Google Shape;2620;p65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2621" name="Google Shape;2621;p65"/>
            <p:cNvCxnSpPr/>
            <p:nvPr/>
          </p:nvCxnSpPr>
          <p:spPr>
            <a:xfrm>
              <a:off x="14614" y="4388"/>
              <a:ext cx="144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2" name="Google Shape;2622;p65"/>
            <p:cNvCxnSpPr/>
            <p:nvPr/>
          </p:nvCxnSpPr>
          <p:spPr>
            <a:xfrm>
              <a:off x="14596" y="6405"/>
              <a:ext cx="144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3" name="Google Shape;2623;p65"/>
            <p:cNvCxnSpPr/>
            <p:nvPr/>
          </p:nvCxnSpPr>
          <p:spPr>
            <a:xfrm>
              <a:off x="11226" y="4376"/>
              <a:ext cx="23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624" name="Google Shape;2624;p65"/>
            <p:cNvCxnSpPr/>
            <p:nvPr/>
          </p:nvCxnSpPr>
          <p:spPr>
            <a:xfrm rot="5400000">
              <a:off x="11656" y="4570"/>
              <a:ext cx="23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625" name="Google Shape;2625;p65"/>
            <p:cNvCxnSpPr/>
            <p:nvPr/>
          </p:nvCxnSpPr>
          <p:spPr>
            <a:xfrm>
              <a:off x="13631" y="4382"/>
              <a:ext cx="23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2626" name="Google Shape;2626;p65"/>
            <p:cNvSpPr txBox="1"/>
            <p:nvPr/>
          </p:nvSpPr>
          <p:spPr>
            <a:xfrm>
              <a:off x="11050" y="3672"/>
              <a:ext cx="702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7" name="Google Shape;2627;p65"/>
            <p:cNvSpPr txBox="1"/>
            <p:nvPr/>
          </p:nvSpPr>
          <p:spPr>
            <a:xfrm>
              <a:off x="13310" y="3609"/>
              <a:ext cx="846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8" name="Google Shape;2628;p65"/>
            <p:cNvSpPr txBox="1"/>
            <p:nvPr/>
          </p:nvSpPr>
          <p:spPr>
            <a:xfrm>
              <a:off x="11894" y="4368"/>
              <a:ext cx="1271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-i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29" name="Google Shape;2629;p65"/>
            <p:cNvCxnSpPr/>
            <p:nvPr/>
          </p:nvCxnSpPr>
          <p:spPr>
            <a:xfrm>
              <a:off x="15210" y="4382"/>
              <a:ext cx="234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2630" name="Google Shape;2630;p65"/>
            <p:cNvSpPr txBox="1"/>
            <p:nvPr/>
          </p:nvSpPr>
          <p:spPr>
            <a:xfrm>
              <a:off x="15210" y="3696"/>
              <a:ext cx="380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31" name="Google Shape;2631;p65"/>
            <p:cNvCxnSpPr/>
            <p:nvPr/>
          </p:nvCxnSpPr>
          <p:spPr>
            <a:xfrm>
              <a:off x="11204" y="4831"/>
              <a:ext cx="0" cy="1038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632" name="Google Shape;2632;p65"/>
            <p:cNvSpPr txBox="1"/>
            <p:nvPr/>
          </p:nvSpPr>
          <p:spPr>
            <a:xfrm>
              <a:off x="10502" y="4802"/>
              <a:ext cx="702" cy="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33" name="Google Shape;2633;p65"/>
            <p:cNvCxnSpPr/>
            <p:nvPr/>
          </p:nvCxnSpPr>
          <p:spPr>
            <a:xfrm>
              <a:off x="13690" y="4831"/>
              <a:ext cx="0" cy="1038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634" name="Google Shape;2634;p65"/>
            <p:cNvSpPr txBox="1"/>
            <p:nvPr/>
          </p:nvSpPr>
          <p:spPr>
            <a:xfrm>
              <a:off x="12888" y="4848"/>
              <a:ext cx="936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35" name="Google Shape;2635;p65"/>
            <p:cNvCxnSpPr/>
            <p:nvPr/>
          </p:nvCxnSpPr>
          <p:spPr>
            <a:xfrm>
              <a:off x="15376" y="4762"/>
              <a:ext cx="0" cy="1038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636" name="Google Shape;2636;p65"/>
            <p:cNvSpPr txBox="1"/>
            <p:nvPr/>
          </p:nvSpPr>
          <p:spPr>
            <a:xfrm>
              <a:off x="15502" y="4825"/>
              <a:ext cx="702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7" name="Google Shape;2637;p65"/>
            <p:cNvSpPr txBox="1"/>
            <p:nvPr/>
          </p:nvSpPr>
          <p:spPr>
            <a:xfrm>
              <a:off x="13953" y="6393"/>
              <a:ext cx="702" cy="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a:1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38" name="Google Shape;2638;p6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p65"/>
          <p:cNvSpPr/>
          <p:nvPr/>
        </p:nvSpPr>
        <p:spPr>
          <a:xfrm>
            <a:off x="3659297" y="5570054"/>
            <a:ext cx="6691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 p</a:t>
            </a:r>
            <a:r>
              <a:rPr b="0" i="0" lang="en-GB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 +</a:t>
            </a:r>
            <a:r>
              <a:rPr b="0" i="0" lang="en-GB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aM</a:t>
            </a:r>
            <a:r>
              <a:rPr b="0" i="0" lang="en-GB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p.(i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GB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66"/>
          <p:cNvSpPr/>
          <p:nvPr/>
        </p:nvSpPr>
        <p:spPr>
          <a:xfrm>
            <a:off x="128214" y="5018767"/>
            <a:ext cx="7577342" cy="1508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                       ,   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/L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30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 that     M  =  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66"/>
          <p:cNvSpPr/>
          <p:nvPr/>
        </p:nvSpPr>
        <p:spPr>
          <a:xfrm>
            <a:off x="69010" y="491769"/>
            <a:ext cx="1162754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Note that the equations are expressed either in terms   of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and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or in terms of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and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 i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/a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Allows a non-coupled equivalent circuit to be formed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6" name="Google Shape;264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199" y="5064052"/>
            <a:ext cx="11811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7" name="Google Shape;264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5299" y="5668365"/>
            <a:ext cx="1419225" cy="118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8" name="Google Shape;2648;p66"/>
          <p:cNvGrpSpPr/>
          <p:nvPr/>
        </p:nvGrpSpPr>
        <p:grpSpPr>
          <a:xfrm>
            <a:off x="191135" y="1905000"/>
            <a:ext cx="10191115" cy="2371725"/>
            <a:chOff x="528" y="4776"/>
            <a:chExt cx="8235" cy="1944"/>
          </a:xfrm>
        </p:grpSpPr>
        <p:grpSp>
          <p:nvGrpSpPr>
            <p:cNvPr id="2649" name="Google Shape;2649;p66"/>
            <p:cNvGrpSpPr/>
            <p:nvPr/>
          </p:nvGrpSpPr>
          <p:grpSpPr>
            <a:xfrm>
              <a:off x="528" y="4891"/>
              <a:ext cx="3600" cy="1553"/>
              <a:chOff x="1658" y="1125"/>
              <a:chExt cx="3600" cy="1553"/>
            </a:xfrm>
          </p:grpSpPr>
          <p:grpSp>
            <p:nvGrpSpPr>
              <p:cNvPr id="2650" name="Google Shape;2650;p66"/>
              <p:cNvGrpSpPr/>
              <p:nvPr/>
            </p:nvGrpSpPr>
            <p:grpSpPr>
              <a:xfrm flipH="1" rot="5400000">
                <a:off x="2835" y="1222"/>
                <a:ext cx="82" cy="665"/>
                <a:chOff x="6232" y="3219"/>
                <a:chExt cx="92" cy="751"/>
              </a:xfrm>
            </p:grpSpPr>
            <p:sp>
              <p:nvSpPr>
                <p:cNvPr id="2651" name="Google Shape;2651;p66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2" name="Google Shape;2652;p66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3" name="Google Shape;2653;p66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4" name="Google Shape;2654;p66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655" name="Google Shape;2655;p66"/>
              <p:cNvCxnSpPr/>
              <p:nvPr/>
            </p:nvCxnSpPr>
            <p:spPr>
              <a:xfrm rot="10800000">
                <a:off x="2258" y="1596"/>
                <a:ext cx="2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6" name="Google Shape;2656;p66"/>
              <p:cNvCxnSpPr/>
              <p:nvPr/>
            </p:nvCxnSpPr>
            <p:spPr>
              <a:xfrm rot="10800000">
                <a:off x="3194" y="1595"/>
                <a:ext cx="43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657" name="Google Shape;2657;p66"/>
              <p:cNvGrpSpPr/>
              <p:nvPr/>
            </p:nvGrpSpPr>
            <p:grpSpPr>
              <a:xfrm flipH="1" rot="5400000">
                <a:off x="3899" y="1222"/>
                <a:ext cx="82" cy="665"/>
                <a:chOff x="6232" y="3219"/>
                <a:chExt cx="92" cy="751"/>
              </a:xfrm>
            </p:grpSpPr>
            <p:sp>
              <p:nvSpPr>
                <p:cNvPr id="2658" name="Google Shape;2658;p66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9" name="Google Shape;2659;p66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0" name="Google Shape;2660;p66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1" name="Google Shape;2661;p66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662" name="Google Shape;2662;p66"/>
              <p:cNvCxnSpPr/>
              <p:nvPr/>
            </p:nvCxnSpPr>
            <p:spPr>
              <a:xfrm rot="10800000">
                <a:off x="4275" y="1595"/>
                <a:ext cx="2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63" name="Google Shape;2663;p66"/>
              <p:cNvSpPr txBox="1"/>
              <p:nvPr/>
            </p:nvSpPr>
            <p:spPr>
              <a:xfrm>
                <a:off x="2373" y="1125"/>
                <a:ext cx="763" cy="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 aM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664" name="Google Shape;2664;p66"/>
              <p:cNvCxnSpPr/>
              <p:nvPr/>
            </p:nvCxnSpPr>
            <p:spPr>
              <a:xfrm>
                <a:off x="3407" y="1596"/>
                <a:ext cx="0" cy="18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65" name="Google Shape;2665;p66"/>
              <p:cNvSpPr txBox="1"/>
              <p:nvPr/>
            </p:nvSpPr>
            <p:spPr>
              <a:xfrm>
                <a:off x="3584" y="1892"/>
                <a:ext cx="514" cy="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666" name="Google Shape;2666;p66"/>
              <p:cNvGrpSpPr/>
              <p:nvPr/>
            </p:nvGrpSpPr>
            <p:grpSpPr>
              <a:xfrm>
                <a:off x="3392" y="1778"/>
                <a:ext cx="101" cy="630"/>
                <a:chOff x="6232" y="3219"/>
                <a:chExt cx="92" cy="751"/>
              </a:xfrm>
            </p:grpSpPr>
            <p:sp>
              <p:nvSpPr>
                <p:cNvPr id="2667" name="Google Shape;2667;p66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8" name="Google Shape;2668;p66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9" name="Google Shape;2669;p66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0" name="Google Shape;2670;p66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671" name="Google Shape;2671;p66"/>
              <p:cNvCxnSpPr/>
              <p:nvPr/>
            </p:nvCxnSpPr>
            <p:spPr>
              <a:xfrm>
                <a:off x="3394" y="2408"/>
                <a:ext cx="0" cy="2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72" name="Google Shape;2672;p66"/>
              <p:cNvSpPr txBox="1"/>
              <p:nvPr/>
            </p:nvSpPr>
            <p:spPr>
              <a:xfrm>
                <a:off x="3458" y="1125"/>
                <a:ext cx="1428" cy="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baseline="30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(L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 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– M/a)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673" name="Google Shape;2673;p66"/>
              <p:cNvCxnSpPr/>
              <p:nvPr/>
            </p:nvCxnSpPr>
            <p:spPr>
              <a:xfrm>
                <a:off x="2258" y="2648"/>
                <a:ext cx="230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4" name="Google Shape;2674;p66"/>
              <p:cNvCxnSpPr/>
              <p:nvPr/>
            </p:nvCxnSpPr>
            <p:spPr>
              <a:xfrm>
                <a:off x="2348" y="1568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675" name="Google Shape;2675;p66"/>
              <p:cNvCxnSpPr/>
              <p:nvPr/>
            </p:nvCxnSpPr>
            <p:spPr>
              <a:xfrm rot="5400000">
                <a:off x="3323" y="2543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676" name="Google Shape;2676;p66"/>
              <p:cNvCxnSpPr/>
              <p:nvPr/>
            </p:nvCxnSpPr>
            <p:spPr>
              <a:xfrm>
                <a:off x="4373" y="1583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677" name="Google Shape;2677;p66"/>
              <p:cNvSpPr txBox="1"/>
              <p:nvPr/>
            </p:nvSpPr>
            <p:spPr>
              <a:xfrm>
                <a:off x="2258" y="162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8" name="Google Shape;2678;p66"/>
              <p:cNvSpPr txBox="1"/>
              <p:nvPr/>
            </p:nvSpPr>
            <p:spPr>
              <a:xfrm>
                <a:off x="4208" y="159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/a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9" name="Google Shape;2679;p66"/>
              <p:cNvSpPr txBox="1"/>
              <p:nvPr/>
            </p:nvSpPr>
            <p:spPr>
              <a:xfrm>
                <a:off x="3458" y="2318"/>
                <a:ext cx="652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/a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680" name="Google Shape;2680;p66"/>
              <p:cNvCxnSpPr/>
              <p:nvPr/>
            </p:nvCxnSpPr>
            <p:spPr>
              <a:xfrm>
                <a:off x="2018" y="1829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681" name="Google Shape;2681;p66"/>
              <p:cNvSpPr txBox="1"/>
              <p:nvPr/>
            </p:nvSpPr>
            <p:spPr>
              <a:xfrm>
                <a:off x="1658" y="159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682" name="Google Shape;2682;p66"/>
              <p:cNvCxnSpPr/>
              <p:nvPr/>
            </p:nvCxnSpPr>
            <p:spPr>
              <a:xfrm>
                <a:off x="4718" y="1829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683" name="Google Shape;2683;p66"/>
              <p:cNvSpPr txBox="1"/>
              <p:nvPr/>
            </p:nvSpPr>
            <p:spPr>
              <a:xfrm>
                <a:off x="4778" y="1598"/>
                <a:ext cx="48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684" name="Google Shape;2684;p66"/>
            <p:cNvSpPr txBox="1"/>
            <p:nvPr/>
          </p:nvSpPr>
          <p:spPr>
            <a:xfrm>
              <a:off x="4248" y="5436"/>
              <a:ext cx="360" cy="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≡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85" name="Google Shape;2685;p66"/>
            <p:cNvGrpSpPr/>
            <p:nvPr/>
          </p:nvGrpSpPr>
          <p:grpSpPr>
            <a:xfrm>
              <a:off x="4728" y="4776"/>
              <a:ext cx="4035" cy="1944"/>
              <a:chOff x="5858" y="1454"/>
              <a:chExt cx="4035" cy="1944"/>
            </a:xfrm>
          </p:grpSpPr>
          <p:grpSp>
            <p:nvGrpSpPr>
              <p:cNvPr id="2686" name="Google Shape;2686;p66"/>
              <p:cNvGrpSpPr/>
              <p:nvPr/>
            </p:nvGrpSpPr>
            <p:grpSpPr>
              <a:xfrm flipH="1" rot="5400000">
                <a:off x="7040" y="1618"/>
                <a:ext cx="82" cy="665"/>
                <a:chOff x="6232" y="3219"/>
                <a:chExt cx="92" cy="751"/>
              </a:xfrm>
            </p:grpSpPr>
            <p:sp>
              <p:nvSpPr>
                <p:cNvPr id="2687" name="Google Shape;2687;p66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8" name="Google Shape;2688;p66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9" name="Google Shape;2689;p66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0" name="Google Shape;2690;p66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691" name="Google Shape;2691;p66"/>
              <p:cNvCxnSpPr/>
              <p:nvPr/>
            </p:nvCxnSpPr>
            <p:spPr>
              <a:xfrm rot="10800000">
                <a:off x="6463" y="1992"/>
                <a:ext cx="2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2" name="Google Shape;2692;p66"/>
              <p:cNvCxnSpPr/>
              <p:nvPr/>
            </p:nvCxnSpPr>
            <p:spPr>
              <a:xfrm rot="10800000">
                <a:off x="7399" y="1991"/>
                <a:ext cx="43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693" name="Google Shape;2693;p66"/>
              <p:cNvGrpSpPr/>
              <p:nvPr/>
            </p:nvGrpSpPr>
            <p:grpSpPr>
              <a:xfrm flipH="1" rot="5400000">
                <a:off x="8104" y="1618"/>
                <a:ext cx="82" cy="665"/>
                <a:chOff x="6232" y="3219"/>
                <a:chExt cx="92" cy="751"/>
              </a:xfrm>
            </p:grpSpPr>
            <p:sp>
              <p:nvSpPr>
                <p:cNvPr id="2694" name="Google Shape;2694;p66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5" name="Google Shape;2695;p66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6" name="Google Shape;2696;p66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7" name="Google Shape;2697;p66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698" name="Google Shape;2698;p66"/>
              <p:cNvCxnSpPr/>
              <p:nvPr/>
            </p:nvCxnSpPr>
            <p:spPr>
              <a:xfrm rot="10800000">
                <a:off x="8480" y="1991"/>
                <a:ext cx="2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99" name="Google Shape;2699;p66"/>
              <p:cNvSpPr txBox="1"/>
              <p:nvPr/>
            </p:nvSpPr>
            <p:spPr>
              <a:xfrm>
                <a:off x="7075" y="1521"/>
                <a:ext cx="343" cy="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i="1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00" name="Google Shape;2700;p66"/>
              <p:cNvCxnSpPr/>
              <p:nvPr/>
            </p:nvCxnSpPr>
            <p:spPr>
              <a:xfrm>
                <a:off x="7612" y="1992"/>
                <a:ext cx="0" cy="18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01" name="Google Shape;2701;p66"/>
              <p:cNvSpPr txBox="1"/>
              <p:nvPr/>
            </p:nvSpPr>
            <p:spPr>
              <a:xfrm>
                <a:off x="7789" y="2367"/>
                <a:ext cx="469" cy="4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02" name="Google Shape;2702;p66"/>
              <p:cNvGrpSpPr/>
              <p:nvPr/>
            </p:nvGrpSpPr>
            <p:grpSpPr>
              <a:xfrm>
                <a:off x="7597" y="2174"/>
                <a:ext cx="101" cy="630"/>
                <a:chOff x="6232" y="3219"/>
                <a:chExt cx="92" cy="751"/>
              </a:xfrm>
            </p:grpSpPr>
            <p:sp>
              <p:nvSpPr>
                <p:cNvPr id="2703" name="Google Shape;2703;p66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4" name="Google Shape;2704;p66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5" name="Google Shape;2705;p66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6" name="Google Shape;2706;p66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707" name="Google Shape;2707;p66"/>
              <p:cNvCxnSpPr/>
              <p:nvPr/>
            </p:nvCxnSpPr>
            <p:spPr>
              <a:xfrm>
                <a:off x="7599" y="2804"/>
                <a:ext cx="0" cy="2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08" name="Google Shape;2708;p66"/>
              <p:cNvSpPr txBox="1"/>
              <p:nvPr/>
            </p:nvSpPr>
            <p:spPr>
              <a:xfrm>
                <a:off x="7972" y="1521"/>
                <a:ext cx="509" cy="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baseline="30000" i="1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r>
                  <a:rPr i="1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i="1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09" name="Google Shape;2709;p66"/>
              <p:cNvCxnSpPr/>
              <p:nvPr/>
            </p:nvCxnSpPr>
            <p:spPr>
              <a:xfrm>
                <a:off x="6463" y="3044"/>
                <a:ext cx="230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710" name="Google Shape;2710;p66"/>
              <p:cNvGrpSpPr/>
              <p:nvPr/>
            </p:nvGrpSpPr>
            <p:grpSpPr>
              <a:xfrm>
                <a:off x="8738" y="1979"/>
                <a:ext cx="104" cy="1050"/>
                <a:chOff x="8738" y="1583"/>
                <a:chExt cx="104" cy="1050"/>
              </a:xfrm>
            </p:grpSpPr>
            <p:grpSp>
              <p:nvGrpSpPr>
                <p:cNvPr id="2711" name="Google Shape;2711;p66"/>
                <p:cNvGrpSpPr/>
                <p:nvPr/>
              </p:nvGrpSpPr>
              <p:grpSpPr>
                <a:xfrm>
                  <a:off x="8742" y="1583"/>
                  <a:ext cx="100" cy="525"/>
                  <a:chOff x="6232" y="3219"/>
                  <a:chExt cx="92" cy="751"/>
                </a:xfrm>
              </p:grpSpPr>
              <p:sp>
                <p:nvSpPr>
                  <p:cNvPr id="2712" name="Google Shape;2712;p66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3" name="Google Shape;2713;p66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4" name="Google Shape;2714;p66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5" name="Google Shape;2715;p66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16" name="Google Shape;2716;p66"/>
                <p:cNvGrpSpPr/>
                <p:nvPr/>
              </p:nvGrpSpPr>
              <p:grpSpPr>
                <a:xfrm>
                  <a:off x="8738" y="2108"/>
                  <a:ext cx="100" cy="525"/>
                  <a:chOff x="6232" y="3219"/>
                  <a:chExt cx="92" cy="751"/>
                </a:xfrm>
              </p:grpSpPr>
              <p:sp>
                <p:nvSpPr>
                  <p:cNvPr id="2717" name="Google Shape;2717;p66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8" name="Google Shape;2718;p66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9" name="Google Shape;2719;p66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0" name="Google Shape;2720;p66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721" name="Google Shape;2721;p66"/>
              <p:cNvGrpSpPr/>
              <p:nvPr/>
            </p:nvGrpSpPr>
            <p:grpSpPr>
              <a:xfrm flipH="1">
                <a:off x="8978" y="1994"/>
                <a:ext cx="104" cy="1050"/>
                <a:chOff x="8738" y="1583"/>
                <a:chExt cx="104" cy="1050"/>
              </a:xfrm>
            </p:grpSpPr>
            <p:grpSp>
              <p:nvGrpSpPr>
                <p:cNvPr id="2722" name="Google Shape;2722;p66"/>
                <p:cNvGrpSpPr/>
                <p:nvPr/>
              </p:nvGrpSpPr>
              <p:grpSpPr>
                <a:xfrm>
                  <a:off x="8742" y="1583"/>
                  <a:ext cx="100" cy="525"/>
                  <a:chOff x="6232" y="3219"/>
                  <a:chExt cx="92" cy="751"/>
                </a:xfrm>
              </p:grpSpPr>
              <p:sp>
                <p:nvSpPr>
                  <p:cNvPr id="2723" name="Google Shape;2723;p66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4" name="Google Shape;2724;p66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5" name="Google Shape;2725;p66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6" name="Google Shape;2726;p66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7" name="Google Shape;2727;p66"/>
                <p:cNvGrpSpPr/>
                <p:nvPr/>
              </p:nvGrpSpPr>
              <p:grpSpPr>
                <a:xfrm>
                  <a:off x="8738" y="2108"/>
                  <a:ext cx="100" cy="525"/>
                  <a:chOff x="6232" y="3219"/>
                  <a:chExt cx="92" cy="751"/>
                </a:xfrm>
              </p:grpSpPr>
              <p:sp>
                <p:nvSpPr>
                  <p:cNvPr id="2728" name="Google Shape;2728;p66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9" name="Google Shape;2729;p66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0" name="Google Shape;2730;p66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1" name="Google Shape;2731;p66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2732" name="Google Shape;2732;p66"/>
              <p:cNvCxnSpPr/>
              <p:nvPr/>
            </p:nvCxnSpPr>
            <p:spPr>
              <a:xfrm>
                <a:off x="9077" y="1994"/>
                <a:ext cx="74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3" name="Google Shape;2733;p66"/>
              <p:cNvCxnSpPr/>
              <p:nvPr/>
            </p:nvCxnSpPr>
            <p:spPr>
              <a:xfrm>
                <a:off x="9068" y="3044"/>
                <a:ext cx="74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4" name="Google Shape;2734;p66"/>
              <p:cNvCxnSpPr/>
              <p:nvPr/>
            </p:nvCxnSpPr>
            <p:spPr>
              <a:xfrm>
                <a:off x="6548" y="1964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735" name="Google Shape;2735;p66"/>
              <p:cNvCxnSpPr/>
              <p:nvPr/>
            </p:nvCxnSpPr>
            <p:spPr>
              <a:xfrm rot="5400000">
                <a:off x="7523" y="293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736" name="Google Shape;2736;p66"/>
              <p:cNvCxnSpPr/>
              <p:nvPr/>
            </p:nvCxnSpPr>
            <p:spPr>
              <a:xfrm>
                <a:off x="8573" y="197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737" name="Google Shape;2737;p66"/>
              <p:cNvSpPr txBox="1"/>
              <p:nvPr/>
            </p:nvSpPr>
            <p:spPr>
              <a:xfrm>
                <a:off x="6458" y="145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8" name="Google Shape;2738;p66"/>
              <p:cNvSpPr txBox="1"/>
              <p:nvPr/>
            </p:nvSpPr>
            <p:spPr>
              <a:xfrm>
                <a:off x="8408" y="1589"/>
                <a:ext cx="434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/a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9" name="Google Shape;2739;p66"/>
              <p:cNvSpPr txBox="1"/>
              <p:nvPr/>
            </p:nvSpPr>
            <p:spPr>
              <a:xfrm>
                <a:off x="7658" y="2714"/>
                <a:ext cx="652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/a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40" name="Google Shape;2740;p66"/>
              <p:cNvCxnSpPr/>
              <p:nvPr/>
            </p:nvCxnSpPr>
            <p:spPr>
              <a:xfrm>
                <a:off x="9383" y="197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741" name="Google Shape;2741;p66"/>
              <p:cNvSpPr txBox="1"/>
              <p:nvPr/>
            </p:nvSpPr>
            <p:spPr>
              <a:xfrm>
                <a:off x="9383" y="1634"/>
                <a:ext cx="195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42" name="Google Shape;2742;p66"/>
              <p:cNvCxnSpPr/>
              <p:nvPr/>
            </p:nvCxnSpPr>
            <p:spPr>
              <a:xfrm>
                <a:off x="6218" y="2225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743" name="Google Shape;2743;p66"/>
              <p:cNvSpPr txBox="1"/>
              <p:nvPr/>
            </p:nvSpPr>
            <p:spPr>
              <a:xfrm>
                <a:off x="5858" y="199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44" name="Google Shape;2744;p66"/>
              <p:cNvCxnSpPr/>
              <p:nvPr/>
            </p:nvCxnSpPr>
            <p:spPr>
              <a:xfrm>
                <a:off x="8603" y="2225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745" name="Google Shape;2745;p66"/>
              <p:cNvSpPr txBox="1"/>
              <p:nvPr/>
            </p:nvSpPr>
            <p:spPr>
              <a:xfrm>
                <a:off x="8168" y="2174"/>
                <a:ext cx="48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46" name="Google Shape;2746;p66"/>
              <p:cNvCxnSpPr/>
              <p:nvPr/>
            </p:nvCxnSpPr>
            <p:spPr>
              <a:xfrm>
                <a:off x="9893" y="2225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747" name="Google Shape;2747;p66"/>
              <p:cNvSpPr txBox="1"/>
              <p:nvPr/>
            </p:nvSpPr>
            <p:spPr>
              <a:xfrm>
                <a:off x="9533" y="217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48" name="Google Shape;2748;p66"/>
              <p:cNvSpPr txBox="1"/>
              <p:nvPr/>
            </p:nvSpPr>
            <p:spPr>
              <a:xfrm>
                <a:off x="8738" y="30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a:1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749" name="Google Shape;2749;p66"/>
          <p:cNvSpPr/>
          <p:nvPr/>
        </p:nvSpPr>
        <p:spPr>
          <a:xfrm>
            <a:off x="69010" y="4108312"/>
            <a:ext cx="1199477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May also be drawn with ideal transformer added so that secondary quantities would remain unmodified on that side.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Also, M  =  k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66"/>
          <p:cNvSpPr/>
          <p:nvPr/>
        </p:nvSpPr>
        <p:spPr>
          <a:xfrm>
            <a:off x="0" y="233362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67"/>
          <p:cNvSpPr/>
          <p:nvPr/>
        </p:nvSpPr>
        <p:spPr>
          <a:xfrm>
            <a:off x="295834" y="609106"/>
            <a:ext cx="11107271" cy="59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giving  	aM = k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 = (1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k)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M/a) = a</a:t>
            </a:r>
            <a:r>
              <a:rPr baseline="30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k) 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k is the coefficient of coupling,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k) corresponds to the leakage.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k)Lp and (1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k)L</a:t>
            </a:r>
            <a:r>
              <a:rPr baseline="-25000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correspond to leakage inductances 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primary and secondary windings.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Shunt inductance 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corresponds to the magnetisation inductance </a:t>
            </a:r>
            <a:r>
              <a:rPr b="1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transformer. 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transformer equivalent circuit is normally drawn                 with these variables rather than the self and mutual       inductances.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p68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Alternate Analysis</a:t>
            </a:r>
            <a:endParaRPr/>
          </a:p>
        </p:txBody>
      </p:sp>
      <p:grpSp>
        <p:nvGrpSpPr>
          <p:cNvPr id="2761" name="Google Shape;2761;p68"/>
          <p:cNvGrpSpPr/>
          <p:nvPr/>
        </p:nvGrpSpPr>
        <p:grpSpPr>
          <a:xfrm>
            <a:off x="242103" y="1149194"/>
            <a:ext cx="4137556" cy="2328799"/>
            <a:chOff x="8018" y="8618"/>
            <a:chExt cx="2520" cy="1800"/>
          </a:xfrm>
        </p:grpSpPr>
        <p:grpSp>
          <p:nvGrpSpPr>
            <p:cNvPr id="2762" name="Google Shape;2762;p68"/>
            <p:cNvGrpSpPr/>
            <p:nvPr/>
          </p:nvGrpSpPr>
          <p:grpSpPr>
            <a:xfrm rot="-5400000">
              <a:off x="8426" y="9355"/>
              <a:ext cx="1080" cy="355"/>
              <a:chOff x="8378" y="8263"/>
              <a:chExt cx="1080" cy="355"/>
            </a:xfrm>
          </p:grpSpPr>
          <p:sp>
            <p:nvSpPr>
              <p:cNvPr id="2763" name="Google Shape;2763;p68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64" name="Google Shape;2764;p68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2765" name="Google Shape;2765;p68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766" name="Google Shape;2766;p68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767" name="Google Shape;2767;p68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2768" name="Google Shape;2768;p68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769" name="Google Shape;2769;p68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770" name="Google Shape;2770;p68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2771" name="Google Shape;2771;p68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772" name="Google Shape;2772;p68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773" name="Google Shape;2773;p68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4" name="Google Shape;2774;p68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75" name="Google Shape;2775;p68"/>
            <p:cNvCxnSpPr/>
            <p:nvPr/>
          </p:nvCxnSpPr>
          <p:spPr>
            <a:xfrm rot="10800000">
              <a:off x="8618" y="897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6" name="Google Shape;2776;p68"/>
            <p:cNvCxnSpPr/>
            <p:nvPr/>
          </p:nvCxnSpPr>
          <p:spPr>
            <a:xfrm rot="10800000">
              <a:off x="8618" y="1005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777" name="Google Shape;2777;p68"/>
            <p:cNvGrpSpPr/>
            <p:nvPr/>
          </p:nvGrpSpPr>
          <p:grpSpPr>
            <a:xfrm flipH="1" rot="5400000">
              <a:off x="9071" y="9355"/>
              <a:ext cx="1080" cy="355"/>
              <a:chOff x="8378" y="8263"/>
              <a:chExt cx="1080" cy="355"/>
            </a:xfrm>
          </p:grpSpPr>
          <p:sp>
            <p:nvSpPr>
              <p:cNvPr id="2778" name="Google Shape;2778;p68"/>
              <p:cNvSpPr/>
              <p:nvPr/>
            </p:nvSpPr>
            <p:spPr>
              <a:xfrm rot="10800000">
                <a:off x="8378" y="8447"/>
                <a:ext cx="320" cy="169"/>
              </a:xfrm>
              <a:custGeom>
                <a:rect b="b" l="l" r="r" t="t"/>
                <a:pathLst>
                  <a:path extrusionOk="0" fill="none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</a:path>
                  <a:path extrusionOk="0" h="22566" w="41573">
                    <a:moveTo>
                      <a:pt x="-1" y="13376"/>
                    </a:moveTo>
                    <a:cubicBezTo>
                      <a:pt x="3331" y="5282"/>
                      <a:pt x="11219" y="0"/>
                      <a:pt x="19973" y="0"/>
                    </a:cubicBezTo>
                    <a:cubicBezTo>
                      <a:pt x="31902" y="0"/>
                      <a:pt x="41573" y="9670"/>
                      <a:pt x="41573" y="21600"/>
                    </a:cubicBezTo>
                    <a:cubicBezTo>
                      <a:pt x="41573" y="21922"/>
                      <a:pt x="41565" y="22244"/>
                      <a:pt x="41551" y="22566"/>
                    </a:cubicBezTo>
                    <a:lnTo>
                      <a:pt x="19973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79" name="Google Shape;2779;p68"/>
              <p:cNvGrpSpPr/>
              <p:nvPr/>
            </p:nvGrpSpPr>
            <p:grpSpPr>
              <a:xfrm>
                <a:off x="8556" y="8273"/>
                <a:ext cx="328" cy="344"/>
                <a:chOff x="2020" y="8243"/>
                <a:chExt cx="1768" cy="960"/>
              </a:xfrm>
            </p:grpSpPr>
            <p:sp>
              <p:nvSpPr>
                <p:cNvPr id="2780" name="Google Shape;2780;p68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781" name="Google Shape;2781;p68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782" name="Google Shape;2782;p68"/>
              <p:cNvGrpSpPr/>
              <p:nvPr/>
            </p:nvGrpSpPr>
            <p:grpSpPr>
              <a:xfrm>
                <a:off x="8745" y="8263"/>
                <a:ext cx="328" cy="344"/>
                <a:chOff x="2020" y="8243"/>
                <a:chExt cx="1768" cy="960"/>
              </a:xfrm>
            </p:grpSpPr>
            <p:sp>
              <p:nvSpPr>
                <p:cNvPr id="2783" name="Google Shape;2783;p68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784" name="Google Shape;2784;p68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2785" name="Google Shape;2785;p68"/>
              <p:cNvGrpSpPr/>
              <p:nvPr/>
            </p:nvGrpSpPr>
            <p:grpSpPr>
              <a:xfrm>
                <a:off x="8931" y="8269"/>
                <a:ext cx="328" cy="344"/>
                <a:chOff x="2020" y="8243"/>
                <a:chExt cx="1768" cy="960"/>
              </a:xfrm>
            </p:grpSpPr>
            <p:sp>
              <p:nvSpPr>
                <p:cNvPr id="2786" name="Google Shape;2786;p68"/>
                <p:cNvSpPr/>
                <p:nvPr/>
              </p:nvSpPr>
              <p:spPr>
                <a:xfrm>
                  <a:off x="2020" y="8243"/>
                  <a:ext cx="842" cy="674"/>
                </a:xfrm>
                <a:custGeom>
                  <a:rect b="b" l="l" r="r" t="t"/>
                  <a:pathLst>
                    <a:path extrusionOk="0" fill="none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</a:path>
                    <a:path extrusionOk="0" h="34987" w="43200">
                      <a:moveTo>
                        <a:pt x="4648" y="34987"/>
                      </a:moveTo>
                      <a:cubicBezTo>
                        <a:pt x="1637" y="31174"/>
                        <a:pt x="0" y="2645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199" y="26139"/>
                        <a:pt x="41770" y="30562"/>
                        <a:pt x="39113" y="34243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787" name="Google Shape;2787;p68"/>
                <p:cNvSpPr/>
                <p:nvPr/>
              </p:nvSpPr>
              <p:spPr>
                <a:xfrm rot="10800000">
                  <a:off x="2117" y="8753"/>
                  <a:ext cx="1671" cy="450"/>
                </a:xfrm>
                <a:custGeom>
                  <a:rect b="b" l="l" r="r" t="t"/>
                  <a:pathLst>
                    <a:path extrusionOk="0" fill="none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</a:path>
                    <a:path extrusionOk="0" h="21600" w="40269">
                      <a:moveTo>
                        <a:pt x="-1" y="13376"/>
                      </a:moveTo>
                      <a:cubicBezTo>
                        <a:pt x="3331" y="5282"/>
                        <a:pt x="11219" y="0"/>
                        <a:pt x="19973" y="0"/>
                      </a:cubicBezTo>
                      <a:cubicBezTo>
                        <a:pt x="29051" y="0"/>
                        <a:pt x="37161" y="5677"/>
                        <a:pt x="40268" y="14208"/>
                      </a:cubicBezTo>
                      <a:lnTo>
                        <a:pt x="19973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788" name="Google Shape;2788;p68"/>
              <p:cNvSpPr/>
              <p:nvPr/>
            </p:nvSpPr>
            <p:spPr>
              <a:xfrm>
                <a:off x="9118" y="8274"/>
                <a:ext cx="156" cy="242"/>
              </a:xfrm>
              <a:custGeom>
                <a:rect b="b" l="l" r="r" t="t"/>
                <a:pathLst>
                  <a:path extrusionOk="0" fill="none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</a:path>
                  <a:path extrusionOk="0" h="34987" w="43200">
                    <a:moveTo>
                      <a:pt x="4648" y="34987"/>
                    </a:moveTo>
                    <a:cubicBezTo>
                      <a:pt x="1637" y="31174"/>
                      <a:pt x="0" y="2645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199" y="26139"/>
                      <a:pt x="41770" y="30562"/>
                      <a:pt x="39113" y="34243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89" name="Google Shape;2789;p68"/>
              <p:cNvSpPr/>
              <p:nvPr/>
            </p:nvSpPr>
            <p:spPr>
              <a:xfrm rot="10800000">
                <a:off x="9136" y="8454"/>
                <a:ext cx="322" cy="164"/>
              </a:xfrm>
              <a:custGeom>
                <a:rect b="b" l="l" r="r" t="t"/>
                <a:pathLst>
                  <a:path extrusionOk="0" fill="none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</a:path>
                  <a:path extrusionOk="0" h="22008" w="41896">
                    <a:moveTo>
                      <a:pt x="3" y="22008"/>
                    </a:moveTo>
                    <a:cubicBezTo>
                      <a:pt x="1" y="21872"/>
                      <a:pt x="0" y="2173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678" y="0"/>
                      <a:pt x="38788" y="5677"/>
                      <a:pt x="41895" y="1420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90" name="Google Shape;2790;p68"/>
            <p:cNvCxnSpPr/>
            <p:nvPr/>
          </p:nvCxnSpPr>
          <p:spPr>
            <a:xfrm rot="10800000">
              <a:off x="9578" y="897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1" name="Google Shape;2791;p68"/>
            <p:cNvCxnSpPr/>
            <p:nvPr/>
          </p:nvCxnSpPr>
          <p:spPr>
            <a:xfrm rot="10800000">
              <a:off x="9578" y="10058"/>
              <a:ext cx="36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2" name="Google Shape;2792;p68"/>
            <p:cNvSpPr txBox="1"/>
            <p:nvPr/>
          </p:nvSpPr>
          <p:spPr>
            <a:xfrm>
              <a:off x="8018" y="9140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93" name="Google Shape;2793;p68"/>
            <p:cNvCxnSpPr/>
            <p:nvPr/>
          </p:nvCxnSpPr>
          <p:spPr>
            <a:xfrm>
              <a:off x="8859" y="8978"/>
              <a:ext cx="12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794" name="Google Shape;2794;p68"/>
            <p:cNvCxnSpPr/>
            <p:nvPr/>
          </p:nvCxnSpPr>
          <p:spPr>
            <a:xfrm>
              <a:off x="8423" y="9278"/>
              <a:ext cx="0" cy="5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795" name="Google Shape;2795;p68"/>
            <p:cNvSpPr txBox="1"/>
            <p:nvPr/>
          </p:nvSpPr>
          <p:spPr>
            <a:xfrm>
              <a:off x="10178" y="91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96" name="Google Shape;2796;p68"/>
            <p:cNvCxnSpPr/>
            <p:nvPr/>
          </p:nvCxnSpPr>
          <p:spPr>
            <a:xfrm>
              <a:off x="10118" y="9293"/>
              <a:ext cx="0" cy="5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797" name="Google Shape;2797;p68"/>
            <p:cNvCxnSpPr/>
            <p:nvPr/>
          </p:nvCxnSpPr>
          <p:spPr>
            <a:xfrm>
              <a:off x="9698" y="8978"/>
              <a:ext cx="12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798" name="Google Shape;2798;p68"/>
            <p:cNvSpPr txBox="1"/>
            <p:nvPr/>
          </p:nvSpPr>
          <p:spPr>
            <a:xfrm>
              <a:off x="8543" y="92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9" name="Google Shape;2799;p68"/>
            <p:cNvSpPr txBox="1"/>
            <p:nvPr/>
          </p:nvSpPr>
          <p:spPr>
            <a:xfrm>
              <a:off x="9818" y="927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0" name="Google Shape;2800;p68"/>
            <p:cNvSpPr txBox="1"/>
            <p:nvPr/>
          </p:nvSpPr>
          <p:spPr>
            <a:xfrm>
              <a:off x="9698" y="8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1" name="Google Shape;2801;p68"/>
            <p:cNvSpPr txBox="1"/>
            <p:nvPr/>
          </p:nvSpPr>
          <p:spPr>
            <a:xfrm>
              <a:off x="8618" y="8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2" name="Google Shape;2802;p68"/>
            <p:cNvSpPr txBox="1"/>
            <p:nvPr/>
          </p:nvSpPr>
          <p:spPr>
            <a:xfrm>
              <a:off x="9203" y="861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i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3" name="Google Shape;2803;p68"/>
            <p:cNvSpPr/>
            <p:nvPr/>
          </p:nvSpPr>
          <p:spPr>
            <a:xfrm>
              <a:off x="9028" y="8798"/>
              <a:ext cx="79" cy="75"/>
            </a:xfrm>
            <a:prstGeom prst="ellipse">
              <a:avLst/>
            </a:prstGeom>
            <a:solidFill>
              <a:srgbClr val="C000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4" name="Google Shape;2804;p68"/>
            <p:cNvSpPr/>
            <p:nvPr/>
          </p:nvSpPr>
          <p:spPr>
            <a:xfrm>
              <a:off x="9499" y="8798"/>
              <a:ext cx="79" cy="75"/>
            </a:xfrm>
            <a:prstGeom prst="ellipse">
              <a:avLst/>
            </a:prstGeom>
            <a:solidFill>
              <a:srgbClr val="C00000"/>
            </a:solidFill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5" name="Google Shape;2805;p68"/>
            <p:cNvSpPr txBox="1"/>
            <p:nvPr/>
          </p:nvSpPr>
          <p:spPr>
            <a:xfrm>
              <a:off x="9098" y="10058"/>
              <a:ext cx="36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a:1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06" name="Google Shape;2806;p68"/>
          <p:cNvGrpSpPr/>
          <p:nvPr/>
        </p:nvGrpSpPr>
        <p:grpSpPr>
          <a:xfrm>
            <a:off x="4840972" y="999568"/>
            <a:ext cx="6084754" cy="2743200"/>
            <a:chOff x="4512" y="4776"/>
            <a:chExt cx="4251" cy="1944"/>
          </a:xfrm>
        </p:grpSpPr>
        <p:sp>
          <p:nvSpPr>
            <p:cNvPr id="2807" name="Google Shape;2807;p68"/>
            <p:cNvSpPr txBox="1"/>
            <p:nvPr/>
          </p:nvSpPr>
          <p:spPr>
            <a:xfrm>
              <a:off x="4512" y="5436"/>
              <a:ext cx="360" cy="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≡</a:t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808" name="Google Shape;2808;p68"/>
            <p:cNvGrpSpPr/>
            <p:nvPr/>
          </p:nvGrpSpPr>
          <p:grpSpPr>
            <a:xfrm>
              <a:off x="5088" y="4776"/>
              <a:ext cx="3675" cy="1944"/>
              <a:chOff x="6218" y="1454"/>
              <a:chExt cx="3675" cy="1944"/>
            </a:xfrm>
          </p:grpSpPr>
          <p:grpSp>
            <p:nvGrpSpPr>
              <p:cNvPr id="2809" name="Google Shape;2809;p68"/>
              <p:cNvGrpSpPr/>
              <p:nvPr/>
            </p:nvGrpSpPr>
            <p:grpSpPr>
              <a:xfrm flipH="1" rot="5400000">
                <a:off x="7040" y="1618"/>
                <a:ext cx="82" cy="665"/>
                <a:chOff x="6232" y="3219"/>
                <a:chExt cx="92" cy="751"/>
              </a:xfrm>
            </p:grpSpPr>
            <p:sp>
              <p:nvSpPr>
                <p:cNvPr id="2810" name="Google Shape;2810;p68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1" name="Google Shape;2811;p68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2" name="Google Shape;2812;p68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3" name="Google Shape;2813;p68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814" name="Google Shape;2814;p68"/>
              <p:cNvCxnSpPr/>
              <p:nvPr/>
            </p:nvCxnSpPr>
            <p:spPr>
              <a:xfrm rot="10800000">
                <a:off x="6463" y="1992"/>
                <a:ext cx="2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5" name="Google Shape;2815;p68"/>
              <p:cNvCxnSpPr/>
              <p:nvPr/>
            </p:nvCxnSpPr>
            <p:spPr>
              <a:xfrm rot="10800000">
                <a:off x="7399" y="1991"/>
                <a:ext cx="43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816" name="Google Shape;2816;p68"/>
              <p:cNvGrpSpPr/>
              <p:nvPr/>
            </p:nvGrpSpPr>
            <p:grpSpPr>
              <a:xfrm flipH="1" rot="5400000">
                <a:off x="8104" y="1618"/>
                <a:ext cx="82" cy="665"/>
                <a:chOff x="6232" y="3219"/>
                <a:chExt cx="92" cy="751"/>
              </a:xfrm>
            </p:grpSpPr>
            <p:sp>
              <p:nvSpPr>
                <p:cNvPr id="2817" name="Google Shape;2817;p68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8" name="Google Shape;2818;p68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9" name="Google Shape;2819;p68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0" name="Google Shape;2820;p68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821" name="Google Shape;2821;p68"/>
              <p:cNvCxnSpPr/>
              <p:nvPr/>
            </p:nvCxnSpPr>
            <p:spPr>
              <a:xfrm rot="10800000">
                <a:off x="8480" y="1991"/>
                <a:ext cx="2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22" name="Google Shape;2822;p68"/>
              <p:cNvSpPr txBox="1"/>
              <p:nvPr/>
            </p:nvSpPr>
            <p:spPr>
              <a:xfrm>
                <a:off x="7075" y="1521"/>
                <a:ext cx="343" cy="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i="1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823" name="Google Shape;2823;p68"/>
              <p:cNvCxnSpPr/>
              <p:nvPr/>
            </p:nvCxnSpPr>
            <p:spPr>
              <a:xfrm>
                <a:off x="7612" y="1992"/>
                <a:ext cx="0" cy="18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24" name="Google Shape;2824;p68"/>
              <p:cNvSpPr txBox="1"/>
              <p:nvPr/>
            </p:nvSpPr>
            <p:spPr>
              <a:xfrm>
                <a:off x="7789" y="2367"/>
                <a:ext cx="469" cy="4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825" name="Google Shape;2825;p68"/>
              <p:cNvGrpSpPr/>
              <p:nvPr/>
            </p:nvGrpSpPr>
            <p:grpSpPr>
              <a:xfrm>
                <a:off x="7597" y="2174"/>
                <a:ext cx="101" cy="630"/>
                <a:chOff x="6232" y="3219"/>
                <a:chExt cx="92" cy="751"/>
              </a:xfrm>
            </p:grpSpPr>
            <p:sp>
              <p:nvSpPr>
                <p:cNvPr id="2826" name="Google Shape;2826;p68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7" name="Google Shape;2827;p68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8" name="Google Shape;2828;p68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9" name="Google Shape;2829;p68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2830" name="Google Shape;2830;p68"/>
              <p:cNvCxnSpPr/>
              <p:nvPr/>
            </p:nvCxnSpPr>
            <p:spPr>
              <a:xfrm>
                <a:off x="7599" y="2804"/>
                <a:ext cx="0" cy="2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31" name="Google Shape;2831;p68"/>
              <p:cNvSpPr txBox="1"/>
              <p:nvPr/>
            </p:nvSpPr>
            <p:spPr>
              <a:xfrm>
                <a:off x="7972" y="1521"/>
                <a:ext cx="509" cy="3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baseline="30000" i="1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r>
                  <a:rPr i="1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</a:t>
                </a:r>
                <a:r>
                  <a:rPr baseline="-25000" i="1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832" name="Google Shape;2832;p68"/>
              <p:cNvCxnSpPr/>
              <p:nvPr/>
            </p:nvCxnSpPr>
            <p:spPr>
              <a:xfrm>
                <a:off x="6463" y="3044"/>
                <a:ext cx="230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833" name="Google Shape;2833;p68"/>
              <p:cNvGrpSpPr/>
              <p:nvPr/>
            </p:nvGrpSpPr>
            <p:grpSpPr>
              <a:xfrm>
                <a:off x="8738" y="1979"/>
                <a:ext cx="104" cy="1050"/>
                <a:chOff x="8738" y="1583"/>
                <a:chExt cx="104" cy="1050"/>
              </a:xfrm>
            </p:grpSpPr>
            <p:grpSp>
              <p:nvGrpSpPr>
                <p:cNvPr id="2834" name="Google Shape;2834;p68"/>
                <p:cNvGrpSpPr/>
                <p:nvPr/>
              </p:nvGrpSpPr>
              <p:grpSpPr>
                <a:xfrm>
                  <a:off x="8742" y="1583"/>
                  <a:ext cx="100" cy="525"/>
                  <a:chOff x="6232" y="3219"/>
                  <a:chExt cx="92" cy="751"/>
                </a:xfrm>
              </p:grpSpPr>
              <p:sp>
                <p:nvSpPr>
                  <p:cNvPr id="2835" name="Google Shape;2835;p68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36" name="Google Shape;2836;p68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37" name="Google Shape;2837;p68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38" name="Google Shape;2838;p68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39" name="Google Shape;2839;p68"/>
                <p:cNvGrpSpPr/>
                <p:nvPr/>
              </p:nvGrpSpPr>
              <p:grpSpPr>
                <a:xfrm>
                  <a:off x="8738" y="2108"/>
                  <a:ext cx="100" cy="525"/>
                  <a:chOff x="6232" y="3219"/>
                  <a:chExt cx="92" cy="751"/>
                </a:xfrm>
              </p:grpSpPr>
              <p:sp>
                <p:nvSpPr>
                  <p:cNvPr id="2840" name="Google Shape;2840;p68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1" name="Google Shape;2841;p68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2" name="Google Shape;2842;p68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3" name="Google Shape;2843;p68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44" name="Google Shape;2844;p68"/>
              <p:cNvGrpSpPr/>
              <p:nvPr/>
            </p:nvGrpSpPr>
            <p:grpSpPr>
              <a:xfrm flipH="1">
                <a:off x="8978" y="1994"/>
                <a:ext cx="104" cy="1050"/>
                <a:chOff x="8738" y="1583"/>
                <a:chExt cx="104" cy="1050"/>
              </a:xfrm>
            </p:grpSpPr>
            <p:grpSp>
              <p:nvGrpSpPr>
                <p:cNvPr id="2845" name="Google Shape;2845;p68"/>
                <p:cNvGrpSpPr/>
                <p:nvPr/>
              </p:nvGrpSpPr>
              <p:grpSpPr>
                <a:xfrm>
                  <a:off x="8742" y="1583"/>
                  <a:ext cx="100" cy="525"/>
                  <a:chOff x="6232" y="3219"/>
                  <a:chExt cx="92" cy="751"/>
                </a:xfrm>
              </p:grpSpPr>
              <p:sp>
                <p:nvSpPr>
                  <p:cNvPr id="2846" name="Google Shape;2846;p68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7" name="Google Shape;2847;p68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8" name="Google Shape;2848;p68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9" name="Google Shape;2849;p68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50" name="Google Shape;2850;p68"/>
                <p:cNvGrpSpPr/>
                <p:nvPr/>
              </p:nvGrpSpPr>
              <p:grpSpPr>
                <a:xfrm>
                  <a:off x="8738" y="2108"/>
                  <a:ext cx="100" cy="525"/>
                  <a:chOff x="6232" y="3219"/>
                  <a:chExt cx="92" cy="751"/>
                </a:xfrm>
              </p:grpSpPr>
              <p:sp>
                <p:nvSpPr>
                  <p:cNvPr id="2851" name="Google Shape;2851;p68"/>
                  <p:cNvSpPr/>
                  <p:nvPr/>
                </p:nvSpPr>
                <p:spPr>
                  <a:xfrm>
                    <a:off x="6233" y="3219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2" name="Google Shape;2852;p68"/>
                  <p:cNvSpPr/>
                  <p:nvPr/>
                </p:nvSpPr>
                <p:spPr>
                  <a:xfrm>
                    <a:off x="6232" y="3414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3" name="Google Shape;2853;p68"/>
                  <p:cNvSpPr/>
                  <p:nvPr/>
                </p:nvSpPr>
                <p:spPr>
                  <a:xfrm>
                    <a:off x="6233" y="3593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4" name="Google Shape;2854;p68"/>
                  <p:cNvSpPr/>
                  <p:nvPr/>
                </p:nvSpPr>
                <p:spPr>
                  <a:xfrm>
                    <a:off x="6232" y="3788"/>
                    <a:ext cx="91" cy="182"/>
                  </a:xfrm>
                  <a:custGeom>
                    <a:rect b="b" l="l" r="r" t="t"/>
                    <a:pathLst>
                      <a:path extrusionOk="0" fill="none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</a:path>
                      <a:path extrusionOk="0" h="43200" w="2160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529"/>
                          <a:pt x="11929" y="43199"/>
                          <a:pt x="0" y="4319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2855" name="Google Shape;2855;p68"/>
              <p:cNvCxnSpPr/>
              <p:nvPr/>
            </p:nvCxnSpPr>
            <p:spPr>
              <a:xfrm>
                <a:off x="9077" y="1994"/>
                <a:ext cx="74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6" name="Google Shape;2856;p68"/>
              <p:cNvCxnSpPr/>
              <p:nvPr/>
            </p:nvCxnSpPr>
            <p:spPr>
              <a:xfrm>
                <a:off x="9068" y="3044"/>
                <a:ext cx="74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7" name="Google Shape;2857;p68"/>
              <p:cNvCxnSpPr/>
              <p:nvPr/>
            </p:nvCxnSpPr>
            <p:spPr>
              <a:xfrm>
                <a:off x="6548" y="1964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858" name="Google Shape;2858;p68"/>
              <p:cNvCxnSpPr/>
              <p:nvPr/>
            </p:nvCxnSpPr>
            <p:spPr>
              <a:xfrm rot="5400000">
                <a:off x="7523" y="293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2859" name="Google Shape;2859;p68"/>
              <p:cNvCxnSpPr/>
              <p:nvPr/>
            </p:nvCxnSpPr>
            <p:spPr>
              <a:xfrm>
                <a:off x="8573" y="197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860" name="Google Shape;2860;p68"/>
              <p:cNvSpPr txBox="1"/>
              <p:nvPr/>
            </p:nvSpPr>
            <p:spPr>
              <a:xfrm>
                <a:off x="6458" y="145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1" name="Google Shape;2861;p68"/>
              <p:cNvSpPr txBox="1"/>
              <p:nvPr/>
            </p:nvSpPr>
            <p:spPr>
              <a:xfrm>
                <a:off x="8408" y="1589"/>
                <a:ext cx="434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/a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2" name="Google Shape;2862;p68"/>
              <p:cNvSpPr txBox="1"/>
              <p:nvPr/>
            </p:nvSpPr>
            <p:spPr>
              <a:xfrm>
                <a:off x="7658" y="2714"/>
                <a:ext cx="652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-i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/a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863" name="Google Shape;2863;p68"/>
              <p:cNvCxnSpPr/>
              <p:nvPr/>
            </p:nvCxnSpPr>
            <p:spPr>
              <a:xfrm>
                <a:off x="9383" y="1979"/>
                <a:ext cx="1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2864" name="Google Shape;2864;p68"/>
              <p:cNvSpPr txBox="1"/>
              <p:nvPr/>
            </p:nvSpPr>
            <p:spPr>
              <a:xfrm>
                <a:off x="9383" y="1634"/>
                <a:ext cx="195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865" name="Google Shape;2865;p68"/>
              <p:cNvCxnSpPr/>
              <p:nvPr/>
            </p:nvCxnSpPr>
            <p:spPr>
              <a:xfrm>
                <a:off x="6218" y="2225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866" name="Google Shape;2866;p68"/>
              <p:cNvSpPr txBox="1"/>
              <p:nvPr/>
            </p:nvSpPr>
            <p:spPr>
              <a:xfrm>
                <a:off x="6256" y="1922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867" name="Google Shape;2867;p68"/>
              <p:cNvCxnSpPr/>
              <p:nvPr/>
            </p:nvCxnSpPr>
            <p:spPr>
              <a:xfrm>
                <a:off x="8603" y="2225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868" name="Google Shape;2868;p68"/>
              <p:cNvSpPr txBox="1"/>
              <p:nvPr/>
            </p:nvSpPr>
            <p:spPr>
              <a:xfrm>
                <a:off x="8168" y="2174"/>
                <a:ext cx="48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869" name="Google Shape;2869;p68"/>
              <p:cNvCxnSpPr/>
              <p:nvPr/>
            </p:nvCxnSpPr>
            <p:spPr>
              <a:xfrm>
                <a:off x="9893" y="2225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sp>
            <p:nvSpPr>
              <p:cNvPr id="2870" name="Google Shape;2870;p68"/>
              <p:cNvSpPr txBox="1"/>
              <p:nvPr/>
            </p:nvSpPr>
            <p:spPr>
              <a:xfrm>
                <a:off x="9533" y="2174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</a:t>
                </a:r>
                <a:r>
                  <a:rPr baseline="-25000"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71" name="Google Shape;2871;p68"/>
              <p:cNvSpPr txBox="1"/>
              <p:nvPr/>
            </p:nvSpPr>
            <p:spPr>
              <a:xfrm>
                <a:off x="8738" y="3038"/>
                <a:ext cx="360" cy="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a:1</a:t>
                </a:r>
                <a:endParaRPr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872" name="Google Shape;2872;p68"/>
          <p:cNvSpPr/>
          <p:nvPr/>
        </p:nvSpPr>
        <p:spPr>
          <a:xfrm>
            <a:off x="138642" y="3417798"/>
            <a:ext cx="4832369" cy="1079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V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jωL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jωM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	V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– (jωL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jωM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3" name="Google Shape;2873;p68"/>
          <p:cNvSpPr/>
          <p:nvPr/>
        </p:nvSpPr>
        <p:spPr>
          <a:xfrm>
            <a:off x="138642" y="4536962"/>
            <a:ext cx="4832370" cy="1203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V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jω L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jωaM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–(jω a</a:t>
            </a:r>
            <a:r>
              <a:rPr baseline="30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 – jω aM i</a:t>
            </a:r>
            <a:r>
              <a:rPr baseline="-25000"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4" name="Google Shape;2874;p68"/>
          <p:cNvSpPr/>
          <p:nvPr/>
        </p:nvSpPr>
        <p:spPr>
          <a:xfrm>
            <a:off x="5193647" y="3437076"/>
            <a:ext cx="6682478" cy="1079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V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jωl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jωL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/a)</a:t>
            </a:r>
            <a:endParaRPr i="1"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	aV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– jω a</a:t>
            </a:r>
            <a:r>
              <a:rPr baseline="30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 + jωL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/a)</a:t>
            </a:r>
            <a:endParaRPr i="1"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5" name="Google Shape;2875;p68"/>
          <p:cNvSpPr/>
          <p:nvPr/>
        </p:nvSpPr>
        <p:spPr>
          <a:xfrm>
            <a:off x="5108022" y="4619423"/>
            <a:ext cx="5028869" cy="112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V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jω(l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 jωL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</a:t>
            </a:r>
            <a:endParaRPr i="1"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– jω(a</a:t>
            </a:r>
            <a:r>
              <a:rPr baseline="30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/a+ jωL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i="1"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6" name="Google Shape;2876;p68"/>
          <p:cNvSpPr/>
          <p:nvPr/>
        </p:nvSpPr>
        <p:spPr>
          <a:xfrm>
            <a:off x="154483" y="5740368"/>
            <a:ext cx="3873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coefficients of similar terms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68"/>
          <p:cNvSpPr/>
          <p:nvPr/>
        </p:nvSpPr>
        <p:spPr>
          <a:xfrm>
            <a:off x="201150" y="6109700"/>
            <a:ext cx="17315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p68"/>
          <p:cNvSpPr/>
          <p:nvPr/>
        </p:nvSpPr>
        <p:spPr>
          <a:xfrm>
            <a:off x="1978380" y="6109700"/>
            <a:ext cx="142859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aM=L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68"/>
          <p:cNvSpPr/>
          <p:nvPr/>
        </p:nvSpPr>
        <p:spPr>
          <a:xfrm>
            <a:off x="3379397" y="6129100"/>
            <a:ext cx="21868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=a</a:t>
            </a:r>
            <a:r>
              <a:rPr baseline="30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+L</a:t>
            </a:r>
            <a:r>
              <a:rPr baseline="-25000"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68"/>
          <p:cNvSpPr/>
          <p:nvPr/>
        </p:nvSpPr>
        <p:spPr>
          <a:xfrm>
            <a:off x="5352800" y="6109700"/>
            <a:ext cx="5389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68"/>
          <p:cNvSpPr/>
          <p:nvPr/>
        </p:nvSpPr>
        <p:spPr>
          <a:xfrm>
            <a:off x="5936483" y="5936470"/>
            <a:ext cx="16578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aM,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p68"/>
          <p:cNvSpPr/>
          <p:nvPr/>
        </p:nvSpPr>
        <p:spPr>
          <a:xfrm>
            <a:off x="7807067" y="5682133"/>
            <a:ext cx="2105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L</a:t>
            </a:r>
            <a:r>
              <a:rPr b="1" baseline="-25000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aM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68"/>
          <p:cNvSpPr/>
          <p:nvPr/>
        </p:nvSpPr>
        <p:spPr>
          <a:xfrm>
            <a:off x="7793217" y="6200283"/>
            <a:ext cx="21579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L</a:t>
            </a:r>
            <a:r>
              <a:rPr b="1" baseline="-25000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1" i="1" lang="en-GB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M/a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69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Practical Transformer</a:t>
            </a:r>
            <a:endParaRPr/>
          </a:p>
        </p:txBody>
      </p:sp>
      <p:sp>
        <p:nvSpPr>
          <p:cNvPr id="2889" name="Google Shape;2889;p69"/>
          <p:cNvSpPr/>
          <p:nvPr/>
        </p:nvSpPr>
        <p:spPr>
          <a:xfrm>
            <a:off x="134471" y="768339"/>
            <a:ext cx="11806518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addition has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Noto Sans Symbols"/>
              <a:buChar char="−"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resistances </a:t>
            </a: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primary and secondary windings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Noto Sans Symbols"/>
              <a:buChar char="−"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losses (eddy current loss and hysteresis) in the transformer core based on magnetic flux in core (or on corresponding voltage across windings). 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included in primary and secondary sides (</a:t>
            </a: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drawn as </a:t>
            </a: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30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b="1" baseline="-25000" i="1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loss is represented by shunt resistance R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magnetisation inductance. 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90" name="Google Shape;2890;p69"/>
          <p:cNvGrpSpPr/>
          <p:nvPr/>
        </p:nvGrpSpPr>
        <p:grpSpPr>
          <a:xfrm>
            <a:off x="610208" y="4016012"/>
            <a:ext cx="8727393" cy="2351075"/>
            <a:chOff x="610208" y="4016012"/>
            <a:chExt cx="8727393" cy="2351075"/>
          </a:xfrm>
        </p:grpSpPr>
        <p:grpSp>
          <p:nvGrpSpPr>
            <p:cNvPr id="2891" name="Google Shape;2891;p69"/>
            <p:cNvGrpSpPr/>
            <p:nvPr/>
          </p:nvGrpSpPr>
          <p:grpSpPr>
            <a:xfrm flipH="1" rot="5400000">
              <a:off x="2122096" y="4077480"/>
              <a:ext cx="132175" cy="1059442"/>
              <a:chOff x="6232" y="3219"/>
              <a:chExt cx="92" cy="751"/>
            </a:xfrm>
          </p:grpSpPr>
          <p:sp>
            <p:nvSpPr>
              <p:cNvPr id="2892" name="Google Shape;2892;p69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3" name="Google Shape;2893;p69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4" name="Google Shape;2894;p69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5" name="Google Shape;2895;p69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896" name="Google Shape;2896;p69"/>
            <p:cNvCxnSpPr/>
            <p:nvPr/>
          </p:nvCxnSpPr>
          <p:spPr>
            <a:xfrm rot="10800000">
              <a:off x="1205612" y="4672961"/>
              <a:ext cx="451301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97" name="Google Shape;2897;p69"/>
            <p:cNvGrpSpPr/>
            <p:nvPr/>
          </p:nvGrpSpPr>
          <p:grpSpPr>
            <a:xfrm flipH="1" rot="5400000">
              <a:off x="4910493" y="4077480"/>
              <a:ext cx="132175" cy="1059442"/>
              <a:chOff x="6232" y="3219"/>
              <a:chExt cx="92" cy="751"/>
            </a:xfrm>
          </p:grpSpPr>
          <p:sp>
            <p:nvSpPr>
              <p:cNvPr id="2898" name="Google Shape;2898;p69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9" name="Google Shape;2899;p69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0" name="Google Shape;2900;p69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1" name="Google Shape;2901;p69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02" name="Google Shape;2902;p69"/>
            <p:cNvCxnSpPr/>
            <p:nvPr/>
          </p:nvCxnSpPr>
          <p:spPr>
            <a:xfrm rot="10800000">
              <a:off x="6308167" y="4670998"/>
              <a:ext cx="111461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3" name="Google Shape;2903;p69"/>
            <p:cNvSpPr txBox="1"/>
            <p:nvPr/>
          </p:nvSpPr>
          <p:spPr>
            <a:xfrm>
              <a:off x="2109454" y="4043494"/>
              <a:ext cx="542429" cy="529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04" name="Google Shape;2904;p69"/>
            <p:cNvCxnSpPr/>
            <p:nvPr/>
          </p:nvCxnSpPr>
          <p:spPr>
            <a:xfrm>
              <a:off x="3729923" y="5094081"/>
              <a:ext cx="0" cy="18288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5" name="Google Shape;2905;p69"/>
            <p:cNvSpPr txBox="1"/>
            <p:nvPr/>
          </p:nvSpPr>
          <p:spPr>
            <a:xfrm>
              <a:off x="3136562" y="5371898"/>
              <a:ext cx="574980" cy="544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06" name="Google Shape;2906;p69"/>
            <p:cNvGrpSpPr/>
            <p:nvPr/>
          </p:nvGrpSpPr>
          <p:grpSpPr>
            <a:xfrm>
              <a:off x="3694954" y="5285612"/>
              <a:ext cx="144571" cy="914400"/>
              <a:chOff x="6232" y="3219"/>
              <a:chExt cx="92" cy="751"/>
            </a:xfrm>
          </p:grpSpPr>
          <p:sp>
            <p:nvSpPr>
              <p:cNvPr id="2907" name="Google Shape;2907;p69"/>
              <p:cNvSpPr/>
              <p:nvPr/>
            </p:nvSpPr>
            <p:spPr>
              <a:xfrm>
                <a:off x="6233" y="3219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8" name="Google Shape;2908;p69"/>
              <p:cNvSpPr/>
              <p:nvPr/>
            </p:nvSpPr>
            <p:spPr>
              <a:xfrm>
                <a:off x="6232" y="3414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9" name="Google Shape;2909;p69"/>
              <p:cNvSpPr/>
              <p:nvPr/>
            </p:nvSpPr>
            <p:spPr>
              <a:xfrm>
                <a:off x="6233" y="3593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0" name="Google Shape;2910;p69"/>
              <p:cNvSpPr/>
              <p:nvPr/>
            </p:nvSpPr>
            <p:spPr>
              <a:xfrm>
                <a:off x="6232" y="3788"/>
                <a:ext cx="91" cy="182"/>
              </a:xfrm>
              <a:custGeom>
                <a:rect b="b" l="l" r="r" t="t"/>
                <a:pathLst>
                  <a:path extrusionOk="0" fill="none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</a:path>
                  <a:path extrusionOk="0" h="43200" w="2160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29"/>
                      <a:pt x="11929" y="43199"/>
                      <a:pt x="0" y="43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11" name="Google Shape;2911;p69"/>
            <p:cNvCxnSpPr/>
            <p:nvPr/>
          </p:nvCxnSpPr>
          <p:spPr>
            <a:xfrm>
              <a:off x="3696081" y="6184207"/>
              <a:ext cx="0" cy="18288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12" name="Google Shape;2912;p69"/>
            <p:cNvSpPr txBox="1"/>
            <p:nvPr/>
          </p:nvSpPr>
          <p:spPr>
            <a:xfrm>
              <a:off x="4701337" y="4101729"/>
              <a:ext cx="809615" cy="529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baseline="30000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r>
                <a:rPr baseline="-25000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13" name="Google Shape;2913;p69"/>
            <p:cNvCxnSpPr/>
            <p:nvPr/>
          </p:nvCxnSpPr>
          <p:spPr>
            <a:xfrm>
              <a:off x="1205612" y="6365719"/>
              <a:ext cx="621717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914" name="Google Shape;2914;p69"/>
            <p:cNvGrpSpPr/>
            <p:nvPr/>
          </p:nvGrpSpPr>
          <p:grpSpPr>
            <a:xfrm>
              <a:off x="7380008" y="4662492"/>
              <a:ext cx="164899" cy="1689486"/>
              <a:chOff x="8738" y="1579"/>
              <a:chExt cx="104" cy="1049"/>
            </a:xfrm>
          </p:grpSpPr>
          <p:grpSp>
            <p:nvGrpSpPr>
              <p:cNvPr id="2915" name="Google Shape;2915;p69"/>
              <p:cNvGrpSpPr/>
              <p:nvPr/>
            </p:nvGrpSpPr>
            <p:grpSpPr>
              <a:xfrm>
                <a:off x="8742" y="1579"/>
                <a:ext cx="100" cy="524"/>
                <a:chOff x="6232" y="3219"/>
                <a:chExt cx="92" cy="751"/>
              </a:xfrm>
            </p:grpSpPr>
            <p:sp>
              <p:nvSpPr>
                <p:cNvPr id="2916" name="Google Shape;2916;p69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7" name="Google Shape;2917;p69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8" name="Google Shape;2918;p69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9" name="Google Shape;2919;p69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20" name="Google Shape;2920;p69"/>
              <p:cNvGrpSpPr/>
              <p:nvPr/>
            </p:nvGrpSpPr>
            <p:grpSpPr>
              <a:xfrm>
                <a:off x="8738" y="2104"/>
                <a:ext cx="100" cy="524"/>
                <a:chOff x="6232" y="3219"/>
                <a:chExt cx="92" cy="751"/>
              </a:xfrm>
            </p:grpSpPr>
            <p:sp>
              <p:nvSpPr>
                <p:cNvPr id="2921" name="Google Shape;2921;p69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2" name="Google Shape;2922;p69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3" name="Google Shape;2923;p69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4" name="Google Shape;2924;p69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25" name="Google Shape;2925;p69"/>
            <p:cNvGrpSpPr/>
            <p:nvPr/>
          </p:nvGrpSpPr>
          <p:grpSpPr>
            <a:xfrm flipH="1">
              <a:off x="7761258" y="4671652"/>
              <a:ext cx="164279" cy="1686868"/>
              <a:chOff x="8738" y="1579"/>
              <a:chExt cx="104" cy="1049"/>
            </a:xfrm>
          </p:grpSpPr>
          <p:grpSp>
            <p:nvGrpSpPr>
              <p:cNvPr id="2926" name="Google Shape;2926;p69"/>
              <p:cNvGrpSpPr/>
              <p:nvPr/>
            </p:nvGrpSpPr>
            <p:grpSpPr>
              <a:xfrm>
                <a:off x="8742" y="1579"/>
                <a:ext cx="100" cy="524"/>
                <a:chOff x="6232" y="3219"/>
                <a:chExt cx="92" cy="751"/>
              </a:xfrm>
            </p:grpSpPr>
            <p:sp>
              <p:nvSpPr>
                <p:cNvPr id="2927" name="Google Shape;2927;p69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8" name="Google Shape;2928;p69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9" name="Google Shape;2929;p69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0" name="Google Shape;2930;p69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31" name="Google Shape;2931;p69"/>
              <p:cNvGrpSpPr/>
              <p:nvPr/>
            </p:nvGrpSpPr>
            <p:grpSpPr>
              <a:xfrm>
                <a:off x="8738" y="2104"/>
                <a:ext cx="100" cy="524"/>
                <a:chOff x="6232" y="3219"/>
                <a:chExt cx="92" cy="751"/>
              </a:xfrm>
            </p:grpSpPr>
            <p:sp>
              <p:nvSpPr>
                <p:cNvPr id="2932" name="Google Shape;2932;p69"/>
                <p:cNvSpPr/>
                <p:nvPr/>
              </p:nvSpPr>
              <p:spPr>
                <a:xfrm>
                  <a:off x="6233" y="3219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3" name="Google Shape;2933;p69"/>
                <p:cNvSpPr/>
                <p:nvPr/>
              </p:nvSpPr>
              <p:spPr>
                <a:xfrm>
                  <a:off x="6232" y="3414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4" name="Google Shape;2934;p69"/>
                <p:cNvSpPr/>
                <p:nvPr/>
              </p:nvSpPr>
              <p:spPr>
                <a:xfrm>
                  <a:off x="6233" y="3593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5" name="Google Shape;2935;p69"/>
                <p:cNvSpPr/>
                <p:nvPr/>
              </p:nvSpPr>
              <p:spPr>
                <a:xfrm>
                  <a:off x="6232" y="3788"/>
                  <a:ext cx="91" cy="182"/>
                </a:xfrm>
                <a:custGeom>
                  <a:rect b="b" l="l" r="r" t="t"/>
                  <a:pathLst>
                    <a:path extrusionOk="0" fill="none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</a:path>
                    <a:path extrusionOk="0" h="43200" w="2160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529"/>
                        <a:pt x="11929" y="43199"/>
                        <a:pt x="0" y="4319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2936" name="Google Shape;2936;p69"/>
            <p:cNvCxnSpPr/>
            <p:nvPr/>
          </p:nvCxnSpPr>
          <p:spPr>
            <a:xfrm>
              <a:off x="7919957" y="4677542"/>
              <a:ext cx="117660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7" name="Google Shape;2937;p69"/>
            <p:cNvCxnSpPr/>
            <p:nvPr/>
          </p:nvCxnSpPr>
          <p:spPr>
            <a:xfrm>
              <a:off x="7904459" y="6365719"/>
              <a:ext cx="117722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8" name="Google Shape;2938;p69"/>
            <p:cNvCxnSpPr/>
            <p:nvPr/>
          </p:nvCxnSpPr>
          <p:spPr>
            <a:xfrm>
              <a:off x="1346954" y="4669690"/>
              <a:ext cx="190935" cy="1963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939" name="Google Shape;2939;p69"/>
            <p:cNvCxnSpPr/>
            <p:nvPr/>
          </p:nvCxnSpPr>
          <p:spPr>
            <a:xfrm rot="5400000">
              <a:off x="3877201" y="4836711"/>
              <a:ext cx="193683" cy="124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940" name="Google Shape;2940;p69"/>
            <p:cNvCxnSpPr/>
            <p:nvPr/>
          </p:nvCxnSpPr>
          <p:spPr>
            <a:xfrm>
              <a:off x="6831379" y="4667727"/>
              <a:ext cx="190315" cy="1963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2941" name="Google Shape;2941;p69"/>
            <p:cNvSpPr txBox="1"/>
            <p:nvPr/>
          </p:nvSpPr>
          <p:spPr>
            <a:xfrm>
              <a:off x="1250866" y="4016012"/>
              <a:ext cx="572185" cy="514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42" name="Google Shape;2942;p69"/>
            <p:cNvSpPr txBox="1"/>
            <p:nvPr/>
          </p:nvSpPr>
          <p:spPr>
            <a:xfrm>
              <a:off x="6738391" y="4116125"/>
              <a:ext cx="687490" cy="501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/a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43" name="Google Shape;2943;p69"/>
            <p:cNvSpPr txBox="1"/>
            <p:nvPr/>
          </p:nvSpPr>
          <p:spPr>
            <a:xfrm>
              <a:off x="4124550" y="4636011"/>
              <a:ext cx="929879" cy="576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/a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44" name="Google Shape;2944;p69"/>
            <p:cNvCxnSpPr/>
            <p:nvPr/>
          </p:nvCxnSpPr>
          <p:spPr>
            <a:xfrm>
              <a:off x="8404734" y="4667727"/>
              <a:ext cx="192175" cy="1963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2945" name="Google Shape;2945;p69"/>
            <p:cNvSpPr txBox="1"/>
            <p:nvPr/>
          </p:nvSpPr>
          <p:spPr>
            <a:xfrm>
              <a:off x="8404734" y="4158657"/>
              <a:ext cx="326078" cy="495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46" name="Google Shape;2946;p69"/>
            <p:cNvCxnSpPr/>
            <p:nvPr/>
          </p:nvCxnSpPr>
          <p:spPr>
            <a:xfrm>
              <a:off x="1118823" y="5047894"/>
              <a:ext cx="0" cy="868954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947" name="Google Shape;2947;p69"/>
            <p:cNvSpPr txBox="1"/>
            <p:nvPr/>
          </p:nvSpPr>
          <p:spPr>
            <a:xfrm>
              <a:off x="610208" y="4677542"/>
              <a:ext cx="570326" cy="576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48" name="Google Shape;2948;p69"/>
            <p:cNvCxnSpPr/>
            <p:nvPr/>
          </p:nvCxnSpPr>
          <p:spPr>
            <a:xfrm>
              <a:off x="7164896" y="5047894"/>
              <a:ext cx="0" cy="868954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949" name="Google Shape;2949;p69"/>
            <p:cNvSpPr txBox="1"/>
            <p:nvPr/>
          </p:nvSpPr>
          <p:spPr>
            <a:xfrm>
              <a:off x="6474306" y="4965448"/>
              <a:ext cx="762501" cy="579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50" name="Google Shape;2950;p69"/>
            <p:cNvCxnSpPr/>
            <p:nvPr/>
          </p:nvCxnSpPr>
          <p:spPr>
            <a:xfrm>
              <a:off x="9215589" y="5047894"/>
              <a:ext cx="0" cy="868954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2951" name="Google Shape;2951;p69"/>
            <p:cNvSpPr txBox="1"/>
            <p:nvPr/>
          </p:nvSpPr>
          <p:spPr>
            <a:xfrm>
              <a:off x="8767275" y="4965448"/>
              <a:ext cx="570326" cy="579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2" name="Google Shape;2952;p69"/>
            <p:cNvSpPr txBox="1"/>
            <p:nvPr/>
          </p:nvSpPr>
          <p:spPr>
            <a:xfrm>
              <a:off x="7448199" y="4201842"/>
              <a:ext cx="573425" cy="475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a:1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53" name="Google Shape;2953;p69"/>
            <p:cNvCxnSpPr/>
            <p:nvPr/>
          </p:nvCxnSpPr>
          <p:spPr>
            <a:xfrm>
              <a:off x="2728134" y="4680814"/>
              <a:ext cx="26098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954" name="Google Shape;2954;p69"/>
            <p:cNvGrpSpPr/>
            <p:nvPr/>
          </p:nvGrpSpPr>
          <p:grpSpPr>
            <a:xfrm>
              <a:off x="2993459" y="4548639"/>
              <a:ext cx="520732" cy="262387"/>
              <a:chOff x="2018" y="2138"/>
              <a:chExt cx="1200" cy="357"/>
            </a:xfrm>
          </p:grpSpPr>
          <p:cxnSp>
            <p:nvCxnSpPr>
              <p:cNvPr id="2955" name="Google Shape;2955;p69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69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69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69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69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69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961" name="Google Shape;2961;p69"/>
            <p:cNvCxnSpPr/>
            <p:nvPr/>
          </p:nvCxnSpPr>
          <p:spPr>
            <a:xfrm>
              <a:off x="3507372" y="4656603"/>
              <a:ext cx="9212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62" name="Google Shape;2962;p69"/>
            <p:cNvSpPr txBox="1"/>
            <p:nvPr/>
          </p:nvSpPr>
          <p:spPr>
            <a:xfrm>
              <a:off x="3112484" y="4038914"/>
              <a:ext cx="571566" cy="57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3" name="Google Shape;2963;p69"/>
            <p:cNvSpPr txBox="1"/>
            <p:nvPr/>
          </p:nvSpPr>
          <p:spPr>
            <a:xfrm>
              <a:off x="5829590" y="4080791"/>
              <a:ext cx="572805" cy="57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baseline="30000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i="1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64" name="Google Shape;2964;p69"/>
            <p:cNvCxnSpPr/>
            <p:nvPr/>
          </p:nvCxnSpPr>
          <p:spPr>
            <a:xfrm>
              <a:off x="5528929" y="4680814"/>
              <a:ext cx="259126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965" name="Google Shape;2965;p69"/>
            <p:cNvGrpSpPr/>
            <p:nvPr/>
          </p:nvGrpSpPr>
          <p:grpSpPr>
            <a:xfrm>
              <a:off x="5789295" y="4548639"/>
              <a:ext cx="520732" cy="262387"/>
              <a:chOff x="2018" y="2138"/>
              <a:chExt cx="1200" cy="357"/>
            </a:xfrm>
          </p:grpSpPr>
          <p:cxnSp>
            <p:nvCxnSpPr>
              <p:cNvPr id="2966" name="Google Shape;2966;p69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7" name="Google Shape;2967;p69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8" name="Google Shape;2968;p69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9" name="Google Shape;2969;p69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0" name="Google Shape;2970;p69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1" name="Google Shape;2971;p69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72" name="Google Shape;2972;p69"/>
            <p:cNvGrpSpPr/>
            <p:nvPr/>
          </p:nvGrpSpPr>
          <p:grpSpPr>
            <a:xfrm rot="5400000">
              <a:off x="3524768" y="5613877"/>
              <a:ext cx="1280160" cy="223791"/>
              <a:chOff x="1778" y="2144"/>
              <a:chExt cx="1186" cy="361"/>
            </a:xfrm>
          </p:grpSpPr>
          <p:cxnSp>
            <p:nvCxnSpPr>
              <p:cNvPr id="2973" name="Google Shape;2973;p69"/>
              <p:cNvCxnSpPr/>
              <p:nvPr/>
            </p:nvCxnSpPr>
            <p:spPr>
              <a:xfrm>
                <a:off x="1778" y="2318"/>
                <a:ext cx="22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974" name="Google Shape;2974;p69"/>
              <p:cNvGrpSpPr/>
              <p:nvPr/>
            </p:nvGrpSpPr>
            <p:grpSpPr>
              <a:xfrm>
                <a:off x="2018" y="2144"/>
                <a:ext cx="720" cy="361"/>
                <a:chOff x="2018" y="2138"/>
                <a:chExt cx="1200" cy="357"/>
              </a:xfrm>
            </p:grpSpPr>
            <p:cxnSp>
              <p:nvCxnSpPr>
                <p:cNvPr id="2975" name="Google Shape;2975;p69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6" name="Google Shape;2976;p69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7" name="Google Shape;2977;p69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8" name="Google Shape;2978;p69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9" name="Google Shape;2979;p69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80" name="Google Shape;2980;p69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981" name="Google Shape;2981;p69"/>
              <p:cNvCxnSpPr/>
              <p:nvPr/>
            </p:nvCxnSpPr>
            <p:spPr>
              <a:xfrm>
                <a:off x="2738" y="2318"/>
                <a:ext cx="22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982" name="Google Shape;2982;p69"/>
            <p:cNvSpPr txBox="1"/>
            <p:nvPr/>
          </p:nvSpPr>
          <p:spPr>
            <a:xfrm>
              <a:off x="4331677" y="5366717"/>
              <a:ext cx="573425" cy="57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550" lIns="44275" spcFirstLastPara="1" rIns="44275" wrap="square" tIns="2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83" name="Google Shape;2983;p69"/>
            <p:cNvCxnSpPr/>
            <p:nvPr/>
          </p:nvCxnSpPr>
          <p:spPr>
            <a:xfrm>
              <a:off x="3966547" y="4644881"/>
              <a:ext cx="0" cy="45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4" name="Google Shape;2984;p69"/>
            <p:cNvCxnSpPr/>
            <p:nvPr/>
          </p:nvCxnSpPr>
          <p:spPr>
            <a:xfrm>
              <a:off x="3719932" y="5097771"/>
              <a:ext cx="4572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70"/>
          <p:cNvSpPr txBox="1"/>
          <p:nvPr>
            <p:ph type="title"/>
          </p:nvPr>
        </p:nvSpPr>
        <p:spPr>
          <a:xfrm>
            <a:off x="429715" y="742119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Dependent Sources – Passive Circuit Elements</a:t>
            </a:r>
            <a:endParaRPr/>
          </a:p>
        </p:txBody>
      </p:sp>
      <p:grpSp>
        <p:nvGrpSpPr>
          <p:cNvPr id="2990" name="Google Shape;2990;p70"/>
          <p:cNvGrpSpPr/>
          <p:nvPr/>
        </p:nvGrpSpPr>
        <p:grpSpPr>
          <a:xfrm>
            <a:off x="8442960" y="1952477"/>
            <a:ext cx="2656840" cy="510540"/>
            <a:chOff x="0" y="0"/>
            <a:chExt cx="2064385" cy="422159"/>
          </a:xfrm>
        </p:grpSpPr>
        <p:sp>
          <p:nvSpPr>
            <p:cNvPr id="2991" name="Google Shape;2991;p70"/>
            <p:cNvSpPr/>
            <p:nvPr/>
          </p:nvSpPr>
          <p:spPr>
            <a:xfrm flipH="1">
              <a:off x="409575" y="0"/>
              <a:ext cx="370706" cy="208341"/>
            </a:xfrm>
            <a:custGeom>
              <a:rect b="b" l="l" r="r" t="t"/>
              <a:pathLst>
                <a:path extrusionOk="0" fill="none" h="22566" w="41573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31902" y="0"/>
                    <a:pt x="41573" y="9670"/>
                    <a:pt x="41573" y="21600"/>
                  </a:cubicBezTo>
                  <a:cubicBezTo>
                    <a:pt x="41573" y="21922"/>
                    <a:pt x="41565" y="22244"/>
                    <a:pt x="41551" y="22566"/>
                  </a:cubicBezTo>
                </a:path>
                <a:path extrusionOk="0" h="22566" w="41573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31902" y="0"/>
                    <a:pt x="41573" y="9670"/>
                    <a:pt x="41573" y="21600"/>
                  </a:cubicBezTo>
                  <a:cubicBezTo>
                    <a:pt x="41573" y="21922"/>
                    <a:pt x="41565" y="22244"/>
                    <a:pt x="41551" y="22566"/>
                  </a:cubicBezTo>
                  <a:lnTo>
                    <a:pt x="19973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2" name="Google Shape;2992;p70"/>
            <p:cNvSpPr/>
            <p:nvPr/>
          </p:nvSpPr>
          <p:spPr>
            <a:xfrm flipH="1" rot="10800000">
              <a:off x="638175" y="114300"/>
              <a:ext cx="164592" cy="297180"/>
            </a:xfrm>
            <a:custGeom>
              <a:rect b="b" l="l" r="r" t="t"/>
              <a:pathLst>
                <a:path extrusionOk="0" fill="none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</a:path>
                <a:path extrusionOk="0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70"/>
            <p:cNvSpPr/>
            <p:nvPr/>
          </p:nvSpPr>
          <p:spPr>
            <a:xfrm flipH="1">
              <a:off x="857250" y="9525"/>
              <a:ext cx="359127" cy="198787"/>
            </a:xfrm>
            <a:custGeom>
              <a:rect b="b" l="l" r="r" t="t"/>
              <a:pathLst>
                <a:path extrusionOk="0" fill="none" h="21600" w="40269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29051" y="0"/>
                    <a:pt x="37161" y="5677"/>
                    <a:pt x="40268" y="14208"/>
                  </a:cubicBezTo>
                </a:path>
                <a:path extrusionOk="0" h="21600" w="40269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29051" y="0"/>
                    <a:pt x="37161" y="5677"/>
                    <a:pt x="40268" y="14208"/>
                  </a:cubicBezTo>
                  <a:lnTo>
                    <a:pt x="19973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70"/>
            <p:cNvSpPr/>
            <p:nvPr/>
          </p:nvSpPr>
          <p:spPr>
            <a:xfrm flipH="1" rot="10800000">
              <a:off x="1047750" y="123825"/>
              <a:ext cx="180340" cy="297180"/>
            </a:xfrm>
            <a:custGeom>
              <a:rect b="b" l="l" r="r" t="t"/>
              <a:pathLst>
                <a:path extrusionOk="0" fill="none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</a:path>
                <a:path extrusionOk="0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70"/>
            <p:cNvSpPr/>
            <p:nvPr/>
          </p:nvSpPr>
          <p:spPr>
            <a:xfrm flipH="1">
              <a:off x="1066800" y="9525"/>
              <a:ext cx="359127" cy="198787"/>
            </a:xfrm>
            <a:custGeom>
              <a:rect b="b" l="l" r="r" t="t"/>
              <a:pathLst>
                <a:path extrusionOk="0" fill="none" h="21600" w="40269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29051" y="0"/>
                    <a:pt x="37161" y="5677"/>
                    <a:pt x="40268" y="14208"/>
                  </a:cubicBezTo>
                </a:path>
                <a:path extrusionOk="0" h="21600" w="40269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29051" y="0"/>
                    <a:pt x="37161" y="5677"/>
                    <a:pt x="40268" y="14208"/>
                  </a:cubicBezTo>
                  <a:lnTo>
                    <a:pt x="19973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70"/>
            <p:cNvSpPr/>
            <p:nvPr/>
          </p:nvSpPr>
          <p:spPr>
            <a:xfrm flipH="1" rot="10800000">
              <a:off x="1266825" y="123825"/>
              <a:ext cx="180719" cy="298334"/>
            </a:xfrm>
            <a:custGeom>
              <a:rect b="b" l="l" r="r" t="t"/>
              <a:pathLst>
                <a:path extrusionOk="0" fill="none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</a:path>
                <a:path extrusionOk="0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70"/>
            <p:cNvSpPr/>
            <p:nvPr/>
          </p:nvSpPr>
          <p:spPr>
            <a:xfrm flipH="1">
              <a:off x="1285875" y="0"/>
              <a:ext cx="373023" cy="202177"/>
            </a:xfrm>
            <a:custGeom>
              <a:rect b="b" l="l" r="r" t="t"/>
              <a:pathLst>
                <a:path extrusionOk="0" fill="none" h="22008" w="41896">
                  <a:moveTo>
                    <a:pt x="3" y="22008"/>
                  </a:moveTo>
                  <a:cubicBezTo>
                    <a:pt x="1" y="21872"/>
                    <a:pt x="0" y="2173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678" y="0"/>
                    <a:pt x="38788" y="5677"/>
                    <a:pt x="41895" y="14208"/>
                  </a:cubicBezTo>
                </a:path>
                <a:path extrusionOk="0" h="22008" w="41896">
                  <a:moveTo>
                    <a:pt x="3" y="22008"/>
                  </a:moveTo>
                  <a:cubicBezTo>
                    <a:pt x="1" y="21872"/>
                    <a:pt x="0" y="2173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678" y="0"/>
                    <a:pt x="38788" y="5677"/>
                    <a:pt x="41895" y="1420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98" name="Google Shape;2998;p70"/>
            <p:cNvCxnSpPr/>
            <p:nvPr/>
          </p:nvCxnSpPr>
          <p:spPr>
            <a:xfrm>
              <a:off x="1647825" y="209550"/>
              <a:ext cx="416560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9" name="Google Shape;2999;p70"/>
            <p:cNvCxnSpPr/>
            <p:nvPr/>
          </p:nvCxnSpPr>
          <p:spPr>
            <a:xfrm>
              <a:off x="0" y="219075"/>
              <a:ext cx="416560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0" name="Google Shape;3000;p70"/>
            <p:cNvSpPr/>
            <p:nvPr/>
          </p:nvSpPr>
          <p:spPr>
            <a:xfrm flipH="1">
              <a:off x="647700" y="0"/>
              <a:ext cx="359127" cy="198787"/>
            </a:xfrm>
            <a:custGeom>
              <a:rect b="b" l="l" r="r" t="t"/>
              <a:pathLst>
                <a:path extrusionOk="0" fill="none" h="21600" w="40269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29051" y="0"/>
                    <a:pt x="37161" y="5677"/>
                    <a:pt x="40268" y="14208"/>
                  </a:cubicBezTo>
                </a:path>
                <a:path extrusionOk="0" h="21600" w="40269">
                  <a:moveTo>
                    <a:pt x="-1" y="13376"/>
                  </a:moveTo>
                  <a:cubicBezTo>
                    <a:pt x="3331" y="5282"/>
                    <a:pt x="11219" y="0"/>
                    <a:pt x="19973" y="0"/>
                  </a:cubicBezTo>
                  <a:cubicBezTo>
                    <a:pt x="29051" y="0"/>
                    <a:pt x="37161" y="5677"/>
                    <a:pt x="40268" y="14208"/>
                  </a:cubicBezTo>
                  <a:lnTo>
                    <a:pt x="19973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70"/>
            <p:cNvSpPr/>
            <p:nvPr/>
          </p:nvSpPr>
          <p:spPr>
            <a:xfrm flipH="1" rot="10800000">
              <a:off x="857250" y="104775"/>
              <a:ext cx="164465" cy="297180"/>
            </a:xfrm>
            <a:custGeom>
              <a:rect b="b" l="l" r="r" t="t"/>
              <a:pathLst>
                <a:path extrusionOk="0" fill="none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</a:path>
                <a:path extrusionOk="0" h="34987" w="43200">
                  <a:moveTo>
                    <a:pt x="4648" y="34987"/>
                  </a:moveTo>
                  <a:cubicBezTo>
                    <a:pt x="1637" y="31174"/>
                    <a:pt x="0" y="2645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6139"/>
                    <a:pt x="41770" y="30562"/>
                    <a:pt x="39113" y="3424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2" name="Google Shape;3002;p70"/>
          <p:cNvGrpSpPr/>
          <p:nvPr/>
        </p:nvGrpSpPr>
        <p:grpSpPr>
          <a:xfrm rot="-5400000">
            <a:off x="9356725" y="1759811"/>
            <a:ext cx="850900" cy="2660650"/>
            <a:chOff x="0" y="0"/>
            <a:chExt cx="567690" cy="1533525"/>
          </a:xfrm>
        </p:grpSpPr>
        <p:cxnSp>
          <p:nvCxnSpPr>
            <p:cNvPr id="3003" name="Google Shape;3003;p70"/>
            <p:cNvCxnSpPr/>
            <p:nvPr/>
          </p:nvCxnSpPr>
          <p:spPr>
            <a:xfrm rot="-5400000">
              <a:off x="-116205" y="1167765"/>
              <a:ext cx="731520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4" name="Google Shape;3004;p70"/>
            <p:cNvCxnSpPr/>
            <p:nvPr/>
          </p:nvCxnSpPr>
          <p:spPr>
            <a:xfrm rot="-5400000">
              <a:off x="-78105" y="320040"/>
              <a:ext cx="640080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5" name="Google Shape;3005;p70"/>
            <p:cNvCxnSpPr/>
            <p:nvPr/>
          </p:nvCxnSpPr>
          <p:spPr>
            <a:xfrm rot="10800000">
              <a:off x="283845" y="510540"/>
              <a:ext cx="0" cy="56769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6" name="Google Shape;3006;p70"/>
            <p:cNvCxnSpPr/>
            <p:nvPr/>
          </p:nvCxnSpPr>
          <p:spPr>
            <a:xfrm rot="10800000">
              <a:off x="283845" y="358140"/>
              <a:ext cx="0" cy="56769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07" name="Google Shape;3007;p70"/>
          <p:cNvSpPr/>
          <p:nvPr/>
        </p:nvSpPr>
        <p:spPr>
          <a:xfrm>
            <a:off x="0" y="1533988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Most basic elements – R, L and C.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70"/>
          <p:cNvSpPr/>
          <p:nvPr/>
        </p:nvSpPr>
        <p:spPr>
          <a:xfrm>
            <a:off x="91296" y="1941188"/>
            <a:ext cx="11762285" cy="4524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Do not generate any electricity.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Either </a:t>
            </a:r>
            <a:r>
              <a:rPr b="1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consume energy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Resistive elements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convert from electrical form to non-electrical form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produce heat, light etc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store energy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in Capacitive or Inductive elements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electrostatic and electromagnetic fields.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9" name="Google Shape;3009;p70"/>
          <p:cNvGrpSpPr/>
          <p:nvPr/>
        </p:nvGrpSpPr>
        <p:grpSpPr>
          <a:xfrm>
            <a:off x="8409349" y="1271199"/>
            <a:ext cx="2570477" cy="454025"/>
            <a:chOff x="0" y="0"/>
            <a:chExt cx="1786890" cy="454025"/>
          </a:xfrm>
        </p:grpSpPr>
        <p:cxnSp>
          <p:nvCxnSpPr>
            <p:cNvPr id="3010" name="Google Shape;3010;p70"/>
            <p:cNvCxnSpPr/>
            <p:nvPr/>
          </p:nvCxnSpPr>
          <p:spPr>
            <a:xfrm>
              <a:off x="0" y="228600"/>
              <a:ext cx="453390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1" name="Google Shape;3011;p70"/>
            <p:cNvCxnSpPr/>
            <p:nvPr/>
          </p:nvCxnSpPr>
          <p:spPr>
            <a:xfrm flipH="1" rot="10800000">
              <a:off x="447675" y="0"/>
              <a:ext cx="90170" cy="22860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2" name="Google Shape;3012;p70"/>
            <p:cNvCxnSpPr/>
            <p:nvPr/>
          </p:nvCxnSpPr>
          <p:spPr>
            <a:xfrm rot="10800000">
              <a:off x="1247775" y="0"/>
              <a:ext cx="90170" cy="22860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3" name="Google Shape;3013;p70"/>
            <p:cNvCxnSpPr/>
            <p:nvPr/>
          </p:nvCxnSpPr>
          <p:spPr>
            <a:xfrm rot="10800000">
              <a:off x="533400" y="0"/>
              <a:ext cx="179705" cy="454025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4" name="Google Shape;3014;p70"/>
            <p:cNvCxnSpPr/>
            <p:nvPr/>
          </p:nvCxnSpPr>
          <p:spPr>
            <a:xfrm flipH="1" rot="10800000">
              <a:off x="714375" y="0"/>
              <a:ext cx="179705" cy="454025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5" name="Google Shape;3015;p70"/>
            <p:cNvCxnSpPr/>
            <p:nvPr/>
          </p:nvCxnSpPr>
          <p:spPr>
            <a:xfrm rot="10800000">
              <a:off x="885825" y="0"/>
              <a:ext cx="179705" cy="454025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6" name="Google Shape;3016;p70"/>
            <p:cNvCxnSpPr/>
            <p:nvPr/>
          </p:nvCxnSpPr>
          <p:spPr>
            <a:xfrm flipH="1" rot="10800000">
              <a:off x="1066800" y="0"/>
              <a:ext cx="179705" cy="454025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7" name="Google Shape;3017;p70"/>
            <p:cNvCxnSpPr/>
            <p:nvPr/>
          </p:nvCxnSpPr>
          <p:spPr>
            <a:xfrm>
              <a:off x="1333500" y="228600"/>
              <a:ext cx="453390" cy="0"/>
            </a:xfrm>
            <a:prstGeom prst="straightConnector1">
              <a:avLst/>
            </a:prstGeom>
            <a:noFill/>
            <a:ln cap="flat" cmpd="sng" w="444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71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Active Circuit Elements (Sources)</a:t>
            </a:r>
            <a:endParaRPr/>
          </a:p>
        </p:txBody>
      </p:sp>
      <p:sp>
        <p:nvSpPr>
          <p:cNvPr id="3023" name="Google Shape;3023;p71"/>
          <p:cNvSpPr/>
          <p:nvPr/>
        </p:nvSpPr>
        <p:spPr>
          <a:xfrm>
            <a:off x="429715" y="1275913"/>
            <a:ext cx="11349909" cy="4588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Noto Sans Symbols"/>
              <a:buChar char="−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component capable of producing energy. 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Categorised into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Noto Sans Symbols"/>
              <a:buChar char="−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voltage sources and current sources. 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Noto Sans Symbols"/>
              <a:buChar char="−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sources (generated voltage or current does not depend on any other circuit voltage or current)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Noto Sans Symbols"/>
              <a:buChar char="−"/>
            </a:pPr>
            <a:r>
              <a:rPr lang="en-GB" sz="3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 sources (generated voltage or current depends on another circuit voltage or current).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8" name="Google Shape;3028;p72"/>
          <p:cNvGrpSpPr/>
          <p:nvPr/>
        </p:nvGrpSpPr>
        <p:grpSpPr>
          <a:xfrm>
            <a:off x="8725503" y="676275"/>
            <a:ext cx="3582670" cy="1875790"/>
            <a:chOff x="0" y="0"/>
            <a:chExt cx="3583173" cy="1876300"/>
          </a:xfrm>
        </p:grpSpPr>
        <p:grpSp>
          <p:nvGrpSpPr>
            <p:cNvPr id="3029" name="Google Shape;3029;p72"/>
            <p:cNvGrpSpPr/>
            <p:nvPr/>
          </p:nvGrpSpPr>
          <p:grpSpPr>
            <a:xfrm>
              <a:off x="653143" y="0"/>
              <a:ext cx="2265680" cy="837565"/>
              <a:chOff x="3015" y="1552"/>
              <a:chExt cx="3568" cy="1319"/>
            </a:xfrm>
          </p:grpSpPr>
          <p:cxnSp>
            <p:nvCxnSpPr>
              <p:cNvPr id="3030" name="Google Shape;3030;p72"/>
              <p:cNvCxnSpPr/>
              <p:nvPr/>
            </p:nvCxnSpPr>
            <p:spPr>
              <a:xfrm rot="10800000">
                <a:off x="3015" y="2213"/>
                <a:ext cx="111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1" name="Google Shape;3031;p72"/>
              <p:cNvCxnSpPr/>
              <p:nvPr/>
            </p:nvCxnSpPr>
            <p:spPr>
              <a:xfrm flipH="1">
                <a:off x="5465" y="2210"/>
                <a:ext cx="1118" cy="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32" name="Google Shape;3032;p72"/>
              <p:cNvSpPr/>
              <p:nvPr/>
            </p:nvSpPr>
            <p:spPr>
              <a:xfrm>
                <a:off x="4146" y="1552"/>
                <a:ext cx="1319" cy="131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3" name="Google Shape;3033;p72"/>
            <p:cNvSpPr txBox="1"/>
            <p:nvPr/>
          </p:nvSpPr>
          <p:spPr>
            <a:xfrm>
              <a:off x="0" y="795646"/>
              <a:ext cx="3583173" cy="1080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Symbol for</a:t>
              </a: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Independent source          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34" name="Google Shape;3034;p72"/>
          <p:cNvGrpSpPr/>
          <p:nvPr/>
        </p:nvGrpSpPr>
        <p:grpSpPr>
          <a:xfrm>
            <a:off x="8937360" y="3256409"/>
            <a:ext cx="3323590" cy="1994535"/>
            <a:chOff x="0" y="0"/>
            <a:chExt cx="3324200" cy="1995055"/>
          </a:xfrm>
        </p:grpSpPr>
        <p:grpSp>
          <p:nvGrpSpPr>
            <p:cNvPr id="3035" name="Google Shape;3035;p72"/>
            <p:cNvGrpSpPr/>
            <p:nvPr/>
          </p:nvGrpSpPr>
          <p:grpSpPr>
            <a:xfrm>
              <a:off x="403761" y="0"/>
              <a:ext cx="2360930" cy="943610"/>
              <a:chOff x="4007" y="1702"/>
              <a:chExt cx="3718" cy="1486"/>
            </a:xfrm>
          </p:grpSpPr>
          <p:sp>
            <p:nvSpPr>
              <p:cNvPr id="3036" name="Google Shape;3036;p72"/>
              <p:cNvSpPr/>
              <p:nvPr/>
            </p:nvSpPr>
            <p:spPr>
              <a:xfrm>
                <a:off x="5124" y="1702"/>
                <a:ext cx="1481" cy="1486"/>
              </a:xfrm>
              <a:prstGeom prst="diamond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37" name="Google Shape;3037;p72"/>
              <p:cNvCxnSpPr/>
              <p:nvPr/>
            </p:nvCxnSpPr>
            <p:spPr>
              <a:xfrm rot="10800000">
                <a:off x="4007" y="2448"/>
                <a:ext cx="111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8" name="Google Shape;3038;p72"/>
              <p:cNvCxnSpPr/>
              <p:nvPr/>
            </p:nvCxnSpPr>
            <p:spPr>
              <a:xfrm flipH="1">
                <a:off x="6607" y="2445"/>
                <a:ext cx="1118" cy="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39" name="Google Shape;3039;p72"/>
            <p:cNvSpPr txBox="1"/>
            <p:nvPr/>
          </p:nvSpPr>
          <p:spPr>
            <a:xfrm>
              <a:off x="0" y="997528"/>
              <a:ext cx="3324200" cy="997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Symbol for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Dependent source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40" name="Google Shape;3040;p7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72"/>
          <p:cNvSpPr/>
          <p:nvPr/>
        </p:nvSpPr>
        <p:spPr>
          <a:xfrm>
            <a:off x="53788" y="937876"/>
            <a:ext cx="888828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Independent Source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Terminal voltage (or current) depends only on the loading and internal source quantity, but not on any other circuit variable.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2" name="Google Shape;3042;p72"/>
          <p:cNvSpPr/>
          <p:nvPr/>
        </p:nvSpPr>
        <p:spPr>
          <a:xfrm>
            <a:off x="134470" y="3415602"/>
            <a:ext cx="8888281" cy="2923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Dependent Source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 dependent voltage source (or current source) would have its terminal voltage (or current) depend on another circuit quantity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such as a voltage or current.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73"/>
          <p:cNvSpPr txBox="1"/>
          <p:nvPr>
            <p:ph type="title"/>
          </p:nvPr>
        </p:nvSpPr>
        <p:spPr>
          <a:xfrm>
            <a:off x="429715" y="526967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Independent Voltage and Current Sources</a:t>
            </a:r>
            <a:endParaRPr/>
          </a:p>
        </p:txBody>
      </p:sp>
      <p:sp>
        <p:nvSpPr>
          <p:cNvPr id="3048" name="Google Shape;3048;p73"/>
          <p:cNvSpPr txBox="1"/>
          <p:nvPr/>
        </p:nvSpPr>
        <p:spPr>
          <a:xfrm>
            <a:off x="8894763" y="1046163"/>
            <a:ext cx="825500" cy="5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GB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i(t)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9" name="Google Shape;3049;p73"/>
          <p:cNvGrpSpPr/>
          <p:nvPr/>
        </p:nvGrpSpPr>
        <p:grpSpPr>
          <a:xfrm>
            <a:off x="235585" y="3576957"/>
            <a:ext cx="9892665" cy="2582545"/>
            <a:chOff x="131" y="6265"/>
            <a:chExt cx="15579" cy="4067"/>
          </a:xfrm>
        </p:grpSpPr>
        <p:sp>
          <p:nvSpPr>
            <p:cNvPr id="3050" name="Google Shape;3050;p73"/>
            <p:cNvSpPr txBox="1"/>
            <p:nvPr/>
          </p:nvSpPr>
          <p:spPr>
            <a:xfrm>
              <a:off x="7790" y="9648"/>
              <a:ext cx="7920" cy="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6(b) – Practical current source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1" name="Google Shape;3051;p73"/>
            <p:cNvSpPr txBox="1"/>
            <p:nvPr/>
          </p:nvSpPr>
          <p:spPr>
            <a:xfrm>
              <a:off x="131" y="9664"/>
              <a:ext cx="7065" cy="6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6(a) – Ideal current source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52" name="Google Shape;3052;p73"/>
            <p:cNvGrpSpPr/>
            <p:nvPr/>
          </p:nvGrpSpPr>
          <p:grpSpPr>
            <a:xfrm>
              <a:off x="9259" y="6265"/>
              <a:ext cx="5842" cy="3499"/>
              <a:chOff x="9601" y="3565"/>
              <a:chExt cx="5842" cy="3499"/>
            </a:xfrm>
          </p:grpSpPr>
          <p:cxnSp>
            <p:nvCxnSpPr>
              <p:cNvPr id="3053" name="Google Shape;3053;p73"/>
              <p:cNvCxnSpPr/>
              <p:nvPr/>
            </p:nvCxnSpPr>
            <p:spPr>
              <a:xfrm>
                <a:off x="14676" y="4860"/>
                <a:ext cx="332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grpSp>
            <p:nvGrpSpPr>
              <p:cNvPr id="3054" name="Google Shape;3054;p73"/>
              <p:cNvGrpSpPr/>
              <p:nvPr/>
            </p:nvGrpSpPr>
            <p:grpSpPr>
              <a:xfrm rot="5400000">
                <a:off x="12064" y="4133"/>
                <a:ext cx="425" cy="3498"/>
                <a:chOff x="9878" y="1418"/>
                <a:chExt cx="360" cy="1800"/>
              </a:xfrm>
            </p:grpSpPr>
            <p:sp>
              <p:nvSpPr>
                <p:cNvPr id="3055" name="Google Shape;3055;p73"/>
                <p:cNvSpPr/>
                <p:nvPr/>
              </p:nvSpPr>
              <p:spPr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56" name="Google Shape;3056;p73"/>
                <p:cNvCxnSpPr/>
                <p:nvPr/>
              </p:nvCxnSpPr>
              <p:spPr>
                <a:xfrm>
                  <a:off x="10058" y="1418"/>
                  <a:ext cx="0" cy="54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73"/>
                <p:cNvCxnSpPr/>
                <p:nvPr/>
              </p:nvCxnSpPr>
              <p:spPr>
                <a:xfrm>
                  <a:off x="10058" y="2678"/>
                  <a:ext cx="0" cy="54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058" name="Google Shape;3058;p73"/>
              <p:cNvSpPr txBox="1"/>
              <p:nvPr/>
            </p:nvSpPr>
            <p:spPr>
              <a:xfrm>
                <a:off x="14478" y="6470"/>
                <a:ext cx="965" cy="5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v(t)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059" name="Google Shape;3059;p73"/>
              <p:cNvCxnSpPr/>
              <p:nvPr/>
            </p:nvCxnSpPr>
            <p:spPr>
              <a:xfrm>
                <a:off x="10082" y="6818"/>
                <a:ext cx="434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060" name="Google Shape;3060;p73"/>
              <p:cNvSpPr txBox="1"/>
              <p:nvPr/>
            </p:nvSpPr>
            <p:spPr>
              <a:xfrm>
                <a:off x="11810" y="6097"/>
                <a:ext cx="1624" cy="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Y(p)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061" name="Google Shape;3061;p73"/>
              <p:cNvCxnSpPr/>
              <p:nvPr/>
            </p:nvCxnSpPr>
            <p:spPr>
              <a:xfrm flipH="1" rot="10800000">
                <a:off x="14016" y="4869"/>
                <a:ext cx="1" cy="100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2" name="Google Shape;3062;p73"/>
              <p:cNvCxnSpPr/>
              <p:nvPr/>
            </p:nvCxnSpPr>
            <p:spPr>
              <a:xfrm flipH="1" rot="10800000">
                <a:off x="10529" y="4869"/>
                <a:ext cx="1" cy="100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63" name="Google Shape;3063;p73"/>
              <p:cNvGrpSpPr/>
              <p:nvPr/>
            </p:nvGrpSpPr>
            <p:grpSpPr>
              <a:xfrm>
                <a:off x="9601" y="4246"/>
                <a:ext cx="5647" cy="1247"/>
                <a:chOff x="6458" y="8501"/>
                <a:chExt cx="2040" cy="480"/>
              </a:xfrm>
            </p:grpSpPr>
            <p:sp>
              <p:nvSpPr>
                <p:cNvPr id="3064" name="Google Shape;3064;p73"/>
                <p:cNvSpPr/>
                <p:nvPr/>
              </p:nvSpPr>
              <p:spPr>
                <a:xfrm>
                  <a:off x="7178" y="8501"/>
                  <a:ext cx="480" cy="48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65" name="Google Shape;3065;p73"/>
                <p:cNvCxnSpPr/>
                <p:nvPr/>
              </p:nvCxnSpPr>
              <p:spPr>
                <a:xfrm>
                  <a:off x="7658" y="8741"/>
                  <a:ext cx="84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6" name="Google Shape;3066;p73"/>
                <p:cNvCxnSpPr/>
                <p:nvPr/>
              </p:nvCxnSpPr>
              <p:spPr>
                <a:xfrm>
                  <a:off x="6458" y="8741"/>
                  <a:ext cx="7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7" name="Google Shape;3067;p73"/>
                <p:cNvCxnSpPr/>
                <p:nvPr/>
              </p:nvCxnSpPr>
              <p:spPr>
                <a:xfrm>
                  <a:off x="7298" y="8758"/>
                  <a:ext cx="28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lg" w="lg" type="triangle"/>
                </a:ln>
              </p:spPr>
            </p:cxnSp>
          </p:grpSp>
          <p:sp>
            <p:nvSpPr>
              <p:cNvPr id="3068" name="Google Shape;3068;p73"/>
              <p:cNvSpPr txBox="1"/>
              <p:nvPr/>
            </p:nvSpPr>
            <p:spPr>
              <a:xfrm>
                <a:off x="11750" y="3565"/>
                <a:ext cx="1093" cy="7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I(t)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069" name="Google Shape;3069;p73"/>
            <p:cNvGrpSpPr/>
            <p:nvPr/>
          </p:nvGrpSpPr>
          <p:grpSpPr>
            <a:xfrm>
              <a:off x="864" y="6672"/>
              <a:ext cx="5693" cy="2942"/>
              <a:chOff x="1206" y="3772"/>
              <a:chExt cx="5693" cy="2942"/>
            </a:xfrm>
          </p:grpSpPr>
          <p:sp>
            <p:nvSpPr>
              <p:cNvPr id="3070" name="Google Shape;3070;p73"/>
              <p:cNvSpPr txBox="1"/>
              <p:nvPr/>
            </p:nvSpPr>
            <p:spPr>
              <a:xfrm>
                <a:off x="3639" y="3772"/>
                <a:ext cx="1093" cy="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I(t)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071" name="Google Shape;3071;p73"/>
              <p:cNvCxnSpPr/>
              <p:nvPr/>
            </p:nvCxnSpPr>
            <p:spPr>
              <a:xfrm>
                <a:off x="5582" y="5265"/>
                <a:ext cx="328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072" name="Google Shape;3072;p73"/>
              <p:cNvSpPr txBox="1"/>
              <p:nvPr/>
            </p:nvSpPr>
            <p:spPr>
              <a:xfrm>
                <a:off x="5513" y="5416"/>
                <a:ext cx="1009" cy="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i(t)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3" name="Google Shape;3073;p73"/>
              <p:cNvSpPr txBox="1"/>
              <p:nvPr/>
            </p:nvSpPr>
            <p:spPr>
              <a:xfrm>
                <a:off x="5274" y="6144"/>
                <a:ext cx="1225" cy="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v(t)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074" name="Google Shape;3074;p73"/>
              <p:cNvCxnSpPr/>
              <p:nvPr/>
            </p:nvCxnSpPr>
            <p:spPr>
              <a:xfrm>
                <a:off x="2544" y="6452"/>
                <a:ext cx="2634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grpSp>
            <p:nvGrpSpPr>
              <p:cNvPr id="3075" name="Google Shape;3075;p73"/>
              <p:cNvGrpSpPr/>
              <p:nvPr/>
            </p:nvGrpSpPr>
            <p:grpSpPr>
              <a:xfrm>
                <a:off x="1206" y="4601"/>
                <a:ext cx="5693" cy="1350"/>
                <a:chOff x="2228" y="8591"/>
                <a:chExt cx="1910" cy="480"/>
              </a:xfrm>
            </p:grpSpPr>
            <p:sp>
              <p:nvSpPr>
                <p:cNvPr id="3076" name="Google Shape;3076;p73"/>
                <p:cNvSpPr/>
                <p:nvPr/>
              </p:nvSpPr>
              <p:spPr>
                <a:xfrm>
                  <a:off x="2948" y="8591"/>
                  <a:ext cx="480" cy="48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77" name="Google Shape;3077;p73"/>
                <p:cNvCxnSpPr/>
                <p:nvPr/>
              </p:nvCxnSpPr>
              <p:spPr>
                <a:xfrm>
                  <a:off x="3418" y="8831"/>
                  <a:ext cx="7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8" name="Google Shape;3078;p73"/>
                <p:cNvCxnSpPr/>
                <p:nvPr/>
              </p:nvCxnSpPr>
              <p:spPr>
                <a:xfrm>
                  <a:off x="2228" y="8831"/>
                  <a:ext cx="72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9" name="Google Shape;3079;p73"/>
                <p:cNvCxnSpPr/>
                <p:nvPr/>
              </p:nvCxnSpPr>
              <p:spPr>
                <a:xfrm>
                  <a:off x="3038" y="8838"/>
                  <a:ext cx="283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lg" w="lg" type="triangle"/>
                </a:ln>
              </p:spPr>
            </p:cxnSp>
          </p:grpSp>
        </p:grpSp>
      </p:grpSp>
      <p:grpSp>
        <p:nvGrpSpPr>
          <p:cNvPr id="3080" name="Google Shape;3080;p73"/>
          <p:cNvGrpSpPr/>
          <p:nvPr/>
        </p:nvGrpSpPr>
        <p:grpSpPr>
          <a:xfrm>
            <a:off x="563880" y="816162"/>
            <a:ext cx="4758055" cy="2474595"/>
            <a:chOff x="648" y="1314"/>
            <a:chExt cx="7493" cy="3897"/>
          </a:xfrm>
        </p:grpSpPr>
        <p:sp>
          <p:nvSpPr>
            <p:cNvPr id="3081" name="Google Shape;3081;p73"/>
            <p:cNvSpPr txBox="1"/>
            <p:nvPr/>
          </p:nvSpPr>
          <p:spPr>
            <a:xfrm>
              <a:off x="648" y="4448"/>
              <a:ext cx="7493" cy="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5(a) – Ideal voltage source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82" name="Google Shape;3082;p73"/>
            <p:cNvGrpSpPr/>
            <p:nvPr/>
          </p:nvGrpSpPr>
          <p:grpSpPr>
            <a:xfrm>
              <a:off x="1986" y="2385"/>
              <a:ext cx="4315" cy="1070"/>
              <a:chOff x="1538" y="6398"/>
              <a:chExt cx="1935" cy="480"/>
            </a:xfrm>
          </p:grpSpPr>
          <p:sp>
            <p:nvSpPr>
              <p:cNvPr id="3083" name="Google Shape;3083;p73"/>
              <p:cNvSpPr/>
              <p:nvPr/>
            </p:nvSpPr>
            <p:spPr>
              <a:xfrm>
                <a:off x="2258" y="6398"/>
                <a:ext cx="480" cy="480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84" name="Google Shape;3084;p73"/>
              <p:cNvCxnSpPr/>
              <p:nvPr/>
            </p:nvCxnSpPr>
            <p:spPr>
              <a:xfrm>
                <a:off x="2753" y="6638"/>
                <a:ext cx="7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5" name="Google Shape;3085;p73"/>
              <p:cNvCxnSpPr/>
              <p:nvPr/>
            </p:nvCxnSpPr>
            <p:spPr>
              <a:xfrm>
                <a:off x="1538" y="6638"/>
                <a:ext cx="72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86" name="Google Shape;3086;p73"/>
            <p:cNvSpPr txBox="1"/>
            <p:nvPr/>
          </p:nvSpPr>
          <p:spPr>
            <a:xfrm>
              <a:off x="3592" y="1314"/>
              <a:ext cx="1070" cy="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87" name="Google Shape;3087;p73"/>
            <p:cNvCxnSpPr/>
            <p:nvPr/>
          </p:nvCxnSpPr>
          <p:spPr>
            <a:xfrm>
              <a:off x="3056" y="2117"/>
              <a:ext cx="2141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088" name="Google Shape;3088;p73"/>
            <p:cNvCxnSpPr/>
            <p:nvPr/>
          </p:nvCxnSpPr>
          <p:spPr>
            <a:xfrm>
              <a:off x="5833" y="2920"/>
              <a:ext cx="267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89" name="Google Shape;3089;p73"/>
            <p:cNvSpPr txBox="1"/>
            <p:nvPr/>
          </p:nvSpPr>
          <p:spPr>
            <a:xfrm>
              <a:off x="5703" y="3054"/>
              <a:ext cx="1071" cy="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0" name="Google Shape;3090;p73"/>
            <p:cNvSpPr txBox="1"/>
            <p:nvPr/>
          </p:nvSpPr>
          <p:spPr>
            <a:xfrm>
              <a:off x="4930" y="3940"/>
              <a:ext cx="1070" cy="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91" name="Google Shape;3091;p73"/>
            <p:cNvCxnSpPr/>
            <p:nvPr/>
          </p:nvCxnSpPr>
          <p:spPr>
            <a:xfrm>
              <a:off x="2521" y="3940"/>
              <a:ext cx="3479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3092" name="Google Shape;3092;p73"/>
          <p:cNvGrpSpPr/>
          <p:nvPr/>
        </p:nvGrpSpPr>
        <p:grpSpPr>
          <a:xfrm>
            <a:off x="5321935" y="912047"/>
            <a:ext cx="5186045" cy="2384425"/>
            <a:chOff x="8141" y="1465"/>
            <a:chExt cx="8167" cy="3755"/>
          </a:xfrm>
        </p:grpSpPr>
        <p:sp>
          <p:nvSpPr>
            <p:cNvPr id="3093" name="Google Shape;3093;p73"/>
            <p:cNvSpPr txBox="1"/>
            <p:nvPr/>
          </p:nvSpPr>
          <p:spPr>
            <a:xfrm>
              <a:off x="12685" y="2177"/>
              <a:ext cx="988" cy="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Z(p)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4" name="Google Shape;3094;p73"/>
            <p:cNvSpPr/>
            <p:nvPr/>
          </p:nvSpPr>
          <p:spPr>
            <a:xfrm>
              <a:off x="10512" y="2471"/>
              <a:ext cx="1054" cy="1006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5" name="Google Shape;3095;p73"/>
            <p:cNvCxnSpPr/>
            <p:nvPr/>
          </p:nvCxnSpPr>
          <p:spPr>
            <a:xfrm>
              <a:off x="9524" y="2974"/>
              <a:ext cx="1021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96" name="Google Shape;3096;p73"/>
            <p:cNvSpPr txBox="1"/>
            <p:nvPr/>
          </p:nvSpPr>
          <p:spPr>
            <a:xfrm>
              <a:off x="10512" y="1465"/>
              <a:ext cx="1054" cy="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97" name="Google Shape;3097;p73"/>
            <p:cNvCxnSpPr/>
            <p:nvPr/>
          </p:nvCxnSpPr>
          <p:spPr>
            <a:xfrm>
              <a:off x="9985" y="2219"/>
              <a:ext cx="210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098" name="Google Shape;3098;p73"/>
            <p:cNvCxnSpPr/>
            <p:nvPr/>
          </p:nvCxnSpPr>
          <p:spPr>
            <a:xfrm>
              <a:off x="13937" y="2974"/>
              <a:ext cx="263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3099" name="Google Shape;3099;p73"/>
            <p:cNvGrpSpPr/>
            <p:nvPr/>
          </p:nvGrpSpPr>
          <p:grpSpPr>
            <a:xfrm rot="5400000">
              <a:off x="12729" y="1591"/>
              <a:ext cx="450" cy="2775"/>
              <a:chOff x="9878" y="1418"/>
              <a:chExt cx="360" cy="1800"/>
            </a:xfrm>
          </p:grpSpPr>
          <p:sp>
            <p:nvSpPr>
              <p:cNvPr id="3100" name="Google Shape;3100;p73"/>
              <p:cNvSpPr/>
              <p:nvPr/>
            </p:nvSpPr>
            <p:spPr>
              <a:xfrm>
                <a:off x="9878" y="1958"/>
                <a:ext cx="360" cy="720"/>
              </a:xfrm>
              <a:prstGeom prst="rect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101" name="Google Shape;3101;p73"/>
              <p:cNvCxnSpPr/>
              <p:nvPr/>
            </p:nvCxnSpPr>
            <p:spPr>
              <a:xfrm>
                <a:off x="10058" y="1418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2" name="Google Shape;3102;p73"/>
              <p:cNvCxnSpPr/>
              <p:nvPr/>
            </p:nvCxnSpPr>
            <p:spPr>
              <a:xfrm>
                <a:off x="10058" y="2678"/>
                <a:ext cx="0" cy="54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103" name="Google Shape;3103;p73"/>
            <p:cNvSpPr txBox="1"/>
            <p:nvPr/>
          </p:nvSpPr>
          <p:spPr>
            <a:xfrm>
              <a:off x="13673" y="2974"/>
              <a:ext cx="1054" cy="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4" name="Google Shape;3104;p73"/>
            <p:cNvSpPr txBox="1"/>
            <p:nvPr/>
          </p:nvSpPr>
          <p:spPr>
            <a:xfrm>
              <a:off x="13114" y="3948"/>
              <a:ext cx="1053" cy="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v(t)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05" name="Google Shape;3105;p73"/>
            <p:cNvCxnSpPr/>
            <p:nvPr/>
          </p:nvCxnSpPr>
          <p:spPr>
            <a:xfrm>
              <a:off x="9722" y="3979"/>
              <a:ext cx="447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106" name="Google Shape;3106;p73"/>
            <p:cNvSpPr txBox="1"/>
            <p:nvPr/>
          </p:nvSpPr>
          <p:spPr>
            <a:xfrm>
              <a:off x="8141" y="4503"/>
              <a:ext cx="8167" cy="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5(b) – Practical voltage source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07" name="Google Shape;3107;p73"/>
          <p:cNvSpPr/>
          <p:nvPr/>
        </p:nvSpPr>
        <p:spPr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73"/>
          <p:cNvSpPr/>
          <p:nvPr/>
        </p:nvSpPr>
        <p:spPr>
          <a:xfrm>
            <a:off x="164592" y="3163402"/>
            <a:ext cx="117088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v(t) = e(t)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for all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i(t)		v(t) = e(t)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Z(p).i(t)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p73"/>
          <p:cNvSpPr/>
          <p:nvPr/>
        </p:nvSpPr>
        <p:spPr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0" name="Google Shape;3110;p73"/>
          <p:cNvSpPr/>
          <p:nvPr/>
        </p:nvSpPr>
        <p:spPr>
          <a:xfrm>
            <a:off x="235585" y="6067891"/>
            <a:ext cx="116759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i(t) = I(t)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for all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v(t)</a:t>
            </a:r>
            <a:r>
              <a:rPr i="1" lang="en-GB" sz="3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`		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i(t) = I(t)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Y(p).v(t)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4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74"/>
          <p:cNvSpPr txBox="1"/>
          <p:nvPr>
            <p:ph type="title"/>
          </p:nvPr>
        </p:nvSpPr>
        <p:spPr>
          <a:xfrm>
            <a:off x="429715" y="446285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Dependent Voltage and Current Sources</a:t>
            </a:r>
            <a:endParaRPr/>
          </a:p>
        </p:txBody>
      </p:sp>
      <p:sp>
        <p:nvSpPr>
          <p:cNvPr id="3116" name="Google Shape;3116;p74"/>
          <p:cNvSpPr/>
          <p:nvPr/>
        </p:nvSpPr>
        <p:spPr>
          <a:xfrm>
            <a:off x="430304" y="796820"/>
            <a:ext cx="44214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Four possibilities exist.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7" name="Google Shape;3117;p74"/>
          <p:cNvGrpSpPr/>
          <p:nvPr/>
        </p:nvGrpSpPr>
        <p:grpSpPr>
          <a:xfrm>
            <a:off x="2635623" y="1057050"/>
            <a:ext cx="5898515" cy="3710940"/>
            <a:chOff x="0" y="0"/>
            <a:chExt cx="5898515" cy="3710940"/>
          </a:xfrm>
        </p:grpSpPr>
        <p:sp>
          <p:nvSpPr>
            <p:cNvPr id="3118" name="Google Shape;3118;p74"/>
            <p:cNvSpPr/>
            <p:nvPr/>
          </p:nvSpPr>
          <p:spPr>
            <a:xfrm>
              <a:off x="0" y="0"/>
              <a:ext cx="5898515" cy="3710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74"/>
            <p:cNvSpPr/>
            <p:nvPr/>
          </p:nvSpPr>
          <p:spPr>
            <a:xfrm>
              <a:off x="945515" y="566420"/>
              <a:ext cx="940435" cy="943610"/>
            </a:xfrm>
            <a:prstGeom prst="diamond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20" name="Google Shape;3120;p74"/>
            <p:cNvCxnSpPr/>
            <p:nvPr/>
          </p:nvCxnSpPr>
          <p:spPr>
            <a:xfrm rot="10800000">
              <a:off x="236220" y="1040130"/>
              <a:ext cx="70929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1" name="Google Shape;3121;p74"/>
            <p:cNvCxnSpPr/>
            <p:nvPr/>
          </p:nvCxnSpPr>
          <p:spPr>
            <a:xfrm flipH="1">
              <a:off x="1887220" y="1038225"/>
              <a:ext cx="709930" cy="190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2" name="Google Shape;3122;p74"/>
            <p:cNvSpPr txBox="1"/>
            <p:nvPr/>
          </p:nvSpPr>
          <p:spPr>
            <a:xfrm>
              <a:off x="1084580" y="822325"/>
              <a:ext cx="643890" cy="47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</a:t>
              </a:r>
              <a:r>
                <a:rPr b="1" lang="en-GB" sz="22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-GB" sz="25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–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3" name="Google Shape;3123;p74"/>
            <p:cNvSpPr txBox="1"/>
            <p:nvPr/>
          </p:nvSpPr>
          <p:spPr>
            <a:xfrm>
              <a:off x="1084580" y="94615"/>
              <a:ext cx="843915" cy="550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αV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4" name="Google Shape;3124;p74"/>
            <p:cNvSpPr/>
            <p:nvPr/>
          </p:nvSpPr>
          <p:spPr>
            <a:xfrm>
              <a:off x="4011295" y="566420"/>
              <a:ext cx="940435" cy="943610"/>
            </a:xfrm>
            <a:prstGeom prst="diamond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25" name="Google Shape;3125;p74"/>
            <p:cNvCxnSpPr/>
            <p:nvPr/>
          </p:nvCxnSpPr>
          <p:spPr>
            <a:xfrm flipH="1">
              <a:off x="3301365" y="1040130"/>
              <a:ext cx="709930" cy="127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6" name="Google Shape;3126;p74"/>
            <p:cNvCxnSpPr/>
            <p:nvPr/>
          </p:nvCxnSpPr>
          <p:spPr>
            <a:xfrm flipH="1">
              <a:off x="4953000" y="1038225"/>
              <a:ext cx="709295" cy="190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7" name="Google Shape;3127;p74"/>
            <p:cNvSpPr txBox="1"/>
            <p:nvPr/>
          </p:nvSpPr>
          <p:spPr>
            <a:xfrm>
              <a:off x="4151630" y="822325"/>
              <a:ext cx="652145" cy="47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</a:t>
              </a:r>
              <a:r>
                <a:rPr b="1" lang="en-GB" sz="2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lang="en-GB" sz="25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–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8" name="Google Shape;3128;p74"/>
            <p:cNvSpPr/>
            <p:nvPr/>
          </p:nvSpPr>
          <p:spPr>
            <a:xfrm>
              <a:off x="945515" y="2218055"/>
              <a:ext cx="940435" cy="944245"/>
            </a:xfrm>
            <a:prstGeom prst="diamond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29" name="Google Shape;3129;p74"/>
            <p:cNvCxnSpPr/>
            <p:nvPr/>
          </p:nvCxnSpPr>
          <p:spPr>
            <a:xfrm flipH="1">
              <a:off x="236220" y="2691765"/>
              <a:ext cx="709295" cy="190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0" name="Google Shape;3130;p74"/>
            <p:cNvCxnSpPr/>
            <p:nvPr/>
          </p:nvCxnSpPr>
          <p:spPr>
            <a:xfrm flipH="1">
              <a:off x="1887220" y="2689860"/>
              <a:ext cx="709930" cy="190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31" name="Google Shape;3131;p74"/>
            <p:cNvSpPr txBox="1"/>
            <p:nvPr/>
          </p:nvSpPr>
          <p:spPr>
            <a:xfrm>
              <a:off x="4235450" y="1715770"/>
              <a:ext cx="664845" cy="572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αI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2" name="Google Shape;3132;p74"/>
            <p:cNvSpPr/>
            <p:nvPr/>
          </p:nvSpPr>
          <p:spPr>
            <a:xfrm>
              <a:off x="4011295" y="2218055"/>
              <a:ext cx="940435" cy="944245"/>
            </a:xfrm>
            <a:prstGeom prst="diamond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33" name="Google Shape;3133;p74"/>
            <p:cNvCxnSpPr/>
            <p:nvPr/>
          </p:nvCxnSpPr>
          <p:spPr>
            <a:xfrm flipH="1">
              <a:off x="3301365" y="2691765"/>
              <a:ext cx="709930" cy="190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4" name="Google Shape;3134;p74"/>
            <p:cNvCxnSpPr/>
            <p:nvPr/>
          </p:nvCxnSpPr>
          <p:spPr>
            <a:xfrm flipH="1">
              <a:off x="4953000" y="2689860"/>
              <a:ext cx="709295" cy="190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35" name="Google Shape;3135;p74"/>
            <p:cNvSpPr txBox="1"/>
            <p:nvPr/>
          </p:nvSpPr>
          <p:spPr>
            <a:xfrm>
              <a:off x="1179830" y="1659255"/>
              <a:ext cx="74231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γV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36" name="Google Shape;3136;p74"/>
            <p:cNvCxnSpPr/>
            <p:nvPr/>
          </p:nvCxnSpPr>
          <p:spPr>
            <a:xfrm>
              <a:off x="1179830" y="2689860"/>
              <a:ext cx="47180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cxnSp>
          <p:nvCxnSpPr>
            <p:cNvPr id="3137" name="Google Shape;3137;p74"/>
            <p:cNvCxnSpPr/>
            <p:nvPr/>
          </p:nvCxnSpPr>
          <p:spPr>
            <a:xfrm>
              <a:off x="4246880" y="2689860"/>
              <a:ext cx="47180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sp>
          <p:nvSpPr>
            <p:cNvPr id="3138" name="Google Shape;3138;p74"/>
            <p:cNvSpPr txBox="1"/>
            <p:nvPr/>
          </p:nvSpPr>
          <p:spPr>
            <a:xfrm>
              <a:off x="589915" y="3239135"/>
              <a:ext cx="4928235" cy="47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7 – Dependent sources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9" name="Google Shape;3139;p74"/>
            <p:cNvSpPr txBox="1"/>
            <p:nvPr/>
          </p:nvSpPr>
          <p:spPr>
            <a:xfrm>
              <a:off x="4235450" y="48895"/>
              <a:ext cx="641985" cy="550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450" lIns="37400" spcFirstLastPara="1" rIns="37400" wrap="square" tIns="2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βI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40" name="Google Shape;3140;p74"/>
          <p:cNvSpPr/>
          <p:nvPr/>
        </p:nvSpPr>
        <p:spPr>
          <a:xfrm>
            <a:off x="429714" y="4630341"/>
            <a:ext cx="1156506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Voltage dependent (controlled) voltage source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Current dependent (controlled) voltage source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Voltage dependent (controlled) current source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Current dependent (controlled) current source</a:t>
            </a:r>
            <a:endParaRPr b="1" i="0" sz="32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p75"/>
          <p:cNvSpPr txBox="1"/>
          <p:nvPr>
            <p:ph type="title"/>
          </p:nvPr>
        </p:nvSpPr>
        <p:spPr>
          <a:xfrm>
            <a:off x="429715" y="634543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3146" name="Google Shape;3146;p75"/>
          <p:cNvSpPr/>
          <p:nvPr/>
        </p:nvSpPr>
        <p:spPr>
          <a:xfrm>
            <a:off x="268940" y="1273971"/>
            <a:ext cx="97864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Determine the current I and V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7" name="Google Shape;3147;p75"/>
          <p:cNvGrpSpPr/>
          <p:nvPr/>
        </p:nvGrpSpPr>
        <p:grpSpPr>
          <a:xfrm>
            <a:off x="6862298" y="634543"/>
            <a:ext cx="4813935" cy="4475898"/>
            <a:chOff x="95885" y="0"/>
            <a:chExt cx="4813935" cy="4396105"/>
          </a:xfrm>
        </p:grpSpPr>
        <p:sp>
          <p:nvSpPr>
            <p:cNvPr id="3148" name="Google Shape;3148;p75"/>
            <p:cNvSpPr txBox="1"/>
            <p:nvPr/>
          </p:nvSpPr>
          <p:spPr>
            <a:xfrm>
              <a:off x="327660" y="840740"/>
              <a:ext cx="465455" cy="703580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9" name="Google Shape;3149;p75"/>
            <p:cNvSpPr/>
            <p:nvPr/>
          </p:nvSpPr>
          <p:spPr>
            <a:xfrm>
              <a:off x="95885" y="2008505"/>
              <a:ext cx="931545" cy="934085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0" name="Google Shape;3150;p75"/>
            <p:cNvCxnSpPr/>
            <p:nvPr/>
          </p:nvCxnSpPr>
          <p:spPr>
            <a:xfrm>
              <a:off x="560070" y="1541145"/>
              <a:ext cx="1905" cy="46736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51" name="Google Shape;3151;p75"/>
            <p:cNvSpPr/>
            <p:nvPr/>
          </p:nvSpPr>
          <p:spPr>
            <a:xfrm flipH="1" rot="10800000">
              <a:off x="560070" y="445770"/>
              <a:ext cx="2170430" cy="376555"/>
            </a:xfrm>
            <a:custGeom>
              <a:rect b="b" l="l" r="r" t="t"/>
              <a:pathLst>
                <a:path extrusionOk="0" h="360" w="1080">
                  <a:moveTo>
                    <a:pt x="0" y="0"/>
                  </a:moveTo>
                  <a:lnTo>
                    <a:pt x="0" y="360"/>
                  </a:lnTo>
                  <a:lnTo>
                    <a:pt x="1080" y="36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75"/>
            <p:cNvSpPr txBox="1"/>
            <p:nvPr/>
          </p:nvSpPr>
          <p:spPr>
            <a:xfrm>
              <a:off x="287655" y="1951355"/>
              <a:ext cx="467360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3" name="Google Shape;3153;p75"/>
            <p:cNvSpPr txBox="1"/>
            <p:nvPr/>
          </p:nvSpPr>
          <p:spPr>
            <a:xfrm>
              <a:off x="269240" y="2417445"/>
              <a:ext cx="465455" cy="465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54" name="Google Shape;3154;p75"/>
            <p:cNvCxnSpPr/>
            <p:nvPr/>
          </p:nvCxnSpPr>
          <p:spPr>
            <a:xfrm>
              <a:off x="1243330" y="433705"/>
              <a:ext cx="87630" cy="127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3155" name="Google Shape;3155;p75"/>
            <p:cNvSpPr txBox="1"/>
            <p:nvPr/>
          </p:nvSpPr>
          <p:spPr>
            <a:xfrm>
              <a:off x="1123950" y="413385"/>
              <a:ext cx="465455" cy="527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6" name="Google Shape;3156;p75"/>
            <p:cNvSpPr txBox="1"/>
            <p:nvPr/>
          </p:nvSpPr>
          <p:spPr>
            <a:xfrm>
              <a:off x="1122045" y="2237740"/>
              <a:ext cx="726440" cy="422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7.5V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7" name="Google Shape;3157;p75"/>
            <p:cNvSpPr txBox="1"/>
            <p:nvPr/>
          </p:nvSpPr>
          <p:spPr>
            <a:xfrm>
              <a:off x="2503805" y="3492500"/>
              <a:ext cx="485775" cy="4781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7400" spcFirstLastPara="1" rIns="174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8" name="Google Shape;3158;p75"/>
            <p:cNvSpPr/>
            <p:nvPr/>
          </p:nvSpPr>
          <p:spPr>
            <a:xfrm>
              <a:off x="2730500" y="0"/>
              <a:ext cx="879475" cy="882015"/>
            </a:xfrm>
            <a:prstGeom prst="diamond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9" name="Google Shape;3159;p75"/>
            <p:cNvSpPr txBox="1"/>
            <p:nvPr/>
          </p:nvSpPr>
          <p:spPr>
            <a:xfrm>
              <a:off x="2802890" y="241935"/>
              <a:ext cx="768985" cy="441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25" lIns="34875" spcFirstLastPara="1" rIns="34875" wrap="square" tIns="2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3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GB" sz="23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–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0" name="Google Shape;3160;p75"/>
            <p:cNvSpPr txBox="1"/>
            <p:nvPr/>
          </p:nvSpPr>
          <p:spPr>
            <a:xfrm>
              <a:off x="2802890" y="940435"/>
              <a:ext cx="768985" cy="441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25" lIns="34875" spcFirstLastPara="1" rIns="34875" wrap="square" tIns="2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4V</a:t>
              </a:r>
              <a:r>
                <a:rPr baseline="-25000"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1" name="Google Shape;3161;p75"/>
            <p:cNvSpPr/>
            <p:nvPr/>
          </p:nvSpPr>
          <p:spPr>
            <a:xfrm>
              <a:off x="3926840" y="1456690"/>
              <a:ext cx="931545" cy="93472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75"/>
            <p:cNvSpPr txBox="1"/>
            <p:nvPr/>
          </p:nvSpPr>
          <p:spPr>
            <a:xfrm>
              <a:off x="4118610" y="1400175"/>
              <a:ext cx="466725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3" name="Google Shape;3163;p75"/>
            <p:cNvSpPr txBox="1"/>
            <p:nvPr/>
          </p:nvSpPr>
          <p:spPr>
            <a:xfrm>
              <a:off x="4100195" y="1865630"/>
              <a:ext cx="465455" cy="466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4" name="Google Shape;3164;p75"/>
            <p:cNvSpPr/>
            <p:nvPr/>
          </p:nvSpPr>
          <p:spPr>
            <a:xfrm>
              <a:off x="3571875" y="434975"/>
              <a:ext cx="826770" cy="1041400"/>
            </a:xfrm>
            <a:custGeom>
              <a:rect b="b" l="l" r="r" t="t"/>
              <a:pathLst>
                <a:path extrusionOk="0" h="720" w="540">
                  <a:moveTo>
                    <a:pt x="0" y="0"/>
                  </a:moveTo>
                  <a:lnTo>
                    <a:pt x="540" y="0"/>
                  </a:lnTo>
                  <a:lnTo>
                    <a:pt x="540" y="72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75"/>
            <p:cNvSpPr txBox="1"/>
            <p:nvPr/>
          </p:nvSpPr>
          <p:spPr>
            <a:xfrm>
              <a:off x="3397250" y="1818005"/>
              <a:ext cx="450215" cy="422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5V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6" name="Google Shape;3166;p75"/>
            <p:cNvSpPr txBox="1"/>
            <p:nvPr/>
          </p:nvSpPr>
          <p:spPr>
            <a:xfrm>
              <a:off x="914400" y="1009650"/>
              <a:ext cx="633730" cy="451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4Ω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7" name="Google Shape;3167;p75"/>
            <p:cNvSpPr txBox="1"/>
            <p:nvPr/>
          </p:nvSpPr>
          <p:spPr>
            <a:xfrm>
              <a:off x="2317115" y="3021965"/>
              <a:ext cx="702945" cy="469265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8" name="Google Shape;3168;p75"/>
            <p:cNvSpPr/>
            <p:nvPr/>
          </p:nvSpPr>
          <p:spPr>
            <a:xfrm>
              <a:off x="561975" y="2939415"/>
              <a:ext cx="1736725" cy="275590"/>
            </a:xfrm>
            <a:custGeom>
              <a:rect b="b" l="l" r="r" t="t"/>
              <a:pathLst>
                <a:path extrusionOk="0" h="180" w="1080">
                  <a:moveTo>
                    <a:pt x="0" y="0"/>
                  </a:moveTo>
                  <a:lnTo>
                    <a:pt x="0" y="180"/>
                  </a:lnTo>
                  <a:lnTo>
                    <a:pt x="1080" y="18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75"/>
            <p:cNvSpPr/>
            <p:nvPr/>
          </p:nvSpPr>
          <p:spPr>
            <a:xfrm>
              <a:off x="3020060" y="2388235"/>
              <a:ext cx="1378585" cy="826770"/>
            </a:xfrm>
            <a:custGeom>
              <a:rect b="b" l="l" r="r" t="t"/>
              <a:pathLst>
                <a:path extrusionOk="0" h="540" w="900">
                  <a:moveTo>
                    <a:pt x="900" y="0"/>
                  </a:moveTo>
                  <a:lnTo>
                    <a:pt x="900" y="540"/>
                  </a:lnTo>
                  <a:lnTo>
                    <a:pt x="0" y="54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0" name="Google Shape;3170;p75"/>
            <p:cNvSpPr txBox="1"/>
            <p:nvPr/>
          </p:nvSpPr>
          <p:spPr>
            <a:xfrm>
              <a:off x="2298700" y="2548890"/>
              <a:ext cx="606425" cy="450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1Ω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1" name="Google Shape;3171;p75"/>
            <p:cNvSpPr txBox="1"/>
            <p:nvPr/>
          </p:nvSpPr>
          <p:spPr>
            <a:xfrm>
              <a:off x="1725930" y="3218180"/>
              <a:ext cx="467360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2" name="Google Shape;3172;p75"/>
            <p:cNvSpPr txBox="1"/>
            <p:nvPr/>
          </p:nvSpPr>
          <p:spPr>
            <a:xfrm>
              <a:off x="2990850" y="3215005"/>
              <a:ext cx="466090" cy="466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025" lIns="188075" spcFirstLastPara="1" rIns="188075" wrap="square" tIns="9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3" name="Google Shape;3173;p75"/>
            <p:cNvSpPr txBox="1"/>
            <p:nvPr/>
          </p:nvSpPr>
          <p:spPr>
            <a:xfrm>
              <a:off x="154940" y="3955415"/>
              <a:ext cx="4754880" cy="440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25" lIns="34875" spcFirstLastPara="1" rIns="34875" wrap="square" tIns="2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8 – Circuit for example 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74" name="Google Shape;3174;p75"/>
          <p:cNvSpPr/>
          <p:nvPr/>
        </p:nvSpPr>
        <p:spPr>
          <a:xfrm>
            <a:off x="0" y="1893350"/>
            <a:ext cx="7139793" cy="449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Answer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Arial"/>
              <a:buNone/>
            </a:pPr>
            <a:r>
              <a:rPr b="0" i="0" lang="en-GB" sz="3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Kirchoff’s voltage law, gives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7.5 = 4 I + 4 V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+ 5 – V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From Ohm’s law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1.I  = – V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By substitution,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I    =   2.5 A   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 V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= – 2.5 V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p76"/>
          <p:cNvSpPr txBox="1"/>
          <p:nvPr>
            <p:ph type="title"/>
          </p:nvPr>
        </p:nvSpPr>
        <p:spPr>
          <a:xfrm>
            <a:off x="2312894" y="634544"/>
            <a:ext cx="9040906" cy="465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Example 2</a:t>
            </a:r>
            <a:endParaRPr/>
          </a:p>
        </p:txBody>
      </p:sp>
      <p:sp>
        <p:nvSpPr>
          <p:cNvPr id="3180" name="Google Shape;3180;p76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1" name="Google Shape;3181;p76"/>
          <p:cNvGrpSpPr/>
          <p:nvPr/>
        </p:nvGrpSpPr>
        <p:grpSpPr>
          <a:xfrm>
            <a:off x="4611001" y="829162"/>
            <a:ext cx="7786104" cy="5497830"/>
            <a:chOff x="-1291409" y="0"/>
            <a:chExt cx="6105344" cy="4498340"/>
          </a:xfrm>
        </p:grpSpPr>
        <p:sp>
          <p:nvSpPr>
            <p:cNvPr id="3182" name="Google Shape;3182;p76"/>
            <p:cNvSpPr/>
            <p:nvPr/>
          </p:nvSpPr>
          <p:spPr>
            <a:xfrm>
              <a:off x="0" y="1915160"/>
              <a:ext cx="941705" cy="944245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3" name="Google Shape;3183;p76"/>
            <p:cNvSpPr/>
            <p:nvPr/>
          </p:nvSpPr>
          <p:spPr>
            <a:xfrm flipH="1" rot="10800000">
              <a:off x="469265" y="1526540"/>
              <a:ext cx="2193925" cy="381000"/>
            </a:xfrm>
            <a:custGeom>
              <a:rect b="b" l="l" r="r" t="t"/>
              <a:pathLst>
                <a:path extrusionOk="0" h="360" w="1080">
                  <a:moveTo>
                    <a:pt x="0" y="0"/>
                  </a:moveTo>
                  <a:lnTo>
                    <a:pt x="0" y="360"/>
                  </a:lnTo>
                  <a:lnTo>
                    <a:pt x="1080" y="36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76"/>
            <p:cNvSpPr txBox="1"/>
            <p:nvPr/>
          </p:nvSpPr>
          <p:spPr>
            <a:xfrm>
              <a:off x="193675" y="1858010"/>
              <a:ext cx="472440" cy="530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5" name="Google Shape;3185;p76"/>
            <p:cNvSpPr txBox="1"/>
            <p:nvPr/>
          </p:nvSpPr>
          <p:spPr>
            <a:xfrm>
              <a:off x="175260" y="2328545"/>
              <a:ext cx="470535" cy="470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86" name="Google Shape;3186;p76"/>
            <p:cNvCxnSpPr/>
            <p:nvPr/>
          </p:nvCxnSpPr>
          <p:spPr>
            <a:xfrm>
              <a:off x="1160145" y="1511300"/>
              <a:ext cx="88265" cy="127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3187" name="Google Shape;3187;p76"/>
            <p:cNvSpPr txBox="1"/>
            <p:nvPr/>
          </p:nvSpPr>
          <p:spPr>
            <a:xfrm>
              <a:off x="1038860" y="1495425"/>
              <a:ext cx="471170" cy="532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8" name="Google Shape;3188;p76"/>
            <p:cNvSpPr txBox="1"/>
            <p:nvPr/>
          </p:nvSpPr>
          <p:spPr>
            <a:xfrm>
              <a:off x="991870" y="2150745"/>
              <a:ext cx="450850" cy="424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6V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9" name="Google Shape;3189;p76"/>
            <p:cNvSpPr txBox="1"/>
            <p:nvPr/>
          </p:nvSpPr>
          <p:spPr>
            <a:xfrm>
              <a:off x="2398395" y="3418840"/>
              <a:ext cx="490855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7525" spcFirstLastPara="1" rIns="1752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0" name="Google Shape;3190;p76"/>
            <p:cNvSpPr/>
            <p:nvPr/>
          </p:nvSpPr>
          <p:spPr>
            <a:xfrm>
              <a:off x="2627630" y="1071245"/>
              <a:ext cx="889000" cy="892175"/>
            </a:xfrm>
            <a:prstGeom prst="diamond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1" name="Google Shape;3191;p76"/>
            <p:cNvSpPr txBox="1"/>
            <p:nvPr/>
          </p:nvSpPr>
          <p:spPr>
            <a:xfrm>
              <a:off x="2002657" y="1648335"/>
              <a:ext cx="901483" cy="444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050" lIns="35100" spcFirstLastPara="1" rIns="35100" wrap="square" tIns="21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0.8V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2" name="Google Shape;3192;p76"/>
            <p:cNvSpPr/>
            <p:nvPr/>
          </p:nvSpPr>
          <p:spPr>
            <a:xfrm>
              <a:off x="3872230" y="1806575"/>
              <a:ext cx="941705" cy="944880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3" name="Google Shape;3193;p76"/>
            <p:cNvSpPr txBox="1"/>
            <p:nvPr/>
          </p:nvSpPr>
          <p:spPr>
            <a:xfrm>
              <a:off x="4065905" y="2255520"/>
              <a:ext cx="472440" cy="53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4" name="Google Shape;3194;p76"/>
            <p:cNvSpPr txBox="1"/>
            <p:nvPr/>
          </p:nvSpPr>
          <p:spPr>
            <a:xfrm>
              <a:off x="4047490" y="1671955"/>
              <a:ext cx="470535" cy="470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5" name="Google Shape;3195;p76"/>
            <p:cNvSpPr/>
            <p:nvPr/>
          </p:nvSpPr>
          <p:spPr>
            <a:xfrm>
              <a:off x="3513455" y="1534160"/>
              <a:ext cx="835660" cy="277495"/>
            </a:xfrm>
            <a:custGeom>
              <a:rect b="b" l="l" r="r" t="t"/>
              <a:pathLst>
                <a:path extrusionOk="0" h="720" w="540">
                  <a:moveTo>
                    <a:pt x="0" y="0"/>
                  </a:moveTo>
                  <a:lnTo>
                    <a:pt x="540" y="0"/>
                  </a:lnTo>
                  <a:lnTo>
                    <a:pt x="540" y="72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6" name="Google Shape;3196;p76"/>
            <p:cNvSpPr txBox="1"/>
            <p:nvPr/>
          </p:nvSpPr>
          <p:spPr>
            <a:xfrm>
              <a:off x="3336727" y="2172334"/>
              <a:ext cx="499523" cy="424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4V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7" name="Google Shape;3197;p76"/>
            <p:cNvSpPr txBox="1"/>
            <p:nvPr/>
          </p:nvSpPr>
          <p:spPr>
            <a:xfrm>
              <a:off x="2677160" y="0"/>
              <a:ext cx="565150" cy="480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5Ω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8" name="Google Shape;3198;p76"/>
            <p:cNvSpPr txBox="1"/>
            <p:nvPr/>
          </p:nvSpPr>
          <p:spPr>
            <a:xfrm>
              <a:off x="2245360" y="2940050"/>
              <a:ext cx="710565" cy="47371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9" name="Google Shape;3199;p76"/>
            <p:cNvSpPr/>
            <p:nvPr/>
          </p:nvSpPr>
          <p:spPr>
            <a:xfrm>
              <a:off x="471170" y="2856865"/>
              <a:ext cx="1755140" cy="278130"/>
            </a:xfrm>
            <a:custGeom>
              <a:rect b="b" l="l" r="r" t="t"/>
              <a:pathLst>
                <a:path extrusionOk="0" h="180" w="1080">
                  <a:moveTo>
                    <a:pt x="0" y="0"/>
                  </a:moveTo>
                  <a:lnTo>
                    <a:pt x="0" y="180"/>
                  </a:lnTo>
                  <a:lnTo>
                    <a:pt x="1080" y="18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76"/>
            <p:cNvSpPr/>
            <p:nvPr/>
          </p:nvSpPr>
          <p:spPr>
            <a:xfrm>
              <a:off x="2955925" y="2805430"/>
              <a:ext cx="1393190" cy="329565"/>
            </a:xfrm>
            <a:custGeom>
              <a:rect b="b" l="l" r="r" t="t"/>
              <a:pathLst>
                <a:path extrusionOk="0" h="540" w="900">
                  <a:moveTo>
                    <a:pt x="900" y="0"/>
                  </a:moveTo>
                  <a:lnTo>
                    <a:pt x="900" y="540"/>
                  </a:lnTo>
                  <a:lnTo>
                    <a:pt x="0" y="54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1" name="Google Shape;3201;p76"/>
            <p:cNvSpPr txBox="1"/>
            <p:nvPr/>
          </p:nvSpPr>
          <p:spPr>
            <a:xfrm>
              <a:off x="2367139" y="2461893"/>
              <a:ext cx="559402" cy="452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1Ω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2" name="Google Shape;3202;p76"/>
            <p:cNvSpPr txBox="1"/>
            <p:nvPr/>
          </p:nvSpPr>
          <p:spPr>
            <a:xfrm>
              <a:off x="1647825" y="3138170"/>
              <a:ext cx="471805" cy="53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3" name="Google Shape;3203;p76"/>
            <p:cNvSpPr txBox="1"/>
            <p:nvPr/>
          </p:nvSpPr>
          <p:spPr>
            <a:xfrm>
              <a:off x="2926715" y="3134995"/>
              <a:ext cx="470535" cy="471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4" name="Google Shape;3204;p76"/>
            <p:cNvSpPr txBox="1"/>
            <p:nvPr/>
          </p:nvSpPr>
          <p:spPr>
            <a:xfrm>
              <a:off x="2686685" y="534035"/>
              <a:ext cx="710565" cy="473710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4650" lIns="189325" spcFirstLastPara="1" rIns="189325" wrap="square" tIns="946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5" name="Google Shape;3205;p76"/>
            <p:cNvSpPr/>
            <p:nvPr/>
          </p:nvSpPr>
          <p:spPr>
            <a:xfrm>
              <a:off x="1818005" y="696595"/>
              <a:ext cx="835660" cy="836295"/>
            </a:xfrm>
            <a:custGeom>
              <a:rect b="b" l="l" r="r" t="t"/>
              <a:pathLst>
                <a:path extrusionOk="0" h="540" w="540">
                  <a:moveTo>
                    <a:pt x="540" y="0"/>
                  </a:moveTo>
                  <a:lnTo>
                    <a:pt x="0" y="0"/>
                  </a:lnTo>
                  <a:lnTo>
                    <a:pt x="0" y="54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6" name="Google Shape;3206;p76"/>
            <p:cNvSpPr/>
            <p:nvPr/>
          </p:nvSpPr>
          <p:spPr>
            <a:xfrm flipH="1">
              <a:off x="3373755" y="696595"/>
              <a:ext cx="673735" cy="836295"/>
            </a:xfrm>
            <a:custGeom>
              <a:rect b="b" l="l" r="r" t="t"/>
              <a:pathLst>
                <a:path extrusionOk="0" h="540" w="540">
                  <a:moveTo>
                    <a:pt x="540" y="0"/>
                  </a:moveTo>
                  <a:lnTo>
                    <a:pt x="0" y="0"/>
                  </a:lnTo>
                  <a:lnTo>
                    <a:pt x="0" y="54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07" name="Google Shape;3207;p76"/>
            <p:cNvCxnSpPr/>
            <p:nvPr/>
          </p:nvCxnSpPr>
          <p:spPr>
            <a:xfrm>
              <a:off x="2909570" y="1532890"/>
              <a:ext cx="306070" cy="127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sp>
          <p:nvSpPr>
            <p:cNvPr id="3208" name="Google Shape;3208;p76"/>
            <p:cNvSpPr txBox="1"/>
            <p:nvPr/>
          </p:nvSpPr>
          <p:spPr>
            <a:xfrm>
              <a:off x="-1291409" y="4051334"/>
              <a:ext cx="4701916" cy="447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1050" lIns="35100" spcFirstLastPara="1" rIns="35100" wrap="square" tIns="21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9 – Circuit for example 2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09" name="Google Shape;3209;p76"/>
          <p:cNvSpPr/>
          <p:nvPr/>
        </p:nvSpPr>
        <p:spPr>
          <a:xfrm>
            <a:off x="0" y="499235"/>
            <a:ext cx="12045647" cy="624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Determine I and V</a:t>
            </a:r>
            <a:r>
              <a:rPr b="0" baseline="-25000" i="0" lang="en-GB" sz="4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4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0" i="0" lang="en-GB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Kirchoff’s voltage law, gives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6 = 5 (I – 0.8V</a:t>
            </a:r>
            <a:r>
              <a:rPr b="0" baseline="-2500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 – 4 – V</a:t>
            </a:r>
            <a:r>
              <a:rPr b="0" baseline="-2500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From Ohm’s law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1.I = – V</a:t>
            </a:r>
            <a:r>
              <a:rPr b="0" baseline="-2500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By substitution,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I   = 1.0 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 V</a:t>
            </a:r>
            <a:r>
              <a:rPr b="0" baseline="-2500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GB" sz="4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– 1 V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3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Google Shape;3214;p77"/>
          <p:cNvSpPr txBox="1"/>
          <p:nvPr>
            <p:ph type="title"/>
          </p:nvPr>
        </p:nvSpPr>
        <p:spPr>
          <a:xfrm>
            <a:off x="429715" y="526967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Example 3</a:t>
            </a:r>
            <a:endParaRPr/>
          </a:p>
        </p:txBody>
      </p:sp>
      <p:pic>
        <p:nvPicPr>
          <p:cNvPr id="3215" name="Google Shape;3215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15" y="4084365"/>
            <a:ext cx="3514725" cy="236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6" name="Google Shape;3216;p77"/>
          <p:cNvGrpSpPr/>
          <p:nvPr/>
        </p:nvGrpSpPr>
        <p:grpSpPr>
          <a:xfrm>
            <a:off x="5403217" y="598875"/>
            <a:ext cx="6744968" cy="4934585"/>
            <a:chOff x="510638" y="152352"/>
            <a:chExt cx="4981393" cy="3724213"/>
          </a:xfrm>
        </p:grpSpPr>
        <p:sp>
          <p:nvSpPr>
            <p:cNvPr id="3217" name="Google Shape;3217;p77"/>
            <p:cNvSpPr/>
            <p:nvPr/>
          </p:nvSpPr>
          <p:spPr>
            <a:xfrm>
              <a:off x="510638" y="1625600"/>
              <a:ext cx="948269" cy="895985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8" name="Google Shape;3218;p77"/>
            <p:cNvSpPr/>
            <p:nvPr/>
          </p:nvSpPr>
          <p:spPr>
            <a:xfrm flipH="1" rot="10800000">
              <a:off x="982986" y="1220470"/>
              <a:ext cx="575395" cy="367030"/>
            </a:xfrm>
            <a:custGeom>
              <a:rect b="b" l="l" r="r" t="t"/>
              <a:pathLst>
                <a:path extrusionOk="0" h="360" w="1080">
                  <a:moveTo>
                    <a:pt x="0" y="0"/>
                  </a:moveTo>
                  <a:lnTo>
                    <a:pt x="0" y="360"/>
                  </a:lnTo>
                  <a:lnTo>
                    <a:pt x="1080" y="36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9" name="Google Shape;3219;p77"/>
            <p:cNvSpPr txBox="1"/>
            <p:nvPr/>
          </p:nvSpPr>
          <p:spPr>
            <a:xfrm>
              <a:off x="664315" y="1508760"/>
              <a:ext cx="475922" cy="673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0" name="Google Shape;3220;p77"/>
            <p:cNvSpPr txBox="1"/>
            <p:nvPr/>
          </p:nvSpPr>
          <p:spPr>
            <a:xfrm>
              <a:off x="686949" y="1941195"/>
              <a:ext cx="474135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21" name="Google Shape;3221;p77"/>
            <p:cNvCxnSpPr/>
            <p:nvPr/>
          </p:nvCxnSpPr>
          <p:spPr>
            <a:xfrm>
              <a:off x="1218266" y="1200785"/>
              <a:ext cx="88751" cy="1905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sp>
          <p:nvSpPr>
            <p:cNvPr id="3222" name="Google Shape;3222;p77"/>
            <p:cNvSpPr txBox="1"/>
            <p:nvPr/>
          </p:nvSpPr>
          <p:spPr>
            <a:xfrm>
              <a:off x="946488" y="621211"/>
              <a:ext cx="474135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3" name="Google Shape;3223;p77"/>
            <p:cNvSpPr txBox="1"/>
            <p:nvPr/>
          </p:nvSpPr>
          <p:spPr>
            <a:xfrm>
              <a:off x="1508942" y="1865630"/>
              <a:ext cx="253150" cy="474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4" name="Google Shape;3224;p77"/>
            <p:cNvSpPr txBox="1"/>
            <p:nvPr/>
          </p:nvSpPr>
          <p:spPr>
            <a:xfrm>
              <a:off x="5110213" y="1862310"/>
              <a:ext cx="375163" cy="611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5" name="Google Shape;3225;p77"/>
            <p:cNvSpPr/>
            <p:nvPr/>
          </p:nvSpPr>
          <p:spPr>
            <a:xfrm>
              <a:off x="3410841" y="642620"/>
              <a:ext cx="894661" cy="1132205"/>
            </a:xfrm>
            <a:prstGeom prst="diamond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77"/>
            <p:cNvSpPr txBox="1"/>
            <p:nvPr/>
          </p:nvSpPr>
          <p:spPr>
            <a:xfrm>
              <a:off x="3563696" y="152352"/>
              <a:ext cx="645681" cy="565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275" lIns="38800" spcFirstLastPara="1" rIns="38800" wrap="square" tIns="23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α I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7" name="Google Shape;3227;p77"/>
            <p:cNvSpPr txBox="1"/>
            <p:nvPr/>
          </p:nvSpPr>
          <p:spPr>
            <a:xfrm>
              <a:off x="5016705" y="1061085"/>
              <a:ext cx="475326" cy="673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8" name="Google Shape;3228;p77"/>
            <p:cNvSpPr txBox="1"/>
            <p:nvPr/>
          </p:nvSpPr>
          <p:spPr>
            <a:xfrm>
              <a:off x="5016705" y="2291715"/>
              <a:ext cx="473539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</a:t>
              </a:r>
              <a:r>
                <a:rPr lang="en-GB" sz="3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9" name="Google Shape;3229;p77"/>
            <p:cNvSpPr/>
            <p:nvPr/>
          </p:nvSpPr>
          <p:spPr>
            <a:xfrm>
              <a:off x="4305503" y="1229995"/>
              <a:ext cx="584329" cy="351790"/>
            </a:xfrm>
            <a:custGeom>
              <a:rect b="b" l="l" r="r" t="t"/>
              <a:pathLst>
                <a:path extrusionOk="0" h="720" w="540">
                  <a:moveTo>
                    <a:pt x="0" y="0"/>
                  </a:moveTo>
                  <a:lnTo>
                    <a:pt x="540" y="0"/>
                  </a:lnTo>
                  <a:lnTo>
                    <a:pt x="540" y="72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77"/>
            <p:cNvSpPr txBox="1"/>
            <p:nvPr/>
          </p:nvSpPr>
          <p:spPr>
            <a:xfrm>
              <a:off x="4244747" y="1827530"/>
              <a:ext cx="584329" cy="524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1" name="Google Shape;3231;p77"/>
            <p:cNvSpPr txBox="1"/>
            <p:nvPr/>
          </p:nvSpPr>
          <p:spPr>
            <a:xfrm>
              <a:off x="1569102" y="972820"/>
              <a:ext cx="708224" cy="501015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2" name="Google Shape;3232;p77"/>
            <p:cNvSpPr txBox="1"/>
            <p:nvPr/>
          </p:nvSpPr>
          <p:spPr>
            <a:xfrm>
              <a:off x="2560854" y="1768475"/>
              <a:ext cx="397296" cy="892175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33" name="Google Shape;3233;p77"/>
            <p:cNvCxnSpPr/>
            <p:nvPr/>
          </p:nvCxnSpPr>
          <p:spPr>
            <a:xfrm>
              <a:off x="3624083" y="1228725"/>
              <a:ext cx="441374" cy="127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lg" w="lg" type="triangle"/>
              <a:tailEnd len="med" w="med" type="none"/>
            </a:ln>
          </p:spPr>
        </p:cxnSp>
        <p:sp>
          <p:nvSpPr>
            <p:cNvPr id="3234" name="Google Shape;3234;p77"/>
            <p:cNvSpPr txBox="1"/>
            <p:nvPr/>
          </p:nvSpPr>
          <p:spPr>
            <a:xfrm>
              <a:off x="4688503" y="1583690"/>
              <a:ext cx="397892" cy="892175"/>
            </a:xfrm>
            <a:prstGeom prst="rect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104600" lIns="209200" spcFirstLastPara="1" rIns="209200" wrap="square" tIns="104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5" name="Google Shape;3235;p77"/>
            <p:cNvSpPr/>
            <p:nvPr/>
          </p:nvSpPr>
          <p:spPr>
            <a:xfrm>
              <a:off x="937717" y="2456815"/>
              <a:ext cx="3928885" cy="772160"/>
            </a:xfrm>
            <a:custGeom>
              <a:rect b="b" l="l" r="r" t="t"/>
              <a:pathLst>
                <a:path extrusionOk="0" h="1216" w="6596">
                  <a:moveTo>
                    <a:pt x="10" y="113"/>
                  </a:moveTo>
                  <a:lnTo>
                    <a:pt x="0" y="1216"/>
                  </a:lnTo>
                  <a:lnTo>
                    <a:pt x="6596" y="1216"/>
                  </a:lnTo>
                  <a:lnTo>
                    <a:pt x="6596" y="608"/>
                  </a:lnTo>
                  <a:lnTo>
                    <a:pt x="6596" y="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36" name="Google Shape;3236;p77"/>
            <p:cNvCxnSpPr/>
            <p:nvPr/>
          </p:nvCxnSpPr>
          <p:spPr>
            <a:xfrm flipH="1">
              <a:off x="2279708" y="1208405"/>
              <a:ext cx="1122794" cy="1905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37" name="Google Shape;3237;p77"/>
            <p:cNvSpPr txBox="1"/>
            <p:nvPr/>
          </p:nvSpPr>
          <p:spPr>
            <a:xfrm>
              <a:off x="3052262" y="1951355"/>
              <a:ext cx="584329" cy="524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8" name="Google Shape;3238;p77"/>
            <p:cNvSpPr txBox="1"/>
            <p:nvPr/>
          </p:nvSpPr>
          <p:spPr>
            <a:xfrm>
              <a:off x="1692997" y="506057"/>
              <a:ext cx="584329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aseline="-25000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39" name="Google Shape;3239;p77"/>
            <p:cNvCxnSpPr/>
            <p:nvPr/>
          </p:nvCxnSpPr>
          <p:spPr>
            <a:xfrm>
              <a:off x="2771117" y="1179195"/>
              <a:ext cx="1787" cy="568325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0" name="Google Shape;3240;p77"/>
            <p:cNvCxnSpPr/>
            <p:nvPr/>
          </p:nvCxnSpPr>
          <p:spPr>
            <a:xfrm>
              <a:off x="2771117" y="2652395"/>
              <a:ext cx="1787" cy="568325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1" name="Google Shape;3241;p77"/>
            <p:cNvSpPr txBox="1"/>
            <p:nvPr/>
          </p:nvSpPr>
          <p:spPr>
            <a:xfrm>
              <a:off x="787189" y="3312376"/>
              <a:ext cx="4602887" cy="564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275" lIns="38800" spcFirstLastPara="1" rIns="38800" wrap="square" tIns="23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10 – Circuit for example 3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242" name="Google Shape;3242;p77"/>
          <p:cNvSpPr/>
          <p:nvPr/>
        </p:nvSpPr>
        <p:spPr>
          <a:xfrm>
            <a:off x="81163" y="624660"/>
            <a:ext cx="102429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Determine the current I.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p77"/>
          <p:cNvSpPr/>
          <p:nvPr/>
        </p:nvSpPr>
        <p:spPr>
          <a:xfrm>
            <a:off x="26413" y="1593802"/>
            <a:ext cx="12139174" cy="323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Kirchoff’s voltage law, gives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E = 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 + 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(1+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 I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Ohm’s law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 = – V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solution of equations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78"/>
          <p:cNvSpPr txBox="1"/>
          <p:nvPr>
            <p:ph type="title"/>
          </p:nvPr>
        </p:nvSpPr>
        <p:spPr>
          <a:xfrm>
            <a:off x="429715" y="553861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Operational Amplifier (Op Amp)</a:t>
            </a:r>
            <a:endParaRPr/>
          </a:p>
        </p:txBody>
      </p:sp>
      <p:sp>
        <p:nvSpPr>
          <p:cNvPr id="3249" name="Google Shape;3249;p78"/>
          <p:cNvSpPr/>
          <p:nvPr/>
        </p:nvSpPr>
        <p:spPr>
          <a:xfrm>
            <a:off x="188258" y="929703"/>
            <a:ext cx="1183341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90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Char char="•"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 active circuit element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Char char="•"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behaves as a voltage-controlled voltage source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Char char="•"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very versatile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Char char="•"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can be used to add, subtract, multiply, divide, amplify, integrate and differentiate signals.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0" name="Google Shape;325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337" y="3227292"/>
            <a:ext cx="7077075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1" name="Google Shape;3251;p78"/>
          <p:cNvSpPr/>
          <p:nvPr/>
        </p:nvSpPr>
        <p:spPr>
          <a:xfrm>
            <a:off x="134470" y="6019671"/>
            <a:ext cx="11833412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Practical Op Amp available in Integrated circuit (IC) packages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5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79"/>
          <p:cNvSpPr/>
          <p:nvPr/>
        </p:nvSpPr>
        <p:spPr>
          <a:xfrm>
            <a:off x="0" y="308424"/>
            <a:ext cx="11829602" cy="649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Op Amp has inputs and outputs as shown in figure 11.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Output voltage is limited to the linear range V</a:t>
            </a:r>
            <a:r>
              <a:rPr b="0" baseline="30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to V</a:t>
            </a:r>
            <a:r>
              <a:rPr b="0" baseline="30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Ouside these limits, Op Amp is said to be saturated.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‘Null’ determines the offset.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7" name="Google Shape;3257;p79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8" name="Google Shape;3258;p79"/>
          <p:cNvGrpSpPr/>
          <p:nvPr/>
        </p:nvGrpSpPr>
        <p:grpSpPr>
          <a:xfrm>
            <a:off x="564774" y="860608"/>
            <a:ext cx="10111740" cy="5200015"/>
            <a:chOff x="175260" y="0"/>
            <a:chExt cx="10111740" cy="5200015"/>
          </a:xfrm>
        </p:grpSpPr>
        <p:sp>
          <p:nvSpPr>
            <p:cNvPr id="3259" name="Google Shape;3259;p79"/>
            <p:cNvSpPr/>
            <p:nvPr/>
          </p:nvSpPr>
          <p:spPr>
            <a:xfrm>
              <a:off x="314325" y="830580"/>
              <a:ext cx="9972675" cy="4369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79"/>
            <p:cNvSpPr/>
            <p:nvPr/>
          </p:nvSpPr>
          <p:spPr>
            <a:xfrm rot="5400000">
              <a:off x="4872080" y="1144204"/>
              <a:ext cx="2042709" cy="1579245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1" name="Google Shape;3261;p79"/>
            <p:cNvSpPr txBox="1"/>
            <p:nvPr/>
          </p:nvSpPr>
          <p:spPr>
            <a:xfrm>
              <a:off x="4943475" y="2015719"/>
              <a:ext cx="596900" cy="598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200" lIns="220400" spcFirstLastPara="1" rIns="220400" wrap="square" tIns="110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45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2" name="Google Shape;3262;p79"/>
            <p:cNvSpPr txBox="1"/>
            <p:nvPr/>
          </p:nvSpPr>
          <p:spPr>
            <a:xfrm>
              <a:off x="4951095" y="1150174"/>
              <a:ext cx="593090" cy="5293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200" lIns="220400" spcFirstLastPara="1" rIns="220400" wrap="square" tIns="110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45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63" name="Google Shape;3263;p79"/>
            <p:cNvCxnSpPr/>
            <p:nvPr/>
          </p:nvCxnSpPr>
          <p:spPr>
            <a:xfrm>
              <a:off x="3697605" y="1463635"/>
              <a:ext cx="1403985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3264" name="Google Shape;3264;p79"/>
            <p:cNvCxnSpPr/>
            <p:nvPr/>
          </p:nvCxnSpPr>
          <p:spPr>
            <a:xfrm>
              <a:off x="3697605" y="2402791"/>
              <a:ext cx="1403985" cy="18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3265" name="Google Shape;3265;p79"/>
            <p:cNvCxnSpPr/>
            <p:nvPr/>
          </p:nvCxnSpPr>
          <p:spPr>
            <a:xfrm flipH="1">
              <a:off x="6622415" y="1932293"/>
              <a:ext cx="1403985" cy="184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3266" name="Google Shape;3266;p79"/>
            <p:cNvCxnSpPr/>
            <p:nvPr/>
          </p:nvCxnSpPr>
          <p:spPr>
            <a:xfrm>
              <a:off x="5452110" y="2718092"/>
              <a:ext cx="0" cy="62753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cxnSp>
          <p:nvCxnSpPr>
            <p:cNvPr id="3267" name="Google Shape;3267;p79"/>
            <p:cNvCxnSpPr/>
            <p:nvPr/>
          </p:nvCxnSpPr>
          <p:spPr>
            <a:xfrm flipH="1" rot="10800000">
              <a:off x="5452110" y="522639"/>
              <a:ext cx="2540" cy="62753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cxnSp>
          <p:nvCxnSpPr>
            <p:cNvPr id="3268" name="Google Shape;3268;p79"/>
            <p:cNvCxnSpPr/>
            <p:nvPr/>
          </p:nvCxnSpPr>
          <p:spPr>
            <a:xfrm>
              <a:off x="6064885" y="2326112"/>
              <a:ext cx="3810" cy="103669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cxnSp>
          <p:nvCxnSpPr>
            <p:cNvPr id="3269" name="Google Shape;3269;p79"/>
            <p:cNvCxnSpPr/>
            <p:nvPr/>
          </p:nvCxnSpPr>
          <p:spPr>
            <a:xfrm>
              <a:off x="6416040" y="2081969"/>
              <a:ext cx="3810" cy="128451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sp>
          <p:nvSpPr>
            <p:cNvPr id="3270" name="Google Shape;3270;p79"/>
            <p:cNvSpPr txBox="1"/>
            <p:nvPr/>
          </p:nvSpPr>
          <p:spPr>
            <a:xfrm>
              <a:off x="920750" y="1228693"/>
              <a:ext cx="2611120" cy="470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Inverting Input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1" name="Google Shape;3271;p79"/>
            <p:cNvSpPr txBox="1"/>
            <p:nvPr/>
          </p:nvSpPr>
          <p:spPr>
            <a:xfrm>
              <a:off x="175260" y="2169075"/>
              <a:ext cx="3161030" cy="627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Non-inverting Input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2" name="Google Shape;3272;p79"/>
            <p:cNvSpPr txBox="1"/>
            <p:nvPr/>
          </p:nvSpPr>
          <p:spPr>
            <a:xfrm>
              <a:off x="8237220" y="1699191"/>
              <a:ext cx="1189355" cy="62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3" name="Google Shape;3273;p79"/>
            <p:cNvSpPr txBox="1"/>
            <p:nvPr/>
          </p:nvSpPr>
          <p:spPr>
            <a:xfrm>
              <a:off x="5226050" y="0"/>
              <a:ext cx="643890" cy="627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4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34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4" name="Google Shape;3274;p79"/>
            <p:cNvSpPr txBox="1"/>
            <p:nvPr/>
          </p:nvSpPr>
          <p:spPr>
            <a:xfrm>
              <a:off x="5226050" y="3424145"/>
              <a:ext cx="551815" cy="62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4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baseline="30000" lang="en-GB" sz="34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−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5" name="Google Shape;3275;p79"/>
            <p:cNvSpPr txBox="1"/>
            <p:nvPr/>
          </p:nvSpPr>
          <p:spPr>
            <a:xfrm>
              <a:off x="5869940" y="3424145"/>
              <a:ext cx="908685" cy="62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6" name="Google Shape;3276;p79"/>
            <p:cNvSpPr txBox="1"/>
            <p:nvPr/>
          </p:nvSpPr>
          <p:spPr>
            <a:xfrm>
              <a:off x="1784350" y="3902004"/>
              <a:ext cx="6314440" cy="467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625" lIns="51025" spcFirstLastPara="1" rIns="51025" wrap="square" tIns="30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11 – Circuit connections of Op Amp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3282;p80"/>
          <p:cNvSpPr txBox="1"/>
          <p:nvPr/>
        </p:nvSpPr>
        <p:spPr>
          <a:xfrm>
            <a:off x="188078" y="1668334"/>
            <a:ext cx="6329045" cy="313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2870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– Voltage difference of input terminals + and –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2870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	– Gain of Op Amp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2870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– Input resistance of Op Amp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28700" lvl="0" marL="1028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lang="en-GB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– Output resistance of Op Amp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83" name="Google Shape;3283;p80"/>
          <p:cNvGrpSpPr/>
          <p:nvPr/>
        </p:nvGrpSpPr>
        <p:grpSpPr>
          <a:xfrm>
            <a:off x="3765176" y="709613"/>
            <a:ext cx="8280787" cy="4584665"/>
            <a:chOff x="-2961050" y="1"/>
            <a:chExt cx="8792367" cy="5529555"/>
          </a:xfrm>
        </p:grpSpPr>
        <p:sp>
          <p:nvSpPr>
            <p:cNvPr id="3284" name="Google Shape;3284;p80"/>
            <p:cNvSpPr/>
            <p:nvPr/>
          </p:nvSpPr>
          <p:spPr>
            <a:xfrm>
              <a:off x="0" y="1"/>
              <a:ext cx="5830569" cy="5438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80"/>
            <p:cNvSpPr/>
            <p:nvPr/>
          </p:nvSpPr>
          <p:spPr>
            <a:xfrm rot="5400000">
              <a:off x="244894" y="532912"/>
              <a:ext cx="4895367" cy="3829546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6" name="Google Shape;3286;p80"/>
            <p:cNvSpPr txBox="1"/>
            <p:nvPr/>
          </p:nvSpPr>
          <p:spPr>
            <a:xfrm>
              <a:off x="233753" y="271837"/>
              <a:ext cx="459823" cy="823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400" lIns="184825" spcFirstLastPara="1" rIns="184825" wrap="square" tIns="92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</a:t>
              </a:r>
              <a:r>
                <a:rPr b="1" lang="en-GB" sz="28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87" name="Google Shape;3287;p80"/>
            <p:cNvCxnSpPr/>
            <p:nvPr/>
          </p:nvCxnSpPr>
          <p:spPr>
            <a:xfrm>
              <a:off x="124923" y="817823"/>
              <a:ext cx="747284" cy="578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3288" name="Google Shape;3288;p80"/>
            <p:cNvCxnSpPr/>
            <p:nvPr/>
          </p:nvCxnSpPr>
          <p:spPr>
            <a:xfrm flipH="1" rot="10800000">
              <a:off x="124923" y="4074654"/>
              <a:ext cx="768686" cy="578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cxnSp>
          <p:nvCxnSpPr>
            <p:cNvPr id="3289" name="Google Shape;3289;p80"/>
            <p:cNvCxnSpPr/>
            <p:nvPr/>
          </p:nvCxnSpPr>
          <p:spPr>
            <a:xfrm flipH="1">
              <a:off x="4619044" y="2460408"/>
              <a:ext cx="1062510" cy="578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oval"/>
              <a:tailEnd len="med" w="med" type="none"/>
            </a:ln>
          </p:spPr>
        </p:cxnSp>
        <p:grpSp>
          <p:nvGrpSpPr>
            <p:cNvPr id="3290" name="Google Shape;3290;p80"/>
            <p:cNvGrpSpPr/>
            <p:nvPr/>
          </p:nvGrpSpPr>
          <p:grpSpPr>
            <a:xfrm rot="5400000">
              <a:off x="1161993" y="1808569"/>
              <a:ext cx="952003" cy="329686"/>
              <a:chOff x="2018" y="2138"/>
              <a:chExt cx="1200" cy="357"/>
            </a:xfrm>
          </p:grpSpPr>
          <p:cxnSp>
            <p:nvCxnSpPr>
              <p:cNvPr id="3291" name="Google Shape;3291;p80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2" name="Google Shape;3292;p80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3" name="Google Shape;3293;p80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4" name="Google Shape;3294;p80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5" name="Google Shape;3295;p80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6" name="Google Shape;3296;p80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297" name="Google Shape;3297;p80"/>
            <p:cNvSpPr txBox="1"/>
            <p:nvPr/>
          </p:nvSpPr>
          <p:spPr>
            <a:xfrm>
              <a:off x="893609" y="2175270"/>
              <a:ext cx="706798" cy="544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8" name="Google Shape;3298;p80"/>
            <p:cNvSpPr/>
            <p:nvPr/>
          </p:nvSpPr>
          <p:spPr>
            <a:xfrm>
              <a:off x="893609" y="815510"/>
              <a:ext cx="738031" cy="652985"/>
            </a:xfrm>
            <a:custGeom>
              <a:rect b="b" l="l" r="r" t="t"/>
              <a:pathLst>
                <a:path extrusionOk="0" h="180" w="360">
                  <a:moveTo>
                    <a:pt x="0" y="0"/>
                  </a:moveTo>
                  <a:lnTo>
                    <a:pt x="360" y="0"/>
                  </a:lnTo>
                  <a:lnTo>
                    <a:pt x="360" y="18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80"/>
            <p:cNvSpPr/>
            <p:nvPr/>
          </p:nvSpPr>
          <p:spPr>
            <a:xfrm flipH="1" rot="10800000">
              <a:off x="893609" y="3422247"/>
              <a:ext cx="738031" cy="652407"/>
            </a:xfrm>
            <a:custGeom>
              <a:rect b="b" l="l" r="r" t="t"/>
              <a:pathLst>
                <a:path extrusionOk="0" h="180" w="360">
                  <a:moveTo>
                    <a:pt x="0" y="0"/>
                  </a:moveTo>
                  <a:lnTo>
                    <a:pt x="360" y="0"/>
                  </a:lnTo>
                  <a:lnTo>
                    <a:pt x="360" y="18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00" name="Google Shape;3300;p80"/>
            <p:cNvGrpSpPr/>
            <p:nvPr/>
          </p:nvGrpSpPr>
          <p:grpSpPr>
            <a:xfrm>
              <a:off x="3083987" y="2311187"/>
              <a:ext cx="543690" cy="271836"/>
              <a:chOff x="2018" y="2138"/>
              <a:chExt cx="1200" cy="357"/>
            </a:xfrm>
          </p:grpSpPr>
          <p:cxnSp>
            <p:nvCxnSpPr>
              <p:cNvPr id="3301" name="Google Shape;3301;p80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2" name="Google Shape;3302;p80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3" name="Google Shape;3303;p80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4" name="Google Shape;3304;p80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5" name="Google Shape;3305;p80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6" name="Google Shape;3306;p80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07" name="Google Shape;3307;p80"/>
            <p:cNvSpPr txBox="1"/>
            <p:nvPr/>
          </p:nvSpPr>
          <p:spPr>
            <a:xfrm>
              <a:off x="2661181" y="1697533"/>
              <a:ext cx="1012190" cy="6593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308" name="Google Shape;3308;p80"/>
            <p:cNvGrpSpPr/>
            <p:nvPr/>
          </p:nvGrpSpPr>
          <p:grpSpPr>
            <a:xfrm flipH="1" rot="-5400000">
              <a:off x="1139441" y="2758845"/>
              <a:ext cx="952584" cy="329106"/>
              <a:chOff x="2018" y="2138"/>
              <a:chExt cx="1200" cy="357"/>
            </a:xfrm>
          </p:grpSpPr>
          <p:cxnSp>
            <p:nvCxnSpPr>
              <p:cNvPr id="3309" name="Google Shape;3309;p80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0" name="Google Shape;3310;p80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1" name="Google Shape;3311;p80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2" name="Google Shape;3312;p80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3" name="Google Shape;3313;p80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4" name="Google Shape;3314;p80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15" name="Google Shape;3315;p80"/>
            <p:cNvSpPr/>
            <p:nvPr/>
          </p:nvSpPr>
          <p:spPr>
            <a:xfrm>
              <a:off x="1899436" y="2606159"/>
              <a:ext cx="761745" cy="899132"/>
            </a:xfrm>
            <a:prstGeom prst="diamond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6" name="Google Shape;3316;p80"/>
            <p:cNvSpPr txBox="1"/>
            <p:nvPr/>
          </p:nvSpPr>
          <p:spPr>
            <a:xfrm>
              <a:off x="2126165" y="2649055"/>
              <a:ext cx="364388" cy="856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550" lIns="34275" spcFirstLastPara="1" rIns="34275" wrap="square" tIns="20550">
              <a:noAutofit/>
            </a:bodyPr>
            <a:lstStyle/>
            <a:p>
              <a:pPr indent="0" lvl="0" marL="0" marR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7" name="Google Shape;3317;p80"/>
            <p:cNvSpPr txBox="1"/>
            <p:nvPr/>
          </p:nvSpPr>
          <p:spPr>
            <a:xfrm>
              <a:off x="59130" y="2152713"/>
              <a:ext cx="672093" cy="544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55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8" name="Google Shape;3318;p80"/>
            <p:cNvSpPr txBox="1"/>
            <p:nvPr/>
          </p:nvSpPr>
          <p:spPr>
            <a:xfrm>
              <a:off x="2661759" y="2722991"/>
              <a:ext cx="997729" cy="544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GB" sz="18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9" name="Google Shape;3319;p80"/>
            <p:cNvSpPr/>
            <p:nvPr/>
          </p:nvSpPr>
          <p:spPr>
            <a:xfrm>
              <a:off x="2267873" y="2447106"/>
              <a:ext cx="816114" cy="174092"/>
            </a:xfrm>
            <a:custGeom>
              <a:rect b="b" l="l" r="r" t="t"/>
              <a:pathLst>
                <a:path extrusionOk="0" h="180" w="540">
                  <a:moveTo>
                    <a:pt x="540" y="0"/>
                  </a:moveTo>
                  <a:lnTo>
                    <a:pt x="0" y="0"/>
                  </a:lnTo>
                  <a:lnTo>
                    <a:pt x="0" y="18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0" name="Google Shape;3320;p80"/>
            <p:cNvSpPr txBox="1"/>
            <p:nvPr/>
          </p:nvSpPr>
          <p:spPr>
            <a:xfrm>
              <a:off x="4835205" y="1806266"/>
              <a:ext cx="815536" cy="543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5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aseline="-25000" lang="en-GB" sz="355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321" name="Google Shape;3321;p80"/>
            <p:cNvGrpSpPr/>
            <p:nvPr/>
          </p:nvGrpSpPr>
          <p:grpSpPr>
            <a:xfrm>
              <a:off x="-2961050" y="3614652"/>
              <a:ext cx="240" cy="130327"/>
              <a:chOff x="4701" y="4144"/>
              <a:chExt cx="240" cy="120"/>
            </a:xfrm>
          </p:grpSpPr>
          <p:cxnSp>
            <p:nvCxnSpPr>
              <p:cNvPr id="3322" name="Google Shape;3322;p80"/>
              <p:cNvCxnSpPr/>
              <p:nvPr/>
            </p:nvCxnSpPr>
            <p:spPr>
              <a:xfrm>
                <a:off x="4701" y="4144"/>
                <a:ext cx="24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3" name="Google Shape;3323;p80"/>
              <p:cNvCxnSpPr/>
              <p:nvPr/>
            </p:nvCxnSpPr>
            <p:spPr>
              <a:xfrm>
                <a:off x="4746" y="4204"/>
                <a:ext cx="14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4" name="Google Shape;3324;p80"/>
              <p:cNvCxnSpPr/>
              <p:nvPr/>
            </p:nvCxnSpPr>
            <p:spPr>
              <a:xfrm>
                <a:off x="4791" y="4264"/>
                <a:ext cx="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25" name="Google Shape;3325;p80"/>
            <p:cNvSpPr txBox="1"/>
            <p:nvPr/>
          </p:nvSpPr>
          <p:spPr>
            <a:xfrm>
              <a:off x="-486230" y="4959325"/>
              <a:ext cx="6317547" cy="570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5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12 – Equivalent Circuit of Op Amp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26" name="Google Shape;3326;p80"/>
            <p:cNvCxnSpPr>
              <a:stCxn id="3289" idx="1"/>
              <a:endCxn id="3302" idx="0"/>
            </p:cNvCxnSpPr>
            <p:nvPr/>
          </p:nvCxnSpPr>
          <p:spPr>
            <a:xfrm rot="10800000">
              <a:off x="3627823" y="2462633"/>
              <a:ext cx="991800" cy="16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7" name="Google Shape;3327;p80"/>
          <p:cNvSpPr txBox="1"/>
          <p:nvPr>
            <p:ph type="title"/>
          </p:nvPr>
        </p:nvSpPr>
        <p:spPr>
          <a:xfrm>
            <a:off x="68770" y="885082"/>
            <a:ext cx="7660927" cy="415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Op Amp equivalent Circuit</a:t>
            </a:r>
            <a:endParaRPr/>
          </a:p>
        </p:txBody>
      </p:sp>
      <p:sp>
        <p:nvSpPr>
          <p:cNvPr id="3328" name="Google Shape;3328;p80"/>
          <p:cNvSpPr/>
          <p:nvPr/>
        </p:nvSpPr>
        <p:spPr>
          <a:xfrm>
            <a:off x="188259" y="5219120"/>
            <a:ext cx="9735669" cy="121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linearly proportional to V</a:t>
            </a:r>
            <a:r>
              <a:rPr baseline="-25000"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open-loop gain A.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Amp has a dependent voltage source AV</a:t>
            </a:r>
            <a:r>
              <a:rPr baseline="-25000" lang="en-GB" sz="3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29" name="Google Shape;3329;p80"/>
          <p:cNvCxnSpPr/>
          <p:nvPr/>
        </p:nvCxnSpPr>
        <p:spPr>
          <a:xfrm>
            <a:off x="8689856" y="3623462"/>
            <a:ext cx="0" cy="18288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0" name="Google Shape;3330;p80"/>
          <p:cNvCxnSpPr/>
          <p:nvPr/>
        </p:nvCxnSpPr>
        <p:spPr>
          <a:xfrm>
            <a:off x="8553852" y="3814650"/>
            <a:ext cx="27200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1" name="Google Shape;3331;p80"/>
          <p:cNvCxnSpPr/>
          <p:nvPr/>
        </p:nvCxnSpPr>
        <p:spPr>
          <a:xfrm>
            <a:off x="8601477" y="3871800"/>
            <a:ext cx="18288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2" name="Google Shape;3332;p80"/>
          <p:cNvCxnSpPr/>
          <p:nvPr/>
        </p:nvCxnSpPr>
        <p:spPr>
          <a:xfrm>
            <a:off x="8649102" y="3928950"/>
            <a:ext cx="9144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p81"/>
          <p:cNvSpPr txBox="1"/>
          <p:nvPr>
            <p:ph type="title"/>
          </p:nvPr>
        </p:nvSpPr>
        <p:spPr>
          <a:xfrm>
            <a:off x="429715" y="514228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Parameters of Ideal Op Amp</a:t>
            </a:r>
            <a:endParaRPr/>
          </a:p>
        </p:txBody>
      </p:sp>
      <p:graphicFrame>
        <p:nvGraphicFramePr>
          <p:cNvPr id="3338" name="Google Shape;3338;p81"/>
          <p:cNvGraphicFramePr/>
          <p:nvPr/>
        </p:nvGraphicFramePr>
        <p:xfrm>
          <a:off x="385009" y="1093225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{707CE328-52EE-414E-A710-81E43167D92B}</a:tableStyleId>
              </a:tblPr>
              <a:tblGrid>
                <a:gridCol w="3087975"/>
                <a:gridCol w="1979950"/>
                <a:gridCol w="1593625"/>
                <a:gridCol w="2994075"/>
              </a:tblGrid>
              <a:tr h="57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Parameter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Symbol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Ideal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Typical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Open-loop gain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A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∞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10</a:t>
                      </a:r>
                      <a:r>
                        <a:rPr b="1" baseline="30000" lang="en-GB" sz="3200" u="none" cap="none" strike="noStrike">
                          <a:solidFill>
                            <a:srgbClr val="1E4E79"/>
                          </a:solidFill>
                        </a:rPr>
                        <a:t>5</a:t>
                      </a: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 to 10</a:t>
                      </a:r>
                      <a:r>
                        <a:rPr b="1" baseline="30000" lang="en-GB" sz="3200" u="none" cap="none" strike="noStrike">
                          <a:solidFill>
                            <a:srgbClr val="1E4E79"/>
                          </a:solidFill>
                        </a:rPr>
                        <a:t>8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Input Resistance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R</a:t>
                      </a:r>
                      <a:r>
                        <a:rPr b="1" baseline="-25000" lang="en-GB" sz="3200" u="none" cap="none" strike="noStrike">
                          <a:solidFill>
                            <a:srgbClr val="1E4E79"/>
                          </a:solidFill>
                        </a:rPr>
                        <a:t>in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∞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10</a:t>
                      </a:r>
                      <a:r>
                        <a:rPr b="1" baseline="30000" lang="en-GB" sz="3200" u="none" cap="none" strike="noStrike">
                          <a:solidFill>
                            <a:srgbClr val="1E4E79"/>
                          </a:solidFill>
                        </a:rPr>
                        <a:t>6</a:t>
                      </a: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 to 10</a:t>
                      </a:r>
                      <a:r>
                        <a:rPr b="1" baseline="30000" lang="en-GB" sz="3200" u="none" cap="none" strike="noStrike">
                          <a:solidFill>
                            <a:srgbClr val="1E4E79"/>
                          </a:solidFill>
                        </a:rPr>
                        <a:t>13 </a:t>
                      </a: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Ω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Output Resistance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R</a:t>
                      </a:r>
                      <a:r>
                        <a:rPr b="1" baseline="-25000" lang="en-GB" sz="3200" u="none" cap="none" strike="noStrike">
                          <a:solidFill>
                            <a:srgbClr val="1E4E79"/>
                          </a:solidFill>
                        </a:rPr>
                        <a:t>out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0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10 to 100 Ω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6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 u="none" cap="none" strike="noStrike"/>
                        <a:t>Supply Voltage</a:t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V</a:t>
                      </a:r>
                      <a:r>
                        <a:rPr b="1" baseline="30000" lang="en-GB" sz="3200" u="none" cap="none" strike="noStrike">
                          <a:solidFill>
                            <a:srgbClr val="1E4E79"/>
                          </a:solidFill>
                        </a:rPr>
                        <a:t>+</a:t>
                      </a: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, V</a:t>
                      </a:r>
                      <a:r>
                        <a:rPr b="1" baseline="30000" lang="en-GB" sz="3200" u="none" cap="none" strike="noStrike">
                          <a:solidFill>
                            <a:srgbClr val="1E4E79"/>
                          </a:solidFill>
                        </a:rPr>
                        <a:t>–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 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3200" u="none" cap="none" strike="noStrike">
                          <a:solidFill>
                            <a:srgbClr val="1E4E79"/>
                          </a:solidFill>
                        </a:rPr>
                        <a:t>5 to 24 V</a:t>
                      </a:r>
                      <a:endParaRPr b="1" sz="800" u="none" cap="none" strike="noStrike">
                        <a:solidFill>
                          <a:srgbClr val="1E4E7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45325" marL="45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2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p82"/>
          <p:cNvSpPr txBox="1"/>
          <p:nvPr>
            <p:ph type="title"/>
          </p:nvPr>
        </p:nvSpPr>
        <p:spPr>
          <a:xfrm>
            <a:off x="429715" y="442039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Inverting Amplifier</a:t>
            </a:r>
            <a:endParaRPr/>
          </a:p>
        </p:txBody>
      </p:sp>
      <p:sp>
        <p:nvSpPr>
          <p:cNvPr id="3344" name="Google Shape;3344;p82"/>
          <p:cNvSpPr/>
          <p:nvPr/>
        </p:nvSpPr>
        <p:spPr>
          <a:xfrm>
            <a:off x="168441" y="746642"/>
            <a:ext cx="104182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An inverting amplifier circuit is shown in figure 13.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5" name="Google Shape;3345;p82"/>
          <p:cNvGrpSpPr/>
          <p:nvPr/>
        </p:nvGrpSpPr>
        <p:grpSpPr>
          <a:xfrm>
            <a:off x="1876924" y="1140645"/>
            <a:ext cx="8279765" cy="4463415"/>
            <a:chOff x="0" y="0"/>
            <a:chExt cx="8279765" cy="4463415"/>
          </a:xfrm>
        </p:grpSpPr>
        <p:sp>
          <p:nvSpPr>
            <p:cNvPr id="3346" name="Google Shape;3346;p82"/>
            <p:cNvSpPr/>
            <p:nvPr/>
          </p:nvSpPr>
          <p:spPr>
            <a:xfrm>
              <a:off x="0" y="0"/>
              <a:ext cx="8279765" cy="4463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82"/>
            <p:cNvSpPr/>
            <p:nvPr/>
          </p:nvSpPr>
          <p:spPr>
            <a:xfrm rot="5400000">
              <a:off x="3239672" y="1429563"/>
              <a:ext cx="1918270" cy="1363686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8" name="Google Shape;3348;p82"/>
            <p:cNvSpPr txBox="1"/>
            <p:nvPr/>
          </p:nvSpPr>
          <p:spPr>
            <a:xfrm>
              <a:off x="3378912" y="2188334"/>
              <a:ext cx="515170" cy="561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150" lIns="200300" spcFirstLastPara="1" rIns="200300" wrap="square" tIns="10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9" name="Google Shape;3349;p82"/>
            <p:cNvSpPr txBox="1"/>
            <p:nvPr/>
          </p:nvSpPr>
          <p:spPr>
            <a:xfrm>
              <a:off x="3385646" y="1374869"/>
              <a:ext cx="511803" cy="497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150" lIns="200300" spcFirstLastPara="1" rIns="200300" wrap="square" tIns="100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50" name="Google Shape;3350;p82"/>
            <p:cNvCxnSpPr/>
            <p:nvPr/>
          </p:nvCxnSpPr>
          <p:spPr>
            <a:xfrm>
              <a:off x="2735791" y="1669484"/>
              <a:ext cx="779490" cy="1637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med" w="med" type="none"/>
            </a:ln>
          </p:spPr>
        </p:cxnSp>
        <p:cxnSp>
          <p:nvCxnSpPr>
            <p:cNvPr id="3351" name="Google Shape;3351;p82"/>
            <p:cNvCxnSpPr/>
            <p:nvPr/>
          </p:nvCxnSpPr>
          <p:spPr>
            <a:xfrm flipH="1">
              <a:off x="4828460" y="2109770"/>
              <a:ext cx="1212166" cy="1637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cxnSp>
          <p:nvCxnSpPr>
            <p:cNvPr id="3352" name="Google Shape;3352;p82"/>
            <p:cNvCxnSpPr/>
            <p:nvPr/>
          </p:nvCxnSpPr>
          <p:spPr>
            <a:xfrm>
              <a:off x="4249314" y="2553329"/>
              <a:ext cx="1684" cy="58923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cxnSp>
          <p:nvCxnSpPr>
            <p:cNvPr id="3353" name="Google Shape;3353;p82"/>
            <p:cNvCxnSpPr/>
            <p:nvPr/>
          </p:nvCxnSpPr>
          <p:spPr>
            <a:xfrm flipH="1" rot="10800000">
              <a:off x="4249314" y="1080254"/>
              <a:ext cx="1684" cy="58923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sp>
          <p:nvSpPr>
            <p:cNvPr id="3354" name="Google Shape;3354;p82"/>
            <p:cNvSpPr txBox="1"/>
            <p:nvPr/>
          </p:nvSpPr>
          <p:spPr>
            <a:xfrm>
              <a:off x="4409253" y="982050"/>
              <a:ext cx="572412" cy="58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5" name="Google Shape;3355;p82"/>
            <p:cNvSpPr txBox="1"/>
            <p:nvPr/>
          </p:nvSpPr>
          <p:spPr>
            <a:xfrm>
              <a:off x="4417670" y="2847944"/>
              <a:ext cx="562310" cy="58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−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356" name="Google Shape;3356;p82"/>
            <p:cNvGrpSpPr/>
            <p:nvPr/>
          </p:nvGrpSpPr>
          <p:grpSpPr>
            <a:xfrm>
              <a:off x="3947956" y="466474"/>
              <a:ext cx="606083" cy="294615"/>
              <a:chOff x="2018" y="2138"/>
              <a:chExt cx="1200" cy="357"/>
            </a:xfrm>
          </p:grpSpPr>
          <p:cxnSp>
            <p:nvCxnSpPr>
              <p:cNvPr id="3357" name="Google Shape;3357;p82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8" name="Google Shape;3358;p82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9" name="Google Shape;3359;p82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0" name="Google Shape;3360;p82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1" name="Google Shape;3361;p82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2" name="Google Shape;3362;p82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363" name="Google Shape;3363;p82"/>
            <p:cNvGrpSpPr/>
            <p:nvPr/>
          </p:nvGrpSpPr>
          <p:grpSpPr>
            <a:xfrm>
              <a:off x="2129708" y="1497625"/>
              <a:ext cx="606083" cy="294615"/>
              <a:chOff x="2018" y="2138"/>
              <a:chExt cx="1200" cy="357"/>
            </a:xfrm>
          </p:grpSpPr>
          <p:cxnSp>
            <p:nvCxnSpPr>
              <p:cNvPr id="3364" name="Google Shape;3364;p82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5" name="Google Shape;3365;p82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6" name="Google Shape;3366;p82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7" name="Google Shape;3367;p82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8" name="Google Shape;3368;p82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9" name="Google Shape;3369;p82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370" name="Google Shape;3370;p82"/>
            <p:cNvCxnSpPr/>
            <p:nvPr/>
          </p:nvCxnSpPr>
          <p:spPr>
            <a:xfrm>
              <a:off x="1350218" y="1669484"/>
              <a:ext cx="779490" cy="1637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371" name="Google Shape;3371;p82"/>
            <p:cNvSpPr/>
            <p:nvPr/>
          </p:nvSpPr>
          <p:spPr>
            <a:xfrm>
              <a:off x="3038832" y="613781"/>
              <a:ext cx="909124" cy="1060613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2" name="Google Shape;3372;p82"/>
            <p:cNvSpPr/>
            <p:nvPr/>
          </p:nvSpPr>
          <p:spPr>
            <a:xfrm flipH="1">
              <a:off x="4554039" y="608871"/>
              <a:ext cx="909124" cy="1509083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73" name="Google Shape;3373;p82"/>
            <p:cNvCxnSpPr/>
            <p:nvPr/>
          </p:nvCxnSpPr>
          <p:spPr>
            <a:xfrm>
              <a:off x="1350218" y="3731788"/>
              <a:ext cx="4719028" cy="982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oval"/>
              <a:tailEnd len="sm" w="sm" type="oval"/>
            </a:ln>
          </p:spPr>
        </p:cxnSp>
        <p:sp>
          <p:nvSpPr>
            <p:cNvPr id="3374" name="Google Shape;3374;p82"/>
            <p:cNvSpPr/>
            <p:nvPr/>
          </p:nvSpPr>
          <p:spPr>
            <a:xfrm>
              <a:off x="3038832" y="2553329"/>
              <a:ext cx="484866" cy="1178459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5" name="Google Shape;3375;p82"/>
            <p:cNvSpPr txBox="1"/>
            <p:nvPr/>
          </p:nvSpPr>
          <p:spPr>
            <a:xfrm>
              <a:off x="2230722" y="1055703"/>
              <a:ext cx="589247" cy="58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6" name="Google Shape;3376;p82"/>
            <p:cNvSpPr txBox="1"/>
            <p:nvPr/>
          </p:nvSpPr>
          <p:spPr>
            <a:xfrm>
              <a:off x="4094426" y="0"/>
              <a:ext cx="589247" cy="58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7" name="Google Shape;3377;p82"/>
            <p:cNvSpPr txBox="1"/>
            <p:nvPr/>
          </p:nvSpPr>
          <p:spPr>
            <a:xfrm>
              <a:off x="942796" y="2381470"/>
              <a:ext cx="831680" cy="58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8" name="Google Shape;3378;p82"/>
            <p:cNvSpPr txBox="1"/>
            <p:nvPr/>
          </p:nvSpPr>
          <p:spPr>
            <a:xfrm>
              <a:off x="5882371" y="2651534"/>
              <a:ext cx="813161" cy="589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9" name="Google Shape;3379;p82"/>
            <p:cNvSpPr txBox="1"/>
            <p:nvPr/>
          </p:nvSpPr>
          <p:spPr>
            <a:xfrm>
              <a:off x="104381" y="3895463"/>
              <a:ext cx="8175384" cy="567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825" lIns="46375" spcFirstLastPara="1" rIns="46375" wrap="square" tIns="27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13 – Circuit of Inverting Amplifier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80" name="Google Shape;3380;p82"/>
          <p:cNvSpPr/>
          <p:nvPr/>
        </p:nvSpPr>
        <p:spPr>
          <a:xfrm>
            <a:off x="120315" y="5425123"/>
            <a:ext cx="98177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an inverting amplifier output voltage is a negated and amplified input voltage.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4" name="Shape 3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5" name="Google Shape;3385;p83"/>
          <p:cNvSpPr txBox="1"/>
          <p:nvPr>
            <p:ph type="title"/>
          </p:nvPr>
        </p:nvSpPr>
        <p:spPr>
          <a:xfrm>
            <a:off x="429715" y="466102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Derivation for Inverting Amplifier form first principles</a:t>
            </a:r>
            <a:endParaRPr/>
          </a:p>
        </p:txBody>
      </p:sp>
      <p:pic>
        <p:nvPicPr>
          <p:cNvPr id="3386" name="Google Shape;338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41" y="866271"/>
            <a:ext cx="56578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7" name="Google Shape;3387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567" y="5319957"/>
            <a:ext cx="5314950" cy="144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8" name="Google Shape;3388;p83"/>
          <p:cNvGrpSpPr/>
          <p:nvPr/>
        </p:nvGrpSpPr>
        <p:grpSpPr>
          <a:xfrm>
            <a:off x="6545612" y="830175"/>
            <a:ext cx="5314950" cy="4293616"/>
            <a:chOff x="10446" y="6039"/>
            <a:chExt cx="3536" cy="3010"/>
          </a:xfrm>
        </p:grpSpPr>
        <p:sp>
          <p:nvSpPr>
            <p:cNvPr id="3389" name="Google Shape;3389;p83"/>
            <p:cNvSpPr txBox="1"/>
            <p:nvPr/>
          </p:nvSpPr>
          <p:spPr>
            <a:xfrm>
              <a:off x="11651" y="7615"/>
              <a:ext cx="305" cy="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850" lIns="77700" spcFirstLastPara="1" rIns="77700" wrap="square" tIns="38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0" name="Google Shape;3390;p83"/>
            <p:cNvSpPr txBox="1"/>
            <p:nvPr/>
          </p:nvSpPr>
          <p:spPr>
            <a:xfrm>
              <a:off x="11655" y="6755"/>
              <a:ext cx="302" cy="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850" lIns="77700" spcFirstLastPara="1" rIns="77700" wrap="square" tIns="38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91" name="Google Shape;3391;p83"/>
            <p:cNvCxnSpPr/>
            <p:nvPr/>
          </p:nvCxnSpPr>
          <p:spPr>
            <a:xfrm>
              <a:off x="11268" y="7063"/>
              <a:ext cx="463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none"/>
            </a:ln>
          </p:spPr>
        </p:cxnSp>
        <p:cxnSp>
          <p:nvCxnSpPr>
            <p:cNvPr id="3392" name="Google Shape;3392;p83"/>
            <p:cNvCxnSpPr/>
            <p:nvPr/>
          </p:nvCxnSpPr>
          <p:spPr>
            <a:xfrm flipH="1">
              <a:off x="13082" y="7316"/>
              <a:ext cx="720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grpSp>
          <p:nvGrpSpPr>
            <p:cNvPr id="3393" name="Google Shape;3393;p83"/>
            <p:cNvGrpSpPr/>
            <p:nvPr/>
          </p:nvGrpSpPr>
          <p:grpSpPr>
            <a:xfrm>
              <a:off x="12184" y="6328"/>
              <a:ext cx="358" cy="179"/>
              <a:chOff x="2018" y="2138"/>
              <a:chExt cx="1200" cy="357"/>
            </a:xfrm>
          </p:grpSpPr>
          <p:cxnSp>
            <p:nvCxnSpPr>
              <p:cNvPr id="3394" name="Google Shape;3394;p83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5" name="Google Shape;3395;p83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6" name="Google Shape;3396;p83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7" name="Google Shape;3397;p83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8" name="Google Shape;3398;p83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9" name="Google Shape;3399;p83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400" name="Google Shape;3400;p83"/>
            <p:cNvGrpSpPr/>
            <p:nvPr/>
          </p:nvGrpSpPr>
          <p:grpSpPr>
            <a:xfrm>
              <a:off x="10908" y="6958"/>
              <a:ext cx="360" cy="180"/>
              <a:chOff x="2018" y="2138"/>
              <a:chExt cx="1200" cy="357"/>
            </a:xfrm>
          </p:grpSpPr>
          <p:cxnSp>
            <p:nvCxnSpPr>
              <p:cNvPr id="3401" name="Google Shape;3401;p83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2" name="Google Shape;3402;p83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3" name="Google Shape;3403;p83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4" name="Google Shape;3404;p83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5" name="Google Shape;3405;p83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6" name="Google Shape;3406;p83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407" name="Google Shape;3407;p83"/>
            <p:cNvCxnSpPr/>
            <p:nvPr/>
          </p:nvCxnSpPr>
          <p:spPr>
            <a:xfrm>
              <a:off x="10446" y="7063"/>
              <a:ext cx="46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408" name="Google Shape;3408;p83"/>
            <p:cNvSpPr/>
            <p:nvPr/>
          </p:nvSpPr>
          <p:spPr>
            <a:xfrm>
              <a:off x="11448" y="6418"/>
              <a:ext cx="734" cy="647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9" name="Google Shape;3409;p83"/>
            <p:cNvSpPr/>
            <p:nvPr/>
          </p:nvSpPr>
          <p:spPr>
            <a:xfrm flipH="1">
              <a:off x="12542" y="6414"/>
              <a:ext cx="735" cy="907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10" name="Google Shape;3410;p83"/>
            <p:cNvCxnSpPr/>
            <p:nvPr/>
          </p:nvCxnSpPr>
          <p:spPr>
            <a:xfrm>
              <a:off x="10446" y="8322"/>
              <a:ext cx="3356" cy="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oval"/>
              <a:tailEnd len="sm" w="sm" type="oval"/>
            </a:ln>
          </p:spPr>
        </p:cxnSp>
        <p:sp>
          <p:nvSpPr>
            <p:cNvPr id="3411" name="Google Shape;3411;p83"/>
            <p:cNvSpPr/>
            <p:nvPr/>
          </p:nvSpPr>
          <p:spPr>
            <a:xfrm>
              <a:off x="11436" y="7779"/>
              <a:ext cx="283" cy="543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2" name="Google Shape;3412;p83"/>
            <p:cNvSpPr txBox="1"/>
            <p:nvPr/>
          </p:nvSpPr>
          <p:spPr>
            <a:xfrm>
              <a:off x="10968" y="6688"/>
              <a:ext cx="386" cy="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3" name="Google Shape;3413;p83"/>
            <p:cNvSpPr txBox="1"/>
            <p:nvPr/>
          </p:nvSpPr>
          <p:spPr>
            <a:xfrm>
              <a:off x="13611" y="7664"/>
              <a:ext cx="371" cy="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414" name="Google Shape;3414;p83"/>
            <p:cNvGrpSpPr/>
            <p:nvPr/>
          </p:nvGrpSpPr>
          <p:grpSpPr>
            <a:xfrm>
              <a:off x="12411" y="7239"/>
              <a:ext cx="658" cy="165"/>
              <a:chOff x="1658" y="2138"/>
              <a:chExt cx="1440" cy="360"/>
            </a:xfrm>
          </p:grpSpPr>
          <p:cxnSp>
            <p:nvCxnSpPr>
              <p:cNvPr id="3415" name="Google Shape;3415;p83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16" name="Google Shape;3416;p83"/>
              <p:cNvGrpSpPr/>
              <p:nvPr/>
            </p:nvGrpSpPr>
            <p:grpSpPr>
              <a:xfrm>
                <a:off x="2018" y="2138"/>
                <a:ext cx="720" cy="360"/>
                <a:chOff x="2018" y="2138"/>
                <a:chExt cx="1200" cy="357"/>
              </a:xfrm>
            </p:grpSpPr>
            <p:cxnSp>
              <p:nvCxnSpPr>
                <p:cNvPr id="3417" name="Google Shape;3417;p83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18" name="Google Shape;3418;p83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19" name="Google Shape;3419;p83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20" name="Google Shape;3420;p83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21" name="Google Shape;3421;p83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22" name="Google Shape;3422;p83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423" name="Google Shape;3423;p83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424" name="Google Shape;3424;p83"/>
            <p:cNvGrpSpPr/>
            <p:nvPr/>
          </p:nvGrpSpPr>
          <p:grpSpPr>
            <a:xfrm rot="5400000">
              <a:off x="11386" y="7330"/>
              <a:ext cx="680" cy="171"/>
              <a:chOff x="1658" y="2138"/>
              <a:chExt cx="1440" cy="360"/>
            </a:xfrm>
          </p:grpSpPr>
          <p:cxnSp>
            <p:nvCxnSpPr>
              <p:cNvPr id="3425" name="Google Shape;3425;p83"/>
              <p:cNvCxnSpPr/>
              <p:nvPr/>
            </p:nvCxnSpPr>
            <p:spPr>
              <a:xfrm>
                <a:off x="1658" y="2318"/>
                <a:ext cx="36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26" name="Google Shape;3426;p83"/>
              <p:cNvGrpSpPr/>
              <p:nvPr/>
            </p:nvGrpSpPr>
            <p:grpSpPr>
              <a:xfrm>
                <a:off x="2018" y="2138"/>
                <a:ext cx="720" cy="360"/>
                <a:chOff x="2018" y="2138"/>
                <a:chExt cx="1200" cy="357"/>
              </a:xfrm>
            </p:grpSpPr>
            <p:cxnSp>
              <p:nvCxnSpPr>
                <p:cNvPr id="3427" name="Google Shape;3427;p83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28" name="Google Shape;3428;p83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29" name="Google Shape;3429;p83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30" name="Google Shape;3430;p83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31" name="Google Shape;3431;p83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32" name="Google Shape;3432;p83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433" name="Google Shape;3433;p83"/>
              <p:cNvCxnSpPr/>
              <p:nvPr/>
            </p:nvCxnSpPr>
            <p:spPr>
              <a:xfrm>
                <a:off x="2738" y="2318"/>
                <a:ext cx="36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434" name="Google Shape;3434;p83"/>
            <p:cNvSpPr txBox="1"/>
            <p:nvPr/>
          </p:nvSpPr>
          <p:spPr>
            <a:xfrm>
              <a:off x="12047" y="6039"/>
              <a:ext cx="388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5" name="Google Shape;3435;p83"/>
            <p:cNvSpPr/>
            <p:nvPr/>
          </p:nvSpPr>
          <p:spPr>
            <a:xfrm>
              <a:off x="12167" y="7505"/>
              <a:ext cx="504" cy="506"/>
            </a:xfrm>
            <a:prstGeom prst="diamond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83"/>
            <p:cNvSpPr txBox="1"/>
            <p:nvPr/>
          </p:nvSpPr>
          <p:spPr>
            <a:xfrm>
              <a:off x="12357" y="7481"/>
              <a:ext cx="241" cy="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625" lIns="14400" spcFirstLastPara="1" rIns="14400" wrap="square" tIns="8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7" name="Google Shape;3437;p83"/>
            <p:cNvSpPr txBox="1"/>
            <p:nvPr/>
          </p:nvSpPr>
          <p:spPr>
            <a:xfrm>
              <a:off x="12666" y="7625"/>
              <a:ext cx="776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</a:t>
              </a: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438" name="Google Shape;3438;p83"/>
            <p:cNvGrpSpPr/>
            <p:nvPr/>
          </p:nvGrpSpPr>
          <p:grpSpPr>
            <a:xfrm>
              <a:off x="12339" y="8330"/>
              <a:ext cx="173" cy="259"/>
              <a:chOff x="4701" y="3904"/>
              <a:chExt cx="240" cy="360"/>
            </a:xfrm>
          </p:grpSpPr>
          <p:cxnSp>
            <p:nvCxnSpPr>
              <p:cNvPr id="3439" name="Google Shape;3439;p83"/>
              <p:cNvCxnSpPr/>
              <p:nvPr/>
            </p:nvCxnSpPr>
            <p:spPr>
              <a:xfrm>
                <a:off x="4821" y="3904"/>
                <a:ext cx="0" cy="24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0" name="Google Shape;3440;p83"/>
              <p:cNvCxnSpPr/>
              <p:nvPr/>
            </p:nvCxnSpPr>
            <p:spPr>
              <a:xfrm>
                <a:off x="4701" y="4144"/>
                <a:ext cx="24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1" name="Google Shape;3441;p83"/>
              <p:cNvCxnSpPr/>
              <p:nvPr/>
            </p:nvCxnSpPr>
            <p:spPr>
              <a:xfrm>
                <a:off x="4746" y="4204"/>
                <a:ext cx="14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2" name="Google Shape;3442;p83"/>
              <p:cNvCxnSpPr/>
              <p:nvPr/>
            </p:nvCxnSpPr>
            <p:spPr>
              <a:xfrm>
                <a:off x="4791" y="4264"/>
                <a:ext cx="8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443" name="Google Shape;3443;p83"/>
            <p:cNvCxnSpPr/>
            <p:nvPr/>
          </p:nvCxnSpPr>
          <p:spPr>
            <a:xfrm>
              <a:off x="12411" y="7336"/>
              <a:ext cx="1" cy="1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4" name="Google Shape;3444;p83"/>
            <p:cNvCxnSpPr/>
            <p:nvPr/>
          </p:nvCxnSpPr>
          <p:spPr>
            <a:xfrm flipH="1" rot="10800000">
              <a:off x="12426" y="7974"/>
              <a:ext cx="1" cy="3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445" name="Google Shape;3445;p83"/>
            <p:cNvSpPr txBox="1"/>
            <p:nvPr/>
          </p:nvSpPr>
          <p:spPr>
            <a:xfrm>
              <a:off x="11838" y="7270"/>
              <a:ext cx="399" cy="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6" name="Google Shape;3446;p83"/>
            <p:cNvSpPr txBox="1"/>
            <p:nvPr/>
          </p:nvSpPr>
          <p:spPr>
            <a:xfrm>
              <a:off x="12528" y="6958"/>
              <a:ext cx="480" cy="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7" name="Google Shape;3447;p83"/>
            <p:cNvSpPr txBox="1"/>
            <p:nvPr/>
          </p:nvSpPr>
          <p:spPr>
            <a:xfrm>
              <a:off x="11268" y="7250"/>
              <a:ext cx="332" cy="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8" name="Google Shape;3448;p83"/>
            <p:cNvSpPr txBox="1"/>
            <p:nvPr/>
          </p:nvSpPr>
          <p:spPr>
            <a:xfrm>
              <a:off x="10652" y="8710"/>
              <a:ext cx="3330" cy="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Figure14 – Equivalent Circuit 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49" name="Google Shape;3449;p83"/>
            <p:cNvCxnSpPr/>
            <p:nvPr/>
          </p:nvCxnSpPr>
          <p:spPr>
            <a:xfrm>
              <a:off x="10562" y="7069"/>
              <a:ext cx="12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50" name="Google Shape;3450;p83"/>
            <p:cNvSpPr txBox="1"/>
            <p:nvPr/>
          </p:nvSpPr>
          <p:spPr>
            <a:xfrm>
              <a:off x="10455" y="6710"/>
              <a:ext cx="214" cy="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00" lIns="18000" spcFirstLastPara="1" rIns="18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51" name="Google Shape;3451;p83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2" name="Google Shape;3452;p83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3" name="Google Shape;3453;p83"/>
          <p:cNvSpPr/>
          <p:nvPr/>
        </p:nvSpPr>
        <p:spPr>
          <a:xfrm>
            <a:off x="144378" y="3192626"/>
            <a:ext cx="6664357" cy="218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Figure 14 shows equivalent circuit of inverting amplifier.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 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 and  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1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∞</a:t>
            </a:r>
            <a:r>
              <a:rPr b="0" i="1" lang="en-GB" sz="36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</a:t>
            </a:r>
            <a:r>
              <a:rPr b="0" baseline="-2500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b="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– A V</a:t>
            </a:r>
            <a:r>
              <a:rPr b="0" baseline="-2500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8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p84"/>
          <p:cNvSpPr/>
          <p:nvPr/>
        </p:nvSpPr>
        <p:spPr>
          <a:xfrm>
            <a:off x="336882" y="3164858"/>
            <a:ext cx="12007516" cy="1508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A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b="0" i="0" lang="en-GB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∞</a:t>
            </a:r>
            <a:r>
              <a:rPr b="0" i="1" lang="en-GB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for an ideal Op Amp,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Times New Roman"/>
              <a:buNone/>
            </a:pPr>
            <a:r>
              <a:rPr b="0" i="1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=</a:t>
            </a:r>
            <a:endParaRPr/>
          </a:p>
        </p:txBody>
      </p:sp>
      <p:pic>
        <p:nvPicPr>
          <p:cNvPr id="3460" name="Google Shape;346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417" y="385011"/>
            <a:ext cx="63246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1" name="Google Shape;3461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3639" y="1751348"/>
            <a:ext cx="483870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2" name="Google Shape;3462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1759" y="3752220"/>
            <a:ext cx="20478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3" name="Google Shape;3463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7788" y="4712035"/>
            <a:ext cx="35337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4" name="Google Shape;3464;p84"/>
          <p:cNvSpPr/>
          <p:nvPr/>
        </p:nvSpPr>
        <p:spPr>
          <a:xfrm>
            <a:off x="240630" y="747639"/>
            <a:ext cx="22619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giving 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5" name="Google Shape;3465;p84"/>
          <p:cNvSpPr/>
          <p:nvPr/>
        </p:nvSpPr>
        <p:spPr>
          <a:xfrm>
            <a:off x="288756" y="2044546"/>
            <a:ext cx="16844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6" name="Google Shape;3466;p84"/>
          <p:cNvSpPr/>
          <p:nvPr/>
        </p:nvSpPr>
        <p:spPr>
          <a:xfrm>
            <a:off x="3839319" y="3942716"/>
            <a:ext cx="3368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84"/>
          <p:cNvSpPr/>
          <p:nvPr/>
        </p:nvSpPr>
        <p:spPr>
          <a:xfrm>
            <a:off x="312819" y="6044874"/>
            <a:ext cx="95771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Thus 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is taken as virtual earth, when analyzing.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8" name="Google Shape;3468;p84"/>
          <p:cNvGrpSpPr/>
          <p:nvPr/>
        </p:nvGrpSpPr>
        <p:grpSpPr>
          <a:xfrm>
            <a:off x="4708972" y="2162810"/>
            <a:ext cx="7045107" cy="2532380"/>
            <a:chOff x="-3019128" y="-1"/>
            <a:chExt cx="8794747" cy="3162706"/>
          </a:xfrm>
        </p:grpSpPr>
        <p:sp>
          <p:nvSpPr>
            <p:cNvPr id="3469" name="Google Shape;3469;p84"/>
            <p:cNvSpPr/>
            <p:nvPr/>
          </p:nvSpPr>
          <p:spPr>
            <a:xfrm rot="5400000">
              <a:off x="1305265" y="134917"/>
              <a:ext cx="3162706" cy="2892871"/>
            </a:xfrm>
            <a:prstGeom prst="triangle">
              <a:avLst>
                <a:gd fmla="val 50000" name="adj"/>
              </a:avLst>
            </a:prstGeom>
            <a:solidFill>
              <a:srgbClr val="DDEAF6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70" name="Google Shape;3470;p84"/>
            <p:cNvCxnSpPr/>
            <p:nvPr/>
          </p:nvCxnSpPr>
          <p:spPr>
            <a:xfrm flipH="1">
              <a:off x="4323037" y="1573510"/>
              <a:ext cx="914400" cy="1270"/>
            </a:xfrm>
            <a:prstGeom prst="straightConnector1">
              <a:avLst/>
            </a:prstGeom>
            <a:noFill/>
            <a:ln cap="flat" cmpd="sng" w="41275">
              <a:solidFill>
                <a:srgbClr val="000000"/>
              </a:solidFill>
              <a:prstDash val="solid"/>
              <a:round/>
              <a:headEnd len="lg" w="lg" type="oval"/>
              <a:tailEnd len="lg" w="lg" type="none"/>
            </a:ln>
          </p:spPr>
        </p:cxnSp>
        <p:sp>
          <p:nvSpPr>
            <p:cNvPr id="3471" name="Google Shape;3471;p84"/>
            <p:cNvSpPr txBox="1"/>
            <p:nvPr/>
          </p:nvSpPr>
          <p:spPr>
            <a:xfrm>
              <a:off x="-1" y="1257038"/>
              <a:ext cx="806916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2" name="Google Shape;3472;p84"/>
            <p:cNvSpPr txBox="1"/>
            <p:nvPr/>
          </p:nvSpPr>
          <p:spPr>
            <a:xfrm>
              <a:off x="4743085" y="682916"/>
              <a:ext cx="1032534" cy="577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73" name="Google Shape;3473;p84"/>
            <p:cNvCxnSpPr/>
            <p:nvPr/>
          </p:nvCxnSpPr>
          <p:spPr>
            <a:xfrm flipH="1">
              <a:off x="520919" y="722172"/>
              <a:ext cx="914400" cy="1604"/>
            </a:xfrm>
            <a:prstGeom prst="straightConnector1">
              <a:avLst/>
            </a:prstGeom>
            <a:noFill/>
            <a:ln cap="flat" cmpd="sng" w="41275">
              <a:solidFill>
                <a:srgbClr val="000000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3474" name="Google Shape;3474;p84"/>
            <p:cNvCxnSpPr/>
            <p:nvPr/>
          </p:nvCxnSpPr>
          <p:spPr>
            <a:xfrm flipH="1">
              <a:off x="489388" y="2409082"/>
              <a:ext cx="914400" cy="1604"/>
            </a:xfrm>
            <a:prstGeom prst="straightConnector1">
              <a:avLst/>
            </a:prstGeom>
            <a:noFill/>
            <a:ln cap="flat" cmpd="sng" w="41275">
              <a:solidFill>
                <a:srgbClr val="000000"/>
              </a:solidFill>
              <a:prstDash val="solid"/>
              <a:round/>
              <a:headEnd len="sm" w="sm" type="none"/>
              <a:tailEnd len="lg" w="lg" type="oval"/>
            </a:ln>
          </p:spPr>
        </p:cxnSp>
        <p:sp>
          <p:nvSpPr>
            <p:cNvPr id="3475" name="Google Shape;3475;p84"/>
            <p:cNvSpPr/>
            <p:nvPr/>
          </p:nvSpPr>
          <p:spPr>
            <a:xfrm>
              <a:off x="5202620" y="1511269"/>
              <a:ext cx="73025" cy="7302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6" name="Google Shape;3476;p84"/>
            <p:cNvSpPr/>
            <p:nvPr/>
          </p:nvSpPr>
          <p:spPr>
            <a:xfrm>
              <a:off x="472966" y="674218"/>
              <a:ext cx="91440" cy="9144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7" name="Google Shape;3477;p84"/>
            <p:cNvSpPr/>
            <p:nvPr/>
          </p:nvSpPr>
          <p:spPr>
            <a:xfrm>
              <a:off x="441435" y="2361129"/>
              <a:ext cx="91440" cy="9144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8" name="Google Shape;3478;p84"/>
            <p:cNvSpPr/>
            <p:nvPr/>
          </p:nvSpPr>
          <p:spPr>
            <a:xfrm>
              <a:off x="1898431" y="1642484"/>
              <a:ext cx="640080" cy="642750"/>
            </a:xfrm>
            <a:prstGeom prst="diamond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9" name="Google Shape;3479;p84"/>
            <p:cNvSpPr txBox="1"/>
            <p:nvPr/>
          </p:nvSpPr>
          <p:spPr>
            <a:xfrm>
              <a:off x="2492444" y="1656116"/>
              <a:ext cx="997585" cy="544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675" lIns="42800" spcFirstLastPara="1" rIns="42800" wrap="square" tIns="25675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0" name="Google Shape;3480;p84"/>
            <p:cNvSpPr/>
            <p:nvPr/>
          </p:nvSpPr>
          <p:spPr>
            <a:xfrm>
              <a:off x="2210457" y="1576137"/>
              <a:ext cx="2140826" cy="80207"/>
            </a:xfrm>
            <a:custGeom>
              <a:rect b="b" l="l" r="r" t="t"/>
              <a:pathLst>
                <a:path extrusionOk="0" h="180" w="540">
                  <a:moveTo>
                    <a:pt x="540" y="0"/>
                  </a:moveTo>
                  <a:lnTo>
                    <a:pt x="0" y="0"/>
                  </a:lnTo>
                  <a:lnTo>
                    <a:pt x="0" y="18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81" name="Google Shape;3481;p84"/>
            <p:cNvGrpSpPr/>
            <p:nvPr/>
          </p:nvGrpSpPr>
          <p:grpSpPr>
            <a:xfrm>
              <a:off x="-3019128" y="2462022"/>
              <a:ext cx="240" cy="130324"/>
              <a:chOff x="4701" y="4144"/>
              <a:chExt cx="240" cy="120"/>
            </a:xfrm>
          </p:grpSpPr>
          <p:cxnSp>
            <p:nvCxnSpPr>
              <p:cNvPr id="3482" name="Google Shape;3482;p84"/>
              <p:cNvCxnSpPr/>
              <p:nvPr/>
            </p:nvCxnSpPr>
            <p:spPr>
              <a:xfrm>
                <a:off x="4701" y="4144"/>
                <a:ext cx="24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3" name="Google Shape;3483;p84"/>
              <p:cNvCxnSpPr/>
              <p:nvPr/>
            </p:nvCxnSpPr>
            <p:spPr>
              <a:xfrm>
                <a:off x="4746" y="4204"/>
                <a:ext cx="14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4" name="Google Shape;3484;p84"/>
              <p:cNvCxnSpPr/>
              <p:nvPr/>
            </p:nvCxnSpPr>
            <p:spPr>
              <a:xfrm>
                <a:off x="4791" y="4264"/>
                <a:ext cx="8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485" name="Google Shape;3485;p84"/>
            <p:cNvSpPr txBox="1"/>
            <p:nvPr/>
          </p:nvSpPr>
          <p:spPr>
            <a:xfrm>
              <a:off x="-44011" y="2072468"/>
              <a:ext cx="409903" cy="577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6" name="Google Shape;3486;p84"/>
            <p:cNvSpPr txBox="1"/>
            <p:nvPr/>
          </p:nvSpPr>
          <p:spPr>
            <a:xfrm>
              <a:off x="2032896" y="1535362"/>
              <a:ext cx="409903" cy="577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7" name="Google Shape;3487;p84"/>
            <p:cNvSpPr txBox="1"/>
            <p:nvPr/>
          </p:nvSpPr>
          <p:spPr>
            <a:xfrm>
              <a:off x="-2" y="419945"/>
              <a:ext cx="551792" cy="577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–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8" name="Google Shape;3488;p84"/>
            <p:cNvSpPr txBox="1"/>
            <p:nvPr/>
          </p:nvSpPr>
          <p:spPr>
            <a:xfrm>
              <a:off x="2052174" y="1778779"/>
              <a:ext cx="551792" cy="577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–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9" name="Google Shape;3489;p84"/>
            <p:cNvSpPr txBox="1"/>
            <p:nvPr/>
          </p:nvSpPr>
          <p:spPr>
            <a:xfrm>
              <a:off x="825316" y="1195959"/>
              <a:ext cx="1434466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 </a:t>
              </a: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1"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∞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84"/>
            <p:cNvSpPr txBox="1"/>
            <p:nvPr/>
          </p:nvSpPr>
          <p:spPr>
            <a:xfrm>
              <a:off x="2396359" y="1056594"/>
              <a:ext cx="1434662" cy="577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00" lIns="45650" spcFirstLastPara="1" rIns="45650" wrap="square" tIns="274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r>
                <a:rPr lang="en-GB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=0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1" name="Google Shape;3491;p84"/>
          <p:cNvGrpSpPr/>
          <p:nvPr/>
        </p:nvGrpSpPr>
        <p:grpSpPr>
          <a:xfrm>
            <a:off x="8841198" y="3997086"/>
            <a:ext cx="137160" cy="268484"/>
            <a:chOff x="4701" y="3904"/>
            <a:chExt cx="240" cy="360"/>
          </a:xfrm>
        </p:grpSpPr>
        <p:cxnSp>
          <p:nvCxnSpPr>
            <p:cNvPr id="3492" name="Google Shape;3492;p84"/>
            <p:cNvCxnSpPr/>
            <p:nvPr/>
          </p:nvCxnSpPr>
          <p:spPr>
            <a:xfrm>
              <a:off x="4821" y="3904"/>
              <a:ext cx="0" cy="24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3" name="Google Shape;3493;p84"/>
            <p:cNvCxnSpPr/>
            <p:nvPr/>
          </p:nvCxnSpPr>
          <p:spPr>
            <a:xfrm>
              <a:off x="4701" y="4144"/>
              <a:ext cx="24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4" name="Google Shape;3494;p84"/>
            <p:cNvCxnSpPr/>
            <p:nvPr/>
          </p:nvCxnSpPr>
          <p:spPr>
            <a:xfrm>
              <a:off x="4746" y="4204"/>
              <a:ext cx="142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5" name="Google Shape;3495;p84"/>
            <p:cNvCxnSpPr/>
            <p:nvPr/>
          </p:nvCxnSpPr>
          <p:spPr>
            <a:xfrm>
              <a:off x="4791" y="4264"/>
              <a:ext cx="8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9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Google Shape;3500;p85"/>
          <p:cNvSpPr txBox="1"/>
          <p:nvPr>
            <p:ph type="title"/>
          </p:nvPr>
        </p:nvSpPr>
        <p:spPr>
          <a:xfrm>
            <a:off x="429715" y="514228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Non-inverting Amplifier</a:t>
            </a:r>
            <a:endParaRPr/>
          </a:p>
        </p:txBody>
      </p:sp>
      <p:pic>
        <p:nvPicPr>
          <p:cNvPr id="3501" name="Google Shape;350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483" y="5209895"/>
            <a:ext cx="16573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2" name="Google Shape;3502;p8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85"/>
          <p:cNvSpPr/>
          <p:nvPr/>
        </p:nvSpPr>
        <p:spPr>
          <a:xfrm>
            <a:off x="240630" y="891402"/>
            <a:ext cx="6116821" cy="5359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Input voltage is applied directly to non-inverting (+) input and a small part of output voltage is applied to the inverting (–) input from the R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potential divider.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 an ideal Op Amp,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r>
              <a:rPr b="0" i="1" lang="en-GB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= ∞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1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= </a:t>
            </a:r>
            <a:endParaRPr/>
          </a:p>
        </p:txBody>
      </p:sp>
      <p:sp>
        <p:nvSpPr>
          <p:cNvPr id="3504" name="Google Shape;3504;p85"/>
          <p:cNvSpPr/>
          <p:nvPr/>
        </p:nvSpPr>
        <p:spPr>
          <a:xfrm>
            <a:off x="0" y="18288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b="1" i="0" lang="en-GB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5" name="Google Shape;3505;p85"/>
          <p:cNvGrpSpPr/>
          <p:nvPr/>
        </p:nvGrpSpPr>
        <p:grpSpPr>
          <a:xfrm>
            <a:off x="6430516" y="745953"/>
            <a:ext cx="5480487" cy="4596465"/>
            <a:chOff x="6382390" y="481260"/>
            <a:chExt cx="5480487" cy="4596465"/>
          </a:xfrm>
        </p:grpSpPr>
        <p:grpSp>
          <p:nvGrpSpPr>
            <p:cNvPr id="3506" name="Google Shape;3506;p85"/>
            <p:cNvGrpSpPr/>
            <p:nvPr/>
          </p:nvGrpSpPr>
          <p:grpSpPr>
            <a:xfrm>
              <a:off x="6382390" y="481260"/>
              <a:ext cx="5480487" cy="4596465"/>
              <a:chOff x="5853004" y="481260"/>
              <a:chExt cx="5480487" cy="4596465"/>
            </a:xfrm>
          </p:grpSpPr>
          <p:sp>
            <p:nvSpPr>
              <p:cNvPr id="3507" name="Google Shape;3507;p85"/>
              <p:cNvSpPr/>
              <p:nvPr/>
            </p:nvSpPr>
            <p:spPr>
              <a:xfrm rot="5400000">
                <a:off x="8117996" y="869499"/>
                <a:ext cx="1880295" cy="1437521"/>
              </a:xfrm>
              <a:prstGeom prst="triangle">
                <a:avLst>
                  <a:gd fmla="val 50000" name="adj"/>
                </a:avLst>
              </a:prstGeom>
              <a:solidFill>
                <a:srgbClr val="FFFFFF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85"/>
              <p:cNvSpPr txBox="1"/>
              <p:nvPr/>
            </p:nvSpPr>
            <p:spPr>
              <a:xfrm>
                <a:off x="8193856" y="1663664"/>
                <a:ext cx="543063" cy="550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8575" lIns="197175" spcFirstLastPara="1" rIns="197175" wrap="square" tIns="9857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85"/>
              <p:cNvSpPr txBox="1"/>
              <p:nvPr/>
            </p:nvSpPr>
            <p:spPr>
              <a:xfrm>
                <a:off x="8212830" y="830678"/>
                <a:ext cx="539514" cy="487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8575" lIns="197175" spcFirstLastPara="1" rIns="197175" wrap="square" tIns="9857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3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–  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10" name="Google Shape;3510;p85"/>
              <p:cNvCxnSpPr/>
              <p:nvPr/>
            </p:nvCxnSpPr>
            <p:spPr>
              <a:xfrm flipH="1">
                <a:off x="9721888" y="1586655"/>
                <a:ext cx="1277796" cy="1604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oval"/>
                <a:tailEnd len="med" w="med" type="none"/>
              </a:ln>
            </p:spPr>
          </p:cxnSp>
          <p:cxnSp>
            <p:nvCxnSpPr>
              <p:cNvPr id="3511" name="Google Shape;3511;p85"/>
              <p:cNvCxnSpPr/>
              <p:nvPr/>
            </p:nvCxnSpPr>
            <p:spPr>
              <a:xfrm>
                <a:off x="9111385" y="2021433"/>
                <a:ext cx="1775" cy="577565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sm" w="sm" type="oval"/>
              </a:ln>
            </p:spPr>
          </p:cxnSp>
          <p:cxnSp>
            <p:nvCxnSpPr>
              <p:cNvPr id="3512" name="Google Shape;3512;p85"/>
              <p:cNvCxnSpPr/>
              <p:nvPr/>
            </p:nvCxnSpPr>
            <p:spPr>
              <a:xfrm flipH="1" rot="10800000">
                <a:off x="9111385" y="577521"/>
                <a:ext cx="1775" cy="577565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sm" w="sm" type="oval"/>
              </a:ln>
            </p:spPr>
          </p:cxnSp>
          <p:sp>
            <p:nvSpPr>
              <p:cNvPr id="3513" name="Google Shape;3513;p85"/>
              <p:cNvSpPr txBox="1"/>
              <p:nvPr/>
            </p:nvSpPr>
            <p:spPr>
              <a:xfrm>
                <a:off x="9279983" y="481260"/>
                <a:ext cx="578558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r>
                  <a:rPr baseline="30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85"/>
              <p:cNvSpPr txBox="1"/>
              <p:nvPr/>
            </p:nvSpPr>
            <p:spPr>
              <a:xfrm>
                <a:off x="9288857" y="2310216"/>
                <a:ext cx="569684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r>
                  <a:rPr baseline="30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−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85"/>
              <p:cNvSpPr txBox="1"/>
              <p:nvPr/>
            </p:nvSpPr>
            <p:spPr>
              <a:xfrm>
                <a:off x="5853004" y="4500160"/>
                <a:ext cx="5418212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Figure 15 – Non-inverting Amplifier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6" name="Google Shape;3516;p85"/>
              <p:cNvGrpSpPr/>
              <p:nvPr/>
            </p:nvGrpSpPr>
            <p:grpSpPr>
              <a:xfrm>
                <a:off x="8793714" y="3032166"/>
                <a:ext cx="638900" cy="288781"/>
                <a:chOff x="2018" y="2138"/>
                <a:chExt cx="1200" cy="357"/>
              </a:xfrm>
            </p:grpSpPr>
            <p:cxnSp>
              <p:nvCxnSpPr>
                <p:cNvPr id="3517" name="Google Shape;3517;p85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8" name="Google Shape;3518;p85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9" name="Google Shape;3519;p85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0" name="Google Shape;3520;p85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1" name="Google Shape;3521;p85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2" name="Google Shape;3522;p85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523" name="Google Shape;3523;p85"/>
              <p:cNvGrpSpPr/>
              <p:nvPr/>
            </p:nvGrpSpPr>
            <p:grpSpPr>
              <a:xfrm rot="-5400000">
                <a:off x="7546585" y="3594393"/>
                <a:ext cx="577570" cy="319450"/>
                <a:chOff x="2018" y="2138"/>
                <a:chExt cx="1200" cy="357"/>
              </a:xfrm>
            </p:grpSpPr>
            <p:cxnSp>
              <p:nvCxnSpPr>
                <p:cNvPr id="3524" name="Google Shape;3524;p85"/>
                <p:cNvCxnSpPr/>
                <p:nvPr/>
              </p:nvCxnSpPr>
              <p:spPr>
                <a:xfrm flipH="1" rot="10800000">
                  <a:off x="2018" y="2138"/>
                  <a:ext cx="120" cy="18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5" name="Google Shape;3525;p85"/>
                <p:cNvCxnSpPr/>
                <p:nvPr/>
              </p:nvCxnSpPr>
              <p:spPr>
                <a:xfrm rot="10800000">
                  <a:off x="3098" y="2138"/>
                  <a:ext cx="120" cy="18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6" name="Google Shape;3526;p85"/>
                <p:cNvCxnSpPr/>
                <p:nvPr/>
              </p:nvCxnSpPr>
              <p:spPr>
                <a:xfrm rot="10800000">
                  <a:off x="2125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7" name="Google Shape;3527;p85"/>
                <p:cNvCxnSpPr/>
                <p:nvPr/>
              </p:nvCxnSpPr>
              <p:spPr>
                <a:xfrm flipH="1" rot="10800000">
                  <a:off x="2380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8" name="Google Shape;3528;p85"/>
                <p:cNvCxnSpPr/>
                <p:nvPr/>
              </p:nvCxnSpPr>
              <p:spPr>
                <a:xfrm rot="10800000">
                  <a:off x="2605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9" name="Google Shape;3529;p85"/>
                <p:cNvCxnSpPr/>
                <p:nvPr/>
              </p:nvCxnSpPr>
              <p:spPr>
                <a:xfrm flipH="1" rot="10800000">
                  <a:off x="2860" y="2138"/>
                  <a:ext cx="238" cy="357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530" name="Google Shape;3530;p85"/>
              <p:cNvCxnSpPr/>
              <p:nvPr/>
            </p:nvCxnSpPr>
            <p:spPr>
              <a:xfrm>
                <a:off x="6028701" y="1155086"/>
                <a:ext cx="2314231" cy="1604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oval"/>
                <a:tailEnd len="med" w="med" type="none"/>
              </a:ln>
            </p:spPr>
          </p:cxnSp>
          <p:sp>
            <p:nvSpPr>
              <p:cNvPr id="3531" name="Google Shape;3531;p85"/>
              <p:cNvSpPr/>
              <p:nvPr/>
            </p:nvSpPr>
            <p:spPr>
              <a:xfrm rot="10800000">
                <a:off x="9432609" y="1605907"/>
                <a:ext cx="958347" cy="1546590"/>
              </a:xfrm>
              <a:custGeom>
                <a:rect b="b" l="l" r="r" t="t"/>
                <a:pathLst>
                  <a:path extrusionOk="0" h="720" w="540">
                    <a:moveTo>
                      <a:pt x="540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oval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85"/>
              <p:cNvSpPr/>
              <p:nvPr/>
            </p:nvSpPr>
            <p:spPr>
              <a:xfrm>
                <a:off x="7835363" y="2021433"/>
                <a:ext cx="511119" cy="1155130"/>
              </a:xfrm>
              <a:custGeom>
                <a:rect b="b" l="l" r="r" t="t"/>
                <a:pathLst>
                  <a:path extrusionOk="0" h="720" w="540">
                    <a:moveTo>
                      <a:pt x="540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oval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85"/>
              <p:cNvSpPr txBox="1"/>
              <p:nvPr/>
            </p:nvSpPr>
            <p:spPr>
              <a:xfrm>
                <a:off x="7052411" y="3513476"/>
                <a:ext cx="623228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r>
                  <a:rPr baseline="-25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85"/>
              <p:cNvSpPr txBox="1"/>
              <p:nvPr/>
            </p:nvSpPr>
            <p:spPr>
              <a:xfrm>
                <a:off x="8948111" y="3296889"/>
                <a:ext cx="681246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r>
                  <a:rPr baseline="-25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85"/>
              <p:cNvSpPr txBox="1"/>
              <p:nvPr/>
            </p:nvSpPr>
            <p:spPr>
              <a:xfrm>
                <a:off x="5881399" y="625651"/>
                <a:ext cx="631799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r>
                  <a:rPr baseline="-25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85"/>
              <p:cNvSpPr txBox="1"/>
              <p:nvPr/>
            </p:nvSpPr>
            <p:spPr>
              <a:xfrm>
                <a:off x="10460630" y="1005393"/>
                <a:ext cx="872861" cy="577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400" lIns="45650" spcFirstLastPara="1" rIns="45650" wrap="square" tIns="27400">
                <a:noAutofit/>
              </a:bodyPr>
              <a:lstStyle/>
              <a:p>
                <a:pPr indent="0" lvl="0" marL="0" marR="0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r>
                  <a:rPr baseline="-25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out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37" name="Google Shape;3537;p85"/>
              <p:cNvCxnSpPr/>
              <p:nvPr/>
            </p:nvCxnSpPr>
            <p:spPr>
              <a:xfrm>
                <a:off x="7835363" y="3176563"/>
                <a:ext cx="0" cy="28878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8" name="Google Shape;3538;p85"/>
              <p:cNvCxnSpPr/>
              <p:nvPr/>
            </p:nvCxnSpPr>
            <p:spPr>
              <a:xfrm>
                <a:off x="7835363" y="3176563"/>
                <a:ext cx="958347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39" name="Google Shape;3539;p85"/>
            <p:cNvGrpSpPr/>
            <p:nvPr/>
          </p:nvGrpSpPr>
          <p:grpSpPr>
            <a:xfrm>
              <a:off x="8113235" y="4065573"/>
              <a:ext cx="489951" cy="416287"/>
              <a:chOff x="4701" y="3904"/>
              <a:chExt cx="240" cy="360"/>
            </a:xfrm>
          </p:grpSpPr>
          <p:cxnSp>
            <p:nvCxnSpPr>
              <p:cNvPr id="3540" name="Google Shape;3540;p85"/>
              <p:cNvCxnSpPr/>
              <p:nvPr/>
            </p:nvCxnSpPr>
            <p:spPr>
              <a:xfrm>
                <a:off x="4821" y="3904"/>
                <a:ext cx="0" cy="24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1" name="Google Shape;3541;p85"/>
              <p:cNvCxnSpPr/>
              <p:nvPr/>
            </p:nvCxnSpPr>
            <p:spPr>
              <a:xfrm>
                <a:off x="4701" y="4144"/>
                <a:ext cx="24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2" name="Google Shape;3542;p85"/>
              <p:cNvCxnSpPr/>
              <p:nvPr/>
            </p:nvCxnSpPr>
            <p:spPr>
              <a:xfrm>
                <a:off x="4746" y="4204"/>
                <a:ext cx="142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3" name="Google Shape;3543;p85"/>
              <p:cNvCxnSpPr/>
              <p:nvPr/>
            </p:nvCxnSpPr>
            <p:spPr>
              <a:xfrm>
                <a:off x="4791" y="4264"/>
                <a:ext cx="8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86"/>
          <p:cNvSpPr txBox="1"/>
          <p:nvPr>
            <p:ph type="title"/>
          </p:nvPr>
        </p:nvSpPr>
        <p:spPr>
          <a:xfrm>
            <a:off x="429715" y="514228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Summing Amplifier</a:t>
            </a:r>
            <a:endParaRPr/>
          </a:p>
        </p:txBody>
      </p:sp>
      <p:pic>
        <p:nvPicPr>
          <p:cNvPr id="3550" name="Google Shape;355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43" y="2142090"/>
            <a:ext cx="53911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1" name="Google Shape;3551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689" y="4947798"/>
            <a:ext cx="5610225" cy="1733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2" name="Google Shape;3552;p86"/>
          <p:cNvGrpSpPr/>
          <p:nvPr/>
        </p:nvGrpSpPr>
        <p:grpSpPr>
          <a:xfrm>
            <a:off x="6368814" y="606785"/>
            <a:ext cx="5689296" cy="4655632"/>
            <a:chOff x="838396" y="-85481"/>
            <a:chExt cx="5017841" cy="4158786"/>
          </a:xfrm>
        </p:grpSpPr>
        <p:sp>
          <p:nvSpPr>
            <p:cNvPr id="3553" name="Google Shape;3553;p86"/>
            <p:cNvSpPr/>
            <p:nvPr/>
          </p:nvSpPr>
          <p:spPr>
            <a:xfrm>
              <a:off x="2803395" y="489711"/>
              <a:ext cx="887807" cy="1009963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3475" lIns="86950" spcFirstLastPara="1" rIns="86950" wrap="square" tIns="4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86"/>
            <p:cNvSpPr txBox="1"/>
            <p:nvPr/>
          </p:nvSpPr>
          <p:spPr>
            <a:xfrm>
              <a:off x="3768602" y="-85481"/>
              <a:ext cx="547243" cy="466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5" name="Google Shape;3555;p86"/>
            <p:cNvSpPr txBox="1"/>
            <p:nvPr/>
          </p:nvSpPr>
          <p:spPr>
            <a:xfrm>
              <a:off x="1642815" y="451355"/>
              <a:ext cx="624482" cy="560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1A</a:t>
              </a:r>
              <a:endParaRPr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6" name="Google Shape;3556;p86"/>
            <p:cNvSpPr/>
            <p:nvPr/>
          </p:nvSpPr>
          <p:spPr>
            <a:xfrm rot="5400000">
              <a:off x="3022309" y="1250228"/>
              <a:ext cx="1826996" cy="133171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571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3475" lIns="86950" spcFirstLastPara="1" rIns="86950" wrap="square" tIns="4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7" name="Google Shape;3557;p86"/>
            <p:cNvSpPr txBox="1"/>
            <p:nvPr/>
          </p:nvSpPr>
          <p:spPr>
            <a:xfrm>
              <a:off x="3135305" y="1989386"/>
              <a:ext cx="503463" cy="534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300" lIns="190600" spcFirstLastPara="1" rIns="190600" wrap="square" tIns="95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8" name="Google Shape;3558;p86"/>
            <p:cNvSpPr txBox="1"/>
            <p:nvPr/>
          </p:nvSpPr>
          <p:spPr>
            <a:xfrm>
              <a:off x="3141922" y="1214605"/>
              <a:ext cx="499901" cy="473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300" lIns="190600" spcFirstLastPara="1" rIns="190600" wrap="square" tIns="95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–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59" name="Google Shape;3559;p86"/>
            <p:cNvCxnSpPr/>
            <p:nvPr/>
          </p:nvCxnSpPr>
          <p:spPr>
            <a:xfrm>
              <a:off x="2507629" y="1495095"/>
              <a:ext cx="761049" cy="1526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med" w="med" type="none"/>
            </a:ln>
          </p:spPr>
        </p:cxnSp>
        <p:cxnSp>
          <p:nvCxnSpPr>
            <p:cNvPr id="3560" name="Google Shape;3560;p86"/>
            <p:cNvCxnSpPr/>
            <p:nvPr/>
          </p:nvCxnSpPr>
          <p:spPr>
            <a:xfrm flipH="1">
              <a:off x="4551009" y="1914555"/>
              <a:ext cx="1183572" cy="1526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cxnSp>
          <p:nvCxnSpPr>
            <p:cNvPr id="3561" name="Google Shape;3561;p86"/>
            <p:cNvCxnSpPr/>
            <p:nvPr/>
          </p:nvCxnSpPr>
          <p:spPr>
            <a:xfrm>
              <a:off x="3985441" y="2337069"/>
              <a:ext cx="1526" cy="560978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cxnSp>
          <p:nvCxnSpPr>
            <p:cNvPr id="3562" name="Google Shape;3562;p86"/>
            <p:cNvCxnSpPr/>
            <p:nvPr/>
          </p:nvCxnSpPr>
          <p:spPr>
            <a:xfrm flipH="1" rot="10800000">
              <a:off x="3985441" y="933606"/>
              <a:ext cx="1526" cy="561486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sp>
          <p:nvSpPr>
            <p:cNvPr id="3563" name="Google Shape;3563;p86"/>
            <p:cNvSpPr txBox="1"/>
            <p:nvPr/>
          </p:nvSpPr>
          <p:spPr>
            <a:xfrm>
              <a:off x="4141103" y="839900"/>
              <a:ext cx="454785" cy="560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4" name="Google Shape;3564;p86"/>
            <p:cNvSpPr txBox="1"/>
            <p:nvPr/>
          </p:nvSpPr>
          <p:spPr>
            <a:xfrm>
              <a:off x="4149244" y="2615850"/>
              <a:ext cx="446384" cy="560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−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5" name="Google Shape;3565;p86"/>
            <p:cNvSpPr txBox="1"/>
            <p:nvPr/>
          </p:nvSpPr>
          <p:spPr>
            <a:xfrm>
              <a:off x="1075711" y="3599885"/>
              <a:ext cx="4780526" cy="473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Figure 16 – Summing Amplifier</a:t>
              </a:r>
              <a:endParaRPr/>
            </a:p>
          </p:txBody>
        </p:sp>
        <p:grpSp>
          <p:nvGrpSpPr>
            <p:cNvPr id="3566" name="Google Shape;3566;p86"/>
            <p:cNvGrpSpPr/>
            <p:nvPr/>
          </p:nvGrpSpPr>
          <p:grpSpPr>
            <a:xfrm>
              <a:off x="3691203" y="349212"/>
              <a:ext cx="592041" cy="280489"/>
              <a:chOff x="2018" y="2138"/>
              <a:chExt cx="1200" cy="357"/>
            </a:xfrm>
          </p:grpSpPr>
          <p:cxnSp>
            <p:nvCxnSpPr>
              <p:cNvPr id="3567" name="Google Shape;3567;p86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8" name="Google Shape;3568;p86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9" name="Google Shape;3569;p86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0" name="Google Shape;3570;p86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1" name="Google Shape;3571;p86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2" name="Google Shape;3572;p86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73" name="Google Shape;3573;p86"/>
            <p:cNvGrpSpPr/>
            <p:nvPr/>
          </p:nvGrpSpPr>
          <p:grpSpPr>
            <a:xfrm>
              <a:off x="1593862" y="910700"/>
              <a:ext cx="592041" cy="280489"/>
              <a:chOff x="2018" y="2138"/>
              <a:chExt cx="1200" cy="357"/>
            </a:xfrm>
          </p:grpSpPr>
          <p:cxnSp>
            <p:nvCxnSpPr>
              <p:cNvPr id="3574" name="Google Shape;3574;p86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5" name="Google Shape;3575;p86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6" name="Google Shape;3576;p86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7" name="Google Shape;3577;p86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8" name="Google Shape;3578;p86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9" name="Google Shape;3579;p86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580" name="Google Shape;3580;p86"/>
            <p:cNvCxnSpPr/>
            <p:nvPr/>
          </p:nvCxnSpPr>
          <p:spPr>
            <a:xfrm>
              <a:off x="1132142" y="1077161"/>
              <a:ext cx="465283" cy="1526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581" name="Google Shape;3581;p86"/>
            <p:cNvSpPr/>
            <p:nvPr/>
          </p:nvSpPr>
          <p:spPr>
            <a:xfrm flipH="1">
              <a:off x="4283241" y="484620"/>
              <a:ext cx="887807" cy="1437570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3475" lIns="86950" spcFirstLastPara="1" rIns="86950" wrap="square" tIns="4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2" name="Google Shape;3582;p86"/>
            <p:cNvCxnSpPr/>
            <p:nvPr/>
          </p:nvCxnSpPr>
          <p:spPr>
            <a:xfrm>
              <a:off x="1154031" y="3459534"/>
              <a:ext cx="4608550" cy="9162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oval"/>
              <a:tailEnd len="sm" w="sm" type="oval"/>
            </a:ln>
          </p:spPr>
        </p:cxnSp>
        <p:sp>
          <p:nvSpPr>
            <p:cNvPr id="3583" name="Google Shape;3583;p86"/>
            <p:cNvSpPr/>
            <p:nvPr/>
          </p:nvSpPr>
          <p:spPr>
            <a:xfrm>
              <a:off x="2803394" y="2337068"/>
              <a:ext cx="473429" cy="1122466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3475" lIns="86950" spcFirstLastPara="1" rIns="86950" wrap="square" tIns="4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86"/>
            <p:cNvSpPr txBox="1"/>
            <p:nvPr/>
          </p:nvSpPr>
          <p:spPr>
            <a:xfrm>
              <a:off x="838399" y="523704"/>
              <a:ext cx="656965" cy="55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inA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5" name="Google Shape;3585;p86"/>
            <p:cNvSpPr txBox="1"/>
            <p:nvPr/>
          </p:nvSpPr>
          <p:spPr>
            <a:xfrm>
              <a:off x="5155005" y="2428637"/>
              <a:ext cx="644084" cy="560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586" name="Google Shape;3586;p86"/>
            <p:cNvGrpSpPr/>
            <p:nvPr/>
          </p:nvGrpSpPr>
          <p:grpSpPr>
            <a:xfrm>
              <a:off x="1593862" y="1752167"/>
              <a:ext cx="592041" cy="280999"/>
              <a:chOff x="2018" y="2138"/>
              <a:chExt cx="1200" cy="357"/>
            </a:xfrm>
          </p:grpSpPr>
          <p:cxnSp>
            <p:nvCxnSpPr>
              <p:cNvPr id="3587" name="Google Shape;3587;p86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8" name="Google Shape;3588;p86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9" name="Google Shape;3589;p86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0" name="Google Shape;3590;p86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1" name="Google Shape;3591;p86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2" name="Google Shape;3592;p86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593" name="Google Shape;3593;p86"/>
            <p:cNvCxnSpPr/>
            <p:nvPr/>
          </p:nvCxnSpPr>
          <p:spPr>
            <a:xfrm>
              <a:off x="1132142" y="1919137"/>
              <a:ext cx="465283" cy="1526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594" name="Google Shape;3594;p86"/>
            <p:cNvSpPr txBox="1"/>
            <p:nvPr/>
          </p:nvSpPr>
          <p:spPr>
            <a:xfrm>
              <a:off x="1642815" y="1283733"/>
              <a:ext cx="632882" cy="5600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3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1B</a:t>
              </a:r>
              <a:endParaRPr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5" name="Google Shape;3595;p86"/>
            <p:cNvSpPr/>
            <p:nvPr/>
          </p:nvSpPr>
          <p:spPr>
            <a:xfrm>
              <a:off x="2185902" y="1074107"/>
              <a:ext cx="295766" cy="841976"/>
            </a:xfrm>
            <a:custGeom>
              <a:rect b="b" l="l" r="r" t="t"/>
              <a:pathLst>
                <a:path extrusionOk="0" h="540" w="180">
                  <a:moveTo>
                    <a:pt x="0" y="0"/>
                  </a:moveTo>
                  <a:lnTo>
                    <a:pt x="180" y="0"/>
                  </a:lnTo>
                  <a:lnTo>
                    <a:pt x="180" y="540"/>
                  </a:lnTo>
                  <a:lnTo>
                    <a:pt x="0" y="54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3475" lIns="86950" spcFirstLastPara="1" rIns="86950" wrap="square" tIns="43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86"/>
            <p:cNvSpPr txBox="1"/>
            <p:nvPr/>
          </p:nvSpPr>
          <p:spPr>
            <a:xfrm>
              <a:off x="838396" y="1341239"/>
              <a:ext cx="656965" cy="560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475" lIns="44125" spcFirstLastPara="1" rIns="44125" wrap="square" tIns="2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inB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97" name="Google Shape;3597;p86"/>
          <p:cNvSpPr/>
          <p:nvPr/>
        </p:nvSpPr>
        <p:spPr>
          <a:xfrm>
            <a:off x="66945" y="879365"/>
            <a:ext cx="1205811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2 inputs,  Summing amplifier is obtained.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8" name="Google Shape;3598;p86"/>
          <p:cNvSpPr/>
          <p:nvPr/>
        </p:nvSpPr>
        <p:spPr>
          <a:xfrm>
            <a:off x="257820" y="1672961"/>
            <a:ext cx="101134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9" name="Google Shape;3599;p86"/>
          <p:cNvSpPr/>
          <p:nvPr/>
        </p:nvSpPr>
        <p:spPr>
          <a:xfrm>
            <a:off x="290863" y="3963185"/>
            <a:ext cx="110629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If  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</a:t>
            </a:r>
            <a:r>
              <a:rPr b="0" i="0" lang="en-GB" sz="36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GB" sz="3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1B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3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p87"/>
          <p:cNvSpPr txBox="1"/>
          <p:nvPr>
            <p:ph type="title"/>
          </p:nvPr>
        </p:nvSpPr>
        <p:spPr>
          <a:xfrm>
            <a:off x="429715" y="514228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Differential Amplifier</a:t>
            </a:r>
            <a:endParaRPr/>
          </a:p>
        </p:txBody>
      </p:sp>
      <p:pic>
        <p:nvPicPr>
          <p:cNvPr id="3605" name="Google Shape;360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642" y="4991491"/>
            <a:ext cx="2362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6" name="Google Shape;3606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7287" y="4928643"/>
            <a:ext cx="2257425" cy="110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7" name="Google Shape;3607;p87"/>
          <p:cNvCxnSpPr/>
          <p:nvPr/>
        </p:nvCxnSpPr>
        <p:spPr>
          <a:xfrm>
            <a:off x="8970010" y="7180580"/>
            <a:ext cx="0" cy="11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8" name="Google Shape;3608;p87"/>
          <p:cNvCxnSpPr/>
          <p:nvPr/>
        </p:nvCxnSpPr>
        <p:spPr>
          <a:xfrm>
            <a:off x="8970010" y="7180580"/>
            <a:ext cx="0" cy="11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9" name="Google Shape;3609;p87"/>
          <p:cNvSpPr/>
          <p:nvPr/>
        </p:nvSpPr>
        <p:spPr>
          <a:xfrm>
            <a:off x="429716" y="1083971"/>
            <a:ext cx="6794996" cy="2478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Inputs are connected to both inverting or non-inverting terminals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Resultant output based on difference between 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0" name="Google Shape;3610;p87"/>
          <p:cNvSpPr/>
          <p:nvPr/>
        </p:nvSpPr>
        <p:spPr>
          <a:xfrm>
            <a:off x="-87939" y="3789869"/>
            <a:ext cx="1195938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 ideal Op Amp, 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1" lang="en-GB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= ∞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1" name="Google Shape;3611;p87"/>
          <p:cNvSpPr/>
          <p:nvPr/>
        </p:nvSpPr>
        <p:spPr>
          <a:xfrm>
            <a:off x="2695075" y="5157928"/>
            <a:ext cx="27672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giving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2" name="Google Shape;3612;p87"/>
          <p:cNvSpPr/>
          <p:nvPr/>
        </p:nvSpPr>
        <p:spPr>
          <a:xfrm>
            <a:off x="0" y="283845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3" name="Google Shape;3613;p87"/>
          <p:cNvGrpSpPr/>
          <p:nvPr/>
        </p:nvGrpSpPr>
        <p:grpSpPr>
          <a:xfrm>
            <a:off x="6464543" y="916683"/>
            <a:ext cx="5541520" cy="4186685"/>
            <a:chOff x="6464543" y="26352"/>
            <a:chExt cx="5541520" cy="4186685"/>
          </a:xfrm>
        </p:grpSpPr>
        <p:sp>
          <p:nvSpPr>
            <p:cNvPr id="3614" name="Google Shape;3614;p87"/>
            <p:cNvSpPr/>
            <p:nvPr/>
          </p:nvSpPr>
          <p:spPr>
            <a:xfrm rot="5400000">
              <a:off x="8985558" y="1396177"/>
              <a:ext cx="1771015" cy="1301115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87"/>
            <p:cNvSpPr txBox="1"/>
            <p:nvPr/>
          </p:nvSpPr>
          <p:spPr>
            <a:xfrm>
              <a:off x="9094778" y="2165673"/>
              <a:ext cx="4914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000" lIns="184000" spcFirstLastPara="1" rIns="184000" wrap="square" tIns="92000">
              <a:no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87"/>
            <p:cNvSpPr txBox="1"/>
            <p:nvPr/>
          </p:nvSpPr>
          <p:spPr>
            <a:xfrm>
              <a:off x="9094778" y="1366967"/>
              <a:ext cx="488315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000" lIns="184000" spcFirstLastPara="1" rIns="184000" wrap="square" tIns="92000">
              <a:no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 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17" name="Google Shape;3617;p87"/>
            <p:cNvCxnSpPr/>
            <p:nvPr/>
          </p:nvCxnSpPr>
          <p:spPr>
            <a:xfrm>
              <a:off x="8475018" y="1638747"/>
              <a:ext cx="743585" cy="1905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none"/>
            </a:ln>
          </p:spPr>
        </p:cxnSp>
        <p:cxnSp>
          <p:nvCxnSpPr>
            <p:cNvPr id="3618" name="Google Shape;3618;p87"/>
            <p:cNvCxnSpPr/>
            <p:nvPr/>
          </p:nvCxnSpPr>
          <p:spPr>
            <a:xfrm flipH="1">
              <a:off x="10471458" y="2045147"/>
              <a:ext cx="1156970" cy="1905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cxnSp>
          <p:nvCxnSpPr>
            <p:cNvPr id="3619" name="Google Shape;3619;p87"/>
            <p:cNvCxnSpPr/>
            <p:nvPr/>
          </p:nvCxnSpPr>
          <p:spPr>
            <a:xfrm>
              <a:off x="9919008" y="2454722"/>
              <a:ext cx="1905" cy="544195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cxnSp>
          <p:nvCxnSpPr>
            <p:cNvPr id="3620" name="Google Shape;3620;p87"/>
            <p:cNvCxnSpPr/>
            <p:nvPr/>
          </p:nvCxnSpPr>
          <p:spPr>
            <a:xfrm flipH="1" rot="10800000">
              <a:off x="9919008" y="1095187"/>
              <a:ext cx="1905" cy="54356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sm" w="sm" type="oval"/>
            </a:ln>
          </p:spPr>
        </p:cxnSp>
        <p:sp>
          <p:nvSpPr>
            <p:cNvPr id="3621" name="Google Shape;3621;p87"/>
            <p:cNvSpPr txBox="1"/>
            <p:nvPr/>
          </p:nvSpPr>
          <p:spPr>
            <a:xfrm>
              <a:off x="10071408" y="1004382"/>
              <a:ext cx="441460" cy="54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87"/>
            <p:cNvSpPr txBox="1"/>
            <p:nvPr/>
          </p:nvSpPr>
          <p:spPr>
            <a:xfrm>
              <a:off x="10079663" y="2727137"/>
              <a:ext cx="424316" cy="54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30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−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87"/>
            <p:cNvSpPr txBox="1"/>
            <p:nvPr/>
          </p:nvSpPr>
          <p:spPr>
            <a:xfrm>
              <a:off x="6464543" y="3668842"/>
              <a:ext cx="5541520" cy="544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Figure 17 – Differential Amplifier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4" name="Google Shape;3624;p87"/>
            <p:cNvGrpSpPr/>
            <p:nvPr/>
          </p:nvGrpSpPr>
          <p:grpSpPr>
            <a:xfrm>
              <a:off x="9631361" y="528132"/>
              <a:ext cx="578490" cy="271780"/>
              <a:chOff x="2018" y="2138"/>
              <a:chExt cx="1200" cy="357"/>
            </a:xfrm>
          </p:grpSpPr>
          <p:cxnSp>
            <p:nvCxnSpPr>
              <p:cNvPr id="3625" name="Google Shape;3625;p87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6" name="Google Shape;3626;p87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7" name="Google Shape;3627;p87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8" name="Google Shape;3628;p87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9" name="Google Shape;3629;p87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0" name="Google Shape;3630;p87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631" name="Google Shape;3631;p87"/>
            <p:cNvGrpSpPr/>
            <p:nvPr/>
          </p:nvGrpSpPr>
          <p:grpSpPr>
            <a:xfrm>
              <a:off x="7872411" y="1479997"/>
              <a:ext cx="578490" cy="272415"/>
              <a:chOff x="2018" y="2138"/>
              <a:chExt cx="1200" cy="357"/>
            </a:xfrm>
          </p:grpSpPr>
          <p:cxnSp>
            <p:nvCxnSpPr>
              <p:cNvPr id="3632" name="Google Shape;3632;p87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3" name="Google Shape;3633;p87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4" name="Google Shape;3634;p87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5" name="Google Shape;3635;p87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6" name="Google Shape;3636;p87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7" name="Google Shape;3637;p87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638" name="Google Shape;3638;p87"/>
            <p:cNvCxnSpPr/>
            <p:nvPr/>
          </p:nvCxnSpPr>
          <p:spPr>
            <a:xfrm>
              <a:off x="7318048" y="1641922"/>
              <a:ext cx="546100" cy="127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639" name="Google Shape;3639;p87"/>
            <p:cNvSpPr/>
            <p:nvPr/>
          </p:nvSpPr>
          <p:spPr>
            <a:xfrm>
              <a:off x="8763943" y="664022"/>
              <a:ext cx="867410" cy="979170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87"/>
            <p:cNvSpPr/>
            <p:nvPr/>
          </p:nvSpPr>
          <p:spPr>
            <a:xfrm flipH="1">
              <a:off x="10209838" y="659577"/>
              <a:ext cx="867410" cy="1393190"/>
            </a:xfrm>
            <a:custGeom>
              <a:rect b="b" l="l" r="r" t="t"/>
              <a:pathLst>
                <a:path extrusionOk="0" h="720" w="540">
                  <a:moveTo>
                    <a:pt x="540" y="0"/>
                  </a:moveTo>
                  <a:lnTo>
                    <a:pt x="0" y="0"/>
                  </a:lnTo>
                  <a:lnTo>
                    <a:pt x="0" y="72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oval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41" name="Google Shape;3641;p87"/>
            <p:cNvCxnSpPr/>
            <p:nvPr/>
          </p:nvCxnSpPr>
          <p:spPr>
            <a:xfrm>
              <a:off x="7318048" y="3543112"/>
              <a:ext cx="4337685" cy="889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oval"/>
              <a:tailEnd len="sm" w="sm" type="oval"/>
            </a:ln>
          </p:spPr>
        </p:cxnSp>
        <p:sp>
          <p:nvSpPr>
            <p:cNvPr id="3642" name="Google Shape;3642;p87"/>
            <p:cNvSpPr txBox="1"/>
            <p:nvPr/>
          </p:nvSpPr>
          <p:spPr>
            <a:xfrm>
              <a:off x="7873163" y="965452"/>
              <a:ext cx="588146" cy="54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87"/>
            <p:cNvSpPr txBox="1"/>
            <p:nvPr/>
          </p:nvSpPr>
          <p:spPr>
            <a:xfrm>
              <a:off x="9771053" y="26352"/>
              <a:ext cx="612140" cy="544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87"/>
            <p:cNvSpPr txBox="1"/>
            <p:nvPr/>
          </p:nvSpPr>
          <p:spPr>
            <a:xfrm>
              <a:off x="6625898" y="1479997"/>
              <a:ext cx="788670" cy="544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87"/>
            <p:cNvSpPr txBox="1"/>
            <p:nvPr/>
          </p:nvSpPr>
          <p:spPr>
            <a:xfrm>
              <a:off x="10973116" y="2545527"/>
              <a:ext cx="878774" cy="544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out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46" name="Google Shape;3646;p87"/>
            <p:cNvGrpSpPr/>
            <p:nvPr/>
          </p:nvGrpSpPr>
          <p:grpSpPr>
            <a:xfrm>
              <a:off x="7872411" y="2318832"/>
              <a:ext cx="578490" cy="272415"/>
              <a:chOff x="2018" y="2138"/>
              <a:chExt cx="1200" cy="357"/>
            </a:xfrm>
          </p:grpSpPr>
          <p:cxnSp>
            <p:nvCxnSpPr>
              <p:cNvPr id="3647" name="Google Shape;3647;p87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8" name="Google Shape;3648;p87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9" name="Google Shape;3649;p87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0" name="Google Shape;3650;p87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1" name="Google Shape;3651;p87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2" name="Google Shape;3652;p87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653" name="Google Shape;3653;p87"/>
            <p:cNvCxnSpPr/>
            <p:nvPr/>
          </p:nvCxnSpPr>
          <p:spPr>
            <a:xfrm>
              <a:off x="7318048" y="2480757"/>
              <a:ext cx="546100" cy="127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oval"/>
              <a:tailEnd len="med" w="med" type="none"/>
            </a:ln>
          </p:spPr>
        </p:cxnSp>
        <p:sp>
          <p:nvSpPr>
            <p:cNvPr id="3654" name="Google Shape;3654;p87"/>
            <p:cNvSpPr txBox="1"/>
            <p:nvPr/>
          </p:nvSpPr>
          <p:spPr>
            <a:xfrm>
              <a:off x="7885038" y="1792412"/>
              <a:ext cx="588146" cy="543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1B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87"/>
            <p:cNvSpPr txBox="1"/>
            <p:nvPr/>
          </p:nvSpPr>
          <p:spPr>
            <a:xfrm>
              <a:off x="6625898" y="2295972"/>
              <a:ext cx="788670" cy="544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inB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56" name="Google Shape;3656;p87"/>
            <p:cNvCxnSpPr/>
            <p:nvPr/>
          </p:nvCxnSpPr>
          <p:spPr>
            <a:xfrm>
              <a:off x="8475018" y="2453452"/>
              <a:ext cx="743585" cy="127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none"/>
            </a:ln>
          </p:spPr>
        </p:cxnSp>
        <p:grpSp>
          <p:nvGrpSpPr>
            <p:cNvPr id="3657" name="Google Shape;3657;p87"/>
            <p:cNvGrpSpPr/>
            <p:nvPr/>
          </p:nvGrpSpPr>
          <p:grpSpPr>
            <a:xfrm rot="-5400000">
              <a:off x="8467402" y="2854761"/>
              <a:ext cx="544200" cy="289561"/>
              <a:chOff x="2018" y="2138"/>
              <a:chExt cx="1200" cy="357"/>
            </a:xfrm>
          </p:grpSpPr>
          <p:cxnSp>
            <p:nvCxnSpPr>
              <p:cNvPr id="3658" name="Google Shape;3658;p87"/>
              <p:cNvCxnSpPr/>
              <p:nvPr/>
            </p:nvCxnSpPr>
            <p:spPr>
              <a:xfrm flipH="1" rot="10800000">
                <a:off x="201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9" name="Google Shape;3659;p87"/>
              <p:cNvCxnSpPr/>
              <p:nvPr/>
            </p:nvCxnSpPr>
            <p:spPr>
              <a:xfrm rot="10800000">
                <a:off x="3098" y="2138"/>
                <a:ext cx="120" cy="18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0" name="Google Shape;3660;p87"/>
              <p:cNvCxnSpPr/>
              <p:nvPr/>
            </p:nvCxnSpPr>
            <p:spPr>
              <a:xfrm rot="10800000">
                <a:off x="212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1" name="Google Shape;3661;p87"/>
              <p:cNvCxnSpPr/>
              <p:nvPr/>
            </p:nvCxnSpPr>
            <p:spPr>
              <a:xfrm flipH="1" rot="10800000">
                <a:off x="238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2" name="Google Shape;3662;p87"/>
              <p:cNvCxnSpPr/>
              <p:nvPr/>
            </p:nvCxnSpPr>
            <p:spPr>
              <a:xfrm rot="10800000">
                <a:off x="2605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3" name="Google Shape;3663;p87"/>
              <p:cNvCxnSpPr/>
              <p:nvPr/>
            </p:nvCxnSpPr>
            <p:spPr>
              <a:xfrm flipH="1" rot="10800000">
                <a:off x="2860" y="2138"/>
                <a:ext cx="238" cy="35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664" name="Google Shape;3664;p87"/>
            <p:cNvCxnSpPr/>
            <p:nvPr/>
          </p:nvCxnSpPr>
          <p:spPr>
            <a:xfrm>
              <a:off x="8763943" y="2454722"/>
              <a:ext cx="0" cy="272415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5" name="Google Shape;3665;p87"/>
            <p:cNvCxnSpPr/>
            <p:nvPr/>
          </p:nvCxnSpPr>
          <p:spPr>
            <a:xfrm>
              <a:off x="8763943" y="3271332"/>
              <a:ext cx="0" cy="27178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66" name="Google Shape;3666;p87"/>
            <p:cNvSpPr txBox="1"/>
            <p:nvPr/>
          </p:nvSpPr>
          <p:spPr>
            <a:xfrm>
              <a:off x="7983583" y="2749362"/>
              <a:ext cx="444001" cy="544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7" name="Google Shape;3667;p87"/>
            <p:cNvSpPr txBox="1"/>
            <p:nvPr/>
          </p:nvSpPr>
          <p:spPr>
            <a:xfrm>
              <a:off x="8687868" y="1843217"/>
              <a:ext cx="425586" cy="543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68" name="Google Shape;3668;p87"/>
            <p:cNvCxnSpPr/>
            <p:nvPr/>
          </p:nvCxnSpPr>
          <p:spPr>
            <a:xfrm>
              <a:off x="7607608" y="1652717"/>
              <a:ext cx="180975" cy="127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cxnSp>
          <p:nvCxnSpPr>
            <p:cNvPr id="3669" name="Google Shape;3669;p87"/>
            <p:cNvCxnSpPr/>
            <p:nvPr/>
          </p:nvCxnSpPr>
          <p:spPr>
            <a:xfrm>
              <a:off x="7618403" y="2489647"/>
              <a:ext cx="181610" cy="127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lg" w="lg" type="triangle"/>
            </a:ln>
          </p:spPr>
        </p:cxnSp>
        <p:sp>
          <p:nvSpPr>
            <p:cNvPr id="3670" name="Google Shape;3670;p87"/>
            <p:cNvSpPr txBox="1"/>
            <p:nvPr/>
          </p:nvSpPr>
          <p:spPr>
            <a:xfrm>
              <a:off x="7433108" y="1068132"/>
              <a:ext cx="330970" cy="54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1" name="Google Shape;3671;p87"/>
            <p:cNvSpPr txBox="1"/>
            <p:nvPr/>
          </p:nvSpPr>
          <p:spPr>
            <a:xfrm>
              <a:off x="7456858" y="1965707"/>
              <a:ext cx="330970" cy="5438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550" lIns="42600" spcFirstLastPara="1" rIns="42600" wrap="square" tIns="2555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2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5" name="Shape 3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6" name="Google Shape;36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315" y="577515"/>
            <a:ext cx="39243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7" name="Google Shape;3677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5668" y="581024"/>
            <a:ext cx="29813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8" name="Google Shape;3678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9586" y="1661359"/>
            <a:ext cx="288607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9" name="Google Shape;3679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4615" y="2721642"/>
            <a:ext cx="45434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0" name="Google Shape;3680;p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368" y="3829048"/>
            <a:ext cx="72866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1" name="Google Shape;3681;p8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0841" y="5474706"/>
            <a:ext cx="392430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2" name="Google Shape;3682;p88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3" name="Google Shape;3683;p88"/>
          <p:cNvSpPr/>
          <p:nvPr/>
        </p:nvSpPr>
        <p:spPr>
          <a:xfrm>
            <a:off x="3361823" y="591234"/>
            <a:ext cx="11816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,</a:t>
            </a:r>
            <a:r>
              <a:rPr b="0" i="0" lang="en-GB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88"/>
          <p:cNvSpPr/>
          <p:nvPr/>
        </p:nvSpPr>
        <p:spPr>
          <a:xfrm flipH="1">
            <a:off x="0" y="1867789"/>
            <a:ext cx="28860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This gives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88"/>
          <p:cNvSpPr/>
          <p:nvPr/>
        </p:nvSpPr>
        <p:spPr>
          <a:xfrm>
            <a:off x="120315" y="3070663"/>
            <a:ext cx="43253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Substitution gives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88"/>
          <p:cNvSpPr/>
          <p:nvPr/>
        </p:nvSpPr>
        <p:spPr>
          <a:xfrm>
            <a:off x="0" y="52959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7" name="Google Shape;3687;p88"/>
          <p:cNvSpPr/>
          <p:nvPr/>
        </p:nvSpPr>
        <p:spPr>
          <a:xfrm>
            <a:off x="120315" y="5060066"/>
            <a:ext cx="78125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1B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R</a:t>
            </a:r>
            <a:r>
              <a:rPr b="0" baseline="-25000" i="1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</p:txBody>
      </p:sp>
      <p:sp>
        <p:nvSpPr>
          <p:cNvPr id="3688" name="Google Shape;3688;p88"/>
          <p:cNvSpPr/>
          <p:nvPr/>
        </p:nvSpPr>
        <p:spPr>
          <a:xfrm>
            <a:off x="0" y="794385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89"/>
          <p:cNvSpPr txBox="1"/>
          <p:nvPr>
            <p:ph type="title"/>
          </p:nvPr>
        </p:nvSpPr>
        <p:spPr>
          <a:xfrm>
            <a:off x="429715" y="442039"/>
            <a:ext cx="10924085" cy="482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GB"/>
              <a:t>Integrating Op Amp</a:t>
            </a:r>
            <a:endParaRPr/>
          </a:p>
        </p:txBody>
      </p:sp>
      <p:grpSp>
        <p:nvGrpSpPr>
          <p:cNvPr id="3695" name="Google Shape;3695;p89"/>
          <p:cNvGrpSpPr/>
          <p:nvPr/>
        </p:nvGrpSpPr>
        <p:grpSpPr>
          <a:xfrm>
            <a:off x="2503803" y="734249"/>
            <a:ext cx="7184389" cy="3584777"/>
            <a:chOff x="-1" y="0"/>
            <a:chExt cx="6507479" cy="3585399"/>
          </a:xfrm>
        </p:grpSpPr>
        <p:grpSp>
          <p:nvGrpSpPr>
            <p:cNvPr id="3696" name="Google Shape;3696;p89"/>
            <p:cNvGrpSpPr/>
            <p:nvPr/>
          </p:nvGrpSpPr>
          <p:grpSpPr>
            <a:xfrm>
              <a:off x="-1" y="0"/>
              <a:ext cx="6507479" cy="3585399"/>
              <a:chOff x="-1" y="0"/>
              <a:chExt cx="6507479" cy="3585399"/>
            </a:xfrm>
          </p:grpSpPr>
          <p:grpSp>
            <p:nvGrpSpPr>
              <p:cNvPr id="3697" name="Google Shape;3697;p89"/>
              <p:cNvGrpSpPr/>
              <p:nvPr/>
            </p:nvGrpSpPr>
            <p:grpSpPr>
              <a:xfrm>
                <a:off x="-1" y="11875"/>
                <a:ext cx="6507479" cy="3573524"/>
                <a:chOff x="0" y="-89514"/>
                <a:chExt cx="8174990" cy="4489465"/>
              </a:xfrm>
            </p:grpSpPr>
            <p:grpSp>
              <p:nvGrpSpPr>
                <p:cNvPr id="3698" name="Google Shape;3698;p89"/>
                <p:cNvGrpSpPr/>
                <p:nvPr/>
              </p:nvGrpSpPr>
              <p:grpSpPr>
                <a:xfrm>
                  <a:off x="0" y="-89514"/>
                  <a:ext cx="8174990" cy="4489465"/>
                  <a:chOff x="0" y="-89514"/>
                  <a:chExt cx="8174990" cy="4489465"/>
                </a:xfrm>
              </p:grpSpPr>
              <p:sp>
                <p:nvSpPr>
                  <p:cNvPr id="3699" name="Google Shape;3699;p89"/>
                  <p:cNvSpPr/>
                  <p:nvPr/>
                </p:nvSpPr>
                <p:spPr>
                  <a:xfrm rot="5400000">
                    <a:off x="3095625" y="1428750"/>
                    <a:ext cx="1918161" cy="136364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FFFFFF"/>
                  </a:solidFill>
                  <a:ln cap="flat" cmpd="sng" w="28575">
                    <a:solidFill>
                      <a:srgbClr val="C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00" name="Google Shape;3700;p89"/>
                  <p:cNvSpPr txBox="1"/>
                  <p:nvPr/>
                </p:nvSpPr>
                <p:spPr>
                  <a:xfrm>
                    <a:off x="3238336" y="2189952"/>
                    <a:ext cx="626205" cy="6592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00150" lIns="200300" spcFirstLastPara="1" rIns="200300" wrap="square" tIns="100150">
                    <a:noAutofit/>
                  </a:bodyPr>
                  <a:lstStyle/>
                  <a:p>
                    <a:pPr indent="0" lvl="0" marL="0" marR="0" rtl="0" algn="l">
                      <a:lnSpc>
                        <a:spcPct val="8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GB" sz="3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+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cxnSp>
                <p:nvCxnSpPr>
                  <p:cNvPr id="3701" name="Google Shape;3701;p89"/>
                  <p:cNvCxnSpPr/>
                  <p:nvPr/>
                </p:nvCxnSpPr>
                <p:spPr>
                  <a:xfrm flipH="1">
                    <a:off x="4686300" y="2105025"/>
                    <a:ext cx="1212129" cy="163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oval"/>
                    <a:tailEnd len="med" w="med" type="none"/>
                  </a:ln>
                </p:spPr>
              </p:cxnSp>
              <p:grpSp>
                <p:nvGrpSpPr>
                  <p:cNvPr id="3702" name="Google Shape;3702;p89"/>
                  <p:cNvGrpSpPr/>
                  <p:nvPr/>
                </p:nvGrpSpPr>
                <p:grpSpPr>
                  <a:xfrm>
                    <a:off x="1990718" y="1495425"/>
                    <a:ext cx="606060" cy="294598"/>
                    <a:chOff x="2018" y="2138"/>
                    <a:chExt cx="1200" cy="357"/>
                  </a:xfrm>
                </p:grpSpPr>
                <p:cxnSp>
                  <p:nvCxnSpPr>
                    <p:cNvPr id="3703" name="Google Shape;3703;p89"/>
                    <p:cNvCxnSpPr/>
                    <p:nvPr/>
                  </p:nvCxnSpPr>
                  <p:spPr>
                    <a:xfrm flipH="1" rot="10800000">
                      <a:off x="2018" y="2138"/>
                      <a:ext cx="120" cy="18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04" name="Google Shape;3704;p89"/>
                    <p:cNvCxnSpPr/>
                    <p:nvPr/>
                  </p:nvCxnSpPr>
                  <p:spPr>
                    <a:xfrm rot="10800000">
                      <a:off x="3098" y="2138"/>
                      <a:ext cx="120" cy="18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05" name="Google Shape;3705;p89"/>
                    <p:cNvCxnSpPr/>
                    <p:nvPr/>
                  </p:nvCxnSpPr>
                  <p:spPr>
                    <a:xfrm rot="10800000">
                      <a:off x="2125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06" name="Google Shape;3706;p89"/>
                    <p:cNvCxnSpPr/>
                    <p:nvPr/>
                  </p:nvCxnSpPr>
                  <p:spPr>
                    <a:xfrm flipH="1" rot="10800000">
                      <a:off x="2380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07" name="Google Shape;3707;p89"/>
                    <p:cNvCxnSpPr/>
                    <p:nvPr/>
                  </p:nvCxnSpPr>
                  <p:spPr>
                    <a:xfrm rot="10800000">
                      <a:off x="2605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3708" name="Google Shape;3708;p89"/>
                    <p:cNvCxnSpPr/>
                    <p:nvPr/>
                  </p:nvCxnSpPr>
                  <p:spPr>
                    <a:xfrm flipH="1" rot="10800000">
                      <a:off x="2860" y="2138"/>
                      <a:ext cx="238" cy="357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C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cxnSp>
                <p:nvCxnSpPr>
                  <p:cNvPr id="3709" name="Google Shape;3709;p89"/>
                  <p:cNvCxnSpPr/>
                  <p:nvPr/>
                </p:nvCxnSpPr>
                <p:spPr>
                  <a:xfrm>
                    <a:off x="1209675" y="1666875"/>
                    <a:ext cx="779466" cy="163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oval"/>
                    <a:tailEnd len="med" w="med" type="none"/>
                  </a:ln>
                </p:spPr>
              </p:cxnSp>
              <p:sp>
                <p:nvSpPr>
                  <p:cNvPr id="3710" name="Google Shape;3710;p89"/>
                  <p:cNvSpPr/>
                  <p:nvPr/>
                </p:nvSpPr>
                <p:spPr>
                  <a:xfrm>
                    <a:off x="2895600" y="609600"/>
                    <a:ext cx="1105621" cy="1060553"/>
                  </a:xfrm>
                  <a:custGeom>
                    <a:rect b="b" l="l" r="r" t="t"/>
                    <a:pathLst>
                      <a:path extrusionOk="0" h="720" w="540">
                        <a:moveTo>
                          <a:pt x="540" y="0"/>
                        </a:moveTo>
                        <a:lnTo>
                          <a:pt x="0" y="0"/>
                        </a:lnTo>
                        <a:lnTo>
                          <a:pt x="0" y="720"/>
                        </a:lnTo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oval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1" name="Google Shape;3711;p89"/>
                  <p:cNvSpPr/>
                  <p:nvPr/>
                </p:nvSpPr>
                <p:spPr>
                  <a:xfrm flipH="1">
                    <a:off x="4171950" y="609600"/>
                    <a:ext cx="1152384" cy="1508997"/>
                  </a:xfrm>
                  <a:custGeom>
                    <a:rect b="b" l="l" r="r" t="t"/>
                    <a:pathLst>
                      <a:path extrusionOk="0" h="720" w="540">
                        <a:moveTo>
                          <a:pt x="540" y="0"/>
                        </a:moveTo>
                        <a:lnTo>
                          <a:pt x="0" y="0"/>
                        </a:lnTo>
                        <a:lnTo>
                          <a:pt x="0" y="720"/>
                        </a:lnTo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oval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3712" name="Google Shape;3712;p89"/>
                  <p:cNvCxnSpPr/>
                  <p:nvPr/>
                </p:nvCxnSpPr>
                <p:spPr>
                  <a:xfrm>
                    <a:off x="1209675" y="3733800"/>
                    <a:ext cx="4718884" cy="9819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oval"/>
                    <a:tailEnd len="sm" w="sm" type="oval"/>
                  </a:ln>
                </p:spPr>
              </p:cxnSp>
              <p:sp>
                <p:nvSpPr>
                  <p:cNvPr id="3713" name="Google Shape;3713;p89"/>
                  <p:cNvSpPr/>
                  <p:nvPr/>
                </p:nvSpPr>
                <p:spPr>
                  <a:xfrm>
                    <a:off x="2895600" y="2552700"/>
                    <a:ext cx="484851" cy="1178392"/>
                  </a:xfrm>
                  <a:custGeom>
                    <a:rect b="b" l="l" r="r" t="t"/>
                    <a:pathLst>
                      <a:path extrusionOk="0" h="720" w="540">
                        <a:moveTo>
                          <a:pt x="540" y="0"/>
                        </a:moveTo>
                        <a:lnTo>
                          <a:pt x="0" y="0"/>
                        </a:lnTo>
                        <a:lnTo>
                          <a:pt x="0" y="720"/>
                        </a:lnTo>
                      </a:path>
                    </a:pathLst>
                  </a:cu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oval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4" name="Google Shape;3714;p89"/>
                  <p:cNvSpPr txBox="1"/>
                  <p:nvPr/>
                </p:nvSpPr>
                <p:spPr>
                  <a:xfrm>
                    <a:off x="2084895" y="895150"/>
                    <a:ext cx="670596" cy="69109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27825" lIns="46375" spcFirstLastPara="1" rIns="46375" wrap="square" tIns="278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</a:t>
                    </a:r>
                    <a:r>
                      <a:rPr baseline="-25000"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715" name="Google Shape;3715;p89"/>
                  <p:cNvSpPr txBox="1"/>
                  <p:nvPr/>
                </p:nvSpPr>
                <p:spPr>
                  <a:xfrm>
                    <a:off x="4198343" y="-89514"/>
                    <a:ext cx="670596" cy="6770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27825" lIns="46375" spcFirstLastPara="1" rIns="46375" wrap="square" tIns="278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r>
                      <a:rPr baseline="-25000"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716" name="Google Shape;3716;p89"/>
                  <p:cNvSpPr txBox="1"/>
                  <p:nvPr/>
                </p:nvSpPr>
                <p:spPr>
                  <a:xfrm>
                    <a:off x="550705" y="1406728"/>
                    <a:ext cx="658956" cy="7267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27825" lIns="46375" spcFirstLastPara="1" rIns="46375" wrap="square" tIns="278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</a:t>
                    </a:r>
                    <a:r>
                      <a:rPr baseline="-25000"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in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717" name="Google Shape;3717;p89"/>
                  <p:cNvSpPr txBox="1"/>
                  <p:nvPr/>
                </p:nvSpPr>
                <p:spPr>
                  <a:xfrm>
                    <a:off x="5977936" y="1787027"/>
                    <a:ext cx="924929" cy="8375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27825" lIns="46375" spcFirstLastPara="1" rIns="46375" wrap="square" tIns="278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</a:t>
                    </a:r>
                    <a:r>
                      <a:rPr baseline="-25000" lang="en-GB" sz="3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out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718" name="Google Shape;3718;p89"/>
                  <p:cNvSpPr txBox="1"/>
                  <p:nvPr/>
                </p:nvSpPr>
                <p:spPr>
                  <a:xfrm>
                    <a:off x="0" y="3794856"/>
                    <a:ext cx="8174990" cy="60509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27825" lIns="46375" spcFirstLastPara="1" rIns="46375" wrap="square" tIns="278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3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Figure 14 – Circuit of Integrating Op Amp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cxnSp>
                <p:nvCxnSpPr>
                  <p:cNvPr id="3719" name="Google Shape;3719;p89"/>
                  <p:cNvCxnSpPr/>
                  <p:nvPr/>
                </p:nvCxnSpPr>
                <p:spPr>
                  <a:xfrm>
                    <a:off x="2609850" y="1666875"/>
                    <a:ext cx="779466" cy="1637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med" w="med" type="none"/>
                  </a:ln>
                </p:spPr>
              </p:cxnSp>
              <p:sp>
                <p:nvSpPr>
                  <p:cNvPr id="3720" name="Google Shape;3720;p89"/>
                  <p:cNvSpPr txBox="1"/>
                  <p:nvPr/>
                </p:nvSpPr>
                <p:spPr>
                  <a:xfrm>
                    <a:off x="3238403" y="1296889"/>
                    <a:ext cx="511788" cy="7333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00150" lIns="200300" spcFirstLastPara="1" rIns="200300" wrap="square" tIns="10015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GB" sz="3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–  </a:t>
                    </a:r>
                    <a:endParaRPr sz="12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cxnSp>
              <p:nvCxnSpPr>
                <p:cNvPr id="3721" name="Google Shape;3721;p89"/>
                <p:cNvCxnSpPr/>
                <p:nvPr/>
              </p:nvCxnSpPr>
              <p:spPr>
                <a:xfrm rot="10800000">
                  <a:off x="4168239" y="344385"/>
                  <a:ext cx="0" cy="56705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22" name="Google Shape;3722;p89"/>
                <p:cNvCxnSpPr/>
                <p:nvPr/>
              </p:nvCxnSpPr>
              <p:spPr>
                <a:xfrm rot="10800000">
                  <a:off x="3990109" y="344385"/>
                  <a:ext cx="0" cy="56705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723" name="Google Shape;3723;p89"/>
              <p:cNvSpPr txBox="1"/>
              <p:nvPr/>
            </p:nvSpPr>
            <p:spPr>
              <a:xfrm>
                <a:off x="2137558" y="1413164"/>
                <a:ext cx="521970" cy="7594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0800" lIns="18000" spcFirstLastPara="1" rIns="18000" wrap="square" tIns="10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r>
                  <a:rPr baseline="-25000"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4" name="Google Shape;3724;p89"/>
              <p:cNvSpPr txBox="1"/>
              <p:nvPr/>
            </p:nvSpPr>
            <p:spPr>
              <a:xfrm>
                <a:off x="2054431" y="2636322"/>
                <a:ext cx="831215" cy="588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825" lIns="46375" spcFirstLastPara="1" rIns="46375" wrap="square" tIns="27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5" name="Google Shape;3725;p89"/>
              <p:cNvSpPr txBox="1"/>
              <p:nvPr/>
            </p:nvSpPr>
            <p:spPr>
              <a:xfrm>
                <a:off x="1199222" y="766271"/>
                <a:ext cx="334806" cy="583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825" lIns="46375" spcFirstLastPara="1" rIns="46375" wrap="square" tIns="27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i="1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6" name="Google Shape;3726;p89"/>
              <p:cNvSpPr txBox="1"/>
              <p:nvPr/>
            </p:nvSpPr>
            <p:spPr>
              <a:xfrm>
                <a:off x="2683406" y="0"/>
                <a:ext cx="334806" cy="588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7825" lIns="46375" spcFirstLastPara="1" rIns="46375" wrap="square" tIns="27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baseline="-25000" i="1" lang="en-GB" sz="3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727" name="Google Shape;3727;p89"/>
            <p:cNvCxnSpPr/>
            <p:nvPr/>
          </p:nvCxnSpPr>
          <p:spPr>
            <a:xfrm>
              <a:off x="926275" y="1413164"/>
              <a:ext cx="244475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3728" name="Google Shape;3728;p89"/>
            <p:cNvCxnSpPr/>
            <p:nvPr/>
          </p:nvCxnSpPr>
          <p:spPr>
            <a:xfrm>
              <a:off x="2505693" y="570016"/>
              <a:ext cx="244546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</p:grpSp>
      <p:pic>
        <p:nvPicPr>
          <p:cNvPr id="3729" name="Google Shape;372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52" y="4884816"/>
            <a:ext cx="642937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0" name="Google Shape;3730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05" y="5933574"/>
            <a:ext cx="31718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1" name="Google Shape;3731;p89"/>
          <p:cNvSpPr/>
          <p:nvPr/>
        </p:nvSpPr>
        <p:spPr>
          <a:xfrm>
            <a:off x="-413513" y="4277440"/>
            <a:ext cx="109240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Considering V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to be virtual zero and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i</a:t>
            </a:r>
            <a:r>
              <a:rPr b="0" baseline="-25000" i="0" lang="en-GB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89"/>
          <p:cNvSpPr/>
          <p:nvPr/>
        </p:nvSpPr>
        <p:spPr>
          <a:xfrm>
            <a:off x="0" y="173355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2020-04-15T07:17:18Z</dcterms:created>
  <dc:creator>Lucas</dc:creator>
</cp:coreProperties>
</file>